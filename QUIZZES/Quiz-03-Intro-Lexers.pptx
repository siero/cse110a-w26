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800" r:id="rId3"/>
    <p:sldId id="801" r:id="rId4"/>
    <p:sldId id="802" r:id="rId5"/>
    <p:sldId id="803" r:id="rId6"/>
    <p:sldId id="804" r:id="rId7"/>
    <p:sldId id="806" r:id="rId8"/>
    <p:sldId id="807" r:id="rId9"/>
    <p:sldId id="808" r:id="rId10"/>
    <p:sldId id="809" r:id="rId11"/>
    <p:sldId id="810" r:id="rId12"/>
    <p:sldId id="811" r:id="rId13"/>
    <p:sldId id="812" r:id="rId14"/>
    <p:sldId id="813" r:id="rId15"/>
    <p:sldId id="814" r:id="rId16"/>
    <p:sldId id="815" r:id="rId17"/>
    <p:sldId id="816" r:id="rId18"/>
    <p:sldId id="817" r:id="rId19"/>
    <p:sldId id="8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5" autoAdjust="0"/>
    <p:restoredTop sz="94660"/>
  </p:normalViewPr>
  <p:slideViewPr>
    <p:cSldViewPr snapToGrid="0">
      <p:cViewPr varScale="1">
        <p:scale>
          <a:sx n="51" d="100"/>
          <a:sy n="51" d="100"/>
        </p:scale>
        <p:origin x="6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AAA4-9593-9DEE-B173-5544F766A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9F45B-5A30-DFFC-8D62-54F3C84BC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840A2-C0C8-A539-47CF-777FE781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DD9A4-D259-FF7E-AB56-57890B69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C9177-6EE1-A612-B2FE-9EE6EB79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5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801C-D6CC-1A06-DCEF-A9E3E52A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14BD-E6E1-76C7-3557-36A07153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3B6E7-1DDA-6A0F-8EE0-368BD754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1AE3-9961-3439-B53B-35723BA85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C634-0C9F-DEC0-2D0E-FEFD3343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3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7DB6-2068-D4E9-A348-18ED49B9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08A15-2585-5F0D-7363-A2190A276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89035-4903-9E12-AA32-C1A03927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3F036-D335-F334-E455-25399474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B20F-566F-E24A-8F10-3175A110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9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BB67-F3EB-8D8C-C75F-E71D6624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1388C-2B22-034E-9DBA-9248DD648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694EF-CC17-4496-CC8D-B7D85DE29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15EE1-D972-7CBF-9CF8-E31EB8F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E5B86-9596-B84A-FADB-65EAA2EA5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6980E-2375-9872-9F93-02BD49CE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13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0240-C7E7-F807-96AC-861EBE756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7F71E-D4A3-4660-C997-550FE3FA2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F03B6-C933-BCDA-7A6B-19CB9D663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8D9FDF-B10F-344D-B41B-B2A3F3FF2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72238-2664-88CB-11D6-2DEF72C49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20916-B3E0-B83E-4812-5A20F119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EEC54-C945-E201-4CF4-8059CB35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EEBFC-8529-AB83-E4CC-5202C4DF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1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1B28A-9231-37E9-3D1C-3769C9EC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D2A6C-5411-0B0B-A6CC-E23D3B2B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C082B-196B-8BED-E2B0-B3D1494A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12EEA-614C-DFE5-7A51-CBEC8FCC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8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9D2D5-F5B6-CF52-9122-40EA6F70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06933-6969-DE21-FCAF-1A6936E7A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2A5F8-7BD5-2467-2C47-AE14183F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52CE-614B-D389-09B1-90545771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99F59-134F-70FC-AF27-0B8E37395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EF954-CAF1-BE6A-ADEC-E9696C5D3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036B6-37E8-0B36-8B0D-E5F8FC28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9F3C5-4E56-96E7-CE44-C0E94166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F421F-2BDE-958A-E1F4-20BE8628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5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18130-CC9E-9A0B-2A80-37964C56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49BD1-812A-B09C-A89B-2182DD021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11173-9C92-49D0-5DFF-0AEE5CEC4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842CE-A997-108F-F604-2A8B9C21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824B9-CB53-3ED1-DAD2-479B558A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09843-D474-9FA4-F954-051FD071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4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487CB-5C2A-FC2B-5AEA-47DE1E6F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EFCC0-E00C-5026-52C4-E83ED0655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287EA-081B-9ACC-0C5F-13C36D3C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5D280-4286-C93C-722A-E22B6F35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BCB5D-9A30-BBEE-3177-0385BFB5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6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6686F-857F-45E6-244F-46F5C7061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DF3F6-9FC4-276C-3D70-A0BF8A204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7EECE-50ED-7DAA-3648-AA4DAC05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64F5C-F081-9BB6-B085-3931F344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29BC-529B-1167-67E5-7E8EBC98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3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D396DF-235F-F4A9-56A0-754268D0C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C0D33-AC57-D5E3-B2F7-23FC41DFB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0E71E-C854-D453-9CF6-47FA114E0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13D60-375A-417F-8FE2-FF9AB5F1D889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7327A-F062-800F-4780-729FAC20E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AD35B-F081-F0A8-49E0-AAD13D490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9016F6-8AEB-40B1-B080-5AD7364C6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ex_(software)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ex_(software)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2EC5-D8D9-8D6D-3E13-C87540DF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869" y="1197520"/>
            <a:ext cx="9144000" cy="2387600"/>
          </a:xfrm>
        </p:spPr>
        <p:txBody>
          <a:bodyPr/>
          <a:lstStyle/>
          <a:p>
            <a:r>
              <a:rPr lang="en-US" dirty="0"/>
              <a:t>Quiz-03-Intro-Lexers</a:t>
            </a:r>
          </a:p>
        </p:txBody>
      </p:sp>
    </p:spTree>
    <p:extLst>
      <p:ext uri="{BB962C8B-B14F-4D97-AF65-F5344CB8AC3E}">
        <p14:creationId xmlns:p14="http://schemas.microsoft.com/office/powerpoint/2010/main" val="80780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7FAF-7B36-2F49-95D3-3544795E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FB6E6-DE27-3940-939F-2FB48A8F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0" y="2374900"/>
            <a:ext cx="92837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5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Programs for 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8F91-4D0C-0D4D-A072-C4096A36D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327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Scanner (sometimes called </a:t>
            </a:r>
            <a:r>
              <a:rPr lang="en-US" dirty="0" err="1"/>
              <a:t>lexer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Defined by a list of tokens and definitions: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{Ran, Crashed, Accelerated}</a:t>
            </a:r>
          </a:p>
          <a:p>
            <a:r>
              <a:rPr lang="en-US" dirty="0"/>
              <a:t>ADJECTIVE      =  {Purple, Spotted, Old}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797E4-25BC-2640-89E4-731F221EC392}"/>
              </a:ext>
            </a:extLst>
          </p:cNvPr>
          <p:cNvSpPr txBox="1"/>
          <p:nvPr/>
        </p:nvSpPr>
        <p:spPr>
          <a:xfrm>
            <a:off x="7820392" y="2515696"/>
            <a:ext cx="2420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Original program:</a:t>
            </a:r>
          </a:p>
          <a:p>
            <a:r>
              <a:rPr lang="en-US" sz="2400" i="1" dirty="0"/>
              <a:t>Lex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798BB-724A-5246-A7AB-5265767E0366}"/>
              </a:ext>
            </a:extLst>
          </p:cNvPr>
          <p:cNvSpPr/>
          <p:nvPr/>
        </p:nvSpPr>
        <p:spPr>
          <a:xfrm>
            <a:off x="7809964" y="3481630"/>
            <a:ext cx="4407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/wiki/Lex_(software)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1B837-EC77-974D-BD50-1945CC9799BC}"/>
              </a:ext>
            </a:extLst>
          </p:cNvPr>
          <p:cNvSpPr txBox="1"/>
          <p:nvPr/>
        </p:nvSpPr>
        <p:spPr>
          <a:xfrm>
            <a:off x="7790294" y="4159360"/>
            <a:ext cx="3322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Popular implementations</a:t>
            </a:r>
          </a:p>
          <a:p>
            <a:r>
              <a:rPr lang="en-US" sz="2400" i="1" dirty="0"/>
              <a:t>Flex</a:t>
            </a:r>
          </a:p>
        </p:txBody>
      </p:sp>
    </p:spTree>
    <p:extLst>
      <p:ext uri="{BB962C8B-B14F-4D97-AF65-F5344CB8AC3E}">
        <p14:creationId xmlns:p14="http://schemas.microsoft.com/office/powerpoint/2010/main" val="136977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882C7-AD1B-E045-9F49-287F123E9188}"/>
              </a:ext>
            </a:extLst>
          </p:cNvPr>
          <p:cNvSpPr txBox="1"/>
          <p:nvPr/>
        </p:nvSpPr>
        <p:spPr>
          <a:xfrm>
            <a:off x="838200" y="1690688"/>
            <a:ext cx="882485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/>
                </a:solidFill>
                <a:latin typeface="Courier" pitchFamily="2" charset="0"/>
              </a:rPr>
              <a:t># Constructor, generates a Scanner</a:t>
            </a:r>
          </a:p>
          <a:p>
            <a:r>
              <a:rPr lang="en-US" sz="3200" dirty="0">
                <a:latin typeface="Courier" pitchFamily="2" charset="0"/>
              </a:rPr>
              <a:t>s = </a:t>
            </a:r>
            <a:r>
              <a:rPr lang="en-US" sz="3200" dirty="0" err="1">
                <a:latin typeface="Courier" pitchFamily="2" charset="0"/>
              </a:rPr>
              <a:t>ScannerGenerator</a:t>
            </a:r>
            <a:r>
              <a:rPr lang="en-US" sz="3200" dirty="0">
                <a:latin typeface="Courier" pitchFamily="2" charset="0"/>
              </a:rPr>
              <a:t>(tokens)</a:t>
            </a:r>
          </a:p>
          <a:p>
            <a:endParaRPr lang="en-US" sz="3200" dirty="0">
              <a:latin typeface="Courier" pitchFamily="2" charset="0"/>
            </a:endParaRPr>
          </a:p>
          <a:p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# The string we want to do </a:t>
            </a:r>
            <a:br>
              <a:rPr lang="en-US" sz="3200" dirty="0">
                <a:solidFill>
                  <a:schemeClr val="accent6"/>
                </a:solidFill>
                <a:latin typeface="Courier" pitchFamily="2" charset="0"/>
              </a:rPr>
            </a:b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# lexical analysis on</a:t>
            </a:r>
          </a:p>
          <a:p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Crashed“)</a:t>
            </a:r>
          </a:p>
          <a:p>
            <a:endParaRPr lang="en-US" sz="3200" dirty="0">
              <a:latin typeface="Courier" pitchFamily="2" charset="0"/>
            </a:endParaRPr>
          </a:p>
          <a:p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# Returns the next lexeme</a:t>
            </a:r>
          </a:p>
          <a:p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34598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3200" dirty="0">
                <a:latin typeface="Courier" pitchFamily="2" charset="0"/>
              </a:rPr>
              <a:t>, “My”)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(ADJECTIVE, “Old”)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3200" dirty="0">
                <a:latin typeface="Courier" pitchFamily="2" charset="0"/>
              </a:rPr>
              <a:t>, “Computer”)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3200" dirty="0">
                <a:latin typeface="Courier" pitchFamily="2" charset="0"/>
              </a:rPr>
              <a:t>, “Crashed”)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55213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F75E-C8DE-FF48-B965-00A3E2FC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vs. Parsing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9CAA0-EEDF-BC46-A795-307572A2F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171700"/>
            <a:ext cx="92075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3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D8F198-007C-AB42-8ACF-495314D14C4F}"/>
              </a:ext>
            </a:extLst>
          </p:cNvPr>
          <p:cNvSpPr/>
          <p:nvPr/>
        </p:nvSpPr>
        <p:spPr>
          <a:xfrm>
            <a:off x="3417070" y="2957175"/>
            <a:ext cx="47920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2F331F-CBCD-5049-AB34-FD074C7A7DC9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AFE9C6-1871-1E41-9843-8C8F3A8B70C4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B822A6-15F4-7F47-8C4E-BEE5ABA1B8C4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EF5120-4F20-2448-B630-64C88F97B61E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929857-4357-F441-9F9E-E5D31029F83F}"/>
              </a:ext>
            </a:extLst>
          </p:cNvPr>
          <p:cNvCxnSpPr>
            <a:cxnSpLocks/>
          </p:cNvCxnSpPr>
          <p:nvPr/>
        </p:nvCxnSpPr>
        <p:spPr>
          <a:xfrm>
            <a:off x="6959600" y="3429000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0F1E4C-F0E9-6546-A028-622ACD9188E7}"/>
              </a:ext>
            </a:extLst>
          </p:cNvPr>
          <p:cNvCxnSpPr>
            <a:cxnSpLocks/>
          </p:cNvCxnSpPr>
          <p:nvPr/>
        </p:nvCxnSpPr>
        <p:spPr>
          <a:xfrm>
            <a:off x="8056880" y="3429000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85BB993-D879-8747-BAF2-F37C801C82D1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ECB8E2-556A-F343-AD22-149A40FBCEB0}"/>
              </a:ext>
            </a:extLst>
          </p:cNvPr>
          <p:cNvSpPr/>
          <p:nvPr/>
        </p:nvSpPr>
        <p:spPr>
          <a:xfrm>
            <a:off x="7894781" y="4048194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A3F996-C110-DE4C-9972-01B407010B59}"/>
              </a:ext>
            </a:extLst>
          </p:cNvPr>
          <p:cNvSpPr/>
          <p:nvPr/>
        </p:nvSpPr>
        <p:spPr>
          <a:xfrm>
            <a:off x="3507759" y="4124960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683298-4C23-3D4A-A0B7-D7BA0641D531}"/>
              </a:ext>
            </a:extLst>
          </p:cNvPr>
          <p:cNvSpPr/>
          <p:nvPr/>
        </p:nvSpPr>
        <p:spPr>
          <a:xfrm>
            <a:off x="4663199" y="4108832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8B7308-AFE0-9C4F-B784-1E4A904F2436}"/>
              </a:ext>
            </a:extLst>
          </p:cNvPr>
          <p:cNvSpPr/>
          <p:nvPr/>
        </p:nvSpPr>
        <p:spPr>
          <a:xfrm>
            <a:off x="5788678" y="4124959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429C76-F139-CE4C-81A2-CF995A7571C7}"/>
              </a:ext>
            </a:extLst>
          </p:cNvPr>
          <p:cNvSpPr/>
          <p:nvPr/>
        </p:nvSpPr>
        <p:spPr>
          <a:xfrm>
            <a:off x="9498798" y="4080007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</p:spTree>
    <p:extLst>
      <p:ext uri="{BB962C8B-B14F-4D97-AF65-F5344CB8AC3E}">
        <p14:creationId xmlns:p14="http://schemas.microsoft.com/office/powerpoint/2010/main" val="2103868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D8F198-007C-AB42-8ACF-495314D14C4F}"/>
              </a:ext>
            </a:extLst>
          </p:cNvPr>
          <p:cNvSpPr/>
          <p:nvPr/>
        </p:nvSpPr>
        <p:spPr>
          <a:xfrm>
            <a:off x="3417070" y="2957175"/>
            <a:ext cx="48974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 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 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2F331F-CBCD-5049-AB34-FD074C7A7DC9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AFE9C6-1871-1E41-9843-8C8F3A8B70C4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B822A6-15F4-7F47-8C4E-BEE5ABA1B8C4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EF5120-4F20-2448-B630-64C88F97B61E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929857-4357-F441-9F9E-E5D31029F83F}"/>
              </a:ext>
            </a:extLst>
          </p:cNvPr>
          <p:cNvCxnSpPr>
            <a:cxnSpLocks/>
          </p:cNvCxnSpPr>
          <p:nvPr/>
        </p:nvCxnSpPr>
        <p:spPr>
          <a:xfrm>
            <a:off x="6959600" y="3429000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0F1E4C-F0E9-6546-A028-622ACD9188E7}"/>
              </a:ext>
            </a:extLst>
          </p:cNvPr>
          <p:cNvCxnSpPr>
            <a:cxnSpLocks/>
          </p:cNvCxnSpPr>
          <p:nvPr/>
        </p:nvCxnSpPr>
        <p:spPr>
          <a:xfrm>
            <a:off x="8056880" y="3429000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85BB993-D879-8747-BAF2-F37C801C82D1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ECB8E2-556A-F343-AD22-149A40FBCEB0}"/>
              </a:ext>
            </a:extLst>
          </p:cNvPr>
          <p:cNvSpPr/>
          <p:nvPr/>
        </p:nvSpPr>
        <p:spPr>
          <a:xfrm>
            <a:off x="7894781" y="4048194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A3F996-C110-DE4C-9972-01B407010B59}"/>
              </a:ext>
            </a:extLst>
          </p:cNvPr>
          <p:cNvSpPr/>
          <p:nvPr/>
        </p:nvSpPr>
        <p:spPr>
          <a:xfrm>
            <a:off x="3507759" y="4124960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  <a:endParaRPr lang="en-US" sz="2400" b="1" dirty="0">
              <a:solidFill>
                <a:schemeClr val="accent5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683298-4C23-3D4A-A0B7-D7BA0641D531}"/>
              </a:ext>
            </a:extLst>
          </p:cNvPr>
          <p:cNvSpPr/>
          <p:nvPr/>
        </p:nvSpPr>
        <p:spPr>
          <a:xfrm>
            <a:off x="5065493" y="4135120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8B7308-AFE0-9C4F-B784-1E4A904F2436}"/>
              </a:ext>
            </a:extLst>
          </p:cNvPr>
          <p:cNvSpPr/>
          <p:nvPr/>
        </p:nvSpPr>
        <p:spPr>
          <a:xfrm>
            <a:off x="6337047" y="4135120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  <a:endParaRPr lang="en-US" sz="2400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429C76-F139-CE4C-81A2-CF995A7571C7}"/>
              </a:ext>
            </a:extLst>
          </p:cNvPr>
          <p:cNvSpPr/>
          <p:nvPr/>
        </p:nvSpPr>
        <p:spPr>
          <a:xfrm>
            <a:off x="9498798" y="4080007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  <a:endParaRPr lang="en-US" sz="2400" b="1" dirty="0">
              <a:solidFill>
                <a:schemeClr val="accent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4F42DD-5EA3-5D43-83F7-5203654A4F39}"/>
              </a:ext>
            </a:extLst>
          </p:cNvPr>
          <p:cNvSpPr txBox="1"/>
          <p:nvPr/>
        </p:nvSpPr>
        <p:spPr>
          <a:xfrm>
            <a:off x="1297576" y="5360014"/>
            <a:ext cx="878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Lexical analysis doesn’t care about the order of tokens. Just so long as there are valid tokens.</a:t>
            </a:r>
          </a:p>
        </p:txBody>
      </p:sp>
    </p:spTree>
    <p:extLst>
      <p:ext uri="{BB962C8B-B14F-4D97-AF65-F5344CB8AC3E}">
        <p14:creationId xmlns:p14="http://schemas.microsoft.com/office/powerpoint/2010/main" val="408233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Programs for 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8F91-4D0C-0D4D-A072-C4096A36D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327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Scanner (sometimes called </a:t>
            </a:r>
            <a:r>
              <a:rPr lang="en-US" dirty="0" err="1"/>
              <a:t>lexer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Defined by a list of tokens and definitions: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{Ran, Crashed, Accelerated}</a:t>
            </a:r>
          </a:p>
          <a:p>
            <a:r>
              <a:rPr lang="en-US" dirty="0"/>
              <a:t>ADJECTIVE      =  {Purple, Spotted, Old}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797E4-25BC-2640-89E4-731F221EC392}"/>
              </a:ext>
            </a:extLst>
          </p:cNvPr>
          <p:cNvSpPr txBox="1"/>
          <p:nvPr/>
        </p:nvSpPr>
        <p:spPr>
          <a:xfrm>
            <a:off x="7820392" y="2515696"/>
            <a:ext cx="2420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Original program:</a:t>
            </a:r>
          </a:p>
          <a:p>
            <a:r>
              <a:rPr lang="en-US" sz="2400" i="1" dirty="0"/>
              <a:t>Lex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798BB-724A-5246-A7AB-5265767E0366}"/>
              </a:ext>
            </a:extLst>
          </p:cNvPr>
          <p:cNvSpPr/>
          <p:nvPr/>
        </p:nvSpPr>
        <p:spPr>
          <a:xfrm>
            <a:off x="7809964" y="3481630"/>
            <a:ext cx="4407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/wiki/Lex_(software)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1B837-EC77-974D-BD50-1945CC9799BC}"/>
              </a:ext>
            </a:extLst>
          </p:cNvPr>
          <p:cNvSpPr txBox="1"/>
          <p:nvPr/>
        </p:nvSpPr>
        <p:spPr>
          <a:xfrm>
            <a:off x="7790294" y="4159360"/>
            <a:ext cx="3322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Popular implementations</a:t>
            </a:r>
          </a:p>
          <a:p>
            <a:r>
              <a:rPr lang="en-US" sz="2400" i="1" dirty="0"/>
              <a:t>Flex</a:t>
            </a:r>
          </a:p>
        </p:txBody>
      </p:sp>
    </p:spTree>
    <p:extLst>
      <p:ext uri="{BB962C8B-B14F-4D97-AF65-F5344CB8AC3E}">
        <p14:creationId xmlns:p14="http://schemas.microsoft.com/office/powerpoint/2010/main" val="2102847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D8F198-007C-AB42-8ACF-495314D14C4F}"/>
              </a:ext>
            </a:extLst>
          </p:cNvPr>
          <p:cNvSpPr/>
          <p:nvPr/>
        </p:nvSpPr>
        <p:spPr>
          <a:xfrm>
            <a:off x="3417070" y="2957175"/>
            <a:ext cx="55887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Quietly</a:t>
            </a:r>
            <a:r>
              <a:rPr lang="en-US" sz="3200" b="1" dirty="0"/>
              <a:t>  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 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89617-ACAF-9B41-BCC6-2C6084221B59}"/>
              </a:ext>
            </a:extLst>
          </p:cNvPr>
          <p:cNvSpPr txBox="1"/>
          <p:nvPr/>
        </p:nvSpPr>
        <p:spPr>
          <a:xfrm>
            <a:off x="1297576" y="5229900"/>
            <a:ext cx="2143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here?</a:t>
            </a:r>
          </a:p>
        </p:txBody>
      </p:sp>
    </p:spTree>
    <p:extLst>
      <p:ext uri="{BB962C8B-B14F-4D97-AF65-F5344CB8AC3E}">
        <p14:creationId xmlns:p14="http://schemas.microsoft.com/office/powerpoint/2010/main" val="2427966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D8F198-007C-AB42-8ACF-495314D14C4F}"/>
              </a:ext>
            </a:extLst>
          </p:cNvPr>
          <p:cNvSpPr/>
          <p:nvPr/>
        </p:nvSpPr>
        <p:spPr>
          <a:xfrm>
            <a:off x="3417070" y="2957175"/>
            <a:ext cx="45708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Quietly</a:t>
            </a:r>
            <a:r>
              <a:rPr lang="en-US" sz="3200" b="1" dirty="0"/>
              <a:t>  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2F331F-CBCD-5049-AB34-FD074C7A7DC9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AFE9C6-1871-1E41-9843-8C8F3A8B70C4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B822A6-15F4-7F47-8C4E-BEE5ABA1B8C4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85BB993-D879-8747-BAF2-F37C801C82D1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A3F996-C110-DE4C-9972-01B407010B59}"/>
              </a:ext>
            </a:extLst>
          </p:cNvPr>
          <p:cNvSpPr/>
          <p:nvPr/>
        </p:nvSpPr>
        <p:spPr>
          <a:xfrm>
            <a:off x="3507759" y="4124960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  <a:endParaRPr lang="en-US" sz="2400" b="1" dirty="0">
              <a:solidFill>
                <a:schemeClr val="accent5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683298-4C23-3D4A-A0B7-D7BA0641D531}"/>
              </a:ext>
            </a:extLst>
          </p:cNvPr>
          <p:cNvSpPr/>
          <p:nvPr/>
        </p:nvSpPr>
        <p:spPr>
          <a:xfrm>
            <a:off x="5065493" y="4135120"/>
            <a:ext cx="3273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89617-ACAF-9B41-BCC6-2C6084221B59}"/>
              </a:ext>
            </a:extLst>
          </p:cNvPr>
          <p:cNvSpPr txBox="1"/>
          <p:nvPr/>
        </p:nvSpPr>
        <p:spPr>
          <a:xfrm>
            <a:off x="1297576" y="5229900"/>
            <a:ext cx="66712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here?</a:t>
            </a:r>
          </a:p>
          <a:p>
            <a:endParaRPr lang="en-US" dirty="0"/>
          </a:p>
          <a:p>
            <a:r>
              <a:rPr lang="en-US" dirty="0"/>
              <a:t>Scanner error here. Many scanners stop and report the error location</a:t>
            </a:r>
          </a:p>
        </p:txBody>
      </p:sp>
    </p:spTree>
    <p:extLst>
      <p:ext uri="{BB962C8B-B14F-4D97-AF65-F5344CB8AC3E}">
        <p14:creationId xmlns:p14="http://schemas.microsoft.com/office/powerpoint/2010/main" val="219720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D8F198-007C-AB42-8ACF-495314D14C4F}"/>
              </a:ext>
            </a:extLst>
          </p:cNvPr>
          <p:cNvSpPr/>
          <p:nvPr/>
        </p:nvSpPr>
        <p:spPr>
          <a:xfrm>
            <a:off x="3417070" y="2957175"/>
            <a:ext cx="45708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Quietly</a:t>
            </a:r>
            <a:r>
              <a:rPr lang="en-US" sz="3200" b="1" dirty="0"/>
              <a:t>  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r>
              <a:rPr lang="en-US" sz="3200" b="1" dirty="0"/>
              <a:t>   </a:t>
            </a:r>
            <a:r>
              <a:rPr lang="en-US" sz="3200" b="1" dirty="0">
                <a:solidFill>
                  <a:schemeClr val="accent6"/>
                </a:solidFill>
              </a:rPr>
              <a:t>My</a:t>
            </a:r>
            <a:endParaRPr lang="en-US" sz="3200" b="1" dirty="0">
              <a:solidFill>
                <a:schemeClr val="accent5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2F331F-CBCD-5049-AB34-FD074C7A7DC9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AFE9C6-1871-1E41-9843-8C8F3A8B70C4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B822A6-15F4-7F47-8C4E-BEE5ABA1B8C4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929857-4357-F441-9F9E-E5D31029F83F}"/>
              </a:ext>
            </a:extLst>
          </p:cNvPr>
          <p:cNvCxnSpPr>
            <a:cxnSpLocks/>
          </p:cNvCxnSpPr>
          <p:nvPr/>
        </p:nvCxnSpPr>
        <p:spPr>
          <a:xfrm>
            <a:off x="6959600" y="3429000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0F1E4C-F0E9-6546-A028-622ACD9188E7}"/>
              </a:ext>
            </a:extLst>
          </p:cNvPr>
          <p:cNvCxnSpPr>
            <a:cxnSpLocks/>
          </p:cNvCxnSpPr>
          <p:nvPr/>
        </p:nvCxnSpPr>
        <p:spPr>
          <a:xfrm>
            <a:off x="8056880" y="3429000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85BB993-D879-8747-BAF2-F37C801C82D1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ECB8E2-556A-F343-AD22-149A40FBCEB0}"/>
              </a:ext>
            </a:extLst>
          </p:cNvPr>
          <p:cNvSpPr/>
          <p:nvPr/>
        </p:nvSpPr>
        <p:spPr>
          <a:xfrm>
            <a:off x="7894781" y="4048194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A3F996-C110-DE4C-9972-01B407010B59}"/>
              </a:ext>
            </a:extLst>
          </p:cNvPr>
          <p:cNvSpPr/>
          <p:nvPr/>
        </p:nvSpPr>
        <p:spPr>
          <a:xfrm>
            <a:off x="3507759" y="4124960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  <a:endParaRPr lang="en-US" sz="2400" b="1" dirty="0">
              <a:solidFill>
                <a:schemeClr val="accent5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683298-4C23-3D4A-A0B7-D7BA0641D531}"/>
              </a:ext>
            </a:extLst>
          </p:cNvPr>
          <p:cNvSpPr/>
          <p:nvPr/>
        </p:nvSpPr>
        <p:spPr>
          <a:xfrm>
            <a:off x="5065493" y="4135120"/>
            <a:ext cx="32733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429C76-F139-CE4C-81A2-CF995A7571C7}"/>
              </a:ext>
            </a:extLst>
          </p:cNvPr>
          <p:cNvSpPr/>
          <p:nvPr/>
        </p:nvSpPr>
        <p:spPr>
          <a:xfrm>
            <a:off x="9498798" y="4080007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  <a:endParaRPr lang="en-US" sz="2400" b="1" dirty="0">
              <a:solidFill>
                <a:schemeClr val="accent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B9DA47-41F0-BC4D-AD84-6A2AC2D61D2C}"/>
              </a:ext>
            </a:extLst>
          </p:cNvPr>
          <p:cNvSpPr txBox="1"/>
          <p:nvPr/>
        </p:nvSpPr>
        <p:spPr>
          <a:xfrm>
            <a:off x="1297576" y="5229900"/>
            <a:ext cx="9559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here?</a:t>
            </a:r>
          </a:p>
          <a:p>
            <a:endParaRPr lang="en-US" dirty="0"/>
          </a:p>
          <a:p>
            <a:r>
              <a:rPr lang="en-US" dirty="0"/>
              <a:t>Scanner error here. Some scanners try to recover and keep going (difficult, and requires ad hoc rules)</a:t>
            </a:r>
          </a:p>
        </p:txBody>
      </p:sp>
    </p:spTree>
    <p:extLst>
      <p:ext uri="{BB962C8B-B14F-4D97-AF65-F5344CB8AC3E}">
        <p14:creationId xmlns:p14="http://schemas.microsoft.com/office/powerpoint/2010/main" val="120762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F75E-C8DE-FF48-B965-00A3E2FC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vs. Parsing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9CAA0-EEDF-BC46-A795-307572A2F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171700"/>
            <a:ext cx="9207500" cy="251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C6541C-D989-8543-B934-7E31D3FDC761}"/>
              </a:ext>
            </a:extLst>
          </p:cNvPr>
          <p:cNvSpPr txBox="1"/>
          <p:nvPr/>
        </p:nvSpPr>
        <p:spPr>
          <a:xfrm>
            <a:off x="2664823" y="5199017"/>
            <a:ext cx="625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False! The order of tokens will be checked by the parser later on!</a:t>
            </a:r>
          </a:p>
        </p:txBody>
      </p:sp>
    </p:spTree>
    <p:extLst>
      <p:ext uri="{BB962C8B-B14F-4D97-AF65-F5344CB8AC3E}">
        <p14:creationId xmlns:p14="http://schemas.microsoft.com/office/powerpoint/2010/main" val="2467141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BC2B-0E71-9A46-9E43-A806AC94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simple PL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5EF19-7FB0-1E46-82A5-C13ADBB9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2057400"/>
            <a:ext cx="9182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53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BC2B-0E71-9A46-9E43-A806AC94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simple PL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12CA9-22BC-BB43-9AE6-B65E5C3F2F9B}"/>
              </a:ext>
            </a:extLst>
          </p:cNvPr>
          <p:cNvSpPr txBox="1"/>
          <p:nvPr/>
        </p:nvSpPr>
        <p:spPr>
          <a:xfrm>
            <a:off x="3126378" y="2151017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for (int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= 0;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&lt;= 5;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++)</a:t>
            </a:r>
          </a:p>
        </p:txBody>
      </p:sp>
    </p:spTree>
    <p:extLst>
      <p:ext uri="{BB962C8B-B14F-4D97-AF65-F5344CB8AC3E}">
        <p14:creationId xmlns:p14="http://schemas.microsoft.com/office/powerpoint/2010/main" val="2443753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BC2B-0E71-9A46-9E43-A806AC94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simple PL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12CA9-22BC-BB43-9AE6-B65E5C3F2F9B}"/>
              </a:ext>
            </a:extLst>
          </p:cNvPr>
          <p:cNvSpPr txBox="1"/>
          <p:nvPr/>
        </p:nvSpPr>
        <p:spPr>
          <a:xfrm>
            <a:off x="3126378" y="2151017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for (int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= 0;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&lt;= 5;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++)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8316E-A87E-B84D-9970-A05792F6C9CA}"/>
              </a:ext>
            </a:extLst>
          </p:cNvPr>
          <p:cNvSpPr txBox="1"/>
          <p:nvPr/>
        </p:nvSpPr>
        <p:spPr>
          <a:xfrm>
            <a:off x="453210" y="3627120"/>
            <a:ext cx="977062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[(ID, “for”),   (PAR, “(“), (ID, “int”),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 </a:t>
            </a:r>
          </a:p>
          <a:p>
            <a:r>
              <a:rPr lang="en-US" sz="2400" dirty="0">
                <a:latin typeface="Courier" pitchFamily="2" charset="0"/>
              </a:rPr>
              <a:t> (ASSIGN, “=“), (NUM, “0”),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</a:p>
          <a:p>
            <a:r>
              <a:rPr lang="en-US" sz="2400" dirty="0">
                <a:latin typeface="Courier" pitchFamily="2" charset="0"/>
              </a:rPr>
              <a:t> (LE, “&lt;=“),    (NUM, “5”),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 (INCR, “++”),  (PAR, “)”)]</a:t>
            </a:r>
          </a:p>
        </p:txBody>
      </p:sp>
    </p:spTree>
    <p:extLst>
      <p:ext uri="{BB962C8B-B14F-4D97-AF65-F5344CB8AC3E}">
        <p14:creationId xmlns:p14="http://schemas.microsoft.com/office/powerpoint/2010/main" val="2604430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BC2B-0E71-9A46-9E43-A806AC94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simple PL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12CA9-22BC-BB43-9AE6-B65E5C3F2F9B}"/>
              </a:ext>
            </a:extLst>
          </p:cNvPr>
          <p:cNvSpPr txBox="1"/>
          <p:nvPr/>
        </p:nvSpPr>
        <p:spPr>
          <a:xfrm>
            <a:off x="3126378" y="2151017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for (int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= 0;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&lt;= 5;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++)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8316E-A87E-B84D-9970-A05792F6C9CA}"/>
              </a:ext>
            </a:extLst>
          </p:cNvPr>
          <p:cNvSpPr txBox="1"/>
          <p:nvPr/>
        </p:nvSpPr>
        <p:spPr>
          <a:xfrm>
            <a:off x="453210" y="3627120"/>
            <a:ext cx="977062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[(ID, “for”),   (PAR, “(“), (ID, “int”),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 </a:t>
            </a:r>
          </a:p>
          <a:p>
            <a:r>
              <a:rPr lang="en-US" sz="2400" dirty="0">
                <a:latin typeface="Courier" pitchFamily="2" charset="0"/>
              </a:rPr>
              <a:t> (ASSIGN, “=“), (NUM, “0”),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</a:p>
          <a:p>
            <a:r>
              <a:rPr lang="en-US" sz="2400" dirty="0">
                <a:latin typeface="Courier" pitchFamily="2" charset="0"/>
              </a:rPr>
              <a:t> (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LE, “&lt;=“),    </a:t>
            </a:r>
            <a:r>
              <a:rPr lang="en-US" sz="2400" dirty="0">
                <a:latin typeface="Courier" pitchFamily="2" charset="0"/>
              </a:rPr>
              <a:t>(NUM, “5”),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 (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INCR, “++”),  </a:t>
            </a:r>
            <a:r>
              <a:rPr lang="en-US" sz="2400" dirty="0">
                <a:latin typeface="Courier" pitchFamily="2" charset="0"/>
              </a:rPr>
              <a:t>(PAR, “)”)]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70208-0EF2-6641-840C-4172268F6D3A}"/>
              </a:ext>
            </a:extLst>
          </p:cNvPr>
          <p:cNvSpPr txBox="1"/>
          <p:nvPr/>
        </p:nvSpPr>
        <p:spPr>
          <a:xfrm>
            <a:off x="862149" y="5852160"/>
            <a:ext cx="330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not: ”&lt;“ and “=“ separately?</a:t>
            </a:r>
          </a:p>
        </p:txBody>
      </p:sp>
    </p:spTree>
    <p:extLst>
      <p:ext uri="{BB962C8B-B14F-4D97-AF65-F5344CB8AC3E}">
        <p14:creationId xmlns:p14="http://schemas.microsoft.com/office/powerpoint/2010/main" val="2997842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BC2B-0E71-9A46-9E43-A806AC94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simple PL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12CA9-22BC-BB43-9AE6-B65E5C3F2F9B}"/>
              </a:ext>
            </a:extLst>
          </p:cNvPr>
          <p:cNvSpPr txBox="1"/>
          <p:nvPr/>
        </p:nvSpPr>
        <p:spPr>
          <a:xfrm>
            <a:off x="3126378" y="2151017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for (int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= 0;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&lt;= 5;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++)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8316E-A87E-B84D-9970-A05792F6C9CA}"/>
              </a:ext>
            </a:extLst>
          </p:cNvPr>
          <p:cNvSpPr txBox="1"/>
          <p:nvPr/>
        </p:nvSpPr>
        <p:spPr>
          <a:xfrm>
            <a:off x="453210" y="3627120"/>
            <a:ext cx="977062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[(ID, “for”),  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(PAR, “(“), </a:t>
            </a:r>
            <a:r>
              <a:rPr lang="en-US" sz="2400" dirty="0">
                <a:latin typeface="Courier" pitchFamily="2" charset="0"/>
              </a:rPr>
              <a:t>(ID, “int”),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 </a:t>
            </a:r>
          </a:p>
          <a:p>
            <a:r>
              <a:rPr lang="en-US" sz="2400" dirty="0">
                <a:latin typeface="Courier" pitchFamily="2" charset="0"/>
              </a:rPr>
              <a:t> (ASSIGN, “=“), (NUM, “0”),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</a:p>
          <a:p>
            <a:r>
              <a:rPr lang="en-US" sz="2400" dirty="0">
                <a:latin typeface="Courier" pitchFamily="2" charset="0"/>
              </a:rPr>
              <a:t> (LE, “&lt;=“),    (NUM, “5”),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 (INCR, “++”), 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(PAR, “)”)]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70208-0EF2-6641-840C-4172268F6D3A}"/>
              </a:ext>
            </a:extLst>
          </p:cNvPr>
          <p:cNvSpPr txBox="1"/>
          <p:nvPr/>
        </p:nvSpPr>
        <p:spPr>
          <a:xfrm>
            <a:off x="862149" y="5852160"/>
            <a:ext cx="330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Should these be the same token?</a:t>
            </a:r>
          </a:p>
        </p:txBody>
      </p:sp>
    </p:spTree>
    <p:extLst>
      <p:ext uri="{BB962C8B-B14F-4D97-AF65-F5344CB8AC3E}">
        <p14:creationId xmlns:p14="http://schemas.microsoft.com/office/powerpoint/2010/main" val="1812723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BC2B-0E71-9A46-9E43-A806AC94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simple PL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12CA9-22BC-BB43-9AE6-B65E5C3F2F9B}"/>
              </a:ext>
            </a:extLst>
          </p:cNvPr>
          <p:cNvSpPr txBox="1"/>
          <p:nvPr/>
        </p:nvSpPr>
        <p:spPr>
          <a:xfrm>
            <a:off x="3126378" y="2151017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for (int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= 0;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 &lt;= 5; 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++)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8316E-A87E-B84D-9970-A05792F6C9CA}"/>
              </a:ext>
            </a:extLst>
          </p:cNvPr>
          <p:cNvSpPr txBox="1"/>
          <p:nvPr/>
        </p:nvSpPr>
        <p:spPr>
          <a:xfrm>
            <a:off x="453210" y="3627120"/>
            <a:ext cx="99549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[(ID, “for”),  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(LPAR, “(“), </a:t>
            </a:r>
            <a:r>
              <a:rPr lang="en-US" sz="2400" dirty="0">
                <a:latin typeface="Courier" pitchFamily="2" charset="0"/>
              </a:rPr>
              <a:t>(ID, “int”),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 </a:t>
            </a:r>
          </a:p>
          <a:p>
            <a:r>
              <a:rPr lang="en-US" sz="2400" dirty="0">
                <a:latin typeface="Courier" pitchFamily="2" charset="0"/>
              </a:rPr>
              <a:t> (ASSIGN, “=“), (NUM, “0”), 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</a:p>
          <a:p>
            <a:r>
              <a:rPr lang="en-US" sz="2400" dirty="0">
                <a:latin typeface="Courier" pitchFamily="2" charset="0"/>
              </a:rPr>
              <a:t> (LE, “&lt;=“),    (NUM, “5”),  (SEMI, “;”), (ID, “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”),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 (INCR, “++”), 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(RPAR, “)”)]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70208-0EF2-6641-840C-4172268F6D3A}"/>
              </a:ext>
            </a:extLst>
          </p:cNvPr>
          <p:cNvSpPr txBox="1"/>
          <p:nvPr/>
        </p:nvSpPr>
        <p:spPr>
          <a:xfrm>
            <a:off x="862149" y="5852160"/>
            <a:ext cx="4558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Should these be the same token? Probably not</a:t>
            </a:r>
          </a:p>
        </p:txBody>
      </p:sp>
    </p:spTree>
    <p:extLst>
      <p:ext uri="{BB962C8B-B14F-4D97-AF65-F5344CB8AC3E}">
        <p14:creationId xmlns:p14="http://schemas.microsoft.com/office/powerpoint/2010/main" val="700241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921</Words>
  <Application>Microsoft Office PowerPoint</Application>
  <PresentationFormat>Widescreen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</vt:lpstr>
      <vt:lpstr>Office Theme</vt:lpstr>
      <vt:lpstr>Quiz-03-Intro-Lexers</vt:lpstr>
      <vt:lpstr>Scanner API</vt:lpstr>
      <vt:lpstr>Programs for Lexical Analysis</vt:lpstr>
      <vt:lpstr>Scanner API</vt:lpstr>
      <vt:lpstr>PowerPoint Presentation</vt:lpstr>
      <vt:lpstr>Scanning vs. Parsing</vt:lpstr>
      <vt:lpstr>Parsing is the first step in a compiler</vt:lpstr>
      <vt:lpstr>Parsing is the first step in a compiler</vt:lpstr>
      <vt:lpstr>Programs for Lexical Analysis</vt:lpstr>
      <vt:lpstr>Parsing is the first step in a compiler</vt:lpstr>
      <vt:lpstr>Parsing is the first step in a compiler</vt:lpstr>
      <vt:lpstr>Parsing is the first step in a compiler</vt:lpstr>
      <vt:lpstr>Scanning vs. Parsing</vt:lpstr>
      <vt:lpstr>Scanning a simple PL statement</vt:lpstr>
      <vt:lpstr>Scanning a simple PL statement</vt:lpstr>
      <vt:lpstr>Scanning a simple PL statement</vt:lpstr>
      <vt:lpstr>Scanning a simple PL statement</vt:lpstr>
      <vt:lpstr>Scanning a simple PL statement</vt:lpstr>
      <vt:lpstr>Scanning a simple PL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Siero</dc:creator>
  <cp:lastModifiedBy>Marcelo Siero</cp:lastModifiedBy>
  <cp:revision>2</cp:revision>
  <dcterms:created xsi:type="dcterms:W3CDTF">2025-03-28T08:33:34Z</dcterms:created>
  <dcterms:modified xsi:type="dcterms:W3CDTF">2025-03-31T00:41:39Z</dcterms:modified>
</cp:coreProperties>
</file>