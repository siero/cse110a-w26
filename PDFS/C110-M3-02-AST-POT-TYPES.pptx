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7" r:id="rId2"/>
    <p:sldId id="1518" r:id="rId3"/>
    <p:sldId id="1470" r:id="rId4"/>
    <p:sldId id="1343" r:id="rId5"/>
    <p:sldId id="1515" r:id="rId6"/>
    <p:sldId id="1471" r:id="rId7"/>
    <p:sldId id="1400" r:id="rId8"/>
    <p:sldId id="1474" r:id="rId9"/>
    <p:sldId id="1475" r:id="rId10"/>
    <p:sldId id="1476" r:id="rId11"/>
    <p:sldId id="1477" r:id="rId12"/>
    <p:sldId id="1483" r:id="rId13"/>
    <p:sldId id="1478" r:id="rId14"/>
    <p:sldId id="1479" r:id="rId15"/>
    <p:sldId id="1480" r:id="rId16"/>
    <p:sldId id="1481" r:id="rId17"/>
    <p:sldId id="1482" r:id="rId18"/>
    <p:sldId id="1486" r:id="rId19"/>
    <p:sldId id="1485" r:id="rId20"/>
    <p:sldId id="1487" r:id="rId21"/>
    <p:sldId id="1489" r:id="rId22"/>
    <p:sldId id="1488" r:id="rId23"/>
    <p:sldId id="1501" r:id="rId24"/>
    <p:sldId id="1575" r:id="rId25"/>
    <p:sldId id="1500" r:id="rId26"/>
    <p:sldId id="1502" r:id="rId27"/>
    <p:sldId id="1503" r:id="rId28"/>
    <p:sldId id="1504" r:id="rId29"/>
    <p:sldId id="1506" r:id="rId30"/>
    <p:sldId id="1509" r:id="rId31"/>
    <p:sldId id="1507" r:id="rId32"/>
    <p:sldId id="1510" r:id="rId33"/>
    <p:sldId id="1513" r:id="rId34"/>
    <p:sldId id="1519" r:id="rId35"/>
    <p:sldId id="1546" r:id="rId36"/>
    <p:sldId id="1547" r:id="rId37"/>
    <p:sldId id="1548" r:id="rId38"/>
    <p:sldId id="1549" r:id="rId39"/>
    <p:sldId id="1550" r:id="rId40"/>
    <p:sldId id="1520" r:id="rId41"/>
    <p:sldId id="1521" r:id="rId42"/>
    <p:sldId id="1551" r:id="rId43"/>
    <p:sldId id="1522" r:id="rId44"/>
    <p:sldId id="1523" r:id="rId45"/>
    <p:sldId id="1524" r:id="rId46"/>
    <p:sldId id="1527" r:id="rId47"/>
    <p:sldId id="1526" r:id="rId48"/>
    <p:sldId id="1528" r:id="rId49"/>
    <p:sldId id="1529" r:id="rId50"/>
    <p:sldId id="1530" r:id="rId51"/>
    <p:sldId id="1552" r:id="rId52"/>
    <p:sldId id="1553" r:id="rId53"/>
    <p:sldId id="1554" r:id="rId54"/>
    <p:sldId id="1555" r:id="rId55"/>
    <p:sldId id="1556" r:id="rId56"/>
    <p:sldId id="1376" r:id="rId57"/>
    <p:sldId id="1557" r:id="rId58"/>
    <p:sldId id="1558" r:id="rId59"/>
    <p:sldId id="1559" r:id="rId60"/>
    <p:sldId id="1560" r:id="rId61"/>
    <p:sldId id="1561" r:id="rId62"/>
    <p:sldId id="1562" r:id="rId63"/>
    <p:sldId id="1563" r:id="rId64"/>
    <p:sldId id="1564" r:id="rId65"/>
    <p:sldId id="1565" r:id="rId66"/>
    <p:sldId id="1566" r:id="rId67"/>
    <p:sldId id="1567" r:id="rId68"/>
    <p:sldId id="1568" r:id="rId69"/>
    <p:sldId id="1569" r:id="rId70"/>
    <p:sldId id="1570" r:id="rId71"/>
    <p:sldId id="1571" r:id="rId72"/>
    <p:sldId id="1572" r:id="rId73"/>
    <p:sldId id="1573" r:id="rId74"/>
    <p:sldId id="1574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44"/>
    <p:restoredTop sz="96405"/>
  </p:normalViewPr>
  <p:slideViewPr>
    <p:cSldViewPr snapToGrid="0" snapToObjects="1">
      <p:cViewPr varScale="1">
        <p:scale>
          <a:sx n="72" d="100"/>
          <a:sy n="72" d="100"/>
        </p:scale>
        <p:origin x="6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73" y="74632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r>
              <a:rPr lang="en-US" i="1" dirty="0"/>
              <a:t>Module 3: Intermediate representations 2</a:t>
            </a:r>
          </a:p>
          <a:p>
            <a:pPr lvl="1"/>
            <a:r>
              <a:rPr lang="en-US" i="1" dirty="0"/>
              <a:t>ASTs</a:t>
            </a:r>
          </a:p>
          <a:p>
            <a:pPr lvl="1"/>
            <a:r>
              <a:rPr lang="en-US" i="1" dirty="0"/>
              <a:t>Type checking</a:t>
            </a:r>
          </a:p>
          <a:p>
            <a:pPr lvl="1"/>
            <a:r>
              <a:rPr lang="en-US" i="1" dirty="0"/>
              <a:t>Int/Float conversions (slide 26)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9868755" y="30113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9891340" y="612988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243270" y="612988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494240" y="931005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283799" y="938302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743432" y="1260443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139294" y="1250151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697227" y="157172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764779" y="1562000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DB500-1416-664B-BD1D-A70789932F8B}"/>
              </a:ext>
            </a:extLst>
          </p:cNvPr>
          <p:cNvSpPr/>
          <p:nvPr/>
        </p:nvSpPr>
        <p:spPr>
          <a:xfrm>
            <a:off x="8841912" y="243109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02BC6D-A4F3-7945-9BA8-DDAD5EBAD05E}"/>
              </a:ext>
            </a:extLst>
          </p:cNvPr>
          <p:cNvSpPr/>
          <p:nvPr/>
        </p:nvSpPr>
        <p:spPr>
          <a:xfrm>
            <a:off x="8261222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166087-E008-CB41-9E49-F43BE5B52E3C}"/>
              </a:ext>
            </a:extLst>
          </p:cNvPr>
          <p:cNvSpPr/>
          <p:nvPr/>
        </p:nvSpPr>
        <p:spPr>
          <a:xfrm>
            <a:off x="9404049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C40F58-CF90-CE41-89B9-CE8DBABC9991}"/>
              </a:ext>
            </a:extLst>
          </p:cNvPr>
          <p:cNvSpPr/>
          <p:nvPr/>
        </p:nvSpPr>
        <p:spPr>
          <a:xfrm>
            <a:off x="8801537" y="387484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F10088-ADEF-7F4E-A316-E753418CD634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flipH="1">
            <a:off x="8562478" y="2849305"/>
            <a:ext cx="580690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E5B716-F904-F04C-85D6-57BAB595954F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>
            <a:off x="9143168" y="2849305"/>
            <a:ext cx="562137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CD5CE6-7944-5940-BF7F-AD6B8EF5481A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8562478" y="3571180"/>
            <a:ext cx="540315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E481C4-ED00-5E48-8D57-93234F440C6A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9102793" y="3571180"/>
            <a:ext cx="602512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FBAFE9-DB06-D242-9A86-5A5DBAE7937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10006561" y="2839576"/>
            <a:ext cx="277238" cy="5224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65BD84F-A29B-7844-AA4E-821E0B90D387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9444424" y="2640198"/>
            <a:ext cx="839375" cy="199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A8C64CD-6438-0642-90A2-AB2F8FAC4216}"/>
              </a:ext>
            </a:extLst>
          </p:cNvPr>
          <p:cNvSpPr txBox="1"/>
          <p:nvPr/>
        </p:nvSpPr>
        <p:spPr>
          <a:xfrm>
            <a:off x="10858582" y="30113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3111E8-20FD-9A4E-BB6A-BF339F777B74}"/>
              </a:ext>
            </a:extLst>
          </p:cNvPr>
          <p:cNvSpPr txBox="1"/>
          <p:nvPr/>
        </p:nvSpPr>
        <p:spPr>
          <a:xfrm>
            <a:off x="8063655" y="2447138"/>
            <a:ext cx="55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CFG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A20544-E545-DB40-AE9C-D75E51A5C0A6}"/>
              </a:ext>
            </a:extLst>
          </p:cNvPr>
          <p:cNvSpPr/>
          <p:nvPr/>
        </p:nvSpPr>
        <p:spPr>
          <a:xfrm>
            <a:off x="8859121" y="4978934"/>
            <a:ext cx="3175968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2E933-E9AD-4341-9CF9-2422F61D7ABC}"/>
              </a:ext>
            </a:extLst>
          </p:cNvPr>
          <p:cNvSpPr txBox="1"/>
          <p:nvPr/>
        </p:nvSpPr>
        <p:spPr>
          <a:xfrm>
            <a:off x="10296120" y="4555260"/>
            <a:ext cx="1588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address code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731F-DE45-0A97-7871-370F08ED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432" y="2506746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ASTs: Abstract Syntax Trees</a:t>
            </a:r>
          </a:p>
        </p:txBody>
      </p:sp>
    </p:spTree>
    <p:extLst>
      <p:ext uri="{BB962C8B-B14F-4D97-AF65-F5344CB8AC3E}">
        <p14:creationId xmlns:p14="http://schemas.microsoft.com/office/powerpoint/2010/main" val="348203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DC4A05-A0A4-FA47-A6EA-1EA62619FC6D}"/>
              </a:ext>
            </a:extLst>
          </p:cNvPr>
          <p:cNvSpPr/>
          <p:nvPr/>
        </p:nvSpPr>
        <p:spPr>
          <a:xfrm>
            <a:off x="3670300" y="909935"/>
            <a:ext cx="375073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F25C3-9CB6-9447-970F-15356121F7A9}"/>
              </a:ext>
            </a:extLst>
          </p:cNvPr>
          <p:cNvSpPr/>
          <p:nvPr/>
        </p:nvSpPr>
        <p:spPr>
          <a:xfrm>
            <a:off x="220134" y="2530607"/>
            <a:ext cx="4699000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value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B7094-C8F1-2E41-AACD-AF29558149D9}"/>
              </a:ext>
            </a:extLst>
          </p:cNvPr>
          <p:cNvSpPr/>
          <p:nvPr/>
        </p:nvSpPr>
        <p:spPr>
          <a:xfrm>
            <a:off x="5545667" y="2530607"/>
            <a:ext cx="60960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ASTPlusNode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ASTMultNode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61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4BEF-BE56-BE40-9AB8-D6BA2561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a parser</a:t>
            </a:r>
          </a:p>
        </p:txBody>
      </p:sp>
    </p:spTree>
    <p:extLst>
      <p:ext uri="{BB962C8B-B14F-4D97-AF65-F5344CB8AC3E}">
        <p14:creationId xmlns:p14="http://schemas.microsoft.com/office/powerpoint/2010/main" val="414981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DC4A05-A0A4-FA47-A6EA-1EA62619FC6D}"/>
              </a:ext>
            </a:extLst>
          </p:cNvPr>
          <p:cNvSpPr/>
          <p:nvPr/>
        </p:nvSpPr>
        <p:spPr>
          <a:xfrm>
            <a:off x="3670300" y="909935"/>
            <a:ext cx="375073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F25C3-9CB6-9447-970F-15356121F7A9}"/>
              </a:ext>
            </a:extLst>
          </p:cNvPr>
          <p:cNvSpPr/>
          <p:nvPr/>
        </p:nvSpPr>
        <p:spPr>
          <a:xfrm>
            <a:off x="220134" y="2530607"/>
            <a:ext cx="4699000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value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B7094-C8F1-2E41-AACD-AF29558149D9}"/>
              </a:ext>
            </a:extLst>
          </p:cNvPr>
          <p:cNvSpPr/>
          <p:nvPr/>
        </p:nvSpPr>
        <p:spPr>
          <a:xfrm>
            <a:off x="5545667" y="2530607"/>
            <a:ext cx="60960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ASTPlusNode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ASTMultNode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869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production rules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DF299A-ED36-514C-98A5-E7EB339DA8DB}"/>
              </a:ext>
            </a:extLst>
          </p:cNvPr>
          <p:cNvGraphicFramePr>
            <a:graphicFrameLocks noGrp="1"/>
          </p:cNvGraphicFramePr>
          <p:nvPr/>
        </p:nvGraphicFramePr>
        <p:xfrm>
          <a:off x="1383671" y="2487756"/>
          <a:ext cx="9424657" cy="24530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921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77018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68220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  <a:gridCol w="4187296">
                  <a:extLst>
                    <a:ext uri="{9D8B030D-6E8A-4147-A177-3AD203B41FA5}">
                      <a16:colId xmlns:a16="http://schemas.microsoft.com/office/drawing/2014/main" val="686801215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ASTAddNode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ASTMultNode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$2}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ASTNumNode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ASTIDNode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83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4D59432-2935-CD4A-9381-5E100991E50D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C88285F-9994-B14C-AED5-8F42F4C96A6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81C73C8-2205-E94E-BF43-881B12B029E0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FA3D48F-2460-6844-81C6-AD73BE148012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104C896-1663-DB47-9FAA-BC0163C769D0}"/>
              </a:ext>
            </a:extLst>
          </p:cNvPr>
          <p:cNvCxnSpPr>
            <a:cxnSpLocks/>
            <a:stCxn id="51" idx="2"/>
            <a:endCxn id="53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79725C-F72A-4E46-BA2C-DFA47328E442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DE6948A3-F770-5642-A7A5-1D8F19AA3D6A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6BF085C-7BD2-574B-8A93-37D4105B128B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1D1EC452-ABCA-0142-84E3-388B4A6F3E1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4083C49-F390-9945-99BC-D61F3571D8EF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9FF1A57-5487-8C40-BBC4-F67F3FBCD4A5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BEE36F5-2EF3-B648-AF93-FF809088ED03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72D31F-FA9B-A74D-9F8D-085F00F431D9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E6581F-066A-674E-ABFF-2BD4B6149B1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C0DF0D2-74B7-AC40-B284-60431E06D7D8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17C2AE9-DEDE-3D4D-BFF6-69225AFD62B4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EA3795B-97D8-174C-8C85-7334A23DC98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14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457B1-CF08-B648-A171-EEDDC399FD36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F2E608-4265-0640-AC6D-C11B56B90332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2702E1-1037-A94E-B343-4FCE2DBF1798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4EEAB8-FF65-A84D-9CC7-90207006FBE8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FD8F13-67DD-C840-92C3-068C11012323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D16D68-5646-9247-B350-B2C2AA448AE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BA7FAD9-4799-D54B-BDB8-AE9C62112A23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B78B42-94ED-F44E-AC28-E916E2FD24BA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2E51B-3267-064B-A381-7336ED8BBD9C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2BC50B-A234-1844-ABB9-8C441FB792CA}"/>
              </a:ext>
            </a:extLst>
          </p:cNvPr>
          <p:cNvSpPr txBox="1"/>
          <p:nvPr/>
        </p:nvSpPr>
        <p:spPr>
          <a:xfrm>
            <a:off x="6514762" y="5811385"/>
            <a:ext cx="4069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to the desired parse tree?</a:t>
            </a:r>
          </a:p>
        </p:txBody>
      </p:sp>
    </p:spTree>
    <p:extLst>
      <p:ext uri="{BB962C8B-B14F-4D97-AF65-F5344CB8AC3E}">
        <p14:creationId xmlns:p14="http://schemas.microsoft.com/office/powerpoint/2010/main" val="26897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E2BD59-4654-D54B-831A-C6046A6CD283}"/>
              </a:ext>
            </a:extLst>
          </p:cNvPr>
          <p:cNvSpPr txBox="1"/>
          <p:nvPr/>
        </p:nvSpPr>
        <p:spPr>
          <a:xfrm>
            <a:off x="725786" y="3570961"/>
            <a:ext cx="5135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Keep in mind that because we wrote our own parser,</a:t>
            </a:r>
          </a:p>
          <a:p>
            <a:r>
              <a:rPr lang="en-US" dirty="0"/>
              <a:t>we can inject code at any point during the parse.</a:t>
            </a:r>
          </a:p>
        </p:txBody>
      </p:sp>
    </p:spTree>
    <p:extLst>
      <p:ext uri="{BB962C8B-B14F-4D97-AF65-F5344CB8AC3E}">
        <p14:creationId xmlns:p14="http://schemas.microsoft.com/office/powerpoint/2010/main" val="4055510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541950" y="3669436"/>
            <a:ext cx="1996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number node after we see a number </a:t>
            </a:r>
          </a:p>
        </p:txBody>
      </p:sp>
    </p:spTree>
    <p:extLst>
      <p:ext uri="{BB962C8B-B14F-4D97-AF65-F5344CB8AC3E}">
        <p14:creationId xmlns:p14="http://schemas.microsoft.com/office/powerpoint/2010/main" val="427780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433411" y="3810652"/>
            <a:ext cx="1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the node down</a:t>
            </a:r>
          </a:p>
        </p:txBody>
      </p:sp>
    </p:spTree>
    <p:extLst>
      <p:ext uri="{BB962C8B-B14F-4D97-AF65-F5344CB8AC3E}">
        <p14:creationId xmlns:p14="http://schemas.microsoft.com/office/powerpoint/2010/main" val="2151751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Expr2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433411" y="3810652"/>
            <a:ext cx="1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the node down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B2C67C-8672-DC4B-850B-8916CC9DD699}"/>
              </a:ext>
            </a:extLst>
          </p:cNvPr>
          <p:cNvSpPr txBox="1"/>
          <p:nvPr/>
        </p:nvSpPr>
        <p:spPr>
          <a:xfrm>
            <a:off x="9632994" y="300059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</p:spTree>
    <p:extLst>
      <p:ext uri="{BB962C8B-B14F-4D97-AF65-F5344CB8AC3E}">
        <p14:creationId xmlns:p14="http://schemas.microsoft.com/office/powerpoint/2010/main" val="1019450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093396" y="4110960"/>
            <a:ext cx="1996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Expr2, after 4 is parsed, create a number node and a minus node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AST&lt;4&gt;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2EE652-7AD2-B243-8C09-9CF0ECEA259B}"/>
              </a:ext>
            </a:extLst>
          </p:cNvPr>
          <p:cNvSpPr txBox="1"/>
          <p:nvPr/>
        </p:nvSpPr>
        <p:spPr>
          <a:xfrm>
            <a:off x="9632994" y="300059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</p:spTree>
    <p:extLst>
      <p:ext uri="{BB962C8B-B14F-4D97-AF65-F5344CB8AC3E}">
        <p14:creationId xmlns:p14="http://schemas.microsoft.com/office/powerpoint/2010/main" val="1403185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Expr2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093396" y="4110960"/>
            <a:ext cx="1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the new node</a:t>
            </a:r>
            <a:br>
              <a:rPr lang="en-US" dirty="0"/>
            </a:br>
            <a:r>
              <a:rPr lang="en-US" dirty="0"/>
              <a:t>down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ED1931-D0ED-064F-B152-48ED92F64F3A}"/>
              </a:ext>
            </a:extLst>
          </p:cNvPr>
          <p:cNvSpPr txBox="1"/>
          <p:nvPr/>
        </p:nvSpPr>
        <p:spPr>
          <a:xfrm>
            <a:off x="10518315" y="37268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205384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234780"/>
            <a:ext cx="1996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Expr2, after 3 is parsed, create a number node and a minus node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D971D2-E7F8-2940-A846-AFD056D85C39}"/>
              </a:ext>
            </a:extLst>
          </p:cNvPr>
          <p:cNvSpPr txBox="1"/>
          <p:nvPr/>
        </p:nvSpPr>
        <p:spPr>
          <a:xfrm>
            <a:off x="10518315" y="37268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1105777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463989"/>
            <a:ext cx="1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down the new node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811E8F-24E9-9A4B-A10D-502221969126}"/>
              </a:ext>
            </a:extLst>
          </p:cNvPr>
          <p:cNvSpPr txBox="1"/>
          <p:nvPr/>
        </p:nvSpPr>
        <p:spPr>
          <a:xfrm>
            <a:off x="11284254" y="443660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2740840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463989"/>
            <a:ext cx="1996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the node when there is nothing left to parse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811E8F-24E9-9A4B-A10D-502221969126}"/>
              </a:ext>
            </a:extLst>
          </p:cNvPr>
          <p:cNvSpPr txBox="1"/>
          <p:nvPr/>
        </p:nvSpPr>
        <p:spPr>
          <a:xfrm>
            <a:off x="7871714" y="2317518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3909018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D8BA50-1EA3-E24C-94A7-2003E6AC8455}"/>
              </a:ext>
            </a:extLst>
          </p:cNvPr>
          <p:cNvSpPr/>
          <p:nvPr/>
        </p:nvSpPr>
        <p:spPr>
          <a:xfrm>
            <a:off x="4233333" y="1882340"/>
            <a:ext cx="7628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#get the value from the lexeme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# the next terminal, a NUM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832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373AA-277F-0E47-976B-655C065552DD}"/>
              </a:ext>
            </a:extLst>
          </p:cNvPr>
          <p:cNvSpPr/>
          <p:nvPr/>
        </p:nvSpPr>
        <p:spPr>
          <a:xfrm>
            <a:off x="389467" y="4130471"/>
            <a:ext cx="78062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 ... for applying the first production rule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"MINUS"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           # the value of next terminal a NUM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 err="1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          # build that node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ASTMinusNode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   # build the Expr2 dyadic node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 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.parse_expr2(node)               # return the dyadic node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7C69E-A840-B5AA-90AD-3F49C6B49692}"/>
              </a:ext>
            </a:extLst>
          </p:cNvPr>
          <p:cNvSpPr/>
          <p:nvPr/>
        </p:nvSpPr>
        <p:spPr>
          <a:xfrm>
            <a:off x="4233333" y="1882340"/>
            <a:ext cx="7628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#get the value from the lexeme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253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DF143-55F5-3D4C-8B96-0DE78875E623}"/>
              </a:ext>
            </a:extLst>
          </p:cNvPr>
          <p:cNvSpPr/>
          <p:nvPr/>
        </p:nvSpPr>
        <p:spPr>
          <a:xfrm>
            <a:off x="956733" y="4746552"/>
            <a:ext cx="92286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        # ... for applying the second production rule of Expr2, when there is no MINUS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8C9A5A-1ABB-D1E0-89B1-24A6E08FF2C6}"/>
              </a:ext>
            </a:extLst>
          </p:cNvPr>
          <p:cNvSpPr/>
          <p:nvPr/>
        </p:nvSpPr>
        <p:spPr>
          <a:xfrm>
            <a:off x="4233333" y="1882340"/>
            <a:ext cx="7628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#get the value from the lexeme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804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76898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Term</a:t>
            </a:r>
            <a:r>
              <a:rPr lang="en-US" dirty="0">
                <a:latin typeface="Courier" pitchFamily="2" charset="0"/>
              </a:rPr>
              <a:t> Expr2</a:t>
            </a:r>
          </a:p>
          <a:p>
            <a:r>
              <a:rPr lang="en-US" dirty="0">
                <a:latin typeface="Courier" pitchFamily="2" charset="0"/>
              </a:rPr>
              <a:t>Expr2 ::= MINUS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Term</a:t>
            </a:r>
            <a:r>
              <a:rPr lang="en-US" dirty="0">
                <a:latin typeface="Courier" pitchFamily="2" charset="0"/>
              </a:rPr>
              <a:t>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C0EC2-C966-2942-A41C-72D90BE8F91E}"/>
              </a:ext>
            </a:extLst>
          </p:cNvPr>
          <p:cNvSpPr txBox="1"/>
          <p:nvPr/>
        </p:nvSpPr>
        <p:spPr>
          <a:xfrm>
            <a:off x="169334" y="2727529"/>
            <a:ext cx="37951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 more realistic grammar, you might</a:t>
            </a:r>
            <a:br>
              <a:rPr lang="en-US" dirty="0"/>
            </a:br>
            <a:r>
              <a:rPr lang="en-US" dirty="0"/>
              <a:t>have more layers: e.g. a </a:t>
            </a:r>
            <a:r>
              <a:rPr lang="en-US" dirty="0">
                <a:highlight>
                  <a:srgbClr val="FFFF00"/>
                </a:highlight>
              </a:rPr>
              <a:t>Term</a:t>
            </a:r>
            <a:br>
              <a:rPr lang="en-US" dirty="0">
                <a:highlight>
                  <a:srgbClr val="FFFF00"/>
                </a:highlight>
              </a:rPr>
            </a:br>
            <a:br>
              <a:rPr lang="en-US" dirty="0">
                <a:highlight>
                  <a:srgbClr val="FFFF00"/>
                </a:highlight>
              </a:rPr>
            </a:br>
            <a:r>
              <a:rPr lang="en-US" dirty="0"/>
              <a:t>how to adapt?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2861E-BAC3-0183-43C1-9906326921E2}"/>
              </a:ext>
            </a:extLst>
          </p:cNvPr>
          <p:cNvSpPr/>
          <p:nvPr/>
        </p:nvSpPr>
        <p:spPr>
          <a:xfrm>
            <a:off x="4233333" y="1882340"/>
            <a:ext cx="7628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#get the value from the lexeme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F3AF4B-689A-C07F-B1B2-6C3E06DEB3F0}"/>
              </a:ext>
            </a:extLst>
          </p:cNvPr>
          <p:cNvSpPr/>
          <p:nvPr/>
        </p:nvSpPr>
        <p:spPr>
          <a:xfrm>
            <a:off x="389467" y="4130471"/>
            <a:ext cx="78062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 ... for applying the first production rule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"MINUS"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 err="1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ASTMinusNode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 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.parse_expr2(node)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101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76898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Term</a:t>
            </a:r>
            <a:r>
              <a:rPr lang="en-US" dirty="0">
                <a:latin typeface="Courier" pitchFamily="2" charset="0"/>
              </a:rPr>
              <a:t> Expr2</a:t>
            </a:r>
          </a:p>
          <a:p>
            <a:r>
              <a:rPr lang="en-US" dirty="0">
                <a:latin typeface="Courier" pitchFamily="2" charset="0"/>
              </a:rPr>
              <a:t>Expr2 ::= MINUS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Term</a:t>
            </a:r>
            <a:r>
              <a:rPr lang="en-US" dirty="0">
                <a:latin typeface="Courier" pitchFamily="2" charset="0"/>
              </a:rPr>
              <a:t>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D8BA50-1EA3-E24C-94A7-2003E6AC8455}"/>
              </a:ext>
            </a:extLst>
          </p:cNvPr>
          <p:cNvSpPr/>
          <p:nvPr/>
        </p:nvSpPr>
        <p:spPr>
          <a:xfrm>
            <a:off x="4233333" y="1882340"/>
            <a:ext cx="76284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.parse_term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.parse_expr2(node)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373AA-277F-0E47-976B-655C065552DD}"/>
              </a:ext>
            </a:extLst>
          </p:cNvPr>
          <p:cNvSpPr/>
          <p:nvPr/>
        </p:nvSpPr>
        <p:spPr>
          <a:xfrm>
            <a:off x="389467" y="4130471"/>
            <a:ext cx="78062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 ... for applying the first production rule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"MINUS"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 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.parse_term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ASTMinusNode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 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.parse_expr2(node)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C0EC2-C966-2942-A41C-72D90BE8F91E}"/>
              </a:ext>
            </a:extLst>
          </p:cNvPr>
          <p:cNvSpPr txBox="1"/>
          <p:nvPr/>
        </p:nvSpPr>
        <p:spPr>
          <a:xfrm>
            <a:off x="169334" y="2727529"/>
            <a:ext cx="37951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 more realistic grammar, you might</a:t>
            </a:r>
            <a:br>
              <a:rPr lang="en-US" dirty="0"/>
            </a:br>
            <a:r>
              <a:rPr lang="en-US" dirty="0"/>
              <a:t>have more layers: e.g. a </a:t>
            </a:r>
            <a:r>
              <a:rPr lang="en-US" dirty="0">
                <a:highlight>
                  <a:srgbClr val="FFFF00"/>
                </a:highlight>
              </a:rPr>
              <a:t>Term</a:t>
            </a:r>
            <a:br>
              <a:rPr lang="en-US" dirty="0">
                <a:highlight>
                  <a:srgbClr val="FFFF00"/>
                </a:highlight>
              </a:rPr>
            </a:br>
            <a:br>
              <a:rPr lang="en-US" dirty="0">
                <a:highlight>
                  <a:srgbClr val="FFFF00"/>
                </a:highlight>
              </a:rPr>
            </a:br>
            <a:r>
              <a:rPr lang="en-US" dirty="0"/>
              <a:t>how to adapt?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7EE02-A5CE-664B-9517-F1586B3C9123}"/>
              </a:ext>
            </a:extLst>
          </p:cNvPr>
          <p:cNvSpPr txBox="1"/>
          <p:nvPr/>
        </p:nvSpPr>
        <p:spPr>
          <a:xfrm>
            <a:off x="9110134" y="4292600"/>
            <a:ext cx="23873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parse_term</a:t>
            </a:r>
            <a:br>
              <a:rPr lang="en-US" b="1" dirty="0"/>
            </a:br>
            <a:r>
              <a:rPr lang="en-US" b="1" dirty="0"/>
              <a:t>will figure out how</a:t>
            </a:r>
          </a:p>
          <a:p>
            <a:r>
              <a:rPr lang="en-US" b="1" dirty="0"/>
              <a:t>to get you an AST node</a:t>
            </a:r>
          </a:p>
          <a:p>
            <a:r>
              <a:rPr lang="en-US" b="1" dirty="0"/>
              <a:t>for that term.</a:t>
            </a:r>
          </a:p>
        </p:txBody>
      </p:sp>
    </p:spTree>
    <p:extLst>
      <p:ext uri="{BB962C8B-B14F-4D97-AF65-F5344CB8AC3E}">
        <p14:creationId xmlns:p14="http://schemas.microsoft.com/office/powerpoint/2010/main" val="2700736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E58849-8CB8-B048-8ADE-2D476184A4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3DF057-40AE-324C-805F-1C9A428ED811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3925BA-6AE6-8F4A-9124-DE2C80CF1A53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27ED73A-17E5-F94F-B53F-793141B6E226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011516-B8ED-5B46-8344-313EE65386E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F77180-4165-8D4C-BFCA-6BEB9C1C5E2C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DF4AE-9547-E642-A374-F1D63CFD341E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FCE606-82CA-0840-9BB8-CA98677D86C8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21A90E5-2BD7-B046-BD97-2B9192067745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6C97B4-7FD9-494E-BFC6-18DAC10C23F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525782-A78E-0B49-89EB-873ACF123DA2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4513C1C-6B2A-3144-B7C7-52FF2E92BDC3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C58CFD-5EE3-D740-B954-05905EEDB020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511CEB-CD5F-0B4D-B581-AD57D0A1FD18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CC8D182-47AF-6D40-BD79-D01ED92A8995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701D8B-3473-FA4F-B16B-6A379F191EF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2C555CC-6A96-B84A-B392-3B1F1C86EA98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B13D5F2-5778-314F-A920-27A872007855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6504269" y="5711112"/>
            <a:ext cx="384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Parse trees cannot always be evaluated in post-order. An AST should always be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BC005E-8C4D-7A42-94E9-10E755AD8136}"/>
              </a:ext>
            </a:extLst>
          </p:cNvPr>
          <p:cNvSpPr txBox="1"/>
          <p:nvPr/>
        </p:nvSpPr>
        <p:spPr>
          <a:xfrm>
            <a:off x="10110651" y="2769326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 tree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233317-9DE9-0F46-B13A-60A1916D72E3}"/>
              </a:ext>
            </a:extLst>
          </p:cNvPr>
          <p:cNvSpPr txBox="1"/>
          <p:nvPr/>
        </p:nvSpPr>
        <p:spPr>
          <a:xfrm>
            <a:off x="5268686" y="384918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</p:spTree>
    <p:extLst>
      <p:ext uri="{BB962C8B-B14F-4D97-AF65-F5344CB8AC3E}">
        <p14:creationId xmlns:p14="http://schemas.microsoft.com/office/powerpoint/2010/main" val="932302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6730-58BD-4F5B-B690-EC03D60C8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4F502-9537-DEB0-6845-4B9BAFF1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Strategy to Build AST with Top-Down Parsing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A91B3-F256-909C-6176-47951B2ED7B6}"/>
              </a:ext>
            </a:extLst>
          </p:cNvPr>
          <p:cNvSpPr txBox="1"/>
          <p:nvPr/>
        </p:nvSpPr>
        <p:spPr>
          <a:xfrm>
            <a:off x="838200" y="1639209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E9F394-D93C-5978-4AF5-0A012D1CB9F0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5AD140-888F-A85A-EC9D-3F8E84C5E5A3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3FF658-C5E7-9B3F-FAB6-51DD5C168BFB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DAA0B4-465F-2F8D-89A5-F57E336D5A13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F5F78F9-5BEC-B8A5-B5DD-D837A95795DE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974D13-6B95-1C5B-5D21-2366B879810A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6D73E0-FAC9-3EFD-59D0-80E2C16CD5D5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02C957D-EDD2-B1A8-9BED-A3A65529E092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DBA190-46B0-AEEC-CEC1-6914E13DC60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1E8FF0B-32C0-5245-0363-861A06AE2513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9C6611-FA53-F1E1-D903-062F90CF412E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F83ABC-3B52-D4D7-1AF9-46A42ECAEA04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2A1BE81-586A-FA47-9FE0-E41F491555A4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A3BCF2-2E24-8F7E-73A5-F126277DE6B4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420BE0-704C-4E6A-3DB0-3B6E4F6F17A5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027FF3A-9E8D-0443-D2C0-24173EE4C138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A2197A0-DA9C-3956-9440-B066E36E6918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B702480-BD35-19CB-E6CC-D4AC33FA8281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57F239-8A65-E779-8B9C-201875C109D8}"/>
              </a:ext>
            </a:extLst>
          </p:cNvPr>
          <p:cNvSpPr txBox="1"/>
          <p:nvPr/>
        </p:nvSpPr>
        <p:spPr>
          <a:xfrm>
            <a:off x="7871714" y="5661577"/>
            <a:ext cx="384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Parse trees cannot always be evaluated in post-order. An AST should always be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1817F6-E036-126E-B594-F09BB02A0479}"/>
              </a:ext>
            </a:extLst>
          </p:cNvPr>
          <p:cNvSpPr txBox="1"/>
          <p:nvPr/>
        </p:nvSpPr>
        <p:spPr>
          <a:xfrm>
            <a:off x="10110651" y="2769326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 tree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939074-2A9E-B44A-1BD7-E54A07320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54" y="2849216"/>
            <a:ext cx="624014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Strategy: Build AST as You Return from Recursive Calls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function corresponds to a grammar rule.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you parse a component like an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expr, your return 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ASTNode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construct the node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parsing its subparts — so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build bottom-up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even though you're recursing top-down.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means:  You build AST nodes in a way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resembles post-order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even though your parser runs top-down.</a:t>
            </a:r>
          </a:p>
        </p:txBody>
      </p:sp>
    </p:spTree>
    <p:extLst>
      <p:ext uri="{BB962C8B-B14F-4D97-AF65-F5344CB8AC3E}">
        <p14:creationId xmlns:p14="http://schemas.microsoft.com/office/powerpoint/2010/main" val="2514719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A7BD4-1919-2143-9AD0-F6DA1BDD1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0158"/>
          </a:xfrm>
        </p:spPr>
        <p:txBody>
          <a:bodyPr/>
          <a:lstStyle/>
          <a:p>
            <a:r>
              <a:rPr lang="en-US" dirty="0"/>
              <a:t>Python AST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85A951-036D-1F44-B6E8-89A42A771E92}"/>
              </a:ext>
            </a:extLst>
          </p:cNvPr>
          <p:cNvSpPr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ast.dump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ast.parse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'5-4-2'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)))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256C22-C2F9-634F-AC0A-3D26E70A8E0A}"/>
              </a:ext>
            </a:extLst>
          </p:cNvPr>
          <p:cNvSpPr/>
          <p:nvPr/>
        </p:nvSpPr>
        <p:spPr>
          <a:xfrm>
            <a:off x="714103" y="5144478"/>
            <a:ext cx="11303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Expr(value=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BinOp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(left=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BinOp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(left=Num(n=5), op=Sub(), right=Num(n=4)), op=Sub(), right=Num(n=2)))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97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426488" y="368593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 - y -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7325954" y="2782669"/>
            <a:ext cx="384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if you cannot evaluate it? </a:t>
            </a:r>
            <a:br>
              <a:rPr lang="en-US" i="1" dirty="0"/>
            </a:br>
            <a:r>
              <a:rPr lang="en-US" i="1" dirty="0"/>
              <a:t>What else might you do?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</p:spTree>
    <p:extLst>
      <p:ext uri="{BB962C8B-B14F-4D97-AF65-F5344CB8AC3E}">
        <p14:creationId xmlns:p14="http://schemas.microsoft.com/office/powerpoint/2010/main" val="3271722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426488" y="3685933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7267433" y="2219866"/>
            <a:ext cx="3849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if you cannot evaluate it as is? </a:t>
            </a:r>
          </a:p>
          <a:p>
            <a:r>
              <a:rPr lang="en-US" i="1" dirty="0"/>
              <a:t>The primitive types do not match.</a:t>
            </a:r>
          </a:p>
          <a:p>
            <a:br>
              <a:rPr lang="en-US" i="1" dirty="0"/>
            </a:br>
            <a:r>
              <a:rPr lang="en-US" i="1" dirty="0"/>
              <a:t>What else might you do?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DBEA8-0214-9C47-A69D-9D64E4A7E59B}"/>
              </a:ext>
            </a:extLst>
          </p:cNvPr>
          <p:cNvSpPr txBox="1"/>
          <p:nvPr/>
        </p:nvSpPr>
        <p:spPr>
          <a:xfrm>
            <a:off x="7325954" y="5664946"/>
            <a:ext cx="296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does this change things?</a:t>
            </a:r>
          </a:p>
        </p:txBody>
      </p:sp>
    </p:spTree>
    <p:extLst>
      <p:ext uri="{BB962C8B-B14F-4D97-AF65-F5344CB8AC3E}">
        <p14:creationId xmlns:p14="http://schemas.microsoft.com/office/powerpoint/2010/main" val="3956817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426488" y="3685933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DBEA8-0214-9C47-A69D-9D64E4A7E59B}"/>
              </a:ext>
            </a:extLst>
          </p:cNvPr>
          <p:cNvSpPr txBox="1"/>
          <p:nvPr/>
        </p:nvSpPr>
        <p:spPr>
          <a:xfrm>
            <a:off x="7325954" y="5664946"/>
            <a:ext cx="296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does this change things?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sub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subss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347063" y="6235337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this all?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AEAD7-F635-8716-18BD-CB36A4A0AA76}"/>
              </a:ext>
            </a:extLst>
          </p:cNvPr>
          <p:cNvSpPr txBox="1"/>
          <p:nvPr/>
        </p:nvSpPr>
        <p:spPr>
          <a:xfrm>
            <a:off x="7267433" y="2219866"/>
            <a:ext cx="3849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if you cannot evaluate it as is? </a:t>
            </a:r>
          </a:p>
          <a:p>
            <a:r>
              <a:rPr lang="en-US" i="1" dirty="0"/>
              <a:t>The primitive types do not match.</a:t>
            </a:r>
          </a:p>
          <a:p>
            <a:br>
              <a:rPr lang="en-US" i="1" dirty="0"/>
            </a:br>
            <a:r>
              <a:rPr lang="en-US" i="1" dirty="0"/>
              <a:t>What else might you do?</a:t>
            </a:r>
          </a:p>
        </p:txBody>
      </p:sp>
    </p:spTree>
    <p:extLst>
      <p:ext uri="{BB962C8B-B14F-4D97-AF65-F5344CB8AC3E}">
        <p14:creationId xmlns:p14="http://schemas.microsoft.com/office/powerpoint/2010/main" val="3657426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sub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subss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347063" y="6235337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Is this all?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95511-8D12-D64A-9C50-10698F8B421C}"/>
              </a:ext>
            </a:extLst>
          </p:cNvPr>
          <p:cNvSpPr txBox="1"/>
          <p:nvPr/>
        </p:nvSpPr>
        <p:spPr>
          <a:xfrm>
            <a:off x="8386354" y="3612353"/>
            <a:ext cx="27538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do some experiments.</a:t>
            </a:r>
          </a:p>
          <a:p>
            <a:br>
              <a:rPr lang="en-US" dirty="0"/>
            </a:br>
            <a:r>
              <a:rPr lang="en-US" dirty="0"/>
              <a:t>What should 5 - 5.0 be?</a:t>
            </a:r>
          </a:p>
        </p:txBody>
      </p:sp>
    </p:spTree>
    <p:extLst>
      <p:ext uri="{BB962C8B-B14F-4D97-AF65-F5344CB8AC3E}">
        <p14:creationId xmlns:p14="http://schemas.microsoft.com/office/powerpoint/2010/main" val="4155339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sub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subss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347063" y="6235337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Is this all?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95511-8D12-D64A-9C50-10698F8B421C}"/>
              </a:ext>
            </a:extLst>
          </p:cNvPr>
          <p:cNvSpPr txBox="1"/>
          <p:nvPr/>
        </p:nvSpPr>
        <p:spPr>
          <a:xfrm>
            <a:off x="8386354" y="3612353"/>
            <a:ext cx="270259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Lets do some experiments.</a:t>
            </a:r>
          </a:p>
          <a:p>
            <a:br>
              <a:rPr lang="en-US" dirty="0"/>
            </a:br>
            <a:r>
              <a:rPr lang="en-US" dirty="0"/>
              <a:t>What should 5 - 5.0 be?</a:t>
            </a:r>
          </a:p>
          <a:p>
            <a:endParaRPr lang="en-US" dirty="0"/>
          </a:p>
          <a:p>
            <a:r>
              <a:rPr lang="en-US" dirty="0"/>
              <a:t>but </a:t>
            </a:r>
          </a:p>
          <a:p>
            <a:endParaRPr lang="en-US" dirty="0"/>
          </a:p>
          <a:p>
            <a:r>
              <a:rPr lang="en-US" b="1" dirty="0" err="1">
                <a:latin typeface="Courier" pitchFamily="2" charset="0"/>
              </a:rPr>
              <a:t>subss</a:t>
            </a:r>
            <a:r>
              <a:rPr lang="en-US" b="1" dirty="0">
                <a:latin typeface="Courier" pitchFamily="2" charset="0"/>
              </a:rPr>
              <a:t> r1 r2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interprets both registers</a:t>
            </a:r>
          </a:p>
          <a:p>
            <a:r>
              <a:rPr lang="en-US" dirty="0">
                <a:cs typeface="Calibri" panose="020F0502020204030204" pitchFamily="34" charset="0"/>
              </a:rPr>
              <a:t>as floats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511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sub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subss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347063" y="6235337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Is this all?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95511-8D12-D64A-9C50-10698F8B421C}"/>
              </a:ext>
            </a:extLst>
          </p:cNvPr>
          <p:cNvSpPr txBox="1"/>
          <p:nvPr/>
        </p:nvSpPr>
        <p:spPr>
          <a:xfrm>
            <a:off x="7201988" y="4129099"/>
            <a:ext cx="45553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the binary of 5 is 0b101</a:t>
            </a:r>
            <a:br>
              <a:rPr lang="en-US" dirty="0"/>
            </a:br>
            <a:r>
              <a:rPr lang="en-US" dirty="0"/>
              <a:t>the float value of 0b101 is 7.00649232162e-45</a:t>
            </a:r>
          </a:p>
          <a:p>
            <a:endParaRPr lang="en-US" dirty="0"/>
          </a:p>
          <a:p>
            <a:r>
              <a:rPr lang="en-US" dirty="0"/>
              <a:t>We cannot just subtract them!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2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679269" y="637430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21432" y="557712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883574" y="594414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07947" y="594414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052114" y="637430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  <a:endCxn id="3" idx="0"/>
          </p:cNvCxnSpPr>
          <p:nvPr/>
        </p:nvCxnSpPr>
        <p:spPr>
          <a:xfrm flipH="1">
            <a:off x="2278037" y="4342975"/>
            <a:ext cx="1863678" cy="612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add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addss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106755" y="5794280"/>
            <a:ext cx="5765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need to make sure our operands are in the right format!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4BD33D-8B34-FC4B-B439-1B0F268BEE6C}"/>
              </a:ext>
            </a:extLst>
          </p:cNvPr>
          <p:cNvSpPr/>
          <p:nvPr/>
        </p:nvSpPr>
        <p:spPr>
          <a:xfrm>
            <a:off x="1341755" y="4955699"/>
            <a:ext cx="1872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</a:t>
            </a:r>
            <a:r>
              <a:rPr lang="en-US" dirty="0" err="1">
                <a:highlight>
                  <a:srgbClr val="FFFF00"/>
                </a:highlight>
              </a:rPr>
              <a:t>int_to_float</a:t>
            </a:r>
            <a:r>
              <a:rPr lang="en-US" dirty="0">
                <a:highlight>
                  <a:srgbClr val="FFFF00"/>
                </a:highlight>
              </a:rPr>
              <a:t>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EE86BB-16B4-7E44-A61A-8823BD091603}"/>
              </a:ext>
            </a:extLst>
          </p:cNvPr>
          <p:cNvCxnSpPr>
            <a:cxnSpLocks/>
            <a:stCxn id="3" idx="2"/>
            <a:endCxn id="28" idx="0"/>
          </p:cNvCxnSpPr>
          <p:nvPr/>
        </p:nvCxnSpPr>
        <p:spPr>
          <a:xfrm flipH="1">
            <a:off x="2239175" y="5325031"/>
            <a:ext cx="38862" cy="252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18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6775"/>
          </a:xfrm>
        </p:spPr>
        <p:txBody>
          <a:bodyPr/>
          <a:lstStyle/>
          <a:p>
            <a:r>
              <a:rPr lang="en-US" dirty="0"/>
              <a:t>Given a language a type system defines:</a:t>
            </a:r>
          </a:p>
          <a:p>
            <a:pPr lvl="1"/>
            <a:r>
              <a:rPr lang="en-US" dirty="0"/>
              <a:t>The primitive (base) types in the language</a:t>
            </a:r>
          </a:p>
          <a:p>
            <a:pPr lvl="1"/>
            <a:r>
              <a:rPr lang="en-US" dirty="0"/>
              <a:t>How the types can be converted to other types</a:t>
            </a:r>
          </a:p>
          <a:p>
            <a:pPr lvl="2"/>
            <a:r>
              <a:rPr lang="en-US" dirty="0"/>
              <a:t>implicitly or explicitly</a:t>
            </a:r>
          </a:p>
          <a:p>
            <a:pPr lvl="1"/>
            <a:r>
              <a:rPr lang="en-US" dirty="0"/>
              <a:t>How the user can define new types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989FEE-3EF2-8E42-9C26-527D409EA79A}"/>
              </a:ext>
            </a:extLst>
          </p:cNvPr>
          <p:cNvSpPr txBox="1">
            <a:spLocks/>
          </p:cNvSpPr>
          <p:nvPr/>
        </p:nvSpPr>
        <p:spPr>
          <a:xfrm>
            <a:off x="838200" y="37745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Type checking and inference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8F86DF-C691-E749-B369-8F0687AF6159}"/>
              </a:ext>
            </a:extLst>
          </p:cNvPr>
          <p:cNvSpPr txBox="1">
            <a:spLocks/>
          </p:cNvSpPr>
          <p:nvPr/>
        </p:nvSpPr>
        <p:spPr>
          <a:xfrm>
            <a:off x="838200" y="5100093"/>
            <a:ext cx="10515600" cy="1753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 a program to ensure that it adheres to the type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67ECE-44F9-5B4B-93B5-5540B4FBFEB1}"/>
              </a:ext>
            </a:extLst>
          </p:cNvPr>
          <p:cNvSpPr txBox="1"/>
          <p:nvPr/>
        </p:nvSpPr>
        <p:spPr>
          <a:xfrm>
            <a:off x="1946365" y="5846544"/>
            <a:ext cx="829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Especially interesting for compilers as a program given in the type system for the input language must be translated to a type system for lower-level program </a:t>
            </a:r>
          </a:p>
        </p:txBody>
      </p:sp>
    </p:spTree>
    <p:extLst>
      <p:ext uri="{BB962C8B-B14F-4D97-AF65-F5344CB8AC3E}">
        <p14:creationId xmlns:p14="http://schemas.microsoft.com/office/powerpoint/2010/main" val="1987368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0673"/>
          </a:xfrm>
        </p:spPr>
        <p:txBody>
          <a:bodyPr>
            <a:normAutofit/>
          </a:bodyPr>
          <a:lstStyle/>
          <a:p>
            <a:r>
              <a:rPr lang="en-US" dirty="0"/>
              <a:t>Different types of Type Systems for languages:</a:t>
            </a:r>
          </a:p>
          <a:p>
            <a:pPr lvl="1"/>
            <a:r>
              <a:rPr lang="en-US" b="1" dirty="0"/>
              <a:t>statically typed</a:t>
            </a:r>
            <a:r>
              <a:rPr lang="en-US" dirty="0"/>
              <a:t>: types can be determined at compile time</a:t>
            </a:r>
          </a:p>
          <a:p>
            <a:pPr lvl="1"/>
            <a:r>
              <a:rPr lang="en-US" b="1" dirty="0"/>
              <a:t>dynamically typed</a:t>
            </a:r>
            <a:r>
              <a:rPr lang="en-US" dirty="0"/>
              <a:t>: types are determined at runtime</a:t>
            </a:r>
          </a:p>
          <a:p>
            <a:pPr lvl="1"/>
            <a:r>
              <a:rPr lang="en-US" b="1" dirty="0"/>
              <a:t>untyped</a:t>
            </a:r>
            <a:r>
              <a:rPr lang="en-US" dirty="0"/>
              <a:t>: the language has no types</a:t>
            </a:r>
          </a:p>
          <a:p>
            <a:pPr lvl="2"/>
            <a:r>
              <a:rPr lang="en-US" dirty="0"/>
              <a:t>Basic, Forth, Shell, assembly</a:t>
            </a:r>
          </a:p>
          <a:p>
            <a:pPr lvl="1"/>
            <a:endParaRPr lang="en-US" dirty="0"/>
          </a:p>
          <a:p>
            <a:r>
              <a:rPr lang="en-US" dirty="0"/>
              <a:t>What are examples of each?</a:t>
            </a:r>
          </a:p>
          <a:p>
            <a:r>
              <a:rPr lang="en-US" dirty="0"/>
              <a:t>What are pros and cons of each?</a:t>
            </a:r>
          </a:p>
        </p:txBody>
      </p:sp>
    </p:spTree>
    <p:extLst>
      <p:ext uri="{BB962C8B-B14F-4D97-AF65-F5344CB8AC3E}">
        <p14:creationId xmlns:p14="http://schemas.microsoft.com/office/powerpoint/2010/main" val="3127238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782878" cy="4470673"/>
          </a:xfrm>
        </p:spPr>
        <p:txBody>
          <a:bodyPr>
            <a:normAutofit/>
          </a:bodyPr>
          <a:lstStyle/>
          <a:p>
            <a:r>
              <a:rPr lang="en-US" dirty="0"/>
              <a:t>Different types of Type Systems for languages: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statically</a:t>
            </a:r>
            <a:r>
              <a:rPr lang="en-US" b="1" dirty="0"/>
              <a:t> typed</a:t>
            </a:r>
            <a:r>
              <a:rPr lang="en-US" dirty="0"/>
              <a:t>: types can be determined at compile time</a:t>
            </a:r>
          </a:p>
          <a:p>
            <a:pPr lvl="2"/>
            <a:r>
              <a:rPr lang="en-US" dirty="0"/>
              <a:t>C. C++, Java.</a:t>
            </a:r>
          </a:p>
          <a:p>
            <a:pPr lvl="2"/>
            <a:r>
              <a:rPr lang="en-US" dirty="0"/>
              <a:t>Consider auto in C++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dynamically typed</a:t>
            </a:r>
            <a:r>
              <a:rPr lang="en-US" dirty="0"/>
              <a:t>: types are determined at runtime</a:t>
            </a:r>
          </a:p>
          <a:p>
            <a:pPr lvl="1"/>
            <a:r>
              <a:rPr lang="en-US" b="1" dirty="0"/>
              <a:t>untyped</a:t>
            </a:r>
            <a:r>
              <a:rPr lang="en-US" dirty="0"/>
              <a:t>: the language has no types</a:t>
            </a:r>
          </a:p>
          <a:p>
            <a:pPr lvl="1"/>
            <a:endParaRPr lang="en-US" dirty="0"/>
          </a:p>
          <a:p>
            <a:r>
              <a:rPr lang="en-US" dirty="0"/>
              <a:t>What are examples of each?</a:t>
            </a:r>
          </a:p>
          <a:p>
            <a:r>
              <a:rPr lang="en-US" dirty="0"/>
              <a:t>What are </a:t>
            </a:r>
            <a:r>
              <a:rPr lang="en-US" dirty="0">
                <a:highlight>
                  <a:srgbClr val="FFFF00"/>
                </a:highlight>
              </a:rPr>
              <a:t>pros</a:t>
            </a:r>
            <a:r>
              <a:rPr lang="en-US" dirty="0"/>
              <a:t> and cons of each?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D9F33-C861-8244-A2BE-C827103AA8FD}"/>
              </a:ext>
            </a:extLst>
          </p:cNvPr>
          <p:cNvSpPr txBox="1"/>
          <p:nvPr/>
        </p:nvSpPr>
        <p:spPr>
          <a:xfrm>
            <a:off x="8333257" y="2592200"/>
            <a:ext cx="3991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type conversion at compile time otherwise you have to check without static types, this would need to be translated to: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BB300-E66F-9244-8592-596898CA6386}"/>
              </a:ext>
            </a:extLst>
          </p:cNvPr>
          <p:cNvSpPr txBox="1"/>
          <p:nvPr/>
        </p:nvSpPr>
        <p:spPr>
          <a:xfrm>
            <a:off x="9184099" y="379252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 + 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52638-2BE1-6A44-AD8C-5CBD5FFFD6E0}"/>
              </a:ext>
            </a:extLst>
          </p:cNvPr>
          <p:cNvSpPr txBox="1"/>
          <p:nvPr/>
        </p:nvSpPr>
        <p:spPr>
          <a:xfrm>
            <a:off x="6269510" y="5199427"/>
            <a:ext cx="55611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type(x) == int and type(y) == int:</a:t>
            </a:r>
          </a:p>
          <a:p>
            <a:r>
              <a:rPr lang="en-US" dirty="0">
                <a:latin typeface="Courier" pitchFamily="2" charset="0"/>
              </a:rPr>
              <a:t>  add(</a:t>
            </a:r>
            <a:r>
              <a:rPr lang="en-US" dirty="0" err="1">
                <a:latin typeface="Courier" pitchFamily="2" charset="0"/>
              </a:rPr>
              <a:t>x,y</a:t>
            </a:r>
            <a:r>
              <a:rPr lang="en-US" dirty="0">
                <a:latin typeface="Courier" pitchFamily="2" charset="0"/>
              </a:rPr>
              <a:t>)</a:t>
            </a:r>
            <a:br>
              <a:rPr lang="en-US" dirty="0">
                <a:latin typeface="Courier" pitchFamily="2" charset="0"/>
              </a:rPr>
            </a:br>
            <a:r>
              <a:rPr lang="en-US" b="1" dirty="0"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type(x) == int and type(y) == float: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addss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int_to_float</a:t>
            </a:r>
            <a:r>
              <a:rPr lang="en-US" dirty="0">
                <a:latin typeface="Courier" pitchFamily="2" charset="0"/>
              </a:rPr>
              <a:t>(x), y)</a:t>
            </a:r>
            <a:br>
              <a:rPr lang="en-US" dirty="0">
                <a:latin typeface="Courier" pitchFamily="2" charset="0"/>
              </a:rPr>
            </a:br>
            <a:r>
              <a:rPr lang="en-US" b="1" dirty="0"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...</a:t>
            </a:r>
          </a:p>
        </p:txBody>
      </p:sp>
    </p:spTree>
    <p:extLst>
      <p:ext uri="{BB962C8B-B14F-4D97-AF65-F5344CB8AC3E}">
        <p14:creationId xmlns:p14="http://schemas.microsoft.com/office/powerpoint/2010/main" val="1757337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111067" cy="4470673"/>
          </a:xfrm>
        </p:spPr>
        <p:txBody>
          <a:bodyPr>
            <a:normAutofit/>
          </a:bodyPr>
          <a:lstStyle/>
          <a:p>
            <a:r>
              <a:rPr lang="en-US" dirty="0"/>
              <a:t>Different types of Type Systems for languages:</a:t>
            </a:r>
          </a:p>
          <a:p>
            <a:pPr lvl="1"/>
            <a:r>
              <a:rPr lang="en-US" b="1" dirty="0"/>
              <a:t>statically typed</a:t>
            </a:r>
            <a:r>
              <a:rPr lang="en-US" dirty="0"/>
              <a:t>: types can be determined at compile time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dynamically</a:t>
            </a:r>
            <a:r>
              <a:rPr lang="en-US" b="1" dirty="0"/>
              <a:t> typed</a:t>
            </a:r>
            <a:r>
              <a:rPr lang="en-US" dirty="0"/>
              <a:t>: types are determined at runtime</a:t>
            </a:r>
          </a:p>
          <a:p>
            <a:pPr lvl="2"/>
            <a:r>
              <a:rPr lang="en-US" dirty="0"/>
              <a:t>Consider Python, Perl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b="1" dirty="0"/>
              <a:t>untyped</a:t>
            </a:r>
            <a:r>
              <a:rPr lang="en-US" dirty="0"/>
              <a:t>: the language has no types</a:t>
            </a:r>
          </a:p>
          <a:p>
            <a:pPr lvl="1"/>
            <a:endParaRPr lang="en-US" dirty="0"/>
          </a:p>
          <a:p>
            <a:r>
              <a:rPr lang="en-US" dirty="0"/>
              <a:t>What are examples of each?</a:t>
            </a:r>
          </a:p>
          <a:p>
            <a:r>
              <a:rPr lang="en-US" dirty="0"/>
              <a:t>What are </a:t>
            </a:r>
            <a:r>
              <a:rPr lang="en-US" dirty="0">
                <a:highlight>
                  <a:srgbClr val="FFFF00"/>
                </a:highlight>
              </a:rPr>
              <a:t>pros</a:t>
            </a:r>
            <a:r>
              <a:rPr lang="en-US" dirty="0"/>
              <a:t> and cons of each?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DF219-FBA7-B040-AE40-4E0BC1C848C1}"/>
              </a:ext>
            </a:extLst>
          </p:cNvPr>
          <p:cNvSpPr txBox="1"/>
          <p:nvPr/>
        </p:nvSpPr>
        <p:spPr>
          <a:xfrm>
            <a:off x="8681564" y="3085942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def</a:t>
            </a:r>
            <a:r>
              <a:rPr lang="en-US" dirty="0">
                <a:latin typeface="Courier" pitchFamily="2" charset="0"/>
              </a:rPr>
              <a:t> add(</a:t>
            </a:r>
            <a:r>
              <a:rPr lang="en-US" dirty="0" err="1">
                <a:latin typeface="Courier" pitchFamily="2" charset="0"/>
              </a:rPr>
              <a:t>x,y</a:t>
            </a:r>
            <a:r>
              <a:rPr lang="en-US" dirty="0">
                <a:latin typeface="Courier" pitchFamily="2" charset="0"/>
              </a:rPr>
              <a:t>):</a:t>
            </a:r>
          </a:p>
          <a:p>
            <a:r>
              <a:rPr lang="en-US" dirty="0">
                <a:latin typeface="Courier" pitchFamily="2" charset="0"/>
              </a:rPr>
              <a:t>  return x + 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587E62-FB8E-E340-AF61-C0CE0459BCD4}"/>
              </a:ext>
            </a:extLst>
          </p:cNvPr>
          <p:cNvSpPr txBox="1"/>
          <p:nvPr/>
        </p:nvSpPr>
        <p:spPr>
          <a:xfrm>
            <a:off x="8416521" y="2780872"/>
            <a:ext cx="2937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write more generic code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44C48-030C-A048-B4E9-2C653D39301B}"/>
              </a:ext>
            </a:extLst>
          </p:cNvPr>
          <p:cNvSpPr txBox="1"/>
          <p:nvPr/>
        </p:nvSpPr>
        <p:spPr>
          <a:xfrm>
            <a:off x="8416521" y="3745013"/>
            <a:ext cx="326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would need to write many</a:t>
            </a:r>
            <a:br>
              <a:rPr lang="en-US" dirty="0"/>
            </a:br>
            <a:r>
              <a:rPr lang="en-US" dirty="0"/>
              <a:t>different functions for each type </a:t>
            </a:r>
          </a:p>
        </p:txBody>
      </p:sp>
    </p:spTree>
    <p:extLst>
      <p:ext uri="{BB962C8B-B14F-4D97-AF65-F5344CB8AC3E}">
        <p14:creationId xmlns:p14="http://schemas.microsoft.com/office/powerpoint/2010/main" val="1206695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111067" cy="4470673"/>
          </a:xfrm>
        </p:spPr>
        <p:txBody>
          <a:bodyPr>
            <a:normAutofit/>
          </a:bodyPr>
          <a:lstStyle/>
          <a:p>
            <a:r>
              <a:rPr lang="en-US" dirty="0"/>
              <a:t>Different types of Type Systems for languages:</a:t>
            </a:r>
          </a:p>
          <a:p>
            <a:pPr lvl="1"/>
            <a:r>
              <a:rPr lang="en-US" b="1" dirty="0"/>
              <a:t>statically typed</a:t>
            </a:r>
            <a:r>
              <a:rPr lang="en-US" dirty="0"/>
              <a:t>: types can be determined at compile time</a:t>
            </a:r>
          </a:p>
          <a:p>
            <a:pPr lvl="1"/>
            <a:r>
              <a:rPr lang="en-US" b="1" dirty="0"/>
              <a:t>dynamically typed</a:t>
            </a:r>
            <a:r>
              <a:rPr lang="en-US" dirty="0"/>
              <a:t>: types are determined at runtime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untyped</a:t>
            </a:r>
            <a:r>
              <a:rPr lang="en-US" dirty="0"/>
              <a:t>: the language has no types</a:t>
            </a:r>
          </a:p>
          <a:p>
            <a:pPr lvl="2"/>
            <a:r>
              <a:rPr lang="en-US" dirty="0"/>
              <a:t>Basic, Forth, Shell, assembly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What are examples of each?</a:t>
            </a:r>
          </a:p>
          <a:p>
            <a:r>
              <a:rPr lang="en-US" dirty="0"/>
              <a:t>What are </a:t>
            </a:r>
            <a:r>
              <a:rPr lang="en-US" dirty="0">
                <a:highlight>
                  <a:srgbClr val="FFFF00"/>
                </a:highlight>
              </a:rPr>
              <a:t>pros</a:t>
            </a:r>
            <a:r>
              <a:rPr lang="en-US" dirty="0"/>
              <a:t> and cons of each?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587E62-FB8E-E340-AF61-C0CE0459BCD4}"/>
              </a:ext>
            </a:extLst>
          </p:cNvPr>
          <p:cNvSpPr txBox="1"/>
          <p:nvPr/>
        </p:nvSpPr>
        <p:spPr>
          <a:xfrm>
            <a:off x="7474227" y="3308760"/>
            <a:ext cx="3785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Very close to assembly. You can write</a:t>
            </a:r>
            <a:br>
              <a:rPr lang="en-US" i="1" dirty="0"/>
            </a:br>
            <a:r>
              <a:rPr lang="en-US" i="1" dirty="0"/>
              <a:t>really optimized code. But very painful</a:t>
            </a:r>
          </a:p>
        </p:txBody>
      </p:sp>
    </p:spTree>
    <p:extLst>
      <p:ext uri="{BB962C8B-B14F-4D97-AF65-F5344CB8AC3E}">
        <p14:creationId xmlns:p14="http://schemas.microsoft.com/office/powerpoint/2010/main" val="3887305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0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Considerations: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73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06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Considerations:</a:t>
            </a:r>
          </a:p>
          <a:p>
            <a:r>
              <a:rPr lang="en-US" dirty="0"/>
              <a:t>Base types:</a:t>
            </a:r>
          </a:p>
          <a:p>
            <a:pPr lvl="1"/>
            <a:r>
              <a:rPr lang="en-US" dirty="0" err="1"/>
              <a:t>ints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chars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floats (variants of float)</a:t>
            </a:r>
          </a:p>
          <a:p>
            <a:pPr lvl="1"/>
            <a:r>
              <a:rPr lang="en-US" dirty="0"/>
              <a:t>bool</a:t>
            </a:r>
          </a:p>
          <a:p>
            <a:endParaRPr lang="en-US" dirty="0"/>
          </a:p>
          <a:p>
            <a:r>
              <a:rPr lang="en-US" dirty="0"/>
              <a:t>How to combine types in expressions:</a:t>
            </a:r>
          </a:p>
          <a:p>
            <a:pPr lvl="1"/>
            <a:r>
              <a:rPr lang="en-US" dirty="0"/>
              <a:t>int and float?</a:t>
            </a:r>
          </a:p>
          <a:p>
            <a:pPr lvl="1"/>
            <a:r>
              <a:rPr lang="en-US" dirty="0"/>
              <a:t>int and char?</a:t>
            </a:r>
          </a:p>
          <a:p>
            <a:pPr lvl="1"/>
            <a:r>
              <a:rPr lang="en-US" dirty="0"/>
              <a:t>int and bool?</a:t>
            </a:r>
          </a:p>
        </p:txBody>
      </p:sp>
    </p:spTree>
    <p:extLst>
      <p:ext uri="{BB962C8B-B14F-4D97-AF65-F5344CB8AC3E}">
        <p14:creationId xmlns:p14="http://schemas.microsoft.com/office/powerpoint/2010/main" val="432554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9320" cy="44706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Considerations:</a:t>
            </a:r>
          </a:p>
          <a:p>
            <a:r>
              <a:rPr lang="en-US" dirty="0"/>
              <a:t>Base types:</a:t>
            </a:r>
          </a:p>
          <a:p>
            <a:pPr lvl="1"/>
            <a:r>
              <a:rPr lang="en-US" dirty="0" err="1"/>
              <a:t>ints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chars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bool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How to combine types in expressions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 and float?</a:t>
            </a:r>
          </a:p>
          <a:p>
            <a:pPr lvl="1"/>
            <a:r>
              <a:rPr lang="en-US" dirty="0"/>
              <a:t>int and char?</a:t>
            </a:r>
          </a:p>
          <a:p>
            <a:pPr lvl="1"/>
            <a:r>
              <a:rPr lang="en-US" dirty="0"/>
              <a:t>int and bool?</a:t>
            </a:r>
          </a:p>
        </p:txBody>
      </p:sp>
    </p:spTree>
    <p:extLst>
      <p:ext uri="{BB962C8B-B14F-4D97-AF65-F5344CB8AC3E}">
        <p14:creationId xmlns:p14="http://schemas.microsoft.com/office/powerpoint/2010/main" val="2153711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9320" cy="44706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Considerations:</a:t>
            </a:r>
          </a:p>
          <a:p>
            <a:r>
              <a:rPr lang="en-US" dirty="0"/>
              <a:t>Base types:</a:t>
            </a:r>
          </a:p>
          <a:p>
            <a:pPr lvl="1"/>
            <a:r>
              <a:rPr lang="en-US" dirty="0" err="1"/>
              <a:t>ints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chars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bool</a:t>
            </a:r>
          </a:p>
          <a:p>
            <a:endParaRPr lang="en-US" dirty="0"/>
          </a:p>
          <a:p>
            <a:r>
              <a:rPr lang="en-US" dirty="0"/>
              <a:t>How to combine types in expressions: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int and float?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int and char?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int and bool?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6D91F-0D6C-5346-8CF6-DD96CD488CA5}"/>
              </a:ext>
            </a:extLst>
          </p:cNvPr>
          <p:cNvSpPr txBox="1"/>
          <p:nvPr/>
        </p:nvSpPr>
        <p:spPr>
          <a:xfrm>
            <a:off x="4502332" y="5599611"/>
            <a:ext cx="4985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do each of these do if they are +’ed together?</a:t>
            </a:r>
          </a:p>
        </p:txBody>
      </p:sp>
    </p:spTree>
    <p:extLst>
      <p:ext uri="{BB962C8B-B14F-4D97-AF65-F5344CB8AC3E}">
        <p14:creationId xmlns:p14="http://schemas.microsoft.com/office/powerpoint/2010/main" val="1665677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0BEEB-74A3-0B4D-9E15-96D9A3C9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components</a:t>
            </a:r>
          </a:p>
          <a:p>
            <a:r>
              <a:rPr lang="en-US" dirty="0"/>
              <a:t>Type inference</a:t>
            </a:r>
          </a:p>
          <a:p>
            <a:pPr lvl="1"/>
            <a:r>
              <a:rPr lang="en-US" dirty="0"/>
              <a:t>Determines a type for each AST node</a:t>
            </a:r>
          </a:p>
          <a:p>
            <a:pPr lvl="1"/>
            <a:r>
              <a:rPr lang="en-US" dirty="0"/>
              <a:t>Modifies the AST into a type-safe form</a:t>
            </a:r>
          </a:p>
          <a:p>
            <a:pPr lvl="1"/>
            <a:endParaRPr lang="en-US" dirty="0"/>
          </a:p>
          <a:p>
            <a:r>
              <a:rPr lang="en-US" dirty="0"/>
              <a:t>Catches type-related errors</a:t>
            </a:r>
          </a:p>
        </p:txBody>
      </p:sp>
    </p:spTree>
    <p:extLst>
      <p:ext uri="{BB962C8B-B14F-4D97-AF65-F5344CB8AC3E}">
        <p14:creationId xmlns:p14="http://schemas.microsoft.com/office/powerpoint/2010/main" val="5173238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B22F7-489A-3941-B06E-E974CDC2F38C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106755" y="2786414"/>
            <a:ext cx="3384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each node additionally gets a type</a:t>
            </a:r>
          </a:p>
        </p:txBody>
      </p:sp>
    </p:spTree>
    <p:extLst>
      <p:ext uri="{BB962C8B-B14F-4D97-AF65-F5344CB8AC3E}">
        <p14:creationId xmlns:p14="http://schemas.microsoft.com/office/powerpoint/2010/main" val="1340332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</a:t>
            </a:r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</a:t>
            </a:r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</a:t>
            </a:r>
            <a:r>
              <a:rPr lang="en-US" dirty="0">
                <a:highlight>
                  <a:srgbClr val="FFFF00"/>
                </a:highlight>
              </a:rPr>
              <a:t>float</a:t>
            </a:r>
            <a:r>
              <a:rPr lang="en-US" dirty="0"/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106755" y="2786414"/>
            <a:ext cx="58721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each node additionally gets a type</a:t>
            </a:r>
          </a:p>
          <a:p>
            <a:r>
              <a:rPr lang="en-US" i="1" dirty="0"/>
              <a:t>we can get this from the symbol table for the leaves or based</a:t>
            </a:r>
          </a:p>
          <a:p>
            <a:r>
              <a:rPr lang="en-US" i="1" dirty="0"/>
              <a:t>on the input (e.g. 5 vs 5.0)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9C2A83-5254-D742-9C8E-7C68266BF7AD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</p:spTree>
    <p:extLst>
      <p:ext uri="{BB962C8B-B14F-4D97-AF65-F5344CB8AC3E}">
        <p14:creationId xmlns:p14="http://schemas.microsoft.com/office/powerpoint/2010/main" val="17890849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FF123D-5BE1-C148-93EB-B55D9B362A93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</p:spTree>
    <p:extLst>
      <p:ext uri="{BB962C8B-B14F-4D97-AF65-F5344CB8AC3E}">
        <p14:creationId xmlns:p14="http://schemas.microsoft.com/office/powerpoint/2010/main" val="38297090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6E0F943-DEE7-6F4A-A282-D4EE5CFE173A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051B07-CA45-AA45-9E99-7168F54902DB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235687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C6D91EE-E416-CC46-8185-BAA2CBE561C6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C8DCF7-E46E-5F43-8C3B-BCAAD353B163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8089482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246712" y="434297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10F0099-2EC0-9448-B19F-39E94E91FD5C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E397BF-326C-9048-A0EE-68C1C5DFFFE8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17843998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408359" y="434297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EA263EA-2CA4-1C44-804E-89C541936FD3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894C7-1140-E448-9492-C66106B318C0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23126125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AST&lt;+,float&gt;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408359" y="434297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9721C0-56C3-5B44-8F52-B1BAC9226267}"/>
              </a:ext>
            </a:extLst>
          </p:cNvPr>
          <p:cNvSpPr txBox="1"/>
          <p:nvPr/>
        </p:nvSpPr>
        <p:spPr>
          <a:xfrm>
            <a:off x="7524206" y="6392091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else?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B2BC36-6386-3340-AAD4-01C31A365B2F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0D9FCB-BEED-194E-82C2-77AACD8E9040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22234739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821702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5024519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39153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39153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2808691" y="5847639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AST&lt;+,float&gt;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476626" y="4754880"/>
            <a:ext cx="118528" cy="2696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408359" y="434297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B22F7-489A-3941-B06E-E974CDC2F38C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9A08F8-D5B2-1D44-8144-5A1ABA0423B7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721C0-56C3-5B44-8F52-B1BAC9226267}"/>
              </a:ext>
            </a:extLst>
          </p:cNvPr>
          <p:cNvSpPr txBox="1"/>
          <p:nvPr/>
        </p:nvSpPr>
        <p:spPr>
          <a:xfrm>
            <a:off x="7524206" y="6392091"/>
            <a:ext cx="429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else? need to convert the int to a float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DBB2A-89C9-074D-BDCF-A91F6AF956B5}"/>
              </a:ext>
            </a:extLst>
          </p:cNvPr>
          <p:cNvSpPr txBox="1"/>
          <p:nvPr/>
        </p:nvSpPr>
        <p:spPr>
          <a:xfrm>
            <a:off x="2193778" y="4426631"/>
            <a:ext cx="2037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</a:t>
            </a:r>
            <a:r>
              <a:rPr lang="en-US" dirty="0" err="1">
                <a:highlight>
                  <a:srgbClr val="FFFF00"/>
                </a:highlight>
              </a:rPr>
              <a:t>int_to_float</a:t>
            </a:r>
            <a:r>
              <a:rPr lang="en-US" dirty="0">
                <a:highlight>
                  <a:srgbClr val="FFFF00"/>
                </a:highlight>
              </a:rPr>
              <a:t>,?&gt;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3EE03F-FB5D-FE4C-A300-01909E7A6B1C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 flipH="1">
            <a:off x="3212615" y="4342975"/>
            <a:ext cx="1195744" cy="836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6792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DC4A05-A0A4-FA47-A6EA-1EA62619FC6D}"/>
              </a:ext>
            </a:extLst>
          </p:cNvPr>
          <p:cNvSpPr/>
          <p:nvPr/>
        </p:nvSpPr>
        <p:spPr>
          <a:xfrm>
            <a:off x="3670300" y="909935"/>
            <a:ext cx="375073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F25C3-9CB6-9447-970F-15356121F7A9}"/>
              </a:ext>
            </a:extLst>
          </p:cNvPr>
          <p:cNvSpPr/>
          <p:nvPr/>
        </p:nvSpPr>
        <p:spPr>
          <a:xfrm>
            <a:off x="220134" y="2530607"/>
            <a:ext cx="4699000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value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B7094-C8F1-2E41-AACD-AF29558149D9}"/>
              </a:ext>
            </a:extLst>
          </p:cNvPr>
          <p:cNvSpPr/>
          <p:nvPr/>
        </p:nvSpPr>
        <p:spPr>
          <a:xfrm>
            <a:off x="5545667" y="2530607"/>
            <a:ext cx="60960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ASTPlusNode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ASTMultNode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9974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96D6D-5103-0144-8366-0D6C721C7D9B}"/>
              </a:ext>
            </a:extLst>
          </p:cNvPr>
          <p:cNvSpPr/>
          <p:nvPr/>
        </p:nvSpPr>
        <p:spPr>
          <a:xfrm>
            <a:off x="325968" y="2553607"/>
            <a:ext cx="473286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t):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t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get_type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15FD7-5AE7-7346-9E6D-303A18979666}"/>
              </a:ext>
            </a:extLst>
          </p:cNvPr>
          <p:cNvSpPr/>
          <p:nvPr/>
        </p:nvSpPr>
        <p:spPr>
          <a:xfrm>
            <a:off x="355600" y="457874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854CC-93F7-7944-BD71-C9A6BD8016C3}"/>
              </a:ext>
            </a:extLst>
          </p:cNvPr>
          <p:cNvSpPr txBox="1"/>
          <p:nvPr/>
        </p:nvSpPr>
        <p:spPr>
          <a:xfrm>
            <a:off x="357801" y="44439"/>
            <a:ext cx="160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Enum for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E31D0-F40A-4E40-B10E-7E39D83D0A2A}"/>
              </a:ext>
            </a:extLst>
          </p:cNvPr>
          <p:cNvSpPr txBox="1"/>
          <p:nvPr/>
        </p:nvSpPr>
        <p:spPr>
          <a:xfrm>
            <a:off x="325968" y="2184275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base AST Node needs a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B7F52-D277-9F4E-A616-A113A8B4DF74}"/>
              </a:ext>
            </a:extLst>
          </p:cNvPr>
          <p:cNvSpPr txBox="1"/>
          <p:nvPr/>
        </p:nvSpPr>
        <p:spPr>
          <a:xfrm>
            <a:off x="6434667" y="273208"/>
            <a:ext cx="47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need to set the types for the leaf nodes</a:t>
            </a:r>
          </a:p>
        </p:txBody>
      </p:sp>
    </p:spTree>
    <p:extLst>
      <p:ext uri="{BB962C8B-B14F-4D97-AF65-F5344CB8AC3E}">
        <p14:creationId xmlns:p14="http://schemas.microsoft.com/office/powerpoint/2010/main" val="10511585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96D6D-5103-0144-8366-0D6C721C7D9B}"/>
              </a:ext>
            </a:extLst>
          </p:cNvPr>
          <p:cNvSpPr/>
          <p:nvPr/>
        </p:nvSpPr>
        <p:spPr>
          <a:xfrm>
            <a:off x="325968" y="2553607"/>
            <a:ext cx="473286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t):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t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get_type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15FD7-5AE7-7346-9E6D-303A18979666}"/>
              </a:ext>
            </a:extLst>
          </p:cNvPr>
          <p:cNvSpPr/>
          <p:nvPr/>
        </p:nvSpPr>
        <p:spPr>
          <a:xfrm>
            <a:off x="355600" y="457874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854CC-93F7-7944-BD71-C9A6BD8016C3}"/>
              </a:ext>
            </a:extLst>
          </p:cNvPr>
          <p:cNvSpPr txBox="1"/>
          <p:nvPr/>
        </p:nvSpPr>
        <p:spPr>
          <a:xfrm>
            <a:off x="357801" y="44439"/>
            <a:ext cx="160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Enum for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E31D0-F40A-4E40-B10E-7E39D83D0A2A}"/>
              </a:ext>
            </a:extLst>
          </p:cNvPr>
          <p:cNvSpPr txBox="1"/>
          <p:nvPr/>
        </p:nvSpPr>
        <p:spPr>
          <a:xfrm>
            <a:off x="325968" y="2184275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base AST Node needs a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A71B2-17A5-B44D-90A7-CD35F64E3CAF}"/>
              </a:ext>
            </a:extLst>
          </p:cNvPr>
          <p:cNvSpPr/>
          <p:nvPr/>
        </p:nvSpPr>
        <p:spPr>
          <a:xfrm>
            <a:off x="5634565" y="1168612"/>
            <a:ext cx="609600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is_int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F1FF1-B22F-2140-B3AE-B895B0F21B8D}"/>
              </a:ext>
            </a:extLst>
          </p:cNvPr>
          <p:cNvSpPr txBox="1"/>
          <p:nvPr/>
        </p:nvSpPr>
        <p:spPr>
          <a:xfrm>
            <a:off x="6434667" y="273208"/>
            <a:ext cx="47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need to set the types for the leaf nodes</a:t>
            </a:r>
          </a:p>
        </p:txBody>
      </p:sp>
    </p:spTree>
    <p:extLst>
      <p:ext uri="{BB962C8B-B14F-4D97-AF65-F5344CB8AC3E}">
        <p14:creationId xmlns:p14="http://schemas.microsoft.com/office/powerpoint/2010/main" val="3621389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96D6D-5103-0144-8366-0D6C721C7D9B}"/>
              </a:ext>
            </a:extLst>
          </p:cNvPr>
          <p:cNvSpPr/>
          <p:nvPr/>
        </p:nvSpPr>
        <p:spPr>
          <a:xfrm>
            <a:off x="325968" y="2553607"/>
            <a:ext cx="473286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t):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t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get_type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15FD7-5AE7-7346-9E6D-303A18979666}"/>
              </a:ext>
            </a:extLst>
          </p:cNvPr>
          <p:cNvSpPr/>
          <p:nvPr/>
        </p:nvSpPr>
        <p:spPr>
          <a:xfrm>
            <a:off x="355600" y="457874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854CC-93F7-7944-BD71-C9A6BD8016C3}"/>
              </a:ext>
            </a:extLst>
          </p:cNvPr>
          <p:cNvSpPr txBox="1"/>
          <p:nvPr/>
        </p:nvSpPr>
        <p:spPr>
          <a:xfrm>
            <a:off x="357801" y="44439"/>
            <a:ext cx="160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Enum for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E31D0-F40A-4E40-B10E-7E39D83D0A2A}"/>
              </a:ext>
            </a:extLst>
          </p:cNvPr>
          <p:cNvSpPr txBox="1"/>
          <p:nvPr/>
        </p:nvSpPr>
        <p:spPr>
          <a:xfrm>
            <a:off x="325968" y="2184275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base AST Node needs a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A71B2-17A5-B44D-90A7-CD35F64E3CAF}"/>
              </a:ext>
            </a:extLst>
          </p:cNvPr>
          <p:cNvSpPr/>
          <p:nvPr/>
        </p:nvSpPr>
        <p:spPr>
          <a:xfrm>
            <a:off x="5634565" y="1168612"/>
            <a:ext cx="609600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is_int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F1FF1-B22F-2140-B3AE-B895B0F21B8D}"/>
              </a:ext>
            </a:extLst>
          </p:cNvPr>
          <p:cNvSpPr txBox="1"/>
          <p:nvPr/>
        </p:nvSpPr>
        <p:spPr>
          <a:xfrm>
            <a:off x="6434667" y="273208"/>
            <a:ext cx="47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need to set the types for the leaf nodes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476C3-CC2F-6443-B11A-7809A059315C}"/>
              </a:ext>
            </a:extLst>
          </p:cNvPr>
          <p:cNvSpPr/>
          <p:nvPr/>
        </p:nvSpPr>
        <p:spPr>
          <a:xfrm>
            <a:off x="5634565" y="4215600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value_type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value_type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69CA8-A505-5C4E-9F86-0EB71B304303}"/>
              </a:ext>
            </a:extLst>
          </p:cNvPr>
          <p:cNvSpPr txBox="1"/>
          <p:nvPr/>
        </p:nvSpPr>
        <p:spPr>
          <a:xfrm>
            <a:off x="6383867" y="5621867"/>
            <a:ext cx="4242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can we get the value type for an ID?</a:t>
            </a:r>
          </a:p>
        </p:txBody>
      </p:sp>
    </p:spTree>
    <p:extLst>
      <p:ext uri="{BB962C8B-B14F-4D97-AF65-F5344CB8AC3E}">
        <p14:creationId xmlns:p14="http://schemas.microsoft.com/office/powerpoint/2010/main" val="8362218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7933" cy="441214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declare_statement</a:t>
            </a:r>
            <a:r>
              <a:rPr lang="en-US" dirty="0"/>
              <a:t> ::= TYPE     ID    SEMI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eat(TYPE)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id_name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self.to_match.value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eat(ID)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ST.insert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id_name</a:t>
            </a:r>
            <a:r>
              <a:rPr lang="en-US" dirty="0">
                <a:latin typeface="Courier" pitchFamily="2" charset="0"/>
              </a:rPr>
              <a:t>, None)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eat(SEMI)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5FB34-5EF6-F34B-85C3-261AB2E9072E}"/>
              </a:ext>
            </a:extLst>
          </p:cNvPr>
          <p:cNvSpPr txBox="1"/>
          <p:nvPr/>
        </p:nvSpPr>
        <p:spPr>
          <a:xfrm>
            <a:off x="6394090" y="937725"/>
            <a:ext cx="459754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are matched the statement: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int x;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6FF33-9643-2442-A8E3-55ADD9DA2A8D}"/>
              </a:ext>
            </a:extLst>
          </p:cNvPr>
          <p:cNvSpPr txBox="1"/>
          <p:nvPr/>
        </p:nvSpPr>
        <p:spPr>
          <a:xfrm>
            <a:off x="4812441" y="2339164"/>
            <a:ext cx="85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‘x’)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C3BE8-FEB8-B946-9F68-1BFA3415A8C4}"/>
              </a:ext>
            </a:extLst>
          </p:cNvPr>
          <p:cNvSpPr txBox="1"/>
          <p:nvPr/>
        </p:nvSpPr>
        <p:spPr>
          <a:xfrm>
            <a:off x="3547864" y="2339164"/>
            <a:ext cx="126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(TYPE, ‘int’)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844E1-5B55-9A46-9034-0DE6EA1BAE51}"/>
              </a:ext>
            </a:extLst>
          </p:cNvPr>
          <p:cNvSpPr txBox="1"/>
          <p:nvPr/>
        </p:nvSpPr>
        <p:spPr>
          <a:xfrm>
            <a:off x="8094133" y="3234266"/>
            <a:ext cx="36575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 homework 2 and 3 we didn’t</a:t>
            </a:r>
          </a:p>
          <a:p>
            <a:r>
              <a:rPr lang="en-US" i="1" dirty="0"/>
              <a:t>record any information in the symbol</a:t>
            </a:r>
            <a:br>
              <a:rPr lang="en-US" i="1" dirty="0"/>
            </a:br>
            <a:r>
              <a:rPr lang="en-US" i="1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29169222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92566" cy="4778375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declare_statement</a:t>
            </a:r>
            <a:r>
              <a:rPr lang="en-US" dirty="0"/>
              <a:t> ::= TYPE    ID    SEMI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value_type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self.to_match.value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eat(TYPE)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id_name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self.to_match.value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eat(ID)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ST.insert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id_name</a:t>
            </a:r>
            <a:r>
              <a:rPr lang="en-US" dirty="0">
                <a:latin typeface="Courier" pitchFamily="2" charset="0"/>
              </a:rPr>
              <a:t>,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value_type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eat(SEMI)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5FB34-5EF6-F34B-85C3-261AB2E9072E}"/>
              </a:ext>
            </a:extLst>
          </p:cNvPr>
          <p:cNvSpPr txBox="1"/>
          <p:nvPr/>
        </p:nvSpPr>
        <p:spPr>
          <a:xfrm>
            <a:off x="6394090" y="937725"/>
            <a:ext cx="459754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are matched the statement: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int x;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6FF33-9643-2442-A8E3-55ADD9DA2A8D}"/>
              </a:ext>
            </a:extLst>
          </p:cNvPr>
          <p:cNvSpPr txBox="1"/>
          <p:nvPr/>
        </p:nvSpPr>
        <p:spPr>
          <a:xfrm>
            <a:off x="5244933" y="2277811"/>
            <a:ext cx="85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‘x’)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C3BE8-FEB8-B946-9F68-1BFA3415A8C4}"/>
              </a:ext>
            </a:extLst>
          </p:cNvPr>
          <p:cNvSpPr txBox="1"/>
          <p:nvPr/>
        </p:nvSpPr>
        <p:spPr>
          <a:xfrm>
            <a:off x="3702194" y="2277811"/>
            <a:ext cx="126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(TYPE, ‘int’)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844E1-5B55-9A46-9034-0DE6EA1BAE51}"/>
              </a:ext>
            </a:extLst>
          </p:cNvPr>
          <p:cNvSpPr txBox="1"/>
          <p:nvPr/>
        </p:nvSpPr>
        <p:spPr>
          <a:xfrm>
            <a:off x="8094133" y="3234266"/>
            <a:ext cx="3324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previously we weren’t saving any </a:t>
            </a:r>
          </a:p>
          <a:p>
            <a:r>
              <a:rPr lang="en-US" i="1" dirty="0"/>
              <a:t>information about the 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8D634-E8D9-264D-8C33-95F424A105DB}"/>
              </a:ext>
            </a:extLst>
          </p:cNvPr>
          <p:cNvSpPr txBox="1"/>
          <p:nvPr/>
        </p:nvSpPr>
        <p:spPr>
          <a:xfrm>
            <a:off x="8094133" y="4639732"/>
            <a:ext cx="3429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record the type in the symbol table</a:t>
            </a:r>
          </a:p>
        </p:txBody>
      </p:sp>
    </p:spTree>
    <p:extLst>
      <p:ext uri="{BB962C8B-B14F-4D97-AF65-F5344CB8AC3E}">
        <p14:creationId xmlns:p14="http://schemas.microsoft.com/office/powerpoint/2010/main" val="23797708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96D6D-5103-0144-8366-0D6C721C7D9B}"/>
              </a:ext>
            </a:extLst>
          </p:cNvPr>
          <p:cNvSpPr/>
          <p:nvPr/>
        </p:nvSpPr>
        <p:spPr>
          <a:xfrm>
            <a:off x="325968" y="2553607"/>
            <a:ext cx="473286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t):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t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get_type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15FD7-5AE7-7346-9E6D-303A18979666}"/>
              </a:ext>
            </a:extLst>
          </p:cNvPr>
          <p:cNvSpPr/>
          <p:nvPr/>
        </p:nvSpPr>
        <p:spPr>
          <a:xfrm>
            <a:off x="355600" y="457874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854CC-93F7-7944-BD71-C9A6BD8016C3}"/>
              </a:ext>
            </a:extLst>
          </p:cNvPr>
          <p:cNvSpPr txBox="1"/>
          <p:nvPr/>
        </p:nvSpPr>
        <p:spPr>
          <a:xfrm>
            <a:off x="357801" y="44439"/>
            <a:ext cx="160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Enum for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E31D0-F40A-4E40-B10E-7E39D83D0A2A}"/>
              </a:ext>
            </a:extLst>
          </p:cNvPr>
          <p:cNvSpPr txBox="1"/>
          <p:nvPr/>
        </p:nvSpPr>
        <p:spPr>
          <a:xfrm>
            <a:off x="325968" y="2184275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base AST Node needs a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A71B2-17A5-B44D-90A7-CD35F64E3CAF}"/>
              </a:ext>
            </a:extLst>
          </p:cNvPr>
          <p:cNvSpPr/>
          <p:nvPr/>
        </p:nvSpPr>
        <p:spPr>
          <a:xfrm>
            <a:off x="5634565" y="1168612"/>
            <a:ext cx="609600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is_int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F1FF1-B22F-2140-B3AE-B895B0F21B8D}"/>
              </a:ext>
            </a:extLst>
          </p:cNvPr>
          <p:cNvSpPr txBox="1"/>
          <p:nvPr/>
        </p:nvSpPr>
        <p:spPr>
          <a:xfrm>
            <a:off x="6434667" y="273208"/>
            <a:ext cx="47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need to set the types for the leaf nodes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476C3-CC2F-6443-B11A-7809A059315C}"/>
              </a:ext>
            </a:extLst>
          </p:cNvPr>
          <p:cNvSpPr/>
          <p:nvPr/>
        </p:nvSpPr>
        <p:spPr>
          <a:xfrm>
            <a:off x="5634565" y="4215600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value_type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value_type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69CA8-A505-5C4E-9F86-0EB71B304303}"/>
              </a:ext>
            </a:extLst>
          </p:cNvPr>
          <p:cNvSpPr txBox="1"/>
          <p:nvPr/>
        </p:nvSpPr>
        <p:spPr>
          <a:xfrm>
            <a:off x="6383867" y="5621867"/>
            <a:ext cx="4242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can we get the value type for an ID?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DB0B8-A77C-F14C-B3EE-55D247A65E06}"/>
              </a:ext>
            </a:extLst>
          </p:cNvPr>
          <p:cNvSpPr txBox="1"/>
          <p:nvPr/>
        </p:nvSpPr>
        <p:spPr>
          <a:xfrm>
            <a:off x="6383867" y="6062260"/>
            <a:ext cx="3320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that doesn’t get us here yet...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0CE3F-7EDE-F10A-2967-3F1B04E9CF43}"/>
              </a:ext>
            </a:extLst>
          </p:cNvPr>
          <p:cNvSpPr txBox="1"/>
          <p:nvPr/>
        </p:nvSpPr>
        <p:spPr>
          <a:xfrm>
            <a:off x="5622373" y="820265"/>
            <a:ext cx="460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Number </a:t>
            </a:r>
            <a:r>
              <a:rPr lang="en-US" dirty="0" err="1"/>
              <a:t>impies</a:t>
            </a:r>
            <a:r>
              <a:rPr lang="en-US" dirty="0"/>
              <a:t> a type: e.g.  134 vs. 134.5</a:t>
            </a:r>
          </a:p>
        </p:txBody>
      </p:sp>
    </p:spTree>
    <p:extLst>
      <p:ext uri="{BB962C8B-B14F-4D97-AF65-F5344CB8AC3E}">
        <p14:creationId xmlns:p14="http://schemas.microsoft.com/office/powerpoint/2010/main" val="31036841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add the type at parse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18389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Unit ::= ID</a:t>
            </a:r>
          </a:p>
          <a:p>
            <a:r>
              <a:rPr lang="en-US" dirty="0">
                <a:latin typeface="Courier" pitchFamily="2" charset="0"/>
              </a:rPr>
              <a:t>     |   NUM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DF143-55F5-3D4C-8B96-0DE78875E623}"/>
              </a:ext>
            </a:extLst>
          </p:cNvPr>
          <p:cNvSpPr/>
          <p:nvPr/>
        </p:nvSpPr>
        <p:spPr>
          <a:xfrm>
            <a:off x="2524276" y="2717455"/>
            <a:ext cx="92286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parse_unit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        # ... for applying the first production rule (ID)</a:t>
            </a:r>
          </a:p>
          <a:p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       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.next_word.value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            #  extract the value (name) of the ID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 ... Check that value is in the symbol table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       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(value, ST[value])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node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127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0ED2-7A62-904F-B1BD-DE16C0F7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5242"/>
          </a:xfrm>
        </p:spPr>
        <p:txBody>
          <a:bodyPr/>
          <a:lstStyle/>
          <a:p>
            <a:r>
              <a:rPr lang="en-US" dirty="0"/>
              <a:t>We now have the types for the leaf nodes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723972" y="3973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249948" y="434297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246712" y="434297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5043941" y="487961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839939" y="2835804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</p:spTree>
    <p:extLst>
      <p:ext uri="{BB962C8B-B14F-4D97-AF65-F5344CB8AC3E}">
        <p14:creationId xmlns:p14="http://schemas.microsoft.com/office/powerpoint/2010/main" val="28017974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0ED2-7A62-904F-B1BD-DE16C0F7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5242"/>
          </a:xfrm>
        </p:spPr>
        <p:txBody>
          <a:bodyPr/>
          <a:lstStyle/>
          <a:p>
            <a:r>
              <a:rPr lang="en-US" dirty="0"/>
              <a:t>We now have the types for the leaf nodes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723972" y="3973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249948" y="434297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246712" y="434297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5043941" y="487961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AST&lt;5.5, float&gt;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48BF0-2228-F740-B388-2C0355BB1309}"/>
              </a:ext>
            </a:extLst>
          </p:cNvPr>
          <p:cNvSpPr txBox="1"/>
          <p:nvPr/>
        </p:nvSpPr>
        <p:spPr>
          <a:xfrm>
            <a:off x="7577666" y="2998327"/>
            <a:ext cx="34703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steps:</a:t>
            </a:r>
          </a:p>
          <a:p>
            <a:endParaRPr lang="en-US" dirty="0"/>
          </a:p>
          <a:p>
            <a:r>
              <a:rPr lang="en-US" dirty="0"/>
              <a:t>we do a post order traversal</a:t>
            </a:r>
          </a:p>
          <a:p>
            <a:r>
              <a:rPr lang="en-US" dirty="0"/>
              <a:t>on the AST and do a type inference</a:t>
            </a:r>
          </a:p>
        </p:txBody>
      </p:sp>
    </p:spTree>
    <p:extLst>
      <p:ext uri="{BB962C8B-B14F-4D97-AF65-F5344CB8AC3E}">
        <p14:creationId xmlns:p14="http://schemas.microsoft.com/office/powerpoint/2010/main" val="2808816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</p:spTree>
    <p:extLst>
      <p:ext uri="{BB962C8B-B14F-4D97-AF65-F5344CB8AC3E}">
        <p14:creationId xmlns:p14="http://schemas.microsoft.com/office/powerpoint/2010/main" val="14351131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30796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node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67FC-0F01-7B45-A3EC-24113C730EA2}"/>
              </a:ext>
            </a:extLst>
          </p:cNvPr>
          <p:cNvSpPr txBox="1"/>
          <p:nvPr/>
        </p:nvSpPr>
        <p:spPr>
          <a:xfrm>
            <a:off x="4555067" y="3755537"/>
            <a:ext cx="1106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base case</a:t>
            </a:r>
          </a:p>
        </p:txBody>
      </p:sp>
    </p:spTree>
    <p:extLst>
      <p:ext uri="{BB962C8B-B14F-4D97-AF65-F5344CB8AC3E}">
        <p14:creationId xmlns:p14="http://schemas.microsoft.com/office/powerpoint/2010/main" val="14681081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307968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node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...</a:t>
            </a:r>
          </a:p>
        </p:txBody>
      </p:sp>
    </p:spTree>
    <p:extLst>
      <p:ext uri="{BB962C8B-B14F-4D97-AF65-F5344CB8AC3E}">
        <p14:creationId xmlns:p14="http://schemas.microsoft.com/office/powerpoint/2010/main" val="19511795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node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return lookup type from table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06244"/>
            <a:ext cx="2338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inference rules for plus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1274F-0288-7741-9E00-82CEADDBBCA1}"/>
              </a:ext>
            </a:extLst>
          </p:cNvPr>
          <p:cNvSpPr txBox="1"/>
          <p:nvPr/>
        </p:nvSpPr>
        <p:spPr>
          <a:xfrm>
            <a:off x="4351866" y="4273392"/>
            <a:ext cx="2376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lookup the rule for plus</a:t>
            </a:r>
          </a:p>
        </p:txBody>
      </p:sp>
    </p:spTree>
    <p:extLst>
      <p:ext uri="{BB962C8B-B14F-4D97-AF65-F5344CB8AC3E}">
        <p14:creationId xmlns:p14="http://schemas.microsoft.com/office/powerpoint/2010/main" val="5430127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return lookup type from table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18235"/>
            <a:ext cx="248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</a:t>
            </a:r>
            <a:r>
              <a:rPr lang="en-US" sz="2400" b="1" dirty="0"/>
              <a:t>plus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1274F-0288-7741-9E00-82CEADDBBCA1}"/>
              </a:ext>
            </a:extLst>
          </p:cNvPr>
          <p:cNvSpPr txBox="1"/>
          <p:nvPr/>
        </p:nvSpPr>
        <p:spPr>
          <a:xfrm>
            <a:off x="4351866" y="4273392"/>
            <a:ext cx="2376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lookup the rule for plus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548CF-193E-A34A-9B5B-5D2428FCAD37}"/>
              </a:ext>
            </a:extLst>
          </p:cNvPr>
          <p:cNvSpPr txBox="1"/>
          <p:nvPr/>
        </p:nvSpPr>
        <p:spPr>
          <a:xfrm>
            <a:off x="3572933" y="6214533"/>
            <a:ext cx="3020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we’re missing a few things</a:t>
            </a:r>
          </a:p>
        </p:txBody>
      </p:sp>
    </p:spTree>
    <p:extLst>
      <p:ext uri="{BB962C8B-B14F-4D97-AF65-F5344CB8AC3E}">
        <p14:creationId xmlns:p14="http://schemas.microsoft.com/office/powerpoint/2010/main" val="17585037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7339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do type inference on children</a:t>
            </a:r>
          </a:p>
          <a:p>
            <a:r>
              <a:rPr lang="en-US" dirty="0">
                <a:latin typeface="Courier" pitchFamily="2" charset="0"/>
              </a:rPr>
              <a:t>    return lookup type from table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0364EC2-9607-464E-80B0-15B8D179DA0E}"/>
              </a:ext>
            </a:extLst>
          </p:cNvPr>
          <p:cNvSpPr txBox="1"/>
          <p:nvPr/>
        </p:nvSpPr>
        <p:spPr>
          <a:xfrm>
            <a:off x="4624147" y="3775576"/>
            <a:ext cx="2877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 need to make sure the children have types!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F317FD-F762-DF81-B4BC-762A5658C018}"/>
              </a:ext>
            </a:extLst>
          </p:cNvPr>
          <p:cNvSpPr txBox="1"/>
          <p:nvPr/>
        </p:nvSpPr>
        <p:spPr>
          <a:xfrm>
            <a:off x="8034867" y="3403605"/>
            <a:ext cx="248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</a:t>
            </a:r>
            <a:r>
              <a:rPr lang="en-US" sz="2400" b="1" dirty="0"/>
              <a:t>plus</a:t>
            </a:r>
          </a:p>
        </p:txBody>
      </p:sp>
    </p:spTree>
    <p:extLst>
      <p:ext uri="{BB962C8B-B14F-4D97-AF65-F5344CB8AC3E}">
        <p14:creationId xmlns:p14="http://schemas.microsoft.com/office/powerpoint/2010/main" val="15663724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 =</a:t>
            </a:r>
            <a:r>
              <a:rPr lang="en-US" dirty="0">
                <a:latin typeface="Courier" pitchFamily="2" charset="0"/>
              </a:rPr>
              <a:t> lookup type from table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0364EC2-9607-464E-80B0-15B8D179DA0E}"/>
              </a:ext>
            </a:extLst>
          </p:cNvPr>
          <p:cNvSpPr txBox="1"/>
          <p:nvPr/>
        </p:nvSpPr>
        <p:spPr>
          <a:xfrm>
            <a:off x="4624147" y="3775576"/>
            <a:ext cx="287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 should record our 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0D68C-59B2-1768-8DB9-994704DB0F09}"/>
              </a:ext>
            </a:extLst>
          </p:cNvPr>
          <p:cNvSpPr txBox="1"/>
          <p:nvPr/>
        </p:nvSpPr>
        <p:spPr>
          <a:xfrm>
            <a:off x="8034867" y="3403605"/>
            <a:ext cx="248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</a:t>
            </a:r>
            <a:r>
              <a:rPr lang="en-US" sz="2400" b="1" dirty="0"/>
              <a:t>plus</a:t>
            </a:r>
          </a:p>
        </p:txBody>
      </p:sp>
    </p:spTree>
    <p:extLst>
      <p:ext uri="{BB962C8B-B14F-4D97-AF65-F5344CB8AC3E}">
        <p14:creationId xmlns:p14="http://schemas.microsoft.com/office/powerpoint/2010/main" val="14355802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18255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do type inference on children</a:t>
            </a:r>
          </a:p>
          <a:p>
            <a:r>
              <a:rPr lang="en-US" dirty="0">
                <a:latin typeface="Courier" pitchFamily="2" charset="0"/>
              </a:rPr>
              <a:t>if n is a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plus node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 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53E5DD-4268-7214-3D6D-C29B0A9BAD22}"/>
              </a:ext>
            </a:extLst>
          </p:cNvPr>
          <p:cNvSpPr txBox="1"/>
          <p:nvPr/>
        </p:nvSpPr>
        <p:spPr>
          <a:xfrm>
            <a:off x="5076709" y="4014589"/>
            <a:ext cx="202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 this just for plus?</a:t>
            </a:r>
          </a:p>
        </p:txBody>
      </p:sp>
    </p:spTree>
    <p:extLst>
      <p:ext uri="{BB962C8B-B14F-4D97-AF65-F5344CB8AC3E}">
        <p14:creationId xmlns:p14="http://schemas.microsoft.com/office/powerpoint/2010/main" val="16269735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plus node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8382000" y="3098800"/>
            <a:ext cx="26477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most language promote</a:t>
            </a:r>
          </a:p>
          <a:p>
            <a:r>
              <a:rPr lang="en-US" b="1" dirty="0"/>
              <a:t>types, e.g. </a:t>
            </a:r>
            <a:r>
              <a:rPr lang="en-US" b="1" dirty="0" err="1"/>
              <a:t>ints</a:t>
            </a:r>
            <a:r>
              <a:rPr lang="en-US" b="1" dirty="0"/>
              <a:t> to float for</a:t>
            </a:r>
          </a:p>
          <a:p>
            <a:r>
              <a:rPr lang="en-US" b="1" dirty="0"/>
              <a:t>expression operators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1CF0A-CA6E-B766-57F4-76A1FF723449}"/>
              </a:ext>
            </a:extLst>
          </p:cNvPr>
          <p:cNvSpPr txBox="1"/>
          <p:nvPr/>
        </p:nvSpPr>
        <p:spPr>
          <a:xfrm>
            <a:off x="4952202" y="4199255"/>
            <a:ext cx="202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 this just for plus?</a:t>
            </a:r>
          </a:p>
        </p:txBody>
      </p:sp>
    </p:spTree>
    <p:extLst>
      <p:ext uri="{BB962C8B-B14F-4D97-AF65-F5344CB8AC3E}">
        <p14:creationId xmlns:p14="http://schemas.microsoft.com/office/powerpoint/2010/main" val="37333125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bin op node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ECFA4-EAD8-C242-9173-77EF686E7357}"/>
              </a:ext>
            </a:extLst>
          </p:cNvPr>
          <p:cNvSpPr txBox="1"/>
          <p:nvPr/>
        </p:nvSpPr>
        <p:spPr>
          <a:xfrm>
            <a:off x="4952202" y="4199255"/>
            <a:ext cx="202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 this just for plus?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8382000" y="3081867"/>
            <a:ext cx="2591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language promote</a:t>
            </a:r>
          </a:p>
          <a:p>
            <a:r>
              <a:rPr lang="en-US" dirty="0"/>
              <a:t>types, e.g. </a:t>
            </a:r>
            <a:r>
              <a:rPr lang="en-US" dirty="0" err="1"/>
              <a:t>ints</a:t>
            </a:r>
            <a:r>
              <a:rPr lang="en-US" dirty="0"/>
              <a:t> to float for</a:t>
            </a:r>
          </a:p>
          <a:p>
            <a:r>
              <a:rPr lang="en-US" dirty="0"/>
              <a:t>expression operators</a:t>
            </a:r>
          </a:p>
        </p:txBody>
      </p:sp>
    </p:spTree>
    <p:extLst>
      <p:ext uri="{BB962C8B-B14F-4D97-AF65-F5344CB8AC3E}">
        <p14:creationId xmlns:p14="http://schemas.microsoft.com/office/powerpoint/2010/main" val="42097160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500970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   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7721600" y="2012414"/>
            <a:ext cx="294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for assignments?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E0408-C586-B043-BC1E-FDDDBFC69C69}"/>
              </a:ext>
            </a:extLst>
          </p:cNvPr>
          <p:cNvSpPr txBox="1"/>
          <p:nvPr/>
        </p:nvSpPr>
        <p:spPr>
          <a:xfrm>
            <a:off x="7382934" y="2548466"/>
            <a:ext cx="376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 err="1">
                <a:latin typeface="Courier" pitchFamily="2" charset="0"/>
              </a:rPr>
              <a:t>cout</a:t>
            </a:r>
            <a:r>
              <a:rPr lang="en-US" dirty="0">
                <a:latin typeface="Courier" pitchFamily="2" charset="0"/>
              </a:rPr>
              <a:t> &lt;&lt; (x = 5.5) &lt;&lt; </a:t>
            </a:r>
            <a:r>
              <a:rPr lang="en-US" dirty="0" err="1">
                <a:latin typeface="Courier" pitchFamily="2" charset="0"/>
              </a:rPr>
              <a:t>endl</a:t>
            </a:r>
            <a:r>
              <a:rPr lang="en-US" dirty="0">
                <a:latin typeface="Courier" pitchFamily="2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C1F8C-A9EA-AA4D-999B-CCA2780B36C9}"/>
              </a:ext>
            </a:extLst>
          </p:cNvPr>
          <p:cNvSpPr txBox="1"/>
          <p:nvPr/>
        </p:nvSpPr>
        <p:spPr>
          <a:xfrm>
            <a:off x="7721600" y="3478538"/>
            <a:ext cx="349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does this return?  This ???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A6628-1369-9F53-BA99-01BA51BD8C2A}"/>
              </a:ext>
            </a:extLst>
          </p:cNvPr>
          <p:cNvSpPr txBox="1"/>
          <p:nvPr/>
        </p:nvSpPr>
        <p:spPr>
          <a:xfrm>
            <a:off x="4315967" y="1605374"/>
            <a:ext cx="2443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Assignments are expressions in C/C++</a:t>
            </a:r>
          </a:p>
        </p:txBody>
      </p:sp>
    </p:spTree>
    <p:extLst>
      <p:ext uri="{BB962C8B-B14F-4D97-AF65-F5344CB8AC3E}">
        <p14:creationId xmlns:p14="http://schemas.microsoft.com/office/powerpoint/2010/main" val="29232765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7721600" y="2012414"/>
            <a:ext cx="294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for assignments?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E0408-C586-B043-BC1E-FDDDBFC69C69}"/>
              </a:ext>
            </a:extLst>
          </p:cNvPr>
          <p:cNvSpPr txBox="1"/>
          <p:nvPr/>
        </p:nvSpPr>
        <p:spPr>
          <a:xfrm>
            <a:off x="7382934" y="2548466"/>
            <a:ext cx="376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 err="1">
                <a:latin typeface="Courier" pitchFamily="2" charset="0"/>
              </a:rPr>
              <a:t>cout</a:t>
            </a:r>
            <a:r>
              <a:rPr lang="en-US" dirty="0">
                <a:latin typeface="Courier" pitchFamily="2" charset="0"/>
              </a:rPr>
              <a:t> &lt;&lt; (x = 5.5) &lt;&lt; </a:t>
            </a:r>
            <a:r>
              <a:rPr lang="en-US" dirty="0" err="1">
                <a:latin typeface="Courier" pitchFamily="2" charset="0"/>
              </a:rPr>
              <a:t>endl</a:t>
            </a:r>
            <a:r>
              <a:rPr lang="en-US" dirty="0">
                <a:latin typeface="Courier" pitchFamily="2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C1F8C-A9EA-AA4D-999B-CCA2780B36C9}"/>
              </a:ext>
            </a:extLst>
          </p:cNvPr>
          <p:cNvSpPr txBox="1"/>
          <p:nvPr/>
        </p:nvSpPr>
        <p:spPr>
          <a:xfrm>
            <a:off x="7721600" y="3478538"/>
            <a:ext cx="234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does this return?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AEDA8-335D-F24A-8FD6-CAFFE3142B2A}"/>
              </a:ext>
            </a:extLst>
          </p:cNvPr>
          <p:cNvSpPr txBox="1"/>
          <p:nvPr/>
        </p:nvSpPr>
        <p:spPr>
          <a:xfrm>
            <a:off x="7595753" y="6404840"/>
            <a:ext cx="3840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whatever the left is (the type of the ID)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F3A0D-D12F-DEA0-2D2E-11C4519089F6}"/>
              </a:ext>
            </a:extLst>
          </p:cNvPr>
          <p:cNvSpPr txBox="1"/>
          <p:nvPr/>
        </p:nvSpPr>
        <p:spPr>
          <a:xfrm>
            <a:off x="4315967" y="1605374"/>
            <a:ext cx="2443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Assignments are expressions in C/C++</a:t>
            </a:r>
          </a:p>
        </p:txBody>
      </p:sp>
    </p:spTree>
    <p:extLst>
      <p:ext uri="{BB962C8B-B14F-4D97-AF65-F5344CB8AC3E}">
        <p14:creationId xmlns:p14="http://schemas.microsoft.com/office/powerpoint/2010/main" val="19042652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32175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if n is an assignment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....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...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7721600" y="2012414"/>
            <a:ext cx="294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for assignments?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E0408-C586-B043-BC1E-FDDDBFC69C69}"/>
              </a:ext>
            </a:extLst>
          </p:cNvPr>
          <p:cNvSpPr txBox="1"/>
          <p:nvPr/>
        </p:nvSpPr>
        <p:spPr>
          <a:xfrm>
            <a:off x="7382934" y="2548466"/>
            <a:ext cx="376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 err="1">
                <a:latin typeface="Courier" pitchFamily="2" charset="0"/>
              </a:rPr>
              <a:t>cout</a:t>
            </a:r>
            <a:r>
              <a:rPr lang="en-US" dirty="0">
                <a:latin typeface="Courier" pitchFamily="2" charset="0"/>
              </a:rPr>
              <a:t> &lt;&lt; (x = 5.5) &lt;&lt; </a:t>
            </a:r>
            <a:r>
              <a:rPr lang="en-US" dirty="0" err="1">
                <a:latin typeface="Courier" pitchFamily="2" charset="0"/>
              </a:rPr>
              <a:t>endl</a:t>
            </a:r>
            <a:r>
              <a:rPr lang="en-US" dirty="0">
                <a:latin typeface="Courier" pitchFamily="2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C1F8C-A9EA-AA4D-999B-CCA2780B36C9}"/>
              </a:ext>
            </a:extLst>
          </p:cNvPr>
          <p:cNvSpPr txBox="1"/>
          <p:nvPr/>
        </p:nvSpPr>
        <p:spPr>
          <a:xfrm>
            <a:off x="7721600" y="3478538"/>
            <a:ext cx="234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does this return?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FDB06-A510-30CC-0FBD-9FF965A23154}"/>
              </a:ext>
            </a:extLst>
          </p:cNvPr>
          <p:cNvSpPr txBox="1"/>
          <p:nvPr/>
        </p:nvSpPr>
        <p:spPr>
          <a:xfrm>
            <a:off x="7595753" y="6404840"/>
            <a:ext cx="3840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whatever the left is (the type of the ID)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2FF4F-8CB5-6C64-E17B-282ED6332C8F}"/>
              </a:ext>
            </a:extLst>
          </p:cNvPr>
          <p:cNvSpPr txBox="1"/>
          <p:nvPr/>
        </p:nvSpPr>
        <p:spPr>
          <a:xfrm>
            <a:off x="4315967" y="1605374"/>
            <a:ext cx="2443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Assignments are expressions in C/C++</a:t>
            </a:r>
          </a:p>
        </p:txBody>
      </p:sp>
    </p:spTree>
    <p:extLst>
      <p:ext uri="{BB962C8B-B14F-4D97-AF65-F5344CB8AC3E}">
        <p14:creationId xmlns:p14="http://schemas.microsoft.com/office/powerpoint/2010/main" val="233664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53009</TotalTime>
  <Words>6277</Words>
  <Application>Microsoft Office PowerPoint</Application>
  <PresentationFormat>Widescreen</PresentationFormat>
  <Paragraphs>1388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2" baseType="lpstr">
      <vt:lpstr>Arial</vt:lpstr>
      <vt:lpstr>Arial Unicode MS</vt:lpstr>
      <vt:lpstr>Calibri</vt:lpstr>
      <vt:lpstr>Calibri Light</vt:lpstr>
      <vt:lpstr>Consolas</vt:lpstr>
      <vt:lpstr>Courier</vt:lpstr>
      <vt:lpstr>Menlo</vt:lpstr>
      <vt:lpstr>Office Theme</vt:lpstr>
      <vt:lpstr>CSE110A: Compilers</vt:lpstr>
      <vt:lpstr>ASTs: Abstract Syntax Trees</vt:lpstr>
      <vt:lpstr>PowerPoint Presentation</vt:lpstr>
      <vt:lpstr>Creating an AST from a parser</vt:lpstr>
      <vt:lpstr>PowerPoint Presentation</vt:lpstr>
      <vt:lpstr>Creating an AST from production rules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Evaluate an AST by doing a post order traversal</vt:lpstr>
      <vt:lpstr>Strategy to Build AST with Top-Down Parsing</vt:lpstr>
      <vt:lpstr>Example</vt:lpstr>
      <vt:lpstr>Evaluate an AST by doing a post order traversal</vt:lpstr>
      <vt:lpstr>Evaluate an AST by doing a post order traversal</vt:lpstr>
      <vt:lpstr>Evaluate an AST by doing a post order traversal</vt:lpstr>
      <vt:lpstr>Evaluate an AST by doing a post order traversal</vt:lpstr>
      <vt:lpstr>Evaluate an AST by doing a post order traversal</vt:lpstr>
      <vt:lpstr>Evaluate an AST by doing a post order traversal</vt:lpstr>
      <vt:lpstr>Evaluate an AST by doing a post order traversal</vt:lpstr>
      <vt:lpstr>Type systems</vt:lpstr>
      <vt:lpstr>Type systems</vt:lpstr>
      <vt:lpstr>Type systems</vt:lpstr>
      <vt:lpstr>Type systems</vt:lpstr>
      <vt:lpstr>Type systems</vt:lpstr>
      <vt:lpstr>Type systems</vt:lpstr>
      <vt:lpstr>Type systems</vt:lpstr>
      <vt:lpstr>Type systems</vt:lpstr>
      <vt:lpstr>Type systems</vt:lpstr>
      <vt:lpstr>Type checking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PowerPoint Presentation</vt:lpstr>
      <vt:lpstr>PowerPoint Presentation</vt:lpstr>
      <vt:lpstr>PowerPoint Presentation</vt:lpstr>
      <vt:lpstr>PowerPoint Presentation</vt:lpstr>
      <vt:lpstr>Symbol Table</vt:lpstr>
      <vt:lpstr>Symbol Table</vt:lpstr>
      <vt:lpstr>PowerPoint Presentation</vt:lpstr>
      <vt:lpstr>add the type at parse time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800</cp:revision>
  <dcterms:created xsi:type="dcterms:W3CDTF">2021-03-23T23:59:42Z</dcterms:created>
  <dcterms:modified xsi:type="dcterms:W3CDTF">2026-02-19T23:53:11Z</dcterms:modified>
</cp:coreProperties>
</file>