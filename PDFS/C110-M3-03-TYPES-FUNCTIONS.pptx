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7" r:id="rId2"/>
    <p:sldId id="1514" r:id="rId3"/>
    <p:sldId id="1510" r:id="rId4"/>
    <p:sldId id="1513" r:id="rId5"/>
    <p:sldId id="1550" r:id="rId6"/>
    <p:sldId id="1551" r:id="rId7"/>
    <p:sldId id="1522" r:id="rId8"/>
    <p:sldId id="1523" r:id="rId9"/>
    <p:sldId id="1524" r:id="rId10"/>
    <p:sldId id="1527" r:id="rId11"/>
    <p:sldId id="1526" r:id="rId12"/>
    <p:sldId id="1528" r:id="rId13"/>
    <p:sldId id="1529" r:id="rId14"/>
    <p:sldId id="1530" r:id="rId15"/>
    <p:sldId id="1552" r:id="rId16"/>
    <p:sldId id="1553" r:id="rId17"/>
    <p:sldId id="1554" r:id="rId18"/>
    <p:sldId id="1555" r:id="rId19"/>
    <p:sldId id="1556" r:id="rId20"/>
    <p:sldId id="1376" r:id="rId21"/>
    <p:sldId id="1557" r:id="rId22"/>
    <p:sldId id="1558" r:id="rId23"/>
    <p:sldId id="1559" r:id="rId24"/>
    <p:sldId id="1560" r:id="rId25"/>
    <p:sldId id="1561" r:id="rId26"/>
    <p:sldId id="1562" r:id="rId27"/>
    <p:sldId id="1563" r:id="rId28"/>
    <p:sldId id="1564" r:id="rId29"/>
    <p:sldId id="1565" r:id="rId30"/>
    <p:sldId id="1566" r:id="rId31"/>
    <p:sldId id="1567" r:id="rId32"/>
    <p:sldId id="1568" r:id="rId33"/>
    <p:sldId id="1569" r:id="rId34"/>
    <p:sldId id="1570" r:id="rId35"/>
    <p:sldId id="1571" r:id="rId36"/>
    <p:sldId id="1572" r:id="rId37"/>
    <p:sldId id="1573" r:id="rId38"/>
    <p:sldId id="1580" r:id="rId39"/>
    <p:sldId id="1581" r:id="rId40"/>
    <p:sldId id="1582" r:id="rId41"/>
    <p:sldId id="1586" r:id="rId42"/>
    <p:sldId id="1595" r:id="rId43"/>
    <p:sldId id="1599" r:id="rId44"/>
    <p:sldId id="1600" r:id="rId45"/>
    <p:sldId id="1677" r:id="rId46"/>
    <p:sldId id="1601" r:id="rId47"/>
    <p:sldId id="1602" r:id="rId48"/>
    <p:sldId id="1603" r:id="rId49"/>
    <p:sldId id="1678" r:id="rId50"/>
    <p:sldId id="1604" r:id="rId51"/>
    <p:sldId id="1605" r:id="rId52"/>
    <p:sldId id="1606" r:id="rId53"/>
    <p:sldId id="1607" r:id="rId54"/>
    <p:sldId id="1608" r:id="rId55"/>
    <p:sldId id="1609" r:id="rId56"/>
    <p:sldId id="1610" r:id="rId57"/>
    <p:sldId id="1611" r:id="rId58"/>
    <p:sldId id="1612" r:id="rId59"/>
    <p:sldId id="1613" r:id="rId60"/>
    <p:sldId id="1679" r:id="rId61"/>
    <p:sldId id="1614" r:id="rId62"/>
    <p:sldId id="1615" r:id="rId63"/>
    <p:sldId id="1616" r:id="rId64"/>
    <p:sldId id="1617" r:id="rId65"/>
    <p:sldId id="1681" r:id="rId66"/>
    <p:sldId id="1619" r:id="rId67"/>
    <p:sldId id="1620" r:id="rId68"/>
    <p:sldId id="1623" r:id="rId69"/>
    <p:sldId id="1624" r:id="rId70"/>
    <p:sldId id="1682" r:id="rId71"/>
    <p:sldId id="1625" r:id="rId72"/>
    <p:sldId id="1683" r:id="rId73"/>
    <p:sldId id="1634" r:id="rId74"/>
    <p:sldId id="1636" r:id="rId75"/>
    <p:sldId id="1637" r:id="rId76"/>
    <p:sldId id="1638" r:id="rId77"/>
    <p:sldId id="1639" r:id="rId78"/>
    <p:sldId id="1640" r:id="rId79"/>
    <p:sldId id="1641" r:id="rId80"/>
    <p:sldId id="1684" r:id="rId81"/>
    <p:sldId id="1643" r:id="rId82"/>
    <p:sldId id="1644" r:id="rId83"/>
    <p:sldId id="1645" r:id="rId84"/>
    <p:sldId id="1646" r:id="rId85"/>
    <p:sldId id="1647" r:id="rId86"/>
    <p:sldId id="1648" r:id="rId87"/>
    <p:sldId id="1649" r:id="rId88"/>
    <p:sldId id="1650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/>
    <p:restoredTop sz="96405"/>
  </p:normalViewPr>
  <p:slideViewPr>
    <p:cSldViewPr snapToGrid="0" snapToObjects="1">
      <p:cViewPr varScale="1">
        <p:scale>
          <a:sx n="72" d="100"/>
          <a:sy n="72" d="100"/>
        </p:scale>
        <p:origin x="6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82" y="136464"/>
            <a:ext cx="5549818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r>
              <a:rPr lang="en-US" i="1" dirty="0"/>
              <a:t>Module 3: Intermediate representations</a:t>
            </a:r>
          </a:p>
          <a:p>
            <a:pPr lvl="1"/>
            <a:r>
              <a:rPr lang="en-US" i="1" dirty="0"/>
              <a:t>Type Systems : Inference, Checking</a:t>
            </a:r>
          </a:p>
          <a:p>
            <a:pPr lvl="1"/>
            <a:r>
              <a:rPr lang="en-US" i="1" dirty="0"/>
              <a:t>Error Checking and Type Conversions: 38</a:t>
            </a:r>
          </a:p>
          <a:p>
            <a:pPr lvl="1"/>
            <a:r>
              <a:rPr lang="en-US" i="1" dirty="0"/>
              <a:t>Functions (72)</a:t>
            </a:r>
          </a:p>
          <a:p>
            <a:pPr lvl="1"/>
            <a:r>
              <a:rPr lang="en-US" i="1" dirty="0"/>
              <a:t>More on Types (80)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9868755" y="30113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9891340" y="612988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243270" y="612988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494240" y="931005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283799" y="938302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743432" y="1260443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139294" y="1250151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697227" y="157172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764779" y="1562000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DB500-1416-664B-BD1D-A70789932F8B}"/>
              </a:ext>
            </a:extLst>
          </p:cNvPr>
          <p:cNvSpPr/>
          <p:nvPr/>
        </p:nvSpPr>
        <p:spPr>
          <a:xfrm>
            <a:off x="8841912" y="243109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02BC6D-A4F3-7945-9BA8-DDAD5EBAD05E}"/>
              </a:ext>
            </a:extLst>
          </p:cNvPr>
          <p:cNvSpPr/>
          <p:nvPr/>
        </p:nvSpPr>
        <p:spPr>
          <a:xfrm>
            <a:off x="8261222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166087-E008-CB41-9E49-F43BE5B52E3C}"/>
              </a:ext>
            </a:extLst>
          </p:cNvPr>
          <p:cNvSpPr/>
          <p:nvPr/>
        </p:nvSpPr>
        <p:spPr>
          <a:xfrm>
            <a:off x="9404049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C40F58-CF90-CE41-89B9-CE8DBABC9991}"/>
              </a:ext>
            </a:extLst>
          </p:cNvPr>
          <p:cNvSpPr/>
          <p:nvPr/>
        </p:nvSpPr>
        <p:spPr>
          <a:xfrm>
            <a:off x="8801537" y="387484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F10088-ADEF-7F4E-A316-E753418CD634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flipH="1">
            <a:off x="8562478" y="2849305"/>
            <a:ext cx="580690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E5B716-F904-F04C-85D6-57BAB595954F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>
            <a:off x="9143168" y="2849305"/>
            <a:ext cx="562137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CD5CE6-7944-5940-BF7F-AD6B8EF5481A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8562478" y="3571180"/>
            <a:ext cx="540315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E481C4-ED00-5E48-8D57-93234F440C6A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9102793" y="3571180"/>
            <a:ext cx="602512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FBAFE9-DB06-D242-9A86-5A5DBAE7937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10006561" y="2839576"/>
            <a:ext cx="277238" cy="5224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65BD84F-A29B-7844-AA4E-821E0B90D387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9444424" y="2640198"/>
            <a:ext cx="839375" cy="199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A8C64CD-6438-0642-90A2-AB2F8FAC4216}"/>
              </a:ext>
            </a:extLst>
          </p:cNvPr>
          <p:cNvSpPr txBox="1"/>
          <p:nvPr/>
        </p:nvSpPr>
        <p:spPr>
          <a:xfrm>
            <a:off x="10858582" y="30113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3111E8-20FD-9A4E-BB6A-BF339F777B74}"/>
              </a:ext>
            </a:extLst>
          </p:cNvPr>
          <p:cNvSpPr txBox="1"/>
          <p:nvPr/>
        </p:nvSpPr>
        <p:spPr>
          <a:xfrm>
            <a:off x="8063655" y="2447138"/>
            <a:ext cx="55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CFG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A20544-E545-DB40-AE9C-D75E51A5C0A6}"/>
              </a:ext>
            </a:extLst>
          </p:cNvPr>
          <p:cNvSpPr/>
          <p:nvPr/>
        </p:nvSpPr>
        <p:spPr>
          <a:xfrm>
            <a:off x="8859121" y="4978934"/>
            <a:ext cx="3175968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2E933-E9AD-4341-9CF9-2422F61D7ABC}"/>
              </a:ext>
            </a:extLst>
          </p:cNvPr>
          <p:cNvSpPr txBox="1"/>
          <p:nvPr/>
        </p:nvSpPr>
        <p:spPr>
          <a:xfrm>
            <a:off x="10296120" y="4555260"/>
            <a:ext cx="1588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address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9AC38-79D2-ED7E-E02A-BECCF7D0F21B}"/>
              </a:ext>
            </a:extLst>
          </p:cNvPr>
          <p:cNvSpPr txBox="1"/>
          <p:nvPr/>
        </p:nvSpPr>
        <p:spPr>
          <a:xfrm>
            <a:off x="426350" y="6201153"/>
            <a:ext cx="304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M3-03-TYPES-FUNCTIONS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0000-B9F9-C658-A156-0886E8E7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560" y="2407285"/>
            <a:ext cx="8366760" cy="1325563"/>
          </a:xfrm>
        </p:spPr>
        <p:txBody>
          <a:bodyPr>
            <a:normAutofit/>
          </a:bodyPr>
          <a:lstStyle/>
          <a:p>
            <a:r>
              <a:rPr lang="en-US" sz="8000" b="1" dirty="0"/>
              <a:t>Topic: Type Systems</a:t>
            </a:r>
          </a:p>
        </p:txBody>
      </p:sp>
    </p:spTree>
    <p:extLst>
      <p:ext uri="{BB962C8B-B14F-4D97-AF65-F5344CB8AC3E}">
        <p14:creationId xmlns:p14="http://schemas.microsoft.com/office/powerpoint/2010/main" val="416718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679269" y="637430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21432" y="557712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883574" y="594414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07947" y="594414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052114" y="637430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  <a:endCxn id="3" idx="0"/>
          </p:cNvCxnSpPr>
          <p:nvPr/>
        </p:nvCxnSpPr>
        <p:spPr>
          <a:xfrm flipH="1">
            <a:off x="2278037" y="4342975"/>
            <a:ext cx="1863678" cy="612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sub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subss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106755" y="5794280"/>
            <a:ext cx="5765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need to make sure our operands are in the right format!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4BD33D-8B34-FC4B-B439-1B0F268BEE6C}"/>
              </a:ext>
            </a:extLst>
          </p:cNvPr>
          <p:cNvSpPr/>
          <p:nvPr/>
        </p:nvSpPr>
        <p:spPr>
          <a:xfrm>
            <a:off x="1341755" y="4955699"/>
            <a:ext cx="1872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</a:t>
            </a:r>
            <a:r>
              <a:rPr lang="en-US" dirty="0" err="1">
                <a:highlight>
                  <a:srgbClr val="FFFF00"/>
                </a:highlight>
              </a:rPr>
              <a:t>int_to_float</a:t>
            </a:r>
            <a:r>
              <a:rPr lang="en-US" dirty="0">
                <a:highlight>
                  <a:srgbClr val="FFFF00"/>
                </a:highlight>
              </a:rPr>
              <a:t>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EE86BB-16B4-7E44-A61A-8823BD091603}"/>
              </a:ext>
            </a:extLst>
          </p:cNvPr>
          <p:cNvCxnSpPr>
            <a:cxnSpLocks/>
            <a:stCxn id="3" idx="2"/>
            <a:endCxn id="28" idx="0"/>
          </p:cNvCxnSpPr>
          <p:nvPr/>
        </p:nvCxnSpPr>
        <p:spPr>
          <a:xfrm flipH="1">
            <a:off x="2239175" y="5325031"/>
            <a:ext cx="38862" cy="252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1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6775"/>
          </a:xfrm>
        </p:spPr>
        <p:txBody>
          <a:bodyPr/>
          <a:lstStyle/>
          <a:p>
            <a:r>
              <a:rPr lang="en-US" dirty="0"/>
              <a:t>Given a language a type system defines:</a:t>
            </a:r>
          </a:p>
          <a:p>
            <a:pPr lvl="1"/>
            <a:r>
              <a:rPr lang="en-US" dirty="0"/>
              <a:t>The primitive (base) types in the language</a:t>
            </a:r>
          </a:p>
          <a:p>
            <a:pPr lvl="1"/>
            <a:r>
              <a:rPr lang="en-US" dirty="0"/>
              <a:t>How the types can be converted to other types</a:t>
            </a:r>
          </a:p>
          <a:p>
            <a:pPr lvl="2"/>
            <a:r>
              <a:rPr lang="en-US" dirty="0"/>
              <a:t>implicitly or explicitly</a:t>
            </a:r>
          </a:p>
          <a:p>
            <a:pPr lvl="1"/>
            <a:r>
              <a:rPr lang="en-US" dirty="0"/>
              <a:t>How the user can define new types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989FEE-3EF2-8E42-9C26-527D409EA79A}"/>
              </a:ext>
            </a:extLst>
          </p:cNvPr>
          <p:cNvSpPr txBox="1">
            <a:spLocks/>
          </p:cNvSpPr>
          <p:nvPr/>
        </p:nvSpPr>
        <p:spPr>
          <a:xfrm>
            <a:off x="838200" y="37745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Type checking and inference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8F86DF-C691-E749-B369-8F0687AF6159}"/>
              </a:ext>
            </a:extLst>
          </p:cNvPr>
          <p:cNvSpPr txBox="1">
            <a:spLocks/>
          </p:cNvSpPr>
          <p:nvPr/>
        </p:nvSpPr>
        <p:spPr>
          <a:xfrm>
            <a:off x="838200" y="5100093"/>
            <a:ext cx="10515600" cy="1753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 a program to ensure that it adheres to the type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67ECE-44F9-5B4B-93B5-5540B4FBFEB1}"/>
              </a:ext>
            </a:extLst>
          </p:cNvPr>
          <p:cNvSpPr txBox="1"/>
          <p:nvPr/>
        </p:nvSpPr>
        <p:spPr>
          <a:xfrm>
            <a:off x="1946365" y="5846544"/>
            <a:ext cx="829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Especially interesting for compilers as a program given in the type system for the input language must be translated to a type system for lower-level program </a:t>
            </a:r>
          </a:p>
        </p:txBody>
      </p:sp>
    </p:spTree>
    <p:extLst>
      <p:ext uri="{BB962C8B-B14F-4D97-AF65-F5344CB8AC3E}">
        <p14:creationId xmlns:p14="http://schemas.microsoft.com/office/powerpoint/2010/main" val="198736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06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Considerations:</a:t>
            </a:r>
          </a:p>
          <a:p>
            <a:r>
              <a:rPr lang="en-US" dirty="0"/>
              <a:t>Base types:</a:t>
            </a:r>
          </a:p>
          <a:p>
            <a:pPr lvl="1"/>
            <a:r>
              <a:rPr lang="en-US" dirty="0" err="1"/>
              <a:t>ints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chars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bool</a:t>
            </a:r>
          </a:p>
          <a:p>
            <a:endParaRPr lang="en-US" dirty="0"/>
          </a:p>
          <a:p>
            <a:r>
              <a:rPr lang="en-US" dirty="0"/>
              <a:t>How to combine types in expressions:</a:t>
            </a:r>
          </a:p>
          <a:p>
            <a:pPr lvl="1"/>
            <a:r>
              <a:rPr lang="en-US" dirty="0"/>
              <a:t>int and float?</a:t>
            </a:r>
          </a:p>
          <a:p>
            <a:pPr lvl="1"/>
            <a:r>
              <a:rPr lang="en-US" dirty="0"/>
              <a:t>int and char?</a:t>
            </a:r>
          </a:p>
          <a:p>
            <a:pPr lvl="1"/>
            <a:r>
              <a:rPr lang="en-US" dirty="0"/>
              <a:t>int and bool?</a:t>
            </a:r>
          </a:p>
        </p:txBody>
      </p:sp>
    </p:spTree>
    <p:extLst>
      <p:ext uri="{BB962C8B-B14F-4D97-AF65-F5344CB8AC3E}">
        <p14:creationId xmlns:p14="http://schemas.microsoft.com/office/powerpoint/2010/main" val="432554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0BEEB-74A3-0B4D-9E15-96D9A3C9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components</a:t>
            </a:r>
          </a:p>
          <a:p>
            <a:r>
              <a:rPr lang="en-US" dirty="0"/>
              <a:t>Type inference</a:t>
            </a:r>
          </a:p>
          <a:p>
            <a:pPr lvl="1"/>
            <a:r>
              <a:rPr lang="en-US" dirty="0"/>
              <a:t>Determines a type for each AST node</a:t>
            </a:r>
          </a:p>
          <a:p>
            <a:pPr lvl="1"/>
            <a:r>
              <a:rPr lang="en-US" dirty="0"/>
              <a:t>Modifies the AST into a type-safe form</a:t>
            </a:r>
          </a:p>
          <a:p>
            <a:pPr lvl="1"/>
            <a:endParaRPr lang="en-US" dirty="0"/>
          </a:p>
          <a:p>
            <a:r>
              <a:rPr lang="en-US" dirty="0"/>
              <a:t>Catches type-related errors</a:t>
            </a:r>
          </a:p>
        </p:txBody>
      </p:sp>
    </p:spTree>
    <p:extLst>
      <p:ext uri="{BB962C8B-B14F-4D97-AF65-F5344CB8AC3E}">
        <p14:creationId xmlns:p14="http://schemas.microsoft.com/office/powerpoint/2010/main" val="51732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B22F7-489A-3941-B06E-E974CDC2F38C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106755" y="2786414"/>
            <a:ext cx="3384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each node additionally gets a type</a:t>
            </a:r>
          </a:p>
        </p:txBody>
      </p:sp>
    </p:spTree>
    <p:extLst>
      <p:ext uri="{BB962C8B-B14F-4D97-AF65-F5344CB8AC3E}">
        <p14:creationId xmlns:p14="http://schemas.microsoft.com/office/powerpoint/2010/main" val="134033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</a:t>
            </a:r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</a:t>
            </a:r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</a:t>
            </a:r>
            <a:r>
              <a:rPr lang="en-US" dirty="0">
                <a:highlight>
                  <a:srgbClr val="FFFF00"/>
                </a:highlight>
              </a:rPr>
              <a:t>float</a:t>
            </a:r>
            <a:r>
              <a:rPr lang="en-US" dirty="0"/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106755" y="2786414"/>
            <a:ext cx="58721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each node additionally gets a type</a:t>
            </a:r>
          </a:p>
          <a:p>
            <a:r>
              <a:rPr lang="en-US" i="1" dirty="0"/>
              <a:t>we can get this from the symbol table for the leaves or based</a:t>
            </a:r>
          </a:p>
          <a:p>
            <a:r>
              <a:rPr lang="en-US" i="1" dirty="0"/>
              <a:t>on the input (e.g. 5 vs 5.0)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9C2A83-5254-D742-9C8E-7C68266BF7AD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</p:spTree>
    <p:extLst>
      <p:ext uri="{BB962C8B-B14F-4D97-AF65-F5344CB8AC3E}">
        <p14:creationId xmlns:p14="http://schemas.microsoft.com/office/powerpoint/2010/main" val="178908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FF123D-5BE1-C148-93EB-B55D9B362A93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</p:spTree>
    <p:extLst>
      <p:ext uri="{BB962C8B-B14F-4D97-AF65-F5344CB8AC3E}">
        <p14:creationId xmlns:p14="http://schemas.microsoft.com/office/powerpoint/2010/main" val="3829709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6E0F943-DEE7-6F4A-A282-D4EE5CFE173A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051B07-CA45-AA45-9E99-7168F54902DB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23568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C6D91EE-E416-CC46-8185-BAA2CBE561C6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C8DCF7-E46E-5F43-8C3B-BCAAD353B163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808948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246712" y="434297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10F0099-2EC0-9448-B19F-39E94E91FD5C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E397BF-326C-9048-A0EE-68C1C5DFFFE8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1784399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408359" y="434297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EA263EA-2CA4-1C44-804E-89C541936FD3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</a:t>
            </a:r>
            <a:r>
              <a:rPr lang="en-US">
                <a:latin typeface="Courier" pitchFamily="2" charset="0"/>
              </a:rPr>
              <a:t>x - y - </a:t>
            </a:r>
            <a:r>
              <a:rPr lang="en-US" dirty="0">
                <a:latin typeface="Courier" pitchFamily="2" charset="0"/>
              </a:rPr>
              <a:t>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894C7-1140-E448-9492-C66106B318C0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2312612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AST&lt;+,float&gt;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408359" y="434297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9721C0-56C3-5B44-8F52-B1BAC9226267}"/>
              </a:ext>
            </a:extLst>
          </p:cNvPr>
          <p:cNvSpPr txBox="1"/>
          <p:nvPr/>
        </p:nvSpPr>
        <p:spPr>
          <a:xfrm>
            <a:off x="7524206" y="6392091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else?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B2BC36-6386-3340-AAD4-01C31A365B2F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0D9FCB-BEED-194E-82C2-77AACD8E9040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2223473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821702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5024519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39153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39153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2808691" y="5847639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AST&lt;+,float&gt;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476626" y="4754880"/>
            <a:ext cx="118528" cy="2696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408359" y="434297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B22F7-489A-3941-B06E-E974CDC2F38C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9A08F8-D5B2-1D44-8144-5A1ABA0423B7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721C0-56C3-5B44-8F52-B1BAC9226267}"/>
              </a:ext>
            </a:extLst>
          </p:cNvPr>
          <p:cNvSpPr txBox="1"/>
          <p:nvPr/>
        </p:nvSpPr>
        <p:spPr>
          <a:xfrm>
            <a:off x="7524206" y="6392091"/>
            <a:ext cx="429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else? need to convert the int to a float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DBB2A-89C9-074D-BDCF-A91F6AF956B5}"/>
              </a:ext>
            </a:extLst>
          </p:cNvPr>
          <p:cNvSpPr txBox="1"/>
          <p:nvPr/>
        </p:nvSpPr>
        <p:spPr>
          <a:xfrm>
            <a:off x="2193778" y="4426631"/>
            <a:ext cx="2037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</a:t>
            </a:r>
            <a:r>
              <a:rPr lang="en-US" dirty="0" err="1">
                <a:highlight>
                  <a:srgbClr val="FFFF00"/>
                </a:highlight>
              </a:rPr>
              <a:t>int_to_float</a:t>
            </a:r>
            <a:r>
              <a:rPr lang="en-US" dirty="0">
                <a:highlight>
                  <a:srgbClr val="FFFF00"/>
                </a:highlight>
              </a:rPr>
              <a:t>,?&gt;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3EE03F-FB5D-FE4C-A300-01909E7A6B1C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 flipH="1">
            <a:off x="3212615" y="4342975"/>
            <a:ext cx="1195744" cy="836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679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DC4A05-A0A4-FA47-A6EA-1EA62619FC6D}"/>
              </a:ext>
            </a:extLst>
          </p:cNvPr>
          <p:cNvSpPr/>
          <p:nvPr/>
        </p:nvSpPr>
        <p:spPr>
          <a:xfrm>
            <a:off x="3670300" y="909935"/>
            <a:ext cx="375073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F25C3-9CB6-9447-970F-15356121F7A9}"/>
              </a:ext>
            </a:extLst>
          </p:cNvPr>
          <p:cNvSpPr/>
          <p:nvPr/>
        </p:nvSpPr>
        <p:spPr>
          <a:xfrm>
            <a:off x="220134" y="2530607"/>
            <a:ext cx="4699000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value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B7094-C8F1-2E41-AACD-AF29558149D9}"/>
              </a:ext>
            </a:extLst>
          </p:cNvPr>
          <p:cNvSpPr/>
          <p:nvPr/>
        </p:nvSpPr>
        <p:spPr>
          <a:xfrm>
            <a:off x="5545667" y="2530607"/>
            <a:ext cx="60960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ASTPlusNode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ASTMultNode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99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96D6D-5103-0144-8366-0D6C721C7D9B}"/>
              </a:ext>
            </a:extLst>
          </p:cNvPr>
          <p:cNvSpPr/>
          <p:nvPr/>
        </p:nvSpPr>
        <p:spPr>
          <a:xfrm>
            <a:off x="325968" y="2553607"/>
            <a:ext cx="473286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t):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t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get_type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15FD7-5AE7-7346-9E6D-303A18979666}"/>
              </a:ext>
            </a:extLst>
          </p:cNvPr>
          <p:cNvSpPr/>
          <p:nvPr/>
        </p:nvSpPr>
        <p:spPr>
          <a:xfrm>
            <a:off x="355600" y="457874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854CC-93F7-7944-BD71-C9A6BD8016C3}"/>
              </a:ext>
            </a:extLst>
          </p:cNvPr>
          <p:cNvSpPr txBox="1"/>
          <p:nvPr/>
        </p:nvSpPr>
        <p:spPr>
          <a:xfrm>
            <a:off x="357801" y="44439"/>
            <a:ext cx="160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Enum for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E31D0-F40A-4E40-B10E-7E39D83D0A2A}"/>
              </a:ext>
            </a:extLst>
          </p:cNvPr>
          <p:cNvSpPr txBox="1"/>
          <p:nvPr/>
        </p:nvSpPr>
        <p:spPr>
          <a:xfrm>
            <a:off x="325968" y="2184275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base AST Node needs a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B7F52-D277-9F4E-A616-A113A8B4DF74}"/>
              </a:ext>
            </a:extLst>
          </p:cNvPr>
          <p:cNvSpPr txBox="1"/>
          <p:nvPr/>
        </p:nvSpPr>
        <p:spPr>
          <a:xfrm>
            <a:off x="6434667" y="273208"/>
            <a:ext cx="47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need to set the types for the leaf nodes</a:t>
            </a:r>
          </a:p>
        </p:txBody>
      </p:sp>
    </p:spTree>
    <p:extLst>
      <p:ext uri="{BB962C8B-B14F-4D97-AF65-F5344CB8AC3E}">
        <p14:creationId xmlns:p14="http://schemas.microsoft.com/office/powerpoint/2010/main" val="1051158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96D6D-5103-0144-8366-0D6C721C7D9B}"/>
              </a:ext>
            </a:extLst>
          </p:cNvPr>
          <p:cNvSpPr/>
          <p:nvPr/>
        </p:nvSpPr>
        <p:spPr>
          <a:xfrm>
            <a:off x="325968" y="2553607"/>
            <a:ext cx="473286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t):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t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get_type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15FD7-5AE7-7346-9E6D-303A18979666}"/>
              </a:ext>
            </a:extLst>
          </p:cNvPr>
          <p:cNvSpPr/>
          <p:nvPr/>
        </p:nvSpPr>
        <p:spPr>
          <a:xfrm>
            <a:off x="355600" y="457874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854CC-93F7-7944-BD71-C9A6BD8016C3}"/>
              </a:ext>
            </a:extLst>
          </p:cNvPr>
          <p:cNvSpPr txBox="1"/>
          <p:nvPr/>
        </p:nvSpPr>
        <p:spPr>
          <a:xfrm>
            <a:off x="357801" y="44439"/>
            <a:ext cx="160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Enum for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E31D0-F40A-4E40-B10E-7E39D83D0A2A}"/>
              </a:ext>
            </a:extLst>
          </p:cNvPr>
          <p:cNvSpPr txBox="1"/>
          <p:nvPr/>
        </p:nvSpPr>
        <p:spPr>
          <a:xfrm>
            <a:off x="325968" y="2184275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base AST Node needs a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A71B2-17A5-B44D-90A7-CD35F64E3CAF}"/>
              </a:ext>
            </a:extLst>
          </p:cNvPr>
          <p:cNvSpPr/>
          <p:nvPr/>
        </p:nvSpPr>
        <p:spPr>
          <a:xfrm>
            <a:off x="5634565" y="1168612"/>
            <a:ext cx="609600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is_int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F1FF1-B22F-2140-B3AE-B895B0F21B8D}"/>
              </a:ext>
            </a:extLst>
          </p:cNvPr>
          <p:cNvSpPr txBox="1"/>
          <p:nvPr/>
        </p:nvSpPr>
        <p:spPr>
          <a:xfrm>
            <a:off x="6434667" y="273208"/>
            <a:ext cx="47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need to set the types for the leaf nodes</a:t>
            </a:r>
          </a:p>
        </p:txBody>
      </p:sp>
    </p:spTree>
    <p:extLst>
      <p:ext uri="{BB962C8B-B14F-4D97-AF65-F5344CB8AC3E}">
        <p14:creationId xmlns:p14="http://schemas.microsoft.com/office/powerpoint/2010/main" val="3621389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96D6D-5103-0144-8366-0D6C721C7D9B}"/>
              </a:ext>
            </a:extLst>
          </p:cNvPr>
          <p:cNvSpPr/>
          <p:nvPr/>
        </p:nvSpPr>
        <p:spPr>
          <a:xfrm>
            <a:off x="325968" y="2553607"/>
            <a:ext cx="473286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t):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t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get_type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15FD7-5AE7-7346-9E6D-303A18979666}"/>
              </a:ext>
            </a:extLst>
          </p:cNvPr>
          <p:cNvSpPr/>
          <p:nvPr/>
        </p:nvSpPr>
        <p:spPr>
          <a:xfrm>
            <a:off x="355600" y="457874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854CC-93F7-7944-BD71-C9A6BD8016C3}"/>
              </a:ext>
            </a:extLst>
          </p:cNvPr>
          <p:cNvSpPr txBox="1"/>
          <p:nvPr/>
        </p:nvSpPr>
        <p:spPr>
          <a:xfrm>
            <a:off x="357801" y="44439"/>
            <a:ext cx="160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Enum for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E31D0-F40A-4E40-B10E-7E39D83D0A2A}"/>
              </a:ext>
            </a:extLst>
          </p:cNvPr>
          <p:cNvSpPr txBox="1"/>
          <p:nvPr/>
        </p:nvSpPr>
        <p:spPr>
          <a:xfrm>
            <a:off x="325968" y="2184275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base AST Node needs a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A71B2-17A5-B44D-90A7-CD35F64E3CAF}"/>
              </a:ext>
            </a:extLst>
          </p:cNvPr>
          <p:cNvSpPr/>
          <p:nvPr/>
        </p:nvSpPr>
        <p:spPr>
          <a:xfrm>
            <a:off x="5634565" y="1168612"/>
            <a:ext cx="609600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is_int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F1FF1-B22F-2140-B3AE-B895B0F21B8D}"/>
              </a:ext>
            </a:extLst>
          </p:cNvPr>
          <p:cNvSpPr txBox="1"/>
          <p:nvPr/>
        </p:nvSpPr>
        <p:spPr>
          <a:xfrm>
            <a:off x="6434667" y="273208"/>
            <a:ext cx="47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need to set the types for the leaf nodes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476C3-CC2F-6443-B11A-7809A059315C}"/>
              </a:ext>
            </a:extLst>
          </p:cNvPr>
          <p:cNvSpPr/>
          <p:nvPr/>
        </p:nvSpPr>
        <p:spPr>
          <a:xfrm>
            <a:off x="5634565" y="4215600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value_type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value_type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69CA8-A505-5C4E-9F86-0EB71B304303}"/>
              </a:ext>
            </a:extLst>
          </p:cNvPr>
          <p:cNvSpPr txBox="1"/>
          <p:nvPr/>
        </p:nvSpPr>
        <p:spPr>
          <a:xfrm>
            <a:off x="6383867" y="5621867"/>
            <a:ext cx="4242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can we get the value type for an ID?</a:t>
            </a:r>
          </a:p>
        </p:txBody>
      </p:sp>
    </p:spTree>
    <p:extLst>
      <p:ext uri="{BB962C8B-B14F-4D97-AF65-F5344CB8AC3E}">
        <p14:creationId xmlns:p14="http://schemas.microsoft.com/office/powerpoint/2010/main" val="836221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7933" cy="441214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declare_statement</a:t>
            </a:r>
            <a:r>
              <a:rPr lang="en-US" dirty="0"/>
              <a:t> ::= TYPE ID SEMI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eat(TYPE)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id_name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self.to_match.value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eat(ID)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ST.insert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id_name</a:t>
            </a:r>
            <a:r>
              <a:rPr lang="en-US" dirty="0">
                <a:latin typeface="Courier" pitchFamily="2" charset="0"/>
              </a:rPr>
              <a:t>, None)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eat(SEMI)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5FB34-5EF6-F34B-85C3-261AB2E9072E}"/>
              </a:ext>
            </a:extLst>
          </p:cNvPr>
          <p:cNvSpPr txBox="1"/>
          <p:nvPr/>
        </p:nvSpPr>
        <p:spPr>
          <a:xfrm>
            <a:off x="6394090" y="937725"/>
            <a:ext cx="459754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are matched the statement: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int x;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6FF33-9643-2442-A8E3-55ADD9DA2A8D}"/>
              </a:ext>
            </a:extLst>
          </p:cNvPr>
          <p:cNvSpPr txBox="1"/>
          <p:nvPr/>
        </p:nvSpPr>
        <p:spPr>
          <a:xfrm>
            <a:off x="4465674" y="2339164"/>
            <a:ext cx="85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‘x’)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C3BE8-FEB8-B946-9F68-1BFA3415A8C4}"/>
              </a:ext>
            </a:extLst>
          </p:cNvPr>
          <p:cNvSpPr txBox="1"/>
          <p:nvPr/>
        </p:nvSpPr>
        <p:spPr>
          <a:xfrm>
            <a:off x="3115339" y="2339164"/>
            <a:ext cx="126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(TYPE, ‘int’)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844E1-5B55-9A46-9034-0DE6EA1BAE51}"/>
              </a:ext>
            </a:extLst>
          </p:cNvPr>
          <p:cNvSpPr txBox="1"/>
          <p:nvPr/>
        </p:nvSpPr>
        <p:spPr>
          <a:xfrm>
            <a:off x="8094133" y="3234266"/>
            <a:ext cx="36575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 homework 2 and 3 we didn’t</a:t>
            </a:r>
          </a:p>
          <a:p>
            <a:r>
              <a:rPr lang="en-US" i="1" dirty="0"/>
              <a:t>record any information in the symbol</a:t>
            </a:r>
            <a:br>
              <a:rPr lang="en-US" i="1" dirty="0"/>
            </a:br>
            <a:r>
              <a:rPr lang="en-US" i="1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2916922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92566" cy="4778375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declare_statement</a:t>
            </a:r>
            <a:r>
              <a:rPr lang="en-US" dirty="0"/>
              <a:t> ::= TYPE ID SEMI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value_type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self.to_match.value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eat(TYPE)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id_name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self.to_match.value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eat(ID)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ST.insert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id_name</a:t>
            </a:r>
            <a:r>
              <a:rPr lang="en-US" dirty="0">
                <a:latin typeface="Courier" pitchFamily="2" charset="0"/>
              </a:rPr>
              <a:t>,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value_type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eat(SEMI)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5FB34-5EF6-F34B-85C3-261AB2E9072E}"/>
              </a:ext>
            </a:extLst>
          </p:cNvPr>
          <p:cNvSpPr txBox="1"/>
          <p:nvPr/>
        </p:nvSpPr>
        <p:spPr>
          <a:xfrm>
            <a:off x="6394090" y="937725"/>
            <a:ext cx="459754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are matched the statement: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int x;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6FF33-9643-2442-A8E3-55ADD9DA2A8D}"/>
              </a:ext>
            </a:extLst>
          </p:cNvPr>
          <p:cNvSpPr txBox="1"/>
          <p:nvPr/>
        </p:nvSpPr>
        <p:spPr>
          <a:xfrm>
            <a:off x="4465674" y="2339164"/>
            <a:ext cx="85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‘x’)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C3BE8-FEB8-B946-9F68-1BFA3415A8C4}"/>
              </a:ext>
            </a:extLst>
          </p:cNvPr>
          <p:cNvSpPr txBox="1"/>
          <p:nvPr/>
        </p:nvSpPr>
        <p:spPr>
          <a:xfrm>
            <a:off x="3115339" y="2339164"/>
            <a:ext cx="126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(TYPE, ‘int’)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844E1-5B55-9A46-9034-0DE6EA1BAE51}"/>
              </a:ext>
            </a:extLst>
          </p:cNvPr>
          <p:cNvSpPr txBox="1"/>
          <p:nvPr/>
        </p:nvSpPr>
        <p:spPr>
          <a:xfrm>
            <a:off x="8094133" y="3234266"/>
            <a:ext cx="3324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previously we weren’t saving any </a:t>
            </a:r>
          </a:p>
          <a:p>
            <a:r>
              <a:rPr lang="en-US" i="1" dirty="0"/>
              <a:t>information about the 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8D634-E8D9-264D-8C33-95F424A105DB}"/>
              </a:ext>
            </a:extLst>
          </p:cNvPr>
          <p:cNvSpPr txBox="1"/>
          <p:nvPr/>
        </p:nvSpPr>
        <p:spPr>
          <a:xfrm>
            <a:off x="8094133" y="4639732"/>
            <a:ext cx="3429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record the type in the symbol table</a:t>
            </a:r>
          </a:p>
        </p:txBody>
      </p:sp>
    </p:spTree>
    <p:extLst>
      <p:ext uri="{BB962C8B-B14F-4D97-AF65-F5344CB8AC3E}">
        <p14:creationId xmlns:p14="http://schemas.microsoft.com/office/powerpoint/2010/main" val="2379770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96D6D-5103-0144-8366-0D6C721C7D9B}"/>
              </a:ext>
            </a:extLst>
          </p:cNvPr>
          <p:cNvSpPr/>
          <p:nvPr/>
        </p:nvSpPr>
        <p:spPr>
          <a:xfrm>
            <a:off x="325968" y="2553607"/>
            <a:ext cx="473286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t):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t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get_type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.node_type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15FD7-5AE7-7346-9E6D-303A18979666}"/>
              </a:ext>
            </a:extLst>
          </p:cNvPr>
          <p:cNvSpPr/>
          <p:nvPr/>
        </p:nvSpPr>
        <p:spPr>
          <a:xfrm>
            <a:off x="355600" y="457874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854CC-93F7-7944-BD71-C9A6BD8016C3}"/>
              </a:ext>
            </a:extLst>
          </p:cNvPr>
          <p:cNvSpPr txBox="1"/>
          <p:nvPr/>
        </p:nvSpPr>
        <p:spPr>
          <a:xfrm>
            <a:off x="357801" y="44439"/>
            <a:ext cx="160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Enum for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E31D0-F40A-4E40-B10E-7E39D83D0A2A}"/>
              </a:ext>
            </a:extLst>
          </p:cNvPr>
          <p:cNvSpPr txBox="1"/>
          <p:nvPr/>
        </p:nvSpPr>
        <p:spPr>
          <a:xfrm>
            <a:off x="325968" y="2184275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base AST Node needs a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A71B2-17A5-B44D-90A7-CD35F64E3CAF}"/>
              </a:ext>
            </a:extLst>
          </p:cNvPr>
          <p:cNvSpPr/>
          <p:nvPr/>
        </p:nvSpPr>
        <p:spPr>
          <a:xfrm>
            <a:off x="5634565" y="1168612"/>
            <a:ext cx="609600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is_int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F1FF1-B22F-2140-B3AE-B895B0F21B8D}"/>
              </a:ext>
            </a:extLst>
          </p:cNvPr>
          <p:cNvSpPr txBox="1"/>
          <p:nvPr/>
        </p:nvSpPr>
        <p:spPr>
          <a:xfrm>
            <a:off x="6434667" y="273208"/>
            <a:ext cx="47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need to set the types for the leaf nodes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476C3-CC2F-6443-B11A-7809A059315C}"/>
              </a:ext>
            </a:extLst>
          </p:cNvPr>
          <p:cNvSpPr/>
          <p:nvPr/>
        </p:nvSpPr>
        <p:spPr>
          <a:xfrm>
            <a:off x="5634565" y="4215600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value_type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value_type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69CA8-A505-5C4E-9F86-0EB71B304303}"/>
              </a:ext>
            </a:extLst>
          </p:cNvPr>
          <p:cNvSpPr txBox="1"/>
          <p:nvPr/>
        </p:nvSpPr>
        <p:spPr>
          <a:xfrm>
            <a:off x="6383867" y="5621867"/>
            <a:ext cx="4242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can we get the value type for an ID?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DB0B8-A77C-F14C-B3EE-55D247A65E06}"/>
              </a:ext>
            </a:extLst>
          </p:cNvPr>
          <p:cNvSpPr txBox="1"/>
          <p:nvPr/>
        </p:nvSpPr>
        <p:spPr>
          <a:xfrm>
            <a:off x="6383867" y="6062260"/>
            <a:ext cx="3320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that doesn’t get us here yet...</a:t>
            </a:r>
          </a:p>
        </p:txBody>
      </p:sp>
    </p:spTree>
    <p:extLst>
      <p:ext uri="{BB962C8B-B14F-4D97-AF65-F5344CB8AC3E}">
        <p14:creationId xmlns:p14="http://schemas.microsoft.com/office/powerpoint/2010/main" val="3103684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add the type at parse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18389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Unit ::= ID</a:t>
            </a:r>
          </a:p>
          <a:p>
            <a:r>
              <a:rPr lang="en-US" dirty="0">
                <a:latin typeface="Courier" pitchFamily="2" charset="0"/>
              </a:rPr>
              <a:t>     |   NUM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DF143-55F5-3D4C-8B96-0DE78875E623}"/>
              </a:ext>
            </a:extLst>
          </p:cNvPr>
          <p:cNvSpPr/>
          <p:nvPr/>
        </p:nvSpPr>
        <p:spPr>
          <a:xfrm>
            <a:off x="2524276" y="2717455"/>
            <a:ext cx="92286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parse_unit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        # ... for applying the first production rule (ID)</a:t>
            </a:r>
          </a:p>
          <a:p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       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.next_word.value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 ... Check that value is in the symbol table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       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(value, ST[value])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node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12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0ED2-7A62-904F-B1BD-DE16C0F7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5242"/>
          </a:xfrm>
        </p:spPr>
        <p:txBody>
          <a:bodyPr/>
          <a:lstStyle/>
          <a:p>
            <a:r>
              <a:rPr lang="en-US" dirty="0"/>
              <a:t>We now have the types for the leaf nodes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723972" y="3973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249948" y="434297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246712" y="434297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5043941" y="487961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839939" y="2835804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</p:spTree>
    <p:extLst>
      <p:ext uri="{BB962C8B-B14F-4D97-AF65-F5344CB8AC3E}">
        <p14:creationId xmlns:p14="http://schemas.microsoft.com/office/powerpoint/2010/main" val="2801797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0ED2-7A62-904F-B1BD-DE16C0F7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5242"/>
          </a:xfrm>
        </p:spPr>
        <p:txBody>
          <a:bodyPr/>
          <a:lstStyle/>
          <a:p>
            <a:r>
              <a:rPr lang="en-US" dirty="0"/>
              <a:t>We now have the types for the leaf nodes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723972" y="3973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249948" y="434297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246712" y="434297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5043941" y="487961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AST&lt;5.5, float&gt;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48BF0-2228-F740-B388-2C0355BB1309}"/>
              </a:ext>
            </a:extLst>
          </p:cNvPr>
          <p:cNvSpPr txBox="1"/>
          <p:nvPr/>
        </p:nvSpPr>
        <p:spPr>
          <a:xfrm>
            <a:off x="7577666" y="2998327"/>
            <a:ext cx="34703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steps:</a:t>
            </a:r>
          </a:p>
          <a:p>
            <a:endParaRPr lang="en-US" dirty="0"/>
          </a:p>
          <a:p>
            <a:r>
              <a:rPr lang="en-US" dirty="0"/>
              <a:t>we do a post order traversal</a:t>
            </a:r>
          </a:p>
          <a:p>
            <a:r>
              <a:rPr lang="en-US" dirty="0"/>
              <a:t>on the AST and do a type inference</a:t>
            </a:r>
          </a:p>
        </p:txBody>
      </p:sp>
    </p:spTree>
    <p:extLst>
      <p:ext uri="{BB962C8B-B14F-4D97-AF65-F5344CB8AC3E}">
        <p14:creationId xmlns:p14="http://schemas.microsoft.com/office/powerpoint/2010/main" val="2808816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</p:spTree>
    <p:extLst>
      <p:ext uri="{BB962C8B-B14F-4D97-AF65-F5344CB8AC3E}">
        <p14:creationId xmlns:p14="http://schemas.microsoft.com/office/powerpoint/2010/main" val="1435113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30796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67FC-0F01-7B45-A3EC-24113C730EA2}"/>
              </a:ext>
            </a:extLst>
          </p:cNvPr>
          <p:cNvSpPr txBox="1"/>
          <p:nvPr/>
        </p:nvSpPr>
        <p:spPr>
          <a:xfrm>
            <a:off x="4555067" y="3755537"/>
            <a:ext cx="108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base case</a:t>
            </a:r>
          </a:p>
        </p:txBody>
      </p:sp>
    </p:spTree>
    <p:extLst>
      <p:ext uri="{BB962C8B-B14F-4D97-AF65-F5344CB8AC3E}">
        <p14:creationId xmlns:p14="http://schemas.microsoft.com/office/powerpoint/2010/main" val="1468108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307968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...</a:t>
            </a:r>
          </a:p>
        </p:txBody>
      </p:sp>
    </p:spTree>
    <p:extLst>
      <p:ext uri="{BB962C8B-B14F-4D97-AF65-F5344CB8AC3E}">
        <p14:creationId xmlns:p14="http://schemas.microsoft.com/office/powerpoint/2010/main" val="1951179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return lookup type from table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06244"/>
            <a:ext cx="2338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inference rules for plus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1274F-0288-7741-9E00-82CEADDBBCA1}"/>
              </a:ext>
            </a:extLst>
          </p:cNvPr>
          <p:cNvSpPr txBox="1"/>
          <p:nvPr/>
        </p:nvSpPr>
        <p:spPr>
          <a:xfrm>
            <a:off x="4351866" y="4273392"/>
            <a:ext cx="2376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lookup the rule for plus</a:t>
            </a:r>
          </a:p>
        </p:txBody>
      </p:sp>
    </p:spTree>
    <p:extLst>
      <p:ext uri="{BB962C8B-B14F-4D97-AF65-F5344CB8AC3E}">
        <p14:creationId xmlns:p14="http://schemas.microsoft.com/office/powerpoint/2010/main" val="543012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return lookup type from table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06244"/>
            <a:ext cx="2338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plus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1274F-0288-7741-9E00-82CEADDBBCA1}"/>
              </a:ext>
            </a:extLst>
          </p:cNvPr>
          <p:cNvSpPr txBox="1"/>
          <p:nvPr/>
        </p:nvSpPr>
        <p:spPr>
          <a:xfrm>
            <a:off x="4351866" y="4273392"/>
            <a:ext cx="2376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lookup the rule for plus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548CF-193E-A34A-9B5B-5D2428FCAD37}"/>
              </a:ext>
            </a:extLst>
          </p:cNvPr>
          <p:cNvSpPr txBox="1"/>
          <p:nvPr/>
        </p:nvSpPr>
        <p:spPr>
          <a:xfrm>
            <a:off x="3572933" y="6214533"/>
            <a:ext cx="3020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we’re missing a few things</a:t>
            </a:r>
          </a:p>
        </p:txBody>
      </p:sp>
    </p:spTree>
    <p:extLst>
      <p:ext uri="{BB962C8B-B14F-4D97-AF65-F5344CB8AC3E}">
        <p14:creationId xmlns:p14="http://schemas.microsoft.com/office/powerpoint/2010/main" val="1758503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7339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do type inference on children</a:t>
            </a:r>
          </a:p>
          <a:p>
            <a:r>
              <a:rPr lang="en-US" dirty="0">
                <a:latin typeface="Courier" pitchFamily="2" charset="0"/>
              </a:rPr>
              <a:t>    return lookup type from table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06244"/>
            <a:ext cx="2338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plus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64EC2-9607-464E-80B0-15B8D179DA0E}"/>
              </a:ext>
            </a:extLst>
          </p:cNvPr>
          <p:cNvSpPr txBox="1"/>
          <p:nvPr/>
        </p:nvSpPr>
        <p:spPr>
          <a:xfrm>
            <a:off x="4624147" y="3775576"/>
            <a:ext cx="2877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 need to make sure the children have types!</a:t>
            </a:r>
          </a:p>
        </p:txBody>
      </p:sp>
    </p:spTree>
    <p:extLst>
      <p:ext uri="{BB962C8B-B14F-4D97-AF65-F5344CB8AC3E}">
        <p14:creationId xmlns:p14="http://schemas.microsoft.com/office/powerpoint/2010/main" val="1566372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 =</a:t>
            </a:r>
            <a:r>
              <a:rPr lang="en-US" dirty="0">
                <a:latin typeface="Courier" pitchFamily="2" charset="0"/>
              </a:rPr>
              <a:t> lookup type from table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06244"/>
            <a:ext cx="2338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plus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64EC2-9607-464E-80B0-15B8D179DA0E}"/>
              </a:ext>
            </a:extLst>
          </p:cNvPr>
          <p:cNvSpPr txBox="1"/>
          <p:nvPr/>
        </p:nvSpPr>
        <p:spPr>
          <a:xfrm>
            <a:off x="4624147" y="3775576"/>
            <a:ext cx="287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 should record our type</a:t>
            </a:r>
          </a:p>
        </p:txBody>
      </p:sp>
    </p:spTree>
    <p:extLst>
      <p:ext uri="{BB962C8B-B14F-4D97-AF65-F5344CB8AC3E}">
        <p14:creationId xmlns:p14="http://schemas.microsoft.com/office/powerpoint/2010/main" val="1435580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plus node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ECFA4-EAD8-C242-9173-77EF686E7357}"/>
              </a:ext>
            </a:extLst>
          </p:cNvPr>
          <p:cNvSpPr txBox="1"/>
          <p:nvPr/>
        </p:nvSpPr>
        <p:spPr>
          <a:xfrm>
            <a:off x="6223000" y="3666067"/>
            <a:ext cx="1982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this just for plus?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973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plus node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ECFA4-EAD8-C242-9173-77EF686E7357}"/>
              </a:ext>
            </a:extLst>
          </p:cNvPr>
          <p:cNvSpPr txBox="1"/>
          <p:nvPr/>
        </p:nvSpPr>
        <p:spPr>
          <a:xfrm>
            <a:off x="5356575" y="3373860"/>
            <a:ext cx="1982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this just for plus?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8382000" y="3081867"/>
            <a:ext cx="2591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language promote</a:t>
            </a:r>
          </a:p>
          <a:p>
            <a:r>
              <a:rPr lang="en-US" dirty="0"/>
              <a:t>types, e.g. </a:t>
            </a:r>
            <a:r>
              <a:rPr lang="en-US" dirty="0" err="1"/>
              <a:t>ints</a:t>
            </a:r>
            <a:r>
              <a:rPr lang="en-US" dirty="0"/>
              <a:t> to float for</a:t>
            </a:r>
          </a:p>
          <a:p>
            <a:r>
              <a:rPr lang="en-US" dirty="0"/>
              <a:t>expression operators</a:t>
            </a:r>
          </a:p>
        </p:txBody>
      </p:sp>
    </p:spTree>
    <p:extLst>
      <p:ext uri="{BB962C8B-B14F-4D97-AF65-F5344CB8AC3E}">
        <p14:creationId xmlns:p14="http://schemas.microsoft.com/office/powerpoint/2010/main" val="3733312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ECFA4-EAD8-C242-9173-77EF686E7357}"/>
              </a:ext>
            </a:extLst>
          </p:cNvPr>
          <p:cNvSpPr txBox="1"/>
          <p:nvPr/>
        </p:nvSpPr>
        <p:spPr>
          <a:xfrm>
            <a:off x="5356575" y="3373860"/>
            <a:ext cx="1982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this just for plus?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8382000" y="3081867"/>
            <a:ext cx="2591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language promote</a:t>
            </a:r>
          </a:p>
          <a:p>
            <a:r>
              <a:rPr lang="en-US" dirty="0"/>
              <a:t>types, e.g. </a:t>
            </a:r>
            <a:r>
              <a:rPr lang="en-US" dirty="0" err="1"/>
              <a:t>ints</a:t>
            </a:r>
            <a:r>
              <a:rPr lang="en-US" dirty="0"/>
              <a:t> to float for</a:t>
            </a:r>
          </a:p>
          <a:p>
            <a:r>
              <a:rPr lang="en-US" dirty="0"/>
              <a:t>expression operators</a:t>
            </a:r>
          </a:p>
        </p:txBody>
      </p:sp>
    </p:spTree>
    <p:extLst>
      <p:ext uri="{BB962C8B-B14F-4D97-AF65-F5344CB8AC3E}">
        <p14:creationId xmlns:p14="http://schemas.microsoft.com/office/powerpoint/2010/main" val="42097160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500970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   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7721600" y="2012414"/>
            <a:ext cx="294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for assignments?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E0408-C586-B043-BC1E-FDDDBFC69C69}"/>
              </a:ext>
            </a:extLst>
          </p:cNvPr>
          <p:cNvSpPr txBox="1"/>
          <p:nvPr/>
        </p:nvSpPr>
        <p:spPr>
          <a:xfrm>
            <a:off x="7382934" y="2548466"/>
            <a:ext cx="376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 err="1">
                <a:latin typeface="Courier" pitchFamily="2" charset="0"/>
              </a:rPr>
              <a:t>cout</a:t>
            </a:r>
            <a:r>
              <a:rPr lang="en-US" dirty="0">
                <a:latin typeface="Courier" pitchFamily="2" charset="0"/>
              </a:rPr>
              <a:t> &lt;&lt; (x = 5.5) &lt;&lt; </a:t>
            </a:r>
            <a:r>
              <a:rPr lang="en-US" dirty="0" err="1">
                <a:latin typeface="Courier" pitchFamily="2" charset="0"/>
              </a:rPr>
              <a:t>endl</a:t>
            </a:r>
            <a:r>
              <a:rPr lang="en-US" dirty="0">
                <a:latin typeface="Courier" pitchFamily="2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C1F8C-A9EA-AA4D-999B-CCA2780B36C9}"/>
              </a:ext>
            </a:extLst>
          </p:cNvPr>
          <p:cNvSpPr txBox="1"/>
          <p:nvPr/>
        </p:nvSpPr>
        <p:spPr>
          <a:xfrm>
            <a:off x="7721600" y="3478538"/>
            <a:ext cx="234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does this return?</a:t>
            </a:r>
          </a:p>
        </p:txBody>
      </p:sp>
    </p:spTree>
    <p:extLst>
      <p:ext uri="{BB962C8B-B14F-4D97-AF65-F5344CB8AC3E}">
        <p14:creationId xmlns:p14="http://schemas.microsoft.com/office/powerpoint/2010/main" val="2923276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1617F4E2-6869-7242-A51D-348AFB7F54C9}"/>
              </a:ext>
            </a:extLst>
          </p:cNvPr>
          <p:cNvGraphicFramePr>
            <a:graphicFrameLocks noGrp="1"/>
          </p:cNvGraphicFramePr>
          <p:nvPr/>
        </p:nvGraphicFramePr>
        <p:xfrm>
          <a:off x="7539138" y="4383921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510C3-AC5E-B44A-A1DC-599292A65251}"/>
              </a:ext>
            </a:extLst>
          </p:cNvPr>
          <p:cNvSpPr txBox="1"/>
          <p:nvPr/>
        </p:nvSpPr>
        <p:spPr>
          <a:xfrm>
            <a:off x="7721600" y="2012414"/>
            <a:ext cx="294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for assignments?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E0408-C586-B043-BC1E-FDDDBFC69C69}"/>
              </a:ext>
            </a:extLst>
          </p:cNvPr>
          <p:cNvSpPr txBox="1"/>
          <p:nvPr/>
        </p:nvSpPr>
        <p:spPr>
          <a:xfrm>
            <a:off x="7382934" y="2548466"/>
            <a:ext cx="376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 err="1">
                <a:latin typeface="Courier" pitchFamily="2" charset="0"/>
              </a:rPr>
              <a:t>cout</a:t>
            </a:r>
            <a:r>
              <a:rPr lang="en-US" dirty="0">
                <a:latin typeface="Courier" pitchFamily="2" charset="0"/>
              </a:rPr>
              <a:t> &lt;&lt; (x = 5.5) &lt;&lt; </a:t>
            </a:r>
            <a:r>
              <a:rPr lang="en-US" dirty="0" err="1">
                <a:latin typeface="Courier" pitchFamily="2" charset="0"/>
              </a:rPr>
              <a:t>endl</a:t>
            </a:r>
            <a:r>
              <a:rPr lang="en-US" dirty="0">
                <a:latin typeface="Courier" pitchFamily="2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C1F8C-A9EA-AA4D-999B-CCA2780B36C9}"/>
              </a:ext>
            </a:extLst>
          </p:cNvPr>
          <p:cNvSpPr txBox="1"/>
          <p:nvPr/>
        </p:nvSpPr>
        <p:spPr>
          <a:xfrm>
            <a:off x="7721600" y="3478538"/>
            <a:ext cx="234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does this return?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AEDA8-335D-F24A-8FD6-CAFFE3142B2A}"/>
              </a:ext>
            </a:extLst>
          </p:cNvPr>
          <p:cNvSpPr txBox="1"/>
          <p:nvPr/>
        </p:nvSpPr>
        <p:spPr>
          <a:xfrm>
            <a:off x="9431867" y="6434667"/>
            <a:ext cx="1995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whatever the left is</a:t>
            </a:r>
          </a:p>
        </p:txBody>
      </p:sp>
    </p:spTree>
    <p:extLst>
      <p:ext uri="{BB962C8B-B14F-4D97-AF65-F5344CB8AC3E}">
        <p14:creationId xmlns:p14="http://schemas.microsoft.com/office/powerpoint/2010/main" val="19042652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A3EB-ABDC-4E44-94E4-17E63F81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361C6-902A-2542-9845-45CBFAB7F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Checking for errors</a:t>
            </a:r>
          </a:p>
        </p:txBody>
      </p:sp>
    </p:spTree>
    <p:extLst>
      <p:ext uri="{BB962C8B-B14F-4D97-AF65-F5344CB8AC3E}">
        <p14:creationId xmlns:p14="http://schemas.microsoft.com/office/powerpoint/2010/main" val="453531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if t is None: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   throw type exception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06244"/>
            <a:ext cx="2338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plus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64EC2-9607-464E-80B0-15B8D179DA0E}"/>
              </a:ext>
            </a:extLst>
          </p:cNvPr>
          <p:cNvSpPr txBox="1"/>
          <p:nvPr/>
        </p:nvSpPr>
        <p:spPr>
          <a:xfrm>
            <a:off x="4624147" y="3775576"/>
            <a:ext cx="287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 should record our type</a:t>
            </a:r>
          </a:p>
        </p:txBody>
      </p:sp>
    </p:spTree>
    <p:extLst>
      <p:ext uri="{BB962C8B-B14F-4D97-AF65-F5344CB8AC3E}">
        <p14:creationId xmlns:p14="http://schemas.microsoft.com/office/powerpoint/2010/main" val="4136784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if t is None: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   throw type exception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/>
        </p:nvGraphicFramePr>
        <p:xfrm>
          <a:off x="7357534" y="3960242"/>
          <a:ext cx="3794413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6866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21762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99923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9694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06244"/>
            <a:ext cx="2338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plus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64EC2-9607-464E-80B0-15B8D179DA0E}"/>
              </a:ext>
            </a:extLst>
          </p:cNvPr>
          <p:cNvSpPr txBox="1"/>
          <p:nvPr/>
        </p:nvSpPr>
        <p:spPr>
          <a:xfrm>
            <a:off x="4624147" y="3775576"/>
            <a:ext cx="287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 should record our 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0E876-BFDE-F947-9921-CDEDECC742E8}"/>
              </a:ext>
            </a:extLst>
          </p:cNvPr>
          <p:cNvSpPr txBox="1"/>
          <p:nvPr/>
        </p:nvSpPr>
        <p:spPr>
          <a:xfrm>
            <a:off x="8922482" y="6308209"/>
            <a:ext cx="145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like in Python</a:t>
            </a:r>
          </a:p>
        </p:txBody>
      </p:sp>
    </p:spTree>
    <p:extLst>
      <p:ext uri="{BB962C8B-B14F-4D97-AF65-F5344CB8AC3E}">
        <p14:creationId xmlns:p14="http://schemas.microsoft.com/office/powerpoint/2010/main" val="19425354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978-B3EA-C14B-997D-55B93B3A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9F95D-6F74-BC47-8C19-D6BCF84976A6}"/>
              </a:ext>
            </a:extLst>
          </p:cNvPr>
          <p:cNvSpPr/>
          <p:nvPr/>
        </p:nvSpPr>
        <p:spPr>
          <a:xfrm>
            <a:off x="838200" y="236380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5D7A-6A67-D54C-B5CA-BCD4F6A4813F}"/>
              </a:ext>
            </a:extLst>
          </p:cNvPr>
          <p:cNvSpPr txBox="1"/>
          <p:nvPr/>
        </p:nvSpPr>
        <p:spPr>
          <a:xfrm>
            <a:off x="4707466" y="2363800"/>
            <a:ext cx="611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node n: find its type and the types of any of its children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E177-9497-3E4F-B5B5-2A507DA83F8D}"/>
              </a:ext>
            </a:extLst>
          </p:cNvPr>
          <p:cNvSpPr txBox="1"/>
          <p:nvPr/>
        </p:nvSpPr>
        <p:spPr>
          <a:xfrm>
            <a:off x="973667" y="3098800"/>
            <a:ext cx="459613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plus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if t is None: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   throw type exception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C8DBA47-CFF1-084A-A5E2-0E5538F4E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55156"/>
              </p:ext>
            </p:extLst>
          </p:nvPr>
        </p:nvGraphicFramePr>
        <p:xfrm>
          <a:off x="7315200" y="3960242"/>
          <a:ext cx="3836747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21762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99923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FF"/>
                          </a:highlight>
                          <a:latin typeface="Courier" pitchFamily="2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9694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53CEC9-D95C-364D-8C1C-F9ACC038008C}"/>
              </a:ext>
            </a:extLst>
          </p:cNvPr>
          <p:cNvSpPr txBox="1"/>
          <p:nvPr/>
        </p:nvSpPr>
        <p:spPr>
          <a:xfrm>
            <a:off x="8034867" y="3406244"/>
            <a:ext cx="2338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inference rules for plus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64EC2-9607-464E-80B0-15B8D179DA0E}"/>
              </a:ext>
            </a:extLst>
          </p:cNvPr>
          <p:cNvSpPr txBox="1"/>
          <p:nvPr/>
        </p:nvSpPr>
        <p:spPr>
          <a:xfrm>
            <a:off x="4624147" y="3775576"/>
            <a:ext cx="287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 should record our 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0E876-BFDE-F947-9921-CDEDECC742E8}"/>
              </a:ext>
            </a:extLst>
          </p:cNvPr>
          <p:cNvSpPr txBox="1"/>
          <p:nvPr/>
        </p:nvSpPr>
        <p:spPr>
          <a:xfrm>
            <a:off x="8922482" y="6308209"/>
            <a:ext cx="145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like in Python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F2A62-4CA9-53CA-C3E5-F15E7A2CFB05}"/>
              </a:ext>
            </a:extLst>
          </p:cNvPr>
          <p:cNvSpPr txBox="1"/>
          <p:nvPr/>
        </p:nvSpPr>
        <p:spPr>
          <a:xfrm>
            <a:off x="6634264" y="846306"/>
            <a:ext cx="4369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other examples would throw an error?</a:t>
            </a:r>
          </a:p>
        </p:txBody>
      </p:sp>
    </p:spTree>
    <p:extLst>
      <p:ext uri="{BB962C8B-B14F-4D97-AF65-F5344CB8AC3E}">
        <p14:creationId xmlns:p14="http://schemas.microsoft.com/office/powerpoint/2010/main" val="31752610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882809" y="486776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723972" y="3973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249948" y="434297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246712" y="434297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5043941" y="487961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2BA736-EE52-4345-A573-A09117D6A428}"/>
              </a:ext>
            </a:extLst>
          </p:cNvPr>
          <p:cNvSpPr txBox="1"/>
          <p:nvPr/>
        </p:nvSpPr>
        <p:spPr>
          <a:xfrm>
            <a:off x="5338354" y="5849612"/>
            <a:ext cx="386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leaf types are provided on construction</a:t>
            </a:r>
          </a:p>
        </p:txBody>
      </p:sp>
    </p:spTree>
    <p:extLst>
      <p:ext uri="{BB962C8B-B14F-4D97-AF65-F5344CB8AC3E}">
        <p14:creationId xmlns:p14="http://schemas.microsoft.com/office/powerpoint/2010/main" val="1377557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</a:t>
            </a:r>
            <a:r>
              <a:rPr lang="en-US" b="1" dirty="0">
                <a:latin typeface="Courier" pitchFamily="2" charset="0"/>
              </a:rPr>
              <a:t>n is a leaf node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</a:t>
            </a:r>
            <a:r>
              <a:rPr lang="en-US" b="1" dirty="0">
                <a:latin typeface="Courier" pitchFamily="2" charset="0"/>
              </a:rPr>
              <a:t>n is a bin op node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5868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2F6F1-AA1A-E242-BA62-83E20698E3E3}"/>
              </a:ext>
            </a:extLst>
          </p:cNvPr>
          <p:cNvSpPr txBox="1"/>
          <p:nvPr/>
        </p:nvSpPr>
        <p:spPr>
          <a:xfrm>
            <a:off x="4412443" y="2661785"/>
            <a:ext cx="128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on top</a:t>
            </a:r>
          </a:p>
        </p:txBody>
      </p:sp>
    </p:spTree>
    <p:extLst>
      <p:ext uri="{BB962C8B-B14F-4D97-AF65-F5344CB8AC3E}">
        <p14:creationId xmlns:p14="http://schemas.microsoft.com/office/powerpoint/2010/main" val="38830050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F7126D-D2BD-DD4F-8B20-57279DE6D463}"/>
              </a:ext>
            </a:extLst>
          </p:cNvPr>
          <p:cNvSpPr txBox="1"/>
          <p:nvPr/>
        </p:nvSpPr>
        <p:spPr>
          <a:xfrm>
            <a:off x="5315241" y="2537468"/>
            <a:ext cx="156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a binary op</a:t>
            </a:r>
          </a:p>
        </p:txBody>
      </p:sp>
    </p:spTree>
    <p:extLst>
      <p:ext uri="{BB962C8B-B14F-4D97-AF65-F5344CB8AC3E}">
        <p14:creationId xmlns:p14="http://schemas.microsoft.com/office/powerpoint/2010/main" val="16003964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C553E-6F44-924D-ABD1-9C31B5B27E1C}"/>
              </a:ext>
            </a:extLst>
          </p:cNvPr>
          <p:cNvSpPr txBox="1"/>
          <p:nvPr/>
        </p:nvSpPr>
        <p:spPr>
          <a:xfrm>
            <a:off x="5643369" y="3059668"/>
            <a:ext cx="1059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16411739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5469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78E249-A2F9-8847-9C95-F43A7BD09076}"/>
              </a:ext>
            </a:extLst>
          </p:cNvPr>
          <p:cNvSpPr txBox="1"/>
          <p:nvPr/>
        </p:nvSpPr>
        <p:spPr>
          <a:xfrm>
            <a:off x="5315241" y="2537468"/>
            <a:ext cx="156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a binary op</a:t>
            </a:r>
          </a:p>
        </p:txBody>
      </p:sp>
    </p:spTree>
    <p:extLst>
      <p:ext uri="{BB962C8B-B14F-4D97-AF65-F5344CB8AC3E}">
        <p14:creationId xmlns:p14="http://schemas.microsoft.com/office/powerpoint/2010/main" val="21475434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78E249-A2F9-8847-9C95-F43A7BD09076}"/>
              </a:ext>
            </a:extLst>
          </p:cNvPr>
          <p:cNvSpPr txBox="1"/>
          <p:nvPr/>
        </p:nvSpPr>
        <p:spPr>
          <a:xfrm>
            <a:off x="5617243" y="3059668"/>
            <a:ext cx="1059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24496872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052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398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7013261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733316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8755753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graphicFrame>
        <p:nvGraphicFramePr>
          <p:cNvPr id="17" name="Table 3">
            <a:extLst>
              <a:ext uri="{FF2B5EF4-FFF2-40B4-BE49-F238E27FC236}">
                <a16:creationId xmlns:a16="http://schemas.microsoft.com/office/drawing/2014/main" id="{973D8D3D-54A4-5545-BE72-1FE5892380F3}"/>
              </a:ext>
            </a:extLst>
          </p:cNvPr>
          <p:cNvGraphicFramePr>
            <a:graphicFrameLocks noGrp="1"/>
          </p:cNvGraphicFramePr>
          <p:nvPr/>
        </p:nvGraphicFramePr>
        <p:xfrm>
          <a:off x="7477507" y="4719769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268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16909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8742930-1574-704F-8673-7C4550F2E9C1}"/>
              </a:ext>
            </a:extLst>
          </p:cNvPr>
          <p:cNvSpPr txBox="1"/>
          <p:nvPr/>
        </p:nvSpPr>
        <p:spPr>
          <a:xfrm>
            <a:off x="7402286" y="4341189"/>
            <a:ext cx="2554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dirty="0">
                <a:highlight>
                  <a:srgbClr val="FF0000"/>
                </a:highlight>
              </a:rPr>
              <a:t>most</a:t>
            </a:r>
            <a:r>
              <a:rPr lang="en-US" dirty="0"/>
              <a:t> binary ops</a:t>
            </a:r>
          </a:p>
        </p:txBody>
      </p:sp>
    </p:spTree>
    <p:extLst>
      <p:ext uri="{BB962C8B-B14F-4D97-AF65-F5344CB8AC3E}">
        <p14:creationId xmlns:p14="http://schemas.microsoft.com/office/powerpoint/2010/main" val="17040032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graphicFrame>
        <p:nvGraphicFramePr>
          <p:cNvPr id="17" name="Table 3">
            <a:extLst>
              <a:ext uri="{FF2B5EF4-FFF2-40B4-BE49-F238E27FC236}">
                <a16:creationId xmlns:a16="http://schemas.microsoft.com/office/drawing/2014/main" id="{973D8D3D-54A4-5545-BE72-1FE5892380F3}"/>
              </a:ext>
            </a:extLst>
          </p:cNvPr>
          <p:cNvGraphicFramePr>
            <a:graphicFrameLocks noGrp="1"/>
          </p:cNvGraphicFramePr>
          <p:nvPr/>
        </p:nvGraphicFramePr>
        <p:xfrm>
          <a:off x="7477507" y="4719769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268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16909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8742930-1574-704F-8673-7C4550F2E9C1}"/>
              </a:ext>
            </a:extLst>
          </p:cNvPr>
          <p:cNvSpPr txBox="1"/>
          <p:nvPr/>
        </p:nvSpPr>
        <p:spPr>
          <a:xfrm>
            <a:off x="7402286" y="4341189"/>
            <a:ext cx="2554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dirty="0">
                <a:highlight>
                  <a:srgbClr val="FF0000"/>
                </a:highlight>
              </a:rPr>
              <a:t>most</a:t>
            </a:r>
            <a:r>
              <a:rPr lang="en-US" dirty="0"/>
              <a:t> binary ops</a:t>
            </a:r>
          </a:p>
        </p:txBody>
      </p:sp>
    </p:spTree>
    <p:extLst>
      <p:ext uri="{BB962C8B-B14F-4D97-AF65-F5344CB8AC3E}">
        <p14:creationId xmlns:p14="http://schemas.microsoft.com/office/powerpoint/2010/main" val="29466896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graphicFrame>
        <p:nvGraphicFramePr>
          <p:cNvPr id="17" name="Table 3">
            <a:extLst>
              <a:ext uri="{FF2B5EF4-FFF2-40B4-BE49-F238E27FC236}">
                <a16:creationId xmlns:a16="http://schemas.microsoft.com/office/drawing/2014/main" id="{973D8D3D-54A4-5545-BE72-1FE5892380F3}"/>
              </a:ext>
            </a:extLst>
          </p:cNvPr>
          <p:cNvGraphicFramePr>
            <a:graphicFrameLocks noGrp="1"/>
          </p:cNvGraphicFramePr>
          <p:nvPr/>
        </p:nvGraphicFramePr>
        <p:xfrm>
          <a:off x="7477507" y="4719769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268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16909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8742930-1574-704F-8673-7C4550F2E9C1}"/>
              </a:ext>
            </a:extLst>
          </p:cNvPr>
          <p:cNvSpPr txBox="1"/>
          <p:nvPr/>
        </p:nvSpPr>
        <p:spPr>
          <a:xfrm>
            <a:off x="7402286" y="4341189"/>
            <a:ext cx="2554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dirty="0">
                <a:highlight>
                  <a:srgbClr val="FF0000"/>
                </a:highlight>
              </a:rPr>
              <a:t>most</a:t>
            </a:r>
            <a:r>
              <a:rPr lang="en-US" dirty="0"/>
              <a:t> binary 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1010194" y="456329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40011427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graphicFrame>
        <p:nvGraphicFramePr>
          <p:cNvPr id="17" name="Table 3">
            <a:extLst>
              <a:ext uri="{FF2B5EF4-FFF2-40B4-BE49-F238E27FC236}">
                <a16:creationId xmlns:a16="http://schemas.microsoft.com/office/drawing/2014/main" id="{973D8D3D-54A4-5545-BE72-1FE5892380F3}"/>
              </a:ext>
            </a:extLst>
          </p:cNvPr>
          <p:cNvGraphicFramePr>
            <a:graphicFrameLocks noGrp="1"/>
          </p:cNvGraphicFramePr>
          <p:nvPr/>
        </p:nvGraphicFramePr>
        <p:xfrm>
          <a:off x="7477507" y="4719769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268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16909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8742930-1574-704F-8673-7C4550F2E9C1}"/>
              </a:ext>
            </a:extLst>
          </p:cNvPr>
          <p:cNvSpPr txBox="1"/>
          <p:nvPr/>
        </p:nvSpPr>
        <p:spPr>
          <a:xfrm>
            <a:off x="7402286" y="4341189"/>
            <a:ext cx="2554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dirty="0">
                <a:highlight>
                  <a:srgbClr val="FF0000"/>
                </a:highlight>
              </a:rPr>
              <a:t>most</a:t>
            </a:r>
            <a:r>
              <a:rPr lang="en-US" dirty="0"/>
              <a:t> binary 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1010194" y="456329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1151328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graphicFrame>
        <p:nvGraphicFramePr>
          <p:cNvPr id="17" name="Table 3">
            <a:extLst>
              <a:ext uri="{FF2B5EF4-FFF2-40B4-BE49-F238E27FC236}">
                <a16:creationId xmlns:a16="http://schemas.microsoft.com/office/drawing/2014/main" id="{973D8D3D-54A4-5545-BE72-1FE5892380F3}"/>
              </a:ext>
            </a:extLst>
          </p:cNvPr>
          <p:cNvGraphicFramePr>
            <a:graphicFrameLocks noGrp="1"/>
          </p:cNvGraphicFramePr>
          <p:nvPr/>
        </p:nvGraphicFramePr>
        <p:xfrm>
          <a:off x="7477507" y="4719769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268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16909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8742930-1574-704F-8673-7C4550F2E9C1}"/>
              </a:ext>
            </a:extLst>
          </p:cNvPr>
          <p:cNvSpPr txBox="1"/>
          <p:nvPr/>
        </p:nvSpPr>
        <p:spPr>
          <a:xfrm>
            <a:off x="7402286" y="4341189"/>
            <a:ext cx="2554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dirty="0">
                <a:highlight>
                  <a:srgbClr val="FF0000"/>
                </a:highlight>
              </a:rPr>
              <a:t>most</a:t>
            </a:r>
            <a:r>
              <a:rPr lang="en-US" dirty="0"/>
              <a:t> binary 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1010194" y="456329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EEF74-EAB6-9249-8439-64E39B87E186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2736153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846118" y="452585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 = lookup type from table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graphicFrame>
        <p:nvGraphicFramePr>
          <p:cNvPr id="17" name="Table 3">
            <a:extLst>
              <a:ext uri="{FF2B5EF4-FFF2-40B4-BE49-F238E27FC236}">
                <a16:creationId xmlns:a16="http://schemas.microsoft.com/office/drawing/2014/main" id="{973D8D3D-54A4-5545-BE72-1FE5892380F3}"/>
              </a:ext>
            </a:extLst>
          </p:cNvPr>
          <p:cNvGraphicFramePr>
            <a:graphicFrameLocks noGrp="1"/>
          </p:cNvGraphicFramePr>
          <p:nvPr/>
        </p:nvGraphicFramePr>
        <p:xfrm>
          <a:off x="7477507" y="4719769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268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16909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8742930-1574-704F-8673-7C4550F2E9C1}"/>
              </a:ext>
            </a:extLst>
          </p:cNvPr>
          <p:cNvSpPr txBox="1"/>
          <p:nvPr/>
        </p:nvSpPr>
        <p:spPr>
          <a:xfrm>
            <a:off x="7402286" y="4341189"/>
            <a:ext cx="2554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dirty="0">
                <a:highlight>
                  <a:srgbClr val="FF0000"/>
                </a:highlight>
              </a:rPr>
              <a:t>most</a:t>
            </a:r>
            <a:r>
              <a:rPr lang="en-US" dirty="0"/>
              <a:t> binary 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1010194" y="456329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EEF74-EAB6-9249-8439-64E39B87E186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4628991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007765" y="452585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graphicFrame>
        <p:nvGraphicFramePr>
          <p:cNvPr id="17" name="Table 3">
            <a:extLst>
              <a:ext uri="{FF2B5EF4-FFF2-40B4-BE49-F238E27FC236}">
                <a16:creationId xmlns:a16="http://schemas.microsoft.com/office/drawing/2014/main" id="{973D8D3D-54A4-5545-BE72-1FE5892380F3}"/>
              </a:ext>
            </a:extLst>
          </p:cNvPr>
          <p:cNvGraphicFramePr>
            <a:graphicFrameLocks noGrp="1"/>
          </p:cNvGraphicFramePr>
          <p:nvPr/>
        </p:nvGraphicFramePr>
        <p:xfrm>
          <a:off x="7477507" y="4719769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268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16909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8742930-1574-704F-8673-7C4550F2E9C1}"/>
              </a:ext>
            </a:extLst>
          </p:cNvPr>
          <p:cNvSpPr txBox="1"/>
          <p:nvPr/>
        </p:nvSpPr>
        <p:spPr>
          <a:xfrm>
            <a:off x="7402286" y="4341189"/>
            <a:ext cx="2554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dirty="0">
                <a:highlight>
                  <a:srgbClr val="FF0000"/>
                </a:highlight>
              </a:rPr>
              <a:t>most</a:t>
            </a:r>
            <a:r>
              <a:rPr lang="en-US" dirty="0"/>
              <a:t> binary 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1010194" y="456329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EEF74-EAB6-9249-8439-64E39B87E186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7521495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007765" y="452585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4596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1010194" y="456329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EEF74-EAB6-9249-8439-64E39B87E186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A69EB1-5C9E-3D44-9759-A4F5EA505ED3}"/>
              </a:ext>
            </a:extLst>
          </p:cNvPr>
          <p:cNvSpPr txBox="1"/>
          <p:nvPr/>
        </p:nvSpPr>
        <p:spPr>
          <a:xfrm>
            <a:off x="8229600" y="5486400"/>
            <a:ext cx="150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Are we done?</a:t>
            </a:r>
          </a:p>
        </p:txBody>
      </p:sp>
    </p:spTree>
    <p:extLst>
      <p:ext uri="{BB962C8B-B14F-4D97-AF65-F5344CB8AC3E}">
        <p14:creationId xmlns:p14="http://schemas.microsoft.com/office/powerpoint/2010/main" val="41516137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007765" y="452585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500970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  do any required type conversions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1010194" y="456329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EEF74-EAB6-9249-8439-64E39B87E186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A69EB1-5C9E-3D44-9759-A4F5EA505ED3}"/>
              </a:ext>
            </a:extLst>
          </p:cNvPr>
          <p:cNvSpPr txBox="1"/>
          <p:nvPr/>
        </p:nvSpPr>
        <p:spPr>
          <a:xfrm>
            <a:off x="8229600" y="5486400"/>
            <a:ext cx="150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Are we done?</a:t>
            </a:r>
          </a:p>
        </p:txBody>
      </p:sp>
    </p:spTree>
    <p:extLst>
      <p:ext uri="{BB962C8B-B14F-4D97-AF65-F5344CB8AC3E}">
        <p14:creationId xmlns:p14="http://schemas.microsoft.com/office/powerpoint/2010/main" val="38975306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323378" y="415652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9354" y="452585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007765" y="452585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1010194" y="456329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EEF74-EAB6-9249-8439-64E39B87E186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07B4AD-A8D2-7F43-BFC6-A5F30F641E3A}"/>
              </a:ext>
            </a:extLst>
          </p:cNvPr>
          <p:cNvSpPr/>
          <p:nvPr/>
        </p:nvSpPr>
        <p:spPr>
          <a:xfrm>
            <a:off x="369746" y="363843"/>
            <a:ext cx="715772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type_conversion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n.</a:t>
            </a:r>
            <a:r>
              <a:rPr lang="en-US" dirty="0" err="1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 child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type is NOT the same as n type:</a:t>
            </a:r>
            <a:endParaRPr lang="en-US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      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conv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get conversion AST node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conv.child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left child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set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n.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left_child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to = 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conv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0A9D66-0E59-3344-A55B-A5060FE04C79}"/>
              </a:ext>
            </a:extLst>
          </p:cNvPr>
          <p:cNvSpPr txBox="1"/>
          <p:nvPr/>
        </p:nvSpPr>
        <p:spPr>
          <a:xfrm>
            <a:off x="7437120" y="441350"/>
            <a:ext cx="4173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this will need to be done for both children</a:t>
            </a:r>
          </a:p>
        </p:txBody>
      </p:sp>
    </p:spTree>
    <p:extLst>
      <p:ext uri="{BB962C8B-B14F-4D97-AF65-F5344CB8AC3E}">
        <p14:creationId xmlns:p14="http://schemas.microsoft.com/office/powerpoint/2010/main" val="33448306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059F36-1874-0A40-9F4D-D966371C61BA}"/>
              </a:ext>
            </a:extLst>
          </p:cNvPr>
          <p:cNvSpPr/>
          <p:nvPr/>
        </p:nvSpPr>
        <p:spPr>
          <a:xfrm>
            <a:off x="5146765" y="1860048"/>
            <a:ext cx="5486400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ASTUnOpNode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child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ASTIntToFloatNode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ASTUnOpNode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__(child)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ASTFloatToIntNode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ASTUnOpNode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__(child)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0E7DE-6910-1D44-A3D1-2723D4165405}"/>
              </a:ext>
            </a:extLst>
          </p:cNvPr>
          <p:cNvSpPr txBox="1"/>
          <p:nvPr/>
        </p:nvSpPr>
        <p:spPr>
          <a:xfrm>
            <a:off x="5349945" y="580058"/>
            <a:ext cx="5334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New type of AST nodes: unary operators</a:t>
            </a:r>
          </a:p>
        </p:txBody>
      </p:sp>
    </p:spTree>
    <p:extLst>
      <p:ext uri="{BB962C8B-B14F-4D97-AF65-F5344CB8AC3E}">
        <p14:creationId xmlns:p14="http://schemas.microsoft.com/office/powerpoint/2010/main" val="26412673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059F36-1874-0A40-9F4D-D966371C61BA}"/>
              </a:ext>
            </a:extLst>
          </p:cNvPr>
          <p:cNvSpPr/>
          <p:nvPr/>
        </p:nvSpPr>
        <p:spPr>
          <a:xfrm>
            <a:off x="5146765" y="1860048"/>
            <a:ext cx="5486400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ASTUnOpNode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child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ASTIntToFloatNode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ASTUnOpNode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__(child)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ASTFloatToIntNode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ASTUnOpNode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__(child)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0E7DE-6910-1D44-A3D1-2723D4165405}"/>
              </a:ext>
            </a:extLst>
          </p:cNvPr>
          <p:cNvSpPr txBox="1"/>
          <p:nvPr/>
        </p:nvSpPr>
        <p:spPr>
          <a:xfrm>
            <a:off x="5349945" y="580058"/>
            <a:ext cx="5334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New type of AST nodes: unary operators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D01B3-D4F7-1547-9E84-388239C47A8B}"/>
              </a:ext>
            </a:extLst>
          </p:cNvPr>
          <p:cNvSpPr/>
          <p:nvPr/>
        </p:nvSpPr>
        <p:spPr>
          <a:xfrm>
            <a:off x="65798" y="580058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3189D-2ACB-A44C-959F-7BA19B7B7AAB}"/>
              </a:ext>
            </a:extLst>
          </p:cNvPr>
          <p:cNvSpPr txBox="1"/>
          <p:nvPr/>
        </p:nvSpPr>
        <p:spPr>
          <a:xfrm>
            <a:off x="235768" y="2473235"/>
            <a:ext cx="287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types are these nodes?</a:t>
            </a:r>
          </a:p>
        </p:txBody>
      </p:sp>
    </p:spTree>
    <p:extLst>
      <p:ext uri="{BB962C8B-B14F-4D97-AF65-F5344CB8AC3E}">
        <p14:creationId xmlns:p14="http://schemas.microsoft.com/office/powerpoint/2010/main" val="4806111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0E7DE-6910-1D44-A3D1-2723D4165405}"/>
              </a:ext>
            </a:extLst>
          </p:cNvPr>
          <p:cNvSpPr txBox="1"/>
          <p:nvPr/>
        </p:nvSpPr>
        <p:spPr>
          <a:xfrm>
            <a:off x="5349945" y="580058"/>
            <a:ext cx="5334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New type of AST nodes: unary operators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D01B3-D4F7-1547-9E84-388239C47A8B}"/>
              </a:ext>
            </a:extLst>
          </p:cNvPr>
          <p:cNvSpPr/>
          <p:nvPr/>
        </p:nvSpPr>
        <p:spPr>
          <a:xfrm>
            <a:off x="65798" y="580058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3189D-2ACB-A44C-959F-7BA19B7B7AAB}"/>
              </a:ext>
            </a:extLst>
          </p:cNvPr>
          <p:cNvSpPr txBox="1"/>
          <p:nvPr/>
        </p:nvSpPr>
        <p:spPr>
          <a:xfrm>
            <a:off x="235768" y="2473235"/>
            <a:ext cx="287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types are these nodes?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08022-9071-5544-8831-C2A54441FC2A}"/>
              </a:ext>
            </a:extLst>
          </p:cNvPr>
          <p:cNvSpPr/>
          <p:nvPr/>
        </p:nvSpPr>
        <p:spPr>
          <a:xfrm>
            <a:off x="5199017" y="1644976"/>
            <a:ext cx="6096000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ASTUnOpNode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child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ASTIntToFloatNode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ASTBinUnNode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__(child)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ASTFloatToIntNode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ASTBinUnNode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        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__(child)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5478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0E7DE-6910-1D44-A3D1-2723D4165405}"/>
              </a:ext>
            </a:extLst>
          </p:cNvPr>
          <p:cNvSpPr txBox="1"/>
          <p:nvPr/>
        </p:nvSpPr>
        <p:spPr>
          <a:xfrm>
            <a:off x="5349945" y="580058"/>
            <a:ext cx="5334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New type of AST nodes: unary operators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D01B3-D4F7-1547-9E84-388239C47A8B}"/>
              </a:ext>
            </a:extLst>
          </p:cNvPr>
          <p:cNvSpPr/>
          <p:nvPr/>
        </p:nvSpPr>
        <p:spPr>
          <a:xfrm>
            <a:off x="65798" y="580058"/>
            <a:ext cx="3217333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Enum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Types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(Enum):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3189D-2ACB-A44C-959F-7BA19B7B7AAB}"/>
              </a:ext>
            </a:extLst>
          </p:cNvPr>
          <p:cNvSpPr txBox="1"/>
          <p:nvPr/>
        </p:nvSpPr>
        <p:spPr>
          <a:xfrm>
            <a:off x="235768" y="2473235"/>
            <a:ext cx="287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types are these nodes?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08022-9071-5544-8831-C2A54441FC2A}"/>
              </a:ext>
            </a:extLst>
          </p:cNvPr>
          <p:cNvSpPr/>
          <p:nvPr/>
        </p:nvSpPr>
        <p:spPr>
          <a:xfrm>
            <a:off x="5199016" y="1644976"/>
            <a:ext cx="6757215" cy="4801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ASTUnOpNode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child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ASTIntToFloatNode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ASTBinUnNode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      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assert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child.get_type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() ==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__(child)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ASTFloatToIntNode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ASTBinUnNode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child):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.set_type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      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assert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child.get_type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() ==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Types.FLOAT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        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__(child)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D28665-845E-6F4C-A486-C7602C698FEF}"/>
              </a:ext>
            </a:extLst>
          </p:cNvPr>
          <p:cNvSpPr txBox="1"/>
          <p:nvPr/>
        </p:nvSpPr>
        <p:spPr>
          <a:xfrm>
            <a:off x="1731642" y="4015434"/>
            <a:ext cx="24244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go further than </a:t>
            </a:r>
          </a:p>
          <a:p>
            <a:r>
              <a:rPr lang="en-US" dirty="0"/>
              <a:t>just checking to </a:t>
            </a:r>
          </a:p>
          <a:p>
            <a:r>
              <a:rPr lang="en-US" dirty="0"/>
              <a:t>ensure our children</a:t>
            </a:r>
          </a:p>
          <a:p>
            <a:r>
              <a:rPr lang="en-US" dirty="0"/>
              <a:t>are the right type</a:t>
            </a:r>
          </a:p>
        </p:txBody>
      </p:sp>
    </p:spTree>
    <p:extLst>
      <p:ext uri="{BB962C8B-B14F-4D97-AF65-F5344CB8AC3E}">
        <p14:creationId xmlns:p14="http://schemas.microsoft.com/office/powerpoint/2010/main" val="26560404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411415" y="3677740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4095802" y="4047072"/>
            <a:ext cx="1346546" cy="10154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865240" y="4782792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EEF74-EAB6-9249-8439-64E39B87E186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07B4AD-A8D2-7F43-BFC6-A5F30F641E3A}"/>
              </a:ext>
            </a:extLst>
          </p:cNvPr>
          <p:cNvSpPr/>
          <p:nvPr/>
        </p:nvSpPr>
        <p:spPr>
          <a:xfrm>
            <a:off x="369746" y="363843"/>
            <a:ext cx="715772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type_conversion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n.</a:t>
            </a:r>
            <a:r>
              <a:rPr lang="en-US" dirty="0" err="1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 child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type is NOT the same as n type:</a:t>
            </a:r>
            <a:endParaRPr lang="en-US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      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conv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get conversion AST node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conv.child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left child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set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n.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left_child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to = 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conv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8E09F-EE5E-0746-9780-A4839DBA3FA0}"/>
              </a:ext>
            </a:extLst>
          </p:cNvPr>
          <p:cNvSpPr txBox="1"/>
          <p:nvPr/>
        </p:nvSpPr>
        <p:spPr>
          <a:xfrm>
            <a:off x="7682277" y="3493074"/>
            <a:ext cx="210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AST&lt;int2float, float&gt;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09E408-E68F-2A42-93DD-A43297280404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 flipH="1">
            <a:off x="2076032" y="4047072"/>
            <a:ext cx="2019770" cy="1003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4214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5C7F45-70D4-3549-BAC4-CA1D33533CBA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F98D-3D1E-4149-B29E-5EB727257F20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AST&lt;+,int&gt;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1361F-9B4C-EB47-A6C2-0C8CBA6FE865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B29A40-D9DF-EE46-86EA-C5BAE2EC4880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DCBE5-7F35-F645-BAD1-B37274AB5588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9C52E-ED3E-F146-89BD-7BEC122E1A79}"/>
              </a:ext>
            </a:extLst>
          </p:cNvPr>
          <p:cNvSpPr txBox="1"/>
          <p:nvPr/>
        </p:nvSpPr>
        <p:spPr>
          <a:xfrm>
            <a:off x="3411415" y="3677740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D6BF7-DF6A-A54B-B782-724A0C2C1F25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flipH="1">
            <a:off x="2076032" y="4591543"/>
            <a:ext cx="396545" cy="459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A627B-048A-A345-AAC3-4E7E3E295F4E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4095802" y="4047072"/>
            <a:ext cx="1346546" cy="10154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8C93FB-2E91-7846-AB3A-257E6199E236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5CE36-3DE4-FF41-9C23-320F69A7D54E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83379-42AE-3248-99DE-E98F7868680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E6EFE-0BED-B046-8065-025E9C939192}"/>
              </a:ext>
            </a:extLst>
          </p:cNvPr>
          <p:cNvSpPr txBox="1"/>
          <p:nvPr/>
        </p:nvSpPr>
        <p:spPr>
          <a:xfrm>
            <a:off x="865240" y="4782792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EEF74-EAB6-9249-8439-64E39B87E186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07B4AD-A8D2-7F43-BFC6-A5F30F641E3A}"/>
              </a:ext>
            </a:extLst>
          </p:cNvPr>
          <p:cNvSpPr/>
          <p:nvPr/>
        </p:nvSpPr>
        <p:spPr>
          <a:xfrm>
            <a:off x="369746" y="363843"/>
            <a:ext cx="715772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type_conversion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n.</a:t>
            </a:r>
            <a:r>
              <a:rPr lang="en-US" dirty="0" err="1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 child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type is NOT the same as n type:</a:t>
            </a:r>
            <a:endParaRPr lang="en-US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      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conv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get conversion AST node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conv.child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Menlo" panose="020B0609030804020204" pitchFamily="49" charset="0"/>
              </a:rPr>
              <a:t>left child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set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n.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left_child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to = 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conv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8E09F-EE5E-0746-9780-A4839DBA3FA0}"/>
              </a:ext>
            </a:extLst>
          </p:cNvPr>
          <p:cNvSpPr txBox="1"/>
          <p:nvPr/>
        </p:nvSpPr>
        <p:spPr>
          <a:xfrm>
            <a:off x="1420814" y="4222211"/>
            <a:ext cx="210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AST&lt;int2float, float&gt;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033027-62DA-0448-B734-2CB91B9F7286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2472577" y="4047072"/>
            <a:ext cx="1623225" cy="175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5716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AFA23-4BF2-4D4F-9784-1F447E404339}"/>
              </a:ext>
            </a:extLst>
          </p:cNvPr>
          <p:cNvSpPr txBox="1"/>
          <p:nvPr/>
        </p:nvSpPr>
        <p:spPr>
          <a:xfrm>
            <a:off x="740646" y="2215476"/>
            <a:ext cx="2252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+ 5.5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F786-C59B-F249-BB09-5C335A5F909F}"/>
              </a:ext>
            </a:extLst>
          </p:cNvPr>
          <p:cNvSpPr/>
          <p:nvPr/>
        </p:nvSpPr>
        <p:spPr>
          <a:xfrm>
            <a:off x="6313646" y="84324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type_inference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E6901-1917-6042-89A0-38CB7D1D5820}"/>
              </a:ext>
            </a:extLst>
          </p:cNvPr>
          <p:cNvSpPr txBox="1"/>
          <p:nvPr/>
        </p:nvSpPr>
        <p:spPr>
          <a:xfrm>
            <a:off x="7019040" y="1352924"/>
            <a:ext cx="500970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case split on type of n: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leaf node:</a:t>
            </a:r>
          </a:p>
          <a:p>
            <a:r>
              <a:rPr lang="en-US" dirty="0">
                <a:latin typeface="Courier" pitchFamily="2" charset="0"/>
              </a:rPr>
              <a:t>  return </a:t>
            </a:r>
            <a:r>
              <a:rPr lang="en-US" dirty="0" err="1">
                <a:latin typeface="Courier" pitchFamily="2" charset="0"/>
              </a:rPr>
              <a:t>n.get_type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if n is a bin op node:</a:t>
            </a:r>
          </a:p>
          <a:p>
            <a:r>
              <a:rPr lang="en-US" dirty="0">
                <a:latin typeface="Courier" pitchFamily="2" charset="0"/>
              </a:rPr>
              <a:t>   do type inference on children</a:t>
            </a:r>
          </a:p>
          <a:p>
            <a:r>
              <a:rPr lang="en-US" dirty="0">
                <a:latin typeface="Courier" pitchFamily="2" charset="0"/>
              </a:rPr>
              <a:t>   t = lookup type from table</a:t>
            </a:r>
          </a:p>
          <a:p>
            <a:r>
              <a:rPr lang="en-US" dirty="0">
                <a:latin typeface="Courier" pitchFamily="2" charset="0"/>
              </a:rPr>
              <a:t>   set n type to t</a:t>
            </a:r>
          </a:p>
          <a:p>
            <a:r>
              <a:rPr lang="en-US" dirty="0">
                <a:latin typeface="Courier" pitchFamily="2" charset="0"/>
              </a:rPr>
              <a:t>   do any required type conversions</a:t>
            </a:r>
          </a:p>
          <a:p>
            <a:r>
              <a:rPr lang="en-US" dirty="0">
                <a:latin typeface="Courier" pitchFamily="2" charset="0"/>
              </a:rPr>
              <a:t>   return 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50714F-3FC6-5942-ADC7-92294C04385B}"/>
              </a:ext>
            </a:extLst>
          </p:cNvPr>
          <p:cNvSpPr txBox="1"/>
          <p:nvPr/>
        </p:nvSpPr>
        <p:spPr>
          <a:xfrm>
            <a:off x="340052" y="584782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AST&lt;x, int&gt;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39430C-3784-484F-B9CA-DD35CC4B485D}"/>
              </a:ext>
            </a:extLst>
          </p:cNvPr>
          <p:cNvSpPr txBox="1"/>
          <p:nvPr/>
        </p:nvSpPr>
        <p:spPr>
          <a:xfrm>
            <a:off x="1482215" y="505064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AST&lt;+,int&gt;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52B0B9-5B7A-B54D-8560-B16260696799}"/>
              </a:ext>
            </a:extLst>
          </p:cNvPr>
          <p:cNvCxnSpPr>
            <a:cxnSpLocks/>
          </p:cNvCxnSpPr>
          <p:nvPr/>
        </p:nvCxnSpPr>
        <p:spPr>
          <a:xfrm flipH="1">
            <a:off x="544357" y="541766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680974-3D36-CC4D-9E6E-7F97C85DAAEA}"/>
              </a:ext>
            </a:extLst>
          </p:cNvPr>
          <p:cNvCxnSpPr>
            <a:cxnSpLocks/>
          </p:cNvCxnSpPr>
          <p:nvPr/>
        </p:nvCxnSpPr>
        <p:spPr>
          <a:xfrm>
            <a:off x="1768730" y="541766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2F15BD-EBAD-5F4C-B864-A94F09CB54B9}"/>
              </a:ext>
            </a:extLst>
          </p:cNvPr>
          <p:cNvSpPr txBox="1"/>
          <p:nvPr/>
        </p:nvSpPr>
        <p:spPr>
          <a:xfrm>
            <a:off x="2712897" y="584782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AST&lt;y, int&gt;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B6CBF3-BFC3-2D4B-A78C-45962846A86C}"/>
              </a:ext>
            </a:extLst>
          </p:cNvPr>
          <p:cNvSpPr txBox="1"/>
          <p:nvPr/>
        </p:nvSpPr>
        <p:spPr>
          <a:xfrm>
            <a:off x="3411415" y="3677740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AST&lt;+,float&gt;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FF2CC0-7B9A-FD46-939C-385028B55C26}"/>
              </a:ext>
            </a:extLst>
          </p:cNvPr>
          <p:cNvCxnSpPr>
            <a:cxnSpLocks/>
            <a:stCxn id="35" idx="2"/>
            <a:endCxn id="23" idx="0"/>
          </p:cNvCxnSpPr>
          <p:nvPr/>
        </p:nvCxnSpPr>
        <p:spPr>
          <a:xfrm flipH="1">
            <a:off x="2076032" y="4591543"/>
            <a:ext cx="396545" cy="459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FC0294C-F8C5-D642-AB47-ADE6519D2589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>
            <a:off x="4095802" y="4047072"/>
            <a:ext cx="1346546" cy="10154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745B1F0-6B28-D74B-9578-449E8E9D2F7E}"/>
              </a:ext>
            </a:extLst>
          </p:cNvPr>
          <p:cNvSpPr txBox="1"/>
          <p:nvPr/>
        </p:nvSpPr>
        <p:spPr>
          <a:xfrm>
            <a:off x="4643347" y="5062499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AST&lt;5.5, float&gt;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436502-9138-814B-8B4D-3362E8D834C7}"/>
              </a:ext>
            </a:extLst>
          </p:cNvPr>
          <p:cNvSpPr txBox="1"/>
          <p:nvPr/>
        </p:nvSpPr>
        <p:spPr>
          <a:xfrm>
            <a:off x="54240" y="54784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7A31A4-B444-2148-82D9-79608485276F}"/>
              </a:ext>
            </a:extLst>
          </p:cNvPr>
          <p:cNvSpPr txBox="1"/>
          <p:nvPr/>
        </p:nvSpPr>
        <p:spPr>
          <a:xfrm>
            <a:off x="3411415" y="54975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7185C6-C96D-404E-B9A6-8F78AC72F5A6}"/>
              </a:ext>
            </a:extLst>
          </p:cNvPr>
          <p:cNvSpPr txBox="1"/>
          <p:nvPr/>
        </p:nvSpPr>
        <p:spPr>
          <a:xfrm>
            <a:off x="865240" y="4782792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6C92BC-4066-634D-B05A-FA7121E4377F}"/>
              </a:ext>
            </a:extLst>
          </p:cNvPr>
          <p:cNvSpPr txBox="1"/>
          <p:nvPr/>
        </p:nvSpPr>
        <p:spPr>
          <a:xfrm>
            <a:off x="5660571" y="459812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EB7DC4-97B9-F04E-8FB9-F784A04C511A}"/>
              </a:ext>
            </a:extLst>
          </p:cNvPr>
          <p:cNvSpPr txBox="1"/>
          <p:nvPr/>
        </p:nvSpPr>
        <p:spPr>
          <a:xfrm>
            <a:off x="1420814" y="4222211"/>
            <a:ext cx="210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AST&lt;int2float, float&gt;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88887B-519A-0E4E-9821-D5DAA4E88756}"/>
              </a:ext>
            </a:extLst>
          </p:cNvPr>
          <p:cNvCxnSpPr>
            <a:cxnSpLocks/>
            <a:stCxn id="27" idx="2"/>
            <a:endCxn id="35" idx="0"/>
          </p:cNvCxnSpPr>
          <p:nvPr/>
        </p:nvCxnSpPr>
        <p:spPr>
          <a:xfrm flipH="1">
            <a:off x="2472577" y="4047072"/>
            <a:ext cx="1623225" cy="175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341C3AD-76C8-8549-8855-5C4B506E81D3}"/>
              </a:ext>
            </a:extLst>
          </p:cNvPr>
          <p:cNvSpPr txBox="1"/>
          <p:nvPr/>
        </p:nvSpPr>
        <p:spPr>
          <a:xfrm>
            <a:off x="408142" y="3862406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Done implicitly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0EFDC-9891-6941-879C-D92C333882C4}"/>
              </a:ext>
            </a:extLst>
          </p:cNvPr>
          <p:cNvSpPr txBox="1"/>
          <p:nvPr/>
        </p:nvSpPr>
        <p:spPr>
          <a:xfrm>
            <a:off x="4467324" y="328403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181DDE-5D30-C642-B974-41739C02F4F9}"/>
              </a:ext>
            </a:extLst>
          </p:cNvPr>
          <p:cNvSpPr txBox="1"/>
          <p:nvPr/>
        </p:nvSpPr>
        <p:spPr>
          <a:xfrm>
            <a:off x="8804366" y="510322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9273655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8462D-705C-6DAE-7FC9-2DDEA481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CA15-0D14-709D-C13B-9AA16ACC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560" y="2407285"/>
            <a:ext cx="8366760" cy="1325563"/>
          </a:xfrm>
        </p:spPr>
        <p:txBody>
          <a:bodyPr>
            <a:normAutofit/>
          </a:bodyPr>
          <a:lstStyle/>
          <a:p>
            <a:r>
              <a:rPr lang="en-US" sz="8000" b="1" dirty="0"/>
              <a:t>Topic: Functions</a:t>
            </a:r>
          </a:p>
        </p:txBody>
      </p:sp>
    </p:spTree>
    <p:extLst>
      <p:ext uri="{BB962C8B-B14F-4D97-AF65-F5344CB8AC3E}">
        <p14:creationId xmlns:p14="http://schemas.microsoft.com/office/powerpoint/2010/main" val="7338785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functions handled?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740646" y="2215476"/>
            <a:ext cx="201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4624251" y="3135086"/>
            <a:ext cx="13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int&gt;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290476" y="3504418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3625325" y="3763373"/>
            <a:ext cx="13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int&gt;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5828427" y="3763373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call</a:t>
            </a:r>
            <a:r>
              <a:rPr lang="en-US" dirty="0">
                <a:sym typeface="Wingdings" pitchFamily="2" charset="2"/>
              </a:rPr>
              <a:t>, ?&gt;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42" idx="0"/>
          </p:cNvCxnSpPr>
          <p:nvPr/>
        </p:nvCxnSpPr>
        <p:spPr>
          <a:xfrm>
            <a:off x="5297417" y="3504418"/>
            <a:ext cx="1231523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42" idx="2"/>
          </p:cNvCxnSpPr>
          <p:nvPr/>
        </p:nvCxnSpPr>
        <p:spPr>
          <a:xfrm flipH="1" flipV="1">
            <a:off x="6528940" y="4132705"/>
            <a:ext cx="49794" cy="536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5919418" y="4669580"/>
            <a:ext cx="13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int&gt;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20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functions handled?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740646" y="2215476"/>
            <a:ext cx="201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4624251" y="3135086"/>
            <a:ext cx="13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int&gt;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290476" y="3504418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3625325" y="3763373"/>
            <a:ext cx="13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int&gt;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5828427" y="3763373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call</a:t>
            </a:r>
            <a:r>
              <a:rPr lang="en-US" dirty="0">
                <a:sym typeface="Wingdings" pitchFamily="2" charset="2"/>
              </a:rPr>
              <a:t>, ?&gt;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42" idx="0"/>
          </p:cNvCxnSpPr>
          <p:nvPr/>
        </p:nvCxnSpPr>
        <p:spPr>
          <a:xfrm>
            <a:off x="5297417" y="3504418"/>
            <a:ext cx="1231523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42" idx="2"/>
          </p:cNvCxnSpPr>
          <p:nvPr/>
        </p:nvCxnSpPr>
        <p:spPr>
          <a:xfrm flipH="1" flipV="1">
            <a:off x="6528940" y="4132705"/>
            <a:ext cx="49794" cy="536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5919418" y="4669580"/>
            <a:ext cx="13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int&gt;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5AF68-0CBA-1049-B6BF-3C07C046882E}"/>
              </a:ext>
            </a:extLst>
          </p:cNvPr>
          <p:cNvSpPr txBox="1"/>
          <p:nvPr/>
        </p:nvSpPr>
        <p:spPr>
          <a:xfrm>
            <a:off x="435477" y="4781006"/>
            <a:ext cx="3247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requires a function specification,</a:t>
            </a:r>
            <a:br>
              <a:rPr lang="en-US" dirty="0"/>
            </a:br>
            <a:r>
              <a:rPr lang="en-US" dirty="0"/>
              <a:t>using in the .h file:</a:t>
            </a:r>
          </a:p>
          <a:p>
            <a:endParaRPr lang="en-US" dirty="0"/>
          </a:p>
          <a:p>
            <a:r>
              <a:rPr lang="en-US" b="1" dirty="0">
                <a:latin typeface="Courier" pitchFamily="2" charset="0"/>
              </a:rPr>
              <a:t>float sqrt(float x);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582FB-E1D4-CA4A-8C70-EFCA3B4C1736}"/>
              </a:ext>
            </a:extLst>
          </p:cNvPr>
          <p:cNvSpPr txBox="1"/>
          <p:nvPr/>
        </p:nvSpPr>
        <p:spPr>
          <a:xfrm>
            <a:off x="435477" y="6201839"/>
            <a:ext cx="1058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stored in the symbol table before type checking - think about C. you have to declare a function before you use it</a:t>
            </a:r>
          </a:p>
        </p:txBody>
      </p:sp>
    </p:spTree>
    <p:extLst>
      <p:ext uri="{BB962C8B-B14F-4D97-AF65-F5344CB8AC3E}">
        <p14:creationId xmlns:p14="http://schemas.microsoft.com/office/powerpoint/2010/main" val="28828358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functions handled?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740646" y="2215476"/>
            <a:ext cx="201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4624251" y="3135086"/>
            <a:ext cx="13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int&gt;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290476" y="3504418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3625325" y="3763373"/>
            <a:ext cx="13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int&gt;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5828427" y="3763373"/>
            <a:ext cx="172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call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>
                <a:highlight>
                  <a:srgbClr val="00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42" idx="0"/>
          </p:cNvCxnSpPr>
          <p:nvPr/>
        </p:nvCxnSpPr>
        <p:spPr>
          <a:xfrm>
            <a:off x="5297417" y="3504418"/>
            <a:ext cx="1393169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42" idx="2"/>
          </p:cNvCxnSpPr>
          <p:nvPr/>
        </p:nvCxnSpPr>
        <p:spPr>
          <a:xfrm flipV="1">
            <a:off x="6578734" y="4132705"/>
            <a:ext cx="111852" cy="536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5919418" y="4669580"/>
            <a:ext cx="13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int&gt;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5AF68-0CBA-1049-B6BF-3C07C046882E}"/>
              </a:ext>
            </a:extLst>
          </p:cNvPr>
          <p:cNvSpPr txBox="1"/>
          <p:nvPr/>
        </p:nvSpPr>
        <p:spPr>
          <a:xfrm>
            <a:off x="435477" y="4781006"/>
            <a:ext cx="3247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requires a function specification,</a:t>
            </a:r>
            <a:br>
              <a:rPr lang="en-US" dirty="0"/>
            </a:br>
            <a:r>
              <a:rPr lang="en-US" dirty="0"/>
              <a:t>using in the .h file:</a:t>
            </a:r>
          </a:p>
          <a:p>
            <a:endParaRPr lang="en-US" dirty="0"/>
          </a:p>
          <a:p>
            <a:r>
              <a:rPr lang="en-US" b="1" dirty="0">
                <a:highlight>
                  <a:srgbClr val="00FF00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sqrt(float x);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582FB-E1D4-CA4A-8C70-EFCA3B4C1736}"/>
              </a:ext>
            </a:extLst>
          </p:cNvPr>
          <p:cNvSpPr txBox="1"/>
          <p:nvPr/>
        </p:nvSpPr>
        <p:spPr>
          <a:xfrm>
            <a:off x="435477" y="6201839"/>
            <a:ext cx="1058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stored in the symbol table before type checking - think about C. you have to declare a function before you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81060-0CDB-CB4D-A78C-70F62CF7F2E7}"/>
              </a:ext>
            </a:extLst>
          </p:cNvPr>
          <p:cNvSpPr txBox="1"/>
          <p:nvPr/>
        </p:nvSpPr>
        <p:spPr>
          <a:xfrm>
            <a:off x="6961299" y="2600446"/>
            <a:ext cx="25124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type of the AST node</a:t>
            </a:r>
          </a:p>
          <a:p>
            <a:r>
              <a:rPr lang="en-US" i="1" dirty="0"/>
              <a:t>becomes the return type</a:t>
            </a:r>
          </a:p>
          <a:p>
            <a:r>
              <a:rPr lang="en-US" i="1" dirty="0"/>
              <a:t>of the function</a:t>
            </a:r>
          </a:p>
        </p:txBody>
      </p:sp>
    </p:spTree>
    <p:extLst>
      <p:ext uri="{BB962C8B-B14F-4D97-AF65-F5344CB8AC3E}">
        <p14:creationId xmlns:p14="http://schemas.microsoft.com/office/powerpoint/2010/main" val="10936476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functions handled?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740646" y="2215476"/>
            <a:ext cx="201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4624251" y="3135086"/>
            <a:ext cx="13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int&gt;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290476" y="3504418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3625325" y="3763373"/>
            <a:ext cx="13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int&gt;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5828427" y="3763373"/>
            <a:ext cx="172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call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>
                <a:highlight>
                  <a:srgbClr val="00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42" idx="0"/>
          </p:cNvCxnSpPr>
          <p:nvPr/>
        </p:nvCxnSpPr>
        <p:spPr>
          <a:xfrm>
            <a:off x="5297417" y="3504418"/>
            <a:ext cx="1393169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42" idx="2"/>
          </p:cNvCxnSpPr>
          <p:nvPr/>
        </p:nvCxnSpPr>
        <p:spPr>
          <a:xfrm flipV="1">
            <a:off x="6578734" y="4132705"/>
            <a:ext cx="111852" cy="536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5919418" y="4669580"/>
            <a:ext cx="13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</a:t>
            </a:r>
            <a:r>
              <a:rPr lang="en-US" dirty="0">
                <a:highlight>
                  <a:srgbClr val="00FFFF"/>
                </a:highlight>
                <a:sym typeface="Wingdings" pitchFamily="2" charset="2"/>
              </a:rPr>
              <a:t>int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5AF68-0CBA-1049-B6BF-3C07C046882E}"/>
              </a:ext>
            </a:extLst>
          </p:cNvPr>
          <p:cNvSpPr txBox="1"/>
          <p:nvPr/>
        </p:nvSpPr>
        <p:spPr>
          <a:xfrm>
            <a:off x="435477" y="4781006"/>
            <a:ext cx="3247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requires a function specification,</a:t>
            </a:r>
            <a:br>
              <a:rPr lang="en-US" dirty="0"/>
            </a:br>
            <a:r>
              <a:rPr lang="en-US" dirty="0"/>
              <a:t>using in the .h file:</a:t>
            </a:r>
          </a:p>
          <a:p>
            <a:endParaRPr lang="en-US" dirty="0"/>
          </a:p>
          <a:p>
            <a:r>
              <a:rPr lang="en-US" b="1" dirty="0">
                <a:highlight>
                  <a:srgbClr val="00FF00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sqrt(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x);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582FB-E1D4-CA4A-8C70-EFCA3B4C1736}"/>
              </a:ext>
            </a:extLst>
          </p:cNvPr>
          <p:cNvSpPr txBox="1"/>
          <p:nvPr/>
        </p:nvSpPr>
        <p:spPr>
          <a:xfrm>
            <a:off x="435477" y="6201839"/>
            <a:ext cx="1058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stored in the symbol table before type checking - think about C. you have to declare a function before you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81060-0CDB-CB4D-A78C-70F62CF7F2E7}"/>
              </a:ext>
            </a:extLst>
          </p:cNvPr>
          <p:cNvSpPr txBox="1"/>
          <p:nvPr/>
        </p:nvSpPr>
        <p:spPr>
          <a:xfrm>
            <a:off x="8154833" y="3181252"/>
            <a:ext cx="3038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type inference must make sure</a:t>
            </a:r>
          </a:p>
          <a:p>
            <a:r>
              <a:rPr lang="en-US" i="1" dirty="0"/>
              <a:t>arguments match types</a:t>
            </a:r>
          </a:p>
        </p:txBody>
      </p:sp>
    </p:spTree>
    <p:extLst>
      <p:ext uri="{BB962C8B-B14F-4D97-AF65-F5344CB8AC3E}">
        <p14:creationId xmlns:p14="http://schemas.microsoft.com/office/powerpoint/2010/main" val="37188922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functions handled?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740646" y="2215476"/>
            <a:ext cx="201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4624251" y="3135086"/>
            <a:ext cx="13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int&gt;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290476" y="3504418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3625325" y="3763373"/>
            <a:ext cx="13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int&gt;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5828427" y="3763373"/>
            <a:ext cx="172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call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>
                <a:highlight>
                  <a:srgbClr val="00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42" idx="0"/>
          </p:cNvCxnSpPr>
          <p:nvPr/>
        </p:nvCxnSpPr>
        <p:spPr>
          <a:xfrm>
            <a:off x="5297417" y="3504418"/>
            <a:ext cx="1393169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16" idx="2"/>
          </p:cNvCxnSpPr>
          <p:nvPr/>
        </p:nvCxnSpPr>
        <p:spPr>
          <a:xfrm flipH="1" flipV="1">
            <a:off x="6830143" y="4846583"/>
            <a:ext cx="1" cy="375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6170828" y="5221719"/>
            <a:ext cx="13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</a:t>
            </a:r>
            <a:r>
              <a:rPr lang="en-US" dirty="0">
                <a:highlight>
                  <a:srgbClr val="00FFFF"/>
                </a:highlight>
                <a:sym typeface="Wingdings" pitchFamily="2" charset="2"/>
              </a:rPr>
              <a:t>int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5AF68-0CBA-1049-B6BF-3C07C046882E}"/>
              </a:ext>
            </a:extLst>
          </p:cNvPr>
          <p:cNvSpPr txBox="1"/>
          <p:nvPr/>
        </p:nvSpPr>
        <p:spPr>
          <a:xfrm>
            <a:off x="435477" y="4781006"/>
            <a:ext cx="3247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requires a function specification,</a:t>
            </a:r>
            <a:br>
              <a:rPr lang="en-US" dirty="0"/>
            </a:br>
            <a:r>
              <a:rPr lang="en-US" dirty="0"/>
              <a:t>using in the .h file:</a:t>
            </a:r>
          </a:p>
          <a:p>
            <a:endParaRPr lang="en-US" dirty="0"/>
          </a:p>
          <a:p>
            <a:r>
              <a:rPr lang="en-US" b="1" dirty="0">
                <a:highlight>
                  <a:srgbClr val="00FF00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sqrt(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x);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582FB-E1D4-CA4A-8C70-EFCA3B4C1736}"/>
              </a:ext>
            </a:extLst>
          </p:cNvPr>
          <p:cNvSpPr txBox="1"/>
          <p:nvPr/>
        </p:nvSpPr>
        <p:spPr>
          <a:xfrm>
            <a:off x="435477" y="6201839"/>
            <a:ext cx="1058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stored in the symbol table before type checking - think about C. you have to declare a function before you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81060-0CDB-CB4D-A78C-70F62CF7F2E7}"/>
              </a:ext>
            </a:extLst>
          </p:cNvPr>
          <p:cNvSpPr txBox="1"/>
          <p:nvPr/>
        </p:nvSpPr>
        <p:spPr>
          <a:xfrm>
            <a:off x="8043197" y="4336275"/>
            <a:ext cx="3038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type inference must make sure</a:t>
            </a:r>
          </a:p>
          <a:p>
            <a:r>
              <a:rPr lang="en-US" i="1" dirty="0"/>
              <a:t>arguments match types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5CEFB-F2D8-224F-9AC5-408650F59579}"/>
              </a:ext>
            </a:extLst>
          </p:cNvPr>
          <p:cNvSpPr txBox="1"/>
          <p:nvPr/>
        </p:nvSpPr>
        <p:spPr>
          <a:xfrm>
            <a:off x="5725481" y="4477251"/>
            <a:ext cx="220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&lt;int2float, float&gt; 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56865A-4D35-E541-8B3E-4AAD500C409B}"/>
              </a:ext>
            </a:extLst>
          </p:cNvPr>
          <p:cNvCxnSpPr>
            <a:cxnSpLocks/>
            <a:stCxn id="16" idx="0"/>
            <a:endCxn id="42" idx="2"/>
          </p:cNvCxnSpPr>
          <p:nvPr/>
        </p:nvCxnSpPr>
        <p:spPr>
          <a:xfrm flipH="1" flipV="1">
            <a:off x="6690586" y="4132705"/>
            <a:ext cx="139557" cy="344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485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functions handled?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740646" y="2215476"/>
            <a:ext cx="201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4624251" y="3135086"/>
            <a:ext cx="13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int&gt;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290476" y="3504418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3625325" y="3763373"/>
            <a:ext cx="13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int&gt;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5828427" y="3763373"/>
            <a:ext cx="172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call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>
                <a:highlight>
                  <a:srgbClr val="00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42" idx="0"/>
          </p:cNvCxnSpPr>
          <p:nvPr/>
        </p:nvCxnSpPr>
        <p:spPr>
          <a:xfrm>
            <a:off x="5297417" y="3504418"/>
            <a:ext cx="1393169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16" idx="2"/>
          </p:cNvCxnSpPr>
          <p:nvPr/>
        </p:nvCxnSpPr>
        <p:spPr>
          <a:xfrm flipH="1" flipV="1">
            <a:off x="6830143" y="4846583"/>
            <a:ext cx="1" cy="375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6170828" y="5221719"/>
            <a:ext cx="13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</a:t>
            </a:r>
            <a:r>
              <a:rPr lang="en-US" dirty="0">
                <a:highlight>
                  <a:srgbClr val="00FFFF"/>
                </a:highlight>
                <a:sym typeface="Wingdings" pitchFamily="2" charset="2"/>
              </a:rPr>
              <a:t>int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5AF68-0CBA-1049-B6BF-3C07C046882E}"/>
              </a:ext>
            </a:extLst>
          </p:cNvPr>
          <p:cNvSpPr txBox="1"/>
          <p:nvPr/>
        </p:nvSpPr>
        <p:spPr>
          <a:xfrm>
            <a:off x="435477" y="4781006"/>
            <a:ext cx="3247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requires a function specification,</a:t>
            </a:r>
            <a:br>
              <a:rPr lang="en-US" dirty="0"/>
            </a:br>
            <a:r>
              <a:rPr lang="en-US" dirty="0"/>
              <a:t>using in the .h file:</a:t>
            </a:r>
          </a:p>
          <a:p>
            <a:endParaRPr lang="en-US" dirty="0"/>
          </a:p>
          <a:p>
            <a:r>
              <a:rPr lang="en-US" b="1" dirty="0">
                <a:highlight>
                  <a:srgbClr val="00FF00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sqrt(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x);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582FB-E1D4-CA4A-8C70-EFCA3B4C1736}"/>
              </a:ext>
            </a:extLst>
          </p:cNvPr>
          <p:cNvSpPr txBox="1"/>
          <p:nvPr/>
        </p:nvSpPr>
        <p:spPr>
          <a:xfrm>
            <a:off x="435477" y="6201839"/>
            <a:ext cx="1058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stored in the symbol table before type checking - think about C. you have to declare a function before you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81060-0CDB-CB4D-A78C-70F62CF7F2E7}"/>
              </a:ext>
            </a:extLst>
          </p:cNvPr>
          <p:cNvSpPr txBox="1"/>
          <p:nvPr/>
        </p:nvSpPr>
        <p:spPr>
          <a:xfrm>
            <a:off x="6760364" y="2817354"/>
            <a:ext cx="3669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would type inference finish this?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5CEFB-F2D8-224F-9AC5-408650F59579}"/>
              </a:ext>
            </a:extLst>
          </p:cNvPr>
          <p:cNvSpPr txBox="1"/>
          <p:nvPr/>
        </p:nvSpPr>
        <p:spPr>
          <a:xfrm>
            <a:off x="5725481" y="4477251"/>
            <a:ext cx="220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&lt;int2float, float&gt; 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56865A-4D35-E541-8B3E-4AAD500C409B}"/>
              </a:ext>
            </a:extLst>
          </p:cNvPr>
          <p:cNvCxnSpPr>
            <a:cxnSpLocks/>
            <a:stCxn id="16" idx="0"/>
            <a:endCxn id="42" idx="2"/>
          </p:cNvCxnSpPr>
          <p:nvPr/>
        </p:nvCxnSpPr>
        <p:spPr>
          <a:xfrm flipH="1" flipV="1">
            <a:off x="6690586" y="4132705"/>
            <a:ext cx="139557" cy="344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1560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functions handled?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740646" y="2215476"/>
            <a:ext cx="201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4353538" y="2725295"/>
            <a:ext cx="13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int&gt;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290476" y="3094627"/>
            <a:ext cx="736228" cy="668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3625325" y="3763373"/>
            <a:ext cx="13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int&gt;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5828427" y="3763373"/>
            <a:ext cx="172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call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>
                <a:highlight>
                  <a:srgbClr val="00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18" idx="2"/>
            <a:endCxn id="42" idx="0"/>
          </p:cNvCxnSpPr>
          <p:nvPr/>
        </p:nvCxnSpPr>
        <p:spPr>
          <a:xfrm>
            <a:off x="6457977" y="3419949"/>
            <a:ext cx="232609" cy="3434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16" idx="2"/>
          </p:cNvCxnSpPr>
          <p:nvPr/>
        </p:nvCxnSpPr>
        <p:spPr>
          <a:xfrm flipH="1" flipV="1">
            <a:off x="6830143" y="4846583"/>
            <a:ext cx="1" cy="375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6170828" y="5221719"/>
            <a:ext cx="13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</a:t>
            </a:r>
            <a:r>
              <a:rPr lang="en-US" dirty="0">
                <a:highlight>
                  <a:srgbClr val="00FFFF"/>
                </a:highlight>
                <a:sym typeface="Wingdings" pitchFamily="2" charset="2"/>
              </a:rPr>
              <a:t>int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5AF68-0CBA-1049-B6BF-3C07C046882E}"/>
              </a:ext>
            </a:extLst>
          </p:cNvPr>
          <p:cNvSpPr txBox="1"/>
          <p:nvPr/>
        </p:nvSpPr>
        <p:spPr>
          <a:xfrm>
            <a:off x="435477" y="4781006"/>
            <a:ext cx="3247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requires a function specification,</a:t>
            </a:r>
            <a:br>
              <a:rPr lang="en-US" dirty="0"/>
            </a:br>
            <a:r>
              <a:rPr lang="en-US" dirty="0"/>
              <a:t>using in the .h file:</a:t>
            </a:r>
          </a:p>
          <a:p>
            <a:endParaRPr lang="en-US" dirty="0"/>
          </a:p>
          <a:p>
            <a:r>
              <a:rPr lang="en-US" b="1" dirty="0">
                <a:highlight>
                  <a:srgbClr val="00FF00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sqrt(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</a:rPr>
              <a:t>float</a:t>
            </a:r>
            <a:r>
              <a:rPr lang="en-US" b="1" dirty="0">
                <a:latin typeface="Courier" pitchFamily="2" charset="0"/>
              </a:rPr>
              <a:t> x);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582FB-E1D4-CA4A-8C70-EFCA3B4C1736}"/>
              </a:ext>
            </a:extLst>
          </p:cNvPr>
          <p:cNvSpPr txBox="1"/>
          <p:nvPr/>
        </p:nvSpPr>
        <p:spPr>
          <a:xfrm>
            <a:off x="435477" y="6201839"/>
            <a:ext cx="1058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stored in the symbol table before type checking - think about C. you have to declare a function before you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81060-0CDB-CB4D-A78C-70F62CF7F2E7}"/>
              </a:ext>
            </a:extLst>
          </p:cNvPr>
          <p:cNvSpPr txBox="1"/>
          <p:nvPr/>
        </p:nvSpPr>
        <p:spPr>
          <a:xfrm>
            <a:off x="7934804" y="1578807"/>
            <a:ext cx="39111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would type inference finish this?</a:t>
            </a:r>
            <a:br>
              <a:rPr lang="en-US" i="1" dirty="0"/>
            </a:br>
            <a:r>
              <a:rPr lang="en-US" b="1" i="1" dirty="0"/>
              <a:t>remember that assignment converts to</a:t>
            </a:r>
            <a:br>
              <a:rPr lang="en-US" b="1" i="1" dirty="0"/>
            </a:br>
            <a:r>
              <a:rPr lang="en-US" b="1" i="1" dirty="0"/>
              <a:t>the </a:t>
            </a:r>
            <a:r>
              <a:rPr lang="en-US" b="1" i="1" dirty="0" err="1"/>
              <a:t>lhs</a:t>
            </a:r>
            <a:r>
              <a:rPr lang="en-US" b="1" i="1" dirty="0"/>
              <a:t> type</a:t>
            </a:r>
          </a:p>
          <a:p>
            <a:endParaRPr lang="en-US" b="1" i="1" dirty="0"/>
          </a:p>
          <a:p>
            <a:r>
              <a:rPr lang="en-US" i="1" dirty="0"/>
              <a:t>Binding to the dummy parameter is a</a:t>
            </a:r>
          </a:p>
          <a:p>
            <a:r>
              <a:rPr lang="en-US" i="1" dirty="0"/>
              <a:t>type of assignment.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5CEFB-F2D8-224F-9AC5-408650F59579}"/>
              </a:ext>
            </a:extLst>
          </p:cNvPr>
          <p:cNvSpPr txBox="1"/>
          <p:nvPr/>
        </p:nvSpPr>
        <p:spPr>
          <a:xfrm>
            <a:off x="5725481" y="4477251"/>
            <a:ext cx="220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&lt;int2float, float&gt; 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56865A-4D35-E541-8B3E-4AAD500C409B}"/>
              </a:ext>
            </a:extLst>
          </p:cNvPr>
          <p:cNvCxnSpPr>
            <a:cxnSpLocks/>
            <a:stCxn id="16" idx="0"/>
            <a:endCxn id="42" idx="2"/>
          </p:cNvCxnSpPr>
          <p:nvPr/>
        </p:nvCxnSpPr>
        <p:spPr>
          <a:xfrm flipH="1" flipV="1">
            <a:off x="6690586" y="4132705"/>
            <a:ext cx="139557" cy="344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848904-906E-D745-B8D0-D53561076F04}"/>
              </a:ext>
            </a:extLst>
          </p:cNvPr>
          <p:cNvSpPr txBox="1"/>
          <p:nvPr/>
        </p:nvSpPr>
        <p:spPr>
          <a:xfrm>
            <a:off x="5443885" y="3050617"/>
            <a:ext cx="2028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&lt;float2int, int&gt; 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379AE0-E2D0-B84D-96D9-9D152F965068}"/>
              </a:ext>
            </a:extLst>
          </p:cNvPr>
          <p:cNvCxnSpPr>
            <a:cxnSpLocks/>
            <a:stCxn id="3" idx="3"/>
            <a:endCxn id="18" idx="0"/>
          </p:cNvCxnSpPr>
          <p:nvPr/>
        </p:nvCxnSpPr>
        <p:spPr>
          <a:xfrm>
            <a:off x="5699869" y="2909961"/>
            <a:ext cx="758108" cy="1406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974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E5F5-0D17-22E5-7840-C406A1C8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ED3E-CB17-36C8-1465-8A3E9115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560" y="2407285"/>
            <a:ext cx="8366760" cy="1325563"/>
          </a:xfrm>
        </p:spPr>
        <p:txBody>
          <a:bodyPr>
            <a:normAutofit fontScale="90000"/>
          </a:bodyPr>
          <a:lstStyle/>
          <a:p>
            <a:r>
              <a:rPr lang="en-US" sz="8000" b="1" dirty="0"/>
              <a:t>Topic: More on Types</a:t>
            </a:r>
          </a:p>
        </p:txBody>
      </p:sp>
    </p:spTree>
    <p:extLst>
      <p:ext uri="{BB962C8B-B14F-4D97-AF65-F5344CB8AC3E}">
        <p14:creationId xmlns:p14="http://schemas.microsoft.com/office/powerpoint/2010/main" val="41492562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floats to </a:t>
            </a:r>
            <a:r>
              <a:rPr lang="en-US" dirty="0" err="1"/>
              <a:t>ints</a:t>
            </a:r>
            <a:r>
              <a:rPr lang="en-US" dirty="0"/>
              <a:t>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557766" y="2387714"/>
            <a:ext cx="34619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</a:t>
            </a:r>
            <a:r>
              <a:rPr lang="en-US" dirty="0" err="1">
                <a:latin typeface="Courier" pitchFamily="2" charset="0"/>
              </a:rPr>
              <a:t>int_sqrt</a:t>
            </a:r>
            <a:r>
              <a:rPr lang="en-US" dirty="0">
                <a:latin typeface="Courier" pitchFamily="2" charset="0"/>
              </a:rPr>
              <a:t>(int input);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float x;</a:t>
            </a:r>
          </a:p>
          <a:p>
            <a:r>
              <a:rPr lang="en-US" dirty="0">
                <a:latin typeface="Courier" pitchFamily="2" charset="0"/>
              </a:rPr>
              <a:t>float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 err="1">
                <a:latin typeface="Courier" pitchFamily="2" charset="0"/>
              </a:rPr>
              <a:t>int_sqrt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6877072" y="3161211"/>
            <a:ext cx="152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float&gt;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6633866" y="3530543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5878146" y="3789498"/>
            <a:ext cx="151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8081248" y="3789498"/>
            <a:ext cx="1543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&lt;call, int&gt;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42" idx="0"/>
          </p:cNvCxnSpPr>
          <p:nvPr/>
        </p:nvCxnSpPr>
        <p:spPr>
          <a:xfrm>
            <a:off x="7640807" y="3530543"/>
            <a:ext cx="121203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42" idx="2"/>
          </p:cNvCxnSpPr>
          <p:nvPr/>
        </p:nvCxnSpPr>
        <p:spPr>
          <a:xfrm flipH="1" flipV="1">
            <a:off x="8852838" y="4158830"/>
            <a:ext cx="69286" cy="536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8172239" y="4695705"/>
            <a:ext cx="1499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25EF9-9BF7-A640-9FE6-064FC8A7A430}"/>
              </a:ext>
            </a:extLst>
          </p:cNvPr>
          <p:cNvSpPr txBox="1"/>
          <p:nvPr/>
        </p:nvSpPr>
        <p:spPr>
          <a:xfrm>
            <a:off x="557766" y="4242601"/>
            <a:ext cx="195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Does this compile?</a:t>
            </a:r>
          </a:p>
        </p:txBody>
      </p:sp>
    </p:spTree>
    <p:extLst>
      <p:ext uri="{BB962C8B-B14F-4D97-AF65-F5344CB8AC3E}">
        <p14:creationId xmlns:p14="http://schemas.microsoft.com/office/powerpoint/2010/main" val="152439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floats to </a:t>
            </a:r>
            <a:r>
              <a:rPr lang="en-US" dirty="0" err="1"/>
              <a:t>ints</a:t>
            </a:r>
            <a:r>
              <a:rPr lang="en-US" dirty="0"/>
              <a:t>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557766" y="2387714"/>
            <a:ext cx="34619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</a:t>
            </a:r>
            <a:r>
              <a:rPr lang="en-US" dirty="0" err="1">
                <a:latin typeface="Courier" pitchFamily="2" charset="0"/>
              </a:rPr>
              <a:t>int_sqrt</a:t>
            </a:r>
            <a:r>
              <a:rPr lang="en-US" dirty="0">
                <a:latin typeface="Courier" pitchFamily="2" charset="0"/>
              </a:rPr>
              <a:t>(int input);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float x;</a:t>
            </a:r>
          </a:p>
          <a:p>
            <a:r>
              <a:rPr lang="en-US" dirty="0">
                <a:latin typeface="Courier" pitchFamily="2" charset="0"/>
              </a:rPr>
              <a:t>float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 err="1">
                <a:latin typeface="Courier" pitchFamily="2" charset="0"/>
              </a:rPr>
              <a:t>int_sqrt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6877072" y="3161211"/>
            <a:ext cx="152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float&gt;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6633866" y="3530543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5878146" y="3789498"/>
            <a:ext cx="151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8081248" y="3789498"/>
            <a:ext cx="1543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&lt;call, int&gt;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42" idx="0"/>
          </p:cNvCxnSpPr>
          <p:nvPr/>
        </p:nvCxnSpPr>
        <p:spPr>
          <a:xfrm>
            <a:off x="7640807" y="3530543"/>
            <a:ext cx="121203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42" idx="2"/>
          </p:cNvCxnSpPr>
          <p:nvPr/>
        </p:nvCxnSpPr>
        <p:spPr>
          <a:xfrm flipH="1" flipV="1">
            <a:off x="8852838" y="4158830"/>
            <a:ext cx="69286" cy="536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8172239" y="4695705"/>
            <a:ext cx="1499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float</a:t>
            </a:r>
            <a:r>
              <a:rPr lang="en-US" dirty="0">
                <a:sym typeface="Wingdings" pitchFamily="2" charset="2"/>
              </a:rPr>
              <a:t>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25EF9-9BF7-A640-9FE6-064FC8A7A430}"/>
              </a:ext>
            </a:extLst>
          </p:cNvPr>
          <p:cNvSpPr txBox="1"/>
          <p:nvPr/>
        </p:nvSpPr>
        <p:spPr>
          <a:xfrm>
            <a:off x="557766" y="4242601"/>
            <a:ext cx="50385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Does this compile? Yes!</a:t>
            </a:r>
          </a:p>
          <a:p>
            <a:endParaRPr lang="en-US" i="1" dirty="0"/>
          </a:p>
          <a:p>
            <a:r>
              <a:rPr lang="en-US" i="1" dirty="0"/>
              <a:t>In this case the compiler will convert floats to an int.</a:t>
            </a:r>
          </a:p>
          <a:p>
            <a:r>
              <a:rPr lang="en-US" i="1" dirty="0"/>
              <a:t>Is that the right choice? ...</a:t>
            </a:r>
          </a:p>
        </p:txBody>
      </p:sp>
    </p:spTree>
    <p:extLst>
      <p:ext uri="{BB962C8B-B14F-4D97-AF65-F5344CB8AC3E}">
        <p14:creationId xmlns:p14="http://schemas.microsoft.com/office/powerpoint/2010/main" val="39905046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A43-0446-2448-932F-569170B4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floats to </a:t>
            </a:r>
            <a:r>
              <a:rPr lang="en-US" dirty="0" err="1"/>
              <a:t>ints</a:t>
            </a:r>
            <a:r>
              <a:rPr lang="en-US" dirty="0"/>
              <a:t>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94031-93AA-D544-9045-FE051C4C4606}"/>
              </a:ext>
            </a:extLst>
          </p:cNvPr>
          <p:cNvSpPr txBox="1"/>
          <p:nvPr/>
        </p:nvSpPr>
        <p:spPr>
          <a:xfrm>
            <a:off x="557766" y="2387714"/>
            <a:ext cx="34619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</a:t>
            </a:r>
            <a:r>
              <a:rPr lang="en-US" dirty="0" err="1">
                <a:latin typeface="Courier" pitchFamily="2" charset="0"/>
              </a:rPr>
              <a:t>int_sqrt</a:t>
            </a:r>
            <a:r>
              <a:rPr lang="en-US" dirty="0">
                <a:latin typeface="Courier" pitchFamily="2" charset="0"/>
              </a:rPr>
              <a:t>(int input);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float x;</a:t>
            </a:r>
          </a:p>
          <a:p>
            <a:r>
              <a:rPr lang="en-US" dirty="0">
                <a:latin typeface="Courier" pitchFamily="2" charset="0"/>
              </a:rPr>
              <a:t>float y;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x = </a:t>
            </a:r>
            <a:r>
              <a:rPr lang="en-US" dirty="0" err="1">
                <a:latin typeface="Courier" pitchFamily="2" charset="0"/>
              </a:rPr>
              <a:t>int_sqrt</a:t>
            </a:r>
            <a:r>
              <a:rPr lang="en-US" dirty="0">
                <a:latin typeface="Courier" pitchFamily="2" charset="0"/>
              </a:rPr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1AADD-9E18-814D-99A4-3D7A958B78AA}"/>
              </a:ext>
            </a:extLst>
          </p:cNvPr>
          <p:cNvSpPr txBox="1"/>
          <p:nvPr/>
        </p:nvSpPr>
        <p:spPr>
          <a:xfrm>
            <a:off x="6877072" y="3161211"/>
            <a:ext cx="152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&lt;=, float&gt;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6BB5A3-5E04-0649-84B9-B4E28E9DC170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6633866" y="3530543"/>
            <a:ext cx="1006941" cy="25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02A226-A657-B940-8C2D-6881D2C6BA68}"/>
              </a:ext>
            </a:extLst>
          </p:cNvPr>
          <p:cNvSpPr txBox="1"/>
          <p:nvPr/>
        </p:nvSpPr>
        <p:spPr>
          <a:xfrm>
            <a:off x="5878146" y="3789498"/>
            <a:ext cx="151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&lt;x, float&gt; 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D1858-336C-4D43-AF2E-0F657429C039}"/>
              </a:ext>
            </a:extLst>
          </p:cNvPr>
          <p:cNvSpPr txBox="1"/>
          <p:nvPr/>
        </p:nvSpPr>
        <p:spPr>
          <a:xfrm>
            <a:off x="8081248" y="4221317"/>
            <a:ext cx="1543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&lt;call, int&gt; 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3865F-2515-744C-A329-2136C094FA95}"/>
              </a:ext>
            </a:extLst>
          </p:cNvPr>
          <p:cNvCxnSpPr>
            <a:cxnSpLocks/>
            <a:stCxn id="3" idx="2"/>
            <a:endCxn id="24" idx="0"/>
          </p:cNvCxnSpPr>
          <p:nvPr/>
        </p:nvCxnSpPr>
        <p:spPr>
          <a:xfrm>
            <a:off x="7640807" y="3530543"/>
            <a:ext cx="1212030" cy="189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280A30-E0A5-BA4B-B2E9-FDC5D7CC100C}"/>
              </a:ext>
            </a:extLst>
          </p:cNvPr>
          <p:cNvCxnSpPr>
            <a:cxnSpLocks/>
            <a:stCxn id="45" idx="0"/>
            <a:endCxn id="13" idx="2"/>
          </p:cNvCxnSpPr>
          <p:nvPr/>
        </p:nvCxnSpPr>
        <p:spPr>
          <a:xfrm flipV="1">
            <a:off x="8874542" y="5239478"/>
            <a:ext cx="0" cy="2794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5AD73B-002C-214C-A6F6-77DBB2E3EBC5}"/>
              </a:ext>
            </a:extLst>
          </p:cNvPr>
          <p:cNvSpPr txBox="1"/>
          <p:nvPr/>
        </p:nvSpPr>
        <p:spPr>
          <a:xfrm>
            <a:off x="8124657" y="5518976"/>
            <a:ext cx="1499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en-US" dirty="0">
                <a:sym typeface="Wingdings" pitchFamily="2" charset="2"/>
              </a:rPr>
              <a:t> &lt;y, float&gt;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25EF9-9BF7-A640-9FE6-064FC8A7A430}"/>
              </a:ext>
            </a:extLst>
          </p:cNvPr>
          <p:cNvSpPr txBox="1"/>
          <p:nvPr/>
        </p:nvSpPr>
        <p:spPr>
          <a:xfrm>
            <a:off x="557766" y="4242601"/>
            <a:ext cx="50385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Does this compile? Yes!</a:t>
            </a:r>
          </a:p>
          <a:p>
            <a:endParaRPr lang="en-US" i="1" dirty="0"/>
          </a:p>
          <a:p>
            <a:r>
              <a:rPr lang="en-US" i="1" dirty="0"/>
              <a:t>In this case the compiler will convert floats to an int.</a:t>
            </a:r>
          </a:p>
          <a:p>
            <a:r>
              <a:rPr lang="en-US" i="1" dirty="0"/>
              <a:t>Is that the right choice? ...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93D373-1F3B-4540-9843-9F92CB16443C}"/>
              </a:ext>
            </a:extLst>
          </p:cNvPr>
          <p:cNvSpPr txBox="1"/>
          <p:nvPr/>
        </p:nvSpPr>
        <p:spPr>
          <a:xfrm>
            <a:off x="7860450" y="4870146"/>
            <a:ext cx="2028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 &lt;float2int, int&gt; 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2962AB-046E-994E-A74D-B782AEC52512}"/>
              </a:ext>
            </a:extLst>
          </p:cNvPr>
          <p:cNvCxnSpPr>
            <a:cxnSpLocks/>
            <a:stCxn id="13" idx="0"/>
            <a:endCxn id="42" idx="2"/>
          </p:cNvCxnSpPr>
          <p:nvPr/>
        </p:nvCxnSpPr>
        <p:spPr>
          <a:xfrm flipH="1" flipV="1">
            <a:off x="8852838" y="4590649"/>
            <a:ext cx="21704" cy="279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3253064-5352-1D4E-8841-434438C85282}"/>
              </a:ext>
            </a:extLst>
          </p:cNvPr>
          <p:cNvSpPr txBox="1"/>
          <p:nvPr/>
        </p:nvSpPr>
        <p:spPr>
          <a:xfrm>
            <a:off x="7748175" y="3720206"/>
            <a:ext cx="220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 &lt;int2float, float&gt; 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52DE27-6183-7848-BBF6-CFC547CA8B9D}"/>
              </a:ext>
            </a:extLst>
          </p:cNvPr>
          <p:cNvCxnSpPr>
            <a:cxnSpLocks/>
            <a:stCxn id="42" idx="0"/>
            <a:endCxn id="24" idx="2"/>
          </p:cNvCxnSpPr>
          <p:nvPr/>
        </p:nvCxnSpPr>
        <p:spPr>
          <a:xfrm flipH="1" flipV="1">
            <a:off x="8852837" y="4089538"/>
            <a:ext cx="1" cy="1317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1367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1BFB-D3E7-6B4A-9AB0-DDDAE11F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CB84D-D6B4-2F4B-9AF5-982C652B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languages (and styles) state that the programmer extends the type system through functions</a:t>
            </a:r>
          </a:p>
          <a:p>
            <a:endParaRPr lang="en-US" dirty="0"/>
          </a:p>
          <a:p>
            <a:r>
              <a:rPr lang="en-US" dirty="0"/>
              <a:t>Other languages allow operator overloading</a:t>
            </a:r>
          </a:p>
          <a:p>
            <a:pPr lvl="1"/>
            <a:r>
              <a:rPr lang="en-US" dirty="0"/>
              <a:t>Controversial design pattern</a:t>
            </a:r>
          </a:p>
          <a:p>
            <a:pPr lvl="1"/>
            <a:r>
              <a:rPr lang="en-US" dirty="0"/>
              <a:t>But it can be really nice (e.g. it is used extensively in LLVM internals) </a:t>
            </a:r>
          </a:p>
        </p:txBody>
      </p:sp>
    </p:spTree>
    <p:extLst>
      <p:ext uri="{BB962C8B-B14F-4D97-AF65-F5344CB8AC3E}">
        <p14:creationId xmlns:p14="http://schemas.microsoft.com/office/powerpoint/2010/main" val="11490828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E29270-D69F-6546-98C2-3D4C20F8E2C9}"/>
              </a:ext>
            </a:extLst>
          </p:cNvPr>
          <p:cNvSpPr/>
          <p:nvPr/>
        </p:nvSpPr>
        <p:spPr>
          <a:xfrm>
            <a:off x="383178" y="1127993"/>
            <a:ext cx="596537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sz="1400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9FA01C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sz="1400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// Constructor to initialize real and </a:t>
            </a:r>
            <a:r>
              <a:rPr lang="en-US" sz="1400" dirty="0" err="1">
                <a:solidFill>
                  <a:srgbClr val="B42419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 to 0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 : real(0),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(0) {}</a:t>
            </a: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// Overload the + operator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&amp;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obj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      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real +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obj.real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obj.imag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      return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temp;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208194-12B5-9B47-B656-BBA954DE963F}"/>
              </a:ext>
            </a:extLst>
          </p:cNvPr>
          <p:cNvSpPr/>
          <p:nvPr/>
        </p:nvSpPr>
        <p:spPr>
          <a:xfrm>
            <a:off x="226422" y="6345424"/>
            <a:ext cx="77941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code from: https://</a:t>
            </a:r>
            <a:r>
              <a:rPr lang="en-US" sz="1400" dirty="0" err="1"/>
              <a:t>www.programiz.com</a:t>
            </a:r>
            <a:r>
              <a:rPr lang="en-US" sz="1400" dirty="0"/>
              <a:t>/</a:t>
            </a:r>
            <a:r>
              <a:rPr lang="en-US" sz="1400" dirty="0" err="1"/>
              <a:t>cpp</a:t>
            </a:r>
            <a:r>
              <a:rPr lang="en-US" sz="1400" dirty="0"/>
              <a:t>-programming/operator-overloading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650CC178-A0D0-CD4F-9BD1-7F65DE3E5449}"/>
              </a:ext>
            </a:extLst>
          </p:cNvPr>
          <p:cNvGraphicFramePr>
            <a:graphicFrameLocks noGrp="1"/>
          </p:cNvGraphicFramePr>
          <p:nvPr/>
        </p:nvGraphicFramePr>
        <p:xfrm>
          <a:off x="6609501" y="1506573"/>
          <a:ext cx="519932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6275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90205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2532841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68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0907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E1C3AB-45E1-0342-8840-74464C448A84}"/>
              </a:ext>
            </a:extLst>
          </p:cNvPr>
          <p:cNvSpPr txBox="1"/>
          <p:nvPr/>
        </p:nvSpPr>
        <p:spPr>
          <a:xfrm>
            <a:off x="6609501" y="1049616"/>
            <a:ext cx="2470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b="1" i="1" dirty="0"/>
              <a:t>plus</a:t>
            </a:r>
            <a:r>
              <a:rPr lang="en-US" dirty="0"/>
              <a:t> binary ops</a:t>
            </a:r>
          </a:p>
        </p:txBody>
      </p:sp>
    </p:spTree>
    <p:extLst>
      <p:ext uri="{BB962C8B-B14F-4D97-AF65-F5344CB8AC3E}">
        <p14:creationId xmlns:p14="http://schemas.microsoft.com/office/powerpoint/2010/main" val="32453286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E29270-D69F-6546-98C2-3D4C20F8E2C9}"/>
              </a:ext>
            </a:extLst>
          </p:cNvPr>
          <p:cNvSpPr/>
          <p:nvPr/>
        </p:nvSpPr>
        <p:spPr>
          <a:xfrm>
            <a:off x="383178" y="1127993"/>
            <a:ext cx="596537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sz="1400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9FA01C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sz="1400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// Constructor to initialize real and </a:t>
            </a:r>
            <a:r>
              <a:rPr lang="en-US" sz="1400" dirty="0" err="1">
                <a:solidFill>
                  <a:srgbClr val="B42419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 to 0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 : real(0),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(0) {}</a:t>
            </a: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// Overload the + operator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&amp;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obj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      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real +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obj.real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obj.imag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      return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temp;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}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208194-12B5-9B47-B656-BBA954DE963F}"/>
              </a:ext>
            </a:extLst>
          </p:cNvPr>
          <p:cNvSpPr/>
          <p:nvPr/>
        </p:nvSpPr>
        <p:spPr>
          <a:xfrm>
            <a:off x="226422" y="6345424"/>
            <a:ext cx="77941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code from: https://</a:t>
            </a:r>
            <a:r>
              <a:rPr lang="en-US" sz="1400" dirty="0" err="1"/>
              <a:t>www.programiz.com</a:t>
            </a:r>
            <a:r>
              <a:rPr lang="en-US" sz="1400" dirty="0"/>
              <a:t>/</a:t>
            </a:r>
            <a:r>
              <a:rPr lang="en-US" sz="1400" dirty="0" err="1"/>
              <a:t>cpp</a:t>
            </a:r>
            <a:r>
              <a:rPr lang="en-US" sz="1400" dirty="0"/>
              <a:t>-programming/operator-overloading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650CC178-A0D0-CD4F-9BD1-7F65DE3E5449}"/>
              </a:ext>
            </a:extLst>
          </p:cNvPr>
          <p:cNvGraphicFramePr>
            <a:graphicFrameLocks noGrp="1"/>
          </p:cNvGraphicFramePr>
          <p:nvPr/>
        </p:nvGraphicFramePr>
        <p:xfrm>
          <a:off x="6609501" y="1506573"/>
          <a:ext cx="519932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6275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90205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2532841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68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0907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E1C3AB-45E1-0342-8840-74464C448A84}"/>
              </a:ext>
            </a:extLst>
          </p:cNvPr>
          <p:cNvSpPr txBox="1"/>
          <p:nvPr/>
        </p:nvSpPr>
        <p:spPr>
          <a:xfrm>
            <a:off x="6609501" y="1049616"/>
            <a:ext cx="2470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b="1" i="1" dirty="0"/>
              <a:t>plus</a:t>
            </a:r>
            <a:r>
              <a:rPr lang="en-US" dirty="0"/>
              <a:t> binary ops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7FA35F-0324-8A45-B299-F20481F2DADA}"/>
              </a:ext>
            </a:extLst>
          </p:cNvPr>
          <p:cNvSpPr/>
          <p:nvPr/>
        </p:nvSpPr>
        <p:spPr>
          <a:xfrm>
            <a:off x="766354" y="4619357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&amp; </a:t>
            </a:r>
            <a:r>
              <a:rPr lang="en-US" sz="1400" dirty="0" err="1">
                <a:solidFill>
                  <a:srgbClr val="9FA01C"/>
                </a:solidFill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  <a:endParaRPr lang="en-US" sz="1400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real +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temp;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9232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E29270-D69F-6546-98C2-3D4C20F8E2C9}"/>
              </a:ext>
            </a:extLst>
          </p:cNvPr>
          <p:cNvSpPr/>
          <p:nvPr/>
        </p:nvSpPr>
        <p:spPr>
          <a:xfrm>
            <a:off x="383178" y="1127993"/>
            <a:ext cx="596537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sz="1400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9FA01C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sz="1400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// Constructor to initialize real and </a:t>
            </a:r>
            <a:r>
              <a:rPr lang="en-US" sz="1400" dirty="0" err="1">
                <a:solidFill>
                  <a:srgbClr val="B42419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 to 0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 : real(0),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(0) {}</a:t>
            </a: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// Overload the + operator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&amp;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obj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      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real +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obj.real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obj.imag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      return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temp;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}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208194-12B5-9B47-B656-BBA954DE963F}"/>
              </a:ext>
            </a:extLst>
          </p:cNvPr>
          <p:cNvSpPr/>
          <p:nvPr/>
        </p:nvSpPr>
        <p:spPr>
          <a:xfrm>
            <a:off x="226422" y="6345424"/>
            <a:ext cx="77941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code from: https://</a:t>
            </a:r>
            <a:r>
              <a:rPr lang="en-US" sz="1400" dirty="0" err="1"/>
              <a:t>www.programiz.com</a:t>
            </a:r>
            <a:r>
              <a:rPr lang="en-US" sz="1400" dirty="0"/>
              <a:t>/</a:t>
            </a:r>
            <a:r>
              <a:rPr lang="en-US" sz="1400" dirty="0" err="1"/>
              <a:t>cpp</a:t>
            </a:r>
            <a:r>
              <a:rPr lang="en-US" sz="1400" dirty="0"/>
              <a:t>-programming/operator-overloading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650CC178-A0D0-CD4F-9BD1-7F65DE3E5449}"/>
              </a:ext>
            </a:extLst>
          </p:cNvPr>
          <p:cNvGraphicFramePr>
            <a:graphicFrameLocks noGrp="1"/>
          </p:cNvGraphicFramePr>
          <p:nvPr/>
        </p:nvGraphicFramePr>
        <p:xfrm>
          <a:off x="6609501" y="1506573"/>
          <a:ext cx="519932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6275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90205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2532841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68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0907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E1C3AB-45E1-0342-8840-74464C448A84}"/>
              </a:ext>
            </a:extLst>
          </p:cNvPr>
          <p:cNvSpPr txBox="1"/>
          <p:nvPr/>
        </p:nvSpPr>
        <p:spPr>
          <a:xfrm>
            <a:off x="6609501" y="1049616"/>
            <a:ext cx="2470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for </a:t>
            </a:r>
            <a:r>
              <a:rPr lang="en-US" b="1" i="1" dirty="0"/>
              <a:t>plus</a:t>
            </a:r>
            <a:r>
              <a:rPr lang="en-US" dirty="0"/>
              <a:t> binary ops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7FA35F-0324-8A45-B299-F20481F2DADA}"/>
              </a:ext>
            </a:extLst>
          </p:cNvPr>
          <p:cNvSpPr/>
          <p:nvPr/>
        </p:nvSpPr>
        <p:spPr>
          <a:xfrm>
            <a:off x="766354" y="4619357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&amp; </a:t>
            </a:r>
            <a:r>
              <a:rPr lang="en-US" sz="1400" dirty="0" err="1">
                <a:solidFill>
                  <a:srgbClr val="9FA01C"/>
                </a:solidFill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  <a:endParaRPr lang="en-US" sz="1400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9FA01C"/>
                </a:solidFill>
                <a:latin typeface="Menlo" panose="020B060903080402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temp.real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real +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temp.imag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temp;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60DE0-551E-8B47-84F3-91CB727A1F71}"/>
              </a:ext>
            </a:extLst>
          </p:cNvPr>
          <p:cNvSpPr txBox="1"/>
          <p:nvPr/>
        </p:nvSpPr>
        <p:spPr>
          <a:xfrm>
            <a:off x="5528404" y="5450354"/>
            <a:ext cx="2316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We can add extra rows</a:t>
            </a:r>
          </a:p>
        </p:txBody>
      </p:sp>
    </p:spTree>
    <p:extLst>
      <p:ext uri="{BB962C8B-B14F-4D97-AF65-F5344CB8AC3E}">
        <p14:creationId xmlns:p14="http://schemas.microsoft.com/office/powerpoint/2010/main" val="6988022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 finished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B292D-E245-1B41-AF72-01EB06F68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2577" cy="4351338"/>
          </a:xfrm>
        </p:spPr>
        <p:txBody>
          <a:bodyPr/>
          <a:lstStyle/>
          <a:p>
            <a:r>
              <a:rPr lang="en-US" dirty="0"/>
              <a:t>Defined what a type system is and discussed various different design decisions</a:t>
            </a:r>
          </a:p>
          <a:p>
            <a:pPr lvl="1"/>
            <a:r>
              <a:rPr lang="en-US" dirty="0"/>
              <a:t>static vs. dynamic, choice of primitive types, size of primitive types</a:t>
            </a:r>
          </a:p>
          <a:p>
            <a:r>
              <a:rPr lang="en-US" dirty="0"/>
              <a:t>Implemented type inference parameterized by type conversion tables on an AST. </a:t>
            </a:r>
          </a:p>
          <a:p>
            <a:pPr lvl="1"/>
            <a:r>
              <a:rPr lang="en-US" dirty="0"/>
              <a:t>identified common conversions (int to float) and when the opposite can happen</a:t>
            </a:r>
          </a:p>
          <a:p>
            <a:r>
              <a:rPr lang="en-US" dirty="0"/>
              <a:t>Discussed how programmers can extend the type system </a:t>
            </a:r>
          </a:p>
          <a:p>
            <a:pPr lvl="1"/>
            <a:r>
              <a:rPr lang="en-US" dirty="0"/>
              <a:t>function calls</a:t>
            </a:r>
          </a:p>
          <a:p>
            <a:pPr lvl="1"/>
            <a:r>
              <a:rPr lang="en-US" dirty="0"/>
              <a:t>operator overloading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930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53166</TotalTime>
  <Words>8157</Words>
  <Application>Microsoft Office PowerPoint</Application>
  <PresentationFormat>Widescreen</PresentationFormat>
  <Paragraphs>1864</Paragraphs>
  <Slides>88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6" baseType="lpstr">
      <vt:lpstr>Arial</vt:lpstr>
      <vt:lpstr>Calibri</vt:lpstr>
      <vt:lpstr>Calibri Light</vt:lpstr>
      <vt:lpstr>Consolas</vt:lpstr>
      <vt:lpstr>Courier</vt:lpstr>
      <vt:lpstr>Menlo</vt:lpstr>
      <vt:lpstr>Wingdings</vt:lpstr>
      <vt:lpstr>Office Theme</vt:lpstr>
      <vt:lpstr>CSE110A: Compilers</vt:lpstr>
      <vt:lpstr>Topic: Type Systems</vt:lpstr>
      <vt:lpstr>Evaluate an AST by doing a post order traversal</vt:lpstr>
      <vt:lpstr>Type systems</vt:lpstr>
      <vt:lpstr>Type systems</vt:lpstr>
      <vt:lpstr>Type checking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PowerPoint Presentation</vt:lpstr>
      <vt:lpstr>PowerPoint Presentation</vt:lpstr>
      <vt:lpstr>PowerPoint Presentation</vt:lpstr>
      <vt:lpstr>PowerPoint Presentation</vt:lpstr>
      <vt:lpstr>Symbol Table</vt:lpstr>
      <vt:lpstr>Symbol Table</vt:lpstr>
      <vt:lpstr>PowerPoint Presentation</vt:lpstr>
      <vt:lpstr>add the type at parse time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checking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Type inference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 inference</vt:lpstr>
      <vt:lpstr>Topic: Functions</vt:lpstr>
      <vt:lpstr>How are functions handled?</vt:lpstr>
      <vt:lpstr>How are functions handled?</vt:lpstr>
      <vt:lpstr>How are functions handled?</vt:lpstr>
      <vt:lpstr>How are functions handled?</vt:lpstr>
      <vt:lpstr>How are functions handled?</vt:lpstr>
      <vt:lpstr>How are functions handled?</vt:lpstr>
      <vt:lpstr>How are functions handled?</vt:lpstr>
      <vt:lpstr>Topic: More on Types</vt:lpstr>
      <vt:lpstr>What about floats to ints?</vt:lpstr>
      <vt:lpstr>What about floats to ints?</vt:lpstr>
      <vt:lpstr>What about floats to ints?</vt:lpstr>
      <vt:lpstr>Discussion</vt:lpstr>
      <vt:lpstr>PowerPoint Presentation</vt:lpstr>
      <vt:lpstr>PowerPoint Presentation</vt:lpstr>
      <vt:lpstr>PowerPoint Presentation</vt:lpstr>
      <vt:lpstr>Type systems finished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816</cp:revision>
  <dcterms:created xsi:type="dcterms:W3CDTF">2021-03-23T23:59:42Z</dcterms:created>
  <dcterms:modified xsi:type="dcterms:W3CDTF">2026-02-25T00:22:44Z</dcterms:modified>
</cp:coreProperties>
</file>