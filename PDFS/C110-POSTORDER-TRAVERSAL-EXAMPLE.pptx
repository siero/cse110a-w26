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1387" r:id="rId3"/>
    <p:sldId id="1135" r:id="rId4"/>
    <p:sldId id="1136" r:id="rId5"/>
    <p:sldId id="1138" r:id="rId6"/>
    <p:sldId id="1137" r:id="rId7"/>
    <p:sldId id="1118" r:id="rId8"/>
    <p:sldId id="1119" r:id="rId9"/>
    <p:sldId id="1392" r:id="rId10"/>
    <p:sldId id="13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491"/>
    <p:restoredTop sz="96405"/>
  </p:normalViewPr>
  <p:slideViewPr>
    <p:cSldViewPr snapToGrid="0" snapToObjects="1">
      <p:cViewPr varScale="1">
        <p:scale>
          <a:sx n="88" d="100"/>
          <a:sy n="88" d="100"/>
        </p:scale>
        <p:origin x="78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87" y="105833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/>
              <a:t>MIDTERM REVIEW</a:t>
            </a:r>
          </a:p>
          <a:p>
            <a:pPr marL="0" indent="0" algn="ctr">
              <a:buNone/>
            </a:pPr>
            <a:endParaRPr lang="en-US" sz="4800" b="1" i="1" dirty="0"/>
          </a:p>
          <a:p>
            <a:pPr marL="0" indent="0" algn="ctr">
              <a:buNone/>
            </a:pPr>
            <a:r>
              <a:rPr lang="en-US" sz="4800" b="1" i="1" dirty="0" err="1"/>
              <a:t>PostOrder</a:t>
            </a:r>
            <a:r>
              <a:rPr lang="en-US" sz="4800" b="1" i="1" dirty="0"/>
              <a:t> Traversal Example</a:t>
            </a:r>
            <a:endParaRPr lang="en-US" sz="4800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9868755" y="30113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9891340" y="612988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243270" y="612988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494240" y="931005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283799" y="938302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743432" y="1260443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139294" y="1250151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697227" y="157172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764779" y="1562000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DB500-1416-664B-BD1D-A70789932F8B}"/>
              </a:ext>
            </a:extLst>
          </p:cNvPr>
          <p:cNvSpPr/>
          <p:nvPr/>
        </p:nvSpPr>
        <p:spPr>
          <a:xfrm>
            <a:off x="8841912" y="243109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02BC6D-A4F3-7945-9BA8-DDAD5EBAD05E}"/>
              </a:ext>
            </a:extLst>
          </p:cNvPr>
          <p:cNvSpPr/>
          <p:nvPr/>
        </p:nvSpPr>
        <p:spPr>
          <a:xfrm>
            <a:off x="8261222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166087-E008-CB41-9E49-F43BE5B52E3C}"/>
              </a:ext>
            </a:extLst>
          </p:cNvPr>
          <p:cNvSpPr/>
          <p:nvPr/>
        </p:nvSpPr>
        <p:spPr>
          <a:xfrm>
            <a:off x="9404049" y="3152966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40F58-CF90-CE41-89B9-CE8DBABC9991}"/>
              </a:ext>
            </a:extLst>
          </p:cNvPr>
          <p:cNvSpPr/>
          <p:nvPr/>
        </p:nvSpPr>
        <p:spPr>
          <a:xfrm>
            <a:off x="8801537" y="3874841"/>
            <a:ext cx="602512" cy="418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F10088-ADEF-7F4E-A316-E753418CD634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8562478" y="2849305"/>
            <a:ext cx="580690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E5B716-F904-F04C-85D6-57BAB595954F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9143168" y="2849305"/>
            <a:ext cx="562137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CD5CE6-7944-5940-BF7F-AD6B8EF5481A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8562478" y="3571180"/>
            <a:ext cx="540315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E481C4-ED00-5E48-8D57-93234F440C6A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9102793" y="3571180"/>
            <a:ext cx="602512" cy="30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FBAFE9-DB06-D242-9A86-5A5DBAE7937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10006561" y="2839576"/>
            <a:ext cx="277238" cy="5224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65BD84F-A29B-7844-AA4E-821E0B90D387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9444424" y="2640198"/>
            <a:ext cx="839375" cy="199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8C64CD-6438-0642-90A2-AB2F8FAC4216}"/>
              </a:ext>
            </a:extLst>
          </p:cNvPr>
          <p:cNvSpPr txBox="1"/>
          <p:nvPr/>
        </p:nvSpPr>
        <p:spPr>
          <a:xfrm>
            <a:off x="10858582" y="30113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3111E8-20FD-9A4E-BB6A-BF339F777B74}"/>
              </a:ext>
            </a:extLst>
          </p:cNvPr>
          <p:cNvSpPr txBox="1"/>
          <p:nvPr/>
        </p:nvSpPr>
        <p:spPr>
          <a:xfrm>
            <a:off x="8063655" y="2447138"/>
            <a:ext cx="5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CFG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20544-E545-DB40-AE9C-D75E51A5C0A6}"/>
              </a:ext>
            </a:extLst>
          </p:cNvPr>
          <p:cNvSpPr/>
          <p:nvPr/>
        </p:nvSpPr>
        <p:spPr>
          <a:xfrm>
            <a:off x="8859121" y="4978934"/>
            <a:ext cx="3175968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nsw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i32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2E933-E9AD-4341-9CF9-2422F61D7ABC}"/>
              </a:ext>
            </a:extLst>
          </p:cNvPr>
          <p:cNvSpPr txBox="1"/>
          <p:nvPr/>
        </p:nvSpPr>
        <p:spPr>
          <a:xfrm>
            <a:off x="10296120" y="4555260"/>
            <a:ext cx="1588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address code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323DA61-45D6-2F07-7D24-39B0B61E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723" y="27634"/>
            <a:ext cx="7484164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Post-Order Traversal == Postfix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CC4094-8573-43F6-28C8-99AB7149BEE5}"/>
              </a:ext>
            </a:extLst>
          </p:cNvPr>
          <p:cNvSpPr txBox="1"/>
          <p:nvPr/>
        </p:nvSpPr>
        <p:spPr>
          <a:xfrm>
            <a:off x="768626" y="1643269"/>
            <a:ext cx="106547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600" dirty="0"/>
              <a:t>When compilers parse arithmetic or logical expressions, they often build a </a:t>
            </a:r>
            <a:r>
              <a:rPr lang="en-US" sz="3600" b="1" dirty="0"/>
              <a:t>parse tree</a:t>
            </a:r>
            <a:r>
              <a:rPr lang="en-US" sz="3600" dirty="0"/>
              <a:t> or </a:t>
            </a:r>
            <a:r>
              <a:rPr lang="en-US" sz="3600" b="1" dirty="0"/>
              <a:t>abstract syntax tree (AST)</a:t>
            </a:r>
            <a:r>
              <a:rPr lang="en-US" sz="3600" dirty="0"/>
              <a:t> representing the expression's structure.</a:t>
            </a:r>
          </a:p>
          <a:p>
            <a:pPr>
              <a:buNone/>
            </a:pPr>
            <a:endParaRPr lang="en-US" sz="3600" dirty="0"/>
          </a:p>
          <a:p>
            <a:r>
              <a:rPr lang="en-US" sz="3600" dirty="0"/>
              <a:t>Post order traversal of trees naturally matches how expressions can be </a:t>
            </a:r>
            <a:r>
              <a:rPr lang="en-US" sz="3600" b="1" dirty="0"/>
              <a:t>evaluated using a stack-based approach</a:t>
            </a:r>
            <a:r>
              <a:rPr lang="en-US" sz="3600" dirty="0"/>
              <a:t> — like in a </a:t>
            </a:r>
            <a:r>
              <a:rPr lang="en-US" sz="3600" b="1" dirty="0"/>
              <a:t>stack machine</a:t>
            </a:r>
            <a:r>
              <a:rPr lang="en-US" sz="3600" dirty="0"/>
              <a:t> or when generating </a:t>
            </a:r>
            <a:r>
              <a:rPr lang="en-US" sz="3600" b="1" dirty="0"/>
              <a:t>Reverse Polish Notation (RPN)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127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238" y="56535"/>
            <a:ext cx="7250723" cy="1325563"/>
          </a:xfrm>
        </p:spPr>
        <p:txBody>
          <a:bodyPr/>
          <a:lstStyle/>
          <a:p>
            <a:r>
              <a:rPr lang="en-US" dirty="0"/>
              <a:t>An Aside: Tree Traversal Orders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6607588" y="2022068"/>
            <a:ext cx="50845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review different type of</a:t>
            </a:r>
          </a:p>
          <a:p>
            <a:r>
              <a:rPr lang="en-US" sz="2800" dirty="0"/>
              <a:t>tree traversal algorithms: </a:t>
            </a:r>
          </a:p>
          <a:p>
            <a:endParaRPr lang="en-US" sz="2800" dirty="0"/>
          </a:p>
          <a:p>
            <a:r>
              <a:rPr lang="en-US" sz="2800" dirty="0"/>
              <a:t>     pre-order?</a:t>
            </a:r>
          </a:p>
          <a:p>
            <a:r>
              <a:rPr lang="en-US" sz="2800" dirty="0"/>
              <a:t>     in-order?</a:t>
            </a:r>
          </a:p>
          <a:p>
            <a:r>
              <a:rPr lang="en-US" sz="2800" dirty="0"/>
              <a:t>     post-order?</a:t>
            </a:r>
          </a:p>
        </p:txBody>
      </p:sp>
    </p:spTree>
    <p:extLst>
      <p:ext uri="{BB962C8B-B14F-4D97-AF65-F5344CB8AC3E}">
        <p14:creationId xmlns:p14="http://schemas.microsoft.com/office/powerpoint/2010/main" val="81012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4618-023D-E4E8-012F-4D34836A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18D7-5C01-CCB3-04E5-1022D088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0107"/>
            <a:ext cx="10515600" cy="923330"/>
          </a:xfrm>
        </p:spPr>
        <p:txBody>
          <a:bodyPr/>
          <a:lstStyle/>
          <a:p>
            <a:r>
              <a:rPr lang="en-US" dirty="0"/>
              <a:t>Possible Tree Traversal Orders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062D6D-72D3-8D92-7BBA-94BC1783E2E8}"/>
              </a:ext>
            </a:extLst>
          </p:cNvPr>
          <p:cNvSpPr/>
          <p:nvPr/>
        </p:nvSpPr>
        <p:spPr>
          <a:xfrm>
            <a:off x="2384505" y="195602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1408B-921D-A034-E7DC-D7D8352FC044}"/>
              </a:ext>
            </a:extLst>
          </p:cNvPr>
          <p:cNvSpPr/>
          <p:nvPr/>
        </p:nvSpPr>
        <p:spPr>
          <a:xfrm>
            <a:off x="1560798" y="273326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67B96-A6F0-4D61-5E01-D4C7187F3D43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2224214" y="2619439"/>
            <a:ext cx="274115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B05600-99FC-8945-8D2D-609E459DBA3E}"/>
              </a:ext>
            </a:extLst>
          </p:cNvPr>
          <p:cNvCxnSpPr>
            <a:cxnSpLocks/>
            <a:stCxn id="5" idx="3"/>
            <a:endCxn id="3" idx="7"/>
          </p:cNvCxnSpPr>
          <p:nvPr/>
        </p:nvCxnSpPr>
        <p:spPr>
          <a:xfrm flipH="1">
            <a:off x="1345443" y="3396679"/>
            <a:ext cx="32917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55770C-1DC1-7AAC-2FFD-02A14AFC03CC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2224214" y="3396679"/>
            <a:ext cx="28540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370D0A6-74C4-ABF4-D387-CC13E4D7C45D}"/>
              </a:ext>
            </a:extLst>
          </p:cNvPr>
          <p:cNvSpPr/>
          <p:nvPr/>
        </p:nvSpPr>
        <p:spPr>
          <a:xfrm>
            <a:off x="682027" y="359211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6D384C-B858-FD77-1910-1F2BFCD479E6}"/>
              </a:ext>
            </a:extLst>
          </p:cNvPr>
          <p:cNvSpPr/>
          <p:nvPr/>
        </p:nvSpPr>
        <p:spPr>
          <a:xfrm>
            <a:off x="2395799" y="359211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AC0135-2345-0DFB-E35A-9CB36CB28F08}"/>
              </a:ext>
            </a:extLst>
          </p:cNvPr>
          <p:cNvSpPr/>
          <p:nvPr/>
        </p:nvSpPr>
        <p:spPr>
          <a:xfrm>
            <a:off x="3202045" y="273326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924030-A9E1-F843-C464-460A8080810B}"/>
              </a:ext>
            </a:extLst>
          </p:cNvPr>
          <p:cNvCxnSpPr>
            <a:cxnSpLocks/>
            <a:stCxn id="4" idx="5"/>
            <a:endCxn id="33" idx="1"/>
          </p:cNvCxnSpPr>
          <p:nvPr/>
        </p:nvCxnSpPr>
        <p:spPr>
          <a:xfrm>
            <a:off x="3047921" y="2619439"/>
            <a:ext cx="267948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070BF0-2A34-9534-2BA6-3F4877E3EE6C}"/>
              </a:ext>
            </a:extLst>
          </p:cNvPr>
          <p:cNvCxnSpPr>
            <a:cxnSpLocks/>
            <a:stCxn id="33" idx="5"/>
            <a:endCxn id="37" idx="1"/>
          </p:cNvCxnSpPr>
          <p:nvPr/>
        </p:nvCxnSpPr>
        <p:spPr>
          <a:xfrm>
            <a:off x="3865461" y="3396679"/>
            <a:ext cx="324631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D838BFB-DFE2-08C4-1A63-D84F2C9AB020}"/>
              </a:ext>
            </a:extLst>
          </p:cNvPr>
          <p:cNvSpPr/>
          <p:nvPr/>
        </p:nvSpPr>
        <p:spPr>
          <a:xfrm>
            <a:off x="4076268" y="359211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ACAA0DB0-2FD7-B3CF-6D2F-0913BB66A05D}"/>
              </a:ext>
            </a:extLst>
          </p:cNvPr>
          <p:cNvGraphicFramePr>
            <a:graphicFrameLocks noGrp="1"/>
          </p:cNvGraphicFramePr>
          <p:nvPr/>
        </p:nvGraphicFramePr>
        <p:xfrm>
          <a:off x="5358298" y="951201"/>
          <a:ext cx="6129912" cy="231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887">
                  <a:extLst>
                    <a:ext uri="{9D8B030D-6E8A-4147-A177-3AD203B41FA5}">
                      <a16:colId xmlns:a16="http://schemas.microsoft.com/office/drawing/2014/main" val="4158862879"/>
                    </a:ext>
                  </a:extLst>
                </a:gridCol>
                <a:gridCol w="3060586">
                  <a:extLst>
                    <a:ext uri="{9D8B030D-6E8A-4147-A177-3AD203B41FA5}">
                      <a16:colId xmlns:a16="http://schemas.microsoft.com/office/drawing/2014/main" val="3112138583"/>
                    </a:ext>
                  </a:extLst>
                </a:gridCol>
                <a:gridCol w="1411439">
                  <a:extLst>
                    <a:ext uri="{9D8B030D-6E8A-4147-A177-3AD203B41FA5}">
                      <a16:colId xmlns:a16="http://schemas.microsoft.com/office/drawing/2014/main" val="3742667736"/>
                    </a:ext>
                  </a:extLst>
                </a:gridCol>
              </a:tblGrid>
              <a:tr h="615758">
                <a:tc>
                  <a:txBody>
                    <a:bodyPr/>
                    <a:lstStyle/>
                    <a:p>
                      <a:r>
                        <a:rPr lang="en-US" dirty="0"/>
                        <a:t>Traversal</a:t>
                      </a:r>
                    </a:p>
                    <a:p>
                      <a:r>
                        <a:rPr lang="en-US" dirty="0"/>
                        <a:t>    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  <a:p>
                      <a:r>
                        <a:rPr lang="en-US" dirty="0"/>
                        <a:t>  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62617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r>
                        <a:rPr lang="en-US" dirty="0"/>
                        <a:t>pre-order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Top-Root-&gt;Left-Child-&gt;Right-Child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 B D E G H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25202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in-order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Left/Bottom-&gt;Its-Root-&gt;Right/Bottom</a:t>
                      </a:r>
                    </a:p>
                    <a:p>
                      <a:r>
                        <a:rPr lang="en-US" sz="1400" dirty="0"/>
                        <a:t>Caveat: for binary trees only, not used in compilers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B G E H A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630095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post-order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Left/Bottom-&gt;Right/Bottom-&gt;Its-Root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G H E B F C 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521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9B5500F-F2E5-0D0C-1CB2-9188FE31DE26}"/>
              </a:ext>
            </a:extLst>
          </p:cNvPr>
          <p:cNvSpPr txBox="1"/>
          <p:nvPr/>
        </p:nvSpPr>
        <p:spPr>
          <a:xfrm>
            <a:off x="5110631" y="3665655"/>
            <a:ext cx="6625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Pre-order Traversal (Root-Left-Right. Top to Bottom)</a:t>
            </a:r>
          </a:p>
          <a:p>
            <a:pPr>
              <a:buNone/>
            </a:pPr>
            <a:r>
              <a:rPr lang="en-US" b="1" dirty="0"/>
              <a:t>        </a:t>
            </a:r>
            <a:r>
              <a:rPr lang="en-US" dirty="0"/>
              <a:t>Prioritizes visits from top to bottom, and left to right</a:t>
            </a:r>
          </a:p>
          <a:p>
            <a:pPr>
              <a:buNone/>
            </a:pPr>
            <a:r>
              <a:rPr lang="en-US" dirty="0"/>
              <a:t>        Useful for serializing and copying trees.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B616E-411D-9C38-7184-DC949C38A89B}"/>
              </a:ext>
            </a:extLst>
          </p:cNvPr>
          <p:cNvSpPr txBox="1"/>
          <p:nvPr/>
        </p:nvSpPr>
        <p:spPr>
          <a:xfrm>
            <a:off x="5110631" y="4530349"/>
            <a:ext cx="605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In-order Traversal (Left-Root-Right, Bottom to Top)</a:t>
            </a:r>
          </a:p>
          <a:p>
            <a:pPr lvl="1"/>
            <a:r>
              <a:rPr lang="en-US" dirty="0"/>
              <a:t>Prioritizes visits from bottom left to right visiting parent nodes on the way.  Sometimes used for sorting.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AC9B3-3E7E-9100-5863-B3EE895C35D4}"/>
              </a:ext>
            </a:extLst>
          </p:cNvPr>
          <p:cNvSpPr txBox="1"/>
          <p:nvPr/>
        </p:nvSpPr>
        <p:spPr>
          <a:xfrm>
            <a:off x="5110631" y="5453679"/>
            <a:ext cx="569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Post-order (or natural) Traversal (Left-Right-Root)</a:t>
            </a:r>
          </a:p>
          <a:p>
            <a:pPr lvl="1"/>
            <a:r>
              <a:rPr lang="en-US" dirty="0"/>
              <a:t>Prioritizes traversing subtrees by visiting lowest nodes first, and parent nodes later.  Useful for evaluating expression trees (e.g. parsing)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9E8DB9-C6D5-C51C-24DA-EE09E30CF5C8}"/>
              </a:ext>
            </a:extLst>
          </p:cNvPr>
          <p:cNvCxnSpPr>
            <a:cxnSpLocks/>
            <a:stCxn id="11" idx="5"/>
            <a:endCxn id="48" idx="1"/>
          </p:cNvCxnSpPr>
          <p:nvPr/>
        </p:nvCxnSpPr>
        <p:spPr>
          <a:xfrm>
            <a:off x="3059215" y="4255533"/>
            <a:ext cx="256654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711FBBB-A7C7-A0D3-AB59-E40B8265030A}"/>
              </a:ext>
            </a:extLst>
          </p:cNvPr>
          <p:cNvSpPr/>
          <p:nvPr/>
        </p:nvSpPr>
        <p:spPr>
          <a:xfrm>
            <a:off x="3202045" y="4436565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E07CFF-605F-A06E-940D-837F6E56EA79}"/>
              </a:ext>
            </a:extLst>
          </p:cNvPr>
          <p:cNvSpPr/>
          <p:nvPr/>
        </p:nvSpPr>
        <p:spPr>
          <a:xfrm>
            <a:off x="1522654" y="4436565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4D10A47-301E-0F2C-C181-E57C1140EF09}"/>
              </a:ext>
            </a:extLst>
          </p:cNvPr>
          <p:cNvCxnSpPr>
            <a:cxnSpLocks/>
            <a:stCxn id="11" idx="3"/>
            <a:endCxn id="89" idx="7"/>
          </p:cNvCxnSpPr>
          <p:nvPr/>
        </p:nvCxnSpPr>
        <p:spPr>
          <a:xfrm flipH="1">
            <a:off x="2186070" y="4255533"/>
            <a:ext cx="323553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721E3E0-DD0D-EDC3-FAF5-58BAEE60C8C5}"/>
              </a:ext>
            </a:extLst>
          </p:cNvPr>
          <p:cNvSpPr txBox="1"/>
          <p:nvPr/>
        </p:nvSpPr>
        <p:spPr>
          <a:xfrm>
            <a:off x="5301338" y="3331875"/>
            <a:ext cx="485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Traversals never visit the same node twice.</a:t>
            </a:r>
          </a:p>
        </p:txBody>
      </p:sp>
    </p:spTree>
    <p:extLst>
      <p:ext uri="{BB962C8B-B14F-4D97-AF65-F5344CB8AC3E}">
        <p14:creationId xmlns:p14="http://schemas.microsoft.com/office/powerpoint/2010/main" val="352941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F6A7-28A0-BDA5-429D-392C9314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BEC8-7C52-8CD2-7763-84C4BDD2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5C40A2-4813-83B0-94DA-A21F7AA1885E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CDCB5C-0D31-DA56-B754-8730EA27161B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68EC88-644E-4C9B-164E-9ECB284C02AD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9536C3-C9D7-D2B4-1879-BBA39446EFAB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857A45-CF46-49A7-08B5-D6D2461B5C7B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ADCA16-8BF9-54B6-E9BA-4D7AEF20B68F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8A0D1F-E530-BA0B-B4E7-742E020AB099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0440E4-845C-6074-05CC-21AD7C0F4E57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C0F8903-C6A2-2EBC-BF77-96FAD277FB72}"/>
              </a:ext>
            </a:extLst>
          </p:cNvPr>
          <p:cNvSpPr txBox="1"/>
          <p:nvPr/>
        </p:nvSpPr>
        <p:spPr>
          <a:xfrm>
            <a:off x="7065290" y="2767598"/>
            <a:ext cx="37162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C0C0C0"/>
                </a:highlight>
              </a:rPr>
              <a:t>Post order traversal </a:t>
            </a:r>
          </a:p>
          <a:p>
            <a:r>
              <a:rPr lang="en-US" sz="3200" dirty="0">
                <a:highlight>
                  <a:srgbClr val="C0C0C0"/>
                </a:highlight>
              </a:rPr>
              <a:t>For 2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697547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7065290" y="2779321"/>
            <a:ext cx="3580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Post order traversal</a:t>
            </a:r>
          </a:p>
          <a:p>
            <a:r>
              <a:rPr lang="en-US" sz="3200" dirty="0">
                <a:highlight>
                  <a:srgbClr val="FFFF00"/>
                </a:highlight>
              </a:rPr>
              <a:t>For 2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15785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454356-A001-724F-BDCE-A46913D56295}"/>
              </a:ext>
            </a:extLst>
          </p:cNvPr>
          <p:cNvSpPr/>
          <p:nvPr/>
        </p:nvSpPr>
        <p:spPr>
          <a:xfrm>
            <a:off x="332384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E8FDA7-16F0-9D47-B6B8-3911461DC65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3712464" y="3474720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2C931-53BF-E34A-9AC7-174E009B1AF0}"/>
              </a:ext>
            </a:extLst>
          </p:cNvPr>
          <p:cNvCxnSpPr>
            <a:cxnSpLocks/>
          </p:cNvCxnSpPr>
          <p:nvPr/>
        </p:nvCxnSpPr>
        <p:spPr>
          <a:xfrm flipH="1">
            <a:off x="373608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290753-76CB-23D5-28A8-B00F1212EC29}"/>
              </a:ext>
            </a:extLst>
          </p:cNvPr>
          <p:cNvSpPr txBox="1"/>
          <p:nvPr/>
        </p:nvSpPr>
        <p:spPr>
          <a:xfrm>
            <a:off x="7065290" y="2767598"/>
            <a:ext cx="3580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C0C0C0"/>
                </a:highlight>
              </a:rPr>
              <a:t>Post order traversal</a:t>
            </a:r>
          </a:p>
          <a:p>
            <a:r>
              <a:rPr lang="en-US" sz="3200" dirty="0">
                <a:highlight>
                  <a:srgbClr val="C0C0C0"/>
                </a:highlight>
              </a:rPr>
              <a:t>For 3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155791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454356-A001-724F-BDCE-A46913D56295}"/>
              </a:ext>
            </a:extLst>
          </p:cNvPr>
          <p:cNvSpPr/>
          <p:nvPr/>
        </p:nvSpPr>
        <p:spPr>
          <a:xfrm>
            <a:off x="332384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E8FDA7-16F0-9D47-B6B8-3911461DC65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3712464" y="3474720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2C931-53BF-E34A-9AC7-174E009B1AF0}"/>
              </a:ext>
            </a:extLst>
          </p:cNvPr>
          <p:cNvCxnSpPr>
            <a:cxnSpLocks/>
          </p:cNvCxnSpPr>
          <p:nvPr/>
        </p:nvCxnSpPr>
        <p:spPr>
          <a:xfrm flipH="1">
            <a:off x="373608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5F9A75-76B4-E220-B240-EEA9EC5C5B18}"/>
              </a:ext>
            </a:extLst>
          </p:cNvPr>
          <p:cNvSpPr txBox="1"/>
          <p:nvPr/>
        </p:nvSpPr>
        <p:spPr>
          <a:xfrm>
            <a:off x="7065290" y="2755875"/>
            <a:ext cx="3580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Post order traversal</a:t>
            </a:r>
          </a:p>
          <a:p>
            <a:r>
              <a:rPr lang="en-US" sz="3200" dirty="0">
                <a:highlight>
                  <a:srgbClr val="FFFF00"/>
                </a:highlight>
              </a:rPr>
              <a:t>For 3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229439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737B-B2FF-9CF9-F534-6EB2690A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A9EE-4EA2-4698-57F0-1D377E10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764" y="59938"/>
            <a:ext cx="10515600" cy="1325563"/>
          </a:xfrm>
        </p:spPr>
        <p:txBody>
          <a:bodyPr/>
          <a:lstStyle/>
          <a:p>
            <a:r>
              <a:rPr lang="en-US" dirty="0"/>
              <a:t>Post order Traversal == Postfix Notation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EC7AEA-A0E4-8BD4-1315-8D0E46C86348}"/>
              </a:ext>
            </a:extLst>
          </p:cNvPr>
          <p:cNvSpPr/>
          <p:nvPr/>
        </p:nvSpPr>
        <p:spPr>
          <a:xfrm>
            <a:off x="2419350" y="246983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9C1730-3A1E-1743-F50A-DDF5FB17DE7D}"/>
              </a:ext>
            </a:extLst>
          </p:cNvPr>
          <p:cNvSpPr/>
          <p:nvPr/>
        </p:nvSpPr>
        <p:spPr>
          <a:xfrm>
            <a:off x="512826" y="3801236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78B455-9133-1468-E23E-9BEC1F04DF30}"/>
              </a:ext>
            </a:extLst>
          </p:cNvPr>
          <p:cNvSpPr/>
          <p:nvPr/>
        </p:nvSpPr>
        <p:spPr>
          <a:xfrm>
            <a:off x="2394966" y="3801236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31C224-7B67-3DAE-4F26-848B12253E8F}"/>
              </a:ext>
            </a:extLst>
          </p:cNvPr>
          <p:cNvSpPr/>
          <p:nvPr/>
        </p:nvSpPr>
        <p:spPr>
          <a:xfrm>
            <a:off x="3992118" y="3801236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CA284A-8860-0E2D-D1D7-01AC94FF14F0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1176242" y="3133248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99E33A-78EF-A796-8558-DE5EC0F82315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2783586" y="3247072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B084C6-3233-2B00-AE25-E5B163CFB2E5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3082766" y="3133248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B1FF1E-2747-8E5A-AB03-AC642E76C34B}"/>
              </a:ext>
            </a:extLst>
          </p:cNvPr>
          <p:cNvCxnSpPr>
            <a:cxnSpLocks/>
          </p:cNvCxnSpPr>
          <p:nvPr/>
        </p:nvCxnSpPr>
        <p:spPr>
          <a:xfrm flipH="1">
            <a:off x="2819400" y="189966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0FE442-A49B-277C-98E5-CEA706F0459D}"/>
              </a:ext>
            </a:extLst>
          </p:cNvPr>
          <p:cNvCxnSpPr>
            <a:cxnSpLocks/>
          </p:cNvCxnSpPr>
          <p:nvPr/>
        </p:nvCxnSpPr>
        <p:spPr>
          <a:xfrm flipH="1">
            <a:off x="795528" y="457847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5D0543-11C0-E523-2371-642FC6C6666F}"/>
              </a:ext>
            </a:extLst>
          </p:cNvPr>
          <p:cNvCxnSpPr>
            <a:cxnSpLocks/>
          </p:cNvCxnSpPr>
          <p:nvPr/>
        </p:nvCxnSpPr>
        <p:spPr>
          <a:xfrm flipH="1">
            <a:off x="2807208" y="457847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D3C06F-2A5B-CE36-434C-66643C105FD4}"/>
              </a:ext>
            </a:extLst>
          </p:cNvPr>
          <p:cNvCxnSpPr>
            <a:cxnSpLocks/>
          </p:cNvCxnSpPr>
          <p:nvPr/>
        </p:nvCxnSpPr>
        <p:spPr>
          <a:xfrm flipH="1">
            <a:off x="4380738" y="457847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54C4CC-FA43-6F8A-80C2-B67B52F90347}"/>
              </a:ext>
            </a:extLst>
          </p:cNvPr>
          <p:cNvSpPr txBox="1"/>
          <p:nvPr/>
        </p:nvSpPr>
        <p:spPr>
          <a:xfrm>
            <a:off x="5346661" y="1908410"/>
            <a:ext cx="63287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Post-order traversal of a tree ensures that all </a:t>
            </a:r>
            <a:r>
              <a:rPr lang="en-US" sz="2400" i="1" dirty="0"/>
              <a:t>required semantic information</a:t>
            </a:r>
            <a:r>
              <a:rPr lang="en-US" sz="2400" dirty="0"/>
              <a:t> for a node is available before the node is processed.</a:t>
            </a:r>
          </a:p>
          <a:p>
            <a:endParaRPr lang="en-US" sz="2400" dirty="0"/>
          </a:p>
          <a:p>
            <a:r>
              <a:rPr lang="en-US" sz="2400" dirty="0"/>
              <a:t>The information is stored in the node’s children. </a:t>
            </a:r>
          </a:p>
          <a:p>
            <a:r>
              <a:rPr lang="en-US" sz="2400" dirty="0"/>
              <a:t>For expressions this is similar to postfix notation (RPN, reverse polish notation).</a:t>
            </a:r>
          </a:p>
          <a:p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For an N-</a:t>
            </a:r>
            <a:r>
              <a:rPr lang="en-US" sz="2400" dirty="0" err="1"/>
              <a:t>ary</a:t>
            </a:r>
            <a:r>
              <a:rPr lang="en-US" sz="2400" dirty="0"/>
              <a:t> operator, evaluate all N arguments first, then invoke the operator.</a:t>
            </a:r>
          </a:p>
        </p:txBody>
      </p:sp>
    </p:spTree>
    <p:extLst>
      <p:ext uri="{BB962C8B-B14F-4D97-AF65-F5344CB8AC3E}">
        <p14:creationId xmlns:p14="http://schemas.microsoft.com/office/powerpoint/2010/main" val="856616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C715-C983-EBE7-6BEB-CF0CD917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AA3951-0147-434D-E2FF-80C3D12A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1" y="824170"/>
            <a:ext cx="3432312" cy="5745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40FBC-28C2-D36E-220C-892B28649478}"/>
              </a:ext>
            </a:extLst>
          </p:cNvPr>
          <p:cNvSpPr txBox="1"/>
          <p:nvPr/>
        </p:nvSpPr>
        <p:spPr>
          <a:xfrm>
            <a:off x="3551583" y="1176649"/>
            <a:ext cx="72165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Traversal:</a:t>
            </a:r>
          </a:p>
          <a:p>
            <a:r>
              <a:rPr lang="pt-BR" sz="2800" dirty="0"/>
              <a:t>       B → </a:t>
            </a:r>
          </a:p>
          <a:p>
            <a:r>
              <a:rPr lang="pt-BR" sz="2800" dirty="0"/>
              <a:t>               J → I → F →</a:t>
            </a:r>
          </a:p>
          <a:p>
            <a:r>
              <a:rPr lang="pt-BR" sz="2800" dirty="0"/>
              <a:t>                                     H → G →  </a:t>
            </a:r>
          </a:p>
          <a:p>
            <a:r>
              <a:rPr lang="pt-BR" sz="2800" dirty="0"/>
              <a:t>                                                       E → C → </a:t>
            </a:r>
          </a:p>
          <a:p>
            <a:r>
              <a:rPr lang="pt-BR" sz="2800" dirty="0"/>
              <a:t>                                                                        D → </a:t>
            </a:r>
          </a:p>
          <a:p>
            <a:r>
              <a:rPr lang="pt-BR" sz="2800" dirty="0"/>
              <a:t>                                                                                  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71FBC-3F19-ED47-5372-BFA99675B939}"/>
              </a:ext>
            </a:extLst>
          </p:cNvPr>
          <p:cNvSpPr txBox="1"/>
          <p:nvPr/>
        </p:nvSpPr>
        <p:spPr>
          <a:xfrm>
            <a:off x="3943805" y="4002133"/>
            <a:ext cx="7383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Visit children</a:t>
            </a:r>
          </a:p>
          <a:p>
            <a:r>
              <a:rPr lang="en-US" sz="2400" b="1" dirty="0"/>
              <a:t>               bottom-up </a:t>
            </a:r>
          </a:p>
          <a:p>
            <a:r>
              <a:rPr lang="en-US" sz="2400" b="1" dirty="0"/>
              <a:t>                            left to right, </a:t>
            </a:r>
          </a:p>
          <a:p>
            <a:r>
              <a:rPr lang="en-US" sz="2400" b="1" dirty="0"/>
              <a:t>                                            then parent</a:t>
            </a:r>
            <a:r>
              <a:rPr lang="en-US" sz="1400" dirty="0"/>
              <a:t>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65418C-D993-21E4-7ED1-E8372D81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808" y="-30317"/>
            <a:ext cx="8124359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Post-Order Traversal : Another Example</a:t>
            </a:r>
          </a:p>
        </p:txBody>
      </p:sp>
    </p:spTree>
    <p:extLst>
      <p:ext uri="{BB962C8B-B14F-4D97-AF65-F5344CB8AC3E}">
        <p14:creationId xmlns:p14="http://schemas.microsoft.com/office/powerpoint/2010/main" val="156023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51055</TotalTime>
  <Words>500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CSE110A: Compilers</vt:lpstr>
      <vt:lpstr>Post-Order Traversal == Postfix</vt:lpstr>
      <vt:lpstr>An Aside: Tree Traversal Orders</vt:lpstr>
      <vt:lpstr>Possible Tree Traversal Orders</vt:lpstr>
      <vt:lpstr>Post-Order Traversal</vt:lpstr>
      <vt:lpstr>Post order traversal</vt:lpstr>
      <vt:lpstr>Post order traversal</vt:lpstr>
      <vt:lpstr>Post order traversal</vt:lpstr>
      <vt:lpstr>Post order Traversal == Postfix Notation</vt:lpstr>
      <vt:lpstr>Post-Order Traversal : Another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793</cp:revision>
  <dcterms:created xsi:type="dcterms:W3CDTF">2021-03-23T23:59:42Z</dcterms:created>
  <dcterms:modified xsi:type="dcterms:W3CDTF">2026-01-22T09:58:22Z</dcterms:modified>
</cp:coreProperties>
</file>