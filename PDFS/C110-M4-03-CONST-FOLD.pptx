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1923" r:id="rId3"/>
    <p:sldId id="1976" r:id="rId4"/>
    <p:sldId id="1978" r:id="rId5"/>
    <p:sldId id="1980" r:id="rId6"/>
    <p:sldId id="1979" r:id="rId7"/>
    <p:sldId id="1981" r:id="rId8"/>
    <p:sldId id="1982" r:id="rId9"/>
    <p:sldId id="1983" r:id="rId10"/>
    <p:sldId id="1984" r:id="rId11"/>
    <p:sldId id="1985" r:id="rId12"/>
    <p:sldId id="1986" r:id="rId13"/>
    <p:sldId id="1987" r:id="rId14"/>
    <p:sldId id="1988" r:id="rId15"/>
    <p:sldId id="1989" r:id="rId16"/>
    <p:sldId id="1992" r:id="rId17"/>
    <p:sldId id="1993" r:id="rId18"/>
    <p:sldId id="1995" r:id="rId19"/>
    <p:sldId id="1994" r:id="rId20"/>
    <p:sldId id="1996" r:id="rId21"/>
    <p:sldId id="199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41"/>
    <p:restoredTop sz="96405"/>
  </p:normalViewPr>
  <p:slideViewPr>
    <p:cSldViewPr snapToGrid="0" snapToObjects="1">
      <p:cViewPr varScale="1">
        <p:scale>
          <a:sx n="73" d="100"/>
          <a:sy n="73" d="100"/>
        </p:scale>
        <p:origin x="6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39" y="2324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80" y="2111639"/>
            <a:ext cx="6901683" cy="4203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r>
              <a:rPr lang="en-US" i="1" dirty="0"/>
              <a:t>Optimizations: Constant Folding</a:t>
            </a:r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F630-D212-ED73-81A9-11AA4E66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propagation and constant 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A6AF5-A8F9-0C94-7F8B-F93629F44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Colloquially, they are often used interchangeably</a:t>
            </a:r>
          </a:p>
          <a:p>
            <a:pPr lvl="1"/>
            <a:endParaRPr lang="en-US" dirty="0"/>
          </a:p>
          <a:p>
            <a:r>
              <a:rPr lang="en-US" dirty="0"/>
              <a:t>Technically (e.g. according to the books)</a:t>
            </a:r>
          </a:p>
          <a:p>
            <a:pPr lvl="1"/>
            <a:r>
              <a:rPr lang="en-US" dirty="0"/>
              <a:t>Constant propagation is replacing variables with constants</a:t>
            </a:r>
          </a:p>
          <a:p>
            <a:pPr lvl="1"/>
            <a:r>
              <a:rPr lang="en-US" dirty="0"/>
              <a:t>Constant folding is compile-time evaluation when constants are known</a:t>
            </a:r>
          </a:p>
        </p:txBody>
      </p:sp>
    </p:spTree>
    <p:extLst>
      <p:ext uri="{BB962C8B-B14F-4D97-AF65-F5344CB8AC3E}">
        <p14:creationId xmlns:p14="http://schemas.microsoft.com/office/powerpoint/2010/main" val="368738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B5D1-893E-2501-907F-FF9100EF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propagation and constant folding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EB5AF-BF88-57BA-ECF8-4CAAE59D3805}"/>
              </a:ext>
            </a:extLst>
          </p:cNvPr>
          <p:cNvSpPr txBox="1"/>
          <p:nvPr/>
        </p:nvSpPr>
        <p:spPr>
          <a:xfrm>
            <a:off x="135802" y="6308209"/>
            <a:ext cx="738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</a:t>
            </a:r>
            <a:r>
              <a:rPr lang="en-US" u="sng" dirty="0">
                <a:solidFill>
                  <a:schemeClr val="accent1"/>
                </a:solidFill>
              </a:rPr>
              <a:t>https://</a:t>
            </a:r>
            <a:r>
              <a:rPr lang="en-US" u="sng" dirty="0" err="1">
                <a:solidFill>
                  <a:schemeClr val="accent1"/>
                </a:solidFill>
              </a:rPr>
              <a:t>en.wikipedia.org</a:t>
            </a:r>
            <a:r>
              <a:rPr lang="en-US" u="sng" dirty="0">
                <a:solidFill>
                  <a:schemeClr val="accent1"/>
                </a:solidFill>
              </a:rPr>
              <a:t>/wiki/</a:t>
            </a:r>
            <a:r>
              <a:rPr lang="en-US" u="sng" dirty="0" err="1">
                <a:solidFill>
                  <a:schemeClr val="accent1"/>
                </a:solidFill>
              </a:rPr>
              <a:t>Constant_folding#Constant_propagation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6FC478-DEC8-46D6-7BAB-C65C4E871941}"/>
              </a:ext>
            </a:extLst>
          </p:cNvPr>
          <p:cNvSpPr/>
          <p:nvPr/>
        </p:nvSpPr>
        <p:spPr>
          <a:xfrm>
            <a:off x="644225" y="2157918"/>
            <a:ext cx="2235548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7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4602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B5D1-893E-2501-907F-FF9100EF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propagation and constant folding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EB5AF-BF88-57BA-ECF8-4CAAE59D3805}"/>
              </a:ext>
            </a:extLst>
          </p:cNvPr>
          <p:cNvSpPr txBox="1"/>
          <p:nvPr/>
        </p:nvSpPr>
        <p:spPr>
          <a:xfrm>
            <a:off x="135802" y="6308209"/>
            <a:ext cx="738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</a:t>
            </a:r>
            <a:r>
              <a:rPr lang="en-US" u="sng" dirty="0">
                <a:solidFill>
                  <a:schemeClr val="accent1"/>
                </a:solidFill>
              </a:rPr>
              <a:t>https://</a:t>
            </a:r>
            <a:r>
              <a:rPr lang="en-US" u="sng" dirty="0" err="1">
                <a:solidFill>
                  <a:schemeClr val="accent1"/>
                </a:solidFill>
              </a:rPr>
              <a:t>en.wikipedia.org</a:t>
            </a:r>
            <a:r>
              <a:rPr lang="en-US" u="sng" dirty="0">
                <a:solidFill>
                  <a:schemeClr val="accent1"/>
                </a:solidFill>
              </a:rPr>
              <a:t>/wiki/</a:t>
            </a:r>
            <a:r>
              <a:rPr lang="en-US" u="sng" dirty="0" err="1">
                <a:solidFill>
                  <a:schemeClr val="accent1"/>
                </a:solidFill>
              </a:rPr>
              <a:t>Constant_folding#Constant_propagation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6FC478-DEC8-46D6-7BAB-C65C4E871941}"/>
              </a:ext>
            </a:extLst>
          </p:cNvPr>
          <p:cNvSpPr/>
          <p:nvPr/>
        </p:nvSpPr>
        <p:spPr>
          <a:xfrm>
            <a:off x="644225" y="2157918"/>
            <a:ext cx="2235548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7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6150BA-0098-CD23-5560-888BDE5D4535}"/>
              </a:ext>
            </a:extLst>
          </p:cNvPr>
          <p:cNvSpPr/>
          <p:nvPr/>
        </p:nvSpPr>
        <p:spPr>
          <a:xfrm>
            <a:off x="576898" y="4233063"/>
            <a:ext cx="2370201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7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61521-0F49-58ED-6686-993C2608B156}"/>
              </a:ext>
            </a:extLst>
          </p:cNvPr>
          <p:cNvSpPr txBox="1"/>
          <p:nvPr/>
        </p:nvSpPr>
        <p:spPr>
          <a:xfrm>
            <a:off x="576898" y="3548478"/>
            <a:ext cx="225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constant propagation</a:t>
            </a:r>
          </a:p>
        </p:txBody>
      </p:sp>
    </p:spTree>
    <p:extLst>
      <p:ext uri="{BB962C8B-B14F-4D97-AF65-F5344CB8AC3E}">
        <p14:creationId xmlns:p14="http://schemas.microsoft.com/office/powerpoint/2010/main" val="400244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B5D1-893E-2501-907F-FF9100EF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propagation and constant folding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EB5AF-BF88-57BA-ECF8-4CAAE59D3805}"/>
              </a:ext>
            </a:extLst>
          </p:cNvPr>
          <p:cNvSpPr txBox="1"/>
          <p:nvPr/>
        </p:nvSpPr>
        <p:spPr>
          <a:xfrm>
            <a:off x="135802" y="6308209"/>
            <a:ext cx="738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</a:t>
            </a:r>
            <a:r>
              <a:rPr lang="en-US" u="sng" dirty="0">
                <a:solidFill>
                  <a:schemeClr val="accent1"/>
                </a:solidFill>
              </a:rPr>
              <a:t>https://</a:t>
            </a:r>
            <a:r>
              <a:rPr lang="en-US" u="sng" dirty="0" err="1">
                <a:solidFill>
                  <a:schemeClr val="accent1"/>
                </a:solidFill>
              </a:rPr>
              <a:t>en.wikipedia.org</a:t>
            </a:r>
            <a:r>
              <a:rPr lang="en-US" u="sng" dirty="0">
                <a:solidFill>
                  <a:schemeClr val="accent1"/>
                </a:solidFill>
              </a:rPr>
              <a:t>/wiki/</a:t>
            </a:r>
            <a:r>
              <a:rPr lang="en-US" u="sng" dirty="0" err="1">
                <a:solidFill>
                  <a:schemeClr val="accent1"/>
                </a:solidFill>
              </a:rPr>
              <a:t>Constant_folding#Constant_propagation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6FC478-DEC8-46D6-7BAB-C65C4E871941}"/>
              </a:ext>
            </a:extLst>
          </p:cNvPr>
          <p:cNvSpPr/>
          <p:nvPr/>
        </p:nvSpPr>
        <p:spPr>
          <a:xfrm>
            <a:off x="644225" y="2157918"/>
            <a:ext cx="2235548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7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6150BA-0098-CD23-5560-888BDE5D4535}"/>
              </a:ext>
            </a:extLst>
          </p:cNvPr>
          <p:cNvSpPr/>
          <p:nvPr/>
        </p:nvSpPr>
        <p:spPr>
          <a:xfrm>
            <a:off x="576898" y="4233063"/>
            <a:ext cx="2370201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7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61521-0F49-58ED-6686-993C2608B156}"/>
              </a:ext>
            </a:extLst>
          </p:cNvPr>
          <p:cNvSpPr txBox="1"/>
          <p:nvPr/>
        </p:nvSpPr>
        <p:spPr>
          <a:xfrm>
            <a:off x="576898" y="3548478"/>
            <a:ext cx="225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constant propagation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CD5ED-3900-B991-1D3D-359FA134AB34}"/>
              </a:ext>
            </a:extLst>
          </p:cNvPr>
          <p:cNvSpPr/>
          <p:nvPr/>
        </p:nvSpPr>
        <p:spPr>
          <a:xfrm>
            <a:off x="5219817" y="4189680"/>
            <a:ext cx="1485343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0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4</a:t>
            </a:r>
            <a:r>
              <a:rPr lang="en-US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FA6AD-4CA6-328B-F607-3B7BF11D50C7}"/>
              </a:ext>
            </a:extLst>
          </p:cNvPr>
          <p:cNvSpPr txBox="1"/>
          <p:nvPr/>
        </p:nvSpPr>
        <p:spPr>
          <a:xfrm>
            <a:off x="3409824" y="4328179"/>
            <a:ext cx="1497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constant folding</a:t>
            </a:r>
          </a:p>
        </p:txBody>
      </p:sp>
    </p:spTree>
    <p:extLst>
      <p:ext uri="{BB962C8B-B14F-4D97-AF65-F5344CB8AC3E}">
        <p14:creationId xmlns:p14="http://schemas.microsoft.com/office/powerpoint/2010/main" val="111715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B5D1-893E-2501-907F-FF9100EF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propagation and constant folding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EB5AF-BF88-57BA-ECF8-4CAAE59D3805}"/>
              </a:ext>
            </a:extLst>
          </p:cNvPr>
          <p:cNvSpPr txBox="1"/>
          <p:nvPr/>
        </p:nvSpPr>
        <p:spPr>
          <a:xfrm>
            <a:off x="135802" y="6308209"/>
            <a:ext cx="738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</a:t>
            </a:r>
            <a:r>
              <a:rPr lang="en-US" u="sng" dirty="0">
                <a:solidFill>
                  <a:schemeClr val="accent1"/>
                </a:solidFill>
              </a:rPr>
              <a:t>https://</a:t>
            </a:r>
            <a:r>
              <a:rPr lang="en-US" u="sng" dirty="0" err="1">
                <a:solidFill>
                  <a:schemeClr val="accent1"/>
                </a:solidFill>
              </a:rPr>
              <a:t>en.wikipedia.org</a:t>
            </a:r>
            <a:r>
              <a:rPr lang="en-US" u="sng" dirty="0">
                <a:solidFill>
                  <a:schemeClr val="accent1"/>
                </a:solidFill>
              </a:rPr>
              <a:t>/wiki/</a:t>
            </a:r>
            <a:r>
              <a:rPr lang="en-US" u="sng" dirty="0" err="1">
                <a:solidFill>
                  <a:schemeClr val="accent1"/>
                </a:solidFill>
              </a:rPr>
              <a:t>Constant_folding#Constant_propagation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6FC478-DEC8-46D6-7BAB-C65C4E871941}"/>
              </a:ext>
            </a:extLst>
          </p:cNvPr>
          <p:cNvSpPr/>
          <p:nvPr/>
        </p:nvSpPr>
        <p:spPr>
          <a:xfrm>
            <a:off x="644225" y="2157918"/>
            <a:ext cx="2235548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7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6150BA-0098-CD23-5560-888BDE5D4535}"/>
              </a:ext>
            </a:extLst>
          </p:cNvPr>
          <p:cNvSpPr/>
          <p:nvPr/>
        </p:nvSpPr>
        <p:spPr>
          <a:xfrm>
            <a:off x="576898" y="4233063"/>
            <a:ext cx="2370201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7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61521-0F49-58ED-6686-993C2608B156}"/>
              </a:ext>
            </a:extLst>
          </p:cNvPr>
          <p:cNvSpPr txBox="1"/>
          <p:nvPr/>
        </p:nvSpPr>
        <p:spPr>
          <a:xfrm>
            <a:off x="576898" y="3548478"/>
            <a:ext cx="225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constant propagation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CD5ED-3900-B991-1D3D-359FA134AB34}"/>
              </a:ext>
            </a:extLst>
          </p:cNvPr>
          <p:cNvSpPr/>
          <p:nvPr/>
        </p:nvSpPr>
        <p:spPr>
          <a:xfrm>
            <a:off x="5219817" y="4189680"/>
            <a:ext cx="1485343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0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4</a:t>
            </a:r>
            <a:r>
              <a:rPr lang="en-US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FA6AD-4CA6-328B-F607-3B7BF11D50C7}"/>
              </a:ext>
            </a:extLst>
          </p:cNvPr>
          <p:cNvSpPr txBox="1"/>
          <p:nvPr/>
        </p:nvSpPr>
        <p:spPr>
          <a:xfrm>
            <a:off x="3409824" y="4328179"/>
            <a:ext cx="1497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constant folding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2F6F0-B123-B5D5-B14F-E58A3045CF81}"/>
              </a:ext>
            </a:extLst>
          </p:cNvPr>
          <p:cNvSpPr txBox="1"/>
          <p:nvPr/>
        </p:nvSpPr>
        <p:spPr>
          <a:xfrm>
            <a:off x="5656339" y="3348151"/>
            <a:ext cx="1497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constant propagation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101991-5F1A-4B0A-CD2D-0703D2EB208B}"/>
              </a:ext>
            </a:extLst>
          </p:cNvPr>
          <p:cNvSpPr/>
          <p:nvPr/>
        </p:nvSpPr>
        <p:spPr>
          <a:xfrm>
            <a:off x="6920359" y="2308447"/>
            <a:ext cx="149816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0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0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4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70553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B5D1-893E-2501-907F-FF9100EF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propagation and constant folding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EB5AF-BF88-57BA-ECF8-4CAAE59D3805}"/>
              </a:ext>
            </a:extLst>
          </p:cNvPr>
          <p:cNvSpPr txBox="1"/>
          <p:nvPr/>
        </p:nvSpPr>
        <p:spPr>
          <a:xfrm>
            <a:off x="135802" y="6308209"/>
            <a:ext cx="738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</a:t>
            </a:r>
            <a:r>
              <a:rPr lang="en-US" u="sng" dirty="0">
                <a:solidFill>
                  <a:schemeClr val="accent1"/>
                </a:solidFill>
              </a:rPr>
              <a:t>https://</a:t>
            </a:r>
            <a:r>
              <a:rPr lang="en-US" u="sng" dirty="0" err="1">
                <a:solidFill>
                  <a:schemeClr val="accent1"/>
                </a:solidFill>
              </a:rPr>
              <a:t>en.wikipedia.org</a:t>
            </a:r>
            <a:r>
              <a:rPr lang="en-US" u="sng" dirty="0">
                <a:solidFill>
                  <a:schemeClr val="accent1"/>
                </a:solidFill>
              </a:rPr>
              <a:t>/wiki/</a:t>
            </a:r>
            <a:r>
              <a:rPr lang="en-US" u="sng" dirty="0" err="1">
                <a:solidFill>
                  <a:schemeClr val="accent1"/>
                </a:solidFill>
              </a:rPr>
              <a:t>Constant_folding#Constant_propagation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6FC478-DEC8-46D6-7BAB-C65C4E871941}"/>
              </a:ext>
            </a:extLst>
          </p:cNvPr>
          <p:cNvSpPr/>
          <p:nvPr/>
        </p:nvSpPr>
        <p:spPr>
          <a:xfrm>
            <a:off x="644225" y="2157918"/>
            <a:ext cx="2235548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7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6150BA-0098-CD23-5560-888BDE5D4535}"/>
              </a:ext>
            </a:extLst>
          </p:cNvPr>
          <p:cNvSpPr/>
          <p:nvPr/>
        </p:nvSpPr>
        <p:spPr>
          <a:xfrm>
            <a:off x="576898" y="4233063"/>
            <a:ext cx="2370201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7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61521-0F49-58ED-6686-993C2608B156}"/>
              </a:ext>
            </a:extLst>
          </p:cNvPr>
          <p:cNvSpPr txBox="1"/>
          <p:nvPr/>
        </p:nvSpPr>
        <p:spPr>
          <a:xfrm>
            <a:off x="576898" y="3548478"/>
            <a:ext cx="225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constant propagation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CD5ED-3900-B991-1D3D-359FA134AB34}"/>
              </a:ext>
            </a:extLst>
          </p:cNvPr>
          <p:cNvSpPr/>
          <p:nvPr/>
        </p:nvSpPr>
        <p:spPr>
          <a:xfrm>
            <a:off x="5219817" y="4189680"/>
            <a:ext cx="1485343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0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4</a:t>
            </a:r>
            <a:r>
              <a:rPr lang="en-US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FA6AD-4CA6-328B-F607-3B7BF11D50C7}"/>
              </a:ext>
            </a:extLst>
          </p:cNvPr>
          <p:cNvSpPr txBox="1"/>
          <p:nvPr/>
        </p:nvSpPr>
        <p:spPr>
          <a:xfrm>
            <a:off x="3409824" y="4328179"/>
            <a:ext cx="1497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constant folding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2F6F0-B123-B5D5-B14F-E58A3045CF81}"/>
              </a:ext>
            </a:extLst>
          </p:cNvPr>
          <p:cNvSpPr txBox="1"/>
          <p:nvPr/>
        </p:nvSpPr>
        <p:spPr>
          <a:xfrm>
            <a:off x="5656339" y="3348151"/>
            <a:ext cx="1497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constant propagation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101991-5F1A-4B0A-CD2D-0703D2EB208B}"/>
              </a:ext>
            </a:extLst>
          </p:cNvPr>
          <p:cNvSpPr/>
          <p:nvPr/>
        </p:nvSpPr>
        <p:spPr>
          <a:xfrm>
            <a:off x="6920359" y="2308447"/>
            <a:ext cx="149816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0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0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4</a:t>
            </a:r>
            <a:r>
              <a:rPr lang="en-US" dirty="0"/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142E1B-28CE-BC12-2A5B-0E57E6C764C8}"/>
              </a:ext>
            </a:extLst>
          </p:cNvPr>
          <p:cNvSpPr txBox="1"/>
          <p:nvPr/>
        </p:nvSpPr>
        <p:spPr>
          <a:xfrm>
            <a:off x="8350985" y="3849536"/>
            <a:ext cx="1497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constant folding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C82568-F0D0-5F40-1746-08CF21AD56DC}"/>
              </a:ext>
            </a:extLst>
          </p:cNvPr>
          <p:cNvSpPr/>
          <p:nvPr/>
        </p:nvSpPr>
        <p:spPr>
          <a:xfrm>
            <a:off x="9417607" y="4495867"/>
            <a:ext cx="118718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0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0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12296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B5D1-893E-2501-907F-FF9100EF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Typically performed at the same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EB5AF-BF88-57BA-ECF8-4CAAE59D3805}"/>
              </a:ext>
            </a:extLst>
          </p:cNvPr>
          <p:cNvSpPr txBox="1"/>
          <p:nvPr/>
        </p:nvSpPr>
        <p:spPr>
          <a:xfrm>
            <a:off x="135802" y="6308209"/>
            <a:ext cx="738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</a:t>
            </a:r>
            <a:r>
              <a:rPr lang="en-US" u="sng" dirty="0">
                <a:solidFill>
                  <a:schemeClr val="accent1"/>
                </a:solidFill>
              </a:rPr>
              <a:t>https://</a:t>
            </a:r>
            <a:r>
              <a:rPr lang="en-US" u="sng" dirty="0" err="1">
                <a:solidFill>
                  <a:schemeClr val="accent1"/>
                </a:solidFill>
              </a:rPr>
              <a:t>en.wikipedia.org</a:t>
            </a:r>
            <a:r>
              <a:rPr lang="en-US" u="sng" dirty="0">
                <a:solidFill>
                  <a:schemeClr val="accent1"/>
                </a:solidFill>
              </a:rPr>
              <a:t>/wiki/</a:t>
            </a:r>
            <a:r>
              <a:rPr lang="en-US" u="sng" dirty="0" err="1">
                <a:solidFill>
                  <a:schemeClr val="accent1"/>
                </a:solidFill>
              </a:rPr>
              <a:t>Constant_folding#Constant_propagation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6FC478-DEC8-46D6-7BAB-C65C4E871941}"/>
              </a:ext>
            </a:extLst>
          </p:cNvPr>
          <p:cNvSpPr/>
          <p:nvPr/>
        </p:nvSpPr>
        <p:spPr>
          <a:xfrm>
            <a:off x="644225" y="2157918"/>
            <a:ext cx="2235548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7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-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6150BA-0098-CD23-5560-888BDE5D4535}"/>
              </a:ext>
            </a:extLst>
          </p:cNvPr>
          <p:cNvSpPr/>
          <p:nvPr/>
        </p:nvSpPr>
        <p:spPr>
          <a:xfrm>
            <a:off x="576898" y="4233063"/>
            <a:ext cx="2235548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0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*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666666"/>
                </a:solidFill>
              </a:rPr>
              <a:t>28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/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+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2</a:t>
            </a:r>
            <a:r>
              <a:rPr lang="en-US" dirty="0"/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61521-0F49-58ED-6686-993C2608B156}"/>
              </a:ext>
            </a:extLst>
          </p:cNvPr>
          <p:cNvSpPr txBox="1"/>
          <p:nvPr/>
        </p:nvSpPr>
        <p:spPr>
          <a:xfrm>
            <a:off x="576898" y="3548478"/>
            <a:ext cx="440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constant propagation and folding second 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383483-4D90-3DC4-9D15-C2D6C34F2C5C}"/>
              </a:ext>
            </a:extLst>
          </p:cNvPr>
          <p:cNvSpPr/>
          <p:nvPr/>
        </p:nvSpPr>
        <p:spPr>
          <a:xfrm>
            <a:off x="5581955" y="4233063"/>
            <a:ext cx="1157176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14</a:t>
            </a:r>
            <a:r>
              <a:rPr lang="en-US" dirty="0"/>
              <a:t>; </a:t>
            </a:r>
          </a:p>
          <a:p>
            <a:r>
              <a:rPr lang="en-US" dirty="0">
                <a:solidFill>
                  <a:srgbClr val="B00040"/>
                </a:solidFill>
              </a:rPr>
              <a:t>int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/>
              <a:t>y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=</a:t>
            </a:r>
            <a:r>
              <a:rPr lang="en-US" dirty="0">
                <a:solidFill>
                  <a:srgbClr val="BBBBBB"/>
                </a:solidFill>
              </a:rPr>
              <a:t> </a:t>
            </a:r>
            <a:r>
              <a:rPr lang="en-US" dirty="0">
                <a:solidFill>
                  <a:srgbClr val="666666"/>
                </a:solidFill>
              </a:rPr>
              <a:t>0</a:t>
            </a:r>
            <a:r>
              <a:rPr lang="en-US" dirty="0"/>
              <a:t>; </a:t>
            </a:r>
          </a:p>
          <a:p>
            <a:r>
              <a:rPr lang="en-US" b="1" dirty="0">
                <a:solidFill>
                  <a:srgbClr val="008000"/>
                </a:solidFill>
              </a:rPr>
              <a:t>return</a:t>
            </a:r>
            <a:r>
              <a:rPr lang="en-US" dirty="0">
                <a:solidFill>
                  <a:srgbClr val="BBBBBB"/>
                </a:solidFill>
              </a:rPr>
              <a:t> 0</a:t>
            </a:r>
            <a:r>
              <a:rPr lang="en-US" dirty="0"/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48F84B-AD22-292B-6567-05C6136B9BD5}"/>
              </a:ext>
            </a:extLst>
          </p:cNvPr>
          <p:cNvSpPr txBox="1"/>
          <p:nvPr/>
        </p:nvSpPr>
        <p:spPr>
          <a:xfrm>
            <a:off x="2879773" y="5404242"/>
            <a:ext cx="4195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constant propagation and folding third line</a:t>
            </a:r>
          </a:p>
        </p:txBody>
      </p:sp>
    </p:spTree>
    <p:extLst>
      <p:ext uri="{BB962C8B-B14F-4D97-AF65-F5344CB8AC3E}">
        <p14:creationId xmlns:p14="http://schemas.microsoft.com/office/powerpoint/2010/main" val="4239555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constant folding to LVN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40D0-7A6B-96DE-27F4-2979BA6A49EB}"/>
              </a:ext>
            </a:extLst>
          </p:cNvPr>
          <p:cNvSpPr txBox="1"/>
          <p:nvPr/>
        </p:nvSpPr>
        <p:spPr>
          <a:xfrm>
            <a:off x="2198024" y="2228671"/>
            <a:ext cx="2028119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 = 5;</a:t>
            </a:r>
          </a:p>
          <a:p>
            <a:r>
              <a:rPr lang="en-US" sz="2400" dirty="0">
                <a:latin typeface="Courier" pitchFamily="2" charset="0"/>
              </a:rPr>
              <a:t>c = 3;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a = b + c;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 = a - d;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c = a + c;</a:t>
            </a:r>
          </a:p>
          <a:p>
            <a:r>
              <a:rPr lang="en-US" sz="2400" dirty="0">
                <a:latin typeface="Courier" pitchFamily="2" charset="0"/>
              </a:rPr>
              <a:t>d = a - d;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4A0B9-822F-8B40-14F2-8ADE3E8CA5FF}"/>
              </a:ext>
            </a:extLst>
          </p:cNvPr>
          <p:cNvSpPr txBox="1"/>
          <p:nvPr/>
        </p:nvSpPr>
        <p:spPr>
          <a:xfrm>
            <a:off x="6681357" y="3429000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97D6-B2A1-F544-1A19-7E81F97EB756}"/>
              </a:ext>
            </a:extLst>
          </p:cNvPr>
          <p:cNvSpPr txBox="1"/>
          <p:nvPr/>
        </p:nvSpPr>
        <p:spPr>
          <a:xfrm>
            <a:off x="6681357" y="4937321"/>
            <a:ext cx="23903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 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2841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constant folding to LVN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40D0-7A6B-96DE-27F4-2979BA6A49EB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5;</a:t>
            </a:r>
          </a:p>
          <a:p>
            <a:r>
              <a:rPr lang="en-US" sz="2400" dirty="0">
                <a:latin typeface="Courier" pitchFamily="2" charset="0"/>
              </a:rPr>
              <a:t>c1 = 3;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a2 = b0 + c1;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a2 -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c5 = a2 + c1;</a:t>
            </a:r>
          </a:p>
          <a:p>
            <a:r>
              <a:rPr lang="en-US" sz="2400" dirty="0">
                <a:latin typeface="Courier" pitchFamily="2" charset="0"/>
              </a:rPr>
              <a:t>d6 = a2 - d3;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4A0B9-822F-8B40-14F2-8ADE3E8CA5FF}"/>
              </a:ext>
            </a:extLst>
          </p:cNvPr>
          <p:cNvSpPr txBox="1"/>
          <p:nvPr/>
        </p:nvSpPr>
        <p:spPr>
          <a:xfrm>
            <a:off x="6681357" y="3429000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97D6-B2A1-F544-1A19-7E81F97EB756}"/>
              </a:ext>
            </a:extLst>
          </p:cNvPr>
          <p:cNvSpPr txBox="1"/>
          <p:nvPr/>
        </p:nvSpPr>
        <p:spPr>
          <a:xfrm>
            <a:off x="6681357" y="4937321"/>
            <a:ext cx="23903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 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43828-DF3D-E733-8BED-875B60700B71}"/>
              </a:ext>
            </a:extLst>
          </p:cNvPr>
          <p:cNvSpPr txBox="1"/>
          <p:nvPr/>
        </p:nvSpPr>
        <p:spPr>
          <a:xfrm>
            <a:off x="1828800" y="1955549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numbering</a:t>
            </a:r>
          </a:p>
        </p:txBody>
      </p:sp>
    </p:spTree>
    <p:extLst>
      <p:ext uri="{BB962C8B-B14F-4D97-AF65-F5344CB8AC3E}">
        <p14:creationId xmlns:p14="http://schemas.microsoft.com/office/powerpoint/2010/main" val="2167719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constant folding to LVN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40D0-7A6B-96DE-27F4-2979BA6A49EB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5;</a:t>
            </a:r>
          </a:p>
          <a:p>
            <a:r>
              <a:rPr lang="en-US" sz="2400" dirty="0">
                <a:latin typeface="Courier" pitchFamily="2" charset="0"/>
              </a:rPr>
              <a:t>c1 = 3;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a2 = b0 + c1;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a2 -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c5 = a2 + c1;</a:t>
            </a:r>
          </a:p>
          <a:p>
            <a:r>
              <a:rPr lang="en-US" sz="2400" dirty="0">
                <a:latin typeface="Courier" pitchFamily="2" charset="0"/>
              </a:rPr>
              <a:t>d6 = a2 - d3;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4A0B9-822F-8B40-14F2-8ADE3E8CA5FF}"/>
              </a:ext>
            </a:extLst>
          </p:cNvPr>
          <p:cNvSpPr txBox="1"/>
          <p:nvPr/>
        </p:nvSpPr>
        <p:spPr>
          <a:xfrm>
            <a:off x="6681357" y="3429000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97D6-B2A1-F544-1A19-7E81F97EB756}"/>
              </a:ext>
            </a:extLst>
          </p:cNvPr>
          <p:cNvSpPr txBox="1"/>
          <p:nvPr/>
        </p:nvSpPr>
        <p:spPr>
          <a:xfrm>
            <a:off x="6681357" y="4937321"/>
            <a:ext cx="23903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 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8F864-5D90-BDCB-0F51-CE2FB8A69130}"/>
              </a:ext>
            </a:extLst>
          </p:cNvPr>
          <p:cNvSpPr txBox="1"/>
          <p:nvPr/>
        </p:nvSpPr>
        <p:spPr>
          <a:xfrm>
            <a:off x="1509960" y="1970976"/>
            <a:ext cx="7643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you are iterating through code, add any constant mappings to </a:t>
            </a:r>
            <a:r>
              <a:rPr lang="en-US" dirty="0" err="1"/>
              <a:t>Known_values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328623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constant folding to LVN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40D0-7A6B-96DE-27F4-2979BA6A49EB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b0 = 5;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c1 = 3;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a2 = b0 + c1;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a2 -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c5 = a2 + c1;</a:t>
            </a:r>
          </a:p>
          <a:p>
            <a:r>
              <a:rPr lang="en-US" sz="2400" dirty="0">
                <a:latin typeface="Courier" pitchFamily="2" charset="0"/>
              </a:rPr>
              <a:t>d6 = a2 - d3;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4A0B9-822F-8B40-14F2-8ADE3E8CA5FF}"/>
              </a:ext>
            </a:extLst>
          </p:cNvPr>
          <p:cNvSpPr txBox="1"/>
          <p:nvPr/>
        </p:nvSpPr>
        <p:spPr>
          <a:xfrm>
            <a:off x="6681357" y="3429000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97D6-B2A1-F544-1A19-7E81F97EB756}"/>
              </a:ext>
            </a:extLst>
          </p:cNvPr>
          <p:cNvSpPr txBox="1"/>
          <p:nvPr/>
        </p:nvSpPr>
        <p:spPr>
          <a:xfrm>
            <a:off x="6681357" y="4937321"/>
            <a:ext cx="23903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“b0” : 5</a:t>
            </a:r>
          </a:p>
          <a:p>
            <a:r>
              <a:rPr lang="en-US" dirty="0">
                <a:latin typeface="Courier" pitchFamily="2" charset="0"/>
              </a:rPr>
              <a:t>“c1” : 3</a:t>
            </a:r>
          </a:p>
          <a:p>
            <a:r>
              <a:rPr lang="en-US" dirty="0">
                <a:latin typeface="Courier" pitchFamily="2" charset="0"/>
              </a:rPr>
              <a:t> 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8F864-5D90-BDCB-0F51-CE2FB8A69130}"/>
              </a:ext>
            </a:extLst>
          </p:cNvPr>
          <p:cNvSpPr txBox="1"/>
          <p:nvPr/>
        </p:nvSpPr>
        <p:spPr>
          <a:xfrm>
            <a:off x="1509960" y="1970976"/>
            <a:ext cx="7643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you are iterating through code, add any constant mappings to </a:t>
            </a:r>
            <a:r>
              <a:rPr lang="en-US" dirty="0" err="1"/>
              <a:t>Known_values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81186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constant folding to LVN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40D0-7A6B-96DE-27F4-2979BA6A49EB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5;</a:t>
            </a:r>
          </a:p>
          <a:p>
            <a:r>
              <a:rPr lang="en-US" sz="2400" dirty="0">
                <a:latin typeface="Courier" pitchFamily="2" charset="0"/>
              </a:rPr>
              <a:t>c1 = 3;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a2 = b0 + c1;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a2 -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c5 = a2 + c1;</a:t>
            </a:r>
          </a:p>
          <a:p>
            <a:r>
              <a:rPr lang="en-US" sz="2400" dirty="0">
                <a:latin typeface="Courier" pitchFamily="2" charset="0"/>
              </a:rPr>
              <a:t>d6 = a2 - d3;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4A0B9-822F-8B40-14F2-8ADE3E8CA5FF}"/>
              </a:ext>
            </a:extLst>
          </p:cNvPr>
          <p:cNvSpPr txBox="1"/>
          <p:nvPr/>
        </p:nvSpPr>
        <p:spPr>
          <a:xfrm>
            <a:off x="6681357" y="3429000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97D6-B2A1-F544-1A19-7E81F97EB756}"/>
              </a:ext>
            </a:extLst>
          </p:cNvPr>
          <p:cNvSpPr txBox="1"/>
          <p:nvPr/>
        </p:nvSpPr>
        <p:spPr>
          <a:xfrm>
            <a:off x="6681357" y="4937321"/>
            <a:ext cx="23903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“b0” : 5</a:t>
            </a:r>
          </a:p>
          <a:p>
            <a:r>
              <a:rPr lang="en-US" dirty="0">
                <a:latin typeface="Courier" pitchFamily="2" charset="0"/>
              </a:rPr>
              <a:t>“c1” : 3</a:t>
            </a:r>
          </a:p>
          <a:p>
            <a:r>
              <a:rPr lang="en-US" dirty="0">
                <a:latin typeface="Courier" pitchFamily="2" charset="0"/>
              </a:rPr>
              <a:t> 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8F864-5D90-BDCB-0F51-CE2FB8A69130}"/>
              </a:ext>
            </a:extLst>
          </p:cNvPr>
          <p:cNvSpPr txBox="1"/>
          <p:nvPr/>
        </p:nvSpPr>
        <p:spPr>
          <a:xfrm>
            <a:off x="1509960" y="1970976"/>
            <a:ext cx="705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you find an arithmetic operation, first check if operands are known</a:t>
            </a:r>
          </a:p>
        </p:txBody>
      </p:sp>
    </p:spTree>
    <p:extLst>
      <p:ext uri="{BB962C8B-B14F-4D97-AF65-F5344CB8AC3E}">
        <p14:creationId xmlns:p14="http://schemas.microsoft.com/office/powerpoint/2010/main" val="3500693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constant folding to LVN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40D0-7A6B-96DE-27F4-2979BA6A49EB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5;</a:t>
            </a:r>
          </a:p>
          <a:p>
            <a:r>
              <a:rPr lang="en-US" sz="2400" dirty="0">
                <a:latin typeface="Courier" pitchFamily="2" charset="0"/>
              </a:rPr>
              <a:t>c1 = 3;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a2 = b0 + c1;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a2 -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c5 = a2 + c1;</a:t>
            </a:r>
          </a:p>
          <a:p>
            <a:r>
              <a:rPr lang="en-US" sz="2400" dirty="0">
                <a:latin typeface="Courier" pitchFamily="2" charset="0"/>
              </a:rPr>
              <a:t>d6 = a2 - d3;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4A0B9-822F-8B40-14F2-8ADE3E8CA5FF}"/>
              </a:ext>
            </a:extLst>
          </p:cNvPr>
          <p:cNvSpPr txBox="1"/>
          <p:nvPr/>
        </p:nvSpPr>
        <p:spPr>
          <a:xfrm>
            <a:off x="6681357" y="3429000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97D6-B2A1-F544-1A19-7E81F97EB756}"/>
              </a:ext>
            </a:extLst>
          </p:cNvPr>
          <p:cNvSpPr txBox="1"/>
          <p:nvPr/>
        </p:nvSpPr>
        <p:spPr>
          <a:xfrm>
            <a:off x="6681357" y="4937321"/>
            <a:ext cx="23903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“b0” : 5</a:t>
            </a:r>
          </a:p>
          <a:p>
            <a:r>
              <a:rPr lang="en-US" dirty="0">
                <a:latin typeface="Courier" pitchFamily="2" charset="0"/>
              </a:rPr>
              <a:t>“c1” : 3</a:t>
            </a:r>
          </a:p>
          <a:p>
            <a:r>
              <a:rPr lang="en-US" dirty="0">
                <a:latin typeface="Courier" pitchFamily="2" charset="0"/>
              </a:rPr>
              <a:t> 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8F864-5D90-BDCB-0F51-CE2FB8A69130}"/>
              </a:ext>
            </a:extLst>
          </p:cNvPr>
          <p:cNvSpPr txBox="1"/>
          <p:nvPr/>
        </p:nvSpPr>
        <p:spPr>
          <a:xfrm>
            <a:off x="1509960" y="1970976"/>
            <a:ext cx="705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you find an arithmetic operation, first check if operands are known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2808E-C4B8-D291-5ACC-4B0DE04914C4}"/>
              </a:ext>
            </a:extLst>
          </p:cNvPr>
          <p:cNvSpPr txBox="1"/>
          <p:nvPr/>
        </p:nvSpPr>
        <p:spPr>
          <a:xfrm>
            <a:off x="4291343" y="375128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+ 3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2A56B-4D60-F3A7-0D64-576DCBC08586}"/>
              </a:ext>
            </a:extLst>
          </p:cNvPr>
          <p:cNvSpPr txBox="1"/>
          <p:nvPr/>
        </p:nvSpPr>
        <p:spPr>
          <a:xfrm>
            <a:off x="4498387" y="4148361"/>
            <a:ext cx="3378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evaluate and add to known values</a:t>
            </a:r>
          </a:p>
        </p:txBody>
      </p:sp>
    </p:spTree>
    <p:extLst>
      <p:ext uri="{BB962C8B-B14F-4D97-AF65-F5344CB8AC3E}">
        <p14:creationId xmlns:p14="http://schemas.microsoft.com/office/powerpoint/2010/main" val="3759462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constant folding to LVN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40D0-7A6B-96DE-27F4-2979BA6A49EB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5;</a:t>
            </a:r>
          </a:p>
          <a:p>
            <a:r>
              <a:rPr lang="en-US" sz="2400" dirty="0">
                <a:latin typeface="Courier" pitchFamily="2" charset="0"/>
              </a:rPr>
              <a:t>c1 = 3;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a2 = 8;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a2 -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c5 = a2 + c1;</a:t>
            </a:r>
          </a:p>
          <a:p>
            <a:r>
              <a:rPr lang="en-US" sz="2400" dirty="0">
                <a:latin typeface="Courier" pitchFamily="2" charset="0"/>
              </a:rPr>
              <a:t>d6 = a2 - d3;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4A0B9-822F-8B40-14F2-8ADE3E8CA5FF}"/>
              </a:ext>
            </a:extLst>
          </p:cNvPr>
          <p:cNvSpPr txBox="1"/>
          <p:nvPr/>
        </p:nvSpPr>
        <p:spPr>
          <a:xfrm>
            <a:off x="6681357" y="3429000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97D6-B2A1-F544-1A19-7E81F97EB756}"/>
              </a:ext>
            </a:extLst>
          </p:cNvPr>
          <p:cNvSpPr txBox="1"/>
          <p:nvPr/>
        </p:nvSpPr>
        <p:spPr>
          <a:xfrm>
            <a:off x="6681357" y="4937321"/>
            <a:ext cx="23903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“b0” : 5</a:t>
            </a:r>
          </a:p>
          <a:p>
            <a:r>
              <a:rPr lang="en-US" dirty="0">
                <a:latin typeface="Courier" pitchFamily="2" charset="0"/>
              </a:rPr>
              <a:t>“c1” : 3</a:t>
            </a:r>
          </a:p>
          <a:p>
            <a:r>
              <a:rPr lang="en-US" dirty="0">
                <a:latin typeface="Courier" pitchFamily="2" charset="0"/>
              </a:rPr>
              <a:t>“a2” : 8</a:t>
            </a:r>
          </a:p>
          <a:p>
            <a:r>
              <a:rPr lang="en-US" dirty="0">
                <a:latin typeface="Courier" pitchFamily="2" charset="0"/>
              </a:rPr>
              <a:t> 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8F864-5D90-BDCB-0F51-CE2FB8A69130}"/>
              </a:ext>
            </a:extLst>
          </p:cNvPr>
          <p:cNvSpPr txBox="1"/>
          <p:nvPr/>
        </p:nvSpPr>
        <p:spPr>
          <a:xfrm>
            <a:off x="1509960" y="1970976"/>
            <a:ext cx="705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you find an arithmetic operation, first check if operands are known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2808E-C4B8-D291-5ACC-4B0DE04914C4}"/>
              </a:ext>
            </a:extLst>
          </p:cNvPr>
          <p:cNvSpPr txBox="1"/>
          <p:nvPr/>
        </p:nvSpPr>
        <p:spPr>
          <a:xfrm>
            <a:off x="4291343" y="375128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+ 3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2A56B-4D60-F3A7-0D64-576DCBC08586}"/>
              </a:ext>
            </a:extLst>
          </p:cNvPr>
          <p:cNvSpPr txBox="1"/>
          <p:nvPr/>
        </p:nvSpPr>
        <p:spPr>
          <a:xfrm>
            <a:off x="4498387" y="4148361"/>
            <a:ext cx="3378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evaluate and add to known values</a:t>
            </a:r>
          </a:p>
        </p:txBody>
      </p:sp>
    </p:spTree>
    <p:extLst>
      <p:ext uri="{BB962C8B-B14F-4D97-AF65-F5344CB8AC3E}">
        <p14:creationId xmlns:p14="http://schemas.microsoft.com/office/powerpoint/2010/main" val="1465324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constant folding to LVN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40D0-7A6B-96DE-27F4-2979BA6A49EB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5;</a:t>
            </a:r>
          </a:p>
          <a:p>
            <a:r>
              <a:rPr lang="en-US" sz="2400" dirty="0">
                <a:latin typeface="Courier" pitchFamily="2" charset="0"/>
              </a:rPr>
              <a:t>c1 = 3;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a2 = 8;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b4 = 8 - d3;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c5 = a2 + c1;</a:t>
            </a:r>
          </a:p>
          <a:p>
            <a:r>
              <a:rPr lang="en-US" sz="2400" dirty="0">
                <a:latin typeface="Courier" pitchFamily="2" charset="0"/>
              </a:rPr>
              <a:t>d6 = a2 - d3;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4A0B9-822F-8B40-14F2-8ADE3E8CA5FF}"/>
              </a:ext>
            </a:extLst>
          </p:cNvPr>
          <p:cNvSpPr txBox="1"/>
          <p:nvPr/>
        </p:nvSpPr>
        <p:spPr>
          <a:xfrm>
            <a:off x="6681357" y="3429000"/>
            <a:ext cx="873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</a:p>
          <a:p>
            <a:r>
              <a:rPr lang="en-US" dirty="0">
                <a:latin typeface="Courier" pitchFamily="2" charset="0"/>
              </a:rPr>
              <a:t> 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97D6-B2A1-F544-1A19-7E81F97EB756}"/>
              </a:ext>
            </a:extLst>
          </p:cNvPr>
          <p:cNvSpPr txBox="1"/>
          <p:nvPr/>
        </p:nvSpPr>
        <p:spPr>
          <a:xfrm>
            <a:off x="6681357" y="4937321"/>
            <a:ext cx="23903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“b0” : 5</a:t>
            </a:r>
          </a:p>
          <a:p>
            <a:r>
              <a:rPr lang="en-US" dirty="0">
                <a:latin typeface="Courier" pitchFamily="2" charset="0"/>
              </a:rPr>
              <a:t>“c1” : 3</a:t>
            </a:r>
          </a:p>
          <a:p>
            <a:r>
              <a:rPr lang="en-US" dirty="0">
                <a:latin typeface="Courier" pitchFamily="2" charset="0"/>
              </a:rPr>
              <a:t>“a2” : 8</a:t>
            </a:r>
          </a:p>
          <a:p>
            <a:r>
              <a:rPr lang="en-US" dirty="0">
                <a:latin typeface="Courier" pitchFamily="2" charset="0"/>
              </a:rPr>
              <a:t> 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8F864-5D90-BDCB-0F51-CE2FB8A69130}"/>
              </a:ext>
            </a:extLst>
          </p:cNvPr>
          <p:cNvSpPr txBox="1"/>
          <p:nvPr/>
        </p:nvSpPr>
        <p:spPr>
          <a:xfrm>
            <a:off x="1509960" y="1970976"/>
            <a:ext cx="705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you find an arithmetic operation, first check if operands are 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8D31C-B92F-D4DC-C3CF-374A065F909F}"/>
              </a:ext>
            </a:extLst>
          </p:cNvPr>
          <p:cNvSpPr txBox="1"/>
          <p:nvPr/>
        </p:nvSpPr>
        <p:spPr>
          <a:xfrm>
            <a:off x="4490519" y="2706778"/>
            <a:ext cx="338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propagate constant (if IR allows it)</a:t>
            </a:r>
          </a:p>
        </p:txBody>
      </p:sp>
    </p:spTree>
    <p:extLst>
      <p:ext uri="{BB962C8B-B14F-4D97-AF65-F5344CB8AC3E}">
        <p14:creationId xmlns:p14="http://schemas.microsoft.com/office/powerpoint/2010/main" val="3267273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constant folding to LVN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40D0-7A6B-96DE-27F4-2979BA6A49EB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5;</a:t>
            </a:r>
          </a:p>
          <a:p>
            <a:r>
              <a:rPr lang="en-US" sz="2400" dirty="0">
                <a:latin typeface="Courier" pitchFamily="2" charset="0"/>
              </a:rPr>
              <a:t>c1 = 3;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a2 = 8;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b4 = 8 - d3;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c5 = a2 + c1;</a:t>
            </a:r>
          </a:p>
          <a:p>
            <a:r>
              <a:rPr lang="en-US" sz="2400" dirty="0">
                <a:latin typeface="Courier" pitchFamily="2" charset="0"/>
              </a:rPr>
              <a:t>d6 = a2 - d3;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4A0B9-822F-8B40-14F2-8ADE3E8CA5FF}"/>
              </a:ext>
            </a:extLst>
          </p:cNvPr>
          <p:cNvSpPr txBox="1"/>
          <p:nvPr/>
        </p:nvSpPr>
        <p:spPr>
          <a:xfrm>
            <a:off x="6681357" y="3429000"/>
            <a:ext cx="2528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</a:p>
          <a:p>
            <a:r>
              <a:rPr lang="en-US" dirty="0">
                <a:latin typeface="Courier" pitchFamily="2" charset="0"/>
              </a:rPr>
              <a:t> “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8</a:t>
            </a:r>
            <a:r>
              <a:rPr lang="en-US" dirty="0">
                <a:latin typeface="Courier" pitchFamily="2" charset="0"/>
              </a:rPr>
              <a:t> - d3” </a:t>
            </a:r>
            <a:r>
              <a:rPr lang="en-US">
                <a:latin typeface="Courier" pitchFamily="2" charset="0"/>
              </a:rPr>
              <a:t>: “b4” 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97D6-B2A1-F544-1A19-7E81F97EB756}"/>
              </a:ext>
            </a:extLst>
          </p:cNvPr>
          <p:cNvSpPr txBox="1"/>
          <p:nvPr/>
        </p:nvSpPr>
        <p:spPr>
          <a:xfrm>
            <a:off x="6681357" y="4937321"/>
            <a:ext cx="23903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“b0” : 5</a:t>
            </a:r>
          </a:p>
          <a:p>
            <a:r>
              <a:rPr lang="en-US" dirty="0">
                <a:latin typeface="Courier" pitchFamily="2" charset="0"/>
              </a:rPr>
              <a:t>“c1” : 3</a:t>
            </a:r>
          </a:p>
          <a:p>
            <a:r>
              <a:rPr lang="en-US" dirty="0">
                <a:latin typeface="Courier" pitchFamily="2" charset="0"/>
              </a:rPr>
              <a:t>“a2” : 8</a:t>
            </a:r>
          </a:p>
          <a:p>
            <a:r>
              <a:rPr lang="en-US" dirty="0">
                <a:latin typeface="Courier" pitchFamily="2" charset="0"/>
              </a:rPr>
              <a:t> 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8F864-5D90-BDCB-0F51-CE2FB8A69130}"/>
              </a:ext>
            </a:extLst>
          </p:cNvPr>
          <p:cNvSpPr txBox="1"/>
          <p:nvPr/>
        </p:nvSpPr>
        <p:spPr>
          <a:xfrm>
            <a:off x="1509960" y="1970976"/>
            <a:ext cx="705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you find an arithmetic operation, first check if operands are 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8D31C-B92F-D4DC-C3CF-374A065F909F}"/>
              </a:ext>
            </a:extLst>
          </p:cNvPr>
          <p:cNvSpPr txBox="1"/>
          <p:nvPr/>
        </p:nvSpPr>
        <p:spPr>
          <a:xfrm>
            <a:off x="4490519" y="2706778"/>
            <a:ext cx="985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to 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E30F8-3E44-0A44-57FB-C7DA0829A3A9}"/>
              </a:ext>
            </a:extLst>
          </p:cNvPr>
          <p:cNvSpPr txBox="1"/>
          <p:nvPr/>
        </p:nvSpPr>
        <p:spPr>
          <a:xfrm>
            <a:off x="4209861" y="5658416"/>
            <a:ext cx="1365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continue 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60F41-E6A9-1EFA-5609-0362D576C6DF}"/>
              </a:ext>
            </a:extLst>
          </p:cNvPr>
          <p:cNvSpPr txBox="1"/>
          <p:nvPr/>
        </p:nvSpPr>
        <p:spPr>
          <a:xfrm>
            <a:off x="9071755" y="2568278"/>
            <a:ext cx="2670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 do we want to store 8</a:t>
            </a:r>
          </a:p>
          <a:p>
            <a:r>
              <a:rPr lang="en-US" dirty="0"/>
              <a:t>here rather than a2?</a:t>
            </a:r>
          </a:p>
        </p:txBody>
      </p:sp>
    </p:spTree>
    <p:extLst>
      <p:ext uri="{BB962C8B-B14F-4D97-AF65-F5344CB8AC3E}">
        <p14:creationId xmlns:p14="http://schemas.microsoft.com/office/powerpoint/2010/main" val="2102700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identities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D201C-6816-E0F7-D459-610EA0F5D1C3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0;</a:t>
            </a:r>
          </a:p>
          <a:p>
            <a:r>
              <a:rPr lang="en-US" sz="2400" dirty="0">
                <a:latin typeface="Courier" pitchFamily="2" charset="0"/>
              </a:rPr>
              <a:t>d3 = 1;</a:t>
            </a:r>
          </a:p>
          <a:p>
            <a:r>
              <a:rPr lang="en-US" sz="2400" dirty="0">
                <a:latin typeface="Courier" pitchFamily="2" charset="0"/>
              </a:rPr>
              <a:t>f7 = 4;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a2 = b0 + c1;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*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d6 = e5 * f7;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1C4E5-29A6-F572-22F0-5C72935AD302}"/>
              </a:ext>
            </a:extLst>
          </p:cNvPr>
          <p:cNvSpPr txBox="1"/>
          <p:nvPr/>
        </p:nvSpPr>
        <p:spPr>
          <a:xfrm>
            <a:off x="6681357" y="3429000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AFD59-2503-03DD-B07F-913CA6E4D759}"/>
              </a:ext>
            </a:extLst>
          </p:cNvPr>
          <p:cNvSpPr txBox="1"/>
          <p:nvPr/>
        </p:nvSpPr>
        <p:spPr>
          <a:xfrm>
            <a:off x="6681357" y="4937321"/>
            <a:ext cx="2390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0337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identities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D201C-6816-E0F7-D459-610EA0F5D1C3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0;</a:t>
            </a:r>
          </a:p>
          <a:p>
            <a:r>
              <a:rPr lang="en-US" sz="2400" dirty="0">
                <a:latin typeface="Courier" pitchFamily="2" charset="0"/>
              </a:rPr>
              <a:t>d3 = 1;</a:t>
            </a:r>
          </a:p>
          <a:p>
            <a:r>
              <a:rPr lang="en-US" sz="2400" dirty="0">
                <a:latin typeface="Courier" pitchFamily="2" charset="0"/>
              </a:rPr>
              <a:t>f7 = 4;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a2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b0 + c1</a:t>
            </a:r>
            <a:r>
              <a:rPr lang="en-US" sz="2400" dirty="0">
                <a:latin typeface="Courier" pitchFamily="2" charset="0"/>
              </a:rPr>
              <a:t>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*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d6 = e5 * f7;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1C4E5-29A6-F572-22F0-5C72935AD302}"/>
              </a:ext>
            </a:extLst>
          </p:cNvPr>
          <p:cNvSpPr txBox="1"/>
          <p:nvPr/>
        </p:nvSpPr>
        <p:spPr>
          <a:xfrm>
            <a:off x="6681357" y="3429000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AFD59-2503-03DD-B07F-913CA6E4D759}"/>
              </a:ext>
            </a:extLst>
          </p:cNvPr>
          <p:cNvSpPr txBox="1"/>
          <p:nvPr/>
        </p:nvSpPr>
        <p:spPr>
          <a:xfrm>
            <a:off x="6681357" y="4937321"/>
            <a:ext cx="32175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”b0”:0, “d3”:1, “f7”:4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6F81A3-5A81-6D4B-20FB-BCF64FAC4509}"/>
              </a:ext>
            </a:extLst>
          </p:cNvPr>
          <p:cNvSpPr txBox="1"/>
          <p:nvPr/>
        </p:nvSpPr>
        <p:spPr>
          <a:xfrm>
            <a:off x="8625906" y="997349"/>
            <a:ext cx="225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can we do here?</a:t>
            </a:r>
          </a:p>
        </p:txBody>
      </p:sp>
    </p:spTree>
    <p:extLst>
      <p:ext uri="{BB962C8B-B14F-4D97-AF65-F5344CB8AC3E}">
        <p14:creationId xmlns:p14="http://schemas.microsoft.com/office/powerpoint/2010/main" val="1888976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identities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D201C-6816-E0F7-D459-610EA0F5D1C3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0;</a:t>
            </a:r>
          </a:p>
          <a:p>
            <a:r>
              <a:rPr lang="en-US" sz="2400" dirty="0">
                <a:latin typeface="Courier" pitchFamily="2" charset="0"/>
              </a:rPr>
              <a:t>d3 = 1;</a:t>
            </a:r>
          </a:p>
          <a:p>
            <a:r>
              <a:rPr lang="en-US" sz="2400" dirty="0">
                <a:latin typeface="Courier" pitchFamily="2" charset="0"/>
              </a:rPr>
              <a:t>f7 = 4;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a2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b0 + c1</a:t>
            </a:r>
            <a:r>
              <a:rPr lang="en-US" sz="2400" dirty="0">
                <a:latin typeface="Courier" pitchFamily="2" charset="0"/>
              </a:rPr>
              <a:t>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*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d6 = e5 * f7;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1C4E5-29A6-F572-22F0-5C72935AD302}"/>
              </a:ext>
            </a:extLst>
          </p:cNvPr>
          <p:cNvSpPr txBox="1"/>
          <p:nvPr/>
        </p:nvSpPr>
        <p:spPr>
          <a:xfrm>
            <a:off x="6681357" y="3429000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AFD59-2503-03DD-B07F-913CA6E4D759}"/>
              </a:ext>
            </a:extLst>
          </p:cNvPr>
          <p:cNvSpPr txBox="1"/>
          <p:nvPr/>
        </p:nvSpPr>
        <p:spPr>
          <a:xfrm>
            <a:off x="6681357" y="4937321"/>
            <a:ext cx="32175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”b0”:0, “d3”:1, “f7”:4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6F81A3-5A81-6D4B-20FB-BCF64FAC4509}"/>
              </a:ext>
            </a:extLst>
          </p:cNvPr>
          <p:cNvSpPr txBox="1"/>
          <p:nvPr/>
        </p:nvSpPr>
        <p:spPr>
          <a:xfrm>
            <a:off x="8625906" y="997349"/>
            <a:ext cx="2765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can we do here?</a:t>
            </a:r>
          </a:p>
          <a:p>
            <a:r>
              <a:rPr lang="en-US" dirty="0"/>
              <a:t>add a special rule for + </a:t>
            </a:r>
          </a:p>
          <a:p>
            <a:r>
              <a:rPr lang="en-US" dirty="0"/>
              <a:t>that if any side is 0, you can</a:t>
            </a:r>
          </a:p>
          <a:p>
            <a:r>
              <a:rPr lang="en-US" dirty="0"/>
              <a:t>just drop the 0.</a:t>
            </a:r>
          </a:p>
        </p:txBody>
      </p:sp>
    </p:spTree>
    <p:extLst>
      <p:ext uri="{BB962C8B-B14F-4D97-AF65-F5344CB8AC3E}">
        <p14:creationId xmlns:p14="http://schemas.microsoft.com/office/powerpoint/2010/main" val="1431898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7B39-43D9-A170-14C4-F0EC146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identities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D201C-6816-E0F7-D459-610EA0F5D1C3}"/>
              </a:ext>
            </a:extLst>
          </p:cNvPr>
          <p:cNvSpPr txBox="1"/>
          <p:nvPr/>
        </p:nvSpPr>
        <p:spPr>
          <a:xfrm>
            <a:off x="1509960" y="2551837"/>
            <a:ext cx="258115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b0 = 0;</a:t>
            </a:r>
          </a:p>
          <a:p>
            <a:r>
              <a:rPr lang="en-US" sz="2400" dirty="0">
                <a:latin typeface="Courier" pitchFamily="2" charset="0"/>
              </a:rPr>
              <a:t>d3 = 1;</a:t>
            </a:r>
          </a:p>
          <a:p>
            <a:r>
              <a:rPr lang="en-US" sz="2400" dirty="0">
                <a:latin typeface="Courier" pitchFamily="2" charset="0"/>
              </a:rPr>
              <a:t>f7 = 4;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a2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c1</a:t>
            </a:r>
            <a:r>
              <a:rPr lang="en-US" sz="2400" dirty="0">
                <a:latin typeface="Courier" pitchFamily="2" charset="0"/>
              </a:rPr>
              <a:t>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*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d6 = e5 * f7;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1C4E5-29A6-F572-22F0-5C72935AD302}"/>
              </a:ext>
            </a:extLst>
          </p:cNvPr>
          <p:cNvSpPr txBox="1"/>
          <p:nvPr/>
        </p:nvSpPr>
        <p:spPr>
          <a:xfrm>
            <a:off x="6681357" y="3429000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 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AFD59-2503-03DD-B07F-913CA6E4D759}"/>
              </a:ext>
            </a:extLst>
          </p:cNvPr>
          <p:cNvSpPr txBox="1"/>
          <p:nvPr/>
        </p:nvSpPr>
        <p:spPr>
          <a:xfrm>
            <a:off x="6681357" y="4937321"/>
            <a:ext cx="32175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Known_values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r>
              <a:rPr lang="en-US" dirty="0">
                <a:latin typeface="Courier" pitchFamily="2" charset="0"/>
              </a:rPr>
              <a:t>”b0”:0, “d3”:1, “f7”:4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6F81A3-5A81-6D4B-20FB-BCF64FAC4509}"/>
              </a:ext>
            </a:extLst>
          </p:cNvPr>
          <p:cNvSpPr txBox="1"/>
          <p:nvPr/>
        </p:nvSpPr>
        <p:spPr>
          <a:xfrm>
            <a:off x="8625906" y="997349"/>
            <a:ext cx="2765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can we do here?</a:t>
            </a:r>
          </a:p>
          <a:p>
            <a:r>
              <a:rPr lang="en-US" dirty="0"/>
              <a:t>add a special rule for + </a:t>
            </a:r>
          </a:p>
          <a:p>
            <a:r>
              <a:rPr lang="en-US" dirty="0"/>
              <a:t>that if any side is 0, you can</a:t>
            </a:r>
          </a:p>
          <a:p>
            <a:r>
              <a:rPr lang="en-US" dirty="0"/>
              <a:t>just drop the 0.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9925E-7B96-4C03-E256-E71A3F3E0473}"/>
              </a:ext>
            </a:extLst>
          </p:cNvPr>
          <p:cNvSpPr txBox="1"/>
          <p:nvPr/>
        </p:nvSpPr>
        <p:spPr>
          <a:xfrm>
            <a:off x="7749766" y="6201624"/>
            <a:ext cx="3283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other rules could we have?</a:t>
            </a:r>
          </a:p>
        </p:txBody>
      </p:sp>
    </p:spTree>
    <p:extLst>
      <p:ext uri="{BB962C8B-B14F-4D97-AF65-F5344CB8AC3E}">
        <p14:creationId xmlns:p14="http://schemas.microsoft.com/office/powerpoint/2010/main" val="1158287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74918</TotalTime>
  <Words>1544</Words>
  <Application>Microsoft Office PowerPoint</Application>
  <PresentationFormat>Widescreen</PresentationFormat>
  <Paragraphs>273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</vt:lpstr>
      <vt:lpstr>Office Theme</vt:lpstr>
      <vt:lpstr>CSE110A: Compilers</vt:lpstr>
      <vt:lpstr>Constant propagation and constant folding</vt:lpstr>
      <vt:lpstr>Constant propagation and constant folding</vt:lpstr>
      <vt:lpstr>Constant propagation and constant folding</vt:lpstr>
      <vt:lpstr>Constant propagation and constant folding</vt:lpstr>
      <vt:lpstr>Constant propagation and constant folding</vt:lpstr>
      <vt:lpstr>Constant propagation and constant folding</vt:lpstr>
      <vt:lpstr>Typically performed at the same time</vt:lpstr>
      <vt:lpstr>Adding constant folding to LVN</vt:lpstr>
      <vt:lpstr>Adding constant folding to LVN</vt:lpstr>
      <vt:lpstr>Adding constant folding to LVN</vt:lpstr>
      <vt:lpstr>Adding constant folding to LVN</vt:lpstr>
      <vt:lpstr>Adding constant folding to LVN</vt:lpstr>
      <vt:lpstr>Adding constant folding to LVN</vt:lpstr>
      <vt:lpstr>Adding constant folding to LVN</vt:lpstr>
      <vt:lpstr>Adding constant folding to LVN</vt:lpstr>
      <vt:lpstr>Adding constant folding to LVN</vt:lpstr>
      <vt:lpstr>Arithmetic identities </vt:lpstr>
      <vt:lpstr>Arithmetic identities </vt:lpstr>
      <vt:lpstr>Arithmetic identities </vt:lpstr>
      <vt:lpstr>Arithmetic identities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1135</cp:revision>
  <dcterms:created xsi:type="dcterms:W3CDTF">2021-03-23T23:59:42Z</dcterms:created>
  <dcterms:modified xsi:type="dcterms:W3CDTF">2026-03-05T23:52:14Z</dcterms:modified>
</cp:coreProperties>
</file>