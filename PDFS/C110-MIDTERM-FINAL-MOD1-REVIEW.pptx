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1025" r:id="rId2"/>
    <p:sldId id="902" r:id="rId3"/>
    <p:sldId id="903" r:id="rId4"/>
    <p:sldId id="992" r:id="rId5"/>
    <p:sldId id="899" r:id="rId6"/>
    <p:sldId id="900" r:id="rId7"/>
    <p:sldId id="908" r:id="rId8"/>
    <p:sldId id="910" r:id="rId9"/>
    <p:sldId id="914" r:id="rId10"/>
    <p:sldId id="927" r:id="rId11"/>
    <p:sldId id="929" r:id="rId12"/>
    <p:sldId id="930" r:id="rId13"/>
    <p:sldId id="931" r:id="rId14"/>
    <p:sldId id="932" r:id="rId15"/>
    <p:sldId id="935" r:id="rId16"/>
    <p:sldId id="941" r:id="rId17"/>
    <p:sldId id="943" r:id="rId18"/>
    <p:sldId id="945" r:id="rId19"/>
    <p:sldId id="946" r:id="rId20"/>
    <p:sldId id="947" r:id="rId21"/>
    <p:sldId id="948" r:id="rId22"/>
    <p:sldId id="949" r:id="rId23"/>
    <p:sldId id="950" r:id="rId24"/>
    <p:sldId id="951" r:id="rId25"/>
    <p:sldId id="952" r:id="rId26"/>
    <p:sldId id="957" r:id="rId27"/>
    <p:sldId id="978" r:id="rId28"/>
    <p:sldId id="979" r:id="rId29"/>
    <p:sldId id="980" r:id="rId30"/>
    <p:sldId id="981" r:id="rId31"/>
    <p:sldId id="983" r:id="rId32"/>
    <p:sldId id="958" r:id="rId33"/>
    <p:sldId id="960" r:id="rId34"/>
    <p:sldId id="965" r:id="rId35"/>
    <p:sldId id="967" r:id="rId36"/>
    <p:sldId id="968" r:id="rId37"/>
    <p:sldId id="969" r:id="rId38"/>
    <p:sldId id="971" r:id="rId39"/>
    <p:sldId id="972" r:id="rId40"/>
    <p:sldId id="973" r:id="rId41"/>
    <p:sldId id="974" r:id="rId42"/>
    <p:sldId id="975" r:id="rId43"/>
    <p:sldId id="976" r:id="rId44"/>
    <p:sldId id="986" r:id="rId45"/>
    <p:sldId id="987" r:id="rId46"/>
    <p:sldId id="988" r:id="rId47"/>
    <p:sldId id="990" r:id="rId48"/>
    <p:sldId id="1024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01"/>
    <p:restoredTop sz="96405"/>
  </p:normalViewPr>
  <p:slideViewPr>
    <p:cSldViewPr snapToGrid="0" snapToObjects="1">
      <p:cViewPr varScale="1">
        <p:scale>
          <a:sx n="72" d="100"/>
          <a:sy n="72" d="100"/>
        </p:scale>
        <p:origin x="60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A6930-6FE4-5249-A389-5C34F8D02512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7B7F8-0CD4-BB49-9045-2C974462F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89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43C2-07A5-BB44-9F43-B20E7E531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1C6CB-5CAA-DD48-BDA4-0592D5FF8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62CB0-8583-4540-BE1C-F84CB375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B2658-7209-954E-8DDF-07C641D9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4973-44DE-7342-BA01-547EED31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8217-0850-FA42-8B72-F673F24D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12092-A792-584F-8A1C-32C031603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86E26-FE36-7B4D-AAF5-904CF3BBD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9D109-2568-4B4F-B7F4-2C7AD017C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AD3A7-3697-7C4A-A781-66DD5DCC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99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555C-64CB-F548-ABB6-4B463934B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C269A-28B6-FB43-BB47-BA94CF332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521C4-BC30-3646-824D-F119E616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D182C-D8EA-B948-8737-5A6BD5B4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787B1-6592-9044-9667-44816CAA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50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5A981-5F59-8940-A2F7-8CE7EAE3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DAABA-0EEF-254E-B417-1B2EB2743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96200-086D-EA44-85BA-8D8F7BA4D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D651E-2A31-AF4F-8A27-A2301E38A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ED8DF-7DBC-294E-82B1-18236111A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E2C9E-91E9-FD42-9F13-932CADEB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5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92995-0013-6F49-9741-2EA0BF40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6D280-4929-384B-8615-167612096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29458-FF2B-1440-8335-632CAA842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CA800-81C1-B646-A953-E8DBE47BC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CCEC6B-205E-0B45-A0F3-6C8FCEE9A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71920B-F361-C64F-BB0E-35F2D2CB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44ECE-207A-FA4C-9475-C03DC72D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C1820C-AD96-D443-8AA8-5641E038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3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0FFF-6ED0-6243-A2AE-B253809A0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091E3-DFC5-0540-9C75-22595694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C49A3-0384-754C-BED0-DC0D47B42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2BA99-1D12-C64F-996A-85628BB3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8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6606B-79E4-A34B-BE97-997D9D75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557CB-8103-3B41-A940-4FD4799A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19D0-3FCE-CF4E-9D34-9E0CD3DF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8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B636-4EDD-7341-9B7D-17AAD47C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F0136-D7DD-1044-B848-27E313D5A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DAE57-151C-234A-AA03-81AA7510B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ED6AC-BAC0-EB4C-9277-A63F66607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5925-827B-DA4D-8CDF-AC1503BA2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54FF9-5EE1-A94C-9742-0AC2B9C34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5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2B654-18D6-F84E-B59E-E18CBEE4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6D7EFC-4004-0145-A2F9-E508D0958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815D9-4FFF-1643-9F8A-2708D6AAA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662FC-F0E3-2D4D-B116-98471B67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12221-F75B-BA43-B4BA-28655085A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C9E1C-49AC-D74C-B71C-A5DC2EB0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75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DDD4-B6A1-124E-97F1-BA841867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EE7DE-9595-5745-A856-48AB8F5B5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F81CC-8DBA-1342-88D3-380AA2B30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FA341-EA27-6943-B20F-AFA538A6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3FE79-E424-E945-ADDC-83D446C52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3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48F054-886E-8B44-8EBE-87FBB6150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A284C-386A-6C4E-9A40-04DA68EFB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8CBE6-4A2A-6549-898B-B2545B83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ED32C-794E-1143-802D-3AD6C9B7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FF59B-F6CF-464E-93D4-AA7B3EE8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2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F7A43-3B09-424D-B3CE-5FDEDAF2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A7AA5-45BE-FB42-A660-04610BF85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CA802-9596-D94B-AF54-17577EF83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CE19A-8503-7843-8A88-9F39D8324431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50162-12AB-E644-9FE6-953D58433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B02E1-3BE0-DA47-8CDF-D1AE848A2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7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questions/1732348/regex-match-open-tags-except-xhtml-self-contained-tags/1732454#1732454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B38C0-7123-224A-F25F-B9BA6E288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8CD9C-0C54-A825-614A-919A1691B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197" y="743358"/>
            <a:ext cx="10515600" cy="855829"/>
          </a:xfrm>
        </p:spPr>
        <p:txBody>
          <a:bodyPr>
            <a:normAutofit fontScale="90000"/>
          </a:bodyPr>
          <a:lstStyle/>
          <a:p>
            <a:r>
              <a:rPr lang="en-US" sz="5300" b="1" dirty="0"/>
              <a:t>CSE110A: Compilers</a:t>
            </a:r>
            <a:br>
              <a:rPr lang="en-US" dirty="0"/>
            </a:br>
            <a:endParaRPr lang="en-US" sz="32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D4E46E-31AF-5C25-348A-8CAEFD707F0B}"/>
              </a:ext>
            </a:extLst>
          </p:cNvPr>
          <p:cNvSpPr/>
          <p:nvPr/>
        </p:nvSpPr>
        <p:spPr>
          <a:xfrm>
            <a:off x="4510577" y="1486236"/>
            <a:ext cx="48690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The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5"/>
                </a:solidFill>
              </a:rPr>
              <a:t>dog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2"/>
                </a:solidFill>
              </a:rPr>
              <a:t>ran</a:t>
            </a:r>
            <a:r>
              <a:rPr lang="en-US" sz="3200" b="1" dirty="0"/>
              <a:t> across </a:t>
            </a:r>
            <a:r>
              <a:rPr lang="en-US" sz="3200" b="1" dirty="0">
                <a:solidFill>
                  <a:schemeClr val="accent6"/>
                </a:solidFill>
              </a:rPr>
              <a:t>the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5"/>
                </a:solidFill>
              </a:rPr>
              <a:t>park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CC7157C-D4C2-EC59-9DF0-8D8CBA51C5CC}"/>
              </a:ext>
            </a:extLst>
          </p:cNvPr>
          <p:cNvCxnSpPr>
            <a:cxnSpLocks/>
          </p:cNvCxnSpPr>
          <p:nvPr/>
        </p:nvCxnSpPr>
        <p:spPr>
          <a:xfrm flipH="1">
            <a:off x="4029747" y="1958061"/>
            <a:ext cx="883920" cy="5943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C05A2A9-F4FC-E5C0-F1A8-6C23F81E6BDD}"/>
              </a:ext>
            </a:extLst>
          </p:cNvPr>
          <p:cNvCxnSpPr>
            <a:cxnSpLocks/>
          </p:cNvCxnSpPr>
          <p:nvPr/>
        </p:nvCxnSpPr>
        <p:spPr>
          <a:xfrm flipH="1">
            <a:off x="5106707" y="1958061"/>
            <a:ext cx="477520" cy="695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3BF9C8C-46CF-0BC5-4A66-1DF12E8D22B4}"/>
              </a:ext>
            </a:extLst>
          </p:cNvPr>
          <p:cNvCxnSpPr>
            <a:cxnSpLocks/>
          </p:cNvCxnSpPr>
          <p:nvPr/>
        </p:nvCxnSpPr>
        <p:spPr>
          <a:xfrm>
            <a:off x="6224307" y="2071011"/>
            <a:ext cx="0" cy="5830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3DA71AD-E932-6AE6-58A3-A3840C802844}"/>
              </a:ext>
            </a:extLst>
          </p:cNvPr>
          <p:cNvCxnSpPr>
            <a:cxnSpLocks/>
          </p:cNvCxnSpPr>
          <p:nvPr/>
        </p:nvCxnSpPr>
        <p:spPr>
          <a:xfrm>
            <a:off x="7189507" y="1958061"/>
            <a:ext cx="528320" cy="695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1F2066C-6AA5-7B79-ABDA-47C9253CD807}"/>
              </a:ext>
            </a:extLst>
          </p:cNvPr>
          <p:cNvCxnSpPr>
            <a:cxnSpLocks/>
          </p:cNvCxnSpPr>
          <p:nvPr/>
        </p:nvCxnSpPr>
        <p:spPr>
          <a:xfrm>
            <a:off x="8053107" y="1958061"/>
            <a:ext cx="1534160" cy="6012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550248F-8242-3F13-BEF1-F076E0D916A3}"/>
              </a:ext>
            </a:extLst>
          </p:cNvPr>
          <p:cNvCxnSpPr>
            <a:cxnSpLocks/>
          </p:cNvCxnSpPr>
          <p:nvPr/>
        </p:nvCxnSpPr>
        <p:spPr>
          <a:xfrm>
            <a:off x="9150387" y="1958061"/>
            <a:ext cx="1880383" cy="6486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66B8763B-308C-ABF7-27B2-F59FF8039E88}"/>
              </a:ext>
            </a:extLst>
          </p:cNvPr>
          <p:cNvSpPr/>
          <p:nvPr/>
        </p:nvSpPr>
        <p:spPr>
          <a:xfrm>
            <a:off x="3230830" y="2573813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F2DFAC2-88FC-D133-DECC-3D5DB65474B2}"/>
              </a:ext>
            </a:extLst>
          </p:cNvPr>
          <p:cNvSpPr/>
          <p:nvPr/>
        </p:nvSpPr>
        <p:spPr>
          <a:xfrm>
            <a:off x="8988288" y="2577255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BE4AE5-0F98-9A7E-5137-367973CB0481}"/>
              </a:ext>
            </a:extLst>
          </p:cNvPr>
          <p:cNvSpPr/>
          <p:nvPr/>
        </p:nvSpPr>
        <p:spPr>
          <a:xfrm>
            <a:off x="4601266" y="2654021"/>
            <a:ext cx="99738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NOUN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78802C7-719A-FDB8-5D19-C688EDBC05FC}"/>
              </a:ext>
            </a:extLst>
          </p:cNvPr>
          <p:cNvSpPr/>
          <p:nvPr/>
        </p:nvSpPr>
        <p:spPr>
          <a:xfrm>
            <a:off x="5756706" y="2637893"/>
            <a:ext cx="86433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VERB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F9080D-E638-016C-B0D9-AFF2987AA76A}"/>
              </a:ext>
            </a:extLst>
          </p:cNvPr>
          <p:cNvSpPr/>
          <p:nvPr/>
        </p:nvSpPr>
        <p:spPr>
          <a:xfrm>
            <a:off x="6882185" y="2654020"/>
            <a:ext cx="191590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/>
              <a:t>PREPOSITION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EB3E45B-B67A-3D43-AAD4-E4583DD4E9D6}"/>
              </a:ext>
            </a:extLst>
          </p:cNvPr>
          <p:cNvSpPr/>
          <p:nvPr/>
        </p:nvSpPr>
        <p:spPr>
          <a:xfrm>
            <a:off x="10592305" y="2609068"/>
            <a:ext cx="99738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NOUN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19DE8E-1AE1-9A8E-4374-9666AC2A2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237" y="3527047"/>
            <a:ext cx="10515600" cy="242834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600" dirty="0"/>
              <a:t>Module 1: Scanners</a:t>
            </a:r>
          </a:p>
          <a:p>
            <a:r>
              <a:rPr lang="en-US" dirty="0"/>
              <a:t>Naïve Scanning Method  2</a:t>
            </a:r>
          </a:p>
          <a:p>
            <a:r>
              <a:rPr lang="en-US" dirty="0"/>
              <a:t>Regular Expressions  4</a:t>
            </a:r>
          </a:p>
          <a:p>
            <a:pPr lvl="1"/>
            <a:r>
              <a:rPr lang="en-US" dirty="0"/>
              <a:t>Exact Match Scanner (EM)   10</a:t>
            </a:r>
          </a:p>
          <a:p>
            <a:pPr lvl="1"/>
            <a:r>
              <a:rPr lang="en-US" dirty="0"/>
              <a:t>Start of String Scanner (SOS)  17</a:t>
            </a:r>
          </a:p>
          <a:p>
            <a:pPr lvl="1"/>
            <a:r>
              <a:rPr lang="en-US" dirty="0"/>
              <a:t>Named of Group Scanner (NG)   33</a:t>
            </a:r>
          </a:p>
          <a:p>
            <a:pPr lvl="2"/>
            <a:r>
              <a:rPr lang="en-US" dirty="0"/>
              <a:t>Dealing with Common Prefixes  41</a:t>
            </a:r>
          </a:p>
          <a:p>
            <a:r>
              <a:rPr lang="en-US" dirty="0"/>
              <a:t>Token Actions  48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769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289C-032F-074C-B03E-591F7FD7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Scanner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006872-72E6-3C4A-9056-D8CB0C14410A}"/>
              </a:ext>
            </a:extLst>
          </p:cNvPr>
          <p:cNvSpPr txBox="1"/>
          <p:nvPr/>
        </p:nvSpPr>
        <p:spPr>
          <a:xfrm>
            <a:off x="838200" y="1690688"/>
            <a:ext cx="6413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simple string stream, peek/eat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2C6E73-D7C3-D445-8DB7-120BF20D1C31}"/>
              </a:ext>
            </a:extLst>
          </p:cNvPr>
          <p:cNvSpPr/>
          <p:nvPr/>
        </p:nvSpPr>
        <p:spPr>
          <a:xfrm>
            <a:off x="641683" y="2512932"/>
            <a:ext cx="754941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2FB41D"/>
                </a:solidFill>
                <a:latin typeface="Menlo" panose="020B0609030804020204" pitchFamily="49" charset="0"/>
              </a:rPr>
              <a:t>NaiveScanner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token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    ...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   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.ss.peek_char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NUMS: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        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""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.ss.peek_char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NUMS: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+=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.ss.peek_char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    </a:t>
            </a:r>
            <a:r>
              <a:rPr lang="en-US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.ss.eat_char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"NUM"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value)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29F6BE-313B-A148-87EA-3AE21BB78EDC}"/>
              </a:ext>
            </a:extLst>
          </p:cNvPr>
          <p:cNvSpPr txBox="1"/>
          <p:nvPr/>
        </p:nvSpPr>
        <p:spPr>
          <a:xfrm>
            <a:off x="7846521" y="3678028"/>
            <a:ext cx="4055919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latin typeface="Courier" pitchFamily="2" charset="0"/>
              </a:rPr>
              <a:t>IGNORE = [“ “]</a:t>
            </a:r>
          </a:p>
        </p:txBody>
      </p:sp>
    </p:spTree>
    <p:extLst>
      <p:ext uri="{BB962C8B-B14F-4D97-AF65-F5344CB8AC3E}">
        <p14:creationId xmlns:p14="http://schemas.microsoft.com/office/powerpoint/2010/main" val="498237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2CCD-B8BC-B843-B90E-FF764E69C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Shortcomings of Naïve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2183B-14A5-3A43-BD2E-7E1B77519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IDs with numbers in them?</a:t>
            </a:r>
          </a:p>
          <a:p>
            <a:pPr lvl="1"/>
            <a:r>
              <a:rPr lang="en-US" dirty="0">
                <a:latin typeface="Courier" pitchFamily="2" charset="0"/>
              </a:rPr>
              <a:t>x1, y1, etc.</a:t>
            </a:r>
          </a:p>
          <a:p>
            <a:pPr lvl="1"/>
            <a:r>
              <a:rPr lang="en-US" dirty="0"/>
              <a:t>how would you solve?</a:t>
            </a:r>
          </a:p>
          <a:p>
            <a:pPr lvl="1"/>
            <a:endParaRPr lang="en-US" dirty="0">
              <a:latin typeface="Courier" pitchFamily="2" charset="0"/>
            </a:endParaRPr>
          </a:p>
          <a:p>
            <a:r>
              <a:rPr lang="en-US" dirty="0"/>
              <a:t>Numbers with a decimal point in them?</a:t>
            </a:r>
          </a:p>
          <a:p>
            <a:pPr lvl="1"/>
            <a:r>
              <a:rPr lang="en-US" dirty="0">
                <a:latin typeface="Courier" pitchFamily="2" charset="0"/>
              </a:rPr>
              <a:t>4.5, 9999.99998</a:t>
            </a:r>
          </a:p>
          <a:p>
            <a:pPr lvl="1"/>
            <a:r>
              <a:rPr lang="en-US" dirty="0"/>
              <a:t>how would you solve this?</a:t>
            </a:r>
          </a:p>
          <a:p>
            <a:pPr lvl="1"/>
            <a:endParaRPr lang="en-US" dirty="0">
              <a:latin typeface="Courier" pitchFamily="2" charset="0"/>
            </a:endParaRPr>
          </a:p>
          <a:p>
            <a:r>
              <a:rPr lang="en-US" dirty="0"/>
              <a:t>Two character operators:</a:t>
            </a:r>
          </a:p>
          <a:p>
            <a:pPr lvl="1"/>
            <a:r>
              <a:rPr lang="en-US" dirty="0">
                <a:latin typeface="Courier" pitchFamily="2" charset="0"/>
              </a:rPr>
              <a:t>++, +=</a:t>
            </a:r>
          </a:p>
          <a:p>
            <a:pPr lvl="1"/>
            <a:r>
              <a:rPr lang="en-US" dirty="0"/>
              <a:t>how would you solve this?</a:t>
            </a:r>
            <a:endParaRPr lang="en-US" dirty="0">
              <a:latin typeface="Courier" pitchFamily="2" charset="0"/>
            </a:endParaRPr>
          </a:p>
          <a:p>
            <a:pPr lvl="1"/>
            <a:endParaRPr lang="en-US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310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49889-5F4C-38EA-B8BA-0F0665473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940" y="1874949"/>
            <a:ext cx="10515600" cy="2534018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          Review Topic: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  </a:t>
            </a:r>
            <a:br>
              <a:rPr lang="en-US" dirty="0"/>
            </a:br>
            <a:r>
              <a:rPr lang="en-US" dirty="0"/>
              <a:t>             </a:t>
            </a:r>
            <a:r>
              <a:rPr lang="en-US" sz="7300" b="1" dirty="0"/>
              <a:t>Regular Expressions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00590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Using 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62817"/>
            <a:ext cx="10515600" cy="2999753"/>
          </a:xfrm>
        </p:spPr>
        <p:txBody>
          <a:bodyPr>
            <a:normAutofit/>
          </a:bodyPr>
          <a:lstStyle/>
          <a:p>
            <a:r>
              <a:rPr lang="en-US" dirty="0"/>
              <a:t>What if we want either the domain or user name from the email?</a:t>
            </a:r>
          </a:p>
          <a:p>
            <a:r>
              <a:rPr lang="en-US" dirty="0"/>
              <a:t>We can use groups!</a:t>
            </a:r>
          </a:p>
          <a:p>
            <a:pPr lvl="1"/>
            <a:r>
              <a:rPr lang="en-US" dirty="0"/>
              <a:t>use ()s to delimitate groups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ndale Mono" panose="020B0509000000000004" pitchFamily="49" charset="0"/>
              </a:rPr>
              <a:t>"(.*)@(.*\.com)"</a:t>
            </a:r>
            <a:endParaRPr lang="en-US" dirty="0"/>
          </a:p>
          <a:p>
            <a:r>
              <a:rPr lang="en-US" dirty="0"/>
              <a:t>Index the resulting object with [1] and [2] to get to the user name and domain respectively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4914274-C86E-4793-7E79-137DFA2DF6F4}"/>
              </a:ext>
            </a:extLst>
          </p:cNvPr>
          <p:cNvSpPr txBox="1">
            <a:spLocks/>
          </p:cNvSpPr>
          <p:nvPr/>
        </p:nvSpPr>
        <p:spPr>
          <a:xfrm>
            <a:off x="838200" y="1352068"/>
            <a:ext cx="10515600" cy="14344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any character ‘.’</a:t>
            </a:r>
          </a:p>
          <a:p>
            <a:r>
              <a:rPr lang="en-US"/>
              <a:t>example using email (this is probably too general!)</a:t>
            </a:r>
          </a:p>
          <a:p>
            <a:pPr lvl="1"/>
            <a:r>
              <a:rPr lang="en-US"/>
              <a:t>”.*@.*\.com”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318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REs: Named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89853"/>
          </a:xfrm>
        </p:spPr>
        <p:txBody>
          <a:bodyPr>
            <a:normAutofit/>
          </a:bodyPr>
          <a:lstStyle/>
          <a:p>
            <a:r>
              <a:rPr lang="en-US" dirty="0"/>
              <a:t>you can give </a:t>
            </a:r>
            <a:r>
              <a:rPr lang="en-US" b="1" dirty="0"/>
              <a:t>groups id names </a:t>
            </a:r>
            <a:r>
              <a:rPr lang="en-US" dirty="0"/>
              <a:t>rather than using indices</a:t>
            </a:r>
          </a:p>
          <a:p>
            <a:r>
              <a:rPr lang="en-US" dirty="0"/>
              <a:t>“</a:t>
            </a:r>
            <a:r>
              <a:rPr lang="en-US" dirty="0">
                <a:highlight>
                  <a:srgbClr val="FFFF00"/>
                </a:highlight>
              </a:rPr>
              <a:t>(?P&lt;name&gt;</a:t>
            </a:r>
            <a:r>
              <a:rPr lang="en-US" dirty="0"/>
              <a:t>.+)@</a:t>
            </a:r>
            <a:r>
              <a:rPr lang="en-US" dirty="0">
                <a:highlight>
                  <a:srgbClr val="FFFF00"/>
                </a:highlight>
              </a:rPr>
              <a:t>(?P&lt;domain&gt;</a:t>
            </a:r>
            <a:r>
              <a:rPr lang="en-US" dirty="0"/>
              <a:t>.+\.com)”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927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289C-032F-074C-B03E-591F7FD7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write our tokens as 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D6B6F-D0EB-1745-9891-35110C375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32175"/>
          </a:xfrm>
        </p:spPr>
        <p:txBody>
          <a:bodyPr/>
          <a:lstStyle/>
          <a:p>
            <a:r>
              <a:rPr lang="en-US" dirty="0"/>
              <a:t>For our simple programming language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17DB02-A4F6-7D45-B8F1-959DAF606F0D}"/>
              </a:ext>
            </a:extLst>
          </p:cNvPr>
          <p:cNvSpPr txBox="1"/>
          <p:nvPr/>
        </p:nvSpPr>
        <p:spPr>
          <a:xfrm>
            <a:off x="933652" y="2639919"/>
            <a:ext cx="4055919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latin typeface="Courier" pitchFamily="2" charset="0"/>
              </a:rPr>
              <a:t>IGNORE = [“ “, “\n”]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CE4FEC-2ABA-104A-83FB-607C9C1A9641}"/>
              </a:ext>
            </a:extLst>
          </p:cNvPr>
          <p:cNvSpPr txBox="1"/>
          <p:nvPr/>
        </p:nvSpPr>
        <p:spPr>
          <a:xfrm>
            <a:off x="5751185" y="2639919"/>
            <a:ext cx="4793300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“[a-z][a-z0-9]*”</a:t>
            </a:r>
          </a:p>
          <a:p>
            <a:r>
              <a:rPr lang="en-US" sz="2400" dirty="0"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PP = “++”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latin typeface="Courier" pitchFamily="2" charset="0"/>
              </a:rPr>
              <a:t>IGNORE = “ |\n”</a:t>
            </a:r>
          </a:p>
        </p:txBody>
      </p:sp>
    </p:spTree>
    <p:extLst>
      <p:ext uri="{BB962C8B-B14F-4D97-AF65-F5344CB8AC3E}">
        <p14:creationId xmlns:p14="http://schemas.microsoft.com/office/powerpoint/2010/main" val="3499590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4E88-E3D9-E443-BD6E-9FDDAC97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C01C-CBBB-DA44-B6F5-68D966A01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What can REs not do?</a:t>
            </a:r>
          </a:p>
          <a:p>
            <a:endParaRPr lang="en-US" dirty="0"/>
          </a:p>
          <a:p>
            <a:r>
              <a:rPr lang="en-US" dirty="0"/>
              <a:t>Nested structures, such as parenthesis matching:</a:t>
            </a:r>
          </a:p>
          <a:p>
            <a:pPr lvl="1"/>
            <a:r>
              <a:rPr lang="en-US" dirty="0"/>
              <a:t>Try doing arithmetic expressions</a:t>
            </a:r>
          </a:p>
          <a:p>
            <a:pPr lvl="1"/>
            <a:r>
              <a:rPr lang="en-US" dirty="0"/>
              <a:t>You will not be able to match ()s</a:t>
            </a:r>
          </a:p>
          <a:p>
            <a:endParaRPr lang="en-US" dirty="0"/>
          </a:p>
          <a:p>
            <a:r>
              <a:rPr lang="en-US" dirty="0"/>
              <a:t>Classical example: REs cannot capture same number of repeats:</a:t>
            </a:r>
          </a:p>
          <a:p>
            <a:pPr lvl="1"/>
            <a:r>
              <a:rPr lang="en-US" dirty="0"/>
              <a:t>A{N}B{N}</a:t>
            </a:r>
          </a:p>
          <a:p>
            <a:endParaRPr lang="en-US" dirty="0"/>
          </a:p>
          <a:p>
            <a:r>
              <a:rPr lang="en-US" dirty="0"/>
              <a:t>REs cannot parse HTML!!!</a:t>
            </a:r>
          </a:p>
          <a:p>
            <a:pPr lvl="1"/>
            <a:r>
              <a:rPr lang="en-US" dirty="0"/>
              <a:t>One of the most upvoted answers on </a:t>
            </a:r>
            <a:r>
              <a:rPr lang="en-US" dirty="0" err="1"/>
              <a:t>stackoverflow</a:t>
            </a:r>
            <a:r>
              <a:rPr lang="en-US" dirty="0"/>
              <a:t>!</a:t>
            </a:r>
          </a:p>
          <a:p>
            <a:pPr lvl="1"/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stackoverflow.com</a:t>
            </a:r>
            <a:r>
              <a:rPr lang="en-US" dirty="0">
                <a:hlinkClick r:id="rId2"/>
              </a:rPr>
              <a:t>/questions/1732348/regex-match-open-tags-except-</a:t>
            </a:r>
            <a:r>
              <a:rPr lang="en-US" dirty="0" err="1">
                <a:hlinkClick r:id="rId2"/>
              </a:rPr>
              <a:t>xhtml</a:t>
            </a:r>
            <a:r>
              <a:rPr lang="en-US" dirty="0">
                <a:hlinkClick r:id="rId2"/>
              </a:rPr>
              <a:t>-self-contained-tags/1732454#1732454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126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E6389-520F-1B42-9996-38A8FC718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Review of RE Matchers to Build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AB06-306D-DE47-A12E-C77366BC6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3200" dirty="0"/>
              <a:t>Exact match (EM) scanners</a:t>
            </a:r>
          </a:p>
          <a:p>
            <a:pPr lvl="1"/>
            <a:r>
              <a:rPr lang="en-US" sz="3200" dirty="0"/>
              <a:t>Start-of-string (SOS) scanners</a:t>
            </a:r>
          </a:p>
          <a:p>
            <a:pPr lvl="1"/>
            <a:r>
              <a:rPr lang="en-US" sz="3200" dirty="0"/>
              <a:t>named group (NG) scanners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323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the whole string, remove one character at the end until a match is found. Then return the lexeme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latin typeface="Courier" pitchFamily="2" charset="0"/>
              </a:rPr>
              <a:t>IGNORE = “ |\n”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SEMI   = “;”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41E16-3E64-8247-A2F6-03471DC5BA74}"/>
              </a:ext>
            </a:extLst>
          </p:cNvPr>
          <p:cNvSpPr txBox="1"/>
          <p:nvPr/>
        </p:nvSpPr>
        <p:spPr>
          <a:xfrm>
            <a:off x="6637866" y="3539629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variable = 50 + 30 * 20;</a:t>
            </a:r>
            <a:r>
              <a:rPr lang="en-US" sz="2400" dirty="0">
                <a:latin typeface="Courier" pitchFamily="2" charset="0"/>
              </a:rPr>
              <a:t>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EB9F2-79C7-D644-9B85-981C2DCA2377}"/>
              </a:ext>
            </a:extLst>
          </p:cNvPr>
          <p:cNvSpPr txBox="1"/>
          <p:nvPr/>
        </p:nvSpPr>
        <p:spPr>
          <a:xfrm>
            <a:off x="7492601" y="3110426"/>
            <a:ext cx="2661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start with the whole string</a:t>
            </a:r>
          </a:p>
        </p:txBody>
      </p:sp>
    </p:spTree>
    <p:extLst>
      <p:ext uri="{BB962C8B-B14F-4D97-AF65-F5344CB8AC3E}">
        <p14:creationId xmlns:p14="http://schemas.microsoft.com/office/powerpoint/2010/main" val="930767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the whole string, remove one character at the end until a match is found. Then return the lexeme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“ |\n”</a:t>
            </a:r>
            <a:br>
              <a:rPr lang="en-US" sz="24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SEMI   = “;”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41E16-3E64-8247-A2F6-03471DC5BA74}"/>
              </a:ext>
            </a:extLst>
          </p:cNvPr>
          <p:cNvSpPr txBox="1"/>
          <p:nvPr/>
        </p:nvSpPr>
        <p:spPr>
          <a:xfrm>
            <a:off x="6637866" y="3539629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variable = 50 + 30 * 20;</a:t>
            </a:r>
            <a:r>
              <a:rPr lang="en-US" sz="2400" dirty="0">
                <a:latin typeface="Courier" pitchFamily="2" charset="0"/>
              </a:rPr>
              <a:t>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EB9F2-79C7-D644-9B85-981C2DCA2377}"/>
              </a:ext>
            </a:extLst>
          </p:cNvPr>
          <p:cNvSpPr txBox="1"/>
          <p:nvPr/>
        </p:nvSpPr>
        <p:spPr>
          <a:xfrm>
            <a:off x="7492601" y="3110426"/>
            <a:ext cx="2661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start with the whole string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F82699-9286-AF4D-9ACF-62E418AF00A0}"/>
              </a:ext>
            </a:extLst>
          </p:cNvPr>
          <p:cNvSpPr txBox="1"/>
          <p:nvPr/>
        </p:nvSpPr>
        <p:spPr>
          <a:xfrm>
            <a:off x="2601387" y="2924731"/>
            <a:ext cx="4200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Try to match with all the tokens. No match.</a:t>
            </a:r>
          </a:p>
        </p:txBody>
      </p:sp>
    </p:spTree>
    <p:extLst>
      <p:ext uri="{BB962C8B-B14F-4D97-AF65-F5344CB8AC3E}">
        <p14:creationId xmlns:p14="http://schemas.microsoft.com/office/powerpoint/2010/main" val="4208994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the whole string, remove one character at the end until a match is found. Then return the lexeme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“ |\n”</a:t>
            </a:r>
            <a:br>
              <a:rPr lang="en-US" sz="24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SEMI   = “;”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41E16-3E64-8247-A2F6-03471DC5BA74}"/>
              </a:ext>
            </a:extLst>
          </p:cNvPr>
          <p:cNvSpPr txBox="1"/>
          <p:nvPr/>
        </p:nvSpPr>
        <p:spPr>
          <a:xfrm>
            <a:off x="6637866" y="3539629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variable = 50 + 30 * 2</a:t>
            </a:r>
            <a:r>
              <a:rPr lang="en-US" sz="2400" dirty="0">
                <a:latin typeface="Courier" pitchFamily="2" charset="0"/>
              </a:rPr>
              <a:t>0;”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EB9F2-79C7-D644-9B85-981C2DCA2377}"/>
              </a:ext>
            </a:extLst>
          </p:cNvPr>
          <p:cNvSpPr txBox="1"/>
          <p:nvPr/>
        </p:nvSpPr>
        <p:spPr>
          <a:xfrm>
            <a:off x="6526126" y="3194606"/>
            <a:ext cx="4395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Try iteratively chopping characters from back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F82699-9286-AF4D-9ACF-62E418AF00A0}"/>
              </a:ext>
            </a:extLst>
          </p:cNvPr>
          <p:cNvSpPr txBox="1"/>
          <p:nvPr/>
        </p:nvSpPr>
        <p:spPr>
          <a:xfrm>
            <a:off x="2601387" y="2924731"/>
            <a:ext cx="4200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Try to match with all the tokens. No match.</a:t>
            </a:r>
          </a:p>
        </p:txBody>
      </p:sp>
    </p:spTree>
    <p:extLst>
      <p:ext uri="{BB962C8B-B14F-4D97-AF65-F5344CB8AC3E}">
        <p14:creationId xmlns:p14="http://schemas.microsoft.com/office/powerpoint/2010/main" val="2648167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the whole string, remove one character at the end until a match is found. Then return the lexeme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“ |\n”</a:t>
            </a:r>
            <a:br>
              <a:rPr lang="en-US" sz="24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SEMI   = “;”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41E16-3E64-8247-A2F6-03471DC5BA74}"/>
              </a:ext>
            </a:extLst>
          </p:cNvPr>
          <p:cNvSpPr txBox="1"/>
          <p:nvPr/>
        </p:nvSpPr>
        <p:spPr>
          <a:xfrm>
            <a:off x="6637866" y="3539629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variable = 50 + 30 * 2</a:t>
            </a:r>
            <a:r>
              <a:rPr lang="en-US" sz="2400" dirty="0">
                <a:latin typeface="Courier" pitchFamily="2" charset="0"/>
              </a:rPr>
              <a:t>0;”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EB9F2-79C7-D644-9B85-981C2DCA2377}"/>
              </a:ext>
            </a:extLst>
          </p:cNvPr>
          <p:cNvSpPr txBox="1"/>
          <p:nvPr/>
        </p:nvSpPr>
        <p:spPr>
          <a:xfrm>
            <a:off x="7492601" y="311042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So 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F82699-9286-AF4D-9ACF-62E418AF00A0}"/>
              </a:ext>
            </a:extLst>
          </p:cNvPr>
          <p:cNvSpPr txBox="1"/>
          <p:nvPr/>
        </p:nvSpPr>
        <p:spPr>
          <a:xfrm>
            <a:off x="2601387" y="2924731"/>
            <a:ext cx="4200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Try to match with all the tokens. No match.</a:t>
            </a:r>
          </a:p>
        </p:txBody>
      </p:sp>
    </p:spTree>
    <p:extLst>
      <p:ext uri="{BB962C8B-B14F-4D97-AF65-F5344CB8AC3E}">
        <p14:creationId xmlns:p14="http://schemas.microsoft.com/office/powerpoint/2010/main" val="705652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the whole string, remove one character at the end until a match is found. Then return the lexeme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“ |\n”</a:t>
            </a:r>
            <a:br>
              <a:rPr lang="en-US" sz="24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SEMI   = “;”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41E16-3E64-8247-A2F6-03471DC5BA74}"/>
              </a:ext>
            </a:extLst>
          </p:cNvPr>
          <p:cNvSpPr txBox="1"/>
          <p:nvPr/>
        </p:nvSpPr>
        <p:spPr>
          <a:xfrm>
            <a:off x="6637866" y="3539629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variable = 50 + 30 * </a:t>
            </a:r>
            <a:r>
              <a:rPr lang="en-US" sz="2400" dirty="0">
                <a:latin typeface="Courier" pitchFamily="2" charset="0"/>
              </a:rPr>
              <a:t>20;”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EB9F2-79C7-D644-9B85-981C2DCA2377}"/>
              </a:ext>
            </a:extLst>
          </p:cNvPr>
          <p:cNvSpPr txBox="1"/>
          <p:nvPr/>
        </p:nvSpPr>
        <p:spPr>
          <a:xfrm>
            <a:off x="7287610" y="3084666"/>
            <a:ext cx="4197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Repeatedly delete characters from the end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F82699-9286-AF4D-9ACF-62E418AF00A0}"/>
              </a:ext>
            </a:extLst>
          </p:cNvPr>
          <p:cNvSpPr txBox="1"/>
          <p:nvPr/>
        </p:nvSpPr>
        <p:spPr>
          <a:xfrm>
            <a:off x="2601387" y="2924731"/>
            <a:ext cx="4200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Try to match with all the tokens. No match.</a:t>
            </a:r>
          </a:p>
        </p:txBody>
      </p:sp>
    </p:spTree>
    <p:extLst>
      <p:ext uri="{BB962C8B-B14F-4D97-AF65-F5344CB8AC3E}">
        <p14:creationId xmlns:p14="http://schemas.microsoft.com/office/powerpoint/2010/main" val="542071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the whole string, remove one character at the end until a match is found. Then return the lexeme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“ |\n”</a:t>
            </a:r>
            <a:br>
              <a:rPr lang="en-US" sz="24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SEMI   = “;”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41E16-3E64-8247-A2F6-03471DC5BA74}"/>
              </a:ext>
            </a:extLst>
          </p:cNvPr>
          <p:cNvSpPr txBox="1"/>
          <p:nvPr/>
        </p:nvSpPr>
        <p:spPr>
          <a:xfrm>
            <a:off x="6637866" y="3539629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variable</a:t>
            </a:r>
            <a:r>
              <a:rPr lang="en-US" sz="2400" dirty="0">
                <a:latin typeface="Courier" pitchFamily="2" charset="0"/>
              </a:rPr>
              <a:t> = 50 + 30 * 20;”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EB9F2-79C7-D644-9B85-981C2DCA2377}"/>
              </a:ext>
            </a:extLst>
          </p:cNvPr>
          <p:cNvSpPr txBox="1"/>
          <p:nvPr/>
        </p:nvSpPr>
        <p:spPr>
          <a:xfrm>
            <a:off x="7492601" y="3110426"/>
            <a:ext cx="3364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Until we find a match at this point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F82699-9286-AF4D-9ACF-62E418AF00A0}"/>
              </a:ext>
            </a:extLst>
          </p:cNvPr>
          <p:cNvSpPr txBox="1"/>
          <p:nvPr/>
        </p:nvSpPr>
        <p:spPr>
          <a:xfrm>
            <a:off x="2601387" y="2924731"/>
            <a:ext cx="1713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 can match 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2D815D-E50E-3747-B119-742ECA3C8F82}"/>
              </a:ext>
            </a:extLst>
          </p:cNvPr>
          <p:cNvSpPr txBox="1"/>
          <p:nvPr/>
        </p:nvSpPr>
        <p:spPr>
          <a:xfrm>
            <a:off x="4809066" y="4430497"/>
            <a:ext cx="29033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ourier" pitchFamily="2" charset="0"/>
              </a:rPr>
              <a:t>(ID, “variable”)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46A8C2-F113-2142-8B31-8B018C8FD549}"/>
              </a:ext>
            </a:extLst>
          </p:cNvPr>
          <p:cNvSpPr txBox="1"/>
          <p:nvPr/>
        </p:nvSpPr>
        <p:spPr>
          <a:xfrm>
            <a:off x="4976494" y="4001294"/>
            <a:ext cx="1877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Return the lexeme</a:t>
            </a:r>
          </a:p>
        </p:txBody>
      </p:sp>
    </p:spTree>
    <p:extLst>
      <p:ext uri="{BB962C8B-B14F-4D97-AF65-F5344CB8AC3E}">
        <p14:creationId xmlns:p14="http://schemas.microsoft.com/office/powerpoint/2010/main" val="819655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48C39-B183-F448-9249-4C6B48D6F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 Scanner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8F116F-4F51-0843-A2E3-2763C0244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Pros</a:t>
            </a:r>
          </a:p>
          <a:p>
            <a:pPr lvl="1"/>
            <a:r>
              <a:rPr lang="en-US" dirty="0"/>
              <a:t>Uses an exact RE matcher. Many RE match algorithms are exact!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SLOW! Each lexeme requires many many many calls to each RE match!</a:t>
            </a:r>
          </a:p>
        </p:txBody>
      </p:sp>
    </p:spTree>
    <p:extLst>
      <p:ext uri="{BB962C8B-B14F-4D97-AF65-F5344CB8AC3E}">
        <p14:creationId xmlns:p14="http://schemas.microsoft.com/office/powerpoint/2010/main" val="4216955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8109C-7B78-A24D-A02B-EC9C9BC50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SOS (Start Of String)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870AE-C6F9-0743-9715-F10AEBC9C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32908"/>
          </a:xfrm>
        </p:spPr>
        <p:txBody>
          <a:bodyPr/>
          <a:lstStyle/>
          <a:p>
            <a:r>
              <a:rPr lang="en-US" dirty="0"/>
              <a:t>We will use a new RE match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F6C910-0CAB-4741-B0A2-F74F3C816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00" y="2628900"/>
            <a:ext cx="10490200" cy="1600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11E2FE-AA24-FE40-8040-D12250D44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671484"/>
            <a:ext cx="10414000" cy="1511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732782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99000" cy="1325563"/>
          </a:xfrm>
        </p:spPr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match API gives us a match starting at the beginning of the string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“ |\n”</a:t>
            </a:r>
            <a:br>
              <a:rPr lang="en-US" sz="24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SEMI   = “;”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41E16-3E64-8247-A2F6-03471DC5BA74}"/>
              </a:ext>
            </a:extLst>
          </p:cNvPr>
          <p:cNvSpPr txBox="1"/>
          <p:nvPr/>
        </p:nvSpPr>
        <p:spPr>
          <a:xfrm>
            <a:off x="6637866" y="3539629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“variable = 50 + 30 * 20;”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055489-7D35-0449-8361-813F570AC7E7}"/>
              </a:ext>
            </a:extLst>
          </p:cNvPr>
          <p:cNvSpPr txBox="1"/>
          <p:nvPr/>
        </p:nvSpPr>
        <p:spPr>
          <a:xfrm>
            <a:off x="5943600" y="2918163"/>
            <a:ext cx="4035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Feed full string into each token definition</a:t>
            </a:r>
          </a:p>
        </p:txBody>
      </p:sp>
    </p:spTree>
    <p:extLst>
      <p:ext uri="{BB962C8B-B14F-4D97-AF65-F5344CB8AC3E}">
        <p14:creationId xmlns:p14="http://schemas.microsoft.com/office/powerpoint/2010/main" val="3140900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99000" cy="1325563"/>
          </a:xfrm>
        </p:spPr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match API gives us a match starting at the beginning of the string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“ |\n”</a:t>
            </a:r>
            <a:br>
              <a:rPr lang="en-US" sz="24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SEMI   = “;”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41E16-3E64-8247-A2F6-03471DC5BA74}"/>
              </a:ext>
            </a:extLst>
          </p:cNvPr>
          <p:cNvSpPr txBox="1"/>
          <p:nvPr/>
        </p:nvSpPr>
        <p:spPr>
          <a:xfrm>
            <a:off x="6637866" y="3539629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“variable = 50 + 30 * 20;”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055489-7D35-0449-8361-813F570AC7E7}"/>
              </a:ext>
            </a:extLst>
          </p:cNvPr>
          <p:cNvSpPr txBox="1"/>
          <p:nvPr/>
        </p:nvSpPr>
        <p:spPr>
          <a:xfrm>
            <a:off x="5943600" y="2918163"/>
            <a:ext cx="4035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Feed full string into each token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8F4DA3-C163-9F44-921E-400BF68049E5}"/>
              </a:ext>
            </a:extLst>
          </p:cNvPr>
          <p:cNvSpPr txBox="1"/>
          <p:nvPr/>
        </p:nvSpPr>
        <p:spPr>
          <a:xfrm>
            <a:off x="4809067" y="4270564"/>
            <a:ext cx="4167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 get 1 match. We can return the lexeme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25CF4-37B0-0747-A4F3-E60139BEDA8F}"/>
              </a:ext>
            </a:extLst>
          </p:cNvPr>
          <p:cNvSpPr txBox="1"/>
          <p:nvPr/>
        </p:nvSpPr>
        <p:spPr>
          <a:xfrm>
            <a:off x="4732866" y="4786055"/>
            <a:ext cx="29033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ourier" pitchFamily="2" charset="0"/>
              </a:rPr>
              <a:t>(ID, “variable”)</a:t>
            </a:r>
          </a:p>
        </p:txBody>
      </p:sp>
    </p:spTree>
    <p:extLst>
      <p:ext uri="{BB962C8B-B14F-4D97-AF65-F5344CB8AC3E}">
        <p14:creationId xmlns:p14="http://schemas.microsoft.com/office/powerpoint/2010/main" val="1699854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99000" cy="1325563"/>
          </a:xfrm>
        </p:spPr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match API gives us a match starting at the beginning of the string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“ |\n”</a:t>
            </a:r>
            <a:br>
              <a:rPr lang="en-US" sz="24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SEMI   = “;”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41E16-3E64-8247-A2F6-03471DC5BA74}"/>
              </a:ext>
            </a:extLst>
          </p:cNvPr>
          <p:cNvSpPr txBox="1"/>
          <p:nvPr/>
        </p:nvSpPr>
        <p:spPr>
          <a:xfrm>
            <a:off x="6637866" y="3539629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“variable = 50 + 30 * 20;”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055489-7D35-0449-8361-813F570AC7E7}"/>
              </a:ext>
            </a:extLst>
          </p:cNvPr>
          <p:cNvSpPr txBox="1"/>
          <p:nvPr/>
        </p:nvSpPr>
        <p:spPr>
          <a:xfrm>
            <a:off x="5943600" y="2918163"/>
            <a:ext cx="1605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Chop the string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8F4DA3-C163-9F44-921E-400BF68049E5}"/>
              </a:ext>
            </a:extLst>
          </p:cNvPr>
          <p:cNvSpPr txBox="1"/>
          <p:nvPr/>
        </p:nvSpPr>
        <p:spPr>
          <a:xfrm>
            <a:off x="4809067" y="4270564"/>
            <a:ext cx="4167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 get 1 match. We can return the lexeme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25CF4-37B0-0747-A4F3-E60139BEDA8F}"/>
              </a:ext>
            </a:extLst>
          </p:cNvPr>
          <p:cNvSpPr txBox="1"/>
          <p:nvPr/>
        </p:nvSpPr>
        <p:spPr>
          <a:xfrm>
            <a:off x="4732866" y="4786055"/>
            <a:ext cx="29033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ourier" pitchFamily="2" charset="0"/>
              </a:rPr>
              <a:t>(ID, “variable”)</a:t>
            </a:r>
          </a:p>
        </p:txBody>
      </p:sp>
    </p:spTree>
    <p:extLst>
      <p:ext uri="{BB962C8B-B14F-4D97-AF65-F5344CB8AC3E}">
        <p14:creationId xmlns:p14="http://schemas.microsoft.com/office/powerpoint/2010/main" val="18143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99000" cy="1325563"/>
          </a:xfrm>
        </p:spPr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match API gives us a match starting at the beginning of the string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“ |\n”</a:t>
            </a:r>
            <a:br>
              <a:rPr lang="en-US" sz="24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SEMI   = “;”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41E16-3E64-8247-A2F6-03471DC5BA74}"/>
              </a:ext>
            </a:extLst>
          </p:cNvPr>
          <p:cNvSpPr txBox="1"/>
          <p:nvPr/>
        </p:nvSpPr>
        <p:spPr>
          <a:xfrm>
            <a:off x="6637866" y="3539629"/>
            <a:ext cx="3502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“ = 50 + 30 * 20;”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055489-7D35-0449-8361-813F570AC7E7}"/>
              </a:ext>
            </a:extLst>
          </p:cNvPr>
          <p:cNvSpPr txBox="1"/>
          <p:nvPr/>
        </p:nvSpPr>
        <p:spPr>
          <a:xfrm>
            <a:off x="5943600" y="2918163"/>
            <a:ext cx="1605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Chop the string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8F4DA3-C163-9F44-921E-400BF68049E5}"/>
              </a:ext>
            </a:extLst>
          </p:cNvPr>
          <p:cNvSpPr txBox="1"/>
          <p:nvPr/>
        </p:nvSpPr>
        <p:spPr>
          <a:xfrm>
            <a:off x="4809067" y="4270564"/>
            <a:ext cx="4167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 get 1 match. We can return the lexeme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25CF4-37B0-0747-A4F3-E60139BEDA8F}"/>
              </a:ext>
            </a:extLst>
          </p:cNvPr>
          <p:cNvSpPr txBox="1"/>
          <p:nvPr/>
        </p:nvSpPr>
        <p:spPr>
          <a:xfrm>
            <a:off x="4732866" y="4786055"/>
            <a:ext cx="29033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ourier" pitchFamily="2" charset="0"/>
              </a:rPr>
              <a:t>(ID, “variable”)</a:t>
            </a:r>
          </a:p>
        </p:txBody>
      </p:sp>
    </p:spTree>
    <p:extLst>
      <p:ext uri="{BB962C8B-B14F-4D97-AF65-F5344CB8AC3E}">
        <p14:creationId xmlns:p14="http://schemas.microsoft.com/office/powerpoint/2010/main" val="2183200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99000" cy="1325563"/>
          </a:xfrm>
        </p:spPr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match API gives us a match starting at the beginning of the string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“ |\n”</a:t>
            </a:r>
            <a:br>
              <a:rPr lang="en-US" sz="24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SEMI   = “;”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41E16-3E64-8247-A2F6-03471DC5BA74}"/>
              </a:ext>
            </a:extLst>
          </p:cNvPr>
          <p:cNvSpPr txBox="1"/>
          <p:nvPr/>
        </p:nvSpPr>
        <p:spPr>
          <a:xfrm>
            <a:off x="6637866" y="3539629"/>
            <a:ext cx="3502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“ = 50 + 30 * 20;”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055489-7D35-0449-8361-813F570AC7E7}"/>
              </a:ext>
            </a:extLst>
          </p:cNvPr>
          <p:cNvSpPr txBox="1"/>
          <p:nvPr/>
        </p:nvSpPr>
        <p:spPr>
          <a:xfrm>
            <a:off x="5943600" y="2918163"/>
            <a:ext cx="2522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What about the next 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25CF4-37B0-0747-A4F3-E60139BEDA8F}"/>
              </a:ext>
            </a:extLst>
          </p:cNvPr>
          <p:cNvSpPr txBox="1"/>
          <p:nvPr/>
        </p:nvSpPr>
        <p:spPr>
          <a:xfrm>
            <a:off x="4732866" y="4786055"/>
            <a:ext cx="29033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ourier" pitchFamily="2" charset="0"/>
              </a:rPr>
              <a:t>(ID, “variable”)</a:t>
            </a:r>
          </a:p>
        </p:txBody>
      </p:sp>
    </p:spTree>
    <p:extLst>
      <p:ext uri="{BB962C8B-B14F-4D97-AF65-F5344CB8AC3E}">
        <p14:creationId xmlns:p14="http://schemas.microsoft.com/office/powerpoint/2010/main" val="10285484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99000" cy="1325563"/>
          </a:xfrm>
        </p:spPr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match API gives us a match starting at the beginning of the string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“ |\n”</a:t>
            </a:r>
            <a:br>
              <a:rPr lang="en-US" sz="24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SEMI   = “;”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41E16-3E64-8247-A2F6-03471DC5BA74}"/>
              </a:ext>
            </a:extLst>
          </p:cNvPr>
          <p:cNvSpPr txBox="1"/>
          <p:nvPr/>
        </p:nvSpPr>
        <p:spPr>
          <a:xfrm>
            <a:off x="6637866" y="3539629"/>
            <a:ext cx="3502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“ = 50 + 30 * 20;”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055489-7D35-0449-8361-813F570AC7E7}"/>
              </a:ext>
            </a:extLst>
          </p:cNvPr>
          <p:cNvSpPr txBox="1"/>
          <p:nvPr/>
        </p:nvSpPr>
        <p:spPr>
          <a:xfrm>
            <a:off x="5943600" y="2918163"/>
            <a:ext cx="2522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What about the next 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25CF4-37B0-0747-A4F3-E60139BEDA8F}"/>
              </a:ext>
            </a:extLst>
          </p:cNvPr>
          <p:cNvSpPr txBox="1"/>
          <p:nvPr/>
        </p:nvSpPr>
        <p:spPr>
          <a:xfrm>
            <a:off x="4732866" y="4786055"/>
            <a:ext cx="29033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ourier" pitchFamily="2" charset="0"/>
              </a:rPr>
              <a:t>(ID, “variable”)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3FC66B-484A-6A48-AE0A-BFB019770FD3}"/>
              </a:ext>
            </a:extLst>
          </p:cNvPr>
          <p:cNvSpPr txBox="1"/>
          <p:nvPr/>
        </p:nvSpPr>
        <p:spPr>
          <a:xfrm>
            <a:off x="5044219" y="4190663"/>
            <a:ext cx="1798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1 match: IGNORE</a:t>
            </a:r>
          </a:p>
        </p:txBody>
      </p:sp>
    </p:spTree>
    <p:extLst>
      <p:ext uri="{BB962C8B-B14F-4D97-AF65-F5344CB8AC3E}">
        <p14:creationId xmlns:p14="http://schemas.microsoft.com/office/powerpoint/2010/main" val="1575301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99000" cy="1325563"/>
          </a:xfrm>
        </p:spPr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match API gives us a match starting at the beginning of the string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“ |\n”</a:t>
            </a:r>
            <a:br>
              <a:rPr lang="en-US" sz="24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SEMI   = “;”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41E16-3E64-8247-A2F6-03471DC5BA74}"/>
              </a:ext>
            </a:extLst>
          </p:cNvPr>
          <p:cNvSpPr txBox="1"/>
          <p:nvPr/>
        </p:nvSpPr>
        <p:spPr>
          <a:xfrm>
            <a:off x="6637866" y="3539629"/>
            <a:ext cx="3502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“ = 50 + 30 * 20;”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055489-7D35-0449-8361-813F570AC7E7}"/>
              </a:ext>
            </a:extLst>
          </p:cNvPr>
          <p:cNvSpPr txBox="1"/>
          <p:nvPr/>
        </p:nvSpPr>
        <p:spPr>
          <a:xfrm>
            <a:off x="5943600" y="2918163"/>
            <a:ext cx="1605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Chop the string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25CF4-37B0-0747-A4F3-E60139BEDA8F}"/>
              </a:ext>
            </a:extLst>
          </p:cNvPr>
          <p:cNvSpPr txBox="1"/>
          <p:nvPr/>
        </p:nvSpPr>
        <p:spPr>
          <a:xfrm>
            <a:off x="4732866" y="4786055"/>
            <a:ext cx="29033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ourier" pitchFamily="2" charset="0"/>
              </a:rPr>
              <a:t>(ID, “variable”)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3FC66B-484A-6A48-AE0A-BFB019770FD3}"/>
              </a:ext>
            </a:extLst>
          </p:cNvPr>
          <p:cNvSpPr txBox="1"/>
          <p:nvPr/>
        </p:nvSpPr>
        <p:spPr>
          <a:xfrm>
            <a:off x="5044219" y="4190663"/>
            <a:ext cx="1798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1 match: IGNORE</a:t>
            </a:r>
          </a:p>
        </p:txBody>
      </p:sp>
    </p:spTree>
    <p:extLst>
      <p:ext uri="{BB962C8B-B14F-4D97-AF65-F5344CB8AC3E}">
        <p14:creationId xmlns:p14="http://schemas.microsoft.com/office/powerpoint/2010/main" val="39810457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99000" cy="1325563"/>
          </a:xfrm>
        </p:spPr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match API gives us a match starting at the beginning of the string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“ |\n”</a:t>
            </a:r>
            <a:br>
              <a:rPr lang="en-US" sz="2400" dirty="0">
                <a:highlight>
                  <a:srgbClr val="FFFF00"/>
                </a:highlight>
                <a:latin typeface="Courier" pitchFamily="2" charset="0"/>
              </a:rPr>
            </a:b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SEMI   = “;”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41E16-3E64-8247-A2F6-03471DC5BA74}"/>
              </a:ext>
            </a:extLst>
          </p:cNvPr>
          <p:cNvSpPr txBox="1"/>
          <p:nvPr/>
        </p:nvSpPr>
        <p:spPr>
          <a:xfrm>
            <a:off x="6637866" y="3539629"/>
            <a:ext cx="3318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“= 50 + 30 * 20;”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055489-7D35-0449-8361-813F570AC7E7}"/>
              </a:ext>
            </a:extLst>
          </p:cNvPr>
          <p:cNvSpPr txBox="1"/>
          <p:nvPr/>
        </p:nvSpPr>
        <p:spPr>
          <a:xfrm>
            <a:off x="5943600" y="2918163"/>
            <a:ext cx="1605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Chop the string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25CF4-37B0-0747-A4F3-E60139BEDA8F}"/>
              </a:ext>
            </a:extLst>
          </p:cNvPr>
          <p:cNvSpPr txBox="1"/>
          <p:nvPr/>
        </p:nvSpPr>
        <p:spPr>
          <a:xfrm>
            <a:off x="4732866" y="4786055"/>
            <a:ext cx="29033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ourier" pitchFamily="2" charset="0"/>
              </a:rPr>
              <a:t>(ID, “variable”)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3FC66B-484A-6A48-AE0A-BFB019770FD3}"/>
              </a:ext>
            </a:extLst>
          </p:cNvPr>
          <p:cNvSpPr txBox="1"/>
          <p:nvPr/>
        </p:nvSpPr>
        <p:spPr>
          <a:xfrm>
            <a:off x="5044219" y="4190663"/>
            <a:ext cx="1798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1 match: IGNORE</a:t>
            </a:r>
          </a:p>
        </p:txBody>
      </p:sp>
    </p:spTree>
    <p:extLst>
      <p:ext uri="{BB962C8B-B14F-4D97-AF65-F5344CB8AC3E}">
        <p14:creationId xmlns:p14="http://schemas.microsoft.com/office/powerpoint/2010/main" val="1069899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99000" cy="1325563"/>
          </a:xfrm>
        </p:spPr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82108"/>
          </a:xfrm>
        </p:spPr>
        <p:txBody>
          <a:bodyPr/>
          <a:lstStyle/>
          <a:p>
            <a:r>
              <a:rPr lang="en-US" dirty="0"/>
              <a:t>Consideration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68722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LETTERS = “[A-Z]+”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 = “[0-9]+”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CLASS   = ”CSE110A“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EAC6E3-9A90-3949-A2FA-4596C3A80B86}"/>
              </a:ext>
            </a:extLst>
          </p:cNvPr>
          <p:cNvSpPr txBox="1"/>
          <p:nvPr/>
        </p:nvSpPr>
        <p:spPr>
          <a:xfrm>
            <a:off x="8805333" y="35136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F45BF-15BD-E043-8BDA-FE90D2B25BCF}"/>
              </a:ext>
            </a:extLst>
          </p:cNvPr>
          <p:cNvSpPr txBox="1"/>
          <p:nvPr/>
        </p:nvSpPr>
        <p:spPr>
          <a:xfrm>
            <a:off x="7562655" y="3052002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“CSE110A”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BD922F-800F-1845-B4DE-166E9EBA8DB0}"/>
              </a:ext>
            </a:extLst>
          </p:cNvPr>
          <p:cNvSpPr txBox="1"/>
          <p:nvPr/>
        </p:nvSpPr>
        <p:spPr>
          <a:xfrm>
            <a:off x="7493000" y="2438400"/>
            <a:ext cx="2418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to scan this string?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839637-980F-8840-8B8B-2092D853991F}"/>
              </a:ext>
            </a:extLst>
          </p:cNvPr>
          <p:cNvSpPr txBox="1"/>
          <p:nvPr/>
        </p:nvSpPr>
        <p:spPr>
          <a:xfrm>
            <a:off x="4309533" y="2807732"/>
            <a:ext cx="2715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Try to match on each token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89B78A-AD31-9E42-9533-BEF90046FFBB}"/>
              </a:ext>
            </a:extLst>
          </p:cNvPr>
          <p:cNvSpPr txBox="1"/>
          <p:nvPr/>
        </p:nvSpPr>
        <p:spPr>
          <a:xfrm>
            <a:off x="5357657" y="4029164"/>
            <a:ext cx="23903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Two matches:</a:t>
            </a:r>
          </a:p>
          <a:p>
            <a:r>
              <a:rPr lang="en-US" dirty="0">
                <a:latin typeface="Courier" pitchFamily="2" charset="0"/>
              </a:rPr>
              <a:t>LETTERS: “CSE”</a:t>
            </a:r>
          </a:p>
          <a:p>
            <a:r>
              <a:rPr lang="en-US" dirty="0">
                <a:latin typeface="Courier" pitchFamily="2" charset="0"/>
              </a:rPr>
              <a:t>CLASS: ”CSE110A”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BA3C3C-1C77-374A-A2F8-97BF4D40ABF4}"/>
              </a:ext>
            </a:extLst>
          </p:cNvPr>
          <p:cNvSpPr txBox="1"/>
          <p:nvPr/>
        </p:nvSpPr>
        <p:spPr>
          <a:xfrm>
            <a:off x="7958667" y="5046133"/>
            <a:ext cx="337124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Which one do we choose?</a:t>
            </a:r>
          </a:p>
          <a:p>
            <a:r>
              <a:rPr lang="en-US" i="1" dirty="0"/>
              <a:t>The longest one!</a:t>
            </a:r>
          </a:p>
          <a:p>
            <a:endParaRPr lang="en-US" i="1" dirty="0"/>
          </a:p>
          <a:p>
            <a:r>
              <a:rPr lang="en-US" i="1" dirty="0"/>
              <a:t>After each pass through token REs</a:t>
            </a:r>
            <a:br>
              <a:rPr lang="en-US" i="1" dirty="0"/>
            </a:br>
            <a:r>
              <a:rPr lang="en-US" i="1" dirty="0"/>
              <a:t>we have to measure match length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33298D-8068-E842-A3A2-BA0ABF581D4A}"/>
              </a:ext>
            </a:extLst>
          </p:cNvPr>
          <p:cNvSpPr txBox="1"/>
          <p:nvPr/>
        </p:nvSpPr>
        <p:spPr>
          <a:xfrm>
            <a:off x="1041399" y="5989260"/>
            <a:ext cx="592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Why didn’t we have to do this for the exact match Scanner? </a:t>
            </a:r>
          </a:p>
        </p:txBody>
      </p:sp>
    </p:spTree>
    <p:extLst>
      <p:ext uri="{BB962C8B-B14F-4D97-AF65-F5344CB8AC3E}">
        <p14:creationId xmlns:p14="http://schemas.microsoft.com/office/powerpoint/2010/main" val="18770743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99000" cy="1325563"/>
          </a:xfrm>
        </p:spPr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82108"/>
          </a:xfrm>
        </p:spPr>
        <p:txBody>
          <a:bodyPr/>
          <a:lstStyle/>
          <a:p>
            <a:r>
              <a:rPr lang="en-US" dirty="0"/>
              <a:t>One more consideration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380012" y="3468133"/>
            <a:ext cx="497764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CLASS = “CSE|110A|CSE110A”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EAC6E3-9A90-3949-A2FA-4596C3A80B86}"/>
              </a:ext>
            </a:extLst>
          </p:cNvPr>
          <p:cNvSpPr txBox="1"/>
          <p:nvPr/>
        </p:nvSpPr>
        <p:spPr>
          <a:xfrm>
            <a:off x="8805333" y="35136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F45BF-15BD-E043-8BDA-FE90D2B25BCF}"/>
              </a:ext>
            </a:extLst>
          </p:cNvPr>
          <p:cNvSpPr txBox="1"/>
          <p:nvPr/>
        </p:nvSpPr>
        <p:spPr>
          <a:xfrm>
            <a:off x="7562655" y="3052002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“CSE110A”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22EB69-87E1-CC4C-8D00-77C03066FE31}"/>
              </a:ext>
            </a:extLst>
          </p:cNvPr>
          <p:cNvSpPr txBox="1"/>
          <p:nvPr/>
        </p:nvSpPr>
        <p:spPr>
          <a:xfrm>
            <a:off x="3412067" y="2645201"/>
            <a:ext cx="3437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Within 1 RE, how does this match?</a:t>
            </a:r>
          </a:p>
        </p:txBody>
      </p:sp>
    </p:spTree>
    <p:extLst>
      <p:ext uri="{BB962C8B-B14F-4D97-AF65-F5344CB8AC3E}">
        <p14:creationId xmlns:p14="http://schemas.microsoft.com/office/powerpoint/2010/main" val="41540868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99000" cy="1325563"/>
          </a:xfrm>
        </p:spPr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82108"/>
          </a:xfrm>
        </p:spPr>
        <p:txBody>
          <a:bodyPr/>
          <a:lstStyle/>
          <a:p>
            <a:r>
              <a:rPr lang="en-US" dirty="0"/>
              <a:t>One more consideration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380012" y="3468133"/>
            <a:ext cx="497764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CLASS = “CSE|110A|CSE110A”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EAC6E3-9A90-3949-A2FA-4596C3A80B86}"/>
              </a:ext>
            </a:extLst>
          </p:cNvPr>
          <p:cNvSpPr txBox="1"/>
          <p:nvPr/>
        </p:nvSpPr>
        <p:spPr>
          <a:xfrm>
            <a:off x="8805333" y="35136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F45BF-15BD-E043-8BDA-FE90D2B25BCF}"/>
              </a:ext>
            </a:extLst>
          </p:cNvPr>
          <p:cNvSpPr txBox="1"/>
          <p:nvPr/>
        </p:nvSpPr>
        <p:spPr>
          <a:xfrm>
            <a:off x="7562655" y="3052002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“CSE110A”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22EB69-87E1-CC4C-8D00-77C03066FE31}"/>
              </a:ext>
            </a:extLst>
          </p:cNvPr>
          <p:cNvSpPr txBox="1"/>
          <p:nvPr/>
        </p:nvSpPr>
        <p:spPr>
          <a:xfrm>
            <a:off x="3412067" y="2645201"/>
            <a:ext cx="3437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Within 1 RE, how does this match?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337A9A-AF77-C14C-A3F2-4E878E81C806}"/>
              </a:ext>
            </a:extLst>
          </p:cNvPr>
          <p:cNvSpPr txBox="1"/>
          <p:nvPr/>
        </p:nvSpPr>
        <p:spPr>
          <a:xfrm>
            <a:off x="4885267" y="4198732"/>
            <a:ext cx="4338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highlight>
                  <a:srgbClr val="FF0000"/>
                </a:highlight>
              </a:rPr>
              <a:t>Returns “CSE”, but this isn’t what we want!!!</a:t>
            </a:r>
          </a:p>
        </p:txBody>
      </p:sp>
    </p:spTree>
    <p:extLst>
      <p:ext uri="{BB962C8B-B14F-4D97-AF65-F5344CB8AC3E}">
        <p14:creationId xmlns:p14="http://schemas.microsoft.com/office/powerpoint/2010/main" val="17465982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99000" cy="1325563"/>
          </a:xfrm>
        </p:spPr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82108"/>
          </a:xfrm>
        </p:spPr>
        <p:txBody>
          <a:bodyPr/>
          <a:lstStyle/>
          <a:p>
            <a:r>
              <a:rPr lang="en-US" dirty="0"/>
              <a:t>One more consideration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380012" y="3468133"/>
            <a:ext cx="497764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CLASS = “CSE|110A|CSE110A”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EAC6E3-9A90-3949-A2FA-4596C3A80B86}"/>
              </a:ext>
            </a:extLst>
          </p:cNvPr>
          <p:cNvSpPr txBox="1"/>
          <p:nvPr/>
        </p:nvSpPr>
        <p:spPr>
          <a:xfrm>
            <a:off x="8805333" y="35136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F45BF-15BD-E043-8BDA-FE90D2B25BCF}"/>
              </a:ext>
            </a:extLst>
          </p:cNvPr>
          <p:cNvSpPr txBox="1"/>
          <p:nvPr/>
        </p:nvSpPr>
        <p:spPr>
          <a:xfrm>
            <a:off x="7562655" y="3052002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“CSE110A”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22EB69-87E1-CC4C-8D00-77C03066FE31}"/>
              </a:ext>
            </a:extLst>
          </p:cNvPr>
          <p:cNvSpPr txBox="1"/>
          <p:nvPr/>
        </p:nvSpPr>
        <p:spPr>
          <a:xfrm>
            <a:off x="3412067" y="2645201"/>
            <a:ext cx="3437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Within 1 RE, how does this match?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337A9A-AF77-C14C-A3F2-4E878E81C806}"/>
              </a:ext>
            </a:extLst>
          </p:cNvPr>
          <p:cNvSpPr txBox="1"/>
          <p:nvPr/>
        </p:nvSpPr>
        <p:spPr>
          <a:xfrm>
            <a:off x="4885267" y="4198732"/>
            <a:ext cx="4338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highlight>
                  <a:srgbClr val="FF0000"/>
                </a:highlight>
              </a:rPr>
              <a:t>Returns “CSE”, but this isn’t what we want!!!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383C41-4EB9-4C44-8C07-21A8C6966842}"/>
              </a:ext>
            </a:extLst>
          </p:cNvPr>
          <p:cNvSpPr/>
          <p:nvPr/>
        </p:nvSpPr>
        <p:spPr>
          <a:xfrm>
            <a:off x="380012" y="4836998"/>
            <a:ext cx="632153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When using the SOS Scanner: A token definition either should not: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contain choices where one choice is a prefix of another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order choices such that the longest choice is the first one </a:t>
            </a:r>
          </a:p>
        </p:txBody>
      </p:sp>
    </p:spTree>
    <p:extLst>
      <p:ext uri="{BB962C8B-B14F-4D97-AF65-F5344CB8AC3E}">
        <p14:creationId xmlns:p14="http://schemas.microsoft.com/office/powerpoint/2010/main" val="1094947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99000" cy="1325563"/>
          </a:xfrm>
        </p:spPr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82108"/>
          </a:xfrm>
        </p:spPr>
        <p:txBody>
          <a:bodyPr/>
          <a:lstStyle/>
          <a:p>
            <a:r>
              <a:rPr lang="en-US" dirty="0"/>
              <a:t>One more consideration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380012" y="3468133"/>
            <a:ext cx="497764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strike="sngStrike" dirty="0">
                <a:latin typeface="Courier" pitchFamily="2" charset="0"/>
              </a:rPr>
              <a:t>CLASS = “CSE|110A|CSE110A”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EAC6E3-9A90-3949-A2FA-4596C3A80B86}"/>
              </a:ext>
            </a:extLst>
          </p:cNvPr>
          <p:cNvSpPr txBox="1"/>
          <p:nvPr/>
        </p:nvSpPr>
        <p:spPr>
          <a:xfrm>
            <a:off x="8805333" y="35136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F45BF-15BD-E043-8BDA-FE90D2B25BCF}"/>
              </a:ext>
            </a:extLst>
          </p:cNvPr>
          <p:cNvSpPr txBox="1"/>
          <p:nvPr/>
        </p:nvSpPr>
        <p:spPr>
          <a:xfrm>
            <a:off x="7562655" y="3052002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“CSE110A”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22EB69-87E1-CC4C-8D00-77C03066FE31}"/>
              </a:ext>
            </a:extLst>
          </p:cNvPr>
          <p:cNvSpPr txBox="1"/>
          <p:nvPr/>
        </p:nvSpPr>
        <p:spPr>
          <a:xfrm>
            <a:off x="3412067" y="2645201"/>
            <a:ext cx="3437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Within 1 RE, how does this match?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337A9A-AF77-C14C-A3F2-4E878E81C806}"/>
              </a:ext>
            </a:extLst>
          </p:cNvPr>
          <p:cNvSpPr txBox="1"/>
          <p:nvPr/>
        </p:nvSpPr>
        <p:spPr>
          <a:xfrm>
            <a:off x="4885267" y="4198732"/>
            <a:ext cx="4338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highlight>
                  <a:srgbClr val="FF0000"/>
                </a:highlight>
              </a:rPr>
              <a:t>Returns “CSE”, but this isn’t what we want!!!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8D9CFB-68F3-5B44-BC94-86324DE7FD7C}"/>
              </a:ext>
            </a:extLst>
          </p:cNvPr>
          <p:cNvSpPr txBox="1"/>
          <p:nvPr/>
        </p:nvSpPr>
        <p:spPr>
          <a:xfrm>
            <a:off x="4953000" y="488379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383C41-4EB9-4C44-8C07-21A8C6966842}"/>
              </a:ext>
            </a:extLst>
          </p:cNvPr>
          <p:cNvSpPr/>
          <p:nvPr/>
        </p:nvSpPr>
        <p:spPr>
          <a:xfrm>
            <a:off x="380012" y="4836998"/>
            <a:ext cx="632153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When using the SOS Scanner: A token definition either should not: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contain choices where one choice is a prefix of another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order choices such that the longest choice is the first one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50C059-1D0C-8247-B627-1CD194928058}"/>
              </a:ext>
            </a:extLst>
          </p:cNvPr>
          <p:cNvSpPr txBox="1"/>
          <p:nvPr/>
        </p:nvSpPr>
        <p:spPr>
          <a:xfrm>
            <a:off x="380012" y="6029262"/>
            <a:ext cx="497764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CLASS = “CSE110A|110A|CSE”</a:t>
            </a:r>
          </a:p>
        </p:txBody>
      </p:sp>
    </p:spTree>
    <p:extLst>
      <p:ext uri="{BB962C8B-B14F-4D97-AF65-F5344CB8AC3E}">
        <p14:creationId xmlns:p14="http://schemas.microsoft.com/office/powerpoint/2010/main" val="71203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48C39-B183-F448-9249-4C6B48D6F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8F116F-4F51-0843-A2E3-2763C0244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Pros</a:t>
            </a:r>
          </a:p>
          <a:p>
            <a:pPr lvl="1"/>
            <a:r>
              <a:rPr lang="en-US" dirty="0"/>
              <a:t>Much faster than EM scanner. Only 1 call to each RE per </a:t>
            </a:r>
            <a:r>
              <a:rPr lang="en-US" dirty="0">
                <a:latin typeface="Courier" pitchFamily="2" charset="0"/>
              </a:rPr>
              <a:t>token()</a:t>
            </a:r>
            <a:r>
              <a:rPr lang="en-US" dirty="0"/>
              <a:t> call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Depends on an efficient implementation of </a:t>
            </a:r>
            <a:r>
              <a:rPr lang="en-US" dirty="0">
                <a:latin typeface="Courier" pitchFamily="2" charset="0"/>
              </a:rPr>
              <a:t>match()</a:t>
            </a:r>
          </a:p>
          <a:p>
            <a:pPr lvl="2"/>
            <a:r>
              <a:rPr lang="en-US" dirty="0"/>
              <a:t>Typically provided in most RE libraries (for this exact reason)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Requires some care in token definitions and prefixes</a:t>
            </a:r>
          </a:p>
        </p:txBody>
      </p:sp>
    </p:spTree>
    <p:extLst>
      <p:ext uri="{BB962C8B-B14F-4D97-AF65-F5344CB8AC3E}">
        <p14:creationId xmlns:p14="http://schemas.microsoft.com/office/powerpoint/2010/main" val="34309522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48C39-B183-F448-9249-4C6B48D6F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SOS Scanner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8F116F-4F51-0843-A2E3-2763C0244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Pros</a:t>
            </a:r>
          </a:p>
          <a:p>
            <a:pPr lvl="1"/>
            <a:r>
              <a:rPr lang="en-US" dirty="0"/>
              <a:t>Much faster than EM scanner. </a:t>
            </a:r>
            <a:r>
              <a:rPr lang="en-US" dirty="0">
                <a:highlight>
                  <a:srgbClr val="FFFF00"/>
                </a:highlight>
              </a:rPr>
              <a:t>Only 1 call to each RE per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token()</a:t>
            </a:r>
            <a:r>
              <a:rPr lang="en-US" dirty="0">
                <a:highlight>
                  <a:srgbClr val="FFFF00"/>
                </a:highlight>
              </a:rPr>
              <a:t> call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Depends on an efficient implementation of </a:t>
            </a:r>
            <a:r>
              <a:rPr lang="en-US" dirty="0">
                <a:latin typeface="Courier" pitchFamily="2" charset="0"/>
              </a:rPr>
              <a:t>match()</a:t>
            </a:r>
          </a:p>
          <a:p>
            <a:pPr lvl="2"/>
            <a:r>
              <a:rPr lang="en-US" dirty="0"/>
              <a:t>Typically provided in most RE libraries (for this exact reason)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Requires some care in token definitions and prefixes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F20465-19DD-FB44-9DE4-6D6843C94683}"/>
              </a:ext>
            </a:extLst>
          </p:cNvPr>
          <p:cNvSpPr txBox="1"/>
          <p:nvPr/>
        </p:nvSpPr>
        <p:spPr>
          <a:xfrm>
            <a:off x="6553200" y="920221"/>
            <a:ext cx="40317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We’re going to optimize this to 1 RE call!</a:t>
            </a:r>
            <a:br>
              <a:rPr lang="en-US" i="1" dirty="0"/>
            </a:br>
            <a:r>
              <a:rPr lang="en-US" i="1" dirty="0"/>
              <a:t>It can really help if you have many tokens</a:t>
            </a:r>
          </a:p>
        </p:txBody>
      </p:sp>
    </p:spTree>
    <p:extLst>
      <p:ext uri="{BB962C8B-B14F-4D97-AF65-F5344CB8AC3E}">
        <p14:creationId xmlns:p14="http://schemas.microsoft.com/office/powerpoint/2010/main" val="17014380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8109C-7B78-A24D-A02B-EC9C9BC50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 (Named Group)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870AE-C6F9-0743-9715-F10AEBC9C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32908"/>
          </a:xfrm>
        </p:spPr>
        <p:txBody>
          <a:bodyPr/>
          <a:lstStyle/>
          <a:p>
            <a:r>
              <a:rPr lang="en-US" dirty="0"/>
              <a:t>We will still use the </a:t>
            </a:r>
            <a:r>
              <a:rPr lang="en-US" dirty="0">
                <a:latin typeface="Courier" pitchFamily="2" charset="0"/>
              </a:rPr>
              <a:t>match</a:t>
            </a:r>
            <a:r>
              <a:rPr lang="en-US" dirty="0"/>
              <a:t> API call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F6C910-0CAB-4741-B0A2-F74F3C816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00" y="2628900"/>
            <a:ext cx="10490200" cy="1600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11E2FE-AA24-FE40-8040-D12250D44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671484"/>
            <a:ext cx="10414000" cy="1511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10363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86908"/>
          </a:xfrm>
        </p:spPr>
        <p:txBody>
          <a:bodyPr/>
          <a:lstStyle/>
          <a:p>
            <a:r>
              <a:rPr lang="en-US" dirty="0"/>
              <a:t>Start out with token definitions</a:t>
            </a:r>
          </a:p>
          <a:p>
            <a:r>
              <a:rPr lang="en-US" dirty="0"/>
              <a:t>Merge them into one RE definition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31853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“[a-z]+”</a:t>
            </a:r>
          </a:p>
          <a:p>
            <a:r>
              <a:rPr lang="en-US" sz="2400" dirty="0">
                <a:latin typeface="Courier" pitchFamily="2" charset="0"/>
              </a:rPr>
              <a:t>NUM    = “[0-9]+”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latin typeface="Courier" pitchFamily="2" charset="0"/>
              </a:rPr>
              <a:t>IGNORE = “ |\n”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SEMI   = “;”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4A3595-0740-D242-9026-EBF740F24345}"/>
              </a:ext>
            </a:extLst>
          </p:cNvPr>
          <p:cNvSpPr txBox="1"/>
          <p:nvPr/>
        </p:nvSpPr>
        <p:spPr>
          <a:xfrm>
            <a:off x="4639734" y="3803135"/>
            <a:ext cx="53463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SINGLE_RE = “(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?P&lt;ID&gt;</a:t>
            </a:r>
            <a:r>
              <a:rPr lang="en-US" sz="2400" dirty="0">
                <a:latin typeface="Courier" pitchFamily="2" charset="0"/>
              </a:rPr>
              <a:t>[a-z]+)|</a:t>
            </a:r>
          </a:p>
          <a:p>
            <a:r>
              <a:rPr lang="en-US" sz="2400" dirty="0">
                <a:latin typeface="Courier" pitchFamily="2" charset="0"/>
              </a:rPr>
              <a:t>             (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?P&lt;NUM&gt;</a:t>
            </a:r>
            <a:r>
              <a:rPr lang="en-US" sz="2400" dirty="0">
                <a:latin typeface="Courier" pitchFamily="2" charset="0"/>
              </a:rPr>
              <a:t>[0-9]+)</a:t>
            </a:r>
          </a:p>
          <a:p>
            <a:r>
              <a:rPr lang="en-US" sz="2400" dirty="0">
                <a:latin typeface="Courier" pitchFamily="2" charset="0"/>
              </a:rPr>
              <a:t>             |(..)|”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C4D1D1-2372-D74B-88E7-395855A2DE2B}"/>
              </a:ext>
            </a:extLst>
          </p:cNvPr>
          <p:cNvSpPr txBox="1"/>
          <p:nvPr/>
        </p:nvSpPr>
        <p:spPr>
          <a:xfrm>
            <a:off x="8899282" y="2581290"/>
            <a:ext cx="26091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Give each group a name</a:t>
            </a:r>
            <a:br>
              <a:rPr lang="en-US" i="1" dirty="0"/>
            </a:br>
            <a:r>
              <a:rPr lang="en-US" i="1" dirty="0"/>
              <a:t>corresponding to its token</a:t>
            </a:r>
          </a:p>
        </p:txBody>
      </p:sp>
    </p:spTree>
    <p:extLst>
      <p:ext uri="{BB962C8B-B14F-4D97-AF65-F5344CB8AC3E}">
        <p14:creationId xmlns:p14="http://schemas.microsoft.com/office/powerpoint/2010/main" val="7734357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86908"/>
          </a:xfrm>
        </p:spPr>
        <p:txBody>
          <a:bodyPr/>
          <a:lstStyle/>
          <a:p>
            <a:r>
              <a:rPr lang="en-US" dirty="0"/>
              <a:t>to implement </a:t>
            </a:r>
            <a:r>
              <a:rPr lang="en-US" dirty="0">
                <a:latin typeface="Courier" pitchFamily="2" charset="0"/>
              </a:rPr>
              <a:t>token()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4A3595-0740-D242-9026-EBF740F24345}"/>
              </a:ext>
            </a:extLst>
          </p:cNvPr>
          <p:cNvSpPr txBox="1"/>
          <p:nvPr/>
        </p:nvSpPr>
        <p:spPr>
          <a:xfrm>
            <a:off x="749665" y="3227621"/>
            <a:ext cx="571502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SINGLE_RE </a:t>
            </a:r>
            <a:r>
              <a:rPr lang="en-US" sz="2400" dirty="0">
                <a:latin typeface="Courier" pitchFamily="2" charset="0"/>
              </a:rPr>
              <a:t>= “(?P&lt;ID&gt;[a-z]+)|</a:t>
            </a:r>
          </a:p>
          <a:p>
            <a:r>
              <a:rPr lang="en-US" sz="2400" dirty="0">
                <a:latin typeface="Courier" pitchFamily="2" charset="0"/>
              </a:rPr>
              <a:t>             (?P&lt;NUM&gt;[0-9]+)|</a:t>
            </a:r>
          </a:p>
          <a:p>
            <a:r>
              <a:rPr lang="en-US" sz="2400" dirty="0">
                <a:latin typeface="Courier" pitchFamily="2" charset="0"/>
              </a:rPr>
              <a:t>             (?P&lt;ASSIGN&gt;=)|</a:t>
            </a:r>
          </a:p>
          <a:p>
            <a:r>
              <a:rPr lang="en-US" sz="2400" dirty="0">
                <a:latin typeface="Courier" pitchFamily="2" charset="0"/>
              </a:rPr>
              <a:t>             (?P&lt;PLUS&gt;+)|</a:t>
            </a:r>
          </a:p>
          <a:p>
            <a:r>
              <a:rPr lang="en-US" sz="2400" dirty="0">
                <a:latin typeface="Courier" pitchFamily="2" charset="0"/>
              </a:rPr>
              <a:t>             (?P&lt;MULT&gt;*)|</a:t>
            </a:r>
          </a:p>
          <a:p>
            <a:r>
              <a:rPr lang="en-US" sz="2400" dirty="0">
                <a:latin typeface="Courier" pitchFamily="2" charset="0"/>
              </a:rPr>
              <a:t>             (?P&lt;IGNORE&gt; |\n)|</a:t>
            </a:r>
          </a:p>
          <a:p>
            <a:r>
              <a:rPr lang="en-US" sz="2400" dirty="0">
                <a:latin typeface="Courier" pitchFamily="2" charset="0"/>
              </a:rPr>
              <a:t>             (?P&lt;SEMI&gt;;)”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2E9C32-43A1-FF4B-9CAF-B9E95EBA9D19}"/>
              </a:ext>
            </a:extLst>
          </p:cNvPr>
          <p:cNvSpPr txBox="1"/>
          <p:nvPr/>
        </p:nvSpPr>
        <p:spPr>
          <a:xfrm>
            <a:off x="6959599" y="3227621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variable = 50 + 30 * 20;</a:t>
            </a:r>
            <a:r>
              <a:rPr lang="en-US" sz="2400" dirty="0">
                <a:latin typeface="Courier" pitchFamily="2" charset="0"/>
              </a:rPr>
              <a:t>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A961D6-3AEB-8D4E-B2D8-B97EC07C5765}"/>
              </a:ext>
            </a:extLst>
          </p:cNvPr>
          <p:cNvSpPr txBox="1"/>
          <p:nvPr/>
        </p:nvSpPr>
        <p:spPr>
          <a:xfrm>
            <a:off x="7145867" y="2543201"/>
            <a:ext cx="4436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Try to match the whole string to the single RE</a:t>
            </a:r>
          </a:p>
        </p:txBody>
      </p:sp>
    </p:spTree>
    <p:extLst>
      <p:ext uri="{BB962C8B-B14F-4D97-AF65-F5344CB8AC3E}">
        <p14:creationId xmlns:p14="http://schemas.microsoft.com/office/powerpoint/2010/main" val="24379718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86908"/>
          </a:xfrm>
        </p:spPr>
        <p:txBody>
          <a:bodyPr/>
          <a:lstStyle/>
          <a:p>
            <a:r>
              <a:rPr lang="en-US" dirty="0"/>
              <a:t>to implement </a:t>
            </a:r>
            <a:r>
              <a:rPr lang="en-US" dirty="0">
                <a:latin typeface="Courier" pitchFamily="2" charset="0"/>
              </a:rPr>
              <a:t>token()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4A3595-0740-D242-9026-EBF740F24345}"/>
              </a:ext>
            </a:extLst>
          </p:cNvPr>
          <p:cNvSpPr txBox="1"/>
          <p:nvPr/>
        </p:nvSpPr>
        <p:spPr>
          <a:xfrm>
            <a:off x="749665" y="3227621"/>
            <a:ext cx="571502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SINGLE_RE </a:t>
            </a:r>
            <a:r>
              <a:rPr lang="en-US" sz="2400" dirty="0">
                <a:latin typeface="Courier" pitchFamily="2" charset="0"/>
              </a:rPr>
              <a:t>= “(?P&lt;ID&gt;[a-z]+)|</a:t>
            </a:r>
          </a:p>
          <a:p>
            <a:r>
              <a:rPr lang="en-US" sz="2400" dirty="0">
                <a:latin typeface="Courier" pitchFamily="2" charset="0"/>
              </a:rPr>
              <a:t>             (?P&lt;NUM&gt;[0-9]+)|</a:t>
            </a:r>
          </a:p>
          <a:p>
            <a:r>
              <a:rPr lang="en-US" sz="2400" dirty="0">
                <a:latin typeface="Courier" pitchFamily="2" charset="0"/>
              </a:rPr>
              <a:t>             (?P&lt;ASSIGN&gt;=)|</a:t>
            </a:r>
          </a:p>
          <a:p>
            <a:r>
              <a:rPr lang="en-US" sz="2400" dirty="0">
                <a:latin typeface="Courier" pitchFamily="2" charset="0"/>
              </a:rPr>
              <a:t>             (?P&lt;PLUS&gt;+)|</a:t>
            </a:r>
          </a:p>
          <a:p>
            <a:r>
              <a:rPr lang="en-US" sz="2400" dirty="0">
                <a:latin typeface="Courier" pitchFamily="2" charset="0"/>
              </a:rPr>
              <a:t>             (?P&lt;MULT&gt;*)|</a:t>
            </a:r>
          </a:p>
          <a:p>
            <a:r>
              <a:rPr lang="en-US" sz="2400" dirty="0">
                <a:latin typeface="Courier" pitchFamily="2" charset="0"/>
              </a:rPr>
              <a:t>             (?P&lt;IGNORE&gt; |\n)|</a:t>
            </a:r>
          </a:p>
          <a:p>
            <a:r>
              <a:rPr lang="en-US" sz="2400" dirty="0">
                <a:latin typeface="Courier" pitchFamily="2" charset="0"/>
              </a:rPr>
              <a:t>             (?P&lt;SEMI&gt;;)”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2E9C32-43A1-FF4B-9CAF-B9E95EBA9D19}"/>
              </a:ext>
            </a:extLst>
          </p:cNvPr>
          <p:cNvSpPr txBox="1"/>
          <p:nvPr/>
        </p:nvSpPr>
        <p:spPr>
          <a:xfrm>
            <a:off x="6959599" y="3227621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variable = 50 + 30 * 20;</a:t>
            </a:r>
            <a:r>
              <a:rPr lang="en-US" sz="2400" dirty="0">
                <a:latin typeface="Courier" pitchFamily="2" charset="0"/>
              </a:rPr>
              <a:t>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A961D6-3AEB-8D4E-B2D8-B97EC07C5765}"/>
              </a:ext>
            </a:extLst>
          </p:cNvPr>
          <p:cNvSpPr txBox="1"/>
          <p:nvPr/>
        </p:nvSpPr>
        <p:spPr>
          <a:xfrm>
            <a:off x="7145867" y="2543201"/>
            <a:ext cx="4436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Try to match the whole string to the single 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B698F1-E242-854E-8707-FBF2975187C7}"/>
              </a:ext>
            </a:extLst>
          </p:cNvPr>
          <p:cNvSpPr txBox="1"/>
          <p:nvPr/>
        </p:nvSpPr>
        <p:spPr>
          <a:xfrm>
            <a:off x="7598394" y="4004374"/>
            <a:ext cx="35312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Check the </a:t>
            </a:r>
            <a:r>
              <a:rPr lang="en-US" dirty="0">
                <a:latin typeface="Courier" pitchFamily="2" charset="0"/>
              </a:rPr>
              <a:t>group </a:t>
            </a:r>
            <a:r>
              <a:rPr lang="en-US" dirty="0"/>
              <a:t>dictionary in the</a:t>
            </a:r>
            <a:br>
              <a:rPr lang="en-US" dirty="0"/>
            </a:br>
            <a:r>
              <a:rPr lang="en-US" dirty="0"/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24845137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86908"/>
          </a:xfrm>
        </p:spPr>
        <p:txBody>
          <a:bodyPr/>
          <a:lstStyle/>
          <a:p>
            <a:r>
              <a:rPr lang="en-US" dirty="0"/>
              <a:t>to implement </a:t>
            </a:r>
            <a:r>
              <a:rPr lang="en-US" dirty="0">
                <a:latin typeface="Courier" pitchFamily="2" charset="0"/>
              </a:rPr>
              <a:t>token()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4A3595-0740-D242-9026-EBF740F24345}"/>
              </a:ext>
            </a:extLst>
          </p:cNvPr>
          <p:cNvSpPr txBox="1"/>
          <p:nvPr/>
        </p:nvSpPr>
        <p:spPr>
          <a:xfrm>
            <a:off x="749665" y="3227621"/>
            <a:ext cx="571502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SINGLE_RE </a:t>
            </a:r>
            <a:r>
              <a:rPr lang="en-US" sz="2400" dirty="0">
                <a:latin typeface="Courier" pitchFamily="2" charset="0"/>
              </a:rPr>
              <a:t>= “(?P&lt;ID&gt;[a-z]+)|</a:t>
            </a:r>
          </a:p>
          <a:p>
            <a:r>
              <a:rPr lang="en-US" sz="2400" dirty="0">
                <a:latin typeface="Courier" pitchFamily="2" charset="0"/>
              </a:rPr>
              <a:t>             (?P&lt;NUM&gt;[0-9]+)|</a:t>
            </a:r>
          </a:p>
          <a:p>
            <a:r>
              <a:rPr lang="en-US" sz="2400" dirty="0">
                <a:latin typeface="Courier" pitchFamily="2" charset="0"/>
              </a:rPr>
              <a:t>             (?P&lt;ASSIGN&gt;=)|</a:t>
            </a:r>
          </a:p>
          <a:p>
            <a:r>
              <a:rPr lang="en-US" sz="2400" dirty="0">
                <a:latin typeface="Courier" pitchFamily="2" charset="0"/>
              </a:rPr>
              <a:t>             (?P&lt;PLUS&gt;+)|</a:t>
            </a:r>
          </a:p>
          <a:p>
            <a:r>
              <a:rPr lang="en-US" sz="2400" dirty="0">
                <a:latin typeface="Courier" pitchFamily="2" charset="0"/>
              </a:rPr>
              <a:t>             (?P&lt;MULT&gt;*)|</a:t>
            </a:r>
          </a:p>
          <a:p>
            <a:r>
              <a:rPr lang="en-US" sz="2400" dirty="0">
                <a:latin typeface="Courier" pitchFamily="2" charset="0"/>
              </a:rPr>
              <a:t>             (?P&lt;IGNORE&gt; |\n)|</a:t>
            </a:r>
          </a:p>
          <a:p>
            <a:r>
              <a:rPr lang="en-US" sz="2400" dirty="0">
                <a:latin typeface="Courier" pitchFamily="2" charset="0"/>
              </a:rPr>
              <a:t>             (?P&lt;SEMI&gt;;)”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2E9C32-43A1-FF4B-9CAF-B9E95EBA9D19}"/>
              </a:ext>
            </a:extLst>
          </p:cNvPr>
          <p:cNvSpPr txBox="1"/>
          <p:nvPr/>
        </p:nvSpPr>
        <p:spPr>
          <a:xfrm>
            <a:off x="6959599" y="3227621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variable = 50 + 30 * 20;</a:t>
            </a:r>
            <a:r>
              <a:rPr lang="en-US" sz="2400" dirty="0">
                <a:latin typeface="Courier" pitchFamily="2" charset="0"/>
              </a:rPr>
              <a:t>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A961D6-3AEB-8D4E-B2D8-B97EC07C5765}"/>
              </a:ext>
            </a:extLst>
          </p:cNvPr>
          <p:cNvSpPr txBox="1"/>
          <p:nvPr/>
        </p:nvSpPr>
        <p:spPr>
          <a:xfrm>
            <a:off x="7145867" y="2543201"/>
            <a:ext cx="4436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Try to match the whole string to the single 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4E89A-46CF-F649-A50A-F17A743822B6}"/>
              </a:ext>
            </a:extLst>
          </p:cNvPr>
          <p:cNvSpPr txBox="1"/>
          <p:nvPr/>
        </p:nvSpPr>
        <p:spPr>
          <a:xfrm>
            <a:off x="7755467" y="4216400"/>
            <a:ext cx="321754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{”ID”     : “variable”</a:t>
            </a:r>
          </a:p>
          <a:p>
            <a:r>
              <a:rPr lang="en-US" dirty="0">
                <a:latin typeface="Courier" pitchFamily="2" charset="0"/>
              </a:rPr>
              <a:t> “NUM”    : None</a:t>
            </a:r>
          </a:p>
          <a:p>
            <a:r>
              <a:rPr lang="en-US" dirty="0">
                <a:latin typeface="Courier" pitchFamily="2" charset="0"/>
              </a:rPr>
              <a:t> “ASSIGN” : None</a:t>
            </a:r>
          </a:p>
          <a:p>
            <a:r>
              <a:rPr lang="en-US" dirty="0">
                <a:latin typeface="Courier" pitchFamily="2" charset="0"/>
              </a:rPr>
              <a:t> “PLUS”   : None</a:t>
            </a:r>
          </a:p>
          <a:p>
            <a:r>
              <a:rPr lang="en-US" dirty="0">
                <a:latin typeface="Courier" pitchFamily="2" charset="0"/>
              </a:rPr>
              <a:t> “MULT”   : None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 “IGNORE” : None</a:t>
            </a:r>
          </a:p>
          <a:p>
            <a:r>
              <a:rPr lang="en-US" dirty="0">
                <a:latin typeface="Courier" pitchFamily="2" charset="0"/>
              </a:rPr>
              <a:t> “SEMI”   : None}</a:t>
            </a:r>
          </a:p>
        </p:txBody>
      </p:sp>
    </p:spTree>
    <p:extLst>
      <p:ext uri="{BB962C8B-B14F-4D97-AF65-F5344CB8AC3E}">
        <p14:creationId xmlns:p14="http://schemas.microsoft.com/office/powerpoint/2010/main" val="4836230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86908"/>
          </a:xfrm>
        </p:spPr>
        <p:txBody>
          <a:bodyPr/>
          <a:lstStyle/>
          <a:p>
            <a:r>
              <a:rPr lang="en-US" dirty="0"/>
              <a:t>to implement </a:t>
            </a:r>
            <a:r>
              <a:rPr lang="en-US" dirty="0">
                <a:latin typeface="Courier" pitchFamily="2" charset="0"/>
              </a:rPr>
              <a:t>token()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4A3595-0740-D242-9026-EBF740F24345}"/>
              </a:ext>
            </a:extLst>
          </p:cNvPr>
          <p:cNvSpPr txBox="1"/>
          <p:nvPr/>
        </p:nvSpPr>
        <p:spPr>
          <a:xfrm>
            <a:off x="749665" y="3227621"/>
            <a:ext cx="571502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SINGLE_RE </a:t>
            </a:r>
            <a:r>
              <a:rPr lang="en-US" sz="2400" dirty="0">
                <a:latin typeface="Courier" pitchFamily="2" charset="0"/>
              </a:rPr>
              <a:t>= “(?P&lt;ID&gt;[a-z]+)|</a:t>
            </a:r>
          </a:p>
          <a:p>
            <a:r>
              <a:rPr lang="en-US" sz="2400" dirty="0">
                <a:latin typeface="Courier" pitchFamily="2" charset="0"/>
              </a:rPr>
              <a:t>             (?P&lt;NUM&gt;[0-9]+)|</a:t>
            </a:r>
          </a:p>
          <a:p>
            <a:r>
              <a:rPr lang="en-US" sz="2400" dirty="0">
                <a:latin typeface="Courier" pitchFamily="2" charset="0"/>
              </a:rPr>
              <a:t>             (?P&lt;ASSIGN&gt;=)|</a:t>
            </a:r>
          </a:p>
          <a:p>
            <a:r>
              <a:rPr lang="en-US" sz="2400" dirty="0">
                <a:latin typeface="Courier" pitchFamily="2" charset="0"/>
              </a:rPr>
              <a:t>             (?P&lt;PLUS&gt;+)|</a:t>
            </a:r>
          </a:p>
          <a:p>
            <a:r>
              <a:rPr lang="en-US" sz="2400" dirty="0">
                <a:latin typeface="Courier" pitchFamily="2" charset="0"/>
              </a:rPr>
              <a:t>             (?P&lt;MULT&gt;*)|</a:t>
            </a:r>
          </a:p>
          <a:p>
            <a:r>
              <a:rPr lang="en-US" sz="2400" dirty="0">
                <a:latin typeface="Courier" pitchFamily="2" charset="0"/>
              </a:rPr>
              <a:t>             (?P&lt;IGNORE&gt; |\n)|</a:t>
            </a:r>
          </a:p>
          <a:p>
            <a:r>
              <a:rPr lang="en-US" sz="2400" dirty="0">
                <a:latin typeface="Courier" pitchFamily="2" charset="0"/>
              </a:rPr>
              <a:t>             (?P&lt;SEMI&gt;;)”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2E9C32-43A1-FF4B-9CAF-B9E95EBA9D19}"/>
              </a:ext>
            </a:extLst>
          </p:cNvPr>
          <p:cNvSpPr txBox="1"/>
          <p:nvPr/>
        </p:nvSpPr>
        <p:spPr>
          <a:xfrm>
            <a:off x="6959599" y="3227621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variable = 50 + 30 * 20;</a:t>
            </a:r>
            <a:r>
              <a:rPr lang="en-US" sz="2400" dirty="0">
                <a:latin typeface="Courier" pitchFamily="2" charset="0"/>
              </a:rPr>
              <a:t>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A961D6-3AEB-8D4E-B2D8-B97EC07C5765}"/>
              </a:ext>
            </a:extLst>
          </p:cNvPr>
          <p:cNvSpPr txBox="1"/>
          <p:nvPr/>
        </p:nvSpPr>
        <p:spPr>
          <a:xfrm>
            <a:off x="7145867" y="2543201"/>
            <a:ext cx="4436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Try to match the whole string to the single 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4E89A-46CF-F649-A50A-F17A743822B6}"/>
              </a:ext>
            </a:extLst>
          </p:cNvPr>
          <p:cNvSpPr txBox="1"/>
          <p:nvPr/>
        </p:nvSpPr>
        <p:spPr>
          <a:xfrm>
            <a:off x="7755467" y="4216400"/>
            <a:ext cx="321754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{”ID”     : “variable”</a:t>
            </a:r>
          </a:p>
          <a:p>
            <a:r>
              <a:rPr lang="en-US" dirty="0">
                <a:latin typeface="Courier" pitchFamily="2" charset="0"/>
              </a:rPr>
              <a:t> “NUM”    : None</a:t>
            </a:r>
          </a:p>
          <a:p>
            <a:r>
              <a:rPr lang="en-US" dirty="0">
                <a:latin typeface="Courier" pitchFamily="2" charset="0"/>
              </a:rPr>
              <a:t> “ASSIGN” : None</a:t>
            </a:r>
          </a:p>
          <a:p>
            <a:r>
              <a:rPr lang="en-US" dirty="0">
                <a:latin typeface="Courier" pitchFamily="2" charset="0"/>
              </a:rPr>
              <a:t> “PLUS”   : None</a:t>
            </a:r>
          </a:p>
          <a:p>
            <a:r>
              <a:rPr lang="en-US" dirty="0">
                <a:latin typeface="Courier" pitchFamily="2" charset="0"/>
              </a:rPr>
              <a:t> “MULT”   : None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 “IGNORE” : None</a:t>
            </a:r>
          </a:p>
          <a:p>
            <a:r>
              <a:rPr lang="en-US" dirty="0">
                <a:latin typeface="Courier" pitchFamily="2" charset="0"/>
              </a:rPr>
              <a:t> “SEMI”   : None}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53E27F-D432-614E-9009-23E271DE6387}"/>
              </a:ext>
            </a:extLst>
          </p:cNvPr>
          <p:cNvSpPr txBox="1"/>
          <p:nvPr/>
        </p:nvSpPr>
        <p:spPr>
          <a:xfrm>
            <a:off x="5507730" y="6308209"/>
            <a:ext cx="417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the lexeme </a:t>
            </a:r>
            <a:r>
              <a:rPr lang="en-US" dirty="0">
                <a:latin typeface="Courier" pitchFamily="2" charset="0"/>
              </a:rPr>
              <a:t>(ID, “variable”)</a:t>
            </a:r>
          </a:p>
        </p:txBody>
      </p:sp>
    </p:spTree>
    <p:extLst>
      <p:ext uri="{BB962C8B-B14F-4D97-AF65-F5344CB8AC3E}">
        <p14:creationId xmlns:p14="http://schemas.microsoft.com/office/powerpoint/2010/main" val="13632445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86908"/>
          </a:xfrm>
        </p:spPr>
        <p:txBody>
          <a:bodyPr/>
          <a:lstStyle/>
          <a:p>
            <a:r>
              <a:rPr lang="en-US" dirty="0"/>
              <a:t>to implement </a:t>
            </a:r>
            <a:r>
              <a:rPr lang="en-US" dirty="0">
                <a:latin typeface="Courier" pitchFamily="2" charset="0"/>
              </a:rPr>
              <a:t>token()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4A3595-0740-D242-9026-EBF740F24345}"/>
              </a:ext>
            </a:extLst>
          </p:cNvPr>
          <p:cNvSpPr txBox="1"/>
          <p:nvPr/>
        </p:nvSpPr>
        <p:spPr>
          <a:xfrm>
            <a:off x="749665" y="3227621"/>
            <a:ext cx="571502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SINGLE_RE </a:t>
            </a:r>
            <a:r>
              <a:rPr lang="en-US" sz="2400" dirty="0">
                <a:latin typeface="Courier" pitchFamily="2" charset="0"/>
              </a:rPr>
              <a:t>= “(?P&lt;ID&gt;[a-z]+)|</a:t>
            </a:r>
          </a:p>
          <a:p>
            <a:r>
              <a:rPr lang="en-US" sz="2400" dirty="0">
                <a:latin typeface="Courier" pitchFamily="2" charset="0"/>
              </a:rPr>
              <a:t>             (?P&lt;NUM&gt;[0-9]+)|</a:t>
            </a:r>
          </a:p>
          <a:p>
            <a:r>
              <a:rPr lang="en-US" sz="2400" dirty="0">
                <a:latin typeface="Courier" pitchFamily="2" charset="0"/>
              </a:rPr>
              <a:t>             (?P&lt;ASSIGN&gt;=)|</a:t>
            </a:r>
          </a:p>
          <a:p>
            <a:r>
              <a:rPr lang="en-US" sz="2400" dirty="0">
                <a:latin typeface="Courier" pitchFamily="2" charset="0"/>
              </a:rPr>
              <a:t>             (?P&lt;PLUS&gt;+)|</a:t>
            </a:r>
          </a:p>
          <a:p>
            <a:r>
              <a:rPr lang="en-US" sz="2400" dirty="0">
                <a:latin typeface="Courier" pitchFamily="2" charset="0"/>
              </a:rPr>
              <a:t>             (?P&lt;MULT&gt;*)|</a:t>
            </a:r>
          </a:p>
          <a:p>
            <a:r>
              <a:rPr lang="en-US" sz="2400" dirty="0">
                <a:latin typeface="Courier" pitchFamily="2" charset="0"/>
              </a:rPr>
              <a:t>             (?P&lt;IGNORE&gt; |\n)|</a:t>
            </a:r>
          </a:p>
          <a:p>
            <a:r>
              <a:rPr lang="en-US" sz="2400" dirty="0">
                <a:latin typeface="Courier" pitchFamily="2" charset="0"/>
              </a:rPr>
              <a:t>             (?P&lt;SEMI&gt;;)”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2E9C32-43A1-FF4B-9CAF-B9E95EBA9D19}"/>
              </a:ext>
            </a:extLst>
          </p:cNvPr>
          <p:cNvSpPr txBox="1"/>
          <p:nvPr/>
        </p:nvSpPr>
        <p:spPr>
          <a:xfrm>
            <a:off x="6959599" y="3227621"/>
            <a:ext cx="4977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variable = 50 + 30 * 20;</a:t>
            </a:r>
            <a:r>
              <a:rPr lang="en-US" sz="2400" dirty="0">
                <a:latin typeface="Courier" pitchFamily="2" charset="0"/>
              </a:rPr>
              <a:t>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A961D6-3AEB-8D4E-B2D8-B97EC07C5765}"/>
              </a:ext>
            </a:extLst>
          </p:cNvPr>
          <p:cNvSpPr txBox="1"/>
          <p:nvPr/>
        </p:nvSpPr>
        <p:spPr>
          <a:xfrm>
            <a:off x="7145867" y="2543201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chop!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4E89A-46CF-F649-A50A-F17A743822B6}"/>
              </a:ext>
            </a:extLst>
          </p:cNvPr>
          <p:cNvSpPr txBox="1"/>
          <p:nvPr/>
        </p:nvSpPr>
        <p:spPr>
          <a:xfrm>
            <a:off x="7755467" y="4216400"/>
            <a:ext cx="321754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{”ID”     : “variable”</a:t>
            </a:r>
          </a:p>
          <a:p>
            <a:r>
              <a:rPr lang="en-US" dirty="0">
                <a:latin typeface="Courier" pitchFamily="2" charset="0"/>
              </a:rPr>
              <a:t> “NUM”    : None</a:t>
            </a:r>
          </a:p>
          <a:p>
            <a:r>
              <a:rPr lang="en-US" dirty="0">
                <a:latin typeface="Courier" pitchFamily="2" charset="0"/>
              </a:rPr>
              <a:t> “ASSIGN” : None</a:t>
            </a:r>
          </a:p>
          <a:p>
            <a:r>
              <a:rPr lang="en-US" dirty="0">
                <a:latin typeface="Courier" pitchFamily="2" charset="0"/>
              </a:rPr>
              <a:t> “PLUS”   : None</a:t>
            </a:r>
          </a:p>
          <a:p>
            <a:r>
              <a:rPr lang="en-US" dirty="0">
                <a:latin typeface="Courier" pitchFamily="2" charset="0"/>
              </a:rPr>
              <a:t> “MULT”   : None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 “IGNORE” : None</a:t>
            </a:r>
          </a:p>
          <a:p>
            <a:r>
              <a:rPr lang="en-US" dirty="0">
                <a:latin typeface="Courier" pitchFamily="2" charset="0"/>
              </a:rPr>
              <a:t> “SEMI”   : None}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53E27F-D432-614E-9009-23E271DE6387}"/>
              </a:ext>
            </a:extLst>
          </p:cNvPr>
          <p:cNvSpPr txBox="1"/>
          <p:nvPr/>
        </p:nvSpPr>
        <p:spPr>
          <a:xfrm>
            <a:off x="5507730" y="6308209"/>
            <a:ext cx="417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 the lexeme </a:t>
            </a:r>
            <a:r>
              <a:rPr lang="en-US" dirty="0">
                <a:latin typeface="Courier" pitchFamily="2" charset="0"/>
              </a:rPr>
              <a:t>(ID, “variable”)</a:t>
            </a:r>
          </a:p>
        </p:txBody>
      </p:sp>
    </p:spTree>
    <p:extLst>
      <p:ext uri="{BB962C8B-B14F-4D97-AF65-F5344CB8AC3E}">
        <p14:creationId xmlns:p14="http://schemas.microsoft.com/office/powerpoint/2010/main" val="32980910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86908"/>
          </a:xfrm>
        </p:spPr>
        <p:txBody>
          <a:bodyPr/>
          <a:lstStyle/>
          <a:p>
            <a:r>
              <a:rPr lang="en-US" dirty="0"/>
              <a:t>to implement </a:t>
            </a:r>
            <a:r>
              <a:rPr lang="en-US" dirty="0">
                <a:latin typeface="Courier" pitchFamily="2" charset="0"/>
              </a:rPr>
              <a:t>token()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4A3595-0740-D242-9026-EBF740F24345}"/>
              </a:ext>
            </a:extLst>
          </p:cNvPr>
          <p:cNvSpPr txBox="1"/>
          <p:nvPr/>
        </p:nvSpPr>
        <p:spPr>
          <a:xfrm>
            <a:off x="749665" y="3227621"/>
            <a:ext cx="571502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SINGLE_RE = “(?P&lt;ID&gt;[a-z]+)|</a:t>
            </a:r>
          </a:p>
          <a:p>
            <a:r>
              <a:rPr lang="en-US" sz="2400" dirty="0">
                <a:latin typeface="Courier" pitchFamily="2" charset="0"/>
              </a:rPr>
              <a:t>             (?P&lt;NUM&gt;[0-9]+)|</a:t>
            </a:r>
          </a:p>
          <a:p>
            <a:r>
              <a:rPr lang="en-US" sz="2400" dirty="0">
                <a:latin typeface="Courier" pitchFamily="2" charset="0"/>
              </a:rPr>
              <a:t>             (?P&lt;ASSIGN&gt;=)|</a:t>
            </a:r>
          </a:p>
          <a:p>
            <a:r>
              <a:rPr lang="en-US" sz="2400" dirty="0">
                <a:latin typeface="Courier" pitchFamily="2" charset="0"/>
              </a:rPr>
              <a:t>             (?P&lt;PLUS&gt;+)|</a:t>
            </a:r>
          </a:p>
          <a:p>
            <a:r>
              <a:rPr lang="en-US" sz="2400" dirty="0">
                <a:latin typeface="Courier" pitchFamily="2" charset="0"/>
              </a:rPr>
              <a:t>             (?P&lt;MULT&gt;*)|</a:t>
            </a:r>
          </a:p>
          <a:p>
            <a:r>
              <a:rPr lang="en-US" sz="2400" dirty="0">
                <a:latin typeface="Courier" pitchFamily="2" charset="0"/>
              </a:rPr>
              <a:t>             (?P&lt;IGNORE&gt; |\n)|</a:t>
            </a:r>
          </a:p>
          <a:p>
            <a:r>
              <a:rPr lang="en-US" sz="2400" dirty="0">
                <a:latin typeface="Courier" pitchFamily="2" charset="0"/>
              </a:rPr>
              <a:t>             (?P&lt;SEMI&gt;;)”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2E9C32-43A1-FF4B-9CAF-B9E95EBA9D19}"/>
              </a:ext>
            </a:extLst>
          </p:cNvPr>
          <p:cNvSpPr txBox="1"/>
          <p:nvPr/>
        </p:nvSpPr>
        <p:spPr>
          <a:xfrm>
            <a:off x="6959599" y="3227621"/>
            <a:ext cx="3502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 = 50 + 30 * 20;</a:t>
            </a:r>
            <a:r>
              <a:rPr lang="en-US" sz="2400" dirty="0">
                <a:latin typeface="Courier" pitchFamily="2" charset="0"/>
              </a:rPr>
              <a:t>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A961D6-3AEB-8D4E-B2D8-B97EC07C5765}"/>
              </a:ext>
            </a:extLst>
          </p:cNvPr>
          <p:cNvSpPr txBox="1"/>
          <p:nvPr/>
        </p:nvSpPr>
        <p:spPr>
          <a:xfrm>
            <a:off x="7145867" y="2543201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chop!</a:t>
            </a:r>
          </a:p>
        </p:txBody>
      </p:sp>
    </p:spTree>
    <p:extLst>
      <p:ext uri="{BB962C8B-B14F-4D97-AF65-F5344CB8AC3E}">
        <p14:creationId xmlns:p14="http://schemas.microsoft.com/office/powerpoint/2010/main" val="26969367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EC8-DE2B-724C-B8C4-05A5F210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566" y="18256"/>
            <a:ext cx="10574868" cy="1121432"/>
          </a:xfrm>
        </p:spPr>
        <p:txBody>
          <a:bodyPr>
            <a:normAutofit/>
          </a:bodyPr>
          <a:lstStyle/>
          <a:p>
            <a:r>
              <a:rPr lang="en-US" sz="3600" dirty="0"/>
              <a:t>How to deal with common prefixes in token definitions?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from SOS scanner: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942119" y="3429000"/>
            <a:ext cx="368722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LETTERS = “[A-Z]+”</a:t>
            </a:r>
          </a:p>
          <a:p>
            <a:r>
              <a:rPr lang="en-US" sz="2400" dirty="0">
                <a:latin typeface="Courier" pitchFamily="2" charset="0"/>
              </a:rPr>
              <a:t>NUM     = “[0-9]+”</a:t>
            </a:r>
          </a:p>
          <a:p>
            <a:r>
              <a:rPr lang="en-US" sz="2400" dirty="0">
                <a:latin typeface="Courier" pitchFamily="2" charset="0"/>
              </a:rPr>
              <a:t>CLASS   = ”CSE110A“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F45BF-15BD-E043-8BDA-FE90D2B25BCF}"/>
              </a:ext>
            </a:extLst>
          </p:cNvPr>
          <p:cNvSpPr txBox="1"/>
          <p:nvPr/>
        </p:nvSpPr>
        <p:spPr>
          <a:xfrm>
            <a:off x="7562655" y="3052002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“CSE110A”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BD922F-800F-1845-B4DE-166E9EBA8DB0}"/>
              </a:ext>
            </a:extLst>
          </p:cNvPr>
          <p:cNvSpPr txBox="1"/>
          <p:nvPr/>
        </p:nvSpPr>
        <p:spPr>
          <a:xfrm>
            <a:off x="7493000" y="2438400"/>
            <a:ext cx="2418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to scan this string?</a:t>
            </a:r>
          </a:p>
        </p:txBody>
      </p:sp>
    </p:spTree>
    <p:extLst>
      <p:ext uri="{BB962C8B-B14F-4D97-AF65-F5344CB8AC3E}">
        <p14:creationId xmlns:p14="http://schemas.microsoft.com/office/powerpoint/2010/main" val="12023505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 to a single 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298652" y="3429000"/>
            <a:ext cx="5346335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SINGLE_RE = “</a:t>
            </a:r>
          </a:p>
          <a:p>
            <a:r>
              <a:rPr lang="en-US" sz="2400" dirty="0">
                <a:latin typeface="Courier" pitchFamily="2" charset="0"/>
              </a:rPr>
              <a:t>       (?P&lt;LETTERS&gt;([A-Z]+)|</a:t>
            </a:r>
          </a:p>
          <a:p>
            <a:r>
              <a:rPr lang="en-US" sz="2400" dirty="0">
                <a:latin typeface="Courier" pitchFamily="2" charset="0"/>
              </a:rPr>
              <a:t>       (?P&lt;NUM&gt;([0-9]+)|</a:t>
            </a:r>
          </a:p>
          <a:p>
            <a:r>
              <a:rPr lang="en-US" sz="2400" dirty="0">
                <a:latin typeface="Courier" pitchFamily="2" charset="0"/>
              </a:rPr>
              <a:t>       (?P&lt;CLASS&gt;CSE110A)”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F45BF-15BD-E043-8BDA-FE90D2B25BCF}"/>
              </a:ext>
            </a:extLst>
          </p:cNvPr>
          <p:cNvSpPr txBox="1"/>
          <p:nvPr/>
        </p:nvSpPr>
        <p:spPr>
          <a:xfrm>
            <a:off x="7562655" y="3052002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“CSE110A”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BD922F-800F-1845-B4DE-166E9EBA8DB0}"/>
              </a:ext>
            </a:extLst>
          </p:cNvPr>
          <p:cNvSpPr txBox="1"/>
          <p:nvPr/>
        </p:nvSpPr>
        <p:spPr>
          <a:xfrm>
            <a:off x="7493000" y="2438400"/>
            <a:ext cx="2418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to scan this string?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CC68764-C594-BC46-BCE7-86D1E84DF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566" y="20568"/>
            <a:ext cx="10574868" cy="1325563"/>
          </a:xfrm>
        </p:spPr>
        <p:txBody>
          <a:bodyPr>
            <a:normAutofit/>
          </a:bodyPr>
          <a:lstStyle/>
          <a:p>
            <a:r>
              <a:rPr lang="en-US" sz="3600" dirty="0"/>
              <a:t>How to deal with common prefixes in token definitions?</a:t>
            </a:r>
          </a:p>
        </p:txBody>
      </p:sp>
    </p:spTree>
    <p:extLst>
      <p:ext uri="{BB962C8B-B14F-4D97-AF65-F5344CB8AC3E}">
        <p14:creationId xmlns:p14="http://schemas.microsoft.com/office/powerpoint/2010/main" val="18731847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 to a single 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298652" y="3429000"/>
            <a:ext cx="5346335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SINGLE_RE = “</a:t>
            </a:r>
          </a:p>
          <a:p>
            <a:r>
              <a:rPr lang="en-US" sz="2400" dirty="0">
                <a:latin typeface="Courier" pitchFamily="2" charset="0"/>
              </a:rPr>
              <a:t>       (?P&lt;LETTERS&gt;([A-Z]+)|</a:t>
            </a:r>
          </a:p>
          <a:p>
            <a:r>
              <a:rPr lang="en-US" sz="2400" dirty="0">
                <a:latin typeface="Courier" pitchFamily="2" charset="0"/>
              </a:rPr>
              <a:t>       (?P&lt;NUM&gt;([0-9]+)|</a:t>
            </a:r>
          </a:p>
          <a:p>
            <a:r>
              <a:rPr lang="en-US" sz="2400" dirty="0">
                <a:latin typeface="Courier" pitchFamily="2" charset="0"/>
              </a:rPr>
              <a:t>       (?P&lt;CLASS&gt;CSE110A)”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F45BF-15BD-E043-8BDA-FE90D2B25BCF}"/>
              </a:ext>
            </a:extLst>
          </p:cNvPr>
          <p:cNvSpPr txBox="1"/>
          <p:nvPr/>
        </p:nvSpPr>
        <p:spPr>
          <a:xfrm>
            <a:off x="7562655" y="3052002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“CSE110A”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BD922F-800F-1845-B4DE-166E9EBA8DB0}"/>
              </a:ext>
            </a:extLst>
          </p:cNvPr>
          <p:cNvSpPr txBox="1"/>
          <p:nvPr/>
        </p:nvSpPr>
        <p:spPr>
          <a:xfrm>
            <a:off x="7493000" y="2438400"/>
            <a:ext cx="2418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to scan this string?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E9FD5C-C56B-0048-8D67-BD2EB5E299BD}"/>
              </a:ext>
            </a:extLst>
          </p:cNvPr>
          <p:cNvSpPr txBox="1"/>
          <p:nvPr/>
        </p:nvSpPr>
        <p:spPr>
          <a:xfrm>
            <a:off x="7112000" y="4487333"/>
            <a:ext cx="4526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do we think the dictionary will look like?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8AA5D66-6A0C-1340-9598-123E192C7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566" y="13229"/>
            <a:ext cx="10574868" cy="1325563"/>
          </a:xfrm>
        </p:spPr>
        <p:txBody>
          <a:bodyPr>
            <a:normAutofit/>
          </a:bodyPr>
          <a:lstStyle/>
          <a:p>
            <a:r>
              <a:rPr lang="en-US" sz="3600" dirty="0"/>
              <a:t>How to deal with common prefixes in token definitions?</a:t>
            </a:r>
          </a:p>
        </p:txBody>
      </p:sp>
    </p:spTree>
    <p:extLst>
      <p:ext uri="{BB962C8B-B14F-4D97-AF65-F5344CB8AC3E}">
        <p14:creationId xmlns:p14="http://schemas.microsoft.com/office/powerpoint/2010/main" val="28370621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 to a single 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298652" y="3429000"/>
            <a:ext cx="5346335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SINGLE_RE = “</a:t>
            </a:r>
          </a:p>
          <a:p>
            <a:r>
              <a:rPr lang="en-US" sz="2400" dirty="0">
                <a:latin typeface="Courier" pitchFamily="2" charset="0"/>
              </a:rPr>
              <a:t>       (?P&lt;LETTERS&gt;([A-Z]+)|</a:t>
            </a:r>
          </a:p>
          <a:p>
            <a:r>
              <a:rPr lang="en-US" sz="2400" dirty="0">
                <a:latin typeface="Courier" pitchFamily="2" charset="0"/>
              </a:rPr>
              <a:t>       (?P&lt;NUM&gt;([0-9]+)|</a:t>
            </a:r>
          </a:p>
          <a:p>
            <a:r>
              <a:rPr lang="en-US" sz="2400" dirty="0">
                <a:latin typeface="Courier" pitchFamily="2" charset="0"/>
              </a:rPr>
              <a:t>       (?P&lt;CLASS&gt;CSE110A)”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F45BF-15BD-E043-8BDA-FE90D2B25BCF}"/>
              </a:ext>
            </a:extLst>
          </p:cNvPr>
          <p:cNvSpPr txBox="1"/>
          <p:nvPr/>
        </p:nvSpPr>
        <p:spPr>
          <a:xfrm>
            <a:off x="7562655" y="3052002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“CSE110A”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BD922F-800F-1845-B4DE-166E9EBA8DB0}"/>
              </a:ext>
            </a:extLst>
          </p:cNvPr>
          <p:cNvSpPr txBox="1"/>
          <p:nvPr/>
        </p:nvSpPr>
        <p:spPr>
          <a:xfrm>
            <a:off x="7493000" y="2438400"/>
            <a:ext cx="2418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to scan this string?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E2E126-CAFE-134F-918A-C2B8BDC71A3C}"/>
              </a:ext>
            </a:extLst>
          </p:cNvPr>
          <p:cNvSpPr txBox="1"/>
          <p:nvPr/>
        </p:nvSpPr>
        <p:spPr>
          <a:xfrm>
            <a:off x="7755467" y="4216400"/>
            <a:ext cx="26661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{”LETTERS” : “CSE”</a:t>
            </a:r>
          </a:p>
          <a:p>
            <a:r>
              <a:rPr lang="en-US" dirty="0">
                <a:latin typeface="Courier" pitchFamily="2" charset="0"/>
              </a:rPr>
              <a:t> “NUM”     : None</a:t>
            </a:r>
          </a:p>
          <a:p>
            <a:r>
              <a:rPr lang="en-US" dirty="0">
                <a:latin typeface="Courier" pitchFamily="2" charset="0"/>
              </a:rPr>
              <a:t> “CLASS”   : None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BC2D4E-6735-9F4A-9918-84ED0D116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74868" cy="1325563"/>
          </a:xfrm>
        </p:spPr>
        <p:txBody>
          <a:bodyPr>
            <a:normAutofit/>
          </a:bodyPr>
          <a:lstStyle/>
          <a:p>
            <a:r>
              <a:rPr lang="en-US" sz="3600" dirty="0"/>
              <a:t>How to deal with common prefixes in token definitions?</a:t>
            </a:r>
          </a:p>
        </p:txBody>
      </p:sp>
    </p:spTree>
    <p:extLst>
      <p:ext uri="{BB962C8B-B14F-4D97-AF65-F5344CB8AC3E}">
        <p14:creationId xmlns:p14="http://schemas.microsoft.com/office/powerpoint/2010/main" val="37611594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 to a single 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298652" y="3429000"/>
            <a:ext cx="5346335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SINGLE_RE = “</a:t>
            </a:r>
          </a:p>
          <a:p>
            <a:r>
              <a:rPr lang="en-US" sz="2400" dirty="0">
                <a:latin typeface="Courier" pitchFamily="2" charset="0"/>
              </a:rPr>
              <a:t>       (?P&lt;LETTERS&gt;([A-Z]+)|</a:t>
            </a:r>
          </a:p>
          <a:p>
            <a:r>
              <a:rPr lang="en-US" sz="2400" dirty="0">
                <a:latin typeface="Courier" pitchFamily="2" charset="0"/>
              </a:rPr>
              <a:t>       (?P&lt;NUM&gt;([0-9]+)|</a:t>
            </a:r>
          </a:p>
          <a:p>
            <a:r>
              <a:rPr lang="en-US" sz="2400" dirty="0">
                <a:latin typeface="Courier" pitchFamily="2" charset="0"/>
              </a:rPr>
              <a:t>       (?P&lt;CLASS&gt;CSE110A)”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F45BF-15BD-E043-8BDA-FE90D2B25BCF}"/>
              </a:ext>
            </a:extLst>
          </p:cNvPr>
          <p:cNvSpPr txBox="1"/>
          <p:nvPr/>
        </p:nvSpPr>
        <p:spPr>
          <a:xfrm>
            <a:off x="7562655" y="3052002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“CSE110A”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BD922F-800F-1845-B4DE-166E9EBA8DB0}"/>
              </a:ext>
            </a:extLst>
          </p:cNvPr>
          <p:cNvSpPr txBox="1"/>
          <p:nvPr/>
        </p:nvSpPr>
        <p:spPr>
          <a:xfrm>
            <a:off x="838199" y="5416729"/>
            <a:ext cx="91267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does this mean?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Tokens should not contain prefixes of each other</a:t>
            </a:r>
          </a:p>
          <a:p>
            <a:r>
              <a:rPr lang="en-US" dirty="0"/>
              <a:t>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Tokens that share a common prefix should be ordered such that the longer token comes first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E2E126-CAFE-134F-918A-C2B8BDC71A3C}"/>
              </a:ext>
            </a:extLst>
          </p:cNvPr>
          <p:cNvSpPr txBox="1"/>
          <p:nvPr/>
        </p:nvSpPr>
        <p:spPr>
          <a:xfrm>
            <a:off x="7755467" y="4216400"/>
            <a:ext cx="26661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{”LETTERS” : “CSE”</a:t>
            </a:r>
          </a:p>
          <a:p>
            <a:r>
              <a:rPr lang="en-US" dirty="0">
                <a:latin typeface="Courier" pitchFamily="2" charset="0"/>
              </a:rPr>
              <a:t> “NUM”     : None</a:t>
            </a:r>
          </a:p>
          <a:p>
            <a:r>
              <a:rPr lang="en-US" dirty="0">
                <a:latin typeface="Courier" pitchFamily="2" charset="0"/>
              </a:rPr>
              <a:t> “CLASS”   : None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46EE0D6-D8C8-0246-B0C2-2C3387799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566" y="27781"/>
            <a:ext cx="10574868" cy="1325563"/>
          </a:xfrm>
        </p:spPr>
        <p:txBody>
          <a:bodyPr>
            <a:normAutofit/>
          </a:bodyPr>
          <a:lstStyle/>
          <a:p>
            <a:r>
              <a:rPr lang="en-US" sz="3600" dirty="0"/>
              <a:t>How to deal with common prefixes in token definitions?</a:t>
            </a:r>
          </a:p>
        </p:txBody>
      </p:sp>
    </p:spTree>
    <p:extLst>
      <p:ext uri="{BB962C8B-B14F-4D97-AF65-F5344CB8AC3E}">
        <p14:creationId xmlns:p14="http://schemas.microsoft.com/office/powerpoint/2010/main" val="15184479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1DF1-4BD5-9546-A262-C1C41DD12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06775"/>
          </a:xfrm>
        </p:spPr>
        <p:txBody>
          <a:bodyPr/>
          <a:lstStyle/>
          <a:p>
            <a:r>
              <a:rPr lang="en-US" dirty="0"/>
              <a:t>Careful with these tokens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9F045-657B-6A4A-9B6D-268BE04E60A0}"/>
              </a:ext>
            </a:extLst>
          </p:cNvPr>
          <p:cNvSpPr txBox="1"/>
          <p:nvPr/>
        </p:nvSpPr>
        <p:spPr>
          <a:xfrm>
            <a:off x="4897595" y="2954867"/>
            <a:ext cx="2396810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INCR = “++”</a:t>
            </a:r>
          </a:p>
          <a:p>
            <a:r>
              <a:rPr lang="en-US" sz="2400" dirty="0">
                <a:latin typeface="Courier" pitchFamily="2" charset="0"/>
              </a:rPr>
              <a:t>ADD  = “+”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EQ = “==“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ASSIGN = “=“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EF21BE1-9034-A344-8AA6-3F3510531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087"/>
            <a:ext cx="10574868" cy="1325563"/>
          </a:xfrm>
        </p:spPr>
        <p:txBody>
          <a:bodyPr>
            <a:normAutofit/>
          </a:bodyPr>
          <a:lstStyle/>
          <a:p>
            <a:r>
              <a:rPr lang="en-US" sz="3600" dirty="0"/>
              <a:t>How to deal with common prefixes in token definitions?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9636FF-9454-7B49-9E46-F89D98B62196}"/>
              </a:ext>
            </a:extLst>
          </p:cNvPr>
          <p:cNvSpPr txBox="1"/>
          <p:nvPr/>
        </p:nvSpPr>
        <p:spPr>
          <a:xfrm>
            <a:off x="2556934" y="5765799"/>
            <a:ext cx="7451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Ensure that you provide them in the right order so that the longer one is first!</a:t>
            </a:r>
          </a:p>
        </p:txBody>
      </p:sp>
    </p:spTree>
    <p:extLst>
      <p:ext uri="{BB962C8B-B14F-4D97-AF65-F5344CB8AC3E}">
        <p14:creationId xmlns:p14="http://schemas.microsoft.com/office/powerpoint/2010/main" val="23596406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48C39-B183-F448-9249-4C6B48D6F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NG Scanner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8F116F-4F51-0843-A2E3-2763C0244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Pros</a:t>
            </a:r>
          </a:p>
          <a:p>
            <a:pPr lvl="1"/>
            <a:r>
              <a:rPr lang="en-US" dirty="0"/>
              <a:t>FAST! Only 1 RE call per </a:t>
            </a:r>
            <a:r>
              <a:rPr lang="en-US" dirty="0">
                <a:latin typeface="Courier" pitchFamily="2" charset="0"/>
              </a:rPr>
              <a:t>token()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Requires a named group RE library</a:t>
            </a:r>
          </a:p>
          <a:p>
            <a:pPr lvl="1"/>
            <a:r>
              <a:rPr lang="en-US" dirty="0"/>
              <a:t>inter-token interactions need to be considered</a:t>
            </a:r>
          </a:p>
        </p:txBody>
      </p:sp>
    </p:spTree>
    <p:extLst>
      <p:ext uri="{BB962C8B-B14F-4D97-AF65-F5344CB8AC3E}">
        <p14:creationId xmlns:p14="http://schemas.microsoft.com/office/powerpoint/2010/main" val="18457717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4BE5C-8A6F-8240-90E7-7E933BCB4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030" y="0"/>
            <a:ext cx="10677939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Token Actions: Functions as part of a token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7FB22-8E25-F345-8868-C9B303DE8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961" y="1388649"/>
            <a:ext cx="10934700" cy="1063349"/>
          </a:xfrm>
        </p:spPr>
        <p:txBody>
          <a:bodyPr>
            <a:normAutofit/>
          </a:bodyPr>
          <a:lstStyle/>
          <a:p>
            <a:r>
              <a:rPr lang="en-US" dirty="0"/>
              <a:t>Once a token is matched, its token action is called on its lexeme, </a:t>
            </a:r>
          </a:p>
          <a:p>
            <a:r>
              <a:rPr lang="en-US" dirty="0"/>
              <a:t>lexeme is then returned from scanner.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D5A6825-624E-CE1E-0424-E0702782447A}"/>
              </a:ext>
            </a:extLst>
          </p:cNvPr>
          <p:cNvSpPr txBox="1">
            <a:spLocks/>
          </p:cNvSpPr>
          <p:nvPr/>
        </p:nvSpPr>
        <p:spPr>
          <a:xfrm>
            <a:off x="757030" y="2726773"/>
            <a:ext cx="1098368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dirty="0"/>
              <a:t>Token actions generally do three things:</a:t>
            </a:r>
            <a:endParaRPr lang="en-US" dirty="0"/>
          </a:p>
          <a:p>
            <a:pPr lvl="1"/>
            <a:r>
              <a:rPr lang="en-US" sz="3200" dirty="0"/>
              <a:t>modify a value</a:t>
            </a:r>
          </a:p>
          <a:p>
            <a:pPr lvl="2"/>
            <a:r>
              <a:rPr lang="en-US" sz="2800" dirty="0"/>
              <a:t>e.g. change a type </a:t>
            </a:r>
          </a:p>
          <a:p>
            <a:pPr lvl="1"/>
            <a:r>
              <a:rPr lang="en-US" sz="3200" dirty="0"/>
              <a:t>refine a token</a:t>
            </a:r>
          </a:p>
          <a:p>
            <a:pPr lvl="2"/>
            <a:r>
              <a:rPr lang="en-US" sz="2800" dirty="0"/>
              <a:t> e.g. ID -&gt; reserved word</a:t>
            </a:r>
          </a:p>
          <a:p>
            <a:pPr lvl="1"/>
            <a:r>
              <a:rPr lang="en-US" sz="3200" dirty="0"/>
              <a:t>modify the scanner state</a:t>
            </a:r>
          </a:p>
          <a:p>
            <a:pPr lvl="2"/>
            <a:r>
              <a:rPr lang="en-US" sz="2800" dirty="0"/>
              <a:t>e.g. return line and column number for error reporting.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138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17934</TotalTime>
  <Words>3113</Words>
  <Application>Microsoft Office PowerPoint</Application>
  <PresentationFormat>Widescreen</PresentationFormat>
  <Paragraphs>502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Andale Mono</vt:lpstr>
      <vt:lpstr>Arial</vt:lpstr>
      <vt:lpstr>Calibri</vt:lpstr>
      <vt:lpstr>Calibri Light</vt:lpstr>
      <vt:lpstr>Courier</vt:lpstr>
      <vt:lpstr>Menlo</vt:lpstr>
      <vt:lpstr>Office Theme</vt:lpstr>
      <vt:lpstr>CSE110A: Compilers </vt:lpstr>
      <vt:lpstr>Naïve Scanner</vt:lpstr>
      <vt:lpstr>Shortcomings of Naïve scanner</vt:lpstr>
      <vt:lpstr>                         Review Topic:                        Regular Expressions</vt:lpstr>
      <vt:lpstr>Using REs</vt:lpstr>
      <vt:lpstr>Using REs: Named Groups</vt:lpstr>
      <vt:lpstr>Let’s write our tokens as regular expressions</vt:lpstr>
      <vt:lpstr>RE examples</vt:lpstr>
      <vt:lpstr>     Review of RE Matchers to Build Scanner</vt:lpstr>
      <vt:lpstr>EM Scanner</vt:lpstr>
      <vt:lpstr>EM Scanner</vt:lpstr>
      <vt:lpstr>EM Scanner</vt:lpstr>
      <vt:lpstr>EM Scanner</vt:lpstr>
      <vt:lpstr>EM Scanner</vt:lpstr>
      <vt:lpstr>EM Scanner</vt:lpstr>
      <vt:lpstr>EM Scanner</vt:lpstr>
      <vt:lpstr>SOS (Start Of String) Scanner</vt:lpstr>
      <vt:lpstr>SOS Scanner</vt:lpstr>
      <vt:lpstr>SOS Scanner</vt:lpstr>
      <vt:lpstr>SOS Scanner</vt:lpstr>
      <vt:lpstr>SOS Scanner</vt:lpstr>
      <vt:lpstr>SOS Scanner</vt:lpstr>
      <vt:lpstr>SOS Scanner</vt:lpstr>
      <vt:lpstr>SOS Scanner</vt:lpstr>
      <vt:lpstr>SOS Scanner</vt:lpstr>
      <vt:lpstr>SOS Scanner</vt:lpstr>
      <vt:lpstr>SOS Scanner</vt:lpstr>
      <vt:lpstr>SOS Scanner</vt:lpstr>
      <vt:lpstr>SOS Scanner</vt:lpstr>
      <vt:lpstr>SOS Scanner</vt:lpstr>
      <vt:lpstr>SOS Scanner</vt:lpstr>
      <vt:lpstr>SOS Scanner</vt:lpstr>
      <vt:lpstr>NG (Named Group) Scanner</vt:lpstr>
      <vt:lpstr>NG Scanner</vt:lpstr>
      <vt:lpstr>NG Scanner</vt:lpstr>
      <vt:lpstr>NG Scanner</vt:lpstr>
      <vt:lpstr>NG Scanner</vt:lpstr>
      <vt:lpstr>NG Scanner</vt:lpstr>
      <vt:lpstr>NG Scanner</vt:lpstr>
      <vt:lpstr>NG Scanner</vt:lpstr>
      <vt:lpstr>How to deal with common prefixes in token definitions?</vt:lpstr>
      <vt:lpstr>How to deal with common prefixes in token definitions?</vt:lpstr>
      <vt:lpstr>How to deal with common prefixes in token definitions?</vt:lpstr>
      <vt:lpstr>How to deal with common prefixes in token definitions?</vt:lpstr>
      <vt:lpstr>How to deal with common prefixes in token definitions?</vt:lpstr>
      <vt:lpstr>How to deal with common prefixes in token definitions?</vt:lpstr>
      <vt:lpstr>NG Scanner</vt:lpstr>
      <vt:lpstr>Token Actions: Functions as part of a token definition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Tyler Sorensen</dc:creator>
  <cp:lastModifiedBy>Marcelo Siero</cp:lastModifiedBy>
  <cp:revision>212</cp:revision>
  <dcterms:created xsi:type="dcterms:W3CDTF">2021-03-23T23:59:42Z</dcterms:created>
  <dcterms:modified xsi:type="dcterms:W3CDTF">2026-03-14T08:08:53Z</dcterms:modified>
</cp:coreProperties>
</file>