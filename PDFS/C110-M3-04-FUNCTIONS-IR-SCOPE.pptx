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0"/>
  </p:notesMasterIdLst>
  <p:sldIdLst>
    <p:sldId id="257" r:id="rId2"/>
    <p:sldId id="1686" r:id="rId3"/>
    <p:sldId id="1636" r:id="rId4"/>
    <p:sldId id="1637" r:id="rId5"/>
    <p:sldId id="1638" r:id="rId6"/>
    <p:sldId id="1639" r:id="rId7"/>
    <p:sldId id="1640" r:id="rId8"/>
    <p:sldId id="1641" r:id="rId9"/>
    <p:sldId id="1643" r:id="rId10"/>
    <p:sldId id="1644" r:id="rId11"/>
    <p:sldId id="1645" r:id="rId12"/>
    <p:sldId id="1646" r:id="rId13"/>
    <p:sldId id="1647" r:id="rId14"/>
    <p:sldId id="1648" r:id="rId15"/>
    <p:sldId id="1649" r:id="rId16"/>
    <p:sldId id="1650" r:id="rId17"/>
    <p:sldId id="1687" r:id="rId18"/>
    <p:sldId id="1890" r:id="rId19"/>
    <p:sldId id="1891" r:id="rId20"/>
    <p:sldId id="1836" r:id="rId21"/>
    <p:sldId id="1837" r:id="rId22"/>
    <p:sldId id="1838" r:id="rId23"/>
    <p:sldId id="1839" r:id="rId24"/>
    <p:sldId id="1840" r:id="rId25"/>
    <p:sldId id="1841" r:id="rId26"/>
    <p:sldId id="1842" r:id="rId27"/>
    <p:sldId id="1843" r:id="rId28"/>
    <p:sldId id="1844" r:id="rId29"/>
    <p:sldId id="1845" r:id="rId30"/>
    <p:sldId id="1846" r:id="rId31"/>
    <p:sldId id="1847" r:id="rId32"/>
    <p:sldId id="1848" r:id="rId33"/>
    <p:sldId id="1849" r:id="rId34"/>
    <p:sldId id="1892" r:id="rId35"/>
    <p:sldId id="1850" r:id="rId36"/>
    <p:sldId id="1851" r:id="rId37"/>
    <p:sldId id="1852" r:id="rId38"/>
    <p:sldId id="1853" r:id="rId39"/>
    <p:sldId id="1854" r:id="rId40"/>
    <p:sldId id="1855" r:id="rId41"/>
    <p:sldId id="1856" r:id="rId42"/>
    <p:sldId id="1857" r:id="rId43"/>
    <p:sldId id="1858" r:id="rId44"/>
    <p:sldId id="1859" r:id="rId45"/>
    <p:sldId id="1860" r:id="rId46"/>
    <p:sldId id="1886" r:id="rId47"/>
    <p:sldId id="1861" r:id="rId48"/>
    <p:sldId id="1862" r:id="rId49"/>
    <p:sldId id="1863" r:id="rId50"/>
    <p:sldId id="1864" r:id="rId51"/>
    <p:sldId id="1865" r:id="rId52"/>
    <p:sldId id="1866" r:id="rId53"/>
    <p:sldId id="1867" r:id="rId54"/>
    <p:sldId id="1868" r:id="rId55"/>
    <p:sldId id="1869" r:id="rId56"/>
    <p:sldId id="1870" r:id="rId57"/>
    <p:sldId id="1871" r:id="rId58"/>
    <p:sldId id="1872" r:id="rId59"/>
    <p:sldId id="1873" r:id="rId60"/>
    <p:sldId id="1874" r:id="rId61"/>
    <p:sldId id="1875" r:id="rId62"/>
    <p:sldId id="1876" r:id="rId63"/>
    <p:sldId id="1877" r:id="rId64"/>
    <p:sldId id="1878" r:id="rId65"/>
    <p:sldId id="1879" r:id="rId66"/>
    <p:sldId id="1880" r:id="rId67"/>
    <p:sldId id="1881" r:id="rId68"/>
    <p:sldId id="1882" r:id="rId69"/>
    <p:sldId id="1883" r:id="rId70"/>
    <p:sldId id="1884" r:id="rId71"/>
    <p:sldId id="1885" r:id="rId72"/>
    <p:sldId id="1887" r:id="rId73"/>
    <p:sldId id="1775" r:id="rId74"/>
    <p:sldId id="1776" r:id="rId75"/>
    <p:sldId id="1777" r:id="rId76"/>
    <p:sldId id="1779" r:id="rId77"/>
    <p:sldId id="1780" r:id="rId78"/>
    <p:sldId id="1781" r:id="rId79"/>
    <p:sldId id="1783" r:id="rId80"/>
    <p:sldId id="1784" r:id="rId81"/>
    <p:sldId id="1785" r:id="rId82"/>
    <p:sldId id="1786" r:id="rId83"/>
    <p:sldId id="1818" r:id="rId84"/>
    <p:sldId id="1787" r:id="rId85"/>
    <p:sldId id="1788" r:id="rId86"/>
    <p:sldId id="1789" r:id="rId87"/>
    <p:sldId id="1793" r:id="rId88"/>
    <p:sldId id="1791" r:id="rId89"/>
    <p:sldId id="1819" r:id="rId90"/>
    <p:sldId id="1820" r:id="rId91"/>
    <p:sldId id="1821" r:id="rId92"/>
    <p:sldId id="1822" r:id="rId93"/>
    <p:sldId id="1823" r:id="rId94"/>
    <p:sldId id="1824" r:id="rId95"/>
    <p:sldId id="1825" r:id="rId96"/>
    <p:sldId id="1826" r:id="rId97"/>
    <p:sldId id="1827" r:id="rId98"/>
    <p:sldId id="1828" r:id="rId99"/>
    <p:sldId id="1829" r:id="rId100"/>
    <p:sldId id="1830" r:id="rId101"/>
    <p:sldId id="1831" r:id="rId102"/>
    <p:sldId id="1832" r:id="rId103"/>
    <p:sldId id="1888" r:id="rId104"/>
    <p:sldId id="1889" r:id="rId105"/>
    <p:sldId id="1893" r:id="rId106"/>
    <p:sldId id="1797" r:id="rId107"/>
    <p:sldId id="1798" r:id="rId108"/>
    <p:sldId id="1395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00"/>
    <p:restoredTop sz="96405"/>
  </p:normalViewPr>
  <p:slideViewPr>
    <p:cSldViewPr snapToGrid="0" snapToObjects="1">
      <p:cViewPr varScale="1">
        <p:scale>
          <a:sx n="61" d="100"/>
          <a:sy n="61" d="100"/>
        </p:scale>
        <p:origin x="744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82" y="37351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</a:t>
            </a:r>
          </a:p>
          <a:p>
            <a:r>
              <a:rPr lang="en-US" i="1" dirty="0"/>
              <a:t>Module 3: Intermediate representations</a:t>
            </a:r>
          </a:p>
          <a:p>
            <a:pPr lvl="1"/>
            <a:r>
              <a:rPr lang="en-US" i="1" dirty="0"/>
              <a:t>Finishing up type checking</a:t>
            </a:r>
          </a:p>
          <a:p>
            <a:pPr lvl="1"/>
            <a:r>
              <a:rPr lang="en-US" i="1" dirty="0"/>
              <a:t>Linear </a:t>
            </a:r>
            <a:r>
              <a:rPr lang="en-US" i="1" dirty="0" err="1"/>
              <a:t>Irs</a:t>
            </a:r>
            <a:r>
              <a:rPr lang="en-US" i="1" dirty="0"/>
              <a:t> : 18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9868755" y="30113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9891340" y="612988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243270" y="612988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494240" y="931005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283799" y="938302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743432" y="1260443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139294" y="1250151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697227" y="157172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764779" y="1562000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2DB500-1416-664B-BD1D-A70789932F8B}"/>
              </a:ext>
            </a:extLst>
          </p:cNvPr>
          <p:cNvSpPr/>
          <p:nvPr/>
        </p:nvSpPr>
        <p:spPr>
          <a:xfrm>
            <a:off x="8841912" y="2431091"/>
            <a:ext cx="602512" cy="4182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...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002BC6D-A4F3-7945-9BA8-DDAD5EBAD05E}"/>
              </a:ext>
            </a:extLst>
          </p:cNvPr>
          <p:cNvSpPr/>
          <p:nvPr/>
        </p:nvSpPr>
        <p:spPr>
          <a:xfrm>
            <a:off x="8261222" y="3152966"/>
            <a:ext cx="602512" cy="4182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...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166087-E008-CB41-9E49-F43BE5B52E3C}"/>
              </a:ext>
            </a:extLst>
          </p:cNvPr>
          <p:cNvSpPr/>
          <p:nvPr/>
        </p:nvSpPr>
        <p:spPr>
          <a:xfrm>
            <a:off x="9404049" y="3152966"/>
            <a:ext cx="602512" cy="4182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...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C40F58-CF90-CE41-89B9-CE8DBABC9991}"/>
              </a:ext>
            </a:extLst>
          </p:cNvPr>
          <p:cNvSpPr/>
          <p:nvPr/>
        </p:nvSpPr>
        <p:spPr>
          <a:xfrm>
            <a:off x="8801537" y="3874841"/>
            <a:ext cx="602512" cy="4182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...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5F10088-ADEF-7F4E-A316-E753418CD634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 flipH="1">
            <a:off x="8562478" y="2849305"/>
            <a:ext cx="580690" cy="30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5E5B716-F904-F04C-85D6-57BAB595954F}"/>
              </a:ext>
            </a:extLst>
          </p:cNvPr>
          <p:cNvCxnSpPr>
            <a:cxnSpLocks/>
            <a:stCxn id="4" idx="2"/>
            <a:endCxn id="26" idx="0"/>
          </p:cNvCxnSpPr>
          <p:nvPr/>
        </p:nvCxnSpPr>
        <p:spPr>
          <a:xfrm>
            <a:off x="9143168" y="2849305"/>
            <a:ext cx="562137" cy="30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CD5CE6-7944-5940-BF7F-AD6B8EF5481A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>
            <a:off x="8562478" y="3571180"/>
            <a:ext cx="540315" cy="30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9E481C4-ED00-5E48-8D57-93234F440C6A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9102793" y="3571180"/>
            <a:ext cx="602512" cy="30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BFBAFE9-DB06-D242-9A86-5A5DBAE7937A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10006561" y="2839576"/>
            <a:ext cx="277238" cy="5224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65BD84F-A29B-7844-AA4E-821E0B90D387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9444424" y="2640198"/>
            <a:ext cx="839375" cy="199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A8C64CD-6438-0642-90A2-AB2F8FAC4216}"/>
              </a:ext>
            </a:extLst>
          </p:cNvPr>
          <p:cNvSpPr txBox="1"/>
          <p:nvPr/>
        </p:nvSpPr>
        <p:spPr>
          <a:xfrm>
            <a:off x="10858582" y="30113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3111E8-20FD-9A4E-BB6A-BF339F777B74}"/>
              </a:ext>
            </a:extLst>
          </p:cNvPr>
          <p:cNvSpPr txBox="1"/>
          <p:nvPr/>
        </p:nvSpPr>
        <p:spPr>
          <a:xfrm>
            <a:off x="8063655" y="2447138"/>
            <a:ext cx="557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CFG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BA20544-E545-DB40-AE9C-D75E51A5C0A6}"/>
              </a:ext>
            </a:extLst>
          </p:cNvPr>
          <p:cNvSpPr/>
          <p:nvPr/>
        </p:nvSpPr>
        <p:spPr>
          <a:xfrm>
            <a:off x="8859121" y="4978934"/>
            <a:ext cx="3175968" cy="147732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store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i32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8080"/>
                </a:solidFill>
                <a:latin typeface="Consolas" panose="020B0609020204030204" pitchFamily="49" charset="0"/>
              </a:rPr>
              <a:t>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i32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8080"/>
                </a:solidFill>
                <a:latin typeface="Consolas" panose="020B0609020204030204" pitchFamily="49" charset="0"/>
              </a:rPr>
              <a:t>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%4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80"/>
                </a:solidFill>
                <a:latin typeface="Consolas" panose="020B0609020204030204" pitchFamily="49" charset="0"/>
              </a:rPr>
              <a:t>nsw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i32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store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i32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8080"/>
                </a:solidFill>
                <a:latin typeface="Consolas" panose="020B0609020204030204" pitchFamily="49" charset="0"/>
              </a:rPr>
              <a:t>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%5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i32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8080"/>
                </a:solidFill>
                <a:latin typeface="Consolas" panose="020B0609020204030204" pitchFamily="49" charset="0"/>
              </a:rPr>
              <a:t>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D3131"/>
                </a:solidFill>
                <a:latin typeface="Consolas" panose="020B0609020204030204" pitchFamily="49" charset="0"/>
              </a:rPr>
              <a:t>%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B2E933-E9AD-4341-9CF9-2422F61D7ABC}"/>
              </a:ext>
            </a:extLst>
          </p:cNvPr>
          <p:cNvSpPr txBox="1"/>
          <p:nvPr/>
        </p:nvSpPr>
        <p:spPr>
          <a:xfrm>
            <a:off x="10296120" y="4555260"/>
            <a:ext cx="1588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address code</a:t>
            </a:r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0AFB8-4296-35B1-3001-0F00CEFD6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9704" y="2279931"/>
            <a:ext cx="5384445" cy="1325563"/>
          </a:xfrm>
        </p:spPr>
        <p:txBody>
          <a:bodyPr>
            <a:normAutofit fontScale="90000"/>
          </a:bodyPr>
          <a:lstStyle/>
          <a:p>
            <a:r>
              <a:rPr lang="en-US" sz="8000" b="1" dirty="0"/>
              <a:t>Type Systems</a:t>
            </a:r>
          </a:p>
        </p:txBody>
      </p:sp>
    </p:spTree>
    <p:extLst>
      <p:ext uri="{BB962C8B-B14F-4D97-AF65-F5344CB8AC3E}">
        <p14:creationId xmlns:p14="http://schemas.microsoft.com/office/powerpoint/2010/main" val="3074682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624251" y="3135086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504418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401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?&gt;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5297417" y="3504418"/>
            <a:ext cx="1231523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42" idx="2"/>
          </p:cNvCxnSpPr>
          <p:nvPr/>
        </p:nvCxnSpPr>
        <p:spPr>
          <a:xfrm flipH="1" flipV="1">
            <a:off x="6528940" y="4132705"/>
            <a:ext cx="49794" cy="5368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5919418" y="4669580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int&gt;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latin typeface="Courier" pitchFamily="2" charset="0"/>
              </a:rPr>
              <a:t>float sqrt(float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</p:spTree>
    <p:extLst>
      <p:ext uri="{BB962C8B-B14F-4D97-AF65-F5344CB8AC3E}">
        <p14:creationId xmlns:p14="http://schemas.microsoft.com/office/powerpoint/2010/main" val="2882835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624251" y="3135086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504418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7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highlight>
                  <a:srgbClr val="00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5297417" y="3504418"/>
            <a:ext cx="1393169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42" idx="2"/>
          </p:cNvCxnSpPr>
          <p:nvPr/>
        </p:nvCxnSpPr>
        <p:spPr>
          <a:xfrm flipV="1">
            <a:off x="6578734" y="4132705"/>
            <a:ext cx="111852" cy="5368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5919418" y="4669580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int&gt;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highlight>
                  <a:srgbClr val="00FF00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sqrt(float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81060-0CDB-CB4D-A78C-70F62CF7F2E7}"/>
              </a:ext>
            </a:extLst>
          </p:cNvPr>
          <p:cNvSpPr txBox="1"/>
          <p:nvPr/>
        </p:nvSpPr>
        <p:spPr>
          <a:xfrm>
            <a:off x="6961299" y="2600446"/>
            <a:ext cx="25124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type of the AST node</a:t>
            </a:r>
          </a:p>
          <a:p>
            <a:r>
              <a:rPr lang="en-US" i="1" dirty="0"/>
              <a:t>becomes the return type</a:t>
            </a:r>
          </a:p>
          <a:p>
            <a:r>
              <a:rPr lang="en-US" i="1" dirty="0"/>
              <a:t>of the function</a:t>
            </a:r>
          </a:p>
        </p:txBody>
      </p:sp>
    </p:spTree>
    <p:extLst>
      <p:ext uri="{BB962C8B-B14F-4D97-AF65-F5344CB8AC3E}">
        <p14:creationId xmlns:p14="http://schemas.microsoft.com/office/powerpoint/2010/main" val="1093647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624251" y="3135086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504418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7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highlight>
                  <a:srgbClr val="00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5297417" y="3504418"/>
            <a:ext cx="1393169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42" idx="2"/>
          </p:cNvCxnSpPr>
          <p:nvPr/>
        </p:nvCxnSpPr>
        <p:spPr>
          <a:xfrm flipV="1">
            <a:off x="6578734" y="4132705"/>
            <a:ext cx="111852" cy="5368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5919418" y="4669580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int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highlight>
                  <a:srgbClr val="00FF00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sqrt(</a:t>
            </a:r>
            <a:r>
              <a:rPr lang="en-US" b="1" dirty="0">
                <a:highlight>
                  <a:srgbClr val="00FFFF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81060-0CDB-CB4D-A78C-70F62CF7F2E7}"/>
              </a:ext>
            </a:extLst>
          </p:cNvPr>
          <p:cNvSpPr txBox="1"/>
          <p:nvPr/>
        </p:nvSpPr>
        <p:spPr>
          <a:xfrm>
            <a:off x="8154833" y="3181252"/>
            <a:ext cx="30387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type inference must make sure</a:t>
            </a:r>
          </a:p>
          <a:p>
            <a:r>
              <a:rPr lang="en-US" i="1" dirty="0"/>
              <a:t>arguments match types</a:t>
            </a:r>
          </a:p>
        </p:txBody>
      </p:sp>
    </p:spTree>
    <p:extLst>
      <p:ext uri="{BB962C8B-B14F-4D97-AF65-F5344CB8AC3E}">
        <p14:creationId xmlns:p14="http://schemas.microsoft.com/office/powerpoint/2010/main" val="3718892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624251" y="3135086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504418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7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highlight>
                  <a:srgbClr val="00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5297417" y="3504418"/>
            <a:ext cx="1393169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16" idx="2"/>
          </p:cNvCxnSpPr>
          <p:nvPr/>
        </p:nvCxnSpPr>
        <p:spPr>
          <a:xfrm flipH="1" flipV="1">
            <a:off x="6830143" y="4846583"/>
            <a:ext cx="1" cy="375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6170828" y="5221719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int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highlight>
                  <a:srgbClr val="00FF00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sqrt(</a:t>
            </a:r>
            <a:r>
              <a:rPr lang="en-US" b="1" dirty="0">
                <a:highlight>
                  <a:srgbClr val="00FFFF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81060-0CDB-CB4D-A78C-70F62CF7F2E7}"/>
              </a:ext>
            </a:extLst>
          </p:cNvPr>
          <p:cNvSpPr txBox="1"/>
          <p:nvPr/>
        </p:nvSpPr>
        <p:spPr>
          <a:xfrm>
            <a:off x="8043197" y="4336275"/>
            <a:ext cx="30387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type inference must make sure</a:t>
            </a:r>
          </a:p>
          <a:p>
            <a:r>
              <a:rPr lang="en-US" i="1" dirty="0"/>
              <a:t>arguments match types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05CEFB-F2D8-224F-9AC5-408650F59579}"/>
              </a:ext>
            </a:extLst>
          </p:cNvPr>
          <p:cNvSpPr txBox="1"/>
          <p:nvPr/>
        </p:nvSpPr>
        <p:spPr>
          <a:xfrm>
            <a:off x="5725481" y="4477251"/>
            <a:ext cx="220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&lt;int2float, float&gt; 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B56865A-4D35-E541-8B3E-4AAD500C409B}"/>
              </a:ext>
            </a:extLst>
          </p:cNvPr>
          <p:cNvCxnSpPr>
            <a:cxnSpLocks/>
            <a:stCxn id="16" idx="0"/>
            <a:endCxn id="42" idx="2"/>
          </p:cNvCxnSpPr>
          <p:nvPr/>
        </p:nvCxnSpPr>
        <p:spPr>
          <a:xfrm flipH="1" flipV="1">
            <a:off x="6690586" y="4132705"/>
            <a:ext cx="139557" cy="344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748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624251" y="3135086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504418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7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highlight>
                  <a:srgbClr val="00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5297417" y="3504418"/>
            <a:ext cx="1393169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16" idx="2"/>
          </p:cNvCxnSpPr>
          <p:nvPr/>
        </p:nvCxnSpPr>
        <p:spPr>
          <a:xfrm flipH="1" flipV="1">
            <a:off x="6830143" y="4846583"/>
            <a:ext cx="1" cy="375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6170828" y="5221719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int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highlight>
                  <a:srgbClr val="00FF00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sqrt(</a:t>
            </a:r>
            <a:r>
              <a:rPr lang="en-US" b="1" dirty="0">
                <a:highlight>
                  <a:srgbClr val="00FFFF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81060-0CDB-CB4D-A78C-70F62CF7F2E7}"/>
              </a:ext>
            </a:extLst>
          </p:cNvPr>
          <p:cNvSpPr txBox="1"/>
          <p:nvPr/>
        </p:nvSpPr>
        <p:spPr>
          <a:xfrm>
            <a:off x="6760364" y="2817354"/>
            <a:ext cx="366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would type inference finish this?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05CEFB-F2D8-224F-9AC5-408650F59579}"/>
              </a:ext>
            </a:extLst>
          </p:cNvPr>
          <p:cNvSpPr txBox="1"/>
          <p:nvPr/>
        </p:nvSpPr>
        <p:spPr>
          <a:xfrm>
            <a:off x="5725481" y="4477251"/>
            <a:ext cx="220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&lt;int2float, float&gt; 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B56865A-4D35-E541-8B3E-4AAD500C409B}"/>
              </a:ext>
            </a:extLst>
          </p:cNvPr>
          <p:cNvCxnSpPr>
            <a:cxnSpLocks/>
            <a:stCxn id="16" idx="0"/>
            <a:endCxn id="42" idx="2"/>
          </p:cNvCxnSpPr>
          <p:nvPr/>
        </p:nvCxnSpPr>
        <p:spPr>
          <a:xfrm flipH="1" flipV="1">
            <a:off x="6690586" y="4132705"/>
            <a:ext cx="139557" cy="344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156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are functions handled?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740646" y="2215476"/>
            <a:ext cx="20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4353538" y="2725295"/>
            <a:ext cx="13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int&gt;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290476" y="3094627"/>
            <a:ext cx="736228" cy="6687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3625325" y="376337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int&gt;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5828427" y="3763373"/>
            <a:ext cx="17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call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highlight>
                  <a:srgbClr val="00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18" idx="2"/>
            <a:endCxn id="42" idx="0"/>
          </p:cNvCxnSpPr>
          <p:nvPr/>
        </p:nvCxnSpPr>
        <p:spPr>
          <a:xfrm>
            <a:off x="6457977" y="3419949"/>
            <a:ext cx="232609" cy="3434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16" idx="2"/>
          </p:cNvCxnSpPr>
          <p:nvPr/>
        </p:nvCxnSpPr>
        <p:spPr>
          <a:xfrm flipH="1" flipV="1">
            <a:off x="6830143" y="4846583"/>
            <a:ext cx="1" cy="375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6170828" y="5221719"/>
            <a:ext cx="13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int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AF68-0CBA-1049-B6BF-3C07C046882E}"/>
              </a:ext>
            </a:extLst>
          </p:cNvPr>
          <p:cNvSpPr txBox="1"/>
          <p:nvPr/>
        </p:nvSpPr>
        <p:spPr>
          <a:xfrm>
            <a:off x="435477" y="4781006"/>
            <a:ext cx="32475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requires a function specification,</a:t>
            </a:r>
            <a:br>
              <a:rPr lang="en-US" dirty="0"/>
            </a:br>
            <a:r>
              <a:rPr lang="en-US" dirty="0"/>
              <a:t>using in the .h file:</a:t>
            </a:r>
          </a:p>
          <a:p>
            <a:endParaRPr lang="en-US" dirty="0"/>
          </a:p>
          <a:p>
            <a:r>
              <a:rPr lang="en-US" b="1" dirty="0">
                <a:highlight>
                  <a:srgbClr val="00FF00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sqrt(</a:t>
            </a:r>
            <a:r>
              <a:rPr lang="en-US" b="1" dirty="0">
                <a:highlight>
                  <a:srgbClr val="00FFFF"/>
                </a:highlight>
                <a:latin typeface="Courier" pitchFamily="2" charset="0"/>
              </a:rPr>
              <a:t>float</a:t>
            </a:r>
            <a:r>
              <a:rPr lang="en-US" b="1" dirty="0">
                <a:latin typeface="Courier" pitchFamily="2" charset="0"/>
              </a:rPr>
              <a:t> x);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582FB-E1D4-CA4A-8C70-EFCA3B4C1736}"/>
              </a:ext>
            </a:extLst>
          </p:cNvPr>
          <p:cNvSpPr txBox="1"/>
          <p:nvPr/>
        </p:nvSpPr>
        <p:spPr>
          <a:xfrm>
            <a:off x="435477" y="6201839"/>
            <a:ext cx="1058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stored in the symbol table before type checking - think about C. you have to declare a function before you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81060-0CDB-CB4D-A78C-70F62CF7F2E7}"/>
              </a:ext>
            </a:extLst>
          </p:cNvPr>
          <p:cNvSpPr txBox="1"/>
          <p:nvPr/>
        </p:nvSpPr>
        <p:spPr>
          <a:xfrm>
            <a:off x="7345702" y="1993315"/>
            <a:ext cx="39111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would type inference finish this?</a:t>
            </a:r>
            <a:br>
              <a:rPr lang="en-US" i="1" dirty="0"/>
            </a:br>
            <a:r>
              <a:rPr lang="en-US" b="1" i="1" dirty="0"/>
              <a:t>remember that assignment converts to</a:t>
            </a:r>
            <a:br>
              <a:rPr lang="en-US" b="1" i="1" dirty="0"/>
            </a:br>
            <a:r>
              <a:rPr lang="en-US" b="1" i="1" dirty="0"/>
              <a:t>the </a:t>
            </a:r>
            <a:r>
              <a:rPr lang="en-US" b="1" i="1" dirty="0" err="1"/>
              <a:t>lhs</a:t>
            </a:r>
            <a:r>
              <a:rPr lang="en-US" b="1" i="1" dirty="0"/>
              <a:t> 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05CEFB-F2D8-224F-9AC5-408650F59579}"/>
              </a:ext>
            </a:extLst>
          </p:cNvPr>
          <p:cNvSpPr txBox="1"/>
          <p:nvPr/>
        </p:nvSpPr>
        <p:spPr>
          <a:xfrm>
            <a:off x="5725481" y="4477251"/>
            <a:ext cx="220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&lt;int2float, float&gt; 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B56865A-4D35-E541-8B3E-4AAD500C409B}"/>
              </a:ext>
            </a:extLst>
          </p:cNvPr>
          <p:cNvCxnSpPr>
            <a:cxnSpLocks/>
            <a:stCxn id="16" idx="0"/>
            <a:endCxn id="42" idx="2"/>
          </p:cNvCxnSpPr>
          <p:nvPr/>
        </p:nvCxnSpPr>
        <p:spPr>
          <a:xfrm flipH="1" flipV="1">
            <a:off x="6690586" y="4132705"/>
            <a:ext cx="139557" cy="344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848904-906E-D745-B8D0-D53561076F04}"/>
              </a:ext>
            </a:extLst>
          </p:cNvPr>
          <p:cNvSpPr txBox="1"/>
          <p:nvPr/>
        </p:nvSpPr>
        <p:spPr>
          <a:xfrm>
            <a:off x="5443885" y="3050617"/>
            <a:ext cx="202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&lt;float2int, int&gt; 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8379AE0-E2D0-B84D-96D9-9D152F965068}"/>
              </a:ext>
            </a:extLst>
          </p:cNvPr>
          <p:cNvCxnSpPr>
            <a:cxnSpLocks/>
            <a:stCxn id="3" idx="3"/>
            <a:endCxn id="18" idx="0"/>
          </p:cNvCxnSpPr>
          <p:nvPr/>
        </p:nvCxnSpPr>
        <p:spPr>
          <a:xfrm>
            <a:off x="5699869" y="2909961"/>
            <a:ext cx="758108" cy="1406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97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floats to </a:t>
            </a:r>
            <a:r>
              <a:rPr lang="en-US" dirty="0" err="1"/>
              <a:t>ints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557766" y="2387714"/>
            <a:ext cx="34619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(int input);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float x;</a:t>
            </a:r>
          </a:p>
          <a:p>
            <a:r>
              <a:rPr lang="en-US" dirty="0">
                <a:latin typeface="Courier" pitchFamily="2" charset="0"/>
              </a:rPr>
              <a:t>float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6877072" y="3161211"/>
            <a:ext cx="1527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float&gt;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633866" y="3530543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5878146" y="3789498"/>
            <a:ext cx="1511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8081248" y="3789498"/>
            <a:ext cx="1543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&lt;call, int&gt;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7640807" y="3530543"/>
            <a:ext cx="121203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42" idx="2"/>
          </p:cNvCxnSpPr>
          <p:nvPr/>
        </p:nvCxnSpPr>
        <p:spPr>
          <a:xfrm flipH="1" flipV="1">
            <a:off x="8852838" y="4158830"/>
            <a:ext cx="69286" cy="5368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8172239" y="4695705"/>
            <a:ext cx="149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25EF9-9BF7-A640-9FE6-064FC8A7A430}"/>
              </a:ext>
            </a:extLst>
          </p:cNvPr>
          <p:cNvSpPr txBox="1"/>
          <p:nvPr/>
        </p:nvSpPr>
        <p:spPr>
          <a:xfrm>
            <a:off x="557766" y="4242601"/>
            <a:ext cx="1954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Does this compile?</a:t>
            </a:r>
          </a:p>
        </p:txBody>
      </p:sp>
    </p:spTree>
    <p:extLst>
      <p:ext uri="{BB962C8B-B14F-4D97-AF65-F5344CB8AC3E}">
        <p14:creationId xmlns:p14="http://schemas.microsoft.com/office/powerpoint/2010/main" val="15243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floats to </a:t>
            </a:r>
            <a:r>
              <a:rPr lang="en-US" dirty="0" err="1"/>
              <a:t>ints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557766" y="2387714"/>
            <a:ext cx="34619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(int input);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float x;</a:t>
            </a:r>
          </a:p>
          <a:p>
            <a:r>
              <a:rPr lang="en-US" dirty="0">
                <a:latin typeface="Courier" pitchFamily="2" charset="0"/>
              </a:rPr>
              <a:t>float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6877072" y="3161211"/>
            <a:ext cx="1527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float&gt;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633866" y="3530543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5878146" y="3789498"/>
            <a:ext cx="1511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8081248" y="3789498"/>
            <a:ext cx="1543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&lt;call, int&gt;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42" idx="0"/>
          </p:cNvCxnSpPr>
          <p:nvPr/>
        </p:nvCxnSpPr>
        <p:spPr>
          <a:xfrm>
            <a:off x="7640807" y="3530543"/>
            <a:ext cx="121203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42" idx="2"/>
          </p:cNvCxnSpPr>
          <p:nvPr/>
        </p:nvCxnSpPr>
        <p:spPr>
          <a:xfrm flipH="1" flipV="1">
            <a:off x="8852838" y="4158830"/>
            <a:ext cx="69286" cy="5368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8172239" y="4695705"/>
            <a:ext cx="149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float</a:t>
            </a:r>
            <a:r>
              <a:rPr lang="en-US" dirty="0">
                <a:sym typeface="Wingdings" pitchFamily="2" charset="2"/>
              </a:rPr>
              <a:t>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25EF9-9BF7-A640-9FE6-064FC8A7A430}"/>
              </a:ext>
            </a:extLst>
          </p:cNvPr>
          <p:cNvSpPr txBox="1"/>
          <p:nvPr/>
        </p:nvSpPr>
        <p:spPr>
          <a:xfrm>
            <a:off x="557766" y="4242601"/>
            <a:ext cx="50385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Does this compile? Yes!</a:t>
            </a:r>
          </a:p>
          <a:p>
            <a:endParaRPr lang="en-US" i="1" dirty="0"/>
          </a:p>
          <a:p>
            <a:r>
              <a:rPr lang="en-US" i="1" dirty="0"/>
              <a:t>In this case the compiler will convert floats to an int.</a:t>
            </a:r>
          </a:p>
          <a:p>
            <a:r>
              <a:rPr lang="en-US" i="1" dirty="0"/>
              <a:t>Is that the right choice? ...</a:t>
            </a:r>
          </a:p>
        </p:txBody>
      </p:sp>
    </p:spTree>
    <p:extLst>
      <p:ext uri="{BB962C8B-B14F-4D97-AF65-F5344CB8AC3E}">
        <p14:creationId xmlns:p14="http://schemas.microsoft.com/office/powerpoint/2010/main" val="3990504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A43-0446-2448-932F-569170B4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floats to </a:t>
            </a:r>
            <a:r>
              <a:rPr lang="en-US" dirty="0" err="1"/>
              <a:t>ints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794031-93AA-D544-9045-FE051C4C4606}"/>
              </a:ext>
            </a:extLst>
          </p:cNvPr>
          <p:cNvSpPr txBox="1"/>
          <p:nvPr/>
        </p:nvSpPr>
        <p:spPr>
          <a:xfrm>
            <a:off x="557766" y="2387714"/>
            <a:ext cx="34619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(int input);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float x;</a:t>
            </a:r>
          </a:p>
          <a:p>
            <a:r>
              <a:rPr lang="en-US" dirty="0">
                <a:latin typeface="Courier" pitchFamily="2" charset="0"/>
              </a:rPr>
              <a:t>float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x = </a:t>
            </a:r>
            <a:r>
              <a:rPr lang="en-US" dirty="0" err="1">
                <a:latin typeface="Courier" pitchFamily="2" charset="0"/>
              </a:rPr>
              <a:t>int_sqrt</a:t>
            </a:r>
            <a:r>
              <a:rPr lang="en-US" dirty="0">
                <a:latin typeface="Courier" pitchFamily="2" charset="0"/>
              </a:rPr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1AADD-9E18-814D-99A4-3D7A958B78AA}"/>
              </a:ext>
            </a:extLst>
          </p:cNvPr>
          <p:cNvSpPr txBox="1"/>
          <p:nvPr/>
        </p:nvSpPr>
        <p:spPr>
          <a:xfrm>
            <a:off x="6877072" y="3161211"/>
            <a:ext cx="1527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&lt;=, float&gt; 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46BB5A3-5E04-0649-84B9-B4E28E9DC170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633866" y="3530543"/>
            <a:ext cx="1006941" cy="2589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02A226-A657-B940-8C2D-6881D2C6BA68}"/>
              </a:ext>
            </a:extLst>
          </p:cNvPr>
          <p:cNvSpPr txBox="1"/>
          <p:nvPr/>
        </p:nvSpPr>
        <p:spPr>
          <a:xfrm>
            <a:off x="5878146" y="3789498"/>
            <a:ext cx="1511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&lt;x, float&gt; 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5D1858-336C-4D43-AF2E-0F657429C039}"/>
              </a:ext>
            </a:extLst>
          </p:cNvPr>
          <p:cNvSpPr txBox="1"/>
          <p:nvPr/>
        </p:nvSpPr>
        <p:spPr>
          <a:xfrm>
            <a:off x="8081248" y="4221317"/>
            <a:ext cx="1543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&lt;call, int&gt; 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C53865F-2515-744C-A329-2136C094FA95}"/>
              </a:ext>
            </a:extLst>
          </p:cNvPr>
          <p:cNvCxnSpPr>
            <a:cxnSpLocks/>
            <a:stCxn id="3" idx="2"/>
            <a:endCxn id="24" idx="0"/>
          </p:cNvCxnSpPr>
          <p:nvPr/>
        </p:nvCxnSpPr>
        <p:spPr>
          <a:xfrm>
            <a:off x="7640807" y="3530543"/>
            <a:ext cx="1212030" cy="189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280A30-E0A5-BA4B-B2E9-FDC5D7CC100C}"/>
              </a:ext>
            </a:extLst>
          </p:cNvPr>
          <p:cNvCxnSpPr>
            <a:cxnSpLocks/>
            <a:stCxn id="45" idx="0"/>
            <a:endCxn id="13" idx="2"/>
          </p:cNvCxnSpPr>
          <p:nvPr/>
        </p:nvCxnSpPr>
        <p:spPr>
          <a:xfrm flipV="1">
            <a:off x="8874542" y="5239478"/>
            <a:ext cx="0" cy="27949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5AD73B-002C-214C-A6F6-77DBB2E3EBC5}"/>
              </a:ext>
            </a:extLst>
          </p:cNvPr>
          <p:cNvSpPr txBox="1"/>
          <p:nvPr/>
        </p:nvSpPr>
        <p:spPr>
          <a:xfrm>
            <a:off x="8124657" y="5518976"/>
            <a:ext cx="149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en-US" dirty="0">
                <a:sym typeface="Wingdings" pitchFamily="2" charset="2"/>
              </a:rPr>
              <a:t> &lt;y, float&gt;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25EF9-9BF7-A640-9FE6-064FC8A7A430}"/>
              </a:ext>
            </a:extLst>
          </p:cNvPr>
          <p:cNvSpPr txBox="1"/>
          <p:nvPr/>
        </p:nvSpPr>
        <p:spPr>
          <a:xfrm>
            <a:off x="557766" y="4242601"/>
            <a:ext cx="50385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Does this compile? Yes!</a:t>
            </a:r>
          </a:p>
          <a:p>
            <a:endParaRPr lang="en-US" i="1" dirty="0"/>
          </a:p>
          <a:p>
            <a:r>
              <a:rPr lang="en-US" i="1" dirty="0"/>
              <a:t>In this case the compiler will convert floats to an int.</a:t>
            </a:r>
          </a:p>
          <a:p>
            <a:r>
              <a:rPr lang="en-US" i="1" dirty="0"/>
              <a:t>Is that the right choice? ...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93D373-1F3B-4540-9843-9F92CB16443C}"/>
              </a:ext>
            </a:extLst>
          </p:cNvPr>
          <p:cNvSpPr txBox="1"/>
          <p:nvPr/>
        </p:nvSpPr>
        <p:spPr>
          <a:xfrm>
            <a:off x="7860450" y="4870146"/>
            <a:ext cx="202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&lt;float2int, int&gt; </a:t>
            </a:r>
            <a:endParaRPr lang="en-US" dirty="0">
              <a:highlight>
                <a:srgbClr val="FFFF00"/>
              </a:highlight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2962AB-046E-994E-A74D-B782AEC52512}"/>
              </a:ext>
            </a:extLst>
          </p:cNvPr>
          <p:cNvCxnSpPr>
            <a:cxnSpLocks/>
            <a:stCxn id="13" idx="0"/>
            <a:endCxn id="42" idx="2"/>
          </p:cNvCxnSpPr>
          <p:nvPr/>
        </p:nvCxnSpPr>
        <p:spPr>
          <a:xfrm flipH="1" flipV="1">
            <a:off x="8852838" y="4590649"/>
            <a:ext cx="21704" cy="2794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3253064-5352-1D4E-8841-434438C85282}"/>
              </a:ext>
            </a:extLst>
          </p:cNvPr>
          <p:cNvSpPr txBox="1"/>
          <p:nvPr/>
        </p:nvSpPr>
        <p:spPr>
          <a:xfrm>
            <a:off x="7748175" y="3720206"/>
            <a:ext cx="220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&lt;int2float, float&gt; </a:t>
            </a:r>
            <a:endParaRPr lang="en-US" dirty="0">
              <a:highlight>
                <a:srgbClr val="FFFF00"/>
              </a:highlight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752DE27-6183-7848-BBF6-CFC547CA8B9D}"/>
              </a:ext>
            </a:extLst>
          </p:cNvPr>
          <p:cNvCxnSpPr>
            <a:cxnSpLocks/>
            <a:stCxn id="42" idx="0"/>
            <a:endCxn id="24" idx="2"/>
          </p:cNvCxnSpPr>
          <p:nvPr/>
        </p:nvCxnSpPr>
        <p:spPr>
          <a:xfrm flipH="1" flipV="1">
            <a:off x="8852837" y="4089538"/>
            <a:ext cx="1" cy="131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136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1BFB-D3E7-6B4A-9AB0-DDDAE11F6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CB84D-D6B4-2F4B-9AF5-982C652BD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languages (and styles) state that the programmer extends the type system through functions</a:t>
            </a:r>
          </a:p>
          <a:p>
            <a:endParaRPr lang="en-US" dirty="0"/>
          </a:p>
          <a:p>
            <a:r>
              <a:rPr lang="en-US" dirty="0"/>
              <a:t>Other languages allow operator overloading</a:t>
            </a:r>
          </a:p>
          <a:p>
            <a:pPr lvl="1"/>
            <a:r>
              <a:rPr lang="en-US" dirty="0"/>
              <a:t>Controversial design pattern</a:t>
            </a:r>
          </a:p>
          <a:p>
            <a:pPr lvl="1"/>
            <a:r>
              <a:rPr lang="en-US" dirty="0"/>
              <a:t>But it can be really nice (e.g. it is used extensively in LLVM internals) </a:t>
            </a:r>
          </a:p>
        </p:txBody>
      </p:sp>
    </p:spTree>
    <p:extLst>
      <p:ext uri="{BB962C8B-B14F-4D97-AF65-F5344CB8AC3E}">
        <p14:creationId xmlns:p14="http://schemas.microsoft.com/office/powerpoint/2010/main" val="1149082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E29270-D69F-6546-98C2-3D4C20F8E2C9}"/>
              </a:ext>
            </a:extLst>
          </p:cNvPr>
          <p:cNvSpPr/>
          <p:nvPr/>
        </p:nvSpPr>
        <p:spPr>
          <a:xfrm>
            <a:off x="383178" y="1127993"/>
            <a:ext cx="5965372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Constructor to initialize real and </a:t>
            </a:r>
            <a:r>
              <a:rPr lang="en-US" sz="1400" dirty="0" err="1">
                <a:solidFill>
                  <a:srgbClr val="B42419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 to 0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() : real(0),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(0) {}</a:t>
            </a:r>
          </a:p>
          <a:p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Overload the + operator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operator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+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&amp;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obj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      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temp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real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      return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temp;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208194-12B5-9B47-B656-BBA954DE963F}"/>
              </a:ext>
            </a:extLst>
          </p:cNvPr>
          <p:cNvSpPr/>
          <p:nvPr/>
        </p:nvSpPr>
        <p:spPr>
          <a:xfrm>
            <a:off x="226422" y="6345424"/>
            <a:ext cx="77941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code from: https://</a:t>
            </a:r>
            <a:r>
              <a:rPr lang="en-US" sz="1400" dirty="0" err="1"/>
              <a:t>www.programiz.com</a:t>
            </a:r>
            <a:r>
              <a:rPr lang="en-US" sz="1400" dirty="0"/>
              <a:t>/</a:t>
            </a:r>
            <a:r>
              <a:rPr lang="en-US" sz="1400" dirty="0" err="1"/>
              <a:t>cpp</a:t>
            </a:r>
            <a:r>
              <a:rPr lang="en-US" sz="1400" dirty="0"/>
              <a:t>-programming/operator-overloading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650CC178-A0D0-CD4F-9BD1-7F65DE3E5449}"/>
              </a:ext>
            </a:extLst>
          </p:cNvPr>
          <p:cNvGraphicFramePr>
            <a:graphicFrameLocks noGrp="1"/>
          </p:cNvGraphicFramePr>
          <p:nvPr/>
        </p:nvGraphicFramePr>
        <p:xfrm>
          <a:off x="6609501" y="1506573"/>
          <a:ext cx="5199321" cy="2595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76275">
                  <a:extLst>
                    <a:ext uri="{9D8B030D-6E8A-4147-A177-3AD203B41FA5}">
                      <a16:colId xmlns:a16="http://schemas.microsoft.com/office/drawing/2014/main" val="1084029198"/>
                    </a:ext>
                  </a:extLst>
                </a:gridCol>
                <a:gridCol w="1390205">
                  <a:extLst>
                    <a:ext uri="{9D8B030D-6E8A-4147-A177-3AD203B41FA5}">
                      <a16:colId xmlns:a16="http://schemas.microsoft.com/office/drawing/2014/main" val="612780071"/>
                    </a:ext>
                  </a:extLst>
                </a:gridCol>
                <a:gridCol w="2532841">
                  <a:extLst>
                    <a:ext uri="{9D8B030D-6E8A-4147-A177-3AD203B41FA5}">
                      <a16:colId xmlns:a16="http://schemas.microsoft.com/office/drawing/2014/main" val="2089903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left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right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1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865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798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795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268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0907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8E1C3AB-45E1-0342-8840-74464C448A84}"/>
              </a:ext>
            </a:extLst>
          </p:cNvPr>
          <p:cNvSpPr txBox="1"/>
          <p:nvPr/>
        </p:nvSpPr>
        <p:spPr>
          <a:xfrm>
            <a:off x="6609501" y="1049616"/>
            <a:ext cx="2470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for </a:t>
            </a:r>
            <a:r>
              <a:rPr lang="en-US" b="1" i="1" dirty="0"/>
              <a:t>plus</a:t>
            </a:r>
            <a:r>
              <a:rPr lang="en-US" dirty="0"/>
              <a:t> binary ops</a:t>
            </a:r>
          </a:p>
        </p:txBody>
      </p:sp>
    </p:spTree>
    <p:extLst>
      <p:ext uri="{BB962C8B-B14F-4D97-AF65-F5344CB8AC3E}">
        <p14:creationId xmlns:p14="http://schemas.microsoft.com/office/powerpoint/2010/main" val="3245328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E29270-D69F-6546-98C2-3D4C20F8E2C9}"/>
              </a:ext>
            </a:extLst>
          </p:cNvPr>
          <p:cNvSpPr/>
          <p:nvPr/>
        </p:nvSpPr>
        <p:spPr>
          <a:xfrm>
            <a:off x="383178" y="1127993"/>
            <a:ext cx="5965372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Constructor to initialize real and </a:t>
            </a:r>
            <a:r>
              <a:rPr lang="en-US" sz="1400" dirty="0" err="1">
                <a:solidFill>
                  <a:srgbClr val="B42419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 to 0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() : real(0),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(0) {}</a:t>
            </a:r>
          </a:p>
          <a:p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Overload the + operator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operator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+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&amp;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obj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      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temp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real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      return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temp;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208194-12B5-9B47-B656-BBA954DE963F}"/>
              </a:ext>
            </a:extLst>
          </p:cNvPr>
          <p:cNvSpPr/>
          <p:nvPr/>
        </p:nvSpPr>
        <p:spPr>
          <a:xfrm>
            <a:off x="226422" y="6345424"/>
            <a:ext cx="77941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code from: https://</a:t>
            </a:r>
            <a:r>
              <a:rPr lang="en-US" sz="1400" dirty="0" err="1"/>
              <a:t>www.programiz.com</a:t>
            </a:r>
            <a:r>
              <a:rPr lang="en-US" sz="1400" dirty="0"/>
              <a:t>/</a:t>
            </a:r>
            <a:r>
              <a:rPr lang="en-US" sz="1400" dirty="0" err="1"/>
              <a:t>cpp</a:t>
            </a:r>
            <a:r>
              <a:rPr lang="en-US" sz="1400" dirty="0"/>
              <a:t>-programming/operator-overloading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650CC178-A0D0-CD4F-9BD1-7F65DE3E5449}"/>
              </a:ext>
            </a:extLst>
          </p:cNvPr>
          <p:cNvGraphicFramePr>
            <a:graphicFrameLocks noGrp="1"/>
          </p:cNvGraphicFramePr>
          <p:nvPr/>
        </p:nvGraphicFramePr>
        <p:xfrm>
          <a:off x="6609501" y="1506573"/>
          <a:ext cx="5199321" cy="2595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76275">
                  <a:extLst>
                    <a:ext uri="{9D8B030D-6E8A-4147-A177-3AD203B41FA5}">
                      <a16:colId xmlns:a16="http://schemas.microsoft.com/office/drawing/2014/main" val="1084029198"/>
                    </a:ext>
                  </a:extLst>
                </a:gridCol>
                <a:gridCol w="1390205">
                  <a:extLst>
                    <a:ext uri="{9D8B030D-6E8A-4147-A177-3AD203B41FA5}">
                      <a16:colId xmlns:a16="http://schemas.microsoft.com/office/drawing/2014/main" val="612780071"/>
                    </a:ext>
                  </a:extLst>
                </a:gridCol>
                <a:gridCol w="2532841">
                  <a:extLst>
                    <a:ext uri="{9D8B030D-6E8A-4147-A177-3AD203B41FA5}">
                      <a16:colId xmlns:a16="http://schemas.microsoft.com/office/drawing/2014/main" val="2089903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left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right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1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865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798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795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268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0907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8E1C3AB-45E1-0342-8840-74464C448A84}"/>
              </a:ext>
            </a:extLst>
          </p:cNvPr>
          <p:cNvSpPr txBox="1"/>
          <p:nvPr/>
        </p:nvSpPr>
        <p:spPr>
          <a:xfrm>
            <a:off x="6609501" y="1049616"/>
            <a:ext cx="2470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for </a:t>
            </a:r>
            <a:r>
              <a:rPr lang="en-US" b="1" i="1" dirty="0"/>
              <a:t>plus</a:t>
            </a:r>
            <a:r>
              <a:rPr lang="en-US" dirty="0"/>
              <a:t> binary ops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FA35F-0324-8A45-B299-F20481F2DADA}"/>
              </a:ext>
            </a:extLst>
          </p:cNvPr>
          <p:cNvSpPr/>
          <p:nvPr/>
        </p:nvSpPr>
        <p:spPr>
          <a:xfrm>
            <a:off x="766354" y="4619357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operator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+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&amp;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temp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real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temp;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8923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E29270-D69F-6546-98C2-3D4C20F8E2C9}"/>
              </a:ext>
            </a:extLst>
          </p:cNvPr>
          <p:cNvSpPr/>
          <p:nvPr/>
        </p:nvSpPr>
        <p:spPr>
          <a:xfrm>
            <a:off x="383178" y="1127993"/>
            <a:ext cx="5965372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private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public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Constructor to initialize real and </a:t>
            </a:r>
            <a:r>
              <a:rPr lang="en-US" sz="1400" dirty="0" err="1">
                <a:solidFill>
                  <a:srgbClr val="B42419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 to 0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() : real(0),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(0) {}</a:t>
            </a:r>
          </a:p>
          <a:p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B42419"/>
                </a:solidFill>
                <a:latin typeface="Menlo" panose="020B0609030804020204" pitchFamily="49" charset="0"/>
              </a:rPr>
              <a:t>// Overload the + operator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operator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+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&amp;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obj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      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temp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real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 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obj.imag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      return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temp;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208194-12B5-9B47-B656-BBA954DE963F}"/>
              </a:ext>
            </a:extLst>
          </p:cNvPr>
          <p:cNvSpPr/>
          <p:nvPr/>
        </p:nvSpPr>
        <p:spPr>
          <a:xfrm>
            <a:off x="226422" y="6345424"/>
            <a:ext cx="77941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code from: https://</a:t>
            </a:r>
            <a:r>
              <a:rPr lang="en-US" sz="1400" dirty="0" err="1"/>
              <a:t>www.programiz.com</a:t>
            </a:r>
            <a:r>
              <a:rPr lang="en-US" sz="1400" dirty="0"/>
              <a:t>/</a:t>
            </a:r>
            <a:r>
              <a:rPr lang="en-US" sz="1400" dirty="0" err="1"/>
              <a:t>cpp</a:t>
            </a:r>
            <a:r>
              <a:rPr lang="en-US" sz="1400" dirty="0"/>
              <a:t>-programming/operator-overloading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650CC178-A0D0-CD4F-9BD1-7F65DE3E5449}"/>
              </a:ext>
            </a:extLst>
          </p:cNvPr>
          <p:cNvGraphicFramePr>
            <a:graphicFrameLocks noGrp="1"/>
          </p:cNvGraphicFramePr>
          <p:nvPr/>
        </p:nvGraphicFramePr>
        <p:xfrm>
          <a:off x="6609501" y="1506573"/>
          <a:ext cx="5199321" cy="2595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76275">
                  <a:extLst>
                    <a:ext uri="{9D8B030D-6E8A-4147-A177-3AD203B41FA5}">
                      <a16:colId xmlns:a16="http://schemas.microsoft.com/office/drawing/2014/main" val="1084029198"/>
                    </a:ext>
                  </a:extLst>
                </a:gridCol>
                <a:gridCol w="1390205">
                  <a:extLst>
                    <a:ext uri="{9D8B030D-6E8A-4147-A177-3AD203B41FA5}">
                      <a16:colId xmlns:a16="http://schemas.microsoft.com/office/drawing/2014/main" val="612780071"/>
                    </a:ext>
                  </a:extLst>
                </a:gridCol>
                <a:gridCol w="2532841">
                  <a:extLst>
                    <a:ext uri="{9D8B030D-6E8A-4147-A177-3AD203B41FA5}">
                      <a16:colId xmlns:a16="http://schemas.microsoft.com/office/drawing/2014/main" val="2089903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left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right 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1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865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5798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795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268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Complex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0907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8E1C3AB-45E1-0342-8840-74464C448A84}"/>
              </a:ext>
            </a:extLst>
          </p:cNvPr>
          <p:cNvSpPr txBox="1"/>
          <p:nvPr/>
        </p:nvSpPr>
        <p:spPr>
          <a:xfrm>
            <a:off x="6609501" y="1049616"/>
            <a:ext cx="2470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for </a:t>
            </a:r>
            <a:r>
              <a:rPr lang="en-US" b="1" i="1" dirty="0"/>
              <a:t>plus</a:t>
            </a:r>
            <a:r>
              <a:rPr lang="en-US" dirty="0"/>
              <a:t> binary ops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FA35F-0324-8A45-B299-F20481F2DADA}"/>
              </a:ext>
            </a:extLst>
          </p:cNvPr>
          <p:cNvSpPr/>
          <p:nvPr/>
        </p:nvSpPr>
        <p:spPr>
          <a:xfrm>
            <a:off x="766354" y="4619357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operator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b="1" dirty="0">
                <a:solidFill>
                  <a:srgbClr val="400BD9"/>
                </a:solidFill>
                <a:latin typeface="Menlo" panose="020B0609030804020204" pitchFamily="49" charset="0"/>
              </a:rPr>
              <a:t>+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&amp; </a:t>
            </a:r>
            <a:r>
              <a:rPr lang="en-US" sz="1400" dirty="0" err="1">
                <a:solidFill>
                  <a:srgbClr val="9FA01C"/>
                </a:solidFill>
                <a:latin typeface="Menlo" panose="020B060903080402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  <a:endParaRPr lang="en-US" sz="1400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>
                <a:solidFill>
                  <a:srgbClr val="2FB41D"/>
                </a:solidFill>
                <a:latin typeface="Menlo" panose="020B0609030804020204" pitchFamily="49" charset="0"/>
              </a:rPr>
              <a:t>Complex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400" dirty="0">
                <a:solidFill>
                  <a:srgbClr val="9FA01C"/>
                </a:solidFill>
                <a:latin typeface="Menlo" panose="020B0609030804020204" pitchFamily="49" charset="0"/>
              </a:rPr>
              <a:t>temp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sz="1400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temp.real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real +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temp.imag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sz="1400" dirty="0" err="1">
                <a:solidFill>
                  <a:srgbClr val="000000"/>
                </a:solidFill>
                <a:latin typeface="Menlo" panose="020B0609030804020204" pitchFamily="49" charset="0"/>
              </a:rPr>
              <a:t>imag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4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temp;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  <a:endParaRPr lang="en-US" sz="1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60DE0-551E-8B47-84F3-91CB727A1F71}"/>
              </a:ext>
            </a:extLst>
          </p:cNvPr>
          <p:cNvSpPr txBox="1"/>
          <p:nvPr/>
        </p:nvSpPr>
        <p:spPr>
          <a:xfrm>
            <a:off x="5528404" y="5450354"/>
            <a:ext cx="2316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We can add extra rows</a:t>
            </a:r>
          </a:p>
        </p:txBody>
      </p:sp>
    </p:spTree>
    <p:extLst>
      <p:ext uri="{BB962C8B-B14F-4D97-AF65-F5344CB8AC3E}">
        <p14:creationId xmlns:p14="http://schemas.microsoft.com/office/powerpoint/2010/main" val="698802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systems finished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B292D-E245-1B41-AF72-01EB06F68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2577" cy="4351338"/>
          </a:xfrm>
        </p:spPr>
        <p:txBody>
          <a:bodyPr/>
          <a:lstStyle/>
          <a:p>
            <a:r>
              <a:rPr lang="en-US" dirty="0"/>
              <a:t>Defined what a type system is and discussed various different design decisions</a:t>
            </a:r>
          </a:p>
          <a:p>
            <a:pPr lvl="1"/>
            <a:r>
              <a:rPr lang="en-US" dirty="0"/>
              <a:t>static vs. dynamic, choice of primitive types, size of primitive types</a:t>
            </a:r>
          </a:p>
          <a:p>
            <a:r>
              <a:rPr lang="en-US" dirty="0"/>
              <a:t>Implemented type inference parameterized by type conversion tables on an AST. </a:t>
            </a:r>
          </a:p>
          <a:p>
            <a:pPr lvl="1"/>
            <a:r>
              <a:rPr lang="en-US" dirty="0"/>
              <a:t>identified common conversions (int to float) and when the opposite can happen</a:t>
            </a:r>
          </a:p>
          <a:p>
            <a:r>
              <a:rPr lang="en-US" dirty="0"/>
              <a:t>Discussed how programmers can extend the type system </a:t>
            </a:r>
          </a:p>
          <a:p>
            <a:pPr lvl="1"/>
            <a:r>
              <a:rPr lang="en-US" dirty="0"/>
              <a:t>function calls</a:t>
            </a:r>
          </a:p>
          <a:p>
            <a:pPr lvl="1"/>
            <a:r>
              <a:rPr lang="en-US" dirty="0"/>
              <a:t>operator overloading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930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C107F-E9CF-0B00-A559-53C5301F1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5580" y="2468245"/>
            <a:ext cx="9484360" cy="1325563"/>
          </a:xfrm>
        </p:spPr>
        <p:txBody>
          <a:bodyPr/>
          <a:lstStyle/>
          <a:p>
            <a:r>
              <a:rPr lang="en-US" sz="6000" b="1" dirty="0"/>
              <a:t>Intermediate Representations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04927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AF755-B7DD-91AD-A3C8-B75DA1750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35A4A-72F5-992B-8310-D4D8EE5E4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363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Our next challenge, IR: 3 address code or linear 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C0669-B446-3552-3F23-E9079F695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557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We will specify our own that we will use in this class</a:t>
            </a:r>
          </a:p>
          <a:p>
            <a:pPr lvl="1"/>
            <a:r>
              <a:rPr lang="en-US" dirty="0"/>
              <a:t>Will be used in the next </a:t>
            </a:r>
            <a:r>
              <a:rPr lang="en-US" dirty="0" err="1"/>
              <a:t>homeworks</a:t>
            </a:r>
            <a:endParaRPr lang="en-US" dirty="0"/>
          </a:p>
          <a:p>
            <a:endParaRPr lang="en-US" dirty="0"/>
          </a:p>
          <a:p>
            <a:r>
              <a:rPr lang="en-US" dirty="0"/>
              <a:t>Similar to assembly </a:t>
            </a:r>
          </a:p>
          <a:p>
            <a:pPr lvl="1"/>
            <a:r>
              <a:rPr lang="en-US" dirty="0"/>
              <a:t>Untyped</a:t>
            </a:r>
          </a:p>
          <a:p>
            <a:pPr lvl="1"/>
            <a:r>
              <a:rPr lang="en-US" dirty="0"/>
              <a:t>Specialized operations for each type</a:t>
            </a:r>
          </a:p>
          <a:p>
            <a:pPr lvl="1"/>
            <a:endParaRPr lang="en-US" dirty="0"/>
          </a:p>
          <a:p>
            <a:r>
              <a:rPr lang="en-US" dirty="0"/>
              <a:t>Similar to typical IRs (e.g. LLVM)</a:t>
            </a:r>
          </a:p>
          <a:p>
            <a:pPr lvl="1"/>
            <a:r>
              <a:rPr lang="en-US" dirty="0"/>
              <a:t>Unlimited virtual registers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Patterned after RISC Machines, i.e. Load/Store, 3-address reg to reg Ops.</a:t>
            </a:r>
          </a:p>
        </p:txBody>
      </p:sp>
    </p:spTree>
    <p:extLst>
      <p:ext uri="{BB962C8B-B14F-4D97-AF65-F5344CB8AC3E}">
        <p14:creationId xmlns:p14="http://schemas.microsoft.com/office/powerpoint/2010/main" val="213899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9F8A3-4FF3-8049-0FBF-C3EC9FDA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92054-9AC7-1F56-5D67-A5E36BF0D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7882"/>
            <a:ext cx="10515600" cy="258830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LES US SET DOWN SOME </a:t>
            </a:r>
            <a:br>
              <a:rPr lang="en-US" dirty="0"/>
            </a:br>
            <a:r>
              <a:rPr lang="en-US" dirty="0"/>
              <a:t>RULES FOR OUR IR</a:t>
            </a:r>
          </a:p>
        </p:txBody>
      </p:sp>
    </p:spTree>
    <p:extLst>
      <p:ext uri="{BB962C8B-B14F-4D97-AF65-F5344CB8AC3E}">
        <p14:creationId xmlns:p14="http://schemas.microsoft.com/office/powerpoint/2010/main" val="19763916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Class-IR: The Players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Inputs/outputs (IO): </a:t>
            </a:r>
            <a:r>
              <a:rPr lang="en-US" dirty="0"/>
              <a:t>32-bit typed inputs</a:t>
            </a:r>
          </a:p>
          <a:p>
            <a:pPr marL="0" indent="0">
              <a:buNone/>
            </a:pPr>
            <a:r>
              <a:rPr lang="en-US" dirty="0"/>
              <a:t>e.g.: </a:t>
            </a:r>
            <a:r>
              <a:rPr lang="en-US" dirty="0">
                <a:latin typeface="Courier" pitchFamily="2" charset="0"/>
              </a:rPr>
              <a:t>int x, int y, float z   </a:t>
            </a:r>
            <a:r>
              <a:rPr lang="en-US" sz="2000" dirty="0">
                <a:latin typeface="Courier" pitchFamily="2" charset="0"/>
              </a:rPr>
              <a:t>// e.g. params to a function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Program Variables (Variables): </a:t>
            </a:r>
            <a:r>
              <a:rPr lang="en-US" dirty="0"/>
              <a:t>32-bit untyped virtual register</a:t>
            </a:r>
          </a:p>
          <a:p>
            <a:pPr marL="0" indent="0">
              <a:buNone/>
            </a:pPr>
            <a:r>
              <a:rPr lang="en-US" dirty="0"/>
              <a:t>given as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/>
              <a:t> where </a:t>
            </a:r>
            <a:r>
              <a:rPr lang="en-US" dirty="0">
                <a:latin typeface="Courier" pitchFamily="2" charset="0"/>
              </a:rPr>
              <a:t>X</a:t>
            </a:r>
            <a:r>
              <a:rPr lang="en-US" dirty="0"/>
              <a:t> is an integer:</a:t>
            </a:r>
          </a:p>
          <a:p>
            <a:pPr marL="0" indent="0">
              <a:buNone/>
            </a:pPr>
            <a:r>
              <a:rPr lang="en-US" dirty="0"/>
              <a:t>e.g. </a:t>
            </a:r>
            <a:r>
              <a:rPr lang="en-US" dirty="0">
                <a:latin typeface="Courier" pitchFamily="2" charset="0"/>
              </a:rPr>
              <a:t>vr0, vr1, vr2, vr3 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Constants (float or </a:t>
            </a:r>
            <a:r>
              <a:rPr lang="en-US" b="1" dirty="0" err="1"/>
              <a:t>ints</a:t>
            </a:r>
            <a:r>
              <a:rPr lang="en-US" b="1" dirty="0"/>
              <a:t>):  </a:t>
            </a:r>
            <a:r>
              <a:rPr lang="en-US" dirty="0"/>
              <a:t>e.g.   3.5,  3e5,  6, 1024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assume input/output names are disjoint from virtual register names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387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binary operators</a:t>
            </a:r>
            <a:r>
              <a:rPr lang="en-US" dirty="0"/>
              <a:t>: 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operation(op0, op1);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operations can be one of these: 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[add, sub, </a:t>
            </a:r>
            <a:r>
              <a:rPr lang="en-US" dirty="0" err="1">
                <a:latin typeface="Courier" pitchFamily="2" charset="0"/>
              </a:rPr>
              <a:t>mult</a:t>
            </a:r>
            <a:r>
              <a:rPr lang="en-US" dirty="0">
                <a:latin typeface="Courier" pitchFamily="2" charset="0"/>
              </a:rPr>
              <a:t>, div, eq, </a:t>
            </a:r>
            <a:r>
              <a:rPr lang="en-US" dirty="0" err="1">
                <a:latin typeface="Courier" pitchFamily="2" charset="0"/>
              </a:rPr>
              <a:t>lt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each operation is followed by an “</a:t>
            </a:r>
            <a:r>
              <a:rPr lang="en-US" dirty="0" err="1">
                <a:latin typeface="Courier" pitchFamily="2" charset="0"/>
              </a:rPr>
              <a:t>i</a:t>
            </a:r>
            <a:r>
              <a:rPr lang="en-US" dirty="0">
                <a:latin typeface="Courier" pitchFamily="2" charset="0"/>
              </a:rPr>
              <a:t>” or “f”, which specifies how the bits in the registers are interpreted, </a:t>
            </a:r>
            <a:r>
              <a:rPr lang="en-US" dirty="0" err="1">
                <a:latin typeface="Courier" pitchFamily="2" charset="0"/>
              </a:rPr>
              <a:t>eg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latin typeface="Courier" pitchFamily="2" charset="0"/>
              </a:rPr>
              <a:t>multi</a:t>
            </a:r>
            <a:r>
              <a:rPr lang="en-US" dirty="0">
                <a:latin typeface="Courier" pitchFamily="2" charset="0"/>
              </a:rPr>
              <a:t> for integers, </a:t>
            </a:r>
            <a:r>
              <a:rPr lang="en-US" b="1" dirty="0" err="1">
                <a:latin typeface="Courier" pitchFamily="2" charset="0"/>
              </a:rPr>
              <a:t>multf</a:t>
            </a:r>
            <a:r>
              <a:rPr lang="en-US" dirty="0">
                <a:latin typeface="Courier" pitchFamily="2" charset="0"/>
              </a:rPr>
              <a:t> for floating point.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000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binary operators</a:t>
            </a:r>
            <a:r>
              <a:rPr lang="en-US" dirty="0"/>
              <a:t>: 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operation(op0, op1);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operations can be one of: 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[add, sub, </a:t>
            </a:r>
            <a:r>
              <a:rPr lang="en-US" dirty="0" err="1">
                <a:latin typeface="Courier" pitchFamily="2" charset="0"/>
              </a:rPr>
              <a:t>mult</a:t>
            </a:r>
            <a:r>
              <a:rPr lang="en-US" dirty="0">
                <a:latin typeface="Courier" pitchFamily="2" charset="0"/>
              </a:rPr>
              <a:t>, div, eq, </a:t>
            </a:r>
            <a:r>
              <a:rPr lang="en-US" dirty="0" err="1">
                <a:latin typeface="Courier" pitchFamily="2" charset="0"/>
              </a:rPr>
              <a:t>lt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i="1" dirty="0">
                <a:latin typeface="Courier" pitchFamily="2" charset="0"/>
              </a:rPr>
              <a:t>all of </a:t>
            </a:r>
            <a:r>
              <a:rPr lang="en-US" i="1" dirty="0" err="1">
                <a:highlight>
                  <a:srgbClr val="FFFF00"/>
                </a:highlight>
                <a:latin typeface="Courier" pitchFamily="2" charset="0"/>
              </a:rPr>
              <a:t>dst</a:t>
            </a:r>
            <a:r>
              <a:rPr lang="en-US" i="1" dirty="0">
                <a:highlight>
                  <a:srgbClr val="FFFF00"/>
                </a:highlight>
                <a:latin typeface="Courier" pitchFamily="2" charset="0"/>
              </a:rPr>
              <a:t>, op0, and op1 must be untyped virtual registers</a:t>
            </a:r>
            <a:r>
              <a:rPr lang="en-US" i="1" dirty="0">
                <a:latin typeface="Courier" pitchFamily="2" charset="0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1497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Class-IR: Examples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binary operators</a:t>
            </a:r>
            <a:r>
              <a:rPr lang="en-US" dirty="0"/>
              <a:t>: 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operation(op0, op1);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Examples: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vr0 = </a:t>
            </a:r>
            <a:r>
              <a:rPr lang="en-US" dirty="0" err="1">
                <a:latin typeface="Courier" pitchFamily="2" charset="0"/>
              </a:rPr>
              <a:t>addi</a:t>
            </a:r>
            <a:r>
              <a:rPr lang="en-US" dirty="0">
                <a:latin typeface="Courier" pitchFamily="2" charset="0"/>
              </a:rPr>
              <a:t>(vr1, vr2);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vr3 = </a:t>
            </a:r>
            <a:r>
              <a:rPr lang="en-US" dirty="0" err="1">
                <a:latin typeface="Courier" pitchFamily="2" charset="0"/>
              </a:rPr>
              <a:t>subf</a:t>
            </a:r>
            <a:r>
              <a:rPr lang="en-US" dirty="0">
                <a:latin typeface="Courier" pitchFamily="2" charset="0"/>
              </a:rPr>
              <a:t>(vr4, vr5);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highlight>
                  <a:srgbClr val="FF0000"/>
                </a:highlight>
                <a:latin typeface="Courier" pitchFamily="2" charset="0"/>
              </a:rPr>
              <a:t>x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multf</a:t>
            </a:r>
            <a:r>
              <a:rPr lang="en-US" dirty="0">
                <a:latin typeface="Courier" pitchFamily="2" charset="0"/>
              </a:rPr>
              <a:t>(vr0, vr1); not allowed!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vr0 = </a:t>
            </a:r>
            <a:r>
              <a:rPr lang="en-US" dirty="0" err="1">
                <a:latin typeface="Courier" pitchFamily="2" charset="0"/>
              </a:rPr>
              <a:t>addi</a:t>
            </a:r>
            <a:r>
              <a:rPr lang="en-US" dirty="0">
                <a:latin typeface="Courier" pitchFamily="2" charset="0"/>
              </a:rPr>
              <a:t>(vr1, </a:t>
            </a:r>
            <a:r>
              <a:rPr lang="en-US" dirty="0">
                <a:highlight>
                  <a:srgbClr val="FF0000"/>
                </a:highlight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);  not allowed!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18070-5144-274D-923F-C9E799286AC2}"/>
              </a:ext>
            </a:extLst>
          </p:cNvPr>
          <p:cNvSpPr txBox="1"/>
          <p:nvPr/>
        </p:nvSpPr>
        <p:spPr>
          <a:xfrm>
            <a:off x="8508274" y="4955177"/>
            <a:ext cx="24240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We’ll talk about how to </a:t>
            </a:r>
            <a:br>
              <a:rPr lang="en-US" i="1" dirty="0"/>
            </a:br>
            <a:r>
              <a:rPr lang="en-US" i="1" dirty="0"/>
              <a:t>do this using other </a:t>
            </a:r>
            <a:br>
              <a:rPr lang="en-US" i="1" dirty="0"/>
            </a:br>
            <a:r>
              <a:rPr lang="en-US" i="1" dirty="0"/>
              <a:t>instructions</a:t>
            </a:r>
          </a:p>
        </p:txBody>
      </p:sp>
    </p:spTree>
    <p:extLst>
      <p:ext uri="{BB962C8B-B14F-4D97-AF65-F5344CB8AC3E}">
        <p14:creationId xmlns:p14="http://schemas.microsoft.com/office/powerpoint/2010/main" val="2856837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Class-IR: Control Flow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Control flow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branch(label);</a:t>
            </a:r>
          </a:p>
          <a:p>
            <a:r>
              <a:rPr lang="en-US" dirty="0">
                <a:latin typeface="Courier" pitchFamily="2" charset="0"/>
              </a:rPr>
              <a:t>branches unconditionally to the label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bne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(op0, op1, label)</a:t>
            </a:r>
          </a:p>
          <a:p>
            <a:r>
              <a:rPr lang="en-US" dirty="0">
                <a:latin typeface="Courier" pitchFamily="2" charset="0"/>
              </a:rPr>
              <a:t>if op0 is not equal to op1 then branch to label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operands must be virtual registers!</a:t>
            </a:r>
          </a:p>
          <a:p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beq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(op0, op1, label)</a:t>
            </a:r>
          </a:p>
          <a:p>
            <a:r>
              <a:rPr lang="en-US" dirty="0">
                <a:latin typeface="Courier" pitchFamily="2" charset="0"/>
              </a:rPr>
              <a:t>Same as </a:t>
            </a:r>
            <a:r>
              <a:rPr lang="en-US" dirty="0" err="1">
                <a:latin typeface="Courier" pitchFamily="2" charset="0"/>
              </a:rPr>
              <a:t>bne</a:t>
            </a:r>
            <a:r>
              <a:rPr lang="en-US" dirty="0">
                <a:latin typeface="Courier" pitchFamily="2" charset="0"/>
              </a:rPr>
              <a:t> except it is for equal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1200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Assignment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vr0 = vr1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one virtual register can be assigned to another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486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Assignment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vr0 = vr1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one virtual register can be assigned to another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Examples: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vr0 = </a:t>
            </a:r>
            <a:r>
              <a:rPr lang="en-US" dirty="0">
                <a:highlight>
                  <a:srgbClr val="FF0000"/>
                </a:highlight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; not allowed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vr1 = </a:t>
            </a:r>
            <a:r>
              <a:rPr lang="en-US" dirty="0">
                <a:highlight>
                  <a:srgbClr val="FF0000"/>
                </a:highlight>
                <a:latin typeface="Courier" pitchFamily="2" charset="0"/>
              </a:rPr>
              <a:t>x</a:t>
            </a:r>
            <a:r>
              <a:rPr lang="en-US" dirty="0">
                <a:latin typeface="Courier" pitchFamily="2" charset="0"/>
              </a:rPr>
              <a:t>; not allowed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9184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Courier" pitchFamily="2" charset="0"/>
              </a:rPr>
              <a:t>unary get untyped register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operations are: [int2vr, float2vr]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Example: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vr1 = int2vr(x);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vr2 = float2vr(2.0);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5F72E-EDFE-F44B-80E1-2798B353B648}"/>
              </a:ext>
            </a:extLst>
          </p:cNvPr>
          <p:cNvSpPr txBox="1"/>
          <p:nvPr/>
        </p:nvSpPr>
        <p:spPr>
          <a:xfrm>
            <a:off x="838200" y="4243348"/>
            <a:ext cx="1991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Given IO: int x</a:t>
            </a:r>
          </a:p>
        </p:txBody>
      </p:sp>
    </p:spTree>
    <p:extLst>
      <p:ext uri="{BB962C8B-B14F-4D97-AF65-F5344CB8AC3E}">
        <p14:creationId xmlns:p14="http://schemas.microsoft.com/office/powerpoint/2010/main" val="17269381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Courier" pitchFamily="2" charset="0"/>
              </a:rPr>
              <a:t>unary get typed data for IO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dst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operation(op0);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operations are: [vr2int, vr2float]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Example: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x = vr2int(vr1);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y = vr2float(vr3);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5F72E-EDFE-F44B-80E1-2798B353B648}"/>
              </a:ext>
            </a:extLst>
          </p:cNvPr>
          <p:cNvSpPr txBox="1"/>
          <p:nvPr/>
        </p:nvSpPr>
        <p:spPr>
          <a:xfrm>
            <a:off x="838200" y="4243348"/>
            <a:ext cx="33283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highlight>
                  <a:srgbClr val="FFFF00"/>
                </a:highlight>
              </a:rPr>
              <a:t>Given IO: int x and float y</a:t>
            </a:r>
          </a:p>
        </p:txBody>
      </p:sp>
    </p:spTree>
    <p:extLst>
      <p:ext uri="{BB962C8B-B14F-4D97-AF65-F5344CB8AC3E}">
        <p14:creationId xmlns:p14="http://schemas.microsoft.com/office/powerpoint/2010/main" val="242271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unary conversion operators for VRs</a:t>
            </a:r>
            <a:r>
              <a:rPr lang="en-US" dirty="0"/>
              <a:t>: 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operations can be one of: 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[vr_int2float, vr_float2int]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b="1" dirty="0">
                <a:latin typeface="Courier" pitchFamily="2" charset="0"/>
              </a:rPr>
              <a:t>converts</a:t>
            </a:r>
            <a:r>
              <a:rPr lang="en-US" dirty="0">
                <a:latin typeface="Courier" pitchFamily="2" charset="0"/>
              </a:rPr>
              <a:t> the bits in a </a:t>
            </a:r>
            <a:r>
              <a:rPr lang="en-US" b="1" dirty="0">
                <a:latin typeface="Courier" pitchFamily="2" charset="0"/>
              </a:rPr>
              <a:t>virtual register</a:t>
            </a:r>
            <a:r>
              <a:rPr lang="en-US" dirty="0">
                <a:latin typeface="Courier" pitchFamily="2" charset="0"/>
              </a:rPr>
              <a:t> from </a:t>
            </a:r>
            <a:r>
              <a:rPr lang="en-US" b="1" dirty="0">
                <a:latin typeface="Courier" pitchFamily="2" charset="0"/>
              </a:rPr>
              <a:t>one type to another</a:t>
            </a:r>
            <a:r>
              <a:rPr lang="en-US" dirty="0">
                <a:latin typeface="Courier" pitchFamily="2" charset="0"/>
              </a:rPr>
              <a:t>. </a:t>
            </a:r>
            <a:r>
              <a:rPr lang="en-US" b="1" i="1" dirty="0">
                <a:highlight>
                  <a:srgbClr val="FFFF00"/>
                </a:highlight>
                <a:latin typeface="Courier" pitchFamily="2" charset="0"/>
              </a:rPr>
              <a:t>op0</a:t>
            </a:r>
            <a:r>
              <a:rPr lang="en-US" i="1" dirty="0">
                <a:highlight>
                  <a:srgbClr val="FFFF00"/>
                </a:highlight>
                <a:latin typeface="Courier" pitchFamily="2" charset="0"/>
              </a:rPr>
              <a:t> and </a:t>
            </a:r>
            <a:r>
              <a:rPr lang="en-US" b="1" i="1" dirty="0" err="1">
                <a:highlight>
                  <a:srgbClr val="FFFF00"/>
                </a:highlight>
                <a:latin typeface="Courier" pitchFamily="2" charset="0"/>
              </a:rPr>
              <a:t>dst</a:t>
            </a:r>
            <a:r>
              <a:rPr lang="en-US" i="1" dirty="0">
                <a:highlight>
                  <a:srgbClr val="FFFF00"/>
                </a:highlight>
                <a:latin typeface="Courier" pitchFamily="2" charset="0"/>
              </a:rPr>
              <a:t> must be a </a:t>
            </a:r>
            <a:r>
              <a:rPr lang="en-US" b="1" i="1" dirty="0">
                <a:highlight>
                  <a:srgbClr val="FFFF00"/>
                </a:highlight>
                <a:latin typeface="Courier" pitchFamily="2" charset="0"/>
              </a:rPr>
              <a:t>virtual register!</a:t>
            </a:r>
          </a:p>
        </p:txBody>
      </p:sp>
    </p:spTree>
    <p:extLst>
      <p:ext uri="{BB962C8B-B14F-4D97-AF65-F5344CB8AC3E}">
        <p14:creationId xmlns:p14="http://schemas.microsoft.com/office/powerpoint/2010/main" val="1749225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Class-IR: Examples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unary conversion operators</a:t>
            </a:r>
            <a:r>
              <a:rPr lang="en-US" dirty="0"/>
              <a:t>: </a:t>
            </a: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 err="1">
                <a:latin typeface="Courier" pitchFamily="2" charset="0"/>
              </a:rPr>
              <a:t>dst</a:t>
            </a:r>
            <a:r>
              <a:rPr lang="en-US" dirty="0">
                <a:latin typeface="Courier" pitchFamily="2" charset="0"/>
              </a:rPr>
              <a:t> = operation(op0);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Examples:</a:t>
            </a:r>
          </a:p>
          <a:p>
            <a:pPr marL="0" indent="0">
              <a:buNone/>
            </a:pPr>
            <a:endParaRPr lang="en-US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vr0 = vr_int2float(vr1);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vr2 = vr_float2int(</a:t>
            </a:r>
            <a:r>
              <a:rPr lang="en-US" dirty="0">
                <a:highlight>
                  <a:srgbClr val="FF0000"/>
                </a:highlight>
                <a:latin typeface="Courier" pitchFamily="2" charset="0"/>
              </a:rPr>
              <a:t>1.0</a:t>
            </a:r>
            <a:r>
              <a:rPr lang="en-US" dirty="0">
                <a:latin typeface="Courier" pitchFamily="2" charset="0"/>
              </a:rPr>
              <a:t>); not allowed!</a:t>
            </a:r>
          </a:p>
        </p:txBody>
      </p:sp>
    </p:spTree>
    <p:extLst>
      <p:ext uri="{BB962C8B-B14F-4D97-AF65-F5344CB8AC3E}">
        <p14:creationId xmlns:p14="http://schemas.microsoft.com/office/powerpoint/2010/main" val="21587021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AB6E2F-1E98-8045-99BB-9F0F400BF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adding the values 1 - 9 to an input/output variable: int x</a:t>
            </a:r>
          </a:p>
        </p:txBody>
      </p:sp>
    </p:spTree>
    <p:extLst>
      <p:ext uri="{BB962C8B-B14F-4D97-AF65-F5344CB8AC3E}">
        <p14:creationId xmlns:p14="http://schemas.microsoft.com/office/powerpoint/2010/main" val="22189427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AB6E2F-1E98-8045-99BB-9F0F400BF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adding the values 1 - 9 to an input/output variable: int x</a:t>
            </a:r>
          </a:p>
          <a:p>
            <a:pPr marL="0" indent="0">
              <a:buNone/>
            </a:pPr>
            <a:endParaRPr lang="en-US" sz="20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vr0 = int2vr(1);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vr1 = int2vr(1);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vr2 = int2vr(10);</a:t>
            </a:r>
          </a:p>
          <a:p>
            <a:pPr marL="0" indent="0">
              <a:buNone/>
            </a:pPr>
            <a:r>
              <a:rPr lang="en-US" sz="2000" dirty="0" err="1">
                <a:latin typeface="Courier" pitchFamily="2" charset="0"/>
              </a:rPr>
              <a:t>loop_start</a:t>
            </a:r>
            <a:r>
              <a:rPr lang="en-US" sz="2000" dirty="0">
                <a:latin typeface="Courier" pitchFamily="2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vr3 = </a:t>
            </a:r>
            <a:r>
              <a:rPr lang="en-US" sz="2000" dirty="0" err="1">
                <a:latin typeface="Courier" pitchFamily="2" charset="0"/>
              </a:rPr>
              <a:t>lti</a:t>
            </a:r>
            <a:r>
              <a:rPr lang="en-US" sz="2000" dirty="0">
                <a:latin typeface="Courier" pitchFamily="2" charset="0"/>
              </a:rPr>
              <a:t>(vr0, vr2);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</a:t>
            </a:r>
            <a:r>
              <a:rPr lang="en-US" sz="2000" dirty="0" err="1">
                <a:latin typeface="Courier" pitchFamily="2" charset="0"/>
              </a:rPr>
              <a:t>bne</a:t>
            </a:r>
            <a:r>
              <a:rPr lang="en-US" sz="2000" dirty="0">
                <a:latin typeface="Courier" pitchFamily="2" charset="0"/>
              </a:rPr>
              <a:t>(vr3, vr1, </a:t>
            </a:r>
            <a:r>
              <a:rPr lang="en-US" sz="2000" dirty="0" err="1">
                <a:latin typeface="Courier" pitchFamily="2" charset="0"/>
              </a:rPr>
              <a:t>end_label</a:t>
            </a:r>
            <a:r>
              <a:rPr lang="en-US" sz="2000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vr4 = int2vr(x);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vr5 = </a:t>
            </a:r>
            <a:r>
              <a:rPr lang="en-US" sz="2000" dirty="0" err="1">
                <a:latin typeface="Courier" pitchFamily="2" charset="0"/>
              </a:rPr>
              <a:t>addi</a:t>
            </a:r>
            <a:r>
              <a:rPr lang="en-US" sz="2000" dirty="0">
                <a:latin typeface="Courier" pitchFamily="2" charset="0"/>
              </a:rPr>
              <a:t>(vr4,vr0);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x = vr2int(vr5);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vr0 = </a:t>
            </a:r>
            <a:r>
              <a:rPr lang="en-US" sz="2000" dirty="0" err="1">
                <a:latin typeface="Courier" pitchFamily="2" charset="0"/>
              </a:rPr>
              <a:t>addi</a:t>
            </a:r>
            <a:r>
              <a:rPr lang="en-US" sz="2000" dirty="0">
                <a:latin typeface="Courier" pitchFamily="2" charset="0"/>
              </a:rPr>
              <a:t>(vr0, vr1);</a:t>
            </a:r>
          </a:p>
          <a:p>
            <a:pPr marL="0" indent="0">
              <a:buNone/>
            </a:pPr>
            <a:r>
              <a:rPr lang="en-US" sz="2000" dirty="0">
                <a:latin typeface="Courier" pitchFamily="2" charset="0"/>
              </a:rPr>
              <a:t>  branch(</a:t>
            </a:r>
            <a:r>
              <a:rPr lang="en-US" sz="2000" dirty="0" err="1">
                <a:latin typeface="Courier" pitchFamily="2" charset="0"/>
              </a:rPr>
              <a:t>loop_start</a:t>
            </a:r>
            <a:r>
              <a:rPr lang="en-US" sz="2000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r>
              <a:rPr lang="en-US" sz="2000" dirty="0" err="1">
                <a:latin typeface="Courier" pitchFamily="2" charset="0"/>
              </a:rPr>
              <a:t>end_label</a:t>
            </a:r>
            <a:r>
              <a:rPr lang="en-US" sz="2000" dirty="0">
                <a:latin typeface="Courier" pitchFamily="2" charset="0"/>
              </a:rPr>
              <a:t>:</a:t>
            </a:r>
          </a:p>
          <a:p>
            <a:pPr marL="0" indent="0">
              <a:buNone/>
            </a:pPr>
            <a:endParaRPr lang="en-US" sz="20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419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C51-7BBC-0647-B6F1-9A327C7E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1669" y="2278986"/>
            <a:ext cx="5791200" cy="1325563"/>
          </a:xfrm>
        </p:spPr>
        <p:txBody>
          <a:bodyPr/>
          <a:lstStyle/>
          <a:p>
            <a:r>
              <a:rPr lang="en-US" dirty="0"/>
              <a:t>SO WE HAVE THE RULES</a:t>
            </a:r>
          </a:p>
        </p:txBody>
      </p:sp>
    </p:spTree>
    <p:extLst>
      <p:ext uri="{BB962C8B-B14F-4D97-AF65-F5344CB8AC3E}">
        <p14:creationId xmlns:p14="http://schemas.microsoft.com/office/powerpoint/2010/main" val="32425140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25E6C-3B49-B338-CE91-1DC176C50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D0628-161D-E8FC-5369-1C2B42D40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AST into Class-IR</a:t>
            </a:r>
          </a:p>
        </p:txBody>
      </p:sp>
    </p:spTree>
    <p:extLst>
      <p:ext uri="{BB962C8B-B14F-4D97-AF65-F5344CB8AC3E}">
        <p14:creationId xmlns:p14="http://schemas.microsoft.com/office/powerpoint/2010/main" val="6313144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C51-7BBC-0647-B6F1-9A327C7E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AST into Class-IR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642460" y="2073593"/>
            <a:ext cx="22525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40052" y="5839875"/>
            <a:ext cx="1224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1482215" y="5042692"/>
            <a:ext cx="1187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544357" y="5409709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1768730" y="5409709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2712897" y="5839875"/>
            <a:ext cx="1212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3411415" y="3669789"/>
            <a:ext cx="13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2076032" y="4583592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4095802" y="4039121"/>
            <a:ext cx="1346546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4643347" y="5054548"/>
            <a:ext cx="1598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1420814" y="4214260"/>
            <a:ext cx="210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2472577" y="4039121"/>
            <a:ext cx="1623225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1FF6727-E27B-324A-AE32-28CB183D3F88}"/>
              </a:ext>
            </a:extLst>
          </p:cNvPr>
          <p:cNvSpPr txBox="1"/>
          <p:nvPr/>
        </p:nvSpPr>
        <p:spPr>
          <a:xfrm>
            <a:off x="3805745" y="2877195"/>
            <a:ext cx="209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After type inference</a:t>
            </a:r>
          </a:p>
        </p:txBody>
      </p:sp>
    </p:spTree>
    <p:extLst>
      <p:ext uri="{BB962C8B-B14F-4D97-AF65-F5344CB8AC3E}">
        <p14:creationId xmlns:p14="http://schemas.microsoft.com/office/powerpoint/2010/main" val="9342953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C51-7BBC-0647-B6F1-9A327C7E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AST into Class-IR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642460" y="2081544"/>
            <a:ext cx="22525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40052" y="584782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</a:t>
            </a:r>
            <a:r>
              <a:rPr lang="en-US" dirty="0">
                <a:highlight>
                  <a:srgbClr val="FFFF00"/>
                </a:highlight>
              </a:rPr>
              <a:t>vr0</a:t>
            </a:r>
            <a:r>
              <a:rPr lang="en-US" dirty="0"/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1482215" y="505064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</a:t>
            </a:r>
            <a:r>
              <a:rPr lang="en-US" dirty="0">
                <a:highlight>
                  <a:srgbClr val="FFFF00"/>
                </a:highlight>
              </a:rPr>
              <a:t>vr2</a:t>
            </a:r>
            <a:r>
              <a:rPr lang="en-US" dirty="0"/>
              <a:t>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544357" y="541766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1768730" y="541766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2712897" y="584782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</a:t>
            </a:r>
            <a:r>
              <a:rPr lang="en-US" dirty="0">
                <a:highlight>
                  <a:srgbClr val="FFFF00"/>
                </a:highlight>
              </a:rPr>
              <a:t>vr1</a:t>
            </a:r>
            <a:r>
              <a:rPr lang="en-US" dirty="0"/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3411415" y="367774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</a:t>
            </a:r>
            <a:r>
              <a:rPr lang="en-US" dirty="0">
                <a:highlight>
                  <a:srgbClr val="FFFF00"/>
                </a:highlight>
              </a:rPr>
              <a:t>vr5</a:t>
            </a:r>
            <a:r>
              <a:rPr lang="en-US" dirty="0"/>
              <a:t>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2282018" y="459154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4301787" y="404707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4643347" y="506249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</a:t>
            </a:r>
            <a:r>
              <a:rPr lang="en-US" dirty="0">
                <a:highlight>
                  <a:srgbClr val="FFFF00"/>
                </a:highlight>
              </a:rPr>
              <a:t>vr4</a:t>
            </a:r>
            <a:r>
              <a:rPr lang="en-US" dirty="0"/>
              <a:t>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1420814" y="422221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</a:t>
            </a:r>
            <a:r>
              <a:rPr lang="en-US" dirty="0">
                <a:highlight>
                  <a:srgbClr val="FFFF00"/>
                </a:highlight>
              </a:rPr>
              <a:t>vr3</a:t>
            </a:r>
            <a:r>
              <a:rPr lang="en-US" dirty="0"/>
              <a:t>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2678563" y="404707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1FF6727-E27B-324A-AE32-28CB183D3F88}"/>
              </a:ext>
            </a:extLst>
          </p:cNvPr>
          <p:cNvSpPr txBox="1"/>
          <p:nvPr/>
        </p:nvSpPr>
        <p:spPr>
          <a:xfrm>
            <a:off x="3805745" y="2885146"/>
            <a:ext cx="209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After type inference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3B5366-FBCA-5246-BEB8-0B4C331E1825}"/>
              </a:ext>
            </a:extLst>
          </p:cNvPr>
          <p:cNvSpPr txBox="1"/>
          <p:nvPr/>
        </p:nvSpPr>
        <p:spPr>
          <a:xfrm>
            <a:off x="8133806" y="3457303"/>
            <a:ext cx="333136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will start by adding a new</a:t>
            </a:r>
          </a:p>
          <a:p>
            <a:r>
              <a:rPr lang="en-US" dirty="0"/>
              <a:t>member to each AST node:</a:t>
            </a:r>
            <a:br>
              <a:rPr lang="en-US" dirty="0"/>
            </a:br>
            <a:br>
              <a:rPr lang="en-US" dirty="0"/>
            </a:br>
            <a:r>
              <a:rPr lang="en-US" dirty="0">
                <a:highlight>
                  <a:srgbClr val="FFFF00"/>
                </a:highlight>
              </a:rPr>
              <a:t>A virtual register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/>
              <a:t>Each node needs a distinct virtual</a:t>
            </a:r>
            <a:br>
              <a:rPr lang="en-US" dirty="0"/>
            </a:br>
            <a:r>
              <a:rPr lang="en-US" dirty="0"/>
              <a:t>register</a:t>
            </a:r>
          </a:p>
        </p:txBody>
      </p:sp>
    </p:spTree>
    <p:extLst>
      <p:ext uri="{BB962C8B-B14F-4D97-AF65-F5344CB8AC3E}">
        <p14:creationId xmlns:p14="http://schemas.microsoft.com/office/powerpoint/2010/main" val="31149974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C51-7BBC-0647-B6F1-9A327C7E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AST into Class-IR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642460" y="2081544"/>
            <a:ext cx="22525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40052" y="584782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1482215" y="505064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544357" y="541766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1768730" y="541766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2712897" y="584782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3411415" y="367774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2282018" y="459154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4301787" y="404707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4643347" y="506249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1420814" y="422221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2678563" y="404707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1FF6727-E27B-324A-AE32-28CB183D3F88}"/>
              </a:ext>
            </a:extLst>
          </p:cNvPr>
          <p:cNvSpPr txBox="1"/>
          <p:nvPr/>
        </p:nvSpPr>
        <p:spPr>
          <a:xfrm>
            <a:off x="3805745" y="2885146"/>
            <a:ext cx="209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After type inference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3B5366-FBCA-5246-BEB8-0B4C331E1825}"/>
              </a:ext>
            </a:extLst>
          </p:cNvPr>
          <p:cNvSpPr txBox="1"/>
          <p:nvPr/>
        </p:nvSpPr>
        <p:spPr>
          <a:xfrm>
            <a:off x="8186058" y="2222549"/>
            <a:ext cx="26745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Next each AST node needs</a:t>
            </a:r>
          </a:p>
          <a:p>
            <a:r>
              <a:rPr lang="en-US" dirty="0"/>
              <a:t>to know how to print a </a:t>
            </a:r>
          </a:p>
          <a:p>
            <a:r>
              <a:rPr lang="en-US" dirty="0"/>
              <a:t>3 address instruction</a:t>
            </a:r>
          </a:p>
        </p:txBody>
      </p:sp>
    </p:spTree>
    <p:extLst>
      <p:ext uri="{BB962C8B-B14F-4D97-AF65-F5344CB8AC3E}">
        <p14:creationId xmlns:p14="http://schemas.microsoft.com/office/powerpoint/2010/main" val="16852587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C51-7BBC-0647-B6F1-9A327C7E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AST into Class-IR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642460" y="2081544"/>
            <a:ext cx="22525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40052" y="584782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1482215" y="505064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AST&lt;+,int, vr2&gt;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544357" y="541766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1768730" y="541766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2712897" y="584782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3411415" y="367774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2282018" y="459154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4301787" y="404707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4643347" y="506249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1420814" y="422221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2678563" y="404707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1FF6727-E27B-324A-AE32-28CB183D3F88}"/>
              </a:ext>
            </a:extLst>
          </p:cNvPr>
          <p:cNvSpPr txBox="1"/>
          <p:nvPr/>
        </p:nvSpPr>
        <p:spPr>
          <a:xfrm>
            <a:off x="3805745" y="2885146"/>
            <a:ext cx="209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After type inference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3B5366-FBCA-5246-BEB8-0B4C331E1825}"/>
              </a:ext>
            </a:extLst>
          </p:cNvPr>
          <p:cNvSpPr txBox="1"/>
          <p:nvPr/>
        </p:nvSpPr>
        <p:spPr>
          <a:xfrm>
            <a:off x="8186058" y="2222549"/>
            <a:ext cx="267457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Next each AST node needs</a:t>
            </a:r>
          </a:p>
          <a:p>
            <a:r>
              <a:rPr lang="en-US" dirty="0"/>
              <a:t>to know how to </a:t>
            </a:r>
            <a:r>
              <a:rPr lang="en-US" dirty="0">
                <a:highlight>
                  <a:srgbClr val="FFFF00"/>
                </a:highlight>
              </a:rPr>
              <a:t>print</a:t>
            </a:r>
            <a:r>
              <a:rPr lang="en-US" dirty="0"/>
              <a:t> a </a:t>
            </a:r>
          </a:p>
          <a:p>
            <a:r>
              <a:rPr lang="en-US" dirty="0"/>
              <a:t>3 address instruction</a:t>
            </a:r>
          </a:p>
          <a:p>
            <a:endParaRPr lang="en-US" dirty="0"/>
          </a:p>
          <a:p>
            <a:r>
              <a:rPr lang="en-US" dirty="0"/>
              <a:t>Let’s look at add</a:t>
            </a:r>
          </a:p>
        </p:txBody>
      </p:sp>
    </p:spTree>
    <p:extLst>
      <p:ext uri="{BB962C8B-B14F-4D97-AF65-F5344CB8AC3E}">
        <p14:creationId xmlns:p14="http://schemas.microsoft.com/office/powerpoint/2010/main" val="9178421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DD508B-B8CC-EE41-806D-8B7A83146CD7}"/>
              </a:ext>
            </a:extLst>
          </p:cNvPr>
          <p:cNvSpPr/>
          <p:nvPr/>
        </p:nvSpPr>
        <p:spPr>
          <a:xfrm>
            <a:off x="966652" y="583700"/>
            <a:ext cx="808155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ASTPlusNode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ASTBinOpNode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l_child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r_child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super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().__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__(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l_child,r_child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-US" dirty="0">
                <a:solidFill>
                  <a:srgbClr val="B42419"/>
                </a:solidFill>
                <a:latin typeface="Menlo" panose="020B0609030804020204" pitchFamily="49" charset="0"/>
              </a:rPr>
              <a:t># return a string of the three address instruction</a:t>
            </a:r>
          </a:p>
          <a:p>
            <a:r>
              <a:rPr lang="en-US" dirty="0">
                <a:solidFill>
                  <a:srgbClr val="B42419"/>
                </a:solidFill>
                <a:latin typeface="Menlo" panose="020B0609030804020204" pitchFamily="49" charset="0"/>
              </a:rPr>
              <a:t>    # that this node encodes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three_addr_code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??</a:t>
            </a:r>
            <a:endParaRPr lang="en-US" dirty="0">
              <a:solidFill>
                <a:srgbClr val="400BD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C58A96-1A98-F246-ADB5-AB7B06304554}"/>
              </a:ext>
            </a:extLst>
          </p:cNvPr>
          <p:cNvSpPr/>
          <p:nvPr/>
        </p:nvSpPr>
        <p:spPr>
          <a:xfrm>
            <a:off x="243840" y="4233148"/>
            <a:ext cx="123487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"%s = %s(%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s,%s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);"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% 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     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.l_child.vr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.r_child.vr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3729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DD508B-B8CC-EE41-806D-8B7A83146CD7}"/>
              </a:ext>
            </a:extLst>
          </p:cNvPr>
          <p:cNvSpPr/>
          <p:nvPr/>
        </p:nvSpPr>
        <p:spPr>
          <a:xfrm>
            <a:off x="966652" y="583700"/>
            <a:ext cx="808155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ASTPlusNode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ASTBinOpNode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l_child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r_child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super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().__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__(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l_child,r_child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-US" dirty="0">
                <a:solidFill>
                  <a:srgbClr val="B42419"/>
                </a:solidFill>
                <a:latin typeface="Menlo" panose="020B0609030804020204" pitchFamily="49" charset="0"/>
              </a:rPr>
              <a:t># return a string of the three address instruction</a:t>
            </a:r>
          </a:p>
          <a:p>
            <a:r>
              <a:rPr lang="en-US" dirty="0">
                <a:solidFill>
                  <a:srgbClr val="B42419"/>
                </a:solidFill>
                <a:latin typeface="Menlo" panose="020B0609030804020204" pitchFamily="49" charset="0"/>
              </a:rPr>
              <a:t>    # that this node encodes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three_addr_code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??</a:t>
            </a:r>
            <a:endParaRPr lang="en-US" dirty="0">
              <a:solidFill>
                <a:srgbClr val="400BD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C58A96-1A98-F246-ADB5-AB7B06304554}"/>
              </a:ext>
            </a:extLst>
          </p:cNvPr>
          <p:cNvSpPr/>
          <p:nvPr/>
        </p:nvSpPr>
        <p:spPr>
          <a:xfrm>
            <a:off x="243840" y="4233148"/>
            <a:ext cx="123487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"%s = %s(%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s,%s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);"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% 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     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.get_op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.l_child.vr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.r_child.vr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090DF8-4452-E34A-994D-E7888572F2EE}"/>
              </a:ext>
            </a:extLst>
          </p:cNvPr>
          <p:cNvSpPr txBox="1"/>
          <p:nvPr/>
        </p:nvSpPr>
        <p:spPr>
          <a:xfrm>
            <a:off x="4423954" y="505968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this one?</a:t>
            </a:r>
          </a:p>
        </p:txBody>
      </p:sp>
    </p:spTree>
    <p:extLst>
      <p:ext uri="{BB962C8B-B14F-4D97-AF65-F5344CB8AC3E}">
        <p14:creationId xmlns:p14="http://schemas.microsoft.com/office/powerpoint/2010/main" val="23202786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58A96-1A98-F246-ADB5-AB7B06304554}"/>
              </a:ext>
            </a:extLst>
          </p:cNvPr>
          <p:cNvSpPr/>
          <p:nvPr/>
        </p:nvSpPr>
        <p:spPr>
          <a:xfrm>
            <a:off x="243840" y="4233148"/>
            <a:ext cx="123487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"%s = %s(%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s,%s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);"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% 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     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.get_op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.l_child.vr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.r_child.vr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090DF8-4452-E34A-994D-E7888572F2EE}"/>
              </a:ext>
            </a:extLst>
          </p:cNvPr>
          <p:cNvSpPr txBox="1"/>
          <p:nvPr/>
        </p:nvSpPr>
        <p:spPr>
          <a:xfrm>
            <a:off x="4423954" y="505968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this one?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E85944-88E6-A64C-A86A-AA657788CEA4}"/>
              </a:ext>
            </a:extLst>
          </p:cNvPr>
          <p:cNvSpPr/>
          <p:nvPr/>
        </p:nvSpPr>
        <p:spPr>
          <a:xfrm>
            <a:off x="6496593" y="40654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Types.INT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addi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addf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2528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58A96-1A98-F246-ADB5-AB7B06304554}"/>
              </a:ext>
            </a:extLst>
          </p:cNvPr>
          <p:cNvSpPr/>
          <p:nvPr/>
        </p:nvSpPr>
        <p:spPr>
          <a:xfrm>
            <a:off x="243840" y="4233148"/>
            <a:ext cx="123487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"%s = %s(%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s,%s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);"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% 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     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.l_child.vr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.r_child.vr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2DB693-845C-984B-BA40-CBC93F87D6C7}"/>
              </a:ext>
            </a:extLst>
          </p:cNvPr>
          <p:cNvSpPr txBox="1"/>
          <p:nvPr/>
        </p:nvSpPr>
        <p:spPr>
          <a:xfrm>
            <a:off x="200710" y="2669197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14B92B-C138-3342-8106-810E8B0772D1}"/>
              </a:ext>
            </a:extLst>
          </p:cNvPr>
          <p:cNvSpPr txBox="1"/>
          <p:nvPr/>
        </p:nvSpPr>
        <p:spPr>
          <a:xfrm>
            <a:off x="1342873" y="1872014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AST&lt;+,int, vr2&gt;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DCE4F0-FA0D-E04C-A3F8-3DE66DB63CE1}"/>
              </a:ext>
            </a:extLst>
          </p:cNvPr>
          <p:cNvCxnSpPr>
            <a:cxnSpLocks/>
          </p:cNvCxnSpPr>
          <p:nvPr/>
        </p:nvCxnSpPr>
        <p:spPr>
          <a:xfrm flipH="1">
            <a:off x="405015" y="2239031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03412C9-4B85-714D-95A5-ABD88E48A7A2}"/>
              </a:ext>
            </a:extLst>
          </p:cNvPr>
          <p:cNvCxnSpPr>
            <a:cxnSpLocks/>
          </p:cNvCxnSpPr>
          <p:nvPr/>
        </p:nvCxnSpPr>
        <p:spPr>
          <a:xfrm>
            <a:off x="1629388" y="2239031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94C48C1-57E1-6C48-8C7C-F399C73EADB8}"/>
              </a:ext>
            </a:extLst>
          </p:cNvPr>
          <p:cNvSpPr txBox="1"/>
          <p:nvPr/>
        </p:nvSpPr>
        <p:spPr>
          <a:xfrm>
            <a:off x="2573555" y="2669197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5F9687-8F51-6B41-ACEB-26376CEA5980}"/>
              </a:ext>
            </a:extLst>
          </p:cNvPr>
          <p:cNvSpPr txBox="1"/>
          <p:nvPr/>
        </p:nvSpPr>
        <p:spPr>
          <a:xfrm>
            <a:off x="3272073" y="499111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FC54C87-2795-2F46-B9D1-0BB1E13725DD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flipH="1">
            <a:off x="2142676" y="1412914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6299EE3-73F2-164B-8926-6ABD3AFDC6A7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4162445" y="868443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8B8048C-5D3B-2047-A146-CAF128D3F624}"/>
              </a:ext>
            </a:extLst>
          </p:cNvPr>
          <p:cNvSpPr txBox="1"/>
          <p:nvPr/>
        </p:nvSpPr>
        <p:spPr>
          <a:xfrm>
            <a:off x="4504005" y="1883870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03FE26-A580-8347-B125-C18CABD5EADA}"/>
              </a:ext>
            </a:extLst>
          </p:cNvPr>
          <p:cNvSpPr txBox="1"/>
          <p:nvPr/>
        </p:nvSpPr>
        <p:spPr>
          <a:xfrm>
            <a:off x="1281472" y="1043582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45F56F-24A1-9C44-98A6-437A7B3BB50F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 flipH="1">
            <a:off x="2539221" y="868443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B546D8A-3A8C-6C4B-AF74-85E616012F79}"/>
              </a:ext>
            </a:extLst>
          </p:cNvPr>
          <p:cNvSpPr/>
          <p:nvPr/>
        </p:nvSpPr>
        <p:spPr>
          <a:xfrm>
            <a:off x="6496593" y="40654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Types.INT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addi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addf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1995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58A96-1A98-F246-ADB5-AB7B06304554}"/>
              </a:ext>
            </a:extLst>
          </p:cNvPr>
          <p:cNvSpPr/>
          <p:nvPr/>
        </p:nvSpPr>
        <p:spPr>
          <a:xfrm>
            <a:off x="243840" y="4233148"/>
            <a:ext cx="123487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"%s = %s(%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s,%s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);"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% </a:t>
            </a:r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                  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.l_child.vr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.r_child.vr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2A090C-876D-0444-BD4F-0FEA8AC6EBBF}"/>
              </a:ext>
            </a:extLst>
          </p:cNvPr>
          <p:cNvSpPr txBox="1"/>
          <p:nvPr/>
        </p:nvSpPr>
        <p:spPr>
          <a:xfrm>
            <a:off x="3048000" y="5522030"/>
            <a:ext cx="5121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vr2 = </a:t>
            </a:r>
            <a:r>
              <a:rPr lang="en-US" sz="3200" dirty="0" err="1">
                <a:latin typeface="Courier" pitchFamily="2" charset="0"/>
              </a:rPr>
              <a:t>addi</a:t>
            </a:r>
            <a:r>
              <a:rPr lang="en-US" sz="3200" dirty="0">
                <a:latin typeface="Courier" pitchFamily="2" charset="0"/>
              </a:rPr>
              <a:t>(vr0,vr1);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0230B-A916-9E42-A1FB-3322AB498036}"/>
              </a:ext>
            </a:extLst>
          </p:cNvPr>
          <p:cNvSpPr txBox="1"/>
          <p:nvPr/>
        </p:nvSpPr>
        <p:spPr>
          <a:xfrm>
            <a:off x="200710" y="2669197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66EA51-5069-A64C-A8CE-8383B41430C9}"/>
              </a:ext>
            </a:extLst>
          </p:cNvPr>
          <p:cNvSpPr txBox="1"/>
          <p:nvPr/>
        </p:nvSpPr>
        <p:spPr>
          <a:xfrm>
            <a:off x="1342873" y="1872014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AST&lt;+,int, vr2&gt;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28183-BD78-7D47-8460-42C4833CE270}"/>
              </a:ext>
            </a:extLst>
          </p:cNvPr>
          <p:cNvCxnSpPr>
            <a:cxnSpLocks/>
          </p:cNvCxnSpPr>
          <p:nvPr/>
        </p:nvCxnSpPr>
        <p:spPr>
          <a:xfrm flipH="1">
            <a:off x="405015" y="2239031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368141-8515-CE4F-8018-618F5177ACB2}"/>
              </a:ext>
            </a:extLst>
          </p:cNvPr>
          <p:cNvCxnSpPr>
            <a:cxnSpLocks/>
          </p:cNvCxnSpPr>
          <p:nvPr/>
        </p:nvCxnSpPr>
        <p:spPr>
          <a:xfrm>
            <a:off x="1629388" y="2239031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F47F24B-EBAB-2E4C-A3DE-025D42254DA4}"/>
              </a:ext>
            </a:extLst>
          </p:cNvPr>
          <p:cNvSpPr txBox="1"/>
          <p:nvPr/>
        </p:nvSpPr>
        <p:spPr>
          <a:xfrm>
            <a:off x="2573555" y="2669197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77870F-DC73-2C44-93E6-F8A14E7377B6}"/>
              </a:ext>
            </a:extLst>
          </p:cNvPr>
          <p:cNvSpPr txBox="1"/>
          <p:nvPr/>
        </p:nvSpPr>
        <p:spPr>
          <a:xfrm>
            <a:off x="3272073" y="499111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F4A9D15-98C6-D04C-A638-E50892103FA5}"/>
              </a:ext>
            </a:extLst>
          </p:cNvPr>
          <p:cNvCxnSpPr>
            <a:cxnSpLocks/>
            <a:stCxn id="25" idx="2"/>
            <a:endCxn id="17" idx="0"/>
          </p:cNvCxnSpPr>
          <p:nvPr/>
        </p:nvCxnSpPr>
        <p:spPr>
          <a:xfrm flipH="1">
            <a:off x="2142676" y="1412914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52DE76B-AB82-0B40-94D4-77F07299DAAE}"/>
              </a:ext>
            </a:extLst>
          </p:cNvPr>
          <p:cNvCxnSpPr>
            <a:cxnSpLocks/>
            <a:stCxn id="21" idx="2"/>
            <a:endCxn id="24" idx="0"/>
          </p:cNvCxnSpPr>
          <p:nvPr/>
        </p:nvCxnSpPr>
        <p:spPr>
          <a:xfrm>
            <a:off x="4162445" y="868443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9E004F7-6335-F547-8042-EBEA50FCEE7A}"/>
              </a:ext>
            </a:extLst>
          </p:cNvPr>
          <p:cNvSpPr txBox="1"/>
          <p:nvPr/>
        </p:nvSpPr>
        <p:spPr>
          <a:xfrm>
            <a:off x="4504005" y="1883870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04287E-936B-6049-9C08-BE26FB6B8633}"/>
              </a:ext>
            </a:extLst>
          </p:cNvPr>
          <p:cNvSpPr txBox="1"/>
          <p:nvPr/>
        </p:nvSpPr>
        <p:spPr>
          <a:xfrm>
            <a:off x="1281472" y="1043582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002F5BD-8EAE-C140-9709-D426B63B84F0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2539221" y="868443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9AE258A-C897-6741-B490-4DF54C27337C}"/>
              </a:ext>
            </a:extLst>
          </p:cNvPr>
          <p:cNvSpPr/>
          <p:nvPr/>
        </p:nvSpPr>
        <p:spPr>
          <a:xfrm>
            <a:off x="6496593" y="40654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get_op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Types.INT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addi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addf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132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091961" y="3522638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4234124" y="2725455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3296266" y="3092472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4520639" y="3092472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5464806" y="3522638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6163324" y="1352552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5033927" y="2266355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053696" y="1721884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7395256" y="2737311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4172723" y="1897023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5430472" y="1721884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A2094C3-A2F8-AA48-B311-27DE1635C3C5}"/>
              </a:ext>
            </a:extLst>
          </p:cNvPr>
          <p:cNvSpPr txBox="1"/>
          <p:nvPr/>
        </p:nvSpPr>
        <p:spPr>
          <a:xfrm>
            <a:off x="376758" y="4965146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vr4 = float2vr(5.5);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60FC01-0A9A-3E43-9A96-29DAF658B35E}"/>
              </a:ext>
            </a:extLst>
          </p:cNvPr>
          <p:cNvSpPr txBox="1"/>
          <p:nvPr/>
        </p:nvSpPr>
        <p:spPr>
          <a:xfrm>
            <a:off x="376758" y="4615152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vr1 = int2vr(y);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1A20E-727A-9E47-9B99-96E36EAB4DE8}"/>
              </a:ext>
            </a:extLst>
          </p:cNvPr>
          <p:cNvSpPr txBox="1"/>
          <p:nvPr/>
        </p:nvSpPr>
        <p:spPr>
          <a:xfrm>
            <a:off x="376758" y="4276598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vr0 = int2vr(x);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BE866E-E7D8-274B-B66A-0ED824E49A54}"/>
              </a:ext>
            </a:extLst>
          </p:cNvPr>
          <p:cNvSpPr txBox="1"/>
          <p:nvPr/>
        </p:nvSpPr>
        <p:spPr>
          <a:xfrm>
            <a:off x="376758" y="5315140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vr2 = </a:t>
            </a:r>
            <a:r>
              <a:rPr lang="en-US" sz="1600" b="1" dirty="0" err="1">
                <a:latin typeface="Courier" pitchFamily="2" charset="0"/>
              </a:rPr>
              <a:t>addi</a:t>
            </a:r>
            <a:r>
              <a:rPr lang="en-US" sz="1600" b="1" dirty="0">
                <a:latin typeface="Courier" pitchFamily="2" charset="0"/>
              </a:rPr>
              <a:t>(vr0,vr1);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4D80B6-6F52-E241-AAAB-593D0918AEE8}"/>
              </a:ext>
            </a:extLst>
          </p:cNvPr>
          <p:cNvSpPr txBox="1"/>
          <p:nvPr/>
        </p:nvSpPr>
        <p:spPr>
          <a:xfrm>
            <a:off x="376758" y="5679464"/>
            <a:ext cx="31470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vr3 = vr_int2float(vr2);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AB29E7-8FDB-F146-994D-4A25E796886F}"/>
              </a:ext>
            </a:extLst>
          </p:cNvPr>
          <p:cNvSpPr txBox="1"/>
          <p:nvPr/>
        </p:nvSpPr>
        <p:spPr>
          <a:xfrm>
            <a:off x="376758" y="6018018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vr5 = </a:t>
            </a:r>
            <a:r>
              <a:rPr lang="en-US" sz="1600" b="1" dirty="0" err="1">
                <a:latin typeface="Courier" pitchFamily="2" charset="0"/>
              </a:rPr>
              <a:t>addf</a:t>
            </a:r>
            <a:r>
              <a:rPr lang="en-US" sz="1600" b="1" dirty="0">
                <a:latin typeface="Courier" pitchFamily="2" charset="0"/>
              </a:rPr>
              <a:t>(vr3,vr4);</a:t>
            </a:r>
          </a:p>
        </p:txBody>
      </p:sp>
    </p:spTree>
    <p:extLst>
      <p:ext uri="{BB962C8B-B14F-4D97-AF65-F5344CB8AC3E}">
        <p14:creationId xmlns:p14="http://schemas.microsoft.com/office/powerpoint/2010/main" val="3285538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091961" y="3522638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4234124" y="2725455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3296266" y="3092472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4520639" y="3092472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5464806" y="3522638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6163324" y="1352552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5033927" y="2266355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053696" y="1721884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7395256" y="2737311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4172723" y="1897023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5430472" y="1721884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A2094C3-A2F8-AA48-B311-27DE1635C3C5}"/>
              </a:ext>
            </a:extLst>
          </p:cNvPr>
          <p:cNvSpPr txBox="1"/>
          <p:nvPr/>
        </p:nvSpPr>
        <p:spPr>
          <a:xfrm>
            <a:off x="8800450" y="5849446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vr4 = float2vr(5.5);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60FC01-0A9A-3E43-9A96-29DAF658B35E}"/>
              </a:ext>
            </a:extLst>
          </p:cNvPr>
          <p:cNvSpPr txBox="1"/>
          <p:nvPr/>
        </p:nvSpPr>
        <p:spPr>
          <a:xfrm>
            <a:off x="8800450" y="4613845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vr1 = int2vr(y);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1A20E-727A-9E47-9B99-96E36EAB4DE8}"/>
              </a:ext>
            </a:extLst>
          </p:cNvPr>
          <p:cNvSpPr txBox="1"/>
          <p:nvPr/>
        </p:nvSpPr>
        <p:spPr>
          <a:xfrm>
            <a:off x="8800450" y="4205290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vr0 = int2vr(x);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BE866E-E7D8-274B-B66A-0ED824E49A54}"/>
              </a:ext>
            </a:extLst>
          </p:cNvPr>
          <p:cNvSpPr txBox="1"/>
          <p:nvPr/>
        </p:nvSpPr>
        <p:spPr>
          <a:xfrm>
            <a:off x="8800450" y="5022400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vr2 = </a:t>
            </a:r>
            <a:r>
              <a:rPr lang="en-US" sz="1600" b="1" dirty="0" err="1">
                <a:latin typeface="Courier" pitchFamily="2" charset="0"/>
              </a:rPr>
              <a:t>addi</a:t>
            </a:r>
            <a:r>
              <a:rPr lang="en-US" sz="1600" b="1" dirty="0">
                <a:latin typeface="Courier" pitchFamily="2" charset="0"/>
              </a:rPr>
              <a:t>(vr0,vr1);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4D80B6-6F52-E241-AAAB-593D0918AEE8}"/>
              </a:ext>
            </a:extLst>
          </p:cNvPr>
          <p:cNvSpPr txBox="1"/>
          <p:nvPr/>
        </p:nvSpPr>
        <p:spPr>
          <a:xfrm>
            <a:off x="8800450" y="5430955"/>
            <a:ext cx="31470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vr3 = vr_int2float(vr2);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AB29E7-8FDB-F146-994D-4A25E796886F}"/>
              </a:ext>
            </a:extLst>
          </p:cNvPr>
          <p:cNvSpPr txBox="1"/>
          <p:nvPr/>
        </p:nvSpPr>
        <p:spPr>
          <a:xfrm>
            <a:off x="8800450" y="6267937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vr5 = </a:t>
            </a:r>
            <a:r>
              <a:rPr lang="en-US" sz="1600" b="1" dirty="0" err="1">
                <a:latin typeface="Courier" pitchFamily="2" charset="0"/>
              </a:rPr>
              <a:t>addf</a:t>
            </a:r>
            <a:r>
              <a:rPr lang="en-US" sz="1600" b="1" dirty="0">
                <a:latin typeface="Courier" pitchFamily="2" charset="0"/>
              </a:rPr>
              <a:t>(vr3,vr4);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90FB16-E9D3-224E-B25A-C8E81B63792E}"/>
              </a:ext>
            </a:extLst>
          </p:cNvPr>
          <p:cNvSpPr txBox="1"/>
          <p:nvPr/>
        </p:nvSpPr>
        <p:spPr>
          <a:xfrm>
            <a:off x="335914" y="5127702"/>
            <a:ext cx="4173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create a 3 address program doing a post-order traversal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374D7-18F4-394E-8C84-A0449C22BF84}"/>
              </a:ext>
            </a:extLst>
          </p:cNvPr>
          <p:cNvSpPr txBox="1"/>
          <p:nvPr/>
        </p:nvSpPr>
        <p:spPr>
          <a:xfrm>
            <a:off x="8800450" y="3677404"/>
            <a:ext cx="148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 program</a:t>
            </a:r>
          </a:p>
        </p:txBody>
      </p:sp>
    </p:spTree>
    <p:extLst>
      <p:ext uri="{BB962C8B-B14F-4D97-AF65-F5344CB8AC3E}">
        <p14:creationId xmlns:p14="http://schemas.microsoft.com/office/powerpoint/2010/main" val="1554097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7DAF75-85A8-CD49-95AA-E070173DC7B6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E3E9A-B64D-DF4D-A311-01450A41EF87}"/>
              </a:ext>
            </a:extLst>
          </p:cNvPr>
          <p:cNvSpPr txBox="1"/>
          <p:nvPr/>
        </p:nvSpPr>
        <p:spPr>
          <a:xfrm>
            <a:off x="3091961" y="3522638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F1002-271A-374F-8700-E76EFCD340CA}"/>
              </a:ext>
            </a:extLst>
          </p:cNvPr>
          <p:cNvSpPr txBox="1"/>
          <p:nvPr/>
        </p:nvSpPr>
        <p:spPr>
          <a:xfrm>
            <a:off x="4234124" y="2725455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ABD0A4-82DC-E546-980C-BBDB9F702420}"/>
              </a:ext>
            </a:extLst>
          </p:cNvPr>
          <p:cNvCxnSpPr>
            <a:cxnSpLocks/>
          </p:cNvCxnSpPr>
          <p:nvPr/>
        </p:nvCxnSpPr>
        <p:spPr>
          <a:xfrm flipH="1">
            <a:off x="3296266" y="3092472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464E9F-6718-CE48-B556-F750992B0739}"/>
              </a:ext>
            </a:extLst>
          </p:cNvPr>
          <p:cNvCxnSpPr>
            <a:cxnSpLocks/>
          </p:cNvCxnSpPr>
          <p:nvPr/>
        </p:nvCxnSpPr>
        <p:spPr>
          <a:xfrm>
            <a:off x="4520639" y="3092472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13B196-509B-D643-BE14-9DCA174461B4}"/>
              </a:ext>
            </a:extLst>
          </p:cNvPr>
          <p:cNvSpPr txBox="1"/>
          <p:nvPr/>
        </p:nvSpPr>
        <p:spPr>
          <a:xfrm>
            <a:off x="5464806" y="3522638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1C0DE-DC9E-B346-81CE-9410FE38FA6C}"/>
              </a:ext>
            </a:extLst>
          </p:cNvPr>
          <p:cNvSpPr txBox="1"/>
          <p:nvPr/>
        </p:nvSpPr>
        <p:spPr>
          <a:xfrm>
            <a:off x="6163324" y="1352552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vr5&gt;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429A3-9F38-594E-9F93-02B5AF03DE83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5033927" y="2266355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9B4FDC-6D0E-4042-8550-3DDD294D7E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053696" y="1721884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B76434-E280-8549-96C9-E89D6B7CF0E7}"/>
              </a:ext>
            </a:extLst>
          </p:cNvPr>
          <p:cNvSpPr txBox="1"/>
          <p:nvPr/>
        </p:nvSpPr>
        <p:spPr>
          <a:xfrm>
            <a:off x="7395256" y="2737311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E5A4-882F-B64C-9FA2-62695ECB0C65}"/>
              </a:ext>
            </a:extLst>
          </p:cNvPr>
          <p:cNvSpPr txBox="1"/>
          <p:nvPr/>
        </p:nvSpPr>
        <p:spPr>
          <a:xfrm>
            <a:off x="4172723" y="1897023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9312B6-F4ED-164D-A4F2-AFB80D85EA69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flipH="1">
            <a:off x="5430472" y="1721884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A2094C3-A2F8-AA48-B311-27DE1635C3C5}"/>
              </a:ext>
            </a:extLst>
          </p:cNvPr>
          <p:cNvSpPr txBox="1"/>
          <p:nvPr/>
        </p:nvSpPr>
        <p:spPr>
          <a:xfrm>
            <a:off x="8800450" y="5849446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vr4 = float2vr(5.5);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60FC01-0A9A-3E43-9A96-29DAF658B35E}"/>
              </a:ext>
            </a:extLst>
          </p:cNvPr>
          <p:cNvSpPr txBox="1"/>
          <p:nvPr/>
        </p:nvSpPr>
        <p:spPr>
          <a:xfrm>
            <a:off x="8800450" y="4613845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vr1 = int2vr(y);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1A20E-727A-9E47-9B99-96E36EAB4DE8}"/>
              </a:ext>
            </a:extLst>
          </p:cNvPr>
          <p:cNvSpPr txBox="1"/>
          <p:nvPr/>
        </p:nvSpPr>
        <p:spPr>
          <a:xfrm>
            <a:off x="8800450" y="4205290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vr0 = int2vr(x);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BE866E-E7D8-274B-B66A-0ED824E49A54}"/>
              </a:ext>
            </a:extLst>
          </p:cNvPr>
          <p:cNvSpPr txBox="1"/>
          <p:nvPr/>
        </p:nvSpPr>
        <p:spPr>
          <a:xfrm>
            <a:off x="8800450" y="5022400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vr2 = </a:t>
            </a:r>
            <a:r>
              <a:rPr lang="en-US" sz="1600" b="1" dirty="0" err="1">
                <a:latin typeface="Courier" pitchFamily="2" charset="0"/>
              </a:rPr>
              <a:t>addi</a:t>
            </a:r>
            <a:r>
              <a:rPr lang="en-US" sz="1600" b="1" dirty="0">
                <a:latin typeface="Courier" pitchFamily="2" charset="0"/>
              </a:rPr>
              <a:t>(vr0,vr1);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4D80B6-6F52-E241-AAAB-593D0918AEE8}"/>
              </a:ext>
            </a:extLst>
          </p:cNvPr>
          <p:cNvSpPr txBox="1"/>
          <p:nvPr/>
        </p:nvSpPr>
        <p:spPr>
          <a:xfrm>
            <a:off x="8800450" y="5430955"/>
            <a:ext cx="31470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vr3 = vr_int2float(vr2);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AB29E7-8FDB-F146-994D-4A25E796886F}"/>
              </a:ext>
            </a:extLst>
          </p:cNvPr>
          <p:cNvSpPr txBox="1"/>
          <p:nvPr/>
        </p:nvSpPr>
        <p:spPr>
          <a:xfrm>
            <a:off x="8800450" y="6267937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vr5 = </a:t>
            </a:r>
            <a:r>
              <a:rPr lang="en-US" sz="1600" b="1" dirty="0" err="1">
                <a:latin typeface="Courier" pitchFamily="2" charset="0"/>
              </a:rPr>
              <a:t>addf</a:t>
            </a:r>
            <a:r>
              <a:rPr lang="en-US" sz="1600" b="1" dirty="0">
                <a:latin typeface="Courier" pitchFamily="2" charset="0"/>
              </a:rPr>
              <a:t>(vr3,vr4);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90FB16-E9D3-224E-B25A-C8E81B63792E}"/>
              </a:ext>
            </a:extLst>
          </p:cNvPr>
          <p:cNvSpPr txBox="1"/>
          <p:nvPr/>
        </p:nvSpPr>
        <p:spPr>
          <a:xfrm>
            <a:off x="335914" y="5127702"/>
            <a:ext cx="4173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create a 3 address program doing a post-order traversal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374D7-18F4-394E-8C84-A0449C22BF84}"/>
              </a:ext>
            </a:extLst>
          </p:cNvPr>
          <p:cNvSpPr txBox="1"/>
          <p:nvPr/>
        </p:nvSpPr>
        <p:spPr>
          <a:xfrm>
            <a:off x="8800450" y="3677404"/>
            <a:ext cx="148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53E19-DF46-C3F0-0175-120E1EEC8805}"/>
              </a:ext>
            </a:extLst>
          </p:cNvPr>
          <p:cNvSpPr txBox="1"/>
          <p:nvPr/>
        </p:nvSpPr>
        <p:spPr>
          <a:xfrm>
            <a:off x="5400979" y="5769509"/>
            <a:ext cx="2507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Is this the only ordering?</a:t>
            </a:r>
          </a:p>
        </p:txBody>
      </p:sp>
    </p:spTree>
    <p:extLst>
      <p:ext uri="{BB962C8B-B14F-4D97-AF65-F5344CB8AC3E}">
        <p14:creationId xmlns:p14="http://schemas.microsoft.com/office/powerpoint/2010/main" val="3579994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04EE-3AEE-E045-B494-213DB3118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20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Thinking at a higher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275B2C-C4B0-3846-806B-FAD1E9ADF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805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8700" dirty="0"/>
              <a:t>What we now know how to do:</a:t>
            </a:r>
          </a:p>
          <a:p>
            <a:pPr marL="0" indent="0">
              <a:buNone/>
            </a:pPr>
            <a:endParaRPr lang="en-US" sz="4000" dirty="0"/>
          </a:p>
          <a:p>
            <a:pPr lvl="1"/>
            <a:r>
              <a:rPr lang="en-US" sz="3900" dirty="0"/>
              <a:t> </a:t>
            </a:r>
            <a:r>
              <a:rPr lang="en-US" sz="6400" dirty="0"/>
              <a:t>parse an expression: </a:t>
            </a:r>
            <a:r>
              <a:rPr lang="en-US" sz="6400" dirty="0" err="1">
                <a:latin typeface="Courier" pitchFamily="2" charset="0"/>
              </a:rPr>
              <a:t>parse_expr</a:t>
            </a:r>
            <a:endParaRPr lang="en-US" sz="6400" dirty="0">
              <a:latin typeface="Courier" pitchFamily="2" charset="0"/>
            </a:endParaRPr>
          </a:p>
          <a:p>
            <a:endParaRPr lang="en-US" sz="7000" dirty="0">
              <a:latin typeface="Courier" pitchFamily="2" charset="0"/>
            </a:endParaRPr>
          </a:p>
          <a:p>
            <a:pPr lvl="1"/>
            <a:r>
              <a:rPr lang="en-US" sz="6400" dirty="0"/>
              <a:t>create an AST during parsing</a:t>
            </a:r>
          </a:p>
          <a:p>
            <a:endParaRPr lang="en-US" sz="7000" dirty="0"/>
          </a:p>
          <a:p>
            <a:pPr lvl="1"/>
            <a:r>
              <a:rPr lang="en-US" sz="6400" dirty="0"/>
              <a:t>do type inference on an AST</a:t>
            </a:r>
          </a:p>
          <a:p>
            <a:endParaRPr lang="en-US" sz="7000" dirty="0"/>
          </a:p>
          <a:p>
            <a:pPr lvl="1"/>
            <a:r>
              <a:rPr lang="en-US" sz="6400" dirty="0"/>
              <a:t>convert a type-safe AST into 3 address code</a:t>
            </a:r>
          </a:p>
        </p:txBody>
      </p:sp>
    </p:spTree>
    <p:extLst>
      <p:ext uri="{BB962C8B-B14F-4D97-AF65-F5344CB8AC3E}">
        <p14:creationId xmlns:p14="http://schemas.microsoft.com/office/powerpoint/2010/main" val="3546874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04EE-3AEE-E045-B494-213DB3118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Backing up to an even higher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275B2C-C4B0-3846-806B-FAD1E9AD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now define what our parser return as: </a:t>
            </a:r>
          </a:p>
          <a:p>
            <a:pPr lvl="1"/>
            <a:r>
              <a:rPr lang="en-US" sz="3600" dirty="0">
                <a:highlight>
                  <a:srgbClr val="FFFF00"/>
                </a:highlight>
              </a:rPr>
              <a:t>A list of 3 address code</a:t>
            </a:r>
          </a:p>
          <a:p>
            <a:endParaRPr lang="en-US" dirty="0"/>
          </a:p>
          <a:p>
            <a:r>
              <a:rPr lang="en-US" dirty="0"/>
              <a:t>We can get 3 address code from parsing expressions, </a:t>
            </a:r>
          </a:p>
          <a:p>
            <a:pPr marL="0" indent="0">
              <a:buNone/>
            </a:pPr>
            <a:r>
              <a:rPr lang="en-US" dirty="0"/>
              <a:t>   now we just need to get it from statements</a:t>
            </a:r>
          </a:p>
        </p:txBody>
      </p:sp>
    </p:spTree>
    <p:extLst>
      <p:ext uri="{BB962C8B-B14F-4D97-AF65-F5344CB8AC3E}">
        <p14:creationId xmlns:p14="http://schemas.microsoft.com/office/powerpoint/2010/main" val="23381544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C3909-A4AF-DE4A-8A18-D30E60340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our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56410" y="2291418"/>
            <a:ext cx="69929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1C14B4-7643-4E41-93E8-945A43ADD474}"/>
              </a:ext>
            </a:extLst>
          </p:cNvPr>
          <p:cNvSpPr txBox="1"/>
          <p:nvPr/>
        </p:nvSpPr>
        <p:spPr>
          <a:xfrm>
            <a:off x="1205701" y="4763588"/>
            <a:ext cx="102986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Our top-down parser should have a function called   </a:t>
            </a:r>
            <a:r>
              <a:rPr lang="en-US" sz="2400" dirty="0" err="1">
                <a:latin typeface="Courier" pitchFamily="2" charset="0"/>
              </a:rPr>
              <a:t>parse_statement</a:t>
            </a:r>
            <a:endParaRPr lang="en-US" sz="2400" dirty="0">
              <a:latin typeface="Courier" pitchFamily="2" charset="0"/>
            </a:endParaRP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/>
              <a:t>This should return a list of 3 address code instructions that encode the statement</a:t>
            </a:r>
          </a:p>
        </p:txBody>
      </p:sp>
    </p:spTree>
    <p:extLst>
      <p:ext uri="{BB962C8B-B14F-4D97-AF65-F5344CB8AC3E}">
        <p14:creationId xmlns:p14="http://schemas.microsoft.com/office/powerpoint/2010/main" val="3837530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C3909-A4AF-DE4A-8A18-D30E60340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our grammar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56410" y="2291418"/>
            <a:ext cx="69929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1C14B4-7643-4E41-93E8-945A43ADD474}"/>
              </a:ext>
            </a:extLst>
          </p:cNvPr>
          <p:cNvSpPr txBox="1"/>
          <p:nvPr/>
        </p:nvSpPr>
        <p:spPr>
          <a:xfrm>
            <a:off x="1205701" y="4763588"/>
            <a:ext cx="102986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Our top down parser should have a function called   </a:t>
            </a:r>
            <a:r>
              <a:rPr lang="en-US" sz="2400" dirty="0" err="1">
                <a:latin typeface="Courier" pitchFamily="2" charset="0"/>
              </a:rPr>
              <a:t>parse_statement</a:t>
            </a:r>
            <a:endParaRPr lang="en-US" sz="2400" dirty="0">
              <a:latin typeface="Courier" pitchFamily="2" charset="0"/>
            </a:endParaRP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/>
              <a:t>This should return a list of 3 address code instructions that encode the statement</a:t>
            </a:r>
          </a:p>
        </p:txBody>
      </p:sp>
    </p:spTree>
    <p:extLst>
      <p:ext uri="{BB962C8B-B14F-4D97-AF65-F5344CB8AC3E}">
        <p14:creationId xmlns:p14="http://schemas.microsoft.com/office/powerpoint/2010/main" val="40859339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DE84F26-C82B-0447-AF3D-16031FD25107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03A95-F819-2047-A155-1E9F3F5D5871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 + y + 5.5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737B73-4B0D-554A-A629-7055A2D6E7C7}"/>
              </a:ext>
            </a:extLst>
          </p:cNvPr>
          <p:cNvSpPr/>
          <p:nvPr/>
        </p:nvSpPr>
        <p:spPr>
          <a:xfrm>
            <a:off x="384898" y="3301304"/>
            <a:ext cx="699298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parse_expr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type_inference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assign_registers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?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36738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DE84F26-C82B-0447-AF3D-16031FD25107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03A95-F819-2047-A155-1E9F3F5D5871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737B73-4B0D-554A-A629-7055A2D6E7C7}"/>
              </a:ext>
            </a:extLst>
          </p:cNvPr>
          <p:cNvSpPr/>
          <p:nvPr/>
        </p:nvSpPr>
        <p:spPr>
          <a:xfrm>
            <a:off x="384897" y="3301304"/>
            <a:ext cx="755225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FF"/>
                </a:highlight>
                <a:latin typeface="Courier" pitchFamily="2" charset="0"/>
              </a:rPr>
              <a:t>type_inference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FF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assign_registers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 # 3-addr IR code of expr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?  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22766F-5C8D-EDE7-465C-6D29AFB60D00}"/>
              </a:ext>
            </a:extLst>
          </p:cNvPr>
          <p:cNvSpPr txBox="1"/>
          <p:nvPr/>
        </p:nvSpPr>
        <p:spPr>
          <a:xfrm>
            <a:off x="5564305" y="4534401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</a:t>
            </a:r>
            <a:r>
              <a:rPr lang="en-US" dirty="0">
                <a:highlight>
                  <a:srgbClr val="00FFFF"/>
                </a:highlight>
              </a:rPr>
              <a:t>int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vr0</a:t>
            </a:r>
            <a:r>
              <a:rPr lang="en-US" dirty="0"/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BCB265-2941-9DDF-167B-B4BBFA50CF97}"/>
              </a:ext>
            </a:extLst>
          </p:cNvPr>
          <p:cNvSpPr txBox="1"/>
          <p:nvPr/>
        </p:nvSpPr>
        <p:spPr>
          <a:xfrm>
            <a:off x="6706468" y="3737218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</a:t>
            </a:r>
            <a:r>
              <a:rPr lang="en-US" dirty="0">
                <a:highlight>
                  <a:srgbClr val="00FFFF"/>
                </a:highlight>
              </a:rPr>
              <a:t>int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vr2</a:t>
            </a:r>
            <a:r>
              <a:rPr lang="en-US" dirty="0"/>
              <a:t>&gt;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825953-B55B-DCEC-DED0-9ADB35C0410D}"/>
              </a:ext>
            </a:extLst>
          </p:cNvPr>
          <p:cNvCxnSpPr>
            <a:cxnSpLocks/>
          </p:cNvCxnSpPr>
          <p:nvPr/>
        </p:nvCxnSpPr>
        <p:spPr>
          <a:xfrm flipH="1">
            <a:off x="5768610" y="4104235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56C6DA-2EBF-9EDA-CC53-3DB978571D12}"/>
              </a:ext>
            </a:extLst>
          </p:cNvPr>
          <p:cNvCxnSpPr>
            <a:cxnSpLocks/>
          </p:cNvCxnSpPr>
          <p:nvPr/>
        </p:nvCxnSpPr>
        <p:spPr>
          <a:xfrm>
            <a:off x="6992983" y="4104235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A58F0D4-D5FF-482D-4115-67044654323F}"/>
              </a:ext>
            </a:extLst>
          </p:cNvPr>
          <p:cNvSpPr txBox="1"/>
          <p:nvPr/>
        </p:nvSpPr>
        <p:spPr>
          <a:xfrm>
            <a:off x="7937150" y="4534401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</a:t>
            </a:r>
            <a:r>
              <a:rPr lang="en-US" dirty="0">
                <a:highlight>
                  <a:srgbClr val="00FFFF"/>
                </a:highlight>
              </a:rPr>
              <a:t>int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vr1</a:t>
            </a:r>
            <a:r>
              <a:rPr lang="en-US" dirty="0"/>
              <a:t>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E26C1-FDAF-8A24-1163-947D018CA867}"/>
              </a:ext>
            </a:extLst>
          </p:cNvPr>
          <p:cNvSpPr txBox="1"/>
          <p:nvPr/>
        </p:nvSpPr>
        <p:spPr>
          <a:xfrm>
            <a:off x="8635668" y="2364315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</a:t>
            </a:r>
            <a:r>
              <a:rPr lang="en-US" dirty="0">
                <a:highlight>
                  <a:srgbClr val="00FFFF"/>
                </a:highlight>
              </a:rPr>
              <a:t>float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vr5</a:t>
            </a:r>
            <a:r>
              <a:rPr lang="en-US" dirty="0"/>
              <a:t>&gt;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770DC-6256-F267-DDF8-654FCE965490}"/>
              </a:ext>
            </a:extLst>
          </p:cNvPr>
          <p:cNvCxnSpPr>
            <a:cxnSpLocks/>
            <a:stCxn id="11" idx="2"/>
            <a:endCxn id="3" idx="0"/>
          </p:cNvCxnSpPr>
          <p:nvPr/>
        </p:nvCxnSpPr>
        <p:spPr>
          <a:xfrm flipH="1">
            <a:off x="7506271" y="3278118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566BB2-8EF1-4E34-EF96-6DC0090E0D8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9526040" y="2733647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4642C1-CAD8-29FB-F7F0-A40520316EAF}"/>
              </a:ext>
            </a:extLst>
          </p:cNvPr>
          <p:cNvSpPr txBox="1"/>
          <p:nvPr/>
        </p:nvSpPr>
        <p:spPr>
          <a:xfrm>
            <a:off x="9867600" y="3749074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</a:t>
            </a:r>
            <a:r>
              <a:rPr lang="en-US" dirty="0">
                <a:highlight>
                  <a:srgbClr val="00FFFF"/>
                </a:highlight>
              </a:rPr>
              <a:t>float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vr4</a:t>
            </a:r>
            <a:r>
              <a:rPr lang="en-US" dirty="0"/>
              <a:t>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96637-B81B-8BF2-3E39-86077EC39637}"/>
              </a:ext>
            </a:extLst>
          </p:cNvPr>
          <p:cNvSpPr txBox="1"/>
          <p:nvPr/>
        </p:nvSpPr>
        <p:spPr>
          <a:xfrm>
            <a:off x="6645067" y="2908786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</a:t>
            </a:r>
            <a:r>
              <a:rPr lang="en-US" dirty="0">
                <a:highlight>
                  <a:srgbClr val="00FFFF"/>
                </a:highlight>
              </a:rPr>
              <a:t>float</a:t>
            </a:r>
            <a:r>
              <a:rPr lang="en-US" dirty="0"/>
              <a:t>, </a:t>
            </a:r>
            <a:r>
              <a:rPr lang="en-US" dirty="0">
                <a:highlight>
                  <a:srgbClr val="00FF00"/>
                </a:highlight>
              </a:rPr>
              <a:t>vr3</a:t>
            </a:r>
            <a:r>
              <a:rPr lang="en-US" dirty="0"/>
              <a:t>&gt;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72876AA-58B4-2889-7148-9EBE0C754C24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flipH="1">
            <a:off x="7902816" y="2733647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0556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9BF493-2B1A-0146-9AFA-F4A7281E0D54}"/>
              </a:ext>
            </a:extLst>
          </p:cNvPr>
          <p:cNvSpPr txBox="1"/>
          <p:nvPr/>
        </p:nvSpPr>
        <p:spPr>
          <a:xfrm>
            <a:off x="5564305" y="4534401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951229-D79F-8B4D-AE14-BA8A503744F0}"/>
              </a:ext>
            </a:extLst>
          </p:cNvPr>
          <p:cNvSpPr txBox="1"/>
          <p:nvPr/>
        </p:nvSpPr>
        <p:spPr>
          <a:xfrm>
            <a:off x="6706468" y="3737218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AEFD07-3A6C-E34A-85D3-618A63A30AD9}"/>
              </a:ext>
            </a:extLst>
          </p:cNvPr>
          <p:cNvCxnSpPr>
            <a:cxnSpLocks/>
          </p:cNvCxnSpPr>
          <p:nvPr/>
        </p:nvCxnSpPr>
        <p:spPr>
          <a:xfrm flipH="1">
            <a:off x="5768610" y="4104235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8D63225-0764-2340-8F28-AA7ED393DEB6}"/>
              </a:ext>
            </a:extLst>
          </p:cNvPr>
          <p:cNvCxnSpPr>
            <a:cxnSpLocks/>
          </p:cNvCxnSpPr>
          <p:nvPr/>
        </p:nvCxnSpPr>
        <p:spPr>
          <a:xfrm>
            <a:off x="6992983" y="4104235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F361F85-89C1-BA44-8473-6877A0D94C49}"/>
              </a:ext>
            </a:extLst>
          </p:cNvPr>
          <p:cNvSpPr txBox="1"/>
          <p:nvPr/>
        </p:nvSpPr>
        <p:spPr>
          <a:xfrm>
            <a:off x="7937150" y="4534401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E3E889-1544-1842-B315-92DDDE119596}"/>
              </a:ext>
            </a:extLst>
          </p:cNvPr>
          <p:cNvSpPr txBox="1"/>
          <p:nvPr/>
        </p:nvSpPr>
        <p:spPr>
          <a:xfrm>
            <a:off x="8635668" y="2364315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AST&lt;+,float, vr5&gt;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AF09F12-E284-A347-8BF5-533CB8AC8D36}"/>
              </a:ext>
            </a:extLst>
          </p:cNvPr>
          <p:cNvCxnSpPr>
            <a:cxnSpLocks/>
            <a:stCxn id="26" idx="2"/>
            <a:endCxn id="18" idx="0"/>
          </p:cNvCxnSpPr>
          <p:nvPr/>
        </p:nvCxnSpPr>
        <p:spPr>
          <a:xfrm flipH="1">
            <a:off x="7506271" y="3278118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33F270-484C-5E4A-890E-E645E6424FC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526040" y="2733647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2242D62-98F0-6042-A2E6-99A92B6F9039}"/>
              </a:ext>
            </a:extLst>
          </p:cNvPr>
          <p:cNvSpPr txBox="1"/>
          <p:nvPr/>
        </p:nvSpPr>
        <p:spPr>
          <a:xfrm>
            <a:off x="9867600" y="3749074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535A3A-C2E9-704E-B3B3-1D4A5155DB0F}"/>
              </a:ext>
            </a:extLst>
          </p:cNvPr>
          <p:cNvSpPr txBox="1"/>
          <p:nvPr/>
        </p:nvSpPr>
        <p:spPr>
          <a:xfrm>
            <a:off x="6645067" y="2908786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3A1F53-2949-4347-89AF-1010E704E6B5}"/>
              </a:ext>
            </a:extLst>
          </p:cNvPr>
          <p:cNvCxnSpPr>
            <a:cxnSpLocks/>
            <a:stCxn id="22" idx="2"/>
            <a:endCxn id="26" idx="0"/>
          </p:cNvCxnSpPr>
          <p:nvPr/>
        </p:nvCxnSpPr>
        <p:spPr>
          <a:xfrm flipH="1">
            <a:off x="7902816" y="2733647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6A8E5B6-1ABB-4D47-8D9E-16892E36A3AB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A90BF2-DACB-A641-A2A3-6A8A23FB1287}"/>
              </a:ext>
            </a:extLst>
          </p:cNvPr>
          <p:cNvSpPr/>
          <p:nvPr/>
        </p:nvSpPr>
        <p:spPr>
          <a:xfrm>
            <a:off x="384898" y="3301304"/>
            <a:ext cx="699298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?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4284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9BF493-2B1A-0146-9AFA-F4A7281E0D54}"/>
              </a:ext>
            </a:extLst>
          </p:cNvPr>
          <p:cNvSpPr txBox="1"/>
          <p:nvPr/>
        </p:nvSpPr>
        <p:spPr>
          <a:xfrm>
            <a:off x="5564305" y="4534401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vr0&gt;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951229-D79F-8B4D-AE14-BA8A503744F0}"/>
              </a:ext>
            </a:extLst>
          </p:cNvPr>
          <p:cNvSpPr txBox="1"/>
          <p:nvPr/>
        </p:nvSpPr>
        <p:spPr>
          <a:xfrm>
            <a:off x="6706468" y="3737218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vr2&gt;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AEFD07-3A6C-E34A-85D3-618A63A30AD9}"/>
              </a:ext>
            </a:extLst>
          </p:cNvPr>
          <p:cNvCxnSpPr>
            <a:cxnSpLocks/>
          </p:cNvCxnSpPr>
          <p:nvPr/>
        </p:nvCxnSpPr>
        <p:spPr>
          <a:xfrm flipH="1">
            <a:off x="5768610" y="4104235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8D63225-0764-2340-8F28-AA7ED393DEB6}"/>
              </a:ext>
            </a:extLst>
          </p:cNvPr>
          <p:cNvCxnSpPr>
            <a:cxnSpLocks/>
          </p:cNvCxnSpPr>
          <p:nvPr/>
        </p:nvCxnSpPr>
        <p:spPr>
          <a:xfrm>
            <a:off x="6992983" y="4104235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F361F85-89C1-BA44-8473-6877A0D94C49}"/>
              </a:ext>
            </a:extLst>
          </p:cNvPr>
          <p:cNvSpPr txBox="1"/>
          <p:nvPr/>
        </p:nvSpPr>
        <p:spPr>
          <a:xfrm>
            <a:off x="7937150" y="4534401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vr1&gt;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E3E889-1544-1842-B315-92DDDE119596}"/>
              </a:ext>
            </a:extLst>
          </p:cNvPr>
          <p:cNvSpPr txBox="1"/>
          <p:nvPr/>
        </p:nvSpPr>
        <p:spPr>
          <a:xfrm>
            <a:off x="8635668" y="2364315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AST&lt;+,float, vr5&gt;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AF09F12-E284-A347-8BF5-533CB8AC8D36}"/>
              </a:ext>
            </a:extLst>
          </p:cNvPr>
          <p:cNvCxnSpPr>
            <a:cxnSpLocks/>
            <a:stCxn id="26" idx="2"/>
            <a:endCxn id="18" idx="0"/>
          </p:cNvCxnSpPr>
          <p:nvPr/>
        </p:nvCxnSpPr>
        <p:spPr>
          <a:xfrm flipH="1">
            <a:off x="7506271" y="3278118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33F270-484C-5E4A-890E-E645E6424FC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526040" y="2733647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2242D62-98F0-6042-A2E6-99A92B6F9039}"/>
              </a:ext>
            </a:extLst>
          </p:cNvPr>
          <p:cNvSpPr txBox="1"/>
          <p:nvPr/>
        </p:nvSpPr>
        <p:spPr>
          <a:xfrm>
            <a:off x="9867600" y="3749074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vr4&gt;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535A3A-C2E9-704E-B3B3-1D4A5155DB0F}"/>
              </a:ext>
            </a:extLst>
          </p:cNvPr>
          <p:cNvSpPr txBox="1"/>
          <p:nvPr/>
        </p:nvSpPr>
        <p:spPr>
          <a:xfrm>
            <a:off x="6645067" y="2908786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vr3&gt;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3A1F53-2949-4347-89AF-1010E704E6B5}"/>
              </a:ext>
            </a:extLst>
          </p:cNvPr>
          <p:cNvCxnSpPr>
            <a:cxnSpLocks/>
            <a:stCxn id="22" idx="2"/>
            <a:endCxn id="26" idx="0"/>
          </p:cNvCxnSpPr>
          <p:nvPr/>
        </p:nvCxnSpPr>
        <p:spPr>
          <a:xfrm flipH="1">
            <a:off x="7902816" y="2733647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6A8E5B6-1ABB-4D47-8D9E-16892E36A3AB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A90BF2-DACB-A641-A2A3-6A8A23FB1287}"/>
              </a:ext>
            </a:extLst>
          </p:cNvPr>
          <p:cNvSpPr/>
          <p:nvPr/>
        </p:nvSpPr>
        <p:spPr>
          <a:xfrm>
            <a:off x="384898" y="3301304"/>
            <a:ext cx="699298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id_name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,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ast.vr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0342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84898" y="3301304"/>
            <a:ext cx="699298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id_name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,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ast.vr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DF3A71-1594-0840-B5DA-1BE23E4052B3}"/>
              </a:ext>
            </a:extLst>
          </p:cNvPr>
          <p:cNvSpPr txBox="1"/>
          <p:nvPr/>
        </p:nvSpPr>
        <p:spPr>
          <a:xfrm>
            <a:off x="8660087" y="4379965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vr4 = float2vr(5.5);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3AD599-DB2D-2947-9AFD-E789AF827947}"/>
              </a:ext>
            </a:extLst>
          </p:cNvPr>
          <p:cNvSpPr txBox="1"/>
          <p:nvPr/>
        </p:nvSpPr>
        <p:spPr>
          <a:xfrm>
            <a:off x="8660087" y="3144364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vr1 = int2vr(y);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9568E-CBAC-764E-B530-DF410E9F6BC2}"/>
              </a:ext>
            </a:extLst>
          </p:cNvPr>
          <p:cNvSpPr txBox="1"/>
          <p:nvPr/>
        </p:nvSpPr>
        <p:spPr>
          <a:xfrm>
            <a:off x="8660087" y="2735809"/>
            <a:ext cx="2159566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vr0 = int2vr(x);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4DFD83-3277-B341-BA1B-3A376C8C45FB}"/>
              </a:ext>
            </a:extLst>
          </p:cNvPr>
          <p:cNvSpPr txBox="1"/>
          <p:nvPr/>
        </p:nvSpPr>
        <p:spPr>
          <a:xfrm>
            <a:off x="8660087" y="3552919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vr2 = </a:t>
            </a:r>
            <a:r>
              <a:rPr lang="en-US" sz="1600" b="1" dirty="0" err="1">
                <a:latin typeface="Courier" pitchFamily="2" charset="0"/>
              </a:rPr>
              <a:t>addi</a:t>
            </a:r>
            <a:r>
              <a:rPr lang="en-US" sz="1600" b="1" dirty="0">
                <a:latin typeface="Courier" pitchFamily="2" charset="0"/>
              </a:rPr>
              <a:t>(vr0,vr1);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9DD0FA-CBEF-8A4A-AE7C-4439490DEDAA}"/>
              </a:ext>
            </a:extLst>
          </p:cNvPr>
          <p:cNvSpPr txBox="1"/>
          <p:nvPr/>
        </p:nvSpPr>
        <p:spPr>
          <a:xfrm>
            <a:off x="8660087" y="3961474"/>
            <a:ext cx="31470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vr3 = vr_int2float(vr2);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166F8C-2773-8940-9761-5819895F2A68}"/>
              </a:ext>
            </a:extLst>
          </p:cNvPr>
          <p:cNvSpPr txBox="1"/>
          <p:nvPr/>
        </p:nvSpPr>
        <p:spPr>
          <a:xfrm>
            <a:off x="8660087" y="4798456"/>
            <a:ext cx="26532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vr5 = </a:t>
            </a:r>
            <a:r>
              <a:rPr lang="en-US" sz="1600" b="1" dirty="0" err="1">
                <a:latin typeface="Courier" pitchFamily="2" charset="0"/>
              </a:rPr>
              <a:t>addf</a:t>
            </a:r>
            <a:r>
              <a:rPr lang="en-US" sz="1600" b="1" dirty="0">
                <a:latin typeface="Courier" pitchFamily="2" charset="0"/>
              </a:rPr>
              <a:t>(vr3,vr4);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25853C-65C7-A74B-9A7C-9994241A70F5}"/>
              </a:ext>
            </a:extLst>
          </p:cNvPr>
          <p:cNvSpPr txBox="1"/>
          <p:nvPr/>
        </p:nvSpPr>
        <p:spPr>
          <a:xfrm>
            <a:off x="8586652" y="2284286"/>
            <a:ext cx="984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program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AEBA86-3D59-E546-B7AC-AB2885363B4F}"/>
              </a:ext>
            </a:extLst>
          </p:cNvPr>
          <p:cNvSpPr txBox="1"/>
          <p:nvPr/>
        </p:nvSpPr>
        <p:spPr>
          <a:xfrm>
            <a:off x="8660087" y="5577875"/>
            <a:ext cx="104868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" pitchFamily="2" charset="0"/>
              </a:rPr>
              <a:t>w = vr5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371A7C-BF26-4F44-8396-6119A8BBF4C3}"/>
              </a:ext>
            </a:extLst>
          </p:cNvPr>
          <p:cNvSpPr txBox="1"/>
          <p:nvPr/>
        </p:nvSpPr>
        <p:spPr>
          <a:xfrm>
            <a:off x="8593128" y="5164998"/>
            <a:ext cx="9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</a:t>
            </a:r>
            <a:r>
              <a:rPr lang="en-US" dirty="0" err="1"/>
              <a:t>inst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958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314426" y="2366477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84898" y="3301304"/>
            <a:ext cx="699298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latin typeface="Courier" pitchFamily="2" charset="0"/>
              </a:rPr>
              <a:t>float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1ECA89-F17E-2A4B-B526-0A589ABD8D20}"/>
              </a:ext>
            </a:extLst>
          </p:cNvPr>
          <p:cNvSpPr txBox="1"/>
          <p:nvPr/>
        </p:nvSpPr>
        <p:spPr>
          <a:xfrm>
            <a:off x="8307977" y="2185851"/>
            <a:ext cx="349912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What are we missing for this assignment?</a:t>
            </a:r>
          </a:p>
          <a:p>
            <a:endParaRPr lang="en-US" dirty="0"/>
          </a:p>
          <a:p>
            <a:r>
              <a:rPr lang="en-US" dirty="0"/>
              <a:t>1. If the type of ID doesn’t match</a:t>
            </a:r>
            <a:br>
              <a:rPr lang="en-US" dirty="0"/>
            </a:br>
            <a:r>
              <a:rPr lang="en-US" dirty="0"/>
              <a:t>the type of the </a:t>
            </a:r>
            <a:r>
              <a:rPr lang="en-US" dirty="0" err="1"/>
              <a:t>ast</a:t>
            </a:r>
            <a:r>
              <a:rPr lang="en-US" dirty="0"/>
              <a:t>, then the </a:t>
            </a:r>
            <a:r>
              <a:rPr lang="en-US" dirty="0" err="1"/>
              <a:t>ast</a:t>
            </a:r>
            <a:br>
              <a:rPr lang="en-US" dirty="0"/>
            </a:br>
            <a:r>
              <a:rPr lang="en-US" dirty="0"/>
              <a:t>needs to be converted.</a:t>
            </a:r>
          </a:p>
          <a:p>
            <a:endParaRPr lang="en-US" dirty="0"/>
          </a:p>
          <a:p>
            <a:r>
              <a:rPr lang="en-US" dirty="0"/>
              <a:t>2. ID should be checked if it is</a:t>
            </a:r>
            <a:br>
              <a:rPr lang="en-US" dirty="0"/>
            </a:br>
            <a:r>
              <a:rPr lang="en-US" dirty="0"/>
              <a:t>an input/output variable. which</a:t>
            </a:r>
            <a:br>
              <a:rPr lang="en-US" dirty="0"/>
            </a:br>
            <a:r>
              <a:rPr lang="en-US" dirty="0"/>
              <a:t>means it will need to be handled</a:t>
            </a:r>
            <a:br>
              <a:rPr lang="en-US" dirty="0"/>
            </a:br>
            <a:r>
              <a:rPr lang="en-US" dirty="0"/>
              <a:t>differently.</a:t>
            </a:r>
          </a:p>
          <a:p>
            <a:endParaRPr lang="en-US" dirty="0"/>
          </a:p>
          <a:p>
            <a:r>
              <a:rPr lang="en-US" dirty="0"/>
              <a:t>3. You need to check the ID in the symbol table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B76CB7-3E31-D54E-BC30-BADE10782E8C}"/>
              </a:ext>
            </a:extLst>
          </p:cNvPr>
          <p:cNvSpPr txBox="1"/>
          <p:nvPr/>
        </p:nvSpPr>
        <p:spPr>
          <a:xfrm>
            <a:off x="7696200" y="6358467"/>
            <a:ext cx="2320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 can get a little messy</a:t>
            </a:r>
          </a:p>
        </p:txBody>
      </p:sp>
    </p:spTree>
    <p:extLst>
      <p:ext uri="{BB962C8B-B14F-4D97-AF65-F5344CB8AC3E}">
        <p14:creationId xmlns:p14="http://schemas.microsoft.com/office/powerpoint/2010/main" val="10691321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3784" y="1698568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45789" y="2201595"/>
            <a:ext cx="873894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# get ID data type</a:t>
            </a: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if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INT and 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  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ast.node_type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FLOAT: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ASTFloatToInt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int</a:t>
            </a:r>
            <a:r>
              <a:rPr lang="en-US" dirty="0">
                <a:latin typeface="Courier" pitchFamily="2" charset="0"/>
              </a:rPr>
              <a:t>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6EEAB8-8F35-6BC1-8BE7-3431260AFD3A}"/>
              </a:ext>
            </a:extLst>
          </p:cNvPr>
          <p:cNvSpPr txBox="1"/>
          <p:nvPr/>
        </p:nvSpPr>
        <p:spPr>
          <a:xfrm>
            <a:off x="6363055" y="4416724"/>
            <a:ext cx="1827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one possible case</a:t>
            </a:r>
          </a:p>
        </p:txBody>
      </p:sp>
    </p:spTree>
    <p:extLst>
      <p:ext uri="{BB962C8B-B14F-4D97-AF65-F5344CB8AC3E}">
        <p14:creationId xmlns:p14="http://schemas.microsoft.com/office/powerpoint/2010/main" val="33676140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3784" y="1698568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45789" y="2201595"/>
            <a:ext cx="873894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# get ID data type</a:t>
            </a: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if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INT and 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  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ast.node_type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FLOAT: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ASTFloatToInt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assign_registers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int</a:t>
            </a:r>
            <a:r>
              <a:rPr lang="en-US" dirty="0">
                <a:latin typeface="Courier" pitchFamily="2" charset="0"/>
              </a:rPr>
              <a:t>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C8050-BBC0-1146-BD6D-5E91DFF3A300}"/>
              </a:ext>
            </a:extLst>
          </p:cNvPr>
          <p:cNvSpPr txBox="1"/>
          <p:nvPr/>
        </p:nvSpPr>
        <p:spPr>
          <a:xfrm>
            <a:off x="5853331" y="4237986"/>
            <a:ext cx="14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?&gt;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3FA13-B1DA-4E41-9EF2-CCC716099B58}"/>
              </a:ext>
            </a:extLst>
          </p:cNvPr>
          <p:cNvSpPr txBox="1"/>
          <p:nvPr/>
        </p:nvSpPr>
        <p:spPr>
          <a:xfrm>
            <a:off x="6995494" y="3440803"/>
            <a:ext cx="1405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?&gt;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B2233F-295B-9546-A001-3388112156CD}"/>
              </a:ext>
            </a:extLst>
          </p:cNvPr>
          <p:cNvCxnSpPr>
            <a:cxnSpLocks/>
          </p:cNvCxnSpPr>
          <p:nvPr/>
        </p:nvCxnSpPr>
        <p:spPr>
          <a:xfrm flipH="1">
            <a:off x="6057636" y="380782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A64D6D-DCA4-C348-9ADC-BE4CC3E7BE91}"/>
              </a:ext>
            </a:extLst>
          </p:cNvPr>
          <p:cNvCxnSpPr>
            <a:cxnSpLocks/>
          </p:cNvCxnSpPr>
          <p:nvPr/>
        </p:nvCxnSpPr>
        <p:spPr>
          <a:xfrm>
            <a:off x="7282009" y="380782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EC3E6E-E55A-B848-B620-E8E8001E40EE}"/>
              </a:ext>
            </a:extLst>
          </p:cNvPr>
          <p:cNvSpPr txBox="1"/>
          <p:nvPr/>
        </p:nvSpPr>
        <p:spPr>
          <a:xfrm>
            <a:off x="8226176" y="4237986"/>
            <a:ext cx="1430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?&gt;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DEF56-9C43-8144-A94D-54DF62D3DD36}"/>
              </a:ext>
            </a:extLst>
          </p:cNvPr>
          <p:cNvSpPr txBox="1"/>
          <p:nvPr/>
        </p:nvSpPr>
        <p:spPr>
          <a:xfrm>
            <a:off x="8924694" y="2067900"/>
            <a:ext cx="15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?&gt;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FA74D3D-E52C-9D46-AC0A-4898E2C33266}"/>
              </a:ext>
            </a:extLst>
          </p:cNvPr>
          <p:cNvCxnSpPr>
            <a:cxnSpLocks/>
            <a:stCxn id="16" idx="2"/>
            <a:endCxn id="8" idx="0"/>
          </p:cNvCxnSpPr>
          <p:nvPr/>
        </p:nvCxnSpPr>
        <p:spPr>
          <a:xfrm flipH="1">
            <a:off x="7698315" y="298170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5652F6-7714-C842-8131-C052815E81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9718085" y="2437232"/>
            <a:ext cx="1346546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79680CA-73A6-2041-A51C-D36F632A5FB5}"/>
              </a:ext>
            </a:extLst>
          </p:cNvPr>
          <p:cNvSpPr txBox="1"/>
          <p:nvPr/>
        </p:nvSpPr>
        <p:spPr>
          <a:xfrm>
            <a:off x="10156626" y="3452659"/>
            <a:ext cx="1816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?&gt;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E0F0D7-B793-EB40-AFEB-149CC42DCC18}"/>
              </a:ext>
            </a:extLst>
          </p:cNvPr>
          <p:cNvSpPr txBox="1"/>
          <p:nvPr/>
        </p:nvSpPr>
        <p:spPr>
          <a:xfrm>
            <a:off x="6934093" y="2612371"/>
            <a:ext cx="2321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?&gt;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84BB30-B68C-064B-9F6B-DCADA30A4B8C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 flipH="1">
            <a:off x="8094860" y="2437232"/>
            <a:ext cx="1623225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0FDCE5-9B16-7740-9BD0-6BC7ED3D372F}"/>
              </a:ext>
            </a:extLst>
          </p:cNvPr>
          <p:cNvSpPr txBox="1"/>
          <p:nvPr/>
        </p:nvSpPr>
        <p:spPr>
          <a:xfrm>
            <a:off x="8924694" y="1152988"/>
            <a:ext cx="208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AST&lt;float2int,int, ?&gt;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2A0B9D0-340D-FB4E-9B65-417231110881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flipH="1">
            <a:off x="9718085" y="1522320"/>
            <a:ext cx="250357" cy="545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34372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3784" y="1698568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45789" y="2201595"/>
            <a:ext cx="873894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# get ID data type</a:t>
            </a: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if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INT and 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  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ast.node_type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FLOAT: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ASTFloatToInt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assign_registers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int</a:t>
            </a:r>
            <a:r>
              <a:rPr lang="en-US" dirty="0">
                <a:latin typeface="Courier" pitchFamily="2" charset="0"/>
              </a:rPr>
              <a:t> w;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C8050-BBC0-1146-BD6D-5E91DFF3A300}"/>
              </a:ext>
            </a:extLst>
          </p:cNvPr>
          <p:cNvSpPr txBox="1"/>
          <p:nvPr/>
        </p:nvSpPr>
        <p:spPr>
          <a:xfrm>
            <a:off x="5853331" y="423798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</a:t>
            </a:r>
            <a:r>
              <a:rPr lang="en-US" dirty="0">
                <a:highlight>
                  <a:srgbClr val="00FF00"/>
                </a:highlight>
              </a:rPr>
              <a:t>vr0</a:t>
            </a:r>
            <a:r>
              <a:rPr lang="en-US" dirty="0"/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3FA13-B1DA-4E41-9EF2-CCC716099B58}"/>
              </a:ext>
            </a:extLst>
          </p:cNvPr>
          <p:cNvSpPr txBox="1"/>
          <p:nvPr/>
        </p:nvSpPr>
        <p:spPr>
          <a:xfrm>
            <a:off x="6995494" y="344080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</a:t>
            </a:r>
            <a:r>
              <a:rPr lang="en-US" dirty="0">
                <a:highlight>
                  <a:srgbClr val="00FF00"/>
                </a:highlight>
              </a:rPr>
              <a:t>vr2</a:t>
            </a:r>
            <a:r>
              <a:rPr lang="en-US" dirty="0"/>
              <a:t>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B2233F-295B-9546-A001-3388112156CD}"/>
              </a:ext>
            </a:extLst>
          </p:cNvPr>
          <p:cNvCxnSpPr>
            <a:cxnSpLocks/>
          </p:cNvCxnSpPr>
          <p:nvPr/>
        </p:nvCxnSpPr>
        <p:spPr>
          <a:xfrm flipH="1">
            <a:off x="6057636" y="380782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A64D6D-DCA4-C348-9ADC-BE4CC3E7BE91}"/>
              </a:ext>
            </a:extLst>
          </p:cNvPr>
          <p:cNvCxnSpPr>
            <a:cxnSpLocks/>
          </p:cNvCxnSpPr>
          <p:nvPr/>
        </p:nvCxnSpPr>
        <p:spPr>
          <a:xfrm>
            <a:off x="7282009" y="380782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EC3E6E-E55A-B848-B620-E8E8001E40EE}"/>
              </a:ext>
            </a:extLst>
          </p:cNvPr>
          <p:cNvSpPr txBox="1"/>
          <p:nvPr/>
        </p:nvSpPr>
        <p:spPr>
          <a:xfrm>
            <a:off x="8226176" y="423798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</a:t>
            </a:r>
            <a:r>
              <a:rPr lang="en-US" dirty="0">
                <a:highlight>
                  <a:srgbClr val="00FF00"/>
                </a:highlight>
              </a:rPr>
              <a:t>vr1</a:t>
            </a:r>
            <a:r>
              <a:rPr lang="en-US" dirty="0"/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DEF56-9C43-8144-A94D-54DF62D3DD36}"/>
              </a:ext>
            </a:extLst>
          </p:cNvPr>
          <p:cNvSpPr txBox="1"/>
          <p:nvPr/>
        </p:nvSpPr>
        <p:spPr>
          <a:xfrm>
            <a:off x="8924694" y="206790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</a:t>
            </a:r>
            <a:r>
              <a:rPr lang="en-US" dirty="0">
                <a:highlight>
                  <a:srgbClr val="00FF00"/>
                </a:highlight>
              </a:rPr>
              <a:t>vr5</a:t>
            </a:r>
            <a:r>
              <a:rPr lang="en-US" dirty="0"/>
              <a:t>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FA74D3D-E52C-9D46-AC0A-4898E2C33266}"/>
              </a:ext>
            </a:extLst>
          </p:cNvPr>
          <p:cNvCxnSpPr>
            <a:cxnSpLocks/>
            <a:stCxn id="16" idx="2"/>
            <a:endCxn id="8" idx="0"/>
          </p:cNvCxnSpPr>
          <p:nvPr/>
        </p:nvCxnSpPr>
        <p:spPr>
          <a:xfrm flipH="1">
            <a:off x="7795297" y="298170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5652F6-7714-C842-8131-C052815E81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9815066" y="243723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79680CA-73A6-2041-A51C-D36F632A5FB5}"/>
              </a:ext>
            </a:extLst>
          </p:cNvPr>
          <p:cNvSpPr txBox="1"/>
          <p:nvPr/>
        </p:nvSpPr>
        <p:spPr>
          <a:xfrm>
            <a:off x="10156626" y="345265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</a:t>
            </a:r>
            <a:r>
              <a:rPr lang="en-US" dirty="0">
                <a:highlight>
                  <a:srgbClr val="00FF00"/>
                </a:highlight>
              </a:rPr>
              <a:t>vr4</a:t>
            </a:r>
            <a:r>
              <a:rPr lang="en-US" dirty="0"/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E0F0D7-B793-EB40-AFEB-149CC42DCC18}"/>
              </a:ext>
            </a:extLst>
          </p:cNvPr>
          <p:cNvSpPr txBox="1"/>
          <p:nvPr/>
        </p:nvSpPr>
        <p:spPr>
          <a:xfrm>
            <a:off x="6934093" y="261237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</a:t>
            </a:r>
            <a:r>
              <a:rPr lang="en-US" dirty="0">
                <a:highlight>
                  <a:srgbClr val="00FF00"/>
                </a:highlight>
              </a:rPr>
              <a:t>vr3</a:t>
            </a:r>
            <a:r>
              <a:rPr lang="en-US" dirty="0"/>
              <a:t>&gt;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84BB30-B68C-064B-9F6B-DCADA30A4B8C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 flipH="1">
            <a:off x="8191842" y="243723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0FDCE5-9B16-7740-9BD0-6BC7ED3D372F}"/>
              </a:ext>
            </a:extLst>
          </p:cNvPr>
          <p:cNvSpPr txBox="1"/>
          <p:nvPr/>
        </p:nvSpPr>
        <p:spPr>
          <a:xfrm>
            <a:off x="8924694" y="1152988"/>
            <a:ext cx="228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AST&lt;float2int,int, </a:t>
            </a:r>
            <a:r>
              <a:rPr lang="en-US" dirty="0">
                <a:highlight>
                  <a:srgbClr val="00FF00"/>
                </a:highlight>
              </a:rPr>
              <a:t>vr6</a:t>
            </a:r>
            <a:r>
              <a:rPr lang="en-US" dirty="0">
                <a:highlight>
                  <a:srgbClr val="FFFF00"/>
                </a:highlight>
              </a:rPr>
              <a:t>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2A0B9D0-340D-FB4E-9B65-417231110881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flipH="1">
            <a:off x="9815066" y="1522320"/>
            <a:ext cx="250357" cy="545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7547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3784" y="1698568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45789" y="2201595"/>
            <a:ext cx="873894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# get ID data type</a:t>
            </a: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if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INT and 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  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ast.node_type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FLOAT: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ASTFloatToInt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assign_registers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%s” 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(IO: int w) </a:t>
            </a:r>
          </a:p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C8050-BBC0-1146-BD6D-5E91DFF3A300}"/>
              </a:ext>
            </a:extLst>
          </p:cNvPr>
          <p:cNvSpPr txBox="1"/>
          <p:nvPr/>
        </p:nvSpPr>
        <p:spPr>
          <a:xfrm>
            <a:off x="5853331" y="423798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</a:t>
            </a:r>
            <a:r>
              <a:rPr lang="en-US" dirty="0">
                <a:highlight>
                  <a:srgbClr val="00FF00"/>
                </a:highlight>
              </a:rPr>
              <a:t>vr0</a:t>
            </a:r>
            <a:r>
              <a:rPr lang="en-US" dirty="0"/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3FA13-B1DA-4E41-9EF2-CCC716099B58}"/>
              </a:ext>
            </a:extLst>
          </p:cNvPr>
          <p:cNvSpPr txBox="1"/>
          <p:nvPr/>
        </p:nvSpPr>
        <p:spPr>
          <a:xfrm>
            <a:off x="6995494" y="344080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</a:t>
            </a:r>
            <a:r>
              <a:rPr lang="en-US" dirty="0">
                <a:highlight>
                  <a:srgbClr val="00FF00"/>
                </a:highlight>
              </a:rPr>
              <a:t>vr2</a:t>
            </a:r>
            <a:r>
              <a:rPr lang="en-US" dirty="0"/>
              <a:t>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B2233F-295B-9546-A001-3388112156CD}"/>
              </a:ext>
            </a:extLst>
          </p:cNvPr>
          <p:cNvCxnSpPr>
            <a:cxnSpLocks/>
          </p:cNvCxnSpPr>
          <p:nvPr/>
        </p:nvCxnSpPr>
        <p:spPr>
          <a:xfrm flipH="1">
            <a:off x="6057636" y="380782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A64D6D-DCA4-C348-9ADC-BE4CC3E7BE91}"/>
              </a:ext>
            </a:extLst>
          </p:cNvPr>
          <p:cNvCxnSpPr>
            <a:cxnSpLocks/>
          </p:cNvCxnSpPr>
          <p:nvPr/>
        </p:nvCxnSpPr>
        <p:spPr>
          <a:xfrm>
            <a:off x="7282009" y="380782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EC3E6E-E55A-B848-B620-E8E8001E40EE}"/>
              </a:ext>
            </a:extLst>
          </p:cNvPr>
          <p:cNvSpPr txBox="1"/>
          <p:nvPr/>
        </p:nvSpPr>
        <p:spPr>
          <a:xfrm>
            <a:off x="8226176" y="423798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</a:t>
            </a:r>
            <a:r>
              <a:rPr lang="en-US" dirty="0">
                <a:highlight>
                  <a:srgbClr val="00FF00"/>
                </a:highlight>
              </a:rPr>
              <a:t>vr1</a:t>
            </a:r>
            <a:r>
              <a:rPr lang="en-US" dirty="0"/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DEF56-9C43-8144-A94D-54DF62D3DD36}"/>
              </a:ext>
            </a:extLst>
          </p:cNvPr>
          <p:cNvSpPr txBox="1"/>
          <p:nvPr/>
        </p:nvSpPr>
        <p:spPr>
          <a:xfrm>
            <a:off x="8924694" y="206790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</a:t>
            </a:r>
            <a:r>
              <a:rPr lang="en-US" dirty="0">
                <a:highlight>
                  <a:srgbClr val="00FF00"/>
                </a:highlight>
              </a:rPr>
              <a:t>vr5</a:t>
            </a:r>
            <a:r>
              <a:rPr lang="en-US" dirty="0"/>
              <a:t>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FA74D3D-E52C-9D46-AC0A-4898E2C33266}"/>
              </a:ext>
            </a:extLst>
          </p:cNvPr>
          <p:cNvCxnSpPr>
            <a:cxnSpLocks/>
            <a:stCxn id="16" idx="2"/>
            <a:endCxn id="8" idx="0"/>
          </p:cNvCxnSpPr>
          <p:nvPr/>
        </p:nvCxnSpPr>
        <p:spPr>
          <a:xfrm flipH="1">
            <a:off x="7795297" y="298170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5652F6-7714-C842-8131-C052815E81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9815066" y="243723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79680CA-73A6-2041-A51C-D36F632A5FB5}"/>
              </a:ext>
            </a:extLst>
          </p:cNvPr>
          <p:cNvSpPr txBox="1"/>
          <p:nvPr/>
        </p:nvSpPr>
        <p:spPr>
          <a:xfrm>
            <a:off x="10156626" y="345265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</a:t>
            </a:r>
            <a:r>
              <a:rPr lang="en-US" dirty="0">
                <a:highlight>
                  <a:srgbClr val="00FF00"/>
                </a:highlight>
              </a:rPr>
              <a:t>vr4</a:t>
            </a:r>
            <a:r>
              <a:rPr lang="en-US" dirty="0"/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E0F0D7-B793-EB40-AFEB-149CC42DCC18}"/>
              </a:ext>
            </a:extLst>
          </p:cNvPr>
          <p:cNvSpPr txBox="1"/>
          <p:nvPr/>
        </p:nvSpPr>
        <p:spPr>
          <a:xfrm>
            <a:off x="6934093" y="261237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</a:t>
            </a:r>
            <a:r>
              <a:rPr lang="en-US" dirty="0">
                <a:highlight>
                  <a:srgbClr val="00FF00"/>
                </a:highlight>
              </a:rPr>
              <a:t>vr3</a:t>
            </a:r>
            <a:r>
              <a:rPr lang="en-US" dirty="0"/>
              <a:t>&gt;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84BB30-B68C-064B-9F6B-DCADA30A4B8C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 flipH="1">
            <a:off x="8191842" y="243723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0FDCE5-9B16-7740-9BD0-6BC7ED3D372F}"/>
              </a:ext>
            </a:extLst>
          </p:cNvPr>
          <p:cNvSpPr txBox="1"/>
          <p:nvPr/>
        </p:nvSpPr>
        <p:spPr>
          <a:xfrm>
            <a:off x="8924694" y="1152988"/>
            <a:ext cx="228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AST&lt;float2int,int, </a:t>
            </a:r>
            <a:r>
              <a:rPr lang="en-US" dirty="0">
                <a:highlight>
                  <a:srgbClr val="00FF00"/>
                </a:highlight>
              </a:rPr>
              <a:t>vr6</a:t>
            </a:r>
            <a:r>
              <a:rPr lang="en-US" dirty="0">
                <a:highlight>
                  <a:srgbClr val="FFFF00"/>
                </a:highlight>
              </a:rPr>
              <a:t>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2A0B9D0-340D-FB4E-9B65-417231110881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flipH="1">
            <a:off x="9815066" y="1522320"/>
            <a:ext cx="250357" cy="545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3B7A614-852B-FF44-8E16-65C7CF93C64A}"/>
              </a:ext>
            </a:extLst>
          </p:cNvPr>
          <p:cNvSpPr txBox="1"/>
          <p:nvPr/>
        </p:nvSpPr>
        <p:spPr>
          <a:xfrm>
            <a:off x="3098800" y="101600"/>
            <a:ext cx="4428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would we deal with w as an IO variable?</a:t>
            </a:r>
          </a:p>
        </p:txBody>
      </p:sp>
    </p:spTree>
    <p:extLst>
      <p:ext uri="{BB962C8B-B14F-4D97-AF65-F5344CB8AC3E}">
        <p14:creationId xmlns:p14="http://schemas.microsoft.com/office/powerpoint/2010/main" val="39116192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A7301C-F55E-AE45-A98D-566FF553C626}"/>
              </a:ext>
            </a:extLst>
          </p:cNvPr>
          <p:cNvSpPr/>
          <p:nvPr/>
        </p:nvSpPr>
        <p:spPr>
          <a:xfrm>
            <a:off x="283784" y="1698568"/>
            <a:ext cx="69929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assignment_statement_base</a:t>
            </a:r>
            <a:r>
              <a:rPr lang="en-US" dirty="0">
                <a:latin typeface="Courier" pitchFamily="2" charset="0"/>
              </a:rPr>
              <a:t> := ID ASSIGN expr 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019AC-BFF3-704E-B078-7A6360CE682F}"/>
              </a:ext>
            </a:extLst>
          </p:cNvPr>
          <p:cNvSpPr/>
          <p:nvPr/>
        </p:nvSpPr>
        <p:spPr>
          <a:xfrm>
            <a:off x="345789" y="2201595"/>
            <a:ext cx="873894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to_match.value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# get ID data type</a:t>
            </a:r>
          </a:p>
          <a:p>
            <a:r>
              <a:rPr lang="en-US" dirty="0">
                <a:latin typeface="Courier" pitchFamily="2" charset="0"/>
              </a:rPr>
              <a:t>   eat(“ID”);</a:t>
            </a:r>
          </a:p>
          <a:p>
            <a:r>
              <a:rPr lang="en-US" dirty="0">
                <a:latin typeface="Courier" pitchFamily="2" charset="0"/>
              </a:rPr>
              <a:t>   eat(“ASSIGN”);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type_inference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if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INT and 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  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ast.node_type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== FLOAT: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ASTFloatToInt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assign_registers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ast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program = </a:t>
            </a:r>
            <a:r>
              <a:rPr lang="en-US" dirty="0" err="1">
                <a:latin typeface="Courier" pitchFamily="2" charset="0"/>
              </a:rPr>
              <a:t>ast.linearize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 = “%s =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vr2int(%s)” </a:t>
            </a:r>
            <a:r>
              <a:rPr lang="en-US" dirty="0">
                <a:latin typeface="Courier" pitchFamily="2" charset="0"/>
              </a:rPr>
              <a:t>% 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ast.vr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return program + [</a:t>
            </a:r>
            <a:r>
              <a:rPr lang="en-US" dirty="0" err="1">
                <a:latin typeface="Courier" pitchFamily="2" charset="0"/>
              </a:rPr>
              <a:t>new_inst</a:t>
            </a:r>
            <a:r>
              <a:rPr lang="en-US" dirty="0">
                <a:latin typeface="Courier" pitchFamily="2" charset="0"/>
              </a:rPr>
              <a:t>]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C90992-E52D-6048-A92A-C8A9575BA810}"/>
              </a:ext>
            </a:extLst>
          </p:cNvPr>
          <p:cNvSpPr txBox="1"/>
          <p:nvPr/>
        </p:nvSpPr>
        <p:spPr>
          <a:xfrm>
            <a:off x="283784" y="80942"/>
            <a:ext cx="225254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(IO: int w) </a:t>
            </a:r>
          </a:p>
          <a:p>
            <a:r>
              <a:rPr lang="en-US" dirty="0">
                <a:latin typeface="Courier" pitchFamily="2" charset="0"/>
              </a:rPr>
              <a:t>int x;</a:t>
            </a:r>
          </a:p>
          <a:p>
            <a:r>
              <a:rPr lang="en-US" dirty="0">
                <a:latin typeface="Courier" pitchFamily="2" charset="0"/>
              </a:rPr>
              <a:t>int y;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w = x + y + 5.5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C8050-BBC0-1146-BD6D-5E91DFF3A300}"/>
              </a:ext>
            </a:extLst>
          </p:cNvPr>
          <p:cNvSpPr txBox="1"/>
          <p:nvPr/>
        </p:nvSpPr>
        <p:spPr>
          <a:xfrm>
            <a:off x="5853331" y="4237986"/>
            <a:ext cx="1636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AST&lt;x, int, </a:t>
            </a:r>
            <a:r>
              <a:rPr lang="en-US" dirty="0">
                <a:highlight>
                  <a:srgbClr val="00FF00"/>
                </a:highlight>
              </a:rPr>
              <a:t>vr0</a:t>
            </a:r>
            <a:r>
              <a:rPr lang="en-US" dirty="0"/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3FA13-B1DA-4E41-9EF2-CCC716099B58}"/>
              </a:ext>
            </a:extLst>
          </p:cNvPr>
          <p:cNvSpPr txBox="1"/>
          <p:nvPr/>
        </p:nvSpPr>
        <p:spPr>
          <a:xfrm>
            <a:off x="6995494" y="3440803"/>
            <a:ext cx="15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AST&lt;+,int, </a:t>
            </a:r>
            <a:r>
              <a:rPr lang="en-US" dirty="0">
                <a:highlight>
                  <a:srgbClr val="00FF00"/>
                </a:highlight>
              </a:rPr>
              <a:t>vr2</a:t>
            </a:r>
            <a:r>
              <a:rPr lang="en-US" dirty="0"/>
              <a:t>&gt;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B2233F-295B-9546-A001-3388112156CD}"/>
              </a:ext>
            </a:extLst>
          </p:cNvPr>
          <p:cNvCxnSpPr>
            <a:cxnSpLocks/>
          </p:cNvCxnSpPr>
          <p:nvPr/>
        </p:nvCxnSpPr>
        <p:spPr>
          <a:xfrm flipH="1">
            <a:off x="6057636" y="380782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A64D6D-DCA4-C348-9ADC-BE4CC3E7BE91}"/>
              </a:ext>
            </a:extLst>
          </p:cNvPr>
          <p:cNvCxnSpPr>
            <a:cxnSpLocks/>
          </p:cNvCxnSpPr>
          <p:nvPr/>
        </p:nvCxnSpPr>
        <p:spPr>
          <a:xfrm>
            <a:off x="7282009" y="380782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EC3E6E-E55A-B848-B620-E8E8001E40EE}"/>
              </a:ext>
            </a:extLst>
          </p:cNvPr>
          <p:cNvSpPr txBox="1"/>
          <p:nvPr/>
        </p:nvSpPr>
        <p:spPr>
          <a:xfrm>
            <a:off x="8226176" y="4237986"/>
            <a:ext cx="162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AST&lt;y, int, </a:t>
            </a:r>
            <a:r>
              <a:rPr lang="en-US" dirty="0">
                <a:highlight>
                  <a:srgbClr val="00FF00"/>
                </a:highlight>
              </a:rPr>
              <a:t>vr1</a:t>
            </a:r>
            <a:r>
              <a:rPr lang="en-US" dirty="0"/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DEF56-9C43-8144-A94D-54DF62D3DD36}"/>
              </a:ext>
            </a:extLst>
          </p:cNvPr>
          <p:cNvSpPr txBox="1"/>
          <p:nvPr/>
        </p:nvSpPr>
        <p:spPr>
          <a:xfrm>
            <a:off x="8924694" y="2067900"/>
            <a:ext cx="17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AST&lt;+,float, </a:t>
            </a:r>
            <a:r>
              <a:rPr lang="en-US" dirty="0">
                <a:highlight>
                  <a:srgbClr val="00FF00"/>
                </a:highlight>
              </a:rPr>
              <a:t>vr5</a:t>
            </a:r>
            <a:r>
              <a:rPr lang="en-US" dirty="0"/>
              <a:t>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FA74D3D-E52C-9D46-AC0A-4898E2C33266}"/>
              </a:ext>
            </a:extLst>
          </p:cNvPr>
          <p:cNvCxnSpPr>
            <a:cxnSpLocks/>
            <a:stCxn id="16" idx="2"/>
            <a:endCxn id="8" idx="0"/>
          </p:cNvCxnSpPr>
          <p:nvPr/>
        </p:nvCxnSpPr>
        <p:spPr>
          <a:xfrm flipH="1">
            <a:off x="7795297" y="2981703"/>
            <a:ext cx="396545" cy="4591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5652F6-7714-C842-8131-C052815E81E4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9815066" y="2437232"/>
            <a:ext cx="1346547" cy="10154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79680CA-73A6-2041-A51C-D36F632A5FB5}"/>
              </a:ext>
            </a:extLst>
          </p:cNvPr>
          <p:cNvSpPr txBox="1"/>
          <p:nvPr/>
        </p:nvSpPr>
        <p:spPr>
          <a:xfrm>
            <a:off x="10156626" y="3452659"/>
            <a:ext cx="20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AST&lt;5.5, float, </a:t>
            </a:r>
            <a:r>
              <a:rPr lang="en-US" dirty="0">
                <a:highlight>
                  <a:srgbClr val="00FF00"/>
                </a:highlight>
              </a:rPr>
              <a:t>vr4</a:t>
            </a:r>
            <a:r>
              <a:rPr lang="en-US" dirty="0"/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E0F0D7-B793-EB40-AFEB-149CC42DCC18}"/>
              </a:ext>
            </a:extLst>
          </p:cNvPr>
          <p:cNvSpPr txBox="1"/>
          <p:nvPr/>
        </p:nvSpPr>
        <p:spPr>
          <a:xfrm>
            <a:off x="6934093" y="2612371"/>
            <a:ext cx="251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AST&lt;int2float, float, </a:t>
            </a:r>
            <a:r>
              <a:rPr lang="en-US" dirty="0">
                <a:highlight>
                  <a:srgbClr val="00FF00"/>
                </a:highlight>
              </a:rPr>
              <a:t>vr3</a:t>
            </a:r>
            <a:r>
              <a:rPr lang="en-US" dirty="0"/>
              <a:t>&gt;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84BB30-B68C-064B-9F6B-DCADA30A4B8C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 flipH="1">
            <a:off x="8191842" y="2437232"/>
            <a:ext cx="1623224" cy="175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0FDCE5-9B16-7740-9BD0-6BC7ED3D372F}"/>
              </a:ext>
            </a:extLst>
          </p:cNvPr>
          <p:cNvSpPr txBox="1"/>
          <p:nvPr/>
        </p:nvSpPr>
        <p:spPr>
          <a:xfrm>
            <a:off x="8924694" y="1152988"/>
            <a:ext cx="228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AST&lt;float2int,int, </a:t>
            </a:r>
            <a:r>
              <a:rPr lang="en-US" dirty="0">
                <a:highlight>
                  <a:srgbClr val="00FF00"/>
                </a:highlight>
              </a:rPr>
              <a:t>vr6</a:t>
            </a:r>
            <a:r>
              <a:rPr lang="en-US" dirty="0">
                <a:highlight>
                  <a:srgbClr val="FFFF00"/>
                </a:highlight>
              </a:rPr>
              <a:t>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2A0B9D0-340D-FB4E-9B65-417231110881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flipH="1">
            <a:off x="9815066" y="1522320"/>
            <a:ext cx="250357" cy="545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3B7A614-852B-FF44-8E16-65C7CF93C64A}"/>
              </a:ext>
            </a:extLst>
          </p:cNvPr>
          <p:cNvSpPr txBox="1"/>
          <p:nvPr/>
        </p:nvSpPr>
        <p:spPr>
          <a:xfrm>
            <a:off x="3098800" y="101600"/>
            <a:ext cx="4428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would we deal with w as an IO variable?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6748D-3661-9E41-A666-BE870AF6471B}"/>
              </a:ext>
            </a:extLst>
          </p:cNvPr>
          <p:cNvSpPr txBox="1"/>
          <p:nvPr/>
        </p:nvSpPr>
        <p:spPr>
          <a:xfrm>
            <a:off x="5203112" y="6006523"/>
            <a:ext cx="2672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Only if it is an IO variable!</a:t>
            </a:r>
          </a:p>
        </p:txBody>
      </p:sp>
    </p:spTree>
    <p:extLst>
      <p:ext uri="{BB962C8B-B14F-4D97-AF65-F5344CB8AC3E}">
        <p14:creationId xmlns:p14="http://schemas.microsoft.com/office/powerpoint/2010/main" val="4394557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F0F9E-225E-2648-BCB2-E88AA1F1B969}"/>
              </a:ext>
            </a:extLst>
          </p:cNvPr>
          <p:cNvSpPr/>
          <p:nvPr/>
        </p:nvSpPr>
        <p:spPr>
          <a:xfrm>
            <a:off x="2725782" y="1433140"/>
            <a:ext cx="69929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A7A2FD-8733-5343-A139-CBC1784C1CFD}"/>
              </a:ext>
            </a:extLst>
          </p:cNvPr>
          <p:cNvSpPr txBox="1"/>
          <p:nvPr/>
        </p:nvSpPr>
        <p:spPr>
          <a:xfrm>
            <a:off x="660400" y="431800"/>
            <a:ext cx="27637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do another one</a:t>
            </a:r>
          </a:p>
        </p:txBody>
      </p:sp>
    </p:spTree>
    <p:extLst>
      <p:ext uri="{BB962C8B-B14F-4D97-AF65-F5344CB8AC3E}">
        <p14:creationId xmlns:p14="http://schemas.microsoft.com/office/powerpoint/2010/main" val="15519506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339633" y="1859339"/>
            <a:ext cx="739698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eat(“IF”);</a:t>
            </a:r>
          </a:p>
          <a:p>
            <a:r>
              <a:rPr lang="en-US" dirty="0">
                <a:latin typeface="Courier" pitchFamily="2" charset="0"/>
              </a:rPr>
              <a:t>   eat(“LPAR”);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...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program0 = </a:t>
            </a:r>
            <a:r>
              <a:rPr lang="en-US" dirty="0">
                <a:latin typeface="Courier" pitchFamily="2" charset="0"/>
              </a:rPr>
              <a:t># type safe and linearized </a:t>
            </a:r>
            <a:r>
              <a:rPr lang="en-US" dirty="0" err="1">
                <a:latin typeface="Courier" pitchFamily="2" charset="0"/>
              </a:rPr>
              <a:t>ast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eat(“RPAR”);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eat(“ELSE”)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FF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A7CD11-C9E7-A84C-841E-B6F212D50409}"/>
              </a:ext>
            </a:extLst>
          </p:cNvPr>
          <p:cNvSpPr txBox="1"/>
          <p:nvPr/>
        </p:nvSpPr>
        <p:spPr>
          <a:xfrm>
            <a:off x="9562011" y="1254036"/>
            <a:ext cx="2252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program0</a:t>
            </a:r>
            <a:r>
              <a:rPr lang="en-US" dirty="0">
                <a:latin typeface="Courier" pitchFamily="2" charset="0"/>
              </a:rPr>
              <a:t>)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  <a:p>
            <a:r>
              <a:rPr lang="en-US" dirty="0">
                <a:latin typeface="Courier" pitchFamily="2" charset="0"/>
              </a:rPr>
              <a:t>else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712360-0EFC-604A-960F-9F645DCB8740}"/>
              </a:ext>
            </a:extLst>
          </p:cNvPr>
          <p:cNvSpPr txBox="1"/>
          <p:nvPr/>
        </p:nvSpPr>
        <p:spPr>
          <a:xfrm>
            <a:off x="9562011" y="3108679"/>
            <a:ext cx="2430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convert this</a:t>
            </a:r>
            <a:br>
              <a:rPr lang="en-US" i="1" dirty="0"/>
            </a:br>
            <a:r>
              <a:rPr lang="en-US" i="1" dirty="0"/>
              <a:t>to 3 address code</a:t>
            </a:r>
          </a:p>
        </p:txBody>
      </p:sp>
    </p:spTree>
    <p:extLst>
      <p:ext uri="{BB962C8B-B14F-4D97-AF65-F5344CB8AC3E}">
        <p14:creationId xmlns:p14="http://schemas.microsoft.com/office/powerpoint/2010/main" val="24898146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A7CD11-C9E7-A84C-841E-B6F212D50409}"/>
              </a:ext>
            </a:extLst>
          </p:cNvPr>
          <p:cNvSpPr txBox="1"/>
          <p:nvPr/>
        </p:nvSpPr>
        <p:spPr>
          <a:xfrm>
            <a:off x="9562011" y="1254036"/>
            <a:ext cx="2252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program0</a:t>
            </a:r>
            <a:r>
              <a:rPr lang="en-US" dirty="0">
                <a:latin typeface="Courier" pitchFamily="2" charset="0"/>
              </a:rPr>
              <a:t>)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  <a:p>
            <a:r>
              <a:rPr lang="en-US" dirty="0">
                <a:latin typeface="Courier" pitchFamily="2" charset="0"/>
              </a:rPr>
              <a:t>else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712360-0EFC-604A-960F-9F645DCB8740}"/>
              </a:ext>
            </a:extLst>
          </p:cNvPr>
          <p:cNvSpPr txBox="1"/>
          <p:nvPr/>
        </p:nvSpPr>
        <p:spPr>
          <a:xfrm>
            <a:off x="9562011" y="3108679"/>
            <a:ext cx="2430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convert this</a:t>
            </a:r>
            <a:br>
              <a:rPr lang="en-US" i="1" dirty="0"/>
            </a:br>
            <a:r>
              <a:rPr lang="en-US" i="1" dirty="0"/>
              <a:t>to 3 address 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8AA79-486E-3B45-96F4-BC323830C51C}"/>
              </a:ext>
            </a:extLst>
          </p:cNvPr>
          <p:cNvSpPr txBox="1"/>
          <p:nvPr/>
        </p:nvSpPr>
        <p:spPr>
          <a:xfrm>
            <a:off x="9676369" y="4609851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program0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program1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  program2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BC9AC0-6A65-C74F-82BE-625A68845704}"/>
              </a:ext>
            </a:extLst>
          </p:cNvPr>
          <p:cNvSpPr/>
          <p:nvPr/>
        </p:nvSpPr>
        <p:spPr>
          <a:xfrm>
            <a:off x="339633" y="1859339"/>
            <a:ext cx="739698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eat(“IF”);</a:t>
            </a:r>
          </a:p>
          <a:p>
            <a:r>
              <a:rPr lang="en-US" dirty="0">
                <a:latin typeface="Courier" pitchFamily="2" charset="0"/>
              </a:rPr>
              <a:t>   eat(“LPAR”);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...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program0 = </a:t>
            </a:r>
            <a:r>
              <a:rPr lang="en-US" dirty="0">
                <a:latin typeface="Courier" pitchFamily="2" charset="0"/>
              </a:rPr>
              <a:t># type safe and linearized </a:t>
            </a:r>
            <a:r>
              <a:rPr lang="en-US" dirty="0" err="1">
                <a:latin typeface="Courier" pitchFamily="2" charset="0"/>
              </a:rPr>
              <a:t>ast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eat(“RPAR”);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eat(“ELSE”)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FF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9977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A7CD11-C9E7-A84C-841E-B6F212D50409}"/>
              </a:ext>
            </a:extLst>
          </p:cNvPr>
          <p:cNvSpPr txBox="1"/>
          <p:nvPr/>
        </p:nvSpPr>
        <p:spPr>
          <a:xfrm>
            <a:off x="9562011" y="1254036"/>
            <a:ext cx="2252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program0</a:t>
            </a:r>
            <a:r>
              <a:rPr lang="en-US" dirty="0">
                <a:latin typeface="Courier" pitchFamily="2" charset="0"/>
              </a:rPr>
              <a:t>)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  <a:p>
            <a:r>
              <a:rPr lang="en-US" dirty="0">
                <a:latin typeface="Courier" pitchFamily="2" charset="0"/>
              </a:rPr>
              <a:t>else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712360-0EFC-604A-960F-9F645DCB8740}"/>
              </a:ext>
            </a:extLst>
          </p:cNvPr>
          <p:cNvSpPr txBox="1"/>
          <p:nvPr/>
        </p:nvSpPr>
        <p:spPr>
          <a:xfrm>
            <a:off x="9562011" y="3108679"/>
            <a:ext cx="2430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convert this</a:t>
            </a:r>
            <a:br>
              <a:rPr lang="en-US" i="1" dirty="0"/>
            </a:br>
            <a:r>
              <a:rPr lang="en-US" i="1" dirty="0"/>
              <a:t>to 3 address 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8AA79-486E-3B45-96F4-BC323830C51C}"/>
              </a:ext>
            </a:extLst>
          </p:cNvPr>
          <p:cNvSpPr txBox="1"/>
          <p:nvPr/>
        </p:nvSpPr>
        <p:spPr>
          <a:xfrm>
            <a:off x="6662824" y="4212285"/>
            <a:ext cx="514756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program0;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= int2vr(0)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program1</a:t>
            </a:r>
          </a:p>
          <a:p>
            <a:r>
              <a:rPr lang="en-US" dirty="0">
                <a:latin typeface="Courier" pitchFamily="2" charset="0"/>
              </a:rPr>
              <a:t>  branch(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: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  program2</a:t>
            </a:r>
            <a:br>
              <a:rPr lang="en-US" dirty="0">
                <a:highlight>
                  <a:srgbClr val="00FFFF"/>
                </a:highlight>
                <a:latin typeface="Courier" pitchFamily="2" charset="0"/>
              </a:rPr>
            </a:b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867D15-4671-C846-A139-5B7636F03274}"/>
              </a:ext>
            </a:extLst>
          </p:cNvPr>
          <p:cNvSpPr/>
          <p:nvPr/>
        </p:nvSpPr>
        <p:spPr>
          <a:xfrm>
            <a:off x="339633" y="1859339"/>
            <a:ext cx="739698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eat(“IF”);</a:t>
            </a:r>
          </a:p>
          <a:p>
            <a:r>
              <a:rPr lang="en-US" dirty="0">
                <a:latin typeface="Courier" pitchFamily="2" charset="0"/>
              </a:rPr>
              <a:t>   eat(“LPAR”);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expr_ast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parse_expr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...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 program0 = </a:t>
            </a:r>
            <a:r>
              <a:rPr lang="en-US" dirty="0">
                <a:latin typeface="Courier" pitchFamily="2" charset="0"/>
              </a:rPr>
              <a:t># type safe and linearized </a:t>
            </a:r>
            <a:r>
              <a:rPr lang="en-US" dirty="0" err="1">
                <a:latin typeface="Courier" pitchFamily="2" charset="0"/>
              </a:rPr>
              <a:t>ast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eat(“RPAR”);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eat(“ELSE”)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parse_statement</a:t>
            </a:r>
            <a:r>
              <a:rPr lang="en-US" dirty="0">
                <a:latin typeface="Courier" pitchFamily="2" charset="0"/>
              </a:rPr>
              <a:t>()</a:t>
            </a:r>
            <a:endParaRPr lang="en-US" dirty="0">
              <a:highlight>
                <a:srgbClr val="00FFFF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2729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199002" y="1743149"/>
            <a:ext cx="699298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   # get resources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 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      = </a:t>
            </a:r>
            <a:r>
              <a:rPr lang="en-US" dirty="0" err="1">
                <a:latin typeface="Courier" pitchFamily="2" charset="0"/>
              </a:rPr>
              <a:t>mk_new_vr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make instructions</a:t>
            </a:r>
          </a:p>
          <a:p>
            <a:r>
              <a:rPr lang="en-US" dirty="0">
                <a:latin typeface="Courier" pitchFamily="2" charset="0"/>
              </a:rPr>
              <a:t>   ins0 = “%s = int2vr(0)” %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# create False</a:t>
            </a:r>
          </a:p>
          <a:p>
            <a:r>
              <a:rPr lang="en-US" dirty="0">
                <a:latin typeface="Courier" pitchFamily="2" charset="0"/>
              </a:rPr>
              <a:t>   ins1 = “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(%s, %s, %s);” % </a:t>
            </a:r>
          </a:p>
          <a:p>
            <a:r>
              <a:rPr lang="en-US" dirty="0">
                <a:latin typeface="Courier" pitchFamily="2" charset="0"/>
              </a:rPr>
              <a:t>          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ins2 = “branch(%s)” % </a:t>
            </a:r>
            <a:r>
              <a:rPr lang="en-US" dirty="0" err="1">
                <a:latin typeface="Courier" pitchFamily="2" charset="0"/>
              </a:rPr>
              <a:t>end_label</a:t>
            </a:r>
            <a:endParaRPr lang="en-US" dirty="0">
              <a:latin typeface="Courier" pitchFamily="2" charset="0"/>
            </a:endParaRP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concatenate all programs</a:t>
            </a:r>
          </a:p>
          <a:p>
            <a:r>
              <a:rPr lang="en-US" dirty="0">
                <a:latin typeface="Courier" pitchFamily="2" charset="0"/>
              </a:rPr>
              <a:t>   return program0 + [ins0, ins1] + program1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[ins2, 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)]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program2 + [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)]  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A7CD11-C9E7-A84C-841E-B6F212D50409}"/>
              </a:ext>
            </a:extLst>
          </p:cNvPr>
          <p:cNvSpPr txBox="1"/>
          <p:nvPr/>
        </p:nvSpPr>
        <p:spPr>
          <a:xfrm>
            <a:off x="9562011" y="1254036"/>
            <a:ext cx="2252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program0</a:t>
            </a:r>
            <a:r>
              <a:rPr lang="en-US" dirty="0">
                <a:latin typeface="Courier" pitchFamily="2" charset="0"/>
              </a:rPr>
              <a:t>)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program1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  <a:p>
            <a:r>
              <a:rPr lang="en-US" dirty="0">
                <a:latin typeface="Courier" pitchFamily="2" charset="0"/>
              </a:rPr>
              <a:t>else {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program2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712360-0EFC-604A-960F-9F645DCB8740}"/>
              </a:ext>
            </a:extLst>
          </p:cNvPr>
          <p:cNvSpPr txBox="1"/>
          <p:nvPr/>
        </p:nvSpPr>
        <p:spPr>
          <a:xfrm>
            <a:off x="9562011" y="3108679"/>
            <a:ext cx="2430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convert this</a:t>
            </a:r>
            <a:br>
              <a:rPr lang="en-US" i="1" dirty="0"/>
            </a:br>
            <a:r>
              <a:rPr lang="en-US" i="1" dirty="0"/>
              <a:t>to 3 address 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8AA79-486E-3B45-96F4-BC323830C51C}"/>
              </a:ext>
            </a:extLst>
          </p:cNvPr>
          <p:cNvSpPr txBox="1"/>
          <p:nvPr/>
        </p:nvSpPr>
        <p:spPr>
          <a:xfrm>
            <a:off x="6988229" y="4236139"/>
            <a:ext cx="514756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program0;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= int2vr(0);   // a False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program1</a:t>
            </a:r>
          </a:p>
          <a:p>
            <a:r>
              <a:rPr lang="en-US" dirty="0">
                <a:latin typeface="Courier" pitchFamily="2" charset="0"/>
              </a:rPr>
              <a:t>  branch(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: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  program2</a:t>
            </a:r>
            <a:br>
              <a:rPr lang="en-US" dirty="0">
                <a:highlight>
                  <a:srgbClr val="00FFFF"/>
                </a:highlight>
                <a:latin typeface="Courier" pitchFamily="2" charset="0"/>
              </a:rPr>
            </a:b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618441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199002" y="1743149"/>
            <a:ext cx="699298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   # get resources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 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      = 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mk_new_vr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()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make instructions</a:t>
            </a:r>
          </a:p>
          <a:p>
            <a:r>
              <a:rPr lang="en-US" dirty="0">
                <a:latin typeface="Courier" pitchFamily="2" charset="0"/>
              </a:rPr>
              <a:t>   ins0 = “%s = int2vr(0)” % </a:t>
            </a:r>
            <a:r>
              <a:rPr lang="en-US" dirty="0" err="1">
                <a:latin typeface="Courier" pitchFamily="2" charset="0"/>
              </a:rPr>
              <a:t>vrX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ins1 = “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(%s, %s, %s);” % </a:t>
            </a:r>
          </a:p>
          <a:p>
            <a:r>
              <a:rPr lang="en-US" dirty="0">
                <a:latin typeface="Courier" pitchFamily="2" charset="0"/>
              </a:rPr>
              <a:t>          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ins2 = “branch(%s)” % </a:t>
            </a:r>
            <a:r>
              <a:rPr lang="en-US" dirty="0" err="1">
                <a:latin typeface="Courier" pitchFamily="2" charset="0"/>
              </a:rPr>
              <a:t>end_label</a:t>
            </a:r>
            <a:endParaRPr lang="en-US" dirty="0">
              <a:latin typeface="Courier" pitchFamily="2" charset="0"/>
            </a:endParaRP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concatenate all programs</a:t>
            </a:r>
          </a:p>
          <a:p>
            <a:r>
              <a:rPr lang="en-US" dirty="0">
                <a:latin typeface="Courier" pitchFamily="2" charset="0"/>
              </a:rPr>
              <a:t>   return program0 + [ins0, ins1] + program1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[ins2, 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)]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program2 + [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)]  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F6C79-BAD0-ED4A-B303-C52E2AB144B0}"/>
              </a:ext>
            </a:extLst>
          </p:cNvPr>
          <p:cNvSpPr/>
          <p:nvPr/>
        </p:nvSpPr>
        <p:spPr>
          <a:xfrm>
            <a:off x="6377360" y="2073445"/>
            <a:ext cx="5358765" cy="258532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VRAllocator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():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mk_new_vr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        </a:t>
            </a:r>
            <a:r>
              <a:rPr lang="en-US" dirty="0" err="1">
                <a:solidFill>
                  <a:srgbClr val="9FA01C"/>
                </a:solidFill>
                <a:latin typeface="Menlo" panose="020B0609030804020204" pitchFamily="49" charset="0"/>
              </a:rPr>
              <a:t>vr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vr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str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       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+= 1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vr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22068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199002" y="1743149"/>
            <a:ext cx="699298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   # get resources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  = 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mk_new_label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mk_new_label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      = </a:t>
            </a:r>
            <a:r>
              <a:rPr lang="en-US" dirty="0" err="1">
                <a:latin typeface="Courier" pitchFamily="2" charset="0"/>
              </a:rPr>
              <a:t>mk_new_vr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make instructions</a:t>
            </a:r>
          </a:p>
          <a:p>
            <a:r>
              <a:rPr lang="en-US" dirty="0">
                <a:latin typeface="Courier" pitchFamily="2" charset="0"/>
              </a:rPr>
              <a:t>   ins0 = “%s = int2vr(0)” % </a:t>
            </a:r>
            <a:r>
              <a:rPr lang="en-US" dirty="0" err="1">
                <a:latin typeface="Courier" pitchFamily="2" charset="0"/>
              </a:rPr>
              <a:t>vrX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ins1 = “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(%s, %s, %s);” % </a:t>
            </a:r>
          </a:p>
          <a:p>
            <a:r>
              <a:rPr lang="en-US" dirty="0">
                <a:latin typeface="Courier" pitchFamily="2" charset="0"/>
              </a:rPr>
              <a:t>          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ins2 = “branch(%s)” % </a:t>
            </a:r>
            <a:r>
              <a:rPr lang="en-US" dirty="0" err="1">
                <a:latin typeface="Courier" pitchFamily="2" charset="0"/>
              </a:rPr>
              <a:t>end_label</a:t>
            </a:r>
            <a:endParaRPr lang="en-US" dirty="0">
              <a:latin typeface="Courier" pitchFamily="2" charset="0"/>
            </a:endParaRP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concatenate all programs</a:t>
            </a:r>
          </a:p>
          <a:p>
            <a:r>
              <a:rPr lang="en-US" dirty="0">
                <a:latin typeface="Courier" pitchFamily="2" charset="0"/>
              </a:rPr>
              <a:t>   return program0 + [ins0, ins1] + program1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[ins2, 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)]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program2 + [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)]  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F6C79-BAD0-ED4A-B303-C52E2AB144B0}"/>
              </a:ext>
            </a:extLst>
          </p:cNvPr>
          <p:cNvSpPr/>
          <p:nvPr/>
        </p:nvSpPr>
        <p:spPr>
          <a:xfrm>
            <a:off x="6377360" y="2073445"/>
            <a:ext cx="5517791" cy="258532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LabelAllocator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():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mk_new_label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        </a:t>
            </a:r>
            <a:r>
              <a:rPr lang="en-US" dirty="0" err="1">
                <a:solidFill>
                  <a:srgbClr val="9FA01C"/>
                </a:solidFill>
                <a:latin typeface="Menlo" panose="020B0609030804020204" pitchFamily="49" charset="0"/>
              </a:rPr>
              <a:t>lb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”label"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str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       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.count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+= 1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lb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2256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199002" y="1743149"/>
            <a:ext cx="699298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   # get resources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 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      = </a:t>
            </a:r>
            <a:r>
              <a:rPr lang="en-US" dirty="0" err="1">
                <a:latin typeface="Courier" pitchFamily="2" charset="0"/>
              </a:rPr>
              <a:t>mk_new_vr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make instructions</a:t>
            </a:r>
          </a:p>
          <a:p>
            <a:r>
              <a:rPr lang="en-US" dirty="0">
                <a:latin typeface="Courier" pitchFamily="2" charset="0"/>
              </a:rPr>
              <a:t>   ins0 = “%s = int2vr(0)” % </a:t>
            </a:r>
            <a:r>
              <a:rPr lang="en-US" dirty="0" err="1">
                <a:latin typeface="Courier" pitchFamily="2" charset="0"/>
              </a:rPr>
              <a:t>vrX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ins1 = “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(%s, %s, %s);” % </a:t>
            </a:r>
          </a:p>
          <a:p>
            <a:r>
              <a:rPr lang="en-US" dirty="0">
                <a:latin typeface="Courier" pitchFamily="2" charset="0"/>
              </a:rPr>
              <a:t>          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ins2 = “branch(%s)” % </a:t>
            </a:r>
            <a:r>
              <a:rPr lang="en-US" dirty="0" err="1">
                <a:latin typeface="Courier" pitchFamily="2" charset="0"/>
              </a:rPr>
              <a:t>end_label</a:t>
            </a:r>
            <a:endParaRPr lang="en-US" dirty="0">
              <a:latin typeface="Courier" pitchFamily="2" charset="0"/>
            </a:endParaRP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concatenate all programs</a:t>
            </a:r>
          </a:p>
          <a:p>
            <a:r>
              <a:rPr lang="en-US" dirty="0">
                <a:latin typeface="Courier" pitchFamily="2" charset="0"/>
              </a:rPr>
              <a:t>   return program0 + [ins0, ins1] + program1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[ins2, 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label_code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else_label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)</a:t>
            </a:r>
            <a:r>
              <a:rPr lang="en-US" dirty="0">
                <a:latin typeface="Courier" pitchFamily="2" charset="0"/>
              </a:rPr>
              <a:t>]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program2 + [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)]  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E3C23-82FE-A145-BAF8-EB4E7320D94C}"/>
              </a:ext>
            </a:extLst>
          </p:cNvPr>
          <p:cNvSpPr txBox="1"/>
          <p:nvPr/>
        </p:nvSpPr>
        <p:spPr>
          <a:xfrm>
            <a:off x="6845435" y="2550463"/>
            <a:ext cx="514756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 program0;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= int2vr(0)</a:t>
            </a:r>
          </a:p>
          <a:p>
            <a:r>
              <a:rPr lang="en-US" dirty="0">
                <a:latin typeface="Courier" pitchFamily="2" charset="0"/>
              </a:rPr>
              <a:t>  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 program1</a:t>
            </a:r>
          </a:p>
          <a:p>
            <a:r>
              <a:rPr lang="en-US" dirty="0">
                <a:latin typeface="Courier" pitchFamily="2" charset="0"/>
              </a:rPr>
              <a:t>  branch(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);</a:t>
            </a:r>
          </a:p>
          <a:p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: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  program2</a:t>
            </a:r>
            <a:br>
              <a:rPr lang="en-US" dirty="0">
                <a:highlight>
                  <a:srgbClr val="00FFFF"/>
                </a:highlight>
                <a:latin typeface="Courier" pitchFamily="2" charset="0"/>
              </a:rPr>
            </a:b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end_label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62EC2-4E10-3C4F-9519-A970344ECDFB}"/>
              </a:ext>
            </a:extLst>
          </p:cNvPr>
          <p:cNvSpPr txBox="1"/>
          <p:nvPr/>
        </p:nvSpPr>
        <p:spPr>
          <a:xfrm>
            <a:off x="8134184" y="5454595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a :</a:t>
            </a:r>
          </a:p>
        </p:txBody>
      </p:sp>
    </p:spTree>
    <p:extLst>
      <p:ext uri="{BB962C8B-B14F-4D97-AF65-F5344CB8AC3E}">
        <p14:creationId xmlns:p14="http://schemas.microsoft.com/office/powerpoint/2010/main" val="19567275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258EB2-A9C8-4E4B-A6D5-99A5401504FF}"/>
              </a:ext>
            </a:extLst>
          </p:cNvPr>
          <p:cNvSpPr/>
          <p:nvPr/>
        </p:nvSpPr>
        <p:spPr>
          <a:xfrm>
            <a:off x="339633" y="1181240"/>
            <a:ext cx="92223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:= IF LPAR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expr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RPAR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ELSE </a:t>
            </a:r>
            <a:r>
              <a:rPr lang="en-US" dirty="0">
                <a:highlight>
                  <a:srgbClr val="00FFFF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061B3-321C-BF43-B43E-5A50006033BD}"/>
              </a:ext>
            </a:extLst>
          </p:cNvPr>
          <p:cNvSpPr/>
          <p:nvPr/>
        </p:nvSpPr>
        <p:spPr>
          <a:xfrm>
            <a:off x="199002" y="1743149"/>
            <a:ext cx="699298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...</a:t>
            </a:r>
          </a:p>
          <a:p>
            <a:r>
              <a:rPr lang="en-US" dirty="0">
                <a:latin typeface="Courier" pitchFamily="2" charset="0"/>
              </a:rPr>
              <a:t>   # get resources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 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mk_new_label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        = </a:t>
            </a:r>
            <a:r>
              <a:rPr lang="en-US" dirty="0" err="1">
                <a:latin typeface="Courier" pitchFamily="2" charset="0"/>
              </a:rPr>
              <a:t>mk_new_vr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make instructions</a:t>
            </a:r>
          </a:p>
          <a:p>
            <a:r>
              <a:rPr lang="en-US" dirty="0">
                <a:latin typeface="Courier" pitchFamily="2" charset="0"/>
              </a:rPr>
              <a:t>   ins0 = “%s = int2vr(0)” % </a:t>
            </a:r>
            <a:r>
              <a:rPr lang="en-US" dirty="0" err="1">
                <a:latin typeface="Courier" pitchFamily="2" charset="0"/>
              </a:rPr>
              <a:t>vrX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ins1 = “</a:t>
            </a:r>
            <a:r>
              <a:rPr lang="en-US" dirty="0" err="1">
                <a:latin typeface="Courier" pitchFamily="2" charset="0"/>
              </a:rPr>
              <a:t>beq</a:t>
            </a:r>
            <a:r>
              <a:rPr lang="en-US" dirty="0">
                <a:latin typeface="Courier" pitchFamily="2" charset="0"/>
              </a:rPr>
              <a:t>(%s, %s, %s);” % </a:t>
            </a:r>
          </a:p>
          <a:p>
            <a:r>
              <a:rPr lang="en-US" dirty="0">
                <a:latin typeface="Courier" pitchFamily="2" charset="0"/>
              </a:rPr>
              <a:t>          (</a:t>
            </a:r>
            <a:r>
              <a:rPr lang="en-US" dirty="0" err="1">
                <a:latin typeface="Courier" pitchFamily="2" charset="0"/>
              </a:rPr>
              <a:t>expr_ast.vr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else_label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ins2 = “branch(%s)” % </a:t>
            </a:r>
            <a:r>
              <a:rPr lang="en-US" dirty="0" err="1">
                <a:latin typeface="Courier" pitchFamily="2" charset="0"/>
              </a:rPr>
              <a:t>end_label</a:t>
            </a:r>
            <a:endParaRPr lang="en-US" dirty="0">
              <a:latin typeface="Courier" pitchFamily="2" charset="0"/>
            </a:endParaRP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# concatenate all programs</a:t>
            </a:r>
          </a:p>
          <a:p>
            <a:r>
              <a:rPr lang="en-US" dirty="0">
                <a:latin typeface="Courier" pitchFamily="2" charset="0"/>
              </a:rPr>
              <a:t>   return program0 + [ins0, ins1] + program1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[ins2, 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label_code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00FF"/>
                </a:highlight>
                <a:latin typeface="Courier" pitchFamily="2" charset="0"/>
              </a:rPr>
              <a:t>else_label</a:t>
            </a: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)</a:t>
            </a:r>
            <a:r>
              <a:rPr lang="en-US" dirty="0">
                <a:latin typeface="Courier" pitchFamily="2" charset="0"/>
              </a:rPr>
              <a:t>]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          + program2 + [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end_label</a:t>
            </a:r>
            <a:r>
              <a:rPr lang="en-US" dirty="0">
                <a:latin typeface="Courier" pitchFamily="2" charset="0"/>
              </a:rPr>
              <a:t>)]  </a:t>
            </a:r>
          </a:p>
          <a:p>
            <a:r>
              <a:rPr lang="en-US" dirty="0">
                <a:latin typeface="Courier" pitchFamily="2" charset="0"/>
              </a:rPr>
              <a:t>}</a:t>
            </a:r>
            <a:endParaRPr lang="en-US" sz="3200" dirty="0"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E3C23-82FE-A145-BAF8-EB4E7320D94C}"/>
              </a:ext>
            </a:extLst>
          </p:cNvPr>
          <p:cNvSpPr txBox="1"/>
          <p:nvPr/>
        </p:nvSpPr>
        <p:spPr>
          <a:xfrm>
            <a:off x="6877240" y="3429000"/>
            <a:ext cx="40446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" pitchFamily="2" charset="0"/>
              </a:rPr>
              <a:t>def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label_code</a:t>
            </a:r>
            <a:r>
              <a:rPr lang="en-US" dirty="0">
                <a:latin typeface="Courier" pitchFamily="2" charset="0"/>
              </a:rPr>
              <a:t>(l): </a:t>
            </a:r>
          </a:p>
          <a:p>
            <a:r>
              <a:rPr lang="en-US" b="1" dirty="0">
                <a:latin typeface="Courier" pitchFamily="2" charset="0"/>
              </a:rPr>
              <a:t>    return</a:t>
            </a:r>
            <a:r>
              <a:rPr lang="en-US" dirty="0">
                <a:latin typeface="Courier" pitchFamily="2" charset="0"/>
              </a:rPr>
              <a:t> l + “:”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# return a well-formed label</a:t>
            </a:r>
          </a:p>
          <a:p>
            <a:r>
              <a:rPr lang="en-US" dirty="0">
                <a:latin typeface="Courier" pitchFamily="2" charset="0"/>
              </a:rPr>
              <a:t># e.g.  else_label_2:</a:t>
            </a:r>
          </a:p>
        </p:txBody>
      </p:sp>
    </p:spTree>
    <p:extLst>
      <p:ext uri="{BB962C8B-B14F-4D97-AF65-F5344CB8AC3E}">
        <p14:creationId xmlns:p14="http://schemas.microsoft.com/office/powerpoint/2010/main" val="29472207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F0F9E-225E-2648-BCB2-E88AA1F1B969}"/>
              </a:ext>
            </a:extLst>
          </p:cNvPr>
          <p:cNvSpPr/>
          <p:nvPr/>
        </p:nvSpPr>
        <p:spPr>
          <a:xfrm>
            <a:off x="2725782" y="959007"/>
            <a:ext cx="699298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highlight>
                <a:srgbClr val="00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highlight>
                <a:srgbClr val="00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FBA69-4247-8041-BBEC-529DFAB1D02D}"/>
              </a:ext>
            </a:extLst>
          </p:cNvPr>
          <p:cNvSpPr txBox="1"/>
          <p:nvPr/>
        </p:nvSpPr>
        <p:spPr>
          <a:xfrm>
            <a:off x="7776375" y="1399429"/>
            <a:ext cx="1833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did these two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45B02-0560-CF4E-A34C-F0D7F1A55623}"/>
              </a:ext>
            </a:extLst>
          </p:cNvPr>
          <p:cNvSpPr txBox="1"/>
          <p:nvPr/>
        </p:nvSpPr>
        <p:spPr>
          <a:xfrm>
            <a:off x="7776375" y="1917882"/>
            <a:ext cx="3669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do these two for your homework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73566-2486-EA4E-9E28-34F75BD0A93F}"/>
              </a:ext>
            </a:extLst>
          </p:cNvPr>
          <p:cNvSpPr txBox="1"/>
          <p:nvPr/>
        </p:nvSpPr>
        <p:spPr>
          <a:xfrm>
            <a:off x="4190720" y="2949934"/>
            <a:ext cx="6023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Draw out for loops just like how we did with the if statements!</a:t>
            </a:r>
          </a:p>
        </p:txBody>
      </p:sp>
    </p:spTree>
    <p:extLst>
      <p:ext uri="{BB962C8B-B14F-4D97-AF65-F5344CB8AC3E}">
        <p14:creationId xmlns:p14="http://schemas.microsoft.com/office/powerpoint/2010/main" val="31834670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2F185-D84E-0FBD-F6FA-064C8C974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pragmatics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F0607-5B91-0B43-1E40-73679717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terminology I learned recently:</a:t>
            </a:r>
          </a:p>
          <a:p>
            <a:pPr lvl="1"/>
            <a:r>
              <a:rPr lang="en-US" b="1" dirty="0"/>
              <a:t>Pragmatics</a:t>
            </a:r>
            <a:r>
              <a:rPr lang="en-US" dirty="0"/>
              <a:t> gives you the </a:t>
            </a:r>
            <a:r>
              <a:rPr lang="en-US" i="1" dirty="0"/>
              <a:t>how and why</a:t>
            </a:r>
            <a:r>
              <a:rPr lang="en-US" dirty="0"/>
              <a:t> of how real compilers make trade-offs, handle edge cases, optimize code, or support language features not captured by formal models.</a:t>
            </a:r>
          </a:p>
          <a:p>
            <a:pPr lvl="1"/>
            <a:endParaRPr lang="en-US" dirty="0"/>
          </a:p>
          <a:p>
            <a:r>
              <a:rPr lang="en-US" dirty="0"/>
              <a:t>We need to talk about different ID types (IO, VRs)</a:t>
            </a:r>
          </a:p>
          <a:p>
            <a:r>
              <a:rPr lang="en-US" dirty="0"/>
              <a:t>We need to talk about scopes</a:t>
            </a:r>
          </a:p>
        </p:txBody>
      </p:sp>
    </p:spTree>
    <p:extLst>
      <p:ext uri="{BB962C8B-B14F-4D97-AF65-F5344CB8AC3E}">
        <p14:creationId xmlns:p14="http://schemas.microsoft.com/office/powerpoint/2010/main" val="36540688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4234CF-66E9-9249-9F6C-FEF36BAD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Inputs/outputs (IO): </a:t>
            </a:r>
            <a:r>
              <a:rPr lang="en-US" dirty="0"/>
              <a:t>32-bit typed inputs</a:t>
            </a:r>
          </a:p>
          <a:p>
            <a:pPr marL="0" indent="0">
              <a:buNone/>
            </a:pPr>
            <a:r>
              <a:rPr lang="en-US" dirty="0"/>
              <a:t>e.g.: </a:t>
            </a:r>
            <a:r>
              <a:rPr lang="en-US" dirty="0">
                <a:latin typeface="Courier" pitchFamily="2" charset="0"/>
              </a:rPr>
              <a:t>int x, int y, float z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Program Variables (Variables): </a:t>
            </a:r>
            <a:r>
              <a:rPr lang="en-US" dirty="0"/>
              <a:t>32-bit untyped virtual register</a:t>
            </a:r>
          </a:p>
          <a:p>
            <a:pPr marL="0" indent="0">
              <a:buNone/>
            </a:pPr>
            <a:r>
              <a:rPr lang="en-US" dirty="0"/>
              <a:t>given as </a:t>
            </a:r>
            <a:r>
              <a:rPr lang="en-US" dirty="0" err="1">
                <a:latin typeface="Courier" pitchFamily="2" charset="0"/>
              </a:rPr>
              <a:t>vrX</a:t>
            </a:r>
            <a:r>
              <a:rPr lang="en-US" dirty="0"/>
              <a:t> where </a:t>
            </a:r>
            <a:r>
              <a:rPr lang="en-US" dirty="0">
                <a:latin typeface="Courier" pitchFamily="2" charset="0"/>
              </a:rPr>
              <a:t>X</a:t>
            </a:r>
            <a:r>
              <a:rPr lang="en-US" dirty="0"/>
              <a:t> is an integer:</a:t>
            </a:r>
          </a:p>
          <a:p>
            <a:pPr marL="0" indent="0">
              <a:buNone/>
            </a:pPr>
            <a:r>
              <a:rPr lang="en-US" dirty="0"/>
              <a:t>e.g. </a:t>
            </a:r>
            <a:r>
              <a:rPr lang="en-US" dirty="0">
                <a:latin typeface="Courier" pitchFamily="2" charset="0"/>
              </a:rPr>
              <a:t>vr0, vr1, vr2, vr3 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assume input/output names are disjoint from virtual register names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38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different ID nodes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B8F063-264E-F34A-AB74-AFC2D1512433}"/>
              </a:ext>
            </a:extLst>
          </p:cNvPr>
          <p:cNvSpPr/>
          <p:nvPr/>
        </p:nvSpPr>
        <p:spPr>
          <a:xfrm>
            <a:off x="2737899" y="2534319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ASTVarIDNode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ASTLeafNode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value,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value_type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super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().__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__(value)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value_type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A4735-8CA2-6F4C-A646-445D500027E9}"/>
              </a:ext>
            </a:extLst>
          </p:cNvPr>
          <p:cNvSpPr/>
          <p:nvPr/>
        </p:nvSpPr>
        <p:spPr>
          <a:xfrm>
            <a:off x="2737899" y="4960012"/>
            <a:ext cx="837802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2FB41D"/>
                </a:solidFill>
                <a:latin typeface="Menlo" panose="020B0609030804020204" pitchFamily="49" charset="0"/>
              </a:rPr>
              <a:t>ASTIOIDNode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ASTLeafNode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b="1" dirty="0" err="1">
                <a:solidFill>
                  <a:srgbClr val="400BD9"/>
                </a:solidFill>
                <a:latin typeface="Menlo" panose="020B0609030804020204" pitchFamily="49" charset="0"/>
              </a:rPr>
              <a:t>init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__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value,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value_type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        super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().__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init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__(value)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value_type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97CAF-CEB3-3A4A-B842-A3CE048341F2}"/>
              </a:ext>
            </a:extLst>
          </p:cNvPr>
          <p:cNvSpPr txBox="1"/>
          <p:nvPr/>
        </p:nvSpPr>
        <p:spPr>
          <a:xfrm>
            <a:off x="2737899" y="2164987"/>
            <a:ext cx="4490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Gets compiled into an untyped virtual register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501A5-CC23-E747-9FD0-CBB4CBE4592E}"/>
              </a:ext>
            </a:extLst>
          </p:cNvPr>
          <p:cNvSpPr txBox="1"/>
          <p:nvPr/>
        </p:nvSpPr>
        <p:spPr>
          <a:xfrm>
            <a:off x="2737899" y="4578279"/>
            <a:ext cx="3743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Gets compiled into a typed IO variable</a:t>
            </a:r>
          </a:p>
        </p:txBody>
      </p:sp>
    </p:spTree>
    <p:extLst>
      <p:ext uri="{BB962C8B-B14F-4D97-AF65-F5344CB8AC3E}">
        <p14:creationId xmlns:p14="http://schemas.microsoft.com/office/powerpoint/2010/main" val="20141276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different ID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6B40FC-2098-104B-A309-290F86173275}"/>
              </a:ext>
            </a:extLst>
          </p:cNvPr>
          <p:cNvSpPr/>
          <p:nvPr/>
        </p:nvSpPr>
        <p:spPr>
          <a:xfrm>
            <a:off x="1004515" y="2551837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test4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&amp;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9FA01C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 100;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+ 1)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x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1E96-79B3-084D-8892-3B5D54BF3CD0}"/>
              </a:ext>
            </a:extLst>
          </p:cNvPr>
          <p:cNvSpPr txBox="1"/>
          <p:nvPr/>
        </p:nvSpPr>
        <p:spPr>
          <a:xfrm>
            <a:off x="1004515" y="2067338"/>
            <a:ext cx="24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are compiling</a:t>
            </a:r>
          </a:p>
        </p:txBody>
      </p:sp>
    </p:spTree>
    <p:extLst>
      <p:ext uri="{BB962C8B-B14F-4D97-AF65-F5344CB8AC3E}">
        <p14:creationId xmlns:p14="http://schemas.microsoft.com/office/powerpoint/2010/main" val="2006700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6B40FC-2098-104B-A309-290F86173275}"/>
              </a:ext>
            </a:extLst>
          </p:cNvPr>
          <p:cNvSpPr/>
          <p:nvPr/>
        </p:nvSpPr>
        <p:spPr>
          <a:xfrm>
            <a:off x="1004515" y="2551837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test4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&amp;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9FA01C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 100;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+ 1)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x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1E96-79B3-084D-8892-3B5D54BF3CD0}"/>
              </a:ext>
            </a:extLst>
          </p:cNvPr>
          <p:cNvSpPr txBox="1"/>
          <p:nvPr/>
        </p:nvSpPr>
        <p:spPr>
          <a:xfrm>
            <a:off x="1004515" y="2067338"/>
            <a:ext cx="24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are compiling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8D816-5809-9548-81E2-95C014140F5F}"/>
              </a:ext>
            </a:extLst>
          </p:cNvPr>
          <p:cNvSpPr txBox="1"/>
          <p:nvPr/>
        </p:nvSpPr>
        <p:spPr>
          <a:xfrm>
            <a:off x="6607534" y="2551837"/>
            <a:ext cx="128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IO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E6C31D-BC91-884F-A2F3-5FA507D7AB16}"/>
              </a:ext>
            </a:extLst>
          </p:cNvPr>
          <p:cNvSpPr txBox="1"/>
          <p:nvPr/>
        </p:nvSpPr>
        <p:spPr>
          <a:xfrm>
            <a:off x="6607534" y="3124863"/>
            <a:ext cx="1871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program variables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FC6E7E-07E7-DB48-9CCB-6D24A7377F29}"/>
              </a:ext>
            </a:extLst>
          </p:cNvPr>
          <p:cNvSpPr/>
          <p:nvPr/>
        </p:nvSpPr>
        <p:spPr>
          <a:xfrm>
            <a:off x="1004515" y="4634637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test1(a);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&lt;&lt; a &lt;&lt;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0;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E4C1B3-5538-9642-8EF6-B7F179EDF1C5}"/>
              </a:ext>
            </a:extLst>
          </p:cNvPr>
          <p:cNvSpPr txBox="1"/>
          <p:nvPr/>
        </p:nvSpPr>
        <p:spPr>
          <a:xfrm>
            <a:off x="6441013" y="5393266"/>
            <a:ext cx="2205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What does this print?</a:t>
            </a:r>
          </a:p>
        </p:txBody>
      </p:sp>
    </p:spTree>
    <p:extLst>
      <p:ext uri="{BB962C8B-B14F-4D97-AF65-F5344CB8AC3E}">
        <p14:creationId xmlns:p14="http://schemas.microsoft.com/office/powerpoint/2010/main" val="24117462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D6B40FC-2098-104B-A309-290F86173275}"/>
              </a:ext>
            </a:extLst>
          </p:cNvPr>
          <p:cNvSpPr/>
          <p:nvPr/>
        </p:nvSpPr>
        <p:spPr>
          <a:xfrm>
            <a:off x="331305" y="872773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test4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&amp;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9FA01C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 100;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+ 1)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x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1E96-79B3-084D-8892-3B5D54BF3CD0}"/>
              </a:ext>
            </a:extLst>
          </p:cNvPr>
          <p:cNvSpPr txBox="1"/>
          <p:nvPr/>
        </p:nvSpPr>
        <p:spPr>
          <a:xfrm>
            <a:off x="331305" y="404114"/>
            <a:ext cx="24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are compiling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8D816-5809-9548-81E2-95C014140F5F}"/>
              </a:ext>
            </a:extLst>
          </p:cNvPr>
          <p:cNvSpPr txBox="1"/>
          <p:nvPr/>
        </p:nvSpPr>
        <p:spPr>
          <a:xfrm>
            <a:off x="2973788" y="443339"/>
            <a:ext cx="128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IO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E6C31D-BC91-884F-A2F3-5FA507D7AB16}"/>
              </a:ext>
            </a:extLst>
          </p:cNvPr>
          <p:cNvSpPr txBox="1"/>
          <p:nvPr/>
        </p:nvSpPr>
        <p:spPr>
          <a:xfrm>
            <a:off x="597178" y="2714499"/>
            <a:ext cx="1871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program variables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54E5F-12F1-6746-8419-D5239958587F}"/>
              </a:ext>
            </a:extLst>
          </p:cNvPr>
          <p:cNvSpPr txBox="1"/>
          <p:nvPr/>
        </p:nvSpPr>
        <p:spPr>
          <a:xfrm>
            <a:off x="254441" y="3290501"/>
            <a:ext cx="36973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Every time you access an </a:t>
            </a:r>
            <a:r>
              <a:rPr lang="en-US" i="1" dirty="0">
                <a:highlight>
                  <a:srgbClr val="FFFF00"/>
                </a:highlight>
              </a:rPr>
              <a:t>IO variable</a:t>
            </a:r>
            <a:r>
              <a:rPr lang="en-US" i="1" dirty="0"/>
              <a:t>, </a:t>
            </a:r>
            <a:r>
              <a:rPr lang="en-US" b="1" i="1" dirty="0"/>
              <a:t>you need to convert it to a </a:t>
            </a:r>
            <a:r>
              <a:rPr lang="en-US" b="1" i="1" dirty="0" err="1"/>
              <a:t>vr</a:t>
            </a:r>
            <a:r>
              <a:rPr lang="en-US" b="1" i="1" dirty="0"/>
              <a:t> first using float2vr or int2vr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E5A053-6139-7A43-BA4B-F528ABC58486}"/>
              </a:ext>
            </a:extLst>
          </p:cNvPr>
          <p:cNvSpPr/>
          <p:nvPr/>
        </p:nvSpPr>
        <p:spPr>
          <a:xfrm>
            <a:off x="3819276" y="4451656"/>
            <a:ext cx="848139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2FB41D"/>
                </a:solidFill>
                <a:latin typeface="Menlo" panose="020B0609030804020204" pitchFamily="49" charset="0"/>
              </a:rPr>
              <a:t>ASTIOIDNode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ASTLeafNode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400BD9"/>
                </a:solidFill>
                <a:latin typeface="Menlo" panose="020B0609030804020204" pitchFamily="49" charset="0"/>
              </a:rPr>
              <a:t>three_addr_code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sz="1600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        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Types.INT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"%s = int2vr(%s);"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% 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.value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.node_type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==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Types.FLOAT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"%s = float2vr(%s);"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% 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.value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E02FF1-E65C-9E89-E340-1A6FDCC2D632}"/>
              </a:ext>
            </a:extLst>
          </p:cNvPr>
          <p:cNvSpPr txBox="1"/>
          <p:nvPr/>
        </p:nvSpPr>
        <p:spPr>
          <a:xfrm>
            <a:off x="8638955" y="5898206"/>
            <a:ext cx="1982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&lt;= Code generated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A1F8-3C1F-605B-5271-6FF5EB52FE92}"/>
              </a:ext>
            </a:extLst>
          </p:cNvPr>
          <p:cNvSpPr txBox="1"/>
          <p:nvPr/>
        </p:nvSpPr>
        <p:spPr>
          <a:xfrm>
            <a:off x="6693195" y="2961167"/>
            <a:ext cx="31738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IO Node needs to account to convert according to the type of the IO variable</a:t>
            </a:r>
          </a:p>
        </p:txBody>
      </p:sp>
    </p:spTree>
    <p:extLst>
      <p:ext uri="{BB962C8B-B14F-4D97-AF65-F5344CB8AC3E}">
        <p14:creationId xmlns:p14="http://schemas.microsoft.com/office/powerpoint/2010/main" val="26056851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681E96-79B3-084D-8892-3B5D54BF3CD0}"/>
              </a:ext>
            </a:extLst>
          </p:cNvPr>
          <p:cNvSpPr txBox="1"/>
          <p:nvPr/>
        </p:nvSpPr>
        <p:spPr>
          <a:xfrm>
            <a:off x="331305" y="404114"/>
            <a:ext cx="24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are compiling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8D816-5809-9548-81E2-95C014140F5F}"/>
              </a:ext>
            </a:extLst>
          </p:cNvPr>
          <p:cNvSpPr txBox="1"/>
          <p:nvPr/>
        </p:nvSpPr>
        <p:spPr>
          <a:xfrm>
            <a:off x="2973788" y="443339"/>
            <a:ext cx="128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IO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E6C31D-BC91-884F-A2F3-5FA507D7AB16}"/>
              </a:ext>
            </a:extLst>
          </p:cNvPr>
          <p:cNvSpPr txBox="1"/>
          <p:nvPr/>
        </p:nvSpPr>
        <p:spPr>
          <a:xfrm>
            <a:off x="597178" y="2714499"/>
            <a:ext cx="1871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program variables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54E5F-12F1-6746-8419-D5239958587F}"/>
              </a:ext>
            </a:extLst>
          </p:cNvPr>
          <p:cNvSpPr txBox="1"/>
          <p:nvPr/>
        </p:nvSpPr>
        <p:spPr>
          <a:xfrm>
            <a:off x="254441" y="3290501"/>
            <a:ext cx="36973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Every time you access a </a:t>
            </a:r>
            <a:r>
              <a:rPr lang="en-US" i="1" dirty="0">
                <a:highlight>
                  <a:srgbClr val="00FF00"/>
                </a:highlight>
              </a:rPr>
              <a:t>program variable</a:t>
            </a:r>
            <a:r>
              <a:rPr lang="en-US" i="1" dirty="0"/>
              <a:t>, </a:t>
            </a:r>
            <a:r>
              <a:rPr lang="en-US" b="1" i="1" dirty="0"/>
              <a:t>it does not need to be converted.</a:t>
            </a:r>
            <a:r>
              <a:rPr lang="en-US" i="1" dirty="0"/>
              <a:t> </a:t>
            </a:r>
          </a:p>
          <a:p>
            <a:endParaRPr lang="en-US" i="1" dirty="0"/>
          </a:p>
          <a:p>
            <a:r>
              <a:rPr lang="en-US" i="1" dirty="0"/>
              <a:t>Because its value is a virtual register, you can even just use its value as its</a:t>
            </a:r>
          </a:p>
          <a:p>
            <a:r>
              <a:rPr lang="en-US" i="1" dirty="0"/>
              <a:t>virtual register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E994C6-32B0-A247-91A4-E3D4746E44FF}"/>
              </a:ext>
            </a:extLst>
          </p:cNvPr>
          <p:cNvSpPr/>
          <p:nvPr/>
        </p:nvSpPr>
        <p:spPr>
          <a:xfrm>
            <a:off x="5186899" y="3585548"/>
            <a:ext cx="6620787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2FB41D"/>
                </a:solidFill>
                <a:latin typeface="Menlo" panose="020B0609030804020204" pitchFamily="49" charset="0"/>
              </a:rPr>
              <a:t>ASTVarIDNode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ASTLeafNode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...</a:t>
            </a:r>
            <a:b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b="1" dirty="0" err="1">
                <a:solidFill>
                  <a:srgbClr val="400BD9"/>
                </a:solidFill>
                <a:latin typeface="Menlo" panose="020B0609030804020204" pitchFamily="49" charset="0"/>
              </a:rPr>
              <a:t>three_addr_code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):</a:t>
            </a:r>
            <a:endParaRPr lang="en-US" sz="1600" dirty="0">
              <a:solidFill>
                <a:srgbClr val="400BD9"/>
              </a:solidFill>
              <a:latin typeface="Menlo" panose="020B0609030804020204" pitchFamily="49" charset="0"/>
            </a:endParaRPr>
          </a:p>
          <a:p>
            <a:r>
              <a:rPr lang="en-US" sz="1600" b="1" dirty="0">
                <a:solidFill>
                  <a:srgbClr val="2EAEBB"/>
                </a:solidFill>
                <a:latin typeface="Menlo" panose="020B0609030804020204" pitchFamily="49" charset="0"/>
              </a:rPr>
              <a:t>        return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1600" dirty="0">
                <a:solidFill>
                  <a:srgbClr val="2FB41D"/>
                </a:solidFill>
                <a:latin typeface="Menlo" panose="020B0609030804020204" pitchFamily="49" charset="0"/>
              </a:rPr>
              <a:t>"%s = %s;"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% (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1600" b="1" dirty="0" err="1">
                <a:solidFill>
                  <a:srgbClr val="2EAEBB"/>
                </a:solidFill>
                <a:latin typeface="Menlo" panose="020B0609030804020204" pitchFamily="49" charset="0"/>
              </a:rPr>
              <a:t>self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.value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AC6B39-1EB9-164D-BBCF-5B962A3B61FD}"/>
              </a:ext>
            </a:extLst>
          </p:cNvPr>
          <p:cNvSpPr/>
          <p:nvPr/>
        </p:nvSpPr>
        <p:spPr>
          <a:xfrm>
            <a:off x="331305" y="872773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test4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&amp;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9FA01C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highlight>
                  <a:srgbClr val="00FF00"/>
                </a:highlight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 100;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+ 1)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x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F05F25-4077-9BCD-FF5F-59A89F7E00F0}"/>
              </a:ext>
            </a:extLst>
          </p:cNvPr>
          <p:cNvSpPr txBox="1"/>
          <p:nvPr/>
        </p:nvSpPr>
        <p:spPr>
          <a:xfrm>
            <a:off x="8936667" y="4558056"/>
            <a:ext cx="1982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&lt;= Code generated</a:t>
            </a:r>
          </a:p>
        </p:txBody>
      </p:sp>
    </p:spTree>
    <p:extLst>
      <p:ext uri="{BB962C8B-B14F-4D97-AF65-F5344CB8AC3E}">
        <p14:creationId xmlns:p14="http://schemas.microsoft.com/office/powerpoint/2010/main" val="326901223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E0790-AAE7-E442-BF58-E06983DA75E7}"/>
              </a:ext>
            </a:extLst>
          </p:cNvPr>
          <p:cNvSpPr/>
          <p:nvPr/>
        </p:nvSpPr>
        <p:spPr>
          <a:xfrm>
            <a:off x="612249" y="1095453"/>
            <a:ext cx="2724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unit := ID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|  ...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9FF41-5AA1-5F4B-95F9-EB6737D7F1A2}"/>
              </a:ext>
            </a:extLst>
          </p:cNvPr>
          <p:cNvSpPr txBox="1"/>
          <p:nvPr/>
        </p:nvSpPr>
        <p:spPr>
          <a:xfrm>
            <a:off x="3336896" y="1372452"/>
            <a:ext cx="5969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know whether to make an IO node or a Var node?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240A9-0892-A747-B13D-5625B33D333F}"/>
              </a:ext>
            </a:extLst>
          </p:cNvPr>
          <p:cNvSpPr txBox="1"/>
          <p:nvPr/>
        </p:nvSpPr>
        <p:spPr>
          <a:xfrm>
            <a:off x="612249" y="1948070"/>
            <a:ext cx="6877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self.to_match</a:t>
            </a:r>
            <a:r>
              <a:rPr lang="en-US" dirty="0">
                <a:latin typeface="Courier" pitchFamily="2" charset="0"/>
              </a:rPr>
              <a:t>[1]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data_type</a:t>
            </a:r>
            <a:r>
              <a:rPr lang="en-US" dirty="0">
                <a:latin typeface="Courier" pitchFamily="2" charset="0"/>
              </a:rPr>
              <a:t> = # get type from symbol table</a:t>
            </a:r>
          </a:p>
          <a:p>
            <a:r>
              <a:rPr lang="en-US" dirty="0">
                <a:latin typeface="Courier" pitchFamily="2" charset="0"/>
              </a:rPr>
              <a:t>   eat(“ID”)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ASTIDNode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542D58-0189-9B40-9E88-37D087A42EAC}"/>
              </a:ext>
            </a:extLst>
          </p:cNvPr>
          <p:cNvSpPr txBox="1"/>
          <p:nvPr/>
        </p:nvSpPr>
        <p:spPr>
          <a:xfrm>
            <a:off x="355157" y="438312"/>
            <a:ext cx="530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building an expression AST, we parse a unit at the base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A1280-0727-5B43-84F1-2CD10AAEAD39}"/>
              </a:ext>
            </a:extLst>
          </p:cNvPr>
          <p:cNvSpPr txBox="1"/>
          <p:nvPr/>
        </p:nvSpPr>
        <p:spPr>
          <a:xfrm>
            <a:off x="3005177" y="3793067"/>
            <a:ext cx="3473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Previously we had just one ID node</a:t>
            </a:r>
          </a:p>
        </p:txBody>
      </p:sp>
    </p:spTree>
    <p:extLst>
      <p:ext uri="{BB962C8B-B14F-4D97-AF65-F5344CB8AC3E}">
        <p14:creationId xmlns:p14="http://schemas.microsoft.com/office/powerpoint/2010/main" val="3914011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E0790-AAE7-E442-BF58-E06983DA75E7}"/>
              </a:ext>
            </a:extLst>
          </p:cNvPr>
          <p:cNvSpPr/>
          <p:nvPr/>
        </p:nvSpPr>
        <p:spPr>
          <a:xfrm>
            <a:off x="612249" y="1095453"/>
            <a:ext cx="2724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unit := ID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|  ...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9FF41-5AA1-5F4B-95F9-EB6737D7F1A2}"/>
              </a:ext>
            </a:extLst>
          </p:cNvPr>
          <p:cNvSpPr txBox="1"/>
          <p:nvPr/>
        </p:nvSpPr>
        <p:spPr>
          <a:xfrm>
            <a:off x="3336896" y="1372452"/>
            <a:ext cx="5969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know whether to make an IO node or a Var node?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240A9-0892-A747-B13D-5625B33D333F}"/>
              </a:ext>
            </a:extLst>
          </p:cNvPr>
          <p:cNvSpPr txBox="1"/>
          <p:nvPr/>
        </p:nvSpPr>
        <p:spPr>
          <a:xfrm>
            <a:off x="612249" y="1948070"/>
            <a:ext cx="6877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self.to_match</a:t>
            </a:r>
            <a:r>
              <a:rPr lang="en-US" dirty="0">
                <a:latin typeface="Courier" pitchFamily="2" charset="0"/>
              </a:rPr>
              <a:t>[1]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data_type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= # get type from symbol table</a:t>
            </a:r>
          </a:p>
          <a:p>
            <a:r>
              <a:rPr lang="en-US" dirty="0">
                <a:latin typeface="Courier" pitchFamily="2" charset="0"/>
              </a:rPr>
              <a:t>   eat(“ID”)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542D58-0189-9B40-9E88-37D087A42EAC}"/>
              </a:ext>
            </a:extLst>
          </p:cNvPr>
          <p:cNvSpPr txBox="1"/>
          <p:nvPr/>
        </p:nvSpPr>
        <p:spPr>
          <a:xfrm>
            <a:off x="355157" y="438312"/>
            <a:ext cx="530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building an expression AST, we parse a unit at the base</a:t>
            </a:r>
          </a:p>
        </p:txBody>
      </p:sp>
    </p:spTree>
    <p:extLst>
      <p:ext uri="{BB962C8B-B14F-4D97-AF65-F5344CB8AC3E}">
        <p14:creationId xmlns:p14="http://schemas.microsoft.com/office/powerpoint/2010/main" val="3627687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E0790-AAE7-E442-BF58-E06983DA75E7}"/>
              </a:ext>
            </a:extLst>
          </p:cNvPr>
          <p:cNvSpPr/>
          <p:nvPr/>
        </p:nvSpPr>
        <p:spPr>
          <a:xfrm>
            <a:off x="612249" y="1095453"/>
            <a:ext cx="2724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unit := ID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|  ...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9FF41-5AA1-5F4B-95F9-EB6737D7F1A2}"/>
              </a:ext>
            </a:extLst>
          </p:cNvPr>
          <p:cNvSpPr txBox="1"/>
          <p:nvPr/>
        </p:nvSpPr>
        <p:spPr>
          <a:xfrm>
            <a:off x="3336896" y="1372452"/>
            <a:ext cx="5969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know whether to make an IO node or a Var node?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240A9-0892-A747-B13D-5625B33D333F}"/>
              </a:ext>
            </a:extLst>
          </p:cNvPr>
          <p:cNvSpPr txBox="1"/>
          <p:nvPr/>
        </p:nvSpPr>
        <p:spPr>
          <a:xfrm>
            <a:off x="612249" y="1948070"/>
            <a:ext cx="85078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self.to_match</a:t>
            </a:r>
            <a:r>
              <a:rPr lang="en-US" dirty="0">
                <a:latin typeface="Courier" pitchFamily="2" charset="0"/>
              </a:rPr>
              <a:t>[1]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= # get </a:t>
            </a:r>
            <a:r>
              <a:rPr lang="en-US" dirty="0" err="1">
                <a:latin typeface="Courier" pitchFamily="2" charset="0"/>
              </a:rPr>
              <a:t>id_data</a:t>
            </a:r>
            <a:r>
              <a:rPr lang="en-US" dirty="0">
                <a:latin typeface="Courier" pitchFamily="2" charset="0"/>
              </a:rPr>
              <a:t> from the symbol table</a:t>
            </a:r>
          </a:p>
          <a:p>
            <a:r>
              <a:rPr lang="en-US" dirty="0">
                <a:latin typeface="Courier" pitchFamily="2" charset="0"/>
              </a:rPr>
              <a:t>   eat(“ID”)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...)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542D58-0189-9B40-9E88-37D087A42EAC}"/>
              </a:ext>
            </a:extLst>
          </p:cNvPr>
          <p:cNvSpPr txBox="1"/>
          <p:nvPr/>
        </p:nvSpPr>
        <p:spPr>
          <a:xfrm>
            <a:off x="355157" y="438312"/>
            <a:ext cx="530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building an expression AST, we parse a unit at the base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71145A-E7AD-AD44-A4EF-72FEA6B387EC}"/>
              </a:ext>
            </a:extLst>
          </p:cNvPr>
          <p:cNvSpPr txBox="1"/>
          <p:nvPr/>
        </p:nvSpPr>
        <p:spPr>
          <a:xfrm>
            <a:off x="1248355" y="4603805"/>
            <a:ext cx="25276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id_data</a:t>
            </a:r>
            <a:r>
              <a:rPr lang="en-US" i="1" dirty="0"/>
              <a:t> should contain:</a:t>
            </a:r>
          </a:p>
          <a:p>
            <a:r>
              <a:rPr lang="en-US" b="1" i="1" dirty="0" err="1">
                <a:highlight>
                  <a:srgbClr val="FFFF00"/>
                </a:highlight>
                <a:latin typeface="Courier" pitchFamily="2" charset="0"/>
              </a:rPr>
              <a:t>id_type</a:t>
            </a:r>
            <a:r>
              <a:rPr lang="en-US" i="1" dirty="0">
                <a:highlight>
                  <a:srgbClr val="FFFF00"/>
                </a:highlight>
              </a:rPr>
              <a:t>: IO or Var</a:t>
            </a:r>
          </a:p>
          <a:p>
            <a:r>
              <a:rPr lang="en-US" b="1" i="1" dirty="0" err="1">
                <a:latin typeface="Courier" pitchFamily="2" charset="0"/>
              </a:rPr>
              <a:t>data_type</a:t>
            </a:r>
            <a:r>
              <a:rPr lang="en-US" i="1" dirty="0"/>
              <a:t>: int or float</a:t>
            </a:r>
          </a:p>
        </p:txBody>
      </p:sp>
    </p:spTree>
    <p:extLst>
      <p:ext uri="{BB962C8B-B14F-4D97-AF65-F5344CB8AC3E}">
        <p14:creationId xmlns:p14="http://schemas.microsoft.com/office/powerpoint/2010/main" val="42344035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E0790-AAE7-E442-BF58-E06983DA75E7}"/>
              </a:ext>
            </a:extLst>
          </p:cNvPr>
          <p:cNvSpPr/>
          <p:nvPr/>
        </p:nvSpPr>
        <p:spPr>
          <a:xfrm>
            <a:off x="612249" y="1095453"/>
            <a:ext cx="2724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unit := ID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|  ...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9FF41-5AA1-5F4B-95F9-EB6737D7F1A2}"/>
              </a:ext>
            </a:extLst>
          </p:cNvPr>
          <p:cNvSpPr txBox="1"/>
          <p:nvPr/>
        </p:nvSpPr>
        <p:spPr>
          <a:xfrm>
            <a:off x="3336896" y="1372452"/>
            <a:ext cx="5969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know whether to make an IO node or a Var node?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240A9-0892-A747-B13D-5625B33D333F}"/>
              </a:ext>
            </a:extLst>
          </p:cNvPr>
          <p:cNvSpPr txBox="1"/>
          <p:nvPr/>
        </p:nvSpPr>
        <p:spPr>
          <a:xfrm>
            <a:off x="1248355" y="1880133"/>
            <a:ext cx="8507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self.to_match</a:t>
            </a:r>
            <a:r>
              <a:rPr lang="en-US" dirty="0">
                <a:latin typeface="Courier" pitchFamily="2" charset="0"/>
              </a:rPr>
              <a:t>[1]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= 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# get </a:t>
            </a:r>
            <a:r>
              <a:rPr lang="en-US" dirty="0" err="1">
                <a:highlight>
                  <a:srgbClr val="00FF00"/>
                </a:highlight>
                <a:latin typeface="Courier" pitchFamily="2" charset="0"/>
              </a:rPr>
              <a:t>id_data</a:t>
            </a: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 from the symbol table</a:t>
            </a:r>
          </a:p>
          <a:p>
            <a:r>
              <a:rPr lang="en-US" dirty="0">
                <a:latin typeface="Courier" pitchFamily="2" charset="0"/>
              </a:rPr>
              <a:t>   eat(“ID”)</a:t>
            </a:r>
          </a:p>
          <a:p>
            <a:r>
              <a:rPr lang="en-US" dirty="0">
                <a:latin typeface="Courier" pitchFamily="2" charset="0"/>
              </a:rPr>
              <a:t>   if 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 err="1">
                <a:latin typeface="Courier" pitchFamily="2" charset="0"/>
              </a:rPr>
              <a:t>.id_type</a:t>
            </a:r>
            <a:r>
              <a:rPr lang="en-US" dirty="0">
                <a:latin typeface="Courier" pitchFamily="2" charset="0"/>
              </a:rPr>
              <a:t> == IO)</a:t>
            </a:r>
          </a:p>
          <a:p>
            <a:r>
              <a:rPr lang="en-US" dirty="0">
                <a:latin typeface="Courier" pitchFamily="2" charset="0"/>
              </a:rPr>
              <a:t>    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IO</a:t>
            </a:r>
            <a:r>
              <a:rPr lang="en-US" dirty="0" err="1">
                <a:latin typeface="Courier" pitchFamily="2" charset="0"/>
              </a:rPr>
              <a:t>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 err="1">
                <a:latin typeface="Courier" pitchFamily="2" charset="0"/>
              </a:rPr>
              <a:t>.data_type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else</a:t>
            </a:r>
          </a:p>
          <a:p>
            <a:r>
              <a:rPr lang="en-US" dirty="0">
                <a:latin typeface="Courier" pitchFamily="2" charset="0"/>
              </a:rPr>
              <a:t>    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Var</a:t>
            </a:r>
            <a:r>
              <a:rPr lang="en-US" dirty="0" err="1">
                <a:latin typeface="Courier" pitchFamily="2" charset="0"/>
              </a:rPr>
              <a:t>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 err="1">
                <a:latin typeface="Courier" pitchFamily="2" charset="0"/>
              </a:rPr>
              <a:t>.data_type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542D58-0189-9B40-9E88-37D087A42EAC}"/>
              </a:ext>
            </a:extLst>
          </p:cNvPr>
          <p:cNvSpPr txBox="1"/>
          <p:nvPr/>
        </p:nvSpPr>
        <p:spPr>
          <a:xfrm>
            <a:off x="355157" y="438312"/>
            <a:ext cx="530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building an expression AST, we parse a unit at the 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E5C40-B1AA-D541-BA6F-ADB97C7F5C41}"/>
              </a:ext>
            </a:extLst>
          </p:cNvPr>
          <p:cNvSpPr txBox="1"/>
          <p:nvPr/>
        </p:nvSpPr>
        <p:spPr>
          <a:xfrm>
            <a:off x="1248355" y="4603805"/>
            <a:ext cx="25276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id_data</a:t>
            </a:r>
            <a:r>
              <a:rPr lang="en-US" i="1" dirty="0"/>
              <a:t> should contain:</a:t>
            </a:r>
          </a:p>
          <a:p>
            <a:r>
              <a:rPr lang="en-US" b="1" i="1" dirty="0" err="1">
                <a:latin typeface="Courier" pitchFamily="2" charset="0"/>
              </a:rPr>
              <a:t>id_type</a:t>
            </a:r>
            <a:r>
              <a:rPr lang="en-US" i="1" dirty="0"/>
              <a:t>: IO or Var</a:t>
            </a:r>
          </a:p>
          <a:p>
            <a:r>
              <a:rPr lang="en-US" b="1" i="1" dirty="0" err="1">
                <a:latin typeface="Courier" pitchFamily="2" charset="0"/>
              </a:rPr>
              <a:t>data_type</a:t>
            </a:r>
            <a:r>
              <a:rPr lang="en-US" i="1" dirty="0"/>
              <a:t>: int or float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F8220-0DB8-B994-0723-DFF2B4432B10}"/>
              </a:ext>
            </a:extLst>
          </p:cNvPr>
          <p:cNvSpPr txBox="1"/>
          <p:nvPr/>
        </p:nvSpPr>
        <p:spPr>
          <a:xfrm>
            <a:off x="5755821" y="4611970"/>
            <a:ext cx="45311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note that we now have to add some extra information to our symbol table i.e. whether an ID is IO or a VAR </a:t>
            </a:r>
            <a:r>
              <a:rPr lang="en-US" dirty="0" err="1"/>
              <a:t>tipe</a:t>
            </a:r>
            <a:r>
              <a:rPr lang="en-US" dirty="0"/>
              <a:t> if ID.</a:t>
            </a:r>
          </a:p>
        </p:txBody>
      </p:sp>
    </p:spTree>
    <p:extLst>
      <p:ext uri="{BB962C8B-B14F-4D97-AF65-F5344CB8AC3E}">
        <p14:creationId xmlns:p14="http://schemas.microsoft.com/office/powerpoint/2010/main" val="312638032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F0F9E-225E-2648-BCB2-E88AA1F1B969}"/>
              </a:ext>
            </a:extLst>
          </p:cNvPr>
          <p:cNvSpPr/>
          <p:nvPr/>
        </p:nvSpPr>
        <p:spPr>
          <a:xfrm>
            <a:off x="2670123" y="1937017"/>
            <a:ext cx="51698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83B950-0F56-DA4A-9330-2602CDE198A2}"/>
              </a:ext>
            </a:extLst>
          </p:cNvPr>
          <p:cNvSpPr txBox="1"/>
          <p:nvPr/>
        </p:nvSpPr>
        <p:spPr>
          <a:xfrm>
            <a:off x="3395207" y="923462"/>
            <a:ext cx="315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back to our statements: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73A200-734D-AF49-8751-0C249C017E35}"/>
              </a:ext>
            </a:extLst>
          </p:cNvPr>
          <p:cNvSpPr txBox="1"/>
          <p:nvPr/>
        </p:nvSpPr>
        <p:spPr>
          <a:xfrm>
            <a:off x="7526867" y="4114800"/>
            <a:ext cx="37023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we declare a variable, we need</a:t>
            </a:r>
          </a:p>
          <a:p>
            <a:r>
              <a:rPr lang="en-US" dirty="0"/>
              <a:t>to mark it as a program variable in</a:t>
            </a:r>
          </a:p>
          <a:p>
            <a:r>
              <a:rPr lang="en-US" dirty="0"/>
              <a:t>the symbol table</a:t>
            </a:r>
          </a:p>
        </p:txBody>
      </p:sp>
    </p:spTree>
    <p:extLst>
      <p:ext uri="{BB962C8B-B14F-4D97-AF65-F5344CB8AC3E}">
        <p14:creationId xmlns:p14="http://schemas.microsoft.com/office/powerpoint/2010/main" val="10604167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F0F9E-225E-2648-BCB2-E88AA1F1B969}"/>
              </a:ext>
            </a:extLst>
          </p:cNvPr>
          <p:cNvSpPr/>
          <p:nvPr/>
        </p:nvSpPr>
        <p:spPr>
          <a:xfrm>
            <a:off x="2670123" y="1937017"/>
            <a:ext cx="51698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1C8A81-DD4B-3F48-80F4-D5AB81132494}"/>
              </a:ext>
            </a:extLst>
          </p:cNvPr>
          <p:cNvSpPr txBox="1"/>
          <p:nvPr/>
        </p:nvSpPr>
        <p:spPr>
          <a:xfrm>
            <a:off x="3753016" y="4333459"/>
            <a:ext cx="3693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use symbol table data for</a:t>
            </a:r>
          </a:p>
          <a:p>
            <a:r>
              <a:rPr lang="en-US" i="1" dirty="0"/>
              <a:t>something else. What?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83B950-0F56-DA4A-9330-2602CDE198A2}"/>
              </a:ext>
            </a:extLst>
          </p:cNvPr>
          <p:cNvSpPr txBox="1"/>
          <p:nvPr/>
        </p:nvSpPr>
        <p:spPr>
          <a:xfrm>
            <a:off x="3395207" y="923462"/>
            <a:ext cx="315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back to our statements:</a:t>
            </a:r>
          </a:p>
        </p:txBody>
      </p:sp>
    </p:spTree>
    <p:extLst>
      <p:ext uri="{BB962C8B-B14F-4D97-AF65-F5344CB8AC3E}">
        <p14:creationId xmlns:p14="http://schemas.microsoft.com/office/powerpoint/2010/main" val="350054171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F0F9E-225E-2648-BCB2-E88AA1F1B969}"/>
              </a:ext>
            </a:extLst>
          </p:cNvPr>
          <p:cNvSpPr/>
          <p:nvPr/>
        </p:nvSpPr>
        <p:spPr>
          <a:xfrm>
            <a:off x="2670123" y="1937017"/>
            <a:ext cx="51698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statement :=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declaration_statement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assignment_statement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if_else_statement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block_statement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endParaRPr lang="en-US" sz="320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|  </a:t>
            </a:r>
            <a:r>
              <a:rPr lang="en-US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for_loop_statement</a:t>
            </a:r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1C8A81-DD4B-3F48-80F4-D5AB81132494}"/>
              </a:ext>
            </a:extLst>
          </p:cNvPr>
          <p:cNvSpPr txBox="1"/>
          <p:nvPr/>
        </p:nvSpPr>
        <p:spPr>
          <a:xfrm>
            <a:off x="3753016" y="4333459"/>
            <a:ext cx="55127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need to use symbol table data for</a:t>
            </a:r>
          </a:p>
          <a:p>
            <a:r>
              <a:rPr lang="en-US" i="1" dirty="0"/>
              <a:t>something else. What? </a:t>
            </a:r>
          </a:p>
          <a:p>
            <a:endParaRPr lang="en-US" i="1" dirty="0"/>
          </a:p>
          <a:p>
            <a:r>
              <a:rPr lang="en-US" i="1" dirty="0"/>
              <a:t>Scopes! Class IR has no {}s, so we need to manage scopes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83B950-0F56-DA4A-9330-2602CDE198A2}"/>
              </a:ext>
            </a:extLst>
          </p:cNvPr>
          <p:cNvSpPr txBox="1"/>
          <p:nvPr/>
        </p:nvSpPr>
        <p:spPr>
          <a:xfrm>
            <a:off x="3395207" y="923462"/>
            <a:ext cx="315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back to our statements:</a:t>
            </a:r>
          </a:p>
        </p:txBody>
      </p:sp>
    </p:spTree>
    <p:extLst>
      <p:ext uri="{BB962C8B-B14F-4D97-AF65-F5344CB8AC3E}">
        <p14:creationId xmlns:p14="http://schemas.microsoft.com/office/powerpoint/2010/main" val="29530974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936266" y="2306644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C5988-5228-6145-A8D0-E8F457FD5FDE}"/>
              </a:ext>
            </a:extLst>
          </p:cNvPr>
          <p:cNvSpPr txBox="1"/>
          <p:nvPr/>
        </p:nvSpPr>
        <p:spPr>
          <a:xfrm>
            <a:off x="838200" y="5199118"/>
            <a:ext cx="1934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does y hold?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8AFA59-FE99-3F96-414A-87FFC552C054}"/>
              </a:ext>
            </a:extLst>
          </p:cNvPr>
          <p:cNvSpPr txBox="1"/>
          <p:nvPr/>
        </p:nvSpPr>
        <p:spPr>
          <a:xfrm>
            <a:off x="4090307" y="2065564"/>
            <a:ext cx="51026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ClassIR</a:t>
            </a:r>
            <a:r>
              <a:rPr lang="en-US" dirty="0"/>
              <a:t> {the linearized code) does not have braces.</a:t>
            </a:r>
          </a:p>
          <a:p>
            <a:r>
              <a:rPr lang="en-US" dirty="0"/>
              <a:t>So we will have to use our symbol table to keep track of scope.</a:t>
            </a:r>
          </a:p>
        </p:txBody>
      </p:sp>
    </p:spTree>
    <p:extLst>
      <p:ext uri="{BB962C8B-B14F-4D97-AF65-F5344CB8AC3E}">
        <p14:creationId xmlns:p14="http://schemas.microsoft.com/office/powerpoint/2010/main" val="2096383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936266" y="2306644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C5988-5228-6145-A8D0-E8F457FD5FDE}"/>
              </a:ext>
            </a:extLst>
          </p:cNvPr>
          <p:cNvSpPr txBox="1"/>
          <p:nvPr/>
        </p:nvSpPr>
        <p:spPr>
          <a:xfrm>
            <a:off x="838200" y="5199118"/>
            <a:ext cx="1934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does y hold?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B7D644-6ABF-4B4A-81D0-0AED4BDD1675}"/>
              </a:ext>
            </a:extLst>
          </p:cNvPr>
          <p:cNvSpPr txBox="1"/>
          <p:nvPr/>
        </p:nvSpPr>
        <p:spPr>
          <a:xfrm>
            <a:off x="2772832" y="3117316"/>
            <a:ext cx="3036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can we get rid of the {}’s?</a:t>
            </a:r>
          </a:p>
        </p:txBody>
      </p:sp>
    </p:spTree>
    <p:extLst>
      <p:ext uri="{BB962C8B-B14F-4D97-AF65-F5344CB8AC3E}">
        <p14:creationId xmlns:p14="http://schemas.microsoft.com/office/powerpoint/2010/main" val="17924416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</p:spTree>
    <p:extLst>
      <p:ext uri="{BB962C8B-B14F-4D97-AF65-F5344CB8AC3E}">
        <p14:creationId xmlns:p14="http://schemas.microsoft.com/office/powerpoint/2010/main" val="335836688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</p:spTree>
    <p:extLst>
      <p:ext uri="{BB962C8B-B14F-4D97-AF65-F5344CB8AC3E}">
        <p14:creationId xmlns:p14="http://schemas.microsoft.com/office/powerpoint/2010/main" val="211107740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56179-EF85-014A-A151-7B74CAFFC1AA}"/>
              </a:ext>
            </a:extLst>
          </p:cNvPr>
          <p:cNvSpPr txBox="1"/>
          <p:nvPr/>
        </p:nvSpPr>
        <p:spPr>
          <a:xfrm>
            <a:off x="1781681" y="1837267"/>
            <a:ext cx="909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59AF37-615B-1C41-857C-23184566DE33}"/>
              </a:ext>
            </a:extLst>
          </p:cNvPr>
          <p:cNvSpPr txBox="1"/>
          <p:nvPr/>
        </p:nvSpPr>
        <p:spPr>
          <a:xfrm>
            <a:off x="8211463" y="4398496"/>
            <a:ext cx="307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make a new unique name for x</a:t>
            </a:r>
          </a:p>
        </p:txBody>
      </p:sp>
    </p:spTree>
    <p:extLst>
      <p:ext uri="{BB962C8B-B14F-4D97-AF65-F5344CB8AC3E}">
        <p14:creationId xmlns:p14="http://schemas.microsoft.com/office/powerpoint/2010/main" val="8661287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</p:spTree>
    <p:extLst>
      <p:ext uri="{BB962C8B-B14F-4D97-AF65-F5344CB8AC3E}">
        <p14:creationId xmlns:p14="http://schemas.microsoft.com/office/powerpoint/2010/main" val="388185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56179-EF85-014A-A151-7B74CAFFC1AA}"/>
              </a:ext>
            </a:extLst>
          </p:cNvPr>
          <p:cNvSpPr txBox="1"/>
          <p:nvPr/>
        </p:nvSpPr>
        <p:spPr>
          <a:xfrm>
            <a:off x="1781681" y="1837267"/>
            <a:ext cx="909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F6F0A-CEC8-B247-908E-3AE85BC8EF87}"/>
              </a:ext>
            </a:extLst>
          </p:cNvPr>
          <p:cNvSpPr txBox="1"/>
          <p:nvPr/>
        </p:nvSpPr>
        <p:spPr>
          <a:xfrm>
            <a:off x="8211463" y="4398496"/>
            <a:ext cx="307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make a new unique name for 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AE4329-65EC-30B3-1E29-3A7E8EFECA56}"/>
              </a:ext>
            </a:extLst>
          </p:cNvPr>
          <p:cNvSpPr txBox="1"/>
          <p:nvPr/>
        </p:nvSpPr>
        <p:spPr>
          <a:xfrm>
            <a:off x="3382903" y="2758439"/>
            <a:ext cx="4318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a stack of symbol tables.  HT0 represents the base of the stack.   So we rename a variable on the outermost scope to be &lt;name&gt;_0.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3536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138C0-BB90-2D4E-AC55-1D91C8DB0A51}"/>
              </a:ext>
            </a:extLst>
          </p:cNvPr>
          <p:cNvSpPr txBox="1"/>
          <p:nvPr/>
        </p:nvSpPr>
        <p:spPr>
          <a:xfrm>
            <a:off x="2183446" y="1794934"/>
            <a:ext cx="796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07468037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138C0-BB90-2D4E-AC55-1D91C8DB0A51}"/>
              </a:ext>
            </a:extLst>
          </p:cNvPr>
          <p:cNvSpPr txBox="1"/>
          <p:nvPr/>
        </p:nvSpPr>
        <p:spPr>
          <a:xfrm>
            <a:off x="2183446" y="1794934"/>
            <a:ext cx="11709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replace</a:t>
            </a:r>
            <a:br>
              <a:rPr lang="en-US" dirty="0"/>
            </a:br>
            <a:r>
              <a:rPr lang="en-US" dirty="0"/>
              <a:t>with </a:t>
            </a:r>
            <a:br>
              <a:rPr lang="en-US" dirty="0"/>
            </a:br>
            <a:r>
              <a:rPr lang="en-US" dirty="0"/>
              <a:t>new name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C473-0A7B-C158-DB5B-9E016DF4F69D}"/>
              </a:ext>
            </a:extLst>
          </p:cNvPr>
          <p:cNvSpPr txBox="1"/>
          <p:nvPr/>
        </p:nvSpPr>
        <p:spPr>
          <a:xfrm>
            <a:off x="3486150" y="3143250"/>
            <a:ext cx="3968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now use the new name on the symbol table – to make the VAR name unique, different from a different scope.</a:t>
            </a:r>
          </a:p>
        </p:txBody>
      </p:sp>
    </p:spTree>
    <p:extLst>
      <p:ext uri="{BB962C8B-B14F-4D97-AF65-F5344CB8AC3E}">
        <p14:creationId xmlns:p14="http://schemas.microsoft.com/office/powerpoint/2010/main" val="72162805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AF179-14D8-960A-0EC5-E1EDB1DD5A5C}"/>
              </a:ext>
            </a:extLst>
          </p:cNvPr>
          <p:cNvSpPr txBox="1"/>
          <p:nvPr/>
        </p:nvSpPr>
        <p:spPr>
          <a:xfrm>
            <a:off x="3314700" y="3240876"/>
            <a:ext cx="30044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we push a new symbol table (HT1) for the new scope, we now create new names as per the declarations, by concatenating the 1 corresponding to this level in the stack, and so on.</a:t>
            </a:r>
          </a:p>
        </p:txBody>
      </p:sp>
    </p:spTree>
    <p:extLst>
      <p:ext uri="{BB962C8B-B14F-4D97-AF65-F5344CB8AC3E}">
        <p14:creationId xmlns:p14="http://schemas.microsoft.com/office/powerpoint/2010/main" val="229879593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</p:spTree>
    <p:extLst>
      <p:ext uri="{BB962C8B-B14F-4D97-AF65-F5344CB8AC3E}">
        <p14:creationId xmlns:p14="http://schemas.microsoft.com/office/powerpoint/2010/main" val="291157559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EABD0B-8BBE-F24D-9944-749F1B0379FE}"/>
              </a:ext>
            </a:extLst>
          </p:cNvPr>
          <p:cNvSpPr txBox="1"/>
          <p:nvPr/>
        </p:nvSpPr>
        <p:spPr>
          <a:xfrm>
            <a:off x="3208867" y="3716564"/>
            <a:ext cx="25796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Lookup of x now yields … </a:t>
            </a:r>
          </a:p>
        </p:txBody>
      </p:sp>
    </p:spTree>
    <p:extLst>
      <p:ext uri="{BB962C8B-B14F-4D97-AF65-F5344CB8AC3E}">
        <p14:creationId xmlns:p14="http://schemas.microsoft.com/office/powerpoint/2010/main" val="13328072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F3F4BC-5D4E-AE11-D543-11E8E0EFA5F9}"/>
              </a:ext>
            </a:extLst>
          </p:cNvPr>
          <p:cNvSpPr txBox="1"/>
          <p:nvPr/>
        </p:nvSpPr>
        <p:spPr>
          <a:xfrm>
            <a:off x="3208866" y="3708400"/>
            <a:ext cx="3191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Lookup of x now yields </a:t>
            </a:r>
            <a:r>
              <a:rPr lang="en-US" dirty="0">
                <a:highlight>
                  <a:srgbClr val="FFFF00"/>
                </a:highlight>
              </a:rPr>
              <a:t>x_1</a:t>
            </a:r>
          </a:p>
          <a:p>
            <a:r>
              <a:rPr lang="en-US" dirty="0"/>
              <a:t>From the current active stack.</a:t>
            </a:r>
          </a:p>
        </p:txBody>
      </p:sp>
    </p:spTree>
    <p:extLst>
      <p:ext uri="{BB962C8B-B14F-4D97-AF65-F5344CB8AC3E}">
        <p14:creationId xmlns:p14="http://schemas.microsoft.com/office/powerpoint/2010/main" val="182093899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46E37F-C8BA-81A9-66B2-DF53FB0674F3}"/>
              </a:ext>
            </a:extLst>
          </p:cNvPr>
          <p:cNvSpPr txBox="1"/>
          <p:nvPr/>
        </p:nvSpPr>
        <p:spPr>
          <a:xfrm>
            <a:off x="2851513" y="3736590"/>
            <a:ext cx="3665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Lookup of y in this case cannot be found on the current active stack so it gets looked on the next stack, and finds the name to be used: …</a:t>
            </a:r>
          </a:p>
        </p:txBody>
      </p:sp>
    </p:spTree>
    <p:extLst>
      <p:ext uri="{BB962C8B-B14F-4D97-AF65-F5344CB8AC3E}">
        <p14:creationId xmlns:p14="http://schemas.microsoft.com/office/powerpoint/2010/main" val="30101499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y_0 = x_1;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7CD9B6-EEDA-0838-556A-6B01BD0B1DBF}"/>
              </a:ext>
            </a:extLst>
          </p:cNvPr>
          <p:cNvSpPr txBox="1"/>
          <p:nvPr/>
        </p:nvSpPr>
        <p:spPr>
          <a:xfrm>
            <a:off x="2851513" y="3728426"/>
            <a:ext cx="366546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Lookup of y in this case cannot be found on the current active stack so it gets looked on the next stack, and finds the name to be used: </a:t>
            </a:r>
            <a:r>
              <a:rPr lang="en-US" dirty="0">
                <a:highlight>
                  <a:srgbClr val="FFFF00"/>
                </a:highlight>
              </a:rPr>
              <a:t>y_0 </a:t>
            </a:r>
            <a:r>
              <a:rPr lang="en-US" dirty="0"/>
              <a:t>whereas x is found on the current stack as </a:t>
            </a:r>
            <a:r>
              <a:rPr lang="en-US" dirty="0">
                <a:highlight>
                  <a:srgbClr val="FFFF00"/>
                </a:highlight>
              </a:rPr>
              <a:t>x_1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8569014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y_0 = x_1;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2DE18-2231-FCD0-8DF2-41836CF9BC18}"/>
              </a:ext>
            </a:extLst>
          </p:cNvPr>
          <p:cNvSpPr txBox="1"/>
          <p:nvPr/>
        </p:nvSpPr>
        <p:spPr>
          <a:xfrm>
            <a:off x="1670914" y="4726708"/>
            <a:ext cx="3081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 more need for {}</a:t>
            </a:r>
          </a:p>
        </p:txBody>
      </p:sp>
    </p:spTree>
    <p:extLst>
      <p:ext uri="{BB962C8B-B14F-4D97-AF65-F5344CB8AC3E}">
        <p14:creationId xmlns:p14="http://schemas.microsoft.com/office/powerpoint/2010/main" val="334887208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y_0 = x_1;</a:t>
            </a:r>
          </a:p>
          <a:p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96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walk through it with a symbol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F91E01-3926-EC42-AAF2-2AD64847DE70}"/>
              </a:ext>
            </a:extLst>
          </p:cNvPr>
          <p:cNvSpPr/>
          <p:nvPr/>
        </p:nvSpPr>
        <p:spPr>
          <a:xfrm>
            <a:off x="8102379" y="5160396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1C2A4C-52EA-BA41-9783-B9C1E79FCF74}"/>
              </a:ext>
            </a:extLst>
          </p:cNvPr>
          <p:cNvSpPr txBox="1"/>
          <p:nvPr/>
        </p:nvSpPr>
        <p:spPr>
          <a:xfrm>
            <a:off x="8285650" y="5947576"/>
            <a:ext cx="293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 table hash table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E57B7-33F9-C841-A5E7-561FA291058C}"/>
              </a:ext>
            </a:extLst>
          </p:cNvPr>
          <p:cNvSpPr txBox="1"/>
          <p:nvPr/>
        </p:nvSpPr>
        <p:spPr>
          <a:xfrm>
            <a:off x="8278469" y="5189181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C9C72-0DAA-3B44-B379-09962618C374}"/>
              </a:ext>
            </a:extLst>
          </p:cNvPr>
          <p:cNvSpPr txBox="1"/>
          <p:nvPr/>
        </p:nvSpPr>
        <p:spPr>
          <a:xfrm>
            <a:off x="7245300" y="5303518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96A71B-873B-DE49-A476-84A162A53285}"/>
              </a:ext>
            </a:extLst>
          </p:cNvPr>
          <p:cNvSpPr txBox="1"/>
          <p:nvPr/>
        </p:nvSpPr>
        <p:spPr>
          <a:xfrm>
            <a:off x="8278469" y="5469264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y: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y_0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A96CB4-D0E3-A24E-8289-C8A20EF1D94C}"/>
              </a:ext>
            </a:extLst>
          </p:cNvPr>
          <p:cNvSpPr/>
          <p:nvPr/>
        </p:nvSpPr>
        <p:spPr>
          <a:xfrm>
            <a:off x="8102379" y="4328591"/>
            <a:ext cx="3132814" cy="6917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F2E6E-76A6-7A40-B86A-B3BDF8A013C9}"/>
              </a:ext>
            </a:extLst>
          </p:cNvPr>
          <p:cNvSpPr txBox="1"/>
          <p:nvPr/>
        </p:nvSpPr>
        <p:spPr>
          <a:xfrm>
            <a:off x="8278469" y="435737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x: (INT, VAR, “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x_1</a:t>
            </a:r>
            <a:r>
              <a:rPr lang="en-US" dirty="0">
                <a:latin typeface="Courier" pitchFamily="2" charset="0"/>
              </a:rPr>
              <a:t>”)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E6826-1076-6947-8DC2-4C3E510B92A6}"/>
              </a:ext>
            </a:extLst>
          </p:cNvPr>
          <p:cNvSpPr txBox="1"/>
          <p:nvPr/>
        </p:nvSpPr>
        <p:spPr>
          <a:xfrm>
            <a:off x="7245300" y="447171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01CF1-2467-C54C-B34A-5C33C08FAA64}"/>
              </a:ext>
            </a:extLst>
          </p:cNvPr>
          <p:cNvSpPr txBox="1"/>
          <p:nvPr/>
        </p:nvSpPr>
        <p:spPr>
          <a:xfrm>
            <a:off x="8102379" y="3240876"/>
            <a:ext cx="349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scope. Add x with a new name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956C8B-9788-A808-1F17-453A3D0F1282}"/>
              </a:ext>
            </a:extLst>
          </p:cNvPr>
          <p:cNvSpPr txBox="1"/>
          <p:nvPr/>
        </p:nvSpPr>
        <p:spPr>
          <a:xfrm>
            <a:off x="1670914" y="4726708"/>
            <a:ext cx="483741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 more need for {}</a:t>
            </a:r>
          </a:p>
          <a:p>
            <a:r>
              <a:rPr lang="en-US" sz="2800" dirty="0"/>
              <a:t>   The names make the variables</a:t>
            </a:r>
          </a:p>
          <a:p>
            <a:r>
              <a:rPr lang="en-US" sz="2800" dirty="0"/>
              <a:t>   unique – based on the scope.</a:t>
            </a:r>
          </a:p>
        </p:txBody>
      </p:sp>
    </p:spTree>
    <p:extLst>
      <p:ext uri="{BB962C8B-B14F-4D97-AF65-F5344CB8AC3E}">
        <p14:creationId xmlns:p14="http://schemas.microsoft.com/office/powerpoint/2010/main" val="46580328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x = 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64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with multiple scopes?</a:t>
            </a:r>
          </a:p>
        </p:txBody>
      </p:sp>
    </p:spTree>
    <p:extLst>
      <p:ext uri="{BB962C8B-B14F-4D97-AF65-F5344CB8AC3E}">
        <p14:creationId xmlns:p14="http://schemas.microsoft.com/office/powerpoint/2010/main" val="154800694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779BB-2980-7F44-8375-A2C2CA41E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E935A-3EA5-6B48-A06C-554DB36E69C9}"/>
              </a:ext>
            </a:extLst>
          </p:cNvPr>
          <p:cNvSpPr/>
          <p:nvPr/>
        </p:nvSpPr>
        <p:spPr>
          <a:xfrm>
            <a:off x="583095" y="2274838"/>
            <a:ext cx="239717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trike="sngStrike" dirty="0">
                <a:solidFill>
                  <a:srgbClr val="000000"/>
                </a:solidFill>
                <a:latin typeface="Menlo" panose="020B0609030804020204" pitchFamily="49" charset="0"/>
              </a:rPr>
              <a:t>  x = 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y = x;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05AA7-267D-8547-A0AD-D54A869F4626}"/>
              </a:ext>
            </a:extLst>
          </p:cNvPr>
          <p:cNvSpPr txBox="1"/>
          <p:nvPr/>
        </p:nvSpPr>
        <p:spPr>
          <a:xfrm>
            <a:off x="3733800" y="1837267"/>
            <a:ext cx="364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with multiple scopes?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A1359F-6DCC-5BA2-2F33-C77B40F420DE}"/>
              </a:ext>
            </a:extLst>
          </p:cNvPr>
          <p:cNvSpPr txBox="1"/>
          <p:nvPr/>
        </p:nvSpPr>
        <p:spPr>
          <a:xfrm>
            <a:off x="3321996" y="4771778"/>
            <a:ext cx="2522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if x is uninitialized?</a:t>
            </a:r>
          </a:p>
        </p:txBody>
      </p:sp>
    </p:spTree>
    <p:extLst>
      <p:ext uri="{BB962C8B-B14F-4D97-AF65-F5344CB8AC3E}">
        <p14:creationId xmlns:p14="http://schemas.microsoft.com/office/powerpoint/2010/main" val="214900854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2D50-2B49-827C-7F23-E7AD1B028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56AD7-F65F-0E54-DD7B-78717F589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9EC540-EBC5-E26E-768B-B5932C74D648}"/>
              </a:ext>
            </a:extLst>
          </p:cNvPr>
          <p:cNvSpPr/>
          <p:nvPr/>
        </p:nvSpPr>
        <p:spPr>
          <a:xfrm>
            <a:off x="583095" y="2274838"/>
            <a:ext cx="239717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  <a:endParaRPr lang="en-US" dirty="0">
              <a:solidFill>
                <a:srgbClr val="2FB41D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x_0 = 5;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x_1 = 6;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x_0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strike="sngStrike" dirty="0">
                <a:solidFill>
                  <a:srgbClr val="000000"/>
                </a:solidFill>
                <a:latin typeface="Menlo" panose="020B0609030804020204" pitchFamily="49" charset="0"/>
              </a:rPr>
              <a:t>  x = 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 y_0 = x_1;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D8D2D0-B984-AE07-C8DE-C26BA5F35B1C}"/>
              </a:ext>
            </a:extLst>
          </p:cNvPr>
          <p:cNvSpPr txBox="1"/>
          <p:nvPr/>
        </p:nvSpPr>
        <p:spPr>
          <a:xfrm>
            <a:off x="3733800" y="1837267"/>
            <a:ext cx="4414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with multiple scopes like this?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0AE20-7606-7098-D844-4C246535AC42}"/>
              </a:ext>
            </a:extLst>
          </p:cNvPr>
          <p:cNvSpPr txBox="1"/>
          <p:nvPr/>
        </p:nvSpPr>
        <p:spPr>
          <a:xfrm>
            <a:off x="3321996" y="4771778"/>
            <a:ext cx="2522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if x is uninitialized?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B0D680-39A0-F746-BD3B-BAD02641592D}"/>
              </a:ext>
            </a:extLst>
          </p:cNvPr>
          <p:cNvSpPr txBox="1"/>
          <p:nvPr/>
        </p:nvSpPr>
        <p:spPr>
          <a:xfrm>
            <a:off x="4171950" y="5229493"/>
            <a:ext cx="57803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could be a problem and may need some thought with regards to the implications of thus  technique, and the robustness of the language with regards to </a:t>
            </a:r>
            <a:r>
              <a:rPr lang="en-US" dirty="0" err="1"/>
              <a:t>unitilitialized</a:t>
            </a:r>
            <a:r>
              <a:rPr lang="en-US" dirty="0"/>
              <a:t> data.  The wrong state might be re-used, without warning.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73A822-978C-D26C-B48F-5AA19F8C4F3C}"/>
              </a:ext>
            </a:extLst>
          </p:cNvPr>
          <p:cNvSpPr txBox="1"/>
          <p:nvPr/>
        </p:nvSpPr>
        <p:spPr>
          <a:xfrm>
            <a:off x="3397558" y="3336667"/>
            <a:ext cx="5087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x gest re-initialized the modified name and location might get re-used.  But then what if …</a:t>
            </a:r>
          </a:p>
        </p:txBody>
      </p:sp>
    </p:spTree>
    <p:extLst>
      <p:ext uri="{BB962C8B-B14F-4D97-AF65-F5344CB8AC3E}">
        <p14:creationId xmlns:p14="http://schemas.microsoft.com/office/powerpoint/2010/main" val="64589732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9534-BD2E-AD47-A269-2AC3A9B9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Class-IR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6B40FC-2098-104B-A309-290F86173275}"/>
              </a:ext>
            </a:extLst>
          </p:cNvPr>
          <p:cNvSpPr/>
          <p:nvPr/>
        </p:nvSpPr>
        <p:spPr>
          <a:xfrm>
            <a:off x="1004515" y="2551837"/>
            <a:ext cx="5284967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test4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float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&amp;</a:t>
            </a:r>
            <a:r>
              <a:rPr lang="en-US" dirty="0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9FA01C"/>
                </a:solidFill>
                <a:highlight>
                  <a:srgbClr val="FFFF00"/>
                </a:highlight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&lt; 100;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+ 1)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x = x +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}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1E96-79B3-084D-8892-3B5D54BF3CD0}"/>
              </a:ext>
            </a:extLst>
          </p:cNvPr>
          <p:cNvSpPr txBox="1"/>
          <p:nvPr/>
        </p:nvSpPr>
        <p:spPr>
          <a:xfrm>
            <a:off x="1004515" y="2067338"/>
            <a:ext cx="4018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Remind ourselves what we are compiling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0BEF97-BF11-7B49-923B-06D789EE7EDB}"/>
              </a:ext>
            </a:extLst>
          </p:cNvPr>
          <p:cNvSpPr txBox="1"/>
          <p:nvPr/>
        </p:nvSpPr>
        <p:spPr>
          <a:xfrm>
            <a:off x="7172077" y="2719346"/>
            <a:ext cx="42938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only need new names for program</a:t>
            </a:r>
          </a:p>
          <a:p>
            <a:r>
              <a:rPr lang="en-US" dirty="0"/>
              <a:t>variables, not for IO variables.</a:t>
            </a:r>
          </a:p>
          <a:p>
            <a:endParaRPr lang="en-US" dirty="0"/>
          </a:p>
          <a:p>
            <a:r>
              <a:rPr lang="en-US" dirty="0"/>
              <a:t>IO variables are handled for you.  We are</a:t>
            </a:r>
          </a:p>
          <a:p>
            <a:r>
              <a:rPr lang="en-US" dirty="0"/>
              <a:t>currently assuming that there is no collision</a:t>
            </a:r>
          </a:p>
          <a:p>
            <a:r>
              <a:rPr lang="en-US" dirty="0"/>
              <a:t>Between variables and IO IDs.</a:t>
            </a:r>
          </a:p>
        </p:txBody>
      </p:sp>
    </p:spTree>
    <p:extLst>
      <p:ext uri="{BB962C8B-B14F-4D97-AF65-F5344CB8AC3E}">
        <p14:creationId xmlns:p14="http://schemas.microsoft.com/office/powerpoint/2010/main" val="365193255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E0790-AAE7-E442-BF58-E06983DA75E7}"/>
              </a:ext>
            </a:extLst>
          </p:cNvPr>
          <p:cNvSpPr/>
          <p:nvPr/>
        </p:nvSpPr>
        <p:spPr>
          <a:xfrm>
            <a:off x="612249" y="1095453"/>
            <a:ext cx="2724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unit := ID </a:t>
            </a:r>
          </a:p>
          <a:p>
            <a:r>
              <a:rPr lang="en-US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 |  ...</a:t>
            </a:r>
            <a:endParaRPr lang="en-US" sz="3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9FF41-5AA1-5F4B-95F9-EB6737D7F1A2}"/>
              </a:ext>
            </a:extLst>
          </p:cNvPr>
          <p:cNvSpPr txBox="1"/>
          <p:nvPr/>
        </p:nvSpPr>
        <p:spPr>
          <a:xfrm>
            <a:off x="3336896" y="1372452"/>
            <a:ext cx="5969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do we know whether to make an IO node or a Var node?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240A9-0892-A747-B13D-5625B33D333F}"/>
              </a:ext>
            </a:extLst>
          </p:cNvPr>
          <p:cNvSpPr txBox="1"/>
          <p:nvPr/>
        </p:nvSpPr>
        <p:spPr>
          <a:xfrm>
            <a:off x="612249" y="1948070"/>
            <a:ext cx="966083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{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 = </a:t>
            </a:r>
            <a:r>
              <a:rPr lang="en-US" dirty="0" err="1">
                <a:latin typeface="Courier" pitchFamily="2" charset="0"/>
              </a:rPr>
              <a:t>self.to_match</a:t>
            </a:r>
            <a:r>
              <a:rPr lang="en-US" dirty="0">
                <a:latin typeface="Courier" pitchFamily="2" charset="0"/>
              </a:rPr>
              <a:t>[1]</a:t>
            </a:r>
          </a:p>
          <a:p>
            <a:r>
              <a:rPr lang="en-US" dirty="0">
                <a:latin typeface="Courier" pitchFamily="2" charset="0"/>
              </a:rPr>
              <a:t>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= # get </a:t>
            </a:r>
            <a:r>
              <a:rPr lang="en-US" dirty="0" err="1">
                <a:latin typeface="Courier" pitchFamily="2" charset="0"/>
              </a:rPr>
              <a:t>id_data</a:t>
            </a:r>
            <a:r>
              <a:rPr lang="en-US" dirty="0">
                <a:latin typeface="Courier" pitchFamily="2" charset="0"/>
              </a:rPr>
              <a:t> from the symbol table</a:t>
            </a:r>
          </a:p>
          <a:p>
            <a:r>
              <a:rPr lang="en-US" dirty="0">
                <a:latin typeface="Courier" pitchFamily="2" charset="0"/>
              </a:rPr>
              <a:t>   eat(“ID”)</a:t>
            </a:r>
          </a:p>
          <a:p>
            <a:r>
              <a:rPr lang="en-US" dirty="0">
                <a:latin typeface="Courier" pitchFamily="2" charset="0"/>
              </a:rPr>
              <a:t>   if (</a:t>
            </a:r>
            <a:r>
              <a:rPr lang="en-US" dirty="0" err="1">
                <a:latin typeface="Courier" pitchFamily="2" charset="0"/>
              </a:rPr>
              <a:t>id_data.id_type</a:t>
            </a:r>
            <a:r>
              <a:rPr lang="en-US" dirty="0">
                <a:latin typeface="Courier" pitchFamily="2" charset="0"/>
              </a:rPr>
              <a:t> == IO)</a:t>
            </a:r>
          </a:p>
          <a:p>
            <a:r>
              <a:rPr lang="en-US" dirty="0">
                <a:latin typeface="Courier" pitchFamily="2" charset="0"/>
              </a:rPr>
              <a:t>    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ASTIOIDNode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id_name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id_data.data_type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   else</a:t>
            </a:r>
          </a:p>
          <a:p>
            <a:r>
              <a:rPr lang="en-US" dirty="0">
                <a:latin typeface="Courier" pitchFamily="2" charset="0"/>
              </a:rPr>
              <a:t>       </a:t>
            </a:r>
            <a:r>
              <a:rPr lang="en-US" b="1" dirty="0">
                <a:latin typeface="Courier" pitchFamily="2" charset="0"/>
              </a:rPr>
              <a:t>return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 err="1">
                <a:latin typeface="Courier" pitchFamily="2" charset="0"/>
              </a:rPr>
              <a:t>ASTVarIDNode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id_data.new_name</a:t>
            </a:r>
            <a:r>
              <a:rPr lang="en-US" dirty="0">
                <a:latin typeface="Courier" pitchFamily="2" charset="0"/>
              </a:rPr>
              <a:t>, </a:t>
            </a:r>
            <a:r>
              <a:rPr lang="en-US" dirty="0" err="1">
                <a:latin typeface="Courier" pitchFamily="2" charset="0"/>
              </a:rPr>
              <a:t>id_data.data_type</a:t>
            </a:r>
            <a:r>
              <a:rPr lang="en-US" dirty="0">
                <a:latin typeface="Courier" pitchFamily="2" charset="0"/>
              </a:rPr>
              <a:t>)</a:t>
            </a:r>
          </a:p>
          <a:p>
            <a:r>
              <a:rPr lang="en-US" dirty="0">
                <a:latin typeface="Courier" pitchFamily="2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542D58-0189-9B40-9E88-37D087A42EAC}"/>
              </a:ext>
            </a:extLst>
          </p:cNvPr>
          <p:cNvSpPr txBox="1"/>
          <p:nvPr/>
        </p:nvSpPr>
        <p:spPr>
          <a:xfrm>
            <a:off x="355157" y="438312"/>
            <a:ext cx="530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building an expression AST, we parse a unit at the 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E5C40-B1AA-D541-BA6F-ADB97C7F5C41}"/>
              </a:ext>
            </a:extLst>
          </p:cNvPr>
          <p:cNvSpPr txBox="1"/>
          <p:nvPr/>
        </p:nvSpPr>
        <p:spPr>
          <a:xfrm>
            <a:off x="1375677" y="4739679"/>
            <a:ext cx="30064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id_data</a:t>
            </a:r>
            <a:r>
              <a:rPr lang="en-US" i="1" dirty="0"/>
              <a:t> should contain:</a:t>
            </a:r>
          </a:p>
          <a:p>
            <a:r>
              <a:rPr lang="en-US" b="1" i="1" dirty="0" err="1">
                <a:latin typeface="Courier" pitchFamily="2" charset="0"/>
              </a:rPr>
              <a:t>id_type</a:t>
            </a:r>
            <a:r>
              <a:rPr lang="en-US" i="1" dirty="0"/>
              <a:t>: IO or Var</a:t>
            </a:r>
          </a:p>
          <a:p>
            <a:r>
              <a:rPr lang="en-US" b="1" i="1" dirty="0" err="1">
                <a:latin typeface="Courier" pitchFamily="2" charset="0"/>
              </a:rPr>
              <a:t>data_type</a:t>
            </a:r>
            <a:r>
              <a:rPr lang="en-US" i="1" dirty="0"/>
              <a:t>: int or float</a:t>
            </a:r>
          </a:p>
          <a:p>
            <a:r>
              <a:rPr lang="en-US" b="1" i="1" dirty="0" err="1"/>
              <a:t>new_name</a:t>
            </a:r>
            <a:r>
              <a:rPr lang="en-US" i="1" dirty="0"/>
              <a:t>: new unique name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060F7E-7E4D-09DF-64D7-8695C894E1A8}"/>
              </a:ext>
            </a:extLst>
          </p:cNvPr>
          <p:cNvSpPr txBox="1"/>
          <p:nvPr/>
        </p:nvSpPr>
        <p:spPr>
          <a:xfrm>
            <a:off x="5655198" y="4747844"/>
            <a:ext cx="4889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 that the symbol table provides the needed information to handle this.</a:t>
            </a:r>
          </a:p>
        </p:txBody>
      </p:sp>
    </p:spTree>
    <p:extLst>
      <p:ext uri="{BB962C8B-B14F-4D97-AF65-F5344CB8AC3E}">
        <p14:creationId xmlns:p14="http://schemas.microsoft.com/office/powerpoint/2010/main" val="125930666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AD080-E9A9-8A4C-A750-D16FD5DA1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712C4-13A4-7F4D-8F47-CAF6D3A00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Finish up talking about intermediate </a:t>
            </a:r>
            <a:r>
              <a:rPr lang="en-US" dirty="0" err="1"/>
              <a:t>representaitons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764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58068</TotalTime>
  <Words>10031</Words>
  <Application>Microsoft Office PowerPoint</Application>
  <PresentationFormat>Widescreen</PresentationFormat>
  <Paragraphs>1576</Paragraphs>
  <Slides>108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6" baseType="lpstr">
      <vt:lpstr>Arial</vt:lpstr>
      <vt:lpstr>Calibri</vt:lpstr>
      <vt:lpstr>Calibri Light</vt:lpstr>
      <vt:lpstr>Consolas</vt:lpstr>
      <vt:lpstr>Courier</vt:lpstr>
      <vt:lpstr>Menlo</vt:lpstr>
      <vt:lpstr>Wingdings</vt:lpstr>
      <vt:lpstr>Office Theme</vt:lpstr>
      <vt:lpstr>CSE110A: Compilers</vt:lpstr>
      <vt:lpstr>Type Systems</vt:lpstr>
      <vt:lpstr>How are functions handled?</vt:lpstr>
      <vt:lpstr>How are functions handled?</vt:lpstr>
      <vt:lpstr>How are functions handled?</vt:lpstr>
      <vt:lpstr>How are functions handled?</vt:lpstr>
      <vt:lpstr>How are functions handled?</vt:lpstr>
      <vt:lpstr>How are functions handled?</vt:lpstr>
      <vt:lpstr>What about floats to ints?</vt:lpstr>
      <vt:lpstr>What about floats to ints?</vt:lpstr>
      <vt:lpstr>What about floats to ints?</vt:lpstr>
      <vt:lpstr>Discussion</vt:lpstr>
      <vt:lpstr>PowerPoint Presentation</vt:lpstr>
      <vt:lpstr>PowerPoint Presentation</vt:lpstr>
      <vt:lpstr>PowerPoint Presentation</vt:lpstr>
      <vt:lpstr>Type systems finished</vt:lpstr>
      <vt:lpstr>Intermediate Representations </vt:lpstr>
      <vt:lpstr>Our next challenge, IR: 3 address code or linear IR</vt:lpstr>
      <vt:lpstr>LES US SET DOWN SOME  RULES FOR OUR IR</vt:lpstr>
      <vt:lpstr>Class-IR: The Players</vt:lpstr>
      <vt:lpstr>Class-IR</vt:lpstr>
      <vt:lpstr>Class-IR</vt:lpstr>
      <vt:lpstr>Class-IR: Examples</vt:lpstr>
      <vt:lpstr>Class-IR: Control Flow</vt:lpstr>
      <vt:lpstr>Class-IR</vt:lpstr>
      <vt:lpstr>Class-IR</vt:lpstr>
      <vt:lpstr>Class-IR</vt:lpstr>
      <vt:lpstr>Class-IR</vt:lpstr>
      <vt:lpstr>Class-IR</vt:lpstr>
      <vt:lpstr>Class-IR: Examples</vt:lpstr>
      <vt:lpstr>Example</vt:lpstr>
      <vt:lpstr>Example</vt:lpstr>
      <vt:lpstr>SO WE HAVE THE RULES</vt:lpstr>
      <vt:lpstr>Converting AST into Class-IR</vt:lpstr>
      <vt:lpstr>Converting AST into Class-IR</vt:lpstr>
      <vt:lpstr>Converting AST into Class-IR</vt:lpstr>
      <vt:lpstr>Converting AST into Class-IR</vt:lpstr>
      <vt:lpstr>Converting AST into Class-IR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Thinking at a higher level</vt:lpstr>
      <vt:lpstr>Backing up to an even higher level</vt:lpstr>
      <vt:lpstr>From our grammar</vt:lpstr>
      <vt:lpstr>From our grammar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Compiler pragmatics</vt:lpstr>
      <vt:lpstr>Class-IR</vt:lpstr>
      <vt:lpstr>Two different ID nodes</vt:lpstr>
      <vt:lpstr>Two different ID nodes</vt:lpstr>
      <vt:lpstr>Class-IR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Scopes</vt:lpstr>
      <vt:lpstr>Class-IR</vt:lpstr>
      <vt:lpstr>PowerPoint Presentation</vt:lpstr>
      <vt:lpstr>NEXT: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828</cp:revision>
  <dcterms:created xsi:type="dcterms:W3CDTF">2021-03-23T23:59:42Z</dcterms:created>
  <dcterms:modified xsi:type="dcterms:W3CDTF">2025-05-20T00:03:40Z</dcterms:modified>
</cp:coreProperties>
</file>