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0"/>
  </p:notesMasterIdLst>
  <p:sldIdLst>
    <p:sldId id="257" r:id="rId2"/>
    <p:sldId id="1686" r:id="rId3"/>
    <p:sldId id="1636" r:id="rId4"/>
    <p:sldId id="1637" r:id="rId5"/>
    <p:sldId id="1638" r:id="rId6"/>
    <p:sldId id="1639" r:id="rId7"/>
    <p:sldId id="1640" r:id="rId8"/>
    <p:sldId id="1641" r:id="rId9"/>
    <p:sldId id="1643" r:id="rId10"/>
    <p:sldId id="1644" r:id="rId11"/>
    <p:sldId id="1645" r:id="rId12"/>
    <p:sldId id="1646" r:id="rId13"/>
    <p:sldId id="1647" r:id="rId14"/>
    <p:sldId id="1648" r:id="rId15"/>
    <p:sldId id="1649" r:id="rId16"/>
    <p:sldId id="1650" r:id="rId17"/>
    <p:sldId id="1687" r:id="rId18"/>
    <p:sldId id="1890" r:id="rId19"/>
    <p:sldId id="1891" r:id="rId20"/>
    <p:sldId id="1836" r:id="rId21"/>
    <p:sldId id="1837" r:id="rId22"/>
    <p:sldId id="1839" r:id="rId23"/>
    <p:sldId id="1840" r:id="rId24"/>
    <p:sldId id="1842" r:id="rId25"/>
    <p:sldId id="1843" r:id="rId26"/>
    <p:sldId id="1844" r:id="rId27"/>
    <p:sldId id="1845" r:id="rId28"/>
    <p:sldId id="1846" r:id="rId29"/>
    <p:sldId id="1847" r:id="rId30"/>
    <p:sldId id="1848" r:id="rId31"/>
    <p:sldId id="1849" r:id="rId32"/>
    <p:sldId id="1892" r:id="rId33"/>
    <p:sldId id="1850" r:id="rId34"/>
    <p:sldId id="1851" r:id="rId35"/>
    <p:sldId id="1852" r:id="rId36"/>
    <p:sldId id="1853" r:id="rId37"/>
    <p:sldId id="1897" r:id="rId38"/>
    <p:sldId id="1901" r:id="rId39"/>
    <p:sldId id="1902" r:id="rId40"/>
    <p:sldId id="1903" r:id="rId41"/>
    <p:sldId id="1904" r:id="rId42"/>
    <p:sldId id="1905" r:id="rId43"/>
    <p:sldId id="1894" r:id="rId44"/>
    <p:sldId id="1906" r:id="rId45"/>
    <p:sldId id="1908" r:id="rId46"/>
    <p:sldId id="1907" r:id="rId47"/>
    <p:sldId id="1909" r:id="rId48"/>
    <p:sldId id="1861" r:id="rId49"/>
    <p:sldId id="1862" r:id="rId50"/>
    <p:sldId id="1863" r:id="rId51"/>
    <p:sldId id="1864" r:id="rId52"/>
    <p:sldId id="1865" r:id="rId53"/>
    <p:sldId id="1866" r:id="rId54"/>
    <p:sldId id="1867" r:id="rId55"/>
    <p:sldId id="1868" r:id="rId56"/>
    <p:sldId id="1869" r:id="rId57"/>
    <p:sldId id="1870" r:id="rId58"/>
    <p:sldId id="1871" r:id="rId59"/>
    <p:sldId id="1872" r:id="rId60"/>
    <p:sldId id="1873" r:id="rId61"/>
    <p:sldId id="1874" r:id="rId62"/>
    <p:sldId id="1875" r:id="rId63"/>
    <p:sldId id="1876" r:id="rId64"/>
    <p:sldId id="1877" r:id="rId65"/>
    <p:sldId id="1878" r:id="rId66"/>
    <p:sldId id="1879" r:id="rId67"/>
    <p:sldId id="1880" r:id="rId68"/>
    <p:sldId id="1881" r:id="rId69"/>
    <p:sldId id="1882" r:id="rId70"/>
    <p:sldId id="1883" r:id="rId71"/>
    <p:sldId id="1884" r:id="rId72"/>
    <p:sldId id="1885" r:id="rId73"/>
    <p:sldId id="1887" r:id="rId74"/>
    <p:sldId id="1775" r:id="rId75"/>
    <p:sldId id="1776" r:id="rId76"/>
    <p:sldId id="1777" r:id="rId77"/>
    <p:sldId id="1779" r:id="rId78"/>
    <p:sldId id="1780" r:id="rId79"/>
    <p:sldId id="1781" r:id="rId80"/>
    <p:sldId id="1783" r:id="rId81"/>
    <p:sldId id="1784" r:id="rId82"/>
    <p:sldId id="1785" r:id="rId83"/>
    <p:sldId id="1786" r:id="rId84"/>
    <p:sldId id="1818" r:id="rId85"/>
    <p:sldId id="1787" r:id="rId86"/>
    <p:sldId id="1788" r:id="rId87"/>
    <p:sldId id="1789" r:id="rId88"/>
    <p:sldId id="1793" r:id="rId89"/>
    <p:sldId id="1791" r:id="rId90"/>
    <p:sldId id="1819" r:id="rId91"/>
    <p:sldId id="1820" r:id="rId92"/>
    <p:sldId id="1821" r:id="rId93"/>
    <p:sldId id="1822" r:id="rId94"/>
    <p:sldId id="1823" r:id="rId95"/>
    <p:sldId id="1824" r:id="rId96"/>
    <p:sldId id="1825" r:id="rId97"/>
    <p:sldId id="1826" r:id="rId98"/>
    <p:sldId id="1827" r:id="rId99"/>
    <p:sldId id="1828" r:id="rId100"/>
    <p:sldId id="1829" r:id="rId101"/>
    <p:sldId id="1830" r:id="rId102"/>
    <p:sldId id="1831" r:id="rId103"/>
    <p:sldId id="1832" r:id="rId104"/>
    <p:sldId id="1888" r:id="rId105"/>
    <p:sldId id="1889" r:id="rId106"/>
    <p:sldId id="1893" r:id="rId107"/>
    <p:sldId id="1797" r:id="rId108"/>
    <p:sldId id="1798" r:id="rId10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ED7D31"/>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400"/>
    <p:restoredTop sz="96405"/>
  </p:normalViewPr>
  <p:slideViewPr>
    <p:cSldViewPr snapToGrid="0" snapToObjects="1">
      <p:cViewPr varScale="1">
        <p:scale>
          <a:sx n="71" d="100"/>
          <a:sy n="71" d="100"/>
        </p:scale>
        <p:origin x="72" y="6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6A6930-6FE4-5249-A389-5C34F8D02512}" type="datetimeFigureOut">
              <a:rPr lang="en-US" smtClean="0"/>
              <a:t>2/24/2026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17B7F8-0CD4-BB49-9045-2C974462FF15}" type="slidenum">
              <a:rPr lang="en-US" smtClean="0"/>
              <a:t>‹#›</a:t>
            </a:fld>
            <a:endParaRPr lang="en-US"/>
          </a:p>
        </p:txBody>
      </p:sp>
    </p:spTree>
    <p:extLst>
      <p:ext uri="{BB962C8B-B14F-4D97-AF65-F5344CB8AC3E}">
        <p14:creationId xmlns:p14="http://schemas.microsoft.com/office/powerpoint/2010/main" val="801789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A43C2-07A5-BB44-9F43-B20E7E5312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41C6CB-5CAA-DD48-BDA4-0592D5FF8B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662CB0-8583-4540-BE1C-F84CB375F37B}"/>
              </a:ext>
            </a:extLst>
          </p:cNvPr>
          <p:cNvSpPr>
            <a:spLocks noGrp="1"/>
          </p:cNvSpPr>
          <p:nvPr>
            <p:ph type="dt" sz="half" idx="10"/>
          </p:nvPr>
        </p:nvSpPr>
        <p:spPr/>
        <p:txBody>
          <a:bodyPr/>
          <a:lstStyle/>
          <a:p>
            <a:fld id="{574CE19A-8503-7843-8A88-9F39D8324431}" type="datetimeFigureOut">
              <a:rPr lang="en-US" smtClean="0"/>
              <a:t>2/24/2026</a:t>
            </a:fld>
            <a:endParaRPr lang="en-US"/>
          </a:p>
        </p:txBody>
      </p:sp>
      <p:sp>
        <p:nvSpPr>
          <p:cNvPr id="5" name="Footer Placeholder 4">
            <a:extLst>
              <a:ext uri="{FF2B5EF4-FFF2-40B4-BE49-F238E27FC236}">
                <a16:creationId xmlns:a16="http://schemas.microsoft.com/office/drawing/2014/main" id="{EF9B2658-7209-954E-8DDF-07C641D90C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AD4973-44DE-7342-BA01-547EED31CE5A}"/>
              </a:ext>
            </a:extLst>
          </p:cNvPr>
          <p:cNvSpPr>
            <a:spLocks noGrp="1"/>
          </p:cNvSpPr>
          <p:nvPr>
            <p:ph type="sldNum" sz="quarter" idx="12"/>
          </p:nvPr>
        </p:nvSpPr>
        <p:spPr/>
        <p:txBody>
          <a:bodyPr/>
          <a:lstStyle/>
          <a:p>
            <a:fld id="{FC60BDC8-442D-FF45-BCA9-EECAFF0BA339}" type="slidenum">
              <a:rPr lang="en-US" smtClean="0"/>
              <a:t>‹#›</a:t>
            </a:fld>
            <a:endParaRPr lang="en-US"/>
          </a:p>
        </p:txBody>
      </p:sp>
    </p:spTree>
    <p:extLst>
      <p:ext uri="{BB962C8B-B14F-4D97-AF65-F5344CB8AC3E}">
        <p14:creationId xmlns:p14="http://schemas.microsoft.com/office/powerpoint/2010/main" val="108344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78217-0850-FA42-8B72-F673F24DE8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F12092-A792-584F-8A1C-32C031603FE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F86E26-FE36-7B4D-AAF5-904CF3BBDB21}"/>
              </a:ext>
            </a:extLst>
          </p:cNvPr>
          <p:cNvSpPr>
            <a:spLocks noGrp="1"/>
          </p:cNvSpPr>
          <p:nvPr>
            <p:ph type="dt" sz="half" idx="10"/>
          </p:nvPr>
        </p:nvSpPr>
        <p:spPr/>
        <p:txBody>
          <a:bodyPr/>
          <a:lstStyle/>
          <a:p>
            <a:fld id="{574CE19A-8503-7843-8A88-9F39D8324431}" type="datetimeFigureOut">
              <a:rPr lang="en-US" smtClean="0"/>
              <a:t>2/24/2026</a:t>
            </a:fld>
            <a:endParaRPr lang="en-US"/>
          </a:p>
        </p:txBody>
      </p:sp>
      <p:sp>
        <p:nvSpPr>
          <p:cNvPr id="5" name="Footer Placeholder 4">
            <a:extLst>
              <a:ext uri="{FF2B5EF4-FFF2-40B4-BE49-F238E27FC236}">
                <a16:creationId xmlns:a16="http://schemas.microsoft.com/office/drawing/2014/main" id="{0BE9D109-2568-4B4F-B7F4-2C7AD017C9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8AD3A7-3697-7C4A-A781-66DD5DCCA3DF}"/>
              </a:ext>
            </a:extLst>
          </p:cNvPr>
          <p:cNvSpPr>
            <a:spLocks noGrp="1"/>
          </p:cNvSpPr>
          <p:nvPr>
            <p:ph type="sldNum" sz="quarter" idx="12"/>
          </p:nvPr>
        </p:nvSpPr>
        <p:spPr/>
        <p:txBody>
          <a:bodyPr/>
          <a:lstStyle/>
          <a:p>
            <a:fld id="{FC60BDC8-442D-FF45-BCA9-EECAFF0BA339}" type="slidenum">
              <a:rPr lang="en-US" smtClean="0"/>
              <a:t>‹#›</a:t>
            </a:fld>
            <a:endParaRPr lang="en-US"/>
          </a:p>
        </p:txBody>
      </p:sp>
    </p:spTree>
    <p:extLst>
      <p:ext uri="{BB962C8B-B14F-4D97-AF65-F5344CB8AC3E}">
        <p14:creationId xmlns:p14="http://schemas.microsoft.com/office/powerpoint/2010/main" val="2339199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C555C-64CB-F548-ABB6-4B463934B6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9C269A-28B6-FB43-BB47-BA94CF3328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D521C4-BC30-3646-824D-F119E616E6CE}"/>
              </a:ext>
            </a:extLst>
          </p:cNvPr>
          <p:cNvSpPr>
            <a:spLocks noGrp="1"/>
          </p:cNvSpPr>
          <p:nvPr>
            <p:ph type="dt" sz="half" idx="10"/>
          </p:nvPr>
        </p:nvSpPr>
        <p:spPr/>
        <p:txBody>
          <a:bodyPr/>
          <a:lstStyle/>
          <a:p>
            <a:fld id="{574CE19A-8503-7843-8A88-9F39D8324431}" type="datetimeFigureOut">
              <a:rPr lang="en-US" smtClean="0"/>
              <a:t>2/24/2026</a:t>
            </a:fld>
            <a:endParaRPr lang="en-US"/>
          </a:p>
        </p:txBody>
      </p:sp>
      <p:sp>
        <p:nvSpPr>
          <p:cNvPr id="5" name="Footer Placeholder 4">
            <a:extLst>
              <a:ext uri="{FF2B5EF4-FFF2-40B4-BE49-F238E27FC236}">
                <a16:creationId xmlns:a16="http://schemas.microsoft.com/office/drawing/2014/main" id="{1ECD182C-D8EA-B948-8737-5A6BD5B4D4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0787B1-6592-9044-9667-44816CAAB509}"/>
              </a:ext>
            </a:extLst>
          </p:cNvPr>
          <p:cNvSpPr>
            <a:spLocks noGrp="1"/>
          </p:cNvSpPr>
          <p:nvPr>
            <p:ph type="sldNum" sz="quarter" idx="12"/>
          </p:nvPr>
        </p:nvSpPr>
        <p:spPr/>
        <p:txBody>
          <a:bodyPr/>
          <a:lstStyle/>
          <a:p>
            <a:fld id="{FC60BDC8-442D-FF45-BCA9-EECAFF0BA339}" type="slidenum">
              <a:rPr lang="en-US" smtClean="0"/>
              <a:t>‹#›</a:t>
            </a:fld>
            <a:endParaRPr lang="en-US"/>
          </a:p>
        </p:txBody>
      </p:sp>
    </p:spTree>
    <p:extLst>
      <p:ext uri="{BB962C8B-B14F-4D97-AF65-F5344CB8AC3E}">
        <p14:creationId xmlns:p14="http://schemas.microsoft.com/office/powerpoint/2010/main" val="1430850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5A981-5F59-8940-A2F7-8CE7EAE348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ADAABA-0EEF-254E-B417-1B2EB27435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196200-086D-EA44-85BA-8D8F7BA4D8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A8D651E-2A31-AF4F-8A27-A2301E38AD3D}"/>
              </a:ext>
            </a:extLst>
          </p:cNvPr>
          <p:cNvSpPr>
            <a:spLocks noGrp="1"/>
          </p:cNvSpPr>
          <p:nvPr>
            <p:ph type="dt" sz="half" idx="10"/>
          </p:nvPr>
        </p:nvSpPr>
        <p:spPr/>
        <p:txBody>
          <a:bodyPr/>
          <a:lstStyle/>
          <a:p>
            <a:fld id="{574CE19A-8503-7843-8A88-9F39D8324431}" type="datetimeFigureOut">
              <a:rPr lang="en-US" smtClean="0"/>
              <a:t>2/24/2026</a:t>
            </a:fld>
            <a:endParaRPr lang="en-US"/>
          </a:p>
        </p:txBody>
      </p:sp>
      <p:sp>
        <p:nvSpPr>
          <p:cNvPr id="6" name="Footer Placeholder 5">
            <a:extLst>
              <a:ext uri="{FF2B5EF4-FFF2-40B4-BE49-F238E27FC236}">
                <a16:creationId xmlns:a16="http://schemas.microsoft.com/office/drawing/2014/main" id="{701ED8DF-7DBC-294E-82B1-18236111A1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DE2C9E-91E9-FD42-9F13-932CADEBD2C5}"/>
              </a:ext>
            </a:extLst>
          </p:cNvPr>
          <p:cNvSpPr>
            <a:spLocks noGrp="1"/>
          </p:cNvSpPr>
          <p:nvPr>
            <p:ph type="sldNum" sz="quarter" idx="12"/>
          </p:nvPr>
        </p:nvSpPr>
        <p:spPr/>
        <p:txBody>
          <a:bodyPr/>
          <a:lstStyle/>
          <a:p>
            <a:fld id="{FC60BDC8-442D-FF45-BCA9-EECAFF0BA339}" type="slidenum">
              <a:rPr lang="en-US" smtClean="0"/>
              <a:t>‹#›</a:t>
            </a:fld>
            <a:endParaRPr lang="en-US"/>
          </a:p>
        </p:txBody>
      </p:sp>
    </p:spTree>
    <p:extLst>
      <p:ext uri="{BB962C8B-B14F-4D97-AF65-F5344CB8AC3E}">
        <p14:creationId xmlns:p14="http://schemas.microsoft.com/office/powerpoint/2010/main" val="3061756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92995-0013-6F49-9741-2EA0BF4080F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B6D280-4929-384B-8615-167612096F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029458-FF2B-1440-8335-632CAA842D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39CA800-81C1-B646-A953-E8DBE47BC9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3CCEC6B-205E-0B45-A0F3-6C8FCEE9A1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71920B-F361-C64F-BB0E-35F2D2CBB4D8}"/>
              </a:ext>
            </a:extLst>
          </p:cNvPr>
          <p:cNvSpPr>
            <a:spLocks noGrp="1"/>
          </p:cNvSpPr>
          <p:nvPr>
            <p:ph type="dt" sz="half" idx="10"/>
          </p:nvPr>
        </p:nvSpPr>
        <p:spPr/>
        <p:txBody>
          <a:bodyPr/>
          <a:lstStyle/>
          <a:p>
            <a:fld id="{574CE19A-8503-7843-8A88-9F39D8324431}" type="datetimeFigureOut">
              <a:rPr lang="en-US" smtClean="0"/>
              <a:t>2/24/2026</a:t>
            </a:fld>
            <a:endParaRPr lang="en-US"/>
          </a:p>
        </p:txBody>
      </p:sp>
      <p:sp>
        <p:nvSpPr>
          <p:cNvPr id="8" name="Footer Placeholder 7">
            <a:extLst>
              <a:ext uri="{FF2B5EF4-FFF2-40B4-BE49-F238E27FC236}">
                <a16:creationId xmlns:a16="http://schemas.microsoft.com/office/drawing/2014/main" id="{29D44ECE-207A-FA4C-9475-C03DC72DFE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CC1820C-AD96-D443-8AA8-5641E0380239}"/>
              </a:ext>
            </a:extLst>
          </p:cNvPr>
          <p:cNvSpPr>
            <a:spLocks noGrp="1"/>
          </p:cNvSpPr>
          <p:nvPr>
            <p:ph type="sldNum" sz="quarter" idx="12"/>
          </p:nvPr>
        </p:nvSpPr>
        <p:spPr/>
        <p:txBody>
          <a:bodyPr/>
          <a:lstStyle/>
          <a:p>
            <a:fld id="{FC60BDC8-442D-FF45-BCA9-EECAFF0BA339}" type="slidenum">
              <a:rPr lang="en-US" smtClean="0"/>
              <a:t>‹#›</a:t>
            </a:fld>
            <a:endParaRPr lang="en-US"/>
          </a:p>
        </p:txBody>
      </p:sp>
    </p:spTree>
    <p:extLst>
      <p:ext uri="{BB962C8B-B14F-4D97-AF65-F5344CB8AC3E}">
        <p14:creationId xmlns:p14="http://schemas.microsoft.com/office/powerpoint/2010/main" val="782531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F0FFF-6ED0-6243-A2AE-B253809A02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F091E3-DFC5-0540-9C75-225956946FE6}"/>
              </a:ext>
            </a:extLst>
          </p:cNvPr>
          <p:cNvSpPr>
            <a:spLocks noGrp="1"/>
          </p:cNvSpPr>
          <p:nvPr>
            <p:ph type="dt" sz="half" idx="10"/>
          </p:nvPr>
        </p:nvSpPr>
        <p:spPr/>
        <p:txBody>
          <a:bodyPr/>
          <a:lstStyle/>
          <a:p>
            <a:fld id="{574CE19A-8503-7843-8A88-9F39D8324431}" type="datetimeFigureOut">
              <a:rPr lang="en-US" smtClean="0"/>
              <a:t>2/24/2026</a:t>
            </a:fld>
            <a:endParaRPr lang="en-US"/>
          </a:p>
        </p:txBody>
      </p:sp>
      <p:sp>
        <p:nvSpPr>
          <p:cNvPr id="4" name="Footer Placeholder 3">
            <a:extLst>
              <a:ext uri="{FF2B5EF4-FFF2-40B4-BE49-F238E27FC236}">
                <a16:creationId xmlns:a16="http://schemas.microsoft.com/office/drawing/2014/main" id="{48BC49A3-0384-754C-BED0-DC0D47B425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FF2BA99-1D12-C64F-996A-85628BB3EE16}"/>
              </a:ext>
            </a:extLst>
          </p:cNvPr>
          <p:cNvSpPr>
            <a:spLocks noGrp="1"/>
          </p:cNvSpPr>
          <p:nvPr>
            <p:ph type="sldNum" sz="quarter" idx="12"/>
          </p:nvPr>
        </p:nvSpPr>
        <p:spPr/>
        <p:txBody>
          <a:bodyPr/>
          <a:lstStyle/>
          <a:p>
            <a:fld id="{FC60BDC8-442D-FF45-BCA9-EECAFF0BA339}" type="slidenum">
              <a:rPr lang="en-US" smtClean="0"/>
              <a:t>‹#›</a:t>
            </a:fld>
            <a:endParaRPr lang="en-US"/>
          </a:p>
        </p:txBody>
      </p:sp>
    </p:spTree>
    <p:extLst>
      <p:ext uri="{BB962C8B-B14F-4D97-AF65-F5344CB8AC3E}">
        <p14:creationId xmlns:p14="http://schemas.microsoft.com/office/powerpoint/2010/main" val="2867583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36606B-79E4-A34B-BE97-997D9D758296}"/>
              </a:ext>
            </a:extLst>
          </p:cNvPr>
          <p:cNvSpPr>
            <a:spLocks noGrp="1"/>
          </p:cNvSpPr>
          <p:nvPr>
            <p:ph type="dt" sz="half" idx="10"/>
          </p:nvPr>
        </p:nvSpPr>
        <p:spPr/>
        <p:txBody>
          <a:bodyPr/>
          <a:lstStyle/>
          <a:p>
            <a:fld id="{574CE19A-8503-7843-8A88-9F39D8324431}" type="datetimeFigureOut">
              <a:rPr lang="en-US" smtClean="0"/>
              <a:t>2/24/2026</a:t>
            </a:fld>
            <a:endParaRPr lang="en-US"/>
          </a:p>
        </p:txBody>
      </p:sp>
      <p:sp>
        <p:nvSpPr>
          <p:cNvPr id="3" name="Footer Placeholder 2">
            <a:extLst>
              <a:ext uri="{FF2B5EF4-FFF2-40B4-BE49-F238E27FC236}">
                <a16:creationId xmlns:a16="http://schemas.microsoft.com/office/drawing/2014/main" id="{DB9557CB-8103-3B41-A940-4FD4799A31E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4919D0-3FCE-CF4E-9D34-9E0CD3DF71DD}"/>
              </a:ext>
            </a:extLst>
          </p:cNvPr>
          <p:cNvSpPr>
            <a:spLocks noGrp="1"/>
          </p:cNvSpPr>
          <p:nvPr>
            <p:ph type="sldNum" sz="quarter" idx="12"/>
          </p:nvPr>
        </p:nvSpPr>
        <p:spPr/>
        <p:txBody>
          <a:bodyPr/>
          <a:lstStyle/>
          <a:p>
            <a:fld id="{FC60BDC8-442D-FF45-BCA9-EECAFF0BA339}" type="slidenum">
              <a:rPr lang="en-US" smtClean="0"/>
              <a:t>‹#›</a:t>
            </a:fld>
            <a:endParaRPr lang="en-US"/>
          </a:p>
        </p:txBody>
      </p:sp>
    </p:spTree>
    <p:extLst>
      <p:ext uri="{BB962C8B-B14F-4D97-AF65-F5344CB8AC3E}">
        <p14:creationId xmlns:p14="http://schemas.microsoft.com/office/powerpoint/2010/main" val="1623983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4B636-4EDD-7341-9B7D-17AAD47C62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1F0136-D7DD-1044-B848-27E313D5AB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77DAE57-151C-234A-AA03-81AA7510BB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5ED6AC-BAC0-EB4C-9277-A63F666076E9}"/>
              </a:ext>
            </a:extLst>
          </p:cNvPr>
          <p:cNvSpPr>
            <a:spLocks noGrp="1"/>
          </p:cNvSpPr>
          <p:nvPr>
            <p:ph type="dt" sz="half" idx="10"/>
          </p:nvPr>
        </p:nvSpPr>
        <p:spPr/>
        <p:txBody>
          <a:bodyPr/>
          <a:lstStyle/>
          <a:p>
            <a:fld id="{574CE19A-8503-7843-8A88-9F39D8324431}" type="datetimeFigureOut">
              <a:rPr lang="en-US" smtClean="0"/>
              <a:t>2/24/2026</a:t>
            </a:fld>
            <a:endParaRPr lang="en-US"/>
          </a:p>
        </p:txBody>
      </p:sp>
      <p:sp>
        <p:nvSpPr>
          <p:cNvPr id="6" name="Footer Placeholder 5">
            <a:extLst>
              <a:ext uri="{FF2B5EF4-FFF2-40B4-BE49-F238E27FC236}">
                <a16:creationId xmlns:a16="http://schemas.microsoft.com/office/drawing/2014/main" id="{10D45925-827B-DA4D-8CDF-AC1503BA23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854FF9-5EE1-A94C-9742-0AC2B9C34579}"/>
              </a:ext>
            </a:extLst>
          </p:cNvPr>
          <p:cNvSpPr>
            <a:spLocks noGrp="1"/>
          </p:cNvSpPr>
          <p:nvPr>
            <p:ph type="sldNum" sz="quarter" idx="12"/>
          </p:nvPr>
        </p:nvSpPr>
        <p:spPr/>
        <p:txBody>
          <a:bodyPr/>
          <a:lstStyle/>
          <a:p>
            <a:fld id="{FC60BDC8-442D-FF45-BCA9-EECAFF0BA339}" type="slidenum">
              <a:rPr lang="en-US" smtClean="0"/>
              <a:t>‹#›</a:t>
            </a:fld>
            <a:endParaRPr lang="en-US"/>
          </a:p>
        </p:txBody>
      </p:sp>
    </p:spTree>
    <p:extLst>
      <p:ext uri="{BB962C8B-B14F-4D97-AF65-F5344CB8AC3E}">
        <p14:creationId xmlns:p14="http://schemas.microsoft.com/office/powerpoint/2010/main" val="2805753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2B654-18D6-F84E-B59E-E18CBEE4CA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16D7EFC-4004-0145-A2F9-E508D0958C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5815D9-4FFF-1643-9F8A-2708D6AAAC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5662FC-F0E3-2D4D-B116-98471B67E969}"/>
              </a:ext>
            </a:extLst>
          </p:cNvPr>
          <p:cNvSpPr>
            <a:spLocks noGrp="1"/>
          </p:cNvSpPr>
          <p:nvPr>
            <p:ph type="dt" sz="half" idx="10"/>
          </p:nvPr>
        </p:nvSpPr>
        <p:spPr/>
        <p:txBody>
          <a:bodyPr/>
          <a:lstStyle/>
          <a:p>
            <a:fld id="{574CE19A-8503-7843-8A88-9F39D8324431}" type="datetimeFigureOut">
              <a:rPr lang="en-US" smtClean="0"/>
              <a:t>2/24/2026</a:t>
            </a:fld>
            <a:endParaRPr lang="en-US"/>
          </a:p>
        </p:txBody>
      </p:sp>
      <p:sp>
        <p:nvSpPr>
          <p:cNvPr id="6" name="Footer Placeholder 5">
            <a:extLst>
              <a:ext uri="{FF2B5EF4-FFF2-40B4-BE49-F238E27FC236}">
                <a16:creationId xmlns:a16="http://schemas.microsoft.com/office/drawing/2014/main" id="{98612221-F75B-BA43-B4BA-28655085A8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FC9E1C-49AC-D74C-B71C-A5DC2EB02A7F}"/>
              </a:ext>
            </a:extLst>
          </p:cNvPr>
          <p:cNvSpPr>
            <a:spLocks noGrp="1"/>
          </p:cNvSpPr>
          <p:nvPr>
            <p:ph type="sldNum" sz="quarter" idx="12"/>
          </p:nvPr>
        </p:nvSpPr>
        <p:spPr/>
        <p:txBody>
          <a:bodyPr/>
          <a:lstStyle/>
          <a:p>
            <a:fld id="{FC60BDC8-442D-FF45-BCA9-EECAFF0BA339}" type="slidenum">
              <a:rPr lang="en-US" smtClean="0"/>
              <a:t>‹#›</a:t>
            </a:fld>
            <a:endParaRPr lang="en-US"/>
          </a:p>
        </p:txBody>
      </p:sp>
    </p:spTree>
    <p:extLst>
      <p:ext uri="{BB962C8B-B14F-4D97-AF65-F5344CB8AC3E}">
        <p14:creationId xmlns:p14="http://schemas.microsoft.com/office/powerpoint/2010/main" val="2499075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7DDD4-B6A1-124E-97F1-BA841867627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FEE7DE-9595-5745-A856-48AB8F5B52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9F81CC-8DBA-1342-88D3-380AA2B3042B}"/>
              </a:ext>
            </a:extLst>
          </p:cNvPr>
          <p:cNvSpPr>
            <a:spLocks noGrp="1"/>
          </p:cNvSpPr>
          <p:nvPr>
            <p:ph type="dt" sz="half" idx="10"/>
          </p:nvPr>
        </p:nvSpPr>
        <p:spPr/>
        <p:txBody>
          <a:bodyPr/>
          <a:lstStyle/>
          <a:p>
            <a:fld id="{574CE19A-8503-7843-8A88-9F39D8324431}" type="datetimeFigureOut">
              <a:rPr lang="en-US" smtClean="0"/>
              <a:t>2/24/2026</a:t>
            </a:fld>
            <a:endParaRPr lang="en-US"/>
          </a:p>
        </p:txBody>
      </p:sp>
      <p:sp>
        <p:nvSpPr>
          <p:cNvPr id="5" name="Footer Placeholder 4">
            <a:extLst>
              <a:ext uri="{FF2B5EF4-FFF2-40B4-BE49-F238E27FC236}">
                <a16:creationId xmlns:a16="http://schemas.microsoft.com/office/drawing/2014/main" id="{B81FA341-EA27-6943-B20F-AFA538A66D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63FE79-E424-E945-ADDC-83D446C52821}"/>
              </a:ext>
            </a:extLst>
          </p:cNvPr>
          <p:cNvSpPr>
            <a:spLocks noGrp="1"/>
          </p:cNvSpPr>
          <p:nvPr>
            <p:ph type="sldNum" sz="quarter" idx="12"/>
          </p:nvPr>
        </p:nvSpPr>
        <p:spPr/>
        <p:txBody>
          <a:bodyPr/>
          <a:lstStyle/>
          <a:p>
            <a:fld id="{FC60BDC8-442D-FF45-BCA9-EECAFF0BA339}" type="slidenum">
              <a:rPr lang="en-US" smtClean="0"/>
              <a:t>‹#›</a:t>
            </a:fld>
            <a:endParaRPr lang="en-US"/>
          </a:p>
        </p:txBody>
      </p:sp>
    </p:spTree>
    <p:extLst>
      <p:ext uri="{BB962C8B-B14F-4D97-AF65-F5344CB8AC3E}">
        <p14:creationId xmlns:p14="http://schemas.microsoft.com/office/powerpoint/2010/main" val="2274236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48F054-886E-8B44-8EBE-87FBB615030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BA284C-386A-6C4E-9A40-04DA68EFB5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98CBE6-4A2A-6549-898B-B2545B837CBA}"/>
              </a:ext>
            </a:extLst>
          </p:cNvPr>
          <p:cNvSpPr>
            <a:spLocks noGrp="1"/>
          </p:cNvSpPr>
          <p:nvPr>
            <p:ph type="dt" sz="half" idx="10"/>
          </p:nvPr>
        </p:nvSpPr>
        <p:spPr/>
        <p:txBody>
          <a:bodyPr/>
          <a:lstStyle/>
          <a:p>
            <a:fld id="{574CE19A-8503-7843-8A88-9F39D8324431}" type="datetimeFigureOut">
              <a:rPr lang="en-US" smtClean="0"/>
              <a:t>2/24/2026</a:t>
            </a:fld>
            <a:endParaRPr lang="en-US"/>
          </a:p>
        </p:txBody>
      </p:sp>
      <p:sp>
        <p:nvSpPr>
          <p:cNvPr id="5" name="Footer Placeholder 4">
            <a:extLst>
              <a:ext uri="{FF2B5EF4-FFF2-40B4-BE49-F238E27FC236}">
                <a16:creationId xmlns:a16="http://schemas.microsoft.com/office/drawing/2014/main" id="{9F9ED32C-794E-1143-802D-3AD6C9B715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6FF59B-F6CF-464E-93D4-AA7B3EE8C47C}"/>
              </a:ext>
            </a:extLst>
          </p:cNvPr>
          <p:cNvSpPr>
            <a:spLocks noGrp="1"/>
          </p:cNvSpPr>
          <p:nvPr>
            <p:ph type="sldNum" sz="quarter" idx="12"/>
          </p:nvPr>
        </p:nvSpPr>
        <p:spPr/>
        <p:txBody>
          <a:bodyPr/>
          <a:lstStyle/>
          <a:p>
            <a:fld id="{FC60BDC8-442D-FF45-BCA9-EECAFF0BA339}" type="slidenum">
              <a:rPr lang="en-US" smtClean="0"/>
              <a:t>‹#›</a:t>
            </a:fld>
            <a:endParaRPr lang="en-US"/>
          </a:p>
        </p:txBody>
      </p:sp>
    </p:spTree>
    <p:extLst>
      <p:ext uri="{BB962C8B-B14F-4D97-AF65-F5344CB8AC3E}">
        <p14:creationId xmlns:p14="http://schemas.microsoft.com/office/powerpoint/2010/main" val="1532127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6F7A43-3B09-424D-B3CE-5FDEDAF2AF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17A7AA5-45BE-FB42-A660-04610BF855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7CA802-9596-D94B-AF54-17577EF831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4CE19A-8503-7843-8A88-9F39D8324431}" type="datetimeFigureOut">
              <a:rPr lang="en-US" smtClean="0"/>
              <a:t>2/24/2026</a:t>
            </a:fld>
            <a:endParaRPr lang="en-US"/>
          </a:p>
        </p:txBody>
      </p:sp>
      <p:sp>
        <p:nvSpPr>
          <p:cNvPr id="5" name="Footer Placeholder 4">
            <a:extLst>
              <a:ext uri="{FF2B5EF4-FFF2-40B4-BE49-F238E27FC236}">
                <a16:creationId xmlns:a16="http://schemas.microsoft.com/office/drawing/2014/main" id="{F8550162-12AB-E644-9FE6-953D584338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3DB02E1-3BE0-DA47-8CDF-D1AE848A25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60BDC8-442D-FF45-BCA9-EECAFF0BA339}" type="slidenum">
              <a:rPr lang="en-US" smtClean="0"/>
              <a:t>‹#›</a:t>
            </a:fld>
            <a:endParaRPr lang="en-US"/>
          </a:p>
        </p:txBody>
      </p:sp>
    </p:spTree>
    <p:extLst>
      <p:ext uri="{BB962C8B-B14F-4D97-AF65-F5344CB8AC3E}">
        <p14:creationId xmlns:p14="http://schemas.microsoft.com/office/powerpoint/2010/main" val="16107788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55987-81F9-C64A-BD1F-BC0CF5D7C402}"/>
              </a:ext>
            </a:extLst>
          </p:cNvPr>
          <p:cNvSpPr>
            <a:spLocks noGrp="1"/>
          </p:cNvSpPr>
          <p:nvPr>
            <p:ph type="title"/>
          </p:nvPr>
        </p:nvSpPr>
        <p:spPr>
          <a:xfrm>
            <a:off x="342982" y="37351"/>
            <a:ext cx="10515600" cy="1553757"/>
          </a:xfrm>
        </p:spPr>
        <p:txBody>
          <a:bodyPr/>
          <a:lstStyle/>
          <a:p>
            <a:r>
              <a:rPr lang="en-US" sz="5000" b="1" dirty="0"/>
              <a:t>CSE110A: Compilers</a:t>
            </a:r>
            <a:endParaRPr lang="en-US" sz="3200" dirty="0"/>
          </a:p>
        </p:txBody>
      </p:sp>
      <p:sp>
        <p:nvSpPr>
          <p:cNvPr id="3" name="Content Placeholder 2">
            <a:extLst>
              <a:ext uri="{FF2B5EF4-FFF2-40B4-BE49-F238E27FC236}">
                <a16:creationId xmlns:a16="http://schemas.microsoft.com/office/drawing/2014/main" id="{9CE56C47-D610-254E-AA36-5D7C351273CD}"/>
              </a:ext>
            </a:extLst>
          </p:cNvPr>
          <p:cNvSpPr>
            <a:spLocks noGrp="1"/>
          </p:cNvSpPr>
          <p:nvPr>
            <p:ph idx="1"/>
          </p:nvPr>
        </p:nvSpPr>
        <p:spPr>
          <a:xfrm>
            <a:off x="426350" y="2242268"/>
            <a:ext cx="6901683" cy="4203531"/>
          </a:xfrm>
        </p:spPr>
        <p:txBody>
          <a:bodyPr>
            <a:normAutofit/>
          </a:bodyPr>
          <a:lstStyle/>
          <a:p>
            <a:pPr marL="0" indent="0">
              <a:buNone/>
            </a:pPr>
            <a:r>
              <a:rPr lang="en-US" b="1" dirty="0"/>
              <a:t>Topics</a:t>
            </a:r>
            <a:r>
              <a:rPr lang="en-US" dirty="0"/>
              <a:t>: </a:t>
            </a:r>
          </a:p>
          <a:p>
            <a:r>
              <a:rPr lang="en-US" i="1" dirty="0"/>
              <a:t>Module 3: Intermediate representations</a:t>
            </a:r>
          </a:p>
          <a:p>
            <a:pPr lvl="1"/>
            <a:r>
              <a:rPr lang="en-US" i="1" dirty="0"/>
              <a:t>Finishing up type checking</a:t>
            </a:r>
          </a:p>
          <a:p>
            <a:pPr lvl="1"/>
            <a:r>
              <a:rPr lang="en-US" i="1" dirty="0"/>
              <a:t>Linear </a:t>
            </a:r>
            <a:r>
              <a:rPr lang="en-US" i="1" dirty="0" err="1"/>
              <a:t>Irs</a:t>
            </a:r>
            <a:r>
              <a:rPr lang="en-US" i="1" dirty="0"/>
              <a:t> : 18</a:t>
            </a:r>
          </a:p>
        </p:txBody>
      </p:sp>
      <p:sp>
        <p:nvSpPr>
          <p:cNvPr id="17" name="Oval 16">
            <a:extLst>
              <a:ext uri="{FF2B5EF4-FFF2-40B4-BE49-F238E27FC236}">
                <a16:creationId xmlns:a16="http://schemas.microsoft.com/office/drawing/2014/main" id="{D5BF4810-9B5C-0A4D-B2CE-2BC37B86A354}"/>
              </a:ext>
            </a:extLst>
          </p:cNvPr>
          <p:cNvSpPr/>
          <p:nvPr/>
        </p:nvSpPr>
        <p:spPr>
          <a:xfrm>
            <a:off x="9868755" y="301139"/>
            <a:ext cx="749030" cy="31184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t>
            </a:r>
          </a:p>
        </p:txBody>
      </p:sp>
      <p:cxnSp>
        <p:nvCxnSpPr>
          <p:cNvPr id="18" name="Straight Arrow Connector 17">
            <a:extLst>
              <a:ext uri="{FF2B5EF4-FFF2-40B4-BE49-F238E27FC236}">
                <a16:creationId xmlns:a16="http://schemas.microsoft.com/office/drawing/2014/main" id="{FA286D8F-6730-F04B-9B5A-A73EFAB4D4E7}"/>
              </a:ext>
            </a:extLst>
          </p:cNvPr>
          <p:cNvCxnSpPr>
            <a:cxnSpLocks/>
            <a:stCxn id="17" idx="4"/>
          </p:cNvCxnSpPr>
          <p:nvPr/>
        </p:nvCxnSpPr>
        <p:spPr>
          <a:xfrm flipH="1">
            <a:off x="9891340" y="612988"/>
            <a:ext cx="351930" cy="29183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19" name="Straight Arrow Connector 18">
            <a:extLst>
              <a:ext uri="{FF2B5EF4-FFF2-40B4-BE49-F238E27FC236}">
                <a16:creationId xmlns:a16="http://schemas.microsoft.com/office/drawing/2014/main" id="{6B12D8AA-0409-864E-9890-3FFB88503A5E}"/>
              </a:ext>
            </a:extLst>
          </p:cNvPr>
          <p:cNvCxnSpPr>
            <a:cxnSpLocks/>
            <a:stCxn id="17" idx="4"/>
          </p:cNvCxnSpPr>
          <p:nvPr/>
        </p:nvCxnSpPr>
        <p:spPr>
          <a:xfrm>
            <a:off x="10243270" y="612988"/>
            <a:ext cx="277238" cy="291830"/>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20" name="Oval 19">
            <a:extLst>
              <a:ext uri="{FF2B5EF4-FFF2-40B4-BE49-F238E27FC236}">
                <a16:creationId xmlns:a16="http://schemas.microsoft.com/office/drawing/2014/main" id="{595DC5A4-90C6-B14B-A382-11D393C99C64}"/>
              </a:ext>
            </a:extLst>
          </p:cNvPr>
          <p:cNvSpPr/>
          <p:nvPr/>
        </p:nvSpPr>
        <p:spPr>
          <a:xfrm>
            <a:off x="9494240" y="931005"/>
            <a:ext cx="749030" cy="31184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t>
            </a:r>
          </a:p>
        </p:txBody>
      </p:sp>
      <p:sp>
        <p:nvSpPr>
          <p:cNvPr id="21" name="Oval 20">
            <a:extLst>
              <a:ext uri="{FF2B5EF4-FFF2-40B4-BE49-F238E27FC236}">
                <a16:creationId xmlns:a16="http://schemas.microsoft.com/office/drawing/2014/main" id="{7B8E1B2B-5DF2-E645-BAE4-3348D9F473F8}"/>
              </a:ext>
            </a:extLst>
          </p:cNvPr>
          <p:cNvSpPr/>
          <p:nvPr/>
        </p:nvSpPr>
        <p:spPr>
          <a:xfrm>
            <a:off x="10283799" y="938302"/>
            <a:ext cx="749030" cy="31184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t>
            </a:r>
          </a:p>
        </p:txBody>
      </p:sp>
      <p:cxnSp>
        <p:nvCxnSpPr>
          <p:cNvPr id="22" name="Straight Arrow Connector 21">
            <a:extLst>
              <a:ext uri="{FF2B5EF4-FFF2-40B4-BE49-F238E27FC236}">
                <a16:creationId xmlns:a16="http://schemas.microsoft.com/office/drawing/2014/main" id="{4F2426A8-2722-164F-9E46-19F9E98727B2}"/>
              </a:ext>
            </a:extLst>
          </p:cNvPr>
          <p:cNvCxnSpPr>
            <a:cxnSpLocks/>
            <a:endCxn id="24" idx="0"/>
          </p:cNvCxnSpPr>
          <p:nvPr/>
        </p:nvCxnSpPr>
        <p:spPr>
          <a:xfrm>
            <a:off x="10743432" y="1260443"/>
            <a:ext cx="328310" cy="311286"/>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23" name="Straight Arrow Connector 22">
            <a:extLst>
              <a:ext uri="{FF2B5EF4-FFF2-40B4-BE49-F238E27FC236}">
                <a16:creationId xmlns:a16="http://schemas.microsoft.com/office/drawing/2014/main" id="{99AC218C-0E06-3C47-904B-D63E5F792510}"/>
              </a:ext>
            </a:extLst>
          </p:cNvPr>
          <p:cNvCxnSpPr>
            <a:cxnSpLocks/>
            <a:stCxn id="21" idx="4"/>
            <a:endCxn id="38" idx="0"/>
          </p:cNvCxnSpPr>
          <p:nvPr/>
        </p:nvCxnSpPr>
        <p:spPr>
          <a:xfrm flipH="1">
            <a:off x="10139294" y="1250151"/>
            <a:ext cx="519020" cy="311849"/>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24" name="Oval 23">
            <a:extLst>
              <a:ext uri="{FF2B5EF4-FFF2-40B4-BE49-F238E27FC236}">
                <a16:creationId xmlns:a16="http://schemas.microsoft.com/office/drawing/2014/main" id="{FD89F16C-A8D3-904A-8BD9-E3C751C9AD48}"/>
              </a:ext>
            </a:extLst>
          </p:cNvPr>
          <p:cNvSpPr/>
          <p:nvPr/>
        </p:nvSpPr>
        <p:spPr>
          <a:xfrm>
            <a:off x="10697227" y="1571729"/>
            <a:ext cx="749030" cy="31184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t>
            </a:r>
          </a:p>
        </p:txBody>
      </p:sp>
      <p:sp>
        <p:nvSpPr>
          <p:cNvPr id="38" name="Oval 37">
            <a:extLst>
              <a:ext uri="{FF2B5EF4-FFF2-40B4-BE49-F238E27FC236}">
                <a16:creationId xmlns:a16="http://schemas.microsoft.com/office/drawing/2014/main" id="{AD5099B9-D9EF-0A4E-8009-19E283A17159}"/>
              </a:ext>
            </a:extLst>
          </p:cNvPr>
          <p:cNvSpPr/>
          <p:nvPr/>
        </p:nvSpPr>
        <p:spPr>
          <a:xfrm>
            <a:off x="9764779" y="1562000"/>
            <a:ext cx="749030" cy="31184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t>
            </a:r>
          </a:p>
        </p:txBody>
      </p:sp>
      <p:sp>
        <p:nvSpPr>
          <p:cNvPr id="4" name="Rectangle 3">
            <a:extLst>
              <a:ext uri="{FF2B5EF4-FFF2-40B4-BE49-F238E27FC236}">
                <a16:creationId xmlns:a16="http://schemas.microsoft.com/office/drawing/2014/main" id="{FB2DB500-1416-664B-BD1D-A70789932F8B}"/>
              </a:ext>
            </a:extLst>
          </p:cNvPr>
          <p:cNvSpPr/>
          <p:nvPr/>
        </p:nvSpPr>
        <p:spPr>
          <a:xfrm>
            <a:off x="8841912" y="2431091"/>
            <a:ext cx="602512" cy="4182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25" name="Rectangle 24">
            <a:extLst>
              <a:ext uri="{FF2B5EF4-FFF2-40B4-BE49-F238E27FC236}">
                <a16:creationId xmlns:a16="http://schemas.microsoft.com/office/drawing/2014/main" id="{E002BC6D-A4F3-7945-9BA8-DDAD5EBAD05E}"/>
              </a:ext>
            </a:extLst>
          </p:cNvPr>
          <p:cNvSpPr/>
          <p:nvPr/>
        </p:nvSpPr>
        <p:spPr>
          <a:xfrm>
            <a:off x="8261222" y="3152966"/>
            <a:ext cx="602512" cy="4182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26" name="Rectangle 25">
            <a:extLst>
              <a:ext uri="{FF2B5EF4-FFF2-40B4-BE49-F238E27FC236}">
                <a16:creationId xmlns:a16="http://schemas.microsoft.com/office/drawing/2014/main" id="{8A166087-E008-CB41-9E49-F43BE5B52E3C}"/>
              </a:ext>
            </a:extLst>
          </p:cNvPr>
          <p:cNvSpPr/>
          <p:nvPr/>
        </p:nvSpPr>
        <p:spPr>
          <a:xfrm>
            <a:off x="9404049" y="3152966"/>
            <a:ext cx="602512" cy="4182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27" name="Rectangle 26">
            <a:extLst>
              <a:ext uri="{FF2B5EF4-FFF2-40B4-BE49-F238E27FC236}">
                <a16:creationId xmlns:a16="http://schemas.microsoft.com/office/drawing/2014/main" id="{9DC40F58-CF90-CE41-89B9-CE8DBABC9991}"/>
              </a:ext>
            </a:extLst>
          </p:cNvPr>
          <p:cNvSpPr/>
          <p:nvPr/>
        </p:nvSpPr>
        <p:spPr>
          <a:xfrm>
            <a:off x="8801537" y="3874841"/>
            <a:ext cx="602512" cy="4182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cxnSp>
        <p:nvCxnSpPr>
          <p:cNvPr id="28" name="Straight Arrow Connector 27">
            <a:extLst>
              <a:ext uri="{FF2B5EF4-FFF2-40B4-BE49-F238E27FC236}">
                <a16:creationId xmlns:a16="http://schemas.microsoft.com/office/drawing/2014/main" id="{45F10088-ADEF-7F4E-A316-E753418CD634}"/>
              </a:ext>
            </a:extLst>
          </p:cNvPr>
          <p:cNvCxnSpPr>
            <a:cxnSpLocks/>
            <a:stCxn id="4" idx="2"/>
            <a:endCxn id="25" idx="0"/>
          </p:cNvCxnSpPr>
          <p:nvPr/>
        </p:nvCxnSpPr>
        <p:spPr>
          <a:xfrm flipH="1">
            <a:off x="8562478" y="2849305"/>
            <a:ext cx="580690" cy="303661"/>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29" name="Straight Arrow Connector 28">
            <a:extLst>
              <a:ext uri="{FF2B5EF4-FFF2-40B4-BE49-F238E27FC236}">
                <a16:creationId xmlns:a16="http://schemas.microsoft.com/office/drawing/2014/main" id="{E5E5B716-F904-F04C-85D6-57BAB595954F}"/>
              </a:ext>
            </a:extLst>
          </p:cNvPr>
          <p:cNvCxnSpPr>
            <a:cxnSpLocks/>
            <a:stCxn id="4" idx="2"/>
            <a:endCxn id="26" idx="0"/>
          </p:cNvCxnSpPr>
          <p:nvPr/>
        </p:nvCxnSpPr>
        <p:spPr>
          <a:xfrm>
            <a:off x="9143168" y="2849305"/>
            <a:ext cx="562137" cy="303661"/>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30" name="Straight Arrow Connector 29">
            <a:extLst>
              <a:ext uri="{FF2B5EF4-FFF2-40B4-BE49-F238E27FC236}">
                <a16:creationId xmlns:a16="http://schemas.microsoft.com/office/drawing/2014/main" id="{73CD5CE6-7944-5940-BF7F-AD6B8EF5481A}"/>
              </a:ext>
            </a:extLst>
          </p:cNvPr>
          <p:cNvCxnSpPr>
            <a:cxnSpLocks/>
            <a:stCxn id="25" idx="2"/>
            <a:endCxn id="27" idx="0"/>
          </p:cNvCxnSpPr>
          <p:nvPr/>
        </p:nvCxnSpPr>
        <p:spPr>
          <a:xfrm>
            <a:off x="8562478" y="3571180"/>
            <a:ext cx="540315" cy="303661"/>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31" name="Straight Arrow Connector 30">
            <a:extLst>
              <a:ext uri="{FF2B5EF4-FFF2-40B4-BE49-F238E27FC236}">
                <a16:creationId xmlns:a16="http://schemas.microsoft.com/office/drawing/2014/main" id="{69E481C4-ED00-5E48-8D57-93234F440C6A}"/>
              </a:ext>
            </a:extLst>
          </p:cNvPr>
          <p:cNvCxnSpPr>
            <a:cxnSpLocks/>
            <a:stCxn id="26" idx="2"/>
            <a:endCxn id="27" idx="0"/>
          </p:cNvCxnSpPr>
          <p:nvPr/>
        </p:nvCxnSpPr>
        <p:spPr>
          <a:xfrm flipH="1">
            <a:off x="9102793" y="3571180"/>
            <a:ext cx="602512" cy="303661"/>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cxnSp>
        <p:nvCxnSpPr>
          <p:cNvPr id="32" name="Straight Arrow Connector 31">
            <a:extLst>
              <a:ext uri="{FF2B5EF4-FFF2-40B4-BE49-F238E27FC236}">
                <a16:creationId xmlns:a16="http://schemas.microsoft.com/office/drawing/2014/main" id="{7BFBAFE9-DB06-D242-9A86-5A5DBAE7937A}"/>
              </a:ext>
            </a:extLst>
          </p:cNvPr>
          <p:cNvCxnSpPr>
            <a:cxnSpLocks/>
            <a:stCxn id="26" idx="3"/>
          </p:cNvCxnSpPr>
          <p:nvPr/>
        </p:nvCxnSpPr>
        <p:spPr>
          <a:xfrm flipV="1">
            <a:off x="10006561" y="2839576"/>
            <a:ext cx="277238" cy="522497"/>
          </a:xfrm>
          <a:prstGeom prst="straightConnector1">
            <a:avLst/>
          </a:prstGeom>
          <a:ln>
            <a:solidFill>
              <a:schemeClr val="tx1"/>
            </a:solidFill>
            <a:headEnd type="none" w="med" len="med"/>
            <a:tailEnd type="none" w="med" len="med"/>
          </a:ln>
        </p:spPr>
        <p:style>
          <a:lnRef idx="2">
            <a:schemeClr val="dk1"/>
          </a:lnRef>
          <a:fillRef idx="1">
            <a:schemeClr val="lt1"/>
          </a:fillRef>
          <a:effectRef idx="0">
            <a:schemeClr val="dk1"/>
          </a:effectRef>
          <a:fontRef idx="minor">
            <a:schemeClr val="dk1"/>
          </a:fontRef>
        </p:style>
      </p:cxnSp>
      <p:cxnSp>
        <p:nvCxnSpPr>
          <p:cNvPr id="35" name="Straight Arrow Connector 34">
            <a:extLst>
              <a:ext uri="{FF2B5EF4-FFF2-40B4-BE49-F238E27FC236}">
                <a16:creationId xmlns:a16="http://schemas.microsoft.com/office/drawing/2014/main" id="{065BD84F-A29B-7844-AA4E-821E0B90D387}"/>
              </a:ext>
            </a:extLst>
          </p:cNvPr>
          <p:cNvCxnSpPr>
            <a:cxnSpLocks/>
            <a:endCxn id="4" idx="3"/>
          </p:cNvCxnSpPr>
          <p:nvPr/>
        </p:nvCxnSpPr>
        <p:spPr>
          <a:xfrm flipH="1" flipV="1">
            <a:off x="9444424" y="2640198"/>
            <a:ext cx="839375" cy="199378"/>
          </a:xfrm>
          <a:prstGeom prst="straightConnector1">
            <a:avLst/>
          </a:prstGeom>
          <a:ln>
            <a:tailEnd type="triangle"/>
          </a:ln>
        </p:spPr>
        <p:style>
          <a:lnRef idx="2">
            <a:schemeClr val="dk1"/>
          </a:lnRef>
          <a:fillRef idx="1">
            <a:schemeClr val="lt1"/>
          </a:fillRef>
          <a:effectRef idx="0">
            <a:schemeClr val="dk1"/>
          </a:effectRef>
          <a:fontRef idx="minor">
            <a:schemeClr val="dk1"/>
          </a:fontRef>
        </p:style>
      </p:cxnSp>
      <p:sp>
        <p:nvSpPr>
          <p:cNvPr id="42" name="TextBox 41">
            <a:extLst>
              <a:ext uri="{FF2B5EF4-FFF2-40B4-BE49-F238E27FC236}">
                <a16:creationId xmlns:a16="http://schemas.microsoft.com/office/drawing/2014/main" id="{3A8C64CD-6438-0642-90A2-AB2F8FAC4216}"/>
              </a:ext>
            </a:extLst>
          </p:cNvPr>
          <p:cNvSpPr txBox="1"/>
          <p:nvPr/>
        </p:nvSpPr>
        <p:spPr>
          <a:xfrm>
            <a:off x="10858582" y="301139"/>
            <a:ext cx="534121" cy="369332"/>
          </a:xfrm>
          <a:prstGeom prst="rect">
            <a:avLst/>
          </a:prstGeom>
          <a:noFill/>
        </p:spPr>
        <p:txBody>
          <a:bodyPr wrap="none" rtlCol="0">
            <a:spAutoFit/>
          </a:bodyPr>
          <a:lstStyle/>
          <a:p>
            <a:r>
              <a:rPr lang="en-US" dirty="0"/>
              <a:t>AST</a:t>
            </a:r>
          </a:p>
        </p:txBody>
      </p:sp>
      <p:sp>
        <p:nvSpPr>
          <p:cNvPr id="43" name="TextBox 42">
            <a:extLst>
              <a:ext uri="{FF2B5EF4-FFF2-40B4-BE49-F238E27FC236}">
                <a16:creationId xmlns:a16="http://schemas.microsoft.com/office/drawing/2014/main" id="{4A3111E8-20FD-9A4E-BB6A-BF339F777B74}"/>
              </a:ext>
            </a:extLst>
          </p:cNvPr>
          <p:cNvSpPr txBox="1"/>
          <p:nvPr/>
        </p:nvSpPr>
        <p:spPr>
          <a:xfrm>
            <a:off x="8063655" y="2447138"/>
            <a:ext cx="557717" cy="369332"/>
          </a:xfrm>
          <a:prstGeom prst="rect">
            <a:avLst/>
          </a:prstGeom>
          <a:noFill/>
        </p:spPr>
        <p:txBody>
          <a:bodyPr wrap="none" rtlCol="0">
            <a:spAutoFit/>
          </a:bodyPr>
          <a:lstStyle/>
          <a:p>
            <a:r>
              <a:rPr lang="en-US" dirty="0"/>
              <a:t>CFG</a:t>
            </a:r>
          </a:p>
        </p:txBody>
      </p:sp>
      <p:sp>
        <p:nvSpPr>
          <p:cNvPr id="44" name="Rectangle 43">
            <a:extLst>
              <a:ext uri="{FF2B5EF4-FFF2-40B4-BE49-F238E27FC236}">
                <a16:creationId xmlns:a16="http://schemas.microsoft.com/office/drawing/2014/main" id="{ABA20544-E545-DB40-AE9C-D75E51A5C0A6}"/>
              </a:ext>
            </a:extLst>
          </p:cNvPr>
          <p:cNvSpPr/>
          <p:nvPr/>
        </p:nvSpPr>
        <p:spPr>
          <a:xfrm>
            <a:off x="8859121" y="4978934"/>
            <a:ext cx="3175968" cy="1477328"/>
          </a:xfrm>
          <a:prstGeom prst="rect">
            <a:avLst/>
          </a:prstGeom>
          <a:ln>
            <a:solidFill>
              <a:schemeClr val="tx1"/>
            </a:solidFill>
          </a:ln>
        </p:spPr>
        <p:txBody>
          <a:bodyPr wrap="square">
            <a:spAutoFit/>
          </a:bodyPr>
          <a:lstStyle/>
          <a:p>
            <a:r>
              <a:rPr lang="en-US" dirty="0">
                <a:solidFill>
                  <a:srgbClr val="0000FF"/>
                </a:solidFill>
                <a:latin typeface="Consolas" panose="020B0609020204030204" pitchFamily="49" charset="0"/>
              </a:rPr>
              <a:t>store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i32</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0</a:t>
            </a:r>
            <a:r>
              <a:rPr lang="en-US" dirty="0">
                <a:solidFill>
                  <a:srgbClr val="000000"/>
                </a:solidFill>
                <a:latin typeface="Consolas" panose="020B0609020204030204" pitchFamily="49" charset="0"/>
              </a:rPr>
              <a:t>, </a:t>
            </a:r>
            <a:r>
              <a:rPr lang="en-US" dirty="0" err="1">
                <a:solidFill>
                  <a:srgbClr val="008080"/>
                </a:solidFill>
                <a:latin typeface="Consolas" panose="020B0609020204030204" pitchFamily="49" charset="0"/>
              </a:rPr>
              <a:t>ptr</a:t>
            </a:r>
            <a:r>
              <a:rPr lang="en-US" dirty="0">
                <a:solidFill>
                  <a:srgbClr val="000000"/>
                </a:solidFill>
                <a:latin typeface="Consolas" panose="020B0609020204030204" pitchFamily="49" charset="0"/>
              </a:rPr>
              <a:t> </a:t>
            </a:r>
            <a:r>
              <a:rPr lang="en-US" dirty="0">
                <a:solidFill>
                  <a:srgbClr val="CD3131"/>
                </a:solidFill>
                <a:latin typeface="Consolas" panose="020B0609020204030204" pitchFamily="49" charset="0"/>
              </a:rPr>
              <a:t>%</a:t>
            </a:r>
            <a:r>
              <a:rPr lang="en-US" dirty="0">
                <a:solidFill>
                  <a:srgbClr val="098658"/>
                </a:solidFill>
                <a:latin typeface="Consolas" panose="020B0609020204030204" pitchFamily="49" charset="0"/>
              </a:rPr>
              <a:t>2</a:t>
            </a:r>
            <a:endParaRPr lang="en-US" dirty="0">
              <a:solidFill>
                <a:srgbClr val="000000"/>
              </a:solidFill>
              <a:latin typeface="Consolas" panose="020B0609020204030204" pitchFamily="49" charset="0"/>
            </a:endParaRPr>
          </a:p>
          <a:p>
            <a:r>
              <a:rPr lang="en-US" dirty="0">
                <a:solidFill>
                  <a:srgbClr val="CD3131"/>
                </a:solidFill>
                <a:latin typeface="Consolas" panose="020B0609020204030204" pitchFamily="49" charset="0"/>
              </a:rPr>
              <a:t>%3</a:t>
            </a:r>
            <a:r>
              <a:rPr lang="en-US" dirty="0">
                <a:solidFill>
                  <a:srgbClr val="000000"/>
                </a:solidFill>
                <a:latin typeface="Consolas" panose="020B0609020204030204" pitchFamily="49" charset="0"/>
              </a:rPr>
              <a:t> </a:t>
            </a:r>
            <a:r>
              <a:rPr lang="en-US" dirty="0">
                <a:solidFill>
                  <a:srgbClr val="CD3131"/>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load</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i32</a:t>
            </a:r>
            <a:r>
              <a:rPr lang="en-US" dirty="0">
                <a:solidFill>
                  <a:srgbClr val="000000"/>
                </a:solidFill>
                <a:latin typeface="Consolas" panose="020B0609020204030204" pitchFamily="49" charset="0"/>
              </a:rPr>
              <a:t>, </a:t>
            </a:r>
            <a:r>
              <a:rPr lang="en-US" dirty="0" err="1">
                <a:solidFill>
                  <a:srgbClr val="008080"/>
                </a:solidFill>
                <a:latin typeface="Consolas" panose="020B0609020204030204" pitchFamily="49" charset="0"/>
              </a:rPr>
              <a:t>ptr</a:t>
            </a:r>
            <a:r>
              <a:rPr lang="en-US" dirty="0">
                <a:solidFill>
                  <a:srgbClr val="000000"/>
                </a:solidFill>
                <a:latin typeface="Consolas" panose="020B0609020204030204" pitchFamily="49" charset="0"/>
              </a:rPr>
              <a:t> </a:t>
            </a:r>
            <a:r>
              <a:rPr lang="en-US" dirty="0">
                <a:solidFill>
                  <a:srgbClr val="CD3131"/>
                </a:solidFill>
                <a:latin typeface="Consolas" panose="020B0609020204030204" pitchFamily="49" charset="0"/>
              </a:rPr>
              <a:t>%</a:t>
            </a:r>
            <a:r>
              <a:rPr lang="en-US" dirty="0">
                <a:solidFill>
                  <a:srgbClr val="098658"/>
                </a:solidFill>
                <a:latin typeface="Consolas" panose="020B0609020204030204" pitchFamily="49" charset="0"/>
              </a:rPr>
              <a:t>1</a:t>
            </a:r>
            <a:endParaRPr lang="en-US" dirty="0">
              <a:solidFill>
                <a:srgbClr val="000000"/>
              </a:solidFill>
              <a:latin typeface="Consolas" panose="020B0609020204030204" pitchFamily="49" charset="0"/>
            </a:endParaRPr>
          </a:p>
          <a:p>
            <a:r>
              <a:rPr lang="en-US" dirty="0">
                <a:solidFill>
                  <a:srgbClr val="CD3131"/>
                </a:solidFill>
                <a:latin typeface="Consolas" panose="020B0609020204030204" pitchFamily="49" charset="0"/>
              </a:rPr>
              <a:t>%4</a:t>
            </a:r>
            <a:r>
              <a:rPr lang="en-US" dirty="0">
                <a:solidFill>
                  <a:srgbClr val="000000"/>
                </a:solidFill>
                <a:latin typeface="Consolas" panose="020B0609020204030204" pitchFamily="49" charset="0"/>
              </a:rPr>
              <a:t> </a:t>
            </a:r>
            <a:r>
              <a:rPr lang="en-US" dirty="0">
                <a:solidFill>
                  <a:srgbClr val="CD3131"/>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add</a:t>
            </a:r>
            <a:r>
              <a:rPr lang="en-US" dirty="0">
                <a:solidFill>
                  <a:srgbClr val="000000"/>
                </a:solidFill>
                <a:latin typeface="Consolas" panose="020B0609020204030204" pitchFamily="49" charset="0"/>
              </a:rPr>
              <a:t> </a:t>
            </a:r>
            <a:r>
              <a:rPr lang="en-US" dirty="0" err="1">
                <a:solidFill>
                  <a:srgbClr val="008080"/>
                </a:solidFill>
                <a:latin typeface="Consolas" panose="020B0609020204030204" pitchFamily="49" charset="0"/>
              </a:rPr>
              <a:t>nsw</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i32</a:t>
            </a:r>
            <a:r>
              <a:rPr lang="en-US" dirty="0">
                <a:solidFill>
                  <a:srgbClr val="000000"/>
                </a:solidFill>
                <a:latin typeface="Consolas" panose="020B0609020204030204" pitchFamily="49" charset="0"/>
              </a:rPr>
              <a:t> </a:t>
            </a:r>
            <a:r>
              <a:rPr lang="en-US" dirty="0">
                <a:solidFill>
                  <a:srgbClr val="CD3131"/>
                </a:solidFill>
                <a:latin typeface="Consolas" panose="020B0609020204030204" pitchFamily="49" charset="0"/>
              </a:rPr>
              <a:t>%</a:t>
            </a:r>
            <a:r>
              <a:rPr lang="en-US" dirty="0">
                <a:solidFill>
                  <a:srgbClr val="098658"/>
                </a:solidFill>
                <a:latin typeface="Consolas" panose="020B0609020204030204" pitchFamily="49" charset="0"/>
              </a:rPr>
              <a:t>3</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1</a:t>
            </a:r>
            <a:r>
              <a:rPr lang="en-US" dirty="0">
                <a:solidFill>
                  <a:srgbClr val="000000"/>
                </a:solidFill>
                <a:latin typeface="Consolas" panose="020B0609020204030204" pitchFamily="49" charset="0"/>
              </a:rPr>
              <a:t>, </a:t>
            </a:r>
          </a:p>
          <a:p>
            <a:r>
              <a:rPr lang="en-US" dirty="0">
                <a:solidFill>
                  <a:srgbClr val="0000FF"/>
                </a:solidFill>
                <a:latin typeface="Consolas" panose="020B0609020204030204" pitchFamily="49" charset="0"/>
              </a:rPr>
              <a:t>store</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i32</a:t>
            </a:r>
            <a:r>
              <a:rPr lang="en-US" dirty="0">
                <a:solidFill>
                  <a:srgbClr val="000000"/>
                </a:solidFill>
                <a:latin typeface="Consolas" panose="020B0609020204030204" pitchFamily="49" charset="0"/>
              </a:rPr>
              <a:t> </a:t>
            </a:r>
            <a:r>
              <a:rPr lang="en-US" dirty="0">
                <a:solidFill>
                  <a:srgbClr val="CD3131"/>
                </a:solidFill>
                <a:latin typeface="Consolas" panose="020B0609020204030204" pitchFamily="49" charset="0"/>
              </a:rPr>
              <a:t>%</a:t>
            </a:r>
            <a:r>
              <a:rPr lang="en-US" dirty="0">
                <a:solidFill>
                  <a:srgbClr val="098658"/>
                </a:solidFill>
                <a:latin typeface="Consolas" panose="020B0609020204030204" pitchFamily="49" charset="0"/>
              </a:rPr>
              <a:t>4</a:t>
            </a:r>
            <a:r>
              <a:rPr lang="en-US" dirty="0">
                <a:solidFill>
                  <a:srgbClr val="000000"/>
                </a:solidFill>
                <a:latin typeface="Consolas" panose="020B0609020204030204" pitchFamily="49" charset="0"/>
              </a:rPr>
              <a:t>, </a:t>
            </a:r>
            <a:r>
              <a:rPr lang="en-US" dirty="0" err="1">
                <a:solidFill>
                  <a:srgbClr val="008080"/>
                </a:solidFill>
                <a:latin typeface="Consolas" panose="020B0609020204030204" pitchFamily="49" charset="0"/>
              </a:rPr>
              <a:t>ptr</a:t>
            </a:r>
            <a:r>
              <a:rPr lang="en-US" dirty="0">
                <a:solidFill>
                  <a:srgbClr val="000000"/>
                </a:solidFill>
                <a:latin typeface="Consolas" panose="020B0609020204030204" pitchFamily="49" charset="0"/>
              </a:rPr>
              <a:t> </a:t>
            </a:r>
            <a:r>
              <a:rPr lang="en-US" dirty="0">
                <a:solidFill>
                  <a:srgbClr val="CD3131"/>
                </a:solidFill>
                <a:latin typeface="Consolas" panose="020B0609020204030204" pitchFamily="49" charset="0"/>
              </a:rPr>
              <a:t>%</a:t>
            </a:r>
            <a:r>
              <a:rPr lang="en-US" dirty="0">
                <a:solidFill>
                  <a:srgbClr val="098658"/>
                </a:solidFill>
                <a:latin typeface="Consolas" panose="020B0609020204030204" pitchFamily="49" charset="0"/>
              </a:rPr>
              <a:t>1</a:t>
            </a:r>
            <a:endParaRPr lang="en-US" dirty="0">
              <a:solidFill>
                <a:srgbClr val="000000"/>
              </a:solidFill>
              <a:latin typeface="Consolas" panose="020B0609020204030204" pitchFamily="49" charset="0"/>
            </a:endParaRPr>
          </a:p>
          <a:p>
            <a:r>
              <a:rPr lang="en-US" dirty="0">
                <a:solidFill>
                  <a:srgbClr val="CD3131"/>
                </a:solidFill>
                <a:latin typeface="Consolas" panose="020B0609020204030204" pitchFamily="49" charset="0"/>
              </a:rPr>
              <a:t>%5</a:t>
            </a:r>
            <a:r>
              <a:rPr lang="en-US" dirty="0">
                <a:solidFill>
                  <a:srgbClr val="000000"/>
                </a:solidFill>
                <a:latin typeface="Consolas" panose="020B0609020204030204" pitchFamily="49" charset="0"/>
              </a:rPr>
              <a:t> </a:t>
            </a:r>
            <a:r>
              <a:rPr lang="en-US" dirty="0">
                <a:solidFill>
                  <a:srgbClr val="CD3131"/>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load</a:t>
            </a:r>
            <a:r>
              <a:rPr lang="en-US" dirty="0">
                <a:solidFill>
                  <a:srgbClr val="000000"/>
                </a:solidFill>
                <a:latin typeface="Consolas" panose="020B0609020204030204" pitchFamily="49" charset="0"/>
              </a:rPr>
              <a:t> </a:t>
            </a:r>
            <a:r>
              <a:rPr lang="en-US" dirty="0">
                <a:solidFill>
                  <a:srgbClr val="008080"/>
                </a:solidFill>
                <a:latin typeface="Consolas" panose="020B0609020204030204" pitchFamily="49" charset="0"/>
              </a:rPr>
              <a:t>i32</a:t>
            </a:r>
            <a:r>
              <a:rPr lang="en-US" dirty="0">
                <a:solidFill>
                  <a:srgbClr val="000000"/>
                </a:solidFill>
                <a:latin typeface="Consolas" panose="020B0609020204030204" pitchFamily="49" charset="0"/>
              </a:rPr>
              <a:t>, </a:t>
            </a:r>
            <a:r>
              <a:rPr lang="en-US" dirty="0" err="1">
                <a:solidFill>
                  <a:srgbClr val="008080"/>
                </a:solidFill>
                <a:latin typeface="Consolas" panose="020B0609020204030204" pitchFamily="49" charset="0"/>
              </a:rPr>
              <a:t>ptr</a:t>
            </a:r>
            <a:r>
              <a:rPr lang="en-US" dirty="0">
                <a:solidFill>
                  <a:srgbClr val="000000"/>
                </a:solidFill>
                <a:latin typeface="Consolas" panose="020B0609020204030204" pitchFamily="49" charset="0"/>
              </a:rPr>
              <a:t> </a:t>
            </a:r>
            <a:r>
              <a:rPr lang="en-US" dirty="0">
                <a:solidFill>
                  <a:srgbClr val="CD3131"/>
                </a:solidFill>
                <a:latin typeface="Consolas" panose="020B0609020204030204" pitchFamily="49" charset="0"/>
              </a:rPr>
              <a:t>%</a:t>
            </a:r>
            <a:r>
              <a:rPr lang="en-US" dirty="0">
                <a:solidFill>
                  <a:srgbClr val="098658"/>
                </a:solidFill>
                <a:latin typeface="Consolas" panose="020B0609020204030204" pitchFamily="49" charset="0"/>
              </a:rPr>
              <a:t>2</a:t>
            </a:r>
            <a:endParaRPr lang="en-US" b="0" dirty="0">
              <a:solidFill>
                <a:srgbClr val="000000"/>
              </a:solidFill>
              <a:effectLst/>
              <a:latin typeface="Consolas" panose="020B0609020204030204" pitchFamily="49" charset="0"/>
            </a:endParaRPr>
          </a:p>
        </p:txBody>
      </p:sp>
      <p:sp>
        <p:nvSpPr>
          <p:cNvPr id="45" name="TextBox 44">
            <a:extLst>
              <a:ext uri="{FF2B5EF4-FFF2-40B4-BE49-F238E27FC236}">
                <a16:creationId xmlns:a16="http://schemas.microsoft.com/office/drawing/2014/main" id="{51B2E933-E9AD-4341-9CF9-2422F61D7ABC}"/>
              </a:ext>
            </a:extLst>
          </p:cNvPr>
          <p:cNvSpPr txBox="1"/>
          <p:nvPr/>
        </p:nvSpPr>
        <p:spPr>
          <a:xfrm>
            <a:off x="10296120" y="4555260"/>
            <a:ext cx="1588768" cy="369332"/>
          </a:xfrm>
          <a:prstGeom prst="rect">
            <a:avLst/>
          </a:prstGeom>
          <a:noFill/>
        </p:spPr>
        <p:txBody>
          <a:bodyPr wrap="none" rtlCol="0">
            <a:spAutoFit/>
          </a:bodyPr>
          <a:lstStyle/>
          <a:p>
            <a:r>
              <a:rPr lang="en-US" dirty="0"/>
              <a:t>3 address code</a:t>
            </a:r>
          </a:p>
        </p:txBody>
      </p:sp>
    </p:spTree>
    <p:extLst>
      <p:ext uri="{BB962C8B-B14F-4D97-AF65-F5344CB8AC3E}">
        <p14:creationId xmlns:p14="http://schemas.microsoft.com/office/powerpoint/2010/main" val="26198801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0AFB8-4296-35B1-3001-0F00CEFD6945}"/>
              </a:ext>
            </a:extLst>
          </p:cNvPr>
          <p:cNvSpPr>
            <a:spLocks noGrp="1"/>
          </p:cNvSpPr>
          <p:nvPr>
            <p:ph type="title"/>
          </p:nvPr>
        </p:nvSpPr>
        <p:spPr>
          <a:xfrm>
            <a:off x="3089704" y="2279931"/>
            <a:ext cx="5384445" cy="1325563"/>
          </a:xfrm>
        </p:spPr>
        <p:txBody>
          <a:bodyPr>
            <a:normAutofit fontScale="90000"/>
          </a:bodyPr>
          <a:lstStyle/>
          <a:p>
            <a:r>
              <a:rPr lang="en-US" sz="8000" b="1" dirty="0"/>
              <a:t>Type Systems</a:t>
            </a:r>
          </a:p>
        </p:txBody>
      </p:sp>
    </p:spTree>
    <p:extLst>
      <p:ext uri="{BB962C8B-B14F-4D97-AF65-F5344CB8AC3E}">
        <p14:creationId xmlns:p14="http://schemas.microsoft.com/office/powerpoint/2010/main" val="3074682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C5A43-0446-2448-932F-569170B41D46}"/>
              </a:ext>
            </a:extLst>
          </p:cNvPr>
          <p:cNvSpPr>
            <a:spLocks noGrp="1"/>
          </p:cNvSpPr>
          <p:nvPr>
            <p:ph type="title"/>
          </p:nvPr>
        </p:nvSpPr>
        <p:spPr/>
        <p:txBody>
          <a:bodyPr/>
          <a:lstStyle/>
          <a:p>
            <a:r>
              <a:rPr lang="en-US" dirty="0"/>
              <a:t>How are functions handled?</a:t>
            </a:r>
          </a:p>
        </p:txBody>
      </p:sp>
      <p:sp>
        <p:nvSpPr>
          <p:cNvPr id="39" name="TextBox 38">
            <a:extLst>
              <a:ext uri="{FF2B5EF4-FFF2-40B4-BE49-F238E27FC236}">
                <a16:creationId xmlns:a16="http://schemas.microsoft.com/office/drawing/2014/main" id="{DE794031-93AA-D544-9045-FE051C4C4606}"/>
              </a:ext>
            </a:extLst>
          </p:cNvPr>
          <p:cNvSpPr txBox="1"/>
          <p:nvPr/>
        </p:nvSpPr>
        <p:spPr>
          <a:xfrm>
            <a:off x="740646" y="2215476"/>
            <a:ext cx="2019971" cy="923330"/>
          </a:xfrm>
          <a:prstGeom prst="rect">
            <a:avLst/>
          </a:prstGeom>
          <a:noFill/>
        </p:spPr>
        <p:txBody>
          <a:bodyPr wrap="square" rtlCol="0">
            <a:spAutoFit/>
          </a:bodyPr>
          <a:lstStyle/>
          <a:p>
            <a:r>
              <a:rPr lang="en-US" dirty="0">
                <a:latin typeface="Courier" pitchFamily="2" charset="0"/>
              </a:rPr>
              <a:t>int x;</a:t>
            </a:r>
          </a:p>
          <a:p>
            <a:r>
              <a:rPr lang="en-US" dirty="0">
                <a:latin typeface="Courier" pitchFamily="2" charset="0"/>
              </a:rPr>
              <a:t>int y;</a:t>
            </a:r>
            <a:br>
              <a:rPr lang="en-US" dirty="0">
                <a:latin typeface="Courier" pitchFamily="2" charset="0"/>
              </a:rPr>
            </a:br>
            <a:r>
              <a:rPr lang="en-US" dirty="0">
                <a:latin typeface="Courier" pitchFamily="2" charset="0"/>
              </a:rPr>
              <a:t>x = </a:t>
            </a:r>
            <a:r>
              <a:rPr lang="en-US" dirty="0">
                <a:highlight>
                  <a:srgbClr val="FFFF00"/>
                </a:highlight>
                <a:latin typeface="Courier" pitchFamily="2" charset="0"/>
              </a:rPr>
              <a:t>sqrt</a:t>
            </a:r>
            <a:r>
              <a:rPr lang="en-US" dirty="0">
                <a:latin typeface="Courier" pitchFamily="2" charset="0"/>
              </a:rPr>
              <a:t>(y)</a:t>
            </a:r>
          </a:p>
        </p:txBody>
      </p:sp>
      <p:sp>
        <p:nvSpPr>
          <p:cNvPr id="3" name="TextBox 2">
            <a:extLst>
              <a:ext uri="{FF2B5EF4-FFF2-40B4-BE49-F238E27FC236}">
                <a16:creationId xmlns:a16="http://schemas.microsoft.com/office/drawing/2014/main" id="{8351AADD-9E18-814D-99A4-3D7A958B78AA}"/>
              </a:ext>
            </a:extLst>
          </p:cNvPr>
          <p:cNvSpPr txBox="1"/>
          <p:nvPr/>
        </p:nvSpPr>
        <p:spPr>
          <a:xfrm>
            <a:off x="4624251" y="3135086"/>
            <a:ext cx="1346331" cy="369332"/>
          </a:xfrm>
          <a:prstGeom prst="rect">
            <a:avLst/>
          </a:prstGeom>
          <a:noFill/>
        </p:spPr>
        <p:txBody>
          <a:bodyPr wrap="none" rtlCol="0">
            <a:spAutoFit/>
          </a:bodyPr>
          <a:lstStyle/>
          <a:p>
            <a:r>
              <a:rPr lang="en-US" dirty="0"/>
              <a:t>AST</a:t>
            </a:r>
            <a:r>
              <a:rPr lang="en-US" dirty="0">
                <a:sym typeface="Wingdings" pitchFamily="2" charset="2"/>
              </a:rPr>
              <a:t> &lt;=, int&gt; </a:t>
            </a:r>
            <a:endParaRPr lang="en-US" dirty="0"/>
          </a:p>
        </p:txBody>
      </p:sp>
      <p:cxnSp>
        <p:nvCxnSpPr>
          <p:cNvPr id="40" name="Straight Connector 39">
            <a:extLst>
              <a:ext uri="{FF2B5EF4-FFF2-40B4-BE49-F238E27FC236}">
                <a16:creationId xmlns:a16="http://schemas.microsoft.com/office/drawing/2014/main" id="{E46BB5A3-5E04-0649-84B9-B4E28E9DC170}"/>
              </a:ext>
            </a:extLst>
          </p:cNvPr>
          <p:cNvCxnSpPr>
            <a:cxnSpLocks/>
            <a:stCxn id="3" idx="2"/>
            <a:endCxn id="41" idx="0"/>
          </p:cNvCxnSpPr>
          <p:nvPr/>
        </p:nvCxnSpPr>
        <p:spPr>
          <a:xfrm flipH="1">
            <a:off x="4290476" y="3504418"/>
            <a:ext cx="1006941" cy="258955"/>
          </a:xfrm>
          <a:prstGeom prst="line">
            <a:avLst/>
          </a:prstGeom>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7D02A226-A657-B940-8C2D-6881D2C6BA68}"/>
              </a:ext>
            </a:extLst>
          </p:cNvPr>
          <p:cNvSpPr txBox="1"/>
          <p:nvPr/>
        </p:nvSpPr>
        <p:spPr>
          <a:xfrm>
            <a:off x="3625325" y="3763373"/>
            <a:ext cx="1330301" cy="369332"/>
          </a:xfrm>
          <a:prstGeom prst="rect">
            <a:avLst/>
          </a:prstGeom>
          <a:noFill/>
        </p:spPr>
        <p:txBody>
          <a:bodyPr wrap="none" rtlCol="0">
            <a:spAutoFit/>
          </a:bodyPr>
          <a:lstStyle/>
          <a:p>
            <a:r>
              <a:rPr lang="en-US" dirty="0"/>
              <a:t>AST</a:t>
            </a:r>
            <a:r>
              <a:rPr lang="en-US" dirty="0">
                <a:sym typeface="Wingdings" pitchFamily="2" charset="2"/>
              </a:rPr>
              <a:t> &lt;x, int&gt; </a:t>
            </a:r>
            <a:endParaRPr lang="en-US" dirty="0"/>
          </a:p>
        </p:txBody>
      </p:sp>
      <p:sp>
        <p:nvSpPr>
          <p:cNvPr id="42" name="TextBox 41">
            <a:extLst>
              <a:ext uri="{FF2B5EF4-FFF2-40B4-BE49-F238E27FC236}">
                <a16:creationId xmlns:a16="http://schemas.microsoft.com/office/drawing/2014/main" id="{3C5D1858-336C-4D43-AF2E-0F657429C039}"/>
              </a:ext>
            </a:extLst>
          </p:cNvPr>
          <p:cNvSpPr txBox="1"/>
          <p:nvPr/>
        </p:nvSpPr>
        <p:spPr>
          <a:xfrm>
            <a:off x="5828427" y="3763373"/>
            <a:ext cx="1401025" cy="369332"/>
          </a:xfrm>
          <a:prstGeom prst="rect">
            <a:avLst/>
          </a:prstGeom>
          <a:noFill/>
        </p:spPr>
        <p:txBody>
          <a:bodyPr wrap="none" rtlCol="0">
            <a:spAutoFit/>
          </a:bodyPr>
          <a:lstStyle/>
          <a:p>
            <a:r>
              <a:rPr lang="en-US" dirty="0"/>
              <a:t>AST</a:t>
            </a:r>
            <a:r>
              <a:rPr lang="en-US" dirty="0">
                <a:sym typeface="Wingdings" pitchFamily="2" charset="2"/>
              </a:rPr>
              <a:t> &lt;</a:t>
            </a:r>
            <a:r>
              <a:rPr lang="en-US" dirty="0">
                <a:highlight>
                  <a:srgbClr val="FFFF00"/>
                </a:highlight>
                <a:sym typeface="Wingdings" pitchFamily="2" charset="2"/>
              </a:rPr>
              <a:t>call</a:t>
            </a:r>
            <a:r>
              <a:rPr lang="en-US" dirty="0">
                <a:sym typeface="Wingdings" pitchFamily="2" charset="2"/>
              </a:rPr>
              <a:t>, ?&gt; </a:t>
            </a:r>
            <a:endParaRPr lang="en-US" dirty="0"/>
          </a:p>
        </p:txBody>
      </p:sp>
      <p:cxnSp>
        <p:nvCxnSpPr>
          <p:cNvPr id="43" name="Straight Connector 42">
            <a:extLst>
              <a:ext uri="{FF2B5EF4-FFF2-40B4-BE49-F238E27FC236}">
                <a16:creationId xmlns:a16="http://schemas.microsoft.com/office/drawing/2014/main" id="{3C53865F-2515-744C-A329-2136C094FA95}"/>
              </a:ext>
            </a:extLst>
          </p:cNvPr>
          <p:cNvCxnSpPr>
            <a:cxnSpLocks/>
            <a:stCxn id="3" idx="2"/>
            <a:endCxn id="42" idx="0"/>
          </p:cNvCxnSpPr>
          <p:nvPr/>
        </p:nvCxnSpPr>
        <p:spPr>
          <a:xfrm>
            <a:off x="5297417" y="3504418"/>
            <a:ext cx="1231523" cy="258955"/>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40280A30-E0A5-BA4B-B2E9-FDC5D7CC100C}"/>
              </a:ext>
            </a:extLst>
          </p:cNvPr>
          <p:cNvCxnSpPr>
            <a:cxnSpLocks/>
            <a:stCxn id="45" idx="0"/>
            <a:endCxn id="42" idx="2"/>
          </p:cNvCxnSpPr>
          <p:nvPr/>
        </p:nvCxnSpPr>
        <p:spPr>
          <a:xfrm flipH="1" flipV="1">
            <a:off x="6528940" y="4132705"/>
            <a:ext cx="49794" cy="536875"/>
          </a:xfrm>
          <a:prstGeom prst="line">
            <a:avLst/>
          </a:prstGeom>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7E5AD73B-002C-214C-A6F6-77DBB2E3EBC5}"/>
              </a:ext>
            </a:extLst>
          </p:cNvPr>
          <p:cNvSpPr txBox="1"/>
          <p:nvPr/>
        </p:nvSpPr>
        <p:spPr>
          <a:xfrm>
            <a:off x="5919418" y="4669580"/>
            <a:ext cx="1318631" cy="369332"/>
          </a:xfrm>
          <a:prstGeom prst="rect">
            <a:avLst/>
          </a:prstGeom>
          <a:noFill/>
        </p:spPr>
        <p:txBody>
          <a:bodyPr wrap="none" rtlCol="0">
            <a:spAutoFit/>
          </a:bodyPr>
          <a:lstStyle/>
          <a:p>
            <a:r>
              <a:rPr lang="en-US" dirty="0"/>
              <a:t>AST</a:t>
            </a:r>
            <a:r>
              <a:rPr lang="en-US" dirty="0">
                <a:sym typeface="Wingdings" pitchFamily="2" charset="2"/>
              </a:rPr>
              <a:t> &lt;y, int&gt; </a:t>
            </a:r>
            <a:endParaRPr lang="en-US" dirty="0"/>
          </a:p>
        </p:txBody>
      </p:sp>
      <p:sp>
        <p:nvSpPr>
          <p:cNvPr id="4" name="TextBox 3">
            <a:extLst>
              <a:ext uri="{FF2B5EF4-FFF2-40B4-BE49-F238E27FC236}">
                <a16:creationId xmlns:a16="http://schemas.microsoft.com/office/drawing/2014/main" id="{DCE5AF68-0CBA-1049-B6BF-3C07C046882E}"/>
              </a:ext>
            </a:extLst>
          </p:cNvPr>
          <p:cNvSpPr txBox="1"/>
          <p:nvPr/>
        </p:nvSpPr>
        <p:spPr>
          <a:xfrm>
            <a:off x="435477" y="4781006"/>
            <a:ext cx="3247556" cy="1200329"/>
          </a:xfrm>
          <a:prstGeom prst="rect">
            <a:avLst/>
          </a:prstGeom>
          <a:noFill/>
        </p:spPr>
        <p:txBody>
          <a:bodyPr wrap="none" rtlCol="0">
            <a:spAutoFit/>
          </a:bodyPr>
          <a:lstStyle/>
          <a:p>
            <a:r>
              <a:rPr lang="en-US" dirty="0"/>
              <a:t>requires a function specification,</a:t>
            </a:r>
            <a:br>
              <a:rPr lang="en-US" dirty="0"/>
            </a:br>
            <a:r>
              <a:rPr lang="en-US" dirty="0"/>
              <a:t>using in the .h file:</a:t>
            </a:r>
          </a:p>
          <a:p>
            <a:endParaRPr lang="en-US" dirty="0"/>
          </a:p>
          <a:p>
            <a:r>
              <a:rPr lang="en-US" b="1" dirty="0">
                <a:latin typeface="Courier" pitchFamily="2" charset="0"/>
              </a:rPr>
              <a:t>float sqrt(float x);</a:t>
            </a:r>
          </a:p>
        </p:txBody>
      </p:sp>
      <p:sp>
        <p:nvSpPr>
          <p:cNvPr id="5" name="TextBox 4">
            <a:extLst>
              <a:ext uri="{FF2B5EF4-FFF2-40B4-BE49-F238E27FC236}">
                <a16:creationId xmlns:a16="http://schemas.microsoft.com/office/drawing/2014/main" id="{A00582FB-E1D4-CA4A-8C70-EFCA3B4C1736}"/>
              </a:ext>
            </a:extLst>
          </p:cNvPr>
          <p:cNvSpPr txBox="1"/>
          <p:nvPr/>
        </p:nvSpPr>
        <p:spPr>
          <a:xfrm>
            <a:off x="435477" y="6201839"/>
            <a:ext cx="10580012" cy="369332"/>
          </a:xfrm>
          <a:prstGeom prst="rect">
            <a:avLst/>
          </a:prstGeom>
          <a:noFill/>
        </p:spPr>
        <p:txBody>
          <a:bodyPr wrap="none" rtlCol="0">
            <a:spAutoFit/>
          </a:bodyPr>
          <a:lstStyle/>
          <a:p>
            <a:r>
              <a:rPr lang="en-US" dirty="0"/>
              <a:t>stored in the symbol table before type checking - think about C. you have to declare a function before you use it</a:t>
            </a:r>
          </a:p>
        </p:txBody>
      </p:sp>
    </p:spTree>
    <p:extLst>
      <p:ext uri="{BB962C8B-B14F-4D97-AF65-F5344CB8AC3E}">
        <p14:creationId xmlns:p14="http://schemas.microsoft.com/office/powerpoint/2010/main" val="2882835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C5A43-0446-2448-932F-569170B41D46}"/>
              </a:ext>
            </a:extLst>
          </p:cNvPr>
          <p:cNvSpPr>
            <a:spLocks noGrp="1"/>
          </p:cNvSpPr>
          <p:nvPr>
            <p:ph type="title"/>
          </p:nvPr>
        </p:nvSpPr>
        <p:spPr/>
        <p:txBody>
          <a:bodyPr/>
          <a:lstStyle/>
          <a:p>
            <a:r>
              <a:rPr lang="en-US" dirty="0"/>
              <a:t>How are functions handled?</a:t>
            </a:r>
          </a:p>
        </p:txBody>
      </p:sp>
      <p:sp>
        <p:nvSpPr>
          <p:cNvPr id="39" name="TextBox 38">
            <a:extLst>
              <a:ext uri="{FF2B5EF4-FFF2-40B4-BE49-F238E27FC236}">
                <a16:creationId xmlns:a16="http://schemas.microsoft.com/office/drawing/2014/main" id="{DE794031-93AA-D544-9045-FE051C4C4606}"/>
              </a:ext>
            </a:extLst>
          </p:cNvPr>
          <p:cNvSpPr txBox="1"/>
          <p:nvPr/>
        </p:nvSpPr>
        <p:spPr>
          <a:xfrm>
            <a:off x="740646" y="2215476"/>
            <a:ext cx="2019971" cy="923330"/>
          </a:xfrm>
          <a:prstGeom prst="rect">
            <a:avLst/>
          </a:prstGeom>
          <a:noFill/>
        </p:spPr>
        <p:txBody>
          <a:bodyPr wrap="square" rtlCol="0">
            <a:spAutoFit/>
          </a:bodyPr>
          <a:lstStyle/>
          <a:p>
            <a:r>
              <a:rPr lang="en-US" dirty="0">
                <a:latin typeface="Courier" pitchFamily="2" charset="0"/>
              </a:rPr>
              <a:t>int x;</a:t>
            </a:r>
          </a:p>
          <a:p>
            <a:r>
              <a:rPr lang="en-US" dirty="0">
                <a:latin typeface="Courier" pitchFamily="2" charset="0"/>
              </a:rPr>
              <a:t>int y;</a:t>
            </a:r>
            <a:br>
              <a:rPr lang="en-US" dirty="0">
                <a:latin typeface="Courier" pitchFamily="2" charset="0"/>
              </a:rPr>
            </a:br>
            <a:r>
              <a:rPr lang="en-US" dirty="0">
                <a:latin typeface="Courier" pitchFamily="2" charset="0"/>
              </a:rPr>
              <a:t>x = </a:t>
            </a:r>
            <a:r>
              <a:rPr lang="en-US" dirty="0">
                <a:highlight>
                  <a:srgbClr val="FFFF00"/>
                </a:highlight>
                <a:latin typeface="Courier" pitchFamily="2" charset="0"/>
              </a:rPr>
              <a:t>sqrt</a:t>
            </a:r>
            <a:r>
              <a:rPr lang="en-US" dirty="0">
                <a:latin typeface="Courier" pitchFamily="2" charset="0"/>
              </a:rPr>
              <a:t>(y)</a:t>
            </a:r>
          </a:p>
        </p:txBody>
      </p:sp>
      <p:sp>
        <p:nvSpPr>
          <p:cNvPr id="3" name="TextBox 2">
            <a:extLst>
              <a:ext uri="{FF2B5EF4-FFF2-40B4-BE49-F238E27FC236}">
                <a16:creationId xmlns:a16="http://schemas.microsoft.com/office/drawing/2014/main" id="{8351AADD-9E18-814D-99A4-3D7A958B78AA}"/>
              </a:ext>
            </a:extLst>
          </p:cNvPr>
          <p:cNvSpPr txBox="1"/>
          <p:nvPr/>
        </p:nvSpPr>
        <p:spPr>
          <a:xfrm>
            <a:off x="4624251" y="3135086"/>
            <a:ext cx="1346331" cy="369332"/>
          </a:xfrm>
          <a:prstGeom prst="rect">
            <a:avLst/>
          </a:prstGeom>
          <a:noFill/>
        </p:spPr>
        <p:txBody>
          <a:bodyPr wrap="none" rtlCol="0">
            <a:spAutoFit/>
          </a:bodyPr>
          <a:lstStyle/>
          <a:p>
            <a:r>
              <a:rPr lang="en-US" dirty="0"/>
              <a:t>AST</a:t>
            </a:r>
            <a:r>
              <a:rPr lang="en-US" dirty="0">
                <a:sym typeface="Wingdings" pitchFamily="2" charset="2"/>
              </a:rPr>
              <a:t> &lt;=, int&gt; </a:t>
            </a:r>
            <a:endParaRPr lang="en-US" dirty="0"/>
          </a:p>
        </p:txBody>
      </p:sp>
      <p:cxnSp>
        <p:nvCxnSpPr>
          <p:cNvPr id="40" name="Straight Connector 39">
            <a:extLst>
              <a:ext uri="{FF2B5EF4-FFF2-40B4-BE49-F238E27FC236}">
                <a16:creationId xmlns:a16="http://schemas.microsoft.com/office/drawing/2014/main" id="{E46BB5A3-5E04-0649-84B9-B4E28E9DC170}"/>
              </a:ext>
            </a:extLst>
          </p:cNvPr>
          <p:cNvCxnSpPr>
            <a:cxnSpLocks/>
            <a:stCxn id="3" idx="2"/>
            <a:endCxn id="41" idx="0"/>
          </p:cNvCxnSpPr>
          <p:nvPr/>
        </p:nvCxnSpPr>
        <p:spPr>
          <a:xfrm flipH="1">
            <a:off x="4290476" y="3504418"/>
            <a:ext cx="1006941" cy="258955"/>
          </a:xfrm>
          <a:prstGeom prst="line">
            <a:avLst/>
          </a:prstGeom>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7D02A226-A657-B940-8C2D-6881D2C6BA68}"/>
              </a:ext>
            </a:extLst>
          </p:cNvPr>
          <p:cNvSpPr txBox="1"/>
          <p:nvPr/>
        </p:nvSpPr>
        <p:spPr>
          <a:xfrm>
            <a:off x="3625325" y="3763373"/>
            <a:ext cx="1330301" cy="369332"/>
          </a:xfrm>
          <a:prstGeom prst="rect">
            <a:avLst/>
          </a:prstGeom>
          <a:noFill/>
        </p:spPr>
        <p:txBody>
          <a:bodyPr wrap="none" rtlCol="0">
            <a:spAutoFit/>
          </a:bodyPr>
          <a:lstStyle/>
          <a:p>
            <a:r>
              <a:rPr lang="en-US" dirty="0"/>
              <a:t>AST</a:t>
            </a:r>
            <a:r>
              <a:rPr lang="en-US" dirty="0">
                <a:sym typeface="Wingdings" pitchFamily="2" charset="2"/>
              </a:rPr>
              <a:t> &lt;x, int&gt; </a:t>
            </a:r>
            <a:endParaRPr lang="en-US" dirty="0"/>
          </a:p>
        </p:txBody>
      </p:sp>
      <p:sp>
        <p:nvSpPr>
          <p:cNvPr id="42" name="TextBox 41">
            <a:extLst>
              <a:ext uri="{FF2B5EF4-FFF2-40B4-BE49-F238E27FC236}">
                <a16:creationId xmlns:a16="http://schemas.microsoft.com/office/drawing/2014/main" id="{3C5D1858-336C-4D43-AF2E-0F657429C039}"/>
              </a:ext>
            </a:extLst>
          </p:cNvPr>
          <p:cNvSpPr txBox="1"/>
          <p:nvPr/>
        </p:nvSpPr>
        <p:spPr>
          <a:xfrm>
            <a:off x="5828427" y="3763373"/>
            <a:ext cx="1724318" cy="369332"/>
          </a:xfrm>
          <a:prstGeom prst="rect">
            <a:avLst/>
          </a:prstGeom>
          <a:noFill/>
        </p:spPr>
        <p:txBody>
          <a:bodyPr wrap="none" rtlCol="0">
            <a:spAutoFit/>
          </a:bodyPr>
          <a:lstStyle/>
          <a:p>
            <a:r>
              <a:rPr lang="en-US" dirty="0"/>
              <a:t>AST</a:t>
            </a:r>
            <a:r>
              <a:rPr lang="en-US" dirty="0">
                <a:sym typeface="Wingdings" pitchFamily="2" charset="2"/>
              </a:rPr>
              <a:t> &lt;</a:t>
            </a:r>
            <a:r>
              <a:rPr lang="en-US" dirty="0">
                <a:highlight>
                  <a:srgbClr val="FFFF00"/>
                </a:highlight>
                <a:sym typeface="Wingdings" pitchFamily="2" charset="2"/>
              </a:rPr>
              <a:t>call</a:t>
            </a:r>
            <a:r>
              <a:rPr lang="en-US" dirty="0">
                <a:sym typeface="Wingdings" pitchFamily="2" charset="2"/>
              </a:rPr>
              <a:t>, </a:t>
            </a:r>
            <a:r>
              <a:rPr lang="en-US" dirty="0">
                <a:highlight>
                  <a:srgbClr val="00FF00"/>
                </a:highlight>
                <a:sym typeface="Wingdings" pitchFamily="2" charset="2"/>
              </a:rPr>
              <a:t>float</a:t>
            </a:r>
            <a:r>
              <a:rPr lang="en-US" dirty="0">
                <a:sym typeface="Wingdings" pitchFamily="2" charset="2"/>
              </a:rPr>
              <a:t>&gt; </a:t>
            </a:r>
            <a:endParaRPr lang="en-US" dirty="0"/>
          </a:p>
        </p:txBody>
      </p:sp>
      <p:cxnSp>
        <p:nvCxnSpPr>
          <p:cNvPr id="43" name="Straight Connector 42">
            <a:extLst>
              <a:ext uri="{FF2B5EF4-FFF2-40B4-BE49-F238E27FC236}">
                <a16:creationId xmlns:a16="http://schemas.microsoft.com/office/drawing/2014/main" id="{3C53865F-2515-744C-A329-2136C094FA95}"/>
              </a:ext>
            </a:extLst>
          </p:cNvPr>
          <p:cNvCxnSpPr>
            <a:cxnSpLocks/>
            <a:stCxn id="3" idx="2"/>
            <a:endCxn id="42" idx="0"/>
          </p:cNvCxnSpPr>
          <p:nvPr/>
        </p:nvCxnSpPr>
        <p:spPr>
          <a:xfrm>
            <a:off x="5297417" y="3504418"/>
            <a:ext cx="1393169" cy="258955"/>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40280A30-E0A5-BA4B-B2E9-FDC5D7CC100C}"/>
              </a:ext>
            </a:extLst>
          </p:cNvPr>
          <p:cNvCxnSpPr>
            <a:cxnSpLocks/>
            <a:stCxn id="45" idx="0"/>
            <a:endCxn id="42" idx="2"/>
          </p:cNvCxnSpPr>
          <p:nvPr/>
        </p:nvCxnSpPr>
        <p:spPr>
          <a:xfrm flipV="1">
            <a:off x="6578734" y="4132705"/>
            <a:ext cx="111852" cy="536875"/>
          </a:xfrm>
          <a:prstGeom prst="line">
            <a:avLst/>
          </a:prstGeom>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7E5AD73B-002C-214C-A6F6-77DBB2E3EBC5}"/>
              </a:ext>
            </a:extLst>
          </p:cNvPr>
          <p:cNvSpPr txBox="1"/>
          <p:nvPr/>
        </p:nvSpPr>
        <p:spPr>
          <a:xfrm>
            <a:off x="5919418" y="4669580"/>
            <a:ext cx="1318631" cy="369332"/>
          </a:xfrm>
          <a:prstGeom prst="rect">
            <a:avLst/>
          </a:prstGeom>
          <a:noFill/>
        </p:spPr>
        <p:txBody>
          <a:bodyPr wrap="none" rtlCol="0">
            <a:spAutoFit/>
          </a:bodyPr>
          <a:lstStyle/>
          <a:p>
            <a:r>
              <a:rPr lang="en-US" dirty="0"/>
              <a:t>AST</a:t>
            </a:r>
            <a:r>
              <a:rPr lang="en-US" dirty="0">
                <a:sym typeface="Wingdings" pitchFamily="2" charset="2"/>
              </a:rPr>
              <a:t> &lt;y, int&gt; </a:t>
            </a:r>
            <a:endParaRPr lang="en-US" dirty="0"/>
          </a:p>
        </p:txBody>
      </p:sp>
      <p:sp>
        <p:nvSpPr>
          <p:cNvPr id="4" name="TextBox 3">
            <a:extLst>
              <a:ext uri="{FF2B5EF4-FFF2-40B4-BE49-F238E27FC236}">
                <a16:creationId xmlns:a16="http://schemas.microsoft.com/office/drawing/2014/main" id="{DCE5AF68-0CBA-1049-B6BF-3C07C046882E}"/>
              </a:ext>
            </a:extLst>
          </p:cNvPr>
          <p:cNvSpPr txBox="1"/>
          <p:nvPr/>
        </p:nvSpPr>
        <p:spPr>
          <a:xfrm>
            <a:off x="435477" y="4781006"/>
            <a:ext cx="3247556" cy="1200329"/>
          </a:xfrm>
          <a:prstGeom prst="rect">
            <a:avLst/>
          </a:prstGeom>
          <a:noFill/>
        </p:spPr>
        <p:txBody>
          <a:bodyPr wrap="none" rtlCol="0">
            <a:spAutoFit/>
          </a:bodyPr>
          <a:lstStyle/>
          <a:p>
            <a:r>
              <a:rPr lang="en-US" dirty="0"/>
              <a:t>requires a function specification,</a:t>
            </a:r>
            <a:br>
              <a:rPr lang="en-US" dirty="0"/>
            </a:br>
            <a:r>
              <a:rPr lang="en-US" dirty="0"/>
              <a:t>using in the .h file:</a:t>
            </a:r>
          </a:p>
          <a:p>
            <a:endParaRPr lang="en-US" dirty="0"/>
          </a:p>
          <a:p>
            <a:r>
              <a:rPr lang="en-US" b="1" dirty="0">
                <a:highlight>
                  <a:srgbClr val="00FF00"/>
                </a:highlight>
                <a:latin typeface="Courier" pitchFamily="2" charset="0"/>
              </a:rPr>
              <a:t>float</a:t>
            </a:r>
            <a:r>
              <a:rPr lang="en-US" b="1" dirty="0">
                <a:latin typeface="Courier" pitchFamily="2" charset="0"/>
              </a:rPr>
              <a:t> sqrt(float x);</a:t>
            </a:r>
          </a:p>
        </p:txBody>
      </p:sp>
      <p:sp>
        <p:nvSpPr>
          <p:cNvPr id="5" name="TextBox 4">
            <a:extLst>
              <a:ext uri="{FF2B5EF4-FFF2-40B4-BE49-F238E27FC236}">
                <a16:creationId xmlns:a16="http://schemas.microsoft.com/office/drawing/2014/main" id="{A00582FB-E1D4-CA4A-8C70-EFCA3B4C1736}"/>
              </a:ext>
            </a:extLst>
          </p:cNvPr>
          <p:cNvSpPr txBox="1"/>
          <p:nvPr/>
        </p:nvSpPr>
        <p:spPr>
          <a:xfrm>
            <a:off x="435477" y="6201839"/>
            <a:ext cx="10580012" cy="369332"/>
          </a:xfrm>
          <a:prstGeom prst="rect">
            <a:avLst/>
          </a:prstGeom>
          <a:noFill/>
        </p:spPr>
        <p:txBody>
          <a:bodyPr wrap="none" rtlCol="0">
            <a:spAutoFit/>
          </a:bodyPr>
          <a:lstStyle/>
          <a:p>
            <a:r>
              <a:rPr lang="en-US" dirty="0"/>
              <a:t>stored in the symbol table before type checking - think about C. you have to declare a function before you use it</a:t>
            </a:r>
          </a:p>
        </p:txBody>
      </p:sp>
      <p:sp>
        <p:nvSpPr>
          <p:cNvPr id="6" name="TextBox 5">
            <a:extLst>
              <a:ext uri="{FF2B5EF4-FFF2-40B4-BE49-F238E27FC236}">
                <a16:creationId xmlns:a16="http://schemas.microsoft.com/office/drawing/2014/main" id="{7FF81060-0CDB-CB4D-A78C-70F62CF7F2E7}"/>
              </a:ext>
            </a:extLst>
          </p:cNvPr>
          <p:cNvSpPr txBox="1"/>
          <p:nvPr/>
        </p:nvSpPr>
        <p:spPr>
          <a:xfrm>
            <a:off x="6961299" y="2600446"/>
            <a:ext cx="2512483" cy="923330"/>
          </a:xfrm>
          <a:prstGeom prst="rect">
            <a:avLst/>
          </a:prstGeom>
          <a:noFill/>
        </p:spPr>
        <p:txBody>
          <a:bodyPr wrap="none" rtlCol="0">
            <a:spAutoFit/>
          </a:bodyPr>
          <a:lstStyle/>
          <a:p>
            <a:r>
              <a:rPr lang="en-US" i="1" dirty="0"/>
              <a:t>type of the AST node</a:t>
            </a:r>
          </a:p>
          <a:p>
            <a:r>
              <a:rPr lang="en-US" i="1" dirty="0"/>
              <a:t>becomes the return type</a:t>
            </a:r>
          </a:p>
          <a:p>
            <a:r>
              <a:rPr lang="en-US" i="1" dirty="0"/>
              <a:t>of the function</a:t>
            </a:r>
          </a:p>
        </p:txBody>
      </p:sp>
    </p:spTree>
    <p:extLst>
      <p:ext uri="{BB962C8B-B14F-4D97-AF65-F5344CB8AC3E}">
        <p14:creationId xmlns:p14="http://schemas.microsoft.com/office/powerpoint/2010/main" val="1093647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C5A43-0446-2448-932F-569170B41D46}"/>
              </a:ext>
            </a:extLst>
          </p:cNvPr>
          <p:cNvSpPr>
            <a:spLocks noGrp="1"/>
          </p:cNvSpPr>
          <p:nvPr>
            <p:ph type="title"/>
          </p:nvPr>
        </p:nvSpPr>
        <p:spPr/>
        <p:txBody>
          <a:bodyPr/>
          <a:lstStyle/>
          <a:p>
            <a:r>
              <a:rPr lang="en-US" dirty="0"/>
              <a:t>How are functions handled?</a:t>
            </a:r>
          </a:p>
        </p:txBody>
      </p:sp>
      <p:sp>
        <p:nvSpPr>
          <p:cNvPr id="39" name="TextBox 38">
            <a:extLst>
              <a:ext uri="{FF2B5EF4-FFF2-40B4-BE49-F238E27FC236}">
                <a16:creationId xmlns:a16="http://schemas.microsoft.com/office/drawing/2014/main" id="{DE794031-93AA-D544-9045-FE051C4C4606}"/>
              </a:ext>
            </a:extLst>
          </p:cNvPr>
          <p:cNvSpPr txBox="1"/>
          <p:nvPr/>
        </p:nvSpPr>
        <p:spPr>
          <a:xfrm>
            <a:off x="740646" y="2215476"/>
            <a:ext cx="2019971" cy="923330"/>
          </a:xfrm>
          <a:prstGeom prst="rect">
            <a:avLst/>
          </a:prstGeom>
          <a:noFill/>
        </p:spPr>
        <p:txBody>
          <a:bodyPr wrap="square" rtlCol="0">
            <a:spAutoFit/>
          </a:bodyPr>
          <a:lstStyle/>
          <a:p>
            <a:r>
              <a:rPr lang="en-US" dirty="0">
                <a:latin typeface="Courier" pitchFamily="2" charset="0"/>
              </a:rPr>
              <a:t>int x;</a:t>
            </a:r>
          </a:p>
          <a:p>
            <a:r>
              <a:rPr lang="en-US" dirty="0">
                <a:latin typeface="Courier" pitchFamily="2" charset="0"/>
              </a:rPr>
              <a:t>int y;</a:t>
            </a:r>
            <a:br>
              <a:rPr lang="en-US" dirty="0">
                <a:latin typeface="Courier" pitchFamily="2" charset="0"/>
              </a:rPr>
            </a:br>
            <a:r>
              <a:rPr lang="en-US" dirty="0">
                <a:latin typeface="Courier" pitchFamily="2" charset="0"/>
              </a:rPr>
              <a:t>x = </a:t>
            </a:r>
            <a:r>
              <a:rPr lang="en-US" dirty="0">
                <a:highlight>
                  <a:srgbClr val="FFFF00"/>
                </a:highlight>
                <a:latin typeface="Courier" pitchFamily="2" charset="0"/>
              </a:rPr>
              <a:t>sqrt</a:t>
            </a:r>
            <a:r>
              <a:rPr lang="en-US" dirty="0">
                <a:latin typeface="Courier" pitchFamily="2" charset="0"/>
              </a:rPr>
              <a:t>(y)</a:t>
            </a:r>
          </a:p>
        </p:txBody>
      </p:sp>
      <p:sp>
        <p:nvSpPr>
          <p:cNvPr id="3" name="TextBox 2">
            <a:extLst>
              <a:ext uri="{FF2B5EF4-FFF2-40B4-BE49-F238E27FC236}">
                <a16:creationId xmlns:a16="http://schemas.microsoft.com/office/drawing/2014/main" id="{8351AADD-9E18-814D-99A4-3D7A958B78AA}"/>
              </a:ext>
            </a:extLst>
          </p:cNvPr>
          <p:cNvSpPr txBox="1"/>
          <p:nvPr/>
        </p:nvSpPr>
        <p:spPr>
          <a:xfrm>
            <a:off x="4624251" y="3135086"/>
            <a:ext cx="1346331" cy="369332"/>
          </a:xfrm>
          <a:prstGeom prst="rect">
            <a:avLst/>
          </a:prstGeom>
          <a:noFill/>
        </p:spPr>
        <p:txBody>
          <a:bodyPr wrap="none" rtlCol="0">
            <a:spAutoFit/>
          </a:bodyPr>
          <a:lstStyle/>
          <a:p>
            <a:r>
              <a:rPr lang="en-US" dirty="0"/>
              <a:t>AST</a:t>
            </a:r>
            <a:r>
              <a:rPr lang="en-US" dirty="0">
                <a:sym typeface="Wingdings" pitchFamily="2" charset="2"/>
              </a:rPr>
              <a:t> &lt;=, int&gt; </a:t>
            </a:r>
            <a:endParaRPr lang="en-US" dirty="0"/>
          </a:p>
        </p:txBody>
      </p:sp>
      <p:cxnSp>
        <p:nvCxnSpPr>
          <p:cNvPr id="40" name="Straight Connector 39">
            <a:extLst>
              <a:ext uri="{FF2B5EF4-FFF2-40B4-BE49-F238E27FC236}">
                <a16:creationId xmlns:a16="http://schemas.microsoft.com/office/drawing/2014/main" id="{E46BB5A3-5E04-0649-84B9-B4E28E9DC170}"/>
              </a:ext>
            </a:extLst>
          </p:cNvPr>
          <p:cNvCxnSpPr>
            <a:cxnSpLocks/>
            <a:stCxn id="3" idx="2"/>
            <a:endCxn id="41" idx="0"/>
          </p:cNvCxnSpPr>
          <p:nvPr/>
        </p:nvCxnSpPr>
        <p:spPr>
          <a:xfrm flipH="1">
            <a:off x="4290476" y="3504418"/>
            <a:ext cx="1006941" cy="258955"/>
          </a:xfrm>
          <a:prstGeom prst="line">
            <a:avLst/>
          </a:prstGeom>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7D02A226-A657-B940-8C2D-6881D2C6BA68}"/>
              </a:ext>
            </a:extLst>
          </p:cNvPr>
          <p:cNvSpPr txBox="1"/>
          <p:nvPr/>
        </p:nvSpPr>
        <p:spPr>
          <a:xfrm>
            <a:off x="3625325" y="3763373"/>
            <a:ext cx="1330301" cy="369332"/>
          </a:xfrm>
          <a:prstGeom prst="rect">
            <a:avLst/>
          </a:prstGeom>
          <a:noFill/>
        </p:spPr>
        <p:txBody>
          <a:bodyPr wrap="none" rtlCol="0">
            <a:spAutoFit/>
          </a:bodyPr>
          <a:lstStyle/>
          <a:p>
            <a:r>
              <a:rPr lang="en-US" dirty="0"/>
              <a:t>AST</a:t>
            </a:r>
            <a:r>
              <a:rPr lang="en-US" dirty="0">
                <a:sym typeface="Wingdings" pitchFamily="2" charset="2"/>
              </a:rPr>
              <a:t> &lt;x, int&gt; </a:t>
            </a:r>
            <a:endParaRPr lang="en-US" dirty="0"/>
          </a:p>
        </p:txBody>
      </p:sp>
      <p:sp>
        <p:nvSpPr>
          <p:cNvPr id="42" name="TextBox 41">
            <a:extLst>
              <a:ext uri="{FF2B5EF4-FFF2-40B4-BE49-F238E27FC236}">
                <a16:creationId xmlns:a16="http://schemas.microsoft.com/office/drawing/2014/main" id="{3C5D1858-336C-4D43-AF2E-0F657429C039}"/>
              </a:ext>
            </a:extLst>
          </p:cNvPr>
          <p:cNvSpPr txBox="1"/>
          <p:nvPr/>
        </p:nvSpPr>
        <p:spPr>
          <a:xfrm>
            <a:off x="5828427" y="3763373"/>
            <a:ext cx="1724318" cy="369332"/>
          </a:xfrm>
          <a:prstGeom prst="rect">
            <a:avLst/>
          </a:prstGeom>
          <a:noFill/>
        </p:spPr>
        <p:txBody>
          <a:bodyPr wrap="none" rtlCol="0">
            <a:spAutoFit/>
          </a:bodyPr>
          <a:lstStyle/>
          <a:p>
            <a:r>
              <a:rPr lang="en-US" dirty="0"/>
              <a:t>AST</a:t>
            </a:r>
            <a:r>
              <a:rPr lang="en-US" dirty="0">
                <a:sym typeface="Wingdings" pitchFamily="2" charset="2"/>
              </a:rPr>
              <a:t> &lt;</a:t>
            </a:r>
            <a:r>
              <a:rPr lang="en-US" dirty="0">
                <a:highlight>
                  <a:srgbClr val="FFFF00"/>
                </a:highlight>
                <a:sym typeface="Wingdings" pitchFamily="2" charset="2"/>
              </a:rPr>
              <a:t>call</a:t>
            </a:r>
            <a:r>
              <a:rPr lang="en-US" dirty="0">
                <a:sym typeface="Wingdings" pitchFamily="2" charset="2"/>
              </a:rPr>
              <a:t>, </a:t>
            </a:r>
            <a:r>
              <a:rPr lang="en-US" dirty="0">
                <a:highlight>
                  <a:srgbClr val="00FF00"/>
                </a:highlight>
                <a:sym typeface="Wingdings" pitchFamily="2" charset="2"/>
              </a:rPr>
              <a:t>float</a:t>
            </a:r>
            <a:r>
              <a:rPr lang="en-US" dirty="0">
                <a:sym typeface="Wingdings" pitchFamily="2" charset="2"/>
              </a:rPr>
              <a:t>&gt; </a:t>
            </a:r>
            <a:endParaRPr lang="en-US" dirty="0"/>
          </a:p>
        </p:txBody>
      </p:sp>
      <p:cxnSp>
        <p:nvCxnSpPr>
          <p:cNvPr id="43" name="Straight Connector 42">
            <a:extLst>
              <a:ext uri="{FF2B5EF4-FFF2-40B4-BE49-F238E27FC236}">
                <a16:creationId xmlns:a16="http://schemas.microsoft.com/office/drawing/2014/main" id="{3C53865F-2515-744C-A329-2136C094FA95}"/>
              </a:ext>
            </a:extLst>
          </p:cNvPr>
          <p:cNvCxnSpPr>
            <a:cxnSpLocks/>
            <a:stCxn id="3" idx="2"/>
            <a:endCxn id="42" idx="0"/>
          </p:cNvCxnSpPr>
          <p:nvPr/>
        </p:nvCxnSpPr>
        <p:spPr>
          <a:xfrm>
            <a:off x="5297417" y="3504418"/>
            <a:ext cx="1393169" cy="258955"/>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40280A30-E0A5-BA4B-B2E9-FDC5D7CC100C}"/>
              </a:ext>
            </a:extLst>
          </p:cNvPr>
          <p:cNvCxnSpPr>
            <a:cxnSpLocks/>
            <a:stCxn id="45" idx="0"/>
            <a:endCxn id="42" idx="2"/>
          </p:cNvCxnSpPr>
          <p:nvPr/>
        </p:nvCxnSpPr>
        <p:spPr>
          <a:xfrm flipV="1">
            <a:off x="6578734" y="4132705"/>
            <a:ext cx="111852" cy="536875"/>
          </a:xfrm>
          <a:prstGeom prst="line">
            <a:avLst/>
          </a:prstGeom>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7E5AD73B-002C-214C-A6F6-77DBB2E3EBC5}"/>
              </a:ext>
            </a:extLst>
          </p:cNvPr>
          <p:cNvSpPr txBox="1"/>
          <p:nvPr/>
        </p:nvSpPr>
        <p:spPr>
          <a:xfrm>
            <a:off x="5919418" y="4669580"/>
            <a:ext cx="1318631" cy="369332"/>
          </a:xfrm>
          <a:prstGeom prst="rect">
            <a:avLst/>
          </a:prstGeom>
          <a:noFill/>
        </p:spPr>
        <p:txBody>
          <a:bodyPr wrap="none" rtlCol="0">
            <a:spAutoFit/>
          </a:bodyPr>
          <a:lstStyle/>
          <a:p>
            <a:r>
              <a:rPr lang="en-US" dirty="0"/>
              <a:t>AST</a:t>
            </a:r>
            <a:r>
              <a:rPr lang="en-US" dirty="0">
                <a:sym typeface="Wingdings" pitchFamily="2" charset="2"/>
              </a:rPr>
              <a:t> &lt;y, </a:t>
            </a:r>
            <a:r>
              <a:rPr lang="en-US" dirty="0">
                <a:highlight>
                  <a:srgbClr val="00FFFF"/>
                </a:highlight>
                <a:sym typeface="Wingdings" pitchFamily="2" charset="2"/>
              </a:rPr>
              <a:t>int</a:t>
            </a:r>
            <a:r>
              <a:rPr lang="en-US" dirty="0">
                <a:sym typeface="Wingdings" pitchFamily="2" charset="2"/>
              </a:rPr>
              <a:t>&gt; </a:t>
            </a:r>
            <a:endParaRPr lang="en-US" dirty="0"/>
          </a:p>
        </p:txBody>
      </p:sp>
      <p:sp>
        <p:nvSpPr>
          <p:cNvPr id="4" name="TextBox 3">
            <a:extLst>
              <a:ext uri="{FF2B5EF4-FFF2-40B4-BE49-F238E27FC236}">
                <a16:creationId xmlns:a16="http://schemas.microsoft.com/office/drawing/2014/main" id="{DCE5AF68-0CBA-1049-B6BF-3C07C046882E}"/>
              </a:ext>
            </a:extLst>
          </p:cNvPr>
          <p:cNvSpPr txBox="1"/>
          <p:nvPr/>
        </p:nvSpPr>
        <p:spPr>
          <a:xfrm>
            <a:off x="435477" y="4781006"/>
            <a:ext cx="3247556" cy="1200329"/>
          </a:xfrm>
          <a:prstGeom prst="rect">
            <a:avLst/>
          </a:prstGeom>
          <a:noFill/>
        </p:spPr>
        <p:txBody>
          <a:bodyPr wrap="none" rtlCol="0">
            <a:spAutoFit/>
          </a:bodyPr>
          <a:lstStyle/>
          <a:p>
            <a:r>
              <a:rPr lang="en-US" dirty="0"/>
              <a:t>requires a function specification,</a:t>
            </a:r>
            <a:br>
              <a:rPr lang="en-US" dirty="0"/>
            </a:br>
            <a:r>
              <a:rPr lang="en-US" dirty="0"/>
              <a:t>using in the .h file:</a:t>
            </a:r>
          </a:p>
          <a:p>
            <a:endParaRPr lang="en-US" dirty="0"/>
          </a:p>
          <a:p>
            <a:r>
              <a:rPr lang="en-US" b="1" dirty="0">
                <a:highlight>
                  <a:srgbClr val="00FF00"/>
                </a:highlight>
                <a:latin typeface="Courier" pitchFamily="2" charset="0"/>
              </a:rPr>
              <a:t>float</a:t>
            </a:r>
            <a:r>
              <a:rPr lang="en-US" b="1" dirty="0">
                <a:latin typeface="Courier" pitchFamily="2" charset="0"/>
              </a:rPr>
              <a:t> sqrt(</a:t>
            </a:r>
            <a:r>
              <a:rPr lang="en-US" b="1" dirty="0">
                <a:highlight>
                  <a:srgbClr val="00FFFF"/>
                </a:highlight>
                <a:latin typeface="Courier" pitchFamily="2" charset="0"/>
              </a:rPr>
              <a:t>float</a:t>
            </a:r>
            <a:r>
              <a:rPr lang="en-US" b="1" dirty="0">
                <a:latin typeface="Courier" pitchFamily="2" charset="0"/>
              </a:rPr>
              <a:t> x);</a:t>
            </a:r>
          </a:p>
        </p:txBody>
      </p:sp>
      <p:sp>
        <p:nvSpPr>
          <p:cNvPr id="5" name="TextBox 4">
            <a:extLst>
              <a:ext uri="{FF2B5EF4-FFF2-40B4-BE49-F238E27FC236}">
                <a16:creationId xmlns:a16="http://schemas.microsoft.com/office/drawing/2014/main" id="{A00582FB-E1D4-CA4A-8C70-EFCA3B4C1736}"/>
              </a:ext>
            </a:extLst>
          </p:cNvPr>
          <p:cNvSpPr txBox="1"/>
          <p:nvPr/>
        </p:nvSpPr>
        <p:spPr>
          <a:xfrm>
            <a:off x="435477" y="6201839"/>
            <a:ext cx="10580012" cy="369332"/>
          </a:xfrm>
          <a:prstGeom prst="rect">
            <a:avLst/>
          </a:prstGeom>
          <a:noFill/>
        </p:spPr>
        <p:txBody>
          <a:bodyPr wrap="none" rtlCol="0">
            <a:spAutoFit/>
          </a:bodyPr>
          <a:lstStyle/>
          <a:p>
            <a:r>
              <a:rPr lang="en-US" dirty="0"/>
              <a:t>stored in the symbol table before type checking - think about C. you have to declare a function before you use it</a:t>
            </a:r>
          </a:p>
        </p:txBody>
      </p:sp>
      <p:sp>
        <p:nvSpPr>
          <p:cNvPr id="6" name="TextBox 5">
            <a:extLst>
              <a:ext uri="{FF2B5EF4-FFF2-40B4-BE49-F238E27FC236}">
                <a16:creationId xmlns:a16="http://schemas.microsoft.com/office/drawing/2014/main" id="{7FF81060-0CDB-CB4D-A78C-70F62CF7F2E7}"/>
              </a:ext>
            </a:extLst>
          </p:cNvPr>
          <p:cNvSpPr txBox="1"/>
          <p:nvPr/>
        </p:nvSpPr>
        <p:spPr>
          <a:xfrm>
            <a:off x="8154833" y="3181252"/>
            <a:ext cx="3038717" cy="646331"/>
          </a:xfrm>
          <a:prstGeom prst="rect">
            <a:avLst/>
          </a:prstGeom>
          <a:noFill/>
        </p:spPr>
        <p:txBody>
          <a:bodyPr wrap="none" rtlCol="0">
            <a:spAutoFit/>
          </a:bodyPr>
          <a:lstStyle/>
          <a:p>
            <a:r>
              <a:rPr lang="en-US" i="1" dirty="0"/>
              <a:t>type inference must make sure</a:t>
            </a:r>
          </a:p>
          <a:p>
            <a:r>
              <a:rPr lang="en-US" i="1" dirty="0"/>
              <a:t>arguments match types</a:t>
            </a:r>
          </a:p>
        </p:txBody>
      </p:sp>
    </p:spTree>
    <p:extLst>
      <p:ext uri="{BB962C8B-B14F-4D97-AF65-F5344CB8AC3E}">
        <p14:creationId xmlns:p14="http://schemas.microsoft.com/office/powerpoint/2010/main" val="3718892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C5A43-0446-2448-932F-569170B41D46}"/>
              </a:ext>
            </a:extLst>
          </p:cNvPr>
          <p:cNvSpPr>
            <a:spLocks noGrp="1"/>
          </p:cNvSpPr>
          <p:nvPr>
            <p:ph type="title"/>
          </p:nvPr>
        </p:nvSpPr>
        <p:spPr/>
        <p:txBody>
          <a:bodyPr/>
          <a:lstStyle/>
          <a:p>
            <a:r>
              <a:rPr lang="en-US" dirty="0"/>
              <a:t>How are functions handled?</a:t>
            </a:r>
          </a:p>
        </p:txBody>
      </p:sp>
      <p:sp>
        <p:nvSpPr>
          <p:cNvPr id="39" name="TextBox 38">
            <a:extLst>
              <a:ext uri="{FF2B5EF4-FFF2-40B4-BE49-F238E27FC236}">
                <a16:creationId xmlns:a16="http://schemas.microsoft.com/office/drawing/2014/main" id="{DE794031-93AA-D544-9045-FE051C4C4606}"/>
              </a:ext>
            </a:extLst>
          </p:cNvPr>
          <p:cNvSpPr txBox="1"/>
          <p:nvPr/>
        </p:nvSpPr>
        <p:spPr>
          <a:xfrm>
            <a:off x="740646" y="2215476"/>
            <a:ext cx="2019971" cy="923330"/>
          </a:xfrm>
          <a:prstGeom prst="rect">
            <a:avLst/>
          </a:prstGeom>
          <a:noFill/>
        </p:spPr>
        <p:txBody>
          <a:bodyPr wrap="square" rtlCol="0">
            <a:spAutoFit/>
          </a:bodyPr>
          <a:lstStyle/>
          <a:p>
            <a:r>
              <a:rPr lang="en-US" dirty="0">
                <a:latin typeface="Courier" pitchFamily="2" charset="0"/>
              </a:rPr>
              <a:t>int x;</a:t>
            </a:r>
          </a:p>
          <a:p>
            <a:r>
              <a:rPr lang="en-US" dirty="0">
                <a:latin typeface="Courier" pitchFamily="2" charset="0"/>
              </a:rPr>
              <a:t>int y;</a:t>
            </a:r>
            <a:br>
              <a:rPr lang="en-US" dirty="0">
                <a:latin typeface="Courier" pitchFamily="2" charset="0"/>
              </a:rPr>
            </a:br>
            <a:r>
              <a:rPr lang="en-US" dirty="0">
                <a:latin typeface="Courier" pitchFamily="2" charset="0"/>
              </a:rPr>
              <a:t>x = </a:t>
            </a:r>
            <a:r>
              <a:rPr lang="en-US" dirty="0">
                <a:highlight>
                  <a:srgbClr val="FFFF00"/>
                </a:highlight>
                <a:latin typeface="Courier" pitchFamily="2" charset="0"/>
              </a:rPr>
              <a:t>sqrt</a:t>
            </a:r>
            <a:r>
              <a:rPr lang="en-US" dirty="0">
                <a:latin typeface="Courier" pitchFamily="2" charset="0"/>
              </a:rPr>
              <a:t>(y)</a:t>
            </a:r>
          </a:p>
        </p:txBody>
      </p:sp>
      <p:sp>
        <p:nvSpPr>
          <p:cNvPr id="3" name="TextBox 2">
            <a:extLst>
              <a:ext uri="{FF2B5EF4-FFF2-40B4-BE49-F238E27FC236}">
                <a16:creationId xmlns:a16="http://schemas.microsoft.com/office/drawing/2014/main" id="{8351AADD-9E18-814D-99A4-3D7A958B78AA}"/>
              </a:ext>
            </a:extLst>
          </p:cNvPr>
          <p:cNvSpPr txBox="1"/>
          <p:nvPr/>
        </p:nvSpPr>
        <p:spPr>
          <a:xfrm>
            <a:off x="4624251" y="3135086"/>
            <a:ext cx="1346331" cy="369332"/>
          </a:xfrm>
          <a:prstGeom prst="rect">
            <a:avLst/>
          </a:prstGeom>
          <a:noFill/>
        </p:spPr>
        <p:txBody>
          <a:bodyPr wrap="none" rtlCol="0">
            <a:spAutoFit/>
          </a:bodyPr>
          <a:lstStyle/>
          <a:p>
            <a:r>
              <a:rPr lang="en-US" dirty="0"/>
              <a:t>AST</a:t>
            </a:r>
            <a:r>
              <a:rPr lang="en-US" dirty="0">
                <a:sym typeface="Wingdings" pitchFamily="2" charset="2"/>
              </a:rPr>
              <a:t> &lt;=, int&gt; </a:t>
            </a:r>
            <a:endParaRPr lang="en-US" dirty="0"/>
          </a:p>
        </p:txBody>
      </p:sp>
      <p:cxnSp>
        <p:nvCxnSpPr>
          <p:cNvPr id="40" name="Straight Connector 39">
            <a:extLst>
              <a:ext uri="{FF2B5EF4-FFF2-40B4-BE49-F238E27FC236}">
                <a16:creationId xmlns:a16="http://schemas.microsoft.com/office/drawing/2014/main" id="{E46BB5A3-5E04-0649-84B9-B4E28E9DC170}"/>
              </a:ext>
            </a:extLst>
          </p:cNvPr>
          <p:cNvCxnSpPr>
            <a:cxnSpLocks/>
            <a:stCxn id="3" idx="2"/>
            <a:endCxn id="41" idx="0"/>
          </p:cNvCxnSpPr>
          <p:nvPr/>
        </p:nvCxnSpPr>
        <p:spPr>
          <a:xfrm flipH="1">
            <a:off x="4290476" y="3504418"/>
            <a:ext cx="1006941" cy="258955"/>
          </a:xfrm>
          <a:prstGeom prst="line">
            <a:avLst/>
          </a:prstGeom>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7D02A226-A657-B940-8C2D-6881D2C6BA68}"/>
              </a:ext>
            </a:extLst>
          </p:cNvPr>
          <p:cNvSpPr txBox="1"/>
          <p:nvPr/>
        </p:nvSpPr>
        <p:spPr>
          <a:xfrm>
            <a:off x="3625325" y="3763373"/>
            <a:ext cx="1330301" cy="369332"/>
          </a:xfrm>
          <a:prstGeom prst="rect">
            <a:avLst/>
          </a:prstGeom>
          <a:noFill/>
        </p:spPr>
        <p:txBody>
          <a:bodyPr wrap="none" rtlCol="0">
            <a:spAutoFit/>
          </a:bodyPr>
          <a:lstStyle/>
          <a:p>
            <a:r>
              <a:rPr lang="en-US" dirty="0"/>
              <a:t>AST</a:t>
            </a:r>
            <a:r>
              <a:rPr lang="en-US" dirty="0">
                <a:sym typeface="Wingdings" pitchFamily="2" charset="2"/>
              </a:rPr>
              <a:t> &lt;x, int&gt; </a:t>
            </a:r>
            <a:endParaRPr lang="en-US" dirty="0"/>
          </a:p>
        </p:txBody>
      </p:sp>
      <p:sp>
        <p:nvSpPr>
          <p:cNvPr id="42" name="TextBox 41">
            <a:extLst>
              <a:ext uri="{FF2B5EF4-FFF2-40B4-BE49-F238E27FC236}">
                <a16:creationId xmlns:a16="http://schemas.microsoft.com/office/drawing/2014/main" id="{3C5D1858-336C-4D43-AF2E-0F657429C039}"/>
              </a:ext>
            </a:extLst>
          </p:cNvPr>
          <p:cNvSpPr txBox="1"/>
          <p:nvPr/>
        </p:nvSpPr>
        <p:spPr>
          <a:xfrm>
            <a:off x="5828427" y="3763373"/>
            <a:ext cx="1724318" cy="369332"/>
          </a:xfrm>
          <a:prstGeom prst="rect">
            <a:avLst/>
          </a:prstGeom>
          <a:noFill/>
        </p:spPr>
        <p:txBody>
          <a:bodyPr wrap="none" rtlCol="0">
            <a:spAutoFit/>
          </a:bodyPr>
          <a:lstStyle/>
          <a:p>
            <a:r>
              <a:rPr lang="en-US" dirty="0"/>
              <a:t>AST</a:t>
            </a:r>
            <a:r>
              <a:rPr lang="en-US" dirty="0">
                <a:sym typeface="Wingdings" pitchFamily="2" charset="2"/>
              </a:rPr>
              <a:t> &lt;</a:t>
            </a:r>
            <a:r>
              <a:rPr lang="en-US" dirty="0">
                <a:highlight>
                  <a:srgbClr val="FFFF00"/>
                </a:highlight>
                <a:sym typeface="Wingdings" pitchFamily="2" charset="2"/>
              </a:rPr>
              <a:t>call</a:t>
            </a:r>
            <a:r>
              <a:rPr lang="en-US" dirty="0">
                <a:sym typeface="Wingdings" pitchFamily="2" charset="2"/>
              </a:rPr>
              <a:t>, </a:t>
            </a:r>
            <a:r>
              <a:rPr lang="en-US" dirty="0">
                <a:highlight>
                  <a:srgbClr val="00FF00"/>
                </a:highlight>
                <a:sym typeface="Wingdings" pitchFamily="2" charset="2"/>
              </a:rPr>
              <a:t>float</a:t>
            </a:r>
            <a:r>
              <a:rPr lang="en-US" dirty="0">
                <a:sym typeface="Wingdings" pitchFamily="2" charset="2"/>
              </a:rPr>
              <a:t>&gt; </a:t>
            </a:r>
            <a:endParaRPr lang="en-US" dirty="0"/>
          </a:p>
        </p:txBody>
      </p:sp>
      <p:cxnSp>
        <p:nvCxnSpPr>
          <p:cNvPr id="43" name="Straight Connector 42">
            <a:extLst>
              <a:ext uri="{FF2B5EF4-FFF2-40B4-BE49-F238E27FC236}">
                <a16:creationId xmlns:a16="http://schemas.microsoft.com/office/drawing/2014/main" id="{3C53865F-2515-744C-A329-2136C094FA95}"/>
              </a:ext>
            </a:extLst>
          </p:cNvPr>
          <p:cNvCxnSpPr>
            <a:cxnSpLocks/>
            <a:stCxn id="3" idx="2"/>
            <a:endCxn id="42" idx="0"/>
          </p:cNvCxnSpPr>
          <p:nvPr/>
        </p:nvCxnSpPr>
        <p:spPr>
          <a:xfrm>
            <a:off x="5297417" y="3504418"/>
            <a:ext cx="1393169" cy="258955"/>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40280A30-E0A5-BA4B-B2E9-FDC5D7CC100C}"/>
              </a:ext>
            </a:extLst>
          </p:cNvPr>
          <p:cNvCxnSpPr>
            <a:cxnSpLocks/>
            <a:stCxn id="45" idx="0"/>
            <a:endCxn id="16" idx="2"/>
          </p:cNvCxnSpPr>
          <p:nvPr/>
        </p:nvCxnSpPr>
        <p:spPr>
          <a:xfrm flipH="1" flipV="1">
            <a:off x="6830143" y="4846583"/>
            <a:ext cx="1" cy="375136"/>
          </a:xfrm>
          <a:prstGeom prst="line">
            <a:avLst/>
          </a:prstGeom>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7E5AD73B-002C-214C-A6F6-77DBB2E3EBC5}"/>
              </a:ext>
            </a:extLst>
          </p:cNvPr>
          <p:cNvSpPr txBox="1"/>
          <p:nvPr/>
        </p:nvSpPr>
        <p:spPr>
          <a:xfrm>
            <a:off x="6170828" y="5221719"/>
            <a:ext cx="1318631" cy="369332"/>
          </a:xfrm>
          <a:prstGeom prst="rect">
            <a:avLst/>
          </a:prstGeom>
          <a:noFill/>
        </p:spPr>
        <p:txBody>
          <a:bodyPr wrap="none" rtlCol="0">
            <a:spAutoFit/>
          </a:bodyPr>
          <a:lstStyle/>
          <a:p>
            <a:r>
              <a:rPr lang="en-US" dirty="0"/>
              <a:t>AST</a:t>
            </a:r>
            <a:r>
              <a:rPr lang="en-US" dirty="0">
                <a:sym typeface="Wingdings" pitchFamily="2" charset="2"/>
              </a:rPr>
              <a:t> &lt;y, </a:t>
            </a:r>
            <a:r>
              <a:rPr lang="en-US" dirty="0">
                <a:highlight>
                  <a:srgbClr val="00FFFF"/>
                </a:highlight>
                <a:sym typeface="Wingdings" pitchFamily="2" charset="2"/>
              </a:rPr>
              <a:t>int</a:t>
            </a:r>
            <a:r>
              <a:rPr lang="en-US" dirty="0">
                <a:sym typeface="Wingdings" pitchFamily="2" charset="2"/>
              </a:rPr>
              <a:t>&gt; </a:t>
            </a:r>
            <a:endParaRPr lang="en-US" dirty="0"/>
          </a:p>
        </p:txBody>
      </p:sp>
      <p:sp>
        <p:nvSpPr>
          <p:cNvPr id="4" name="TextBox 3">
            <a:extLst>
              <a:ext uri="{FF2B5EF4-FFF2-40B4-BE49-F238E27FC236}">
                <a16:creationId xmlns:a16="http://schemas.microsoft.com/office/drawing/2014/main" id="{DCE5AF68-0CBA-1049-B6BF-3C07C046882E}"/>
              </a:ext>
            </a:extLst>
          </p:cNvPr>
          <p:cNvSpPr txBox="1"/>
          <p:nvPr/>
        </p:nvSpPr>
        <p:spPr>
          <a:xfrm>
            <a:off x="435477" y="4781006"/>
            <a:ext cx="3247556" cy="1200329"/>
          </a:xfrm>
          <a:prstGeom prst="rect">
            <a:avLst/>
          </a:prstGeom>
          <a:noFill/>
        </p:spPr>
        <p:txBody>
          <a:bodyPr wrap="none" rtlCol="0">
            <a:spAutoFit/>
          </a:bodyPr>
          <a:lstStyle/>
          <a:p>
            <a:r>
              <a:rPr lang="en-US" dirty="0"/>
              <a:t>requires a function specification,</a:t>
            </a:r>
            <a:br>
              <a:rPr lang="en-US" dirty="0"/>
            </a:br>
            <a:r>
              <a:rPr lang="en-US" dirty="0"/>
              <a:t>using in the .h file:</a:t>
            </a:r>
          </a:p>
          <a:p>
            <a:endParaRPr lang="en-US" dirty="0"/>
          </a:p>
          <a:p>
            <a:r>
              <a:rPr lang="en-US" b="1" dirty="0">
                <a:highlight>
                  <a:srgbClr val="00FF00"/>
                </a:highlight>
                <a:latin typeface="Courier" pitchFamily="2" charset="0"/>
              </a:rPr>
              <a:t>float</a:t>
            </a:r>
            <a:r>
              <a:rPr lang="en-US" b="1" dirty="0">
                <a:latin typeface="Courier" pitchFamily="2" charset="0"/>
              </a:rPr>
              <a:t> sqrt(</a:t>
            </a:r>
            <a:r>
              <a:rPr lang="en-US" b="1" dirty="0">
                <a:highlight>
                  <a:srgbClr val="00FFFF"/>
                </a:highlight>
                <a:latin typeface="Courier" pitchFamily="2" charset="0"/>
              </a:rPr>
              <a:t>float</a:t>
            </a:r>
            <a:r>
              <a:rPr lang="en-US" b="1" dirty="0">
                <a:latin typeface="Courier" pitchFamily="2" charset="0"/>
              </a:rPr>
              <a:t> x);</a:t>
            </a:r>
          </a:p>
        </p:txBody>
      </p:sp>
      <p:sp>
        <p:nvSpPr>
          <p:cNvPr id="5" name="TextBox 4">
            <a:extLst>
              <a:ext uri="{FF2B5EF4-FFF2-40B4-BE49-F238E27FC236}">
                <a16:creationId xmlns:a16="http://schemas.microsoft.com/office/drawing/2014/main" id="{A00582FB-E1D4-CA4A-8C70-EFCA3B4C1736}"/>
              </a:ext>
            </a:extLst>
          </p:cNvPr>
          <p:cNvSpPr txBox="1"/>
          <p:nvPr/>
        </p:nvSpPr>
        <p:spPr>
          <a:xfrm>
            <a:off x="435477" y="6201839"/>
            <a:ext cx="10580012" cy="369332"/>
          </a:xfrm>
          <a:prstGeom prst="rect">
            <a:avLst/>
          </a:prstGeom>
          <a:noFill/>
        </p:spPr>
        <p:txBody>
          <a:bodyPr wrap="none" rtlCol="0">
            <a:spAutoFit/>
          </a:bodyPr>
          <a:lstStyle/>
          <a:p>
            <a:r>
              <a:rPr lang="en-US" dirty="0"/>
              <a:t>stored in the symbol table before type checking - think about C. you have to declare a function before you use it</a:t>
            </a:r>
          </a:p>
        </p:txBody>
      </p:sp>
      <p:sp>
        <p:nvSpPr>
          <p:cNvPr id="6" name="TextBox 5">
            <a:extLst>
              <a:ext uri="{FF2B5EF4-FFF2-40B4-BE49-F238E27FC236}">
                <a16:creationId xmlns:a16="http://schemas.microsoft.com/office/drawing/2014/main" id="{7FF81060-0CDB-CB4D-A78C-70F62CF7F2E7}"/>
              </a:ext>
            </a:extLst>
          </p:cNvPr>
          <p:cNvSpPr txBox="1"/>
          <p:nvPr/>
        </p:nvSpPr>
        <p:spPr>
          <a:xfrm>
            <a:off x="8043197" y="4336275"/>
            <a:ext cx="3038717" cy="646331"/>
          </a:xfrm>
          <a:prstGeom prst="rect">
            <a:avLst/>
          </a:prstGeom>
          <a:noFill/>
        </p:spPr>
        <p:txBody>
          <a:bodyPr wrap="none" rtlCol="0">
            <a:spAutoFit/>
          </a:bodyPr>
          <a:lstStyle/>
          <a:p>
            <a:r>
              <a:rPr lang="en-US" i="1" dirty="0"/>
              <a:t>type inference must make sure</a:t>
            </a:r>
          </a:p>
          <a:p>
            <a:r>
              <a:rPr lang="en-US" i="1" dirty="0"/>
              <a:t>arguments match types</a:t>
            </a:r>
          </a:p>
        </p:txBody>
      </p:sp>
      <p:sp>
        <p:nvSpPr>
          <p:cNvPr id="16" name="TextBox 15">
            <a:extLst>
              <a:ext uri="{FF2B5EF4-FFF2-40B4-BE49-F238E27FC236}">
                <a16:creationId xmlns:a16="http://schemas.microsoft.com/office/drawing/2014/main" id="{3205CEFB-F2D8-224F-9AC5-408650F59579}"/>
              </a:ext>
            </a:extLst>
          </p:cNvPr>
          <p:cNvSpPr txBox="1"/>
          <p:nvPr/>
        </p:nvSpPr>
        <p:spPr>
          <a:xfrm>
            <a:off x="5725481" y="4477251"/>
            <a:ext cx="2209323" cy="369332"/>
          </a:xfrm>
          <a:prstGeom prst="rect">
            <a:avLst/>
          </a:prstGeom>
          <a:noFill/>
        </p:spPr>
        <p:txBody>
          <a:bodyPr wrap="none" rtlCol="0">
            <a:spAutoFit/>
          </a:bodyPr>
          <a:lstStyle/>
          <a:p>
            <a:r>
              <a:rPr lang="en-US" dirty="0"/>
              <a:t>AST</a:t>
            </a:r>
            <a:r>
              <a:rPr lang="en-US" dirty="0">
                <a:sym typeface="Wingdings" pitchFamily="2" charset="2"/>
              </a:rPr>
              <a:t> &lt;int2float, float&gt; </a:t>
            </a:r>
            <a:endParaRPr lang="en-US" dirty="0"/>
          </a:p>
        </p:txBody>
      </p:sp>
      <p:cxnSp>
        <p:nvCxnSpPr>
          <p:cNvPr id="20" name="Straight Connector 19">
            <a:extLst>
              <a:ext uri="{FF2B5EF4-FFF2-40B4-BE49-F238E27FC236}">
                <a16:creationId xmlns:a16="http://schemas.microsoft.com/office/drawing/2014/main" id="{3B56865A-4D35-E541-8B3E-4AAD500C409B}"/>
              </a:ext>
            </a:extLst>
          </p:cNvPr>
          <p:cNvCxnSpPr>
            <a:cxnSpLocks/>
            <a:stCxn id="16" idx="0"/>
            <a:endCxn id="42" idx="2"/>
          </p:cNvCxnSpPr>
          <p:nvPr/>
        </p:nvCxnSpPr>
        <p:spPr>
          <a:xfrm flipH="1" flipV="1">
            <a:off x="6690586" y="4132705"/>
            <a:ext cx="139557" cy="344546"/>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05748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C5A43-0446-2448-932F-569170B41D46}"/>
              </a:ext>
            </a:extLst>
          </p:cNvPr>
          <p:cNvSpPr>
            <a:spLocks noGrp="1"/>
          </p:cNvSpPr>
          <p:nvPr>
            <p:ph type="title"/>
          </p:nvPr>
        </p:nvSpPr>
        <p:spPr/>
        <p:txBody>
          <a:bodyPr/>
          <a:lstStyle/>
          <a:p>
            <a:r>
              <a:rPr lang="en-US" dirty="0"/>
              <a:t>How are functions handled?</a:t>
            </a:r>
          </a:p>
        </p:txBody>
      </p:sp>
      <p:sp>
        <p:nvSpPr>
          <p:cNvPr id="39" name="TextBox 38">
            <a:extLst>
              <a:ext uri="{FF2B5EF4-FFF2-40B4-BE49-F238E27FC236}">
                <a16:creationId xmlns:a16="http://schemas.microsoft.com/office/drawing/2014/main" id="{DE794031-93AA-D544-9045-FE051C4C4606}"/>
              </a:ext>
            </a:extLst>
          </p:cNvPr>
          <p:cNvSpPr txBox="1"/>
          <p:nvPr/>
        </p:nvSpPr>
        <p:spPr>
          <a:xfrm>
            <a:off x="740646" y="2215476"/>
            <a:ext cx="2019971" cy="923330"/>
          </a:xfrm>
          <a:prstGeom prst="rect">
            <a:avLst/>
          </a:prstGeom>
          <a:noFill/>
        </p:spPr>
        <p:txBody>
          <a:bodyPr wrap="square" rtlCol="0">
            <a:spAutoFit/>
          </a:bodyPr>
          <a:lstStyle/>
          <a:p>
            <a:r>
              <a:rPr lang="en-US" dirty="0">
                <a:latin typeface="Courier" pitchFamily="2" charset="0"/>
              </a:rPr>
              <a:t>int x;</a:t>
            </a:r>
          </a:p>
          <a:p>
            <a:r>
              <a:rPr lang="en-US" dirty="0">
                <a:latin typeface="Courier" pitchFamily="2" charset="0"/>
              </a:rPr>
              <a:t>int y;</a:t>
            </a:r>
            <a:br>
              <a:rPr lang="en-US" dirty="0">
                <a:latin typeface="Courier" pitchFamily="2" charset="0"/>
              </a:rPr>
            </a:br>
            <a:r>
              <a:rPr lang="en-US" dirty="0">
                <a:latin typeface="Courier" pitchFamily="2" charset="0"/>
              </a:rPr>
              <a:t>x = </a:t>
            </a:r>
            <a:r>
              <a:rPr lang="en-US" dirty="0">
                <a:highlight>
                  <a:srgbClr val="FFFF00"/>
                </a:highlight>
                <a:latin typeface="Courier" pitchFamily="2" charset="0"/>
              </a:rPr>
              <a:t>sqrt</a:t>
            </a:r>
            <a:r>
              <a:rPr lang="en-US" dirty="0">
                <a:latin typeface="Courier" pitchFamily="2" charset="0"/>
              </a:rPr>
              <a:t>(y)</a:t>
            </a:r>
          </a:p>
        </p:txBody>
      </p:sp>
      <p:sp>
        <p:nvSpPr>
          <p:cNvPr id="3" name="TextBox 2">
            <a:extLst>
              <a:ext uri="{FF2B5EF4-FFF2-40B4-BE49-F238E27FC236}">
                <a16:creationId xmlns:a16="http://schemas.microsoft.com/office/drawing/2014/main" id="{8351AADD-9E18-814D-99A4-3D7A958B78AA}"/>
              </a:ext>
            </a:extLst>
          </p:cNvPr>
          <p:cNvSpPr txBox="1"/>
          <p:nvPr/>
        </p:nvSpPr>
        <p:spPr>
          <a:xfrm>
            <a:off x="4624251" y="3135086"/>
            <a:ext cx="1346331" cy="369332"/>
          </a:xfrm>
          <a:prstGeom prst="rect">
            <a:avLst/>
          </a:prstGeom>
          <a:noFill/>
        </p:spPr>
        <p:txBody>
          <a:bodyPr wrap="none" rtlCol="0">
            <a:spAutoFit/>
          </a:bodyPr>
          <a:lstStyle/>
          <a:p>
            <a:r>
              <a:rPr lang="en-US" dirty="0"/>
              <a:t>AST</a:t>
            </a:r>
            <a:r>
              <a:rPr lang="en-US" dirty="0">
                <a:sym typeface="Wingdings" pitchFamily="2" charset="2"/>
              </a:rPr>
              <a:t> &lt;=, int&gt; </a:t>
            </a:r>
            <a:endParaRPr lang="en-US" dirty="0"/>
          </a:p>
        </p:txBody>
      </p:sp>
      <p:cxnSp>
        <p:nvCxnSpPr>
          <p:cNvPr id="40" name="Straight Connector 39">
            <a:extLst>
              <a:ext uri="{FF2B5EF4-FFF2-40B4-BE49-F238E27FC236}">
                <a16:creationId xmlns:a16="http://schemas.microsoft.com/office/drawing/2014/main" id="{E46BB5A3-5E04-0649-84B9-B4E28E9DC170}"/>
              </a:ext>
            </a:extLst>
          </p:cNvPr>
          <p:cNvCxnSpPr>
            <a:cxnSpLocks/>
            <a:stCxn id="3" idx="2"/>
            <a:endCxn id="41" idx="0"/>
          </p:cNvCxnSpPr>
          <p:nvPr/>
        </p:nvCxnSpPr>
        <p:spPr>
          <a:xfrm flipH="1">
            <a:off x="4290476" y="3504418"/>
            <a:ext cx="1006941" cy="258955"/>
          </a:xfrm>
          <a:prstGeom prst="line">
            <a:avLst/>
          </a:prstGeom>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7D02A226-A657-B940-8C2D-6881D2C6BA68}"/>
              </a:ext>
            </a:extLst>
          </p:cNvPr>
          <p:cNvSpPr txBox="1"/>
          <p:nvPr/>
        </p:nvSpPr>
        <p:spPr>
          <a:xfrm>
            <a:off x="3625325" y="3763373"/>
            <a:ext cx="1330301" cy="369332"/>
          </a:xfrm>
          <a:prstGeom prst="rect">
            <a:avLst/>
          </a:prstGeom>
          <a:noFill/>
        </p:spPr>
        <p:txBody>
          <a:bodyPr wrap="none" rtlCol="0">
            <a:spAutoFit/>
          </a:bodyPr>
          <a:lstStyle/>
          <a:p>
            <a:r>
              <a:rPr lang="en-US" dirty="0"/>
              <a:t>AST</a:t>
            </a:r>
            <a:r>
              <a:rPr lang="en-US" dirty="0">
                <a:sym typeface="Wingdings" pitchFamily="2" charset="2"/>
              </a:rPr>
              <a:t> &lt;x, int&gt; </a:t>
            </a:r>
            <a:endParaRPr lang="en-US" dirty="0"/>
          </a:p>
        </p:txBody>
      </p:sp>
      <p:sp>
        <p:nvSpPr>
          <p:cNvPr id="42" name="TextBox 41">
            <a:extLst>
              <a:ext uri="{FF2B5EF4-FFF2-40B4-BE49-F238E27FC236}">
                <a16:creationId xmlns:a16="http://schemas.microsoft.com/office/drawing/2014/main" id="{3C5D1858-336C-4D43-AF2E-0F657429C039}"/>
              </a:ext>
            </a:extLst>
          </p:cNvPr>
          <p:cNvSpPr txBox="1"/>
          <p:nvPr/>
        </p:nvSpPr>
        <p:spPr>
          <a:xfrm>
            <a:off x="5828427" y="3763373"/>
            <a:ext cx="1724318" cy="369332"/>
          </a:xfrm>
          <a:prstGeom prst="rect">
            <a:avLst/>
          </a:prstGeom>
          <a:noFill/>
        </p:spPr>
        <p:txBody>
          <a:bodyPr wrap="none" rtlCol="0">
            <a:spAutoFit/>
          </a:bodyPr>
          <a:lstStyle/>
          <a:p>
            <a:r>
              <a:rPr lang="en-US" dirty="0"/>
              <a:t>AST</a:t>
            </a:r>
            <a:r>
              <a:rPr lang="en-US" dirty="0">
                <a:sym typeface="Wingdings" pitchFamily="2" charset="2"/>
              </a:rPr>
              <a:t> &lt;</a:t>
            </a:r>
            <a:r>
              <a:rPr lang="en-US" dirty="0">
                <a:highlight>
                  <a:srgbClr val="FFFF00"/>
                </a:highlight>
                <a:sym typeface="Wingdings" pitchFamily="2" charset="2"/>
              </a:rPr>
              <a:t>call</a:t>
            </a:r>
            <a:r>
              <a:rPr lang="en-US" dirty="0">
                <a:sym typeface="Wingdings" pitchFamily="2" charset="2"/>
              </a:rPr>
              <a:t>, </a:t>
            </a:r>
            <a:r>
              <a:rPr lang="en-US" dirty="0">
                <a:highlight>
                  <a:srgbClr val="00FF00"/>
                </a:highlight>
                <a:sym typeface="Wingdings" pitchFamily="2" charset="2"/>
              </a:rPr>
              <a:t>float</a:t>
            </a:r>
            <a:r>
              <a:rPr lang="en-US" dirty="0">
                <a:sym typeface="Wingdings" pitchFamily="2" charset="2"/>
              </a:rPr>
              <a:t>&gt; </a:t>
            </a:r>
            <a:endParaRPr lang="en-US" dirty="0"/>
          </a:p>
        </p:txBody>
      </p:sp>
      <p:cxnSp>
        <p:nvCxnSpPr>
          <p:cNvPr id="43" name="Straight Connector 42">
            <a:extLst>
              <a:ext uri="{FF2B5EF4-FFF2-40B4-BE49-F238E27FC236}">
                <a16:creationId xmlns:a16="http://schemas.microsoft.com/office/drawing/2014/main" id="{3C53865F-2515-744C-A329-2136C094FA95}"/>
              </a:ext>
            </a:extLst>
          </p:cNvPr>
          <p:cNvCxnSpPr>
            <a:cxnSpLocks/>
            <a:stCxn id="3" idx="2"/>
            <a:endCxn id="42" idx="0"/>
          </p:cNvCxnSpPr>
          <p:nvPr/>
        </p:nvCxnSpPr>
        <p:spPr>
          <a:xfrm>
            <a:off x="5297417" y="3504418"/>
            <a:ext cx="1393169" cy="258955"/>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40280A30-E0A5-BA4B-B2E9-FDC5D7CC100C}"/>
              </a:ext>
            </a:extLst>
          </p:cNvPr>
          <p:cNvCxnSpPr>
            <a:cxnSpLocks/>
            <a:stCxn id="45" idx="0"/>
            <a:endCxn id="16" idx="2"/>
          </p:cNvCxnSpPr>
          <p:nvPr/>
        </p:nvCxnSpPr>
        <p:spPr>
          <a:xfrm flipH="1" flipV="1">
            <a:off x="6830143" y="4846583"/>
            <a:ext cx="1" cy="375136"/>
          </a:xfrm>
          <a:prstGeom prst="line">
            <a:avLst/>
          </a:prstGeom>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7E5AD73B-002C-214C-A6F6-77DBB2E3EBC5}"/>
              </a:ext>
            </a:extLst>
          </p:cNvPr>
          <p:cNvSpPr txBox="1"/>
          <p:nvPr/>
        </p:nvSpPr>
        <p:spPr>
          <a:xfrm>
            <a:off x="6170828" y="5221719"/>
            <a:ext cx="1318631" cy="369332"/>
          </a:xfrm>
          <a:prstGeom prst="rect">
            <a:avLst/>
          </a:prstGeom>
          <a:noFill/>
        </p:spPr>
        <p:txBody>
          <a:bodyPr wrap="none" rtlCol="0">
            <a:spAutoFit/>
          </a:bodyPr>
          <a:lstStyle/>
          <a:p>
            <a:r>
              <a:rPr lang="en-US" dirty="0"/>
              <a:t>AST</a:t>
            </a:r>
            <a:r>
              <a:rPr lang="en-US" dirty="0">
                <a:sym typeface="Wingdings" pitchFamily="2" charset="2"/>
              </a:rPr>
              <a:t> &lt;y, </a:t>
            </a:r>
            <a:r>
              <a:rPr lang="en-US" dirty="0">
                <a:highlight>
                  <a:srgbClr val="00FFFF"/>
                </a:highlight>
                <a:sym typeface="Wingdings" pitchFamily="2" charset="2"/>
              </a:rPr>
              <a:t>int</a:t>
            </a:r>
            <a:r>
              <a:rPr lang="en-US" dirty="0">
                <a:sym typeface="Wingdings" pitchFamily="2" charset="2"/>
              </a:rPr>
              <a:t>&gt; </a:t>
            </a:r>
            <a:endParaRPr lang="en-US" dirty="0"/>
          </a:p>
        </p:txBody>
      </p:sp>
      <p:sp>
        <p:nvSpPr>
          <p:cNvPr id="4" name="TextBox 3">
            <a:extLst>
              <a:ext uri="{FF2B5EF4-FFF2-40B4-BE49-F238E27FC236}">
                <a16:creationId xmlns:a16="http://schemas.microsoft.com/office/drawing/2014/main" id="{DCE5AF68-0CBA-1049-B6BF-3C07C046882E}"/>
              </a:ext>
            </a:extLst>
          </p:cNvPr>
          <p:cNvSpPr txBox="1"/>
          <p:nvPr/>
        </p:nvSpPr>
        <p:spPr>
          <a:xfrm>
            <a:off x="435477" y="4781006"/>
            <a:ext cx="3247556" cy="1200329"/>
          </a:xfrm>
          <a:prstGeom prst="rect">
            <a:avLst/>
          </a:prstGeom>
          <a:noFill/>
        </p:spPr>
        <p:txBody>
          <a:bodyPr wrap="none" rtlCol="0">
            <a:spAutoFit/>
          </a:bodyPr>
          <a:lstStyle/>
          <a:p>
            <a:r>
              <a:rPr lang="en-US" dirty="0"/>
              <a:t>requires a function specification,</a:t>
            </a:r>
            <a:br>
              <a:rPr lang="en-US" dirty="0"/>
            </a:br>
            <a:r>
              <a:rPr lang="en-US" dirty="0"/>
              <a:t>using in the .h file:</a:t>
            </a:r>
          </a:p>
          <a:p>
            <a:endParaRPr lang="en-US" dirty="0"/>
          </a:p>
          <a:p>
            <a:r>
              <a:rPr lang="en-US" b="1" dirty="0">
                <a:highlight>
                  <a:srgbClr val="00FF00"/>
                </a:highlight>
                <a:latin typeface="Courier" pitchFamily="2" charset="0"/>
              </a:rPr>
              <a:t>float</a:t>
            </a:r>
            <a:r>
              <a:rPr lang="en-US" b="1" dirty="0">
                <a:latin typeface="Courier" pitchFamily="2" charset="0"/>
              </a:rPr>
              <a:t> sqrt(</a:t>
            </a:r>
            <a:r>
              <a:rPr lang="en-US" b="1" dirty="0">
                <a:highlight>
                  <a:srgbClr val="00FFFF"/>
                </a:highlight>
                <a:latin typeface="Courier" pitchFamily="2" charset="0"/>
              </a:rPr>
              <a:t>float</a:t>
            </a:r>
            <a:r>
              <a:rPr lang="en-US" b="1" dirty="0">
                <a:latin typeface="Courier" pitchFamily="2" charset="0"/>
              </a:rPr>
              <a:t> x);</a:t>
            </a:r>
          </a:p>
        </p:txBody>
      </p:sp>
      <p:sp>
        <p:nvSpPr>
          <p:cNvPr id="5" name="TextBox 4">
            <a:extLst>
              <a:ext uri="{FF2B5EF4-FFF2-40B4-BE49-F238E27FC236}">
                <a16:creationId xmlns:a16="http://schemas.microsoft.com/office/drawing/2014/main" id="{A00582FB-E1D4-CA4A-8C70-EFCA3B4C1736}"/>
              </a:ext>
            </a:extLst>
          </p:cNvPr>
          <p:cNvSpPr txBox="1"/>
          <p:nvPr/>
        </p:nvSpPr>
        <p:spPr>
          <a:xfrm>
            <a:off x="435477" y="6201839"/>
            <a:ext cx="10580012" cy="369332"/>
          </a:xfrm>
          <a:prstGeom prst="rect">
            <a:avLst/>
          </a:prstGeom>
          <a:noFill/>
        </p:spPr>
        <p:txBody>
          <a:bodyPr wrap="none" rtlCol="0">
            <a:spAutoFit/>
          </a:bodyPr>
          <a:lstStyle/>
          <a:p>
            <a:r>
              <a:rPr lang="en-US" dirty="0"/>
              <a:t>stored in the symbol table before type checking - think about C. you have to declare a function before you use it</a:t>
            </a:r>
          </a:p>
        </p:txBody>
      </p:sp>
      <p:sp>
        <p:nvSpPr>
          <p:cNvPr id="6" name="TextBox 5">
            <a:extLst>
              <a:ext uri="{FF2B5EF4-FFF2-40B4-BE49-F238E27FC236}">
                <a16:creationId xmlns:a16="http://schemas.microsoft.com/office/drawing/2014/main" id="{7FF81060-0CDB-CB4D-A78C-70F62CF7F2E7}"/>
              </a:ext>
            </a:extLst>
          </p:cNvPr>
          <p:cNvSpPr txBox="1"/>
          <p:nvPr/>
        </p:nvSpPr>
        <p:spPr>
          <a:xfrm>
            <a:off x="6760364" y="2817354"/>
            <a:ext cx="3669787" cy="369332"/>
          </a:xfrm>
          <a:prstGeom prst="rect">
            <a:avLst/>
          </a:prstGeom>
          <a:noFill/>
        </p:spPr>
        <p:txBody>
          <a:bodyPr wrap="none" rtlCol="0">
            <a:spAutoFit/>
          </a:bodyPr>
          <a:lstStyle/>
          <a:p>
            <a:r>
              <a:rPr lang="en-US" i="1" dirty="0"/>
              <a:t>How would type inference finish this?</a:t>
            </a:r>
          </a:p>
        </p:txBody>
      </p:sp>
      <p:sp>
        <p:nvSpPr>
          <p:cNvPr id="16" name="TextBox 15">
            <a:extLst>
              <a:ext uri="{FF2B5EF4-FFF2-40B4-BE49-F238E27FC236}">
                <a16:creationId xmlns:a16="http://schemas.microsoft.com/office/drawing/2014/main" id="{3205CEFB-F2D8-224F-9AC5-408650F59579}"/>
              </a:ext>
            </a:extLst>
          </p:cNvPr>
          <p:cNvSpPr txBox="1"/>
          <p:nvPr/>
        </p:nvSpPr>
        <p:spPr>
          <a:xfrm>
            <a:off x="5725481" y="4477251"/>
            <a:ext cx="2209323" cy="369332"/>
          </a:xfrm>
          <a:prstGeom prst="rect">
            <a:avLst/>
          </a:prstGeom>
          <a:noFill/>
        </p:spPr>
        <p:txBody>
          <a:bodyPr wrap="none" rtlCol="0">
            <a:spAutoFit/>
          </a:bodyPr>
          <a:lstStyle/>
          <a:p>
            <a:r>
              <a:rPr lang="en-US" dirty="0"/>
              <a:t>AST</a:t>
            </a:r>
            <a:r>
              <a:rPr lang="en-US" dirty="0">
                <a:sym typeface="Wingdings" pitchFamily="2" charset="2"/>
              </a:rPr>
              <a:t> &lt;int2float, float&gt; </a:t>
            </a:r>
            <a:endParaRPr lang="en-US" dirty="0"/>
          </a:p>
        </p:txBody>
      </p:sp>
      <p:cxnSp>
        <p:nvCxnSpPr>
          <p:cNvPr id="20" name="Straight Connector 19">
            <a:extLst>
              <a:ext uri="{FF2B5EF4-FFF2-40B4-BE49-F238E27FC236}">
                <a16:creationId xmlns:a16="http://schemas.microsoft.com/office/drawing/2014/main" id="{3B56865A-4D35-E541-8B3E-4AAD500C409B}"/>
              </a:ext>
            </a:extLst>
          </p:cNvPr>
          <p:cNvCxnSpPr>
            <a:cxnSpLocks/>
            <a:stCxn id="16" idx="0"/>
            <a:endCxn id="42" idx="2"/>
          </p:cNvCxnSpPr>
          <p:nvPr/>
        </p:nvCxnSpPr>
        <p:spPr>
          <a:xfrm flipH="1" flipV="1">
            <a:off x="6690586" y="4132705"/>
            <a:ext cx="139557" cy="344546"/>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23156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C5A43-0446-2448-932F-569170B41D46}"/>
              </a:ext>
            </a:extLst>
          </p:cNvPr>
          <p:cNvSpPr>
            <a:spLocks noGrp="1"/>
          </p:cNvSpPr>
          <p:nvPr>
            <p:ph type="title"/>
          </p:nvPr>
        </p:nvSpPr>
        <p:spPr/>
        <p:txBody>
          <a:bodyPr/>
          <a:lstStyle/>
          <a:p>
            <a:r>
              <a:rPr lang="en-US" dirty="0"/>
              <a:t>How are functions handled?</a:t>
            </a:r>
          </a:p>
        </p:txBody>
      </p:sp>
      <p:sp>
        <p:nvSpPr>
          <p:cNvPr id="39" name="TextBox 38">
            <a:extLst>
              <a:ext uri="{FF2B5EF4-FFF2-40B4-BE49-F238E27FC236}">
                <a16:creationId xmlns:a16="http://schemas.microsoft.com/office/drawing/2014/main" id="{DE794031-93AA-D544-9045-FE051C4C4606}"/>
              </a:ext>
            </a:extLst>
          </p:cNvPr>
          <p:cNvSpPr txBox="1"/>
          <p:nvPr/>
        </p:nvSpPr>
        <p:spPr>
          <a:xfrm>
            <a:off x="740646" y="2215476"/>
            <a:ext cx="2019971" cy="923330"/>
          </a:xfrm>
          <a:prstGeom prst="rect">
            <a:avLst/>
          </a:prstGeom>
          <a:noFill/>
        </p:spPr>
        <p:txBody>
          <a:bodyPr wrap="square" rtlCol="0">
            <a:spAutoFit/>
          </a:bodyPr>
          <a:lstStyle/>
          <a:p>
            <a:r>
              <a:rPr lang="en-US" dirty="0">
                <a:latin typeface="Courier" pitchFamily="2" charset="0"/>
              </a:rPr>
              <a:t>int x;</a:t>
            </a:r>
          </a:p>
          <a:p>
            <a:r>
              <a:rPr lang="en-US" dirty="0">
                <a:latin typeface="Courier" pitchFamily="2" charset="0"/>
              </a:rPr>
              <a:t>int y;</a:t>
            </a:r>
            <a:br>
              <a:rPr lang="en-US" dirty="0">
                <a:latin typeface="Courier" pitchFamily="2" charset="0"/>
              </a:rPr>
            </a:br>
            <a:r>
              <a:rPr lang="en-US" dirty="0">
                <a:latin typeface="Courier" pitchFamily="2" charset="0"/>
              </a:rPr>
              <a:t>x = </a:t>
            </a:r>
            <a:r>
              <a:rPr lang="en-US" dirty="0">
                <a:highlight>
                  <a:srgbClr val="FFFF00"/>
                </a:highlight>
                <a:latin typeface="Courier" pitchFamily="2" charset="0"/>
              </a:rPr>
              <a:t>sqrt</a:t>
            </a:r>
            <a:r>
              <a:rPr lang="en-US" dirty="0">
                <a:latin typeface="Courier" pitchFamily="2" charset="0"/>
              </a:rPr>
              <a:t>(y)</a:t>
            </a:r>
          </a:p>
        </p:txBody>
      </p:sp>
      <p:sp>
        <p:nvSpPr>
          <p:cNvPr id="3" name="TextBox 2">
            <a:extLst>
              <a:ext uri="{FF2B5EF4-FFF2-40B4-BE49-F238E27FC236}">
                <a16:creationId xmlns:a16="http://schemas.microsoft.com/office/drawing/2014/main" id="{8351AADD-9E18-814D-99A4-3D7A958B78AA}"/>
              </a:ext>
            </a:extLst>
          </p:cNvPr>
          <p:cNvSpPr txBox="1"/>
          <p:nvPr/>
        </p:nvSpPr>
        <p:spPr>
          <a:xfrm>
            <a:off x="4353538" y="2725295"/>
            <a:ext cx="1346331" cy="369332"/>
          </a:xfrm>
          <a:prstGeom prst="rect">
            <a:avLst/>
          </a:prstGeom>
          <a:noFill/>
        </p:spPr>
        <p:txBody>
          <a:bodyPr wrap="none" rtlCol="0">
            <a:spAutoFit/>
          </a:bodyPr>
          <a:lstStyle/>
          <a:p>
            <a:r>
              <a:rPr lang="en-US" dirty="0"/>
              <a:t>AST</a:t>
            </a:r>
            <a:r>
              <a:rPr lang="en-US" dirty="0">
                <a:sym typeface="Wingdings" pitchFamily="2" charset="2"/>
              </a:rPr>
              <a:t> &lt;=, int&gt; </a:t>
            </a:r>
            <a:endParaRPr lang="en-US" dirty="0"/>
          </a:p>
        </p:txBody>
      </p:sp>
      <p:cxnSp>
        <p:nvCxnSpPr>
          <p:cNvPr id="40" name="Straight Connector 39">
            <a:extLst>
              <a:ext uri="{FF2B5EF4-FFF2-40B4-BE49-F238E27FC236}">
                <a16:creationId xmlns:a16="http://schemas.microsoft.com/office/drawing/2014/main" id="{E46BB5A3-5E04-0649-84B9-B4E28E9DC170}"/>
              </a:ext>
            </a:extLst>
          </p:cNvPr>
          <p:cNvCxnSpPr>
            <a:cxnSpLocks/>
            <a:stCxn id="3" idx="2"/>
            <a:endCxn id="41" idx="0"/>
          </p:cNvCxnSpPr>
          <p:nvPr/>
        </p:nvCxnSpPr>
        <p:spPr>
          <a:xfrm flipH="1">
            <a:off x="4290476" y="3094627"/>
            <a:ext cx="736228" cy="668746"/>
          </a:xfrm>
          <a:prstGeom prst="line">
            <a:avLst/>
          </a:prstGeom>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7D02A226-A657-B940-8C2D-6881D2C6BA68}"/>
              </a:ext>
            </a:extLst>
          </p:cNvPr>
          <p:cNvSpPr txBox="1"/>
          <p:nvPr/>
        </p:nvSpPr>
        <p:spPr>
          <a:xfrm>
            <a:off x="3625325" y="3763373"/>
            <a:ext cx="1330301" cy="369332"/>
          </a:xfrm>
          <a:prstGeom prst="rect">
            <a:avLst/>
          </a:prstGeom>
          <a:noFill/>
        </p:spPr>
        <p:txBody>
          <a:bodyPr wrap="none" rtlCol="0">
            <a:spAutoFit/>
          </a:bodyPr>
          <a:lstStyle/>
          <a:p>
            <a:r>
              <a:rPr lang="en-US" dirty="0"/>
              <a:t>AST</a:t>
            </a:r>
            <a:r>
              <a:rPr lang="en-US" dirty="0">
                <a:sym typeface="Wingdings" pitchFamily="2" charset="2"/>
              </a:rPr>
              <a:t> &lt;x, int&gt; </a:t>
            </a:r>
            <a:endParaRPr lang="en-US" dirty="0"/>
          </a:p>
        </p:txBody>
      </p:sp>
      <p:sp>
        <p:nvSpPr>
          <p:cNvPr id="42" name="TextBox 41">
            <a:extLst>
              <a:ext uri="{FF2B5EF4-FFF2-40B4-BE49-F238E27FC236}">
                <a16:creationId xmlns:a16="http://schemas.microsoft.com/office/drawing/2014/main" id="{3C5D1858-336C-4D43-AF2E-0F657429C039}"/>
              </a:ext>
            </a:extLst>
          </p:cNvPr>
          <p:cNvSpPr txBox="1"/>
          <p:nvPr/>
        </p:nvSpPr>
        <p:spPr>
          <a:xfrm>
            <a:off x="5828427" y="3763373"/>
            <a:ext cx="1724318" cy="369332"/>
          </a:xfrm>
          <a:prstGeom prst="rect">
            <a:avLst/>
          </a:prstGeom>
          <a:noFill/>
        </p:spPr>
        <p:txBody>
          <a:bodyPr wrap="none" rtlCol="0">
            <a:spAutoFit/>
          </a:bodyPr>
          <a:lstStyle/>
          <a:p>
            <a:r>
              <a:rPr lang="en-US" dirty="0"/>
              <a:t>AST</a:t>
            </a:r>
            <a:r>
              <a:rPr lang="en-US" dirty="0">
                <a:sym typeface="Wingdings" pitchFamily="2" charset="2"/>
              </a:rPr>
              <a:t> &lt;</a:t>
            </a:r>
            <a:r>
              <a:rPr lang="en-US" dirty="0">
                <a:highlight>
                  <a:srgbClr val="FFFF00"/>
                </a:highlight>
                <a:sym typeface="Wingdings" pitchFamily="2" charset="2"/>
              </a:rPr>
              <a:t>call</a:t>
            </a:r>
            <a:r>
              <a:rPr lang="en-US" dirty="0">
                <a:sym typeface="Wingdings" pitchFamily="2" charset="2"/>
              </a:rPr>
              <a:t>, </a:t>
            </a:r>
            <a:r>
              <a:rPr lang="en-US" dirty="0">
                <a:highlight>
                  <a:srgbClr val="00FF00"/>
                </a:highlight>
                <a:sym typeface="Wingdings" pitchFamily="2" charset="2"/>
              </a:rPr>
              <a:t>float</a:t>
            </a:r>
            <a:r>
              <a:rPr lang="en-US" dirty="0">
                <a:sym typeface="Wingdings" pitchFamily="2" charset="2"/>
              </a:rPr>
              <a:t>&gt; </a:t>
            </a:r>
            <a:endParaRPr lang="en-US" dirty="0"/>
          </a:p>
        </p:txBody>
      </p:sp>
      <p:cxnSp>
        <p:nvCxnSpPr>
          <p:cNvPr id="43" name="Straight Connector 42">
            <a:extLst>
              <a:ext uri="{FF2B5EF4-FFF2-40B4-BE49-F238E27FC236}">
                <a16:creationId xmlns:a16="http://schemas.microsoft.com/office/drawing/2014/main" id="{3C53865F-2515-744C-A329-2136C094FA95}"/>
              </a:ext>
            </a:extLst>
          </p:cNvPr>
          <p:cNvCxnSpPr>
            <a:cxnSpLocks/>
            <a:stCxn id="18" idx="2"/>
            <a:endCxn id="42" idx="0"/>
          </p:cNvCxnSpPr>
          <p:nvPr/>
        </p:nvCxnSpPr>
        <p:spPr>
          <a:xfrm>
            <a:off x="6457977" y="3419949"/>
            <a:ext cx="232609" cy="343424"/>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40280A30-E0A5-BA4B-B2E9-FDC5D7CC100C}"/>
              </a:ext>
            </a:extLst>
          </p:cNvPr>
          <p:cNvCxnSpPr>
            <a:cxnSpLocks/>
            <a:stCxn id="45" idx="0"/>
            <a:endCxn id="16" idx="2"/>
          </p:cNvCxnSpPr>
          <p:nvPr/>
        </p:nvCxnSpPr>
        <p:spPr>
          <a:xfrm flipH="1" flipV="1">
            <a:off x="6830143" y="4846583"/>
            <a:ext cx="1" cy="375136"/>
          </a:xfrm>
          <a:prstGeom prst="line">
            <a:avLst/>
          </a:prstGeom>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7E5AD73B-002C-214C-A6F6-77DBB2E3EBC5}"/>
              </a:ext>
            </a:extLst>
          </p:cNvPr>
          <p:cNvSpPr txBox="1"/>
          <p:nvPr/>
        </p:nvSpPr>
        <p:spPr>
          <a:xfrm>
            <a:off x="6170828" y="5221719"/>
            <a:ext cx="1318631" cy="369332"/>
          </a:xfrm>
          <a:prstGeom prst="rect">
            <a:avLst/>
          </a:prstGeom>
          <a:noFill/>
        </p:spPr>
        <p:txBody>
          <a:bodyPr wrap="none" rtlCol="0">
            <a:spAutoFit/>
          </a:bodyPr>
          <a:lstStyle/>
          <a:p>
            <a:r>
              <a:rPr lang="en-US" dirty="0"/>
              <a:t>AST</a:t>
            </a:r>
            <a:r>
              <a:rPr lang="en-US" dirty="0">
                <a:sym typeface="Wingdings" pitchFamily="2" charset="2"/>
              </a:rPr>
              <a:t> &lt;y, </a:t>
            </a:r>
            <a:r>
              <a:rPr lang="en-US" dirty="0">
                <a:highlight>
                  <a:srgbClr val="00FFFF"/>
                </a:highlight>
                <a:sym typeface="Wingdings" pitchFamily="2" charset="2"/>
              </a:rPr>
              <a:t>int</a:t>
            </a:r>
            <a:r>
              <a:rPr lang="en-US" dirty="0">
                <a:sym typeface="Wingdings" pitchFamily="2" charset="2"/>
              </a:rPr>
              <a:t>&gt; </a:t>
            </a:r>
            <a:endParaRPr lang="en-US" dirty="0"/>
          </a:p>
        </p:txBody>
      </p:sp>
      <p:sp>
        <p:nvSpPr>
          <p:cNvPr id="4" name="TextBox 3">
            <a:extLst>
              <a:ext uri="{FF2B5EF4-FFF2-40B4-BE49-F238E27FC236}">
                <a16:creationId xmlns:a16="http://schemas.microsoft.com/office/drawing/2014/main" id="{DCE5AF68-0CBA-1049-B6BF-3C07C046882E}"/>
              </a:ext>
            </a:extLst>
          </p:cNvPr>
          <p:cNvSpPr txBox="1"/>
          <p:nvPr/>
        </p:nvSpPr>
        <p:spPr>
          <a:xfrm>
            <a:off x="435477" y="4781006"/>
            <a:ext cx="3247556" cy="1200329"/>
          </a:xfrm>
          <a:prstGeom prst="rect">
            <a:avLst/>
          </a:prstGeom>
          <a:noFill/>
        </p:spPr>
        <p:txBody>
          <a:bodyPr wrap="none" rtlCol="0">
            <a:spAutoFit/>
          </a:bodyPr>
          <a:lstStyle/>
          <a:p>
            <a:r>
              <a:rPr lang="en-US" dirty="0"/>
              <a:t>requires a function specification,</a:t>
            </a:r>
            <a:br>
              <a:rPr lang="en-US" dirty="0"/>
            </a:br>
            <a:r>
              <a:rPr lang="en-US" dirty="0"/>
              <a:t>using in the .h file:</a:t>
            </a:r>
          </a:p>
          <a:p>
            <a:endParaRPr lang="en-US" dirty="0"/>
          </a:p>
          <a:p>
            <a:r>
              <a:rPr lang="en-US" b="1" dirty="0">
                <a:highlight>
                  <a:srgbClr val="00FF00"/>
                </a:highlight>
                <a:latin typeface="Courier" pitchFamily="2" charset="0"/>
              </a:rPr>
              <a:t>float</a:t>
            </a:r>
            <a:r>
              <a:rPr lang="en-US" b="1" dirty="0">
                <a:latin typeface="Courier" pitchFamily="2" charset="0"/>
              </a:rPr>
              <a:t> sqrt(</a:t>
            </a:r>
            <a:r>
              <a:rPr lang="en-US" b="1" dirty="0">
                <a:highlight>
                  <a:srgbClr val="00FFFF"/>
                </a:highlight>
                <a:latin typeface="Courier" pitchFamily="2" charset="0"/>
              </a:rPr>
              <a:t>float</a:t>
            </a:r>
            <a:r>
              <a:rPr lang="en-US" b="1" dirty="0">
                <a:latin typeface="Courier" pitchFamily="2" charset="0"/>
              </a:rPr>
              <a:t> x);</a:t>
            </a:r>
          </a:p>
        </p:txBody>
      </p:sp>
      <p:sp>
        <p:nvSpPr>
          <p:cNvPr id="5" name="TextBox 4">
            <a:extLst>
              <a:ext uri="{FF2B5EF4-FFF2-40B4-BE49-F238E27FC236}">
                <a16:creationId xmlns:a16="http://schemas.microsoft.com/office/drawing/2014/main" id="{A00582FB-E1D4-CA4A-8C70-EFCA3B4C1736}"/>
              </a:ext>
            </a:extLst>
          </p:cNvPr>
          <p:cNvSpPr txBox="1"/>
          <p:nvPr/>
        </p:nvSpPr>
        <p:spPr>
          <a:xfrm>
            <a:off x="435477" y="6201839"/>
            <a:ext cx="10580012" cy="369332"/>
          </a:xfrm>
          <a:prstGeom prst="rect">
            <a:avLst/>
          </a:prstGeom>
          <a:noFill/>
        </p:spPr>
        <p:txBody>
          <a:bodyPr wrap="none" rtlCol="0">
            <a:spAutoFit/>
          </a:bodyPr>
          <a:lstStyle/>
          <a:p>
            <a:r>
              <a:rPr lang="en-US" dirty="0"/>
              <a:t>stored in the symbol table before type checking - think about C. you have to declare a function before you use it</a:t>
            </a:r>
          </a:p>
        </p:txBody>
      </p:sp>
      <p:sp>
        <p:nvSpPr>
          <p:cNvPr id="6" name="TextBox 5">
            <a:extLst>
              <a:ext uri="{FF2B5EF4-FFF2-40B4-BE49-F238E27FC236}">
                <a16:creationId xmlns:a16="http://schemas.microsoft.com/office/drawing/2014/main" id="{7FF81060-0CDB-CB4D-A78C-70F62CF7F2E7}"/>
              </a:ext>
            </a:extLst>
          </p:cNvPr>
          <p:cNvSpPr txBox="1"/>
          <p:nvPr/>
        </p:nvSpPr>
        <p:spPr>
          <a:xfrm>
            <a:off x="7345702" y="1993315"/>
            <a:ext cx="3911135" cy="923330"/>
          </a:xfrm>
          <a:prstGeom prst="rect">
            <a:avLst/>
          </a:prstGeom>
          <a:noFill/>
        </p:spPr>
        <p:txBody>
          <a:bodyPr wrap="none" rtlCol="0">
            <a:spAutoFit/>
          </a:bodyPr>
          <a:lstStyle/>
          <a:p>
            <a:r>
              <a:rPr lang="en-US" i="1" dirty="0"/>
              <a:t>How would type inference finish this?</a:t>
            </a:r>
            <a:br>
              <a:rPr lang="en-US" i="1" dirty="0"/>
            </a:br>
            <a:r>
              <a:rPr lang="en-US" b="1" i="1" dirty="0"/>
              <a:t>remember that assignment converts to</a:t>
            </a:r>
            <a:br>
              <a:rPr lang="en-US" b="1" i="1" dirty="0"/>
            </a:br>
            <a:r>
              <a:rPr lang="en-US" b="1" i="1" dirty="0"/>
              <a:t>the </a:t>
            </a:r>
            <a:r>
              <a:rPr lang="en-US" b="1" i="1" dirty="0" err="1"/>
              <a:t>lhs</a:t>
            </a:r>
            <a:r>
              <a:rPr lang="en-US" b="1" i="1" dirty="0"/>
              <a:t> type</a:t>
            </a:r>
          </a:p>
        </p:txBody>
      </p:sp>
      <p:sp>
        <p:nvSpPr>
          <p:cNvPr id="16" name="TextBox 15">
            <a:extLst>
              <a:ext uri="{FF2B5EF4-FFF2-40B4-BE49-F238E27FC236}">
                <a16:creationId xmlns:a16="http://schemas.microsoft.com/office/drawing/2014/main" id="{3205CEFB-F2D8-224F-9AC5-408650F59579}"/>
              </a:ext>
            </a:extLst>
          </p:cNvPr>
          <p:cNvSpPr txBox="1"/>
          <p:nvPr/>
        </p:nvSpPr>
        <p:spPr>
          <a:xfrm>
            <a:off x="5725481" y="4477251"/>
            <a:ext cx="2209323" cy="369332"/>
          </a:xfrm>
          <a:prstGeom prst="rect">
            <a:avLst/>
          </a:prstGeom>
          <a:noFill/>
        </p:spPr>
        <p:txBody>
          <a:bodyPr wrap="none" rtlCol="0">
            <a:spAutoFit/>
          </a:bodyPr>
          <a:lstStyle/>
          <a:p>
            <a:r>
              <a:rPr lang="en-US" dirty="0"/>
              <a:t>AST</a:t>
            </a:r>
            <a:r>
              <a:rPr lang="en-US" dirty="0">
                <a:sym typeface="Wingdings" pitchFamily="2" charset="2"/>
              </a:rPr>
              <a:t> &lt;int2float, float&gt; </a:t>
            </a:r>
            <a:endParaRPr lang="en-US" dirty="0"/>
          </a:p>
        </p:txBody>
      </p:sp>
      <p:cxnSp>
        <p:nvCxnSpPr>
          <p:cNvPr id="20" name="Straight Connector 19">
            <a:extLst>
              <a:ext uri="{FF2B5EF4-FFF2-40B4-BE49-F238E27FC236}">
                <a16:creationId xmlns:a16="http://schemas.microsoft.com/office/drawing/2014/main" id="{3B56865A-4D35-E541-8B3E-4AAD500C409B}"/>
              </a:ext>
            </a:extLst>
          </p:cNvPr>
          <p:cNvCxnSpPr>
            <a:cxnSpLocks/>
            <a:stCxn id="16" idx="0"/>
            <a:endCxn id="42" idx="2"/>
          </p:cNvCxnSpPr>
          <p:nvPr/>
        </p:nvCxnSpPr>
        <p:spPr>
          <a:xfrm flipH="1" flipV="1">
            <a:off x="6690586" y="4132705"/>
            <a:ext cx="139557" cy="344546"/>
          </a:xfrm>
          <a:prstGeom prst="line">
            <a:avLst/>
          </a:prstGeom>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8C848904-906E-D745-B8D0-D53561076F04}"/>
              </a:ext>
            </a:extLst>
          </p:cNvPr>
          <p:cNvSpPr txBox="1"/>
          <p:nvPr/>
        </p:nvSpPr>
        <p:spPr>
          <a:xfrm>
            <a:off x="5443885" y="3050617"/>
            <a:ext cx="2028184" cy="369332"/>
          </a:xfrm>
          <a:prstGeom prst="rect">
            <a:avLst/>
          </a:prstGeom>
          <a:noFill/>
        </p:spPr>
        <p:txBody>
          <a:bodyPr wrap="none" rtlCol="0">
            <a:spAutoFit/>
          </a:bodyPr>
          <a:lstStyle/>
          <a:p>
            <a:r>
              <a:rPr lang="en-US" dirty="0"/>
              <a:t>AST</a:t>
            </a:r>
            <a:r>
              <a:rPr lang="en-US" dirty="0">
                <a:sym typeface="Wingdings" pitchFamily="2" charset="2"/>
              </a:rPr>
              <a:t> &lt;float2int, int&gt; </a:t>
            </a:r>
            <a:endParaRPr lang="en-US" dirty="0"/>
          </a:p>
        </p:txBody>
      </p:sp>
      <p:cxnSp>
        <p:nvCxnSpPr>
          <p:cNvPr id="21" name="Straight Connector 20">
            <a:extLst>
              <a:ext uri="{FF2B5EF4-FFF2-40B4-BE49-F238E27FC236}">
                <a16:creationId xmlns:a16="http://schemas.microsoft.com/office/drawing/2014/main" id="{28379AE0-E2D0-B84D-96D9-9D152F965068}"/>
              </a:ext>
            </a:extLst>
          </p:cNvPr>
          <p:cNvCxnSpPr>
            <a:cxnSpLocks/>
            <a:stCxn id="3" idx="3"/>
            <a:endCxn id="18" idx="0"/>
          </p:cNvCxnSpPr>
          <p:nvPr/>
        </p:nvCxnSpPr>
        <p:spPr>
          <a:xfrm>
            <a:off x="5699869" y="2909961"/>
            <a:ext cx="758108" cy="140656"/>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57974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C5A43-0446-2448-932F-569170B41D46}"/>
              </a:ext>
            </a:extLst>
          </p:cNvPr>
          <p:cNvSpPr>
            <a:spLocks noGrp="1"/>
          </p:cNvSpPr>
          <p:nvPr>
            <p:ph type="title"/>
          </p:nvPr>
        </p:nvSpPr>
        <p:spPr/>
        <p:txBody>
          <a:bodyPr/>
          <a:lstStyle/>
          <a:p>
            <a:r>
              <a:rPr lang="en-US" dirty="0"/>
              <a:t>What about floats to </a:t>
            </a:r>
            <a:r>
              <a:rPr lang="en-US" dirty="0" err="1"/>
              <a:t>ints</a:t>
            </a:r>
            <a:r>
              <a:rPr lang="en-US" dirty="0"/>
              <a:t>?</a:t>
            </a:r>
          </a:p>
        </p:txBody>
      </p:sp>
      <p:sp>
        <p:nvSpPr>
          <p:cNvPr id="39" name="TextBox 38">
            <a:extLst>
              <a:ext uri="{FF2B5EF4-FFF2-40B4-BE49-F238E27FC236}">
                <a16:creationId xmlns:a16="http://schemas.microsoft.com/office/drawing/2014/main" id="{DE794031-93AA-D544-9045-FE051C4C4606}"/>
              </a:ext>
            </a:extLst>
          </p:cNvPr>
          <p:cNvSpPr txBox="1"/>
          <p:nvPr/>
        </p:nvSpPr>
        <p:spPr>
          <a:xfrm>
            <a:off x="557766" y="2387714"/>
            <a:ext cx="3461997" cy="1477328"/>
          </a:xfrm>
          <a:prstGeom prst="rect">
            <a:avLst/>
          </a:prstGeom>
          <a:noFill/>
        </p:spPr>
        <p:txBody>
          <a:bodyPr wrap="square" rtlCol="0">
            <a:spAutoFit/>
          </a:bodyPr>
          <a:lstStyle/>
          <a:p>
            <a:r>
              <a:rPr lang="en-US" dirty="0">
                <a:latin typeface="Courier" pitchFamily="2" charset="0"/>
              </a:rPr>
              <a:t>int </a:t>
            </a:r>
            <a:r>
              <a:rPr lang="en-US" dirty="0" err="1">
                <a:latin typeface="Courier" pitchFamily="2" charset="0"/>
              </a:rPr>
              <a:t>int_sqrt</a:t>
            </a:r>
            <a:r>
              <a:rPr lang="en-US" dirty="0">
                <a:latin typeface="Courier" pitchFamily="2" charset="0"/>
              </a:rPr>
              <a:t>(int input);</a:t>
            </a:r>
          </a:p>
          <a:p>
            <a:endParaRPr lang="en-US" dirty="0">
              <a:latin typeface="Courier" pitchFamily="2" charset="0"/>
            </a:endParaRPr>
          </a:p>
          <a:p>
            <a:r>
              <a:rPr lang="en-US" dirty="0">
                <a:latin typeface="Courier" pitchFamily="2" charset="0"/>
              </a:rPr>
              <a:t>float x;</a:t>
            </a:r>
          </a:p>
          <a:p>
            <a:r>
              <a:rPr lang="en-US" dirty="0">
                <a:latin typeface="Courier" pitchFamily="2" charset="0"/>
              </a:rPr>
              <a:t>float y;</a:t>
            </a:r>
            <a:br>
              <a:rPr lang="en-US" dirty="0">
                <a:latin typeface="Courier" pitchFamily="2" charset="0"/>
              </a:rPr>
            </a:br>
            <a:r>
              <a:rPr lang="en-US" dirty="0">
                <a:latin typeface="Courier" pitchFamily="2" charset="0"/>
              </a:rPr>
              <a:t>x = </a:t>
            </a:r>
            <a:r>
              <a:rPr lang="en-US" dirty="0" err="1">
                <a:latin typeface="Courier" pitchFamily="2" charset="0"/>
              </a:rPr>
              <a:t>int_sqrt</a:t>
            </a:r>
            <a:r>
              <a:rPr lang="en-US" dirty="0">
                <a:latin typeface="Courier" pitchFamily="2" charset="0"/>
              </a:rPr>
              <a:t>(y)</a:t>
            </a:r>
          </a:p>
        </p:txBody>
      </p:sp>
      <p:sp>
        <p:nvSpPr>
          <p:cNvPr id="3" name="TextBox 2">
            <a:extLst>
              <a:ext uri="{FF2B5EF4-FFF2-40B4-BE49-F238E27FC236}">
                <a16:creationId xmlns:a16="http://schemas.microsoft.com/office/drawing/2014/main" id="{8351AADD-9E18-814D-99A4-3D7A958B78AA}"/>
              </a:ext>
            </a:extLst>
          </p:cNvPr>
          <p:cNvSpPr txBox="1"/>
          <p:nvPr/>
        </p:nvSpPr>
        <p:spPr>
          <a:xfrm>
            <a:off x="6877072" y="3161211"/>
            <a:ext cx="1527469" cy="369332"/>
          </a:xfrm>
          <a:prstGeom prst="rect">
            <a:avLst/>
          </a:prstGeom>
          <a:noFill/>
        </p:spPr>
        <p:txBody>
          <a:bodyPr wrap="none" rtlCol="0">
            <a:spAutoFit/>
          </a:bodyPr>
          <a:lstStyle/>
          <a:p>
            <a:r>
              <a:rPr lang="en-US" dirty="0"/>
              <a:t>AST</a:t>
            </a:r>
            <a:r>
              <a:rPr lang="en-US" dirty="0">
                <a:sym typeface="Wingdings" pitchFamily="2" charset="2"/>
              </a:rPr>
              <a:t> &lt;=, float&gt; </a:t>
            </a:r>
            <a:endParaRPr lang="en-US" dirty="0"/>
          </a:p>
        </p:txBody>
      </p:sp>
      <p:cxnSp>
        <p:nvCxnSpPr>
          <p:cNvPr id="40" name="Straight Connector 39">
            <a:extLst>
              <a:ext uri="{FF2B5EF4-FFF2-40B4-BE49-F238E27FC236}">
                <a16:creationId xmlns:a16="http://schemas.microsoft.com/office/drawing/2014/main" id="{E46BB5A3-5E04-0649-84B9-B4E28E9DC170}"/>
              </a:ext>
            </a:extLst>
          </p:cNvPr>
          <p:cNvCxnSpPr>
            <a:cxnSpLocks/>
            <a:stCxn id="3" idx="2"/>
            <a:endCxn id="41" idx="0"/>
          </p:cNvCxnSpPr>
          <p:nvPr/>
        </p:nvCxnSpPr>
        <p:spPr>
          <a:xfrm flipH="1">
            <a:off x="6633866" y="3530543"/>
            <a:ext cx="1006941" cy="258955"/>
          </a:xfrm>
          <a:prstGeom prst="line">
            <a:avLst/>
          </a:prstGeom>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7D02A226-A657-B940-8C2D-6881D2C6BA68}"/>
              </a:ext>
            </a:extLst>
          </p:cNvPr>
          <p:cNvSpPr txBox="1"/>
          <p:nvPr/>
        </p:nvSpPr>
        <p:spPr>
          <a:xfrm>
            <a:off x="5878146" y="3789498"/>
            <a:ext cx="1511439" cy="369332"/>
          </a:xfrm>
          <a:prstGeom prst="rect">
            <a:avLst/>
          </a:prstGeom>
          <a:noFill/>
        </p:spPr>
        <p:txBody>
          <a:bodyPr wrap="none" rtlCol="0">
            <a:spAutoFit/>
          </a:bodyPr>
          <a:lstStyle/>
          <a:p>
            <a:r>
              <a:rPr lang="en-US" dirty="0"/>
              <a:t>AST</a:t>
            </a:r>
            <a:r>
              <a:rPr lang="en-US" dirty="0">
                <a:sym typeface="Wingdings" pitchFamily="2" charset="2"/>
              </a:rPr>
              <a:t> &lt;x, </a:t>
            </a:r>
            <a:r>
              <a:rPr lang="en-US" dirty="0">
                <a:highlight>
                  <a:srgbClr val="FFFF00"/>
                </a:highlight>
                <a:sym typeface="Wingdings" pitchFamily="2" charset="2"/>
              </a:rPr>
              <a:t>float</a:t>
            </a:r>
            <a:r>
              <a:rPr lang="en-US" dirty="0">
                <a:sym typeface="Wingdings" pitchFamily="2" charset="2"/>
              </a:rPr>
              <a:t>&gt; </a:t>
            </a:r>
            <a:endParaRPr lang="en-US" dirty="0"/>
          </a:p>
        </p:txBody>
      </p:sp>
      <p:sp>
        <p:nvSpPr>
          <p:cNvPr id="42" name="TextBox 41">
            <a:extLst>
              <a:ext uri="{FF2B5EF4-FFF2-40B4-BE49-F238E27FC236}">
                <a16:creationId xmlns:a16="http://schemas.microsoft.com/office/drawing/2014/main" id="{3C5D1858-336C-4D43-AF2E-0F657429C039}"/>
              </a:ext>
            </a:extLst>
          </p:cNvPr>
          <p:cNvSpPr txBox="1"/>
          <p:nvPr/>
        </p:nvSpPr>
        <p:spPr>
          <a:xfrm>
            <a:off x="8081248" y="3789498"/>
            <a:ext cx="1543179" cy="369332"/>
          </a:xfrm>
          <a:prstGeom prst="rect">
            <a:avLst/>
          </a:prstGeom>
          <a:noFill/>
        </p:spPr>
        <p:txBody>
          <a:bodyPr wrap="none" rtlCol="0">
            <a:spAutoFit/>
          </a:bodyPr>
          <a:lstStyle/>
          <a:p>
            <a:r>
              <a:rPr lang="en-US" dirty="0"/>
              <a:t>AST</a:t>
            </a:r>
            <a:r>
              <a:rPr lang="en-US" dirty="0">
                <a:sym typeface="Wingdings" pitchFamily="2" charset="2"/>
              </a:rPr>
              <a:t> &lt;call, int&gt; </a:t>
            </a:r>
            <a:endParaRPr lang="en-US" dirty="0"/>
          </a:p>
        </p:txBody>
      </p:sp>
      <p:cxnSp>
        <p:nvCxnSpPr>
          <p:cNvPr id="43" name="Straight Connector 42">
            <a:extLst>
              <a:ext uri="{FF2B5EF4-FFF2-40B4-BE49-F238E27FC236}">
                <a16:creationId xmlns:a16="http://schemas.microsoft.com/office/drawing/2014/main" id="{3C53865F-2515-744C-A329-2136C094FA95}"/>
              </a:ext>
            </a:extLst>
          </p:cNvPr>
          <p:cNvCxnSpPr>
            <a:cxnSpLocks/>
            <a:stCxn id="3" idx="2"/>
            <a:endCxn id="42" idx="0"/>
          </p:cNvCxnSpPr>
          <p:nvPr/>
        </p:nvCxnSpPr>
        <p:spPr>
          <a:xfrm>
            <a:off x="7640807" y="3530543"/>
            <a:ext cx="1212031" cy="258955"/>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40280A30-E0A5-BA4B-B2E9-FDC5D7CC100C}"/>
              </a:ext>
            </a:extLst>
          </p:cNvPr>
          <p:cNvCxnSpPr>
            <a:cxnSpLocks/>
            <a:stCxn id="45" idx="0"/>
            <a:endCxn id="42" idx="2"/>
          </p:cNvCxnSpPr>
          <p:nvPr/>
        </p:nvCxnSpPr>
        <p:spPr>
          <a:xfrm flipH="1" flipV="1">
            <a:off x="8852838" y="4158830"/>
            <a:ext cx="69286" cy="536875"/>
          </a:xfrm>
          <a:prstGeom prst="line">
            <a:avLst/>
          </a:prstGeom>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7E5AD73B-002C-214C-A6F6-77DBB2E3EBC5}"/>
              </a:ext>
            </a:extLst>
          </p:cNvPr>
          <p:cNvSpPr txBox="1"/>
          <p:nvPr/>
        </p:nvSpPr>
        <p:spPr>
          <a:xfrm>
            <a:off x="8172239" y="4695705"/>
            <a:ext cx="1499770" cy="369332"/>
          </a:xfrm>
          <a:prstGeom prst="rect">
            <a:avLst/>
          </a:prstGeom>
          <a:noFill/>
        </p:spPr>
        <p:txBody>
          <a:bodyPr wrap="none" rtlCol="0">
            <a:spAutoFit/>
          </a:bodyPr>
          <a:lstStyle/>
          <a:p>
            <a:r>
              <a:rPr lang="en-US" dirty="0"/>
              <a:t>AST</a:t>
            </a:r>
            <a:r>
              <a:rPr lang="en-US" dirty="0">
                <a:sym typeface="Wingdings" pitchFamily="2" charset="2"/>
              </a:rPr>
              <a:t> &lt;y, </a:t>
            </a:r>
            <a:r>
              <a:rPr lang="en-US" dirty="0">
                <a:highlight>
                  <a:srgbClr val="FFFF00"/>
                </a:highlight>
                <a:sym typeface="Wingdings" pitchFamily="2" charset="2"/>
              </a:rPr>
              <a:t>float</a:t>
            </a:r>
            <a:r>
              <a:rPr lang="en-US" dirty="0">
                <a:sym typeface="Wingdings" pitchFamily="2" charset="2"/>
              </a:rPr>
              <a:t>&gt; </a:t>
            </a:r>
            <a:endParaRPr lang="en-US" dirty="0"/>
          </a:p>
        </p:txBody>
      </p:sp>
      <p:sp>
        <p:nvSpPr>
          <p:cNvPr id="4" name="TextBox 3">
            <a:extLst>
              <a:ext uri="{FF2B5EF4-FFF2-40B4-BE49-F238E27FC236}">
                <a16:creationId xmlns:a16="http://schemas.microsoft.com/office/drawing/2014/main" id="{8E925EF9-9BF7-A640-9FE6-064FC8A7A430}"/>
              </a:ext>
            </a:extLst>
          </p:cNvPr>
          <p:cNvSpPr txBox="1"/>
          <p:nvPr/>
        </p:nvSpPr>
        <p:spPr>
          <a:xfrm>
            <a:off x="557766" y="4242601"/>
            <a:ext cx="1954061" cy="369332"/>
          </a:xfrm>
          <a:prstGeom prst="rect">
            <a:avLst/>
          </a:prstGeom>
          <a:noFill/>
        </p:spPr>
        <p:txBody>
          <a:bodyPr wrap="none" rtlCol="0">
            <a:spAutoFit/>
          </a:bodyPr>
          <a:lstStyle/>
          <a:p>
            <a:r>
              <a:rPr lang="en-US" i="1" dirty="0"/>
              <a:t>Does this compile?</a:t>
            </a:r>
          </a:p>
        </p:txBody>
      </p:sp>
    </p:spTree>
    <p:extLst>
      <p:ext uri="{BB962C8B-B14F-4D97-AF65-F5344CB8AC3E}">
        <p14:creationId xmlns:p14="http://schemas.microsoft.com/office/powerpoint/2010/main" val="15243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C5A43-0446-2448-932F-569170B41D46}"/>
              </a:ext>
            </a:extLst>
          </p:cNvPr>
          <p:cNvSpPr>
            <a:spLocks noGrp="1"/>
          </p:cNvSpPr>
          <p:nvPr>
            <p:ph type="title"/>
          </p:nvPr>
        </p:nvSpPr>
        <p:spPr/>
        <p:txBody>
          <a:bodyPr/>
          <a:lstStyle/>
          <a:p>
            <a:r>
              <a:rPr lang="en-US" dirty="0"/>
              <a:t>What about floats to </a:t>
            </a:r>
            <a:r>
              <a:rPr lang="en-US" dirty="0" err="1"/>
              <a:t>ints</a:t>
            </a:r>
            <a:r>
              <a:rPr lang="en-US" dirty="0"/>
              <a:t>?</a:t>
            </a:r>
          </a:p>
        </p:txBody>
      </p:sp>
      <p:sp>
        <p:nvSpPr>
          <p:cNvPr id="39" name="TextBox 38">
            <a:extLst>
              <a:ext uri="{FF2B5EF4-FFF2-40B4-BE49-F238E27FC236}">
                <a16:creationId xmlns:a16="http://schemas.microsoft.com/office/drawing/2014/main" id="{DE794031-93AA-D544-9045-FE051C4C4606}"/>
              </a:ext>
            </a:extLst>
          </p:cNvPr>
          <p:cNvSpPr txBox="1"/>
          <p:nvPr/>
        </p:nvSpPr>
        <p:spPr>
          <a:xfrm>
            <a:off x="557766" y="2387714"/>
            <a:ext cx="3461997" cy="1477328"/>
          </a:xfrm>
          <a:prstGeom prst="rect">
            <a:avLst/>
          </a:prstGeom>
          <a:noFill/>
        </p:spPr>
        <p:txBody>
          <a:bodyPr wrap="square" rtlCol="0">
            <a:spAutoFit/>
          </a:bodyPr>
          <a:lstStyle/>
          <a:p>
            <a:r>
              <a:rPr lang="en-US" dirty="0">
                <a:latin typeface="Courier" pitchFamily="2" charset="0"/>
              </a:rPr>
              <a:t>int </a:t>
            </a:r>
            <a:r>
              <a:rPr lang="en-US" dirty="0" err="1">
                <a:latin typeface="Courier" pitchFamily="2" charset="0"/>
              </a:rPr>
              <a:t>int_sqrt</a:t>
            </a:r>
            <a:r>
              <a:rPr lang="en-US" dirty="0">
                <a:latin typeface="Courier" pitchFamily="2" charset="0"/>
              </a:rPr>
              <a:t>(int input);</a:t>
            </a:r>
          </a:p>
          <a:p>
            <a:endParaRPr lang="en-US" dirty="0">
              <a:latin typeface="Courier" pitchFamily="2" charset="0"/>
            </a:endParaRPr>
          </a:p>
          <a:p>
            <a:r>
              <a:rPr lang="en-US" dirty="0">
                <a:latin typeface="Courier" pitchFamily="2" charset="0"/>
              </a:rPr>
              <a:t>float x;</a:t>
            </a:r>
          </a:p>
          <a:p>
            <a:r>
              <a:rPr lang="en-US" dirty="0">
                <a:latin typeface="Courier" pitchFamily="2" charset="0"/>
              </a:rPr>
              <a:t>float y;</a:t>
            </a:r>
            <a:br>
              <a:rPr lang="en-US" dirty="0">
                <a:latin typeface="Courier" pitchFamily="2" charset="0"/>
              </a:rPr>
            </a:br>
            <a:r>
              <a:rPr lang="en-US" dirty="0">
                <a:latin typeface="Courier" pitchFamily="2" charset="0"/>
              </a:rPr>
              <a:t>x = </a:t>
            </a:r>
            <a:r>
              <a:rPr lang="en-US" dirty="0" err="1">
                <a:latin typeface="Courier" pitchFamily="2" charset="0"/>
              </a:rPr>
              <a:t>int_sqrt</a:t>
            </a:r>
            <a:r>
              <a:rPr lang="en-US" dirty="0">
                <a:latin typeface="Courier" pitchFamily="2" charset="0"/>
              </a:rPr>
              <a:t>(y)</a:t>
            </a:r>
          </a:p>
        </p:txBody>
      </p:sp>
      <p:sp>
        <p:nvSpPr>
          <p:cNvPr id="3" name="TextBox 2">
            <a:extLst>
              <a:ext uri="{FF2B5EF4-FFF2-40B4-BE49-F238E27FC236}">
                <a16:creationId xmlns:a16="http://schemas.microsoft.com/office/drawing/2014/main" id="{8351AADD-9E18-814D-99A4-3D7A958B78AA}"/>
              </a:ext>
            </a:extLst>
          </p:cNvPr>
          <p:cNvSpPr txBox="1"/>
          <p:nvPr/>
        </p:nvSpPr>
        <p:spPr>
          <a:xfrm>
            <a:off x="6877072" y="3161211"/>
            <a:ext cx="1527469" cy="369332"/>
          </a:xfrm>
          <a:prstGeom prst="rect">
            <a:avLst/>
          </a:prstGeom>
          <a:noFill/>
        </p:spPr>
        <p:txBody>
          <a:bodyPr wrap="none" rtlCol="0">
            <a:spAutoFit/>
          </a:bodyPr>
          <a:lstStyle/>
          <a:p>
            <a:r>
              <a:rPr lang="en-US" dirty="0"/>
              <a:t>AST</a:t>
            </a:r>
            <a:r>
              <a:rPr lang="en-US" dirty="0">
                <a:sym typeface="Wingdings" pitchFamily="2" charset="2"/>
              </a:rPr>
              <a:t> &lt;=, float&gt; </a:t>
            </a:r>
            <a:endParaRPr lang="en-US" dirty="0"/>
          </a:p>
        </p:txBody>
      </p:sp>
      <p:cxnSp>
        <p:nvCxnSpPr>
          <p:cNvPr id="40" name="Straight Connector 39">
            <a:extLst>
              <a:ext uri="{FF2B5EF4-FFF2-40B4-BE49-F238E27FC236}">
                <a16:creationId xmlns:a16="http://schemas.microsoft.com/office/drawing/2014/main" id="{E46BB5A3-5E04-0649-84B9-B4E28E9DC170}"/>
              </a:ext>
            </a:extLst>
          </p:cNvPr>
          <p:cNvCxnSpPr>
            <a:cxnSpLocks/>
            <a:stCxn id="3" idx="2"/>
            <a:endCxn id="41" idx="0"/>
          </p:cNvCxnSpPr>
          <p:nvPr/>
        </p:nvCxnSpPr>
        <p:spPr>
          <a:xfrm flipH="1">
            <a:off x="6633866" y="3530543"/>
            <a:ext cx="1006941" cy="258955"/>
          </a:xfrm>
          <a:prstGeom prst="line">
            <a:avLst/>
          </a:prstGeom>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7D02A226-A657-B940-8C2D-6881D2C6BA68}"/>
              </a:ext>
            </a:extLst>
          </p:cNvPr>
          <p:cNvSpPr txBox="1"/>
          <p:nvPr/>
        </p:nvSpPr>
        <p:spPr>
          <a:xfrm>
            <a:off x="5878146" y="3789498"/>
            <a:ext cx="1511439" cy="369332"/>
          </a:xfrm>
          <a:prstGeom prst="rect">
            <a:avLst/>
          </a:prstGeom>
          <a:noFill/>
        </p:spPr>
        <p:txBody>
          <a:bodyPr wrap="none" rtlCol="0">
            <a:spAutoFit/>
          </a:bodyPr>
          <a:lstStyle/>
          <a:p>
            <a:r>
              <a:rPr lang="en-US" dirty="0"/>
              <a:t>AST</a:t>
            </a:r>
            <a:r>
              <a:rPr lang="en-US" dirty="0">
                <a:sym typeface="Wingdings" pitchFamily="2" charset="2"/>
              </a:rPr>
              <a:t> &lt;x, </a:t>
            </a:r>
            <a:r>
              <a:rPr lang="en-US" dirty="0">
                <a:highlight>
                  <a:srgbClr val="FFFF00"/>
                </a:highlight>
                <a:sym typeface="Wingdings" pitchFamily="2" charset="2"/>
              </a:rPr>
              <a:t>float</a:t>
            </a:r>
            <a:r>
              <a:rPr lang="en-US" dirty="0">
                <a:sym typeface="Wingdings" pitchFamily="2" charset="2"/>
              </a:rPr>
              <a:t>&gt; </a:t>
            </a:r>
            <a:endParaRPr lang="en-US" dirty="0"/>
          </a:p>
        </p:txBody>
      </p:sp>
      <p:sp>
        <p:nvSpPr>
          <p:cNvPr id="42" name="TextBox 41">
            <a:extLst>
              <a:ext uri="{FF2B5EF4-FFF2-40B4-BE49-F238E27FC236}">
                <a16:creationId xmlns:a16="http://schemas.microsoft.com/office/drawing/2014/main" id="{3C5D1858-336C-4D43-AF2E-0F657429C039}"/>
              </a:ext>
            </a:extLst>
          </p:cNvPr>
          <p:cNvSpPr txBox="1"/>
          <p:nvPr/>
        </p:nvSpPr>
        <p:spPr>
          <a:xfrm>
            <a:off x="8081248" y="3789498"/>
            <a:ext cx="1543179" cy="369332"/>
          </a:xfrm>
          <a:prstGeom prst="rect">
            <a:avLst/>
          </a:prstGeom>
          <a:noFill/>
        </p:spPr>
        <p:txBody>
          <a:bodyPr wrap="none" rtlCol="0">
            <a:spAutoFit/>
          </a:bodyPr>
          <a:lstStyle/>
          <a:p>
            <a:r>
              <a:rPr lang="en-US" dirty="0"/>
              <a:t>AST</a:t>
            </a:r>
            <a:r>
              <a:rPr lang="en-US" dirty="0">
                <a:sym typeface="Wingdings" pitchFamily="2" charset="2"/>
              </a:rPr>
              <a:t> &lt;call, int&gt; </a:t>
            </a:r>
            <a:endParaRPr lang="en-US" dirty="0"/>
          </a:p>
        </p:txBody>
      </p:sp>
      <p:cxnSp>
        <p:nvCxnSpPr>
          <p:cNvPr id="43" name="Straight Connector 42">
            <a:extLst>
              <a:ext uri="{FF2B5EF4-FFF2-40B4-BE49-F238E27FC236}">
                <a16:creationId xmlns:a16="http://schemas.microsoft.com/office/drawing/2014/main" id="{3C53865F-2515-744C-A329-2136C094FA95}"/>
              </a:ext>
            </a:extLst>
          </p:cNvPr>
          <p:cNvCxnSpPr>
            <a:cxnSpLocks/>
            <a:stCxn id="3" idx="2"/>
            <a:endCxn id="42" idx="0"/>
          </p:cNvCxnSpPr>
          <p:nvPr/>
        </p:nvCxnSpPr>
        <p:spPr>
          <a:xfrm>
            <a:off x="7640807" y="3530543"/>
            <a:ext cx="1212031" cy="258955"/>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40280A30-E0A5-BA4B-B2E9-FDC5D7CC100C}"/>
              </a:ext>
            </a:extLst>
          </p:cNvPr>
          <p:cNvCxnSpPr>
            <a:cxnSpLocks/>
            <a:stCxn id="45" idx="0"/>
            <a:endCxn id="42" idx="2"/>
          </p:cNvCxnSpPr>
          <p:nvPr/>
        </p:nvCxnSpPr>
        <p:spPr>
          <a:xfrm flipH="1" flipV="1">
            <a:off x="8852838" y="4158830"/>
            <a:ext cx="69286" cy="536875"/>
          </a:xfrm>
          <a:prstGeom prst="line">
            <a:avLst/>
          </a:prstGeom>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7E5AD73B-002C-214C-A6F6-77DBB2E3EBC5}"/>
              </a:ext>
            </a:extLst>
          </p:cNvPr>
          <p:cNvSpPr txBox="1"/>
          <p:nvPr/>
        </p:nvSpPr>
        <p:spPr>
          <a:xfrm>
            <a:off x="8172239" y="4695705"/>
            <a:ext cx="1499770" cy="369332"/>
          </a:xfrm>
          <a:prstGeom prst="rect">
            <a:avLst/>
          </a:prstGeom>
          <a:noFill/>
        </p:spPr>
        <p:txBody>
          <a:bodyPr wrap="none" rtlCol="0">
            <a:spAutoFit/>
          </a:bodyPr>
          <a:lstStyle/>
          <a:p>
            <a:r>
              <a:rPr lang="en-US" dirty="0"/>
              <a:t>AST</a:t>
            </a:r>
            <a:r>
              <a:rPr lang="en-US" dirty="0">
                <a:sym typeface="Wingdings" pitchFamily="2" charset="2"/>
              </a:rPr>
              <a:t> &lt;y, </a:t>
            </a:r>
            <a:r>
              <a:rPr lang="en-US" dirty="0">
                <a:highlight>
                  <a:srgbClr val="FFFF00"/>
                </a:highlight>
                <a:sym typeface="Wingdings" pitchFamily="2" charset="2"/>
              </a:rPr>
              <a:t>float</a:t>
            </a:r>
            <a:r>
              <a:rPr lang="en-US" dirty="0">
                <a:sym typeface="Wingdings" pitchFamily="2" charset="2"/>
              </a:rPr>
              <a:t>&gt; </a:t>
            </a:r>
            <a:endParaRPr lang="en-US" dirty="0"/>
          </a:p>
        </p:txBody>
      </p:sp>
      <p:sp>
        <p:nvSpPr>
          <p:cNvPr id="4" name="TextBox 3">
            <a:extLst>
              <a:ext uri="{FF2B5EF4-FFF2-40B4-BE49-F238E27FC236}">
                <a16:creationId xmlns:a16="http://schemas.microsoft.com/office/drawing/2014/main" id="{8E925EF9-9BF7-A640-9FE6-064FC8A7A430}"/>
              </a:ext>
            </a:extLst>
          </p:cNvPr>
          <p:cNvSpPr txBox="1"/>
          <p:nvPr/>
        </p:nvSpPr>
        <p:spPr>
          <a:xfrm>
            <a:off x="557766" y="4242601"/>
            <a:ext cx="5038559" cy="1200329"/>
          </a:xfrm>
          <a:prstGeom prst="rect">
            <a:avLst/>
          </a:prstGeom>
          <a:noFill/>
        </p:spPr>
        <p:txBody>
          <a:bodyPr wrap="none" rtlCol="0">
            <a:spAutoFit/>
          </a:bodyPr>
          <a:lstStyle/>
          <a:p>
            <a:r>
              <a:rPr lang="en-US" i="1" dirty="0"/>
              <a:t>Does this compile? Yes!</a:t>
            </a:r>
          </a:p>
          <a:p>
            <a:endParaRPr lang="en-US" i="1" dirty="0"/>
          </a:p>
          <a:p>
            <a:r>
              <a:rPr lang="en-US" i="1" dirty="0"/>
              <a:t>In this case the compiler will convert floats to an int.</a:t>
            </a:r>
          </a:p>
          <a:p>
            <a:r>
              <a:rPr lang="en-US" i="1" dirty="0"/>
              <a:t>Is that the right choice? ...</a:t>
            </a:r>
          </a:p>
        </p:txBody>
      </p:sp>
    </p:spTree>
    <p:extLst>
      <p:ext uri="{BB962C8B-B14F-4D97-AF65-F5344CB8AC3E}">
        <p14:creationId xmlns:p14="http://schemas.microsoft.com/office/powerpoint/2010/main" val="3990504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C5A43-0446-2448-932F-569170B41D46}"/>
              </a:ext>
            </a:extLst>
          </p:cNvPr>
          <p:cNvSpPr>
            <a:spLocks noGrp="1"/>
          </p:cNvSpPr>
          <p:nvPr>
            <p:ph type="title"/>
          </p:nvPr>
        </p:nvSpPr>
        <p:spPr/>
        <p:txBody>
          <a:bodyPr/>
          <a:lstStyle/>
          <a:p>
            <a:r>
              <a:rPr lang="en-US" dirty="0"/>
              <a:t>What about floats to </a:t>
            </a:r>
            <a:r>
              <a:rPr lang="en-US" dirty="0" err="1"/>
              <a:t>ints</a:t>
            </a:r>
            <a:r>
              <a:rPr lang="en-US" dirty="0"/>
              <a:t>?</a:t>
            </a:r>
          </a:p>
        </p:txBody>
      </p:sp>
      <p:sp>
        <p:nvSpPr>
          <p:cNvPr id="39" name="TextBox 38">
            <a:extLst>
              <a:ext uri="{FF2B5EF4-FFF2-40B4-BE49-F238E27FC236}">
                <a16:creationId xmlns:a16="http://schemas.microsoft.com/office/drawing/2014/main" id="{DE794031-93AA-D544-9045-FE051C4C4606}"/>
              </a:ext>
            </a:extLst>
          </p:cNvPr>
          <p:cNvSpPr txBox="1"/>
          <p:nvPr/>
        </p:nvSpPr>
        <p:spPr>
          <a:xfrm>
            <a:off x="557766" y="2387714"/>
            <a:ext cx="3461997" cy="1477328"/>
          </a:xfrm>
          <a:prstGeom prst="rect">
            <a:avLst/>
          </a:prstGeom>
          <a:noFill/>
        </p:spPr>
        <p:txBody>
          <a:bodyPr wrap="square" rtlCol="0">
            <a:spAutoFit/>
          </a:bodyPr>
          <a:lstStyle/>
          <a:p>
            <a:r>
              <a:rPr lang="en-US" dirty="0">
                <a:latin typeface="Courier" pitchFamily="2" charset="0"/>
              </a:rPr>
              <a:t>int </a:t>
            </a:r>
            <a:r>
              <a:rPr lang="en-US" dirty="0" err="1">
                <a:latin typeface="Courier" pitchFamily="2" charset="0"/>
              </a:rPr>
              <a:t>int_sqrt</a:t>
            </a:r>
            <a:r>
              <a:rPr lang="en-US" dirty="0">
                <a:latin typeface="Courier" pitchFamily="2" charset="0"/>
              </a:rPr>
              <a:t>(int input);</a:t>
            </a:r>
          </a:p>
          <a:p>
            <a:endParaRPr lang="en-US" dirty="0">
              <a:latin typeface="Courier" pitchFamily="2" charset="0"/>
            </a:endParaRPr>
          </a:p>
          <a:p>
            <a:r>
              <a:rPr lang="en-US" dirty="0">
                <a:latin typeface="Courier" pitchFamily="2" charset="0"/>
              </a:rPr>
              <a:t>float x;</a:t>
            </a:r>
          </a:p>
          <a:p>
            <a:r>
              <a:rPr lang="en-US" dirty="0">
                <a:latin typeface="Courier" pitchFamily="2" charset="0"/>
              </a:rPr>
              <a:t>float y;</a:t>
            </a:r>
            <a:br>
              <a:rPr lang="en-US" dirty="0">
                <a:latin typeface="Courier" pitchFamily="2" charset="0"/>
              </a:rPr>
            </a:br>
            <a:r>
              <a:rPr lang="en-US" dirty="0">
                <a:latin typeface="Courier" pitchFamily="2" charset="0"/>
              </a:rPr>
              <a:t>x = </a:t>
            </a:r>
            <a:r>
              <a:rPr lang="en-US" dirty="0" err="1">
                <a:latin typeface="Courier" pitchFamily="2" charset="0"/>
              </a:rPr>
              <a:t>int_sqrt</a:t>
            </a:r>
            <a:r>
              <a:rPr lang="en-US" dirty="0">
                <a:latin typeface="Courier" pitchFamily="2" charset="0"/>
              </a:rPr>
              <a:t>(y)</a:t>
            </a:r>
          </a:p>
        </p:txBody>
      </p:sp>
      <p:sp>
        <p:nvSpPr>
          <p:cNvPr id="3" name="TextBox 2">
            <a:extLst>
              <a:ext uri="{FF2B5EF4-FFF2-40B4-BE49-F238E27FC236}">
                <a16:creationId xmlns:a16="http://schemas.microsoft.com/office/drawing/2014/main" id="{8351AADD-9E18-814D-99A4-3D7A958B78AA}"/>
              </a:ext>
            </a:extLst>
          </p:cNvPr>
          <p:cNvSpPr txBox="1"/>
          <p:nvPr/>
        </p:nvSpPr>
        <p:spPr>
          <a:xfrm>
            <a:off x="6877072" y="3161211"/>
            <a:ext cx="1527469" cy="369332"/>
          </a:xfrm>
          <a:prstGeom prst="rect">
            <a:avLst/>
          </a:prstGeom>
          <a:noFill/>
        </p:spPr>
        <p:txBody>
          <a:bodyPr wrap="none" rtlCol="0">
            <a:spAutoFit/>
          </a:bodyPr>
          <a:lstStyle/>
          <a:p>
            <a:r>
              <a:rPr lang="en-US" dirty="0"/>
              <a:t>AST</a:t>
            </a:r>
            <a:r>
              <a:rPr lang="en-US" dirty="0">
                <a:sym typeface="Wingdings" pitchFamily="2" charset="2"/>
              </a:rPr>
              <a:t> &lt;=, float&gt; </a:t>
            </a:r>
            <a:endParaRPr lang="en-US" dirty="0"/>
          </a:p>
        </p:txBody>
      </p:sp>
      <p:cxnSp>
        <p:nvCxnSpPr>
          <p:cNvPr id="40" name="Straight Connector 39">
            <a:extLst>
              <a:ext uri="{FF2B5EF4-FFF2-40B4-BE49-F238E27FC236}">
                <a16:creationId xmlns:a16="http://schemas.microsoft.com/office/drawing/2014/main" id="{E46BB5A3-5E04-0649-84B9-B4E28E9DC170}"/>
              </a:ext>
            </a:extLst>
          </p:cNvPr>
          <p:cNvCxnSpPr>
            <a:cxnSpLocks/>
            <a:stCxn id="3" idx="2"/>
            <a:endCxn id="41" idx="0"/>
          </p:cNvCxnSpPr>
          <p:nvPr/>
        </p:nvCxnSpPr>
        <p:spPr>
          <a:xfrm flipH="1">
            <a:off x="6633866" y="3530543"/>
            <a:ext cx="1006941" cy="258955"/>
          </a:xfrm>
          <a:prstGeom prst="line">
            <a:avLst/>
          </a:prstGeom>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7D02A226-A657-B940-8C2D-6881D2C6BA68}"/>
              </a:ext>
            </a:extLst>
          </p:cNvPr>
          <p:cNvSpPr txBox="1"/>
          <p:nvPr/>
        </p:nvSpPr>
        <p:spPr>
          <a:xfrm>
            <a:off x="5878146" y="3789498"/>
            <a:ext cx="1511439" cy="369332"/>
          </a:xfrm>
          <a:prstGeom prst="rect">
            <a:avLst/>
          </a:prstGeom>
          <a:noFill/>
        </p:spPr>
        <p:txBody>
          <a:bodyPr wrap="none" rtlCol="0">
            <a:spAutoFit/>
          </a:bodyPr>
          <a:lstStyle/>
          <a:p>
            <a:r>
              <a:rPr lang="en-US" dirty="0"/>
              <a:t>AST</a:t>
            </a:r>
            <a:r>
              <a:rPr lang="en-US" dirty="0">
                <a:sym typeface="Wingdings" pitchFamily="2" charset="2"/>
              </a:rPr>
              <a:t> &lt;x, float&gt; </a:t>
            </a:r>
            <a:endParaRPr lang="en-US" dirty="0"/>
          </a:p>
        </p:txBody>
      </p:sp>
      <p:sp>
        <p:nvSpPr>
          <p:cNvPr id="42" name="TextBox 41">
            <a:extLst>
              <a:ext uri="{FF2B5EF4-FFF2-40B4-BE49-F238E27FC236}">
                <a16:creationId xmlns:a16="http://schemas.microsoft.com/office/drawing/2014/main" id="{3C5D1858-336C-4D43-AF2E-0F657429C039}"/>
              </a:ext>
            </a:extLst>
          </p:cNvPr>
          <p:cNvSpPr txBox="1"/>
          <p:nvPr/>
        </p:nvSpPr>
        <p:spPr>
          <a:xfrm>
            <a:off x="8081248" y="4221317"/>
            <a:ext cx="1543179" cy="369332"/>
          </a:xfrm>
          <a:prstGeom prst="rect">
            <a:avLst/>
          </a:prstGeom>
          <a:noFill/>
        </p:spPr>
        <p:txBody>
          <a:bodyPr wrap="none" rtlCol="0">
            <a:spAutoFit/>
          </a:bodyPr>
          <a:lstStyle/>
          <a:p>
            <a:r>
              <a:rPr lang="en-US" dirty="0"/>
              <a:t>AST</a:t>
            </a:r>
            <a:r>
              <a:rPr lang="en-US" dirty="0">
                <a:sym typeface="Wingdings" pitchFamily="2" charset="2"/>
              </a:rPr>
              <a:t> &lt;call, int&gt; </a:t>
            </a:r>
            <a:endParaRPr lang="en-US" dirty="0"/>
          </a:p>
        </p:txBody>
      </p:sp>
      <p:cxnSp>
        <p:nvCxnSpPr>
          <p:cNvPr id="43" name="Straight Connector 42">
            <a:extLst>
              <a:ext uri="{FF2B5EF4-FFF2-40B4-BE49-F238E27FC236}">
                <a16:creationId xmlns:a16="http://schemas.microsoft.com/office/drawing/2014/main" id="{3C53865F-2515-744C-A329-2136C094FA95}"/>
              </a:ext>
            </a:extLst>
          </p:cNvPr>
          <p:cNvCxnSpPr>
            <a:cxnSpLocks/>
            <a:stCxn id="3" idx="2"/>
            <a:endCxn id="24" idx="0"/>
          </p:cNvCxnSpPr>
          <p:nvPr/>
        </p:nvCxnSpPr>
        <p:spPr>
          <a:xfrm>
            <a:off x="7640807" y="3530543"/>
            <a:ext cx="1212030" cy="189663"/>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40280A30-E0A5-BA4B-B2E9-FDC5D7CC100C}"/>
              </a:ext>
            </a:extLst>
          </p:cNvPr>
          <p:cNvCxnSpPr>
            <a:cxnSpLocks/>
            <a:stCxn id="45" idx="0"/>
            <a:endCxn id="13" idx="2"/>
          </p:cNvCxnSpPr>
          <p:nvPr/>
        </p:nvCxnSpPr>
        <p:spPr>
          <a:xfrm flipV="1">
            <a:off x="8874542" y="5239478"/>
            <a:ext cx="0" cy="279498"/>
          </a:xfrm>
          <a:prstGeom prst="line">
            <a:avLst/>
          </a:prstGeom>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7E5AD73B-002C-214C-A6F6-77DBB2E3EBC5}"/>
              </a:ext>
            </a:extLst>
          </p:cNvPr>
          <p:cNvSpPr txBox="1"/>
          <p:nvPr/>
        </p:nvSpPr>
        <p:spPr>
          <a:xfrm>
            <a:off x="8124657" y="5518976"/>
            <a:ext cx="1499770" cy="369332"/>
          </a:xfrm>
          <a:prstGeom prst="rect">
            <a:avLst/>
          </a:prstGeom>
          <a:noFill/>
        </p:spPr>
        <p:txBody>
          <a:bodyPr wrap="none" rtlCol="0">
            <a:spAutoFit/>
          </a:bodyPr>
          <a:lstStyle/>
          <a:p>
            <a:r>
              <a:rPr lang="en-US" dirty="0"/>
              <a:t>AST</a:t>
            </a:r>
            <a:r>
              <a:rPr lang="en-US" dirty="0">
                <a:sym typeface="Wingdings" pitchFamily="2" charset="2"/>
              </a:rPr>
              <a:t> &lt;y, float&gt; </a:t>
            </a:r>
            <a:endParaRPr lang="en-US" dirty="0"/>
          </a:p>
        </p:txBody>
      </p:sp>
      <p:sp>
        <p:nvSpPr>
          <p:cNvPr id="4" name="TextBox 3">
            <a:extLst>
              <a:ext uri="{FF2B5EF4-FFF2-40B4-BE49-F238E27FC236}">
                <a16:creationId xmlns:a16="http://schemas.microsoft.com/office/drawing/2014/main" id="{8E925EF9-9BF7-A640-9FE6-064FC8A7A430}"/>
              </a:ext>
            </a:extLst>
          </p:cNvPr>
          <p:cNvSpPr txBox="1"/>
          <p:nvPr/>
        </p:nvSpPr>
        <p:spPr>
          <a:xfrm>
            <a:off x="557766" y="4242601"/>
            <a:ext cx="5038559" cy="1200329"/>
          </a:xfrm>
          <a:prstGeom prst="rect">
            <a:avLst/>
          </a:prstGeom>
          <a:noFill/>
        </p:spPr>
        <p:txBody>
          <a:bodyPr wrap="none" rtlCol="0">
            <a:spAutoFit/>
          </a:bodyPr>
          <a:lstStyle/>
          <a:p>
            <a:r>
              <a:rPr lang="en-US" i="1" dirty="0"/>
              <a:t>Does this compile? Yes!</a:t>
            </a:r>
          </a:p>
          <a:p>
            <a:endParaRPr lang="en-US" i="1" dirty="0"/>
          </a:p>
          <a:p>
            <a:r>
              <a:rPr lang="en-US" i="1" dirty="0"/>
              <a:t>In this case the compiler will convert floats to an int.</a:t>
            </a:r>
          </a:p>
          <a:p>
            <a:r>
              <a:rPr lang="en-US" i="1" dirty="0"/>
              <a:t>Is that the right choice? ...</a:t>
            </a:r>
          </a:p>
        </p:txBody>
      </p:sp>
      <p:sp>
        <p:nvSpPr>
          <p:cNvPr id="13" name="TextBox 12">
            <a:extLst>
              <a:ext uri="{FF2B5EF4-FFF2-40B4-BE49-F238E27FC236}">
                <a16:creationId xmlns:a16="http://schemas.microsoft.com/office/drawing/2014/main" id="{5393D373-1F3B-4540-9843-9F92CB16443C}"/>
              </a:ext>
            </a:extLst>
          </p:cNvPr>
          <p:cNvSpPr txBox="1"/>
          <p:nvPr/>
        </p:nvSpPr>
        <p:spPr>
          <a:xfrm>
            <a:off x="7860450" y="4870146"/>
            <a:ext cx="2028184" cy="369332"/>
          </a:xfrm>
          <a:prstGeom prst="rect">
            <a:avLst/>
          </a:prstGeom>
          <a:noFill/>
        </p:spPr>
        <p:txBody>
          <a:bodyPr wrap="none" rtlCol="0">
            <a:spAutoFit/>
          </a:bodyPr>
          <a:lstStyle/>
          <a:p>
            <a:r>
              <a:rPr lang="en-US" dirty="0">
                <a:highlight>
                  <a:srgbClr val="FFFF00"/>
                </a:highlight>
              </a:rPr>
              <a:t>AST</a:t>
            </a:r>
            <a:r>
              <a:rPr lang="en-US" dirty="0">
                <a:highlight>
                  <a:srgbClr val="FFFF00"/>
                </a:highlight>
                <a:sym typeface="Wingdings" pitchFamily="2" charset="2"/>
              </a:rPr>
              <a:t> &lt;float2int, int&gt; </a:t>
            </a:r>
            <a:endParaRPr lang="en-US" dirty="0">
              <a:highlight>
                <a:srgbClr val="FFFF00"/>
              </a:highlight>
            </a:endParaRPr>
          </a:p>
        </p:txBody>
      </p:sp>
      <p:cxnSp>
        <p:nvCxnSpPr>
          <p:cNvPr id="17" name="Straight Connector 16">
            <a:extLst>
              <a:ext uri="{FF2B5EF4-FFF2-40B4-BE49-F238E27FC236}">
                <a16:creationId xmlns:a16="http://schemas.microsoft.com/office/drawing/2014/main" id="{382962AB-046E-994E-A74D-B782AEC52512}"/>
              </a:ext>
            </a:extLst>
          </p:cNvPr>
          <p:cNvCxnSpPr>
            <a:cxnSpLocks/>
            <a:stCxn id="13" idx="0"/>
            <a:endCxn id="42" idx="2"/>
          </p:cNvCxnSpPr>
          <p:nvPr/>
        </p:nvCxnSpPr>
        <p:spPr>
          <a:xfrm flipH="1" flipV="1">
            <a:off x="8852838" y="4590649"/>
            <a:ext cx="21704" cy="279497"/>
          </a:xfrm>
          <a:prstGeom prst="line">
            <a:avLst/>
          </a:prstGeom>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F3253064-5352-1D4E-8841-434438C85282}"/>
              </a:ext>
            </a:extLst>
          </p:cNvPr>
          <p:cNvSpPr txBox="1"/>
          <p:nvPr/>
        </p:nvSpPr>
        <p:spPr>
          <a:xfrm>
            <a:off x="7748175" y="3720206"/>
            <a:ext cx="2209323" cy="369332"/>
          </a:xfrm>
          <a:prstGeom prst="rect">
            <a:avLst/>
          </a:prstGeom>
          <a:noFill/>
        </p:spPr>
        <p:txBody>
          <a:bodyPr wrap="none" rtlCol="0">
            <a:spAutoFit/>
          </a:bodyPr>
          <a:lstStyle/>
          <a:p>
            <a:r>
              <a:rPr lang="en-US" dirty="0">
                <a:highlight>
                  <a:srgbClr val="FFFF00"/>
                </a:highlight>
              </a:rPr>
              <a:t>AST</a:t>
            </a:r>
            <a:r>
              <a:rPr lang="en-US" dirty="0">
                <a:highlight>
                  <a:srgbClr val="FFFF00"/>
                </a:highlight>
                <a:sym typeface="Wingdings" pitchFamily="2" charset="2"/>
              </a:rPr>
              <a:t> &lt;int2float, float&gt; </a:t>
            </a:r>
            <a:endParaRPr lang="en-US" dirty="0">
              <a:highlight>
                <a:srgbClr val="FFFF00"/>
              </a:highlight>
            </a:endParaRPr>
          </a:p>
        </p:txBody>
      </p:sp>
      <p:cxnSp>
        <p:nvCxnSpPr>
          <p:cNvPr id="27" name="Straight Connector 26">
            <a:extLst>
              <a:ext uri="{FF2B5EF4-FFF2-40B4-BE49-F238E27FC236}">
                <a16:creationId xmlns:a16="http://schemas.microsoft.com/office/drawing/2014/main" id="{D752DE27-6183-7848-BBF6-CFC547CA8B9D}"/>
              </a:ext>
            </a:extLst>
          </p:cNvPr>
          <p:cNvCxnSpPr>
            <a:cxnSpLocks/>
            <a:stCxn id="42" idx="0"/>
            <a:endCxn id="24" idx="2"/>
          </p:cNvCxnSpPr>
          <p:nvPr/>
        </p:nvCxnSpPr>
        <p:spPr>
          <a:xfrm flipH="1" flipV="1">
            <a:off x="8852837" y="4089538"/>
            <a:ext cx="1" cy="131779"/>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61136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51BFB-D3E7-6B4A-9AB0-DDDAE11F679E}"/>
              </a:ext>
            </a:extLst>
          </p:cNvPr>
          <p:cNvSpPr>
            <a:spLocks noGrp="1"/>
          </p:cNvSpPr>
          <p:nvPr>
            <p:ph type="title"/>
          </p:nvPr>
        </p:nvSpPr>
        <p:spPr/>
        <p:txBody>
          <a:bodyPr/>
          <a:lstStyle/>
          <a:p>
            <a:r>
              <a:rPr lang="en-US" dirty="0"/>
              <a:t>Discussion</a:t>
            </a:r>
          </a:p>
        </p:txBody>
      </p:sp>
      <p:sp>
        <p:nvSpPr>
          <p:cNvPr id="3" name="Content Placeholder 2">
            <a:extLst>
              <a:ext uri="{FF2B5EF4-FFF2-40B4-BE49-F238E27FC236}">
                <a16:creationId xmlns:a16="http://schemas.microsoft.com/office/drawing/2014/main" id="{36FCB84D-D6B4-2F4B-9AF5-982C652BD7C3}"/>
              </a:ext>
            </a:extLst>
          </p:cNvPr>
          <p:cNvSpPr>
            <a:spLocks noGrp="1"/>
          </p:cNvSpPr>
          <p:nvPr>
            <p:ph idx="1"/>
          </p:nvPr>
        </p:nvSpPr>
        <p:spPr/>
        <p:txBody>
          <a:bodyPr/>
          <a:lstStyle/>
          <a:p>
            <a:r>
              <a:rPr lang="en-US" dirty="0"/>
              <a:t>Many languages (and styles) state that the programmer extends the type system through functions</a:t>
            </a:r>
          </a:p>
          <a:p>
            <a:endParaRPr lang="en-US" dirty="0"/>
          </a:p>
          <a:p>
            <a:r>
              <a:rPr lang="en-US" dirty="0"/>
              <a:t>Other languages allow operator overloading</a:t>
            </a:r>
          </a:p>
          <a:p>
            <a:pPr lvl="1"/>
            <a:r>
              <a:rPr lang="en-US" dirty="0"/>
              <a:t>Controversial design pattern</a:t>
            </a:r>
          </a:p>
          <a:p>
            <a:pPr lvl="1"/>
            <a:r>
              <a:rPr lang="en-US" dirty="0"/>
              <a:t>But it can be really nice (e.g. it is used extensively in LLVM internals) </a:t>
            </a:r>
          </a:p>
        </p:txBody>
      </p:sp>
    </p:spTree>
    <p:extLst>
      <p:ext uri="{BB962C8B-B14F-4D97-AF65-F5344CB8AC3E}">
        <p14:creationId xmlns:p14="http://schemas.microsoft.com/office/powerpoint/2010/main" val="1149082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2E29270-D69F-6546-98C2-3D4C20F8E2C9}"/>
              </a:ext>
            </a:extLst>
          </p:cNvPr>
          <p:cNvSpPr/>
          <p:nvPr/>
        </p:nvSpPr>
        <p:spPr>
          <a:xfrm>
            <a:off x="383178" y="1127993"/>
            <a:ext cx="5965372" cy="3323987"/>
          </a:xfrm>
          <a:prstGeom prst="rect">
            <a:avLst/>
          </a:prstGeom>
        </p:spPr>
        <p:txBody>
          <a:bodyPr wrap="square">
            <a:spAutoFit/>
          </a:bodyPr>
          <a:lstStyle/>
          <a:p>
            <a:r>
              <a:rPr lang="en-US" sz="1400" b="1" dirty="0">
                <a:solidFill>
                  <a:srgbClr val="2EAEBB"/>
                </a:solidFill>
                <a:latin typeface="Menlo" panose="020B0609030804020204" pitchFamily="49" charset="0"/>
              </a:rPr>
              <a:t>class</a:t>
            </a:r>
            <a:r>
              <a:rPr lang="en-US" sz="1400" dirty="0">
                <a:solidFill>
                  <a:srgbClr val="000000"/>
                </a:solidFill>
                <a:latin typeface="Menlo" panose="020B0609030804020204" pitchFamily="49" charset="0"/>
              </a:rPr>
              <a:t> </a:t>
            </a:r>
            <a:r>
              <a:rPr lang="en-US" sz="1400" dirty="0">
                <a:solidFill>
                  <a:srgbClr val="2FB41D"/>
                </a:solidFill>
                <a:latin typeface="Menlo" panose="020B0609030804020204" pitchFamily="49" charset="0"/>
              </a:rPr>
              <a:t>Complex</a:t>
            </a:r>
            <a:r>
              <a:rPr lang="en-US" sz="1400" dirty="0">
                <a:solidFill>
                  <a:srgbClr val="000000"/>
                </a:solidFill>
                <a:latin typeface="Menlo" panose="020B0609030804020204" pitchFamily="49" charset="0"/>
              </a:rPr>
              <a:t> {</a:t>
            </a:r>
            <a:endParaRPr lang="en-US" sz="1400" dirty="0">
              <a:solidFill>
                <a:srgbClr val="2FB41D"/>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b="1" dirty="0">
                <a:solidFill>
                  <a:srgbClr val="2EAEBB"/>
                </a:solidFill>
                <a:latin typeface="Menlo" panose="020B0609030804020204" pitchFamily="49" charset="0"/>
              </a:rPr>
              <a:t>private</a:t>
            </a:r>
            <a:r>
              <a:rPr lang="en-US" sz="1400" dirty="0">
                <a:solidFill>
                  <a:srgbClr val="000000"/>
                </a:solidFill>
                <a:latin typeface="Menlo" panose="020B0609030804020204" pitchFamily="49" charset="0"/>
              </a:rPr>
              <a:t>:</a:t>
            </a:r>
            <a:endParaRPr lang="en-US" sz="1400" dirty="0">
              <a:solidFill>
                <a:srgbClr val="2EAEBB"/>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dirty="0">
                <a:solidFill>
                  <a:srgbClr val="2FB41D"/>
                </a:solidFill>
                <a:latin typeface="Menlo" panose="020B0609030804020204" pitchFamily="49" charset="0"/>
              </a:rPr>
              <a:t>float</a:t>
            </a:r>
            <a:r>
              <a:rPr lang="en-US" sz="1400" dirty="0">
                <a:solidFill>
                  <a:srgbClr val="000000"/>
                </a:solidFill>
                <a:latin typeface="Menlo" panose="020B0609030804020204" pitchFamily="49" charset="0"/>
              </a:rPr>
              <a:t> </a:t>
            </a:r>
            <a:r>
              <a:rPr lang="en-US" sz="1400" dirty="0">
                <a:solidFill>
                  <a:srgbClr val="9FA01C"/>
                </a:solidFill>
                <a:latin typeface="Menlo" panose="020B0609030804020204" pitchFamily="49" charset="0"/>
              </a:rPr>
              <a:t>real</a:t>
            </a:r>
            <a:r>
              <a:rPr lang="en-US" sz="1400" dirty="0">
                <a:solidFill>
                  <a:srgbClr val="000000"/>
                </a:solidFill>
                <a:latin typeface="Menlo" panose="020B0609030804020204" pitchFamily="49" charset="0"/>
              </a:rPr>
              <a:t>;</a:t>
            </a:r>
          </a:p>
          <a:p>
            <a:r>
              <a:rPr lang="en-US" sz="1400" dirty="0">
                <a:solidFill>
                  <a:srgbClr val="000000"/>
                </a:solidFill>
                <a:latin typeface="Menlo" panose="020B0609030804020204" pitchFamily="49" charset="0"/>
              </a:rPr>
              <a:t>    </a:t>
            </a:r>
            <a:r>
              <a:rPr lang="en-US" sz="1400" dirty="0">
                <a:solidFill>
                  <a:srgbClr val="2FB41D"/>
                </a:solidFill>
                <a:latin typeface="Menlo" panose="020B0609030804020204" pitchFamily="49" charset="0"/>
              </a:rPr>
              <a:t>float</a:t>
            </a:r>
            <a:r>
              <a:rPr lang="en-US" sz="1400" dirty="0">
                <a:solidFill>
                  <a:srgbClr val="000000"/>
                </a:solidFill>
                <a:latin typeface="Menlo" panose="020B0609030804020204" pitchFamily="49" charset="0"/>
              </a:rPr>
              <a:t> </a:t>
            </a:r>
            <a:r>
              <a:rPr lang="en-US" sz="1400" dirty="0" err="1">
                <a:solidFill>
                  <a:srgbClr val="9FA01C"/>
                </a:solidFill>
                <a:latin typeface="Menlo" panose="020B0609030804020204" pitchFamily="49" charset="0"/>
              </a:rPr>
              <a:t>imag</a:t>
            </a:r>
            <a:r>
              <a:rPr lang="en-US" sz="1400" dirty="0">
                <a:solidFill>
                  <a:srgbClr val="000000"/>
                </a:solidFill>
                <a:latin typeface="Menlo" panose="020B0609030804020204" pitchFamily="49" charset="0"/>
              </a:rPr>
              <a:t>;</a:t>
            </a:r>
          </a:p>
          <a:p>
            <a:r>
              <a:rPr lang="en-US" sz="1400" dirty="0">
                <a:solidFill>
                  <a:srgbClr val="000000"/>
                </a:solidFill>
                <a:latin typeface="Menlo" panose="020B0609030804020204" pitchFamily="49" charset="0"/>
              </a:rPr>
              <a:t>   </a:t>
            </a:r>
            <a:r>
              <a:rPr lang="en-US" sz="1400" b="1" dirty="0">
                <a:solidFill>
                  <a:srgbClr val="2EAEBB"/>
                </a:solidFill>
                <a:latin typeface="Menlo" panose="020B0609030804020204" pitchFamily="49" charset="0"/>
              </a:rPr>
              <a:t>public</a:t>
            </a:r>
            <a:r>
              <a:rPr lang="en-US" sz="1400" dirty="0">
                <a:solidFill>
                  <a:srgbClr val="000000"/>
                </a:solidFill>
                <a:latin typeface="Menlo" panose="020B0609030804020204" pitchFamily="49" charset="0"/>
              </a:rPr>
              <a:t>:</a:t>
            </a:r>
            <a:endParaRPr lang="en-US" sz="1400" dirty="0">
              <a:solidFill>
                <a:srgbClr val="2EAEBB"/>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dirty="0">
                <a:solidFill>
                  <a:srgbClr val="B42419"/>
                </a:solidFill>
                <a:latin typeface="Menlo" panose="020B0609030804020204" pitchFamily="49" charset="0"/>
              </a:rPr>
              <a:t>// Constructor to initialize real and </a:t>
            </a:r>
            <a:r>
              <a:rPr lang="en-US" sz="1400" dirty="0" err="1">
                <a:solidFill>
                  <a:srgbClr val="B42419"/>
                </a:solidFill>
                <a:latin typeface="Menlo" panose="020B0609030804020204" pitchFamily="49" charset="0"/>
              </a:rPr>
              <a:t>imag</a:t>
            </a:r>
            <a:r>
              <a:rPr lang="en-US" sz="1400" dirty="0">
                <a:solidFill>
                  <a:srgbClr val="B42419"/>
                </a:solidFill>
                <a:latin typeface="Menlo" panose="020B0609030804020204" pitchFamily="49" charset="0"/>
              </a:rPr>
              <a:t> to 0</a:t>
            </a:r>
            <a:endParaRPr lang="en-US" sz="1400" dirty="0">
              <a:solidFill>
                <a:srgbClr val="000000"/>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b="1" dirty="0">
                <a:solidFill>
                  <a:srgbClr val="400BD9"/>
                </a:solidFill>
                <a:latin typeface="Menlo" panose="020B0609030804020204" pitchFamily="49" charset="0"/>
              </a:rPr>
              <a:t>Complex</a:t>
            </a:r>
            <a:r>
              <a:rPr lang="en-US" sz="1400" dirty="0">
                <a:solidFill>
                  <a:srgbClr val="000000"/>
                </a:solidFill>
                <a:latin typeface="Menlo" panose="020B0609030804020204" pitchFamily="49" charset="0"/>
              </a:rPr>
              <a:t>() : real(0), </a:t>
            </a:r>
            <a:r>
              <a:rPr lang="en-US" sz="1400" dirty="0" err="1">
                <a:solidFill>
                  <a:srgbClr val="000000"/>
                </a:solidFill>
                <a:latin typeface="Menlo" panose="020B0609030804020204" pitchFamily="49" charset="0"/>
              </a:rPr>
              <a:t>imag</a:t>
            </a:r>
            <a:r>
              <a:rPr lang="en-US" sz="1400" dirty="0">
                <a:solidFill>
                  <a:srgbClr val="000000"/>
                </a:solidFill>
                <a:latin typeface="Menlo" panose="020B0609030804020204" pitchFamily="49" charset="0"/>
              </a:rPr>
              <a:t>(0) {}</a:t>
            </a:r>
          </a:p>
          <a:p>
            <a:endParaRPr lang="en-US" sz="1400" dirty="0">
              <a:solidFill>
                <a:srgbClr val="000000"/>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dirty="0">
                <a:solidFill>
                  <a:srgbClr val="B42419"/>
                </a:solidFill>
                <a:latin typeface="Menlo" panose="020B0609030804020204" pitchFamily="49" charset="0"/>
              </a:rPr>
              <a:t>// Overload the + operator</a:t>
            </a:r>
            <a:endParaRPr lang="en-US" sz="1400" dirty="0">
              <a:solidFill>
                <a:srgbClr val="000000"/>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dirty="0">
                <a:solidFill>
                  <a:srgbClr val="2FB41D"/>
                </a:solidFill>
                <a:latin typeface="Menlo" panose="020B0609030804020204" pitchFamily="49" charset="0"/>
              </a:rPr>
              <a:t>Complex</a:t>
            </a:r>
            <a:r>
              <a:rPr lang="en-US" sz="1400" dirty="0">
                <a:solidFill>
                  <a:srgbClr val="000000"/>
                </a:solidFill>
                <a:latin typeface="Menlo" panose="020B0609030804020204" pitchFamily="49" charset="0"/>
              </a:rPr>
              <a:t> </a:t>
            </a:r>
            <a:r>
              <a:rPr lang="en-US" sz="1400" b="1" dirty="0">
                <a:solidFill>
                  <a:srgbClr val="2EAEBB"/>
                </a:solidFill>
                <a:latin typeface="Menlo" panose="020B0609030804020204" pitchFamily="49" charset="0"/>
              </a:rPr>
              <a:t>operator</a:t>
            </a:r>
            <a:r>
              <a:rPr lang="en-US" sz="1400" dirty="0">
                <a:solidFill>
                  <a:srgbClr val="000000"/>
                </a:solidFill>
                <a:latin typeface="Menlo" panose="020B0609030804020204" pitchFamily="49" charset="0"/>
              </a:rPr>
              <a:t> </a:t>
            </a:r>
            <a:r>
              <a:rPr lang="en-US" sz="1400" b="1" dirty="0">
                <a:solidFill>
                  <a:srgbClr val="400BD9"/>
                </a:solidFill>
                <a:latin typeface="Menlo" panose="020B0609030804020204" pitchFamily="49" charset="0"/>
              </a:rPr>
              <a:t>+</a:t>
            </a:r>
            <a:r>
              <a:rPr lang="en-US" sz="1400" dirty="0">
                <a:solidFill>
                  <a:srgbClr val="000000"/>
                </a:solidFill>
                <a:latin typeface="Menlo" panose="020B0609030804020204" pitchFamily="49" charset="0"/>
              </a:rPr>
              <a:t> (</a:t>
            </a:r>
            <a:r>
              <a:rPr lang="en-US" sz="1400" b="1" dirty="0">
                <a:solidFill>
                  <a:srgbClr val="2EAEBB"/>
                </a:solidFill>
                <a:latin typeface="Menlo" panose="020B0609030804020204" pitchFamily="49" charset="0"/>
              </a:rPr>
              <a:t>const</a:t>
            </a:r>
            <a:r>
              <a:rPr lang="en-US" sz="1400" dirty="0">
                <a:solidFill>
                  <a:srgbClr val="000000"/>
                </a:solidFill>
                <a:latin typeface="Menlo" panose="020B0609030804020204" pitchFamily="49" charset="0"/>
              </a:rPr>
              <a:t> </a:t>
            </a:r>
            <a:r>
              <a:rPr lang="en-US" sz="1400" dirty="0">
                <a:solidFill>
                  <a:srgbClr val="2FB41D"/>
                </a:solidFill>
                <a:latin typeface="Menlo" panose="020B0609030804020204" pitchFamily="49" charset="0"/>
              </a:rPr>
              <a:t>Complex</a:t>
            </a:r>
            <a:r>
              <a:rPr lang="en-US" sz="1400" dirty="0">
                <a:solidFill>
                  <a:srgbClr val="000000"/>
                </a:solidFill>
                <a:latin typeface="Menlo" panose="020B0609030804020204" pitchFamily="49" charset="0"/>
              </a:rPr>
              <a:t>&amp; </a:t>
            </a:r>
            <a:r>
              <a:rPr lang="en-US" sz="1400" dirty="0">
                <a:solidFill>
                  <a:srgbClr val="9FA01C"/>
                </a:solidFill>
                <a:latin typeface="Menlo" panose="020B0609030804020204" pitchFamily="49" charset="0"/>
              </a:rPr>
              <a:t>obj</a:t>
            </a:r>
            <a:r>
              <a:rPr lang="en-US" sz="1400" dirty="0">
                <a:solidFill>
                  <a:srgbClr val="000000"/>
                </a:solidFill>
                <a:latin typeface="Menlo" panose="020B0609030804020204" pitchFamily="49" charset="0"/>
              </a:rPr>
              <a:t>) {</a:t>
            </a:r>
          </a:p>
          <a:p>
            <a:r>
              <a:rPr lang="en-US" sz="1400" dirty="0">
                <a:solidFill>
                  <a:srgbClr val="2FB41D"/>
                </a:solidFill>
                <a:latin typeface="Menlo" panose="020B0609030804020204" pitchFamily="49" charset="0"/>
              </a:rPr>
              <a:t>      Complex</a:t>
            </a:r>
            <a:r>
              <a:rPr lang="en-US" sz="1400" dirty="0">
                <a:solidFill>
                  <a:srgbClr val="000000"/>
                </a:solidFill>
                <a:latin typeface="Menlo" panose="020B0609030804020204" pitchFamily="49" charset="0"/>
              </a:rPr>
              <a:t> </a:t>
            </a:r>
            <a:r>
              <a:rPr lang="en-US" sz="1400" dirty="0">
                <a:solidFill>
                  <a:srgbClr val="9FA01C"/>
                </a:solidFill>
                <a:latin typeface="Menlo" panose="020B0609030804020204" pitchFamily="49" charset="0"/>
              </a:rPr>
              <a:t>temp</a:t>
            </a:r>
            <a:r>
              <a:rPr lang="en-US" sz="1400" dirty="0">
                <a:solidFill>
                  <a:srgbClr val="000000"/>
                </a:solidFill>
                <a:latin typeface="Menlo" panose="020B0609030804020204" pitchFamily="49" charset="0"/>
              </a:rPr>
              <a:t>;</a:t>
            </a:r>
            <a:endParaRPr lang="en-US" sz="1400" dirty="0">
              <a:solidFill>
                <a:srgbClr val="2FB41D"/>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dirty="0" err="1">
                <a:solidFill>
                  <a:srgbClr val="000000"/>
                </a:solidFill>
                <a:latin typeface="Menlo" panose="020B0609030804020204" pitchFamily="49" charset="0"/>
              </a:rPr>
              <a:t>temp.real</a:t>
            </a:r>
            <a:r>
              <a:rPr lang="en-US" sz="1400" dirty="0">
                <a:solidFill>
                  <a:srgbClr val="000000"/>
                </a:solidFill>
                <a:latin typeface="Menlo" panose="020B0609030804020204" pitchFamily="49" charset="0"/>
              </a:rPr>
              <a:t> = real + </a:t>
            </a:r>
            <a:r>
              <a:rPr lang="en-US" sz="1400" dirty="0" err="1">
                <a:solidFill>
                  <a:srgbClr val="000000"/>
                </a:solidFill>
                <a:latin typeface="Menlo" panose="020B0609030804020204" pitchFamily="49" charset="0"/>
              </a:rPr>
              <a:t>obj.real</a:t>
            </a:r>
            <a:r>
              <a:rPr lang="en-US" sz="1400" dirty="0">
                <a:solidFill>
                  <a:srgbClr val="000000"/>
                </a:solidFill>
                <a:latin typeface="Menlo" panose="020B0609030804020204" pitchFamily="49" charset="0"/>
              </a:rPr>
              <a:t>;</a:t>
            </a:r>
          </a:p>
          <a:p>
            <a:r>
              <a:rPr lang="en-US" sz="1400" dirty="0">
                <a:solidFill>
                  <a:srgbClr val="000000"/>
                </a:solidFill>
                <a:latin typeface="Menlo" panose="020B0609030804020204" pitchFamily="49" charset="0"/>
              </a:rPr>
              <a:t>      </a:t>
            </a:r>
            <a:r>
              <a:rPr lang="en-US" sz="1400" dirty="0" err="1">
                <a:solidFill>
                  <a:srgbClr val="000000"/>
                </a:solidFill>
                <a:latin typeface="Menlo" panose="020B0609030804020204" pitchFamily="49" charset="0"/>
              </a:rPr>
              <a:t>temp.imag</a:t>
            </a:r>
            <a:r>
              <a:rPr lang="en-US" sz="1400" dirty="0">
                <a:solidFill>
                  <a:srgbClr val="000000"/>
                </a:solidFill>
                <a:latin typeface="Menlo" panose="020B0609030804020204" pitchFamily="49" charset="0"/>
              </a:rPr>
              <a:t> = </a:t>
            </a:r>
            <a:r>
              <a:rPr lang="en-US" sz="1400" dirty="0" err="1">
                <a:solidFill>
                  <a:srgbClr val="000000"/>
                </a:solidFill>
                <a:latin typeface="Menlo" panose="020B0609030804020204" pitchFamily="49" charset="0"/>
              </a:rPr>
              <a:t>imag</a:t>
            </a:r>
            <a:r>
              <a:rPr lang="en-US" sz="1400" dirty="0">
                <a:solidFill>
                  <a:srgbClr val="000000"/>
                </a:solidFill>
                <a:latin typeface="Menlo" panose="020B0609030804020204" pitchFamily="49" charset="0"/>
              </a:rPr>
              <a:t> + </a:t>
            </a:r>
            <a:r>
              <a:rPr lang="en-US" sz="1400" dirty="0" err="1">
                <a:solidFill>
                  <a:srgbClr val="000000"/>
                </a:solidFill>
                <a:latin typeface="Menlo" panose="020B0609030804020204" pitchFamily="49" charset="0"/>
              </a:rPr>
              <a:t>obj.imag</a:t>
            </a:r>
            <a:r>
              <a:rPr lang="en-US" sz="1400" dirty="0">
                <a:solidFill>
                  <a:srgbClr val="000000"/>
                </a:solidFill>
                <a:latin typeface="Menlo" panose="020B0609030804020204" pitchFamily="49" charset="0"/>
              </a:rPr>
              <a:t>;</a:t>
            </a:r>
          </a:p>
          <a:p>
            <a:r>
              <a:rPr lang="en-US" sz="1400" b="1" dirty="0">
                <a:solidFill>
                  <a:srgbClr val="2EAEBB"/>
                </a:solidFill>
                <a:latin typeface="Menlo" panose="020B0609030804020204" pitchFamily="49" charset="0"/>
              </a:rPr>
              <a:t>      return</a:t>
            </a:r>
            <a:r>
              <a:rPr lang="en-US" sz="1400" dirty="0">
                <a:solidFill>
                  <a:srgbClr val="000000"/>
                </a:solidFill>
                <a:latin typeface="Menlo" panose="020B0609030804020204" pitchFamily="49" charset="0"/>
              </a:rPr>
              <a:t> temp;</a:t>
            </a:r>
          </a:p>
          <a:p>
            <a:r>
              <a:rPr lang="en-US" sz="1400" dirty="0">
                <a:solidFill>
                  <a:srgbClr val="000000"/>
                </a:solidFill>
                <a:latin typeface="Menlo" panose="020B0609030804020204" pitchFamily="49" charset="0"/>
              </a:rPr>
              <a:t>    }</a:t>
            </a:r>
            <a:endParaRPr lang="en-US" sz="1400" dirty="0">
              <a:solidFill>
                <a:srgbClr val="000000"/>
              </a:solidFill>
              <a:effectLst/>
              <a:latin typeface="Menlo" panose="020B0609030804020204" pitchFamily="49" charset="0"/>
            </a:endParaRPr>
          </a:p>
        </p:txBody>
      </p:sp>
      <p:sp>
        <p:nvSpPr>
          <p:cNvPr id="6" name="Rectangle 5">
            <a:extLst>
              <a:ext uri="{FF2B5EF4-FFF2-40B4-BE49-F238E27FC236}">
                <a16:creationId xmlns:a16="http://schemas.microsoft.com/office/drawing/2014/main" id="{E5208194-12B5-9B47-B656-BBA954DE963F}"/>
              </a:ext>
            </a:extLst>
          </p:cNvPr>
          <p:cNvSpPr/>
          <p:nvPr/>
        </p:nvSpPr>
        <p:spPr>
          <a:xfrm>
            <a:off x="226422" y="6345424"/>
            <a:ext cx="7794171" cy="307777"/>
          </a:xfrm>
          <a:prstGeom prst="rect">
            <a:avLst/>
          </a:prstGeom>
        </p:spPr>
        <p:txBody>
          <a:bodyPr wrap="square">
            <a:spAutoFit/>
          </a:bodyPr>
          <a:lstStyle/>
          <a:p>
            <a:r>
              <a:rPr lang="en-US" sz="1400" dirty="0"/>
              <a:t>code from: https://</a:t>
            </a:r>
            <a:r>
              <a:rPr lang="en-US" sz="1400" dirty="0" err="1"/>
              <a:t>www.programiz.com</a:t>
            </a:r>
            <a:r>
              <a:rPr lang="en-US" sz="1400" dirty="0"/>
              <a:t>/</a:t>
            </a:r>
            <a:r>
              <a:rPr lang="en-US" sz="1400" dirty="0" err="1"/>
              <a:t>cpp</a:t>
            </a:r>
            <a:r>
              <a:rPr lang="en-US" sz="1400" dirty="0"/>
              <a:t>-programming/operator-overloading</a:t>
            </a:r>
          </a:p>
        </p:txBody>
      </p:sp>
      <p:graphicFrame>
        <p:nvGraphicFramePr>
          <p:cNvPr id="7" name="Table 3">
            <a:extLst>
              <a:ext uri="{FF2B5EF4-FFF2-40B4-BE49-F238E27FC236}">
                <a16:creationId xmlns:a16="http://schemas.microsoft.com/office/drawing/2014/main" id="{650CC178-A0D0-CD4F-9BD1-7F65DE3E5449}"/>
              </a:ext>
            </a:extLst>
          </p:cNvPr>
          <p:cNvGraphicFramePr>
            <a:graphicFrameLocks noGrp="1"/>
          </p:cNvGraphicFramePr>
          <p:nvPr/>
        </p:nvGraphicFramePr>
        <p:xfrm>
          <a:off x="6609501" y="1506573"/>
          <a:ext cx="5199321" cy="2595880"/>
        </p:xfrm>
        <a:graphic>
          <a:graphicData uri="http://schemas.openxmlformats.org/drawingml/2006/table">
            <a:tbl>
              <a:tblPr firstRow="1" bandRow="1">
                <a:tableStyleId>{073A0DAA-6AF3-43AB-8588-CEC1D06C72B9}</a:tableStyleId>
              </a:tblPr>
              <a:tblGrid>
                <a:gridCol w="1276275">
                  <a:extLst>
                    <a:ext uri="{9D8B030D-6E8A-4147-A177-3AD203B41FA5}">
                      <a16:colId xmlns:a16="http://schemas.microsoft.com/office/drawing/2014/main" val="1084029198"/>
                    </a:ext>
                  </a:extLst>
                </a:gridCol>
                <a:gridCol w="1390205">
                  <a:extLst>
                    <a:ext uri="{9D8B030D-6E8A-4147-A177-3AD203B41FA5}">
                      <a16:colId xmlns:a16="http://schemas.microsoft.com/office/drawing/2014/main" val="612780071"/>
                    </a:ext>
                  </a:extLst>
                </a:gridCol>
                <a:gridCol w="2532841">
                  <a:extLst>
                    <a:ext uri="{9D8B030D-6E8A-4147-A177-3AD203B41FA5}">
                      <a16:colId xmlns:a16="http://schemas.microsoft.com/office/drawing/2014/main" val="2089903387"/>
                    </a:ext>
                  </a:extLst>
                </a:gridCol>
              </a:tblGrid>
              <a:tr h="370840">
                <a:tc>
                  <a:txBody>
                    <a:bodyPr/>
                    <a:lstStyle/>
                    <a:p>
                      <a:r>
                        <a:rPr lang="en-US" dirty="0"/>
                        <a:t>left child</a:t>
                      </a:r>
                    </a:p>
                  </a:txBody>
                  <a:tcPr/>
                </a:tc>
                <a:tc>
                  <a:txBody>
                    <a:bodyPr/>
                    <a:lstStyle/>
                    <a:p>
                      <a:r>
                        <a:rPr lang="en-US" dirty="0"/>
                        <a:t>right child</a:t>
                      </a:r>
                    </a:p>
                  </a:txBody>
                  <a:tcPr/>
                </a:tc>
                <a:tc>
                  <a:txBody>
                    <a:bodyPr/>
                    <a:lstStyle/>
                    <a:p>
                      <a:r>
                        <a:rPr lang="en-US" dirty="0"/>
                        <a:t>result</a:t>
                      </a:r>
                    </a:p>
                  </a:txBody>
                  <a:tcPr/>
                </a:tc>
                <a:extLst>
                  <a:ext uri="{0D108BD9-81ED-4DB2-BD59-A6C34878D82A}">
                    <a16:rowId xmlns:a16="http://schemas.microsoft.com/office/drawing/2014/main" val="1811918794"/>
                  </a:ext>
                </a:extLst>
              </a:tr>
              <a:tr h="370840">
                <a:tc>
                  <a:txBody>
                    <a:bodyPr/>
                    <a:lstStyle/>
                    <a:p>
                      <a:r>
                        <a:rPr lang="en-US" dirty="0">
                          <a:latin typeface="Courier" pitchFamily="2" charset="0"/>
                        </a:rPr>
                        <a:t>int</a:t>
                      </a:r>
                    </a:p>
                  </a:txBody>
                  <a:tcPr/>
                </a:tc>
                <a:tc>
                  <a:txBody>
                    <a:bodyPr/>
                    <a:lstStyle/>
                    <a:p>
                      <a:r>
                        <a:rPr lang="en-US" dirty="0">
                          <a:latin typeface="Courier" pitchFamily="2" charset="0"/>
                        </a:rPr>
                        <a:t>int</a:t>
                      </a:r>
                    </a:p>
                  </a:txBody>
                  <a:tcPr/>
                </a:tc>
                <a:tc>
                  <a:txBody>
                    <a:bodyPr/>
                    <a:lstStyle/>
                    <a:p>
                      <a:r>
                        <a:rPr lang="en-US" dirty="0">
                          <a:latin typeface="Courier" pitchFamily="2" charset="0"/>
                        </a:rPr>
                        <a:t>int</a:t>
                      </a:r>
                    </a:p>
                  </a:txBody>
                  <a:tcPr/>
                </a:tc>
                <a:extLst>
                  <a:ext uri="{0D108BD9-81ED-4DB2-BD59-A6C34878D82A}">
                    <a16:rowId xmlns:a16="http://schemas.microsoft.com/office/drawing/2014/main" val="2087865665"/>
                  </a:ext>
                </a:extLst>
              </a:tr>
              <a:tr h="370840">
                <a:tc>
                  <a:txBody>
                    <a:bodyPr/>
                    <a:lstStyle/>
                    <a:p>
                      <a:r>
                        <a:rPr lang="en-US" dirty="0">
                          <a:latin typeface="Courier" pitchFamily="2" charset="0"/>
                        </a:rPr>
                        <a:t>int</a:t>
                      </a:r>
                    </a:p>
                  </a:txBody>
                  <a:tcPr/>
                </a:tc>
                <a:tc>
                  <a:txBody>
                    <a:bodyPr/>
                    <a:lstStyle/>
                    <a:p>
                      <a:r>
                        <a:rPr lang="en-US" dirty="0">
                          <a:latin typeface="Courier" pitchFamily="2" charset="0"/>
                        </a:rPr>
                        <a:t>float</a:t>
                      </a:r>
                    </a:p>
                  </a:txBody>
                  <a:tcPr/>
                </a:tc>
                <a:tc>
                  <a:txBody>
                    <a:bodyPr/>
                    <a:lstStyle/>
                    <a:p>
                      <a:r>
                        <a:rPr lang="en-US" dirty="0">
                          <a:latin typeface="Courier" pitchFamily="2" charset="0"/>
                        </a:rPr>
                        <a:t>float</a:t>
                      </a:r>
                    </a:p>
                  </a:txBody>
                  <a:tcPr/>
                </a:tc>
                <a:extLst>
                  <a:ext uri="{0D108BD9-81ED-4DB2-BD59-A6C34878D82A}">
                    <a16:rowId xmlns:a16="http://schemas.microsoft.com/office/drawing/2014/main" val="3675798418"/>
                  </a:ext>
                </a:extLst>
              </a:tr>
              <a:tr h="370840">
                <a:tc>
                  <a:txBody>
                    <a:bodyPr/>
                    <a:lstStyle/>
                    <a:p>
                      <a:r>
                        <a:rPr lang="en-US" dirty="0">
                          <a:latin typeface="Courier" pitchFamily="2" charset="0"/>
                        </a:rPr>
                        <a:t>float</a:t>
                      </a:r>
                    </a:p>
                  </a:txBody>
                  <a:tcPr/>
                </a:tc>
                <a:tc>
                  <a:txBody>
                    <a:bodyPr/>
                    <a:lstStyle/>
                    <a:p>
                      <a:r>
                        <a:rPr lang="en-US" dirty="0">
                          <a:latin typeface="Courier" pitchFamily="2" charset="0"/>
                        </a:rPr>
                        <a:t>int</a:t>
                      </a:r>
                    </a:p>
                  </a:txBody>
                  <a:tcPr/>
                </a:tc>
                <a:tc>
                  <a:txBody>
                    <a:bodyPr/>
                    <a:lstStyle/>
                    <a:p>
                      <a:r>
                        <a:rPr lang="en-US" dirty="0">
                          <a:latin typeface="Courier" pitchFamily="2" charset="0"/>
                        </a:rPr>
                        <a:t>float</a:t>
                      </a:r>
                    </a:p>
                  </a:txBody>
                  <a:tcPr/>
                </a:tc>
                <a:extLst>
                  <a:ext uri="{0D108BD9-81ED-4DB2-BD59-A6C34878D82A}">
                    <a16:rowId xmlns:a16="http://schemas.microsoft.com/office/drawing/2014/main" val="2344795842"/>
                  </a:ext>
                </a:extLst>
              </a:tr>
              <a:tr h="370840">
                <a:tc>
                  <a:txBody>
                    <a:bodyPr/>
                    <a:lstStyle/>
                    <a:p>
                      <a:r>
                        <a:rPr lang="en-US" dirty="0">
                          <a:latin typeface="Courier" pitchFamily="2" charset="0"/>
                        </a:rPr>
                        <a:t>float</a:t>
                      </a:r>
                    </a:p>
                  </a:txBody>
                  <a:tcPr/>
                </a:tc>
                <a:tc>
                  <a:txBody>
                    <a:bodyPr/>
                    <a:lstStyle/>
                    <a:p>
                      <a:r>
                        <a:rPr lang="en-US" dirty="0">
                          <a:latin typeface="Courier" pitchFamily="2" charset="0"/>
                        </a:rPr>
                        <a:t>float</a:t>
                      </a:r>
                    </a:p>
                  </a:txBody>
                  <a:tcPr/>
                </a:tc>
                <a:tc>
                  <a:txBody>
                    <a:bodyPr/>
                    <a:lstStyle/>
                    <a:p>
                      <a:r>
                        <a:rPr lang="en-US" dirty="0">
                          <a:latin typeface="Courier" pitchFamily="2" charset="0"/>
                        </a:rPr>
                        <a:t>float</a:t>
                      </a:r>
                    </a:p>
                  </a:txBody>
                  <a:tcPr/>
                </a:tc>
                <a:extLst>
                  <a:ext uri="{0D108BD9-81ED-4DB2-BD59-A6C34878D82A}">
                    <a16:rowId xmlns:a16="http://schemas.microsoft.com/office/drawing/2014/main" val="359589"/>
                  </a:ext>
                </a:extLst>
              </a:tr>
              <a:tr h="370840">
                <a:tc>
                  <a:txBody>
                    <a:bodyPr/>
                    <a:lstStyle/>
                    <a:p>
                      <a:r>
                        <a:rPr lang="en-US" dirty="0">
                          <a:highlight>
                            <a:srgbClr val="FFFF00"/>
                          </a:highlight>
                          <a:latin typeface="Courier" pitchFamily="2" charset="0"/>
                        </a:rPr>
                        <a:t>Complex</a:t>
                      </a:r>
                    </a:p>
                  </a:txBody>
                  <a:tcPr/>
                </a:tc>
                <a:tc>
                  <a:txBody>
                    <a:bodyPr/>
                    <a:lstStyle/>
                    <a:p>
                      <a:r>
                        <a:rPr lang="en-US" dirty="0">
                          <a:highlight>
                            <a:srgbClr val="FFFF00"/>
                          </a:highlight>
                          <a:latin typeface="Courier" pitchFamily="2" charset="0"/>
                        </a:rPr>
                        <a:t>Complex</a:t>
                      </a:r>
                    </a:p>
                  </a:txBody>
                  <a:tcPr/>
                </a:tc>
                <a:tc>
                  <a:txBody>
                    <a:bodyPr/>
                    <a:lstStyle/>
                    <a:p>
                      <a:r>
                        <a:rPr lang="en-US" dirty="0">
                          <a:highlight>
                            <a:srgbClr val="FFFF00"/>
                          </a:highlight>
                          <a:latin typeface="Courier" pitchFamily="2" charset="0"/>
                        </a:rPr>
                        <a:t>Complex</a:t>
                      </a:r>
                    </a:p>
                  </a:txBody>
                  <a:tcPr/>
                </a:tc>
                <a:extLst>
                  <a:ext uri="{0D108BD9-81ED-4DB2-BD59-A6C34878D82A}">
                    <a16:rowId xmlns:a16="http://schemas.microsoft.com/office/drawing/2014/main" val="842685552"/>
                  </a:ext>
                </a:extLst>
              </a:tr>
              <a:tr h="370840">
                <a:tc>
                  <a:txBody>
                    <a:bodyPr/>
                    <a:lstStyle/>
                    <a:p>
                      <a:endParaRPr lang="en-US" dirty="0">
                        <a:latin typeface="Courier" pitchFamily="2" charset="0"/>
                      </a:endParaRPr>
                    </a:p>
                  </a:txBody>
                  <a:tcPr/>
                </a:tc>
                <a:tc>
                  <a:txBody>
                    <a:bodyPr/>
                    <a:lstStyle/>
                    <a:p>
                      <a:endParaRPr lang="en-US" dirty="0">
                        <a:latin typeface="Courier" pitchFamily="2" charset="0"/>
                      </a:endParaRPr>
                    </a:p>
                  </a:txBody>
                  <a:tcPr/>
                </a:tc>
                <a:tc>
                  <a:txBody>
                    <a:bodyPr/>
                    <a:lstStyle/>
                    <a:p>
                      <a:endParaRPr lang="en-US" dirty="0">
                        <a:latin typeface="Courier" pitchFamily="2" charset="0"/>
                      </a:endParaRPr>
                    </a:p>
                  </a:txBody>
                  <a:tcPr/>
                </a:tc>
                <a:extLst>
                  <a:ext uri="{0D108BD9-81ED-4DB2-BD59-A6C34878D82A}">
                    <a16:rowId xmlns:a16="http://schemas.microsoft.com/office/drawing/2014/main" val="3272090709"/>
                  </a:ext>
                </a:extLst>
              </a:tr>
            </a:tbl>
          </a:graphicData>
        </a:graphic>
      </p:graphicFrame>
      <p:sp>
        <p:nvSpPr>
          <p:cNvPr id="8" name="TextBox 7">
            <a:extLst>
              <a:ext uri="{FF2B5EF4-FFF2-40B4-BE49-F238E27FC236}">
                <a16:creationId xmlns:a16="http://schemas.microsoft.com/office/drawing/2014/main" id="{68E1C3AB-45E1-0342-8840-74464C448A84}"/>
              </a:ext>
            </a:extLst>
          </p:cNvPr>
          <p:cNvSpPr txBox="1"/>
          <p:nvPr/>
        </p:nvSpPr>
        <p:spPr>
          <a:xfrm>
            <a:off x="6609501" y="1049616"/>
            <a:ext cx="2470100" cy="369332"/>
          </a:xfrm>
          <a:prstGeom prst="rect">
            <a:avLst/>
          </a:prstGeom>
          <a:noFill/>
        </p:spPr>
        <p:txBody>
          <a:bodyPr wrap="none" rtlCol="0">
            <a:spAutoFit/>
          </a:bodyPr>
          <a:lstStyle/>
          <a:p>
            <a:r>
              <a:rPr lang="en-US" dirty="0"/>
              <a:t>Table for </a:t>
            </a:r>
            <a:r>
              <a:rPr lang="en-US" b="1" i="1" dirty="0"/>
              <a:t>plus</a:t>
            </a:r>
            <a:r>
              <a:rPr lang="en-US" dirty="0"/>
              <a:t> binary ops</a:t>
            </a:r>
          </a:p>
        </p:txBody>
      </p:sp>
    </p:spTree>
    <p:extLst>
      <p:ext uri="{BB962C8B-B14F-4D97-AF65-F5344CB8AC3E}">
        <p14:creationId xmlns:p14="http://schemas.microsoft.com/office/powerpoint/2010/main" val="3245328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2E29270-D69F-6546-98C2-3D4C20F8E2C9}"/>
              </a:ext>
            </a:extLst>
          </p:cNvPr>
          <p:cNvSpPr/>
          <p:nvPr/>
        </p:nvSpPr>
        <p:spPr>
          <a:xfrm>
            <a:off x="383178" y="1127993"/>
            <a:ext cx="5965372" cy="3754874"/>
          </a:xfrm>
          <a:prstGeom prst="rect">
            <a:avLst/>
          </a:prstGeom>
        </p:spPr>
        <p:txBody>
          <a:bodyPr wrap="square">
            <a:spAutoFit/>
          </a:bodyPr>
          <a:lstStyle/>
          <a:p>
            <a:r>
              <a:rPr lang="en-US" sz="1400" b="1" dirty="0">
                <a:solidFill>
                  <a:srgbClr val="2EAEBB"/>
                </a:solidFill>
                <a:latin typeface="Menlo" panose="020B0609030804020204" pitchFamily="49" charset="0"/>
              </a:rPr>
              <a:t>class</a:t>
            </a:r>
            <a:r>
              <a:rPr lang="en-US" sz="1400" dirty="0">
                <a:solidFill>
                  <a:srgbClr val="000000"/>
                </a:solidFill>
                <a:latin typeface="Menlo" panose="020B0609030804020204" pitchFamily="49" charset="0"/>
              </a:rPr>
              <a:t> </a:t>
            </a:r>
            <a:r>
              <a:rPr lang="en-US" sz="1400" dirty="0">
                <a:solidFill>
                  <a:srgbClr val="2FB41D"/>
                </a:solidFill>
                <a:latin typeface="Menlo" panose="020B0609030804020204" pitchFamily="49" charset="0"/>
              </a:rPr>
              <a:t>Complex</a:t>
            </a:r>
            <a:r>
              <a:rPr lang="en-US" sz="1400" dirty="0">
                <a:solidFill>
                  <a:srgbClr val="000000"/>
                </a:solidFill>
                <a:latin typeface="Menlo" panose="020B0609030804020204" pitchFamily="49" charset="0"/>
              </a:rPr>
              <a:t> {</a:t>
            </a:r>
            <a:endParaRPr lang="en-US" sz="1400" dirty="0">
              <a:solidFill>
                <a:srgbClr val="2FB41D"/>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b="1" dirty="0">
                <a:solidFill>
                  <a:srgbClr val="2EAEBB"/>
                </a:solidFill>
                <a:latin typeface="Menlo" panose="020B0609030804020204" pitchFamily="49" charset="0"/>
              </a:rPr>
              <a:t>private</a:t>
            </a:r>
            <a:r>
              <a:rPr lang="en-US" sz="1400" dirty="0">
                <a:solidFill>
                  <a:srgbClr val="000000"/>
                </a:solidFill>
                <a:latin typeface="Menlo" panose="020B0609030804020204" pitchFamily="49" charset="0"/>
              </a:rPr>
              <a:t>:</a:t>
            </a:r>
            <a:endParaRPr lang="en-US" sz="1400" dirty="0">
              <a:solidFill>
                <a:srgbClr val="2EAEBB"/>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dirty="0">
                <a:solidFill>
                  <a:srgbClr val="2FB41D"/>
                </a:solidFill>
                <a:latin typeface="Menlo" panose="020B0609030804020204" pitchFamily="49" charset="0"/>
              </a:rPr>
              <a:t>float</a:t>
            </a:r>
            <a:r>
              <a:rPr lang="en-US" sz="1400" dirty="0">
                <a:solidFill>
                  <a:srgbClr val="000000"/>
                </a:solidFill>
                <a:latin typeface="Menlo" panose="020B0609030804020204" pitchFamily="49" charset="0"/>
              </a:rPr>
              <a:t> </a:t>
            </a:r>
            <a:r>
              <a:rPr lang="en-US" sz="1400" dirty="0">
                <a:solidFill>
                  <a:srgbClr val="9FA01C"/>
                </a:solidFill>
                <a:latin typeface="Menlo" panose="020B0609030804020204" pitchFamily="49" charset="0"/>
              </a:rPr>
              <a:t>real</a:t>
            </a:r>
            <a:r>
              <a:rPr lang="en-US" sz="1400" dirty="0">
                <a:solidFill>
                  <a:srgbClr val="000000"/>
                </a:solidFill>
                <a:latin typeface="Menlo" panose="020B0609030804020204" pitchFamily="49" charset="0"/>
              </a:rPr>
              <a:t>;</a:t>
            </a:r>
          </a:p>
          <a:p>
            <a:r>
              <a:rPr lang="en-US" sz="1400" dirty="0">
                <a:solidFill>
                  <a:srgbClr val="000000"/>
                </a:solidFill>
                <a:latin typeface="Menlo" panose="020B0609030804020204" pitchFamily="49" charset="0"/>
              </a:rPr>
              <a:t>    </a:t>
            </a:r>
            <a:r>
              <a:rPr lang="en-US" sz="1400" dirty="0">
                <a:solidFill>
                  <a:srgbClr val="2FB41D"/>
                </a:solidFill>
                <a:latin typeface="Menlo" panose="020B0609030804020204" pitchFamily="49" charset="0"/>
              </a:rPr>
              <a:t>float</a:t>
            </a:r>
            <a:r>
              <a:rPr lang="en-US" sz="1400" dirty="0">
                <a:solidFill>
                  <a:srgbClr val="000000"/>
                </a:solidFill>
                <a:latin typeface="Menlo" panose="020B0609030804020204" pitchFamily="49" charset="0"/>
              </a:rPr>
              <a:t> </a:t>
            </a:r>
            <a:r>
              <a:rPr lang="en-US" sz="1400" dirty="0" err="1">
                <a:solidFill>
                  <a:srgbClr val="9FA01C"/>
                </a:solidFill>
                <a:latin typeface="Menlo" panose="020B0609030804020204" pitchFamily="49" charset="0"/>
              </a:rPr>
              <a:t>imag</a:t>
            </a:r>
            <a:r>
              <a:rPr lang="en-US" sz="1400" dirty="0">
                <a:solidFill>
                  <a:srgbClr val="000000"/>
                </a:solidFill>
                <a:latin typeface="Menlo" panose="020B0609030804020204" pitchFamily="49" charset="0"/>
              </a:rPr>
              <a:t>;</a:t>
            </a:r>
          </a:p>
          <a:p>
            <a:r>
              <a:rPr lang="en-US" sz="1400" dirty="0">
                <a:solidFill>
                  <a:srgbClr val="000000"/>
                </a:solidFill>
                <a:latin typeface="Menlo" panose="020B0609030804020204" pitchFamily="49" charset="0"/>
              </a:rPr>
              <a:t>   </a:t>
            </a:r>
            <a:r>
              <a:rPr lang="en-US" sz="1400" b="1" dirty="0">
                <a:solidFill>
                  <a:srgbClr val="2EAEBB"/>
                </a:solidFill>
                <a:latin typeface="Menlo" panose="020B0609030804020204" pitchFamily="49" charset="0"/>
              </a:rPr>
              <a:t>public</a:t>
            </a:r>
            <a:r>
              <a:rPr lang="en-US" sz="1400" dirty="0">
                <a:solidFill>
                  <a:srgbClr val="000000"/>
                </a:solidFill>
                <a:latin typeface="Menlo" panose="020B0609030804020204" pitchFamily="49" charset="0"/>
              </a:rPr>
              <a:t>:</a:t>
            </a:r>
            <a:endParaRPr lang="en-US" sz="1400" dirty="0">
              <a:solidFill>
                <a:srgbClr val="2EAEBB"/>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dirty="0">
                <a:solidFill>
                  <a:srgbClr val="B42419"/>
                </a:solidFill>
                <a:latin typeface="Menlo" panose="020B0609030804020204" pitchFamily="49" charset="0"/>
              </a:rPr>
              <a:t>// Constructor to initialize real and </a:t>
            </a:r>
            <a:r>
              <a:rPr lang="en-US" sz="1400" dirty="0" err="1">
                <a:solidFill>
                  <a:srgbClr val="B42419"/>
                </a:solidFill>
                <a:latin typeface="Menlo" panose="020B0609030804020204" pitchFamily="49" charset="0"/>
              </a:rPr>
              <a:t>imag</a:t>
            </a:r>
            <a:r>
              <a:rPr lang="en-US" sz="1400" dirty="0">
                <a:solidFill>
                  <a:srgbClr val="B42419"/>
                </a:solidFill>
                <a:latin typeface="Menlo" panose="020B0609030804020204" pitchFamily="49" charset="0"/>
              </a:rPr>
              <a:t> to 0</a:t>
            </a:r>
            <a:endParaRPr lang="en-US" sz="1400" dirty="0">
              <a:solidFill>
                <a:srgbClr val="000000"/>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b="1" dirty="0">
                <a:solidFill>
                  <a:srgbClr val="400BD9"/>
                </a:solidFill>
                <a:latin typeface="Menlo" panose="020B0609030804020204" pitchFamily="49" charset="0"/>
              </a:rPr>
              <a:t>Complex</a:t>
            </a:r>
            <a:r>
              <a:rPr lang="en-US" sz="1400" dirty="0">
                <a:solidFill>
                  <a:srgbClr val="000000"/>
                </a:solidFill>
                <a:latin typeface="Menlo" panose="020B0609030804020204" pitchFamily="49" charset="0"/>
              </a:rPr>
              <a:t>() : real(0), </a:t>
            </a:r>
            <a:r>
              <a:rPr lang="en-US" sz="1400" dirty="0" err="1">
                <a:solidFill>
                  <a:srgbClr val="000000"/>
                </a:solidFill>
                <a:latin typeface="Menlo" panose="020B0609030804020204" pitchFamily="49" charset="0"/>
              </a:rPr>
              <a:t>imag</a:t>
            </a:r>
            <a:r>
              <a:rPr lang="en-US" sz="1400" dirty="0">
                <a:solidFill>
                  <a:srgbClr val="000000"/>
                </a:solidFill>
                <a:latin typeface="Menlo" panose="020B0609030804020204" pitchFamily="49" charset="0"/>
              </a:rPr>
              <a:t>(0) {}</a:t>
            </a:r>
          </a:p>
          <a:p>
            <a:endParaRPr lang="en-US" sz="1400" dirty="0">
              <a:solidFill>
                <a:srgbClr val="000000"/>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dirty="0">
                <a:solidFill>
                  <a:srgbClr val="B42419"/>
                </a:solidFill>
                <a:latin typeface="Menlo" panose="020B0609030804020204" pitchFamily="49" charset="0"/>
              </a:rPr>
              <a:t>// Overload the + operator</a:t>
            </a:r>
            <a:endParaRPr lang="en-US" sz="1400" dirty="0">
              <a:solidFill>
                <a:srgbClr val="000000"/>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dirty="0">
                <a:solidFill>
                  <a:srgbClr val="2FB41D"/>
                </a:solidFill>
                <a:latin typeface="Menlo" panose="020B0609030804020204" pitchFamily="49" charset="0"/>
              </a:rPr>
              <a:t>Complex</a:t>
            </a:r>
            <a:r>
              <a:rPr lang="en-US" sz="1400" dirty="0">
                <a:solidFill>
                  <a:srgbClr val="000000"/>
                </a:solidFill>
                <a:latin typeface="Menlo" panose="020B0609030804020204" pitchFamily="49" charset="0"/>
              </a:rPr>
              <a:t> </a:t>
            </a:r>
            <a:r>
              <a:rPr lang="en-US" sz="1400" b="1" dirty="0">
                <a:solidFill>
                  <a:srgbClr val="2EAEBB"/>
                </a:solidFill>
                <a:latin typeface="Menlo" panose="020B0609030804020204" pitchFamily="49" charset="0"/>
              </a:rPr>
              <a:t>operator</a:t>
            </a:r>
            <a:r>
              <a:rPr lang="en-US" sz="1400" dirty="0">
                <a:solidFill>
                  <a:srgbClr val="000000"/>
                </a:solidFill>
                <a:latin typeface="Menlo" panose="020B0609030804020204" pitchFamily="49" charset="0"/>
              </a:rPr>
              <a:t> </a:t>
            </a:r>
            <a:r>
              <a:rPr lang="en-US" sz="1400" b="1" dirty="0">
                <a:solidFill>
                  <a:srgbClr val="400BD9"/>
                </a:solidFill>
                <a:latin typeface="Menlo" panose="020B0609030804020204" pitchFamily="49" charset="0"/>
              </a:rPr>
              <a:t>+</a:t>
            </a:r>
            <a:r>
              <a:rPr lang="en-US" sz="1400" dirty="0">
                <a:solidFill>
                  <a:srgbClr val="000000"/>
                </a:solidFill>
                <a:latin typeface="Menlo" panose="020B0609030804020204" pitchFamily="49" charset="0"/>
              </a:rPr>
              <a:t> (</a:t>
            </a:r>
            <a:r>
              <a:rPr lang="en-US" sz="1400" b="1" dirty="0">
                <a:solidFill>
                  <a:srgbClr val="2EAEBB"/>
                </a:solidFill>
                <a:latin typeface="Menlo" panose="020B0609030804020204" pitchFamily="49" charset="0"/>
              </a:rPr>
              <a:t>const</a:t>
            </a:r>
            <a:r>
              <a:rPr lang="en-US" sz="1400" dirty="0">
                <a:solidFill>
                  <a:srgbClr val="000000"/>
                </a:solidFill>
                <a:latin typeface="Menlo" panose="020B0609030804020204" pitchFamily="49" charset="0"/>
              </a:rPr>
              <a:t> </a:t>
            </a:r>
            <a:r>
              <a:rPr lang="en-US" sz="1400" dirty="0">
                <a:solidFill>
                  <a:srgbClr val="2FB41D"/>
                </a:solidFill>
                <a:latin typeface="Menlo" panose="020B0609030804020204" pitchFamily="49" charset="0"/>
              </a:rPr>
              <a:t>Complex</a:t>
            </a:r>
            <a:r>
              <a:rPr lang="en-US" sz="1400" dirty="0">
                <a:solidFill>
                  <a:srgbClr val="000000"/>
                </a:solidFill>
                <a:latin typeface="Menlo" panose="020B0609030804020204" pitchFamily="49" charset="0"/>
              </a:rPr>
              <a:t>&amp; </a:t>
            </a:r>
            <a:r>
              <a:rPr lang="en-US" sz="1400" dirty="0">
                <a:solidFill>
                  <a:srgbClr val="9FA01C"/>
                </a:solidFill>
                <a:latin typeface="Menlo" panose="020B0609030804020204" pitchFamily="49" charset="0"/>
              </a:rPr>
              <a:t>obj</a:t>
            </a:r>
            <a:r>
              <a:rPr lang="en-US" sz="1400" dirty="0">
                <a:solidFill>
                  <a:srgbClr val="000000"/>
                </a:solidFill>
                <a:latin typeface="Menlo" panose="020B0609030804020204" pitchFamily="49" charset="0"/>
              </a:rPr>
              <a:t>) {</a:t>
            </a:r>
          </a:p>
          <a:p>
            <a:r>
              <a:rPr lang="en-US" sz="1400" dirty="0">
                <a:solidFill>
                  <a:srgbClr val="2FB41D"/>
                </a:solidFill>
                <a:latin typeface="Menlo" panose="020B0609030804020204" pitchFamily="49" charset="0"/>
              </a:rPr>
              <a:t>      Complex</a:t>
            </a:r>
            <a:r>
              <a:rPr lang="en-US" sz="1400" dirty="0">
                <a:solidFill>
                  <a:srgbClr val="000000"/>
                </a:solidFill>
                <a:latin typeface="Menlo" panose="020B0609030804020204" pitchFamily="49" charset="0"/>
              </a:rPr>
              <a:t> </a:t>
            </a:r>
            <a:r>
              <a:rPr lang="en-US" sz="1400" dirty="0">
                <a:solidFill>
                  <a:srgbClr val="9FA01C"/>
                </a:solidFill>
                <a:latin typeface="Menlo" panose="020B0609030804020204" pitchFamily="49" charset="0"/>
              </a:rPr>
              <a:t>temp</a:t>
            </a:r>
            <a:r>
              <a:rPr lang="en-US" sz="1400" dirty="0">
                <a:solidFill>
                  <a:srgbClr val="000000"/>
                </a:solidFill>
                <a:latin typeface="Menlo" panose="020B0609030804020204" pitchFamily="49" charset="0"/>
              </a:rPr>
              <a:t>;</a:t>
            </a:r>
            <a:endParaRPr lang="en-US" sz="1400" dirty="0">
              <a:solidFill>
                <a:srgbClr val="2FB41D"/>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dirty="0" err="1">
                <a:solidFill>
                  <a:srgbClr val="000000"/>
                </a:solidFill>
                <a:latin typeface="Menlo" panose="020B0609030804020204" pitchFamily="49" charset="0"/>
              </a:rPr>
              <a:t>temp.real</a:t>
            </a:r>
            <a:r>
              <a:rPr lang="en-US" sz="1400" dirty="0">
                <a:solidFill>
                  <a:srgbClr val="000000"/>
                </a:solidFill>
                <a:latin typeface="Menlo" panose="020B0609030804020204" pitchFamily="49" charset="0"/>
              </a:rPr>
              <a:t> = real + </a:t>
            </a:r>
            <a:r>
              <a:rPr lang="en-US" sz="1400" dirty="0" err="1">
                <a:solidFill>
                  <a:srgbClr val="000000"/>
                </a:solidFill>
                <a:latin typeface="Menlo" panose="020B0609030804020204" pitchFamily="49" charset="0"/>
              </a:rPr>
              <a:t>obj.real</a:t>
            </a:r>
            <a:r>
              <a:rPr lang="en-US" sz="1400" dirty="0">
                <a:solidFill>
                  <a:srgbClr val="000000"/>
                </a:solidFill>
                <a:latin typeface="Menlo" panose="020B0609030804020204" pitchFamily="49" charset="0"/>
              </a:rPr>
              <a:t>;</a:t>
            </a:r>
          </a:p>
          <a:p>
            <a:r>
              <a:rPr lang="en-US" sz="1400" dirty="0">
                <a:solidFill>
                  <a:srgbClr val="000000"/>
                </a:solidFill>
                <a:latin typeface="Menlo" panose="020B0609030804020204" pitchFamily="49" charset="0"/>
              </a:rPr>
              <a:t>      </a:t>
            </a:r>
            <a:r>
              <a:rPr lang="en-US" sz="1400" dirty="0" err="1">
                <a:solidFill>
                  <a:srgbClr val="000000"/>
                </a:solidFill>
                <a:latin typeface="Menlo" panose="020B0609030804020204" pitchFamily="49" charset="0"/>
              </a:rPr>
              <a:t>temp.imag</a:t>
            </a:r>
            <a:r>
              <a:rPr lang="en-US" sz="1400" dirty="0">
                <a:solidFill>
                  <a:srgbClr val="000000"/>
                </a:solidFill>
                <a:latin typeface="Menlo" panose="020B0609030804020204" pitchFamily="49" charset="0"/>
              </a:rPr>
              <a:t> = </a:t>
            </a:r>
            <a:r>
              <a:rPr lang="en-US" sz="1400" dirty="0" err="1">
                <a:solidFill>
                  <a:srgbClr val="000000"/>
                </a:solidFill>
                <a:latin typeface="Menlo" panose="020B0609030804020204" pitchFamily="49" charset="0"/>
              </a:rPr>
              <a:t>imag</a:t>
            </a:r>
            <a:r>
              <a:rPr lang="en-US" sz="1400" dirty="0">
                <a:solidFill>
                  <a:srgbClr val="000000"/>
                </a:solidFill>
                <a:latin typeface="Menlo" panose="020B0609030804020204" pitchFamily="49" charset="0"/>
              </a:rPr>
              <a:t> + </a:t>
            </a:r>
            <a:r>
              <a:rPr lang="en-US" sz="1400" dirty="0" err="1">
                <a:solidFill>
                  <a:srgbClr val="000000"/>
                </a:solidFill>
                <a:latin typeface="Menlo" panose="020B0609030804020204" pitchFamily="49" charset="0"/>
              </a:rPr>
              <a:t>obj.imag</a:t>
            </a:r>
            <a:r>
              <a:rPr lang="en-US" sz="1400" dirty="0">
                <a:solidFill>
                  <a:srgbClr val="000000"/>
                </a:solidFill>
                <a:latin typeface="Menlo" panose="020B0609030804020204" pitchFamily="49" charset="0"/>
              </a:rPr>
              <a:t>;</a:t>
            </a:r>
          </a:p>
          <a:p>
            <a:r>
              <a:rPr lang="en-US" sz="1400" b="1" dirty="0">
                <a:solidFill>
                  <a:srgbClr val="2EAEBB"/>
                </a:solidFill>
                <a:latin typeface="Menlo" panose="020B0609030804020204" pitchFamily="49" charset="0"/>
              </a:rPr>
              <a:t>      return</a:t>
            </a:r>
            <a:r>
              <a:rPr lang="en-US" sz="1400" dirty="0">
                <a:solidFill>
                  <a:srgbClr val="000000"/>
                </a:solidFill>
                <a:latin typeface="Menlo" panose="020B0609030804020204" pitchFamily="49" charset="0"/>
              </a:rPr>
              <a:t> temp;</a:t>
            </a:r>
          </a:p>
          <a:p>
            <a:r>
              <a:rPr lang="en-US" sz="1400" dirty="0">
                <a:solidFill>
                  <a:srgbClr val="000000"/>
                </a:solidFill>
                <a:latin typeface="Menlo" panose="020B0609030804020204" pitchFamily="49" charset="0"/>
              </a:rPr>
              <a:t>    }</a:t>
            </a:r>
          </a:p>
          <a:p>
            <a:endParaRPr lang="en-US" sz="1400" dirty="0">
              <a:solidFill>
                <a:srgbClr val="000000"/>
              </a:solidFill>
              <a:effectLst/>
              <a:latin typeface="Menlo" panose="020B0609030804020204" pitchFamily="49" charset="0"/>
            </a:endParaRPr>
          </a:p>
          <a:p>
            <a:endParaRPr lang="en-US" sz="1400" dirty="0">
              <a:solidFill>
                <a:srgbClr val="000000"/>
              </a:solidFill>
              <a:effectLst/>
              <a:latin typeface="Menlo" panose="020B0609030804020204" pitchFamily="49" charset="0"/>
            </a:endParaRPr>
          </a:p>
        </p:txBody>
      </p:sp>
      <p:sp>
        <p:nvSpPr>
          <p:cNvPr id="6" name="Rectangle 5">
            <a:extLst>
              <a:ext uri="{FF2B5EF4-FFF2-40B4-BE49-F238E27FC236}">
                <a16:creationId xmlns:a16="http://schemas.microsoft.com/office/drawing/2014/main" id="{E5208194-12B5-9B47-B656-BBA954DE963F}"/>
              </a:ext>
            </a:extLst>
          </p:cNvPr>
          <p:cNvSpPr/>
          <p:nvPr/>
        </p:nvSpPr>
        <p:spPr>
          <a:xfrm>
            <a:off x="226422" y="6345424"/>
            <a:ext cx="7794171" cy="307777"/>
          </a:xfrm>
          <a:prstGeom prst="rect">
            <a:avLst/>
          </a:prstGeom>
        </p:spPr>
        <p:txBody>
          <a:bodyPr wrap="square">
            <a:spAutoFit/>
          </a:bodyPr>
          <a:lstStyle/>
          <a:p>
            <a:r>
              <a:rPr lang="en-US" sz="1400" dirty="0"/>
              <a:t>code from: https://</a:t>
            </a:r>
            <a:r>
              <a:rPr lang="en-US" sz="1400" dirty="0" err="1"/>
              <a:t>www.programiz.com</a:t>
            </a:r>
            <a:r>
              <a:rPr lang="en-US" sz="1400" dirty="0"/>
              <a:t>/</a:t>
            </a:r>
            <a:r>
              <a:rPr lang="en-US" sz="1400" dirty="0" err="1"/>
              <a:t>cpp</a:t>
            </a:r>
            <a:r>
              <a:rPr lang="en-US" sz="1400" dirty="0"/>
              <a:t>-programming/operator-overloading</a:t>
            </a:r>
          </a:p>
        </p:txBody>
      </p:sp>
      <p:graphicFrame>
        <p:nvGraphicFramePr>
          <p:cNvPr id="7" name="Table 3">
            <a:extLst>
              <a:ext uri="{FF2B5EF4-FFF2-40B4-BE49-F238E27FC236}">
                <a16:creationId xmlns:a16="http://schemas.microsoft.com/office/drawing/2014/main" id="{650CC178-A0D0-CD4F-9BD1-7F65DE3E5449}"/>
              </a:ext>
            </a:extLst>
          </p:cNvPr>
          <p:cNvGraphicFramePr>
            <a:graphicFrameLocks noGrp="1"/>
          </p:cNvGraphicFramePr>
          <p:nvPr/>
        </p:nvGraphicFramePr>
        <p:xfrm>
          <a:off x="6609501" y="1506573"/>
          <a:ext cx="5199321" cy="2595880"/>
        </p:xfrm>
        <a:graphic>
          <a:graphicData uri="http://schemas.openxmlformats.org/drawingml/2006/table">
            <a:tbl>
              <a:tblPr firstRow="1" bandRow="1">
                <a:tableStyleId>{073A0DAA-6AF3-43AB-8588-CEC1D06C72B9}</a:tableStyleId>
              </a:tblPr>
              <a:tblGrid>
                <a:gridCol w="1276275">
                  <a:extLst>
                    <a:ext uri="{9D8B030D-6E8A-4147-A177-3AD203B41FA5}">
                      <a16:colId xmlns:a16="http://schemas.microsoft.com/office/drawing/2014/main" val="1084029198"/>
                    </a:ext>
                  </a:extLst>
                </a:gridCol>
                <a:gridCol w="1390205">
                  <a:extLst>
                    <a:ext uri="{9D8B030D-6E8A-4147-A177-3AD203B41FA5}">
                      <a16:colId xmlns:a16="http://schemas.microsoft.com/office/drawing/2014/main" val="612780071"/>
                    </a:ext>
                  </a:extLst>
                </a:gridCol>
                <a:gridCol w="2532841">
                  <a:extLst>
                    <a:ext uri="{9D8B030D-6E8A-4147-A177-3AD203B41FA5}">
                      <a16:colId xmlns:a16="http://schemas.microsoft.com/office/drawing/2014/main" val="2089903387"/>
                    </a:ext>
                  </a:extLst>
                </a:gridCol>
              </a:tblGrid>
              <a:tr h="370840">
                <a:tc>
                  <a:txBody>
                    <a:bodyPr/>
                    <a:lstStyle/>
                    <a:p>
                      <a:r>
                        <a:rPr lang="en-US" dirty="0"/>
                        <a:t>left child</a:t>
                      </a:r>
                    </a:p>
                  </a:txBody>
                  <a:tcPr/>
                </a:tc>
                <a:tc>
                  <a:txBody>
                    <a:bodyPr/>
                    <a:lstStyle/>
                    <a:p>
                      <a:r>
                        <a:rPr lang="en-US" dirty="0"/>
                        <a:t>right child</a:t>
                      </a:r>
                    </a:p>
                  </a:txBody>
                  <a:tcPr/>
                </a:tc>
                <a:tc>
                  <a:txBody>
                    <a:bodyPr/>
                    <a:lstStyle/>
                    <a:p>
                      <a:r>
                        <a:rPr lang="en-US" dirty="0"/>
                        <a:t>result</a:t>
                      </a:r>
                    </a:p>
                  </a:txBody>
                  <a:tcPr/>
                </a:tc>
                <a:extLst>
                  <a:ext uri="{0D108BD9-81ED-4DB2-BD59-A6C34878D82A}">
                    <a16:rowId xmlns:a16="http://schemas.microsoft.com/office/drawing/2014/main" val="1811918794"/>
                  </a:ext>
                </a:extLst>
              </a:tr>
              <a:tr h="370840">
                <a:tc>
                  <a:txBody>
                    <a:bodyPr/>
                    <a:lstStyle/>
                    <a:p>
                      <a:r>
                        <a:rPr lang="en-US" dirty="0">
                          <a:latin typeface="Courier" pitchFamily="2" charset="0"/>
                        </a:rPr>
                        <a:t>int</a:t>
                      </a:r>
                    </a:p>
                  </a:txBody>
                  <a:tcPr/>
                </a:tc>
                <a:tc>
                  <a:txBody>
                    <a:bodyPr/>
                    <a:lstStyle/>
                    <a:p>
                      <a:r>
                        <a:rPr lang="en-US" dirty="0">
                          <a:latin typeface="Courier" pitchFamily="2" charset="0"/>
                        </a:rPr>
                        <a:t>int</a:t>
                      </a:r>
                    </a:p>
                  </a:txBody>
                  <a:tcPr/>
                </a:tc>
                <a:tc>
                  <a:txBody>
                    <a:bodyPr/>
                    <a:lstStyle/>
                    <a:p>
                      <a:r>
                        <a:rPr lang="en-US" dirty="0">
                          <a:latin typeface="Courier" pitchFamily="2" charset="0"/>
                        </a:rPr>
                        <a:t>int</a:t>
                      </a:r>
                    </a:p>
                  </a:txBody>
                  <a:tcPr/>
                </a:tc>
                <a:extLst>
                  <a:ext uri="{0D108BD9-81ED-4DB2-BD59-A6C34878D82A}">
                    <a16:rowId xmlns:a16="http://schemas.microsoft.com/office/drawing/2014/main" val="2087865665"/>
                  </a:ext>
                </a:extLst>
              </a:tr>
              <a:tr h="370840">
                <a:tc>
                  <a:txBody>
                    <a:bodyPr/>
                    <a:lstStyle/>
                    <a:p>
                      <a:r>
                        <a:rPr lang="en-US" dirty="0">
                          <a:latin typeface="Courier" pitchFamily="2" charset="0"/>
                        </a:rPr>
                        <a:t>int</a:t>
                      </a:r>
                    </a:p>
                  </a:txBody>
                  <a:tcPr/>
                </a:tc>
                <a:tc>
                  <a:txBody>
                    <a:bodyPr/>
                    <a:lstStyle/>
                    <a:p>
                      <a:r>
                        <a:rPr lang="en-US" dirty="0">
                          <a:latin typeface="Courier" pitchFamily="2" charset="0"/>
                        </a:rPr>
                        <a:t>float</a:t>
                      </a:r>
                    </a:p>
                  </a:txBody>
                  <a:tcPr/>
                </a:tc>
                <a:tc>
                  <a:txBody>
                    <a:bodyPr/>
                    <a:lstStyle/>
                    <a:p>
                      <a:r>
                        <a:rPr lang="en-US" dirty="0">
                          <a:latin typeface="Courier" pitchFamily="2" charset="0"/>
                        </a:rPr>
                        <a:t>float</a:t>
                      </a:r>
                    </a:p>
                  </a:txBody>
                  <a:tcPr/>
                </a:tc>
                <a:extLst>
                  <a:ext uri="{0D108BD9-81ED-4DB2-BD59-A6C34878D82A}">
                    <a16:rowId xmlns:a16="http://schemas.microsoft.com/office/drawing/2014/main" val="3675798418"/>
                  </a:ext>
                </a:extLst>
              </a:tr>
              <a:tr h="370840">
                <a:tc>
                  <a:txBody>
                    <a:bodyPr/>
                    <a:lstStyle/>
                    <a:p>
                      <a:r>
                        <a:rPr lang="en-US" dirty="0">
                          <a:latin typeface="Courier" pitchFamily="2" charset="0"/>
                        </a:rPr>
                        <a:t>float</a:t>
                      </a:r>
                    </a:p>
                  </a:txBody>
                  <a:tcPr/>
                </a:tc>
                <a:tc>
                  <a:txBody>
                    <a:bodyPr/>
                    <a:lstStyle/>
                    <a:p>
                      <a:r>
                        <a:rPr lang="en-US" dirty="0">
                          <a:latin typeface="Courier" pitchFamily="2" charset="0"/>
                        </a:rPr>
                        <a:t>int</a:t>
                      </a:r>
                    </a:p>
                  </a:txBody>
                  <a:tcPr/>
                </a:tc>
                <a:tc>
                  <a:txBody>
                    <a:bodyPr/>
                    <a:lstStyle/>
                    <a:p>
                      <a:r>
                        <a:rPr lang="en-US" dirty="0">
                          <a:latin typeface="Courier" pitchFamily="2" charset="0"/>
                        </a:rPr>
                        <a:t>float</a:t>
                      </a:r>
                    </a:p>
                  </a:txBody>
                  <a:tcPr/>
                </a:tc>
                <a:extLst>
                  <a:ext uri="{0D108BD9-81ED-4DB2-BD59-A6C34878D82A}">
                    <a16:rowId xmlns:a16="http://schemas.microsoft.com/office/drawing/2014/main" val="2344795842"/>
                  </a:ext>
                </a:extLst>
              </a:tr>
              <a:tr h="370840">
                <a:tc>
                  <a:txBody>
                    <a:bodyPr/>
                    <a:lstStyle/>
                    <a:p>
                      <a:r>
                        <a:rPr lang="en-US" dirty="0">
                          <a:latin typeface="Courier" pitchFamily="2" charset="0"/>
                        </a:rPr>
                        <a:t>float</a:t>
                      </a:r>
                    </a:p>
                  </a:txBody>
                  <a:tcPr/>
                </a:tc>
                <a:tc>
                  <a:txBody>
                    <a:bodyPr/>
                    <a:lstStyle/>
                    <a:p>
                      <a:r>
                        <a:rPr lang="en-US" dirty="0">
                          <a:latin typeface="Courier" pitchFamily="2" charset="0"/>
                        </a:rPr>
                        <a:t>float</a:t>
                      </a:r>
                    </a:p>
                  </a:txBody>
                  <a:tcPr/>
                </a:tc>
                <a:tc>
                  <a:txBody>
                    <a:bodyPr/>
                    <a:lstStyle/>
                    <a:p>
                      <a:r>
                        <a:rPr lang="en-US" dirty="0">
                          <a:latin typeface="Courier" pitchFamily="2" charset="0"/>
                        </a:rPr>
                        <a:t>float</a:t>
                      </a:r>
                    </a:p>
                  </a:txBody>
                  <a:tcPr/>
                </a:tc>
                <a:extLst>
                  <a:ext uri="{0D108BD9-81ED-4DB2-BD59-A6C34878D82A}">
                    <a16:rowId xmlns:a16="http://schemas.microsoft.com/office/drawing/2014/main" val="359589"/>
                  </a:ext>
                </a:extLst>
              </a:tr>
              <a:tr h="370840">
                <a:tc>
                  <a:txBody>
                    <a:bodyPr/>
                    <a:lstStyle/>
                    <a:p>
                      <a:r>
                        <a:rPr lang="en-US" dirty="0">
                          <a:highlight>
                            <a:srgbClr val="FFFF00"/>
                          </a:highlight>
                          <a:latin typeface="Courier" pitchFamily="2" charset="0"/>
                        </a:rPr>
                        <a:t>Complex</a:t>
                      </a:r>
                    </a:p>
                  </a:txBody>
                  <a:tcPr/>
                </a:tc>
                <a:tc>
                  <a:txBody>
                    <a:bodyPr/>
                    <a:lstStyle/>
                    <a:p>
                      <a:r>
                        <a:rPr lang="en-US" dirty="0">
                          <a:highlight>
                            <a:srgbClr val="FFFF00"/>
                          </a:highlight>
                          <a:latin typeface="Courier" pitchFamily="2" charset="0"/>
                        </a:rPr>
                        <a:t>Complex</a:t>
                      </a:r>
                    </a:p>
                  </a:txBody>
                  <a:tcPr/>
                </a:tc>
                <a:tc>
                  <a:txBody>
                    <a:bodyPr/>
                    <a:lstStyle/>
                    <a:p>
                      <a:r>
                        <a:rPr lang="en-US" dirty="0">
                          <a:highlight>
                            <a:srgbClr val="FFFF00"/>
                          </a:highlight>
                          <a:latin typeface="Courier" pitchFamily="2" charset="0"/>
                        </a:rPr>
                        <a:t>Complex</a:t>
                      </a:r>
                    </a:p>
                  </a:txBody>
                  <a:tcPr/>
                </a:tc>
                <a:extLst>
                  <a:ext uri="{0D108BD9-81ED-4DB2-BD59-A6C34878D82A}">
                    <a16:rowId xmlns:a16="http://schemas.microsoft.com/office/drawing/2014/main" val="842685552"/>
                  </a:ext>
                </a:extLst>
              </a:tr>
              <a:tr h="370840">
                <a:tc>
                  <a:txBody>
                    <a:bodyPr/>
                    <a:lstStyle/>
                    <a:p>
                      <a:endParaRPr lang="en-US" dirty="0">
                        <a:latin typeface="Courier" pitchFamily="2" charset="0"/>
                      </a:endParaRPr>
                    </a:p>
                  </a:txBody>
                  <a:tcPr/>
                </a:tc>
                <a:tc>
                  <a:txBody>
                    <a:bodyPr/>
                    <a:lstStyle/>
                    <a:p>
                      <a:endParaRPr lang="en-US" dirty="0">
                        <a:latin typeface="Courier" pitchFamily="2" charset="0"/>
                      </a:endParaRPr>
                    </a:p>
                  </a:txBody>
                  <a:tcPr/>
                </a:tc>
                <a:tc>
                  <a:txBody>
                    <a:bodyPr/>
                    <a:lstStyle/>
                    <a:p>
                      <a:endParaRPr lang="en-US" dirty="0">
                        <a:latin typeface="Courier" pitchFamily="2" charset="0"/>
                      </a:endParaRPr>
                    </a:p>
                  </a:txBody>
                  <a:tcPr/>
                </a:tc>
                <a:extLst>
                  <a:ext uri="{0D108BD9-81ED-4DB2-BD59-A6C34878D82A}">
                    <a16:rowId xmlns:a16="http://schemas.microsoft.com/office/drawing/2014/main" val="3272090709"/>
                  </a:ext>
                </a:extLst>
              </a:tr>
            </a:tbl>
          </a:graphicData>
        </a:graphic>
      </p:graphicFrame>
      <p:sp>
        <p:nvSpPr>
          <p:cNvPr id="8" name="TextBox 7">
            <a:extLst>
              <a:ext uri="{FF2B5EF4-FFF2-40B4-BE49-F238E27FC236}">
                <a16:creationId xmlns:a16="http://schemas.microsoft.com/office/drawing/2014/main" id="{68E1C3AB-45E1-0342-8840-74464C448A84}"/>
              </a:ext>
            </a:extLst>
          </p:cNvPr>
          <p:cNvSpPr txBox="1"/>
          <p:nvPr/>
        </p:nvSpPr>
        <p:spPr>
          <a:xfrm>
            <a:off x="6609501" y="1049616"/>
            <a:ext cx="2470100" cy="369332"/>
          </a:xfrm>
          <a:prstGeom prst="rect">
            <a:avLst/>
          </a:prstGeom>
          <a:noFill/>
        </p:spPr>
        <p:txBody>
          <a:bodyPr wrap="none" rtlCol="0">
            <a:spAutoFit/>
          </a:bodyPr>
          <a:lstStyle/>
          <a:p>
            <a:r>
              <a:rPr lang="en-US" dirty="0"/>
              <a:t>Table for </a:t>
            </a:r>
            <a:r>
              <a:rPr lang="en-US" b="1" i="1" dirty="0"/>
              <a:t>plus</a:t>
            </a:r>
            <a:r>
              <a:rPr lang="en-US" dirty="0"/>
              <a:t> binary ops</a:t>
            </a:r>
          </a:p>
        </p:txBody>
      </p:sp>
      <p:sp>
        <p:nvSpPr>
          <p:cNvPr id="2" name="Rectangle 1">
            <a:extLst>
              <a:ext uri="{FF2B5EF4-FFF2-40B4-BE49-F238E27FC236}">
                <a16:creationId xmlns:a16="http://schemas.microsoft.com/office/drawing/2014/main" id="{F27FA35F-0324-8A45-B299-F20481F2DADA}"/>
              </a:ext>
            </a:extLst>
          </p:cNvPr>
          <p:cNvSpPr/>
          <p:nvPr/>
        </p:nvSpPr>
        <p:spPr>
          <a:xfrm>
            <a:off x="766354" y="4619357"/>
            <a:ext cx="6096000" cy="1384995"/>
          </a:xfrm>
          <a:prstGeom prst="rect">
            <a:avLst/>
          </a:prstGeom>
        </p:spPr>
        <p:txBody>
          <a:bodyPr>
            <a:spAutoFit/>
          </a:bodyPr>
          <a:lstStyle/>
          <a:p>
            <a:r>
              <a:rPr lang="en-US" sz="1400" dirty="0">
                <a:solidFill>
                  <a:srgbClr val="2FB41D"/>
                </a:solidFill>
                <a:latin typeface="Menlo" panose="020B0609030804020204" pitchFamily="49" charset="0"/>
              </a:rPr>
              <a:t>Complex</a:t>
            </a:r>
            <a:r>
              <a:rPr lang="en-US" sz="1400" dirty="0">
                <a:solidFill>
                  <a:srgbClr val="000000"/>
                </a:solidFill>
                <a:latin typeface="Menlo" panose="020B0609030804020204" pitchFamily="49" charset="0"/>
              </a:rPr>
              <a:t> </a:t>
            </a:r>
            <a:r>
              <a:rPr lang="en-US" sz="1400" b="1" dirty="0">
                <a:solidFill>
                  <a:srgbClr val="2EAEBB"/>
                </a:solidFill>
                <a:latin typeface="Menlo" panose="020B0609030804020204" pitchFamily="49" charset="0"/>
              </a:rPr>
              <a:t>operator</a:t>
            </a:r>
            <a:r>
              <a:rPr lang="en-US" sz="1400" dirty="0">
                <a:solidFill>
                  <a:srgbClr val="000000"/>
                </a:solidFill>
                <a:latin typeface="Menlo" panose="020B0609030804020204" pitchFamily="49" charset="0"/>
              </a:rPr>
              <a:t> </a:t>
            </a:r>
            <a:r>
              <a:rPr lang="en-US" sz="1400" b="1" dirty="0">
                <a:solidFill>
                  <a:srgbClr val="400BD9"/>
                </a:solidFill>
                <a:latin typeface="Menlo" panose="020B0609030804020204" pitchFamily="49" charset="0"/>
              </a:rPr>
              <a:t>+</a:t>
            </a:r>
            <a:r>
              <a:rPr lang="en-US" sz="1400" dirty="0">
                <a:solidFill>
                  <a:srgbClr val="000000"/>
                </a:solidFill>
                <a:latin typeface="Menlo" panose="020B0609030804020204" pitchFamily="49" charset="0"/>
              </a:rPr>
              <a:t> (</a:t>
            </a:r>
            <a:r>
              <a:rPr lang="en-US" sz="1400" b="1" dirty="0">
                <a:solidFill>
                  <a:srgbClr val="2EAEBB"/>
                </a:solidFill>
                <a:latin typeface="Menlo" panose="020B0609030804020204" pitchFamily="49" charset="0"/>
              </a:rPr>
              <a:t>const</a:t>
            </a:r>
            <a:r>
              <a:rPr lang="en-US" sz="1400" dirty="0">
                <a:solidFill>
                  <a:srgbClr val="000000"/>
                </a:solidFill>
                <a:latin typeface="Menlo" panose="020B0609030804020204" pitchFamily="49" charset="0"/>
              </a:rPr>
              <a:t> </a:t>
            </a:r>
            <a:r>
              <a:rPr lang="en-US" sz="1400" dirty="0">
                <a:solidFill>
                  <a:srgbClr val="2FB41D"/>
                </a:solidFill>
                <a:highlight>
                  <a:srgbClr val="FFFF00"/>
                </a:highlight>
                <a:latin typeface="Menlo" panose="020B0609030804020204" pitchFamily="49" charset="0"/>
              </a:rPr>
              <a:t>float</a:t>
            </a:r>
            <a:r>
              <a:rPr lang="en-US" sz="1400" dirty="0">
                <a:solidFill>
                  <a:srgbClr val="000000"/>
                </a:solidFill>
                <a:latin typeface="Menlo" panose="020B0609030804020204" pitchFamily="49" charset="0"/>
              </a:rPr>
              <a:t>&amp; </a:t>
            </a:r>
            <a:r>
              <a:rPr lang="en-US" sz="1400" dirty="0" err="1">
                <a:solidFill>
                  <a:srgbClr val="9FA01C"/>
                </a:solidFill>
                <a:latin typeface="Menlo" panose="020B0609030804020204" pitchFamily="49" charset="0"/>
              </a:rPr>
              <a:t>i</a:t>
            </a:r>
            <a:r>
              <a:rPr lang="en-US" sz="1400" dirty="0">
                <a:solidFill>
                  <a:srgbClr val="000000"/>
                </a:solidFill>
                <a:latin typeface="Menlo" panose="020B0609030804020204" pitchFamily="49" charset="0"/>
              </a:rPr>
              <a:t>) {</a:t>
            </a:r>
            <a:endParaRPr lang="en-US" sz="1400" dirty="0">
              <a:solidFill>
                <a:srgbClr val="2EAEBB"/>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dirty="0">
                <a:solidFill>
                  <a:srgbClr val="2FB41D"/>
                </a:solidFill>
                <a:latin typeface="Menlo" panose="020B0609030804020204" pitchFamily="49" charset="0"/>
              </a:rPr>
              <a:t>Complex</a:t>
            </a:r>
            <a:r>
              <a:rPr lang="en-US" sz="1400" dirty="0">
                <a:solidFill>
                  <a:srgbClr val="000000"/>
                </a:solidFill>
                <a:latin typeface="Menlo" panose="020B0609030804020204" pitchFamily="49" charset="0"/>
              </a:rPr>
              <a:t> </a:t>
            </a:r>
            <a:r>
              <a:rPr lang="en-US" sz="1400" dirty="0">
                <a:solidFill>
                  <a:srgbClr val="9FA01C"/>
                </a:solidFill>
                <a:latin typeface="Menlo" panose="020B0609030804020204" pitchFamily="49" charset="0"/>
              </a:rPr>
              <a:t>temp</a:t>
            </a:r>
            <a:r>
              <a:rPr lang="en-US" sz="1400" dirty="0">
                <a:solidFill>
                  <a:srgbClr val="000000"/>
                </a:solidFill>
                <a:latin typeface="Menlo" panose="020B0609030804020204" pitchFamily="49" charset="0"/>
              </a:rPr>
              <a:t>;</a:t>
            </a:r>
            <a:endParaRPr lang="en-US" sz="1400" dirty="0">
              <a:solidFill>
                <a:srgbClr val="2FB41D"/>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dirty="0" err="1">
                <a:solidFill>
                  <a:srgbClr val="000000"/>
                </a:solidFill>
                <a:latin typeface="Menlo" panose="020B0609030804020204" pitchFamily="49" charset="0"/>
              </a:rPr>
              <a:t>temp.real</a:t>
            </a:r>
            <a:r>
              <a:rPr lang="en-US" sz="1400" dirty="0">
                <a:solidFill>
                  <a:srgbClr val="000000"/>
                </a:solidFill>
                <a:latin typeface="Menlo" panose="020B0609030804020204" pitchFamily="49" charset="0"/>
              </a:rPr>
              <a:t> = real + </a:t>
            </a:r>
            <a:r>
              <a:rPr lang="en-US" sz="1400" dirty="0" err="1">
                <a:solidFill>
                  <a:srgbClr val="000000"/>
                </a:solidFill>
                <a:latin typeface="Menlo" panose="020B0609030804020204" pitchFamily="49" charset="0"/>
              </a:rPr>
              <a:t>i</a:t>
            </a:r>
            <a:r>
              <a:rPr lang="en-US" sz="1400" dirty="0">
                <a:solidFill>
                  <a:srgbClr val="000000"/>
                </a:solidFill>
                <a:latin typeface="Menlo" panose="020B0609030804020204" pitchFamily="49" charset="0"/>
              </a:rPr>
              <a:t>;</a:t>
            </a:r>
          </a:p>
          <a:p>
            <a:r>
              <a:rPr lang="en-US" sz="1400" dirty="0">
                <a:solidFill>
                  <a:srgbClr val="000000"/>
                </a:solidFill>
                <a:latin typeface="Menlo" panose="020B0609030804020204" pitchFamily="49" charset="0"/>
              </a:rPr>
              <a:t>    </a:t>
            </a:r>
            <a:r>
              <a:rPr lang="en-US" sz="1400" dirty="0" err="1">
                <a:solidFill>
                  <a:srgbClr val="000000"/>
                </a:solidFill>
                <a:latin typeface="Menlo" panose="020B0609030804020204" pitchFamily="49" charset="0"/>
              </a:rPr>
              <a:t>temp.imag</a:t>
            </a:r>
            <a:r>
              <a:rPr lang="en-US" sz="1400" dirty="0">
                <a:solidFill>
                  <a:srgbClr val="000000"/>
                </a:solidFill>
                <a:latin typeface="Menlo" panose="020B0609030804020204" pitchFamily="49" charset="0"/>
              </a:rPr>
              <a:t> = </a:t>
            </a:r>
            <a:r>
              <a:rPr lang="en-US" sz="1400" dirty="0" err="1">
                <a:solidFill>
                  <a:srgbClr val="000000"/>
                </a:solidFill>
                <a:latin typeface="Menlo" panose="020B0609030804020204" pitchFamily="49" charset="0"/>
              </a:rPr>
              <a:t>imag</a:t>
            </a:r>
            <a:r>
              <a:rPr lang="en-US" sz="1400" dirty="0">
                <a:solidFill>
                  <a:srgbClr val="000000"/>
                </a:solidFill>
                <a:latin typeface="Menlo" panose="020B0609030804020204" pitchFamily="49" charset="0"/>
              </a:rPr>
              <a:t>;</a:t>
            </a:r>
          </a:p>
          <a:p>
            <a:r>
              <a:rPr lang="en-US" sz="1400" dirty="0">
                <a:solidFill>
                  <a:srgbClr val="000000"/>
                </a:solidFill>
                <a:latin typeface="Menlo" panose="020B0609030804020204" pitchFamily="49" charset="0"/>
              </a:rPr>
              <a:t>    </a:t>
            </a:r>
            <a:r>
              <a:rPr lang="en-US" sz="1400" b="1" dirty="0">
                <a:solidFill>
                  <a:srgbClr val="2EAEBB"/>
                </a:solidFill>
                <a:latin typeface="Menlo" panose="020B0609030804020204" pitchFamily="49" charset="0"/>
              </a:rPr>
              <a:t>return</a:t>
            </a:r>
            <a:r>
              <a:rPr lang="en-US" sz="1400" dirty="0">
                <a:solidFill>
                  <a:srgbClr val="000000"/>
                </a:solidFill>
                <a:latin typeface="Menlo" panose="020B0609030804020204" pitchFamily="49" charset="0"/>
              </a:rPr>
              <a:t> temp;</a:t>
            </a:r>
          </a:p>
          <a:p>
            <a:r>
              <a:rPr lang="en-US" sz="1400" dirty="0">
                <a:solidFill>
                  <a:srgbClr val="000000"/>
                </a:solidFill>
                <a:latin typeface="Menlo" panose="020B0609030804020204" pitchFamily="49" charset="0"/>
              </a:rPr>
              <a:t>  }</a:t>
            </a:r>
            <a:endParaRPr lang="en-US" sz="14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588923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2E29270-D69F-6546-98C2-3D4C20F8E2C9}"/>
              </a:ext>
            </a:extLst>
          </p:cNvPr>
          <p:cNvSpPr/>
          <p:nvPr/>
        </p:nvSpPr>
        <p:spPr>
          <a:xfrm>
            <a:off x="383178" y="1127993"/>
            <a:ext cx="5965372" cy="3754874"/>
          </a:xfrm>
          <a:prstGeom prst="rect">
            <a:avLst/>
          </a:prstGeom>
        </p:spPr>
        <p:txBody>
          <a:bodyPr wrap="square">
            <a:spAutoFit/>
          </a:bodyPr>
          <a:lstStyle/>
          <a:p>
            <a:r>
              <a:rPr lang="en-US" sz="1400" b="1" dirty="0">
                <a:solidFill>
                  <a:srgbClr val="2EAEBB"/>
                </a:solidFill>
                <a:latin typeface="Menlo" panose="020B0609030804020204" pitchFamily="49" charset="0"/>
              </a:rPr>
              <a:t>class</a:t>
            </a:r>
            <a:r>
              <a:rPr lang="en-US" sz="1400" dirty="0">
                <a:solidFill>
                  <a:srgbClr val="000000"/>
                </a:solidFill>
                <a:latin typeface="Menlo" panose="020B0609030804020204" pitchFamily="49" charset="0"/>
              </a:rPr>
              <a:t> </a:t>
            </a:r>
            <a:r>
              <a:rPr lang="en-US" sz="1400" dirty="0">
                <a:solidFill>
                  <a:srgbClr val="2FB41D"/>
                </a:solidFill>
                <a:latin typeface="Menlo" panose="020B0609030804020204" pitchFamily="49" charset="0"/>
              </a:rPr>
              <a:t>Complex</a:t>
            </a:r>
            <a:r>
              <a:rPr lang="en-US" sz="1400" dirty="0">
                <a:solidFill>
                  <a:srgbClr val="000000"/>
                </a:solidFill>
                <a:latin typeface="Menlo" panose="020B0609030804020204" pitchFamily="49" charset="0"/>
              </a:rPr>
              <a:t> {</a:t>
            </a:r>
            <a:endParaRPr lang="en-US" sz="1400" dirty="0">
              <a:solidFill>
                <a:srgbClr val="2FB41D"/>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b="1" dirty="0">
                <a:solidFill>
                  <a:srgbClr val="2EAEBB"/>
                </a:solidFill>
                <a:latin typeface="Menlo" panose="020B0609030804020204" pitchFamily="49" charset="0"/>
              </a:rPr>
              <a:t>private</a:t>
            </a:r>
            <a:r>
              <a:rPr lang="en-US" sz="1400" dirty="0">
                <a:solidFill>
                  <a:srgbClr val="000000"/>
                </a:solidFill>
                <a:latin typeface="Menlo" panose="020B0609030804020204" pitchFamily="49" charset="0"/>
              </a:rPr>
              <a:t>:</a:t>
            </a:r>
            <a:endParaRPr lang="en-US" sz="1400" dirty="0">
              <a:solidFill>
                <a:srgbClr val="2EAEBB"/>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dirty="0">
                <a:solidFill>
                  <a:srgbClr val="2FB41D"/>
                </a:solidFill>
                <a:latin typeface="Menlo" panose="020B0609030804020204" pitchFamily="49" charset="0"/>
              </a:rPr>
              <a:t>float</a:t>
            </a:r>
            <a:r>
              <a:rPr lang="en-US" sz="1400" dirty="0">
                <a:solidFill>
                  <a:srgbClr val="000000"/>
                </a:solidFill>
                <a:latin typeface="Menlo" panose="020B0609030804020204" pitchFamily="49" charset="0"/>
              </a:rPr>
              <a:t> </a:t>
            </a:r>
            <a:r>
              <a:rPr lang="en-US" sz="1400" dirty="0">
                <a:solidFill>
                  <a:srgbClr val="9FA01C"/>
                </a:solidFill>
                <a:latin typeface="Menlo" panose="020B0609030804020204" pitchFamily="49" charset="0"/>
              </a:rPr>
              <a:t>real</a:t>
            </a:r>
            <a:r>
              <a:rPr lang="en-US" sz="1400" dirty="0">
                <a:solidFill>
                  <a:srgbClr val="000000"/>
                </a:solidFill>
                <a:latin typeface="Menlo" panose="020B0609030804020204" pitchFamily="49" charset="0"/>
              </a:rPr>
              <a:t>;</a:t>
            </a:r>
          </a:p>
          <a:p>
            <a:r>
              <a:rPr lang="en-US" sz="1400" dirty="0">
                <a:solidFill>
                  <a:srgbClr val="000000"/>
                </a:solidFill>
                <a:latin typeface="Menlo" panose="020B0609030804020204" pitchFamily="49" charset="0"/>
              </a:rPr>
              <a:t>    </a:t>
            </a:r>
            <a:r>
              <a:rPr lang="en-US" sz="1400" dirty="0">
                <a:solidFill>
                  <a:srgbClr val="2FB41D"/>
                </a:solidFill>
                <a:latin typeface="Menlo" panose="020B0609030804020204" pitchFamily="49" charset="0"/>
              </a:rPr>
              <a:t>float</a:t>
            </a:r>
            <a:r>
              <a:rPr lang="en-US" sz="1400" dirty="0">
                <a:solidFill>
                  <a:srgbClr val="000000"/>
                </a:solidFill>
                <a:latin typeface="Menlo" panose="020B0609030804020204" pitchFamily="49" charset="0"/>
              </a:rPr>
              <a:t> </a:t>
            </a:r>
            <a:r>
              <a:rPr lang="en-US" sz="1400" dirty="0" err="1">
                <a:solidFill>
                  <a:srgbClr val="9FA01C"/>
                </a:solidFill>
                <a:latin typeface="Menlo" panose="020B0609030804020204" pitchFamily="49" charset="0"/>
              </a:rPr>
              <a:t>imag</a:t>
            </a:r>
            <a:r>
              <a:rPr lang="en-US" sz="1400" dirty="0">
                <a:solidFill>
                  <a:srgbClr val="000000"/>
                </a:solidFill>
                <a:latin typeface="Menlo" panose="020B0609030804020204" pitchFamily="49" charset="0"/>
              </a:rPr>
              <a:t>;</a:t>
            </a:r>
          </a:p>
          <a:p>
            <a:r>
              <a:rPr lang="en-US" sz="1400" dirty="0">
                <a:solidFill>
                  <a:srgbClr val="000000"/>
                </a:solidFill>
                <a:latin typeface="Menlo" panose="020B0609030804020204" pitchFamily="49" charset="0"/>
              </a:rPr>
              <a:t>   </a:t>
            </a:r>
            <a:r>
              <a:rPr lang="en-US" sz="1400" b="1" dirty="0">
                <a:solidFill>
                  <a:srgbClr val="2EAEBB"/>
                </a:solidFill>
                <a:latin typeface="Menlo" panose="020B0609030804020204" pitchFamily="49" charset="0"/>
              </a:rPr>
              <a:t>public</a:t>
            </a:r>
            <a:r>
              <a:rPr lang="en-US" sz="1400" dirty="0">
                <a:solidFill>
                  <a:srgbClr val="000000"/>
                </a:solidFill>
                <a:latin typeface="Menlo" panose="020B0609030804020204" pitchFamily="49" charset="0"/>
              </a:rPr>
              <a:t>:</a:t>
            </a:r>
            <a:endParaRPr lang="en-US" sz="1400" dirty="0">
              <a:solidFill>
                <a:srgbClr val="2EAEBB"/>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dirty="0">
                <a:solidFill>
                  <a:srgbClr val="B42419"/>
                </a:solidFill>
                <a:latin typeface="Menlo" panose="020B0609030804020204" pitchFamily="49" charset="0"/>
              </a:rPr>
              <a:t>// Constructor to initialize real and </a:t>
            </a:r>
            <a:r>
              <a:rPr lang="en-US" sz="1400" dirty="0" err="1">
                <a:solidFill>
                  <a:srgbClr val="B42419"/>
                </a:solidFill>
                <a:latin typeface="Menlo" panose="020B0609030804020204" pitchFamily="49" charset="0"/>
              </a:rPr>
              <a:t>imag</a:t>
            </a:r>
            <a:r>
              <a:rPr lang="en-US" sz="1400" dirty="0">
                <a:solidFill>
                  <a:srgbClr val="B42419"/>
                </a:solidFill>
                <a:latin typeface="Menlo" panose="020B0609030804020204" pitchFamily="49" charset="0"/>
              </a:rPr>
              <a:t> to 0</a:t>
            </a:r>
            <a:endParaRPr lang="en-US" sz="1400" dirty="0">
              <a:solidFill>
                <a:srgbClr val="000000"/>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b="1" dirty="0">
                <a:solidFill>
                  <a:srgbClr val="400BD9"/>
                </a:solidFill>
                <a:latin typeface="Menlo" panose="020B0609030804020204" pitchFamily="49" charset="0"/>
              </a:rPr>
              <a:t>Complex</a:t>
            </a:r>
            <a:r>
              <a:rPr lang="en-US" sz="1400" dirty="0">
                <a:solidFill>
                  <a:srgbClr val="000000"/>
                </a:solidFill>
                <a:latin typeface="Menlo" panose="020B0609030804020204" pitchFamily="49" charset="0"/>
              </a:rPr>
              <a:t>() : real(0), </a:t>
            </a:r>
            <a:r>
              <a:rPr lang="en-US" sz="1400" dirty="0" err="1">
                <a:solidFill>
                  <a:srgbClr val="000000"/>
                </a:solidFill>
                <a:latin typeface="Menlo" panose="020B0609030804020204" pitchFamily="49" charset="0"/>
              </a:rPr>
              <a:t>imag</a:t>
            </a:r>
            <a:r>
              <a:rPr lang="en-US" sz="1400" dirty="0">
                <a:solidFill>
                  <a:srgbClr val="000000"/>
                </a:solidFill>
                <a:latin typeface="Menlo" panose="020B0609030804020204" pitchFamily="49" charset="0"/>
              </a:rPr>
              <a:t>(0) {}</a:t>
            </a:r>
          </a:p>
          <a:p>
            <a:endParaRPr lang="en-US" sz="1400" dirty="0">
              <a:solidFill>
                <a:srgbClr val="000000"/>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dirty="0">
                <a:solidFill>
                  <a:srgbClr val="B42419"/>
                </a:solidFill>
                <a:latin typeface="Menlo" panose="020B0609030804020204" pitchFamily="49" charset="0"/>
              </a:rPr>
              <a:t>// Overload the + operator</a:t>
            </a:r>
            <a:endParaRPr lang="en-US" sz="1400" dirty="0">
              <a:solidFill>
                <a:srgbClr val="000000"/>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dirty="0">
                <a:solidFill>
                  <a:srgbClr val="2FB41D"/>
                </a:solidFill>
                <a:latin typeface="Menlo" panose="020B0609030804020204" pitchFamily="49" charset="0"/>
              </a:rPr>
              <a:t>Complex</a:t>
            </a:r>
            <a:r>
              <a:rPr lang="en-US" sz="1400" dirty="0">
                <a:solidFill>
                  <a:srgbClr val="000000"/>
                </a:solidFill>
                <a:latin typeface="Menlo" panose="020B0609030804020204" pitchFamily="49" charset="0"/>
              </a:rPr>
              <a:t> </a:t>
            </a:r>
            <a:r>
              <a:rPr lang="en-US" sz="1400" b="1" dirty="0">
                <a:solidFill>
                  <a:srgbClr val="2EAEBB"/>
                </a:solidFill>
                <a:latin typeface="Menlo" panose="020B0609030804020204" pitchFamily="49" charset="0"/>
              </a:rPr>
              <a:t>operator</a:t>
            </a:r>
            <a:r>
              <a:rPr lang="en-US" sz="1400" dirty="0">
                <a:solidFill>
                  <a:srgbClr val="000000"/>
                </a:solidFill>
                <a:latin typeface="Menlo" panose="020B0609030804020204" pitchFamily="49" charset="0"/>
              </a:rPr>
              <a:t> </a:t>
            </a:r>
            <a:r>
              <a:rPr lang="en-US" sz="1400" b="1" dirty="0">
                <a:solidFill>
                  <a:srgbClr val="400BD9"/>
                </a:solidFill>
                <a:latin typeface="Menlo" panose="020B0609030804020204" pitchFamily="49" charset="0"/>
              </a:rPr>
              <a:t>+</a:t>
            </a:r>
            <a:r>
              <a:rPr lang="en-US" sz="1400" dirty="0">
                <a:solidFill>
                  <a:srgbClr val="000000"/>
                </a:solidFill>
                <a:latin typeface="Menlo" panose="020B0609030804020204" pitchFamily="49" charset="0"/>
              </a:rPr>
              <a:t> (</a:t>
            </a:r>
            <a:r>
              <a:rPr lang="en-US" sz="1400" b="1" dirty="0">
                <a:solidFill>
                  <a:srgbClr val="2EAEBB"/>
                </a:solidFill>
                <a:latin typeface="Menlo" panose="020B0609030804020204" pitchFamily="49" charset="0"/>
              </a:rPr>
              <a:t>const</a:t>
            </a:r>
            <a:r>
              <a:rPr lang="en-US" sz="1400" dirty="0">
                <a:solidFill>
                  <a:srgbClr val="000000"/>
                </a:solidFill>
                <a:latin typeface="Menlo" panose="020B0609030804020204" pitchFamily="49" charset="0"/>
              </a:rPr>
              <a:t> </a:t>
            </a:r>
            <a:r>
              <a:rPr lang="en-US" sz="1400" dirty="0">
                <a:solidFill>
                  <a:srgbClr val="2FB41D"/>
                </a:solidFill>
                <a:latin typeface="Menlo" panose="020B0609030804020204" pitchFamily="49" charset="0"/>
              </a:rPr>
              <a:t>Complex</a:t>
            </a:r>
            <a:r>
              <a:rPr lang="en-US" sz="1400" dirty="0">
                <a:solidFill>
                  <a:srgbClr val="000000"/>
                </a:solidFill>
                <a:latin typeface="Menlo" panose="020B0609030804020204" pitchFamily="49" charset="0"/>
              </a:rPr>
              <a:t>&amp; </a:t>
            </a:r>
            <a:r>
              <a:rPr lang="en-US" sz="1400" dirty="0">
                <a:solidFill>
                  <a:srgbClr val="9FA01C"/>
                </a:solidFill>
                <a:latin typeface="Menlo" panose="020B0609030804020204" pitchFamily="49" charset="0"/>
              </a:rPr>
              <a:t>obj</a:t>
            </a:r>
            <a:r>
              <a:rPr lang="en-US" sz="1400" dirty="0">
                <a:solidFill>
                  <a:srgbClr val="000000"/>
                </a:solidFill>
                <a:latin typeface="Menlo" panose="020B0609030804020204" pitchFamily="49" charset="0"/>
              </a:rPr>
              <a:t>) {</a:t>
            </a:r>
          </a:p>
          <a:p>
            <a:r>
              <a:rPr lang="en-US" sz="1400" dirty="0">
                <a:solidFill>
                  <a:srgbClr val="2FB41D"/>
                </a:solidFill>
                <a:latin typeface="Menlo" panose="020B0609030804020204" pitchFamily="49" charset="0"/>
              </a:rPr>
              <a:t>      Complex</a:t>
            </a:r>
            <a:r>
              <a:rPr lang="en-US" sz="1400" dirty="0">
                <a:solidFill>
                  <a:srgbClr val="000000"/>
                </a:solidFill>
                <a:latin typeface="Menlo" panose="020B0609030804020204" pitchFamily="49" charset="0"/>
              </a:rPr>
              <a:t> </a:t>
            </a:r>
            <a:r>
              <a:rPr lang="en-US" sz="1400" dirty="0">
                <a:solidFill>
                  <a:srgbClr val="9FA01C"/>
                </a:solidFill>
                <a:latin typeface="Menlo" panose="020B0609030804020204" pitchFamily="49" charset="0"/>
              </a:rPr>
              <a:t>temp</a:t>
            </a:r>
            <a:r>
              <a:rPr lang="en-US" sz="1400" dirty="0">
                <a:solidFill>
                  <a:srgbClr val="000000"/>
                </a:solidFill>
                <a:latin typeface="Menlo" panose="020B0609030804020204" pitchFamily="49" charset="0"/>
              </a:rPr>
              <a:t>;</a:t>
            </a:r>
            <a:endParaRPr lang="en-US" sz="1400" dirty="0">
              <a:solidFill>
                <a:srgbClr val="2FB41D"/>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dirty="0" err="1">
                <a:solidFill>
                  <a:srgbClr val="000000"/>
                </a:solidFill>
                <a:latin typeface="Menlo" panose="020B0609030804020204" pitchFamily="49" charset="0"/>
              </a:rPr>
              <a:t>temp.real</a:t>
            </a:r>
            <a:r>
              <a:rPr lang="en-US" sz="1400" dirty="0">
                <a:solidFill>
                  <a:srgbClr val="000000"/>
                </a:solidFill>
                <a:latin typeface="Menlo" panose="020B0609030804020204" pitchFamily="49" charset="0"/>
              </a:rPr>
              <a:t> = real + </a:t>
            </a:r>
            <a:r>
              <a:rPr lang="en-US" sz="1400" dirty="0" err="1">
                <a:solidFill>
                  <a:srgbClr val="000000"/>
                </a:solidFill>
                <a:latin typeface="Menlo" panose="020B0609030804020204" pitchFamily="49" charset="0"/>
              </a:rPr>
              <a:t>obj.real</a:t>
            </a:r>
            <a:r>
              <a:rPr lang="en-US" sz="1400" dirty="0">
                <a:solidFill>
                  <a:srgbClr val="000000"/>
                </a:solidFill>
                <a:latin typeface="Menlo" panose="020B0609030804020204" pitchFamily="49" charset="0"/>
              </a:rPr>
              <a:t>;</a:t>
            </a:r>
          </a:p>
          <a:p>
            <a:r>
              <a:rPr lang="en-US" sz="1400" dirty="0">
                <a:solidFill>
                  <a:srgbClr val="000000"/>
                </a:solidFill>
                <a:latin typeface="Menlo" panose="020B0609030804020204" pitchFamily="49" charset="0"/>
              </a:rPr>
              <a:t>      </a:t>
            </a:r>
            <a:r>
              <a:rPr lang="en-US" sz="1400" dirty="0" err="1">
                <a:solidFill>
                  <a:srgbClr val="000000"/>
                </a:solidFill>
                <a:latin typeface="Menlo" panose="020B0609030804020204" pitchFamily="49" charset="0"/>
              </a:rPr>
              <a:t>temp.imag</a:t>
            </a:r>
            <a:r>
              <a:rPr lang="en-US" sz="1400" dirty="0">
                <a:solidFill>
                  <a:srgbClr val="000000"/>
                </a:solidFill>
                <a:latin typeface="Menlo" panose="020B0609030804020204" pitchFamily="49" charset="0"/>
              </a:rPr>
              <a:t> = </a:t>
            </a:r>
            <a:r>
              <a:rPr lang="en-US" sz="1400" dirty="0" err="1">
                <a:solidFill>
                  <a:srgbClr val="000000"/>
                </a:solidFill>
                <a:latin typeface="Menlo" panose="020B0609030804020204" pitchFamily="49" charset="0"/>
              </a:rPr>
              <a:t>imag</a:t>
            </a:r>
            <a:r>
              <a:rPr lang="en-US" sz="1400" dirty="0">
                <a:solidFill>
                  <a:srgbClr val="000000"/>
                </a:solidFill>
                <a:latin typeface="Menlo" panose="020B0609030804020204" pitchFamily="49" charset="0"/>
              </a:rPr>
              <a:t> + </a:t>
            </a:r>
            <a:r>
              <a:rPr lang="en-US" sz="1400" dirty="0" err="1">
                <a:solidFill>
                  <a:srgbClr val="000000"/>
                </a:solidFill>
                <a:latin typeface="Menlo" panose="020B0609030804020204" pitchFamily="49" charset="0"/>
              </a:rPr>
              <a:t>obj.imag</a:t>
            </a:r>
            <a:r>
              <a:rPr lang="en-US" sz="1400" dirty="0">
                <a:solidFill>
                  <a:srgbClr val="000000"/>
                </a:solidFill>
                <a:latin typeface="Menlo" panose="020B0609030804020204" pitchFamily="49" charset="0"/>
              </a:rPr>
              <a:t>;</a:t>
            </a:r>
          </a:p>
          <a:p>
            <a:r>
              <a:rPr lang="en-US" sz="1400" b="1" dirty="0">
                <a:solidFill>
                  <a:srgbClr val="2EAEBB"/>
                </a:solidFill>
                <a:latin typeface="Menlo" panose="020B0609030804020204" pitchFamily="49" charset="0"/>
              </a:rPr>
              <a:t>      return</a:t>
            </a:r>
            <a:r>
              <a:rPr lang="en-US" sz="1400" dirty="0">
                <a:solidFill>
                  <a:srgbClr val="000000"/>
                </a:solidFill>
                <a:latin typeface="Menlo" panose="020B0609030804020204" pitchFamily="49" charset="0"/>
              </a:rPr>
              <a:t> temp;</a:t>
            </a:r>
          </a:p>
          <a:p>
            <a:r>
              <a:rPr lang="en-US" sz="1400" dirty="0">
                <a:solidFill>
                  <a:srgbClr val="000000"/>
                </a:solidFill>
                <a:latin typeface="Menlo" panose="020B0609030804020204" pitchFamily="49" charset="0"/>
              </a:rPr>
              <a:t>    }</a:t>
            </a:r>
          </a:p>
          <a:p>
            <a:endParaRPr lang="en-US" sz="1400" dirty="0">
              <a:solidFill>
                <a:srgbClr val="000000"/>
              </a:solidFill>
              <a:effectLst/>
              <a:latin typeface="Menlo" panose="020B0609030804020204" pitchFamily="49" charset="0"/>
            </a:endParaRPr>
          </a:p>
          <a:p>
            <a:endParaRPr lang="en-US" sz="1400" dirty="0">
              <a:solidFill>
                <a:srgbClr val="000000"/>
              </a:solidFill>
              <a:effectLst/>
              <a:latin typeface="Menlo" panose="020B0609030804020204" pitchFamily="49" charset="0"/>
            </a:endParaRPr>
          </a:p>
        </p:txBody>
      </p:sp>
      <p:sp>
        <p:nvSpPr>
          <p:cNvPr id="6" name="Rectangle 5">
            <a:extLst>
              <a:ext uri="{FF2B5EF4-FFF2-40B4-BE49-F238E27FC236}">
                <a16:creationId xmlns:a16="http://schemas.microsoft.com/office/drawing/2014/main" id="{E5208194-12B5-9B47-B656-BBA954DE963F}"/>
              </a:ext>
            </a:extLst>
          </p:cNvPr>
          <p:cNvSpPr/>
          <p:nvPr/>
        </p:nvSpPr>
        <p:spPr>
          <a:xfrm>
            <a:off x="226422" y="6345424"/>
            <a:ext cx="7794171" cy="307777"/>
          </a:xfrm>
          <a:prstGeom prst="rect">
            <a:avLst/>
          </a:prstGeom>
        </p:spPr>
        <p:txBody>
          <a:bodyPr wrap="square">
            <a:spAutoFit/>
          </a:bodyPr>
          <a:lstStyle/>
          <a:p>
            <a:r>
              <a:rPr lang="en-US" sz="1400" dirty="0"/>
              <a:t>code from: https://</a:t>
            </a:r>
            <a:r>
              <a:rPr lang="en-US" sz="1400" dirty="0" err="1"/>
              <a:t>www.programiz.com</a:t>
            </a:r>
            <a:r>
              <a:rPr lang="en-US" sz="1400" dirty="0"/>
              <a:t>/</a:t>
            </a:r>
            <a:r>
              <a:rPr lang="en-US" sz="1400" dirty="0" err="1"/>
              <a:t>cpp</a:t>
            </a:r>
            <a:r>
              <a:rPr lang="en-US" sz="1400" dirty="0"/>
              <a:t>-programming/operator-overloading</a:t>
            </a:r>
          </a:p>
        </p:txBody>
      </p:sp>
      <p:graphicFrame>
        <p:nvGraphicFramePr>
          <p:cNvPr id="7" name="Table 3">
            <a:extLst>
              <a:ext uri="{FF2B5EF4-FFF2-40B4-BE49-F238E27FC236}">
                <a16:creationId xmlns:a16="http://schemas.microsoft.com/office/drawing/2014/main" id="{650CC178-A0D0-CD4F-9BD1-7F65DE3E5449}"/>
              </a:ext>
            </a:extLst>
          </p:cNvPr>
          <p:cNvGraphicFramePr>
            <a:graphicFrameLocks noGrp="1"/>
          </p:cNvGraphicFramePr>
          <p:nvPr/>
        </p:nvGraphicFramePr>
        <p:xfrm>
          <a:off x="6609501" y="1506573"/>
          <a:ext cx="5199321" cy="2595880"/>
        </p:xfrm>
        <a:graphic>
          <a:graphicData uri="http://schemas.openxmlformats.org/drawingml/2006/table">
            <a:tbl>
              <a:tblPr firstRow="1" bandRow="1">
                <a:tableStyleId>{073A0DAA-6AF3-43AB-8588-CEC1D06C72B9}</a:tableStyleId>
              </a:tblPr>
              <a:tblGrid>
                <a:gridCol w="1276275">
                  <a:extLst>
                    <a:ext uri="{9D8B030D-6E8A-4147-A177-3AD203B41FA5}">
                      <a16:colId xmlns:a16="http://schemas.microsoft.com/office/drawing/2014/main" val="1084029198"/>
                    </a:ext>
                  </a:extLst>
                </a:gridCol>
                <a:gridCol w="1390205">
                  <a:extLst>
                    <a:ext uri="{9D8B030D-6E8A-4147-A177-3AD203B41FA5}">
                      <a16:colId xmlns:a16="http://schemas.microsoft.com/office/drawing/2014/main" val="612780071"/>
                    </a:ext>
                  </a:extLst>
                </a:gridCol>
                <a:gridCol w="2532841">
                  <a:extLst>
                    <a:ext uri="{9D8B030D-6E8A-4147-A177-3AD203B41FA5}">
                      <a16:colId xmlns:a16="http://schemas.microsoft.com/office/drawing/2014/main" val="2089903387"/>
                    </a:ext>
                  </a:extLst>
                </a:gridCol>
              </a:tblGrid>
              <a:tr h="370840">
                <a:tc>
                  <a:txBody>
                    <a:bodyPr/>
                    <a:lstStyle/>
                    <a:p>
                      <a:r>
                        <a:rPr lang="en-US" dirty="0"/>
                        <a:t>left child</a:t>
                      </a:r>
                    </a:p>
                  </a:txBody>
                  <a:tcPr/>
                </a:tc>
                <a:tc>
                  <a:txBody>
                    <a:bodyPr/>
                    <a:lstStyle/>
                    <a:p>
                      <a:r>
                        <a:rPr lang="en-US" dirty="0"/>
                        <a:t>right child</a:t>
                      </a:r>
                    </a:p>
                  </a:txBody>
                  <a:tcPr/>
                </a:tc>
                <a:tc>
                  <a:txBody>
                    <a:bodyPr/>
                    <a:lstStyle/>
                    <a:p>
                      <a:r>
                        <a:rPr lang="en-US" dirty="0"/>
                        <a:t>result</a:t>
                      </a:r>
                    </a:p>
                  </a:txBody>
                  <a:tcPr/>
                </a:tc>
                <a:extLst>
                  <a:ext uri="{0D108BD9-81ED-4DB2-BD59-A6C34878D82A}">
                    <a16:rowId xmlns:a16="http://schemas.microsoft.com/office/drawing/2014/main" val="1811918794"/>
                  </a:ext>
                </a:extLst>
              </a:tr>
              <a:tr h="370840">
                <a:tc>
                  <a:txBody>
                    <a:bodyPr/>
                    <a:lstStyle/>
                    <a:p>
                      <a:r>
                        <a:rPr lang="en-US" dirty="0">
                          <a:latin typeface="Courier" pitchFamily="2" charset="0"/>
                        </a:rPr>
                        <a:t>int</a:t>
                      </a:r>
                    </a:p>
                  </a:txBody>
                  <a:tcPr/>
                </a:tc>
                <a:tc>
                  <a:txBody>
                    <a:bodyPr/>
                    <a:lstStyle/>
                    <a:p>
                      <a:r>
                        <a:rPr lang="en-US" dirty="0">
                          <a:latin typeface="Courier" pitchFamily="2" charset="0"/>
                        </a:rPr>
                        <a:t>int</a:t>
                      </a:r>
                    </a:p>
                  </a:txBody>
                  <a:tcPr/>
                </a:tc>
                <a:tc>
                  <a:txBody>
                    <a:bodyPr/>
                    <a:lstStyle/>
                    <a:p>
                      <a:r>
                        <a:rPr lang="en-US" dirty="0">
                          <a:latin typeface="Courier" pitchFamily="2" charset="0"/>
                        </a:rPr>
                        <a:t>int</a:t>
                      </a:r>
                    </a:p>
                  </a:txBody>
                  <a:tcPr/>
                </a:tc>
                <a:extLst>
                  <a:ext uri="{0D108BD9-81ED-4DB2-BD59-A6C34878D82A}">
                    <a16:rowId xmlns:a16="http://schemas.microsoft.com/office/drawing/2014/main" val="2087865665"/>
                  </a:ext>
                </a:extLst>
              </a:tr>
              <a:tr h="370840">
                <a:tc>
                  <a:txBody>
                    <a:bodyPr/>
                    <a:lstStyle/>
                    <a:p>
                      <a:r>
                        <a:rPr lang="en-US" dirty="0">
                          <a:latin typeface="Courier" pitchFamily="2" charset="0"/>
                        </a:rPr>
                        <a:t>int</a:t>
                      </a:r>
                    </a:p>
                  </a:txBody>
                  <a:tcPr/>
                </a:tc>
                <a:tc>
                  <a:txBody>
                    <a:bodyPr/>
                    <a:lstStyle/>
                    <a:p>
                      <a:r>
                        <a:rPr lang="en-US" dirty="0">
                          <a:latin typeface="Courier" pitchFamily="2" charset="0"/>
                        </a:rPr>
                        <a:t>float</a:t>
                      </a:r>
                    </a:p>
                  </a:txBody>
                  <a:tcPr/>
                </a:tc>
                <a:tc>
                  <a:txBody>
                    <a:bodyPr/>
                    <a:lstStyle/>
                    <a:p>
                      <a:r>
                        <a:rPr lang="en-US" dirty="0">
                          <a:latin typeface="Courier" pitchFamily="2" charset="0"/>
                        </a:rPr>
                        <a:t>float</a:t>
                      </a:r>
                    </a:p>
                  </a:txBody>
                  <a:tcPr/>
                </a:tc>
                <a:extLst>
                  <a:ext uri="{0D108BD9-81ED-4DB2-BD59-A6C34878D82A}">
                    <a16:rowId xmlns:a16="http://schemas.microsoft.com/office/drawing/2014/main" val="3675798418"/>
                  </a:ext>
                </a:extLst>
              </a:tr>
              <a:tr h="370840">
                <a:tc>
                  <a:txBody>
                    <a:bodyPr/>
                    <a:lstStyle/>
                    <a:p>
                      <a:r>
                        <a:rPr lang="en-US" dirty="0">
                          <a:latin typeface="Courier" pitchFamily="2" charset="0"/>
                        </a:rPr>
                        <a:t>float</a:t>
                      </a:r>
                    </a:p>
                  </a:txBody>
                  <a:tcPr/>
                </a:tc>
                <a:tc>
                  <a:txBody>
                    <a:bodyPr/>
                    <a:lstStyle/>
                    <a:p>
                      <a:r>
                        <a:rPr lang="en-US" dirty="0">
                          <a:latin typeface="Courier" pitchFamily="2" charset="0"/>
                        </a:rPr>
                        <a:t>int</a:t>
                      </a:r>
                    </a:p>
                  </a:txBody>
                  <a:tcPr/>
                </a:tc>
                <a:tc>
                  <a:txBody>
                    <a:bodyPr/>
                    <a:lstStyle/>
                    <a:p>
                      <a:r>
                        <a:rPr lang="en-US" dirty="0">
                          <a:latin typeface="Courier" pitchFamily="2" charset="0"/>
                        </a:rPr>
                        <a:t>float</a:t>
                      </a:r>
                    </a:p>
                  </a:txBody>
                  <a:tcPr/>
                </a:tc>
                <a:extLst>
                  <a:ext uri="{0D108BD9-81ED-4DB2-BD59-A6C34878D82A}">
                    <a16:rowId xmlns:a16="http://schemas.microsoft.com/office/drawing/2014/main" val="2344795842"/>
                  </a:ext>
                </a:extLst>
              </a:tr>
              <a:tr h="370840">
                <a:tc>
                  <a:txBody>
                    <a:bodyPr/>
                    <a:lstStyle/>
                    <a:p>
                      <a:r>
                        <a:rPr lang="en-US" dirty="0">
                          <a:latin typeface="Courier" pitchFamily="2" charset="0"/>
                        </a:rPr>
                        <a:t>float</a:t>
                      </a:r>
                    </a:p>
                  </a:txBody>
                  <a:tcPr/>
                </a:tc>
                <a:tc>
                  <a:txBody>
                    <a:bodyPr/>
                    <a:lstStyle/>
                    <a:p>
                      <a:r>
                        <a:rPr lang="en-US" dirty="0">
                          <a:latin typeface="Courier" pitchFamily="2" charset="0"/>
                        </a:rPr>
                        <a:t>float</a:t>
                      </a:r>
                    </a:p>
                  </a:txBody>
                  <a:tcPr/>
                </a:tc>
                <a:tc>
                  <a:txBody>
                    <a:bodyPr/>
                    <a:lstStyle/>
                    <a:p>
                      <a:r>
                        <a:rPr lang="en-US" dirty="0">
                          <a:latin typeface="Courier" pitchFamily="2" charset="0"/>
                        </a:rPr>
                        <a:t>float</a:t>
                      </a:r>
                    </a:p>
                  </a:txBody>
                  <a:tcPr/>
                </a:tc>
                <a:extLst>
                  <a:ext uri="{0D108BD9-81ED-4DB2-BD59-A6C34878D82A}">
                    <a16:rowId xmlns:a16="http://schemas.microsoft.com/office/drawing/2014/main" val="359589"/>
                  </a:ext>
                </a:extLst>
              </a:tr>
              <a:tr h="370840">
                <a:tc>
                  <a:txBody>
                    <a:bodyPr/>
                    <a:lstStyle/>
                    <a:p>
                      <a:r>
                        <a:rPr lang="en-US" dirty="0">
                          <a:latin typeface="Courier" pitchFamily="2" charset="0"/>
                        </a:rPr>
                        <a:t>Complex</a:t>
                      </a:r>
                    </a:p>
                  </a:txBody>
                  <a:tcPr/>
                </a:tc>
                <a:tc>
                  <a:txBody>
                    <a:bodyPr/>
                    <a:lstStyle/>
                    <a:p>
                      <a:r>
                        <a:rPr lang="en-US" dirty="0">
                          <a:latin typeface="Courier" pitchFamily="2" charset="0"/>
                        </a:rPr>
                        <a:t>Complex</a:t>
                      </a:r>
                    </a:p>
                  </a:txBody>
                  <a:tcPr/>
                </a:tc>
                <a:tc>
                  <a:txBody>
                    <a:bodyPr/>
                    <a:lstStyle/>
                    <a:p>
                      <a:r>
                        <a:rPr lang="en-US" dirty="0">
                          <a:latin typeface="Courier" pitchFamily="2" charset="0"/>
                        </a:rPr>
                        <a:t>Complex</a:t>
                      </a:r>
                    </a:p>
                  </a:txBody>
                  <a:tcPr/>
                </a:tc>
                <a:extLst>
                  <a:ext uri="{0D108BD9-81ED-4DB2-BD59-A6C34878D82A}">
                    <a16:rowId xmlns:a16="http://schemas.microsoft.com/office/drawing/2014/main" val="842685552"/>
                  </a:ext>
                </a:extLst>
              </a:tr>
              <a:tr h="370840">
                <a:tc>
                  <a:txBody>
                    <a:bodyPr/>
                    <a:lstStyle/>
                    <a:p>
                      <a:r>
                        <a:rPr lang="en-US" dirty="0">
                          <a:highlight>
                            <a:srgbClr val="FFFF00"/>
                          </a:highlight>
                          <a:latin typeface="Courier" pitchFamily="2" charset="0"/>
                        </a:rPr>
                        <a:t>Complex</a:t>
                      </a:r>
                    </a:p>
                  </a:txBody>
                  <a:tcPr/>
                </a:tc>
                <a:tc>
                  <a:txBody>
                    <a:bodyPr/>
                    <a:lstStyle/>
                    <a:p>
                      <a:r>
                        <a:rPr lang="en-US" dirty="0">
                          <a:highlight>
                            <a:srgbClr val="FFFF00"/>
                          </a:highlight>
                          <a:latin typeface="Courier" pitchFamily="2" charset="0"/>
                        </a:rPr>
                        <a:t>float</a:t>
                      </a:r>
                    </a:p>
                  </a:txBody>
                  <a:tcPr/>
                </a:tc>
                <a:tc>
                  <a:txBody>
                    <a:bodyPr/>
                    <a:lstStyle/>
                    <a:p>
                      <a:r>
                        <a:rPr lang="en-US" dirty="0">
                          <a:highlight>
                            <a:srgbClr val="FFFF00"/>
                          </a:highlight>
                          <a:latin typeface="Courier" pitchFamily="2" charset="0"/>
                        </a:rPr>
                        <a:t>Complex</a:t>
                      </a:r>
                    </a:p>
                  </a:txBody>
                  <a:tcPr/>
                </a:tc>
                <a:extLst>
                  <a:ext uri="{0D108BD9-81ED-4DB2-BD59-A6C34878D82A}">
                    <a16:rowId xmlns:a16="http://schemas.microsoft.com/office/drawing/2014/main" val="3272090709"/>
                  </a:ext>
                </a:extLst>
              </a:tr>
            </a:tbl>
          </a:graphicData>
        </a:graphic>
      </p:graphicFrame>
      <p:sp>
        <p:nvSpPr>
          <p:cNvPr id="8" name="TextBox 7">
            <a:extLst>
              <a:ext uri="{FF2B5EF4-FFF2-40B4-BE49-F238E27FC236}">
                <a16:creationId xmlns:a16="http://schemas.microsoft.com/office/drawing/2014/main" id="{68E1C3AB-45E1-0342-8840-74464C448A84}"/>
              </a:ext>
            </a:extLst>
          </p:cNvPr>
          <p:cNvSpPr txBox="1"/>
          <p:nvPr/>
        </p:nvSpPr>
        <p:spPr>
          <a:xfrm>
            <a:off x="6609501" y="1049616"/>
            <a:ext cx="2470100" cy="369332"/>
          </a:xfrm>
          <a:prstGeom prst="rect">
            <a:avLst/>
          </a:prstGeom>
          <a:noFill/>
        </p:spPr>
        <p:txBody>
          <a:bodyPr wrap="none" rtlCol="0">
            <a:spAutoFit/>
          </a:bodyPr>
          <a:lstStyle/>
          <a:p>
            <a:r>
              <a:rPr lang="en-US" dirty="0"/>
              <a:t>Table for </a:t>
            </a:r>
            <a:r>
              <a:rPr lang="en-US" b="1" i="1" dirty="0"/>
              <a:t>plus</a:t>
            </a:r>
            <a:r>
              <a:rPr lang="en-US" dirty="0"/>
              <a:t> binary ops</a:t>
            </a:r>
          </a:p>
        </p:txBody>
      </p:sp>
      <p:sp>
        <p:nvSpPr>
          <p:cNvPr id="2" name="Rectangle 1">
            <a:extLst>
              <a:ext uri="{FF2B5EF4-FFF2-40B4-BE49-F238E27FC236}">
                <a16:creationId xmlns:a16="http://schemas.microsoft.com/office/drawing/2014/main" id="{F27FA35F-0324-8A45-B299-F20481F2DADA}"/>
              </a:ext>
            </a:extLst>
          </p:cNvPr>
          <p:cNvSpPr/>
          <p:nvPr/>
        </p:nvSpPr>
        <p:spPr>
          <a:xfrm>
            <a:off x="766354" y="4619357"/>
            <a:ext cx="6096000" cy="1384995"/>
          </a:xfrm>
          <a:prstGeom prst="rect">
            <a:avLst/>
          </a:prstGeom>
        </p:spPr>
        <p:txBody>
          <a:bodyPr>
            <a:spAutoFit/>
          </a:bodyPr>
          <a:lstStyle/>
          <a:p>
            <a:r>
              <a:rPr lang="en-US" sz="1400" dirty="0">
                <a:solidFill>
                  <a:srgbClr val="2FB41D"/>
                </a:solidFill>
                <a:latin typeface="Menlo" panose="020B0609030804020204" pitchFamily="49" charset="0"/>
              </a:rPr>
              <a:t>Complex</a:t>
            </a:r>
            <a:r>
              <a:rPr lang="en-US" sz="1400" dirty="0">
                <a:solidFill>
                  <a:srgbClr val="000000"/>
                </a:solidFill>
                <a:latin typeface="Menlo" panose="020B0609030804020204" pitchFamily="49" charset="0"/>
              </a:rPr>
              <a:t> </a:t>
            </a:r>
            <a:r>
              <a:rPr lang="en-US" sz="1400" b="1" dirty="0">
                <a:solidFill>
                  <a:srgbClr val="2EAEBB"/>
                </a:solidFill>
                <a:latin typeface="Menlo" panose="020B0609030804020204" pitchFamily="49" charset="0"/>
              </a:rPr>
              <a:t>operator</a:t>
            </a:r>
            <a:r>
              <a:rPr lang="en-US" sz="1400" dirty="0">
                <a:solidFill>
                  <a:srgbClr val="000000"/>
                </a:solidFill>
                <a:latin typeface="Menlo" panose="020B0609030804020204" pitchFamily="49" charset="0"/>
              </a:rPr>
              <a:t> </a:t>
            </a:r>
            <a:r>
              <a:rPr lang="en-US" sz="1400" b="1" dirty="0">
                <a:solidFill>
                  <a:srgbClr val="400BD9"/>
                </a:solidFill>
                <a:latin typeface="Menlo" panose="020B0609030804020204" pitchFamily="49" charset="0"/>
              </a:rPr>
              <a:t>+</a:t>
            </a:r>
            <a:r>
              <a:rPr lang="en-US" sz="1400" dirty="0">
                <a:solidFill>
                  <a:srgbClr val="000000"/>
                </a:solidFill>
                <a:latin typeface="Menlo" panose="020B0609030804020204" pitchFamily="49" charset="0"/>
              </a:rPr>
              <a:t> (</a:t>
            </a:r>
            <a:r>
              <a:rPr lang="en-US" sz="1400" b="1" dirty="0">
                <a:solidFill>
                  <a:srgbClr val="2EAEBB"/>
                </a:solidFill>
                <a:latin typeface="Menlo" panose="020B0609030804020204" pitchFamily="49" charset="0"/>
              </a:rPr>
              <a:t>const</a:t>
            </a:r>
            <a:r>
              <a:rPr lang="en-US" sz="1400" dirty="0">
                <a:solidFill>
                  <a:srgbClr val="000000"/>
                </a:solidFill>
                <a:latin typeface="Menlo" panose="020B0609030804020204" pitchFamily="49" charset="0"/>
              </a:rPr>
              <a:t> </a:t>
            </a:r>
            <a:r>
              <a:rPr lang="en-US" sz="1400" dirty="0">
                <a:solidFill>
                  <a:srgbClr val="2FB41D"/>
                </a:solidFill>
                <a:highlight>
                  <a:srgbClr val="FFFF00"/>
                </a:highlight>
                <a:latin typeface="Menlo" panose="020B0609030804020204" pitchFamily="49" charset="0"/>
              </a:rPr>
              <a:t>float</a:t>
            </a:r>
            <a:r>
              <a:rPr lang="en-US" sz="1400" dirty="0">
                <a:solidFill>
                  <a:srgbClr val="000000"/>
                </a:solidFill>
                <a:latin typeface="Menlo" panose="020B0609030804020204" pitchFamily="49" charset="0"/>
              </a:rPr>
              <a:t>&amp; </a:t>
            </a:r>
            <a:r>
              <a:rPr lang="en-US" sz="1400" dirty="0" err="1">
                <a:solidFill>
                  <a:srgbClr val="9FA01C"/>
                </a:solidFill>
                <a:latin typeface="Menlo" panose="020B0609030804020204" pitchFamily="49" charset="0"/>
              </a:rPr>
              <a:t>i</a:t>
            </a:r>
            <a:r>
              <a:rPr lang="en-US" sz="1400" dirty="0">
                <a:solidFill>
                  <a:srgbClr val="000000"/>
                </a:solidFill>
                <a:latin typeface="Menlo" panose="020B0609030804020204" pitchFamily="49" charset="0"/>
              </a:rPr>
              <a:t>) {</a:t>
            </a:r>
            <a:endParaRPr lang="en-US" sz="1400" dirty="0">
              <a:solidFill>
                <a:srgbClr val="2EAEBB"/>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dirty="0">
                <a:solidFill>
                  <a:srgbClr val="2FB41D"/>
                </a:solidFill>
                <a:latin typeface="Menlo" panose="020B0609030804020204" pitchFamily="49" charset="0"/>
              </a:rPr>
              <a:t>Complex</a:t>
            </a:r>
            <a:r>
              <a:rPr lang="en-US" sz="1400" dirty="0">
                <a:solidFill>
                  <a:srgbClr val="000000"/>
                </a:solidFill>
                <a:latin typeface="Menlo" panose="020B0609030804020204" pitchFamily="49" charset="0"/>
              </a:rPr>
              <a:t> </a:t>
            </a:r>
            <a:r>
              <a:rPr lang="en-US" sz="1400" dirty="0">
                <a:solidFill>
                  <a:srgbClr val="9FA01C"/>
                </a:solidFill>
                <a:latin typeface="Menlo" panose="020B0609030804020204" pitchFamily="49" charset="0"/>
              </a:rPr>
              <a:t>temp</a:t>
            </a:r>
            <a:r>
              <a:rPr lang="en-US" sz="1400" dirty="0">
                <a:solidFill>
                  <a:srgbClr val="000000"/>
                </a:solidFill>
                <a:latin typeface="Menlo" panose="020B0609030804020204" pitchFamily="49" charset="0"/>
              </a:rPr>
              <a:t>;</a:t>
            </a:r>
            <a:endParaRPr lang="en-US" sz="1400" dirty="0">
              <a:solidFill>
                <a:srgbClr val="2FB41D"/>
              </a:solidFill>
              <a:latin typeface="Menlo" panose="020B0609030804020204" pitchFamily="49" charset="0"/>
            </a:endParaRPr>
          </a:p>
          <a:p>
            <a:r>
              <a:rPr lang="en-US" sz="1400" dirty="0">
                <a:solidFill>
                  <a:srgbClr val="000000"/>
                </a:solidFill>
                <a:latin typeface="Menlo" panose="020B0609030804020204" pitchFamily="49" charset="0"/>
              </a:rPr>
              <a:t>    </a:t>
            </a:r>
            <a:r>
              <a:rPr lang="en-US" sz="1400" dirty="0" err="1">
                <a:solidFill>
                  <a:srgbClr val="000000"/>
                </a:solidFill>
                <a:latin typeface="Menlo" panose="020B0609030804020204" pitchFamily="49" charset="0"/>
              </a:rPr>
              <a:t>temp.real</a:t>
            </a:r>
            <a:r>
              <a:rPr lang="en-US" sz="1400" dirty="0">
                <a:solidFill>
                  <a:srgbClr val="000000"/>
                </a:solidFill>
                <a:latin typeface="Menlo" panose="020B0609030804020204" pitchFamily="49" charset="0"/>
              </a:rPr>
              <a:t> = real + </a:t>
            </a:r>
            <a:r>
              <a:rPr lang="en-US" sz="1400" dirty="0" err="1">
                <a:solidFill>
                  <a:srgbClr val="000000"/>
                </a:solidFill>
                <a:latin typeface="Menlo" panose="020B0609030804020204" pitchFamily="49" charset="0"/>
              </a:rPr>
              <a:t>i</a:t>
            </a:r>
            <a:r>
              <a:rPr lang="en-US" sz="1400" dirty="0">
                <a:solidFill>
                  <a:srgbClr val="000000"/>
                </a:solidFill>
                <a:latin typeface="Menlo" panose="020B0609030804020204" pitchFamily="49" charset="0"/>
              </a:rPr>
              <a:t>;</a:t>
            </a:r>
          </a:p>
          <a:p>
            <a:r>
              <a:rPr lang="en-US" sz="1400" dirty="0">
                <a:solidFill>
                  <a:srgbClr val="000000"/>
                </a:solidFill>
                <a:latin typeface="Menlo" panose="020B0609030804020204" pitchFamily="49" charset="0"/>
              </a:rPr>
              <a:t>    </a:t>
            </a:r>
            <a:r>
              <a:rPr lang="en-US" sz="1400" dirty="0" err="1">
                <a:solidFill>
                  <a:srgbClr val="000000"/>
                </a:solidFill>
                <a:latin typeface="Menlo" panose="020B0609030804020204" pitchFamily="49" charset="0"/>
              </a:rPr>
              <a:t>temp.imag</a:t>
            </a:r>
            <a:r>
              <a:rPr lang="en-US" sz="1400" dirty="0">
                <a:solidFill>
                  <a:srgbClr val="000000"/>
                </a:solidFill>
                <a:latin typeface="Menlo" panose="020B0609030804020204" pitchFamily="49" charset="0"/>
              </a:rPr>
              <a:t> = </a:t>
            </a:r>
            <a:r>
              <a:rPr lang="en-US" sz="1400" dirty="0" err="1">
                <a:solidFill>
                  <a:srgbClr val="000000"/>
                </a:solidFill>
                <a:latin typeface="Menlo" panose="020B0609030804020204" pitchFamily="49" charset="0"/>
              </a:rPr>
              <a:t>imag</a:t>
            </a:r>
            <a:r>
              <a:rPr lang="en-US" sz="1400" dirty="0">
                <a:solidFill>
                  <a:srgbClr val="000000"/>
                </a:solidFill>
                <a:latin typeface="Menlo" panose="020B0609030804020204" pitchFamily="49" charset="0"/>
              </a:rPr>
              <a:t>;</a:t>
            </a:r>
          </a:p>
          <a:p>
            <a:r>
              <a:rPr lang="en-US" sz="1400" dirty="0">
                <a:solidFill>
                  <a:srgbClr val="000000"/>
                </a:solidFill>
                <a:latin typeface="Menlo" panose="020B0609030804020204" pitchFamily="49" charset="0"/>
              </a:rPr>
              <a:t>    </a:t>
            </a:r>
            <a:r>
              <a:rPr lang="en-US" sz="1400" b="1" dirty="0">
                <a:solidFill>
                  <a:srgbClr val="2EAEBB"/>
                </a:solidFill>
                <a:latin typeface="Menlo" panose="020B0609030804020204" pitchFamily="49" charset="0"/>
              </a:rPr>
              <a:t>return</a:t>
            </a:r>
            <a:r>
              <a:rPr lang="en-US" sz="1400" dirty="0">
                <a:solidFill>
                  <a:srgbClr val="000000"/>
                </a:solidFill>
                <a:latin typeface="Menlo" panose="020B0609030804020204" pitchFamily="49" charset="0"/>
              </a:rPr>
              <a:t> temp;</a:t>
            </a:r>
          </a:p>
          <a:p>
            <a:r>
              <a:rPr lang="en-US" sz="1400" dirty="0">
                <a:solidFill>
                  <a:srgbClr val="000000"/>
                </a:solidFill>
                <a:latin typeface="Menlo" panose="020B0609030804020204" pitchFamily="49" charset="0"/>
              </a:rPr>
              <a:t>  }</a:t>
            </a:r>
            <a:endParaRPr lang="en-US" sz="1400" dirty="0">
              <a:solidFill>
                <a:srgbClr val="000000"/>
              </a:solidFill>
              <a:effectLst/>
              <a:latin typeface="Menlo" panose="020B0609030804020204" pitchFamily="49" charset="0"/>
            </a:endParaRPr>
          </a:p>
        </p:txBody>
      </p:sp>
      <p:sp>
        <p:nvSpPr>
          <p:cNvPr id="3" name="TextBox 2">
            <a:extLst>
              <a:ext uri="{FF2B5EF4-FFF2-40B4-BE49-F238E27FC236}">
                <a16:creationId xmlns:a16="http://schemas.microsoft.com/office/drawing/2014/main" id="{93260DE0-551E-8B47-84F3-91CB727A1F71}"/>
              </a:ext>
            </a:extLst>
          </p:cNvPr>
          <p:cNvSpPr txBox="1"/>
          <p:nvPr/>
        </p:nvSpPr>
        <p:spPr>
          <a:xfrm>
            <a:off x="5528404" y="5450354"/>
            <a:ext cx="2316147" cy="369332"/>
          </a:xfrm>
          <a:prstGeom prst="rect">
            <a:avLst/>
          </a:prstGeom>
          <a:noFill/>
        </p:spPr>
        <p:txBody>
          <a:bodyPr wrap="none" rtlCol="0">
            <a:spAutoFit/>
          </a:bodyPr>
          <a:lstStyle/>
          <a:p>
            <a:r>
              <a:rPr lang="en-US" dirty="0">
                <a:highlight>
                  <a:srgbClr val="FFFF00"/>
                </a:highlight>
              </a:rPr>
              <a:t>We can add extra rows</a:t>
            </a:r>
          </a:p>
        </p:txBody>
      </p:sp>
    </p:spTree>
    <p:extLst>
      <p:ext uri="{BB962C8B-B14F-4D97-AF65-F5344CB8AC3E}">
        <p14:creationId xmlns:p14="http://schemas.microsoft.com/office/powerpoint/2010/main" val="698802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9534-BD2E-AD47-A269-2AC3A9B9BBEF}"/>
              </a:ext>
            </a:extLst>
          </p:cNvPr>
          <p:cNvSpPr>
            <a:spLocks noGrp="1"/>
          </p:cNvSpPr>
          <p:nvPr>
            <p:ph type="title"/>
          </p:nvPr>
        </p:nvSpPr>
        <p:spPr/>
        <p:txBody>
          <a:bodyPr/>
          <a:lstStyle/>
          <a:p>
            <a:r>
              <a:rPr lang="en-US" dirty="0"/>
              <a:t>Type systems finished</a:t>
            </a:r>
          </a:p>
        </p:txBody>
      </p:sp>
      <p:sp>
        <p:nvSpPr>
          <p:cNvPr id="3" name="Content Placeholder 2">
            <a:extLst>
              <a:ext uri="{FF2B5EF4-FFF2-40B4-BE49-F238E27FC236}">
                <a16:creationId xmlns:a16="http://schemas.microsoft.com/office/drawing/2014/main" id="{43FB292D-E245-1B41-AF72-01EB06F680A2}"/>
              </a:ext>
            </a:extLst>
          </p:cNvPr>
          <p:cNvSpPr>
            <a:spLocks noGrp="1"/>
          </p:cNvSpPr>
          <p:nvPr>
            <p:ph idx="1"/>
          </p:nvPr>
        </p:nvSpPr>
        <p:spPr>
          <a:xfrm>
            <a:off x="838199" y="1825625"/>
            <a:ext cx="10822577" cy="4351338"/>
          </a:xfrm>
        </p:spPr>
        <p:txBody>
          <a:bodyPr/>
          <a:lstStyle/>
          <a:p>
            <a:r>
              <a:rPr lang="en-US" dirty="0"/>
              <a:t>Defined what a type system is and discussed various different design decisions</a:t>
            </a:r>
          </a:p>
          <a:p>
            <a:pPr lvl="1"/>
            <a:r>
              <a:rPr lang="en-US" dirty="0"/>
              <a:t>static vs. dynamic, choice of primitive types, size of primitive types</a:t>
            </a:r>
          </a:p>
          <a:p>
            <a:r>
              <a:rPr lang="en-US" dirty="0"/>
              <a:t>Implemented type inference parameterized by type conversion tables on an AST. </a:t>
            </a:r>
          </a:p>
          <a:p>
            <a:pPr lvl="1"/>
            <a:r>
              <a:rPr lang="en-US" dirty="0"/>
              <a:t>identified common conversions (int to float) and when the opposite can happen</a:t>
            </a:r>
          </a:p>
          <a:p>
            <a:r>
              <a:rPr lang="en-US" dirty="0"/>
              <a:t>Discussed how programmers can extend the type system </a:t>
            </a:r>
          </a:p>
          <a:p>
            <a:pPr lvl="1"/>
            <a:r>
              <a:rPr lang="en-US" dirty="0"/>
              <a:t>function calls</a:t>
            </a:r>
          </a:p>
          <a:p>
            <a:pPr lvl="1"/>
            <a:r>
              <a:rPr lang="en-US" dirty="0"/>
              <a:t>operator overloading</a:t>
            </a:r>
          </a:p>
          <a:p>
            <a:endParaRPr lang="en-US" dirty="0"/>
          </a:p>
        </p:txBody>
      </p:sp>
    </p:spTree>
    <p:extLst>
      <p:ext uri="{BB962C8B-B14F-4D97-AF65-F5344CB8AC3E}">
        <p14:creationId xmlns:p14="http://schemas.microsoft.com/office/powerpoint/2010/main" val="915930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C107F-E9CF-0B00-A559-53C5301F11F9}"/>
              </a:ext>
            </a:extLst>
          </p:cNvPr>
          <p:cNvSpPr>
            <a:spLocks noGrp="1"/>
          </p:cNvSpPr>
          <p:nvPr>
            <p:ph type="title"/>
          </p:nvPr>
        </p:nvSpPr>
        <p:spPr>
          <a:xfrm>
            <a:off x="1465580" y="2468245"/>
            <a:ext cx="9484360" cy="1325563"/>
          </a:xfrm>
        </p:spPr>
        <p:txBody>
          <a:bodyPr/>
          <a:lstStyle/>
          <a:p>
            <a:r>
              <a:rPr lang="en-US" sz="6000" b="1" dirty="0"/>
              <a:t>Intermediate Representations</a:t>
            </a:r>
            <a:r>
              <a:rPr lang="en-US" dirty="0"/>
              <a:t> </a:t>
            </a:r>
          </a:p>
        </p:txBody>
      </p:sp>
    </p:spTree>
    <p:extLst>
      <p:ext uri="{BB962C8B-B14F-4D97-AF65-F5344CB8AC3E}">
        <p14:creationId xmlns:p14="http://schemas.microsoft.com/office/powerpoint/2010/main" val="1904927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AF755-B7DD-91AD-A3C8-B75DA17507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A35A4A-72F5-992B-8310-D4D8EE5E4863}"/>
              </a:ext>
            </a:extLst>
          </p:cNvPr>
          <p:cNvSpPr>
            <a:spLocks noGrp="1"/>
          </p:cNvSpPr>
          <p:nvPr>
            <p:ph type="title"/>
          </p:nvPr>
        </p:nvSpPr>
        <p:spPr>
          <a:xfrm>
            <a:off x="838200" y="133631"/>
            <a:ext cx="10515600" cy="1325563"/>
          </a:xfrm>
        </p:spPr>
        <p:txBody>
          <a:bodyPr>
            <a:normAutofit/>
          </a:bodyPr>
          <a:lstStyle/>
          <a:p>
            <a:r>
              <a:rPr lang="en-US" sz="4000" dirty="0"/>
              <a:t>Our next challenge, IR: 3 address code or linear IR</a:t>
            </a:r>
          </a:p>
        </p:txBody>
      </p:sp>
      <p:sp>
        <p:nvSpPr>
          <p:cNvPr id="3" name="Content Placeholder 2">
            <a:extLst>
              <a:ext uri="{FF2B5EF4-FFF2-40B4-BE49-F238E27FC236}">
                <a16:creationId xmlns:a16="http://schemas.microsoft.com/office/drawing/2014/main" id="{662C0669-B446-3552-3F23-E9079F695841}"/>
              </a:ext>
            </a:extLst>
          </p:cNvPr>
          <p:cNvSpPr>
            <a:spLocks noGrp="1"/>
          </p:cNvSpPr>
          <p:nvPr>
            <p:ph idx="1"/>
          </p:nvPr>
        </p:nvSpPr>
        <p:spPr>
          <a:xfrm>
            <a:off x="838200" y="1582557"/>
            <a:ext cx="10515600" cy="4351338"/>
          </a:xfrm>
        </p:spPr>
        <p:txBody>
          <a:bodyPr>
            <a:normAutofit fontScale="92500" lnSpcReduction="10000"/>
          </a:bodyPr>
          <a:lstStyle/>
          <a:p>
            <a:r>
              <a:rPr lang="en-US" dirty="0"/>
              <a:t>We will specify our own that we will use in this class</a:t>
            </a:r>
          </a:p>
          <a:p>
            <a:pPr lvl="1"/>
            <a:r>
              <a:rPr lang="en-US" dirty="0"/>
              <a:t>Will be used in the next </a:t>
            </a:r>
            <a:r>
              <a:rPr lang="en-US" dirty="0" err="1"/>
              <a:t>homeworks</a:t>
            </a:r>
            <a:endParaRPr lang="en-US" dirty="0"/>
          </a:p>
          <a:p>
            <a:endParaRPr lang="en-US" dirty="0"/>
          </a:p>
          <a:p>
            <a:r>
              <a:rPr lang="en-US" dirty="0"/>
              <a:t>Similar to assembly </a:t>
            </a:r>
          </a:p>
          <a:p>
            <a:pPr lvl="1"/>
            <a:r>
              <a:rPr lang="en-US" dirty="0"/>
              <a:t>Untyped</a:t>
            </a:r>
          </a:p>
          <a:p>
            <a:pPr lvl="1"/>
            <a:r>
              <a:rPr lang="en-US" dirty="0"/>
              <a:t>Specialized operations for each type</a:t>
            </a:r>
          </a:p>
          <a:p>
            <a:pPr lvl="1"/>
            <a:endParaRPr lang="en-US" dirty="0"/>
          </a:p>
          <a:p>
            <a:r>
              <a:rPr lang="en-US" dirty="0"/>
              <a:t>Similar to typical IRs (e.g. LLVM)</a:t>
            </a:r>
          </a:p>
          <a:p>
            <a:pPr lvl="1"/>
            <a:r>
              <a:rPr lang="en-US" dirty="0"/>
              <a:t>Unlimited virtual registers</a:t>
            </a:r>
          </a:p>
          <a:p>
            <a:pPr marL="457200" lvl="1" indent="0">
              <a:buNone/>
            </a:pPr>
            <a:endParaRPr lang="en-US" dirty="0"/>
          </a:p>
          <a:p>
            <a:r>
              <a:rPr lang="en-US" dirty="0"/>
              <a:t>Patterned after RISC Machines, i.e. Load/Store, 3-address reg to reg Ops.</a:t>
            </a:r>
          </a:p>
        </p:txBody>
      </p:sp>
    </p:spTree>
    <p:extLst>
      <p:ext uri="{BB962C8B-B14F-4D97-AF65-F5344CB8AC3E}">
        <p14:creationId xmlns:p14="http://schemas.microsoft.com/office/powerpoint/2010/main" val="21389949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9F8A3-4FF3-8049-0FBF-C3EC9FDA6D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792054-9AC7-1F56-5D67-A5E36BF0D62E}"/>
              </a:ext>
            </a:extLst>
          </p:cNvPr>
          <p:cNvSpPr>
            <a:spLocks noGrp="1"/>
          </p:cNvSpPr>
          <p:nvPr>
            <p:ph type="title"/>
          </p:nvPr>
        </p:nvSpPr>
        <p:spPr>
          <a:xfrm>
            <a:off x="838200" y="1717882"/>
            <a:ext cx="10515600" cy="2588304"/>
          </a:xfrm>
        </p:spPr>
        <p:txBody>
          <a:bodyPr>
            <a:normAutofit/>
          </a:bodyPr>
          <a:lstStyle/>
          <a:p>
            <a:pPr algn="ctr"/>
            <a:r>
              <a:rPr lang="en-US" dirty="0"/>
              <a:t>LES US SET DOWN SOME </a:t>
            </a:r>
            <a:br>
              <a:rPr lang="en-US" dirty="0"/>
            </a:br>
            <a:r>
              <a:rPr lang="en-US" dirty="0"/>
              <a:t>RULES FOR OUR IR</a:t>
            </a:r>
          </a:p>
        </p:txBody>
      </p:sp>
    </p:spTree>
    <p:extLst>
      <p:ext uri="{BB962C8B-B14F-4D97-AF65-F5344CB8AC3E}">
        <p14:creationId xmlns:p14="http://schemas.microsoft.com/office/powerpoint/2010/main" val="1976391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9534-BD2E-AD47-A269-2AC3A9B9BBEF}"/>
              </a:ext>
            </a:extLst>
          </p:cNvPr>
          <p:cNvSpPr>
            <a:spLocks noGrp="1"/>
          </p:cNvSpPr>
          <p:nvPr>
            <p:ph type="title"/>
          </p:nvPr>
        </p:nvSpPr>
        <p:spPr/>
        <p:txBody>
          <a:bodyPr/>
          <a:lstStyle/>
          <a:p>
            <a:r>
              <a:rPr lang="en-US" dirty="0"/>
              <a:t>Class-IR: The Players</a:t>
            </a:r>
          </a:p>
        </p:txBody>
      </p:sp>
      <p:sp>
        <p:nvSpPr>
          <p:cNvPr id="6" name="Content Placeholder 2">
            <a:extLst>
              <a:ext uri="{FF2B5EF4-FFF2-40B4-BE49-F238E27FC236}">
                <a16:creationId xmlns:a16="http://schemas.microsoft.com/office/drawing/2014/main" id="{684234CF-66E9-9249-9F6C-FEF36BADB739}"/>
              </a:ext>
            </a:extLst>
          </p:cNvPr>
          <p:cNvSpPr>
            <a:spLocks noGrp="1"/>
          </p:cNvSpPr>
          <p:nvPr>
            <p:ph idx="1"/>
          </p:nvPr>
        </p:nvSpPr>
        <p:spPr>
          <a:xfrm>
            <a:off x="838200" y="1825625"/>
            <a:ext cx="10515600" cy="4351338"/>
          </a:xfrm>
        </p:spPr>
        <p:txBody>
          <a:bodyPr>
            <a:normAutofit fontScale="92500" lnSpcReduction="20000"/>
          </a:bodyPr>
          <a:lstStyle/>
          <a:p>
            <a:pPr marL="0" indent="0">
              <a:buNone/>
            </a:pPr>
            <a:r>
              <a:rPr lang="en-US" b="1" dirty="0"/>
              <a:t>Inputs/outputs (IO): </a:t>
            </a:r>
            <a:r>
              <a:rPr lang="en-US" dirty="0"/>
              <a:t>32-bit typed inputs</a:t>
            </a:r>
          </a:p>
          <a:p>
            <a:pPr marL="0" indent="0">
              <a:buNone/>
            </a:pPr>
            <a:r>
              <a:rPr lang="en-US" dirty="0"/>
              <a:t>e.g.: </a:t>
            </a:r>
            <a:r>
              <a:rPr lang="en-US" dirty="0">
                <a:latin typeface="Courier" pitchFamily="2" charset="0"/>
              </a:rPr>
              <a:t>int x, int y, float z   </a:t>
            </a:r>
            <a:r>
              <a:rPr lang="en-US" sz="2000" dirty="0">
                <a:latin typeface="Courier" pitchFamily="2" charset="0"/>
              </a:rPr>
              <a:t>// e.g. params to a function</a:t>
            </a:r>
          </a:p>
          <a:p>
            <a:pPr marL="0" indent="0">
              <a:buNone/>
            </a:pPr>
            <a:endParaRPr lang="en-US" b="1" dirty="0"/>
          </a:p>
          <a:p>
            <a:pPr marL="0" indent="0">
              <a:buNone/>
            </a:pPr>
            <a:r>
              <a:rPr lang="en-US" b="1" dirty="0"/>
              <a:t>Program Variables (Variables): </a:t>
            </a:r>
            <a:r>
              <a:rPr lang="en-US" dirty="0"/>
              <a:t>32-bit untyped virtual register</a:t>
            </a:r>
          </a:p>
          <a:p>
            <a:pPr marL="0" indent="0">
              <a:buNone/>
            </a:pPr>
            <a:r>
              <a:rPr lang="en-US" dirty="0"/>
              <a:t>given as </a:t>
            </a:r>
            <a:r>
              <a:rPr lang="en-US" dirty="0" err="1">
                <a:latin typeface="Courier" pitchFamily="2" charset="0"/>
              </a:rPr>
              <a:t>vrX</a:t>
            </a:r>
            <a:r>
              <a:rPr lang="en-US" dirty="0"/>
              <a:t> where </a:t>
            </a:r>
            <a:r>
              <a:rPr lang="en-US" dirty="0">
                <a:latin typeface="Courier" pitchFamily="2" charset="0"/>
              </a:rPr>
              <a:t>X</a:t>
            </a:r>
            <a:r>
              <a:rPr lang="en-US" dirty="0"/>
              <a:t> is an integer:</a:t>
            </a:r>
          </a:p>
          <a:p>
            <a:pPr marL="0" indent="0">
              <a:buNone/>
            </a:pPr>
            <a:r>
              <a:rPr lang="en-US" dirty="0"/>
              <a:t>e.g. </a:t>
            </a:r>
            <a:r>
              <a:rPr lang="en-US" dirty="0">
                <a:latin typeface="Courier" pitchFamily="2" charset="0"/>
              </a:rPr>
              <a:t>vr0, vr1, vr2, vr3 </a:t>
            </a:r>
            <a:r>
              <a:rPr lang="en-US" dirty="0"/>
              <a:t>...</a:t>
            </a:r>
          </a:p>
          <a:p>
            <a:pPr marL="0" indent="0">
              <a:buNone/>
            </a:pPr>
            <a:endParaRPr lang="en-US" dirty="0"/>
          </a:p>
          <a:p>
            <a:pPr marL="0" indent="0">
              <a:buNone/>
            </a:pPr>
            <a:r>
              <a:rPr lang="en-US" b="1" dirty="0"/>
              <a:t>Constants (float or </a:t>
            </a:r>
            <a:r>
              <a:rPr lang="en-US" b="1" dirty="0" err="1"/>
              <a:t>ints</a:t>
            </a:r>
            <a:r>
              <a:rPr lang="en-US" b="1" dirty="0"/>
              <a:t>):  </a:t>
            </a:r>
            <a:r>
              <a:rPr lang="en-US" dirty="0"/>
              <a:t>e.g.   3.5,  3e5,  6, 1024</a:t>
            </a:r>
          </a:p>
          <a:p>
            <a:pPr marL="0" indent="0">
              <a:buNone/>
            </a:pPr>
            <a:endParaRPr lang="en-US" dirty="0"/>
          </a:p>
          <a:p>
            <a:pPr marL="0" indent="0">
              <a:buNone/>
            </a:pPr>
            <a:r>
              <a:rPr lang="en-US" dirty="0"/>
              <a:t>we will assume input/output names are disjoint from virtual register names</a:t>
            </a:r>
          </a:p>
          <a:p>
            <a:endParaRPr lang="en-US" dirty="0"/>
          </a:p>
        </p:txBody>
      </p:sp>
    </p:spTree>
    <p:extLst>
      <p:ext uri="{BB962C8B-B14F-4D97-AF65-F5344CB8AC3E}">
        <p14:creationId xmlns:p14="http://schemas.microsoft.com/office/powerpoint/2010/main" val="1041387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9534-BD2E-AD47-A269-2AC3A9B9BBEF}"/>
              </a:ext>
            </a:extLst>
          </p:cNvPr>
          <p:cNvSpPr>
            <a:spLocks noGrp="1"/>
          </p:cNvSpPr>
          <p:nvPr>
            <p:ph type="title"/>
          </p:nvPr>
        </p:nvSpPr>
        <p:spPr>
          <a:xfrm>
            <a:off x="838200" y="18255"/>
            <a:ext cx="10515600" cy="1325563"/>
          </a:xfrm>
        </p:spPr>
        <p:txBody>
          <a:bodyPr/>
          <a:lstStyle/>
          <a:p>
            <a:r>
              <a:rPr lang="en-US" dirty="0"/>
              <a:t>Class-IR</a:t>
            </a:r>
          </a:p>
        </p:txBody>
      </p:sp>
      <p:sp>
        <p:nvSpPr>
          <p:cNvPr id="6" name="Content Placeholder 2">
            <a:extLst>
              <a:ext uri="{FF2B5EF4-FFF2-40B4-BE49-F238E27FC236}">
                <a16:creationId xmlns:a16="http://schemas.microsoft.com/office/drawing/2014/main" id="{684234CF-66E9-9249-9F6C-FEF36BADB739}"/>
              </a:ext>
            </a:extLst>
          </p:cNvPr>
          <p:cNvSpPr>
            <a:spLocks noGrp="1"/>
          </p:cNvSpPr>
          <p:nvPr>
            <p:ph idx="1"/>
          </p:nvPr>
        </p:nvSpPr>
        <p:spPr>
          <a:xfrm>
            <a:off x="744071" y="1343818"/>
            <a:ext cx="10820400" cy="5056982"/>
          </a:xfrm>
        </p:spPr>
        <p:txBody>
          <a:bodyPr>
            <a:normAutofit fontScale="92500" lnSpcReduction="10000"/>
          </a:bodyPr>
          <a:lstStyle/>
          <a:p>
            <a:pPr marL="0" indent="0">
              <a:buNone/>
            </a:pPr>
            <a:r>
              <a:rPr lang="en-US" b="1" dirty="0"/>
              <a:t>binary operators</a:t>
            </a:r>
            <a:r>
              <a:rPr lang="en-US" dirty="0"/>
              <a:t>: </a:t>
            </a:r>
            <a:endParaRPr lang="en-US" dirty="0">
              <a:latin typeface="Courier" pitchFamily="2" charset="0"/>
            </a:endParaRPr>
          </a:p>
          <a:p>
            <a:pPr marL="0" indent="0">
              <a:buNone/>
            </a:pPr>
            <a:r>
              <a:rPr lang="en-US" dirty="0" err="1">
                <a:highlight>
                  <a:srgbClr val="FFFF00"/>
                </a:highlight>
                <a:latin typeface="Courier" pitchFamily="2" charset="0"/>
              </a:rPr>
              <a:t>dst</a:t>
            </a:r>
            <a:r>
              <a:rPr lang="en-US" dirty="0">
                <a:highlight>
                  <a:srgbClr val="FFFF00"/>
                </a:highlight>
                <a:latin typeface="Courier" pitchFamily="2" charset="0"/>
              </a:rPr>
              <a:t> = operation(op0, op1);</a:t>
            </a:r>
          </a:p>
          <a:p>
            <a:pPr marL="0" indent="0">
              <a:buNone/>
            </a:pPr>
            <a:endParaRPr lang="en-US" dirty="0">
              <a:latin typeface="Courier" pitchFamily="2" charset="0"/>
            </a:endParaRPr>
          </a:p>
          <a:p>
            <a:pPr marL="0" indent="0">
              <a:buNone/>
            </a:pPr>
            <a:r>
              <a:rPr lang="en-US" dirty="0">
                <a:latin typeface="Courier" pitchFamily="2" charset="0"/>
              </a:rPr>
              <a:t>operations can be one of these: </a:t>
            </a:r>
          </a:p>
          <a:p>
            <a:pPr marL="0" indent="0">
              <a:buNone/>
            </a:pPr>
            <a:r>
              <a:rPr lang="en-US" dirty="0">
                <a:latin typeface="Courier" pitchFamily="2" charset="0"/>
              </a:rPr>
              <a:t>    [</a:t>
            </a:r>
            <a:r>
              <a:rPr lang="en-US" dirty="0">
                <a:highlight>
                  <a:srgbClr val="FFFF00"/>
                </a:highlight>
                <a:latin typeface="Courier" pitchFamily="2" charset="0"/>
              </a:rPr>
              <a:t>add</a:t>
            </a:r>
            <a:r>
              <a:rPr lang="en-US" dirty="0">
                <a:latin typeface="Courier" pitchFamily="2" charset="0"/>
              </a:rPr>
              <a:t>, </a:t>
            </a:r>
            <a:r>
              <a:rPr lang="en-US" dirty="0">
                <a:highlight>
                  <a:srgbClr val="FFFF00"/>
                </a:highlight>
                <a:latin typeface="Courier" pitchFamily="2" charset="0"/>
              </a:rPr>
              <a:t>sub</a:t>
            </a:r>
            <a:r>
              <a:rPr lang="en-US" dirty="0">
                <a:latin typeface="Courier" pitchFamily="2" charset="0"/>
              </a:rPr>
              <a:t>, </a:t>
            </a:r>
            <a:r>
              <a:rPr lang="en-US" dirty="0" err="1">
                <a:highlight>
                  <a:srgbClr val="FFFF00"/>
                </a:highlight>
                <a:latin typeface="Courier" pitchFamily="2" charset="0"/>
              </a:rPr>
              <a:t>mult</a:t>
            </a:r>
            <a:r>
              <a:rPr lang="en-US" dirty="0">
                <a:latin typeface="Courier" pitchFamily="2" charset="0"/>
              </a:rPr>
              <a:t>, </a:t>
            </a:r>
            <a:r>
              <a:rPr lang="en-US" dirty="0">
                <a:highlight>
                  <a:srgbClr val="FFFF00"/>
                </a:highlight>
                <a:latin typeface="Courier" pitchFamily="2" charset="0"/>
              </a:rPr>
              <a:t>div</a:t>
            </a:r>
            <a:r>
              <a:rPr lang="en-US" dirty="0">
                <a:latin typeface="Courier" pitchFamily="2" charset="0"/>
              </a:rPr>
              <a:t>, </a:t>
            </a:r>
            <a:r>
              <a:rPr lang="en-US" dirty="0">
                <a:highlight>
                  <a:srgbClr val="FFFF00"/>
                </a:highlight>
                <a:latin typeface="Courier" pitchFamily="2" charset="0"/>
              </a:rPr>
              <a:t>eq</a:t>
            </a:r>
            <a:r>
              <a:rPr lang="en-US" dirty="0">
                <a:latin typeface="Courier" pitchFamily="2" charset="0"/>
              </a:rPr>
              <a:t>, </a:t>
            </a:r>
            <a:r>
              <a:rPr lang="en-US" dirty="0" err="1">
                <a:highlight>
                  <a:srgbClr val="FFFF00"/>
                </a:highlight>
                <a:latin typeface="Courier" pitchFamily="2" charset="0"/>
              </a:rPr>
              <a:t>lt</a:t>
            </a:r>
            <a:r>
              <a:rPr lang="en-US" dirty="0">
                <a:latin typeface="Courier" pitchFamily="2" charset="0"/>
              </a:rPr>
              <a:t>]</a:t>
            </a:r>
          </a:p>
          <a:p>
            <a:pPr marL="0" indent="0">
              <a:buNone/>
            </a:pPr>
            <a:endParaRPr lang="en-US" dirty="0">
              <a:latin typeface="Courier" pitchFamily="2" charset="0"/>
            </a:endParaRPr>
          </a:p>
          <a:p>
            <a:pPr marL="0" indent="0">
              <a:buNone/>
            </a:pPr>
            <a:r>
              <a:rPr lang="en-US" dirty="0">
                <a:highlight>
                  <a:srgbClr val="FFFF00"/>
                </a:highlight>
                <a:latin typeface="Courier" pitchFamily="2" charset="0"/>
              </a:rPr>
              <a:t>each operation is followed by an “</a:t>
            </a:r>
            <a:r>
              <a:rPr lang="en-US" dirty="0" err="1">
                <a:highlight>
                  <a:srgbClr val="FFFF00"/>
                </a:highlight>
                <a:latin typeface="Courier" pitchFamily="2" charset="0"/>
              </a:rPr>
              <a:t>i</a:t>
            </a:r>
            <a:r>
              <a:rPr lang="en-US" dirty="0">
                <a:highlight>
                  <a:srgbClr val="FFFF00"/>
                </a:highlight>
                <a:latin typeface="Courier" pitchFamily="2" charset="0"/>
              </a:rPr>
              <a:t>” or “f”, </a:t>
            </a:r>
            <a:r>
              <a:rPr lang="en-US" dirty="0">
                <a:latin typeface="Courier" pitchFamily="2" charset="0"/>
              </a:rPr>
              <a:t>which specifies how the bits in the registers are interpreted, </a:t>
            </a:r>
            <a:r>
              <a:rPr lang="en-US" dirty="0" err="1">
                <a:latin typeface="Courier" pitchFamily="2" charset="0"/>
              </a:rPr>
              <a:t>eg</a:t>
            </a:r>
            <a:r>
              <a:rPr lang="en-US" dirty="0">
                <a:latin typeface="Courier" pitchFamily="2" charset="0"/>
              </a:rPr>
              <a:t> </a:t>
            </a:r>
            <a:r>
              <a:rPr lang="en-US" b="1" dirty="0">
                <a:highlight>
                  <a:srgbClr val="FFFF00"/>
                </a:highlight>
                <a:latin typeface="Courier" pitchFamily="2" charset="0"/>
              </a:rPr>
              <a:t>multi</a:t>
            </a:r>
            <a:r>
              <a:rPr lang="en-US" dirty="0">
                <a:latin typeface="Courier" pitchFamily="2" charset="0"/>
              </a:rPr>
              <a:t> for integers, </a:t>
            </a:r>
            <a:r>
              <a:rPr lang="en-US" b="1" dirty="0" err="1">
                <a:highlight>
                  <a:srgbClr val="FFFF00"/>
                </a:highlight>
                <a:latin typeface="Courier" pitchFamily="2" charset="0"/>
              </a:rPr>
              <a:t>multf</a:t>
            </a:r>
            <a:r>
              <a:rPr lang="en-US" dirty="0">
                <a:latin typeface="Courier" pitchFamily="2" charset="0"/>
              </a:rPr>
              <a:t> for floating point.</a:t>
            </a:r>
          </a:p>
          <a:p>
            <a:pPr marL="0" indent="0">
              <a:buNone/>
            </a:pPr>
            <a:endParaRPr lang="en-US" dirty="0">
              <a:latin typeface="Courier" pitchFamily="2" charset="0"/>
            </a:endParaRPr>
          </a:p>
          <a:p>
            <a:pPr marL="0" indent="0">
              <a:buNone/>
            </a:pPr>
            <a:r>
              <a:rPr lang="en-US" i="1" dirty="0" err="1">
                <a:highlight>
                  <a:srgbClr val="FFFF00"/>
                </a:highlight>
                <a:latin typeface="Courier" pitchFamily="2" charset="0"/>
              </a:rPr>
              <a:t>dst</a:t>
            </a:r>
            <a:r>
              <a:rPr lang="en-US" i="1" dirty="0">
                <a:highlight>
                  <a:srgbClr val="FFFF00"/>
                </a:highlight>
                <a:latin typeface="Courier" pitchFamily="2" charset="0"/>
              </a:rPr>
              <a:t>, op0, and op1 all must be untyped virtual regs</a:t>
            </a:r>
            <a:r>
              <a:rPr lang="en-US" i="1" dirty="0">
                <a:latin typeface="Courier" pitchFamily="2" charset="0"/>
              </a:rPr>
              <a:t>.</a:t>
            </a:r>
          </a:p>
          <a:p>
            <a:pPr marL="0" indent="0">
              <a:buNone/>
            </a:pPr>
            <a:endParaRPr lang="en-US" dirty="0">
              <a:latin typeface="Courier" pitchFamily="2" charset="0"/>
            </a:endParaRPr>
          </a:p>
          <a:p>
            <a:endParaRPr lang="en-US" dirty="0"/>
          </a:p>
          <a:p>
            <a:endParaRPr lang="en-US" dirty="0"/>
          </a:p>
        </p:txBody>
      </p:sp>
    </p:spTree>
    <p:extLst>
      <p:ext uri="{BB962C8B-B14F-4D97-AF65-F5344CB8AC3E}">
        <p14:creationId xmlns:p14="http://schemas.microsoft.com/office/powerpoint/2010/main" val="25600094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9534-BD2E-AD47-A269-2AC3A9B9BBEF}"/>
              </a:ext>
            </a:extLst>
          </p:cNvPr>
          <p:cNvSpPr>
            <a:spLocks noGrp="1"/>
          </p:cNvSpPr>
          <p:nvPr>
            <p:ph type="title"/>
          </p:nvPr>
        </p:nvSpPr>
        <p:spPr/>
        <p:txBody>
          <a:bodyPr/>
          <a:lstStyle/>
          <a:p>
            <a:r>
              <a:rPr lang="en-US" dirty="0"/>
              <a:t>Class-IR: Examples</a:t>
            </a:r>
          </a:p>
        </p:txBody>
      </p:sp>
      <p:sp>
        <p:nvSpPr>
          <p:cNvPr id="6" name="Content Placeholder 2">
            <a:extLst>
              <a:ext uri="{FF2B5EF4-FFF2-40B4-BE49-F238E27FC236}">
                <a16:creationId xmlns:a16="http://schemas.microsoft.com/office/drawing/2014/main" id="{684234CF-66E9-9249-9F6C-FEF36BADB739}"/>
              </a:ext>
            </a:extLst>
          </p:cNvPr>
          <p:cNvSpPr>
            <a:spLocks noGrp="1"/>
          </p:cNvSpPr>
          <p:nvPr>
            <p:ph idx="1"/>
          </p:nvPr>
        </p:nvSpPr>
        <p:spPr>
          <a:xfrm>
            <a:off x="838200" y="1825625"/>
            <a:ext cx="10515600" cy="4351338"/>
          </a:xfrm>
        </p:spPr>
        <p:txBody>
          <a:bodyPr>
            <a:normAutofit fontScale="92500" lnSpcReduction="20000"/>
          </a:bodyPr>
          <a:lstStyle/>
          <a:p>
            <a:pPr marL="0" indent="0">
              <a:buNone/>
            </a:pPr>
            <a:r>
              <a:rPr lang="en-US" b="1" dirty="0"/>
              <a:t>binary operators</a:t>
            </a:r>
            <a:r>
              <a:rPr lang="en-US" dirty="0"/>
              <a:t>: </a:t>
            </a:r>
            <a:endParaRPr lang="en-US" dirty="0">
              <a:latin typeface="Courier" pitchFamily="2" charset="0"/>
            </a:endParaRPr>
          </a:p>
          <a:p>
            <a:pPr marL="0" indent="0">
              <a:buNone/>
            </a:pPr>
            <a:r>
              <a:rPr lang="en-US" dirty="0" err="1">
                <a:latin typeface="Courier" pitchFamily="2" charset="0"/>
              </a:rPr>
              <a:t>dst</a:t>
            </a:r>
            <a:r>
              <a:rPr lang="en-US" dirty="0">
                <a:latin typeface="Courier" pitchFamily="2" charset="0"/>
              </a:rPr>
              <a:t> = operation(op0, op1);</a:t>
            </a:r>
          </a:p>
          <a:p>
            <a:pPr marL="0" indent="0">
              <a:buNone/>
            </a:pPr>
            <a:endParaRPr lang="en-US" dirty="0">
              <a:latin typeface="Courier" pitchFamily="2" charset="0"/>
            </a:endParaRPr>
          </a:p>
          <a:p>
            <a:pPr marL="0" indent="0">
              <a:buNone/>
            </a:pPr>
            <a:r>
              <a:rPr lang="en-US" dirty="0">
                <a:latin typeface="Courier" pitchFamily="2" charset="0"/>
              </a:rPr>
              <a:t>Examples:</a:t>
            </a:r>
          </a:p>
          <a:p>
            <a:pPr marL="0" indent="0">
              <a:buNone/>
            </a:pPr>
            <a:endParaRPr lang="en-US" dirty="0">
              <a:latin typeface="Courier" pitchFamily="2" charset="0"/>
            </a:endParaRPr>
          </a:p>
          <a:p>
            <a:pPr marL="0" indent="0">
              <a:buNone/>
            </a:pPr>
            <a:r>
              <a:rPr lang="en-US" dirty="0">
                <a:latin typeface="Courier" pitchFamily="2" charset="0"/>
              </a:rPr>
              <a:t>vr0 = </a:t>
            </a:r>
            <a:r>
              <a:rPr lang="en-US" dirty="0" err="1">
                <a:latin typeface="Courier" pitchFamily="2" charset="0"/>
              </a:rPr>
              <a:t>addi</a:t>
            </a:r>
            <a:r>
              <a:rPr lang="en-US" dirty="0">
                <a:latin typeface="Courier" pitchFamily="2" charset="0"/>
              </a:rPr>
              <a:t>(vr1, vr2);</a:t>
            </a:r>
          </a:p>
          <a:p>
            <a:pPr marL="0" indent="0">
              <a:buNone/>
            </a:pPr>
            <a:r>
              <a:rPr lang="en-US" dirty="0">
                <a:latin typeface="Courier" pitchFamily="2" charset="0"/>
              </a:rPr>
              <a:t>vr3 = </a:t>
            </a:r>
            <a:r>
              <a:rPr lang="en-US" dirty="0" err="1">
                <a:latin typeface="Courier" pitchFamily="2" charset="0"/>
              </a:rPr>
              <a:t>subf</a:t>
            </a:r>
            <a:r>
              <a:rPr lang="en-US" dirty="0">
                <a:latin typeface="Courier" pitchFamily="2" charset="0"/>
              </a:rPr>
              <a:t>(vr4, vr5);</a:t>
            </a:r>
          </a:p>
          <a:p>
            <a:pPr marL="0" indent="0">
              <a:buNone/>
            </a:pPr>
            <a:endParaRPr lang="en-US" dirty="0">
              <a:latin typeface="Courier" pitchFamily="2" charset="0"/>
            </a:endParaRPr>
          </a:p>
          <a:p>
            <a:pPr marL="0" indent="0">
              <a:buNone/>
            </a:pPr>
            <a:r>
              <a:rPr lang="en-US" dirty="0">
                <a:highlight>
                  <a:srgbClr val="FF0000"/>
                </a:highlight>
                <a:latin typeface="Courier" pitchFamily="2" charset="0"/>
              </a:rPr>
              <a:t>x</a:t>
            </a:r>
            <a:r>
              <a:rPr lang="en-US" dirty="0">
                <a:latin typeface="Courier" pitchFamily="2" charset="0"/>
              </a:rPr>
              <a:t> = </a:t>
            </a:r>
            <a:r>
              <a:rPr lang="en-US" dirty="0" err="1">
                <a:latin typeface="Courier" pitchFamily="2" charset="0"/>
              </a:rPr>
              <a:t>multf</a:t>
            </a:r>
            <a:r>
              <a:rPr lang="en-US" dirty="0">
                <a:latin typeface="Courier" pitchFamily="2" charset="0"/>
              </a:rPr>
              <a:t>(vr0, vr1); not allowed!</a:t>
            </a:r>
          </a:p>
          <a:p>
            <a:pPr marL="0" indent="0">
              <a:buNone/>
            </a:pPr>
            <a:r>
              <a:rPr lang="en-US" dirty="0">
                <a:latin typeface="Courier" pitchFamily="2" charset="0"/>
              </a:rPr>
              <a:t>vr0 = </a:t>
            </a:r>
            <a:r>
              <a:rPr lang="en-US" dirty="0" err="1">
                <a:latin typeface="Courier" pitchFamily="2" charset="0"/>
              </a:rPr>
              <a:t>addi</a:t>
            </a:r>
            <a:r>
              <a:rPr lang="en-US" dirty="0">
                <a:latin typeface="Courier" pitchFamily="2" charset="0"/>
              </a:rPr>
              <a:t>(vr1, </a:t>
            </a:r>
            <a:r>
              <a:rPr lang="en-US" dirty="0">
                <a:highlight>
                  <a:srgbClr val="FF0000"/>
                </a:highlight>
                <a:latin typeface="Courier" pitchFamily="2" charset="0"/>
              </a:rPr>
              <a:t>1</a:t>
            </a:r>
            <a:r>
              <a:rPr lang="en-US" dirty="0">
                <a:latin typeface="Courier" pitchFamily="2" charset="0"/>
              </a:rPr>
              <a:t>);  not allowed!</a:t>
            </a:r>
          </a:p>
          <a:p>
            <a:pPr marL="0" indent="0">
              <a:buNone/>
            </a:pPr>
            <a:endParaRPr lang="en-US" dirty="0"/>
          </a:p>
          <a:p>
            <a:endParaRPr lang="en-US" dirty="0"/>
          </a:p>
        </p:txBody>
      </p:sp>
      <p:sp>
        <p:nvSpPr>
          <p:cNvPr id="4" name="TextBox 3">
            <a:extLst>
              <a:ext uri="{FF2B5EF4-FFF2-40B4-BE49-F238E27FC236}">
                <a16:creationId xmlns:a16="http://schemas.microsoft.com/office/drawing/2014/main" id="{A9918070-5144-274D-923F-C9E799286AC2}"/>
              </a:ext>
            </a:extLst>
          </p:cNvPr>
          <p:cNvSpPr txBox="1"/>
          <p:nvPr/>
        </p:nvSpPr>
        <p:spPr>
          <a:xfrm>
            <a:off x="8508274" y="4955177"/>
            <a:ext cx="2424062" cy="923330"/>
          </a:xfrm>
          <a:prstGeom prst="rect">
            <a:avLst/>
          </a:prstGeom>
          <a:noFill/>
        </p:spPr>
        <p:txBody>
          <a:bodyPr wrap="none" rtlCol="0">
            <a:spAutoFit/>
          </a:bodyPr>
          <a:lstStyle/>
          <a:p>
            <a:r>
              <a:rPr lang="en-US" i="1" dirty="0"/>
              <a:t>We’ll talk about how to </a:t>
            </a:r>
            <a:br>
              <a:rPr lang="en-US" i="1" dirty="0"/>
            </a:br>
            <a:r>
              <a:rPr lang="en-US" i="1" dirty="0"/>
              <a:t>do this using other </a:t>
            </a:r>
            <a:br>
              <a:rPr lang="en-US" i="1" dirty="0"/>
            </a:br>
            <a:r>
              <a:rPr lang="en-US" i="1" dirty="0"/>
              <a:t>instructions</a:t>
            </a:r>
          </a:p>
        </p:txBody>
      </p:sp>
    </p:spTree>
    <p:extLst>
      <p:ext uri="{BB962C8B-B14F-4D97-AF65-F5344CB8AC3E}">
        <p14:creationId xmlns:p14="http://schemas.microsoft.com/office/powerpoint/2010/main" val="28568377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9534-BD2E-AD47-A269-2AC3A9B9BBEF}"/>
              </a:ext>
            </a:extLst>
          </p:cNvPr>
          <p:cNvSpPr>
            <a:spLocks noGrp="1"/>
          </p:cNvSpPr>
          <p:nvPr>
            <p:ph type="title"/>
          </p:nvPr>
        </p:nvSpPr>
        <p:spPr/>
        <p:txBody>
          <a:bodyPr/>
          <a:lstStyle/>
          <a:p>
            <a:r>
              <a:rPr lang="en-US" dirty="0"/>
              <a:t>Class-IR: Control Flow</a:t>
            </a:r>
          </a:p>
        </p:txBody>
      </p:sp>
      <p:sp>
        <p:nvSpPr>
          <p:cNvPr id="6" name="Content Placeholder 2">
            <a:extLst>
              <a:ext uri="{FF2B5EF4-FFF2-40B4-BE49-F238E27FC236}">
                <a16:creationId xmlns:a16="http://schemas.microsoft.com/office/drawing/2014/main" id="{684234CF-66E9-9249-9F6C-FEF36BADB739}"/>
              </a:ext>
            </a:extLst>
          </p:cNvPr>
          <p:cNvSpPr>
            <a:spLocks noGrp="1"/>
          </p:cNvSpPr>
          <p:nvPr>
            <p:ph idx="1"/>
          </p:nvPr>
        </p:nvSpPr>
        <p:spPr>
          <a:xfrm>
            <a:off x="838200" y="1825625"/>
            <a:ext cx="10515600" cy="4351338"/>
          </a:xfrm>
        </p:spPr>
        <p:txBody>
          <a:bodyPr>
            <a:normAutofit fontScale="92500" lnSpcReduction="20000"/>
          </a:bodyPr>
          <a:lstStyle/>
          <a:p>
            <a:pPr marL="0" indent="0">
              <a:buNone/>
            </a:pPr>
            <a:r>
              <a:rPr lang="en-US" b="1" dirty="0"/>
              <a:t>Control flow</a:t>
            </a:r>
            <a:endParaRPr lang="en-US" dirty="0">
              <a:latin typeface="Courier" pitchFamily="2" charset="0"/>
            </a:endParaRPr>
          </a:p>
          <a:p>
            <a:pPr marL="0" indent="0">
              <a:buNone/>
            </a:pPr>
            <a:r>
              <a:rPr lang="en-US" dirty="0">
                <a:highlight>
                  <a:srgbClr val="FFFF00"/>
                </a:highlight>
                <a:latin typeface="Courier" pitchFamily="2" charset="0"/>
              </a:rPr>
              <a:t>branch(label);</a:t>
            </a:r>
          </a:p>
          <a:p>
            <a:r>
              <a:rPr lang="en-US" dirty="0">
                <a:latin typeface="Courier" pitchFamily="2" charset="0"/>
              </a:rPr>
              <a:t>branches unconditionally to the label</a:t>
            </a:r>
          </a:p>
          <a:p>
            <a:pPr marL="0" indent="0">
              <a:buNone/>
            </a:pPr>
            <a:endParaRPr lang="en-US" dirty="0">
              <a:latin typeface="Courier" pitchFamily="2" charset="0"/>
            </a:endParaRPr>
          </a:p>
          <a:p>
            <a:pPr marL="0" indent="0">
              <a:buNone/>
            </a:pPr>
            <a:r>
              <a:rPr lang="en-US" dirty="0" err="1">
                <a:highlight>
                  <a:srgbClr val="FFFF00"/>
                </a:highlight>
                <a:latin typeface="Courier" pitchFamily="2" charset="0"/>
              </a:rPr>
              <a:t>bne</a:t>
            </a:r>
            <a:r>
              <a:rPr lang="en-US" dirty="0">
                <a:highlight>
                  <a:srgbClr val="FFFF00"/>
                </a:highlight>
                <a:latin typeface="Courier" pitchFamily="2" charset="0"/>
              </a:rPr>
              <a:t>(op0, op1, label)</a:t>
            </a:r>
          </a:p>
          <a:p>
            <a:r>
              <a:rPr lang="en-US" dirty="0">
                <a:latin typeface="Courier" pitchFamily="2" charset="0"/>
              </a:rPr>
              <a:t>if op0 is not equal to op1 then branch to label</a:t>
            </a:r>
          </a:p>
          <a:p>
            <a:r>
              <a:rPr lang="en-US" dirty="0">
                <a:highlight>
                  <a:srgbClr val="FFFF00"/>
                </a:highlight>
                <a:latin typeface="Courier" pitchFamily="2" charset="0"/>
              </a:rPr>
              <a:t>operands must be virtual registers!</a:t>
            </a:r>
          </a:p>
          <a:p>
            <a:endParaRPr lang="en-US" dirty="0">
              <a:latin typeface="Courier" pitchFamily="2" charset="0"/>
            </a:endParaRPr>
          </a:p>
          <a:p>
            <a:pPr marL="0" indent="0">
              <a:buNone/>
            </a:pPr>
            <a:r>
              <a:rPr lang="en-US" dirty="0" err="1">
                <a:highlight>
                  <a:srgbClr val="FFFF00"/>
                </a:highlight>
                <a:latin typeface="Courier" pitchFamily="2" charset="0"/>
              </a:rPr>
              <a:t>beq</a:t>
            </a:r>
            <a:r>
              <a:rPr lang="en-US" dirty="0">
                <a:highlight>
                  <a:srgbClr val="FFFF00"/>
                </a:highlight>
                <a:latin typeface="Courier" pitchFamily="2" charset="0"/>
              </a:rPr>
              <a:t>(op0, op1, label)</a:t>
            </a:r>
          </a:p>
          <a:p>
            <a:r>
              <a:rPr lang="en-US" dirty="0">
                <a:latin typeface="Courier" pitchFamily="2" charset="0"/>
              </a:rPr>
              <a:t>Same as </a:t>
            </a:r>
            <a:r>
              <a:rPr lang="en-US" dirty="0" err="1">
                <a:latin typeface="Courier" pitchFamily="2" charset="0"/>
              </a:rPr>
              <a:t>bne</a:t>
            </a:r>
            <a:r>
              <a:rPr lang="en-US" dirty="0">
                <a:latin typeface="Courier" pitchFamily="2" charset="0"/>
              </a:rPr>
              <a:t> except it is for equal</a:t>
            </a:r>
          </a:p>
          <a:p>
            <a:pPr marL="0" indent="0">
              <a:buNone/>
            </a:pPr>
            <a:endParaRPr lang="en-US" dirty="0"/>
          </a:p>
          <a:p>
            <a:endParaRPr lang="en-US" dirty="0"/>
          </a:p>
        </p:txBody>
      </p:sp>
    </p:spTree>
    <p:extLst>
      <p:ext uri="{BB962C8B-B14F-4D97-AF65-F5344CB8AC3E}">
        <p14:creationId xmlns:p14="http://schemas.microsoft.com/office/powerpoint/2010/main" val="1736120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9534-BD2E-AD47-A269-2AC3A9B9BBEF}"/>
              </a:ext>
            </a:extLst>
          </p:cNvPr>
          <p:cNvSpPr>
            <a:spLocks noGrp="1"/>
          </p:cNvSpPr>
          <p:nvPr>
            <p:ph type="title"/>
          </p:nvPr>
        </p:nvSpPr>
        <p:spPr>
          <a:xfrm>
            <a:off x="838200" y="0"/>
            <a:ext cx="10515600" cy="1325563"/>
          </a:xfrm>
        </p:spPr>
        <p:txBody>
          <a:bodyPr/>
          <a:lstStyle/>
          <a:p>
            <a:r>
              <a:rPr lang="en-US" dirty="0"/>
              <a:t>Class-IR</a:t>
            </a:r>
          </a:p>
        </p:txBody>
      </p:sp>
      <p:sp>
        <p:nvSpPr>
          <p:cNvPr id="6" name="Content Placeholder 2">
            <a:extLst>
              <a:ext uri="{FF2B5EF4-FFF2-40B4-BE49-F238E27FC236}">
                <a16:creationId xmlns:a16="http://schemas.microsoft.com/office/drawing/2014/main" id="{684234CF-66E9-9249-9F6C-FEF36BADB739}"/>
              </a:ext>
            </a:extLst>
          </p:cNvPr>
          <p:cNvSpPr>
            <a:spLocks noGrp="1"/>
          </p:cNvSpPr>
          <p:nvPr>
            <p:ph idx="1"/>
          </p:nvPr>
        </p:nvSpPr>
        <p:spPr>
          <a:xfrm>
            <a:off x="838200" y="1253331"/>
            <a:ext cx="10515600" cy="4351338"/>
          </a:xfrm>
        </p:spPr>
        <p:txBody>
          <a:bodyPr>
            <a:normAutofit/>
          </a:bodyPr>
          <a:lstStyle/>
          <a:p>
            <a:pPr marL="0" indent="0">
              <a:buNone/>
            </a:pPr>
            <a:r>
              <a:rPr lang="en-US" b="1" dirty="0"/>
              <a:t>Assignment of untyped VRs</a:t>
            </a:r>
            <a:endParaRPr lang="en-US" dirty="0">
              <a:latin typeface="Courier" pitchFamily="2" charset="0"/>
            </a:endParaRPr>
          </a:p>
          <a:p>
            <a:pPr marL="0" indent="0">
              <a:buNone/>
            </a:pPr>
            <a:r>
              <a:rPr lang="en-US" dirty="0">
                <a:highlight>
                  <a:srgbClr val="FFFF00"/>
                </a:highlight>
                <a:latin typeface="Courier" pitchFamily="2" charset="0"/>
              </a:rPr>
              <a:t>vr0 = vr1</a:t>
            </a:r>
          </a:p>
          <a:p>
            <a:pPr marL="0" indent="0">
              <a:buNone/>
            </a:pPr>
            <a:endParaRPr lang="en-US" dirty="0">
              <a:latin typeface="Courier" pitchFamily="2" charset="0"/>
            </a:endParaRPr>
          </a:p>
          <a:p>
            <a:pPr marL="0" indent="0">
              <a:buNone/>
            </a:pPr>
            <a:r>
              <a:rPr lang="en-US" dirty="0">
                <a:latin typeface="Courier" pitchFamily="2" charset="0"/>
              </a:rPr>
              <a:t>one virtual register can be assigned to another</a:t>
            </a:r>
          </a:p>
          <a:p>
            <a:pPr marL="0" indent="0">
              <a:buNone/>
            </a:pPr>
            <a:endParaRPr lang="en-US" dirty="0">
              <a:latin typeface="Courier" pitchFamily="2" charset="0"/>
            </a:endParaRPr>
          </a:p>
          <a:p>
            <a:pPr marL="0" indent="0">
              <a:buNone/>
            </a:pPr>
            <a:r>
              <a:rPr lang="en-US" dirty="0">
                <a:latin typeface="Courier" pitchFamily="2" charset="0"/>
              </a:rPr>
              <a:t>Examples:</a:t>
            </a:r>
          </a:p>
          <a:p>
            <a:pPr marL="0" indent="0">
              <a:buNone/>
            </a:pPr>
            <a:r>
              <a:rPr lang="en-US" dirty="0">
                <a:latin typeface="Courier" pitchFamily="2" charset="0"/>
              </a:rPr>
              <a:t>vr0 = </a:t>
            </a:r>
            <a:r>
              <a:rPr lang="en-US" dirty="0">
                <a:highlight>
                  <a:srgbClr val="FF0000"/>
                </a:highlight>
                <a:latin typeface="Courier" pitchFamily="2" charset="0"/>
              </a:rPr>
              <a:t>1</a:t>
            </a:r>
            <a:r>
              <a:rPr lang="en-US" dirty="0">
                <a:latin typeface="Courier" pitchFamily="2" charset="0"/>
              </a:rPr>
              <a:t>; constants are not allowed</a:t>
            </a:r>
          </a:p>
          <a:p>
            <a:pPr marL="0" indent="0">
              <a:buNone/>
            </a:pPr>
            <a:r>
              <a:rPr lang="en-US" dirty="0">
                <a:latin typeface="Courier" pitchFamily="2" charset="0"/>
              </a:rPr>
              <a:t>vr1 = </a:t>
            </a:r>
            <a:r>
              <a:rPr lang="en-US" dirty="0">
                <a:highlight>
                  <a:srgbClr val="FF0000"/>
                </a:highlight>
                <a:latin typeface="Courier" pitchFamily="2" charset="0"/>
              </a:rPr>
              <a:t>x</a:t>
            </a:r>
            <a:r>
              <a:rPr lang="en-US" dirty="0">
                <a:latin typeface="Courier" pitchFamily="2" charset="0"/>
              </a:rPr>
              <a:t>; IO vars are not allowed</a:t>
            </a:r>
          </a:p>
          <a:p>
            <a:pPr marL="0" indent="0">
              <a:buNone/>
            </a:pPr>
            <a:endParaRPr lang="en-US" dirty="0"/>
          </a:p>
          <a:p>
            <a:endParaRPr lang="en-US" dirty="0"/>
          </a:p>
        </p:txBody>
      </p:sp>
    </p:spTree>
    <p:extLst>
      <p:ext uri="{BB962C8B-B14F-4D97-AF65-F5344CB8AC3E}">
        <p14:creationId xmlns:p14="http://schemas.microsoft.com/office/powerpoint/2010/main" val="3670918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9534-BD2E-AD47-A269-2AC3A9B9BBEF}"/>
              </a:ext>
            </a:extLst>
          </p:cNvPr>
          <p:cNvSpPr>
            <a:spLocks noGrp="1"/>
          </p:cNvSpPr>
          <p:nvPr>
            <p:ph type="title"/>
          </p:nvPr>
        </p:nvSpPr>
        <p:spPr>
          <a:xfrm>
            <a:off x="838200" y="42396"/>
            <a:ext cx="10515600" cy="1325563"/>
          </a:xfrm>
        </p:spPr>
        <p:txBody>
          <a:bodyPr/>
          <a:lstStyle/>
          <a:p>
            <a:r>
              <a:rPr lang="en-US" dirty="0"/>
              <a:t>Class-IR</a:t>
            </a:r>
          </a:p>
        </p:txBody>
      </p:sp>
      <p:sp>
        <p:nvSpPr>
          <p:cNvPr id="6" name="Content Placeholder 2">
            <a:extLst>
              <a:ext uri="{FF2B5EF4-FFF2-40B4-BE49-F238E27FC236}">
                <a16:creationId xmlns:a16="http://schemas.microsoft.com/office/drawing/2014/main" id="{684234CF-66E9-9249-9F6C-FEF36BADB739}"/>
              </a:ext>
            </a:extLst>
          </p:cNvPr>
          <p:cNvSpPr>
            <a:spLocks noGrp="1"/>
          </p:cNvSpPr>
          <p:nvPr>
            <p:ph idx="1"/>
          </p:nvPr>
        </p:nvSpPr>
        <p:spPr>
          <a:xfrm>
            <a:off x="838200" y="1367959"/>
            <a:ext cx="10515600" cy="4351338"/>
          </a:xfrm>
        </p:spPr>
        <p:txBody>
          <a:bodyPr>
            <a:normAutofit fontScale="92500"/>
          </a:bodyPr>
          <a:lstStyle/>
          <a:p>
            <a:pPr marL="0" indent="0">
              <a:buNone/>
            </a:pPr>
            <a:r>
              <a:rPr lang="en-US" b="1" dirty="0">
                <a:latin typeface="Courier" pitchFamily="2" charset="0"/>
              </a:rPr>
              <a:t>unary setting of untyped registers with typed values</a:t>
            </a:r>
            <a:endParaRPr lang="en-US" dirty="0">
              <a:latin typeface="Courier" pitchFamily="2" charset="0"/>
            </a:endParaRPr>
          </a:p>
          <a:p>
            <a:pPr marL="0" indent="0">
              <a:buNone/>
            </a:pPr>
            <a:r>
              <a:rPr lang="en-US" dirty="0" err="1">
                <a:latin typeface="Courier" pitchFamily="2" charset="0"/>
              </a:rPr>
              <a:t>dst</a:t>
            </a:r>
            <a:r>
              <a:rPr lang="en-US" dirty="0">
                <a:latin typeface="Courier" pitchFamily="2" charset="0"/>
              </a:rPr>
              <a:t> = operation(op0);</a:t>
            </a:r>
          </a:p>
          <a:p>
            <a:pPr marL="0" indent="0">
              <a:buNone/>
            </a:pPr>
            <a:endParaRPr lang="en-US" dirty="0">
              <a:latin typeface="Courier" pitchFamily="2" charset="0"/>
            </a:endParaRPr>
          </a:p>
          <a:p>
            <a:pPr marL="0" indent="0">
              <a:buNone/>
            </a:pPr>
            <a:r>
              <a:rPr lang="en-US" dirty="0">
                <a:latin typeface="Courier" pitchFamily="2" charset="0"/>
              </a:rPr>
              <a:t>operations are: [int2vr, float2vr]</a:t>
            </a:r>
          </a:p>
          <a:p>
            <a:pPr marL="0" indent="0">
              <a:buNone/>
            </a:pPr>
            <a:endParaRPr lang="en-US" dirty="0">
              <a:latin typeface="Courier" pitchFamily="2" charset="0"/>
            </a:endParaRPr>
          </a:p>
          <a:p>
            <a:pPr marL="0" indent="0">
              <a:buNone/>
            </a:pPr>
            <a:r>
              <a:rPr lang="en-US" dirty="0">
                <a:latin typeface="Courier" pitchFamily="2" charset="0"/>
              </a:rPr>
              <a:t>Example:</a:t>
            </a:r>
          </a:p>
          <a:p>
            <a:pPr marL="0" indent="0">
              <a:buNone/>
            </a:pPr>
            <a:endParaRPr lang="en-US" dirty="0">
              <a:latin typeface="Courier" pitchFamily="2" charset="0"/>
            </a:endParaRPr>
          </a:p>
          <a:p>
            <a:pPr marL="0" indent="0">
              <a:buNone/>
            </a:pPr>
            <a:r>
              <a:rPr lang="en-US" dirty="0">
                <a:latin typeface="Courier" pitchFamily="2" charset="0"/>
              </a:rPr>
              <a:t>vr1 = int2vr(x);     // IO typed values are allowed</a:t>
            </a:r>
          </a:p>
          <a:p>
            <a:pPr marL="0" indent="0">
              <a:buNone/>
            </a:pPr>
            <a:r>
              <a:rPr lang="en-US" dirty="0">
                <a:latin typeface="Courier" pitchFamily="2" charset="0"/>
              </a:rPr>
              <a:t>vr2 = float2vr(2.0); // Constants are allowed</a:t>
            </a:r>
          </a:p>
        </p:txBody>
      </p:sp>
      <p:sp>
        <p:nvSpPr>
          <p:cNvPr id="3" name="TextBox 2">
            <a:extLst>
              <a:ext uri="{FF2B5EF4-FFF2-40B4-BE49-F238E27FC236}">
                <a16:creationId xmlns:a16="http://schemas.microsoft.com/office/drawing/2014/main" id="{3D65F72E-EDFE-F44B-80E1-2798B353B648}"/>
              </a:ext>
            </a:extLst>
          </p:cNvPr>
          <p:cNvSpPr txBox="1"/>
          <p:nvPr/>
        </p:nvSpPr>
        <p:spPr>
          <a:xfrm>
            <a:off x="838200" y="4243348"/>
            <a:ext cx="1991443" cy="461665"/>
          </a:xfrm>
          <a:prstGeom prst="rect">
            <a:avLst/>
          </a:prstGeom>
          <a:noFill/>
        </p:spPr>
        <p:txBody>
          <a:bodyPr wrap="none" rtlCol="0">
            <a:spAutoFit/>
          </a:bodyPr>
          <a:lstStyle/>
          <a:p>
            <a:r>
              <a:rPr lang="en-US" sz="2400" i="1" dirty="0"/>
              <a:t>Given IO: int x</a:t>
            </a:r>
          </a:p>
        </p:txBody>
      </p:sp>
    </p:spTree>
    <p:extLst>
      <p:ext uri="{BB962C8B-B14F-4D97-AF65-F5344CB8AC3E}">
        <p14:creationId xmlns:p14="http://schemas.microsoft.com/office/powerpoint/2010/main" val="1726938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9534-BD2E-AD47-A269-2AC3A9B9BBEF}"/>
              </a:ext>
            </a:extLst>
          </p:cNvPr>
          <p:cNvSpPr>
            <a:spLocks noGrp="1"/>
          </p:cNvSpPr>
          <p:nvPr>
            <p:ph type="title"/>
          </p:nvPr>
        </p:nvSpPr>
        <p:spPr>
          <a:xfrm>
            <a:off x="838200" y="18255"/>
            <a:ext cx="10515600" cy="1325563"/>
          </a:xfrm>
        </p:spPr>
        <p:txBody>
          <a:bodyPr/>
          <a:lstStyle/>
          <a:p>
            <a:r>
              <a:rPr lang="en-US" dirty="0"/>
              <a:t>Class-IR</a:t>
            </a:r>
          </a:p>
        </p:txBody>
      </p:sp>
      <p:sp>
        <p:nvSpPr>
          <p:cNvPr id="6" name="Content Placeholder 2">
            <a:extLst>
              <a:ext uri="{FF2B5EF4-FFF2-40B4-BE49-F238E27FC236}">
                <a16:creationId xmlns:a16="http://schemas.microsoft.com/office/drawing/2014/main" id="{684234CF-66E9-9249-9F6C-FEF36BADB739}"/>
              </a:ext>
            </a:extLst>
          </p:cNvPr>
          <p:cNvSpPr>
            <a:spLocks noGrp="1"/>
          </p:cNvSpPr>
          <p:nvPr>
            <p:ph idx="1"/>
          </p:nvPr>
        </p:nvSpPr>
        <p:spPr>
          <a:xfrm>
            <a:off x="838200" y="1253331"/>
            <a:ext cx="10515600" cy="4351338"/>
          </a:xfrm>
        </p:spPr>
        <p:txBody>
          <a:bodyPr>
            <a:normAutofit fontScale="92500" lnSpcReduction="20000"/>
          </a:bodyPr>
          <a:lstStyle/>
          <a:p>
            <a:pPr marL="0" indent="0">
              <a:buNone/>
            </a:pPr>
            <a:r>
              <a:rPr lang="en-US" b="1" dirty="0">
                <a:latin typeface="Courier" pitchFamily="2" charset="0"/>
              </a:rPr>
              <a:t>unary getting typed data for IO</a:t>
            </a:r>
            <a:endParaRPr lang="en-US" dirty="0">
              <a:latin typeface="Courier" pitchFamily="2" charset="0"/>
            </a:endParaRPr>
          </a:p>
          <a:p>
            <a:pPr marL="0" indent="0">
              <a:buNone/>
            </a:pPr>
            <a:r>
              <a:rPr lang="en-US" dirty="0" err="1">
                <a:highlight>
                  <a:srgbClr val="FFFF00"/>
                </a:highlight>
                <a:latin typeface="Courier" pitchFamily="2" charset="0"/>
              </a:rPr>
              <a:t>dst</a:t>
            </a:r>
            <a:r>
              <a:rPr lang="en-US" dirty="0">
                <a:highlight>
                  <a:srgbClr val="FFFF00"/>
                </a:highlight>
                <a:latin typeface="Courier" pitchFamily="2" charset="0"/>
              </a:rPr>
              <a:t> = operation(op0);</a:t>
            </a:r>
          </a:p>
          <a:p>
            <a:pPr marL="0" indent="0">
              <a:buNone/>
            </a:pPr>
            <a:endParaRPr lang="en-US" dirty="0">
              <a:latin typeface="Courier" pitchFamily="2" charset="0"/>
            </a:endParaRPr>
          </a:p>
          <a:p>
            <a:pPr marL="0" indent="0">
              <a:buNone/>
            </a:pPr>
            <a:r>
              <a:rPr lang="en-US" dirty="0">
                <a:latin typeface="Courier" pitchFamily="2" charset="0"/>
              </a:rPr>
              <a:t>operations are: [vr2int, vr2float]</a:t>
            </a:r>
          </a:p>
          <a:p>
            <a:pPr marL="0" indent="0">
              <a:buNone/>
            </a:pPr>
            <a:endParaRPr lang="en-US" dirty="0">
              <a:latin typeface="Courier" pitchFamily="2" charset="0"/>
            </a:endParaRPr>
          </a:p>
          <a:p>
            <a:pPr marL="0" indent="0">
              <a:buNone/>
            </a:pPr>
            <a:r>
              <a:rPr lang="en-US" dirty="0">
                <a:latin typeface="Courier" pitchFamily="2" charset="0"/>
              </a:rPr>
              <a:t>Example:</a:t>
            </a:r>
          </a:p>
          <a:p>
            <a:pPr marL="0" indent="0">
              <a:buNone/>
            </a:pPr>
            <a:endParaRPr lang="en-US" dirty="0">
              <a:latin typeface="Courier" pitchFamily="2" charset="0"/>
            </a:endParaRPr>
          </a:p>
          <a:p>
            <a:pPr marL="0" indent="0">
              <a:buNone/>
            </a:pPr>
            <a:endParaRPr lang="en-US" dirty="0">
              <a:latin typeface="Courier" pitchFamily="2" charset="0"/>
            </a:endParaRPr>
          </a:p>
          <a:p>
            <a:pPr marL="0" indent="0">
              <a:buNone/>
            </a:pPr>
            <a:r>
              <a:rPr lang="en-US" dirty="0">
                <a:latin typeface="Courier" pitchFamily="2" charset="0"/>
              </a:rPr>
              <a:t>    x = vr2int(vr1);</a:t>
            </a:r>
          </a:p>
          <a:p>
            <a:pPr marL="0" indent="0">
              <a:buNone/>
            </a:pPr>
            <a:r>
              <a:rPr lang="en-US" dirty="0">
                <a:latin typeface="Courier" pitchFamily="2" charset="0"/>
              </a:rPr>
              <a:t>    y = vr2float(vr3);</a:t>
            </a:r>
          </a:p>
        </p:txBody>
      </p:sp>
      <p:sp>
        <p:nvSpPr>
          <p:cNvPr id="3" name="TextBox 2">
            <a:extLst>
              <a:ext uri="{FF2B5EF4-FFF2-40B4-BE49-F238E27FC236}">
                <a16:creationId xmlns:a16="http://schemas.microsoft.com/office/drawing/2014/main" id="{3D65F72E-EDFE-F44B-80E1-2798B353B648}"/>
              </a:ext>
            </a:extLst>
          </p:cNvPr>
          <p:cNvSpPr txBox="1"/>
          <p:nvPr/>
        </p:nvSpPr>
        <p:spPr>
          <a:xfrm>
            <a:off x="1134036" y="3855616"/>
            <a:ext cx="3328347" cy="461665"/>
          </a:xfrm>
          <a:prstGeom prst="rect">
            <a:avLst/>
          </a:prstGeom>
          <a:noFill/>
        </p:spPr>
        <p:txBody>
          <a:bodyPr wrap="none" rtlCol="0">
            <a:spAutoFit/>
          </a:bodyPr>
          <a:lstStyle/>
          <a:p>
            <a:r>
              <a:rPr lang="en-US" sz="2400" i="1" dirty="0">
                <a:highlight>
                  <a:srgbClr val="FFFF00"/>
                </a:highlight>
              </a:rPr>
              <a:t>Given IO: int x and float y</a:t>
            </a:r>
          </a:p>
        </p:txBody>
      </p:sp>
    </p:spTree>
    <p:extLst>
      <p:ext uri="{BB962C8B-B14F-4D97-AF65-F5344CB8AC3E}">
        <p14:creationId xmlns:p14="http://schemas.microsoft.com/office/powerpoint/2010/main" val="24227107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9534-BD2E-AD47-A269-2AC3A9B9BBEF}"/>
              </a:ext>
            </a:extLst>
          </p:cNvPr>
          <p:cNvSpPr>
            <a:spLocks noGrp="1"/>
          </p:cNvSpPr>
          <p:nvPr>
            <p:ph type="title"/>
          </p:nvPr>
        </p:nvSpPr>
        <p:spPr>
          <a:xfrm>
            <a:off x="838200" y="18255"/>
            <a:ext cx="10515600" cy="1325563"/>
          </a:xfrm>
        </p:spPr>
        <p:txBody>
          <a:bodyPr/>
          <a:lstStyle/>
          <a:p>
            <a:r>
              <a:rPr lang="en-US" dirty="0"/>
              <a:t>Class-IR</a:t>
            </a:r>
          </a:p>
        </p:txBody>
      </p:sp>
      <p:sp>
        <p:nvSpPr>
          <p:cNvPr id="6" name="Content Placeholder 2">
            <a:extLst>
              <a:ext uri="{FF2B5EF4-FFF2-40B4-BE49-F238E27FC236}">
                <a16:creationId xmlns:a16="http://schemas.microsoft.com/office/drawing/2014/main" id="{684234CF-66E9-9249-9F6C-FEF36BADB739}"/>
              </a:ext>
            </a:extLst>
          </p:cNvPr>
          <p:cNvSpPr>
            <a:spLocks noGrp="1"/>
          </p:cNvSpPr>
          <p:nvPr>
            <p:ph idx="1"/>
          </p:nvPr>
        </p:nvSpPr>
        <p:spPr>
          <a:xfrm>
            <a:off x="838200" y="1380984"/>
            <a:ext cx="10515600" cy="4351338"/>
          </a:xfrm>
        </p:spPr>
        <p:txBody>
          <a:bodyPr>
            <a:normAutofit/>
          </a:bodyPr>
          <a:lstStyle/>
          <a:p>
            <a:pPr marL="0" indent="0">
              <a:buNone/>
            </a:pPr>
            <a:r>
              <a:rPr lang="en-US" b="1" dirty="0"/>
              <a:t>unary conversion operators for VRs</a:t>
            </a:r>
            <a:r>
              <a:rPr lang="en-US" dirty="0"/>
              <a:t>: </a:t>
            </a:r>
            <a:endParaRPr lang="en-US" dirty="0">
              <a:latin typeface="Courier" pitchFamily="2" charset="0"/>
            </a:endParaRPr>
          </a:p>
          <a:p>
            <a:pPr marL="0" indent="0">
              <a:buNone/>
            </a:pPr>
            <a:r>
              <a:rPr lang="en-US" dirty="0" err="1">
                <a:latin typeface="Courier" pitchFamily="2" charset="0"/>
              </a:rPr>
              <a:t>dst</a:t>
            </a:r>
            <a:r>
              <a:rPr lang="en-US" dirty="0">
                <a:latin typeface="Courier" pitchFamily="2" charset="0"/>
              </a:rPr>
              <a:t> = operation(op0);</a:t>
            </a:r>
          </a:p>
          <a:p>
            <a:pPr marL="0" indent="0">
              <a:buNone/>
            </a:pPr>
            <a:endParaRPr lang="en-US" dirty="0">
              <a:latin typeface="Courier" pitchFamily="2" charset="0"/>
            </a:endParaRPr>
          </a:p>
          <a:p>
            <a:pPr marL="0" indent="0">
              <a:buNone/>
            </a:pPr>
            <a:r>
              <a:rPr lang="en-US" dirty="0">
                <a:latin typeface="Courier" pitchFamily="2" charset="0"/>
              </a:rPr>
              <a:t>operations can be one of: </a:t>
            </a:r>
          </a:p>
          <a:p>
            <a:pPr marL="0" indent="0">
              <a:buNone/>
            </a:pPr>
            <a:r>
              <a:rPr lang="en-US" dirty="0">
                <a:latin typeface="Courier" pitchFamily="2" charset="0"/>
              </a:rPr>
              <a:t>   [</a:t>
            </a:r>
            <a:r>
              <a:rPr lang="en-US" dirty="0">
                <a:highlight>
                  <a:srgbClr val="FFFF00"/>
                </a:highlight>
                <a:latin typeface="Courier" pitchFamily="2" charset="0"/>
              </a:rPr>
              <a:t>vr_int2float</a:t>
            </a:r>
            <a:r>
              <a:rPr lang="en-US" dirty="0">
                <a:latin typeface="Courier" pitchFamily="2" charset="0"/>
              </a:rPr>
              <a:t>, </a:t>
            </a:r>
            <a:r>
              <a:rPr lang="en-US" dirty="0">
                <a:highlight>
                  <a:srgbClr val="FFFF00"/>
                </a:highlight>
                <a:latin typeface="Courier" pitchFamily="2" charset="0"/>
              </a:rPr>
              <a:t>vr_float2int</a:t>
            </a:r>
            <a:r>
              <a:rPr lang="en-US" dirty="0">
                <a:latin typeface="Courier" pitchFamily="2" charset="0"/>
              </a:rPr>
              <a:t>]</a:t>
            </a:r>
          </a:p>
          <a:p>
            <a:pPr marL="0" indent="0">
              <a:buNone/>
            </a:pPr>
            <a:endParaRPr lang="en-US" dirty="0">
              <a:latin typeface="Courier" pitchFamily="2" charset="0"/>
            </a:endParaRPr>
          </a:p>
          <a:p>
            <a:pPr marL="0" indent="0">
              <a:buNone/>
            </a:pPr>
            <a:r>
              <a:rPr lang="en-US" b="1" dirty="0">
                <a:highlight>
                  <a:srgbClr val="FFFF00"/>
                </a:highlight>
                <a:latin typeface="Courier" pitchFamily="2" charset="0"/>
              </a:rPr>
              <a:t>converts</a:t>
            </a:r>
            <a:r>
              <a:rPr lang="en-US" dirty="0">
                <a:latin typeface="Courier" pitchFamily="2" charset="0"/>
              </a:rPr>
              <a:t> the </a:t>
            </a:r>
            <a:r>
              <a:rPr lang="en-US" dirty="0">
                <a:highlight>
                  <a:srgbClr val="FFFF00"/>
                </a:highlight>
                <a:latin typeface="Courier" pitchFamily="2" charset="0"/>
              </a:rPr>
              <a:t>bits in a </a:t>
            </a:r>
            <a:r>
              <a:rPr lang="en-US" b="1" dirty="0">
                <a:highlight>
                  <a:srgbClr val="FFFF00"/>
                </a:highlight>
                <a:latin typeface="Courier" pitchFamily="2" charset="0"/>
              </a:rPr>
              <a:t>virtual register</a:t>
            </a:r>
            <a:r>
              <a:rPr lang="en-US" dirty="0">
                <a:latin typeface="Courier" pitchFamily="2" charset="0"/>
              </a:rPr>
              <a:t> from </a:t>
            </a:r>
            <a:r>
              <a:rPr lang="en-US" b="1" dirty="0">
                <a:latin typeface="Courier" pitchFamily="2" charset="0"/>
              </a:rPr>
              <a:t>one type to another</a:t>
            </a:r>
            <a:r>
              <a:rPr lang="en-US" dirty="0">
                <a:latin typeface="Courier" pitchFamily="2" charset="0"/>
              </a:rPr>
              <a:t>. </a:t>
            </a:r>
            <a:r>
              <a:rPr lang="en-US" b="1" i="1" dirty="0">
                <a:highlight>
                  <a:srgbClr val="FFFF00"/>
                </a:highlight>
                <a:latin typeface="Courier" pitchFamily="2" charset="0"/>
              </a:rPr>
              <a:t>op0</a:t>
            </a:r>
            <a:r>
              <a:rPr lang="en-US" i="1" dirty="0">
                <a:latin typeface="Courier" pitchFamily="2" charset="0"/>
              </a:rPr>
              <a:t> and </a:t>
            </a:r>
            <a:r>
              <a:rPr lang="en-US" b="1" i="1" dirty="0" err="1">
                <a:highlight>
                  <a:srgbClr val="FFFF00"/>
                </a:highlight>
                <a:latin typeface="Courier" pitchFamily="2" charset="0"/>
              </a:rPr>
              <a:t>dst</a:t>
            </a:r>
            <a:r>
              <a:rPr lang="en-US" i="1" dirty="0">
                <a:latin typeface="Courier" pitchFamily="2" charset="0"/>
              </a:rPr>
              <a:t> </a:t>
            </a:r>
            <a:r>
              <a:rPr lang="en-US" i="1" dirty="0">
                <a:highlight>
                  <a:srgbClr val="FFFF00"/>
                </a:highlight>
                <a:latin typeface="Courier" pitchFamily="2" charset="0"/>
              </a:rPr>
              <a:t>must be </a:t>
            </a:r>
            <a:r>
              <a:rPr lang="en-US" i="1" dirty="0">
                <a:latin typeface="Courier" pitchFamily="2" charset="0"/>
              </a:rPr>
              <a:t>a </a:t>
            </a:r>
            <a:r>
              <a:rPr lang="en-US" b="1" i="1" dirty="0">
                <a:highlight>
                  <a:srgbClr val="FFFF00"/>
                </a:highlight>
                <a:latin typeface="Courier" pitchFamily="2" charset="0"/>
              </a:rPr>
              <a:t>virtual register!</a:t>
            </a:r>
          </a:p>
        </p:txBody>
      </p:sp>
    </p:spTree>
    <p:extLst>
      <p:ext uri="{BB962C8B-B14F-4D97-AF65-F5344CB8AC3E}">
        <p14:creationId xmlns:p14="http://schemas.microsoft.com/office/powerpoint/2010/main" val="17492251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9534-BD2E-AD47-A269-2AC3A9B9BBEF}"/>
              </a:ext>
            </a:extLst>
          </p:cNvPr>
          <p:cNvSpPr>
            <a:spLocks noGrp="1"/>
          </p:cNvSpPr>
          <p:nvPr>
            <p:ph type="title"/>
          </p:nvPr>
        </p:nvSpPr>
        <p:spPr/>
        <p:txBody>
          <a:bodyPr/>
          <a:lstStyle/>
          <a:p>
            <a:r>
              <a:rPr lang="en-US" dirty="0"/>
              <a:t>Class-IR: Examples</a:t>
            </a:r>
          </a:p>
        </p:txBody>
      </p:sp>
      <p:sp>
        <p:nvSpPr>
          <p:cNvPr id="6" name="Content Placeholder 2">
            <a:extLst>
              <a:ext uri="{FF2B5EF4-FFF2-40B4-BE49-F238E27FC236}">
                <a16:creationId xmlns:a16="http://schemas.microsoft.com/office/drawing/2014/main" id="{684234CF-66E9-9249-9F6C-FEF36BADB739}"/>
              </a:ext>
            </a:extLst>
          </p:cNvPr>
          <p:cNvSpPr>
            <a:spLocks noGrp="1"/>
          </p:cNvSpPr>
          <p:nvPr>
            <p:ph idx="1"/>
          </p:nvPr>
        </p:nvSpPr>
        <p:spPr>
          <a:xfrm>
            <a:off x="838200" y="1825625"/>
            <a:ext cx="10515600" cy="4351338"/>
          </a:xfrm>
        </p:spPr>
        <p:txBody>
          <a:bodyPr>
            <a:normAutofit lnSpcReduction="10000"/>
          </a:bodyPr>
          <a:lstStyle/>
          <a:p>
            <a:pPr marL="0" indent="0">
              <a:buNone/>
            </a:pPr>
            <a:r>
              <a:rPr lang="en-US" b="1" dirty="0"/>
              <a:t>unary conversion operators</a:t>
            </a:r>
            <a:r>
              <a:rPr lang="en-US" dirty="0"/>
              <a:t>: </a:t>
            </a:r>
            <a:endParaRPr lang="en-US" dirty="0">
              <a:latin typeface="Courier" pitchFamily="2" charset="0"/>
            </a:endParaRPr>
          </a:p>
          <a:p>
            <a:pPr marL="0" indent="0">
              <a:buNone/>
            </a:pPr>
            <a:r>
              <a:rPr lang="en-US" dirty="0" err="1">
                <a:latin typeface="Courier" pitchFamily="2" charset="0"/>
              </a:rPr>
              <a:t>dst</a:t>
            </a:r>
            <a:r>
              <a:rPr lang="en-US" dirty="0">
                <a:latin typeface="Courier" pitchFamily="2" charset="0"/>
              </a:rPr>
              <a:t> = operation(op0);</a:t>
            </a:r>
          </a:p>
          <a:p>
            <a:pPr marL="0" indent="0">
              <a:buNone/>
            </a:pPr>
            <a:endParaRPr lang="en-US" dirty="0">
              <a:latin typeface="Courier" pitchFamily="2" charset="0"/>
            </a:endParaRPr>
          </a:p>
          <a:p>
            <a:pPr marL="0" indent="0">
              <a:buNone/>
            </a:pPr>
            <a:r>
              <a:rPr lang="en-US" dirty="0">
                <a:latin typeface="Courier" pitchFamily="2" charset="0"/>
              </a:rPr>
              <a:t>Examples:</a:t>
            </a:r>
          </a:p>
          <a:p>
            <a:pPr marL="0" indent="0">
              <a:buNone/>
            </a:pPr>
            <a:endParaRPr lang="en-US" dirty="0">
              <a:latin typeface="Courier" pitchFamily="2" charset="0"/>
            </a:endParaRPr>
          </a:p>
          <a:p>
            <a:pPr marL="0" indent="0">
              <a:buNone/>
            </a:pPr>
            <a:r>
              <a:rPr lang="en-US" dirty="0">
                <a:latin typeface="Courier" pitchFamily="2" charset="0"/>
              </a:rPr>
              <a:t>  vr0 = vr_int2float(vr1);</a:t>
            </a:r>
          </a:p>
          <a:p>
            <a:pPr marL="0" indent="0">
              <a:buNone/>
            </a:pPr>
            <a:r>
              <a:rPr lang="en-US" dirty="0">
                <a:latin typeface="Courier" pitchFamily="2" charset="0"/>
              </a:rPr>
              <a:t>  vr2 = vr_float2int(</a:t>
            </a:r>
            <a:r>
              <a:rPr lang="en-US" dirty="0">
                <a:highlight>
                  <a:srgbClr val="FF0000"/>
                </a:highlight>
                <a:latin typeface="Courier" pitchFamily="2" charset="0"/>
              </a:rPr>
              <a:t>1.0</a:t>
            </a:r>
            <a:r>
              <a:rPr lang="en-US" dirty="0">
                <a:latin typeface="Courier" pitchFamily="2" charset="0"/>
              </a:rPr>
              <a:t>); not allowed!</a:t>
            </a:r>
          </a:p>
          <a:p>
            <a:pPr marL="0" indent="0">
              <a:buNone/>
            </a:pPr>
            <a:r>
              <a:rPr lang="en-US" dirty="0">
                <a:latin typeface="Courier" pitchFamily="2" charset="0"/>
              </a:rPr>
              <a:t>  vr2 = vr_float2int(</a:t>
            </a:r>
            <a:r>
              <a:rPr lang="en-US" dirty="0">
                <a:highlight>
                  <a:srgbClr val="FF0000"/>
                </a:highlight>
                <a:latin typeface="Courier" pitchFamily="2" charset="0"/>
              </a:rPr>
              <a:t>x</a:t>
            </a:r>
            <a:r>
              <a:rPr lang="en-US" dirty="0">
                <a:latin typeface="Courier" pitchFamily="2" charset="0"/>
              </a:rPr>
              <a:t>);   not allowed!</a:t>
            </a:r>
          </a:p>
          <a:p>
            <a:pPr marL="0" indent="0">
              <a:buNone/>
            </a:pPr>
            <a:r>
              <a:rPr lang="en-US" dirty="0">
                <a:latin typeface="Courier" pitchFamily="2" charset="0"/>
              </a:rPr>
              <a:t>  vr2 = vr_float2int(</a:t>
            </a:r>
            <a:r>
              <a:rPr lang="en-US" dirty="0">
                <a:highlight>
                  <a:srgbClr val="FF0000"/>
                </a:highlight>
                <a:latin typeface="Courier" pitchFamily="2" charset="0"/>
              </a:rPr>
              <a:t>y</a:t>
            </a:r>
            <a:r>
              <a:rPr lang="en-US" dirty="0">
                <a:latin typeface="Courier" pitchFamily="2" charset="0"/>
              </a:rPr>
              <a:t>);   not allowed!</a:t>
            </a:r>
          </a:p>
          <a:p>
            <a:pPr marL="0" indent="0">
              <a:buNone/>
            </a:pPr>
            <a:endParaRPr lang="en-US" dirty="0">
              <a:latin typeface="Courier" pitchFamily="2" charset="0"/>
            </a:endParaRPr>
          </a:p>
          <a:p>
            <a:pPr marL="0" indent="0">
              <a:buNone/>
            </a:pPr>
            <a:endParaRPr lang="en-US" dirty="0">
              <a:latin typeface="Courier" pitchFamily="2" charset="0"/>
            </a:endParaRPr>
          </a:p>
        </p:txBody>
      </p:sp>
      <p:sp>
        <p:nvSpPr>
          <p:cNvPr id="3" name="TextBox 2">
            <a:extLst>
              <a:ext uri="{FF2B5EF4-FFF2-40B4-BE49-F238E27FC236}">
                <a16:creationId xmlns:a16="http://schemas.microsoft.com/office/drawing/2014/main" id="{8491BFAE-21B6-C069-0B6A-040EA4B6E81B}"/>
              </a:ext>
            </a:extLst>
          </p:cNvPr>
          <p:cNvSpPr txBox="1"/>
          <p:nvPr/>
        </p:nvSpPr>
        <p:spPr>
          <a:xfrm>
            <a:off x="1134036" y="3624783"/>
            <a:ext cx="3180871" cy="461665"/>
          </a:xfrm>
          <a:prstGeom prst="rect">
            <a:avLst/>
          </a:prstGeom>
          <a:noFill/>
        </p:spPr>
        <p:txBody>
          <a:bodyPr wrap="none" rtlCol="0">
            <a:spAutoFit/>
          </a:bodyPr>
          <a:lstStyle/>
          <a:p>
            <a:r>
              <a:rPr lang="en-US" sz="2400" i="1" dirty="0">
                <a:highlight>
                  <a:srgbClr val="FFFF00"/>
                </a:highlight>
              </a:rPr>
              <a:t>Given IO: int x  or float x</a:t>
            </a:r>
          </a:p>
        </p:txBody>
      </p:sp>
    </p:spTree>
    <p:extLst>
      <p:ext uri="{BB962C8B-B14F-4D97-AF65-F5344CB8AC3E}">
        <p14:creationId xmlns:p14="http://schemas.microsoft.com/office/powerpoint/2010/main" val="21587021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9534-BD2E-AD47-A269-2AC3A9B9BBEF}"/>
              </a:ext>
            </a:extLst>
          </p:cNvPr>
          <p:cNvSpPr>
            <a:spLocks noGrp="1"/>
          </p:cNvSpPr>
          <p:nvPr>
            <p:ph type="title"/>
          </p:nvPr>
        </p:nvSpPr>
        <p:spPr/>
        <p:txBody>
          <a:bodyPr/>
          <a:lstStyle/>
          <a:p>
            <a:r>
              <a:rPr lang="en-US" dirty="0"/>
              <a:t>Example</a:t>
            </a:r>
          </a:p>
        </p:txBody>
      </p:sp>
      <p:sp>
        <p:nvSpPr>
          <p:cNvPr id="8" name="Content Placeholder 2">
            <a:extLst>
              <a:ext uri="{FF2B5EF4-FFF2-40B4-BE49-F238E27FC236}">
                <a16:creationId xmlns:a16="http://schemas.microsoft.com/office/drawing/2014/main" id="{A0AB6E2F-1E98-8045-99BB-9F0F400BF9EE}"/>
              </a:ext>
            </a:extLst>
          </p:cNvPr>
          <p:cNvSpPr>
            <a:spLocks noGrp="1"/>
          </p:cNvSpPr>
          <p:nvPr>
            <p:ph idx="1"/>
          </p:nvPr>
        </p:nvSpPr>
        <p:spPr>
          <a:xfrm>
            <a:off x="838200" y="1825624"/>
            <a:ext cx="10515600" cy="4879975"/>
          </a:xfrm>
        </p:spPr>
        <p:txBody>
          <a:bodyPr>
            <a:normAutofit/>
          </a:bodyPr>
          <a:lstStyle/>
          <a:p>
            <a:pPr marL="0" indent="0">
              <a:buNone/>
            </a:pPr>
            <a:r>
              <a:rPr lang="en-US" sz="2000" dirty="0">
                <a:latin typeface="Courier" pitchFamily="2" charset="0"/>
              </a:rPr>
              <a:t>adding the values 1 - 9 to an input/output variable: int x</a:t>
            </a:r>
          </a:p>
        </p:txBody>
      </p:sp>
    </p:spTree>
    <p:extLst>
      <p:ext uri="{BB962C8B-B14F-4D97-AF65-F5344CB8AC3E}">
        <p14:creationId xmlns:p14="http://schemas.microsoft.com/office/powerpoint/2010/main" val="22189427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9534-BD2E-AD47-A269-2AC3A9B9BBEF}"/>
              </a:ext>
            </a:extLst>
          </p:cNvPr>
          <p:cNvSpPr>
            <a:spLocks noGrp="1"/>
          </p:cNvSpPr>
          <p:nvPr>
            <p:ph type="title"/>
          </p:nvPr>
        </p:nvSpPr>
        <p:spPr/>
        <p:txBody>
          <a:bodyPr/>
          <a:lstStyle/>
          <a:p>
            <a:r>
              <a:rPr lang="en-US" dirty="0"/>
              <a:t>Example</a:t>
            </a:r>
          </a:p>
        </p:txBody>
      </p:sp>
      <p:sp>
        <p:nvSpPr>
          <p:cNvPr id="8" name="Content Placeholder 2">
            <a:extLst>
              <a:ext uri="{FF2B5EF4-FFF2-40B4-BE49-F238E27FC236}">
                <a16:creationId xmlns:a16="http://schemas.microsoft.com/office/drawing/2014/main" id="{A0AB6E2F-1E98-8045-99BB-9F0F400BF9EE}"/>
              </a:ext>
            </a:extLst>
          </p:cNvPr>
          <p:cNvSpPr>
            <a:spLocks noGrp="1"/>
          </p:cNvSpPr>
          <p:nvPr>
            <p:ph idx="1"/>
          </p:nvPr>
        </p:nvSpPr>
        <p:spPr>
          <a:xfrm>
            <a:off x="838200" y="1825624"/>
            <a:ext cx="10515600" cy="4879975"/>
          </a:xfrm>
        </p:spPr>
        <p:txBody>
          <a:bodyPr>
            <a:normAutofit fontScale="92500" lnSpcReduction="20000"/>
          </a:bodyPr>
          <a:lstStyle/>
          <a:p>
            <a:pPr marL="0" indent="0">
              <a:buNone/>
            </a:pPr>
            <a:r>
              <a:rPr lang="en-US" sz="2000" dirty="0">
                <a:latin typeface="Courier" pitchFamily="2" charset="0"/>
              </a:rPr>
              <a:t>adding the values 1 - 9 to an input/output variable: int x</a:t>
            </a:r>
          </a:p>
          <a:p>
            <a:pPr marL="0" indent="0">
              <a:buNone/>
            </a:pPr>
            <a:endParaRPr lang="en-US" sz="2000" dirty="0">
              <a:latin typeface="Courier" pitchFamily="2" charset="0"/>
            </a:endParaRPr>
          </a:p>
          <a:p>
            <a:pPr marL="0" indent="0">
              <a:buNone/>
            </a:pPr>
            <a:r>
              <a:rPr lang="en-US" sz="2000" dirty="0">
                <a:latin typeface="Courier" pitchFamily="2" charset="0"/>
              </a:rPr>
              <a:t>  </a:t>
            </a:r>
            <a:r>
              <a:rPr lang="en-US" sz="2000" dirty="0">
                <a:highlight>
                  <a:srgbClr val="FFFF00"/>
                </a:highlight>
                <a:latin typeface="Courier" pitchFamily="2" charset="0"/>
              </a:rPr>
              <a:t>vr0 = int2vr(1);</a:t>
            </a:r>
          </a:p>
          <a:p>
            <a:pPr marL="0" indent="0">
              <a:buNone/>
            </a:pPr>
            <a:r>
              <a:rPr lang="en-US" sz="2000" dirty="0">
                <a:latin typeface="Courier" pitchFamily="2" charset="0"/>
              </a:rPr>
              <a:t>  </a:t>
            </a:r>
            <a:r>
              <a:rPr lang="en-US" sz="2000" dirty="0">
                <a:highlight>
                  <a:srgbClr val="FFFF00"/>
                </a:highlight>
                <a:latin typeface="Courier" pitchFamily="2" charset="0"/>
              </a:rPr>
              <a:t>vr1 = int2vr(1);</a:t>
            </a:r>
          </a:p>
          <a:p>
            <a:pPr marL="0" indent="0">
              <a:buNone/>
            </a:pPr>
            <a:r>
              <a:rPr lang="en-US" sz="2000" dirty="0">
                <a:latin typeface="Courier" pitchFamily="2" charset="0"/>
              </a:rPr>
              <a:t>  </a:t>
            </a:r>
            <a:r>
              <a:rPr lang="en-US" sz="2000" dirty="0">
                <a:highlight>
                  <a:srgbClr val="FFFF00"/>
                </a:highlight>
                <a:latin typeface="Courier" pitchFamily="2" charset="0"/>
              </a:rPr>
              <a:t>vr2 = int2vr(10);</a:t>
            </a:r>
          </a:p>
          <a:p>
            <a:pPr marL="0" indent="0">
              <a:buNone/>
            </a:pPr>
            <a:r>
              <a:rPr lang="en-US" sz="2000" dirty="0" err="1">
                <a:latin typeface="Courier" pitchFamily="2" charset="0"/>
              </a:rPr>
              <a:t>loop_start</a:t>
            </a:r>
            <a:r>
              <a:rPr lang="en-US" sz="2000" dirty="0">
                <a:latin typeface="Courier" pitchFamily="2" charset="0"/>
              </a:rPr>
              <a:t>:</a:t>
            </a:r>
          </a:p>
          <a:p>
            <a:pPr marL="0" indent="0">
              <a:buNone/>
            </a:pPr>
            <a:r>
              <a:rPr lang="en-US" sz="2000" dirty="0">
                <a:latin typeface="Courier" pitchFamily="2" charset="0"/>
              </a:rPr>
              <a:t>  vr3 = </a:t>
            </a:r>
            <a:r>
              <a:rPr lang="en-US" sz="2000" dirty="0" err="1">
                <a:latin typeface="Courier" pitchFamily="2" charset="0"/>
              </a:rPr>
              <a:t>lti</a:t>
            </a:r>
            <a:r>
              <a:rPr lang="en-US" sz="2000" dirty="0">
                <a:latin typeface="Courier" pitchFamily="2" charset="0"/>
              </a:rPr>
              <a:t>(vr0, vr2);</a:t>
            </a:r>
          </a:p>
          <a:p>
            <a:pPr marL="0" indent="0">
              <a:buNone/>
            </a:pPr>
            <a:r>
              <a:rPr lang="en-US" sz="2000" dirty="0">
                <a:latin typeface="Courier" pitchFamily="2" charset="0"/>
              </a:rPr>
              <a:t>  </a:t>
            </a:r>
            <a:r>
              <a:rPr lang="en-US" sz="2000" dirty="0" err="1">
                <a:latin typeface="Courier" pitchFamily="2" charset="0"/>
              </a:rPr>
              <a:t>bne</a:t>
            </a:r>
            <a:r>
              <a:rPr lang="en-US" sz="2000" dirty="0">
                <a:latin typeface="Courier" pitchFamily="2" charset="0"/>
              </a:rPr>
              <a:t>(vr3, vr1, </a:t>
            </a:r>
            <a:r>
              <a:rPr lang="en-US" sz="2000" dirty="0" err="1">
                <a:latin typeface="Courier" pitchFamily="2" charset="0"/>
              </a:rPr>
              <a:t>end_label</a:t>
            </a:r>
            <a:r>
              <a:rPr lang="en-US" sz="2000" dirty="0">
                <a:latin typeface="Courier" pitchFamily="2" charset="0"/>
              </a:rPr>
              <a:t>);</a:t>
            </a:r>
          </a:p>
          <a:p>
            <a:pPr marL="0" indent="0">
              <a:buNone/>
            </a:pPr>
            <a:r>
              <a:rPr lang="en-US" sz="2000" dirty="0">
                <a:latin typeface="Courier" pitchFamily="2" charset="0"/>
              </a:rPr>
              <a:t>  vr4 = int2vr(x);</a:t>
            </a:r>
          </a:p>
          <a:p>
            <a:pPr marL="0" indent="0">
              <a:buNone/>
            </a:pPr>
            <a:r>
              <a:rPr lang="en-US" sz="2000" dirty="0">
                <a:latin typeface="Courier" pitchFamily="2" charset="0"/>
              </a:rPr>
              <a:t>  vr5 = </a:t>
            </a:r>
            <a:r>
              <a:rPr lang="en-US" sz="2000" dirty="0" err="1">
                <a:latin typeface="Courier" pitchFamily="2" charset="0"/>
              </a:rPr>
              <a:t>addi</a:t>
            </a:r>
            <a:r>
              <a:rPr lang="en-US" sz="2000" dirty="0">
                <a:latin typeface="Courier" pitchFamily="2" charset="0"/>
              </a:rPr>
              <a:t>(vr4,vr0);</a:t>
            </a:r>
          </a:p>
          <a:p>
            <a:pPr marL="0" indent="0">
              <a:buNone/>
            </a:pPr>
            <a:r>
              <a:rPr lang="en-US" sz="2000" dirty="0">
                <a:latin typeface="Courier" pitchFamily="2" charset="0"/>
              </a:rPr>
              <a:t>  </a:t>
            </a:r>
            <a:r>
              <a:rPr lang="en-US" sz="2000" dirty="0">
                <a:highlight>
                  <a:srgbClr val="FFFF00"/>
                </a:highlight>
                <a:latin typeface="Courier" pitchFamily="2" charset="0"/>
              </a:rPr>
              <a:t>x = vr2int(vr5);</a:t>
            </a:r>
          </a:p>
          <a:p>
            <a:pPr marL="0" indent="0">
              <a:buNone/>
            </a:pPr>
            <a:r>
              <a:rPr lang="en-US" sz="2000" dirty="0">
                <a:latin typeface="Courier" pitchFamily="2" charset="0"/>
              </a:rPr>
              <a:t>  vr0 = </a:t>
            </a:r>
            <a:r>
              <a:rPr lang="en-US" sz="2000" dirty="0" err="1">
                <a:latin typeface="Courier" pitchFamily="2" charset="0"/>
              </a:rPr>
              <a:t>addi</a:t>
            </a:r>
            <a:r>
              <a:rPr lang="en-US" sz="2000" dirty="0">
                <a:latin typeface="Courier" pitchFamily="2" charset="0"/>
              </a:rPr>
              <a:t>(vr0, vr1);</a:t>
            </a:r>
          </a:p>
          <a:p>
            <a:pPr marL="0" indent="0">
              <a:buNone/>
            </a:pPr>
            <a:r>
              <a:rPr lang="en-US" sz="2000" dirty="0">
                <a:latin typeface="Courier" pitchFamily="2" charset="0"/>
              </a:rPr>
              <a:t>  branch(</a:t>
            </a:r>
            <a:r>
              <a:rPr lang="en-US" sz="2000" dirty="0" err="1">
                <a:latin typeface="Courier" pitchFamily="2" charset="0"/>
              </a:rPr>
              <a:t>loop_start</a:t>
            </a:r>
            <a:r>
              <a:rPr lang="en-US" sz="2000" dirty="0">
                <a:latin typeface="Courier" pitchFamily="2" charset="0"/>
              </a:rPr>
              <a:t>);</a:t>
            </a:r>
          </a:p>
          <a:p>
            <a:pPr marL="0" indent="0">
              <a:buNone/>
            </a:pPr>
            <a:r>
              <a:rPr lang="en-US" sz="2000" dirty="0" err="1">
                <a:latin typeface="Courier" pitchFamily="2" charset="0"/>
              </a:rPr>
              <a:t>end_label</a:t>
            </a:r>
            <a:r>
              <a:rPr lang="en-US" sz="2000" dirty="0">
                <a:latin typeface="Courier" pitchFamily="2" charset="0"/>
              </a:rPr>
              <a:t>:</a:t>
            </a:r>
          </a:p>
          <a:p>
            <a:pPr marL="0" indent="0">
              <a:buNone/>
            </a:pPr>
            <a:endParaRPr lang="en-US" sz="2000" dirty="0">
              <a:latin typeface="Courier" pitchFamily="2" charset="0"/>
            </a:endParaRPr>
          </a:p>
        </p:txBody>
      </p:sp>
    </p:spTree>
    <p:extLst>
      <p:ext uri="{BB962C8B-B14F-4D97-AF65-F5344CB8AC3E}">
        <p14:creationId xmlns:p14="http://schemas.microsoft.com/office/powerpoint/2010/main" val="17894194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73C51-7BBC-0647-B6F1-9A327C7E9E3C}"/>
              </a:ext>
            </a:extLst>
          </p:cNvPr>
          <p:cNvSpPr>
            <a:spLocks noGrp="1"/>
          </p:cNvSpPr>
          <p:nvPr>
            <p:ph type="title"/>
          </p:nvPr>
        </p:nvSpPr>
        <p:spPr>
          <a:xfrm>
            <a:off x="3081669" y="2278986"/>
            <a:ext cx="5791200" cy="1325563"/>
          </a:xfrm>
        </p:spPr>
        <p:txBody>
          <a:bodyPr/>
          <a:lstStyle/>
          <a:p>
            <a:r>
              <a:rPr lang="en-US" dirty="0"/>
              <a:t>SO WE HAVE THE RULES</a:t>
            </a:r>
          </a:p>
        </p:txBody>
      </p:sp>
    </p:spTree>
    <p:extLst>
      <p:ext uri="{BB962C8B-B14F-4D97-AF65-F5344CB8AC3E}">
        <p14:creationId xmlns:p14="http://schemas.microsoft.com/office/powerpoint/2010/main" val="32425140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25E6C-3B49-B338-CE91-1DC176C502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3D0628-161D-E8FC-5369-1C2B42D40B64}"/>
              </a:ext>
            </a:extLst>
          </p:cNvPr>
          <p:cNvSpPr>
            <a:spLocks noGrp="1"/>
          </p:cNvSpPr>
          <p:nvPr>
            <p:ph type="title"/>
          </p:nvPr>
        </p:nvSpPr>
        <p:spPr/>
        <p:txBody>
          <a:bodyPr/>
          <a:lstStyle/>
          <a:p>
            <a:r>
              <a:rPr lang="en-US" dirty="0"/>
              <a:t>Converting AST into Class-IR</a:t>
            </a:r>
          </a:p>
        </p:txBody>
      </p:sp>
    </p:spTree>
    <p:extLst>
      <p:ext uri="{BB962C8B-B14F-4D97-AF65-F5344CB8AC3E}">
        <p14:creationId xmlns:p14="http://schemas.microsoft.com/office/powerpoint/2010/main" val="6313144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73C51-7BBC-0647-B6F1-9A327C7E9E3C}"/>
              </a:ext>
            </a:extLst>
          </p:cNvPr>
          <p:cNvSpPr>
            <a:spLocks noGrp="1"/>
          </p:cNvSpPr>
          <p:nvPr>
            <p:ph type="title"/>
          </p:nvPr>
        </p:nvSpPr>
        <p:spPr/>
        <p:txBody>
          <a:bodyPr/>
          <a:lstStyle/>
          <a:p>
            <a:r>
              <a:rPr lang="en-US" dirty="0"/>
              <a:t>Converting AST into Class-IR</a:t>
            </a:r>
          </a:p>
        </p:txBody>
      </p:sp>
      <p:sp>
        <p:nvSpPr>
          <p:cNvPr id="6" name="TextBox 5">
            <a:extLst>
              <a:ext uri="{FF2B5EF4-FFF2-40B4-BE49-F238E27FC236}">
                <a16:creationId xmlns:a16="http://schemas.microsoft.com/office/drawing/2014/main" id="{ED7DAF75-85A8-CD49-95AA-E070173DC7B6}"/>
              </a:ext>
            </a:extLst>
          </p:cNvPr>
          <p:cNvSpPr txBox="1"/>
          <p:nvPr/>
        </p:nvSpPr>
        <p:spPr>
          <a:xfrm>
            <a:off x="642460" y="2073593"/>
            <a:ext cx="2252540" cy="1200329"/>
          </a:xfrm>
          <a:prstGeom prst="rect">
            <a:avLst/>
          </a:prstGeom>
          <a:noFill/>
        </p:spPr>
        <p:txBody>
          <a:bodyPr wrap="none" rtlCol="0">
            <a:spAutoFit/>
          </a:bodyPr>
          <a:lstStyle/>
          <a:p>
            <a:r>
              <a:rPr lang="en-US" dirty="0">
                <a:latin typeface="Courier" pitchFamily="2" charset="0"/>
              </a:rPr>
              <a:t>int x;</a:t>
            </a:r>
          </a:p>
          <a:p>
            <a:r>
              <a:rPr lang="en-US" dirty="0">
                <a:latin typeface="Courier" pitchFamily="2" charset="0"/>
              </a:rPr>
              <a:t>int y;</a:t>
            </a:r>
          </a:p>
          <a:p>
            <a:r>
              <a:rPr lang="en-US" dirty="0">
                <a:latin typeface="Courier" pitchFamily="2" charset="0"/>
              </a:rPr>
              <a:t>float w;</a:t>
            </a:r>
            <a:br>
              <a:rPr lang="en-US" dirty="0">
                <a:latin typeface="Courier" pitchFamily="2" charset="0"/>
              </a:rPr>
            </a:br>
            <a:r>
              <a:rPr lang="en-US" dirty="0">
                <a:latin typeface="Courier" pitchFamily="2" charset="0"/>
              </a:rPr>
              <a:t>w = x + y + 5.5</a:t>
            </a:r>
          </a:p>
        </p:txBody>
      </p:sp>
      <p:sp>
        <p:nvSpPr>
          <p:cNvPr id="7" name="TextBox 6">
            <a:extLst>
              <a:ext uri="{FF2B5EF4-FFF2-40B4-BE49-F238E27FC236}">
                <a16:creationId xmlns:a16="http://schemas.microsoft.com/office/drawing/2014/main" id="{563E3E9A-B64D-DF4D-A311-01450A41EF87}"/>
              </a:ext>
            </a:extLst>
          </p:cNvPr>
          <p:cNvSpPr txBox="1"/>
          <p:nvPr/>
        </p:nvSpPr>
        <p:spPr>
          <a:xfrm>
            <a:off x="340052" y="5839875"/>
            <a:ext cx="1224502" cy="369332"/>
          </a:xfrm>
          <a:prstGeom prst="rect">
            <a:avLst/>
          </a:prstGeom>
          <a:noFill/>
        </p:spPr>
        <p:txBody>
          <a:bodyPr wrap="none" rtlCol="0">
            <a:spAutoFit/>
          </a:bodyPr>
          <a:lstStyle/>
          <a:p>
            <a:r>
              <a:rPr lang="en-US" dirty="0"/>
              <a:t>AST&lt;x, int&gt;</a:t>
            </a:r>
          </a:p>
        </p:txBody>
      </p:sp>
      <p:sp>
        <p:nvSpPr>
          <p:cNvPr id="8" name="TextBox 7">
            <a:extLst>
              <a:ext uri="{FF2B5EF4-FFF2-40B4-BE49-F238E27FC236}">
                <a16:creationId xmlns:a16="http://schemas.microsoft.com/office/drawing/2014/main" id="{19BF1002-271A-374F-8700-E76EFCD340CA}"/>
              </a:ext>
            </a:extLst>
          </p:cNvPr>
          <p:cNvSpPr txBox="1"/>
          <p:nvPr/>
        </p:nvSpPr>
        <p:spPr>
          <a:xfrm>
            <a:off x="1482215" y="5042692"/>
            <a:ext cx="1187633" cy="369332"/>
          </a:xfrm>
          <a:prstGeom prst="rect">
            <a:avLst/>
          </a:prstGeom>
          <a:noFill/>
        </p:spPr>
        <p:txBody>
          <a:bodyPr wrap="none" rtlCol="0">
            <a:spAutoFit/>
          </a:bodyPr>
          <a:lstStyle/>
          <a:p>
            <a:r>
              <a:rPr lang="en-US" dirty="0"/>
              <a:t>AST&lt;+,int&gt;</a:t>
            </a:r>
          </a:p>
        </p:txBody>
      </p:sp>
      <p:cxnSp>
        <p:nvCxnSpPr>
          <p:cNvPr id="9" name="Straight Connector 8">
            <a:extLst>
              <a:ext uri="{FF2B5EF4-FFF2-40B4-BE49-F238E27FC236}">
                <a16:creationId xmlns:a16="http://schemas.microsoft.com/office/drawing/2014/main" id="{1CABD0A4-82DC-E546-980C-BBDB9F702420}"/>
              </a:ext>
            </a:extLst>
          </p:cNvPr>
          <p:cNvCxnSpPr>
            <a:cxnSpLocks/>
          </p:cNvCxnSpPr>
          <p:nvPr/>
        </p:nvCxnSpPr>
        <p:spPr>
          <a:xfrm flipH="1">
            <a:off x="544357" y="5409709"/>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10464E9F-6718-CE48-B556-F750992B0739}"/>
              </a:ext>
            </a:extLst>
          </p:cNvPr>
          <p:cNvCxnSpPr>
            <a:cxnSpLocks/>
          </p:cNvCxnSpPr>
          <p:nvPr/>
        </p:nvCxnSpPr>
        <p:spPr>
          <a:xfrm>
            <a:off x="1768730" y="5409709"/>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4F13B196-509B-D643-BE14-9DCA174461B4}"/>
              </a:ext>
            </a:extLst>
          </p:cNvPr>
          <p:cNvSpPr txBox="1"/>
          <p:nvPr/>
        </p:nvSpPr>
        <p:spPr>
          <a:xfrm>
            <a:off x="2712897" y="5839875"/>
            <a:ext cx="1212833" cy="369332"/>
          </a:xfrm>
          <a:prstGeom prst="rect">
            <a:avLst/>
          </a:prstGeom>
          <a:noFill/>
        </p:spPr>
        <p:txBody>
          <a:bodyPr wrap="none" rtlCol="0">
            <a:spAutoFit/>
          </a:bodyPr>
          <a:lstStyle/>
          <a:p>
            <a:r>
              <a:rPr lang="en-US" dirty="0"/>
              <a:t>AST&lt;y, int&gt;</a:t>
            </a:r>
          </a:p>
        </p:txBody>
      </p:sp>
      <p:sp>
        <p:nvSpPr>
          <p:cNvPr id="12" name="TextBox 11">
            <a:extLst>
              <a:ext uri="{FF2B5EF4-FFF2-40B4-BE49-F238E27FC236}">
                <a16:creationId xmlns:a16="http://schemas.microsoft.com/office/drawing/2014/main" id="{1FA1C0DE-DC9E-B346-81CE-9410FE38FA6C}"/>
              </a:ext>
            </a:extLst>
          </p:cNvPr>
          <p:cNvSpPr txBox="1"/>
          <p:nvPr/>
        </p:nvSpPr>
        <p:spPr>
          <a:xfrm>
            <a:off x="3411415" y="3669789"/>
            <a:ext cx="1368773" cy="369332"/>
          </a:xfrm>
          <a:prstGeom prst="rect">
            <a:avLst/>
          </a:prstGeom>
          <a:noFill/>
        </p:spPr>
        <p:txBody>
          <a:bodyPr wrap="none" rtlCol="0">
            <a:spAutoFit/>
          </a:bodyPr>
          <a:lstStyle/>
          <a:p>
            <a:r>
              <a:rPr lang="en-US" dirty="0"/>
              <a:t>AST&lt;+,float&gt;</a:t>
            </a:r>
          </a:p>
        </p:txBody>
      </p:sp>
      <p:cxnSp>
        <p:nvCxnSpPr>
          <p:cNvPr id="13" name="Straight Connector 12">
            <a:extLst>
              <a:ext uri="{FF2B5EF4-FFF2-40B4-BE49-F238E27FC236}">
                <a16:creationId xmlns:a16="http://schemas.microsoft.com/office/drawing/2014/main" id="{013429A3-9F38-594E-9F93-02B5AF03DE83}"/>
              </a:ext>
            </a:extLst>
          </p:cNvPr>
          <p:cNvCxnSpPr>
            <a:cxnSpLocks/>
            <a:stCxn id="20" idx="2"/>
            <a:endCxn id="8" idx="0"/>
          </p:cNvCxnSpPr>
          <p:nvPr/>
        </p:nvCxnSpPr>
        <p:spPr>
          <a:xfrm flipH="1">
            <a:off x="2076032" y="4583592"/>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649B4FDC-6D0E-4042-8550-3DDD294D7EE4}"/>
              </a:ext>
            </a:extLst>
          </p:cNvPr>
          <p:cNvCxnSpPr>
            <a:cxnSpLocks/>
            <a:stCxn id="12" idx="2"/>
            <a:endCxn id="15" idx="0"/>
          </p:cNvCxnSpPr>
          <p:nvPr/>
        </p:nvCxnSpPr>
        <p:spPr>
          <a:xfrm>
            <a:off x="4095802" y="4039121"/>
            <a:ext cx="1346546" cy="1015427"/>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68B76434-E280-8549-96C9-E89D6B7CF0E7}"/>
              </a:ext>
            </a:extLst>
          </p:cNvPr>
          <p:cNvSpPr txBox="1"/>
          <p:nvPr/>
        </p:nvSpPr>
        <p:spPr>
          <a:xfrm>
            <a:off x="4643347" y="5054548"/>
            <a:ext cx="1598002" cy="369332"/>
          </a:xfrm>
          <a:prstGeom prst="rect">
            <a:avLst/>
          </a:prstGeom>
          <a:noFill/>
        </p:spPr>
        <p:txBody>
          <a:bodyPr wrap="none" rtlCol="0">
            <a:spAutoFit/>
          </a:bodyPr>
          <a:lstStyle/>
          <a:p>
            <a:r>
              <a:rPr lang="en-US" dirty="0"/>
              <a:t>AST&lt;5.5, float&gt;</a:t>
            </a:r>
          </a:p>
        </p:txBody>
      </p:sp>
      <p:sp>
        <p:nvSpPr>
          <p:cNvPr id="20" name="TextBox 19">
            <a:extLst>
              <a:ext uri="{FF2B5EF4-FFF2-40B4-BE49-F238E27FC236}">
                <a16:creationId xmlns:a16="http://schemas.microsoft.com/office/drawing/2014/main" id="{1C37E5A4-882F-B64C-9FA2-62695ECB0C65}"/>
              </a:ext>
            </a:extLst>
          </p:cNvPr>
          <p:cNvSpPr txBox="1"/>
          <p:nvPr/>
        </p:nvSpPr>
        <p:spPr>
          <a:xfrm>
            <a:off x="1420814" y="4214260"/>
            <a:ext cx="2103525" cy="369332"/>
          </a:xfrm>
          <a:prstGeom prst="rect">
            <a:avLst/>
          </a:prstGeom>
          <a:noFill/>
        </p:spPr>
        <p:txBody>
          <a:bodyPr wrap="none" rtlCol="0">
            <a:spAutoFit/>
          </a:bodyPr>
          <a:lstStyle/>
          <a:p>
            <a:r>
              <a:rPr lang="en-US" dirty="0"/>
              <a:t>AST&lt;int2float, float&gt;</a:t>
            </a:r>
          </a:p>
        </p:txBody>
      </p:sp>
      <p:cxnSp>
        <p:nvCxnSpPr>
          <p:cNvPr id="21" name="Straight Connector 20">
            <a:extLst>
              <a:ext uri="{FF2B5EF4-FFF2-40B4-BE49-F238E27FC236}">
                <a16:creationId xmlns:a16="http://schemas.microsoft.com/office/drawing/2014/main" id="{779312B6-F4ED-164D-A4F2-AFB80D85EA69}"/>
              </a:ext>
            </a:extLst>
          </p:cNvPr>
          <p:cNvCxnSpPr>
            <a:cxnSpLocks/>
            <a:stCxn id="12" idx="2"/>
            <a:endCxn id="20" idx="0"/>
          </p:cNvCxnSpPr>
          <p:nvPr/>
        </p:nvCxnSpPr>
        <p:spPr>
          <a:xfrm flipH="1">
            <a:off x="2472577" y="4039121"/>
            <a:ext cx="1623225" cy="175139"/>
          </a:xfrm>
          <a:prstGeom prst="line">
            <a:avLst/>
          </a:prstGeom>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71FF6727-E27B-324A-AE32-28CB183D3F88}"/>
              </a:ext>
            </a:extLst>
          </p:cNvPr>
          <p:cNvSpPr txBox="1"/>
          <p:nvPr/>
        </p:nvSpPr>
        <p:spPr>
          <a:xfrm>
            <a:off x="3805745" y="2877195"/>
            <a:ext cx="2099229" cy="369332"/>
          </a:xfrm>
          <a:prstGeom prst="rect">
            <a:avLst/>
          </a:prstGeom>
          <a:noFill/>
        </p:spPr>
        <p:txBody>
          <a:bodyPr wrap="none" rtlCol="0">
            <a:spAutoFit/>
          </a:bodyPr>
          <a:lstStyle/>
          <a:p>
            <a:r>
              <a:rPr lang="en-US" b="1" dirty="0"/>
              <a:t>After type inference</a:t>
            </a:r>
          </a:p>
        </p:txBody>
      </p:sp>
    </p:spTree>
    <p:extLst>
      <p:ext uri="{BB962C8B-B14F-4D97-AF65-F5344CB8AC3E}">
        <p14:creationId xmlns:p14="http://schemas.microsoft.com/office/powerpoint/2010/main" val="9342953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73C51-7BBC-0647-B6F1-9A327C7E9E3C}"/>
              </a:ext>
            </a:extLst>
          </p:cNvPr>
          <p:cNvSpPr>
            <a:spLocks noGrp="1"/>
          </p:cNvSpPr>
          <p:nvPr>
            <p:ph type="title"/>
          </p:nvPr>
        </p:nvSpPr>
        <p:spPr/>
        <p:txBody>
          <a:bodyPr/>
          <a:lstStyle/>
          <a:p>
            <a:r>
              <a:rPr lang="en-US" dirty="0"/>
              <a:t>Converting AST into Class-IR</a:t>
            </a:r>
          </a:p>
        </p:txBody>
      </p:sp>
      <p:sp>
        <p:nvSpPr>
          <p:cNvPr id="6" name="TextBox 5">
            <a:extLst>
              <a:ext uri="{FF2B5EF4-FFF2-40B4-BE49-F238E27FC236}">
                <a16:creationId xmlns:a16="http://schemas.microsoft.com/office/drawing/2014/main" id="{ED7DAF75-85A8-CD49-95AA-E070173DC7B6}"/>
              </a:ext>
            </a:extLst>
          </p:cNvPr>
          <p:cNvSpPr txBox="1"/>
          <p:nvPr/>
        </p:nvSpPr>
        <p:spPr>
          <a:xfrm>
            <a:off x="642460" y="2081544"/>
            <a:ext cx="2252540" cy="1200329"/>
          </a:xfrm>
          <a:prstGeom prst="rect">
            <a:avLst/>
          </a:prstGeom>
          <a:noFill/>
        </p:spPr>
        <p:txBody>
          <a:bodyPr wrap="none" rtlCol="0">
            <a:spAutoFit/>
          </a:bodyPr>
          <a:lstStyle/>
          <a:p>
            <a:r>
              <a:rPr lang="en-US" dirty="0">
                <a:latin typeface="Courier" pitchFamily="2" charset="0"/>
              </a:rPr>
              <a:t>int x;</a:t>
            </a:r>
          </a:p>
          <a:p>
            <a:r>
              <a:rPr lang="en-US" dirty="0">
                <a:latin typeface="Courier" pitchFamily="2" charset="0"/>
              </a:rPr>
              <a:t>int y;</a:t>
            </a:r>
          </a:p>
          <a:p>
            <a:r>
              <a:rPr lang="en-US" dirty="0">
                <a:latin typeface="Courier" pitchFamily="2" charset="0"/>
              </a:rPr>
              <a:t>float w;</a:t>
            </a:r>
            <a:br>
              <a:rPr lang="en-US" dirty="0">
                <a:latin typeface="Courier" pitchFamily="2" charset="0"/>
              </a:rPr>
            </a:br>
            <a:r>
              <a:rPr lang="en-US" dirty="0">
                <a:latin typeface="Courier" pitchFamily="2" charset="0"/>
              </a:rPr>
              <a:t>w = x + y + 5.5</a:t>
            </a:r>
          </a:p>
        </p:txBody>
      </p:sp>
      <p:sp>
        <p:nvSpPr>
          <p:cNvPr id="7" name="TextBox 6">
            <a:extLst>
              <a:ext uri="{FF2B5EF4-FFF2-40B4-BE49-F238E27FC236}">
                <a16:creationId xmlns:a16="http://schemas.microsoft.com/office/drawing/2014/main" id="{563E3E9A-B64D-DF4D-A311-01450A41EF87}"/>
              </a:ext>
            </a:extLst>
          </p:cNvPr>
          <p:cNvSpPr txBox="1"/>
          <p:nvPr/>
        </p:nvSpPr>
        <p:spPr>
          <a:xfrm>
            <a:off x="340052" y="5847826"/>
            <a:ext cx="1636474" cy="369332"/>
          </a:xfrm>
          <a:prstGeom prst="rect">
            <a:avLst/>
          </a:prstGeom>
          <a:noFill/>
        </p:spPr>
        <p:txBody>
          <a:bodyPr wrap="none" rtlCol="0">
            <a:spAutoFit/>
          </a:bodyPr>
          <a:lstStyle/>
          <a:p>
            <a:r>
              <a:rPr lang="en-US" dirty="0"/>
              <a:t>AST&lt;x, int, </a:t>
            </a:r>
            <a:r>
              <a:rPr lang="en-US" dirty="0">
                <a:highlight>
                  <a:srgbClr val="FFFF00"/>
                </a:highlight>
              </a:rPr>
              <a:t>vr0</a:t>
            </a:r>
            <a:r>
              <a:rPr lang="en-US" dirty="0"/>
              <a:t>&gt;</a:t>
            </a:r>
          </a:p>
        </p:txBody>
      </p:sp>
      <p:sp>
        <p:nvSpPr>
          <p:cNvPr id="8" name="TextBox 7">
            <a:extLst>
              <a:ext uri="{FF2B5EF4-FFF2-40B4-BE49-F238E27FC236}">
                <a16:creationId xmlns:a16="http://schemas.microsoft.com/office/drawing/2014/main" id="{19BF1002-271A-374F-8700-E76EFCD340CA}"/>
              </a:ext>
            </a:extLst>
          </p:cNvPr>
          <p:cNvSpPr txBox="1"/>
          <p:nvPr/>
        </p:nvSpPr>
        <p:spPr>
          <a:xfrm>
            <a:off x="1482215" y="5050643"/>
            <a:ext cx="1599605" cy="369332"/>
          </a:xfrm>
          <a:prstGeom prst="rect">
            <a:avLst/>
          </a:prstGeom>
          <a:noFill/>
        </p:spPr>
        <p:txBody>
          <a:bodyPr wrap="none" rtlCol="0">
            <a:spAutoFit/>
          </a:bodyPr>
          <a:lstStyle/>
          <a:p>
            <a:r>
              <a:rPr lang="en-US" dirty="0"/>
              <a:t>AST&lt;+,int, </a:t>
            </a:r>
            <a:r>
              <a:rPr lang="en-US" dirty="0">
                <a:highlight>
                  <a:srgbClr val="FFFF00"/>
                </a:highlight>
              </a:rPr>
              <a:t>vr2</a:t>
            </a:r>
            <a:r>
              <a:rPr lang="en-US" dirty="0"/>
              <a:t>&gt;</a:t>
            </a:r>
          </a:p>
        </p:txBody>
      </p:sp>
      <p:cxnSp>
        <p:nvCxnSpPr>
          <p:cNvPr id="9" name="Straight Connector 8">
            <a:extLst>
              <a:ext uri="{FF2B5EF4-FFF2-40B4-BE49-F238E27FC236}">
                <a16:creationId xmlns:a16="http://schemas.microsoft.com/office/drawing/2014/main" id="{1CABD0A4-82DC-E546-980C-BBDB9F702420}"/>
              </a:ext>
            </a:extLst>
          </p:cNvPr>
          <p:cNvCxnSpPr>
            <a:cxnSpLocks/>
          </p:cNvCxnSpPr>
          <p:nvPr/>
        </p:nvCxnSpPr>
        <p:spPr>
          <a:xfrm flipH="1">
            <a:off x="544357" y="5417660"/>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10464E9F-6718-CE48-B556-F750992B0739}"/>
              </a:ext>
            </a:extLst>
          </p:cNvPr>
          <p:cNvCxnSpPr>
            <a:cxnSpLocks/>
          </p:cNvCxnSpPr>
          <p:nvPr/>
        </p:nvCxnSpPr>
        <p:spPr>
          <a:xfrm>
            <a:off x="1768730" y="5417660"/>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4F13B196-509B-D643-BE14-9DCA174461B4}"/>
              </a:ext>
            </a:extLst>
          </p:cNvPr>
          <p:cNvSpPr txBox="1"/>
          <p:nvPr/>
        </p:nvSpPr>
        <p:spPr>
          <a:xfrm>
            <a:off x="2712897" y="5847826"/>
            <a:ext cx="1624804" cy="369332"/>
          </a:xfrm>
          <a:prstGeom prst="rect">
            <a:avLst/>
          </a:prstGeom>
          <a:noFill/>
        </p:spPr>
        <p:txBody>
          <a:bodyPr wrap="none" rtlCol="0">
            <a:spAutoFit/>
          </a:bodyPr>
          <a:lstStyle/>
          <a:p>
            <a:r>
              <a:rPr lang="en-US" dirty="0"/>
              <a:t>AST&lt;y, int, </a:t>
            </a:r>
            <a:r>
              <a:rPr lang="en-US" dirty="0">
                <a:highlight>
                  <a:srgbClr val="FFFF00"/>
                </a:highlight>
              </a:rPr>
              <a:t>vr1</a:t>
            </a:r>
            <a:r>
              <a:rPr lang="en-US" dirty="0"/>
              <a:t>&gt;</a:t>
            </a:r>
          </a:p>
        </p:txBody>
      </p:sp>
      <p:sp>
        <p:nvSpPr>
          <p:cNvPr id="12" name="TextBox 11">
            <a:extLst>
              <a:ext uri="{FF2B5EF4-FFF2-40B4-BE49-F238E27FC236}">
                <a16:creationId xmlns:a16="http://schemas.microsoft.com/office/drawing/2014/main" id="{1FA1C0DE-DC9E-B346-81CE-9410FE38FA6C}"/>
              </a:ext>
            </a:extLst>
          </p:cNvPr>
          <p:cNvSpPr txBox="1"/>
          <p:nvPr/>
        </p:nvSpPr>
        <p:spPr>
          <a:xfrm>
            <a:off x="3411415" y="3677740"/>
            <a:ext cx="1780744" cy="369332"/>
          </a:xfrm>
          <a:prstGeom prst="rect">
            <a:avLst/>
          </a:prstGeom>
          <a:noFill/>
        </p:spPr>
        <p:txBody>
          <a:bodyPr wrap="none" rtlCol="0">
            <a:spAutoFit/>
          </a:bodyPr>
          <a:lstStyle/>
          <a:p>
            <a:r>
              <a:rPr lang="en-US" dirty="0"/>
              <a:t>AST&lt;+,float, </a:t>
            </a:r>
            <a:r>
              <a:rPr lang="en-US" dirty="0">
                <a:highlight>
                  <a:srgbClr val="FFFF00"/>
                </a:highlight>
              </a:rPr>
              <a:t>vr5</a:t>
            </a:r>
            <a:r>
              <a:rPr lang="en-US" dirty="0"/>
              <a:t>&gt;</a:t>
            </a:r>
          </a:p>
        </p:txBody>
      </p:sp>
      <p:cxnSp>
        <p:nvCxnSpPr>
          <p:cNvPr id="13" name="Straight Connector 12">
            <a:extLst>
              <a:ext uri="{FF2B5EF4-FFF2-40B4-BE49-F238E27FC236}">
                <a16:creationId xmlns:a16="http://schemas.microsoft.com/office/drawing/2014/main" id="{013429A3-9F38-594E-9F93-02B5AF03DE83}"/>
              </a:ext>
            </a:extLst>
          </p:cNvPr>
          <p:cNvCxnSpPr>
            <a:cxnSpLocks/>
            <a:stCxn id="20" idx="2"/>
            <a:endCxn id="8" idx="0"/>
          </p:cNvCxnSpPr>
          <p:nvPr/>
        </p:nvCxnSpPr>
        <p:spPr>
          <a:xfrm flipH="1">
            <a:off x="2282018" y="4591543"/>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649B4FDC-6D0E-4042-8550-3DDD294D7EE4}"/>
              </a:ext>
            </a:extLst>
          </p:cNvPr>
          <p:cNvCxnSpPr>
            <a:cxnSpLocks/>
            <a:stCxn id="12" idx="2"/>
            <a:endCxn id="15" idx="0"/>
          </p:cNvCxnSpPr>
          <p:nvPr/>
        </p:nvCxnSpPr>
        <p:spPr>
          <a:xfrm>
            <a:off x="4301787" y="4047072"/>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68B76434-E280-8549-96C9-E89D6B7CF0E7}"/>
              </a:ext>
            </a:extLst>
          </p:cNvPr>
          <p:cNvSpPr txBox="1"/>
          <p:nvPr/>
        </p:nvSpPr>
        <p:spPr>
          <a:xfrm>
            <a:off x="4643347" y="5062499"/>
            <a:ext cx="2009974" cy="369332"/>
          </a:xfrm>
          <a:prstGeom prst="rect">
            <a:avLst/>
          </a:prstGeom>
          <a:noFill/>
        </p:spPr>
        <p:txBody>
          <a:bodyPr wrap="none" rtlCol="0">
            <a:spAutoFit/>
          </a:bodyPr>
          <a:lstStyle/>
          <a:p>
            <a:r>
              <a:rPr lang="en-US" dirty="0"/>
              <a:t>AST&lt;5.5, float, </a:t>
            </a:r>
            <a:r>
              <a:rPr lang="en-US" dirty="0">
                <a:highlight>
                  <a:srgbClr val="FFFF00"/>
                </a:highlight>
              </a:rPr>
              <a:t>vr4</a:t>
            </a:r>
            <a:r>
              <a:rPr lang="en-US" dirty="0"/>
              <a:t>&gt;</a:t>
            </a:r>
          </a:p>
        </p:txBody>
      </p:sp>
      <p:sp>
        <p:nvSpPr>
          <p:cNvPr id="20" name="TextBox 19">
            <a:extLst>
              <a:ext uri="{FF2B5EF4-FFF2-40B4-BE49-F238E27FC236}">
                <a16:creationId xmlns:a16="http://schemas.microsoft.com/office/drawing/2014/main" id="{1C37E5A4-882F-B64C-9FA2-62695ECB0C65}"/>
              </a:ext>
            </a:extLst>
          </p:cNvPr>
          <p:cNvSpPr txBox="1"/>
          <p:nvPr/>
        </p:nvSpPr>
        <p:spPr>
          <a:xfrm>
            <a:off x="1420814" y="4222211"/>
            <a:ext cx="2515497" cy="369332"/>
          </a:xfrm>
          <a:prstGeom prst="rect">
            <a:avLst/>
          </a:prstGeom>
          <a:noFill/>
        </p:spPr>
        <p:txBody>
          <a:bodyPr wrap="none" rtlCol="0">
            <a:spAutoFit/>
          </a:bodyPr>
          <a:lstStyle/>
          <a:p>
            <a:r>
              <a:rPr lang="en-US" dirty="0"/>
              <a:t>AST&lt;int2float, float, </a:t>
            </a:r>
            <a:r>
              <a:rPr lang="en-US" dirty="0">
                <a:highlight>
                  <a:srgbClr val="FFFF00"/>
                </a:highlight>
              </a:rPr>
              <a:t>vr3</a:t>
            </a:r>
            <a:r>
              <a:rPr lang="en-US" dirty="0"/>
              <a:t>&gt;</a:t>
            </a:r>
          </a:p>
        </p:txBody>
      </p:sp>
      <p:cxnSp>
        <p:nvCxnSpPr>
          <p:cNvPr id="21" name="Straight Connector 20">
            <a:extLst>
              <a:ext uri="{FF2B5EF4-FFF2-40B4-BE49-F238E27FC236}">
                <a16:creationId xmlns:a16="http://schemas.microsoft.com/office/drawing/2014/main" id="{779312B6-F4ED-164D-A4F2-AFB80D85EA69}"/>
              </a:ext>
            </a:extLst>
          </p:cNvPr>
          <p:cNvCxnSpPr>
            <a:cxnSpLocks/>
            <a:stCxn id="12" idx="2"/>
            <a:endCxn id="20" idx="0"/>
          </p:cNvCxnSpPr>
          <p:nvPr/>
        </p:nvCxnSpPr>
        <p:spPr>
          <a:xfrm flipH="1">
            <a:off x="2678563" y="4047072"/>
            <a:ext cx="1623224" cy="175139"/>
          </a:xfrm>
          <a:prstGeom prst="line">
            <a:avLst/>
          </a:prstGeom>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71FF6727-E27B-324A-AE32-28CB183D3F88}"/>
              </a:ext>
            </a:extLst>
          </p:cNvPr>
          <p:cNvSpPr txBox="1"/>
          <p:nvPr/>
        </p:nvSpPr>
        <p:spPr>
          <a:xfrm>
            <a:off x="3805745" y="2885146"/>
            <a:ext cx="2099229" cy="369332"/>
          </a:xfrm>
          <a:prstGeom prst="rect">
            <a:avLst/>
          </a:prstGeom>
          <a:noFill/>
        </p:spPr>
        <p:txBody>
          <a:bodyPr wrap="none" rtlCol="0">
            <a:spAutoFit/>
          </a:bodyPr>
          <a:lstStyle/>
          <a:p>
            <a:r>
              <a:rPr lang="en-US" b="1" dirty="0"/>
              <a:t>After type inference</a:t>
            </a:r>
          </a:p>
        </p:txBody>
      </p:sp>
      <p:sp>
        <p:nvSpPr>
          <p:cNvPr id="3" name="TextBox 2">
            <a:extLst>
              <a:ext uri="{FF2B5EF4-FFF2-40B4-BE49-F238E27FC236}">
                <a16:creationId xmlns:a16="http://schemas.microsoft.com/office/drawing/2014/main" id="{C93B5366-FBCA-5246-BEB8-0B4C331E1825}"/>
              </a:ext>
            </a:extLst>
          </p:cNvPr>
          <p:cNvSpPr txBox="1"/>
          <p:nvPr/>
        </p:nvSpPr>
        <p:spPr>
          <a:xfrm>
            <a:off x="8133806" y="3457303"/>
            <a:ext cx="3331361" cy="2123658"/>
          </a:xfrm>
          <a:prstGeom prst="rect">
            <a:avLst/>
          </a:prstGeom>
          <a:noFill/>
        </p:spPr>
        <p:txBody>
          <a:bodyPr wrap="none" rtlCol="0">
            <a:spAutoFit/>
          </a:bodyPr>
          <a:lstStyle/>
          <a:p>
            <a:r>
              <a:rPr lang="en-US" dirty="0"/>
              <a:t>We will start by adding a new</a:t>
            </a:r>
          </a:p>
          <a:p>
            <a:r>
              <a:rPr lang="en-US" dirty="0"/>
              <a:t>member to each AST node:</a:t>
            </a:r>
            <a:br>
              <a:rPr lang="en-US" dirty="0"/>
            </a:br>
            <a:br>
              <a:rPr lang="en-US" dirty="0"/>
            </a:br>
            <a:r>
              <a:rPr lang="en-US" sz="2400" dirty="0">
                <a:highlight>
                  <a:srgbClr val="FFFF00"/>
                </a:highlight>
              </a:rPr>
              <a:t>A virtual register</a:t>
            </a:r>
          </a:p>
          <a:p>
            <a:endParaRPr lang="en-US" dirty="0">
              <a:highlight>
                <a:srgbClr val="FFFF00"/>
              </a:highlight>
            </a:endParaRPr>
          </a:p>
          <a:p>
            <a:r>
              <a:rPr lang="en-US" dirty="0"/>
              <a:t>Each node needs a distinct virtual</a:t>
            </a:r>
            <a:br>
              <a:rPr lang="en-US" dirty="0"/>
            </a:br>
            <a:r>
              <a:rPr lang="en-US" dirty="0"/>
              <a:t>register</a:t>
            </a:r>
          </a:p>
        </p:txBody>
      </p:sp>
    </p:spTree>
    <p:extLst>
      <p:ext uri="{BB962C8B-B14F-4D97-AF65-F5344CB8AC3E}">
        <p14:creationId xmlns:p14="http://schemas.microsoft.com/office/powerpoint/2010/main" val="31149974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73C51-7BBC-0647-B6F1-9A327C7E9E3C}"/>
              </a:ext>
            </a:extLst>
          </p:cNvPr>
          <p:cNvSpPr>
            <a:spLocks noGrp="1"/>
          </p:cNvSpPr>
          <p:nvPr>
            <p:ph type="title"/>
          </p:nvPr>
        </p:nvSpPr>
        <p:spPr/>
        <p:txBody>
          <a:bodyPr/>
          <a:lstStyle/>
          <a:p>
            <a:r>
              <a:rPr lang="en-US" dirty="0"/>
              <a:t>Converting AST into Class-IR</a:t>
            </a:r>
          </a:p>
        </p:txBody>
      </p:sp>
      <p:sp>
        <p:nvSpPr>
          <p:cNvPr id="6" name="TextBox 5">
            <a:extLst>
              <a:ext uri="{FF2B5EF4-FFF2-40B4-BE49-F238E27FC236}">
                <a16:creationId xmlns:a16="http://schemas.microsoft.com/office/drawing/2014/main" id="{ED7DAF75-85A8-CD49-95AA-E070173DC7B6}"/>
              </a:ext>
            </a:extLst>
          </p:cNvPr>
          <p:cNvSpPr txBox="1"/>
          <p:nvPr/>
        </p:nvSpPr>
        <p:spPr>
          <a:xfrm>
            <a:off x="642460" y="2081544"/>
            <a:ext cx="2252540" cy="1200329"/>
          </a:xfrm>
          <a:prstGeom prst="rect">
            <a:avLst/>
          </a:prstGeom>
          <a:noFill/>
        </p:spPr>
        <p:txBody>
          <a:bodyPr wrap="none" rtlCol="0">
            <a:spAutoFit/>
          </a:bodyPr>
          <a:lstStyle/>
          <a:p>
            <a:r>
              <a:rPr lang="en-US" dirty="0">
                <a:latin typeface="Courier" pitchFamily="2" charset="0"/>
              </a:rPr>
              <a:t>int x;</a:t>
            </a:r>
          </a:p>
          <a:p>
            <a:r>
              <a:rPr lang="en-US" dirty="0">
                <a:latin typeface="Courier" pitchFamily="2" charset="0"/>
              </a:rPr>
              <a:t>int y;</a:t>
            </a:r>
          </a:p>
          <a:p>
            <a:r>
              <a:rPr lang="en-US" dirty="0">
                <a:latin typeface="Courier" pitchFamily="2" charset="0"/>
              </a:rPr>
              <a:t>float w;</a:t>
            </a:r>
            <a:br>
              <a:rPr lang="en-US" dirty="0">
                <a:latin typeface="Courier" pitchFamily="2" charset="0"/>
              </a:rPr>
            </a:br>
            <a:r>
              <a:rPr lang="en-US" dirty="0">
                <a:latin typeface="Courier" pitchFamily="2" charset="0"/>
              </a:rPr>
              <a:t>w = x + y + 5.5</a:t>
            </a:r>
          </a:p>
        </p:txBody>
      </p:sp>
      <p:sp>
        <p:nvSpPr>
          <p:cNvPr id="7" name="TextBox 6">
            <a:extLst>
              <a:ext uri="{FF2B5EF4-FFF2-40B4-BE49-F238E27FC236}">
                <a16:creationId xmlns:a16="http://schemas.microsoft.com/office/drawing/2014/main" id="{563E3E9A-B64D-DF4D-A311-01450A41EF87}"/>
              </a:ext>
            </a:extLst>
          </p:cNvPr>
          <p:cNvSpPr txBox="1"/>
          <p:nvPr/>
        </p:nvSpPr>
        <p:spPr>
          <a:xfrm>
            <a:off x="340052" y="5847826"/>
            <a:ext cx="1636474" cy="369332"/>
          </a:xfrm>
          <a:prstGeom prst="rect">
            <a:avLst/>
          </a:prstGeom>
          <a:noFill/>
        </p:spPr>
        <p:txBody>
          <a:bodyPr wrap="none" rtlCol="0">
            <a:spAutoFit/>
          </a:bodyPr>
          <a:lstStyle/>
          <a:p>
            <a:r>
              <a:rPr lang="en-US" dirty="0"/>
              <a:t>AST&lt;x, int, vr0&gt;</a:t>
            </a:r>
          </a:p>
        </p:txBody>
      </p:sp>
      <p:sp>
        <p:nvSpPr>
          <p:cNvPr id="8" name="TextBox 7">
            <a:extLst>
              <a:ext uri="{FF2B5EF4-FFF2-40B4-BE49-F238E27FC236}">
                <a16:creationId xmlns:a16="http://schemas.microsoft.com/office/drawing/2014/main" id="{19BF1002-271A-374F-8700-E76EFCD340CA}"/>
              </a:ext>
            </a:extLst>
          </p:cNvPr>
          <p:cNvSpPr txBox="1"/>
          <p:nvPr/>
        </p:nvSpPr>
        <p:spPr>
          <a:xfrm>
            <a:off x="1482215" y="5050643"/>
            <a:ext cx="1599605" cy="369332"/>
          </a:xfrm>
          <a:prstGeom prst="rect">
            <a:avLst/>
          </a:prstGeom>
          <a:noFill/>
        </p:spPr>
        <p:txBody>
          <a:bodyPr wrap="none" rtlCol="0">
            <a:spAutoFit/>
          </a:bodyPr>
          <a:lstStyle/>
          <a:p>
            <a:r>
              <a:rPr lang="en-US" dirty="0"/>
              <a:t>AST&lt;+,int, vr2&gt;</a:t>
            </a:r>
          </a:p>
        </p:txBody>
      </p:sp>
      <p:cxnSp>
        <p:nvCxnSpPr>
          <p:cNvPr id="9" name="Straight Connector 8">
            <a:extLst>
              <a:ext uri="{FF2B5EF4-FFF2-40B4-BE49-F238E27FC236}">
                <a16:creationId xmlns:a16="http://schemas.microsoft.com/office/drawing/2014/main" id="{1CABD0A4-82DC-E546-980C-BBDB9F702420}"/>
              </a:ext>
            </a:extLst>
          </p:cNvPr>
          <p:cNvCxnSpPr>
            <a:cxnSpLocks/>
          </p:cNvCxnSpPr>
          <p:nvPr/>
        </p:nvCxnSpPr>
        <p:spPr>
          <a:xfrm flipH="1">
            <a:off x="544357" y="5417660"/>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10464E9F-6718-CE48-B556-F750992B0739}"/>
              </a:ext>
            </a:extLst>
          </p:cNvPr>
          <p:cNvCxnSpPr>
            <a:cxnSpLocks/>
          </p:cNvCxnSpPr>
          <p:nvPr/>
        </p:nvCxnSpPr>
        <p:spPr>
          <a:xfrm>
            <a:off x="1768730" y="5417660"/>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4F13B196-509B-D643-BE14-9DCA174461B4}"/>
              </a:ext>
            </a:extLst>
          </p:cNvPr>
          <p:cNvSpPr txBox="1"/>
          <p:nvPr/>
        </p:nvSpPr>
        <p:spPr>
          <a:xfrm>
            <a:off x="2712897" y="5847826"/>
            <a:ext cx="1624804" cy="369332"/>
          </a:xfrm>
          <a:prstGeom prst="rect">
            <a:avLst/>
          </a:prstGeom>
          <a:noFill/>
        </p:spPr>
        <p:txBody>
          <a:bodyPr wrap="none" rtlCol="0">
            <a:spAutoFit/>
          </a:bodyPr>
          <a:lstStyle/>
          <a:p>
            <a:r>
              <a:rPr lang="en-US" dirty="0"/>
              <a:t>AST&lt;y, int, vr1&gt;</a:t>
            </a:r>
          </a:p>
        </p:txBody>
      </p:sp>
      <p:sp>
        <p:nvSpPr>
          <p:cNvPr id="12" name="TextBox 11">
            <a:extLst>
              <a:ext uri="{FF2B5EF4-FFF2-40B4-BE49-F238E27FC236}">
                <a16:creationId xmlns:a16="http://schemas.microsoft.com/office/drawing/2014/main" id="{1FA1C0DE-DC9E-B346-81CE-9410FE38FA6C}"/>
              </a:ext>
            </a:extLst>
          </p:cNvPr>
          <p:cNvSpPr txBox="1"/>
          <p:nvPr/>
        </p:nvSpPr>
        <p:spPr>
          <a:xfrm>
            <a:off x="3411415" y="3677740"/>
            <a:ext cx="1780744" cy="369332"/>
          </a:xfrm>
          <a:prstGeom prst="rect">
            <a:avLst/>
          </a:prstGeom>
          <a:noFill/>
        </p:spPr>
        <p:txBody>
          <a:bodyPr wrap="none" rtlCol="0">
            <a:spAutoFit/>
          </a:bodyPr>
          <a:lstStyle/>
          <a:p>
            <a:r>
              <a:rPr lang="en-US" dirty="0"/>
              <a:t>AST&lt;+,float, vr5&gt;</a:t>
            </a:r>
          </a:p>
        </p:txBody>
      </p:sp>
      <p:cxnSp>
        <p:nvCxnSpPr>
          <p:cNvPr id="13" name="Straight Connector 12">
            <a:extLst>
              <a:ext uri="{FF2B5EF4-FFF2-40B4-BE49-F238E27FC236}">
                <a16:creationId xmlns:a16="http://schemas.microsoft.com/office/drawing/2014/main" id="{013429A3-9F38-594E-9F93-02B5AF03DE83}"/>
              </a:ext>
            </a:extLst>
          </p:cNvPr>
          <p:cNvCxnSpPr>
            <a:cxnSpLocks/>
            <a:stCxn id="20" idx="2"/>
            <a:endCxn id="8" idx="0"/>
          </p:cNvCxnSpPr>
          <p:nvPr/>
        </p:nvCxnSpPr>
        <p:spPr>
          <a:xfrm flipH="1">
            <a:off x="2282018" y="4591543"/>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649B4FDC-6D0E-4042-8550-3DDD294D7EE4}"/>
              </a:ext>
            </a:extLst>
          </p:cNvPr>
          <p:cNvCxnSpPr>
            <a:cxnSpLocks/>
            <a:stCxn id="12" idx="2"/>
            <a:endCxn id="15" idx="0"/>
          </p:cNvCxnSpPr>
          <p:nvPr/>
        </p:nvCxnSpPr>
        <p:spPr>
          <a:xfrm>
            <a:off x="4301787" y="4047072"/>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68B76434-E280-8549-96C9-E89D6B7CF0E7}"/>
              </a:ext>
            </a:extLst>
          </p:cNvPr>
          <p:cNvSpPr txBox="1"/>
          <p:nvPr/>
        </p:nvSpPr>
        <p:spPr>
          <a:xfrm>
            <a:off x="4643347" y="5062499"/>
            <a:ext cx="2009974" cy="369332"/>
          </a:xfrm>
          <a:prstGeom prst="rect">
            <a:avLst/>
          </a:prstGeom>
          <a:noFill/>
        </p:spPr>
        <p:txBody>
          <a:bodyPr wrap="none" rtlCol="0">
            <a:spAutoFit/>
          </a:bodyPr>
          <a:lstStyle/>
          <a:p>
            <a:r>
              <a:rPr lang="en-US" dirty="0"/>
              <a:t>AST&lt;5.5, float, vr4&gt;</a:t>
            </a:r>
          </a:p>
        </p:txBody>
      </p:sp>
      <p:sp>
        <p:nvSpPr>
          <p:cNvPr id="20" name="TextBox 19">
            <a:extLst>
              <a:ext uri="{FF2B5EF4-FFF2-40B4-BE49-F238E27FC236}">
                <a16:creationId xmlns:a16="http://schemas.microsoft.com/office/drawing/2014/main" id="{1C37E5A4-882F-B64C-9FA2-62695ECB0C65}"/>
              </a:ext>
            </a:extLst>
          </p:cNvPr>
          <p:cNvSpPr txBox="1"/>
          <p:nvPr/>
        </p:nvSpPr>
        <p:spPr>
          <a:xfrm>
            <a:off x="1420814" y="4222211"/>
            <a:ext cx="2515497" cy="369332"/>
          </a:xfrm>
          <a:prstGeom prst="rect">
            <a:avLst/>
          </a:prstGeom>
          <a:noFill/>
        </p:spPr>
        <p:txBody>
          <a:bodyPr wrap="none" rtlCol="0">
            <a:spAutoFit/>
          </a:bodyPr>
          <a:lstStyle/>
          <a:p>
            <a:r>
              <a:rPr lang="en-US" dirty="0"/>
              <a:t>AST&lt;int2float, float, vr3&gt;</a:t>
            </a:r>
          </a:p>
        </p:txBody>
      </p:sp>
      <p:cxnSp>
        <p:nvCxnSpPr>
          <p:cNvPr id="21" name="Straight Connector 20">
            <a:extLst>
              <a:ext uri="{FF2B5EF4-FFF2-40B4-BE49-F238E27FC236}">
                <a16:creationId xmlns:a16="http://schemas.microsoft.com/office/drawing/2014/main" id="{779312B6-F4ED-164D-A4F2-AFB80D85EA69}"/>
              </a:ext>
            </a:extLst>
          </p:cNvPr>
          <p:cNvCxnSpPr>
            <a:cxnSpLocks/>
            <a:stCxn id="12" idx="2"/>
            <a:endCxn id="20" idx="0"/>
          </p:cNvCxnSpPr>
          <p:nvPr/>
        </p:nvCxnSpPr>
        <p:spPr>
          <a:xfrm flipH="1">
            <a:off x="2678563" y="4047072"/>
            <a:ext cx="1623224" cy="175139"/>
          </a:xfrm>
          <a:prstGeom prst="line">
            <a:avLst/>
          </a:prstGeom>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71FF6727-E27B-324A-AE32-28CB183D3F88}"/>
              </a:ext>
            </a:extLst>
          </p:cNvPr>
          <p:cNvSpPr txBox="1"/>
          <p:nvPr/>
        </p:nvSpPr>
        <p:spPr>
          <a:xfrm>
            <a:off x="3805745" y="2885146"/>
            <a:ext cx="2099229" cy="369332"/>
          </a:xfrm>
          <a:prstGeom prst="rect">
            <a:avLst/>
          </a:prstGeom>
          <a:noFill/>
        </p:spPr>
        <p:txBody>
          <a:bodyPr wrap="none" rtlCol="0">
            <a:spAutoFit/>
          </a:bodyPr>
          <a:lstStyle/>
          <a:p>
            <a:r>
              <a:rPr lang="en-US" b="1" dirty="0"/>
              <a:t>After type inference</a:t>
            </a:r>
          </a:p>
        </p:txBody>
      </p:sp>
      <p:sp>
        <p:nvSpPr>
          <p:cNvPr id="3" name="TextBox 2">
            <a:extLst>
              <a:ext uri="{FF2B5EF4-FFF2-40B4-BE49-F238E27FC236}">
                <a16:creationId xmlns:a16="http://schemas.microsoft.com/office/drawing/2014/main" id="{C93B5366-FBCA-5246-BEB8-0B4C331E1825}"/>
              </a:ext>
            </a:extLst>
          </p:cNvPr>
          <p:cNvSpPr txBox="1"/>
          <p:nvPr/>
        </p:nvSpPr>
        <p:spPr>
          <a:xfrm>
            <a:off x="8186058" y="2222549"/>
            <a:ext cx="2674578" cy="923330"/>
          </a:xfrm>
          <a:prstGeom prst="rect">
            <a:avLst/>
          </a:prstGeom>
          <a:noFill/>
        </p:spPr>
        <p:txBody>
          <a:bodyPr wrap="none" rtlCol="0">
            <a:spAutoFit/>
          </a:bodyPr>
          <a:lstStyle/>
          <a:p>
            <a:r>
              <a:rPr lang="en-US" dirty="0"/>
              <a:t>Next each AST node needs</a:t>
            </a:r>
          </a:p>
          <a:p>
            <a:r>
              <a:rPr lang="en-US" dirty="0"/>
              <a:t>to know how to print a </a:t>
            </a:r>
          </a:p>
          <a:p>
            <a:r>
              <a:rPr lang="en-US" dirty="0"/>
              <a:t>3 address instruction</a:t>
            </a:r>
          </a:p>
        </p:txBody>
      </p:sp>
    </p:spTree>
    <p:extLst>
      <p:ext uri="{BB962C8B-B14F-4D97-AF65-F5344CB8AC3E}">
        <p14:creationId xmlns:p14="http://schemas.microsoft.com/office/powerpoint/2010/main" val="16852587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73C51-7BBC-0647-B6F1-9A327C7E9E3C}"/>
              </a:ext>
            </a:extLst>
          </p:cNvPr>
          <p:cNvSpPr>
            <a:spLocks noGrp="1"/>
          </p:cNvSpPr>
          <p:nvPr>
            <p:ph type="title"/>
          </p:nvPr>
        </p:nvSpPr>
        <p:spPr/>
        <p:txBody>
          <a:bodyPr/>
          <a:lstStyle/>
          <a:p>
            <a:r>
              <a:rPr lang="en-US" dirty="0"/>
              <a:t>Converting AST into Class-IR</a:t>
            </a:r>
          </a:p>
        </p:txBody>
      </p:sp>
      <p:sp>
        <p:nvSpPr>
          <p:cNvPr id="6" name="TextBox 5">
            <a:extLst>
              <a:ext uri="{FF2B5EF4-FFF2-40B4-BE49-F238E27FC236}">
                <a16:creationId xmlns:a16="http://schemas.microsoft.com/office/drawing/2014/main" id="{ED7DAF75-85A8-CD49-95AA-E070173DC7B6}"/>
              </a:ext>
            </a:extLst>
          </p:cNvPr>
          <p:cNvSpPr txBox="1"/>
          <p:nvPr/>
        </p:nvSpPr>
        <p:spPr>
          <a:xfrm>
            <a:off x="642460" y="2081544"/>
            <a:ext cx="2252540" cy="1200329"/>
          </a:xfrm>
          <a:prstGeom prst="rect">
            <a:avLst/>
          </a:prstGeom>
          <a:noFill/>
        </p:spPr>
        <p:txBody>
          <a:bodyPr wrap="none" rtlCol="0">
            <a:spAutoFit/>
          </a:bodyPr>
          <a:lstStyle/>
          <a:p>
            <a:r>
              <a:rPr lang="en-US" dirty="0">
                <a:latin typeface="Courier" pitchFamily="2" charset="0"/>
              </a:rPr>
              <a:t>int x;</a:t>
            </a:r>
          </a:p>
          <a:p>
            <a:r>
              <a:rPr lang="en-US" dirty="0">
                <a:latin typeface="Courier" pitchFamily="2" charset="0"/>
              </a:rPr>
              <a:t>int y;</a:t>
            </a:r>
          </a:p>
          <a:p>
            <a:r>
              <a:rPr lang="en-US" dirty="0">
                <a:latin typeface="Courier" pitchFamily="2" charset="0"/>
              </a:rPr>
              <a:t>float w;</a:t>
            </a:r>
            <a:br>
              <a:rPr lang="en-US" dirty="0">
                <a:latin typeface="Courier" pitchFamily="2" charset="0"/>
              </a:rPr>
            </a:br>
            <a:r>
              <a:rPr lang="en-US" dirty="0">
                <a:latin typeface="Courier" pitchFamily="2" charset="0"/>
              </a:rPr>
              <a:t>w = x + y + 5.5</a:t>
            </a:r>
          </a:p>
        </p:txBody>
      </p:sp>
      <p:sp>
        <p:nvSpPr>
          <p:cNvPr id="7" name="TextBox 6">
            <a:extLst>
              <a:ext uri="{FF2B5EF4-FFF2-40B4-BE49-F238E27FC236}">
                <a16:creationId xmlns:a16="http://schemas.microsoft.com/office/drawing/2014/main" id="{563E3E9A-B64D-DF4D-A311-01450A41EF87}"/>
              </a:ext>
            </a:extLst>
          </p:cNvPr>
          <p:cNvSpPr txBox="1"/>
          <p:nvPr/>
        </p:nvSpPr>
        <p:spPr>
          <a:xfrm>
            <a:off x="340052" y="5847826"/>
            <a:ext cx="1636474" cy="369332"/>
          </a:xfrm>
          <a:prstGeom prst="rect">
            <a:avLst/>
          </a:prstGeom>
          <a:noFill/>
        </p:spPr>
        <p:txBody>
          <a:bodyPr wrap="none" rtlCol="0">
            <a:spAutoFit/>
          </a:bodyPr>
          <a:lstStyle/>
          <a:p>
            <a:r>
              <a:rPr lang="en-US" dirty="0"/>
              <a:t>AST&lt;x, int, vr0&gt;</a:t>
            </a:r>
          </a:p>
        </p:txBody>
      </p:sp>
      <p:sp>
        <p:nvSpPr>
          <p:cNvPr id="8" name="TextBox 7">
            <a:extLst>
              <a:ext uri="{FF2B5EF4-FFF2-40B4-BE49-F238E27FC236}">
                <a16:creationId xmlns:a16="http://schemas.microsoft.com/office/drawing/2014/main" id="{19BF1002-271A-374F-8700-E76EFCD340CA}"/>
              </a:ext>
            </a:extLst>
          </p:cNvPr>
          <p:cNvSpPr txBox="1"/>
          <p:nvPr/>
        </p:nvSpPr>
        <p:spPr>
          <a:xfrm>
            <a:off x="1482215" y="5050643"/>
            <a:ext cx="1599605" cy="369332"/>
          </a:xfrm>
          <a:prstGeom prst="rect">
            <a:avLst/>
          </a:prstGeom>
          <a:noFill/>
        </p:spPr>
        <p:txBody>
          <a:bodyPr wrap="none" rtlCol="0">
            <a:spAutoFit/>
          </a:bodyPr>
          <a:lstStyle/>
          <a:p>
            <a:r>
              <a:rPr lang="en-US" dirty="0">
                <a:highlight>
                  <a:srgbClr val="FFFF00"/>
                </a:highlight>
              </a:rPr>
              <a:t>AST&lt;+,int, vr2&gt;</a:t>
            </a:r>
          </a:p>
        </p:txBody>
      </p:sp>
      <p:cxnSp>
        <p:nvCxnSpPr>
          <p:cNvPr id="9" name="Straight Connector 8">
            <a:extLst>
              <a:ext uri="{FF2B5EF4-FFF2-40B4-BE49-F238E27FC236}">
                <a16:creationId xmlns:a16="http://schemas.microsoft.com/office/drawing/2014/main" id="{1CABD0A4-82DC-E546-980C-BBDB9F702420}"/>
              </a:ext>
            </a:extLst>
          </p:cNvPr>
          <p:cNvCxnSpPr>
            <a:cxnSpLocks/>
          </p:cNvCxnSpPr>
          <p:nvPr/>
        </p:nvCxnSpPr>
        <p:spPr>
          <a:xfrm flipH="1">
            <a:off x="544357" y="5417660"/>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10464E9F-6718-CE48-B556-F750992B0739}"/>
              </a:ext>
            </a:extLst>
          </p:cNvPr>
          <p:cNvCxnSpPr>
            <a:cxnSpLocks/>
          </p:cNvCxnSpPr>
          <p:nvPr/>
        </p:nvCxnSpPr>
        <p:spPr>
          <a:xfrm>
            <a:off x="1768730" y="5417660"/>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4F13B196-509B-D643-BE14-9DCA174461B4}"/>
              </a:ext>
            </a:extLst>
          </p:cNvPr>
          <p:cNvSpPr txBox="1"/>
          <p:nvPr/>
        </p:nvSpPr>
        <p:spPr>
          <a:xfrm>
            <a:off x="2712897" y="5847826"/>
            <a:ext cx="1624804" cy="369332"/>
          </a:xfrm>
          <a:prstGeom prst="rect">
            <a:avLst/>
          </a:prstGeom>
          <a:noFill/>
        </p:spPr>
        <p:txBody>
          <a:bodyPr wrap="none" rtlCol="0">
            <a:spAutoFit/>
          </a:bodyPr>
          <a:lstStyle/>
          <a:p>
            <a:r>
              <a:rPr lang="en-US" dirty="0"/>
              <a:t>AST&lt;y, int, vr1&gt;</a:t>
            </a:r>
          </a:p>
        </p:txBody>
      </p:sp>
      <p:sp>
        <p:nvSpPr>
          <p:cNvPr id="12" name="TextBox 11">
            <a:extLst>
              <a:ext uri="{FF2B5EF4-FFF2-40B4-BE49-F238E27FC236}">
                <a16:creationId xmlns:a16="http://schemas.microsoft.com/office/drawing/2014/main" id="{1FA1C0DE-DC9E-B346-81CE-9410FE38FA6C}"/>
              </a:ext>
            </a:extLst>
          </p:cNvPr>
          <p:cNvSpPr txBox="1"/>
          <p:nvPr/>
        </p:nvSpPr>
        <p:spPr>
          <a:xfrm>
            <a:off x="3411415" y="3677740"/>
            <a:ext cx="1780744" cy="369332"/>
          </a:xfrm>
          <a:prstGeom prst="rect">
            <a:avLst/>
          </a:prstGeom>
          <a:noFill/>
        </p:spPr>
        <p:txBody>
          <a:bodyPr wrap="none" rtlCol="0">
            <a:spAutoFit/>
          </a:bodyPr>
          <a:lstStyle/>
          <a:p>
            <a:r>
              <a:rPr lang="en-US" dirty="0"/>
              <a:t>AST&lt;+,float, vr5&gt;</a:t>
            </a:r>
          </a:p>
        </p:txBody>
      </p:sp>
      <p:cxnSp>
        <p:nvCxnSpPr>
          <p:cNvPr id="13" name="Straight Connector 12">
            <a:extLst>
              <a:ext uri="{FF2B5EF4-FFF2-40B4-BE49-F238E27FC236}">
                <a16:creationId xmlns:a16="http://schemas.microsoft.com/office/drawing/2014/main" id="{013429A3-9F38-594E-9F93-02B5AF03DE83}"/>
              </a:ext>
            </a:extLst>
          </p:cNvPr>
          <p:cNvCxnSpPr>
            <a:cxnSpLocks/>
            <a:stCxn id="20" idx="2"/>
            <a:endCxn id="8" idx="0"/>
          </p:cNvCxnSpPr>
          <p:nvPr/>
        </p:nvCxnSpPr>
        <p:spPr>
          <a:xfrm flipH="1">
            <a:off x="2282018" y="4591543"/>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649B4FDC-6D0E-4042-8550-3DDD294D7EE4}"/>
              </a:ext>
            </a:extLst>
          </p:cNvPr>
          <p:cNvCxnSpPr>
            <a:cxnSpLocks/>
            <a:stCxn id="12" idx="2"/>
            <a:endCxn id="15" idx="0"/>
          </p:cNvCxnSpPr>
          <p:nvPr/>
        </p:nvCxnSpPr>
        <p:spPr>
          <a:xfrm>
            <a:off x="4301787" y="4047072"/>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68B76434-E280-8549-96C9-E89D6B7CF0E7}"/>
              </a:ext>
            </a:extLst>
          </p:cNvPr>
          <p:cNvSpPr txBox="1"/>
          <p:nvPr/>
        </p:nvSpPr>
        <p:spPr>
          <a:xfrm>
            <a:off x="4643347" y="5062499"/>
            <a:ext cx="2009974" cy="369332"/>
          </a:xfrm>
          <a:prstGeom prst="rect">
            <a:avLst/>
          </a:prstGeom>
          <a:noFill/>
        </p:spPr>
        <p:txBody>
          <a:bodyPr wrap="none" rtlCol="0">
            <a:spAutoFit/>
          </a:bodyPr>
          <a:lstStyle/>
          <a:p>
            <a:r>
              <a:rPr lang="en-US" dirty="0"/>
              <a:t>AST&lt;5.5, float, vr4&gt;</a:t>
            </a:r>
          </a:p>
        </p:txBody>
      </p:sp>
      <p:sp>
        <p:nvSpPr>
          <p:cNvPr id="20" name="TextBox 19">
            <a:extLst>
              <a:ext uri="{FF2B5EF4-FFF2-40B4-BE49-F238E27FC236}">
                <a16:creationId xmlns:a16="http://schemas.microsoft.com/office/drawing/2014/main" id="{1C37E5A4-882F-B64C-9FA2-62695ECB0C65}"/>
              </a:ext>
            </a:extLst>
          </p:cNvPr>
          <p:cNvSpPr txBox="1"/>
          <p:nvPr/>
        </p:nvSpPr>
        <p:spPr>
          <a:xfrm>
            <a:off x="1420814" y="4222211"/>
            <a:ext cx="2515497" cy="369332"/>
          </a:xfrm>
          <a:prstGeom prst="rect">
            <a:avLst/>
          </a:prstGeom>
          <a:noFill/>
        </p:spPr>
        <p:txBody>
          <a:bodyPr wrap="none" rtlCol="0">
            <a:spAutoFit/>
          </a:bodyPr>
          <a:lstStyle/>
          <a:p>
            <a:r>
              <a:rPr lang="en-US" dirty="0"/>
              <a:t>AST&lt;int2float, float, vr3&gt;</a:t>
            </a:r>
          </a:p>
        </p:txBody>
      </p:sp>
      <p:cxnSp>
        <p:nvCxnSpPr>
          <p:cNvPr id="21" name="Straight Connector 20">
            <a:extLst>
              <a:ext uri="{FF2B5EF4-FFF2-40B4-BE49-F238E27FC236}">
                <a16:creationId xmlns:a16="http://schemas.microsoft.com/office/drawing/2014/main" id="{779312B6-F4ED-164D-A4F2-AFB80D85EA69}"/>
              </a:ext>
            </a:extLst>
          </p:cNvPr>
          <p:cNvCxnSpPr>
            <a:cxnSpLocks/>
            <a:stCxn id="12" idx="2"/>
            <a:endCxn id="20" idx="0"/>
          </p:cNvCxnSpPr>
          <p:nvPr/>
        </p:nvCxnSpPr>
        <p:spPr>
          <a:xfrm flipH="1">
            <a:off x="2678563" y="4047072"/>
            <a:ext cx="1623224" cy="175139"/>
          </a:xfrm>
          <a:prstGeom prst="line">
            <a:avLst/>
          </a:prstGeom>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71FF6727-E27B-324A-AE32-28CB183D3F88}"/>
              </a:ext>
            </a:extLst>
          </p:cNvPr>
          <p:cNvSpPr txBox="1"/>
          <p:nvPr/>
        </p:nvSpPr>
        <p:spPr>
          <a:xfrm>
            <a:off x="3805745" y="2885146"/>
            <a:ext cx="2099229" cy="369332"/>
          </a:xfrm>
          <a:prstGeom prst="rect">
            <a:avLst/>
          </a:prstGeom>
          <a:noFill/>
        </p:spPr>
        <p:txBody>
          <a:bodyPr wrap="none" rtlCol="0">
            <a:spAutoFit/>
          </a:bodyPr>
          <a:lstStyle/>
          <a:p>
            <a:r>
              <a:rPr lang="en-US" b="1" dirty="0"/>
              <a:t>After type inference</a:t>
            </a:r>
          </a:p>
        </p:txBody>
      </p:sp>
      <p:sp>
        <p:nvSpPr>
          <p:cNvPr id="3" name="TextBox 2">
            <a:extLst>
              <a:ext uri="{FF2B5EF4-FFF2-40B4-BE49-F238E27FC236}">
                <a16:creationId xmlns:a16="http://schemas.microsoft.com/office/drawing/2014/main" id="{C93B5366-FBCA-5246-BEB8-0B4C331E1825}"/>
              </a:ext>
            </a:extLst>
          </p:cNvPr>
          <p:cNvSpPr txBox="1"/>
          <p:nvPr/>
        </p:nvSpPr>
        <p:spPr>
          <a:xfrm>
            <a:off x="8186058" y="2222549"/>
            <a:ext cx="2674578" cy="1477328"/>
          </a:xfrm>
          <a:prstGeom prst="rect">
            <a:avLst/>
          </a:prstGeom>
          <a:noFill/>
        </p:spPr>
        <p:txBody>
          <a:bodyPr wrap="none" rtlCol="0">
            <a:spAutoFit/>
          </a:bodyPr>
          <a:lstStyle/>
          <a:p>
            <a:r>
              <a:rPr lang="en-US" dirty="0"/>
              <a:t>Next each AST node needs</a:t>
            </a:r>
          </a:p>
          <a:p>
            <a:r>
              <a:rPr lang="en-US" dirty="0"/>
              <a:t>to know how to </a:t>
            </a:r>
            <a:r>
              <a:rPr lang="en-US" dirty="0">
                <a:highlight>
                  <a:srgbClr val="FFFF00"/>
                </a:highlight>
              </a:rPr>
              <a:t>print a </a:t>
            </a:r>
          </a:p>
          <a:p>
            <a:r>
              <a:rPr lang="en-US" dirty="0">
                <a:highlight>
                  <a:srgbClr val="FFFF00"/>
                </a:highlight>
              </a:rPr>
              <a:t>3 address instruction</a:t>
            </a:r>
          </a:p>
          <a:p>
            <a:endParaRPr lang="en-US" dirty="0"/>
          </a:p>
          <a:p>
            <a:r>
              <a:rPr lang="en-US" dirty="0"/>
              <a:t>Consider the add node:</a:t>
            </a:r>
          </a:p>
        </p:txBody>
      </p:sp>
    </p:spTree>
    <p:extLst>
      <p:ext uri="{BB962C8B-B14F-4D97-AF65-F5344CB8AC3E}">
        <p14:creationId xmlns:p14="http://schemas.microsoft.com/office/powerpoint/2010/main" val="9178421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60594-7A8E-E826-CC3B-70FCC27710C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8006C7E-58AF-B965-E70C-7F1C695CF28F}"/>
              </a:ext>
            </a:extLst>
          </p:cNvPr>
          <p:cNvSpPr/>
          <p:nvPr/>
        </p:nvSpPr>
        <p:spPr>
          <a:xfrm>
            <a:off x="391758" y="348899"/>
            <a:ext cx="5129348" cy="2031325"/>
          </a:xfrm>
          <a:prstGeom prst="rect">
            <a:avLst/>
          </a:prstGeom>
        </p:spPr>
        <p:txBody>
          <a:bodyPr wrap="square">
            <a:spAutoFit/>
          </a:bodyPr>
          <a:lstStyle/>
          <a:p>
            <a:r>
              <a:rPr lang="en-US" b="1" dirty="0">
                <a:solidFill>
                  <a:srgbClr val="2EAEBB"/>
                </a:solidFill>
                <a:latin typeface="Menlo" panose="020B0609030804020204" pitchFamily="49" charset="0"/>
              </a:rPr>
              <a:t>class</a:t>
            </a:r>
            <a:r>
              <a:rPr lang="en-US" dirty="0">
                <a:solidFill>
                  <a:srgbClr val="000000"/>
                </a:solidFill>
                <a:latin typeface="Menlo" panose="020B0609030804020204" pitchFamily="49" charset="0"/>
              </a:rPr>
              <a:t> </a:t>
            </a:r>
            <a:r>
              <a:rPr lang="en-US" dirty="0" err="1">
                <a:solidFill>
                  <a:srgbClr val="2FB41D"/>
                </a:solidFill>
                <a:latin typeface="Menlo" panose="020B0609030804020204" pitchFamily="49" charset="0"/>
              </a:rPr>
              <a:t>ASTPlusNode</a:t>
            </a:r>
            <a:r>
              <a:rPr lang="en-US" dirty="0">
                <a:solidFill>
                  <a:srgbClr val="000000"/>
                </a:solidFill>
                <a:latin typeface="Menlo" panose="020B0609030804020204" pitchFamily="49" charset="0"/>
              </a:rPr>
              <a:t>(</a:t>
            </a:r>
            <a:r>
              <a:rPr lang="en-US" dirty="0" err="1">
                <a:solidFill>
                  <a:srgbClr val="000000"/>
                </a:solidFill>
                <a:latin typeface="Menlo" panose="020B0609030804020204" pitchFamily="49" charset="0"/>
              </a:rPr>
              <a:t>ASTBinOpNode</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def</a:t>
            </a:r>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__</a:t>
            </a:r>
            <a:r>
              <a:rPr lang="en-US" b="1" dirty="0" err="1">
                <a:solidFill>
                  <a:srgbClr val="400BD9"/>
                </a:solidFill>
                <a:latin typeface="Menlo" panose="020B0609030804020204" pitchFamily="49" charset="0"/>
              </a:rPr>
              <a:t>init</a:t>
            </a:r>
            <a:r>
              <a:rPr lang="en-US" b="1" dirty="0">
                <a:solidFill>
                  <a:srgbClr val="400BD9"/>
                </a:solidFill>
                <a:latin typeface="Menlo" panose="020B0609030804020204" pitchFamily="49" charset="0"/>
              </a:rPr>
              <a:t>__</a:t>
            </a:r>
            <a:r>
              <a:rPr lang="en-US" dirty="0">
                <a:solidFill>
                  <a:srgbClr val="000000"/>
                </a:solidFill>
                <a:latin typeface="Menlo" panose="020B0609030804020204" pitchFamily="49" charset="0"/>
              </a:rPr>
              <a:t>(</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l_child</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r_child</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super</a:t>
            </a:r>
            <a:r>
              <a:rPr lang="en-US" dirty="0">
                <a:solidFill>
                  <a:srgbClr val="000000"/>
                </a:solidFill>
                <a:latin typeface="Menlo" panose="020B0609030804020204" pitchFamily="49" charset="0"/>
              </a:rPr>
              <a:t>().__</a:t>
            </a:r>
            <a:r>
              <a:rPr lang="en-US" dirty="0" err="1">
                <a:solidFill>
                  <a:srgbClr val="000000"/>
                </a:solidFill>
                <a:latin typeface="Menlo" panose="020B0609030804020204" pitchFamily="49" charset="0"/>
              </a:rPr>
              <a:t>init</a:t>
            </a:r>
            <a:r>
              <a:rPr lang="en-US" dirty="0">
                <a:solidFill>
                  <a:srgbClr val="000000"/>
                </a:solidFill>
                <a:latin typeface="Menlo" panose="020B0609030804020204" pitchFamily="49" charset="0"/>
              </a:rPr>
              <a:t>__(</a:t>
            </a:r>
            <a:r>
              <a:rPr lang="en-US" dirty="0" err="1">
                <a:solidFill>
                  <a:srgbClr val="000000"/>
                </a:solidFill>
                <a:latin typeface="Menlo" panose="020B0609030804020204" pitchFamily="49" charset="0"/>
              </a:rPr>
              <a:t>l_child,r_child</a:t>
            </a:r>
            <a:r>
              <a:rPr lang="en-US" dirty="0">
                <a:solidFill>
                  <a:srgbClr val="000000"/>
                </a:solidFill>
                <a:latin typeface="Menlo" panose="020B0609030804020204" pitchFamily="49" charset="0"/>
              </a:rPr>
              <a:t>)</a:t>
            </a:r>
          </a:p>
          <a:p>
            <a:br>
              <a:rPr lang="en-US" dirty="0">
                <a:solidFill>
                  <a:srgbClr val="000000"/>
                </a:solidFill>
                <a:latin typeface="Menlo" panose="020B0609030804020204" pitchFamily="49" charset="0"/>
              </a:rPr>
            </a:br>
            <a:r>
              <a:rPr lang="en-US" dirty="0">
                <a:solidFill>
                  <a:srgbClr val="000000"/>
                </a:solidFill>
                <a:latin typeface="Menlo" panose="020B0609030804020204" pitchFamily="49" charset="0"/>
              </a:rPr>
              <a:t>    </a:t>
            </a:r>
            <a:r>
              <a:rPr lang="en-US" dirty="0">
                <a:solidFill>
                  <a:srgbClr val="B42419"/>
                </a:solidFill>
                <a:latin typeface="Menlo" panose="020B0609030804020204" pitchFamily="49" charset="0"/>
              </a:rPr>
              <a:t># return a string of the three address instruction</a:t>
            </a:r>
          </a:p>
          <a:p>
            <a:r>
              <a:rPr lang="en-US" dirty="0">
                <a:solidFill>
                  <a:srgbClr val="B42419"/>
                </a:solidFill>
                <a:latin typeface="Menlo" panose="020B0609030804020204" pitchFamily="49" charset="0"/>
              </a:rPr>
              <a:t>    # that this node encodes</a:t>
            </a:r>
            <a:endParaRPr lang="en-US" dirty="0">
              <a:solidFill>
                <a:srgbClr val="000000"/>
              </a:solidFill>
              <a:latin typeface="Menlo" panose="020B0609030804020204" pitchFamily="49" charset="0"/>
            </a:endParaRP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def</a:t>
            </a:r>
            <a:r>
              <a:rPr lang="en-US" dirty="0">
                <a:solidFill>
                  <a:srgbClr val="000000"/>
                </a:solidFill>
                <a:latin typeface="Menlo" panose="020B0609030804020204" pitchFamily="49" charset="0"/>
              </a:rPr>
              <a:t> </a:t>
            </a:r>
            <a:r>
              <a:rPr lang="en-US" b="1" dirty="0" err="1">
                <a:solidFill>
                  <a:srgbClr val="400BD9"/>
                </a:solidFill>
                <a:latin typeface="Menlo" panose="020B0609030804020204" pitchFamily="49" charset="0"/>
              </a:rPr>
              <a:t>three_addr_code</a:t>
            </a:r>
            <a:r>
              <a:rPr lang="en-US" dirty="0">
                <a:solidFill>
                  <a:srgbClr val="000000"/>
                </a:solidFill>
                <a:latin typeface="Menlo" panose="020B0609030804020204" pitchFamily="49" charset="0"/>
              </a:rPr>
              <a:t>(</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a:t>
            </a:r>
            <a:endParaRPr lang="en-US" dirty="0">
              <a:solidFill>
                <a:srgbClr val="400BD9"/>
              </a:solidFill>
              <a:effectLst/>
              <a:latin typeface="Menlo" panose="020B0609030804020204" pitchFamily="49" charset="0"/>
            </a:endParaRPr>
          </a:p>
        </p:txBody>
      </p:sp>
      <p:sp>
        <p:nvSpPr>
          <p:cNvPr id="3" name="TextBox 2">
            <a:extLst>
              <a:ext uri="{FF2B5EF4-FFF2-40B4-BE49-F238E27FC236}">
                <a16:creationId xmlns:a16="http://schemas.microsoft.com/office/drawing/2014/main" id="{4E3DD3E5-ED6F-BC95-B9B4-E46682CEC3A5}"/>
              </a:ext>
            </a:extLst>
          </p:cNvPr>
          <p:cNvSpPr txBox="1"/>
          <p:nvPr/>
        </p:nvSpPr>
        <p:spPr>
          <a:xfrm>
            <a:off x="5739081" y="2655026"/>
            <a:ext cx="1636474" cy="369332"/>
          </a:xfrm>
          <a:prstGeom prst="rect">
            <a:avLst/>
          </a:prstGeom>
          <a:noFill/>
        </p:spPr>
        <p:txBody>
          <a:bodyPr wrap="none" rtlCol="0">
            <a:spAutoFit/>
          </a:bodyPr>
          <a:lstStyle/>
          <a:p>
            <a:r>
              <a:rPr lang="en-US" dirty="0"/>
              <a:t>AST&lt;x, int, vr0&gt;</a:t>
            </a:r>
          </a:p>
        </p:txBody>
      </p:sp>
      <p:sp>
        <p:nvSpPr>
          <p:cNvPr id="5" name="TextBox 4">
            <a:extLst>
              <a:ext uri="{FF2B5EF4-FFF2-40B4-BE49-F238E27FC236}">
                <a16:creationId xmlns:a16="http://schemas.microsoft.com/office/drawing/2014/main" id="{DCE5EBA8-D08D-33BC-EBDD-C0217D3D4238}"/>
              </a:ext>
            </a:extLst>
          </p:cNvPr>
          <p:cNvSpPr txBox="1"/>
          <p:nvPr/>
        </p:nvSpPr>
        <p:spPr>
          <a:xfrm>
            <a:off x="6519991" y="1843672"/>
            <a:ext cx="1599605" cy="369332"/>
          </a:xfrm>
          <a:prstGeom prst="rect">
            <a:avLst/>
          </a:prstGeom>
          <a:noFill/>
        </p:spPr>
        <p:txBody>
          <a:bodyPr wrap="none" rtlCol="0">
            <a:spAutoFit/>
          </a:bodyPr>
          <a:lstStyle/>
          <a:p>
            <a:r>
              <a:rPr lang="en-US" dirty="0">
                <a:highlight>
                  <a:srgbClr val="FFFF00"/>
                </a:highlight>
              </a:rPr>
              <a:t>AST&lt;+,int, vr2&gt;</a:t>
            </a:r>
          </a:p>
        </p:txBody>
      </p:sp>
      <p:cxnSp>
        <p:nvCxnSpPr>
          <p:cNvPr id="6" name="Straight Connector 5">
            <a:extLst>
              <a:ext uri="{FF2B5EF4-FFF2-40B4-BE49-F238E27FC236}">
                <a16:creationId xmlns:a16="http://schemas.microsoft.com/office/drawing/2014/main" id="{2769C366-135F-A0E4-06BC-4C0239AC2A6B}"/>
              </a:ext>
            </a:extLst>
          </p:cNvPr>
          <p:cNvCxnSpPr>
            <a:cxnSpLocks/>
          </p:cNvCxnSpPr>
          <p:nvPr/>
        </p:nvCxnSpPr>
        <p:spPr>
          <a:xfrm flipH="1">
            <a:off x="5943386" y="2224860"/>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C5480AA9-AD9A-1E2B-BA0B-C29861155230}"/>
              </a:ext>
            </a:extLst>
          </p:cNvPr>
          <p:cNvCxnSpPr>
            <a:cxnSpLocks/>
          </p:cNvCxnSpPr>
          <p:nvPr/>
        </p:nvCxnSpPr>
        <p:spPr>
          <a:xfrm>
            <a:off x="7167759" y="2224860"/>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0C5036B8-0A00-BEBB-778C-74F0A8E39A66}"/>
              </a:ext>
            </a:extLst>
          </p:cNvPr>
          <p:cNvSpPr txBox="1"/>
          <p:nvPr/>
        </p:nvSpPr>
        <p:spPr>
          <a:xfrm>
            <a:off x="8111926" y="2655026"/>
            <a:ext cx="1624804" cy="369332"/>
          </a:xfrm>
          <a:prstGeom prst="rect">
            <a:avLst/>
          </a:prstGeom>
          <a:noFill/>
        </p:spPr>
        <p:txBody>
          <a:bodyPr wrap="none" rtlCol="0">
            <a:spAutoFit/>
          </a:bodyPr>
          <a:lstStyle/>
          <a:p>
            <a:r>
              <a:rPr lang="en-US" dirty="0"/>
              <a:t>AST&lt;y, int, vr1&gt;</a:t>
            </a:r>
          </a:p>
        </p:txBody>
      </p:sp>
      <p:sp>
        <p:nvSpPr>
          <p:cNvPr id="9" name="TextBox 8">
            <a:extLst>
              <a:ext uri="{FF2B5EF4-FFF2-40B4-BE49-F238E27FC236}">
                <a16:creationId xmlns:a16="http://schemas.microsoft.com/office/drawing/2014/main" id="{E557937F-B19C-64AD-7837-4593F33B1302}"/>
              </a:ext>
            </a:extLst>
          </p:cNvPr>
          <p:cNvSpPr txBox="1"/>
          <p:nvPr/>
        </p:nvSpPr>
        <p:spPr>
          <a:xfrm>
            <a:off x="8449191" y="470769"/>
            <a:ext cx="1780744" cy="369332"/>
          </a:xfrm>
          <a:prstGeom prst="rect">
            <a:avLst/>
          </a:prstGeom>
          <a:noFill/>
        </p:spPr>
        <p:txBody>
          <a:bodyPr wrap="none" rtlCol="0">
            <a:spAutoFit/>
          </a:bodyPr>
          <a:lstStyle/>
          <a:p>
            <a:r>
              <a:rPr lang="en-US" dirty="0"/>
              <a:t>AST&lt;+,float, vr5&gt;</a:t>
            </a:r>
          </a:p>
        </p:txBody>
      </p:sp>
      <p:cxnSp>
        <p:nvCxnSpPr>
          <p:cNvPr id="10" name="Straight Connector 9">
            <a:extLst>
              <a:ext uri="{FF2B5EF4-FFF2-40B4-BE49-F238E27FC236}">
                <a16:creationId xmlns:a16="http://schemas.microsoft.com/office/drawing/2014/main" id="{92D287FC-9717-A6DF-F9C3-E62FFF52BE95}"/>
              </a:ext>
            </a:extLst>
          </p:cNvPr>
          <p:cNvCxnSpPr>
            <a:cxnSpLocks/>
            <a:stCxn id="13" idx="2"/>
            <a:endCxn id="5" idx="0"/>
          </p:cNvCxnSpPr>
          <p:nvPr/>
        </p:nvCxnSpPr>
        <p:spPr>
          <a:xfrm flipH="1">
            <a:off x="7319794" y="1384572"/>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CFF55A0D-BD7D-B941-D016-A318F360A468}"/>
              </a:ext>
            </a:extLst>
          </p:cNvPr>
          <p:cNvCxnSpPr>
            <a:cxnSpLocks/>
            <a:stCxn id="9" idx="2"/>
            <a:endCxn id="12" idx="0"/>
          </p:cNvCxnSpPr>
          <p:nvPr/>
        </p:nvCxnSpPr>
        <p:spPr>
          <a:xfrm>
            <a:off x="9339563" y="840101"/>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96A94E51-4DB2-11CC-367A-2C82C5A92D4C}"/>
              </a:ext>
            </a:extLst>
          </p:cNvPr>
          <p:cNvSpPr txBox="1"/>
          <p:nvPr/>
        </p:nvSpPr>
        <p:spPr>
          <a:xfrm>
            <a:off x="9681123" y="1855528"/>
            <a:ext cx="2009974" cy="369332"/>
          </a:xfrm>
          <a:prstGeom prst="rect">
            <a:avLst/>
          </a:prstGeom>
          <a:noFill/>
        </p:spPr>
        <p:txBody>
          <a:bodyPr wrap="none" rtlCol="0">
            <a:spAutoFit/>
          </a:bodyPr>
          <a:lstStyle/>
          <a:p>
            <a:r>
              <a:rPr lang="en-US" dirty="0"/>
              <a:t>AST&lt;5.5, float, vr4&gt;</a:t>
            </a:r>
          </a:p>
        </p:txBody>
      </p:sp>
      <p:sp>
        <p:nvSpPr>
          <p:cNvPr id="13" name="TextBox 12">
            <a:extLst>
              <a:ext uri="{FF2B5EF4-FFF2-40B4-BE49-F238E27FC236}">
                <a16:creationId xmlns:a16="http://schemas.microsoft.com/office/drawing/2014/main" id="{83A11317-FA7A-5BF7-7EDD-0DFF51E88BD8}"/>
              </a:ext>
            </a:extLst>
          </p:cNvPr>
          <p:cNvSpPr txBox="1"/>
          <p:nvPr/>
        </p:nvSpPr>
        <p:spPr>
          <a:xfrm>
            <a:off x="6458590" y="1015240"/>
            <a:ext cx="2515497" cy="369332"/>
          </a:xfrm>
          <a:prstGeom prst="rect">
            <a:avLst/>
          </a:prstGeom>
          <a:noFill/>
        </p:spPr>
        <p:txBody>
          <a:bodyPr wrap="none" rtlCol="0">
            <a:spAutoFit/>
          </a:bodyPr>
          <a:lstStyle/>
          <a:p>
            <a:r>
              <a:rPr lang="en-US" dirty="0"/>
              <a:t>AST&lt;int2float, float, vr3&gt;</a:t>
            </a:r>
          </a:p>
        </p:txBody>
      </p:sp>
      <p:cxnSp>
        <p:nvCxnSpPr>
          <p:cNvPr id="14" name="Straight Connector 13">
            <a:extLst>
              <a:ext uri="{FF2B5EF4-FFF2-40B4-BE49-F238E27FC236}">
                <a16:creationId xmlns:a16="http://schemas.microsoft.com/office/drawing/2014/main" id="{78081D62-8C65-79BE-E52B-04910FA69E3F}"/>
              </a:ext>
            </a:extLst>
          </p:cNvPr>
          <p:cNvCxnSpPr>
            <a:cxnSpLocks/>
            <a:stCxn id="9" idx="2"/>
            <a:endCxn id="13" idx="0"/>
          </p:cNvCxnSpPr>
          <p:nvPr/>
        </p:nvCxnSpPr>
        <p:spPr>
          <a:xfrm flipH="1">
            <a:off x="7716339" y="840101"/>
            <a:ext cx="1623224" cy="175139"/>
          </a:xfrm>
          <a:prstGeom prst="line">
            <a:avLst/>
          </a:prstGeom>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FDF77C5D-FE1D-71D4-E370-80D92A7C350A}"/>
              </a:ext>
            </a:extLst>
          </p:cNvPr>
          <p:cNvSpPr txBox="1"/>
          <p:nvPr/>
        </p:nvSpPr>
        <p:spPr>
          <a:xfrm>
            <a:off x="874035" y="2325874"/>
            <a:ext cx="4647071" cy="369332"/>
          </a:xfrm>
          <a:prstGeom prst="rect">
            <a:avLst/>
          </a:prstGeom>
          <a:noFill/>
        </p:spPr>
        <p:txBody>
          <a:bodyPr wrap="square" rtlCol="0">
            <a:spAutoFit/>
          </a:bodyPr>
          <a:lstStyle/>
          <a:p>
            <a:r>
              <a:rPr lang="en-US" dirty="0"/>
              <a:t># </a:t>
            </a:r>
            <a:r>
              <a:rPr lang="en-US" b="1" dirty="0"/>
              <a:t>returns the linearized code for this node ???</a:t>
            </a:r>
          </a:p>
        </p:txBody>
      </p:sp>
      <p:sp>
        <p:nvSpPr>
          <p:cNvPr id="22" name="TextBox 21">
            <a:extLst>
              <a:ext uri="{FF2B5EF4-FFF2-40B4-BE49-F238E27FC236}">
                <a16:creationId xmlns:a16="http://schemas.microsoft.com/office/drawing/2014/main" id="{CD0FE5CA-B878-A64D-47AA-73C2A7A02705}"/>
              </a:ext>
            </a:extLst>
          </p:cNvPr>
          <p:cNvSpPr txBox="1"/>
          <p:nvPr/>
        </p:nvSpPr>
        <p:spPr>
          <a:xfrm>
            <a:off x="3948661" y="3644153"/>
            <a:ext cx="2245659" cy="923330"/>
          </a:xfrm>
          <a:prstGeom prst="rect">
            <a:avLst/>
          </a:prstGeom>
          <a:noFill/>
        </p:spPr>
        <p:txBody>
          <a:bodyPr wrap="square" rtlCol="0">
            <a:spAutoFit/>
          </a:bodyPr>
          <a:lstStyle/>
          <a:p>
            <a:r>
              <a:rPr lang="en-US" sz="5400" dirty="0"/>
              <a:t>HOW?</a:t>
            </a:r>
          </a:p>
        </p:txBody>
      </p:sp>
    </p:spTree>
    <p:extLst>
      <p:ext uri="{BB962C8B-B14F-4D97-AF65-F5344CB8AC3E}">
        <p14:creationId xmlns:p14="http://schemas.microsoft.com/office/powerpoint/2010/main" val="28126874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C2BD3-CFAD-A96C-1CF1-1FFD4401868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1AF1C9F-C9D6-6B9B-038F-BC0F1510B865}"/>
              </a:ext>
            </a:extLst>
          </p:cNvPr>
          <p:cNvSpPr/>
          <p:nvPr/>
        </p:nvSpPr>
        <p:spPr>
          <a:xfrm>
            <a:off x="391758" y="348899"/>
            <a:ext cx="5129348" cy="2031325"/>
          </a:xfrm>
          <a:prstGeom prst="rect">
            <a:avLst/>
          </a:prstGeom>
        </p:spPr>
        <p:txBody>
          <a:bodyPr wrap="square">
            <a:spAutoFit/>
          </a:bodyPr>
          <a:lstStyle/>
          <a:p>
            <a:r>
              <a:rPr lang="en-US" b="1" dirty="0">
                <a:solidFill>
                  <a:srgbClr val="2EAEBB"/>
                </a:solidFill>
                <a:latin typeface="Menlo" panose="020B0609030804020204" pitchFamily="49" charset="0"/>
              </a:rPr>
              <a:t>class</a:t>
            </a:r>
            <a:r>
              <a:rPr lang="en-US" dirty="0">
                <a:solidFill>
                  <a:srgbClr val="000000"/>
                </a:solidFill>
                <a:latin typeface="Menlo" panose="020B0609030804020204" pitchFamily="49" charset="0"/>
              </a:rPr>
              <a:t> </a:t>
            </a:r>
            <a:r>
              <a:rPr lang="en-US" dirty="0" err="1">
                <a:solidFill>
                  <a:srgbClr val="2FB41D"/>
                </a:solidFill>
                <a:latin typeface="Menlo" panose="020B0609030804020204" pitchFamily="49" charset="0"/>
              </a:rPr>
              <a:t>ASTPlusNode</a:t>
            </a:r>
            <a:r>
              <a:rPr lang="en-US" dirty="0">
                <a:solidFill>
                  <a:srgbClr val="000000"/>
                </a:solidFill>
                <a:latin typeface="Menlo" panose="020B0609030804020204" pitchFamily="49" charset="0"/>
              </a:rPr>
              <a:t>(</a:t>
            </a:r>
            <a:r>
              <a:rPr lang="en-US" dirty="0" err="1">
                <a:solidFill>
                  <a:srgbClr val="000000"/>
                </a:solidFill>
                <a:latin typeface="Menlo" panose="020B0609030804020204" pitchFamily="49" charset="0"/>
              </a:rPr>
              <a:t>ASTBinOpNode</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def</a:t>
            </a:r>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__</a:t>
            </a:r>
            <a:r>
              <a:rPr lang="en-US" b="1" dirty="0" err="1">
                <a:solidFill>
                  <a:srgbClr val="400BD9"/>
                </a:solidFill>
                <a:latin typeface="Menlo" panose="020B0609030804020204" pitchFamily="49" charset="0"/>
              </a:rPr>
              <a:t>init</a:t>
            </a:r>
            <a:r>
              <a:rPr lang="en-US" b="1" dirty="0">
                <a:solidFill>
                  <a:srgbClr val="400BD9"/>
                </a:solidFill>
                <a:latin typeface="Menlo" panose="020B0609030804020204" pitchFamily="49" charset="0"/>
              </a:rPr>
              <a:t>__</a:t>
            </a:r>
            <a:r>
              <a:rPr lang="en-US" dirty="0">
                <a:solidFill>
                  <a:srgbClr val="000000"/>
                </a:solidFill>
                <a:latin typeface="Menlo" panose="020B0609030804020204" pitchFamily="49" charset="0"/>
              </a:rPr>
              <a:t>(</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l_child</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r_child</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super</a:t>
            </a:r>
            <a:r>
              <a:rPr lang="en-US" dirty="0">
                <a:solidFill>
                  <a:srgbClr val="000000"/>
                </a:solidFill>
                <a:latin typeface="Menlo" panose="020B0609030804020204" pitchFamily="49" charset="0"/>
              </a:rPr>
              <a:t>().__</a:t>
            </a:r>
            <a:r>
              <a:rPr lang="en-US" dirty="0" err="1">
                <a:solidFill>
                  <a:srgbClr val="000000"/>
                </a:solidFill>
                <a:latin typeface="Menlo" panose="020B0609030804020204" pitchFamily="49" charset="0"/>
              </a:rPr>
              <a:t>init</a:t>
            </a:r>
            <a:r>
              <a:rPr lang="en-US" dirty="0">
                <a:solidFill>
                  <a:srgbClr val="000000"/>
                </a:solidFill>
                <a:latin typeface="Menlo" panose="020B0609030804020204" pitchFamily="49" charset="0"/>
              </a:rPr>
              <a:t>__(</a:t>
            </a:r>
            <a:r>
              <a:rPr lang="en-US" dirty="0" err="1">
                <a:solidFill>
                  <a:srgbClr val="000000"/>
                </a:solidFill>
                <a:latin typeface="Menlo" panose="020B0609030804020204" pitchFamily="49" charset="0"/>
              </a:rPr>
              <a:t>l_child,r_child</a:t>
            </a:r>
            <a:r>
              <a:rPr lang="en-US" dirty="0">
                <a:solidFill>
                  <a:srgbClr val="000000"/>
                </a:solidFill>
                <a:latin typeface="Menlo" panose="020B0609030804020204" pitchFamily="49" charset="0"/>
              </a:rPr>
              <a:t>)</a:t>
            </a:r>
          </a:p>
          <a:p>
            <a:br>
              <a:rPr lang="en-US" dirty="0">
                <a:solidFill>
                  <a:srgbClr val="000000"/>
                </a:solidFill>
                <a:latin typeface="Menlo" panose="020B0609030804020204" pitchFamily="49" charset="0"/>
              </a:rPr>
            </a:br>
            <a:r>
              <a:rPr lang="en-US" dirty="0">
                <a:solidFill>
                  <a:srgbClr val="000000"/>
                </a:solidFill>
                <a:latin typeface="Menlo" panose="020B0609030804020204" pitchFamily="49" charset="0"/>
              </a:rPr>
              <a:t>    </a:t>
            </a:r>
            <a:r>
              <a:rPr lang="en-US" dirty="0">
                <a:solidFill>
                  <a:srgbClr val="B42419"/>
                </a:solidFill>
                <a:latin typeface="Menlo" panose="020B0609030804020204" pitchFamily="49" charset="0"/>
              </a:rPr>
              <a:t># return a string of the three address instruction</a:t>
            </a:r>
          </a:p>
          <a:p>
            <a:r>
              <a:rPr lang="en-US" dirty="0">
                <a:solidFill>
                  <a:srgbClr val="B42419"/>
                </a:solidFill>
                <a:latin typeface="Menlo" panose="020B0609030804020204" pitchFamily="49" charset="0"/>
              </a:rPr>
              <a:t>    # that this node encodes</a:t>
            </a:r>
            <a:endParaRPr lang="en-US" dirty="0">
              <a:solidFill>
                <a:srgbClr val="000000"/>
              </a:solidFill>
              <a:latin typeface="Menlo" panose="020B0609030804020204" pitchFamily="49" charset="0"/>
            </a:endParaRP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def</a:t>
            </a:r>
            <a:r>
              <a:rPr lang="en-US" dirty="0">
                <a:solidFill>
                  <a:srgbClr val="000000"/>
                </a:solidFill>
                <a:latin typeface="Menlo" panose="020B0609030804020204" pitchFamily="49" charset="0"/>
              </a:rPr>
              <a:t> </a:t>
            </a:r>
            <a:r>
              <a:rPr lang="en-US" b="1" dirty="0" err="1">
                <a:solidFill>
                  <a:srgbClr val="400BD9"/>
                </a:solidFill>
                <a:latin typeface="Menlo" panose="020B0609030804020204" pitchFamily="49" charset="0"/>
              </a:rPr>
              <a:t>three_addr_code</a:t>
            </a:r>
            <a:r>
              <a:rPr lang="en-US" dirty="0">
                <a:solidFill>
                  <a:srgbClr val="000000"/>
                </a:solidFill>
                <a:latin typeface="Menlo" panose="020B0609030804020204" pitchFamily="49" charset="0"/>
              </a:rPr>
              <a:t>(</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a:t>
            </a:r>
            <a:endParaRPr lang="en-US" dirty="0">
              <a:solidFill>
                <a:srgbClr val="400BD9"/>
              </a:solidFill>
              <a:effectLst/>
              <a:latin typeface="Menlo" panose="020B0609030804020204" pitchFamily="49" charset="0"/>
            </a:endParaRPr>
          </a:p>
        </p:txBody>
      </p:sp>
      <p:sp>
        <p:nvSpPr>
          <p:cNvPr id="20" name="TextBox 19">
            <a:extLst>
              <a:ext uri="{FF2B5EF4-FFF2-40B4-BE49-F238E27FC236}">
                <a16:creationId xmlns:a16="http://schemas.microsoft.com/office/drawing/2014/main" id="{3A688333-DD9F-2EE1-D624-85E535C11E95}"/>
              </a:ext>
            </a:extLst>
          </p:cNvPr>
          <p:cNvSpPr txBox="1"/>
          <p:nvPr/>
        </p:nvSpPr>
        <p:spPr>
          <a:xfrm>
            <a:off x="874035" y="2325874"/>
            <a:ext cx="4460659" cy="369332"/>
          </a:xfrm>
          <a:prstGeom prst="rect">
            <a:avLst/>
          </a:prstGeom>
          <a:noFill/>
        </p:spPr>
        <p:txBody>
          <a:bodyPr wrap="square" rtlCol="0">
            <a:spAutoFit/>
          </a:bodyPr>
          <a:lstStyle/>
          <a:p>
            <a:r>
              <a:rPr lang="en-US" b="1" dirty="0"/>
              <a:t># returns the linearized code for this node</a:t>
            </a:r>
          </a:p>
        </p:txBody>
      </p:sp>
      <p:sp>
        <p:nvSpPr>
          <p:cNvPr id="2" name="Rectangle 1">
            <a:extLst>
              <a:ext uri="{FF2B5EF4-FFF2-40B4-BE49-F238E27FC236}">
                <a16:creationId xmlns:a16="http://schemas.microsoft.com/office/drawing/2014/main" id="{64CD39AF-BF26-C66E-950F-C8BFA370B695}"/>
              </a:ext>
            </a:extLst>
          </p:cNvPr>
          <p:cNvSpPr/>
          <p:nvPr/>
        </p:nvSpPr>
        <p:spPr>
          <a:xfrm>
            <a:off x="1116646" y="4370991"/>
            <a:ext cx="5970494" cy="646331"/>
          </a:xfrm>
          <a:prstGeom prst="rect">
            <a:avLst/>
          </a:prstGeom>
        </p:spPr>
        <p:txBody>
          <a:bodyPr wrap="square">
            <a:spAutoFit/>
          </a:bodyPr>
          <a:lstStyle/>
          <a:p>
            <a:r>
              <a:rPr lang="en-US" b="1" dirty="0">
                <a:solidFill>
                  <a:srgbClr val="2EAEBB"/>
                </a:solidFill>
                <a:latin typeface="Menlo" panose="020B0609030804020204" pitchFamily="49" charset="0"/>
              </a:rPr>
              <a:t>return</a:t>
            </a:r>
            <a:r>
              <a:rPr lang="en-US" dirty="0">
                <a:solidFill>
                  <a:srgbClr val="000000"/>
                </a:solidFill>
                <a:latin typeface="Menlo" panose="020B0609030804020204" pitchFamily="49" charset="0"/>
              </a:rPr>
              <a:t> </a:t>
            </a:r>
            <a:r>
              <a:rPr lang="en-US" dirty="0">
                <a:solidFill>
                  <a:srgbClr val="2FB41D"/>
                </a:solidFill>
                <a:latin typeface="Menlo" panose="020B0609030804020204" pitchFamily="49" charset="0"/>
              </a:rPr>
              <a:t>"%s = %s(%</a:t>
            </a:r>
            <a:r>
              <a:rPr lang="en-US" dirty="0" err="1">
                <a:solidFill>
                  <a:srgbClr val="2FB41D"/>
                </a:solidFill>
                <a:latin typeface="Menlo" panose="020B0609030804020204" pitchFamily="49" charset="0"/>
              </a:rPr>
              <a:t>s,%s</a:t>
            </a:r>
            <a:r>
              <a:rPr lang="en-US" dirty="0">
                <a:solidFill>
                  <a:srgbClr val="2FB41D"/>
                </a:solidFill>
                <a:latin typeface="Menlo" panose="020B0609030804020204" pitchFamily="49" charset="0"/>
              </a:rPr>
              <a:t>);"</a:t>
            </a:r>
            <a:r>
              <a:rPr lang="en-US" dirty="0">
                <a:solidFill>
                  <a:srgbClr val="000000"/>
                </a:solidFill>
                <a:latin typeface="Menlo" panose="020B0609030804020204" pitchFamily="49" charset="0"/>
              </a:rPr>
              <a:t> % </a:t>
            </a:r>
            <a:br>
              <a:rPr lang="en-US" dirty="0">
                <a:solidFill>
                  <a:srgbClr val="000000"/>
                </a:solidFill>
                <a:latin typeface="Menlo" panose="020B0609030804020204" pitchFamily="49" charset="0"/>
              </a:rPr>
            </a:br>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.vr</a:t>
            </a:r>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.get_op</a:t>
            </a:r>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.l_child.vr</a:t>
            </a:r>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.r_child.vr</a:t>
            </a:r>
            <a:r>
              <a:rPr lang="en-US" dirty="0">
                <a:solidFill>
                  <a:srgbClr val="000000"/>
                </a:solidFill>
                <a:latin typeface="Menlo" panose="020B0609030804020204" pitchFamily="49" charset="0"/>
              </a:rPr>
              <a:t>)</a:t>
            </a:r>
            <a:endParaRPr lang="en-US" dirty="0">
              <a:solidFill>
                <a:srgbClr val="000000"/>
              </a:solidFill>
              <a:effectLst/>
              <a:latin typeface="Menlo" panose="020B0609030804020204" pitchFamily="49" charset="0"/>
            </a:endParaRPr>
          </a:p>
        </p:txBody>
      </p:sp>
      <p:cxnSp>
        <p:nvCxnSpPr>
          <p:cNvPr id="15" name="Straight Connector 14">
            <a:extLst>
              <a:ext uri="{FF2B5EF4-FFF2-40B4-BE49-F238E27FC236}">
                <a16:creationId xmlns:a16="http://schemas.microsoft.com/office/drawing/2014/main" id="{859F5DAA-4DD1-301C-BB75-0E1992D4A3B2}"/>
              </a:ext>
            </a:extLst>
          </p:cNvPr>
          <p:cNvCxnSpPr>
            <a:cxnSpLocks/>
          </p:cNvCxnSpPr>
          <p:nvPr/>
        </p:nvCxnSpPr>
        <p:spPr>
          <a:xfrm flipH="1" flipV="1">
            <a:off x="6434028" y="5020862"/>
            <a:ext cx="69286" cy="305594"/>
          </a:xfrm>
          <a:prstGeom prst="line">
            <a:avLst/>
          </a:prstGeom>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5F6BDD7B-0DF4-902A-176D-98C8171EDC1B}"/>
              </a:ext>
            </a:extLst>
          </p:cNvPr>
          <p:cNvSpPr txBox="1"/>
          <p:nvPr/>
        </p:nvSpPr>
        <p:spPr>
          <a:xfrm>
            <a:off x="6326260" y="5317664"/>
            <a:ext cx="632012" cy="369332"/>
          </a:xfrm>
          <a:prstGeom prst="rect">
            <a:avLst/>
          </a:prstGeom>
          <a:noFill/>
        </p:spPr>
        <p:txBody>
          <a:bodyPr wrap="square" rtlCol="0">
            <a:spAutoFit/>
          </a:bodyPr>
          <a:lstStyle/>
          <a:p>
            <a:r>
              <a:rPr lang="en-US" dirty="0"/>
              <a:t>??</a:t>
            </a:r>
          </a:p>
        </p:txBody>
      </p:sp>
      <p:sp>
        <p:nvSpPr>
          <p:cNvPr id="17" name="TextBox 16">
            <a:extLst>
              <a:ext uri="{FF2B5EF4-FFF2-40B4-BE49-F238E27FC236}">
                <a16:creationId xmlns:a16="http://schemas.microsoft.com/office/drawing/2014/main" id="{DBDBDCDC-B6B4-8611-0692-B2C41591F34D}"/>
              </a:ext>
            </a:extLst>
          </p:cNvPr>
          <p:cNvSpPr txBox="1"/>
          <p:nvPr/>
        </p:nvSpPr>
        <p:spPr>
          <a:xfrm>
            <a:off x="5013956" y="5314124"/>
            <a:ext cx="632012" cy="369332"/>
          </a:xfrm>
          <a:prstGeom prst="rect">
            <a:avLst/>
          </a:prstGeom>
          <a:noFill/>
        </p:spPr>
        <p:txBody>
          <a:bodyPr wrap="square" rtlCol="0">
            <a:spAutoFit/>
          </a:bodyPr>
          <a:lstStyle/>
          <a:p>
            <a:r>
              <a:rPr lang="en-US" dirty="0"/>
              <a:t>??</a:t>
            </a:r>
          </a:p>
        </p:txBody>
      </p:sp>
      <p:cxnSp>
        <p:nvCxnSpPr>
          <p:cNvPr id="18" name="Straight Connector 17">
            <a:extLst>
              <a:ext uri="{FF2B5EF4-FFF2-40B4-BE49-F238E27FC236}">
                <a16:creationId xmlns:a16="http://schemas.microsoft.com/office/drawing/2014/main" id="{64A5AAA3-7A21-A673-24AB-12B632B29302}"/>
              </a:ext>
            </a:extLst>
          </p:cNvPr>
          <p:cNvCxnSpPr>
            <a:cxnSpLocks/>
          </p:cNvCxnSpPr>
          <p:nvPr/>
        </p:nvCxnSpPr>
        <p:spPr>
          <a:xfrm flipH="1" flipV="1">
            <a:off x="5085284" y="5048871"/>
            <a:ext cx="69286" cy="305594"/>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CBB7838-0020-C464-157D-1245E052B52C}"/>
              </a:ext>
            </a:extLst>
          </p:cNvPr>
          <p:cNvCxnSpPr>
            <a:cxnSpLocks/>
          </p:cNvCxnSpPr>
          <p:nvPr/>
        </p:nvCxnSpPr>
        <p:spPr>
          <a:xfrm flipH="1" flipV="1">
            <a:off x="2197473" y="2722362"/>
            <a:ext cx="343385" cy="1588232"/>
          </a:xfrm>
          <a:prstGeom prst="line">
            <a:avLst/>
          </a:prstGeom>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E4996956-FAA8-6DEA-0099-59EEF14606DF}"/>
              </a:ext>
            </a:extLst>
          </p:cNvPr>
          <p:cNvSpPr txBox="1"/>
          <p:nvPr/>
        </p:nvSpPr>
        <p:spPr>
          <a:xfrm>
            <a:off x="6720676" y="5288762"/>
            <a:ext cx="2381291" cy="369332"/>
          </a:xfrm>
          <a:prstGeom prst="rect">
            <a:avLst/>
          </a:prstGeom>
          <a:noFill/>
        </p:spPr>
        <p:txBody>
          <a:bodyPr wrap="square" rtlCol="0">
            <a:spAutoFit/>
          </a:bodyPr>
          <a:lstStyle/>
          <a:p>
            <a:r>
              <a:rPr lang="en-US" b="1" dirty="0"/>
              <a:t>But what are these?</a:t>
            </a:r>
          </a:p>
        </p:txBody>
      </p:sp>
      <p:sp>
        <p:nvSpPr>
          <p:cNvPr id="23" name="TextBox 22">
            <a:extLst>
              <a:ext uri="{FF2B5EF4-FFF2-40B4-BE49-F238E27FC236}">
                <a16:creationId xmlns:a16="http://schemas.microsoft.com/office/drawing/2014/main" id="{E193E2A9-FE56-A2C0-399F-6BCB84A05A4A}"/>
              </a:ext>
            </a:extLst>
          </p:cNvPr>
          <p:cNvSpPr txBox="1"/>
          <p:nvPr/>
        </p:nvSpPr>
        <p:spPr>
          <a:xfrm>
            <a:off x="5739081" y="2655026"/>
            <a:ext cx="1636474" cy="369332"/>
          </a:xfrm>
          <a:prstGeom prst="rect">
            <a:avLst/>
          </a:prstGeom>
          <a:noFill/>
        </p:spPr>
        <p:txBody>
          <a:bodyPr wrap="none" rtlCol="0">
            <a:spAutoFit/>
          </a:bodyPr>
          <a:lstStyle/>
          <a:p>
            <a:r>
              <a:rPr lang="en-US" dirty="0"/>
              <a:t>AST&lt;x, int, vr0&gt;</a:t>
            </a:r>
          </a:p>
        </p:txBody>
      </p:sp>
      <p:sp>
        <p:nvSpPr>
          <p:cNvPr id="24" name="TextBox 23">
            <a:extLst>
              <a:ext uri="{FF2B5EF4-FFF2-40B4-BE49-F238E27FC236}">
                <a16:creationId xmlns:a16="http://schemas.microsoft.com/office/drawing/2014/main" id="{E0306DAE-9BC4-10DC-B92D-F082EF68D009}"/>
              </a:ext>
            </a:extLst>
          </p:cNvPr>
          <p:cNvSpPr txBox="1"/>
          <p:nvPr/>
        </p:nvSpPr>
        <p:spPr>
          <a:xfrm>
            <a:off x="6519991" y="1843672"/>
            <a:ext cx="1599605" cy="369332"/>
          </a:xfrm>
          <a:prstGeom prst="rect">
            <a:avLst/>
          </a:prstGeom>
          <a:noFill/>
        </p:spPr>
        <p:txBody>
          <a:bodyPr wrap="none" rtlCol="0">
            <a:spAutoFit/>
          </a:bodyPr>
          <a:lstStyle/>
          <a:p>
            <a:r>
              <a:rPr lang="en-US" dirty="0">
                <a:highlight>
                  <a:srgbClr val="FFFF00"/>
                </a:highlight>
              </a:rPr>
              <a:t>AST&lt;+,int, vr2&gt;</a:t>
            </a:r>
          </a:p>
        </p:txBody>
      </p:sp>
      <p:cxnSp>
        <p:nvCxnSpPr>
          <p:cNvPr id="25" name="Straight Connector 24">
            <a:extLst>
              <a:ext uri="{FF2B5EF4-FFF2-40B4-BE49-F238E27FC236}">
                <a16:creationId xmlns:a16="http://schemas.microsoft.com/office/drawing/2014/main" id="{8188FFC4-3B6C-63BF-5E05-9080742E5781}"/>
              </a:ext>
            </a:extLst>
          </p:cNvPr>
          <p:cNvCxnSpPr>
            <a:cxnSpLocks/>
          </p:cNvCxnSpPr>
          <p:nvPr/>
        </p:nvCxnSpPr>
        <p:spPr>
          <a:xfrm flipH="1">
            <a:off x="5943386" y="2224860"/>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26" name="Straight Connector 25">
            <a:extLst>
              <a:ext uri="{FF2B5EF4-FFF2-40B4-BE49-F238E27FC236}">
                <a16:creationId xmlns:a16="http://schemas.microsoft.com/office/drawing/2014/main" id="{21228201-65D2-B359-5C9E-6A573DBF2F76}"/>
              </a:ext>
            </a:extLst>
          </p:cNvPr>
          <p:cNvCxnSpPr>
            <a:cxnSpLocks/>
          </p:cNvCxnSpPr>
          <p:nvPr/>
        </p:nvCxnSpPr>
        <p:spPr>
          <a:xfrm>
            <a:off x="7167759" y="2224860"/>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B8009F3C-202F-D9CE-C75E-C17E7A5DE79C}"/>
              </a:ext>
            </a:extLst>
          </p:cNvPr>
          <p:cNvSpPr txBox="1"/>
          <p:nvPr/>
        </p:nvSpPr>
        <p:spPr>
          <a:xfrm>
            <a:off x="8111926" y="2655026"/>
            <a:ext cx="1624804" cy="369332"/>
          </a:xfrm>
          <a:prstGeom prst="rect">
            <a:avLst/>
          </a:prstGeom>
          <a:noFill/>
        </p:spPr>
        <p:txBody>
          <a:bodyPr wrap="none" rtlCol="0">
            <a:spAutoFit/>
          </a:bodyPr>
          <a:lstStyle/>
          <a:p>
            <a:r>
              <a:rPr lang="en-US" dirty="0"/>
              <a:t>AST&lt;y, int, vr1&gt;</a:t>
            </a:r>
          </a:p>
        </p:txBody>
      </p:sp>
      <p:sp>
        <p:nvSpPr>
          <p:cNvPr id="28" name="TextBox 27">
            <a:extLst>
              <a:ext uri="{FF2B5EF4-FFF2-40B4-BE49-F238E27FC236}">
                <a16:creationId xmlns:a16="http://schemas.microsoft.com/office/drawing/2014/main" id="{95723B74-CC2A-690E-D6A0-D95D98A9CDF7}"/>
              </a:ext>
            </a:extLst>
          </p:cNvPr>
          <p:cNvSpPr txBox="1"/>
          <p:nvPr/>
        </p:nvSpPr>
        <p:spPr>
          <a:xfrm>
            <a:off x="8449191" y="470769"/>
            <a:ext cx="1780744" cy="369332"/>
          </a:xfrm>
          <a:prstGeom prst="rect">
            <a:avLst/>
          </a:prstGeom>
          <a:noFill/>
        </p:spPr>
        <p:txBody>
          <a:bodyPr wrap="none" rtlCol="0">
            <a:spAutoFit/>
          </a:bodyPr>
          <a:lstStyle/>
          <a:p>
            <a:r>
              <a:rPr lang="en-US" dirty="0"/>
              <a:t>AST&lt;+,float, vr5&gt;</a:t>
            </a:r>
          </a:p>
        </p:txBody>
      </p:sp>
      <p:cxnSp>
        <p:nvCxnSpPr>
          <p:cNvPr id="29" name="Straight Connector 28">
            <a:extLst>
              <a:ext uri="{FF2B5EF4-FFF2-40B4-BE49-F238E27FC236}">
                <a16:creationId xmlns:a16="http://schemas.microsoft.com/office/drawing/2014/main" id="{F5B26192-4C10-B142-5C9F-67CDE0AAD1A1}"/>
              </a:ext>
            </a:extLst>
          </p:cNvPr>
          <p:cNvCxnSpPr>
            <a:cxnSpLocks/>
            <a:stCxn id="32" idx="2"/>
            <a:endCxn id="24" idx="0"/>
          </p:cNvCxnSpPr>
          <p:nvPr/>
        </p:nvCxnSpPr>
        <p:spPr>
          <a:xfrm flipH="1">
            <a:off x="7319794" y="1384572"/>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6CEBF188-8E1A-E0CD-56AF-45394577095F}"/>
              </a:ext>
            </a:extLst>
          </p:cNvPr>
          <p:cNvCxnSpPr>
            <a:cxnSpLocks/>
            <a:stCxn id="28" idx="2"/>
            <a:endCxn id="31" idx="0"/>
          </p:cNvCxnSpPr>
          <p:nvPr/>
        </p:nvCxnSpPr>
        <p:spPr>
          <a:xfrm>
            <a:off x="9339563" y="840101"/>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B68FECBD-3E41-1C6B-690B-9FC3E9DBE440}"/>
              </a:ext>
            </a:extLst>
          </p:cNvPr>
          <p:cNvSpPr txBox="1"/>
          <p:nvPr/>
        </p:nvSpPr>
        <p:spPr>
          <a:xfrm>
            <a:off x="9681123" y="1855528"/>
            <a:ext cx="2009974" cy="369332"/>
          </a:xfrm>
          <a:prstGeom prst="rect">
            <a:avLst/>
          </a:prstGeom>
          <a:noFill/>
        </p:spPr>
        <p:txBody>
          <a:bodyPr wrap="none" rtlCol="0">
            <a:spAutoFit/>
          </a:bodyPr>
          <a:lstStyle/>
          <a:p>
            <a:r>
              <a:rPr lang="en-US" dirty="0"/>
              <a:t>AST&lt;5.5, float, vr4&gt;</a:t>
            </a:r>
          </a:p>
        </p:txBody>
      </p:sp>
      <p:sp>
        <p:nvSpPr>
          <p:cNvPr id="32" name="TextBox 31">
            <a:extLst>
              <a:ext uri="{FF2B5EF4-FFF2-40B4-BE49-F238E27FC236}">
                <a16:creationId xmlns:a16="http://schemas.microsoft.com/office/drawing/2014/main" id="{148BF552-41FC-C308-B293-6AFBD94B5739}"/>
              </a:ext>
            </a:extLst>
          </p:cNvPr>
          <p:cNvSpPr txBox="1"/>
          <p:nvPr/>
        </p:nvSpPr>
        <p:spPr>
          <a:xfrm>
            <a:off x="6458590" y="1015240"/>
            <a:ext cx="2515497" cy="369332"/>
          </a:xfrm>
          <a:prstGeom prst="rect">
            <a:avLst/>
          </a:prstGeom>
          <a:noFill/>
        </p:spPr>
        <p:txBody>
          <a:bodyPr wrap="none" rtlCol="0">
            <a:spAutoFit/>
          </a:bodyPr>
          <a:lstStyle/>
          <a:p>
            <a:r>
              <a:rPr lang="en-US" dirty="0"/>
              <a:t>AST&lt;int2float, float, vr3&gt;</a:t>
            </a:r>
          </a:p>
        </p:txBody>
      </p:sp>
      <p:cxnSp>
        <p:nvCxnSpPr>
          <p:cNvPr id="33" name="Straight Connector 32">
            <a:extLst>
              <a:ext uri="{FF2B5EF4-FFF2-40B4-BE49-F238E27FC236}">
                <a16:creationId xmlns:a16="http://schemas.microsoft.com/office/drawing/2014/main" id="{413751EB-A055-D4C9-03DE-CB8CEF72557C}"/>
              </a:ext>
            </a:extLst>
          </p:cNvPr>
          <p:cNvCxnSpPr>
            <a:cxnSpLocks/>
            <a:stCxn id="28" idx="2"/>
            <a:endCxn id="32" idx="0"/>
          </p:cNvCxnSpPr>
          <p:nvPr/>
        </p:nvCxnSpPr>
        <p:spPr>
          <a:xfrm flipH="1">
            <a:off x="7716339" y="840101"/>
            <a:ext cx="1623224" cy="175139"/>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14118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86B30-42E0-1A6F-D3C5-29DAC49931E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A52BF71-6938-885E-9C9D-9033CF60DCBD}"/>
              </a:ext>
            </a:extLst>
          </p:cNvPr>
          <p:cNvSpPr/>
          <p:nvPr/>
        </p:nvSpPr>
        <p:spPr>
          <a:xfrm>
            <a:off x="391758" y="348899"/>
            <a:ext cx="5129348" cy="2031325"/>
          </a:xfrm>
          <a:prstGeom prst="rect">
            <a:avLst/>
          </a:prstGeom>
        </p:spPr>
        <p:txBody>
          <a:bodyPr wrap="square">
            <a:spAutoFit/>
          </a:bodyPr>
          <a:lstStyle/>
          <a:p>
            <a:r>
              <a:rPr lang="en-US" b="1" dirty="0">
                <a:solidFill>
                  <a:srgbClr val="2EAEBB"/>
                </a:solidFill>
                <a:latin typeface="Menlo" panose="020B0609030804020204" pitchFamily="49" charset="0"/>
              </a:rPr>
              <a:t>class</a:t>
            </a:r>
            <a:r>
              <a:rPr lang="en-US" dirty="0">
                <a:solidFill>
                  <a:srgbClr val="000000"/>
                </a:solidFill>
                <a:latin typeface="Menlo" panose="020B0609030804020204" pitchFamily="49" charset="0"/>
              </a:rPr>
              <a:t> </a:t>
            </a:r>
            <a:r>
              <a:rPr lang="en-US" dirty="0" err="1">
                <a:solidFill>
                  <a:srgbClr val="2FB41D"/>
                </a:solidFill>
                <a:latin typeface="Menlo" panose="020B0609030804020204" pitchFamily="49" charset="0"/>
              </a:rPr>
              <a:t>ASTPlusNode</a:t>
            </a:r>
            <a:r>
              <a:rPr lang="en-US" dirty="0">
                <a:solidFill>
                  <a:srgbClr val="000000"/>
                </a:solidFill>
                <a:latin typeface="Menlo" panose="020B0609030804020204" pitchFamily="49" charset="0"/>
              </a:rPr>
              <a:t>(</a:t>
            </a:r>
            <a:r>
              <a:rPr lang="en-US" dirty="0" err="1">
                <a:solidFill>
                  <a:srgbClr val="000000"/>
                </a:solidFill>
                <a:latin typeface="Menlo" panose="020B0609030804020204" pitchFamily="49" charset="0"/>
              </a:rPr>
              <a:t>ASTBinOpNode</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def</a:t>
            </a:r>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__</a:t>
            </a:r>
            <a:r>
              <a:rPr lang="en-US" b="1" dirty="0" err="1">
                <a:solidFill>
                  <a:srgbClr val="400BD9"/>
                </a:solidFill>
                <a:latin typeface="Menlo" panose="020B0609030804020204" pitchFamily="49" charset="0"/>
              </a:rPr>
              <a:t>init</a:t>
            </a:r>
            <a:r>
              <a:rPr lang="en-US" b="1" dirty="0">
                <a:solidFill>
                  <a:srgbClr val="400BD9"/>
                </a:solidFill>
                <a:latin typeface="Menlo" panose="020B0609030804020204" pitchFamily="49" charset="0"/>
              </a:rPr>
              <a:t>__</a:t>
            </a:r>
            <a:r>
              <a:rPr lang="en-US" dirty="0">
                <a:solidFill>
                  <a:srgbClr val="000000"/>
                </a:solidFill>
                <a:latin typeface="Menlo" panose="020B0609030804020204" pitchFamily="49" charset="0"/>
              </a:rPr>
              <a:t>(</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l_child</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r_child</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super</a:t>
            </a:r>
            <a:r>
              <a:rPr lang="en-US" dirty="0">
                <a:solidFill>
                  <a:srgbClr val="000000"/>
                </a:solidFill>
                <a:latin typeface="Menlo" panose="020B0609030804020204" pitchFamily="49" charset="0"/>
              </a:rPr>
              <a:t>().__</a:t>
            </a:r>
            <a:r>
              <a:rPr lang="en-US" dirty="0" err="1">
                <a:solidFill>
                  <a:srgbClr val="000000"/>
                </a:solidFill>
                <a:latin typeface="Menlo" panose="020B0609030804020204" pitchFamily="49" charset="0"/>
              </a:rPr>
              <a:t>init</a:t>
            </a:r>
            <a:r>
              <a:rPr lang="en-US" dirty="0">
                <a:solidFill>
                  <a:srgbClr val="000000"/>
                </a:solidFill>
                <a:latin typeface="Menlo" panose="020B0609030804020204" pitchFamily="49" charset="0"/>
              </a:rPr>
              <a:t>__(</a:t>
            </a:r>
            <a:r>
              <a:rPr lang="en-US" dirty="0" err="1">
                <a:solidFill>
                  <a:srgbClr val="000000"/>
                </a:solidFill>
                <a:latin typeface="Menlo" panose="020B0609030804020204" pitchFamily="49" charset="0"/>
              </a:rPr>
              <a:t>l_child,r_child</a:t>
            </a:r>
            <a:r>
              <a:rPr lang="en-US" dirty="0">
                <a:solidFill>
                  <a:srgbClr val="000000"/>
                </a:solidFill>
                <a:latin typeface="Menlo" panose="020B0609030804020204" pitchFamily="49" charset="0"/>
              </a:rPr>
              <a:t>)</a:t>
            </a:r>
          </a:p>
          <a:p>
            <a:br>
              <a:rPr lang="en-US" dirty="0">
                <a:solidFill>
                  <a:srgbClr val="000000"/>
                </a:solidFill>
                <a:latin typeface="Menlo" panose="020B0609030804020204" pitchFamily="49" charset="0"/>
              </a:rPr>
            </a:br>
            <a:r>
              <a:rPr lang="en-US" dirty="0">
                <a:solidFill>
                  <a:srgbClr val="000000"/>
                </a:solidFill>
                <a:latin typeface="Menlo" panose="020B0609030804020204" pitchFamily="49" charset="0"/>
              </a:rPr>
              <a:t>    </a:t>
            </a:r>
            <a:r>
              <a:rPr lang="en-US" dirty="0">
                <a:solidFill>
                  <a:srgbClr val="B42419"/>
                </a:solidFill>
                <a:latin typeface="Menlo" panose="020B0609030804020204" pitchFamily="49" charset="0"/>
              </a:rPr>
              <a:t># return a string of the three address instruction</a:t>
            </a:r>
          </a:p>
          <a:p>
            <a:r>
              <a:rPr lang="en-US" dirty="0">
                <a:solidFill>
                  <a:srgbClr val="B42419"/>
                </a:solidFill>
                <a:latin typeface="Menlo" panose="020B0609030804020204" pitchFamily="49" charset="0"/>
              </a:rPr>
              <a:t>    # that this node encodes</a:t>
            </a:r>
            <a:endParaRPr lang="en-US" dirty="0">
              <a:solidFill>
                <a:srgbClr val="000000"/>
              </a:solidFill>
              <a:latin typeface="Menlo" panose="020B0609030804020204" pitchFamily="49" charset="0"/>
            </a:endParaRP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def</a:t>
            </a:r>
            <a:r>
              <a:rPr lang="en-US" dirty="0">
                <a:solidFill>
                  <a:srgbClr val="000000"/>
                </a:solidFill>
                <a:latin typeface="Menlo" panose="020B0609030804020204" pitchFamily="49" charset="0"/>
              </a:rPr>
              <a:t> </a:t>
            </a:r>
            <a:r>
              <a:rPr lang="en-US" b="1" dirty="0" err="1">
                <a:solidFill>
                  <a:srgbClr val="400BD9"/>
                </a:solidFill>
                <a:latin typeface="Menlo" panose="020B0609030804020204" pitchFamily="49" charset="0"/>
              </a:rPr>
              <a:t>three_addr_code</a:t>
            </a:r>
            <a:r>
              <a:rPr lang="en-US" dirty="0">
                <a:solidFill>
                  <a:srgbClr val="000000"/>
                </a:solidFill>
                <a:latin typeface="Menlo" panose="020B0609030804020204" pitchFamily="49" charset="0"/>
              </a:rPr>
              <a:t>(</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a:t>
            </a:r>
            <a:endParaRPr lang="en-US" dirty="0">
              <a:solidFill>
                <a:srgbClr val="400BD9"/>
              </a:solidFill>
              <a:effectLst/>
              <a:latin typeface="Menlo" panose="020B0609030804020204" pitchFamily="49" charset="0"/>
            </a:endParaRPr>
          </a:p>
        </p:txBody>
      </p:sp>
      <p:sp>
        <p:nvSpPr>
          <p:cNvPr id="3" name="TextBox 2">
            <a:extLst>
              <a:ext uri="{FF2B5EF4-FFF2-40B4-BE49-F238E27FC236}">
                <a16:creationId xmlns:a16="http://schemas.microsoft.com/office/drawing/2014/main" id="{B3DB7F31-50C3-D0B1-25D6-5C49BD9490C4}"/>
              </a:ext>
            </a:extLst>
          </p:cNvPr>
          <p:cNvSpPr txBox="1"/>
          <p:nvPr/>
        </p:nvSpPr>
        <p:spPr>
          <a:xfrm>
            <a:off x="5739081" y="2655026"/>
            <a:ext cx="1636474" cy="369332"/>
          </a:xfrm>
          <a:prstGeom prst="rect">
            <a:avLst/>
          </a:prstGeom>
          <a:noFill/>
        </p:spPr>
        <p:txBody>
          <a:bodyPr wrap="none" rtlCol="0">
            <a:spAutoFit/>
          </a:bodyPr>
          <a:lstStyle/>
          <a:p>
            <a:r>
              <a:rPr lang="en-US" dirty="0"/>
              <a:t>AST&lt;x, int, </a:t>
            </a:r>
            <a:r>
              <a:rPr lang="en-US" dirty="0">
                <a:highlight>
                  <a:srgbClr val="00FF00"/>
                </a:highlight>
              </a:rPr>
              <a:t>vr0</a:t>
            </a:r>
            <a:r>
              <a:rPr lang="en-US" dirty="0"/>
              <a:t>&gt;</a:t>
            </a:r>
          </a:p>
        </p:txBody>
      </p:sp>
      <p:sp>
        <p:nvSpPr>
          <p:cNvPr id="5" name="TextBox 4">
            <a:extLst>
              <a:ext uri="{FF2B5EF4-FFF2-40B4-BE49-F238E27FC236}">
                <a16:creationId xmlns:a16="http://schemas.microsoft.com/office/drawing/2014/main" id="{BF91D4C5-FB00-19E2-B676-7EDF4D4718F6}"/>
              </a:ext>
            </a:extLst>
          </p:cNvPr>
          <p:cNvSpPr txBox="1"/>
          <p:nvPr/>
        </p:nvSpPr>
        <p:spPr>
          <a:xfrm>
            <a:off x="6519991" y="1843672"/>
            <a:ext cx="1599605" cy="369332"/>
          </a:xfrm>
          <a:prstGeom prst="rect">
            <a:avLst/>
          </a:prstGeom>
          <a:noFill/>
        </p:spPr>
        <p:txBody>
          <a:bodyPr wrap="none" rtlCol="0">
            <a:spAutoFit/>
          </a:bodyPr>
          <a:lstStyle/>
          <a:p>
            <a:r>
              <a:rPr lang="en-US" dirty="0">
                <a:highlight>
                  <a:srgbClr val="FFFF00"/>
                </a:highlight>
              </a:rPr>
              <a:t>AST&lt;+,int, vr2&gt;</a:t>
            </a:r>
          </a:p>
        </p:txBody>
      </p:sp>
      <p:cxnSp>
        <p:nvCxnSpPr>
          <p:cNvPr id="6" name="Straight Connector 5">
            <a:extLst>
              <a:ext uri="{FF2B5EF4-FFF2-40B4-BE49-F238E27FC236}">
                <a16:creationId xmlns:a16="http://schemas.microsoft.com/office/drawing/2014/main" id="{FB7FCC55-25CC-FC92-CF79-FAC23810F27F}"/>
              </a:ext>
            </a:extLst>
          </p:cNvPr>
          <p:cNvCxnSpPr>
            <a:cxnSpLocks/>
          </p:cNvCxnSpPr>
          <p:nvPr/>
        </p:nvCxnSpPr>
        <p:spPr>
          <a:xfrm flipH="1">
            <a:off x="5943386" y="2224860"/>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04525D58-7D64-8A69-8BB5-A2452E66FB83}"/>
              </a:ext>
            </a:extLst>
          </p:cNvPr>
          <p:cNvCxnSpPr>
            <a:cxnSpLocks/>
          </p:cNvCxnSpPr>
          <p:nvPr/>
        </p:nvCxnSpPr>
        <p:spPr>
          <a:xfrm>
            <a:off x="7167759" y="2224860"/>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F5E4149D-85B4-404F-8001-68B7985B6BCA}"/>
              </a:ext>
            </a:extLst>
          </p:cNvPr>
          <p:cNvSpPr txBox="1"/>
          <p:nvPr/>
        </p:nvSpPr>
        <p:spPr>
          <a:xfrm>
            <a:off x="8111926" y="2655026"/>
            <a:ext cx="1624804" cy="369332"/>
          </a:xfrm>
          <a:prstGeom prst="rect">
            <a:avLst/>
          </a:prstGeom>
          <a:noFill/>
        </p:spPr>
        <p:txBody>
          <a:bodyPr wrap="none" rtlCol="0">
            <a:spAutoFit/>
          </a:bodyPr>
          <a:lstStyle/>
          <a:p>
            <a:r>
              <a:rPr lang="en-US" dirty="0"/>
              <a:t>AST&lt;y, int, </a:t>
            </a:r>
            <a:r>
              <a:rPr lang="en-US" dirty="0">
                <a:highlight>
                  <a:srgbClr val="00FF00"/>
                </a:highlight>
              </a:rPr>
              <a:t>vr1</a:t>
            </a:r>
            <a:r>
              <a:rPr lang="en-US" dirty="0"/>
              <a:t>&gt;</a:t>
            </a:r>
          </a:p>
        </p:txBody>
      </p:sp>
      <p:sp>
        <p:nvSpPr>
          <p:cNvPr id="9" name="TextBox 8">
            <a:extLst>
              <a:ext uri="{FF2B5EF4-FFF2-40B4-BE49-F238E27FC236}">
                <a16:creationId xmlns:a16="http://schemas.microsoft.com/office/drawing/2014/main" id="{3E364B01-DE67-025A-9FC5-635D220D0E2A}"/>
              </a:ext>
            </a:extLst>
          </p:cNvPr>
          <p:cNvSpPr txBox="1"/>
          <p:nvPr/>
        </p:nvSpPr>
        <p:spPr>
          <a:xfrm>
            <a:off x="8449191" y="470769"/>
            <a:ext cx="1780744" cy="369332"/>
          </a:xfrm>
          <a:prstGeom prst="rect">
            <a:avLst/>
          </a:prstGeom>
          <a:noFill/>
        </p:spPr>
        <p:txBody>
          <a:bodyPr wrap="none" rtlCol="0">
            <a:spAutoFit/>
          </a:bodyPr>
          <a:lstStyle/>
          <a:p>
            <a:r>
              <a:rPr lang="en-US" dirty="0"/>
              <a:t>AST&lt;+,float, vr5&gt;</a:t>
            </a:r>
          </a:p>
        </p:txBody>
      </p:sp>
      <p:cxnSp>
        <p:nvCxnSpPr>
          <p:cNvPr id="10" name="Straight Connector 9">
            <a:extLst>
              <a:ext uri="{FF2B5EF4-FFF2-40B4-BE49-F238E27FC236}">
                <a16:creationId xmlns:a16="http://schemas.microsoft.com/office/drawing/2014/main" id="{FB0BDFD6-89D9-830E-DF82-84DBAD8CC73C}"/>
              </a:ext>
            </a:extLst>
          </p:cNvPr>
          <p:cNvCxnSpPr>
            <a:cxnSpLocks/>
            <a:stCxn id="13" idx="2"/>
            <a:endCxn id="5" idx="0"/>
          </p:cNvCxnSpPr>
          <p:nvPr/>
        </p:nvCxnSpPr>
        <p:spPr>
          <a:xfrm flipH="1">
            <a:off x="7319794" y="1384572"/>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0161A34E-B946-26AD-7C9F-D729C0082BC0}"/>
              </a:ext>
            </a:extLst>
          </p:cNvPr>
          <p:cNvCxnSpPr>
            <a:cxnSpLocks/>
            <a:stCxn id="9" idx="2"/>
            <a:endCxn id="12" idx="0"/>
          </p:cNvCxnSpPr>
          <p:nvPr/>
        </p:nvCxnSpPr>
        <p:spPr>
          <a:xfrm>
            <a:off x="9339563" y="840101"/>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E371CF50-056B-842C-DAB7-E7029D175F5E}"/>
              </a:ext>
            </a:extLst>
          </p:cNvPr>
          <p:cNvSpPr txBox="1"/>
          <p:nvPr/>
        </p:nvSpPr>
        <p:spPr>
          <a:xfrm>
            <a:off x="9681123" y="1855528"/>
            <a:ext cx="2009974" cy="369332"/>
          </a:xfrm>
          <a:prstGeom prst="rect">
            <a:avLst/>
          </a:prstGeom>
          <a:noFill/>
        </p:spPr>
        <p:txBody>
          <a:bodyPr wrap="none" rtlCol="0">
            <a:spAutoFit/>
          </a:bodyPr>
          <a:lstStyle/>
          <a:p>
            <a:r>
              <a:rPr lang="en-US" dirty="0"/>
              <a:t>AST&lt;5.5, float, vr4&gt;</a:t>
            </a:r>
          </a:p>
        </p:txBody>
      </p:sp>
      <p:sp>
        <p:nvSpPr>
          <p:cNvPr id="13" name="TextBox 12">
            <a:extLst>
              <a:ext uri="{FF2B5EF4-FFF2-40B4-BE49-F238E27FC236}">
                <a16:creationId xmlns:a16="http://schemas.microsoft.com/office/drawing/2014/main" id="{D4534094-9734-FE49-61D8-D29ABC478234}"/>
              </a:ext>
            </a:extLst>
          </p:cNvPr>
          <p:cNvSpPr txBox="1"/>
          <p:nvPr/>
        </p:nvSpPr>
        <p:spPr>
          <a:xfrm>
            <a:off x="6458590" y="1015240"/>
            <a:ext cx="2515497" cy="369332"/>
          </a:xfrm>
          <a:prstGeom prst="rect">
            <a:avLst/>
          </a:prstGeom>
          <a:noFill/>
        </p:spPr>
        <p:txBody>
          <a:bodyPr wrap="none" rtlCol="0">
            <a:spAutoFit/>
          </a:bodyPr>
          <a:lstStyle/>
          <a:p>
            <a:r>
              <a:rPr lang="en-US" dirty="0"/>
              <a:t>AST&lt;int2float, float, vr3&gt;</a:t>
            </a:r>
          </a:p>
        </p:txBody>
      </p:sp>
      <p:cxnSp>
        <p:nvCxnSpPr>
          <p:cNvPr id="14" name="Straight Connector 13">
            <a:extLst>
              <a:ext uri="{FF2B5EF4-FFF2-40B4-BE49-F238E27FC236}">
                <a16:creationId xmlns:a16="http://schemas.microsoft.com/office/drawing/2014/main" id="{E89DF2D7-5386-FE89-C61C-2298B65B1ECE}"/>
              </a:ext>
            </a:extLst>
          </p:cNvPr>
          <p:cNvCxnSpPr>
            <a:cxnSpLocks/>
            <a:stCxn id="9" idx="2"/>
            <a:endCxn id="13" idx="0"/>
          </p:cNvCxnSpPr>
          <p:nvPr/>
        </p:nvCxnSpPr>
        <p:spPr>
          <a:xfrm flipH="1">
            <a:off x="7716339" y="840101"/>
            <a:ext cx="1623224" cy="175139"/>
          </a:xfrm>
          <a:prstGeom prst="line">
            <a:avLst/>
          </a:prstGeom>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F2430E20-DC6B-5970-1DBD-8F37D7CEB45A}"/>
              </a:ext>
            </a:extLst>
          </p:cNvPr>
          <p:cNvSpPr txBox="1"/>
          <p:nvPr/>
        </p:nvSpPr>
        <p:spPr>
          <a:xfrm>
            <a:off x="874035" y="2325874"/>
            <a:ext cx="4647071" cy="369332"/>
          </a:xfrm>
          <a:prstGeom prst="rect">
            <a:avLst/>
          </a:prstGeom>
          <a:noFill/>
        </p:spPr>
        <p:txBody>
          <a:bodyPr wrap="square" rtlCol="0">
            <a:spAutoFit/>
          </a:bodyPr>
          <a:lstStyle/>
          <a:p>
            <a:r>
              <a:rPr lang="en-US" dirty="0"/>
              <a:t># </a:t>
            </a:r>
            <a:r>
              <a:rPr lang="en-US" b="1" dirty="0"/>
              <a:t>returns the linearized code for this node</a:t>
            </a:r>
          </a:p>
        </p:txBody>
      </p:sp>
      <p:sp>
        <p:nvSpPr>
          <p:cNvPr id="2" name="Rectangle 1">
            <a:extLst>
              <a:ext uri="{FF2B5EF4-FFF2-40B4-BE49-F238E27FC236}">
                <a16:creationId xmlns:a16="http://schemas.microsoft.com/office/drawing/2014/main" id="{E3C67EF4-753D-E553-1985-8327908FF36F}"/>
              </a:ext>
            </a:extLst>
          </p:cNvPr>
          <p:cNvSpPr/>
          <p:nvPr/>
        </p:nvSpPr>
        <p:spPr>
          <a:xfrm>
            <a:off x="1116646" y="4384438"/>
            <a:ext cx="5970494" cy="646331"/>
          </a:xfrm>
          <a:prstGeom prst="rect">
            <a:avLst/>
          </a:prstGeom>
        </p:spPr>
        <p:txBody>
          <a:bodyPr wrap="square">
            <a:spAutoFit/>
          </a:bodyPr>
          <a:lstStyle/>
          <a:p>
            <a:r>
              <a:rPr lang="en-US" b="1" dirty="0">
                <a:solidFill>
                  <a:srgbClr val="2EAEBB"/>
                </a:solidFill>
                <a:latin typeface="Menlo" panose="020B0609030804020204" pitchFamily="49" charset="0"/>
              </a:rPr>
              <a:t>return</a:t>
            </a:r>
            <a:r>
              <a:rPr lang="en-US" dirty="0">
                <a:solidFill>
                  <a:srgbClr val="000000"/>
                </a:solidFill>
                <a:latin typeface="Menlo" panose="020B0609030804020204" pitchFamily="49" charset="0"/>
              </a:rPr>
              <a:t> </a:t>
            </a:r>
            <a:r>
              <a:rPr lang="en-US" dirty="0">
                <a:solidFill>
                  <a:srgbClr val="2FB41D"/>
                </a:solidFill>
                <a:latin typeface="Menlo" panose="020B0609030804020204" pitchFamily="49" charset="0"/>
              </a:rPr>
              <a:t>"%s = %s(%</a:t>
            </a:r>
            <a:r>
              <a:rPr lang="en-US" dirty="0" err="1">
                <a:solidFill>
                  <a:srgbClr val="2FB41D"/>
                </a:solidFill>
                <a:latin typeface="Menlo" panose="020B0609030804020204" pitchFamily="49" charset="0"/>
              </a:rPr>
              <a:t>s,%s</a:t>
            </a:r>
            <a:r>
              <a:rPr lang="en-US" dirty="0">
                <a:solidFill>
                  <a:srgbClr val="2FB41D"/>
                </a:solidFill>
                <a:latin typeface="Menlo" panose="020B0609030804020204" pitchFamily="49" charset="0"/>
              </a:rPr>
              <a:t>);"</a:t>
            </a:r>
            <a:r>
              <a:rPr lang="en-US" dirty="0">
                <a:solidFill>
                  <a:srgbClr val="000000"/>
                </a:solidFill>
                <a:latin typeface="Menlo" panose="020B0609030804020204" pitchFamily="49" charset="0"/>
              </a:rPr>
              <a:t> % </a:t>
            </a:r>
            <a:br>
              <a:rPr lang="en-US" dirty="0">
                <a:solidFill>
                  <a:srgbClr val="000000"/>
                </a:solidFill>
                <a:latin typeface="Menlo" panose="020B0609030804020204" pitchFamily="49" charset="0"/>
              </a:rPr>
            </a:br>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.vr</a:t>
            </a:r>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.get_op</a:t>
            </a:r>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.l_child.vr</a:t>
            </a:r>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.r_child.vr</a:t>
            </a:r>
            <a:r>
              <a:rPr lang="en-US" dirty="0">
                <a:solidFill>
                  <a:srgbClr val="000000"/>
                </a:solidFill>
                <a:latin typeface="Menlo" panose="020B0609030804020204" pitchFamily="49" charset="0"/>
              </a:rPr>
              <a:t>)</a:t>
            </a:r>
            <a:endParaRPr lang="en-US" dirty="0">
              <a:solidFill>
                <a:srgbClr val="000000"/>
              </a:solidFill>
              <a:effectLst/>
              <a:latin typeface="Menlo" panose="020B0609030804020204" pitchFamily="49" charset="0"/>
            </a:endParaRPr>
          </a:p>
        </p:txBody>
      </p:sp>
      <p:cxnSp>
        <p:nvCxnSpPr>
          <p:cNvPr id="15" name="Straight Connector 14">
            <a:extLst>
              <a:ext uri="{FF2B5EF4-FFF2-40B4-BE49-F238E27FC236}">
                <a16:creationId xmlns:a16="http://schemas.microsoft.com/office/drawing/2014/main" id="{FE054ADB-3B3C-E8D3-80CF-96B34D1D3A12}"/>
              </a:ext>
            </a:extLst>
          </p:cNvPr>
          <p:cNvCxnSpPr>
            <a:cxnSpLocks/>
          </p:cNvCxnSpPr>
          <p:nvPr/>
        </p:nvCxnSpPr>
        <p:spPr>
          <a:xfrm flipH="1" flipV="1">
            <a:off x="6434028" y="5034309"/>
            <a:ext cx="69286" cy="305594"/>
          </a:xfrm>
          <a:prstGeom prst="line">
            <a:avLst/>
          </a:prstGeom>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9F8100FC-3425-030F-544C-F968E1BFC571}"/>
              </a:ext>
            </a:extLst>
          </p:cNvPr>
          <p:cNvSpPr txBox="1"/>
          <p:nvPr/>
        </p:nvSpPr>
        <p:spPr>
          <a:xfrm>
            <a:off x="6326260" y="5331111"/>
            <a:ext cx="632012" cy="369332"/>
          </a:xfrm>
          <a:prstGeom prst="rect">
            <a:avLst/>
          </a:prstGeom>
          <a:noFill/>
        </p:spPr>
        <p:txBody>
          <a:bodyPr wrap="square" rtlCol="0">
            <a:spAutoFit/>
          </a:bodyPr>
          <a:lstStyle/>
          <a:p>
            <a:r>
              <a:rPr lang="en-US" dirty="0">
                <a:highlight>
                  <a:srgbClr val="00FF00"/>
                </a:highlight>
              </a:rPr>
              <a:t>vr1</a:t>
            </a:r>
          </a:p>
        </p:txBody>
      </p:sp>
      <p:sp>
        <p:nvSpPr>
          <p:cNvPr id="17" name="TextBox 16">
            <a:extLst>
              <a:ext uri="{FF2B5EF4-FFF2-40B4-BE49-F238E27FC236}">
                <a16:creationId xmlns:a16="http://schemas.microsoft.com/office/drawing/2014/main" id="{CCA4EB82-5B96-FFA4-482B-88318DFCCDEB}"/>
              </a:ext>
            </a:extLst>
          </p:cNvPr>
          <p:cNvSpPr txBox="1"/>
          <p:nvPr/>
        </p:nvSpPr>
        <p:spPr>
          <a:xfrm>
            <a:off x="5013956" y="5327571"/>
            <a:ext cx="632012" cy="369332"/>
          </a:xfrm>
          <a:prstGeom prst="rect">
            <a:avLst/>
          </a:prstGeom>
          <a:noFill/>
        </p:spPr>
        <p:txBody>
          <a:bodyPr wrap="square" rtlCol="0">
            <a:spAutoFit/>
          </a:bodyPr>
          <a:lstStyle/>
          <a:p>
            <a:r>
              <a:rPr lang="en-US" dirty="0">
                <a:highlight>
                  <a:srgbClr val="00FF00"/>
                </a:highlight>
              </a:rPr>
              <a:t>vr0</a:t>
            </a:r>
          </a:p>
        </p:txBody>
      </p:sp>
      <p:cxnSp>
        <p:nvCxnSpPr>
          <p:cNvPr id="18" name="Straight Connector 17">
            <a:extLst>
              <a:ext uri="{FF2B5EF4-FFF2-40B4-BE49-F238E27FC236}">
                <a16:creationId xmlns:a16="http://schemas.microsoft.com/office/drawing/2014/main" id="{3A4DFAEB-B0A7-4882-4B6D-A197F9CB7371}"/>
              </a:ext>
            </a:extLst>
          </p:cNvPr>
          <p:cNvCxnSpPr>
            <a:cxnSpLocks/>
          </p:cNvCxnSpPr>
          <p:nvPr/>
        </p:nvCxnSpPr>
        <p:spPr>
          <a:xfrm flipH="1" flipV="1">
            <a:off x="5085284" y="5062318"/>
            <a:ext cx="69286" cy="305594"/>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F9E7C9A9-A376-BB86-B858-3F83834D7BCE}"/>
              </a:ext>
            </a:extLst>
          </p:cNvPr>
          <p:cNvCxnSpPr>
            <a:cxnSpLocks/>
          </p:cNvCxnSpPr>
          <p:nvPr/>
        </p:nvCxnSpPr>
        <p:spPr>
          <a:xfrm flipH="1" flipV="1">
            <a:off x="2197473" y="2722362"/>
            <a:ext cx="343385" cy="1588232"/>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197808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D90CC-8B42-79D9-A4AA-2505DC81181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7F5EECA-9F94-16E2-2F63-8C035E189EED}"/>
              </a:ext>
            </a:extLst>
          </p:cNvPr>
          <p:cNvSpPr/>
          <p:nvPr/>
        </p:nvSpPr>
        <p:spPr>
          <a:xfrm>
            <a:off x="391758" y="348899"/>
            <a:ext cx="5129348" cy="2031325"/>
          </a:xfrm>
          <a:prstGeom prst="rect">
            <a:avLst/>
          </a:prstGeom>
        </p:spPr>
        <p:txBody>
          <a:bodyPr wrap="square">
            <a:spAutoFit/>
          </a:bodyPr>
          <a:lstStyle/>
          <a:p>
            <a:r>
              <a:rPr lang="en-US" b="1" dirty="0">
                <a:solidFill>
                  <a:srgbClr val="2EAEBB"/>
                </a:solidFill>
                <a:latin typeface="Menlo" panose="020B0609030804020204" pitchFamily="49" charset="0"/>
              </a:rPr>
              <a:t>class</a:t>
            </a:r>
            <a:r>
              <a:rPr lang="en-US" dirty="0">
                <a:solidFill>
                  <a:srgbClr val="000000"/>
                </a:solidFill>
                <a:latin typeface="Menlo" panose="020B0609030804020204" pitchFamily="49" charset="0"/>
              </a:rPr>
              <a:t> </a:t>
            </a:r>
            <a:r>
              <a:rPr lang="en-US" dirty="0" err="1">
                <a:solidFill>
                  <a:srgbClr val="2FB41D"/>
                </a:solidFill>
                <a:latin typeface="Menlo" panose="020B0609030804020204" pitchFamily="49" charset="0"/>
              </a:rPr>
              <a:t>ASTPlusNode</a:t>
            </a:r>
            <a:r>
              <a:rPr lang="en-US" dirty="0">
                <a:solidFill>
                  <a:srgbClr val="000000"/>
                </a:solidFill>
                <a:latin typeface="Menlo" panose="020B0609030804020204" pitchFamily="49" charset="0"/>
              </a:rPr>
              <a:t>(</a:t>
            </a:r>
            <a:r>
              <a:rPr lang="en-US" dirty="0" err="1">
                <a:solidFill>
                  <a:srgbClr val="000000"/>
                </a:solidFill>
                <a:latin typeface="Menlo" panose="020B0609030804020204" pitchFamily="49" charset="0"/>
              </a:rPr>
              <a:t>ASTBinOpNode</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def</a:t>
            </a:r>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__</a:t>
            </a:r>
            <a:r>
              <a:rPr lang="en-US" b="1" dirty="0" err="1">
                <a:solidFill>
                  <a:srgbClr val="400BD9"/>
                </a:solidFill>
                <a:latin typeface="Menlo" panose="020B0609030804020204" pitchFamily="49" charset="0"/>
              </a:rPr>
              <a:t>init</a:t>
            </a:r>
            <a:r>
              <a:rPr lang="en-US" b="1" dirty="0">
                <a:solidFill>
                  <a:srgbClr val="400BD9"/>
                </a:solidFill>
                <a:latin typeface="Menlo" panose="020B0609030804020204" pitchFamily="49" charset="0"/>
              </a:rPr>
              <a:t>__</a:t>
            </a:r>
            <a:r>
              <a:rPr lang="en-US" dirty="0">
                <a:solidFill>
                  <a:srgbClr val="000000"/>
                </a:solidFill>
                <a:latin typeface="Menlo" panose="020B0609030804020204" pitchFamily="49" charset="0"/>
              </a:rPr>
              <a:t>(</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l_child</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r_child</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super</a:t>
            </a:r>
            <a:r>
              <a:rPr lang="en-US" dirty="0">
                <a:solidFill>
                  <a:srgbClr val="000000"/>
                </a:solidFill>
                <a:latin typeface="Menlo" panose="020B0609030804020204" pitchFamily="49" charset="0"/>
              </a:rPr>
              <a:t>().__</a:t>
            </a:r>
            <a:r>
              <a:rPr lang="en-US" dirty="0" err="1">
                <a:solidFill>
                  <a:srgbClr val="000000"/>
                </a:solidFill>
                <a:latin typeface="Menlo" panose="020B0609030804020204" pitchFamily="49" charset="0"/>
              </a:rPr>
              <a:t>init</a:t>
            </a:r>
            <a:r>
              <a:rPr lang="en-US" dirty="0">
                <a:solidFill>
                  <a:srgbClr val="000000"/>
                </a:solidFill>
                <a:latin typeface="Menlo" panose="020B0609030804020204" pitchFamily="49" charset="0"/>
              </a:rPr>
              <a:t>__(</a:t>
            </a:r>
            <a:r>
              <a:rPr lang="en-US" dirty="0" err="1">
                <a:solidFill>
                  <a:srgbClr val="000000"/>
                </a:solidFill>
                <a:latin typeface="Menlo" panose="020B0609030804020204" pitchFamily="49" charset="0"/>
              </a:rPr>
              <a:t>l_child,r_child</a:t>
            </a:r>
            <a:r>
              <a:rPr lang="en-US" dirty="0">
                <a:solidFill>
                  <a:srgbClr val="000000"/>
                </a:solidFill>
                <a:latin typeface="Menlo" panose="020B0609030804020204" pitchFamily="49" charset="0"/>
              </a:rPr>
              <a:t>)</a:t>
            </a:r>
          </a:p>
          <a:p>
            <a:br>
              <a:rPr lang="en-US" dirty="0">
                <a:solidFill>
                  <a:srgbClr val="000000"/>
                </a:solidFill>
                <a:latin typeface="Menlo" panose="020B0609030804020204" pitchFamily="49" charset="0"/>
              </a:rPr>
            </a:br>
            <a:r>
              <a:rPr lang="en-US" dirty="0">
                <a:solidFill>
                  <a:srgbClr val="000000"/>
                </a:solidFill>
                <a:latin typeface="Menlo" panose="020B0609030804020204" pitchFamily="49" charset="0"/>
              </a:rPr>
              <a:t>    </a:t>
            </a:r>
            <a:r>
              <a:rPr lang="en-US" dirty="0">
                <a:solidFill>
                  <a:srgbClr val="B42419"/>
                </a:solidFill>
                <a:latin typeface="Menlo" panose="020B0609030804020204" pitchFamily="49" charset="0"/>
              </a:rPr>
              <a:t># return a string of the three address instruction</a:t>
            </a:r>
          </a:p>
          <a:p>
            <a:r>
              <a:rPr lang="en-US" dirty="0">
                <a:solidFill>
                  <a:srgbClr val="B42419"/>
                </a:solidFill>
                <a:latin typeface="Menlo" panose="020B0609030804020204" pitchFamily="49" charset="0"/>
              </a:rPr>
              <a:t>    # that this node encodes</a:t>
            </a:r>
            <a:endParaRPr lang="en-US" dirty="0">
              <a:solidFill>
                <a:srgbClr val="000000"/>
              </a:solidFill>
              <a:latin typeface="Menlo" panose="020B0609030804020204" pitchFamily="49" charset="0"/>
            </a:endParaRP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def</a:t>
            </a:r>
            <a:r>
              <a:rPr lang="en-US" dirty="0">
                <a:solidFill>
                  <a:srgbClr val="000000"/>
                </a:solidFill>
                <a:latin typeface="Menlo" panose="020B0609030804020204" pitchFamily="49" charset="0"/>
              </a:rPr>
              <a:t> </a:t>
            </a:r>
            <a:r>
              <a:rPr lang="en-US" b="1" dirty="0" err="1">
                <a:solidFill>
                  <a:srgbClr val="400BD9"/>
                </a:solidFill>
                <a:latin typeface="Menlo" panose="020B0609030804020204" pitchFamily="49" charset="0"/>
              </a:rPr>
              <a:t>three_addr_code</a:t>
            </a:r>
            <a:r>
              <a:rPr lang="en-US" dirty="0">
                <a:solidFill>
                  <a:srgbClr val="000000"/>
                </a:solidFill>
                <a:latin typeface="Menlo" panose="020B0609030804020204" pitchFamily="49" charset="0"/>
              </a:rPr>
              <a:t>(</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a:t>
            </a:r>
            <a:endParaRPr lang="en-US" dirty="0">
              <a:solidFill>
                <a:srgbClr val="400BD9"/>
              </a:solidFill>
              <a:effectLst/>
              <a:latin typeface="Menlo" panose="020B0609030804020204" pitchFamily="49" charset="0"/>
            </a:endParaRPr>
          </a:p>
        </p:txBody>
      </p:sp>
      <p:sp>
        <p:nvSpPr>
          <p:cNvPr id="3" name="TextBox 2">
            <a:extLst>
              <a:ext uri="{FF2B5EF4-FFF2-40B4-BE49-F238E27FC236}">
                <a16:creationId xmlns:a16="http://schemas.microsoft.com/office/drawing/2014/main" id="{8D21EBF4-56C6-1EBF-DEFE-F1FE7EE758DB}"/>
              </a:ext>
            </a:extLst>
          </p:cNvPr>
          <p:cNvSpPr txBox="1"/>
          <p:nvPr/>
        </p:nvSpPr>
        <p:spPr>
          <a:xfrm>
            <a:off x="5739081" y="2655026"/>
            <a:ext cx="1636474" cy="369332"/>
          </a:xfrm>
          <a:prstGeom prst="rect">
            <a:avLst/>
          </a:prstGeom>
          <a:noFill/>
        </p:spPr>
        <p:txBody>
          <a:bodyPr wrap="none" rtlCol="0">
            <a:spAutoFit/>
          </a:bodyPr>
          <a:lstStyle/>
          <a:p>
            <a:r>
              <a:rPr lang="en-US" dirty="0"/>
              <a:t>AST&lt;x, int, vr0&gt;</a:t>
            </a:r>
          </a:p>
        </p:txBody>
      </p:sp>
      <p:sp>
        <p:nvSpPr>
          <p:cNvPr id="5" name="TextBox 4">
            <a:extLst>
              <a:ext uri="{FF2B5EF4-FFF2-40B4-BE49-F238E27FC236}">
                <a16:creationId xmlns:a16="http://schemas.microsoft.com/office/drawing/2014/main" id="{FFDE7598-165F-5CCC-FFD4-D7D3AD9158AD}"/>
              </a:ext>
            </a:extLst>
          </p:cNvPr>
          <p:cNvSpPr txBox="1"/>
          <p:nvPr/>
        </p:nvSpPr>
        <p:spPr>
          <a:xfrm>
            <a:off x="6519991" y="1843672"/>
            <a:ext cx="1599605" cy="369332"/>
          </a:xfrm>
          <a:prstGeom prst="rect">
            <a:avLst/>
          </a:prstGeom>
          <a:noFill/>
        </p:spPr>
        <p:txBody>
          <a:bodyPr wrap="none" rtlCol="0">
            <a:spAutoFit/>
          </a:bodyPr>
          <a:lstStyle/>
          <a:p>
            <a:r>
              <a:rPr lang="en-US" dirty="0">
                <a:highlight>
                  <a:srgbClr val="FFFF00"/>
                </a:highlight>
              </a:rPr>
              <a:t>AST&lt;+,int, vr2&gt;</a:t>
            </a:r>
          </a:p>
        </p:txBody>
      </p:sp>
      <p:cxnSp>
        <p:nvCxnSpPr>
          <p:cNvPr id="6" name="Straight Connector 5">
            <a:extLst>
              <a:ext uri="{FF2B5EF4-FFF2-40B4-BE49-F238E27FC236}">
                <a16:creationId xmlns:a16="http://schemas.microsoft.com/office/drawing/2014/main" id="{E8617B97-1AEE-4A1F-D0E4-F16E7AA935EF}"/>
              </a:ext>
            </a:extLst>
          </p:cNvPr>
          <p:cNvCxnSpPr>
            <a:cxnSpLocks/>
          </p:cNvCxnSpPr>
          <p:nvPr/>
        </p:nvCxnSpPr>
        <p:spPr>
          <a:xfrm flipH="1">
            <a:off x="5943386" y="2224860"/>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F91A6B2-D5ED-21BF-52A5-CE1200C53C67}"/>
              </a:ext>
            </a:extLst>
          </p:cNvPr>
          <p:cNvCxnSpPr>
            <a:cxnSpLocks/>
          </p:cNvCxnSpPr>
          <p:nvPr/>
        </p:nvCxnSpPr>
        <p:spPr>
          <a:xfrm>
            <a:off x="7167759" y="2224860"/>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CE2EBBB1-5E9C-C88B-8E8A-D428FA0B637A}"/>
              </a:ext>
            </a:extLst>
          </p:cNvPr>
          <p:cNvSpPr txBox="1"/>
          <p:nvPr/>
        </p:nvSpPr>
        <p:spPr>
          <a:xfrm>
            <a:off x="8111926" y="2655026"/>
            <a:ext cx="1624804" cy="369332"/>
          </a:xfrm>
          <a:prstGeom prst="rect">
            <a:avLst/>
          </a:prstGeom>
          <a:noFill/>
        </p:spPr>
        <p:txBody>
          <a:bodyPr wrap="none" rtlCol="0">
            <a:spAutoFit/>
          </a:bodyPr>
          <a:lstStyle/>
          <a:p>
            <a:r>
              <a:rPr lang="en-US" dirty="0"/>
              <a:t>AST&lt;y, int, vr1&gt;</a:t>
            </a:r>
          </a:p>
        </p:txBody>
      </p:sp>
      <p:sp>
        <p:nvSpPr>
          <p:cNvPr id="9" name="TextBox 8">
            <a:extLst>
              <a:ext uri="{FF2B5EF4-FFF2-40B4-BE49-F238E27FC236}">
                <a16:creationId xmlns:a16="http://schemas.microsoft.com/office/drawing/2014/main" id="{7D22A446-C689-F99C-CA8E-8C003B2C4885}"/>
              </a:ext>
            </a:extLst>
          </p:cNvPr>
          <p:cNvSpPr txBox="1"/>
          <p:nvPr/>
        </p:nvSpPr>
        <p:spPr>
          <a:xfrm>
            <a:off x="8449191" y="470769"/>
            <a:ext cx="1780744" cy="369332"/>
          </a:xfrm>
          <a:prstGeom prst="rect">
            <a:avLst/>
          </a:prstGeom>
          <a:noFill/>
        </p:spPr>
        <p:txBody>
          <a:bodyPr wrap="none" rtlCol="0">
            <a:spAutoFit/>
          </a:bodyPr>
          <a:lstStyle/>
          <a:p>
            <a:r>
              <a:rPr lang="en-US" dirty="0"/>
              <a:t>AST&lt;+,float, vr5&gt;</a:t>
            </a:r>
          </a:p>
        </p:txBody>
      </p:sp>
      <p:cxnSp>
        <p:nvCxnSpPr>
          <p:cNvPr id="10" name="Straight Connector 9">
            <a:extLst>
              <a:ext uri="{FF2B5EF4-FFF2-40B4-BE49-F238E27FC236}">
                <a16:creationId xmlns:a16="http://schemas.microsoft.com/office/drawing/2014/main" id="{6F624BDB-9B97-72A4-7CF2-761EACDBF639}"/>
              </a:ext>
            </a:extLst>
          </p:cNvPr>
          <p:cNvCxnSpPr>
            <a:cxnSpLocks/>
            <a:stCxn id="13" idx="2"/>
            <a:endCxn id="5" idx="0"/>
          </p:cNvCxnSpPr>
          <p:nvPr/>
        </p:nvCxnSpPr>
        <p:spPr>
          <a:xfrm flipH="1">
            <a:off x="7319794" y="1384572"/>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7E9CE5B5-037E-0D7F-494E-2741AC2A73D8}"/>
              </a:ext>
            </a:extLst>
          </p:cNvPr>
          <p:cNvCxnSpPr>
            <a:cxnSpLocks/>
            <a:stCxn id="9" idx="2"/>
            <a:endCxn id="12" idx="0"/>
          </p:cNvCxnSpPr>
          <p:nvPr/>
        </p:nvCxnSpPr>
        <p:spPr>
          <a:xfrm>
            <a:off x="9339563" y="840101"/>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2A4E6869-C53C-A462-1535-684BB1B14BB2}"/>
              </a:ext>
            </a:extLst>
          </p:cNvPr>
          <p:cNvSpPr txBox="1"/>
          <p:nvPr/>
        </p:nvSpPr>
        <p:spPr>
          <a:xfrm>
            <a:off x="9681123" y="1855528"/>
            <a:ext cx="2009974" cy="369332"/>
          </a:xfrm>
          <a:prstGeom prst="rect">
            <a:avLst/>
          </a:prstGeom>
          <a:noFill/>
        </p:spPr>
        <p:txBody>
          <a:bodyPr wrap="none" rtlCol="0">
            <a:spAutoFit/>
          </a:bodyPr>
          <a:lstStyle/>
          <a:p>
            <a:r>
              <a:rPr lang="en-US" dirty="0"/>
              <a:t>AST&lt;5.5, float, vr4&gt;</a:t>
            </a:r>
          </a:p>
        </p:txBody>
      </p:sp>
      <p:sp>
        <p:nvSpPr>
          <p:cNvPr id="13" name="TextBox 12">
            <a:extLst>
              <a:ext uri="{FF2B5EF4-FFF2-40B4-BE49-F238E27FC236}">
                <a16:creationId xmlns:a16="http://schemas.microsoft.com/office/drawing/2014/main" id="{485B07E3-7437-CC83-D829-DF3C45BBAB0D}"/>
              </a:ext>
            </a:extLst>
          </p:cNvPr>
          <p:cNvSpPr txBox="1"/>
          <p:nvPr/>
        </p:nvSpPr>
        <p:spPr>
          <a:xfrm>
            <a:off x="6458590" y="1015240"/>
            <a:ext cx="2515497" cy="369332"/>
          </a:xfrm>
          <a:prstGeom prst="rect">
            <a:avLst/>
          </a:prstGeom>
          <a:noFill/>
        </p:spPr>
        <p:txBody>
          <a:bodyPr wrap="none" rtlCol="0">
            <a:spAutoFit/>
          </a:bodyPr>
          <a:lstStyle/>
          <a:p>
            <a:r>
              <a:rPr lang="en-US" dirty="0"/>
              <a:t>AST&lt;int2float, float, vr3&gt;</a:t>
            </a:r>
          </a:p>
        </p:txBody>
      </p:sp>
      <p:cxnSp>
        <p:nvCxnSpPr>
          <p:cNvPr id="14" name="Straight Connector 13">
            <a:extLst>
              <a:ext uri="{FF2B5EF4-FFF2-40B4-BE49-F238E27FC236}">
                <a16:creationId xmlns:a16="http://schemas.microsoft.com/office/drawing/2014/main" id="{B9546598-8225-0A07-D16A-F26EE60147B8}"/>
              </a:ext>
            </a:extLst>
          </p:cNvPr>
          <p:cNvCxnSpPr>
            <a:cxnSpLocks/>
            <a:stCxn id="9" idx="2"/>
            <a:endCxn id="13" idx="0"/>
          </p:cNvCxnSpPr>
          <p:nvPr/>
        </p:nvCxnSpPr>
        <p:spPr>
          <a:xfrm flipH="1">
            <a:off x="7716339" y="840101"/>
            <a:ext cx="1623224" cy="175139"/>
          </a:xfrm>
          <a:prstGeom prst="line">
            <a:avLst/>
          </a:prstGeom>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26A5F635-4B61-BFD3-0EF7-2742084453AE}"/>
              </a:ext>
            </a:extLst>
          </p:cNvPr>
          <p:cNvSpPr txBox="1"/>
          <p:nvPr/>
        </p:nvSpPr>
        <p:spPr>
          <a:xfrm>
            <a:off x="874035" y="2325874"/>
            <a:ext cx="4647071" cy="369332"/>
          </a:xfrm>
          <a:prstGeom prst="rect">
            <a:avLst/>
          </a:prstGeom>
          <a:noFill/>
        </p:spPr>
        <p:txBody>
          <a:bodyPr wrap="square" rtlCol="0">
            <a:spAutoFit/>
          </a:bodyPr>
          <a:lstStyle/>
          <a:p>
            <a:r>
              <a:rPr lang="en-US" dirty="0"/>
              <a:t># returns the linearized code for this node</a:t>
            </a:r>
          </a:p>
        </p:txBody>
      </p:sp>
      <p:sp>
        <p:nvSpPr>
          <p:cNvPr id="2" name="Rectangle 1">
            <a:extLst>
              <a:ext uri="{FF2B5EF4-FFF2-40B4-BE49-F238E27FC236}">
                <a16:creationId xmlns:a16="http://schemas.microsoft.com/office/drawing/2014/main" id="{05F59F15-FE4D-7B52-B46D-607705DC5C09}"/>
              </a:ext>
            </a:extLst>
          </p:cNvPr>
          <p:cNvSpPr/>
          <p:nvPr/>
        </p:nvSpPr>
        <p:spPr>
          <a:xfrm>
            <a:off x="1116646" y="4384438"/>
            <a:ext cx="5970494" cy="646331"/>
          </a:xfrm>
          <a:prstGeom prst="rect">
            <a:avLst/>
          </a:prstGeom>
        </p:spPr>
        <p:txBody>
          <a:bodyPr wrap="square">
            <a:spAutoFit/>
          </a:bodyPr>
          <a:lstStyle/>
          <a:p>
            <a:r>
              <a:rPr lang="en-US" b="1" dirty="0">
                <a:solidFill>
                  <a:srgbClr val="2EAEBB"/>
                </a:solidFill>
                <a:latin typeface="Menlo" panose="020B0609030804020204" pitchFamily="49" charset="0"/>
              </a:rPr>
              <a:t>return</a:t>
            </a:r>
            <a:r>
              <a:rPr lang="en-US" dirty="0">
                <a:solidFill>
                  <a:srgbClr val="000000"/>
                </a:solidFill>
                <a:latin typeface="Menlo" panose="020B0609030804020204" pitchFamily="49" charset="0"/>
              </a:rPr>
              <a:t> </a:t>
            </a:r>
            <a:r>
              <a:rPr lang="en-US" dirty="0">
                <a:solidFill>
                  <a:srgbClr val="2FB41D"/>
                </a:solidFill>
                <a:latin typeface="Menlo" panose="020B0609030804020204" pitchFamily="49" charset="0"/>
              </a:rPr>
              <a:t>"%s = %s(%</a:t>
            </a:r>
            <a:r>
              <a:rPr lang="en-US" dirty="0" err="1">
                <a:solidFill>
                  <a:srgbClr val="2FB41D"/>
                </a:solidFill>
                <a:latin typeface="Menlo" panose="020B0609030804020204" pitchFamily="49" charset="0"/>
              </a:rPr>
              <a:t>s,%s</a:t>
            </a:r>
            <a:r>
              <a:rPr lang="en-US" dirty="0">
                <a:solidFill>
                  <a:srgbClr val="2FB41D"/>
                </a:solidFill>
                <a:latin typeface="Menlo" panose="020B0609030804020204" pitchFamily="49" charset="0"/>
              </a:rPr>
              <a:t>);"</a:t>
            </a:r>
            <a:r>
              <a:rPr lang="en-US" dirty="0">
                <a:solidFill>
                  <a:srgbClr val="000000"/>
                </a:solidFill>
                <a:latin typeface="Menlo" panose="020B0609030804020204" pitchFamily="49" charset="0"/>
              </a:rPr>
              <a:t> % </a:t>
            </a:r>
            <a:br>
              <a:rPr lang="en-US" dirty="0">
                <a:solidFill>
                  <a:srgbClr val="000000"/>
                </a:solidFill>
                <a:latin typeface="Menlo" panose="020B0609030804020204" pitchFamily="49" charset="0"/>
              </a:rPr>
            </a:br>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.vr</a:t>
            </a:r>
            <a:r>
              <a:rPr lang="en-US" dirty="0">
                <a:solidFill>
                  <a:srgbClr val="000000"/>
                </a:solidFill>
                <a:latin typeface="Menlo" panose="020B0609030804020204" pitchFamily="49" charset="0"/>
              </a:rPr>
              <a:t>, </a:t>
            </a:r>
            <a:r>
              <a:rPr lang="en-US" b="1" dirty="0" err="1">
                <a:solidFill>
                  <a:srgbClr val="2EAEBB"/>
                </a:solidFill>
                <a:highlight>
                  <a:srgbClr val="FFFF00"/>
                </a:highlight>
                <a:latin typeface="Menlo" panose="020B0609030804020204" pitchFamily="49" charset="0"/>
              </a:rPr>
              <a:t>self</a:t>
            </a:r>
            <a:r>
              <a:rPr lang="en-US" dirty="0" err="1">
                <a:solidFill>
                  <a:srgbClr val="000000"/>
                </a:solidFill>
                <a:highlight>
                  <a:srgbClr val="FFFF00"/>
                </a:highlight>
                <a:latin typeface="Menlo" panose="020B0609030804020204" pitchFamily="49" charset="0"/>
              </a:rPr>
              <a:t>.get_op</a:t>
            </a:r>
            <a:r>
              <a:rPr lang="en-US" dirty="0">
                <a:solidFill>
                  <a:srgbClr val="000000"/>
                </a:solidFill>
                <a:highlight>
                  <a:srgbClr val="FFFF00"/>
                </a:highlight>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.l_child.vr</a:t>
            </a:r>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.r_child.vr</a:t>
            </a:r>
            <a:r>
              <a:rPr lang="en-US" dirty="0">
                <a:solidFill>
                  <a:srgbClr val="000000"/>
                </a:solidFill>
                <a:latin typeface="Menlo" panose="020B0609030804020204" pitchFamily="49" charset="0"/>
              </a:rPr>
              <a:t>)</a:t>
            </a:r>
            <a:endParaRPr lang="en-US" dirty="0">
              <a:solidFill>
                <a:srgbClr val="000000"/>
              </a:solidFill>
              <a:effectLst/>
              <a:latin typeface="Menlo" panose="020B0609030804020204" pitchFamily="49" charset="0"/>
            </a:endParaRPr>
          </a:p>
        </p:txBody>
      </p:sp>
      <p:cxnSp>
        <p:nvCxnSpPr>
          <p:cNvPr id="18" name="Straight Connector 17">
            <a:extLst>
              <a:ext uri="{FF2B5EF4-FFF2-40B4-BE49-F238E27FC236}">
                <a16:creationId xmlns:a16="http://schemas.microsoft.com/office/drawing/2014/main" id="{EF19FAE7-0A51-D5F9-A64D-6114B81900B5}"/>
              </a:ext>
            </a:extLst>
          </p:cNvPr>
          <p:cNvCxnSpPr>
            <a:cxnSpLocks/>
          </p:cNvCxnSpPr>
          <p:nvPr/>
        </p:nvCxnSpPr>
        <p:spPr>
          <a:xfrm flipH="1" flipV="1">
            <a:off x="3552320" y="5030769"/>
            <a:ext cx="69286" cy="305594"/>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28893DF-356E-D6B0-26A4-F3A4866B9D65}"/>
              </a:ext>
            </a:extLst>
          </p:cNvPr>
          <p:cNvCxnSpPr>
            <a:cxnSpLocks/>
          </p:cNvCxnSpPr>
          <p:nvPr/>
        </p:nvCxnSpPr>
        <p:spPr>
          <a:xfrm flipH="1" flipV="1">
            <a:off x="2197473" y="2722362"/>
            <a:ext cx="343385" cy="1588232"/>
          </a:xfrm>
          <a:prstGeom prst="line">
            <a:avLst/>
          </a:prstGeom>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E3FCD6DD-2076-72AF-2D60-AD9487A928BB}"/>
              </a:ext>
            </a:extLst>
          </p:cNvPr>
          <p:cNvSpPr txBox="1"/>
          <p:nvPr/>
        </p:nvSpPr>
        <p:spPr>
          <a:xfrm>
            <a:off x="3334742" y="5336363"/>
            <a:ext cx="2184701" cy="369332"/>
          </a:xfrm>
          <a:prstGeom prst="rect">
            <a:avLst/>
          </a:prstGeom>
          <a:noFill/>
        </p:spPr>
        <p:txBody>
          <a:bodyPr wrap="none" rtlCol="0">
            <a:spAutoFit/>
          </a:bodyPr>
          <a:lstStyle/>
          <a:p>
            <a:r>
              <a:rPr lang="en-US" b="1" dirty="0"/>
              <a:t>But what is this one?</a:t>
            </a:r>
          </a:p>
        </p:txBody>
      </p:sp>
      <p:sp>
        <p:nvSpPr>
          <p:cNvPr id="22" name="TextBox 21">
            <a:extLst>
              <a:ext uri="{FF2B5EF4-FFF2-40B4-BE49-F238E27FC236}">
                <a16:creationId xmlns:a16="http://schemas.microsoft.com/office/drawing/2014/main" id="{2D7FA1E6-4179-455B-15FC-A91C54198FFA}"/>
              </a:ext>
            </a:extLst>
          </p:cNvPr>
          <p:cNvSpPr txBox="1"/>
          <p:nvPr/>
        </p:nvSpPr>
        <p:spPr>
          <a:xfrm>
            <a:off x="7716339" y="3240287"/>
            <a:ext cx="4100813" cy="1477328"/>
          </a:xfrm>
          <a:prstGeom prst="rect">
            <a:avLst/>
          </a:prstGeom>
          <a:noFill/>
        </p:spPr>
        <p:txBody>
          <a:bodyPr wrap="square" rtlCol="0">
            <a:spAutoFit/>
          </a:bodyPr>
          <a:lstStyle/>
          <a:p>
            <a:r>
              <a:rPr lang="en-US" dirty="0"/>
              <a:t>In homework you will add these type of code to </a:t>
            </a:r>
            <a:r>
              <a:rPr lang="en-US" dirty="0" err="1"/>
              <a:t>ASTPlusNode</a:t>
            </a:r>
            <a:r>
              <a:rPr lang="en-US" dirty="0"/>
              <a:t> classes and to classes for other operators, so as to allow </a:t>
            </a:r>
          </a:p>
          <a:p>
            <a:r>
              <a:rPr lang="en-US" dirty="0" err="1"/>
              <a:t>Lineara</a:t>
            </a:r>
            <a:r>
              <a:rPr lang="en-US" dirty="0"/>
              <a:t>\</a:t>
            </a:r>
            <a:r>
              <a:rPr lang="en-US" dirty="0" err="1"/>
              <a:t>ized</a:t>
            </a:r>
            <a:r>
              <a:rPr lang="en-US" dirty="0"/>
              <a:t> code to be generated from these nodes.</a:t>
            </a:r>
          </a:p>
        </p:txBody>
      </p:sp>
    </p:spTree>
    <p:extLst>
      <p:ext uri="{BB962C8B-B14F-4D97-AF65-F5344CB8AC3E}">
        <p14:creationId xmlns:p14="http://schemas.microsoft.com/office/powerpoint/2010/main" val="39629904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BC651-549A-5EA1-31CA-CA0A72019D7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3B200A-6DA4-6776-7B96-71D031A4C293}"/>
              </a:ext>
            </a:extLst>
          </p:cNvPr>
          <p:cNvSpPr txBox="1"/>
          <p:nvPr/>
        </p:nvSpPr>
        <p:spPr>
          <a:xfrm>
            <a:off x="5739081" y="2655026"/>
            <a:ext cx="1636474" cy="369332"/>
          </a:xfrm>
          <a:prstGeom prst="rect">
            <a:avLst/>
          </a:prstGeom>
          <a:noFill/>
        </p:spPr>
        <p:txBody>
          <a:bodyPr wrap="none" rtlCol="0">
            <a:spAutoFit/>
          </a:bodyPr>
          <a:lstStyle/>
          <a:p>
            <a:r>
              <a:rPr lang="en-US" dirty="0"/>
              <a:t>AST&lt;x, int, vr0&gt;</a:t>
            </a:r>
          </a:p>
        </p:txBody>
      </p:sp>
      <p:sp>
        <p:nvSpPr>
          <p:cNvPr id="5" name="TextBox 4">
            <a:extLst>
              <a:ext uri="{FF2B5EF4-FFF2-40B4-BE49-F238E27FC236}">
                <a16:creationId xmlns:a16="http://schemas.microsoft.com/office/drawing/2014/main" id="{76767D9C-BDDC-E2D8-3E3E-EEB2593CADFD}"/>
              </a:ext>
            </a:extLst>
          </p:cNvPr>
          <p:cNvSpPr txBox="1"/>
          <p:nvPr/>
        </p:nvSpPr>
        <p:spPr>
          <a:xfrm>
            <a:off x="6519991" y="1843672"/>
            <a:ext cx="1599605" cy="369332"/>
          </a:xfrm>
          <a:prstGeom prst="rect">
            <a:avLst/>
          </a:prstGeom>
          <a:noFill/>
        </p:spPr>
        <p:txBody>
          <a:bodyPr wrap="none" rtlCol="0">
            <a:spAutoFit/>
          </a:bodyPr>
          <a:lstStyle/>
          <a:p>
            <a:r>
              <a:rPr lang="en-US" dirty="0">
                <a:highlight>
                  <a:srgbClr val="FFFF00"/>
                </a:highlight>
              </a:rPr>
              <a:t>AST&lt;+,int, vr2&gt;</a:t>
            </a:r>
          </a:p>
        </p:txBody>
      </p:sp>
      <p:cxnSp>
        <p:nvCxnSpPr>
          <p:cNvPr id="6" name="Straight Connector 5">
            <a:extLst>
              <a:ext uri="{FF2B5EF4-FFF2-40B4-BE49-F238E27FC236}">
                <a16:creationId xmlns:a16="http://schemas.microsoft.com/office/drawing/2014/main" id="{06A4A970-9F2D-D321-1D59-F86B9D184B73}"/>
              </a:ext>
            </a:extLst>
          </p:cNvPr>
          <p:cNvCxnSpPr>
            <a:cxnSpLocks/>
          </p:cNvCxnSpPr>
          <p:nvPr/>
        </p:nvCxnSpPr>
        <p:spPr>
          <a:xfrm flipH="1">
            <a:off x="5943386" y="2224860"/>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F008A7A1-238C-651F-E1ED-00DF7635992E}"/>
              </a:ext>
            </a:extLst>
          </p:cNvPr>
          <p:cNvCxnSpPr>
            <a:cxnSpLocks/>
          </p:cNvCxnSpPr>
          <p:nvPr/>
        </p:nvCxnSpPr>
        <p:spPr>
          <a:xfrm>
            <a:off x="7167759" y="2224860"/>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2909E8EE-AC3D-B53D-DE5F-062C0E7CA72E}"/>
              </a:ext>
            </a:extLst>
          </p:cNvPr>
          <p:cNvSpPr txBox="1"/>
          <p:nvPr/>
        </p:nvSpPr>
        <p:spPr>
          <a:xfrm>
            <a:off x="8111926" y="2655026"/>
            <a:ext cx="1624804" cy="369332"/>
          </a:xfrm>
          <a:prstGeom prst="rect">
            <a:avLst/>
          </a:prstGeom>
          <a:noFill/>
        </p:spPr>
        <p:txBody>
          <a:bodyPr wrap="none" rtlCol="0">
            <a:spAutoFit/>
          </a:bodyPr>
          <a:lstStyle/>
          <a:p>
            <a:r>
              <a:rPr lang="en-US" dirty="0"/>
              <a:t>AST&lt;y, int, vr1&gt;</a:t>
            </a:r>
          </a:p>
        </p:txBody>
      </p:sp>
      <p:sp>
        <p:nvSpPr>
          <p:cNvPr id="9" name="TextBox 8">
            <a:extLst>
              <a:ext uri="{FF2B5EF4-FFF2-40B4-BE49-F238E27FC236}">
                <a16:creationId xmlns:a16="http://schemas.microsoft.com/office/drawing/2014/main" id="{DE06E3B1-8829-F052-3AF9-1811B3BB3F1B}"/>
              </a:ext>
            </a:extLst>
          </p:cNvPr>
          <p:cNvSpPr txBox="1"/>
          <p:nvPr/>
        </p:nvSpPr>
        <p:spPr>
          <a:xfrm>
            <a:off x="8449191" y="470769"/>
            <a:ext cx="1780744" cy="369332"/>
          </a:xfrm>
          <a:prstGeom prst="rect">
            <a:avLst/>
          </a:prstGeom>
          <a:noFill/>
        </p:spPr>
        <p:txBody>
          <a:bodyPr wrap="none" rtlCol="0">
            <a:spAutoFit/>
          </a:bodyPr>
          <a:lstStyle/>
          <a:p>
            <a:r>
              <a:rPr lang="en-US" dirty="0"/>
              <a:t>AST&lt;+,float, vr5&gt;</a:t>
            </a:r>
          </a:p>
        </p:txBody>
      </p:sp>
      <p:cxnSp>
        <p:nvCxnSpPr>
          <p:cNvPr id="10" name="Straight Connector 9">
            <a:extLst>
              <a:ext uri="{FF2B5EF4-FFF2-40B4-BE49-F238E27FC236}">
                <a16:creationId xmlns:a16="http://schemas.microsoft.com/office/drawing/2014/main" id="{BF92591E-9F29-4E07-7674-23BE4FA9389F}"/>
              </a:ext>
            </a:extLst>
          </p:cNvPr>
          <p:cNvCxnSpPr>
            <a:cxnSpLocks/>
            <a:stCxn id="13" idx="2"/>
            <a:endCxn id="5" idx="0"/>
          </p:cNvCxnSpPr>
          <p:nvPr/>
        </p:nvCxnSpPr>
        <p:spPr>
          <a:xfrm flipH="1">
            <a:off x="7319794" y="1384572"/>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96CB098B-CFF0-FB02-87C8-A0F2E555F9E0}"/>
              </a:ext>
            </a:extLst>
          </p:cNvPr>
          <p:cNvCxnSpPr>
            <a:cxnSpLocks/>
            <a:stCxn id="9" idx="2"/>
            <a:endCxn id="12" idx="0"/>
          </p:cNvCxnSpPr>
          <p:nvPr/>
        </p:nvCxnSpPr>
        <p:spPr>
          <a:xfrm>
            <a:off x="9339563" y="840101"/>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A49896AF-1ED5-2D97-119B-299D1AE0819B}"/>
              </a:ext>
            </a:extLst>
          </p:cNvPr>
          <p:cNvSpPr txBox="1"/>
          <p:nvPr/>
        </p:nvSpPr>
        <p:spPr>
          <a:xfrm>
            <a:off x="9681123" y="1855528"/>
            <a:ext cx="2009974" cy="369332"/>
          </a:xfrm>
          <a:prstGeom prst="rect">
            <a:avLst/>
          </a:prstGeom>
          <a:noFill/>
        </p:spPr>
        <p:txBody>
          <a:bodyPr wrap="none" rtlCol="0">
            <a:spAutoFit/>
          </a:bodyPr>
          <a:lstStyle/>
          <a:p>
            <a:r>
              <a:rPr lang="en-US" dirty="0"/>
              <a:t>AST&lt;5.5, float, vr4&gt;</a:t>
            </a:r>
          </a:p>
        </p:txBody>
      </p:sp>
      <p:sp>
        <p:nvSpPr>
          <p:cNvPr id="13" name="TextBox 12">
            <a:extLst>
              <a:ext uri="{FF2B5EF4-FFF2-40B4-BE49-F238E27FC236}">
                <a16:creationId xmlns:a16="http://schemas.microsoft.com/office/drawing/2014/main" id="{2A5ED6FB-A5E2-B5D2-5722-4F8DFCDE08F5}"/>
              </a:ext>
            </a:extLst>
          </p:cNvPr>
          <p:cNvSpPr txBox="1"/>
          <p:nvPr/>
        </p:nvSpPr>
        <p:spPr>
          <a:xfrm>
            <a:off x="6458590" y="1015240"/>
            <a:ext cx="2515497" cy="369332"/>
          </a:xfrm>
          <a:prstGeom prst="rect">
            <a:avLst/>
          </a:prstGeom>
          <a:noFill/>
        </p:spPr>
        <p:txBody>
          <a:bodyPr wrap="none" rtlCol="0">
            <a:spAutoFit/>
          </a:bodyPr>
          <a:lstStyle/>
          <a:p>
            <a:r>
              <a:rPr lang="en-US" dirty="0"/>
              <a:t>AST&lt;int2float, float, vr3&gt;</a:t>
            </a:r>
          </a:p>
        </p:txBody>
      </p:sp>
      <p:cxnSp>
        <p:nvCxnSpPr>
          <p:cNvPr id="14" name="Straight Connector 13">
            <a:extLst>
              <a:ext uri="{FF2B5EF4-FFF2-40B4-BE49-F238E27FC236}">
                <a16:creationId xmlns:a16="http://schemas.microsoft.com/office/drawing/2014/main" id="{FAA06C8C-226D-311C-E03C-4C7A5A893E1B}"/>
              </a:ext>
            </a:extLst>
          </p:cNvPr>
          <p:cNvCxnSpPr>
            <a:cxnSpLocks/>
            <a:stCxn id="9" idx="2"/>
            <a:endCxn id="13" idx="0"/>
          </p:cNvCxnSpPr>
          <p:nvPr/>
        </p:nvCxnSpPr>
        <p:spPr>
          <a:xfrm flipH="1">
            <a:off x="7716339" y="840101"/>
            <a:ext cx="1623224" cy="175139"/>
          </a:xfrm>
          <a:prstGeom prst="line">
            <a:avLst/>
          </a:prstGeom>
        </p:spPr>
        <p:style>
          <a:lnRef idx="1">
            <a:schemeClr val="dk1"/>
          </a:lnRef>
          <a:fillRef idx="0">
            <a:schemeClr val="dk1"/>
          </a:fillRef>
          <a:effectRef idx="0">
            <a:schemeClr val="dk1"/>
          </a:effectRef>
          <a:fontRef idx="minor">
            <a:schemeClr val="tx1"/>
          </a:fontRef>
        </p:style>
      </p:cxnSp>
      <p:sp>
        <p:nvSpPr>
          <p:cNvPr id="2" name="Rectangle 1">
            <a:extLst>
              <a:ext uri="{FF2B5EF4-FFF2-40B4-BE49-F238E27FC236}">
                <a16:creationId xmlns:a16="http://schemas.microsoft.com/office/drawing/2014/main" id="{E3DB3BA5-0508-95F4-4155-B1FC9796C0A7}"/>
              </a:ext>
            </a:extLst>
          </p:cNvPr>
          <p:cNvSpPr/>
          <p:nvPr/>
        </p:nvSpPr>
        <p:spPr>
          <a:xfrm>
            <a:off x="1116646" y="4384438"/>
            <a:ext cx="5970494" cy="646331"/>
          </a:xfrm>
          <a:prstGeom prst="rect">
            <a:avLst/>
          </a:prstGeom>
        </p:spPr>
        <p:txBody>
          <a:bodyPr wrap="square">
            <a:spAutoFit/>
          </a:bodyPr>
          <a:lstStyle/>
          <a:p>
            <a:r>
              <a:rPr lang="en-US" b="1" dirty="0">
                <a:solidFill>
                  <a:srgbClr val="2EAEBB"/>
                </a:solidFill>
                <a:latin typeface="Menlo" panose="020B0609030804020204" pitchFamily="49" charset="0"/>
              </a:rPr>
              <a:t>return</a:t>
            </a:r>
            <a:r>
              <a:rPr lang="en-US" dirty="0">
                <a:solidFill>
                  <a:srgbClr val="000000"/>
                </a:solidFill>
                <a:latin typeface="Menlo" panose="020B0609030804020204" pitchFamily="49" charset="0"/>
              </a:rPr>
              <a:t> </a:t>
            </a:r>
            <a:r>
              <a:rPr lang="en-US" dirty="0">
                <a:solidFill>
                  <a:srgbClr val="2FB41D"/>
                </a:solidFill>
                <a:latin typeface="Menlo" panose="020B0609030804020204" pitchFamily="49" charset="0"/>
              </a:rPr>
              <a:t>"%s = %s(%</a:t>
            </a:r>
            <a:r>
              <a:rPr lang="en-US" dirty="0" err="1">
                <a:solidFill>
                  <a:srgbClr val="2FB41D"/>
                </a:solidFill>
                <a:latin typeface="Menlo" panose="020B0609030804020204" pitchFamily="49" charset="0"/>
              </a:rPr>
              <a:t>s,%s</a:t>
            </a:r>
            <a:r>
              <a:rPr lang="en-US" dirty="0">
                <a:solidFill>
                  <a:srgbClr val="2FB41D"/>
                </a:solidFill>
                <a:latin typeface="Menlo" panose="020B0609030804020204" pitchFamily="49" charset="0"/>
              </a:rPr>
              <a:t>);"</a:t>
            </a:r>
            <a:r>
              <a:rPr lang="en-US" dirty="0">
                <a:solidFill>
                  <a:srgbClr val="000000"/>
                </a:solidFill>
                <a:latin typeface="Menlo" panose="020B0609030804020204" pitchFamily="49" charset="0"/>
              </a:rPr>
              <a:t> % </a:t>
            </a:r>
            <a:br>
              <a:rPr lang="en-US" dirty="0">
                <a:solidFill>
                  <a:srgbClr val="000000"/>
                </a:solidFill>
                <a:latin typeface="Menlo" panose="020B0609030804020204" pitchFamily="49" charset="0"/>
              </a:rPr>
            </a:br>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.vr</a:t>
            </a:r>
            <a:r>
              <a:rPr lang="en-US" dirty="0">
                <a:solidFill>
                  <a:srgbClr val="000000"/>
                </a:solidFill>
                <a:latin typeface="Menlo" panose="020B0609030804020204" pitchFamily="49" charset="0"/>
              </a:rPr>
              <a:t>, </a:t>
            </a:r>
            <a:r>
              <a:rPr lang="en-US" b="1" dirty="0" err="1">
                <a:solidFill>
                  <a:srgbClr val="2EAEBB"/>
                </a:solidFill>
                <a:highlight>
                  <a:srgbClr val="FFFF00"/>
                </a:highlight>
                <a:latin typeface="Menlo" panose="020B0609030804020204" pitchFamily="49" charset="0"/>
              </a:rPr>
              <a:t>self</a:t>
            </a:r>
            <a:r>
              <a:rPr lang="en-US" dirty="0" err="1">
                <a:solidFill>
                  <a:srgbClr val="000000"/>
                </a:solidFill>
                <a:highlight>
                  <a:srgbClr val="FFFF00"/>
                </a:highlight>
                <a:latin typeface="Menlo" panose="020B0609030804020204" pitchFamily="49" charset="0"/>
              </a:rPr>
              <a:t>.get_op</a:t>
            </a:r>
            <a:r>
              <a:rPr lang="en-US" dirty="0">
                <a:solidFill>
                  <a:srgbClr val="000000"/>
                </a:solidFill>
                <a:highlight>
                  <a:srgbClr val="FFFF00"/>
                </a:highlight>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.l_child.vr</a:t>
            </a:r>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.r_child.vr</a:t>
            </a:r>
            <a:r>
              <a:rPr lang="en-US" dirty="0">
                <a:solidFill>
                  <a:srgbClr val="000000"/>
                </a:solidFill>
                <a:latin typeface="Menlo" panose="020B0609030804020204" pitchFamily="49" charset="0"/>
              </a:rPr>
              <a:t>)</a:t>
            </a:r>
            <a:endParaRPr lang="en-US" dirty="0">
              <a:solidFill>
                <a:srgbClr val="000000"/>
              </a:solidFill>
              <a:effectLst/>
              <a:latin typeface="Menlo" panose="020B0609030804020204" pitchFamily="49" charset="0"/>
            </a:endParaRPr>
          </a:p>
        </p:txBody>
      </p:sp>
      <p:cxnSp>
        <p:nvCxnSpPr>
          <p:cNvPr id="18" name="Straight Connector 17">
            <a:extLst>
              <a:ext uri="{FF2B5EF4-FFF2-40B4-BE49-F238E27FC236}">
                <a16:creationId xmlns:a16="http://schemas.microsoft.com/office/drawing/2014/main" id="{4F2600DC-CD86-242A-C810-E7AEF26012D7}"/>
              </a:ext>
            </a:extLst>
          </p:cNvPr>
          <p:cNvCxnSpPr>
            <a:cxnSpLocks/>
          </p:cNvCxnSpPr>
          <p:nvPr/>
        </p:nvCxnSpPr>
        <p:spPr>
          <a:xfrm flipH="1" flipV="1">
            <a:off x="3552320" y="5030769"/>
            <a:ext cx="69286" cy="305594"/>
          </a:xfrm>
          <a:prstGeom prst="line">
            <a:avLst/>
          </a:prstGeom>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269B1DFF-9A5B-3651-46EC-76371B6555D7}"/>
              </a:ext>
            </a:extLst>
          </p:cNvPr>
          <p:cNvSpPr txBox="1"/>
          <p:nvPr/>
        </p:nvSpPr>
        <p:spPr>
          <a:xfrm>
            <a:off x="3334742" y="5336363"/>
            <a:ext cx="3752398" cy="369332"/>
          </a:xfrm>
          <a:prstGeom prst="rect">
            <a:avLst/>
          </a:prstGeom>
          <a:noFill/>
        </p:spPr>
        <p:txBody>
          <a:bodyPr wrap="square" rtlCol="0">
            <a:spAutoFit/>
          </a:bodyPr>
          <a:lstStyle/>
          <a:p>
            <a:r>
              <a:rPr lang="en-US" b="1" dirty="0"/>
              <a:t>But what is this one?   </a:t>
            </a:r>
            <a:r>
              <a:rPr lang="en-US" b="1" dirty="0" err="1"/>
              <a:t>addi</a:t>
            </a:r>
            <a:endParaRPr lang="en-US" b="1" dirty="0"/>
          </a:p>
        </p:txBody>
      </p:sp>
      <p:sp>
        <p:nvSpPr>
          <p:cNvPr id="15" name="Rectangle 14">
            <a:extLst>
              <a:ext uri="{FF2B5EF4-FFF2-40B4-BE49-F238E27FC236}">
                <a16:creationId xmlns:a16="http://schemas.microsoft.com/office/drawing/2014/main" id="{058F19A1-8F61-3A33-C5BC-97D2EED4BF01}"/>
              </a:ext>
            </a:extLst>
          </p:cNvPr>
          <p:cNvSpPr/>
          <p:nvPr/>
        </p:nvSpPr>
        <p:spPr>
          <a:xfrm>
            <a:off x="390142" y="1039252"/>
            <a:ext cx="5023597" cy="1477328"/>
          </a:xfrm>
          <a:prstGeom prst="rect">
            <a:avLst/>
          </a:prstGeom>
        </p:spPr>
        <p:txBody>
          <a:bodyPr wrap="square">
            <a:spAutoFit/>
          </a:bodyPr>
          <a:lstStyle/>
          <a:p>
            <a:r>
              <a:rPr lang="en-US" b="1" dirty="0">
                <a:solidFill>
                  <a:srgbClr val="2EAEBB"/>
                </a:solidFill>
                <a:latin typeface="Menlo" panose="020B0609030804020204" pitchFamily="49" charset="0"/>
              </a:rPr>
              <a:t>def</a:t>
            </a:r>
            <a:r>
              <a:rPr lang="en-US" dirty="0">
                <a:solidFill>
                  <a:srgbClr val="000000"/>
                </a:solidFill>
                <a:latin typeface="Menlo" panose="020B0609030804020204" pitchFamily="49" charset="0"/>
              </a:rPr>
              <a:t> </a:t>
            </a:r>
            <a:r>
              <a:rPr lang="en-US" b="1" dirty="0" err="1">
                <a:solidFill>
                  <a:srgbClr val="400BD9"/>
                </a:solidFill>
                <a:latin typeface="Menlo" panose="020B0609030804020204" pitchFamily="49" charset="0"/>
              </a:rPr>
              <a:t>get_op</a:t>
            </a:r>
            <a:r>
              <a:rPr lang="en-US" dirty="0">
                <a:solidFill>
                  <a:srgbClr val="000000"/>
                </a:solidFill>
                <a:latin typeface="Menlo" panose="020B0609030804020204" pitchFamily="49" charset="0"/>
              </a:rPr>
              <a:t>(</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    # </a:t>
            </a:r>
            <a:r>
              <a:rPr lang="en-US" dirty="0" err="1">
                <a:solidFill>
                  <a:srgbClr val="000000"/>
                </a:solidFill>
                <a:latin typeface="Menlo" panose="020B0609030804020204" pitchFamily="49" charset="0"/>
              </a:rPr>
              <a:t>especialiazed</a:t>
            </a:r>
            <a:r>
              <a:rPr lang="en-US" dirty="0">
                <a:solidFill>
                  <a:srgbClr val="000000"/>
                </a:solidFill>
                <a:latin typeface="Menlo" panose="020B0609030804020204" pitchFamily="49" charset="0"/>
              </a:rPr>
              <a:t> for </a:t>
            </a:r>
            <a:r>
              <a:rPr lang="en-US" dirty="0" err="1">
                <a:solidFill>
                  <a:srgbClr val="000000"/>
                </a:solidFill>
                <a:latin typeface="Menlo" panose="020B0609030804020204" pitchFamily="49" charset="0"/>
              </a:rPr>
              <a:t>ASTPlusNode</a:t>
            </a:r>
            <a:endParaRPr lang="en-US" dirty="0">
              <a:solidFill>
                <a:srgbClr val="2EAEBB"/>
              </a:solidFill>
              <a:latin typeface="Menlo" panose="020B0609030804020204" pitchFamily="49" charset="0"/>
            </a:endParaRP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if</a:t>
            </a:r>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.node_type</a:t>
            </a:r>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is</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Types.INT</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return</a:t>
            </a:r>
            <a:r>
              <a:rPr lang="en-US" dirty="0">
                <a:solidFill>
                  <a:srgbClr val="000000"/>
                </a:solidFill>
                <a:latin typeface="Menlo" panose="020B0609030804020204" pitchFamily="49" charset="0"/>
              </a:rPr>
              <a:t> </a:t>
            </a:r>
            <a:r>
              <a:rPr lang="en-US" dirty="0">
                <a:solidFill>
                  <a:srgbClr val="2FB41D"/>
                </a:solidFill>
                <a:latin typeface="Menlo" panose="020B0609030804020204" pitchFamily="49" charset="0"/>
              </a:rPr>
              <a:t>"</a:t>
            </a:r>
            <a:r>
              <a:rPr lang="en-US" dirty="0" err="1">
                <a:solidFill>
                  <a:srgbClr val="2FB41D"/>
                </a:solidFill>
                <a:latin typeface="Menlo" panose="020B0609030804020204" pitchFamily="49" charset="0"/>
              </a:rPr>
              <a:t>addi</a:t>
            </a:r>
            <a:r>
              <a:rPr lang="en-US" dirty="0">
                <a:solidFill>
                  <a:srgbClr val="2FB41D"/>
                </a:solidFill>
                <a:latin typeface="Menlo" panose="020B0609030804020204" pitchFamily="49" charset="0"/>
              </a:rPr>
              <a:t>"</a:t>
            </a:r>
            <a:endParaRPr lang="en-US" dirty="0">
              <a:solidFill>
                <a:srgbClr val="000000"/>
              </a:solidFill>
              <a:latin typeface="Menlo" panose="020B0609030804020204" pitchFamily="49" charset="0"/>
            </a:endParaRP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else</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return</a:t>
            </a:r>
            <a:r>
              <a:rPr lang="en-US" dirty="0">
                <a:solidFill>
                  <a:srgbClr val="000000"/>
                </a:solidFill>
                <a:latin typeface="Menlo" panose="020B0609030804020204" pitchFamily="49" charset="0"/>
              </a:rPr>
              <a:t> </a:t>
            </a:r>
            <a:r>
              <a:rPr lang="en-US" dirty="0">
                <a:solidFill>
                  <a:srgbClr val="2FB41D"/>
                </a:solidFill>
                <a:latin typeface="Menlo" panose="020B0609030804020204" pitchFamily="49" charset="0"/>
              </a:rPr>
              <a:t>"</a:t>
            </a:r>
            <a:r>
              <a:rPr lang="en-US" dirty="0" err="1">
                <a:solidFill>
                  <a:srgbClr val="2FB41D"/>
                </a:solidFill>
                <a:latin typeface="Menlo" panose="020B0609030804020204" pitchFamily="49" charset="0"/>
              </a:rPr>
              <a:t>addf</a:t>
            </a:r>
            <a:r>
              <a:rPr lang="en-US" dirty="0">
                <a:solidFill>
                  <a:srgbClr val="2FB41D"/>
                </a:solidFill>
                <a:latin typeface="Menlo" panose="020B0609030804020204" pitchFamily="49" charset="0"/>
              </a:rPr>
              <a:t>"</a:t>
            </a:r>
            <a:endParaRPr lang="en-US"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4426148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50B8D-7A7C-058C-9A88-ABCD04D784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EE890B-CBF0-80E0-FC33-E1A41632DF96}"/>
              </a:ext>
            </a:extLst>
          </p:cNvPr>
          <p:cNvSpPr txBox="1"/>
          <p:nvPr/>
        </p:nvSpPr>
        <p:spPr>
          <a:xfrm>
            <a:off x="5739081" y="2655026"/>
            <a:ext cx="1636474" cy="369332"/>
          </a:xfrm>
          <a:prstGeom prst="rect">
            <a:avLst/>
          </a:prstGeom>
          <a:noFill/>
        </p:spPr>
        <p:txBody>
          <a:bodyPr wrap="none" rtlCol="0">
            <a:spAutoFit/>
          </a:bodyPr>
          <a:lstStyle/>
          <a:p>
            <a:r>
              <a:rPr lang="en-US" dirty="0"/>
              <a:t>AST&lt;x, int, vr0&gt;</a:t>
            </a:r>
          </a:p>
        </p:txBody>
      </p:sp>
      <p:sp>
        <p:nvSpPr>
          <p:cNvPr id="5" name="TextBox 4">
            <a:extLst>
              <a:ext uri="{FF2B5EF4-FFF2-40B4-BE49-F238E27FC236}">
                <a16:creationId xmlns:a16="http://schemas.microsoft.com/office/drawing/2014/main" id="{D7280272-F24C-EFBC-7F07-9E2BDD9BDC52}"/>
              </a:ext>
            </a:extLst>
          </p:cNvPr>
          <p:cNvSpPr txBox="1"/>
          <p:nvPr/>
        </p:nvSpPr>
        <p:spPr>
          <a:xfrm>
            <a:off x="6519991" y="1843672"/>
            <a:ext cx="1599605" cy="369332"/>
          </a:xfrm>
          <a:prstGeom prst="rect">
            <a:avLst/>
          </a:prstGeom>
          <a:noFill/>
        </p:spPr>
        <p:txBody>
          <a:bodyPr wrap="none" rtlCol="0">
            <a:spAutoFit/>
          </a:bodyPr>
          <a:lstStyle/>
          <a:p>
            <a:r>
              <a:rPr lang="en-US" dirty="0">
                <a:highlight>
                  <a:srgbClr val="FFFF00"/>
                </a:highlight>
              </a:rPr>
              <a:t>AST&lt;+,int, vr2&gt;</a:t>
            </a:r>
          </a:p>
        </p:txBody>
      </p:sp>
      <p:cxnSp>
        <p:nvCxnSpPr>
          <p:cNvPr id="6" name="Straight Connector 5">
            <a:extLst>
              <a:ext uri="{FF2B5EF4-FFF2-40B4-BE49-F238E27FC236}">
                <a16:creationId xmlns:a16="http://schemas.microsoft.com/office/drawing/2014/main" id="{185879E8-874E-FC52-F5AA-A7BDEAF98723}"/>
              </a:ext>
            </a:extLst>
          </p:cNvPr>
          <p:cNvCxnSpPr>
            <a:cxnSpLocks/>
          </p:cNvCxnSpPr>
          <p:nvPr/>
        </p:nvCxnSpPr>
        <p:spPr>
          <a:xfrm flipH="1">
            <a:off x="5943386" y="2224860"/>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AB96F19B-420C-D1F5-EE07-55273B5693D7}"/>
              </a:ext>
            </a:extLst>
          </p:cNvPr>
          <p:cNvCxnSpPr>
            <a:cxnSpLocks/>
          </p:cNvCxnSpPr>
          <p:nvPr/>
        </p:nvCxnSpPr>
        <p:spPr>
          <a:xfrm>
            <a:off x="7167759" y="2224860"/>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427BCEBB-44EB-F385-7EF2-EC65E211EB14}"/>
              </a:ext>
            </a:extLst>
          </p:cNvPr>
          <p:cNvSpPr txBox="1"/>
          <p:nvPr/>
        </p:nvSpPr>
        <p:spPr>
          <a:xfrm>
            <a:off x="8111926" y="2655026"/>
            <a:ext cx="1624804" cy="369332"/>
          </a:xfrm>
          <a:prstGeom prst="rect">
            <a:avLst/>
          </a:prstGeom>
          <a:noFill/>
        </p:spPr>
        <p:txBody>
          <a:bodyPr wrap="none" rtlCol="0">
            <a:spAutoFit/>
          </a:bodyPr>
          <a:lstStyle/>
          <a:p>
            <a:r>
              <a:rPr lang="en-US" dirty="0"/>
              <a:t>AST&lt;y, int, vr1&gt;</a:t>
            </a:r>
          </a:p>
        </p:txBody>
      </p:sp>
      <p:sp>
        <p:nvSpPr>
          <p:cNvPr id="9" name="TextBox 8">
            <a:extLst>
              <a:ext uri="{FF2B5EF4-FFF2-40B4-BE49-F238E27FC236}">
                <a16:creationId xmlns:a16="http://schemas.microsoft.com/office/drawing/2014/main" id="{AB24DDB4-C116-6173-60CD-3F0B42886EB4}"/>
              </a:ext>
            </a:extLst>
          </p:cNvPr>
          <p:cNvSpPr txBox="1"/>
          <p:nvPr/>
        </p:nvSpPr>
        <p:spPr>
          <a:xfrm>
            <a:off x="8449191" y="470769"/>
            <a:ext cx="1780744" cy="369332"/>
          </a:xfrm>
          <a:prstGeom prst="rect">
            <a:avLst/>
          </a:prstGeom>
          <a:noFill/>
        </p:spPr>
        <p:txBody>
          <a:bodyPr wrap="none" rtlCol="0">
            <a:spAutoFit/>
          </a:bodyPr>
          <a:lstStyle/>
          <a:p>
            <a:r>
              <a:rPr lang="en-US" dirty="0"/>
              <a:t>AST&lt;+,float, vr5&gt;</a:t>
            </a:r>
          </a:p>
        </p:txBody>
      </p:sp>
      <p:cxnSp>
        <p:nvCxnSpPr>
          <p:cNvPr id="10" name="Straight Connector 9">
            <a:extLst>
              <a:ext uri="{FF2B5EF4-FFF2-40B4-BE49-F238E27FC236}">
                <a16:creationId xmlns:a16="http://schemas.microsoft.com/office/drawing/2014/main" id="{237192B5-BDD0-C48F-2AAF-AF5214E7951C}"/>
              </a:ext>
            </a:extLst>
          </p:cNvPr>
          <p:cNvCxnSpPr>
            <a:cxnSpLocks/>
            <a:stCxn id="13" idx="2"/>
            <a:endCxn id="5" idx="0"/>
          </p:cNvCxnSpPr>
          <p:nvPr/>
        </p:nvCxnSpPr>
        <p:spPr>
          <a:xfrm flipH="1">
            <a:off x="7319794" y="1384572"/>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5039DB11-4F05-2226-23EC-34288544690B}"/>
              </a:ext>
            </a:extLst>
          </p:cNvPr>
          <p:cNvCxnSpPr>
            <a:cxnSpLocks/>
            <a:stCxn id="9" idx="2"/>
            <a:endCxn id="12" idx="0"/>
          </p:cNvCxnSpPr>
          <p:nvPr/>
        </p:nvCxnSpPr>
        <p:spPr>
          <a:xfrm>
            <a:off x="9339563" y="840101"/>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83420703-7954-AFF2-C5F4-948DF0E47704}"/>
              </a:ext>
            </a:extLst>
          </p:cNvPr>
          <p:cNvSpPr txBox="1"/>
          <p:nvPr/>
        </p:nvSpPr>
        <p:spPr>
          <a:xfrm>
            <a:off x="9681123" y="1855528"/>
            <a:ext cx="2009974" cy="369332"/>
          </a:xfrm>
          <a:prstGeom prst="rect">
            <a:avLst/>
          </a:prstGeom>
          <a:noFill/>
        </p:spPr>
        <p:txBody>
          <a:bodyPr wrap="none" rtlCol="0">
            <a:spAutoFit/>
          </a:bodyPr>
          <a:lstStyle/>
          <a:p>
            <a:r>
              <a:rPr lang="en-US" dirty="0"/>
              <a:t>AST&lt;5.5, float, vr4&gt;</a:t>
            </a:r>
          </a:p>
        </p:txBody>
      </p:sp>
      <p:sp>
        <p:nvSpPr>
          <p:cNvPr id="13" name="TextBox 12">
            <a:extLst>
              <a:ext uri="{FF2B5EF4-FFF2-40B4-BE49-F238E27FC236}">
                <a16:creationId xmlns:a16="http://schemas.microsoft.com/office/drawing/2014/main" id="{378FAA8D-7A90-2F33-A913-93CDBC7A1D04}"/>
              </a:ext>
            </a:extLst>
          </p:cNvPr>
          <p:cNvSpPr txBox="1"/>
          <p:nvPr/>
        </p:nvSpPr>
        <p:spPr>
          <a:xfrm>
            <a:off x="6458590" y="1015240"/>
            <a:ext cx="2515497" cy="369332"/>
          </a:xfrm>
          <a:prstGeom prst="rect">
            <a:avLst/>
          </a:prstGeom>
          <a:noFill/>
        </p:spPr>
        <p:txBody>
          <a:bodyPr wrap="none" rtlCol="0">
            <a:spAutoFit/>
          </a:bodyPr>
          <a:lstStyle/>
          <a:p>
            <a:r>
              <a:rPr lang="en-US" dirty="0"/>
              <a:t>AST&lt;int2float, float, vr3&gt;</a:t>
            </a:r>
          </a:p>
        </p:txBody>
      </p:sp>
      <p:cxnSp>
        <p:nvCxnSpPr>
          <p:cNvPr id="14" name="Straight Connector 13">
            <a:extLst>
              <a:ext uri="{FF2B5EF4-FFF2-40B4-BE49-F238E27FC236}">
                <a16:creationId xmlns:a16="http://schemas.microsoft.com/office/drawing/2014/main" id="{96AFFD01-6D87-9E82-80EC-8800776204A8}"/>
              </a:ext>
            </a:extLst>
          </p:cNvPr>
          <p:cNvCxnSpPr>
            <a:cxnSpLocks/>
            <a:stCxn id="9" idx="2"/>
            <a:endCxn id="13" idx="0"/>
          </p:cNvCxnSpPr>
          <p:nvPr/>
        </p:nvCxnSpPr>
        <p:spPr>
          <a:xfrm flipH="1">
            <a:off x="7716339" y="840101"/>
            <a:ext cx="1623224" cy="175139"/>
          </a:xfrm>
          <a:prstGeom prst="line">
            <a:avLst/>
          </a:prstGeom>
        </p:spPr>
        <p:style>
          <a:lnRef idx="1">
            <a:schemeClr val="dk1"/>
          </a:lnRef>
          <a:fillRef idx="0">
            <a:schemeClr val="dk1"/>
          </a:fillRef>
          <a:effectRef idx="0">
            <a:schemeClr val="dk1"/>
          </a:effectRef>
          <a:fontRef idx="minor">
            <a:schemeClr val="tx1"/>
          </a:fontRef>
        </p:style>
      </p:cxnSp>
      <p:sp>
        <p:nvSpPr>
          <p:cNvPr id="2" name="Rectangle 1">
            <a:extLst>
              <a:ext uri="{FF2B5EF4-FFF2-40B4-BE49-F238E27FC236}">
                <a16:creationId xmlns:a16="http://schemas.microsoft.com/office/drawing/2014/main" id="{869B38B4-B4FF-E2D3-9299-07848D9B77A9}"/>
              </a:ext>
            </a:extLst>
          </p:cNvPr>
          <p:cNvSpPr/>
          <p:nvPr/>
        </p:nvSpPr>
        <p:spPr>
          <a:xfrm>
            <a:off x="1100998" y="3969649"/>
            <a:ext cx="5970494" cy="646331"/>
          </a:xfrm>
          <a:prstGeom prst="rect">
            <a:avLst/>
          </a:prstGeom>
        </p:spPr>
        <p:txBody>
          <a:bodyPr wrap="square">
            <a:spAutoFit/>
          </a:bodyPr>
          <a:lstStyle/>
          <a:p>
            <a:r>
              <a:rPr lang="en-US" b="1" dirty="0">
                <a:solidFill>
                  <a:srgbClr val="2EAEBB"/>
                </a:solidFill>
                <a:latin typeface="Menlo" panose="020B0609030804020204" pitchFamily="49" charset="0"/>
              </a:rPr>
              <a:t>return</a:t>
            </a:r>
            <a:r>
              <a:rPr lang="en-US" dirty="0">
                <a:solidFill>
                  <a:srgbClr val="000000"/>
                </a:solidFill>
                <a:latin typeface="Menlo" panose="020B0609030804020204" pitchFamily="49" charset="0"/>
              </a:rPr>
              <a:t> </a:t>
            </a:r>
            <a:r>
              <a:rPr lang="en-US" dirty="0">
                <a:solidFill>
                  <a:srgbClr val="2FB41D"/>
                </a:solidFill>
                <a:latin typeface="Menlo" panose="020B0609030804020204" pitchFamily="49" charset="0"/>
              </a:rPr>
              <a:t>"%s = %s(%</a:t>
            </a:r>
            <a:r>
              <a:rPr lang="en-US" dirty="0" err="1">
                <a:solidFill>
                  <a:srgbClr val="2FB41D"/>
                </a:solidFill>
                <a:latin typeface="Menlo" panose="020B0609030804020204" pitchFamily="49" charset="0"/>
              </a:rPr>
              <a:t>s,%s</a:t>
            </a:r>
            <a:r>
              <a:rPr lang="en-US" dirty="0">
                <a:solidFill>
                  <a:srgbClr val="2FB41D"/>
                </a:solidFill>
                <a:latin typeface="Menlo" panose="020B0609030804020204" pitchFamily="49" charset="0"/>
              </a:rPr>
              <a:t>);"</a:t>
            </a:r>
            <a:r>
              <a:rPr lang="en-US" dirty="0">
                <a:solidFill>
                  <a:srgbClr val="000000"/>
                </a:solidFill>
                <a:latin typeface="Menlo" panose="020B0609030804020204" pitchFamily="49" charset="0"/>
              </a:rPr>
              <a:t> % </a:t>
            </a:r>
            <a:br>
              <a:rPr lang="en-US" dirty="0">
                <a:solidFill>
                  <a:srgbClr val="000000"/>
                </a:solidFill>
                <a:latin typeface="Menlo" panose="020B0609030804020204" pitchFamily="49" charset="0"/>
              </a:rPr>
            </a:br>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.vr</a:t>
            </a:r>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.get_op</a:t>
            </a:r>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.l_child.vr</a:t>
            </a:r>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.r_child.vr</a:t>
            </a:r>
            <a:r>
              <a:rPr lang="en-US" dirty="0">
                <a:solidFill>
                  <a:srgbClr val="000000"/>
                </a:solidFill>
                <a:latin typeface="Menlo" panose="020B0609030804020204" pitchFamily="49" charset="0"/>
              </a:rPr>
              <a:t>)</a:t>
            </a:r>
            <a:endParaRPr lang="en-US" dirty="0">
              <a:solidFill>
                <a:srgbClr val="000000"/>
              </a:solidFill>
              <a:effectLst/>
              <a:latin typeface="Menlo" panose="020B0609030804020204" pitchFamily="49" charset="0"/>
            </a:endParaRPr>
          </a:p>
        </p:txBody>
      </p:sp>
      <p:sp>
        <p:nvSpPr>
          <p:cNvPr id="15" name="Rectangle 14">
            <a:extLst>
              <a:ext uri="{FF2B5EF4-FFF2-40B4-BE49-F238E27FC236}">
                <a16:creationId xmlns:a16="http://schemas.microsoft.com/office/drawing/2014/main" id="{B9923618-D48E-41D5-4669-5B3479FACF4C}"/>
              </a:ext>
            </a:extLst>
          </p:cNvPr>
          <p:cNvSpPr/>
          <p:nvPr/>
        </p:nvSpPr>
        <p:spPr>
          <a:xfrm>
            <a:off x="889046" y="517001"/>
            <a:ext cx="5023597" cy="1477328"/>
          </a:xfrm>
          <a:prstGeom prst="rect">
            <a:avLst/>
          </a:prstGeom>
        </p:spPr>
        <p:txBody>
          <a:bodyPr wrap="square">
            <a:spAutoFit/>
          </a:bodyPr>
          <a:lstStyle/>
          <a:p>
            <a:r>
              <a:rPr lang="en-US" b="1" dirty="0">
                <a:solidFill>
                  <a:srgbClr val="2EAEBB"/>
                </a:solidFill>
                <a:latin typeface="Menlo" panose="020B0609030804020204" pitchFamily="49" charset="0"/>
              </a:rPr>
              <a:t>def</a:t>
            </a:r>
            <a:r>
              <a:rPr lang="en-US" dirty="0">
                <a:solidFill>
                  <a:srgbClr val="000000"/>
                </a:solidFill>
                <a:latin typeface="Menlo" panose="020B0609030804020204" pitchFamily="49" charset="0"/>
              </a:rPr>
              <a:t> </a:t>
            </a:r>
            <a:r>
              <a:rPr lang="en-US" b="1" dirty="0" err="1">
                <a:solidFill>
                  <a:srgbClr val="400BD9"/>
                </a:solidFill>
                <a:latin typeface="Menlo" panose="020B0609030804020204" pitchFamily="49" charset="0"/>
              </a:rPr>
              <a:t>get_op</a:t>
            </a:r>
            <a:r>
              <a:rPr lang="en-US" dirty="0">
                <a:solidFill>
                  <a:srgbClr val="000000"/>
                </a:solidFill>
                <a:latin typeface="Menlo" panose="020B0609030804020204" pitchFamily="49" charset="0"/>
              </a:rPr>
              <a:t>(</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    # </a:t>
            </a:r>
            <a:r>
              <a:rPr lang="en-US" dirty="0" err="1">
                <a:solidFill>
                  <a:srgbClr val="000000"/>
                </a:solidFill>
                <a:latin typeface="Menlo" panose="020B0609030804020204" pitchFamily="49" charset="0"/>
              </a:rPr>
              <a:t>especialiazed</a:t>
            </a:r>
            <a:r>
              <a:rPr lang="en-US" dirty="0">
                <a:solidFill>
                  <a:srgbClr val="000000"/>
                </a:solidFill>
                <a:latin typeface="Menlo" panose="020B0609030804020204" pitchFamily="49" charset="0"/>
              </a:rPr>
              <a:t> for </a:t>
            </a:r>
            <a:r>
              <a:rPr lang="en-US" dirty="0" err="1">
                <a:solidFill>
                  <a:srgbClr val="000000"/>
                </a:solidFill>
                <a:latin typeface="Menlo" panose="020B0609030804020204" pitchFamily="49" charset="0"/>
              </a:rPr>
              <a:t>ASTPlusNode</a:t>
            </a:r>
            <a:endParaRPr lang="en-US" dirty="0">
              <a:solidFill>
                <a:srgbClr val="2EAEBB"/>
              </a:solidFill>
              <a:latin typeface="Menlo" panose="020B0609030804020204" pitchFamily="49" charset="0"/>
            </a:endParaRP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if</a:t>
            </a:r>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.node_type</a:t>
            </a:r>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is</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Types.INT</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return</a:t>
            </a:r>
            <a:r>
              <a:rPr lang="en-US" dirty="0">
                <a:solidFill>
                  <a:srgbClr val="000000"/>
                </a:solidFill>
                <a:latin typeface="Menlo" panose="020B0609030804020204" pitchFamily="49" charset="0"/>
              </a:rPr>
              <a:t> </a:t>
            </a:r>
            <a:r>
              <a:rPr lang="en-US" dirty="0">
                <a:solidFill>
                  <a:srgbClr val="2FB41D"/>
                </a:solidFill>
                <a:latin typeface="Menlo" panose="020B0609030804020204" pitchFamily="49" charset="0"/>
              </a:rPr>
              <a:t>"</a:t>
            </a:r>
            <a:r>
              <a:rPr lang="en-US" dirty="0" err="1">
                <a:solidFill>
                  <a:srgbClr val="2FB41D"/>
                </a:solidFill>
                <a:latin typeface="Menlo" panose="020B0609030804020204" pitchFamily="49" charset="0"/>
              </a:rPr>
              <a:t>addi</a:t>
            </a:r>
            <a:r>
              <a:rPr lang="en-US" dirty="0">
                <a:solidFill>
                  <a:srgbClr val="2FB41D"/>
                </a:solidFill>
                <a:latin typeface="Menlo" panose="020B0609030804020204" pitchFamily="49" charset="0"/>
              </a:rPr>
              <a:t>"</a:t>
            </a:r>
            <a:endParaRPr lang="en-US" dirty="0">
              <a:solidFill>
                <a:srgbClr val="000000"/>
              </a:solidFill>
              <a:latin typeface="Menlo" panose="020B0609030804020204" pitchFamily="49" charset="0"/>
            </a:endParaRP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else</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return</a:t>
            </a:r>
            <a:r>
              <a:rPr lang="en-US" dirty="0">
                <a:solidFill>
                  <a:srgbClr val="000000"/>
                </a:solidFill>
                <a:latin typeface="Menlo" panose="020B0609030804020204" pitchFamily="49" charset="0"/>
              </a:rPr>
              <a:t> </a:t>
            </a:r>
            <a:r>
              <a:rPr lang="en-US" dirty="0">
                <a:solidFill>
                  <a:srgbClr val="2FB41D"/>
                </a:solidFill>
                <a:latin typeface="Menlo" panose="020B0609030804020204" pitchFamily="49" charset="0"/>
              </a:rPr>
              <a:t>"</a:t>
            </a:r>
            <a:r>
              <a:rPr lang="en-US" dirty="0" err="1">
                <a:solidFill>
                  <a:srgbClr val="2FB41D"/>
                </a:solidFill>
                <a:latin typeface="Menlo" panose="020B0609030804020204" pitchFamily="49" charset="0"/>
              </a:rPr>
              <a:t>addf</a:t>
            </a:r>
            <a:r>
              <a:rPr lang="en-US" dirty="0">
                <a:solidFill>
                  <a:srgbClr val="2FB41D"/>
                </a:solidFill>
                <a:latin typeface="Menlo" panose="020B0609030804020204" pitchFamily="49" charset="0"/>
              </a:rPr>
              <a:t>"</a:t>
            </a:r>
            <a:endParaRPr lang="en-US" dirty="0">
              <a:solidFill>
                <a:srgbClr val="000000"/>
              </a:solidFill>
              <a:effectLst/>
              <a:latin typeface="Menlo" panose="020B0609030804020204" pitchFamily="49" charset="0"/>
            </a:endParaRPr>
          </a:p>
        </p:txBody>
      </p:sp>
      <p:sp>
        <p:nvSpPr>
          <p:cNvPr id="4" name="Rectangle 3">
            <a:extLst>
              <a:ext uri="{FF2B5EF4-FFF2-40B4-BE49-F238E27FC236}">
                <a16:creationId xmlns:a16="http://schemas.microsoft.com/office/drawing/2014/main" id="{370CED32-BBF4-5360-E12A-7CF9E79D0E4E}"/>
              </a:ext>
            </a:extLst>
          </p:cNvPr>
          <p:cNvSpPr/>
          <p:nvPr/>
        </p:nvSpPr>
        <p:spPr>
          <a:xfrm>
            <a:off x="500903" y="1994329"/>
            <a:ext cx="5129348" cy="2031325"/>
          </a:xfrm>
          <a:prstGeom prst="rect">
            <a:avLst/>
          </a:prstGeom>
        </p:spPr>
        <p:txBody>
          <a:bodyPr wrap="square">
            <a:spAutoFit/>
          </a:bodyPr>
          <a:lstStyle/>
          <a:p>
            <a:r>
              <a:rPr lang="en-US" b="1" dirty="0">
                <a:solidFill>
                  <a:srgbClr val="2EAEBB"/>
                </a:solidFill>
                <a:latin typeface="Menlo" panose="020B0609030804020204" pitchFamily="49" charset="0"/>
              </a:rPr>
              <a:t>class</a:t>
            </a:r>
            <a:r>
              <a:rPr lang="en-US" dirty="0">
                <a:solidFill>
                  <a:srgbClr val="000000"/>
                </a:solidFill>
                <a:latin typeface="Menlo" panose="020B0609030804020204" pitchFamily="49" charset="0"/>
              </a:rPr>
              <a:t> </a:t>
            </a:r>
            <a:r>
              <a:rPr lang="en-US" dirty="0" err="1">
                <a:solidFill>
                  <a:srgbClr val="2FB41D"/>
                </a:solidFill>
                <a:latin typeface="Menlo" panose="020B0609030804020204" pitchFamily="49" charset="0"/>
              </a:rPr>
              <a:t>ASTPlusNode</a:t>
            </a:r>
            <a:r>
              <a:rPr lang="en-US" dirty="0">
                <a:solidFill>
                  <a:srgbClr val="000000"/>
                </a:solidFill>
                <a:latin typeface="Menlo" panose="020B0609030804020204" pitchFamily="49" charset="0"/>
              </a:rPr>
              <a:t>(</a:t>
            </a:r>
            <a:r>
              <a:rPr lang="en-US" dirty="0" err="1">
                <a:solidFill>
                  <a:srgbClr val="000000"/>
                </a:solidFill>
                <a:latin typeface="Menlo" panose="020B0609030804020204" pitchFamily="49" charset="0"/>
              </a:rPr>
              <a:t>ASTBinOpNode</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def</a:t>
            </a:r>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__</a:t>
            </a:r>
            <a:r>
              <a:rPr lang="en-US" b="1" dirty="0" err="1">
                <a:solidFill>
                  <a:srgbClr val="400BD9"/>
                </a:solidFill>
                <a:latin typeface="Menlo" panose="020B0609030804020204" pitchFamily="49" charset="0"/>
              </a:rPr>
              <a:t>init</a:t>
            </a:r>
            <a:r>
              <a:rPr lang="en-US" b="1" dirty="0">
                <a:solidFill>
                  <a:srgbClr val="400BD9"/>
                </a:solidFill>
                <a:latin typeface="Menlo" panose="020B0609030804020204" pitchFamily="49" charset="0"/>
              </a:rPr>
              <a:t>__</a:t>
            </a:r>
            <a:r>
              <a:rPr lang="en-US" dirty="0">
                <a:solidFill>
                  <a:srgbClr val="000000"/>
                </a:solidFill>
                <a:latin typeface="Menlo" panose="020B0609030804020204" pitchFamily="49" charset="0"/>
              </a:rPr>
              <a:t>(</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l_child</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r_child</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super</a:t>
            </a:r>
            <a:r>
              <a:rPr lang="en-US" dirty="0">
                <a:solidFill>
                  <a:srgbClr val="000000"/>
                </a:solidFill>
                <a:latin typeface="Menlo" panose="020B0609030804020204" pitchFamily="49" charset="0"/>
              </a:rPr>
              <a:t>().__</a:t>
            </a:r>
            <a:r>
              <a:rPr lang="en-US" dirty="0" err="1">
                <a:solidFill>
                  <a:srgbClr val="000000"/>
                </a:solidFill>
                <a:latin typeface="Menlo" panose="020B0609030804020204" pitchFamily="49" charset="0"/>
              </a:rPr>
              <a:t>init</a:t>
            </a:r>
            <a:r>
              <a:rPr lang="en-US" dirty="0">
                <a:solidFill>
                  <a:srgbClr val="000000"/>
                </a:solidFill>
                <a:latin typeface="Menlo" panose="020B0609030804020204" pitchFamily="49" charset="0"/>
              </a:rPr>
              <a:t>__(</a:t>
            </a:r>
            <a:r>
              <a:rPr lang="en-US" dirty="0" err="1">
                <a:solidFill>
                  <a:srgbClr val="000000"/>
                </a:solidFill>
                <a:latin typeface="Menlo" panose="020B0609030804020204" pitchFamily="49" charset="0"/>
              </a:rPr>
              <a:t>l_child,r_child</a:t>
            </a:r>
            <a:r>
              <a:rPr lang="en-US" dirty="0">
                <a:solidFill>
                  <a:srgbClr val="000000"/>
                </a:solidFill>
                <a:latin typeface="Menlo" panose="020B0609030804020204" pitchFamily="49" charset="0"/>
              </a:rPr>
              <a:t>)</a:t>
            </a:r>
          </a:p>
          <a:p>
            <a:br>
              <a:rPr lang="en-US" dirty="0">
                <a:solidFill>
                  <a:srgbClr val="000000"/>
                </a:solidFill>
                <a:latin typeface="Menlo" panose="020B0609030804020204" pitchFamily="49" charset="0"/>
              </a:rPr>
            </a:br>
            <a:r>
              <a:rPr lang="en-US" dirty="0">
                <a:solidFill>
                  <a:srgbClr val="000000"/>
                </a:solidFill>
                <a:latin typeface="Menlo" panose="020B0609030804020204" pitchFamily="49" charset="0"/>
              </a:rPr>
              <a:t>    </a:t>
            </a:r>
            <a:r>
              <a:rPr lang="en-US" dirty="0">
                <a:solidFill>
                  <a:srgbClr val="B42419"/>
                </a:solidFill>
                <a:latin typeface="Menlo" panose="020B0609030804020204" pitchFamily="49" charset="0"/>
              </a:rPr>
              <a:t># return a string of the three address instruction</a:t>
            </a:r>
          </a:p>
          <a:p>
            <a:r>
              <a:rPr lang="en-US" dirty="0">
                <a:solidFill>
                  <a:srgbClr val="B42419"/>
                </a:solidFill>
                <a:latin typeface="Menlo" panose="020B0609030804020204" pitchFamily="49" charset="0"/>
              </a:rPr>
              <a:t>    # that this node encodes</a:t>
            </a:r>
            <a:endParaRPr lang="en-US" dirty="0">
              <a:solidFill>
                <a:srgbClr val="000000"/>
              </a:solidFill>
              <a:latin typeface="Menlo" panose="020B0609030804020204" pitchFamily="49" charset="0"/>
            </a:endParaRP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def</a:t>
            </a:r>
            <a:r>
              <a:rPr lang="en-US" dirty="0">
                <a:solidFill>
                  <a:srgbClr val="000000"/>
                </a:solidFill>
                <a:latin typeface="Menlo" panose="020B0609030804020204" pitchFamily="49" charset="0"/>
              </a:rPr>
              <a:t> </a:t>
            </a:r>
            <a:r>
              <a:rPr lang="en-US" b="1" dirty="0" err="1">
                <a:solidFill>
                  <a:srgbClr val="400BD9"/>
                </a:solidFill>
                <a:latin typeface="Menlo" panose="020B0609030804020204" pitchFamily="49" charset="0"/>
              </a:rPr>
              <a:t>three_addr_code</a:t>
            </a:r>
            <a:r>
              <a:rPr lang="en-US" dirty="0">
                <a:solidFill>
                  <a:srgbClr val="000000"/>
                </a:solidFill>
                <a:latin typeface="Menlo" panose="020B0609030804020204" pitchFamily="49" charset="0"/>
              </a:rPr>
              <a:t>(</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a:t>
            </a:r>
            <a:endParaRPr lang="en-US" dirty="0">
              <a:solidFill>
                <a:srgbClr val="400BD9"/>
              </a:solidFill>
              <a:effectLst/>
              <a:latin typeface="Menlo" panose="020B0609030804020204" pitchFamily="49" charset="0"/>
            </a:endParaRPr>
          </a:p>
        </p:txBody>
      </p:sp>
      <p:cxnSp>
        <p:nvCxnSpPr>
          <p:cNvPr id="16" name="Straight Connector 15">
            <a:extLst>
              <a:ext uri="{FF2B5EF4-FFF2-40B4-BE49-F238E27FC236}">
                <a16:creationId xmlns:a16="http://schemas.microsoft.com/office/drawing/2014/main" id="{F4EDC2C8-2223-5456-258D-72546A145BAF}"/>
              </a:ext>
            </a:extLst>
          </p:cNvPr>
          <p:cNvCxnSpPr>
            <a:cxnSpLocks/>
          </p:cNvCxnSpPr>
          <p:nvPr/>
        </p:nvCxnSpPr>
        <p:spPr>
          <a:xfrm flipH="1">
            <a:off x="5943386" y="2224860"/>
            <a:ext cx="1224374" cy="458418"/>
          </a:xfrm>
          <a:prstGeom prst="line">
            <a:avLst/>
          </a:prstGeom>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F15E62F6-7000-9886-BE93-1FD3719BB04A}"/>
              </a:ext>
            </a:extLst>
          </p:cNvPr>
          <p:cNvSpPr txBox="1"/>
          <p:nvPr/>
        </p:nvSpPr>
        <p:spPr>
          <a:xfrm>
            <a:off x="3178123" y="5306619"/>
            <a:ext cx="5121915" cy="584775"/>
          </a:xfrm>
          <a:prstGeom prst="rect">
            <a:avLst/>
          </a:prstGeom>
          <a:noFill/>
        </p:spPr>
        <p:txBody>
          <a:bodyPr wrap="none" rtlCol="0">
            <a:spAutoFit/>
          </a:bodyPr>
          <a:lstStyle/>
          <a:p>
            <a:r>
              <a:rPr lang="en-US" sz="3200" b="1" dirty="0">
                <a:highlight>
                  <a:srgbClr val="FFFF00"/>
                </a:highlight>
                <a:latin typeface="Courier" pitchFamily="2" charset="0"/>
              </a:rPr>
              <a:t>vr2 = </a:t>
            </a:r>
            <a:r>
              <a:rPr lang="en-US" sz="3200" b="1" dirty="0" err="1">
                <a:highlight>
                  <a:srgbClr val="FFFF00"/>
                </a:highlight>
                <a:latin typeface="Courier" pitchFamily="2" charset="0"/>
              </a:rPr>
              <a:t>addi</a:t>
            </a:r>
            <a:r>
              <a:rPr lang="en-US" sz="3200" b="1" dirty="0">
                <a:highlight>
                  <a:srgbClr val="FFFF00"/>
                </a:highlight>
                <a:latin typeface="Courier" pitchFamily="2" charset="0"/>
              </a:rPr>
              <a:t>(vr0,vr1);</a:t>
            </a:r>
          </a:p>
        </p:txBody>
      </p:sp>
    </p:spTree>
    <p:extLst>
      <p:ext uri="{BB962C8B-B14F-4D97-AF65-F5344CB8AC3E}">
        <p14:creationId xmlns:p14="http://schemas.microsoft.com/office/powerpoint/2010/main" val="5042194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1CD2E-2387-4BC6-E9C4-B4CA6D1F69E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9C7067B-7281-C90A-3967-C34630EC014D}"/>
              </a:ext>
            </a:extLst>
          </p:cNvPr>
          <p:cNvSpPr txBox="1"/>
          <p:nvPr/>
        </p:nvSpPr>
        <p:spPr>
          <a:xfrm>
            <a:off x="283784" y="80942"/>
            <a:ext cx="2252540" cy="1200329"/>
          </a:xfrm>
          <a:prstGeom prst="rect">
            <a:avLst/>
          </a:prstGeom>
          <a:noFill/>
          <a:ln>
            <a:solidFill>
              <a:schemeClr val="tx1"/>
            </a:solidFill>
          </a:ln>
        </p:spPr>
        <p:txBody>
          <a:bodyPr wrap="none" rtlCol="0">
            <a:spAutoFit/>
          </a:bodyPr>
          <a:lstStyle/>
          <a:p>
            <a:r>
              <a:rPr lang="en-US" dirty="0">
                <a:latin typeface="Courier" pitchFamily="2" charset="0"/>
              </a:rPr>
              <a:t>int x;</a:t>
            </a:r>
          </a:p>
          <a:p>
            <a:r>
              <a:rPr lang="en-US" dirty="0">
                <a:latin typeface="Courier" pitchFamily="2" charset="0"/>
              </a:rPr>
              <a:t>int y;</a:t>
            </a:r>
          </a:p>
          <a:p>
            <a:r>
              <a:rPr lang="en-US" dirty="0">
                <a:latin typeface="Courier" pitchFamily="2" charset="0"/>
              </a:rPr>
              <a:t>float w;</a:t>
            </a:r>
            <a:br>
              <a:rPr lang="en-US" dirty="0">
                <a:latin typeface="Courier" pitchFamily="2" charset="0"/>
              </a:rPr>
            </a:br>
            <a:r>
              <a:rPr lang="en-US" dirty="0">
                <a:latin typeface="Courier" pitchFamily="2" charset="0"/>
              </a:rPr>
              <a:t>w = x + y + 5.5</a:t>
            </a:r>
          </a:p>
        </p:txBody>
      </p:sp>
      <p:sp>
        <p:nvSpPr>
          <p:cNvPr id="7" name="TextBox 6">
            <a:extLst>
              <a:ext uri="{FF2B5EF4-FFF2-40B4-BE49-F238E27FC236}">
                <a16:creationId xmlns:a16="http://schemas.microsoft.com/office/drawing/2014/main" id="{122181D3-583B-74BC-BA96-4DB80DAC2264}"/>
              </a:ext>
            </a:extLst>
          </p:cNvPr>
          <p:cNvSpPr txBox="1"/>
          <p:nvPr/>
        </p:nvSpPr>
        <p:spPr>
          <a:xfrm>
            <a:off x="4140557" y="3082025"/>
            <a:ext cx="1636474" cy="369332"/>
          </a:xfrm>
          <a:prstGeom prst="rect">
            <a:avLst/>
          </a:prstGeom>
          <a:noFill/>
        </p:spPr>
        <p:txBody>
          <a:bodyPr wrap="none" rtlCol="0">
            <a:spAutoFit/>
          </a:bodyPr>
          <a:lstStyle/>
          <a:p>
            <a:r>
              <a:rPr lang="en-US" dirty="0"/>
              <a:t>AST&lt;x, int, vr0&gt;</a:t>
            </a:r>
          </a:p>
        </p:txBody>
      </p:sp>
      <p:sp>
        <p:nvSpPr>
          <p:cNvPr id="8" name="TextBox 7">
            <a:extLst>
              <a:ext uri="{FF2B5EF4-FFF2-40B4-BE49-F238E27FC236}">
                <a16:creationId xmlns:a16="http://schemas.microsoft.com/office/drawing/2014/main" id="{0D4A25E5-EB0E-5BFB-949C-A5656BAA669D}"/>
              </a:ext>
            </a:extLst>
          </p:cNvPr>
          <p:cNvSpPr txBox="1"/>
          <p:nvPr/>
        </p:nvSpPr>
        <p:spPr>
          <a:xfrm>
            <a:off x="5282720" y="2284842"/>
            <a:ext cx="1599605" cy="369332"/>
          </a:xfrm>
          <a:prstGeom prst="rect">
            <a:avLst/>
          </a:prstGeom>
          <a:noFill/>
        </p:spPr>
        <p:txBody>
          <a:bodyPr wrap="none" rtlCol="0">
            <a:spAutoFit/>
          </a:bodyPr>
          <a:lstStyle/>
          <a:p>
            <a:r>
              <a:rPr lang="en-US" dirty="0"/>
              <a:t>AST&lt;+,int, vr2&gt;</a:t>
            </a:r>
          </a:p>
        </p:txBody>
      </p:sp>
      <p:cxnSp>
        <p:nvCxnSpPr>
          <p:cNvPr id="9" name="Straight Connector 8">
            <a:extLst>
              <a:ext uri="{FF2B5EF4-FFF2-40B4-BE49-F238E27FC236}">
                <a16:creationId xmlns:a16="http://schemas.microsoft.com/office/drawing/2014/main" id="{497EB17F-FE46-1A27-02F9-B9680560A3B3}"/>
              </a:ext>
            </a:extLst>
          </p:cNvPr>
          <p:cNvCxnSpPr>
            <a:cxnSpLocks/>
          </p:cNvCxnSpPr>
          <p:nvPr/>
        </p:nvCxnSpPr>
        <p:spPr>
          <a:xfrm flipH="1">
            <a:off x="4344862" y="2651859"/>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E5692568-90B3-7EEC-4398-3A5AC08081C4}"/>
              </a:ext>
            </a:extLst>
          </p:cNvPr>
          <p:cNvCxnSpPr>
            <a:cxnSpLocks/>
          </p:cNvCxnSpPr>
          <p:nvPr/>
        </p:nvCxnSpPr>
        <p:spPr>
          <a:xfrm>
            <a:off x="5569235" y="2651859"/>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40131F0B-8E1B-C8FD-5ECE-F5C516728A05}"/>
              </a:ext>
            </a:extLst>
          </p:cNvPr>
          <p:cNvSpPr txBox="1"/>
          <p:nvPr/>
        </p:nvSpPr>
        <p:spPr>
          <a:xfrm>
            <a:off x="6513402" y="3082025"/>
            <a:ext cx="1624804" cy="369332"/>
          </a:xfrm>
          <a:prstGeom prst="rect">
            <a:avLst/>
          </a:prstGeom>
          <a:noFill/>
        </p:spPr>
        <p:txBody>
          <a:bodyPr wrap="none" rtlCol="0">
            <a:spAutoFit/>
          </a:bodyPr>
          <a:lstStyle/>
          <a:p>
            <a:r>
              <a:rPr lang="en-US" dirty="0"/>
              <a:t>AST&lt;y, int, vr1&gt;</a:t>
            </a:r>
          </a:p>
        </p:txBody>
      </p:sp>
      <p:sp>
        <p:nvSpPr>
          <p:cNvPr id="12" name="TextBox 11">
            <a:extLst>
              <a:ext uri="{FF2B5EF4-FFF2-40B4-BE49-F238E27FC236}">
                <a16:creationId xmlns:a16="http://schemas.microsoft.com/office/drawing/2014/main" id="{4B28FB4E-5A3E-C915-9B7F-82F7FC745BA4}"/>
              </a:ext>
            </a:extLst>
          </p:cNvPr>
          <p:cNvSpPr txBox="1"/>
          <p:nvPr/>
        </p:nvSpPr>
        <p:spPr>
          <a:xfrm>
            <a:off x="7211920" y="911939"/>
            <a:ext cx="1780744" cy="369332"/>
          </a:xfrm>
          <a:prstGeom prst="rect">
            <a:avLst/>
          </a:prstGeom>
          <a:noFill/>
        </p:spPr>
        <p:txBody>
          <a:bodyPr wrap="none" rtlCol="0">
            <a:spAutoFit/>
          </a:bodyPr>
          <a:lstStyle/>
          <a:p>
            <a:r>
              <a:rPr lang="en-US" dirty="0"/>
              <a:t>AST&lt;+,float, vr5&gt;</a:t>
            </a:r>
          </a:p>
        </p:txBody>
      </p:sp>
      <p:cxnSp>
        <p:nvCxnSpPr>
          <p:cNvPr id="13" name="Straight Connector 12">
            <a:extLst>
              <a:ext uri="{FF2B5EF4-FFF2-40B4-BE49-F238E27FC236}">
                <a16:creationId xmlns:a16="http://schemas.microsoft.com/office/drawing/2014/main" id="{D33C1477-A80B-3B73-405C-9AB2C1BF1748}"/>
              </a:ext>
            </a:extLst>
          </p:cNvPr>
          <p:cNvCxnSpPr>
            <a:cxnSpLocks/>
            <a:stCxn id="20" idx="2"/>
            <a:endCxn id="8" idx="0"/>
          </p:cNvCxnSpPr>
          <p:nvPr/>
        </p:nvCxnSpPr>
        <p:spPr>
          <a:xfrm flipH="1">
            <a:off x="6082523" y="1825742"/>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76349804-72CF-5146-DB65-C1C15A4995D6}"/>
              </a:ext>
            </a:extLst>
          </p:cNvPr>
          <p:cNvCxnSpPr>
            <a:cxnSpLocks/>
            <a:stCxn id="12" idx="2"/>
            <a:endCxn id="15" idx="0"/>
          </p:cNvCxnSpPr>
          <p:nvPr/>
        </p:nvCxnSpPr>
        <p:spPr>
          <a:xfrm>
            <a:off x="8102292" y="1281271"/>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FBA2148A-03C5-F86E-4B48-39334FC848DF}"/>
              </a:ext>
            </a:extLst>
          </p:cNvPr>
          <p:cNvSpPr txBox="1"/>
          <p:nvPr/>
        </p:nvSpPr>
        <p:spPr>
          <a:xfrm>
            <a:off x="8443852" y="2296698"/>
            <a:ext cx="2009974" cy="369332"/>
          </a:xfrm>
          <a:prstGeom prst="rect">
            <a:avLst/>
          </a:prstGeom>
          <a:noFill/>
        </p:spPr>
        <p:txBody>
          <a:bodyPr wrap="none" rtlCol="0">
            <a:spAutoFit/>
          </a:bodyPr>
          <a:lstStyle/>
          <a:p>
            <a:r>
              <a:rPr lang="en-US" dirty="0"/>
              <a:t>AST&lt;5.5, float, vr4&gt;</a:t>
            </a:r>
          </a:p>
        </p:txBody>
      </p:sp>
      <p:sp>
        <p:nvSpPr>
          <p:cNvPr id="20" name="TextBox 19">
            <a:extLst>
              <a:ext uri="{FF2B5EF4-FFF2-40B4-BE49-F238E27FC236}">
                <a16:creationId xmlns:a16="http://schemas.microsoft.com/office/drawing/2014/main" id="{C47066A1-2E14-5799-2510-95570764CF1D}"/>
              </a:ext>
            </a:extLst>
          </p:cNvPr>
          <p:cNvSpPr txBox="1"/>
          <p:nvPr/>
        </p:nvSpPr>
        <p:spPr>
          <a:xfrm>
            <a:off x="5221319" y="1456410"/>
            <a:ext cx="2515497" cy="369332"/>
          </a:xfrm>
          <a:prstGeom prst="rect">
            <a:avLst/>
          </a:prstGeom>
          <a:noFill/>
        </p:spPr>
        <p:txBody>
          <a:bodyPr wrap="none" rtlCol="0">
            <a:spAutoFit/>
          </a:bodyPr>
          <a:lstStyle/>
          <a:p>
            <a:r>
              <a:rPr lang="en-US" dirty="0"/>
              <a:t>AST&lt;int2float, float, vr3&gt;</a:t>
            </a:r>
          </a:p>
        </p:txBody>
      </p:sp>
      <p:cxnSp>
        <p:nvCxnSpPr>
          <p:cNvPr id="21" name="Straight Connector 20">
            <a:extLst>
              <a:ext uri="{FF2B5EF4-FFF2-40B4-BE49-F238E27FC236}">
                <a16:creationId xmlns:a16="http://schemas.microsoft.com/office/drawing/2014/main" id="{F57C92A3-0F0A-0F40-BD4F-F2F6F5FE590F}"/>
              </a:ext>
            </a:extLst>
          </p:cNvPr>
          <p:cNvCxnSpPr>
            <a:cxnSpLocks/>
            <a:stCxn id="12" idx="2"/>
            <a:endCxn id="20" idx="0"/>
          </p:cNvCxnSpPr>
          <p:nvPr/>
        </p:nvCxnSpPr>
        <p:spPr>
          <a:xfrm flipH="1">
            <a:off x="6479068" y="1281271"/>
            <a:ext cx="1623224" cy="175139"/>
          </a:xfrm>
          <a:prstGeom prst="line">
            <a:avLst/>
          </a:prstGeom>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A49DB0F9-7287-D672-3FC3-2C66DA65D514}"/>
              </a:ext>
            </a:extLst>
          </p:cNvPr>
          <p:cNvSpPr txBox="1"/>
          <p:nvPr/>
        </p:nvSpPr>
        <p:spPr>
          <a:xfrm>
            <a:off x="8775565" y="2711791"/>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vr4 = float2vr(5.5);</a:t>
            </a:r>
          </a:p>
        </p:txBody>
      </p:sp>
      <p:sp>
        <p:nvSpPr>
          <p:cNvPr id="22" name="TextBox 21">
            <a:extLst>
              <a:ext uri="{FF2B5EF4-FFF2-40B4-BE49-F238E27FC236}">
                <a16:creationId xmlns:a16="http://schemas.microsoft.com/office/drawing/2014/main" id="{61184B81-5DB6-5922-36CD-A6EB0C7252D7}"/>
              </a:ext>
            </a:extLst>
          </p:cNvPr>
          <p:cNvSpPr txBox="1"/>
          <p:nvPr/>
        </p:nvSpPr>
        <p:spPr>
          <a:xfrm>
            <a:off x="7033134" y="3448250"/>
            <a:ext cx="2159566" cy="338554"/>
          </a:xfrm>
          <a:prstGeom prst="rect">
            <a:avLst/>
          </a:prstGeom>
          <a:noFill/>
          <a:ln>
            <a:solidFill>
              <a:schemeClr val="tx1"/>
            </a:solidFill>
          </a:ln>
        </p:spPr>
        <p:txBody>
          <a:bodyPr wrap="none" rtlCol="0">
            <a:spAutoFit/>
          </a:bodyPr>
          <a:lstStyle/>
          <a:p>
            <a:r>
              <a:rPr lang="en-US" sz="1600" b="1" dirty="0">
                <a:latin typeface="Courier" pitchFamily="2" charset="0"/>
              </a:rPr>
              <a:t>vr1 = int2vr(y);</a:t>
            </a:r>
          </a:p>
        </p:txBody>
      </p:sp>
      <p:sp>
        <p:nvSpPr>
          <p:cNvPr id="23" name="TextBox 22">
            <a:extLst>
              <a:ext uri="{FF2B5EF4-FFF2-40B4-BE49-F238E27FC236}">
                <a16:creationId xmlns:a16="http://schemas.microsoft.com/office/drawing/2014/main" id="{4C0EBC06-5A9F-D46B-47BB-83D31FC2EB9D}"/>
              </a:ext>
            </a:extLst>
          </p:cNvPr>
          <p:cNvSpPr txBox="1"/>
          <p:nvPr/>
        </p:nvSpPr>
        <p:spPr>
          <a:xfrm>
            <a:off x="3098053" y="3428784"/>
            <a:ext cx="2159566" cy="338554"/>
          </a:xfrm>
          <a:prstGeom prst="rect">
            <a:avLst/>
          </a:prstGeom>
          <a:noFill/>
          <a:ln>
            <a:solidFill>
              <a:schemeClr val="tx1"/>
            </a:solidFill>
          </a:ln>
        </p:spPr>
        <p:txBody>
          <a:bodyPr wrap="none" rtlCol="0">
            <a:spAutoFit/>
          </a:bodyPr>
          <a:lstStyle/>
          <a:p>
            <a:r>
              <a:rPr lang="en-US" sz="1600" b="1" dirty="0">
                <a:latin typeface="Courier" pitchFamily="2" charset="0"/>
              </a:rPr>
              <a:t>vr0 = int2vr(x);</a:t>
            </a:r>
          </a:p>
        </p:txBody>
      </p:sp>
      <p:sp>
        <p:nvSpPr>
          <p:cNvPr id="25" name="TextBox 24">
            <a:extLst>
              <a:ext uri="{FF2B5EF4-FFF2-40B4-BE49-F238E27FC236}">
                <a16:creationId xmlns:a16="http://schemas.microsoft.com/office/drawing/2014/main" id="{91B054F5-E695-BA8B-4A88-64D96FAC62A0}"/>
              </a:ext>
            </a:extLst>
          </p:cNvPr>
          <p:cNvSpPr txBox="1"/>
          <p:nvPr/>
        </p:nvSpPr>
        <p:spPr>
          <a:xfrm>
            <a:off x="2627290" y="2337212"/>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vr2 = </a:t>
            </a:r>
            <a:r>
              <a:rPr lang="en-US" sz="1600" b="1" dirty="0" err="1">
                <a:latin typeface="Courier" pitchFamily="2" charset="0"/>
              </a:rPr>
              <a:t>addi</a:t>
            </a:r>
            <a:r>
              <a:rPr lang="en-US" sz="1600" b="1" dirty="0">
                <a:latin typeface="Courier" pitchFamily="2" charset="0"/>
              </a:rPr>
              <a:t>(vr0,vr1);</a:t>
            </a:r>
          </a:p>
        </p:txBody>
      </p:sp>
      <p:sp>
        <p:nvSpPr>
          <p:cNvPr id="26" name="TextBox 25">
            <a:extLst>
              <a:ext uri="{FF2B5EF4-FFF2-40B4-BE49-F238E27FC236}">
                <a16:creationId xmlns:a16="http://schemas.microsoft.com/office/drawing/2014/main" id="{97CABCF9-1E16-F263-04E8-20CCADBA7E65}"/>
              </a:ext>
            </a:extLst>
          </p:cNvPr>
          <p:cNvSpPr txBox="1"/>
          <p:nvPr/>
        </p:nvSpPr>
        <p:spPr>
          <a:xfrm>
            <a:off x="2074304" y="1475936"/>
            <a:ext cx="3147015" cy="338554"/>
          </a:xfrm>
          <a:prstGeom prst="rect">
            <a:avLst/>
          </a:prstGeom>
          <a:noFill/>
          <a:ln>
            <a:solidFill>
              <a:schemeClr val="tx1"/>
            </a:solidFill>
          </a:ln>
        </p:spPr>
        <p:txBody>
          <a:bodyPr wrap="none" rtlCol="0">
            <a:spAutoFit/>
          </a:bodyPr>
          <a:lstStyle/>
          <a:p>
            <a:r>
              <a:rPr lang="en-US" sz="1600" b="1" dirty="0">
                <a:latin typeface="Courier" pitchFamily="2" charset="0"/>
              </a:rPr>
              <a:t>vr3 = vr_int2float(vr2);</a:t>
            </a:r>
          </a:p>
        </p:txBody>
      </p:sp>
      <p:sp>
        <p:nvSpPr>
          <p:cNvPr id="27" name="TextBox 26">
            <a:extLst>
              <a:ext uri="{FF2B5EF4-FFF2-40B4-BE49-F238E27FC236}">
                <a16:creationId xmlns:a16="http://schemas.microsoft.com/office/drawing/2014/main" id="{E7283FD7-27AE-714B-F512-9F4C41746AF2}"/>
              </a:ext>
            </a:extLst>
          </p:cNvPr>
          <p:cNvSpPr txBox="1"/>
          <p:nvPr/>
        </p:nvSpPr>
        <p:spPr>
          <a:xfrm>
            <a:off x="8624688" y="1274889"/>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vr5 = </a:t>
            </a:r>
            <a:r>
              <a:rPr lang="en-US" sz="1600" b="1" dirty="0" err="1">
                <a:latin typeface="Courier" pitchFamily="2" charset="0"/>
              </a:rPr>
              <a:t>addf</a:t>
            </a:r>
            <a:r>
              <a:rPr lang="en-US" sz="1600" b="1" dirty="0">
                <a:latin typeface="Courier" pitchFamily="2" charset="0"/>
              </a:rPr>
              <a:t>(vr3,vr4);</a:t>
            </a:r>
          </a:p>
        </p:txBody>
      </p:sp>
      <p:sp>
        <p:nvSpPr>
          <p:cNvPr id="2" name="TextBox 1">
            <a:extLst>
              <a:ext uri="{FF2B5EF4-FFF2-40B4-BE49-F238E27FC236}">
                <a16:creationId xmlns:a16="http://schemas.microsoft.com/office/drawing/2014/main" id="{BF0BFA00-25D2-EF07-6E00-B4FB162768F8}"/>
              </a:ext>
            </a:extLst>
          </p:cNvPr>
          <p:cNvSpPr txBox="1"/>
          <p:nvPr/>
        </p:nvSpPr>
        <p:spPr>
          <a:xfrm>
            <a:off x="4460956" y="4165243"/>
            <a:ext cx="4410876" cy="369332"/>
          </a:xfrm>
          <a:prstGeom prst="rect">
            <a:avLst/>
          </a:prstGeom>
          <a:noFill/>
        </p:spPr>
        <p:txBody>
          <a:bodyPr wrap="square" rtlCol="0">
            <a:spAutoFit/>
          </a:bodyPr>
          <a:lstStyle/>
          <a:p>
            <a:r>
              <a:rPr lang="en-US" dirty="0"/>
              <a:t>Each node generates its own 3-addr code IR</a:t>
            </a:r>
          </a:p>
        </p:txBody>
      </p:sp>
    </p:spTree>
    <p:extLst>
      <p:ext uri="{BB962C8B-B14F-4D97-AF65-F5344CB8AC3E}">
        <p14:creationId xmlns:p14="http://schemas.microsoft.com/office/powerpoint/2010/main" val="8954385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79925-BD27-15E4-FF02-C004A2E7299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ADB40AC-5358-6BA7-F1D4-F637BF8075F4}"/>
              </a:ext>
            </a:extLst>
          </p:cNvPr>
          <p:cNvSpPr txBox="1"/>
          <p:nvPr/>
        </p:nvSpPr>
        <p:spPr>
          <a:xfrm>
            <a:off x="283784" y="80942"/>
            <a:ext cx="2252540" cy="1200329"/>
          </a:xfrm>
          <a:prstGeom prst="rect">
            <a:avLst/>
          </a:prstGeom>
          <a:noFill/>
          <a:ln>
            <a:solidFill>
              <a:schemeClr val="tx1"/>
            </a:solidFill>
          </a:ln>
        </p:spPr>
        <p:txBody>
          <a:bodyPr wrap="none" rtlCol="0">
            <a:spAutoFit/>
          </a:bodyPr>
          <a:lstStyle/>
          <a:p>
            <a:r>
              <a:rPr lang="en-US" dirty="0">
                <a:latin typeface="Courier" pitchFamily="2" charset="0"/>
              </a:rPr>
              <a:t>int x;</a:t>
            </a:r>
          </a:p>
          <a:p>
            <a:r>
              <a:rPr lang="en-US" dirty="0">
                <a:latin typeface="Courier" pitchFamily="2" charset="0"/>
              </a:rPr>
              <a:t>int y;</a:t>
            </a:r>
          </a:p>
          <a:p>
            <a:r>
              <a:rPr lang="en-US" dirty="0">
                <a:latin typeface="Courier" pitchFamily="2" charset="0"/>
              </a:rPr>
              <a:t>float w;</a:t>
            </a:r>
            <a:br>
              <a:rPr lang="en-US" dirty="0">
                <a:latin typeface="Courier" pitchFamily="2" charset="0"/>
              </a:rPr>
            </a:br>
            <a:r>
              <a:rPr lang="en-US" dirty="0">
                <a:latin typeface="Courier" pitchFamily="2" charset="0"/>
              </a:rPr>
              <a:t>w = x + y + 5.5</a:t>
            </a:r>
          </a:p>
        </p:txBody>
      </p:sp>
      <p:sp>
        <p:nvSpPr>
          <p:cNvPr id="7" name="TextBox 6">
            <a:extLst>
              <a:ext uri="{FF2B5EF4-FFF2-40B4-BE49-F238E27FC236}">
                <a16:creationId xmlns:a16="http://schemas.microsoft.com/office/drawing/2014/main" id="{9A7107C7-17CB-787C-9133-BC045C1C8DF2}"/>
              </a:ext>
            </a:extLst>
          </p:cNvPr>
          <p:cNvSpPr txBox="1"/>
          <p:nvPr/>
        </p:nvSpPr>
        <p:spPr>
          <a:xfrm>
            <a:off x="4140557" y="3082025"/>
            <a:ext cx="1636474" cy="369332"/>
          </a:xfrm>
          <a:prstGeom prst="rect">
            <a:avLst/>
          </a:prstGeom>
          <a:noFill/>
        </p:spPr>
        <p:txBody>
          <a:bodyPr wrap="none" rtlCol="0">
            <a:spAutoFit/>
          </a:bodyPr>
          <a:lstStyle/>
          <a:p>
            <a:r>
              <a:rPr lang="en-US" dirty="0"/>
              <a:t>AST&lt;x, int, vr0&gt;</a:t>
            </a:r>
          </a:p>
        </p:txBody>
      </p:sp>
      <p:sp>
        <p:nvSpPr>
          <p:cNvPr id="8" name="TextBox 7">
            <a:extLst>
              <a:ext uri="{FF2B5EF4-FFF2-40B4-BE49-F238E27FC236}">
                <a16:creationId xmlns:a16="http://schemas.microsoft.com/office/drawing/2014/main" id="{B3A3C14A-B6EE-50DD-B956-54D2EA6A693B}"/>
              </a:ext>
            </a:extLst>
          </p:cNvPr>
          <p:cNvSpPr txBox="1"/>
          <p:nvPr/>
        </p:nvSpPr>
        <p:spPr>
          <a:xfrm>
            <a:off x="5282720" y="2284842"/>
            <a:ext cx="1599605" cy="369332"/>
          </a:xfrm>
          <a:prstGeom prst="rect">
            <a:avLst/>
          </a:prstGeom>
          <a:noFill/>
        </p:spPr>
        <p:txBody>
          <a:bodyPr wrap="none" rtlCol="0">
            <a:spAutoFit/>
          </a:bodyPr>
          <a:lstStyle/>
          <a:p>
            <a:r>
              <a:rPr lang="en-US" dirty="0"/>
              <a:t>AST&lt;+,int, vr2&gt;</a:t>
            </a:r>
          </a:p>
        </p:txBody>
      </p:sp>
      <p:cxnSp>
        <p:nvCxnSpPr>
          <p:cNvPr id="9" name="Straight Connector 8">
            <a:extLst>
              <a:ext uri="{FF2B5EF4-FFF2-40B4-BE49-F238E27FC236}">
                <a16:creationId xmlns:a16="http://schemas.microsoft.com/office/drawing/2014/main" id="{E394C138-47E1-FEDE-6C30-208559CA211C}"/>
              </a:ext>
            </a:extLst>
          </p:cNvPr>
          <p:cNvCxnSpPr>
            <a:cxnSpLocks/>
          </p:cNvCxnSpPr>
          <p:nvPr/>
        </p:nvCxnSpPr>
        <p:spPr>
          <a:xfrm flipH="1">
            <a:off x="4344862" y="2651859"/>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19EB309B-49BB-6F0B-9E0C-68BB4F6ED15E}"/>
              </a:ext>
            </a:extLst>
          </p:cNvPr>
          <p:cNvCxnSpPr>
            <a:cxnSpLocks/>
          </p:cNvCxnSpPr>
          <p:nvPr/>
        </p:nvCxnSpPr>
        <p:spPr>
          <a:xfrm>
            <a:off x="5569235" y="2651859"/>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E6754D99-A746-31A9-615D-444CEB402CCB}"/>
              </a:ext>
            </a:extLst>
          </p:cNvPr>
          <p:cNvSpPr txBox="1"/>
          <p:nvPr/>
        </p:nvSpPr>
        <p:spPr>
          <a:xfrm>
            <a:off x="6513402" y="3082025"/>
            <a:ext cx="1624804" cy="369332"/>
          </a:xfrm>
          <a:prstGeom prst="rect">
            <a:avLst/>
          </a:prstGeom>
          <a:noFill/>
        </p:spPr>
        <p:txBody>
          <a:bodyPr wrap="none" rtlCol="0">
            <a:spAutoFit/>
          </a:bodyPr>
          <a:lstStyle/>
          <a:p>
            <a:r>
              <a:rPr lang="en-US" dirty="0"/>
              <a:t>AST&lt;y, int, vr1&gt;</a:t>
            </a:r>
          </a:p>
        </p:txBody>
      </p:sp>
      <p:sp>
        <p:nvSpPr>
          <p:cNvPr id="12" name="TextBox 11">
            <a:extLst>
              <a:ext uri="{FF2B5EF4-FFF2-40B4-BE49-F238E27FC236}">
                <a16:creationId xmlns:a16="http://schemas.microsoft.com/office/drawing/2014/main" id="{656C28AB-48D8-FBB8-83E8-41474D305FE6}"/>
              </a:ext>
            </a:extLst>
          </p:cNvPr>
          <p:cNvSpPr txBox="1"/>
          <p:nvPr/>
        </p:nvSpPr>
        <p:spPr>
          <a:xfrm>
            <a:off x="7211920" y="911939"/>
            <a:ext cx="1780744" cy="369332"/>
          </a:xfrm>
          <a:prstGeom prst="rect">
            <a:avLst/>
          </a:prstGeom>
          <a:noFill/>
        </p:spPr>
        <p:txBody>
          <a:bodyPr wrap="none" rtlCol="0">
            <a:spAutoFit/>
          </a:bodyPr>
          <a:lstStyle/>
          <a:p>
            <a:r>
              <a:rPr lang="en-US" dirty="0"/>
              <a:t>AST&lt;+,float, vr5&gt;</a:t>
            </a:r>
          </a:p>
        </p:txBody>
      </p:sp>
      <p:cxnSp>
        <p:nvCxnSpPr>
          <p:cNvPr id="13" name="Straight Connector 12">
            <a:extLst>
              <a:ext uri="{FF2B5EF4-FFF2-40B4-BE49-F238E27FC236}">
                <a16:creationId xmlns:a16="http://schemas.microsoft.com/office/drawing/2014/main" id="{A3A5B71F-0148-F814-9C9F-49937275CF96}"/>
              </a:ext>
            </a:extLst>
          </p:cNvPr>
          <p:cNvCxnSpPr>
            <a:cxnSpLocks/>
            <a:stCxn id="20" idx="2"/>
            <a:endCxn id="8" idx="0"/>
          </p:cNvCxnSpPr>
          <p:nvPr/>
        </p:nvCxnSpPr>
        <p:spPr>
          <a:xfrm flipH="1">
            <a:off x="6082523" y="1825742"/>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1103E956-9E5B-19E6-8E12-75A4203663CE}"/>
              </a:ext>
            </a:extLst>
          </p:cNvPr>
          <p:cNvCxnSpPr>
            <a:cxnSpLocks/>
            <a:stCxn id="12" idx="2"/>
            <a:endCxn id="15" idx="0"/>
          </p:cNvCxnSpPr>
          <p:nvPr/>
        </p:nvCxnSpPr>
        <p:spPr>
          <a:xfrm>
            <a:off x="8102292" y="1281271"/>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6BC78C0F-CBEF-4CBD-517C-E9B18DF9D1F1}"/>
              </a:ext>
            </a:extLst>
          </p:cNvPr>
          <p:cNvSpPr txBox="1"/>
          <p:nvPr/>
        </p:nvSpPr>
        <p:spPr>
          <a:xfrm>
            <a:off x="8443852" y="2296698"/>
            <a:ext cx="2009974" cy="369332"/>
          </a:xfrm>
          <a:prstGeom prst="rect">
            <a:avLst/>
          </a:prstGeom>
          <a:noFill/>
        </p:spPr>
        <p:txBody>
          <a:bodyPr wrap="none" rtlCol="0">
            <a:spAutoFit/>
          </a:bodyPr>
          <a:lstStyle/>
          <a:p>
            <a:r>
              <a:rPr lang="en-US" dirty="0"/>
              <a:t>AST&lt;5.5, float, vr4&gt;</a:t>
            </a:r>
          </a:p>
        </p:txBody>
      </p:sp>
      <p:sp>
        <p:nvSpPr>
          <p:cNvPr id="20" name="TextBox 19">
            <a:extLst>
              <a:ext uri="{FF2B5EF4-FFF2-40B4-BE49-F238E27FC236}">
                <a16:creationId xmlns:a16="http://schemas.microsoft.com/office/drawing/2014/main" id="{BCB780BB-8D2B-1E2E-00E4-29B508E8C03B}"/>
              </a:ext>
            </a:extLst>
          </p:cNvPr>
          <p:cNvSpPr txBox="1"/>
          <p:nvPr/>
        </p:nvSpPr>
        <p:spPr>
          <a:xfrm>
            <a:off x="5221319" y="1456410"/>
            <a:ext cx="2515497" cy="369332"/>
          </a:xfrm>
          <a:prstGeom prst="rect">
            <a:avLst/>
          </a:prstGeom>
          <a:noFill/>
        </p:spPr>
        <p:txBody>
          <a:bodyPr wrap="none" rtlCol="0">
            <a:spAutoFit/>
          </a:bodyPr>
          <a:lstStyle/>
          <a:p>
            <a:r>
              <a:rPr lang="en-US" dirty="0"/>
              <a:t>AST&lt;int2float, float, vr3&gt;</a:t>
            </a:r>
          </a:p>
        </p:txBody>
      </p:sp>
      <p:cxnSp>
        <p:nvCxnSpPr>
          <p:cNvPr id="21" name="Straight Connector 20">
            <a:extLst>
              <a:ext uri="{FF2B5EF4-FFF2-40B4-BE49-F238E27FC236}">
                <a16:creationId xmlns:a16="http://schemas.microsoft.com/office/drawing/2014/main" id="{527CC249-231C-EA83-F196-D39BE879C870}"/>
              </a:ext>
            </a:extLst>
          </p:cNvPr>
          <p:cNvCxnSpPr>
            <a:cxnSpLocks/>
            <a:stCxn id="12" idx="2"/>
            <a:endCxn id="20" idx="0"/>
          </p:cNvCxnSpPr>
          <p:nvPr/>
        </p:nvCxnSpPr>
        <p:spPr>
          <a:xfrm flipH="1">
            <a:off x="6479068" y="1281271"/>
            <a:ext cx="1623224" cy="175139"/>
          </a:xfrm>
          <a:prstGeom prst="line">
            <a:avLst/>
          </a:prstGeom>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E3AB3B72-DF1B-A7ED-03D9-9F72589C38DC}"/>
              </a:ext>
            </a:extLst>
          </p:cNvPr>
          <p:cNvSpPr txBox="1"/>
          <p:nvPr/>
        </p:nvSpPr>
        <p:spPr>
          <a:xfrm>
            <a:off x="8775565" y="2711791"/>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vr4 = float2vr(5.5);</a:t>
            </a:r>
          </a:p>
        </p:txBody>
      </p:sp>
      <p:sp>
        <p:nvSpPr>
          <p:cNvPr id="22" name="TextBox 21">
            <a:extLst>
              <a:ext uri="{FF2B5EF4-FFF2-40B4-BE49-F238E27FC236}">
                <a16:creationId xmlns:a16="http://schemas.microsoft.com/office/drawing/2014/main" id="{C74ADE66-3565-05BA-4974-C02C582566A3}"/>
              </a:ext>
            </a:extLst>
          </p:cNvPr>
          <p:cNvSpPr txBox="1"/>
          <p:nvPr/>
        </p:nvSpPr>
        <p:spPr>
          <a:xfrm>
            <a:off x="7033134" y="3448250"/>
            <a:ext cx="2159566" cy="338554"/>
          </a:xfrm>
          <a:prstGeom prst="rect">
            <a:avLst/>
          </a:prstGeom>
          <a:noFill/>
          <a:ln>
            <a:solidFill>
              <a:schemeClr val="tx1"/>
            </a:solidFill>
          </a:ln>
        </p:spPr>
        <p:txBody>
          <a:bodyPr wrap="none" rtlCol="0">
            <a:spAutoFit/>
          </a:bodyPr>
          <a:lstStyle/>
          <a:p>
            <a:r>
              <a:rPr lang="en-US" sz="1600" b="1" dirty="0">
                <a:latin typeface="Courier" pitchFamily="2" charset="0"/>
              </a:rPr>
              <a:t>vr1 = int2vr(y);</a:t>
            </a:r>
          </a:p>
        </p:txBody>
      </p:sp>
      <p:sp>
        <p:nvSpPr>
          <p:cNvPr id="23" name="TextBox 22">
            <a:extLst>
              <a:ext uri="{FF2B5EF4-FFF2-40B4-BE49-F238E27FC236}">
                <a16:creationId xmlns:a16="http://schemas.microsoft.com/office/drawing/2014/main" id="{38422423-64E4-7DCD-8C4E-3996FCD45DDD}"/>
              </a:ext>
            </a:extLst>
          </p:cNvPr>
          <p:cNvSpPr txBox="1"/>
          <p:nvPr/>
        </p:nvSpPr>
        <p:spPr>
          <a:xfrm>
            <a:off x="3098053" y="3428784"/>
            <a:ext cx="2159566" cy="338554"/>
          </a:xfrm>
          <a:prstGeom prst="rect">
            <a:avLst/>
          </a:prstGeom>
          <a:noFill/>
          <a:ln>
            <a:solidFill>
              <a:schemeClr val="tx1"/>
            </a:solidFill>
          </a:ln>
        </p:spPr>
        <p:txBody>
          <a:bodyPr wrap="none" rtlCol="0">
            <a:spAutoFit/>
          </a:bodyPr>
          <a:lstStyle/>
          <a:p>
            <a:r>
              <a:rPr lang="en-US" sz="1600" b="1" dirty="0">
                <a:latin typeface="Courier" pitchFamily="2" charset="0"/>
              </a:rPr>
              <a:t>vr0 = int2vr(x);</a:t>
            </a:r>
          </a:p>
        </p:txBody>
      </p:sp>
      <p:sp>
        <p:nvSpPr>
          <p:cNvPr id="25" name="TextBox 24">
            <a:extLst>
              <a:ext uri="{FF2B5EF4-FFF2-40B4-BE49-F238E27FC236}">
                <a16:creationId xmlns:a16="http://schemas.microsoft.com/office/drawing/2014/main" id="{B8F40F3C-CE15-3C36-A5D1-DC7C6BAA3DEC}"/>
              </a:ext>
            </a:extLst>
          </p:cNvPr>
          <p:cNvSpPr txBox="1"/>
          <p:nvPr/>
        </p:nvSpPr>
        <p:spPr>
          <a:xfrm>
            <a:off x="2627290" y="2337212"/>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vr2 = </a:t>
            </a:r>
            <a:r>
              <a:rPr lang="en-US" sz="1600" b="1" dirty="0" err="1">
                <a:latin typeface="Courier" pitchFamily="2" charset="0"/>
              </a:rPr>
              <a:t>addi</a:t>
            </a:r>
            <a:r>
              <a:rPr lang="en-US" sz="1600" b="1" dirty="0">
                <a:latin typeface="Courier" pitchFamily="2" charset="0"/>
              </a:rPr>
              <a:t>(vr0,vr1);</a:t>
            </a:r>
          </a:p>
        </p:txBody>
      </p:sp>
      <p:sp>
        <p:nvSpPr>
          <p:cNvPr id="26" name="TextBox 25">
            <a:extLst>
              <a:ext uri="{FF2B5EF4-FFF2-40B4-BE49-F238E27FC236}">
                <a16:creationId xmlns:a16="http://schemas.microsoft.com/office/drawing/2014/main" id="{4E47CC10-A633-8FC8-1BE9-A8080CD61489}"/>
              </a:ext>
            </a:extLst>
          </p:cNvPr>
          <p:cNvSpPr txBox="1"/>
          <p:nvPr/>
        </p:nvSpPr>
        <p:spPr>
          <a:xfrm>
            <a:off x="2074304" y="1475936"/>
            <a:ext cx="3147015" cy="338554"/>
          </a:xfrm>
          <a:prstGeom prst="rect">
            <a:avLst/>
          </a:prstGeom>
          <a:noFill/>
          <a:ln>
            <a:solidFill>
              <a:schemeClr val="tx1"/>
            </a:solidFill>
          </a:ln>
        </p:spPr>
        <p:txBody>
          <a:bodyPr wrap="none" rtlCol="0">
            <a:spAutoFit/>
          </a:bodyPr>
          <a:lstStyle/>
          <a:p>
            <a:r>
              <a:rPr lang="en-US" sz="1600" b="1" dirty="0">
                <a:latin typeface="Courier" pitchFamily="2" charset="0"/>
              </a:rPr>
              <a:t>vr3 = vr_int2float(vr2);</a:t>
            </a:r>
          </a:p>
        </p:txBody>
      </p:sp>
      <p:sp>
        <p:nvSpPr>
          <p:cNvPr id="27" name="TextBox 26">
            <a:extLst>
              <a:ext uri="{FF2B5EF4-FFF2-40B4-BE49-F238E27FC236}">
                <a16:creationId xmlns:a16="http://schemas.microsoft.com/office/drawing/2014/main" id="{17732CD3-A978-4ADA-50EF-5AFA8FFA90F1}"/>
              </a:ext>
            </a:extLst>
          </p:cNvPr>
          <p:cNvSpPr txBox="1"/>
          <p:nvPr/>
        </p:nvSpPr>
        <p:spPr>
          <a:xfrm>
            <a:off x="8624688" y="1274889"/>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vr5 = </a:t>
            </a:r>
            <a:r>
              <a:rPr lang="en-US" sz="1600" b="1" dirty="0" err="1">
                <a:latin typeface="Courier" pitchFamily="2" charset="0"/>
              </a:rPr>
              <a:t>addf</a:t>
            </a:r>
            <a:r>
              <a:rPr lang="en-US" sz="1600" b="1" dirty="0">
                <a:latin typeface="Courier" pitchFamily="2" charset="0"/>
              </a:rPr>
              <a:t>(vr3,vr4);</a:t>
            </a:r>
          </a:p>
        </p:txBody>
      </p:sp>
      <p:sp>
        <p:nvSpPr>
          <p:cNvPr id="3" name="TextBox 2">
            <a:extLst>
              <a:ext uri="{FF2B5EF4-FFF2-40B4-BE49-F238E27FC236}">
                <a16:creationId xmlns:a16="http://schemas.microsoft.com/office/drawing/2014/main" id="{88DF36CA-A206-17BC-8170-019C957D3D2B}"/>
              </a:ext>
            </a:extLst>
          </p:cNvPr>
          <p:cNvSpPr txBox="1"/>
          <p:nvPr/>
        </p:nvSpPr>
        <p:spPr>
          <a:xfrm>
            <a:off x="3098053" y="4505950"/>
            <a:ext cx="7814803" cy="1200329"/>
          </a:xfrm>
          <a:prstGeom prst="rect">
            <a:avLst/>
          </a:prstGeom>
          <a:noFill/>
        </p:spPr>
        <p:txBody>
          <a:bodyPr wrap="square" rtlCol="0">
            <a:spAutoFit/>
          </a:bodyPr>
          <a:lstStyle/>
          <a:p>
            <a:r>
              <a:rPr lang="en-US" sz="2400" b="1" dirty="0"/>
              <a:t>Creating an ordered list of 3-addr code IR instructions via a post-order tree traversal of  AST generates a program that evaluates the RHS expression!!</a:t>
            </a:r>
          </a:p>
        </p:txBody>
      </p:sp>
    </p:spTree>
    <p:extLst>
      <p:ext uri="{BB962C8B-B14F-4D97-AF65-F5344CB8AC3E}">
        <p14:creationId xmlns:p14="http://schemas.microsoft.com/office/powerpoint/2010/main" val="9390812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A7EF1-98C3-7C69-377F-3BB02951F11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6DCE6A5-6380-DAF6-46CB-4481DB40F921}"/>
              </a:ext>
            </a:extLst>
          </p:cNvPr>
          <p:cNvSpPr txBox="1"/>
          <p:nvPr/>
        </p:nvSpPr>
        <p:spPr>
          <a:xfrm>
            <a:off x="283784" y="80942"/>
            <a:ext cx="2252540" cy="1200329"/>
          </a:xfrm>
          <a:prstGeom prst="rect">
            <a:avLst/>
          </a:prstGeom>
          <a:noFill/>
          <a:ln>
            <a:solidFill>
              <a:schemeClr val="tx1"/>
            </a:solidFill>
          </a:ln>
        </p:spPr>
        <p:txBody>
          <a:bodyPr wrap="none" rtlCol="0">
            <a:spAutoFit/>
          </a:bodyPr>
          <a:lstStyle/>
          <a:p>
            <a:r>
              <a:rPr lang="en-US" dirty="0">
                <a:latin typeface="Courier" pitchFamily="2" charset="0"/>
              </a:rPr>
              <a:t>int x;</a:t>
            </a:r>
          </a:p>
          <a:p>
            <a:r>
              <a:rPr lang="en-US" dirty="0">
                <a:latin typeface="Courier" pitchFamily="2" charset="0"/>
              </a:rPr>
              <a:t>int y;</a:t>
            </a:r>
          </a:p>
          <a:p>
            <a:r>
              <a:rPr lang="en-US" dirty="0">
                <a:latin typeface="Courier" pitchFamily="2" charset="0"/>
              </a:rPr>
              <a:t>float w;</a:t>
            </a:r>
            <a:br>
              <a:rPr lang="en-US" dirty="0">
                <a:latin typeface="Courier" pitchFamily="2" charset="0"/>
              </a:rPr>
            </a:br>
            <a:r>
              <a:rPr lang="en-US" dirty="0">
                <a:latin typeface="Courier" pitchFamily="2" charset="0"/>
              </a:rPr>
              <a:t>w = </a:t>
            </a:r>
            <a:r>
              <a:rPr lang="en-US" dirty="0">
                <a:highlight>
                  <a:srgbClr val="FFFF00"/>
                </a:highlight>
                <a:latin typeface="Courier" pitchFamily="2" charset="0"/>
              </a:rPr>
              <a:t>x + y + 5.5</a:t>
            </a:r>
          </a:p>
        </p:txBody>
      </p:sp>
      <p:sp>
        <p:nvSpPr>
          <p:cNvPr id="7" name="TextBox 6">
            <a:extLst>
              <a:ext uri="{FF2B5EF4-FFF2-40B4-BE49-F238E27FC236}">
                <a16:creationId xmlns:a16="http://schemas.microsoft.com/office/drawing/2014/main" id="{280A9591-948C-4ABD-9B29-953700919354}"/>
              </a:ext>
            </a:extLst>
          </p:cNvPr>
          <p:cNvSpPr txBox="1"/>
          <p:nvPr/>
        </p:nvSpPr>
        <p:spPr>
          <a:xfrm>
            <a:off x="4140557" y="3082025"/>
            <a:ext cx="1636474" cy="369332"/>
          </a:xfrm>
          <a:prstGeom prst="rect">
            <a:avLst/>
          </a:prstGeom>
          <a:noFill/>
        </p:spPr>
        <p:txBody>
          <a:bodyPr wrap="none" rtlCol="0">
            <a:spAutoFit/>
          </a:bodyPr>
          <a:lstStyle/>
          <a:p>
            <a:r>
              <a:rPr lang="en-US" dirty="0"/>
              <a:t>AST&lt;x, int, vr0&gt;</a:t>
            </a:r>
          </a:p>
        </p:txBody>
      </p:sp>
      <p:sp>
        <p:nvSpPr>
          <p:cNvPr id="8" name="TextBox 7">
            <a:extLst>
              <a:ext uri="{FF2B5EF4-FFF2-40B4-BE49-F238E27FC236}">
                <a16:creationId xmlns:a16="http://schemas.microsoft.com/office/drawing/2014/main" id="{41E5B8B5-0F6A-EDFD-96A1-06F0E0D743B9}"/>
              </a:ext>
            </a:extLst>
          </p:cNvPr>
          <p:cNvSpPr txBox="1"/>
          <p:nvPr/>
        </p:nvSpPr>
        <p:spPr>
          <a:xfrm>
            <a:off x="5282720" y="2284842"/>
            <a:ext cx="1599605" cy="369332"/>
          </a:xfrm>
          <a:prstGeom prst="rect">
            <a:avLst/>
          </a:prstGeom>
          <a:noFill/>
        </p:spPr>
        <p:txBody>
          <a:bodyPr wrap="none" rtlCol="0">
            <a:spAutoFit/>
          </a:bodyPr>
          <a:lstStyle/>
          <a:p>
            <a:r>
              <a:rPr lang="en-US" dirty="0"/>
              <a:t>AST&lt;+,int, vr2&gt;</a:t>
            </a:r>
          </a:p>
        </p:txBody>
      </p:sp>
      <p:cxnSp>
        <p:nvCxnSpPr>
          <p:cNvPr id="9" name="Straight Connector 8">
            <a:extLst>
              <a:ext uri="{FF2B5EF4-FFF2-40B4-BE49-F238E27FC236}">
                <a16:creationId xmlns:a16="http://schemas.microsoft.com/office/drawing/2014/main" id="{21D380F3-043E-49D3-E7CE-77E16712FC3A}"/>
              </a:ext>
            </a:extLst>
          </p:cNvPr>
          <p:cNvCxnSpPr>
            <a:cxnSpLocks/>
          </p:cNvCxnSpPr>
          <p:nvPr/>
        </p:nvCxnSpPr>
        <p:spPr>
          <a:xfrm flipH="1">
            <a:off x="4344862" y="2651859"/>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715610B6-C066-EA7D-CE2B-CC4F2F81026D}"/>
              </a:ext>
            </a:extLst>
          </p:cNvPr>
          <p:cNvCxnSpPr>
            <a:cxnSpLocks/>
          </p:cNvCxnSpPr>
          <p:nvPr/>
        </p:nvCxnSpPr>
        <p:spPr>
          <a:xfrm>
            <a:off x="5569235" y="2651859"/>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E364B138-B843-33C0-EE7E-04C4CC8F8F1B}"/>
              </a:ext>
            </a:extLst>
          </p:cNvPr>
          <p:cNvSpPr txBox="1"/>
          <p:nvPr/>
        </p:nvSpPr>
        <p:spPr>
          <a:xfrm>
            <a:off x="6513402" y="3082025"/>
            <a:ext cx="1624804" cy="369332"/>
          </a:xfrm>
          <a:prstGeom prst="rect">
            <a:avLst/>
          </a:prstGeom>
          <a:noFill/>
        </p:spPr>
        <p:txBody>
          <a:bodyPr wrap="none" rtlCol="0">
            <a:spAutoFit/>
          </a:bodyPr>
          <a:lstStyle/>
          <a:p>
            <a:r>
              <a:rPr lang="en-US" dirty="0"/>
              <a:t>AST&lt;y, int, vr1&gt;</a:t>
            </a:r>
          </a:p>
        </p:txBody>
      </p:sp>
      <p:sp>
        <p:nvSpPr>
          <p:cNvPr id="12" name="TextBox 11">
            <a:extLst>
              <a:ext uri="{FF2B5EF4-FFF2-40B4-BE49-F238E27FC236}">
                <a16:creationId xmlns:a16="http://schemas.microsoft.com/office/drawing/2014/main" id="{7ECDF460-22F6-D08A-C409-B19959FAFE50}"/>
              </a:ext>
            </a:extLst>
          </p:cNvPr>
          <p:cNvSpPr txBox="1"/>
          <p:nvPr/>
        </p:nvSpPr>
        <p:spPr>
          <a:xfrm>
            <a:off x="7211920" y="911939"/>
            <a:ext cx="1780744" cy="369332"/>
          </a:xfrm>
          <a:prstGeom prst="rect">
            <a:avLst/>
          </a:prstGeom>
          <a:noFill/>
        </p:spPr>
        <p:txBody>
          <a:bodyPr wrap="none" rtlCol="0">
            <a:spAutoFit/>
          </a:bodyPr>
          <a:lstStyle/>
          <a:p>
            <a:r>
              <a:rPr lang="en-US" dirty="0"/>
              <a:t>AST&lt;+,float, vr5&gt;</a:t>
            </a:r>
          </a:p>
        </p:txBody>
      </p:sp>
      <p:cxnSp>
        <p:nvCxnSpPr>
          <p:cNvPr id="13" name="Straight Connector 12">
            <a:extLst>
              <a:ext uri="{FF2B5EF4-FFF2-40B4-BE49-F238E27FC236}">
                <a16:creationId xmlns:a16="http://schemas.microsoft.com/office/drawing/2014/main" id="{921B1A80-CCB1-1B44-4D6A-7E01A209C81C}"/>
              </a:ext>
            </a:extLst>
          </p:cNvPr>
          <p:cNvCxnSpPr>
            <a:cxnSpLocks/>
            <a:stCxn id="20" idx="2"/>
            <a:endCxn id="8" idx="0"/>
          </p:cNvCxnSpPr>
          <p:nvPr/>
        </p:nvCxnSpPr>
        <p:spPr>
          <a:xfrm flipH="1">
            <a:off x="6082523" y="1825742"/>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65E79EB-0768-63CA-5BCB-1895F8CF4883}"/>
              </a:ext>
            </a:extLst>
          </p:cNvPr>
          <p:cNvCxnSpPr>
            <a:cxnSpLocks/>
            <a:stCxn id="12" idx="2"/>
            <a:endCxn id="15" idx="0"/>
          </p:cNvCxnSpPr>
          <p:nvPr/>
        </p:nvCxnSpPr>
        <p:spPr>
          <a:xfrm>
            <a:off x="8102292" y="1281271"/>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0174D517-1F4C-290F-DC73-A2EBE6EDC039}"/>
              </a:ext>
            </a:extLst>
          </p:cNvPr>
          <p:cNvSpPr txBox="1"/>
          <p:nvPr/>
        </p:nvSpPr>
        <p:spPr>
          <a:xfrm>
            <a:off x="8443852" y="2296698"/>
            <a:ext cx="2009974" cy="369332"/>
          </a:xfrm>
          <a:prstGeom prst="rect">
            <a:avLst/>
          </a:prstGeom>
          <a:noFill/>
        </p:spPr>
        <p:txBody>
          <a:bodyPr wrap="none" rtlCol="0">
            <a:spAutoFit/>
          </a:bodyPr>
          <a:lstStyle/>
          <a:p>
            <a:r>
              <a:rPr lang="en-US" dirty="0"/>
              <a:t>AST&lt;5.5, float, vr4&gt;</a:t>
            </a:r>
          </a:p>
        </p:txBody>
      </p:sp>
      <p:sp>
        <p:nvSpPr>
          <p:cNvPr id="20" name="TextBox 19">
            <a:extLst>
              <a:ext uri="{FF2B5EF4-FFF2-40B4-BE49-F238E27FC236}">
                <a16:creationId xmlns:a16="http://schemas.microsoft.com/office/drawing/2014/main" id="{7AC75196-6651-2E4D-1D27-C36FB37E980B}"/>
              </a:ext>
            </a:extLst>
          </p:cNvPr>
          <p:cNvSpPr txBox="1"/>
          <p:nvPr/>
        </p:nvSpPr>
        <p:spPr>
          <a:xfrm>
            <a:off x="5221319" y="1456410"/>
            <a:ext cx="2515497" cy="369332"/>
          </a:xfrm>
          <a:prstGeom prst="rect">
            <a:avLst/>
          </a:prstGeom>
          <a:noFill/>
        </p:spPr>
        <p:txBody>
          <a:bodyPr wrap="none" rtlCol="0">
            <a:spAutoFit/>
          </a:bodyPr>
          <a:lstStyle/>
          <a:p>
            <a:r>
              <a:rPr lang="en-US" dirty="0"/>
              <a:t>AST&lt;int2float, float, vr3&gt;</a:t>
            </a:r>
          </a:p>
        </p:txBody>
      </p:sp>
      <p:cxnSp>
        <p:nvCxnSpPr>
          <p:cNvPr id="21" name="Straight Connector 20">
            <a:extLst>
              <a:ext uri="{FF2B5EF4-FFF2-40B4-BE49-F238E27FC236}">
                <a16:creationId xmlns:a16="http://schemas.microsoft.com/office/drawing/2014/main" id="{A8188695-9F14-698B-6DCB-1AD6DB32F702}"/>
              </a:ext>
            </a:extLst>
          </p:cNvPr>
          <p:cNvCxnSpPr>
            <a:cxnSpLocks/>
            <a:stCxn id="12" idx="2"/>
            <a:endCxn id="20" idx="0"/>
          </p:cNvCxnSpPr>
          <p:nvPr/>
        </p:nvCxnSpPr>
        <p:spPr>
          <a:xfrm flipH="1">
            <a:off x="6479068" y="1281271"/>
            <a:ext cx="1623224" cy="175139"/>
          </a:xfrm>
          <a:prstGeom prst="line">
            <a:avLst/>
          </a:prstGeom>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DE57E995-C0C5-EA7C-8FF7-B4E1B5DF9ED3}"/>
              </a:ext>
            </a:extLst>
          </p:cNvPr>
          <p:cNvSpPr txBox="1"/>
          <p:nvPr/>
        </p:nvSpPr>
        <p:spPr>
          <a:xfrm>
            <a:off x="8775565" y="2711791"/>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vr4 = float2vr(5.5);</a:t>
            </a:r>
          </a:p>
        </p:txBody>
      </p:sp>
      <p:sp>
        <p:nvSpPr>
          <p:cNvPr id="22" name="TextBox 21">
            <a:extLst>
              <a:ext uri="{FF2B5EF4-FFF2-40B4-BE49-F238E27FC236}">
                <a16:creationId xmlns:a16="http://schemas.microsoft.com/office/drawing/2014/main" id="{5B66C268-874A-6D17-4DC0-8DCF59351352}"/>
              </a:ext>
            </a:extLst>
          </p:cNvPr>
          <p:cNvSpPr txBox="1"/>
          <p:nvPr/>
        </p:nvSpPr>
        <p:spPr>
          <a:xfrm>
            <a:off x="7033134" y="3448250"/>
            <a:ext cx="2159566" cy="338554"/>
          </a:xfrm>
          <a:prstGeom prst="rect">
            <a:avLst/>
          </a:prstGeom>
          <a:noFill/>
          <a:ln>
            <a:solidFill>
              <a:schemeClr val="tx1"/>
            </a:solidFill>
          </a:ln>
        </p:spPr>
        <p:txBody>
          <a:bodyPr wrap="none" rtlCol="0">
            <a:spAutoFit/>
          </a:bodyPr>
          <a:lstStyle/>
          <a:p>
            <a:r>
              <a:rPr lang="en-US" sz="1600" b="1" dirty="0">
                <a:latin typeface="Courier" pitchFamily="2" charset="0"/>
              </a:rPr>
              <a:t>vr1 = int2vr(y);</a:t>
            </a:r>
          </a:p>
        </p:txBody>
      </p:sp>
      <p:sp>
        <p:nvSpPr>
          <p:cNvPr id="23" name="TextBox 22">
            <a:extLst>
              <a:ext uri="{FF2B5EF4-FFF2-40B4-BE49-F238E27FC236}">
                <a16:creationId xmlns:a16="http://schemas.microsoft.com/office/drawing/2014/main" id="{3979887A-E07D-95E7-762B-7487E26FA8CD}"/>
              </a:ext>
            </a:extLst>
          </p:cNvPr>
          <p:cNvSpPr txBox="1"/>
          <p:nvPr/>
        </p:nvSpPr>
        <p:spPr>
          <a:xfrm>
            <a:off x="3098053" y="3428784"/>
            <a:ext cx="2159566" cy="338554"/>
          </a:xfrm>
          <a:prstGeom prst="rect">
            <a:avLst/>
          </a:prstGeom>
          <a:noFill/>
          <a:ln>
            <a:solidFill>
              <a:schemeClr val="tx1"/>
            </a:solidFill>
          </a:ln>
        </p:spPr>
        <p:txBody>
          <a:bodyPr wrap="none" rtlCol="0">
            <a:spAutoFit/>
          </a:bodyPr>
          <a:lstStyle/>
          <a:p>
            <a:r>
              <a:rPr lang="en-US" sz="1600" b="1" dirty="0">
                <a:latin typeface="Courier" pitchFamily="2" charset="0"/>
              </a:rPr>
              <a:t>vr0 = int2vr(x);</a:t>
            </a:r>
          </a:p>
        </p:txBody>
      </p:sp>
      <p:sp>
        <p:nvSpPr>
          <p:cNvPr id="25" name="TextBox 24">
            <a:extLst>
              <a:ext uri="{FF2B5EF4-FFF2-40B4-BE49-F238E27FC236}">
                <a16:creationId xmlns:a16="http://schemas.microsoft.com/office/drawing/2014/main" id="{B87EABDD-1556-9783-5581-1632FB0F0908}"/>
              </a:ext>
            </a:extLst>
          </p:cNvPr>
          <p:cNvSpPr txBox="1"/>
          <p:nvPr/>
        </p:nvSpPr>
        <p:spPr>
          <a:xfrm>
            <a:off x="2627290" y="2337212"/>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vr2 = </a:t>
            </a:r>
            <a:r>
              <a:rPr lang="en-US" sz="1600" b="1" dirty="0" err="1">
                <a:latin typeface="Courier" pitchFamily="2" charset="0"/>
              </a:rPr>
              <a:t>addi</a:t>
            </a:r>
            <a:r>
              <a:rPr lang="en-US" sz="1600" b="1" dirty="0">
                <a:latin typeface="Courier" pitchFamily="2" charset="0"/>
              </a:rPr>
              <a:t>(vr0,vr1);</a:t>
            </a:r>
          </a:p>
        </p:txBody>
      </p:sp>
      <p:sp>
        <p:nvSpPr>
          <p:cNvPr id="26" name="TextBox 25">
            <a:extLst>
              <a:ext uri="{FF2B5EF4-FFF2-40B4-BE49-F238E27FC236}">
                <a16:creationId xmlns:a16="http://schemas.microsoft.com/office/drawing/2014/main" id="{CA1EF30A-A07E-C9D1-B78B-7C370DE251C4}"/>
              </a:ext>
            </a:extLst>
          </p:cNvPr>
          <p:cNvSpPr txBox="1"/>
          <p:nvPr/>
        </p:nvSpPr>
        <p:spPr>
          <a:xfrm>
            <a:off x="2074304" y="1475936"/>
            <a:ext cx="3147015" cy="338554"/>
          </a:xfrm>
          <a:prstGeom prst="rect">
            <a:avLst/>
          </a:prstGeom>
          <a:noFill/>
          <a:ln>
            <a:solidFill>
              <a:schemeClr val="tx1"/>
            </a:solidFill>
          </a:ln>
        </p:spPr>
        <p:txBody>
          <a:bodyPr wrap="none" rtlCol="0">
            <a:spAutoFit/>
          </a:bodyPr>
          <a:lstStyle/>
          <a:p>
            <a:r>
              <a:rPr lang="en-US" sz="1600" b="1" dirty="0">
                <a:latin typeface="Courier" pitchFamily="2" charset="0"/>
              </a:rPr>
              <a:t>vr3 = vr_int2float(vr2);</a:t>
            </a:r>
          </a:p>
        </p:txBody>
      </p:sp>
      <p:sp>
        <p:nvSpPr>
          <p:cNvPr id="27" name="TextBox 26">
            <a:extLst>
              <a:ext uri="{FF2B5EF4-FFF2-40B4-BE49-F238E27FC236}">
                <a16:creationId xmlns:a16="http://schemas.microsoft.com/office/drawing/2014/main" id="{C00D472A-A0E7-2494-5C5D-99795C9A36DD}"/>
              </a:ext>
            </a:extLst>
          </p:cNvPr>
          <p:cNvSpPr txBox="1"/>
          <p:nvPr/>
        </p:nvSpPr>
        <p:spPr>
          <a:xfrm>
            <a:off x="8624688" y="1274889"/>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vr5 = </a:t>
            </a:r>
            <a:r>
              <a:rPr lang="en-US" sz="1600" b="1" dirty="0" err="1">
                <a:latin typeface="Courier" pitchFamily="2" charset="0"/>
              </a:rPr>
              <a:t>addf</a:t>
            </a:r>
            <a:r>
              <a:rPr lang="en-US" sz="1600" b="1" dirty="0">
                <a:latin typeface="Courier" pitchFamily="2" charset="0"/>
              </a:rPr>
              <a:t>(vr3,vr4);</a:t>
            </a:r>
          </a:p>
        </p:txBody>
      </p:sp>
      <p:sp>
        <p:nvSpPr>
          <p:cNvPr id="2" name="TextBox 1">
            <a:extLst>
              <a:ext uri="{FF2B5EF4-FFF2-40B4-BE49-F238E27FC236}">
                <a16:creationId xmlns:a16="http://schemas.microsoft.com/office/drawing/2014/main" id="{58574ED8-642D-DA5B-A477-DDE0C1EEBDED}"/>
              </a:ext>
            </a:extLst>
          </p:cNvPr>
          <p:cNvSpPr txBox="1"/>
          <p:nvPr/>
        </p:nvSpPr>
        <p:spPr>
          <a:xfrm>
            <a:off x="617810" y="5456054"/>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vr4 = float2vr(5.5);</a:t>
            </a:r>
          </a:p>
        </p:txBody>
      </p:sp>
      <p:sp>
        <p:nvSpPr>
          <p:cNvPr id="4" name="TextBox 3">
            <a:extLst>
              <a:ext uri="{FF2B5EF4-FFF2-40B4-BE49-F238E27FC236}">
                <a16:creationId xmlns:a16="http://schemas.microsoft.com/office/drawing/2014/main" id="{0A903A06-B2C9-D7B9-C073-3523E9587C2B}"/>
              </a:ext>
            </a:extLst>
          </p:cNvPr>
          <p:cNvSpPr txBox="1"/>
          <p:nvPr/>
        </p:nvSpPr>
        <p:spPr>
          <a:xfrm>
            <a:off x="626530" y="4453181"/>
            <a:ext cx="2159566" cy="338554"/>
          </a:xfrm>
          <a:prstGeom prst="rect">
            <a:avLst/>
          </a:prstGeom>
          <a:noFill/>
          <a:ln>
            <a:solidFill>
              <a:schemeClr val="tx1"/>
            </a:solidFill>
          </a:ln>
        </p:spPr>
        <p:txBody>
          <a:bodyPr wrap="none" rtlCol="0">
            <a:spAutoFit/>
          </a:bodyPr>
          <a:lstStyle/>
          <a:p>
            <a:r>
              <a:rPr lang="en-US" sz="1600" b="1" dirty="0">
                <a:latin typeface="Courier" pitchFamily="2" charset="0"/>
              </a:rPr>
              <a:t>vr1 = int2vr(y);</a:t>
            </a:r>
          </a:p>
        </p:txBody>
      </p:sp>
      <p:sp>
        <p:nvSpPr>
          <p:cNvPr id="5" name="TextBox 4">
            <a:extLst>
              <a:ext uri="{FF2B5EF4-FFF2-40B4-BE49-F238E27FC236}">
                <a16:creationId xmlns:a16="http://schemas.microsoft.com/office/drawing/2014/main" id="{B37F0E99-63CE-378B-827B-A2277839E1FA}"/>
              </a:ext>
            </a:extLst>
          </p:cNvPr>
          <p:cNvSpPr txBox="1"/>
          <p:nvPr/>
        </p:nvSpPr>
        <p:spPr>
          <a:xfrm>
            <a:off x="626530" y="4114627"/>
            <a:ext cx="2159566" cy="338554"/>
          </a:xfrm>
          <a:prstGeom prst="rect">
            <a:avLst/>
          </a:prstGeom>
          <a:noFill/>
          <a:ln>
            <a:solidFill>
              <a:schemeClr val="tx1"/>
            </a:solidFill>
          </a:ln>
        </p:spPr>
        <p:txBody>
          <a:bodyPr wrap="none" rtlCol="0">
            <a:spAutoFit/>
          </a:bodyPr>
          <a:lstStyle/>
          <a:p>
            <a:r>
              <a:rPr lang="en-US" sz="1600" b="1" dirty="0">
                <a:latin typeface="Courier" pitchFamily="2" charset="0"/>
              </a:rPr>
              <a:t>vr0 = int2vr(x);</a:t>
            </a:r>
          </a:p>
        </p:txBody>
      </p:sp>
      <p:sp>
        <p:nvSpPr>
          <p:cNvPr id="16" name="TextBox 15">
            <a:extLst>
              <a:ext uri="{FF2B5EF4-FFF2-40B4-BE49-F238E27FC236}">
                <a16:creationId xmlns:a16="http://schemas.microsoft.com/office/drawing/2014/main" id="{36DD4FC4-CC01-0DEF-12B0-643BDC3D8F5D}"/>
              </a:ext>
            </a:extLst>
          </p:cNvPr>
          <p:cNvSpPr txBox="1"/>
          <p:nvPr/>
        </p:nvSpPr>
        <p:spPr>
          <a:xfrm>
            <a:off x="626530" y="4783476"/>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vr2 = </a:t>
            </a:r>
            <a:r>
              <a:rPr lang="en-US" sz="1600" b="1" dirty="0" err="1">
                <a:latin typeface="Courier" pitchFamily="2" charset="0"/>
              </a:rPr>
              <a:t>addi</a:t>
            </a:r>
            <a:r>
              <a:rPr lang="en-US" sz="1600" b="1" dirty="0">
                <a:latin typeface="Courier" pitchFamily="2" charset="0"/>
              </a:rPr>
              <a:t>(vr0,vr1);</a:t>
            </a:r>
          </a:p>
        </p:txBody>
      </p:sp>
      <p:sp>
        <p:nvSpPr>
          <p:cNvPr id="17" name="TextBox 16">
            <a:extLst>
              <a:ext uri="{FF2B5EF4-FFF2-40B4-BE49-F238E27FC236}">
                <a16:creationId xmlns:a16="http://schemas.microsoft.com/office/drawing/2014/main" id="{0D886B52-184E-6EC2-72F7-7EA3E18C4B7A}"/>
              </a:ext>
            </a:extLst>
          </p:cNvPr>
          <p:cNvSpPr txBox="1"/>
          <p:nvPr/>
        </p:nvSpPr>
        <p:spPr>
          <a:xfrm>
            <a:off x="626530" y="5126835"/>
            <a:ext cx="3147015" cy="338554"/>
          </a:xfrm>
          <a:prstGeom prst="rect">
            <a:avLst/>
          </a:prstGeom>
          <a:noFill/>
          <a:ln>
            <a:solidFill>
              <a:schemeClr val="tx1"/>
            </a:solidFill>
          </a:ln>
        </p:spPr>
        <p:txBody>
          <a:bodyPr wrap="none" rtlCol="0">
            <a:spAutoFit/>
          </a:bodyPr>
          <a:lstStyle/>
          <a:p>
            <a:r>
              <a:rPr lang="en-US" sz="1600" b="1" dirty="0">
                <a:latin typeface="Courier" pitchFamily="2" charset="0"/>
              </a:rPr>
              <a:t>vr3 = vr_int2float(vr2);</a:t>
            </a:r>
          </a:p>
        </p:txBody>
      </p:sp>
      <p:sp>
        <p:nvSpPr>
          <p:cNvPr id="18" name="TextBox 17">
            <a:extLst>
              <a:ext uri="{FF2B5EF4-FFF2-40B4-BE49-F238E27FC236}">
                <a16:creationId xmlns:a16="http://schemas.microsoft.com/office/drawing/2014/main" id="{3CECEBBF-48C7-B4BA-2CEA-E9FF7461DA8A}"/>
              </a:ext>
            </a:extLst>
          </p:cNvPr>
          <p:cNvSpPr txBox="1"/>
          <p:nvPr/>
        </p:nvSpPr>
        <p:spPr>
          <a:xfrm>
            <a:off x="626530" y="5805903"/>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vr5 = </a:t>
            </a:r>
            <a:r>
              <a:rPr lang="en-US" sz="1600" b="1" dirty="0" err="1">
                <a:latin typeface="Courier" pitchFamily="2" charset="0"/>
              </a:rPr>
              <a:t>addf</a:t>
            </a:r>
            <a:r>
              <a:rPr lang="en-US" sz="1600" b="1" dirty="0">
                <a:latin typeface="Courier" pitchFamily="2" charset="0"/>
              </a:rPr>
              <a:t>(vr3,vr4);</a:t>
            </a:r>
          </a:p>
        </p:txBody>
      </p:sp>
      <p:sp>
        <p:nvSpPr>
          <p:cNvPr id="24" name="TextBox 23">
            <a:extLst>
              <a:ext uri="{FF2B5EF4-FFF2-40B4-BE49-F238E27FC236}">
                <a16:creationId xmlns:a16="http://schemas.microsoft.com/office/drawing/2014/main" id="{0E39CB56-D1A2-92D5-BE75-A5B7FAF97C65}"/>
              </a:ext>
            </a:extLst>
          </p:cNvPr>
          <p:cNvSpPr txBox="1"/>
          <p:nvPr/>
        </p:nvSpPr>
        <p:spPr>
          <a:xfrm>
            <a:off x="4832507" y="4454479"/>
            <a:ext cx="5808618" cy="1569660"/>
          </a:xfrm>
          <a:prstGeom prst="rect">
            <a:avLst/>
          </a:prstGeom>
          <a:noFill/>
        </p:spPr>
        <p:txBody>
          <a:bodyPr wrap="square" rtlCol="0">
            <a:spAutoFit/>
          </a:bodyPr>
          <a:lstStyle/>
          <a:p>
            <a:r>
              <a:rPr lang="en-US" sz="2400" dirty="0"/>
              <a:t>Linearized list of 3-address IR can be obtained by the parser for an AST tree via post-order traversal which makes a program for the </a:t>
            </a:r>
            <a:r>
              <a:rPr lang="en-US" sz="2400" dirty="0">
                <a:highlight>
                  <a:srgbClr val="FFFF00"/>
                </a:highlight>
              </a:rPr>
              <a:t>RHS expression </a:t>
            </a:r>
            <a:r>
              <a:rPr lang="en-US" sz="2400" dirty="0"/>
              <a:t>as shown</a:t>
            </a:r>
          </a:p>
        </p:txBody>
      </p:sp>
    </p:spTree>
    <p:extLst>
      <p:ext uri="{BB962C8B-B14F-4D97-AF65-F5344CB8AC3E}">
        <p14:creationId xmlns:p14="http://schemas.microsoft.com/office/powerpoint/2010/main" val="40965222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86442-2CE1-1E42-3312-D0EA3A3854C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B3C970D-D402-50FE-7ED6-75424D802B10}"/>
              </a:ext>
            </a:extLst>
          </p:cNvPr>
          <p:cNvSpPr txBox="1"/>
          <p:nvPr/>
        </p:nvSpPr>
        <p:spPr>
          <a:xfrm>
            <a:off x="283784" y="80942"/>
            <a:ext cx="2252540" cy="1200329"/>
          </a:xfrm>
          <a:prstGeom prst="rect">
            <a:avLst/>
          </a:prstGeom>
          <a:noFill/>
          <a:ln>
            <a:solidFill>
              <a:schemeClr val="tx1"/>
            </a:solidFill>
          </a:ln>
        </p:spPr>
        <p:txBody>
          <a:bodyPr wrap="none" rtlCol="0">
            <a:spAutoFit/>
          </a:bodyPr>
          <a:lstStyle/>
          <a:p>
            <a:r>
              <a:rPr lang="en-US" dirty="0">
                <a:latin typeface="Courier" pitchFamily="2" charset="0"/>
              </a:rPr>
              <a:t>int x;</a:t>
            </a:r>
          </a:p>
          <a:p>
            <a:r>
              <a:rPr lang="en-US" dirty="0">
                <a:latin typeface="Courier" pitchFamily="2" charset="0"/>
              </a:rPr>
              <a:t>int y;</a:t>
            </a:r>
          </a:p>
          <a:p>
            <a:r>
              <a:rPr lang="en-US" dirty="0">
                <a:latin typeface="Courier" pitchFamily="2" charset="0"/>
              </a:rPr>
              <a:t>float w;</a:t>
            </a:r>
            <a:br>
              <a:rPr lang="en-US" dirty="0">
                <a:latin typeface="Courier" pitchFamily="2" charset="0"/>
              </a:rPr>
            </a:br>
            <a:r>
              <a:rPr lang="en-US" dirty="0">
                <a:latin typeface="Courier" pitchFamily="2" charset="0"/>
              </a:rPr>
              <a:t>w = </a:t>
            </a:r>
            <a:r>
              <a:rPr lang="en-US" dirty="0">
                <a:highlight>
                  <a:srgbClr val="FFFF00"/>
                </a:highlight>
                <a:latin typeface="Courier" pitchFamily="2" charset="0"/>
              </a:rPr>
              <a:t>x + y + 5.5</a:t>
            </a:r>
          </a:p>
        </p:txBody>
      </p:sp>
      <p:sp>
        <p:nvSpPr>
          <p:cNvPr id="7" name="TextBox 6">
            <a:extLst>
              <a:ext uri="{FF2B5EF4-FFF2-40B4-BE49-F238E27FC236}">
                <a16:creationId xmlns:a16="http://schemas.microsoft.com/office/drawing/2014/main" id="{AE484EE7-2E97-2F2E-B03F-E0DFB8157481}"/>
              </a:ext>
            </a:extLst>
          </p:cNvPr>
          <p:cNvSpPr txBox="1"/>
          <p:nvPr/>
        </p:nvSpPr>
        <p:spPr>
          <a:xfrm>
            <a:off x="4140557" y="3082025"/>
            <a:ext cx="1636474" cy="369332"/>
          </a:xfrm>
          <a:prstGeom prst="rect">
            <a:avLst/>
          </a:prstGeom>
          <a:noFill/>
        </p:spPr>
        <p:txBody>
          <a:bodyPr wrap="none" rtlCol="0">
            <a:spAutoFit/>
          </a:bodyPr>
          <a:lstStyle/>
          <a:p>
            <a:r>
              <a:rPr lang="en-US" dirty="0"/>
              <a:t>AST&lt;x, int, vr0&gt;</a:t>
            </a:r>
          </a:p>
        </p:txBody>
      </p:sp>
      <p:sp>
        <p:nvSpPr>
          <p:cNvPr id="8" name="TextBox 7">
            <a:extLst>
              <a:ext uri="{FF2B5EF4-FFF2-40B4-BE49-F238E27FC236}">
                <a16:creationId xmlns:a16="http://schemas.microsoft.com/office/drawing/2014/main" id="{31630C88-C110-6988-5892-DAF57459A63E}"/>
              </a:ext>
            </a:extLst>
          </p:cNvPr>
          <p:cNvSpPr txBox="1"/>
          <p:nvPr/>
        </p:nvSpPr>
        <p:spPr>
          <a:xfrm>
            <a:off x="5282720" y="2284842"/>
            <a:ext cx="1599605" cy="369332"/>
          </a:xfrm>
          <a:prstGeom prst="rect">
            <a:avLst/>
          </a:prstGeom>
          <a:noFill/>
        </p:spPr>
        <p:txBody>
          <a:bodyPr wrap="none" rtlCol="0">
            <a:spAutoFit/>
          </a:bodyPr>
          <a:lstStyle/>
          <a:p>
            <a:r>
              <a:rPr lang="en-US" dirty="0"/>
              <a:t>AST&lt;+,int, vr2&gt;</a:t>
            </a:r>
          </a:p>
        </p:txBody>
      </p:sp>
      <p:cxnSp>
        <p:nvCxnSpPr>
          <p:cNvPr id="9" name="Straight Connector 8">
            <a:extLst>
              <a:ext uri="{FF2B5EF4-FFF2-40B4-BE49-F238E27FC236}">
                <a16:creationId xmlns:a16="http://schemas.microsoft.com/office/drawing/2014/main" id="{FD0521B3-2CDE-DD87-6BA5-127C6447093B}"/>
              </a:ext>
            </a:extLst>
          </p:cNvPr>
          <p:cNvCxnSpPr>
            <a:cxnSpLocks/>
          </p:cNvCxnSpPr>
          <p:nvPr/>
        </p:nvCxnSpPr>
        <p:spPr>
          <a:xfrm flipH="1">
            <a:off x="4344862" y="2651859"/>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9DFAFC40-09E6-1459-5719-D268EF0C1C1C}"/>
              </a:ext>
            </a:extLst>
          </p:cNvPr>
          <p:cNvCxnSpPr>
            <a:cxnSpLocks/>
          </p:cNvCxnSpPr>
          <p:nvPr/>
        </p:nvCxnSpPr>
        <p:spPr>
          <a:xfrm>
            <a:off x="5569235" y="2651859"/>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A1B4FE01-5EF4-73B2-6E52-B9862711472D}"/>
              </a:ext>
            </a:extLst>
          </p:cNvPr>
          <p:cNvSpPr txBox="1"/>
          <p:nvPr/>
        </p:nvSpPr>
        <p:spPr>
          <a:xfrm>
            <a:off x="6513402" y="3082025"/>
            <a:ext cx="1624804" cy="369332"/>
          </a:xfrm>
          <a:prstGeom prst="rect">
            <a:avLst/>
          </a:prstGeom>
          <a:noFill/>
        </p:spPr>
        <p:txBody>
          <a:bodyPr wrap="none" rtlCol="0">
            <a:spAutoFit/>
          </a:bodyPr>
          <a:lstStyle/>
          <a:p>
            <a:r>
              <a:rPr lang="en-US" dirty="0"/>
              <a:t>AST&lt;y, int, vr1&gt;</a:t>
            </a:r>
          </a:p>
        </p:txBody>
      </p:sp>
      <p:sp>
        <p:nvSpPr>
          <p:cNvPr id="12" name="TextBox 11">
            <a:extLst>
              <a:ext uri="{FF2B5EF4-FFF2-40B4-BE49-F238E27FC236}">
                <a16:creationId xmlns:a16="http://schemas.microsoft.com/office/drawing/2014/main" id="{0562ACE5-6047-F793-5FE0-B91903F90A8B}"/>
              </a:ext>
            </a:extLst>
          </p:cNvPr>
          <p:cNvSpPr txBox="1"/>
          <p:nvPr/>
        </p:nvSpPr>
        <p:spPr>
          <a:xfrm>
            <a:off x="7211920" y="911939"/>
            <a:ext cx="1780744" cy="369332"/>
          </a:xfrm>
          <a:prstGeom prst="rect">
            <a:avLst/>
          </a:prstGeom>
          <a:noFill/>
        </p:spPr>
        <p:txBody>
          <a:bodyPr wrap="none" rtlCol="0">
            <a:spAutoFit/>
          </a:bodyPr>
          <a:lstStyle/>
          <a:p>
            <a:r>
              <a:rPr lang="en-US" dirty="0"/>
              <a:t>AST&lt;+,float, vr5&gt;</a:t>
            </a:r>
          </a:p>
        </p:txBody>
      </p:sp>
      <p:cxnSp>
        <p:nvCxnSpPr>
          <p:cNvPr id="13" name="Straight Connector 12">
            <a:extLst>
              <a:ext uri="{FF2B5EF4-FFF2-40B4-BE49-F238E27FC236}">
                <a16:creationId xmlns:a16="http://schemas.microsoft.com/office/drawing/2014/main" id="{6DA6FA91-755C-0803-530C-36E87DF55178}"/>
              </a:ext>
            </a:extLst>
          </p:cNvPr>
          <p:cNvCxnSpPr>
            <a:cxnSpLocks/>
            <a:stCxn id="20" idx="2"/>
            <a:endCxn id="8" idx="0"/>
          </p:cNvCxnSpPr>
          <p:nvPr/>
        </p:nvCxnSpPr>
        <p:spPr>
          <a:xfrm flipH="1">
            <a:off x="6082523" y="1825742"/>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D71C577-C23B-1FAB-7DA8-F1FD86BD41B7}"/>
              </a:ext>
            </a:extLst>
          </p:cNvPr>
          <p:cNvCxnSpPr>
            <a:cxnSpLocks/>
            <a:stCxn id="12" idx="2"/>
            <a:endCxn id="15" idx="0"/>
          </p:cNvCxnSpPr>
          <p:nvPr/>
        </p:nvCxnSpPr>
        <p:spPr>
          <a:xfrm>
            <a:off x="8102292" y="1281271"/>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5AE2809A-50C0-4981-3E18-BD9CB91E95FF}"/>
              </a:ext>
            </a:extLst>
          </p:cNvPr>
          <p:cNvSpPr txBox="1"/>
          <p:nvPr/>
        </p:nvSpPr>
        <p:spPr>
          <a:xfrm>
            <a:off x="8443852" y="2296698"/>
            <a:ext cx="2009974" cy="369332"/>
          </a:xfrm>
          <a:prstGeom prst="rect">
            <a:avLst/>
          </a:prstGeom>
          <a:noFill/>
        </p:spPr>
        <p:txBody>
          <a:bodyPr wrap="none" rtlCol="0">
            <a:spAutoFit/>
          </a:bodyPr>
          <a:lstStyle/>
          <a:p>
            <a:r>
              <a:rPr lang="en-US" dirty="0"/>
              <a:t>AST&lt;5.5, float, vr4&gt;</a:t>
            </a:r>
          </a:p>
        </p:txBody>
      </p:sp>
      <p:sp>
        <p:nvSpPr>
          <p:cNvPr id="20" name="TextBox 19">
            <a:extLst>
              <a:ext uri="{FF2B5EF4-FFF2-40B4-BE49-F238E27FC236}">
                <a16:creationId xmlns:a16="http://schemas.microsoft.com/office/drawing/2014/main" id="{057B5DEE-F4D8-77ED-3043-27DB4766FFE2}"/>
              </a:ext>
            </a:extLst>
          </p:cNvPr>
          <p:cNvSpPr txBox="1"/>
          <p:nvPr/>
        </p:nvSpPr>
        <p:spPr>
          <a:xfrm>
            <a:off x="5221319" y="1456410"/>
            <a:ext cx="2515497" cy="369332"/>
          </a:xfrm>
          <a:prstGeom prst="rect">
            <a:avLst/>
          </a:prstGeom>
          <a:noFill/>
        </p:spPr>
        <p:txBody>
          <a:bodyPr wrap="none" rtlCol="0">
            <a:spAutoFit/>
          </a:bodyPr>
          <a:lstStyle/>
          <a:p>
            <a:r>
              <a:rPr lang="en-US" dirty="0"/>
              <a:t>AST&lt;int2float, float, vr3&gt;</a:t>
            </a:r>
          </a:p>
        </p:txBody>
      </p:sp>
      <p:cxnSp>
        <p:nvCxnSpPr>
          <p:cNvPr id="21" name="Straight Connector 20">
            <a:extLst>
              <a:ext uri="{FF2B5EF4-FFF2-40B4-BE49-F238E27FC236}">
                <a16:creationId xmlns:a16="http://schemas.microsoft.com/office/drawing/2014/main" id="{0FDD8B69-4E39-68A0-3723-B36B210F7C8B}"/>
              </a:ext>
            </a:extLst>
          </p:cNvPr>
          <p:cNvCxnSpPr>
            <a:cxnSpLocks/>
            <a:stCxn id="12" idx="2"/>
            <a:endCxn id="20" idx="0"/>
          </p:cNvCxnSpPr>
          <p:nvPr/>
        </p:nvCxnSpPr>
        <p:spPr>
          <a:xfrm flipH="1">
            <a:off x="6479068" y="1281271"/>
            <a:ext cx="1623224" cy="175139"/>
          </a:xfrm>
          <a:prstGeom prst="line">
            <a:avLst/>
          </a:prstGeom>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71F61AEC-40AC-4B91-0793-771178357CE4}"/>
              </a:ext>
            </a:extLst>
          </p:cNvPr>
          <p:cNvSpPr txBox="1"/>
          <p:nvPr/>
        </p:nvSpPr>
        <p:spPr>
          <a:xfrm>
            <a:off x="617810" y="5456054"/>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vr4 = float2vr(5.5);</a:t>
            </a:r>
          </a:p>
        </p:txBody>
      </p:sp>
      <p:sp>
        <p:nvSpPr>
          <p:cNvPr id="4" name="TextBox 3">
            <a:extLst>
              <a:ext uri="{FF2B5EF4-FFF2-40B4-BE49-F238E27FC236}">
                <a16:creationId xmlns:a16="http://schemas.microsoft.com/office/drawing/2014/main" id="{37FA3347-D82C-0141-F5CF-44BF27A1C576}"/>
              </a:ext>
            </a:extLst>
          </p:cNvPr>
          <p:cNvSpPr txBox="1"/>
          <p:nvPr/>
        </p:nvSpPr>
        <p:spPr>
          <a:xfrm>
            <a:off x="626530" y="4453181"/>
            <a:ext cx="2159566" cy="338554"/>
          </a:xfrm>
          <a:prstGeom prst="rect">
            <a:avLst/>
          </a:prstGeom>
          <a:noFill/>
          <a:ln>
            <a:solidFill>
              <a:schemeClr val="tx1"/>
            </a:solidFill>
          </a:ln>
        </p:spPr>
        <p:txBody>
          <a:bodyPr wrap="none" rtlCol="0">
            <a:spAutoFit/>
          </a:bodyPr>
          <a:lstStyle/>
          <a:p>
            <a:r>
              <a:rPr lang="en-US" sz="1600" b="1" dirty="0">
                <a:latin typeface="Courier" pitchFamily="2" charset="0"/>
              </a:rPr>
              <a:t>vr1 = int2vr(y);</a:t>
            </a:r>
          </a:p>
        </p:txBody>
      </p:sp>
      <p:sp>
        <p:nvSpPr>
          <p:cNvPr id="5" name="TextBox 4">
            <a:extLst>
              <a:ext uri="{FF2B5EF4-FFF2-40B4-BE49-F238E27FC236}">
                <a16:creationId xmlns:a16="http://schemas.microsoft.com/office/drawing/2014/main" id="{85490685-2085-F627-A7AD-8156C18D4BA9}"/>
              </a:ext>
            </a:extLst>
          </p:cNvPr>
          <p:cNvSpPr txBox="1"/>
          <p:nvPr/>
        </p:nvSpPr>
        <p:spPr>
          <a:xfrm>
            <a:off x="626530" y="4114627"/>
            <a:ext cx="2159566" cy="338554"/>
          </a:xfrm>
          <a:prstGeom prst="rect">
            <a:avLst/>
          </a:prstGeom>
          <a:noFill/>
          <a:ln>
            <a:solidFill>
              <a:schemeClr val="tx1"/>
            </a:solidFill>
          </a:ln>
        </p:spPr>
        <p:txBody>
          <a:bodyPr wrap="none" rtlCol="0">
            <a:spAutoFit/>
          </a:bodyPr>
          <a:lstStyle/>
          <a:p>
            <a:r>
              <a:rPr lang="en-US" sz="1600" b="1" dirty="0">
                <a:latin typeface="Courier" pitchFamily="2" charset="0"/>
              </a:rPr>
              <a:t>vr0 = int2vr(x);</a:t>
            </a:r>
          </a:p>
        </p:txBody>
      </p:sp>
      <p:sp>
        <p:nvSpPr>
          <p:cNvPr id="16" name="TextBox 15">
            <a:extLst>
              <a:ext uri="{FF2B5EF4-FFF2-40B4-BE49-F238E27FC236}">
                <a16:creationId xmlns:a16="http://schemas.microsoft.com/office/drawing/2014/main" id="{AB6388DF-116E-52A0-B00F-A1B1D568A2C0}"/>
              </a:ext>
            </a:extLst>
          </p:cNvPr>
          <p:cNvSpPr txBox="1"/>
          <p:nvPr/>
        </p:nvSpPr>
        <p:spPr>
          <a:xfrm>
            <a:off x="626530" y="4783476"/>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vr2 = </a:t>
            </a:r>
            <a:r>
              <a:rPr lang="en-US" sz="1600" b="1" dirty="0" err="1">
                <a:latin typeface="Courier" pitchFamily="2" charset="0"/>
              </a:rPr>
              <a:t>addi</a:t>
            </a:r>
            <a:r>
              <a:rPr lang="en-US" sz="1600" b="1" dirty="0">
                <a:latin typeface="Courier" pitchFamily="2" charset="0"/>
              </a:rPr>
              <a:t>(vr0,vr1);</a:t>
            </a:r>
          </a:p>
        </p:txBody>
      </p:sp>
      <p:sp>
        <p:nvSpPr>
          <p:cNvPr id="17" name="TextBox 16">
            <a:extLst>
              <a:ext uri="{FF2B5EF4-FFF2-40B4-BE49-F238E27FC236}">
                <a16:creationId xmlns:a16="http://schemas.microsoft.com/office/drawing/2014/main" id="{09857408-9B47-F920-7689-51C135AFBEC6}"/>
              </a:ext>
            </a:extLst>
          </p:cNvPr>
          <p:cNvSpPr txBox="1"/>
          <p:nvPr/>
        </p:nvSpPr>
        <p:spPr>
          <a:xfrm>
            <a:off x="626530" y="5126835"/>
            <a:ext cx="3147015" cy="338554"/>
          </a:xfrm>
          <a:prstGeom prst="rect">
            <a:avLst/>
          </a:prstGeom>
          <a:noFill/>
          <a:ln>
            <a:solidFill>
              <a:schemeClr val="tx1"/>
            </a:solidFill>
          </a:ln>
        </p:spPr>
        <p:txBody>
          <a:bodyPr wrap="none" rtlCol="0">
            <a:spAutoFit/>
          </a:bodyPr>
          <a:lstStyle/>
          <a:p>
            <a:r>
              <a:rPr lang="en-US" sz="1600" b="1" dirty="0">
                <a:latin typeface="Courier" pitchFamily="2" charset="0"/>
              </a:rPr>
              <a:t>vr3 = vr_int2float(vr2);</a:t>
            </a:r>
          </a:p>
        </p:txBody>
      </p:sp>
      <p:sp>
        <p:nvSpPr>
          <p:cNvPr id="18" name="TextBox 17">
            <a:extLst>
              <a:ext uri="{FF2B5EF4-FFF2-40B4-BE49-F238E27FC236}">
                <a16:creationId xmlns:a16="http://schemas.microsoft.com/office/drawing/2014/main" id="{8BB7C959-02FF-2994-0F89-911163781BEF}"/>
              </a:ext>
            </a:extLst>
          </p:cNvPr>
          <p:cNvSpPr txBox="1"/>
          <p:nvPr/>
        </p:nvSpPr>
        <p:spPr>
          <a:xfrm>
            <a:off x="626530" y="5805903"/>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vr5 = </a:t>
            </a:r>
            <a:r>
              <a:rPr lang="en-US" sz="1600" b="1" dirty="0" err="1">
                <a:latin typeface="Courier" pitchFamily="2" charset="0"/>
              </a:rPr>
              <a:t>addf</a:t>
            </a:r>
            <a:r>
              <a:rPr lang="en-US" sz="1600" b="1" dirty="0">
                <a:latin typeface="Courier" pitchFamily="2" charset="0"/>
              </a:rPr>
              <a:t>(vr3,vr4);</a:t>
            </a:r>
          </a:p>
        </p:txBody>
      </p:sp>
      <p:sp>
        <p:nvSpPr>
          <p:cNvPr id="28" name="TextBox 27">
            <a:extLst>
              <a:ext uri="{FF2B5EF4-FFF2-40B4-BE49-F238E27FC236}">
                <a16:creationId xmlns:a16="http://schemas.microsoft.com/office/drawing/2014/main" id="{1F5D2103-2250-5DA0-0D86-AF62CABCFCD9}"/>
              </a:ext>
            </a:extLst>
          </p:cNvPr>
          <p:cNvSpPr txBox="1"/>
          <p:nvPr/>
        </p:nvSpPr>
        <p:spPr>
          <a:xfrm>
            <a:off x="5282720" y="4536613"/>
            <a:ext cx="4421785" cy="584775"/>
          </a:xfrm>
          <a:prstGeom prst="rect">
            <a:avLst/>
          </a:prstGeom>
          <a:noFill/>
        </p:spPr>
        <p:txBody>
          <a:bodyPr wrap="square" rtlCol="0">
            <a:spAutoFit/>
          </a:bodyPr>
          <a:lstStyle/>
          <a:p>
            <a:r>
              <a:rPr lang="en-US" sz="3200" i="1" dirty="0"/>
              <a:t>Is this the only ordering?</a:t>
            </a:r>
          </a:p>
        </p:txBody>
      </p:sp>
    </p:spTree>
    <p:extLst>
      <p:ext uri="{BB962C8B-B14F-4D97-AF65-F5344CB8AC3E}">
        <p14:creationId xmlns:p14="http://schemas.microsoft.com/office/powerpoint/2010/main" val="21188297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9C52A-59ED-A189-46A0-5C30C1B40F59}"/>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257D5F8-BAF5-0A24-CCE6-D5E2CB0564E1}"/>
              </a:ext>
            </a:extLst>
          </p:cNvPr>
          <p:cNvSpPr txBox="1"/>
          <p:nvPr/>
        </p:nvSpPr>
        <p:spPr>
          <a:xfrm>
            <a:off x="283784" y="80942"/>
            <a:ext cx="2252540" cy="1200329"/>
          </a:xfrm>
          <a:prstGeom prst="rect">
            <a:avLst/>
          </a:prstGeom>
          <a:noFill/>
          <a:ln>
            <a:solidFill>
              <a:schemeClr val="tx1"/>
            </a:solidFill>
          </a:ln>
        </p:spPr>
        <p:txBody>
          <a:bodyPr wrap="none" rtlCol="0">
            <a:spAutoFit/>
          </a:bodyPr>
          <a:lstStyle/>
          <a:p>
            <a:r>
              <a:rPr lang="en-US" dirty="0">
                <a:latin typeface="Courier" pitchFamily="2" charset="0"/>
              </a:rPr>
              <a:t>int x;</a:t>
            </a:r>
          </a:p>
          <a:p>
            <a:r>
              <a:rPr lang="en-US" dirty="0">
                <a:latin typeface="Courier" pitchFamily="2" charset="0"/>
              </a:rPr>
              <a:t>int y;</a:t>
            </a:r>
          </a:p>
          <a:p>
            <a:r>
              <a:rPr lang="en-US" dirty="0">
                <a:latin typeface="Courier" pitchFamily="2" charset="0"/>
              </a:rPr>
              <a:t>float w;</a:t>
            </a:r>
            <a:br>
              <a:rPr lang="en-US" dirty="0">
                <a:latin typeface="Courier" pitchFamily="2" charset="0"/>
              </a:rPr>
            </a:br>
            <a:r>
              <a:rPr lang="en-US" dirty="0">
                <a:latin typeface="Courier" pitchFamily="2" charset="0"/>
              </a:rPr>
              <a:t>w = </a:t>
            </a:r>
            <a:r>
              <a:rPr lang="en-US" dirty="0">
                <a:highlight>
                  <a:srgbClr val="FFFF00"/>
                </a:highlight>
                <a:latin typeface="Courier" pitchFamily="2" charset="0"/>
              </a:rPr>
              <a:t>x + y + 5.5</a:t>
            </a:r>
          </a:p>
        </p:txBody>
      </p:sp>
      <p:sp>
        <p:nvSpPr>
          <p:cNvPr id="7" name="TextBox 6">
            <a:extLst>
              <a:ext uri="{FF2B5EF4-FFF2-40B4-BE49-F238E27FC236}">
                <a16:creationId xmlns:a16="http://schemas.microsoft.com/office/drawing/2014/main" id="{7B642B11-D4E0-BF39-E801-DAED674B1CFC}"/>
              </a:ext>
            </a:extLst>
          </p:cNvPr>
          <p:cNvSpPr txBox="1"/>
          <p:nvPr/>
        </p:nvSpPr>
        <p:spPr>
          <a:xfrm>
            <a:off x="4140557" y="3082025"/>
            <a:ext cx="1636474" cy="369332"/>
          </a:xfrm>
          <a:prstGeom prst="rect">
            <a:avLst/>
          </a:prstGeom>
          <a:noFill/>
        </p:spPr>
        <p:txBody>
          <a:bodyPr wrap="none" rtlCol="0">
            <a:spAutoFit/>
          </a:bodyPr>
          <a:lstStyle/>
          <a:p>
            <a:r>
              <a:rPr lang="en-US" dirty="0"/>
              <a:t>AST&lt;x, int, vr0&gt;</a:t>
            </a:r>
          </a:p>
        </p:txBody>
      </p:sp>
      <p:sp>
        <p:nvSpPr>
          <p:cNvPr id="8" name="TextBox 7">
            <a:extLst>
              <a:ext uri="{FF2B5EF4-FFF2-40B4-BE49-F238E27FC236}">
                <a16:creationId xmlns:a16="http://schemas.microsoft.com/office/drawing/2014/main" id="{04D905D5-029A-C1CB-DADD-5D27A5B8D194}"/>
              </a:ext>
            </a:extLst>
          </p:cNvPr>
          <p:cNvSpPr txBox="1"/>
          <p:nvPr/>
        </p:nvSpPr>
        <p:spPr>
          <a:xfrm>
            <a:off x="5282720" y="2284842"/>
            <a:ext cx="1599605" cy="369332"/>
          </a:xfrm>
          <a:prstGeom prst="rect">
            <a:avLst/>
          </a:prstGeom>
          <a:noFill/>
        </p:spPr>
        <p:txBody>
          <a:bodyPr wrap="none" rtlCol="0">
            <a:spAutoFit/>
          </a:bodyPr>
          <a:lstStyle/>
          <a:p>
            <a:r>
              <a:rPr lang="en-US" dirty="0"/>
              <a:t>AST&lt;+,int, vr2&gt;</a:t>
            </a:r>
          </a:p>
        </p:txBody>
      </p:sp>
      <p:cxnSp>
        <p:nvCxnSpPr>
          <p:cNvPr id="9" name="Straight Connector 8">
            <a:extLst>
              <a:ext uri="{FF2B5EF4-FFF2-40B4-BE49-F238E27FC236}">
                <a16:creationId xmlns:a16="http://schemas.microsoft.com/office/drawing/2014/main" id="{186BC420-7CAD-1271-73EB-79F890FA5CAC}"/>
              </a:ext>
            </a:extLst>
          </p:cNvPr>
          <p:cNvCxnSpPr>
            <a:cxnSpLocks/>
          </p:cNvCxnSpPr>
          <p:nvPr/>
        </p:nvCxnSpPr>
        <p:spPr>
          <a:xfrm flipH="1">
            <a:off x="4344862" y="2651859"/>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D5ECEE55-72B2-0E6E-6A62-07A4C5B462C3}"/>
              </a:ext>
            </a:extLst>
          </p:cNvPr>
          <p:cNvCxnSpPr>
            <a:cxnSpLocks/>
          </p:cNvCxnSpPr>
          <p:nvPr/>
        </p:nvCxnSpPr>
        <p:spPr>
          <a:xfrm>
            <a:off x="5569235" y="2651859"/>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4C519AE0-5E39-0588-EEDA-900F16A8379A}"/>
              </a:ext>
            </a:extLst>
          </p:cNvPr>
          <p:cNvSpPr txBox="1"/>
          <p:nvPr/>
        </p:nvSpPr>
        <p:spPr>
          <a:xfrm>
            <a:off x="6513402" y="3082025"/>
            <a:ext cx="1624804" cy="369332"/>
          </a:xfrm>
          <a:prstGeom prst="rect">
            <a:avLst/>
          </a:prstGeom>
          <a:noFill/>
        </p:spPr>
        <p:txBody>
          <a:bodyPr wrap="none" rtlCol="0">
            <a:spAutoFit/>
          </a:bodyPr>
          <a:lstStyle/>
          <a:p>
            <a:r>
              <a:rPr lang="en-US" dirty="0"/>
              <a:t>AST&lt;y, int, vr1&gt;</a:t>
            </a:r>
          </a:p>
        </p:txBody>
      </p:sp>
      <p:sp>
        <p:nvSpPr>
          <p:cNvPr id="12" name="TextBox 11">
            <a:extLst>
              <a:ext uri="{FF2B5EF4-FFF2-40B4-BE49-F238E27FC236}">
                <a16:creationId xmlns:a16="http://schemas.microsoft.com/office/drawing/2014/main" id="{73F03412-E1EA-90CF-7A6E-A8C1C11C0F81}"/>
              </a:ext>
            </a:extLst>
          </p:cNvPr>
          <p:cNvSpPr txBox="1"/>
          <p:nvPr/>
        </p:nvSpPr>
        <p:spPr>
          <a:xfrm>
            <a:off x="7211920" y="911939"/>
            <a:ext cx="1780744" cy="369332"/>
          </a:xfrm>
          <a:prstGeom prst="rect">
            <a:avLst/>
          </a:prstGeom>
          <a:noFill/>
        </p:spPr>
        <p:txBody>
          <a:bodyPr wrap="none" rtlCol="0">
            <a:spAutoFit/>
          </a:bodyPr>
          <a:lstStyle/>
          <a:p>
            <a:r>
              <a:rPr lang="en-US" dirty="0"/>
              <a:t>AST&lt;+,float, vr5&gt;</a:t>
            </a:r>
          </a:p>
        </p:txBody>
      </p:sp>
      <p:cxnSp>
        <p:nvCxnSpPr>
          <p:cNvPr id="13" name="Straight Connector 12">
            <a:extLst>
              <a:ext uri="{FF2B5EF4-FFF2-40B4-BE49-F238E27FC236}">
                <a16:creationId xmlns:a16="http://schemas.microsoft.com/office/drawing/2014/main" id="{5737718F-D115-0A52-0EE6-45CF1C653629}"/>
              </a:ext>
            </a:extLst>
          </p:cNvPr>
          <p:cNvCxnSpPr>
            <a:cxnSpLocks/>
            <a:stCxn id="20" idx="2"/>
            <a:endCxn id="8" idx="0"/>
          </p:cNvCxnSpPr>
          <p:nvPr/>
        </p:nvCxnSpPr>
        <p:spPr>
          <a:xfrm flipH="1">
            <a:off x="6082523" y="1825742"/>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19061CA6-D609-9DC5-20C6-26EB59CF9B4D}"/>
              </a:ext>
            </a:extLst>
          </p:cNvPr>
          <p:cNvCxnSpPr>
            <a:cxnSpLocks/>
            <a:stCxn id="12" idx="2"/>
            <a:endCxn id="15" idx="0"/>
          </p:cNvCxnSpPr>
          <p:nvPr/>
        </p:nvCxnSpPr>
        <p:spPr>
          <a:xfrm>
            <a:off x="8102292" y="1281271"/>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A9BA5A19-720D-AEA5-D00C-E11448C50D64}"/>
              </a:ext>
            </a:extLst>
          </p:cNvPr>
          <p:cNvSpPr txBox="1"/>
          <p:nvPr/>
        </p:nvSpPr>
        <p:spPr>
          <a:xfrm>
            <a:off x="8443852" y="2296698"/>
            <a:ext cx="2009974" cy="369332"/>
          </a:xfrm>
          <a:prstGeom prst="rect">
            <a:avLst/>
          </a:prstGeom>
          <a:noFill/>
        </p:spPr>
        <p:txBody>
          <a:bodyPr wrap="none" rtlCol="0">
            <a:spAutoFit/>
          </a:bodyPr>
          <a:lstStyle/>
          <a:p>
            <a:r>
              <a:rPr lang="en-US" dirty="0"/>
              <a:t>AST&lt;5.5, float, vr4&gt;</a:t>
            </a:r>
          </a:p>
        </p:txBody>
      </p:sp>
      <p:sp>
        <p:nvSpPr>
          <p:cNvPr id="20" name="TextBox 19">
            <a:extLst>
              <a:ext uri="{FF2B5EF4-FFF2-40B4-BE49-F238E27FC236}">
                <a16:creationId xmlns:a16="http://schemas.microsoft.com/office/drawing/2014/main" id="{33690735-39AF-8211-2911-19806F5E3B9E}"/>
              </a:ext>
            </a:extLst>
          </p:cNvPr>
          <p:cNvSpPr txBox="1"/>
          <p:nvPr/>
        </p:nvSpPr>
        <p:spPr>
          <a:xfrm>
            <a:off x="5221319" y="1456410"/>
            <a:ext cx="2515497" cy="369332"/>
          </a:xfrm>
          <a:prstGeom prst="rect">
            <a:avLst/>
          </a:prstGeom>
          <a:noFill/>
        </p:spPr>
        <p:txBody>
          <a:bodyPr wrap="none" rtlCol="0">
            <a:spAutoFit/>
          </a:bodyPr>
          <a:lstStyle/>
          <a:p>
            <a:r>
              <a:rPr lang="en-US" dirty="0"/>
              <a:t>AST&lt;int2float, float, vr3&gt;</a:t>
            </a:r>
          </a:p>
        </p:txBody>
      </p:sp>
      <p:cxnSp>
        <p:nvCxnSpPr>
          <p:cNvPr id="21" name="Straight Connector 20">
            <a:extLst>
              <a:ext uri="{FF2B5EF4-FFF2-40B4-BE49-F238E27FC236}">
                <a16:creationId xmlns:a16="http://schemas.microsoft.com/office/drawing/2014/main" id="{3BD57542-C724-BAF2-F2FE-FF16F78FC1E6}"/>
              </a:ext>
            </a:extLst>
          </p:cNvPr>
          <p:cNvCxnSpPr>
            <a:cxnSpLocks/>
            <a:stCxn id="12" idx="2"/>
            <a:endCxn id="20" idx="0"/>
          </p:cNvCxnSpPr>
          <p:nvPr/>
        </p:nvCxnSpPr>
        <p:spPr>
          <a:xfrm flipH="1">
            <a:off x="6479068" y="1281271"/>
            <a:ext cx="1623224" cy="175139"/>
          </a:xfrm>
          <a:prstGeom prst="line">
            <a:avLst/>
          </a:prstGeom>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93D69F66-D445-784B-40C5-76CE39C66685}"/>
              </a:ext>
            </a:extLst>
          </p:cNvPr>
          <p:cNvSpPr txBox="1"/>
          <p:nvPr/>
        </p:nvSpPr>
        <p:spPr>
          <a:xfrm>
            <a:off x="626530" y="4094644"/>
            <a:ext cx="2653290" cy="338554"/>
          </a:xfrm>
          <a:prstGeom prst="rect">
            <a:avLst/>
          </a:prstGeom>
          <a:noFill/>
          <a:ln>
            <a:solidFill>
              <a:schemeClr val="tx1"/>
            </a:solidFill>
          </a:ln>
        </p:spPr>
        <p:txBody>
          <a:bodyPr wrap="none" rtlCol="0">
            <a:spAutoFit/>
          </a:bodyPr>
          <a:lstStyle/>
          <a:p>
            <a:r>
              <a:rPr lang="en-US" sz="1600" b="1" dirty="0">
                <a:highlight>
                  <a:srgbClr val="FFFF00"/>
                </a:highlight>
                <a:latin typeface="Courier" pitchFamily="2" charset="0"/>
              </a:rPr>
              <a:t>vr4 = float2vr(5.5);</a:t>
            </a:r>
          </a:p>
        </p:txBody>
      </p:sp>
      <p:sp>
        <p:nvSpPr>
          <p:cNvPr id="4" name="TextBox 3">
            <a:extLst>
              <a:ext uri="{FF2B5EF4-FFF2-40B4-BE49-F238E27FC236}">
                <a16:creationId xmlns:a16="http://schemas.microsoft.com/office/drawing/2014/main" id="{408A9C8B-8EBD-8819-FC2A-2997F28BCC6B}"/>
              </a:ext>
            </a:extLst>
          </p:cNvPr>
          <p:cNvSpPr txBox="1"/>
          <p:nvPr/>
        </p:nvSpPr>
        <p:spPr>
          <a:xfrm>
            <a:off x="626530" y="4771752"/>
            <a:ext cx="2159566" cy="338554"/>
          </a:xfrm>
          <a:prstGeom prst="rect">
            <a:avLst/>
          </a:prstGeom>
          <a:noFill/>
          <a:ln>
            <a:solidFill>
              <a:schemeClr val="tx1"/>
            </a:solidFill>
          </a:ln>
        </p:spPr>
        <p:txBody>
          <a:bodyPr wrap="none" rtlCol="0">
            <a:spAutoFit/>
          </a:bodyPr>
          <a:lstStyle/>
          <a:p>
            <a:r>
              <a:rPr lang="en-US" sz="1600" b="1" dirty="0">
                <a:latin typeface="Courier" pitchFamily="2" charset="0"/>
              </a:rPr>
              <a:t>vr1 = int2vr(y);</a:t>
            </a:r>
          </a:p>
        </p:txBody>
      </p:sp>
      <p:sp>
        <p:nvSpPr>
          <p:cNvPr id="5" name="TextBox 4">
            <a:extLst>
              <a:ext uri="{FF2B5EF4-FFF2-40B4-BE49-F238E27FC236}">
                <a16:creationId xmlns:a16="http://schemas.microsoft.com/office/drawing/2014/main" id="{E673A4D4-0BD9-D44C-1CC3-7A2379F3B9F7}"/>
              </a:ext>
            </a:extLst>
          </p:cNvPr>
          <p:cNvSpPr txBox="1"/>
          <p:nvPr/>
        </p:nvSpPr>
        <p:spPr>
          <a:xfrm>
            <a:off x="626530" y="4433198"/>
            <a:ext cx="2159566" cy="338554"/>
          </a:xfrm>
          <a:prstGeom prst="rect">
            <a:avLst/>
          </a:prstGeom>
          <a:noFill/>
          <a:ln>
            <a:solidFill>
              <a:schemeClr val="tx1"/>
            </a:solidFill>
          </a:ln>
        </p:spPr>
        <p:txBody>
          <a:bodyPr wrap="none" rtlCol="0">
            <a:spAutoFit/>
          </a:bodyPr>
          <a:lstStyle/>
          <a:p>
            <a:r>
              <a:rPr lang="en-US" sz="1600" b="1" dirty="0">
                <a:latin typeface="Courier" pitchFamily="2" charset="0"/>
              </a:rPr>
              <a:t>vr0 = int2vr(x);</a:t>
            </a:r>
          </a:p>
        </p:txBody>
      </p:sp>
      <p:sp>
        <p:nvSpPr>
          <p:cNvPr id="16" name="TextBox 15">
            <a:extLst>
              <a:ext uri="{FF2B5EF4-FFF2-40B4-BE49-F238E27FC236}">
                <a16:creationId xmlns:a16="http://schemas.microsoft.com/office/drawing/2014/main" id="{C4619196-6C9E-44C0-87AA-69D04D6767A0}"/>
              </a:ext>
            </a:extLst>
          </p:cNvPr>
          <p:cNvSpPr txBox="1"/>
          <p:nvPr/>
        </p:nvSpPr>
        <p:spPr>
          <a:xfrm>
            <a:off x="626530" y="5109811"/>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vr2 = </a:t>
            </a:r>
            <a:r>
              <a:rPr lang="en-US" sz="1600" b="1" dirty="0" err="1">
                <a:latin typeface="Courier" pitchFamily="2" charset="0"/>
              </a:rPr>
              <a:t>addi</a:t>
            </a:r>
            <a:r>
              <a:rPr lang="en-US" sz="1600" b="1" dirty="0">
                <a:latin typeface="Courier" pitchFamily="2" charset="0"/>
              </a:rPr>
              <a:t>(vr0,vr1);</a:t>
            </a:r>
          </a:p>
        </p:txBody>
      </p:sp>
      <p:sp>
        <p:nvSpPr>
          <p:cNvPr id="17" name="TextBox 16">
            <a:extLst>
              <a:ext uri="{FF2B5EF4-FFF2-40B4-BE49-F238E27FC236}">
                <a16:creationId xmlns:a16="http://schemas.microsoft.com/office/drawing/2014/main" id="{A617B7CB-28CF-046F-DAB7-83C25182ADAB}"/>
              </a:ext>
            </a:extLst>
          </p:cNvPr>
          <p:cNvSpPr txBox="1"/>
          <p:nvPr/>
        </p:nvSpPr>
        <p:spPr>
          <a:xfrm>
            <a:off x="626530" y="5453170"/>
            <a:ext cx="3147015" cy="338554"/>
          </a:xfrm>
          <a:prstGeom prst="rect">
            <a:avLst/>
          </a:prstGeom>
          <a:noFill/>
          <a:ln>
            <a:solidFill>
              <a:schemeClr val="tx1"/>
            </a:solidFill>
          </a:ln>
        </p:spPr>
        <p:txBody>
          <a:bodyPr wrap="none" rtlCol="0">
            <a:spAutoFit/>
          </a:bodyPr>
          <a:lstStyle/>
          <a:p>
            <a:r>
              <a:rPr lang="en-US" sz="1600" b="1" dirty="0">
                <a:latin typeface="Courier" pitchFamily="2" charset="0"/>
              </a:rPr>
              <a:t>vr3 = vr_int2float(vr2);</a:t>
            </a:r>
          </a:p>
        </p:txBody>
      </p:sp>
      <p:sp>
        <p:nvSpPr>
          <p:cNvPr id="18" name="TextBox 17">
            <a:extLst>
              <a:ext uri="{FF2B5EF4-FFF2-40B4-BE49-F238E27FC236}">
                <a16:creationId xmlns:a16="http://schemas.microsoft.com/office/drawing/2014/main" id="{972DD9D0-93A5-603D-877E-DB8D522964E5}"/>
              </a:ext>
            </a:extLst>
          </p:cNvPr>
          <p:cNvSpPr txBox="1"/>
          <p:nvPr/>
        </p:nvSpPr>
        <p:spPr>
          <a:xfrm>
            <a:off x="626530" y="5805903"/>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vr5 = </a:t>
            </a:r>
            <a:r>
              <a:rPr lang="en-US" sz="1600" b="1" dirty="0" err="1">
                <a:latin typeface="Courier" pitchFamily="2" charset="0"/>
              </a:rPr>
              <a:t>addf</a:t>
            </a:r>
            <a:r>
              <a:rPr lang="en-US" sz="1600" b="1" dirty="0">
                <a:latin typeface="Courier" pitchFamily="2" charset="0"/>
              </a:rPr>
              <a:t>(vr3,vr4);</a:t>
            </a:r>
          </a:p>
        </p:txBody>
      </p:sp>
      <p:sp>
        <p:nvSpPr>
          <p:cNvPr id="28" name="TextBox 27">
            <a:extLst>
              <a:ext uri="{FF2B5EF4-FFF2-40B4-BE49-F238E27FC236}">
                <a16:creationId xmlns:a16="http://schemas.microsoft.com/office/drawing/2014/main" id="{0254AC9D-0830-0226-3CEC-12D4AB0E3953}"/>
              </a:ext>
            </a:extLst>
          </p:cNvPr>
          <p:cNvSpPr txBox="1"/>
          <p:nvPr/>
        </p:nvSpPr>
        <p:spPr>
          <a:xfrm>
            <a:off x="5027054" y="4499511"/>
            <a:ext cx="5426772" cy="1569660"/>
          </a:xfrm>
          <a:prstGeom prst="rect">
            <a:avLst/>
          </a:prstGeom>
          <a:noFill/>
        </p:spPr>
        <p:txBody>
          <a:bodyPr wrap="square" rtlCol="0">
            <a:spAutoFit/>
          </a:bodyPr>
          <a:lstStyle/>
          <a:p>
            <a:r>
              <a:rPr lang="en-US" sz="3200" i="1" dirty="0"/>
              <a:t>We can reorder to optimize the linear code?</a:t>
            </a:r>
          </a:p>
          <a:p>
            <a:r>
              <a:rPr lang="en-US" sz="3200" i="1" dirty="0"/>
              <a:t>e.g. less bubbles in a pipeline</a:t>
            </a:r>
          </a:p>
        </p:txBody>
      </p:sp>
    </p:spTree>
    <p:extLst>
      <p:ext uri="{BB962C8B-B14F-4D97-AF65-F5344CB8AC3E}">
        <p14:creationId xmlns:p14="http://schemas.microsoft.com/office/powerpoint/2010/main" val="39293606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D04EE-3AEE-E045-B494-213DB311802E}"/>
              </a:ext>
            </a:extLst>
          </p:cNvPr>
          <p:cNvSpPr>
            <a:spLocks noGrp="1"/>
          </p:cNvSpPr>
          <p:nvPr>
            <p:ph type="title"/>
          </p:nvPr>
        </p:nvSpPr>
        <p:spPr>
          <a:xfrm>
            <a:off x="756920" y="0"/>
            <a:ext cx="10515600" cy="1325563"/>
          </a:xfrm>
        </p:spPr>
        <p:txBody>
          <a:bodyPr/>
          <a:lstStyle/>
          <a:p>
            <a:pPr algn="ctr"/>
            <a:r>
              <a:rPr lang="en-US" dirty="0"/>
              <a:t>Thinking at a higher level</a:t>
            </a:r>
          </a:p>
        </p:txBody>
      </p:sp>
      <p:sp>
        <p:nvSpPr>
          <p:cNvPr id="5" name="Content Placeholder 4">
            <a:extLst>
              <a:ext uri="{FF2B5EF4-FFF2-40B4-BE49-F238E27FC236}">
                <a16:creationId xmlns:a16="http://schemas.microsoft.com/office/drawing/2014/main" id="{FE275B2C-C4B0-3846-806B-FAD1E9ADFA8C}"/>
              </a:ext>
            </a:extLst>
          </p:cNvPr>
          <p:cNvSpPr>
            <a:spLocks noGrp="1"/>
          </p:cNvSpPr>
          <p:nvPr>
            <p:ph idx="1"/>
          </p:nvPr>
        </p:nvSpPr>
        <p:spPr>
          <a:xfrm>
            <a:off x="838200" y="1825624"/>
            <a:ext cx="10515600" cy="4758055"/>
          </a:xfrm>
        </p:spPr>
        <p:txBody>
          <a:bodyPr>
            <a:normAutofit fontScale="55000" lnSpcReduction="20000"/>
          </a:bodyPr>
          <a:lstStyle/>
          <a:p>
            <a:pPr marL="0" indent="0">
              <a:buNone/>
            </a:pPr>
            <a:r>
              <a:rPr lang="en-US" sz="8700" dirty="0"/>
              <a:t>What we now know how to do:</a:t>
            </a:r>
          </a:p>
          <a:p>
            <a:pPr marL="0" indent="0">
              <a:buNone/>
            </a:pPr>
            <a:endParaRPr lang="en-US" sz="4000" dirty="0"/>
          </a:p>
          <a:p>
            <a:pPr lvl="1"/>
            <a:r>
              <a:rPr lang="en-US" sz="3900" dirty="0"/>
              <a:t> </a:t>
            </a:r>
            <a:r>
              <a:rPr lang="en-US" sz="6400" dirty="0"/>
              <a:t>parse an expression: </a:t>
            </a:r>
            <a:r>
              <a:rPr lang="en-US" sz="6400" dirty="0" err="1">
                <a:latin typeface="Courier" pitchFamily="2" charset="0"/>
              </a:rPr>
              <a:t>parse_expr</a:t>
            </a:r>
            <a:endParaRPr lang="en-US" sz="6400" dirty="0">
              <a:latin typeface="Courier" pitchFamily="2" charset="0"/>
            </a:endParaRPr>
          </a:p>
          <a:p>
            <a:endParaRPr lang="en-US" sz="7000" dirty="0">
              <a:latin typeface="Courier" pitchFamily="2" charset="0"/>
            </a:endParaRPr>
          </a:p>
          <a:p>
            <a:pPr lvl="1"/>
            <a:r>
              <a:rPr lang="en-US" sz="6400" dirty="0"/>
              <a:t>create an AST during parsing</a:t>
            </a:r>
          </a:p>
          <a:p>
            <a:endParaRPr lang="en-US" sz="7000" dirty="0"/>
          </a:p>
          <a:p>
            <a:pPr lvl="1"/>
            <a:r>
              <a:rPr lang="en-US" sz="6400" dirty="0"/>
              <a:t>do type inference on the AST</a:t>
            </a:r>
          </a:p>
          <a:p>
            <a:endParaRPr lang="en-US" sz="7000" dirty="0"/>
          </a:p>
          <a:p>
            <a:pPr lvl="1"/>
            <a:r>
              <a:rPr lang="en-US" sz="6400" dirty="0"/>
              <a:t>convert a type-safe AST into 3 address code</a:t>
            </a:r>
          </a:p>
        </p:txBody>
      </p:sp>
    </p:spTree>
    <p:extLst>
      <p:ext uri="{BB962C8B-B14F-4D97-AF65-F5344CB8AC3E}">
        <p14:creationId xmlns:p14="http://schemas.microsoft.com/office/powerpoint/2010/main" val="35468744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D04EE-3AEE-E045-B494-213DB311802E}"/>
              </a:ext>
            </a:extLst>
          </p:cNvPr>
          <p:cNvSpPr>
            <a:spLocks noGrp="1"/>
          </p:cNvSpPr>
          <p:nvPr>
            <p:ph type="title"/>
          </p:nvPr>
        </p:nvSpPr>
        <p:spPr/>
        <p:txBody>
          <a:bodyPr/>
          <a:lstStyle/>
          <a:p>
            <a:r>
              <a:rPr lang="en-US" dirty="0"/>
              <a:t>Backing up to an even higher level</a:t>
            </a:r>
          </a:p>
        </p:txBody>
      </p:sp>
      <p:sp>
        <p:nvSpPr>
          <p:cNvPr id="5" name="Content Placeholder 4">
            <a:extLst>
              <a:ext uri="{FF2B5EF4-FFF2-40B4-BE49-F238E27FC236}">
                <a16:creationId xmlns:a16="http://schemas.microsoft.com/office/drawing/2014/main" id="{FE275B2C-C4B0-3846-806B-FAD1E9ADFA8C}"/>
              </a:ext>
            </a:extLst>
          </p:cNvPr>
          <p:cNvSpPr>
            <a:spLocks noGrp="1"/>
          </p:cNvSpPr>
          <p:nvPr>
            <p:ph idx="1"/>
          </p:nvPr>
        </p:nvSpPr>
        <p:spPr/>
        <p:txBody>
          <a:bodyPr/>
          <a:lstStyle/>
          <a:p>
            <a:r>
              <a:rPr lang="en-US" dirty="0"/>
              <a:t>So, we can now define what our parser returns as: </a:t>
            </a:r>
          </a:p>
          <a:p>
            <a:pPr lvl="1"/>
            <a:r>
              <a:rPr lang="en-US" sz="3600" dirty="0">
                <a:highlight>
                  <a:srgbClr val="FFFF00"/>
                </a:highlight>
              </a:rPr>
              <a:t>A list of 3 address IR code</a:t>
            </a:r>
          </a:p>
          <a:p>
            <a:endParaRPr lang="en-US" dirty="0"/>
          </a:p>
          <a:p>
            <a:r>
              <a:rPr lang="en-US" dirty="0"/>
              <a:t>Lower IR to a 3-address IR code for parsing expressions.</a:t>
            </a:r>
          </a:p>
          <a:p>
            <a:r>
              <a:rPr lang="en-US" dirty="0"/>
              <a:t>Next we need to get it from statements</a:t>
            </a:r>
          </a:p>
        </p:txBody>
      </p:sp>
    </p:spTree>
    <p:extLst>
      <p:ext uri="{BB962C8B-B14F-4D97-AF65-F5344CB8AC3E}">
        <p14:creationId xmlns:p14="http://schemas.microsoft.com/office/powerpoint/2010/main" val="233815445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C3909-A4AF-DE4A-8A18-D30E6034061B}"/>
              </a:ext>
            </a:extLst>
          </p:cNvPr>
          <p:cNvSpPr>
            <a:spLocks noGrp="1"/>
          </p:cNvSpPr>
          <p:nvPr>
            <p:ph type="title"/>
          </p:nvPr>
        </p:nvSpPr>
        <p:spPr/>
        <p:txBody>
          <a:bodyPr/>
          <a:lstStyle/>
          <a:p>
            <a:r>
              <a:rPr lang="en-US" dirty="0"/>
              <a:t>From our grammar</a:t>
            </a:r>
          </a:p>
        </p:txBody>
      </p:sp>
      <p:sp>
        <p:nvSpPr>
          <p:cNvPr id="4" name="Rectangle 3">
            <a:extLst>
              <a:ext uri="{FF2B5EF4-FFF2-40B4-BE49-F238E27FC236}">
                <a16:creationId xmlns:a16="http://schemas.microsoft.com/office/drawing/2014/main" id="{50A7301C-F55E-AE45-A98D-566FF553C626}"/>
              </a:ext>
            </a:extLst>
          </p:cNvPr>
          <p:cNvSpPr/>
          <p:nvPr/>
        </p:nvSpPr>
        <p:spPr>
          <a:xfrm>
            <a:off x="2856410" y="2291418"/>
            <a:ext cx="6992983" cy="1477328"/>
          </a:xfrm>
          <a:prstGeom prst="rect">
            <a:avLst/>
          </a:prstGeom>
        </p:spPr>
        <p:txBody>
          <a:bodyPr wrap="square">
            <a:spAutoFit/>
          </a:bodyPr>
          <a:lstStyle/>
          <a:p>
            <a:r>
              <a:rPr lang="en-US" dirty="0">
                <a:latin typeface="Courier" pitchFamily="2" charset="0"/>
                <a:ea typeface="Calibri" panose="020F0502020204030204" pitchFamily="34" charset="0"/>
                <a:cs typeface="Times New Roman" panose="02020603050405020304" pitchFamily="18" charset="0"/>
              </a:rPr>
              <a:t>statement := </a:t>
            </a:r>
            <a:r>
              <a:rPr lang="en-US" dirty="0" err="1">
                <a:latin typeface="Courier" pitchFamily="2" charset="0"/>
                <a:ea typeface="Calibri" panose="020F0502020204030204" pitchFamily="34" charset="0"/>
                <a:cs typeface="Times New Roman" panose="02020603050405020304" pitchFamily="18" charset="0"/>
              </a:rPr>
              <a:t>declaration_statement</a:t>
            </a:r>
            <a:r>
              <a:rPr lang="en-US" dirty="0">
                <a:latin typeface="Courier" pitchFamily="2" charset="0"/>
                <a:ea typeface="Calibri" panose="020F0502020204030204" pitchFamily="34" charset="0"/>
                <a:cs typeface="Times New Roman" panose="02020603050405020304" pitchFamily="18" charset="0"/>
              </a:rPr>
              <a:t> </a:t>
            </a: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assignment_statement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if_else_statement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block_statement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for_loop_statement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1B1C14B4-7643-4E41-93E8-945A43ADD474}"/>
              </a:ext>
            </a:extLst>
          </p:cNvPr>
          <p:cNvSpPr txBox="1"/>
          <p:nvPr/>
        </p:nvSpPr>
        <p:spPr>
          <a:xfrm>
            <a:off x="1205701" y="4763588"/>
            <a:ext cx="10298653" cy="1200329"/>
          </a:xfrm>
          <a:prstGeom prst="rect">
            <a:avLst/>
          </a:prstGeom>
          <a:noFill/>
        </p:spPr>
        <p:txBody>
          <a:bodyPr wrap="none" rtlCol="0">
            <a:spAutoFit/>
          </a:bodyPr>
          <a:lstStyle/>
          <a:p>
            <a:r>
              <a:rPr lang="en-US" sz="2400" dirty="0"/>
              <a:t>Our top-down parser should have a function called   </a:t>
            </a:r>
            <a:r>
              <a:rPr lang="en-US" sz="2400" dirty="0" err="1">
                <a:latin typeface="Courier" pitchFamily="2" charset="0"/>
              </a:rPr>
              <a:t>parse_statement</a:t>
            </a:r>
            <a:endParaRPr lang="en-US" sz="2400" dirty="0">
              <a:latin typeface="Courier" pitchFamily="2" charset="0"/>
            </a:endParaRPr>
          </a:p>
          <a:p>
            <a:endParaRPr lang="en-US" sz="2400" dirty="0">
              <a:latin typeface="Courier" pitchFamily="2" charset="0"/>
            </a:endParaRPr>
          </a:p>
          <a:p>
            <a:r>
              <a:rPr lang="en-US" sz="2400" dirty="0"/>
              <a:t>This should return a list of 3 address code instructions that encode the statement</a:t>
            </a:r>
          </a:p>
        </p:txBody>
      </p:sp>
    </p:spTree>
    <p:extLst>
      <p:ext uri="{BB962C8B-B14F-4D97-AF65-F5344CB8AC3E}">
        <p14:creationId xmlns:p14="http://schemas.microsoft.com/office/powerpoint/2010/main" val="38375309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C3909-A4AF-DE4A-8A18-D30E6034061B}"/>
              </a:ext>
            </a:extLst>
          </p:cNvPr>
          <p:cNvSpPr>
            <a:spLocks noGrp="1"/>
          </p:cNvSpPr>
          <p:nvPr>
            <p:ph type="title"/>
          </p:nvPr>
        </p:nvSpPr>
        <p:spPr/>
        <p:txBody>
          <a:bodyPr/>
          <a:lstStyle/>
          <a:p>
            <a:r>
              <a:rPr lang="en-US" dirty="0"/>
              <a:t>From our grammar</a:t>
            </a:r>
          </a:p>
        </p:txBody>
      </p:sp>
      <p:sp>
        <p:nvSpPr>
          <p:cNvPr id="4" name="Rectangle 3">
            <a:extLst>
              <a:ext uri="{FF2B5EF4-FFF2-40B4-BE49-F238E27FC236}">
                <a16:creationId xmlns:a16="http://schemas.microsoft.com/office/drawing/2014/main" id="{50A7301C-F55E-AE45-A98D-566FF553C626}"/>
              </a:ext>
            </a:extLst>
          </p:cNvPr>
          <p:cNvSpPr/>
          <p:nvPr/>
        </p:nvSpPr>
        <p:spPr>
          <a:xfrm>
            <a:off x="2856410" y="2291418"/>
            <a:ext cx="6992983" cy="1477328"/>
          </a:xfrm>
          <a:prstGeom prst="rect">
            <a:avLst/>
          </a:prstGeom>
        </p:spPr>
        <p:txBody>
          <a:bodyPr wrap="square">
            <a:spAutoFit/>
          </a:bodyPr>
          <a:lstStyle/>
          <a:p>
            <a:r>
              <a:rPr lang="en-US" dirty="0">
                <a:latin typeface="Courier" pitchFamily="2" charset="0"/>
                <a:ea typeface="Calibri" panose="020F0502020204030204" pitchFamily="34" charset="0"/>
                <a:cs typeface="Times New Roman" panose="02020603050405020304" pitchFamily="18" charset="0"/>
              </a:rPr>
              <a:t>statement := </a:t>
            </a:r>
            <a:r>
              <a:rPr lang="en-US" dirty="0" err="1">
                <a:latin typeface="Courier" pitchFamily="2" charset="0"/>
                <a:ea typeface="Calibri" panose="020F0502020204030204" pitchFamily="34" charset="0"/>
                <a:cs typeface="Times New Roman" panose="02020603050405020304" pitchFamily="18" charset="0"/>
              </a:rPr>
              <a:t>declaration_statement</a:t>
            </a:r>
            <a:r>
              <a:rPr lang="en-US" dirty="0">
                <a:latin typeface="Courier" pitchFamily="2" charset="0"/>
                <a:ea typeface="Calibri" panose="020F0502020204030204" pitchFamily="34" charset="0"/>
                <a:cs typeface="Times New Roman" panose="02020603050405020304" pitchFamily="18" charset="0"/>
              </a:rPr>
              <a:t> </a:t>
            </a:r>
          </a:p>
          <a:p>
            <a:r>
              <a:rPr lang="en-US" dirty="0">
                <a:latin typeface="Courier" pitchFamily="2" charset="0"/>
                <a:ea typeface="Calibri" panose="020F0502020204030204" pitchFamily="34" charset="0"/>
                <a:cs typeface="Times New Roman" panose="02020603050405020304" pitchFamily="18" charset="0"/>
              </a:rPr>
              <a:t>          |  </a:t>
            </a:r>
            <a:r>
              <a:rPr lang="en-US" dirty="0" err="1">
                <a:highlight>
                  <a:srgbClr val="FFFF00"/>
                </a:highlight>
                <a:latin typeface="Courier" pitchFamily="2" charset="0"/>
                <a:ea typeface="Calibri" panose="020F0502020204030204" pitchFamily="34" charset="0"/>
                <a:cs typeface="Times New Roman" panose="02020603050405020304" pitchFamily="18" charset="0"/>
              </a:rPr>
              <a:t>assignment_statement</a:t>
            </a:r>
            <a:r>
              <a:rPr lang="en-US" dirty="0">
                <a:highlight>
                  <a:srgbClr val="FFFF00"/>
                </a:highlight>
                <a:latin typeface="Courier" pitchFamily="2" charset="0"/>
                <a:ea typeface="Calibri" panose="020F0502020204030204" pitchFamily="34" charset="0"/>
                <a:cs typeface="Times New Roman" panose="02020603050405020304" pitchFamily="18" charset="0"/>
              </a:rPr>
              <a:t>   </a:t>
            </a:r>
            <a:endParaRPr lang="en-US" sz="3200" dirty="0">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if_else_statement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block_statement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for_loop_statement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1B1C14B4-7643-4E41-93E8-945A43ADD474}"/>
              </a:ext>
            </a:extLst>
          </p:cNvPr>
          <p:cNvSpPr txBox="1"/>
          <p:nvPr/>
        </p:nvSpPr>
        <p:spPr>
          <a:xfrm>
            <a:off x="1205701" y="4763588"/>
            <a:ext cx="10298653" cy="1200329"/>
          </a:xfrm>
          <a:prstGeom prst="rect">
            <a:avLst/>
          </a:prstGeom>
          <a:noFill/>
        </p:spPr>
        <p:txBody>
          <a:bodyPr wrap="none" rtlCol="0">
            <a:spAutoFit/>
          </a:bodyPr>
          <a:lstStyle/>
          <a:p>
            <a:r>
              <a:rPr lang="en-US" sz="2400" dirty="0"/>
              <a:t>Our top down parser should have a function called   </a:t>
            </a:r>
            <a:r>
              <a:rPr lang="en-US" sz="2400" dirty="0" err="1">
                <a:latin typeface="Courier" pitchFamily="2" charset="0"/>
              </a:rPr>
              <a:t>parse_statement</a:t>
            </a:r>
            <a:endParaRPr lang="en-US" sz="2400" dirty="0">
              <a:latin typeface="Courier" pitchFamily="2" charset="0"/>
            </a:endParaRPr>
          </a:p>
          <a:p>
            <a:endParaRPr lang="en-US" sz="2400" dirty="0">
              <a:latin typeface="Courier" pitchFamily="2" charset="0"/>
            </a:endParaRPr>
          </a:p>
          <a:p>
            <a:r>
              <a:rPr lang="en-US" sz="2400" dirty="0"/>
              <a:t>This should return a list of 3 address code instructions that encode the statement</a:t>
            </a:r>
          </a:p>
        </p:txBody>
      </p:sp>
    </p:spTree>
    <p:extLst>
      <p:ext uri="{BB962C8B-B14F-4D97-AF65-F5344CB8AC3E}">
        <p14:creationId xmlns:p14="http://schemas.microsoft.com/office/powerpoint/2010/main" val="40859339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DE84F26-C82B-0447-AF3D-16031FD25107}"/>
              </a:ext>
            </a:extLst>
          </p:cNvPr>
          <p:cNvSpPr/>
          <p:nvPr/>
        </p:nvSpPr>
        <p:spPr>
          <a:xfrm>
            <a:off x="314426" y="2366477"/>
            <a:ext cx="6992983" cy="369332"/>
          </a:xfrm>
          <a:prstGeom prst="rect">
            <a:avLst/>
          </a:prstGeom>
        </p:spPr>
        <p:txBody>
          <a:bodyPr wrap="square">
            <a:spAutoFit/>
          </a:bodyPr>
          <a:lstStyle/>
          <a:p>
            <a:r>
              <a:rPr lang="en-US" dirty="0" err="1">
                <a:latin typeface="Courier" pitchFamily="2" charset="0"/>
              </a:rPr>
              <a:t>assignment_statement_base</a:t>
            </a:r>
            <a:r>
              <a:rPr lang="en-US" dirty="0">
                <a:latin typeface="Courier" pitchFamily="2" charset="0"/>
              </a:rPr>
              <a:t> := ID ASSIGN </a:t>
            </a:r>
            <a:r>
              <a:rPr lang="en-US" dirty="0">
                <a:highlight>
                  <a:srgbClr val="FFFF00"/>
                </a:highlight>
                <a:latin typeface="Courier" pitchFamily="2" charset="0"/>
              </a:rPr>
              <a:t>expr</a:t>
            </a:r>
            <a:r>
              <a:rPr lang="en-US" dirty="0">
                <a:latin typeface="Courier" pitchFamily="2" charset="0"/>
              </a:rPr>
              <a:t> </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43903A95-F819-2047-A155-1E9F3F5D5871}"/>
              </a:ext>
            </a:extLst>
          </p:cNvPr>
          <p:cNvSpPr txBox="1"/>
          <p:nvPr/>
        </p:nvSpPr>
        <p:spPr>
          <a:xfrm>
            <a:off x="283784" y="80942"/>
            <a:ext cx="2252540" cy="1200329"/>
          </a:xfrm>
          <a:prstGeom prst="rect">
            <a:avLst/>
          </a:prstGeom>
          <a:noFill/>
          <a:ln>
            <a:solidFill>
              <a:schemeClr val="tx1"/>
            </a:solidFill>
          </a:ln>
        </p:spPr>
        <p:txBody>
          <a:bodyPr wrap="none" rtlCol="0">
            <a:spAutoFit/>
          </a:bodyPr>
          <a:lstStyle/>
          <a:p>
            <a:r>
              <a:rPr lang="en-US" dirty="0">
                <a:latin typeface="Courier" pitchFamily="2" charset="0"/>
              </a:rPr>
              <a:t>int x;</a:t>
            </a:r>
          </a:p>
          <a:p>
            <a:r>
              <a:rPr lang="en-US" dirty="0">
                <a:latin typeface="Courier" pitchFamily="2" charset="0"/>
              </a:rPr>
              <a:t>int y;</a:t>
            </a:r>
          </a:p>
          <a:p>
            <a:r>
              <a:rPr lang="en-US" dirty="0">
                <a:latin typeface="Courier" pitchFamily="2" charset="0"/>
              </a:rPr>
              <a:t>float w;</a:t>
            </a:r>
            <a:br>
              <a:rPr lang="en-US" dirty="0">
                <a:latin typeface="Courier" pitchFamily="2" charset="0"/>
              </a:rPr>
            </a:br>
            <a:r>
              <a:rPr lang="en-US" dirty="0">
                <a:latin typeface="Courier" pitchFamily="2" charset="0"/>
              </a:rPr>
              <a:t>w = </a:t>
            </a:r>
            <a:r>
              <a:rPr lang="en-US" dirty="0">
                <a:highlight>
                  <a:srgbClr val="FFFF00"/>
                </a:highlight>
                <a:latin typeface="Courier" pitchFamily="2" charset="0"/>
              </a:rPr>
              <a:t>x + y + 5.5</a:t>
            </a:r>
          </a:p>
        </p:txBody>
      </p:sp>
      <p:sp>
        <p:nvSpPr>
          <p:cNvPr id="22" name="Rectangle 21">
            <a:extLst>
              <a:ext uri="{FF2B5EF4-FFF2-40B4-BE49-F238E27FC236}">
                <a16:creationId xmlns:a16="http://schemas.microsoft.com/office/drawing/2014/main" id="{0F737B73-4B0D-554A-A629-7055A2D6E7C7}"/>
              </a:ext>
            </a:extLst>
          </p:cNvPr>
          <p:cNvSpPr/>
          <p:nvPr/>
        </p:nvSpPr>
        <p:spPr>
          <a:xfrm>
            <a:off x="384898" y="3301304"/>
            <a:ext cx="6992983" cy="3139321"/>
          </a:xfrm>
          <a:prstGeom prst="rect">
            <a:avLst/>
          </a:prstGeom>
        </p:spPr>
        <p:txBody>
          <a:bodyPr wrap="square">
            <a:spAutoFit/>
          </a:bodyPr>
          <a:lstStyle/>
          <a:p>
            <a:r>
              <a:rPr lang="en-US" dirty="0">
                <a:latin typeface="Courier" pitchFamily="2" charset="0"/>
              </a:rPr>
              <a:t>{</a:t>
            </a:r>
          </a:p>
          <a:p>
            <a:r>
              <a:rPr lang="en-US" dirty="0">
                <a:latin typeface="Courier" pitchFamily="2" charset="0"/>
              </a:rPr>
              <a:t>   </a:t>
            </a:r>
            <a:r>
              <a:rPr lang="en-US" dirty="0" err="1">
                <a:latin typeface="Courier" pitchFamily="2" charset="0"/>
              </a:rPr>
              <a:t>id_name</a:t>
            </a:r>
            <a:r>
              <a:rPr lang="en-US" dirty="0">
                <a:latin typeface="Courier" pitchFamily="2" charset="0"/>
              </a:rPr>
              <a:t> = </a:t>
            </a:r>
            <a:r>
              <a:rPr lang="en-US" dirty="0" err="1">
                <a:latin typeface="Courier" pitchFamily="2" charset="0"/>
              </a:rPr>
              <a:t>to_match.value</a:t>
            </a:r>
            <a:endParaRPr lang="en-US" dirty="0">
              <a:latin typeface="Courier" pitchFamily="2" charset="0"/>
            </a:endParaRPr>
          </a:p>
          <a:p>
            <a:r>
              <a:rPr lang="en-US" dirty="0">
                <a:latin typeface="Courier" pitchFamily="2" charset="0"/>
              </a:rPr>
              <a:t>   eat(“ID”);</a:t>
            </a:r>
          </a:p>
          <a:p>
            <a:r>
              <a:rPr lang="en-US" dirty="0">
                <a:latin typeface="Courier" pitchFamily="2" charset="0"/>
              </a:rPr>
              <a:t>   eat(“ASSIGN”);</a:t>
            </a:r>
          </a:p>
          <a:p>
            <a:r>
              <a:rPr lang="en-US" dirty="0">
                <a:latin typeface="Courier" pitchFamily="2" charset="0"/>
              </a:rPr>
              <a:t>   </a:t>
            </a:r>
            <a:r>
              <a:rPr lang="en-US" dirty="0" err="1">
                <a:highlight>
                  <a:srgbClr val="FFFF00"/>
                </a:highlight>
                <a:latin typeface="Courier" pitchFamily="2" charset="0"/>
              </a:rPr>
              <a:t>ast</a:t>
            </a:r>
            <a:r>
              <a:rPr lang="en-US" dirty="0">
                <a:highlight>
                  <a:srgbClr val="FFFF00"/>
                </a:highlight>
                <a:latin typeface="Courier" pitchFamily="2" charset="0"/>
              </a:rPr>
              <a:t> = </a:t>
            </a:r>
            <a:r>
              <a:rPr lang="en-US" dirty="0" err="1">
                <a:highlight>
                  <a:srgbClr val="FFFF00"/>
                </a:highlight>
                <a:latin typeface="Courier" pitchFamily="2" charset="0"/>
              </a:rPr>
              <a:t>parse_expr</a:t>
            </a:r>
            <a:r>
              <a:rPr lang="en-US" dirty="0">
                <a:highlight>
                  <a:srgbClr val="FFFF00"/>
                </a:highlight>
                <a:latin typeface="Courier" pitchFamily="2" charset="0"/>
              </a:rPr>
              <a:t>()</a:t>
            </a:r>
          </a:p>
          <a:p>
            <a:r>
              <a:rPr lang="en-US" dirty="0">
                <a:highlight>
                  <a:srgbClr val="00FF00"/>
                </a:highlight>
                <a:latin typeface="Courier" pitchFamily="2" charset="0"/>
              </a:rPr>
              <a:t>   </a:t>
            </a:r>
            <a:r>
              <a:rPr lang="en-US" dirty="0" err="1">
                <a:highlight>
                  <a:srgbClr val="00FF00"/>
                </a:highlight>
                <a:latin typeface="Courier" pitchFamily="2" charset="0"/>
              </a:rPr>
              <a:t>type_inference</a:t>
            </a:r>
            <a:r>
              <a:rPr lang="en-US" dirty="0">
                <a:highlight>
                  <a:srgbClr val="00FF00"/>
                </a:highlight>
                <a:latin typeface="Courier" pitchFamily="2" charset="0"/>
              </a:rPr>
              <a:t>(</a:t>
            </a:r>
            <a:r>
              <a:rPr lang="en-US" dirty="0" err="1">
                <a:highlight>
                  <a:srgbClr val="00FF00"/>
                </a:highlight>
                <a:latin typeface="Courier" pitchFamily="2" charset="0"/>
              </a:rPr>
              <a:t>ast</a:t>
            </a:r>
            <a:r>
              <a:rPr lang="en-US" dirty="0">
                <a:highlight>
                  <a:srgbClr val="00FF00"/>
                </a:highlight>
                <a:latin typeface="Courier" pitchFamily="2" charset="0"/>
              </a:rPr>
              <a:t>)</a:t>
            </a:r>
          </a:p>
          <a:p>
            <a:r>
              <a:rPr lang="en-US" dirty="0">
                <a:highlight>
                  <a:srgbClr val="00FF00"/>
                </a:highlight>
                <a:latin typeface="Courier" pitchFamily="2" charset="0"/>
              </a:rPr>
              <a:t>   </a:t>
            </a:r>
            <a:r>
              <a:rPr lang="en-US" dirty="0" err="1">
                <a:highlight>
                  <a:srgbClr val="00FF00"/>
                </a:highlight>
                <a:latin typeface="Courier" pitchFamily="2" charset="0"/>
              </a:rPr>
              <a:t>assign_registers</a:t>
            </a:r>
            <a:r>
              <a:rPr lang="en-US" dirty="0">
                <a:highlight>
                  <a:srgbClr val="00FF00"/>
                </a:highlight>
                <a:latin typeface="Courier" pitchFamily="2" charset="0"/>
              </a:rPr>
              <a:t>(</a:t>
            </a:r>
            <a:r>
              <a:rPr lang="en-US" dirty="0" err="1">
                <a:highlight>
                  <a:srgbClr val="00FF00"/>
                </a:highlight>
                <a:latin typeface="Courier" pitchFamily="2" charset="0"/>
              </a:rPr>
              <a:t>ast</a:t>
            </a:r>
            <a:r>
              <a:rPr lang="en-US" dirty="0">
                <a:highlight>
                  <a:srgbClr val="00FF00"/>
                </a:highlight>
                <a:latin typeface="Courier" pitchFamily="2" charset="0"/>
              </a:rPr>
              <a:t>)</a:t>
            </a:r>
          </a:p>
          <a:p>
            <a:r>
              <a:rPr lang="en-US" dirty="0">
                <a:latin typeface="Courier" pitchFamily="2" charset="0"/>
              </a:rPr>
              <a:t>   program = </a:t>
            </a:r>
            <a:r>
              <a:rPr lang="en-US" dirty="0" err="1">
                <a:latin typeface="Courier" pitchFamily="2" charset="0"/>
              </a:rPr>
              <a:t>ast.linearize</a:t>
            </a:r>
            <a:r>
              <a:rPr lang="en-US" dirty="0">
                <a:latin typeface="Courier" pitchFamily="2" charset="0"/>
              </a:rPr>
              <a:t>()</a:t>
            </a:r>
          </a:p>
          <a:p>
            <a:r>
              <a:rPr lang="en-US" dirty="0">
                <a:latin typeface="Courier" pitchFamily="2" charset="0"/>
              </a:rPr>
              <a:t>   </a:t>
            </a:r>
            <a:r>
              <a:rPr lang="en-US" dirty="0" err="1">
                <a:latin typeface="Courier" pitchFamily="2" charset="0"/>
              </a:rPr>
              <a:t>new_inst</a:t>
            </a:r>
            <a:r>
              <a:rPr lang="en-US" dirty="0">
                <a:latin typeface="Courier" pitchFamily="2" charset="0"/>
              </a:rPr>
              <a:t> = “%s = %s” % </a:t>
            </a:r>
            <a:r>
              <a:rPr lang="en-US" dirty="0">
                <a:highlight>
                  <a:srgbClr val="FFFF00"/>
                </a:highlight>
                <a:latin typeface="Courier" pitchFamily="2" charset="0"/>
              </a:rPr>
              <a:t>?</a:t>
            </a:r>
          </a:p>
          <a:p>
            <a:r>
              <a:rPr lang="en-US" dirty="0">
                <a:latin typeface="Courier" pitchFamily="2" charset="0"/>
              </a:rPr>
              <a:t>   return program + [</a:t>
            </a:r>
            <a:r>
              <a:rPr lang="en-US" dirty="0" err="1">
                <a:latin typeface="Courier" pitchFamily="2" charset="0"/>
              </a:rPr>
              <a:t>new_inst</a:t>
            </a:r>
            <a:r>
              <a:rPr lang="en-US" dirty="0">
                <a:latin typeface="Courier" pitchFamily="2" charset="0"/>
              </a:rPr>
              <a:t>]</a:t>
            </a:r>
          </a:p>
          <a:p>
            <a:r>
              <a:rPr lang="en-US" dirty="0">
                <a:latin typeface="Courier" pitchFamily="2" charset="0"/>
              </a:rPr>
              <a:t>}</a:t>
            </a:r>
            <a:endParaRPr lang="en-US" sz="3200" dirty="0">
              <a:effectLst/>
              <a:latin typeface="Courier" pitchFamily="2"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336738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DE84F26-C82B-0447-AF3D-16031FD25107}"/>
              </a:ext>
            </a:extLst>
          </p:cNvPr>
          <p:cNvSpPr/>
          <p:nvPr/>
        </p:nvSpPr>
        <p:spPr>
          <a:xfrm>
            <a:off x="314426" y="2366477"/>
            <a:ext cx="6992983" cy="369332"/>
          </a:xfrm>
          <a:prstGeom prst="rect">
            <a:avLst/>
          </a:prstGeom>
        </p:spPr>
        <p:txBody>
          <a:bodyPr wrap="square">
            <a:spAutoFit/>
          </a:bodyPr>
          <a:lstStyle/>
          <a:p>
            <a:r>
              <a:rPr lang="en-US" dirty="0" err="1">
                <a:latin typeface="Courier" pitchFamily="2" charset="0"/>
              </a:rPr>
              <a:t>assignment_statement_base</a:t>
            </a:r>
            <a:r>
              <a:rPr lang="en-US" dirty="0">
                <a:latin typeface="Courier" pitchFamily="2" charset="0"/>
              </a:rPr>
              <a:t> := ID ASSIGN expr </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21" name="TextBox 20">
            <a:extLst>
              <a:ext uri="{FF2B5EF4-FFF2-40B4-BE49-F238E27FC236}">
                <a16:creationId xmlns:a16="http://schemas.microsoft.com/office/drawing/2014/main" id="{43903A95-F819-2047-A155-1E9F3F5D5871}"/>
              </a:ext>
            </a:extLst>
          </p:cNvPr>
          <p:cNvSpPr txBox="1"/>
          <p:nvPr/>
        </p:nvSpPr>
        <p:spPr>
          <a:xfrm>
            <a:off x="283784" y="80942"/>
            <a:ext cx="2252540" cy="1200329"/>
          </a:xfrm>
          <a:prstGeom prst="rect">
            <a:avLst/>
          </a:prstGeom>
          <a:noFill/>
          <a:ln>
            <a:solidFill>
              <a:schemeClr val="tx1"/>
            </a:solidFill>
          </a:ln>
        </p:spPr>
        <p:txBody>
          <a:bodyPr wrap="none" rtlCol="0">
            <a:spAutoFit/>
          </a:bodyPr>
          <a:lstStyle/>
          <a:p>
            <a:r>
              <a:rPr lang="en-US" dirty="0">
                <a:latin typeface="Courier" pitchFamily="2" charset="0"/>
              </a:rPr>
              <a:t>int x;</a:t>
            </a:r>
          </a:p>
          <a:p>
            <a:r>
              <a:rPr lang="en-US" dirty="0">
                <a:latin typeface="Courier" pitchFamily="2" charset="0"/>
              </a:rPr>
              <a:t>int y;</a:t>
            </a:r>
          </a:p>
          <a:p>
            <a:r>
              <a:rPr lang="en-US" dirty="0">
                <a:latin typeface="Courier" pitchFamily="2" charset="0"/>
              </a:rPr>
              <a:t>float w;</a:t>
            </a:r>
            <a:br>
              <a:rPr lang="en-US" dirty="0">
                <a:latin typeface="Courier" pitchFamily="2" charset="0"/>
              </a:rPr>
            </a:br>
            <a:r>
              <a:rPr lang="en-US" dirty="0">
                <a:latin typeface="Courier" pitchFamily="2" charset="0"/>
              </a:rPr>
              <a:t>w = x + y + 5.5</a:t>
            </a:r>
          </a:p>
        </p:txBody>
      </p:sp>
      <p:sp>
        <p:nvSpPr>
          <p:cNvPr id="22" name="Rectangle 21">
            <a:extLst>
              <a:ext uri="{FF2B5EF4-FFF2-40B4-BE49-F238E27FC236}">
                <a16:creationId xmlns:a16="http://schemas.microsoft.com/office/drawing/2014/main" id="{0F737B73-4B0D-554A-A629-7055A2D6E7C7}"/>
              </a:ext>
            </a:extLst>
          </p:cNvPr>
          <p:cNvSpPr/>
          <p:nvPr/>
        </p:nvSpPr>
        <p:spPr>
          <a:xfrm>
            <a:off x="384897" y="3301304"/>
            <a:ext cx="8893574" cy="3139321"/>
          </a:xfrm>
          <a:prstGeom prst="rect">
            <a:avLst/>
          </a:prstGeom>
        </p:spPr>
        <p:txBody>
          <a:bodyPr wrap="square">
            <a:spAutoFit/>
          </a:bodyPr>
          <a:lstStyle/>
          <a:p>
            <a:r>
              <a:rPr lang="en-US" dirty="0">
                <a:latin typeface="Courier" pitchFamily="2" charset="0"/>
              </a:rPr>
              <a:t>{</a:t>
            </a:r>
          </a:p>
          <a:p>
            <a:r>
              <a:rPr lang="en-US" dirty="0">
                <a:latin typeface="Courier" pitchFamily="2" charset="0"/>
              </a:rPr>
              <a:t>   </a:t>
            </a:r>
            <a:r>
              <a:rPr lang="en-US" dirty="0" err="1">
                <a:latin typeface="Courier" pitchFamily="2" charset="0"/>
              </a:rPr>
              <a:t>id_name</a:t>
            </a:r>
            <a:r>
              <a:rPr lang="en-US" dirty="0">
                <a:latin typeface="Courier" pitchFamily="2" charset="0"/>
              </a:rPr>
              <a:t> = </a:t>
            </a:r>
            <a:r>
              <a:rPr lang="en-US" dirty="0" err="1">
                <a:latin typeface="Courier" pitchFamily="2" charset="0"/>
              </a:rPr>
              <a:t>to_match.value</a:t>
            </a:r>
            <a:endParaRPr lang="en-US" dirty="0">
              <a:latin typeface="Courier" pitchFamily="2" charset="0"/>
            </a:endParaRPr>
          </a:p>
          <a:p>
            <a:r>
              <a:rPr lang="en-US" dirty="0">
                <a:latin typeface="Courier" pitchFamily="2" charset="0"/>
              </a:rPr>
              <a:t>   eat(“ID”);</a:t>
            </a:r>
          </a:p>
          <a:p>
            <a:r>
              <a:rPr lang="en-US" dirty="0">
                <a:latin typeface="Courier" pitchFamily="2" charset="0"/>
              </a:rPr>
              <a:t>   eat(“ASSIGN”);</a:t>
            </a:r>
          </a:p>
          <a:p>
            <a:r>
              <a:rPr lang="en-US" dirty="0">
                <a:latin typeface="Courier" pitchFamily="2" charset="0"/>
              </a:rPr>
              <a:t>   </a:t>
            </a:r>
            <a:r>
              <a:rPr lang="en-US" dirty="0" err="1">
                <a:latin typeface="Courier" pitchFamily="2" charset="0"/>
              </a:rPr>
              <a:t>ast</a:t>
            </a:r>
            <a:r>
              <a:rPr lang="en-US" dirty="0">
                <a:latin typeface="Courier" pitchFamily="2" charset="0"/>
              </a:rPr>
              <a:t> = </a:t>
            </a:r>
            <a:r>
              <a:rPr lang="en-US" dirty="0" err="1">
                <a:latin typeface="Courier" pitchFamily="2" charset="0"/>
              </a:rPr>
              <a:t>parse_expr</a:t>
            </a:r>
            <a:r>
              <a:rPr lang="en-US" dirty="0">
                <a:latin typeface="Courier" pitchFamily="2" charset="0"/>
              </a:rPr>
              <a:t>()</a:t>
            </a:r>
          </a:p>
          <a:p>
            <a:r>
              <a:rPr lang="en-US" dirty="0">
                <a:highlight>
                  <a:srgbClr val="00FFFF"/>
                </a:highlight>
                <a:latin typeface="Courier" pitchFamily="2" charset="0"/>
              </a:rPr>
              <a:t>   </a:t>
            </a:r>
            <a:r>
              <a:rPr lang="en-US" dirty="0" err="1">
                <a:highlight>
                  <a:srgbClr val="00FFFF"/>
                </a:highlight>
                <a:latin typeface="Courier" pitchFamily="2" charset="0"/>
              </a:rPr>
              <a:t>type_inference</a:t>
            </a:r>
            <a:r>
              <a:rPr lang="en-US" dirty="0">
                <a:highlight>
                  <a:srgbClr val="00FFFF"/>
                </a:highlight>
                <a:latin typeface="Courier" pitchFamily="2" charset="0"/>
              </a:rPr>
              <a:t>(</a:t>
            </a:r>
            <a:r>
              <a:rPr lang="en-US" dirty="0" err="1">
                <a:highlight>
                  <a:srgbClr val="00FFFF"/>
                </a:highlight>
                <a:latin typeface="Courier" pitchFamily="2" charset="0"/>
              </a:rPr>
              <a:t>ast</a:t>
            </a:r>
            <a:r>
              <a:rPr lang="en-US" dirty="0">
                <a:highlight>
                  <a:srgbClr val="00FFFF"/>
                </a:highlight>
                <a:latin typeface="Courier" pitchFamily="2" charset="0"/>
              </a:rPr>
              <a:t>)</a:t>
            </a:r>
          </a:p>
          <a:p>
            <a:r>
              <a:rPr lang="en-US" dirty="0">
                <a:highlight>
                  <a:srgbClr val="00FF00"/>
                </a:highlight>
                <a:latin typeface="Courier" pitchFamily="2" charset="0"/>
              </a:rPr>
              <a:t>   </a:t>
            </a:r>
            <a:r>
              <a:rPr lang="en-US" dirty="0" err="1">
                <a:highlight>
                  <a:srgbClr val="00FF00"/>
                </a:highlight>
                <a:latin typeface="Courier" pitchFamily="2" charset="0"/>
              </a:rPr>
              <a:t>assign_registers</a:t>
            </a:r>
            <a:r>
              <a:rPr lang="en-US" dirty="0">
                <a:highlight>
                  <a:srgbClr val="00FF00"/>
                </a:highlight>
                <a:latin typeface="Courier" pitchFamily="2" charset="0"/>
              </a:rPr>
              <a:t>(</a:t>
            </a:r>
            <a:r>
              <a:rPr lang="en-US" dirty="0" err="1">
                <a:highlight>
                  <a:srgbClr val="00FF00"/>
                </a:highlight>
                <a:latin typeface="Courier" pitchFamily="2" charset="0"/>
              </a:rPr>
              <a:t>ast</a:t>
            </a:r>
            <a:r>
              <a:rPr lang="en-US" dirty="0">
                <a:highlight>
                  <a:srgbClr val="00FF00"/>
                </a:highlight>
                <a:latin typeface="Courier" pitchFamily="2" charset="0"/>
              </a:rPr>
              <a:t>)</a:t>
            </a:r>
          </a:p>
          <a:p>
            <a:r>
              <a:rPr lang="en-US" dirty="0">
                <a:latin typeface="Courier" pitchFamily="2" charset="0"/>
              </a:rPr>
              <a:t>   program = </a:t>
            </a:r>
            <a:r>
              <a:rPr lang="en-US" dirty="0" err="1">
                <a:latin typeface="Courier" pitchFamily="2" charset="0"/>
              </a:rPr>
              <a:t>ast.linearize</a:t>
            </a:r>
            <a:r>
              <a:rPr lang="en-US" dirty="0">
                <a:latin typeface="Courier" pitchFamily="2" charset="0"/>
              </a:rPr>
              <a:t>() # a list of 3-addr IR code of expr</a:t>
            </a:r>
          </a:p>
          <a:p>
            <a:r>
              <a:rPr lang="en-US" dirty="0">
                <a:latin typeface="Courier" pitchFamily="2" charset="0"/>
              </a:rPr>
              <a:t>   </a:t>
            </a:r>
            <a:r>
              <a:rPr lang="en-US" dirty="0" err="1">
                <a:latin typeface="Courier" pitchFamily="2" charset="0"/>
              </a:rPr>
              <a:t>new_inst</a:t>
            </a:r>
            <a:r>
              <a:rPr lang="en-US" dirty="0">
                <a:latin typeface="Courier" pitchFamily="2" charset="0"/>
              </a:rPr>
              <a:t> = “%s = %s” % </a:t>
            </a:r>
            <a:r>
              <a:rPr lang="en-US" dirty="0">
                <a:highlight>
                  <a:srgbClr val="FFFF00"/>
                </a:highlight>
                <a:latin typeface="Courier" pitchFamily="2" charset="0"/>
              </a:rPr>
              <a:t>?  </a:t>
            </a:r>
          </a:p>
          <a:p>
            <a:r>
              <a:rPr lang="en-US" dirty="0">
                <a:latin typeface="Courier" pitchFamily="2" charset="0"/>
              </a:rPr>
              <a:t>   return program + [</a:t>
            </a:r>
            <a:r>
              <a:rPr lang="en-US" dirty="0" err="1">
                <a:latin typeface="Courier" pitchFamily="2" charset="0"/>
              </a:rPr>
              <a:t>new_inst</a:t>
            </a:r>
            <a:r>
              <a:rPr lang="en-US" dirty="0">
                <a:latin typeface="Courier" pitchFamily="2" charset="0"/>
              </a:rPr>
              <a:t>]</a:t>
            </a:r>
          </a:p>
          <a:p>
            <a:r>
              <a:rPr lang="en-US" dirty="0">
                <a:latin typeface="Courier" pitchFamily="2" charset="0"/>
              </a:rPr>
              <a:t>}</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6622766F-5C8D-EDE7-465C-6D29AFB60D00}"/>
              </a:ext>
            </a:extLst>
          </p:cNvPr>
          <p:cNvSpPr txBox="1"/>
          <p:nvPr/>
        </p:nvSpPr>
        <p:spPr>
          <a:xfrm>
            <a:off x="5564305" y="4534401"/>
            <a:ext cx="1636474" cy="369332"/>
          </a:xfrm>
          <a:prstGeom prst="rect">
            <a:avLst/>
          </a:prstGeom>
          <a:noFill/>
        </p:spPr>
        <p:txBody>
          <a:bodyPr wrap="none" rtlCol="0">
            <a:spAutoFit/>
          </a:bodyPr>
          <a:lstStyle/>
          <a:p>
            <a:r>
              <a:rPr lang="en-US" dirty="0"/>
              <a:t>AST&lt;x, </a:t>
            </a:r>
            <a:r>
              <a:rPr lang="en-US" dirty="0">
                <a:highlight>
                  <a:srgbClr val="00FFFF"/>
                </a:highlight>
              </a:rPr>
              <a:t>int</a:t>
            </a:r>
            <a:r>
              <a:rPr lang="en-US" dirty="0"/>
              <a:t>, </a:t>
            </a:r>
            <a:r>
              <a:rPr lang="en-US" dirty="0">
                <a:highlight>
                  <a:srgbClr val="00FF00"/>
                </a:highlight>
              </a:rPr>
              <a:t>vr0</a:t>
            </a:r>
            <a:r>
              <a:rPr lang="en-US" dirty="0"/>
              <a:t>&gt;</a:t>
            </a:r>
          </a:p>
        </p:txBody>
      </p:sp>
      <p:sp>
        <p:nvSpPr>
          <p:cNvPr id="3" name="TextBox 2">
            <a:extLst>
              <a:ext uri="{FF2B5EF4-FFF2-40B4-BE49-F238E27FC236}">
                <a16:creationId xmlns:a16="http://schemas.microsoft.com/office/drawing/2014/main" id="{20BCB265-2941-9DDF-167B-B4BBFA50CF97}"/>
              </a:ext>
            </a:extLst>
          </p:cNvPr>
          <p:cNvSpPr txBox="1"/>
          <p:nvPr/>
        </p:nvSpPr>
        <p:spPr>
          <a:xfrm>
            <a:off x="6706468" y="3737218"/>
            <a:ext cx="1599605" cy="369332"/>
          </a:xfrm>
          <a:prstGeom prst="rect">
            <a:avLst/>
          </a:prstGeom>
          <a:noFill/>
        </p:spPr>
        <p:txBody>
          <a:bodyPr wrap="none" rtlCol="0">
            <a:spAutoFit/>
          </a:bodyPr>
          <a:lstStyle/>
          <a:p>
            <a:r>
              <a:rPr lang="en-US" dirty="0"/>
              <a:t>AST&lt;+,</a:t>
            </a:r>
            <a:r>
              <a:rPr lang="en-US" dirty="0">
                <a:highlight>
                  <a:srgbClr val="00FFFF"/>
                </a:highlight>
              </a:rPr>
              <a:t>int</a:t>
            </a:r>
            <a:r>
              <a:rPr lang="en-US" dirty="0"/>
              <a:t>, </a:t>
            </a:r>
            <a:r>
              <a:rPr lang="en-US" dirty="0">
                <a:highlight>
                  <a:srgbClr val="00FF00"/>
                </a:highlight>
              </a:rPr>
              <a:t>vr2</a:t>
            </a:r>
            <a:r>
              <a:rPr lang="en-US" dirty="0"/>
              <a:t>&gt;</a:t>
            </a:r>
          </a:p>
        </p:txBody>
      </p:sp>
      <p:cxnSp>
        <p:nvCxnSpPr>
          <p:cNvPr id="4" name="Straight Connector 3">
            <a:extLst>
              <a:ext uri="{FF2B5EF4-FFF2-40B4-BE49-F238E27FC236}">
                <a16:creationId xmlns:a16="http://schemas.microsoft.com/office/drawing/2014/main" id="{43825953-B55B-DCEC-DED0-9ADB35C0410D}"/>
              </a:ext>
            </a:extLst>
          </p:cNvPr>
          <p:cNvCxnSpPr>
            <a:cxnSpLocks/>
          </p:cNvCxnSpPr>
          <p:nvPr/>
        </p:nvCxnSpPr>
        <p:spPr>
          <a:xfrm flipH="1">
            <a:off x="5768610" y="4104235"/>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5" name="Straight Connector 4">
            <a:extLst>
              <a:ext uri="{FF2B5EF4-FFF2-40B4-BE49-F238E27FC236}">
                <a16:creationId xmlns:a16="http://schemas.microsoft.com/office/drawing/2014/main" id="{2656C6DA-2EBF-9EDA-CC53-3DB978571D12}"/>
              </a:ext>
            </a:extLst>
          </p:cNvPr>
          <p:cNvCxnSpPr>
            <a:cxnSpLocks/>
          </p:cNvCxnSpPr>
          <p:nvPr/>
        </p:nvCxnSpPr>
        <p:spPr>
          <a:xfrm>
            <a:off x="6992983" y="4104235"/>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BA58F0D4-D5FF-482D-4115-67044654323F}"/>
              </a:ext>
            </a:extLst>
          </p:cNvPr>
          <p:cNvSpPr txBox="1"/>
          <p:nvPr/>
        </p:nvSpPr>
        <p:spPr>
          <a:xfrm>
            <a:off x="7937150" y="4534401"/>
            <a:ext cx="1624804" cy="369332"/>
          </a:xfrm>
          <a:prstGeom prst="rect">
            <a:avLst/>
          </a:prstGeom>
          <a:noFill/>
        </p:spPr>
        <p:txBody>
          <a:bodyPr wrap="none" rtlCol="0">
            <a:spAutoFit/>
          </a:bodyPr>
          <a:lstStyle/>
          <a:p>
            <a:r>
              <a:rPr lang="en-US" dirty="0"/>
              <a:t>AST&lt;y, </a:t>
            </a:r>
            <a:r>
              <a:rPr lang="en-US" dirty="0">
                <a:highlight>
                  <a:srgbClr val="00FFFF"/>
                </a:highlight>
              </a:rPr>
              <a:t>int</a:t>
            </a:r>
            <a:r>
              <a:rPr lang="en-US" dirty="0"/>
              <a:t>, </a:t>
            </a:r>
            <a:r>
              <a:rPr lang="en-US" dirty="0">
                <a:highlight>
                  <a:srgbClr val="00FF00"/>
                </a:highlight>
              </a:rPr>
              <a:t>vr1</a:t>
            </a:r>
            <a:r>
              <a:rPr lang="en-US" dirty="0"/>
              <a:t>&gt;</a:t>
            </a:r>
          </a:p>
        </p:txBody>
      </p:sp>
      <p:sp>
        <p:nvSpPr>
          <p:cNvPr id="7" name="TextBox 6">
            <a:extLst>
              <a:ext uri="{FF2B5EF4-FFF2-40B4-BE49-F238E27FC236}">
                <a16:creationId xmlns:a16="http://schemas.microsoft.com/office/drawing/2014/main" id="{9EAE26C1-FDAF-8A24-1163-947D018CA867}"/>
              </a:ext>
            </a:extLst>
          </p:cNvPr>
          <p:cNvSpPr txBox="1"/>
          <p:nvPr/>
        </p:nvSpPr>
        <p:spPr>
          <a:xfrm>
            <a:off x="8635668" y="2364315"/>
            <a:ext cx="1780744" cy="369332"/>
          </a:xfrm>
          <a:prstGeom prst="rect">
            <a:avLst/>
          </a:prstGeom>
          <a:noFill/>
        </p:spPr>
        <p:txBody>
          <a:bodyPr wrap="none" rtlCol="0">
            <a:spAutoFit/>
          </a:bodyPr>
          <a:lstStyle/>
          <a:p>
            <a:r>
              <a:rPr lang="en-US" dirty="0"/>
              <a:t>AST&lt;+,</a:t>
            </a:r>
            <a:r>
              <a:rPr lang="en-US" dirty="0">
                <a:highlight>
                  <a:srgbClr val="00FFFF"/>
                </a:highlight>
              </a:rPr>
              <a:t>float</a:t>
            </a:r>
            <a:r>
              <a:rPr lang="en-US" dirty="0"/>
              <a:t>, </a:t>
            </a:r>
            <a:r>
              <a:rPr lang="en-US" dirty="0">
                <a:highlight>
                  <a:srgbClr val="00FF00"/>
                </a:highlight>
              </a:rPr>
              <a:t>vr5</a:t>
            </a:r>
            <a:r>
              <a:rPr lang="en-US" dirty="0"/>
              <a:t>&gt;</a:t>
            </a:r>
          </a:p>
        </p:txBody>
      </p:sp>
      <p:cxnSp>
        <p:nvCxnSpPr>
          <p:cNvPr id="8" name="Straight Connector 7">
            <a:extLst>
              <a:ext uri="{FF2B5EF4-FFF2-40B4-BE49-F238E27FC236}">
                <a16:creationId xmlns:a16="http://schemas.microsoft.com/office/drawing/2014/main" id="{498770DC-6256-F267-DDF8-654FCE965490}"/>
              </a:ext>
            </a:extLst>
          </p:cNvPr>
          <p:cNvCxnSpPr>
            <a:cxnSpLocks/>
            <a:stCxn id="11" idx="2"/>
            <a:endCxn id="3" idx="0"/>
          </p:cNvCxnSpPr>
          <p:nvPr/>
        </p:nvCxnSpPr>
        <p:spPr>
          <a:xfrm flipH="1">
            <a:off x="7506271" y="3278118"/>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5A566BB2-8EF1-4E34-EF96-6DC0090E0D8A}"/>
              </a:ext>
            </a:extLst>
          </p:cNvPr>
          <p:cNvCxnSpPr>
            <a:cxnSpLocks/>
            <a:stCxn id="7" idx="2"/>
            <a:endCxn id="10" idx="0"/>
          </p:cNvCxnSpPr>
          <p:nvPr/>
        </p:nvCxnSpPr>
        <p:spPr>
          <a:xfrm>
            <a:off x="9526040" y="2733647"/>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194642C1-CAD8-29FB-F7F0-A40520316EAF}"/>
              </a:ext>
            </a:extLst>
          </p:cNvPr>
          <p:cNvSpPr txBox="1"/>
          <p:nvPr/>
        </p:nvSpPr>
        <p:spPr>
          <a:xfrm>
            <a:off x="9867600" y="3749074"/>
            <a:ext cx="2009974" cy="369332"/>
          </a:xfrm>
          <a:prstGeom prst="rect">
            <a:avLst/>
          </a:prstGeom>
          <a:noFill/>
        </p:spPr>
        <p:txBody>
          <a:bodyPr wrap="none" rtlCol="0">
            <a:spAutoFit/>
          </a:bodyPr>
          <a:lstStyle/>
          <a:p>
            <a:r>
              <a:rPr lang="en-US" dirty="0"/>
              <a:t>AST&lt;5.5, </a:t>
            </a:r>
            <a:r>
              <a:rPr lang="en-US" dirty="0">
                <a:highlight>
                  <a:srgbClr val="00FFFF"/>
                </a:highlight>
              </a:rPr>
              <a:t>float</a:t>
            </a:r>
            <a:r>
              <a:rPr lang="en-US" dirty="0"/>
              <a:t>, </a:t>
            </a:r>
            <a:r>
              <a:rPr lang="en-US" dirty="0">
                <a:highlight>
                  <a:srgbClr val="00FF00"/>
                </a:highlight>
              </a:rPr>
              <a:t>vr4</a:t>
            </a:r>
            <a:r>
              <a:rPr lang="en-US" dirty="0"/>
              <a:t>&gt;</a:t>
            </a:r>
          </a:p>
        </p:txBody>
      </p:sp>
      <p:sp>
        <p:nvSpPr>
          <p:cNvPr id="11" name="TextBox 10">
            <a:extLst>
              <a:ext uri="{FF2B5EF4-FFF2-40B4-BE49-F238E27FC236}">
                <a16:creationId xmlns:a16="http://schemas.microsoft.com/office/drawing/2014/main" id="{41596637-B81B-8BF2-3E39-86077EC39637}"/>
              </a:ext>
            </a:extLst>
          </p:cNvPr>
          <p:cNvSpPr txBox="1"/>
          <p:nvPr/>
        </p:nvSpPr>
        <p:spPr>
          <a:xfrm>
            <a:off x="6645067" y="2908786"/>
            <a:ext cx="2515497" cy="369332"/>
          </a:xfrm>
          <a:prstGeom prst="rect">
            <a:avLst/>
          </a:prstGeom>
          <a:noFill/>
        </p:spPr>
        <p:txBody>
          <a:bodyPr wrap="none" rtlCol="0">
            <a:spAutoFit/>
          </a:bodyPr>
          <a:lstStyle/>
          <a:p>
            <a:r>
              <a:rPr lang="en-US" dirty="0"/>
              <a:t>AST&lt;int2float, </a:t>
            </a:r>
            <a:r>
              <a:rPr lang="en-US" dirty="0">
                <a:highlight>
                  <a:srgbClr val="00FFFF"/>
                </a:highlight>
              </a:rPr>
              <a:t>float</a:t>
            </a:r>
            <a:r>
              <a:rPr lang="en-US" dirty="0"/>
              <a:t>, </a:t>
            </a:r>
            <a:r>
              <a:rPr lang="en-US" dirty="0">
                <a:highlight>
                  <a:srgbClr val="00FF00"/>
                </a:highlight>
              </a:rPr>
              <a:t>vr3</a:t>
            </a:r>
            <a:r>
              <a:rPr lang="en-US" dirty="0"/>
              <a:t>&gt;</a:t>
            </a:r>
          </a:p>
        </p:txBody>
      </p:sp>
      <p:cxnSp>
        <p:nvCxnSpPr>
          <p:cNvPr id="12" name="Straight Connector 11">
            <a:extLst>
              <a:ext uri="{FF2B5EF4-FFF2-40B4-BE49-F238E27FC236}">
                <a16:creationId xmlns:a16="http://schemas.microsoft.com/office/drawing/2014/main" id="{072876AA-58B4-2889-7148-9EBE0C754C24}"/>
              </a:ext>
            </a:extLst>
          </p:cNvPr>
          <p:cNvCxnSpPr>
            <a:cxnSpLocks/>
            <a:stCxn id="7" idx="2"/>
            <a:endCxn id="11" idx="0"/>
          </p:cNvCxnSpPr>
          <p:nvPr/>
        </p:nvCxnSpPr>
        <p:spPr>
          <a:xfrm flipH="1">
            <a:off x="7902816" y="2733647"/>
            <a:ext cx="1623224" cy="175139"/>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7330556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A7301C-F55E-AE45-A98D-566FF553C626}"/>
              </a:ext>
            </a:extLst>
          </p:cNvPr>
          <p:cNvSpPr/>
          <p:nvPr/>
        </p:nvSpPr>
        <p:spPr>
          <a:xfrm>
            <a:off x="314426" y="2366477"/>
            <a:ext cx="6992983" cy="369332"/>
          </a:xfrm>
          <a:prstGeom prst="rect">
            <a:avLst/>
          </a:prstGeom>
        </p:spPr>
        <p:txBody>
          <a:bodyPr wrap="square">
            <a:spAutoFit/>
          </a:bodyPr>
          <a:lstStyle/>
          <a:p>
            <a:r>
              <a:rPr lang="en-US" dirty="0" err="1">
                <a:latin typeface="Courier" pitchFamily="2" charset="0"/>
              </a:rPr>
              <a:t>assignment_statement_base</a:t>
            </a:r>
            <a:r>
              <a:rPr lang="en-US" dirty="0">
                <a:latin typeface="Courier" pitchFamily="2" charset="0"/>
              </a:rPr>
              <a:t> := ID ASSIGN expr </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AB9BF493-2B1A-0146-9AFA-F4A7281E0D54}"/>
              </a:ext>
            </a:extLst>
          </p:cNvPr>
          <p:cNvSpPr txBox="1"/>
          <p:nvPr/>
        </p:nvSpPr>
        <p:spPr>
          <a:xfrm>
            <a:off x="5564305" y="4534401"/>
            <a:ext cx="1636474" cy="369332"/>
          </a:xfrm>
          <a:prstGeom prst="rect">
            <a:avLst/>
          </a:prstGeom>
          <a:noFill/>
        </p:spPr>
        <p:txBody>
          <a:bodyPr wrap="none" rtlCol="0">
            <a:spAutoFit/>
          </a:bodyPr>
          <a:lstStyle/>
          <a:p>
            <a:r>
              <a:rPr lang="en-US" dirty="0"/>
              <a:t>AST&lt;x, int, vr0&gt;</a:t>
            </a:r>
          </a:p>
        </p:txBody>
      </p:sp>
      <p:sp>
        <p:nvSpPr>
          <p:cNvPr id="18" name="TextBox 17">
            <a:extLst>
              <a:ext uri="{FF2B5EF4-FFF2-40B4-BE49-F238E27FC236}">
                <a16:creationId xmlns:a16="http://schemas.microsoft.com/office/drawing/2014/main" id="{1F951229-D79F-8B4D-AE14-BA8A503744F0}"/>
              </a:ext>
            </a:extLst>
          </p:cNvPr>
          <p:cNvSpPr txBox="1"/>
          <p:nvPr/>
        </p:nvSpPr>
        <p:spPr>
          <a:xfrm>
            <a:off x="6706468" y="3737218"/>
            <a:ext cx="1599605" cy="369332"/>
          </a:xfrm>
          <a:prstGeom prst="rect">
            <a:avLst/>
          </a:prstGeom>
          <a:noFill/>
        </p:spPr>
        <p:txBody>
          <a:bodyPr wrap="none" rtlCol="0">
            <a:spAutoFit/>
          </a:bodyPr>
          <a:lstStyle/>
          <a:p>
            <a:r>
              <a:rPr lang="en-US" dirty="0"/>
              <a:t>AST&lt;+,int, vr2&gt;</a:t>
            </a:r>
          </a:p>
        </p:txBody>
      </p:sp>
      <p:cxnSp>
        <p:nvCxnSpPr>
          <p:cNvPr id="19" name="Straight Connector 18">
            <a:extLst>
              <a:ext uri="{FF2B5EF4-FFF2-40B4-BE49-F238E27FC236}">
                <a16:creationId xmlns:a16="http://schemas.microsoft.com/office/drawing/2014/main" id="{0DAEFD07-3A6C-E34A-85D3-618A63A30AD9}"/>
              </a:ext>
            </a:extLst>
          </p:cNvPr>
          <p:cNvCxnSpPr>
            <a:cxnSpLocks/>
          </p:cNvCxnSpPr>
          <p:nvPr/>
        </p:nvCxnSpPr>
        <p:spPr>
          <a:xfrm flipH="1">
            <a:off x="5768610" y="4104235"/>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38D63225-0764-2340-8F28-AA7ED393DEB6}"/>
              </a:ext>
            </a:extLst>
          </p:cNvPr>
          <p:cNvCxnSpPr>
            <a:cxnSpLocks/>
          </p:cNvCxnSpPr>
          <p:nvPr/>
        </p:nvCxnSpPr>
        <p:spPr>
          <a:xfrm>
            <a:off x="6992983" y="4104235"/>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8F361F85-89C1-BA44-8473-6877A0D94C49}"/>
              </a:ext>
            </a:extLst>
          </p:cNvPr>
          <p:cNvSpPr txBox="1"/>
          <p:nvPr/>
        </p:nvSpPr>
        <p:spPr>
          <a:xfrm>
            <a:off x="7937150" y="4534401"/>
            <a:ext cx="1624804" cy="369332"/>
          </a:xfrm>
          <a:prstGeom prst="rect">
            <a:avLst/>
          </a:prstGeom>
          <a:noFill/>
        </p:spPr>
        <p:txBody>
          <a:bodyPr wrap="none" rtlCol="0">
            <a:spAutoFit/>
          </a:bodyPr>
          <a:lstStyle/>
          <a:p>
            <a:r>
              <a:rPr lang="en-US" dirty="0"/>
              <a:t>AST&lt;y, int, vr1&gt;</a:t>
            </a:r>
          </a:p>
        </p:txBody>
      </p:sp>
      <p:sp>
        <p:nvSpPr>
          <p:cNvPr id="22" name="TextBox 21">
            <a:extLst>
              <a:ext uri="{FF2B5EF4-FFF2-40B4-BE49-F238E27FC236}">
                <a16:creationId xmlns:a16="http://schemas.microsoft.com/office/drawing/2014/main" id="{8FE3E889-1544-1842-B315-92DDDE119596}"/>
              </a:ext>
            </a:extLst>
          </p:cNvPr>
          <p:cNvSpPr txBox="1"/>
          <p:nvPr/>
        </p:nvSpPr>
        <p:spPr>
          <a:xfrm>
            <a:off x="8635668" y="2364315"/>
            <a:ext cx="1780744" cy="369332"/>
          </a:xfrm>
          <a:prstGeom prst="rect">
            <a:avLst/>
          </a:prstGeom>
          <a:noFill/>
        </p:spPr>
        <p:txBody>
          <a:bodyPr wrap="none" rtlCol="0">
            <a:spAutoFit/>
          </a:bodyPr>
          <a:lstStyle/>
          <a:p>
            <a:r>
              <a:rPr lang="en-US" dirty="0">
                <a:highlight>
                  <a:srgbClr val="FFFF00"/>
                </a:highlight>
              </a:rPr>
              <a:t>AST&lt;+,float, vr5&gt;</a:t>
            </a:r>
          </a:p>
        </p:txBody>
      </p:sp>
      <p:cxnSp>
        <p:nvCxnSpPr>
          <p:cNvPr id="23" name="Straight Connector 22">
            <a:extLst>
              <a:ext uri="{FF2B5EF4-FFF2-40B4-BE49-F238E27FC236}">
                <a16:creationId xmlns:a16="http://schemas.microsoft.com/office/drawing/2014/main" id="{AAF09F12-E284-A347-8BF5-533CB8AC8D36}"/>
              </a:ext>
            </a:extLst>
          </p:cNvPr>
          <p:cNvCxnSpPr>
            <a:cxnSpLocks/>
            <a:stCxn id="26" idx="2"/>
            <a:endCxn id="18" idx="0"/>
          </p:cNvCxnSpPr>
          <p:nvPr/>
        </p:nvCxnSpPr>
        <p:spPr>
          <a:xfrm flipH="1">
            <a:off x="7506271" y="3278118"/>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2033F270-484C-5E4A-890E-E645E6424FCF}"/>
              </a:ext>
            </a:extLst>
          </p:cNvPr>
          <p:cNvCxnSpPr>
            <a:cxnSpLocks/>
            <a:stCxn id="22" idx="2"/>
            <a:endCxn id="25" idx="0"/>
          </p:cNvCxnSpPr>
          <p:nvPr/>
        </p:nvCxnSpPr>
        <p:spPr>
          <a:xfrm>
            <a:off x="9526040" y="2733647"/>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D2242D62-98F0-6042-A2E6-99A92B6F9039}"/>
              </a:ext>
            </a:extLst>
          </p:cNvPr>
          <p:cNvSpPr txBox="1"/>
          <p:nvPr/>
        </p:nvSpPr>
        <p:spPr>
          <a:xfrm>
            <a:off x="9867600" y="3749074"/>
            <a:ext cx="2009974" cy="369332"/>
          </a:xfrm>
          <a:prstGeom prst="rect">
            <a:avLst/>
          </a:prstGeom>
          <a:noFill/>
        </p:spPr>
        <p:txBody>
          <a:bodyPr wrap="none" rtlCol="0">
            <a:spAutoFit/>
          </a:bodyPr>
          <a:lstStyle/>
          <a:p>
            <a:r>
              <a:rPr lang="en-US" dirty="0"/>
              <a:t>AST&lt;5.5, float, vr4&gt;</a:t>
            </a:r>
          </a:p>
        </p:txBody>
      </p:sp>
      <p:sp>
        <p:nvSpPr>
          <p:cNvPr id="26" name="TextBox 25">
            <a:extLst>
              <a:ext uri="{FF2B5EF4-FFF2-40B4-BE49-F238E27FC236}">
                <a16:creationId xmlns:a16="http://schemas.microsoft.com/office/drawing/2014/main" id="{55535A3A-C2E9-704E-B3B3-1D4A5155DB0F}"/>
              </a:ext>
            </a:extLst>
          </p:cNvPr>
          <p:cNvSpPr txBox="1"/>
          <p:nvPr/>
        </p:nvSpPr>
        <p:spPr>
          <a:xfrm>
            <a:off x="6645067" y="2908786"/>
            <a:ext cx="2515497" cy="369332"/>
          </a:xfrm>
          <a:prstGeom prst="rect">
            <a:avLst/>
          </a:prstGeom>
          <a:noFill/>
        </p:spPr>
        <p:txBody>
          <a:bodyPr wrap="none" rtlCol="0">
            <a:spAutoFit/>
          </a:bodyPr>
          <a:lstStyle/>
          <a:p>
            <a:r>
              <a:rPr lang="en-US" dirty="0"/>
              <a:t>AST&lt;int2float, float, vr3&gt;</a:t>
            </a:r>
          </a:p>
        </p:txBody>
      </p:sp>
      <p:cxnSp>
        <p:nvCxnSpPr>
          <p:cNvPr id="27" name="Straight Connector 26">
            <a:extLst>
              <a:ext uri="{FF2B5EF4-FFF2-40B4-BE49-F238E27FC236}">
                <a16:creationId xmlns:a16="http://schemas.microsoft.com/office/drawing/2014/main" id="{083A1F53-2949-4347-89AF-1010E704E6B5}"/>
              </a:ext>
            </a:extLst>
          </p:cNvPr>
          <p:cNvCxnSpPr>
            <a:cxnSpLocks/>
            <a:stCxn id="22" idx="2"/>
            <a:endCxn id="26" idx="0"/>
          </p:cNvCxnSpPr>
          <p:nvPr/>
        </p:nvCxnSpPr>
        <p:spPr>
          <a:xfrm flipH="1">
            <a:off x="7902816" y="2733647"/>
            <a:ext cx="1623224" cy="175139"/>
          </a:xfrm>
          <a:prstGeom prst="line">
            <a:avLst/>
          </a:prstGeom>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36A8E5B6-1ABB-4D47-8D9E-16892E36A3AB}"/>
              </a:ext>
            </a:extLst>
          </p:cNvPr>
          <p:cNvSpPr txBox="1"/>
          <p:nvPr/>
        </p:nvSpPr>
        <p:spPr>
          <a:xfrm>
            <a:off x="283784" y="80942"/>
            <a:ext cx="2252540" cy="1200329"/>
          </a:xfrm>
          <a:prstGeom prst="rect">
            <a:avLst/>
          </a:prstGeom>
          <a:noFill/>
          <a:ln>
            <a:solidFill>
              <a:schemeClr val="tx1"/>
            </a:solidFill>
          </a:ln>
        </p:spPr>
        <p:txBody>
          <a:bodyPr wrap="none" rtlCol="0">
            <a:spAutoFit/>
          </a:bodyPr>
          <a:lstStyle/>
          <a:p>
            <a:r>
              <a:rPr lang="en-US" dirty="0">
                <a:latin typeface="Courier" pitchFamily="2" charset="0"/>
              </a:rPr>
              <a:t>int x;</a:t>
            </a:r>
          </a:p>
          <a:p>
            <a:r>
              <a:rPr lang="en-US" dirty="0">
                <a:latin typeface="Courier" pitchFamily="2" charset="0"/>
              </a:rPr>
              <a:t>int y;</a:t>
            </a:r>
          </a:p>
          <a:p>
            <a:r>
              <a:rPr lang="en-US" dirty="0">
                <a:latin typeface="Courier" pitchFamily="2" charset="0"/>
              </a:rPr>
              <a:t>float w;</a:t>
            </a:r>
            <a:br>
              <a:rPr lang="en-US" dirty="0">
                <a:latin typeface="Courier" pitchFamily="2" charset="0"/>
              </a:rPr>
            </a:br>
            <a:r>
              <a:rPr lang="en-US" dirty="0">
                <a:latin typeface="Courier" pitchFamily="2" charset="0"/>
              </a:rPr>
              <a:t>w = x + y + 5.5</a:t>
            </a:r>
          </a:p>
        </p:txBody>
      </p:sp>
      <p:sp>
        <p:nvSpPr>
          <p:cNvPr id="30" name="Rectangle 29">
            <a:extLst>
              <a:ext uri="{FF2B5EF4-FFF2-40B4-BE49-F238E27FC236}">
                <a16:creationId xmlns:a16="http://schemas.microsoft.com/office/drawing/2014/main" id="{6DA90BF2-DACB-A641-A2A3-6A8A23FB1287}"/>
              </a:ext>
            </a:extLst>
          </p:cNvPr>
          <p:cNvSpPr/>
          <p:nvPr/>
        </p:nvSpPr>
        <p:spPr>
          <a:xfrm>
            <a:off x="384898" y="3301304"/>
            <a:ext cx="6992983" cy="3139321"/>
          </a:xfrm>
          <a:prstGeom prst="rect">
            <a:avLst/>
          </a:prstGeom>
        </p:spPr>
        <p:txBody>
          <a:bodyPr wrap="square">
            <a:spAutoFit/>
          </a:bodyPr>
          <a:lstStyle/>
          <a:p>
            <a:r>
              <a:rPr lang="en-US" dirty="0">
                <a:latin typeface="Courier" pitchFamily="2" charset="0"/>
              </a:rPr>
              <a:t>{</a:t>
            </a:r>
          </a:p>
          <a:p>
            <a:r>
              <a:rPr lang="en-US" dirty="0">
                <a:latin typeface="Courier" pitchFamily="2" charset="0"/>
              </a:rPr>
              <a:t>   </a:t>
            </a:r>
            <a:r>
              <a:rPr lang="en-US" dirty="0" err="1">
                <a:latin typeface="Courier" pitchFamily="2" charset="0"/>
              </a:rPr>
              <a:t>id_name</a:t>
            </a:r>
            <a:r>
              <a:rPr lang="en-US" dirty="0">
                <a:latin typeface="Courier" pitchFamily="2" charset="0"/>
              </a:rPr>
              <a:t> = </a:t>
            </a:r>
            <a:r>
              <a:rPr lang="en-US" dirty="0" err="1">
                <a:latin typeface="Courier" pitchFamily="2" charset="0"/>
              </a:rPr>
              <a:t>to_match.value</a:t>
            </a:r>
            <a:endParaRPr lang="en-US" dirty="0">
              <a:latin typeface="Courier" pitchFamily="2" charset="0"/>
            </a:endParaRPr>
          </a:p>
          <a:p>
            <a:r>
              <a:rPr lang="en-US" dirty="0">
                <a:latin typeface="Courier" pitchFamily="2" charset="0"/>
              </a:rPr>
              <a:t>   eat(“ID”);</a:t>
            </a:r>
          </a:p>
          <a:p>
            <a:r>
              <a:rPr lang="en-US" dirty="0">
                <a:latin typeface="Courier" pitchFamily="2" charset="0"/>
              </a:rPr>
              <a:t>   eat(“ASSIGN”);</a:t>
            </a:r>
          </a:p>
          <a:p>
            <a:r>
              <a:rPr lang="en-US" dirty="0">
                <a:latin typeface="Courier" pitchFamily="2" charset="0"/>
              </a:rPr>
              <a:t>   </a:t>
            </a:r>
            <a:r>
              <a:rPr lang="en-US" dirty="0" err="1">
                <a:highlight>
                  <a:srgbClr val="FFFF00"/>
                </a:highlight>
                <a:latin typeface="Courier" pitchFamily="2" charset="0"/>
              </a:rPr>
              <a:t>ast</a:t>
            </a:r>
            <a:r>
              <a:rPr lang="en-US" dirty="0">
                <a:latin typeface="Courier" pitchFamily="2" charset="0"/>
              </a:rPr>
              <a:t> = </a:t>
            </a:r>
            <a:r>
              <a:rPr lang="en-US" dirty="0" err="1">
                <a:latin typeface="Courier" pitchFamily="2" charset="0"/>
              </a:rPr>
              <a:t>parse_expr</a:t>
            </a:r>
            <a:r>
              <a:rPr lang="en-US" dirty="0">
                <a:latin typeface="Courier" pitchFamily="2" charset="0"/>
              </a:rPr>
              <a:t>()</a:t>
            </a:r>
          </a:p>
          <a:p>
            <a:r>
              <a:rPr lang="en-US" dirty="0">
                <a:latin typeface="Courier" pitchFamily="2" charset="0"/>
              </a:rPr>
              <a:t>   </a:t>
            </a:r>
            <a:r>
              <a:rPr lang="en-US" dirty="0" err="1">
                <a:latin typeface="Courier" pitchFamily="2" charset="0"/>
              </a:rPr>
              <a:t>type_inference</a:t>
            </a:r>
            <a:r>
              <a:rPr lang="en-US" dirty="0">
                <a:latin typeface="Courier" pitchFamily="2" charset="0"/>
              </a:rPr>
              <a:t>(</a:t>
            </a:r>
            <a:r>
              <a:rPr lang="en-US" dirty="0" err="1">
                <a:latin typeface="Courier" pitchFamily="2" charset="0"/>
              </a:rPr>
              <a:t>ast</a:t>
            </a:r>
            <a:r>
              <a:rPr lang="en-US" dirty="0">
                <a:latin typeface="Courier" pitchFamily="2" charset="0"/>
              </a:rPr>
              <a:t>)</a:t>
            </a:r>
          </a:p>
          <a:p>
            <a:r>
              <a:rPr lang="en-US" dirty="0">
                <a:latin typeface="Courier" pitchFamily="2" charset="0"/>
              </a:rPr>
              <a:t>   </a:t>
            </a:r>
            <a:r>
              <a:rPr lang="en-US" dirty="0" err="1">
                <a:latin typeface="Courier" pitchFamily="2" charset="0"/>
              </a:rPr>
              <a:t>assign_registers</a:t>
            </a:r>
            <a:r>
              <a:rPr lang="en-US" dirty="0">
                <a:latin typeface="Courier" pitchFamily="2" charset="0"/>
              </a:rPr>
              <a:t>(</a:t>
            </a:r>
            <a:r>
              <a:rPr lang="en-US" dirty="0" err="1">
                <a:latin typeface="Courier" pitchFamily="2" charset="0"/>
              </a:rPr>
              <a:t>ast</a:t>
            </a:r>
            <a:r>
              <a:rPr lang="en-US" dirty="0">
                <a:latin typeface="Courier" pitchFamily="2" charset="0"/>
              </a:rPr>
              <a:t>)</a:t>
            </a:r>
          </a:p>
          <a:p>
            <a:r>
              <a:rPr lang="en-US" dirty="0">
                <a:latin typeface="Courier" pitchFamily="2" charset="0"/>
              </a:rPr>
              <a:t>   program = </a:t>
            </a:r>
            <a:r>
              <a:rPr lang="en-US" dirty="0" err="1">
                <a:latin typeface="Courier" pitchFamily="2" charset="0"/>
              </a:rPr>
              <a:t>ast.linearize</a:t>
            </a:r>
            <a:r>
              <a:rPr lang="en-US" dirty="0">
                <a:latin typeface="Courier" pitchFamily="2" charset="0"/>
              </a:rPr>
              <a:t>()</a:t>
            </a:r>
          </a:p>
          <a:p>
            <a:r>
              <a:rPr lang="en-US" dirty="0">
                <a:latin typeface="Courier" pitchFamily="2" charset="0"/>
              </a:rPr>
              <a:t>   </a:t>
            </a:r>
            <a:r>
              <a:rPr lang="en-US" dirty="0" err="1">
                <a:latin typeface="Courier" pitchFamily="2" charset="0"/>
              </a:rPr>
              <a:t>new_inst</a:t>
            </a:r>
            <a:r>
              <a:rPr lang="en-US" dirty="0">
                <a:latin typeface="Courier" pitchFamily="2" charset="0"/>
              </a:rPr>
              <a:t> = “%s = %s” % </a:t>
            </a:r>
            <a:r>
              <a:rPr lang="en-US" dirty="0">
                <a:highlight>
                  <a:srgbClr val="FFFF00"/>
                </a:highlight>
                <a:latin typeface="Courier" pitchFamily="2" charset="0"/>
              </a:rPr>
              <a:t>?</a:t>
            </a:r>
          </a:p>
          <a:p>
            <a:r>
              <a:rPr lang="en-US" dirty="0">
                <a:latin typeface="Courier" pitchFamily="2" charset="0"/>
              </a:rPr>
              <a:t>   return program + [</a:t>
            </a:r>
            <a:r>
              <a:rPr lang="en-US" dirty="0" err="1">
                <a:latin typeface="Courier" pitchFamily="2" charset="0"/>
              </a:rPr>
              <a:t>new_inst</a:t>
            </a:r>
            <a:r>
              <a:rPr lang="en-US" dirty="0">
                <a:latin typeface="Courier" pitchFamily="2" charset="0"/>
              </a:rPr>
              <a:t>]</a:t>
            </a:r>
          </a:p>
          <a:p>
            <a:r>
              <a:rPr lang="en-US" dirty="0">
                <a:latin typeface="Courier" pitchFamily="2" charset="0"/>
              </a:rPr>
              <a:t>}</a:t>
            </a:r>
            <a:endParaRPr lang="en-US" sz="3200" dirty="0">
              <a:effectLst/>
              <a:latin typeface="Courier" pitchFamily="2"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714284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A7301C-F55E-AE45-A98D-566FF553C626}"/>
              </a:ext>
            </a:extLst>
          </p:cNvPr>
          <p:cNvSpPr/>
          <p:nvPr/>
        </p:nvSpPr>
        <p:spPr>
          <a:xfrm>
            <a:off x="314426" y="2366477"/>
            <a:ext cx="6992983" cy="369332"/>
          </a:xfrm>
          <a:prstGeom prst="rect">
            <a:avLst/>
          </a:prstGeom>
        </p:spPr>
        <p:txBody>
          <a:bodyPr wrap="square">
            <a:spAutoFit/>
          </a:bodyPr>
          <a:lstStyle/>
          <a:p>
            <a:r>
              <a:rPr lang="en-US" dirty="0" err="1">
                <a:latin typeface="Courier" pitchFamily="2" charset="0"/>
              </a:rPr>
              <a:t>assignment_statement_base</a:t>
            </a:r>
            <a:r>
              <a:rPr lang="en-US" dirty="0">
                <a:latin typeface="Courier" pitchFamily="2" charset="0"/>
              </a:rPr>
              <a:t> := ID ASSIGN expr </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17" name="TextBox 16">
            <a:extLst>
              <a:ext uri="{FF2B5EF4-FFF2-40B4-BE49-F238E27FC236}">
                <a16:creationId xmlns:a16="http://schemas.microsoft.com/office/drawing/2014/main" id="{AB9BF493-2B1A-0146-9AFA-F4A7281E0D54}"/>
              </a:ext>
            </a:extLst>
          </p:cNvPr>
          <p:cNvSpPr txBox="1"/>
          <p:nvPr/>
        </p:nvSpPr>
        <p:spPr>
          <a:xfrm>
            <a:off x="5564305" y="4534401"/>
            <a:ext cx="1636474" cy="369332"/>
          </a:xfrm>
          <a:prstGeom prst="rect">
            <a:avLst/>
          </a:prstGeom>
          <a:noFill/>
        </p:spPr>
        <p:txBody>
          <a:bodyPr wrap="none" rtlCol="0">
            <a:spAutoFit/>
          </a:bodyPr>
          <a:lstStyle/>
          <a:p>
            <a:r>
              <a:rPr lang="en-US" dirty="0"/>
              <a:t>AST&lt;x, int, vr0&gt;</a:t>
            </a:r>
          </a:p>
        </p:txBody>
      </p:sp>
      <p:sp>
        <p:nvSpPr>
          <p:cNvPr id="18" name="TextBox 17">
            <a:extLst>
              <a:ext uri="{FF2B5EF4-FFF2-40B4-BE49-F238E27FC236}">
                <a16:creationId xmlns:a16="http://schemas.microsoft.com/office/drawing/2014/main" id="{1F951229-D79F-8B4D-AE14-BA8A503744F0}"/>
              </a:ext>
            </a:extLst>
          </p:cNvPr>
          <p:cNvSpPr txBox="1"/>
          <p:nvPr/>
        </p:nvSpPr>
        <p:spPr>
          <a:xfrm>
            <a:off x="6706468" y="3737218"/>
            <a:ext cx="1599605" cy="369332"/>
          </a:xfrm>
          <a:prstGeom prst="rect">
            <a:avLst/>
          </a:prstGeom>
          <a:noFill/>
        </p:spPr>
        <p:txBody>
          <a:bodyPr wrap="none" rtlCol="0">
            <a:spAutoFit/>
          </a:bodyPr>
          <a:lstStyle/>
          <a:p>
            <a:r>
              <a:rPr lang="en-US" dirty="0"/>
              <a:t>AST&lt;+,int, vr2&gt;</a:t>
            </a:r>
          </a:p>
        </p:txBody>
      </p:sp>
      <p:cxnSp>
        <p:nvCxnSpPr>
          <p:cNvPr id="19" name="Straight Connector 18">
            <a:extLst>
              <a:ext uri="{FF2B5EF4-FFF2-40B4-BE49-F238E27FC236}">
                <a16:creationId xmlns:a16="http://schemas.microsoft.com/office/drawing/2014/main" id="{0DAEFD07-3A6C-E34A-85D3-618A63A30AD9}"/>
              </a:ext>
            </a:extLst>
          </p:cNvPr>
          <p:cNvCxnSpPr>
            <a:cxnSpLocks/>
          </p:cNvCxnSpPr>
          <p:nvPr/>
        </p:nvCxnSpPr>
        <p:spPr>
          <a:xfrm flipH="1">
            <a:off x="5768610" y="4104235"/>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38D63225-0764-2340-8F28-AA7ED393DEB6}"/>
              </a:ext>
            </a:extLst>
          </p:cNvPr>
          <p:cNvCxnSpPr>
            <a:cxnSpLocks/>
          </p:cNvCxnSpPr>
          <p:nvPr/>
        </p:nvCxnSpPr>
        <p:spPr>
          <a:xfrm>
            <a:off x="6992983" y="4104235"/>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8F361F85-89C1-BA44-8473-6877A0D94C49}"/>
              </a:ext>
            </a:extLst>
          </p:cNvPr>
          <p:cNvSpPr txBox="1"/>
          <p:nvPr/>
        </p:nvSpPr>
        <p:spPr>
          <a:xfrm>
            <a:off x="7937150" y="4534401"/>
            <a:ext cx="1624804" cy="369332"/>
          </a:xfrm>
          <a:prstGeom prst="rect">
            <a:avLst/>
          </a:prstGeom>
          <a:noFill/>
        </p:spPr>
        <p:txBody>
          <a:bodyPr wrap="none" rtlCol="0">
            <a:spAutoFit/>
          </a:bodyPr>
          <a:lstStyle/>
          <a:p>
            <a:r>
              <a:rPr lang="en-US" dirty="0"/>
              <a:t>AST&lt;y, int, vr1&gt;</a:t>
            </a:r>
          </a:p>
        </p:txBody>
      </p:sp>
      <p:sp>
        <p:nvSpPr>
          <p:cNvPr id="22" name="TextBox 21">
            <a:extLst>
              <a:ext uri="{FF2B5EF4-FFF2-40B4-BE49-F238E27FC236}">
                <a16:creationId xmlns:a16="http://schemas.microsoft.com/office/drawing/2014/main" id="{8FE3E889-1544-1842-B315-92DDDE119596}"/>
              </a:ext>
            </a:extLst>
          </p:cNvPr>
          <p:cNvSpPr txBox="1"/>
          <p:nvPr/>
        </p:nvSpPr>
        <p:spPr>
          <a:xfrm>
            <a:off x="8635668" y="2364315"/>
            <a:ext cx="1780744" cy="369332"/>
          </a:xfrm>
          <a:prstGeom prst="rect">
            <a:avLst/>
          </a:prstGeom>
          <a:noFill/>
        </p:spPr>
        <p:txBody>
          <a:bodyPr wrap="none" rtlCol="0">
            <a:spAutoFit/>
          </a:bodyPr>
          <a:lstStyle/>
          <a:p>
            <a:r>
              <a:rPr lang="en-US" dirty="0">
                <a:highlight>
                  <a:srgbClr val="FFFF00"/>
                </a:highlight>
              </a:rPr>
              <a:t>AST&lt;+,float, vr5&gt;</a:t>
            </a:r>
          </a:p>
        </p:txBody>
      </p:sp>
      <p:cxnSp>
        <p:nvCxnSpPr>
          <p:cNvPr id="23" name="Straight Connector 22">
            <a:extLst>
              <a:ext uri="{FF2B5EF4-FFF2-40B4-BE49-F238E27FC236}">
                <a16:creationId xmlns:a16="http://schemas.microsoft.com/office/drawing/2014/main" id="{AAF09F12-E284-A347-8BF5-533CB8AC8D36}"/>
              </a:ext>
            </a:extLst>
          </p:cNvPr>
          <p:cNvCxnSpPr>
            <a:cxnSpLocks/>
            <a:stCxn id="26" idx="2"/>
            <a:endCxn id="18" idx="0"/>
          </p:cNvCxnSpPr>
          <p:nvPr/>
        </p:nvCxnSpPr>
        <p:spPr>
          <a:xfrm flipH="1">
            <a:off x="7506271" y="3278118"/>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2033F270-484C-5E4A-890E-E645E6424FCF}"/>
              </a:ext>
            </a:extLst>
          </p:cNvPr>
          <p:cNvCxnSpPr>
            <a:cxnSpLocks/>
            <a:stCxn id="22" idx="2"/>
            <a:endCxn id="25" idx="0"/>
          </p:cNvCxnSpPr>
          <p:nvPr/>
        </p:nvCxnSpPr>
        <p:spPr>
          <a:xfrm>
            <a:off x="9526040" y="2733647"/>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25" name="TextBox 24">
            <a:extLst>
              <a:ext uri="{FF2B5EF4-FFF2-40B4-BE49-F238E27FC236}">
                <a16:creationId xmlns:a16="http://schemas.microsoft.com/office/drawing/2014/main" id="{D2242D62-98F0-6042-A2E6-99A92B6F9039}"/>
              </a:ext>
            </a:extLst>
          </p:cNvPr>
          <p:cNvSpPr txBox="1"/>
          <p:nvPr/>
        </p:nvSpPr>
        <p:spPr>
          <a:xfrm>
            <a:off x="9867600" y="3749074"/>
            <a:ext cx="2009974" cy="369332"/>
          </a:xfrm>
          <a:prstGeom prst="rect">
            <a:avLst/>
          </a:prstGeom>
          <a:noFill/>
        </p:spPr>
        <p:txBody>
          <a:bodyPr wrap="none" rtlCol="0">
            <a:spAutoFit/>
          </a:bodyPr>
          <a:lstStyle/>
          <a:p>
            <a:r>
              <a:rPr lang="en-US" dirty="0"/>
              <a:t>AST&lt;5.5, float, vr4&gt;</a:t>
            </a:r>
          </a:p>
        </p:txBody>
      </p:sp>
      <p:sp>
        <p:nvSpPr>
          <p:cNvPr id="26" name="TextBox 25">
            <a:extLst>
              <a:ext uri="{FF2B5EF4-FFF2-40B4-BE49-F238E27FC236}">
                <a16:creationId xmlns:a16="http://schemas.microsoft.com/office/drawing/2014/main" id="{55535A3A-C2E9-704E-B3B3-1D4A5155DB0F}"/>
              </a:ext>
            </a:extLst>
          </p:cNvPr>
          <p:cNvSpPr txBox="1"/>
          <p:nvPr/>
        </p:nvSpPr>
        <p:spPr>
          <a:xfrm>
            <a:off x="6645067" y="2908786"/>
            <a:ext cx="2515497" cy="369332"/>
          </a:xfrm>
          <a:prstGeom prst="rect">
            <a:avLst/>
          </a:prstGeom>
          <a:noFill/>
        </p:spPr>
        <p:txBody>
          <a:bodyPr wrap="none" rtlCol="0">
            <a:spAutoFit/>
          </a:bodyPr>
          <a:lstStyle/>
          <a:p>
            <a:r>
              <a:rPr lang="en-US" dirty="0"/>
              <a:t>AST&lt;int2float, float, vr3&gt;</a:t>
            </a:r>
          </a:p>
        </p:txBody>
      </p:sp>
      <p:cxnSp>
        <p:nvCxnSpPr>
          <p:cNvPr id="27" name="Straight Connector 26">
            <a:extLst>
              <a:ext uri="{FF2B5EF4-FFF2-40B4-BE49-F238E27FC236}">
                <a16:creationId xmlns:a16="http://schemas.microsoft.com/office/drawing/2014/main" id="{083A1F53-2949-4347-89AF-1010E704E6B5}"/>
              </a:ext>
            </a:extLst>
          </p:cNvPr>
          <p:cNvCxnSpPr>
            <a:cxnSpLocks/>
            <a:stCxn id="22" idx="2"/>
            <a:endCxn id="26" idx="0"/>
          </p:cNvCxnSpPr>
          <p:nvPr/>
        </p:nvCxnSpPr>
        <p:spPr>
          <a:xfrm flipH="1">
            <a:off x="7902816" y="2733647"/>
            <a:ext cx="1623224" cy="175139"/>
          </a:xfrm>
          <a:prstGeom prst="line">
            <a:avLst/>
          </a:prstGeom>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36A8E5B6-1ABB-4D47-8D9E-16892E36A3AB}"/>
              </a:ext>
            </a:extLst>
          </p:cNvPr>
          <p:cNvSpPr txBox="1"/>
          <p:nvPr/>
        </p:nvSpPr>
        <p:spPr>
          <a:xfrm>
            <a:off x="283784" y="80942"/>
            <a:ext cx="2252540" cy="1200329"/>
          </a:xfrm>
          <a:prstGeom prst="rect">
            <a:avLst/>
          </a:prstGeom>
          <a:noFill/>
          <a:ln>
            <a:solidFill>
              <a:schemeClr val="tx1"/>
            </a:solidFill>
          </a:ln>
        </p:spPr>
        <p:txBody>
          <a:bodyPr wrap="none" rtlCol="0">
            <a:spAutoFit/>
          </a:bodyPr>
          <a:lstStyle/>
          <a:p>
            <a:r>
              <a:rPr lang="en-US" dirty="0">
                <a:latin typeface="Courier" pitchFamily="2" charset="0"/>
              </a:rPr>
              <a:t>int x;</a:t>
            </a:r>
          </a:p>
          <a:p>
            <a:r>
              <a:rPr lang="en-US" dirty="0">
                <a:latin typeface="Courier" pitchFamily="2" charset="0"/>
              </a:rPr>
              <a:t>int y;</a:t>
            </a:r>
          </a:p>
          <a:p>
            <a:r>
              <a:rPr lang="en-US" dirty="0">
                <a:latin typeface="Courier" pitchFamily="2" charset="0"/>
              </a:rPr>
              <a:t>float w;</a:t>
            </a:r>
            <a:br>
              <a:rPr lang="en-US" dirty="0">
                <a:latin typeface="Courier" pitchFamily="2" charset="0"/>
              </a:rPr>
            </a:br>
            <a:r>
              <a:rPr lang="en-US" dirty="0">
                <a:latin typeface="Courier" pitchFamily="2" charset="0"/>
              </a:rPr>
              <a:t>w = x + y + 5.5</a:t>
            </a:r>
          </a:p>
        </p:txBody>
      </p:sp>
      <p:sp>
        <p:nvSpPr>
          <p:cNvPr id="30" name="Rectangle 29">
            <a:extLst>
              <a:ext uri="{FF2B5EF4-FFF2-40B4-BE49-F238E27FC236}">
                <a16:creationId xmlns:a16="http://schemas.microsoft.com/office/drawing/2014/main" id="{6DA90BF2-DACB-A641-A2A3-6A8A23FB1287}"/>
              </a:ext>
            </a:extLst>
          </p:cNvPr>
          <p:cNvSpPr/>
          <p:nvPr/>
        </p:nvSpPr>
        <p:spPr>
          <a:xfrm>
            <a:off x="384898" y="3301304"/>
            <a:ext cx="6992983" cy="3139321"/>
          </a:xfrm>
          <a:prstGeom prst="rect">
            <a:avLst/>
          </a:prstGeom>
        </p:spPr>
        <p:txBody>
          <a:bodyPr wrap="square">
            <a:spAutoFit/>
          </a:bodyPr>
          <a:lstStyle/>
          <a:p>
            <a:r>
              <a:rPr lang="en-US" dirty="0">
                <a:latin typeface="Courier" pitchFamily="2" charset="0"/>
              </a:rPr>
              <a:t>{</a:t>
            </a:r>
          </a:p>
          <a:p>
            <a:r>
              <a:rPr lang="en-US" dirty="0">
                <a:latin typeface="Courier" pitchFamily="2" charset="0"/>
              </a:rPr>
              <a:t>   </a:t>
            </a:r>
            <a:r>
              <a:rPr lang="en-US" dirty="0" err="1">
                <a:latin typeface="Courier" pitchFamily="2" charset="0"/>
              </a:rPr>
              <a:t>id_name</a:t>
            </a:r>
            <a:r>
              <a:rPr lang="en-US" dirty="0">
                <a:latin typeface="Courier" pitchFamily="2" charset="0"/>
              </a:rPr>
              <a:t> = </a:t>
            </a:r>
            <a:r>
              <a:rPr lang="en-US" dirty="0" err="1">
                <a:latin typeface="Courier" pitchFamily="2" charset="0"/>
              </a:rPr>
              <a:t>to_match.value</a:t>
            </a:r>
            <a:endParaRPr lang="en-US" dirty="0">
              <a:latin typeface="Courier" pitchFamily="2" charset="0"/>
            </a:endParaRPr>
          </a:p>
          <a:p>
            <a:r>
              <a:rPr lang="en-US" dirty="0">
                <a:latin typeface="Courier" pitchFamily="2" charset="0"/>
              </a:rPr>
              <a:t>   eat(“ID”);</a:t>
            </a:r>
          </a:p>
          <a:p>
            <a:r>
              <a:rPr lang="en-US" dirty="0">
                <a:latin typeface="Courier" pitchFamily="2" charset="0"/>
              </a:rPr>
              <a:t>   eat(“ASSIGN”);</a:t>
            </a:r>
          </a:p>
          <a:p>
            <a:r>
              <a:rPr lang="en-US" dirty="0">
                <a:latin typeface="Courier" pitchFamily="2" charset="0"/>
              </a:rPr>
              <a:t>   </a:t>
            </a:r>
            <a:r>
              <a:rPr lang="en-US" dirty="0" err="1">
                <a:highlight>
                  <a:srgbClr val="FFFF00"/>
                </a:highlight>
                <a:latin typeface="Courier" pitchFamily="2" charset="0"/>
              </a:rPr>
              <a:t>ast</a:t>
            </a:r>
            <a:r>
              <a:rPr lang="en-US" dirty="0">
                <a:latin typeface="Courier" pitchFamily="2" charset="0"/>
              </a:rPr>
              <a:t> = </a:t>
            </a:r>
            <a:r>
              <a:rPr lang="en-US" dirty="0" err="1">
                <a:latin typeface="Courier" pitchFamily="2" charset="0"/>
              </a:rPr>
              <a:t>parse_expr</a:t>
            </a:r>
            <a:r>
              <a:rPr lang="en-US" dirty="0">
                <a:latin typeface="Courier" pitchFamily="2" charset="0"/>
              </a:rPr>
              <a:t>()</a:t>
            </a:r>
          </a:p>
          <a:p>
            <a:r>
              <a:rPr lang="en-US" dirty="0">
                <a:latin typeface="Courier" pitchFamily="2" charset="0"/>
              </a:rPr>
              <a:t>   </a:t>
            </a:r>
            <a:r>
              <a:rPr lang="en-US" dirty="0" err="1">
                <a:latin typeface="Courier" pitchFamily="2" charset="0"/>
              </a:rPr>
              <a:t>type_inference</a:t>
            </a:r>
            <a:r>
              <a:rPr lang="en-US" dirty="0">
                <a:latin typeface="Courier" pitchFamily="2" charset="0"/>
              </a:rPr>
              <a:t>(</a:t>
            </a:r>
            <a:r>
              <a:rPr lang="en-US" dirty="0" err="1">
                <a:latin typeface="Courier" pitchFamily="2" charset="0"/>
              </a:rPr>
              <a:t>ast</a:t>
            </a:r>
            <a:r>
              <a:rPr lang="en-US" dirty="0">
                <a:latin typeface="Courier" pitchFamily="2" charset="0"/>
              </a:rPr>
              <a:t>)</a:t>
            </a:r>
          </a:p>
          <a:p>
            <a:r>
              <a:rPr lang="en-US" dirty="0">
                <a:latin typeface="Courier" pitchFamily="2" charset="0"/>
              </a:rPr>
              <a:t>   </a:t>
            </a:r>
            <a:r>
              <a:rPr lang="en-US" dirty="0" err="1">
                <a:latin typeface="Courier" pitchFamily="2" charset="0"/>
              </a:rPr>
              <a:t>assign_registers</a:t>
            </a:r>
            <a:r>
              <a:rPr lang="en-US" dirty="0">
                <a:latin typeface="Courier" pitchFamily="2" charset="0"/>
              </a:rPr>
              <a:t>(</a:t>
            </a:r>
            <a:r>
              <a:rPr lang="en-US" dirty="0" err="1">
                <a:latin typeface="Courier" pitchFamily="2" charset="0"/>
              </a:rPr>
              <a:t>ast</a:t>
            </a:r>
            <a:r>
              <a:rPr lang="en-US" dirty="0">
                <a:latin typeface="Courier" pitchFamily="2" charset="0"/>
              </a:rPr>
              <a:t>)</a:t>
            </a:r>
          </a:p>
          <a:p>
            <a:r>
              <a:rPr lang="en-US" dirty="0">
                <a:latin typeface="Courier" pitchFamily="2" charset="0"/>
              </a:rPr>
              <a:t>   program = </a:t>
            </a:r>
            <a:r>
              <a:rPr lang="en-US" dirty="0" err="1">
                <a:latin typeface="Courier" pitchFamily="2" charset="0"/>
              </a:rPr>
              <a:t>ast.linearize</a:t>
            </a:r>
            <a:r>
              <a:rPr lang="en-US" dirty="0">
                <a:latin typeface="Courier" pitchFamily="2" charset="0"/>
              </a:rPr>
              <a:t>()</a:t>
            </a:r>
          </a:p>
          <a:p>
            <a:r>
              <a:rPr lang="en-US" dirty="0">
                <a:latin typeface="Courier" pitchFamily="2" charset="0"/>
              </a:rPr>
              <a:t>   </a:t>
            </a:r>
            <a:r>
              <a:rPr lang="en-US" dirty="0" err="1">
                <a:latin typeface="Courier" pitchFamily="2" charset="0"/>
              </a:rPr>
              <a:t>new_inst</a:t>
            </a:r>
            <a:r>
              <a:rPr lang="en-US" dirty="0">
                <a:latin typeface="Courier" pitchFamily="2" charset="0"/>
              </a:rPr>
              <a:t> = “%s = %s” % </a:t>
            </a:r>
            <a:r>
              <a:rPr lang="en-US" dirty="0">
                <a:highlight>
                  <a:srgbClr val="FFFF00"/>
                </a:highlight>
                <a:latin typeface="Courier" pitchFamily="2" charset="0"/>
              </a:rPr>
              <a:t>(</a:t>
            </a:r>
            <a:r>
              <a:rPr lang="en-US" dirty="0" err="1">
                <a:highlight>
                  <a:srgbClr val="FFFF00"/>
                </a:highlight>
                <a:latin typeface="Courier" pitchFamily="2" charset="0"/>
              </a:rPr>
              <a:t>id_name</a:t>
            </a:r>
            <a:r>
              <a:rPr lang="en-US" dirty="0">
                <a:highlight>
                  <a:srgbClr val="FFFF00"/>
                </a:highlight>
                <a:latin typeface="Courier" pitchFamily="2" charset="0"/>
              </a:rPr>
              <a:t>, </a:t>
            </a:r>
            <a:r>
              <a:rPr lang="en-US" dirty="0" err="1">
                <a:highlight>
                  <a:srgbClr val="FFFF00"/>
                </a:highlight>
                <a:latin typeface="Courier" pitchFamily="2" charset="0"/>
              </a:rPr>
              <a:t>ast.vr</a:t>
            </a:r>
            <a:r>
              <a:rPr lang="en-US" dirty="0">
                <a:highlight>
                  <a:srgbClr val="FFFF00"/>
                </a:highlight>
                <a:latin typeface="Courier" pitchFamily="2" charset="0"/>
              </a:rPr>
              <a:t>)</a:t>
            </a:r>
          </a:p>
          <a:p>
            <a:r>
              <a:rPr lang="en-US" dirty="0">
                <a:latin typeface="Courier" pitchFamily="2" charset="0"/>
              </a:rPr>
              <a:t>   return program + [</a:t>
            </a:r>
            <a:r>
              <a:rPr lang="en-US" dirty="0" err="1">
                <a:latin typeface="Courier" pitchFamily="2" charset="0"/>
              </a:rPr>
              <a:t>new_inst</a:t>
            </a:r>
            <a:r>
              <a:rPr lang="en-US" dirty="0">
                <a:latin typeface="Courier" pitchFamily="2" charset="0"/>
              </a:rPr>
              <a:t>]</a:t>
            </a:r>
          </a:p>
          <a:p>
            <a:r>
              <a:rPr lang="en-US" dirty="0">
                <a:latin typeface="Courier" pitchFamily="2" charset="0"/>
              </a:rPr>
              <a:t>}</a:t>
            </a:r>
            <a:endParaRPr lang="en-US" sz="3200" dirty="0">
              <a:effectLst/>
              <a:latin typeface="Courier" pitchFamily="2"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820342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A7301C-F55E-AE45-A98D-566FF553C626}"/>
              </a:ext>
            </a:extLst>
          </p:cNvPr>
          <p:cNvSpPr/>
          <p:nvPr/>
        </p:nvSpPr>
        <p:spPr>
          <a:xfrm>
            <a:off x="314426" y="2366477"/>
            <a:ext cx="6992983" cy="369332"/>
          </a:xfrm>
          <a:prstGeom prst="rect">
            <a:avLst/>
          </a:prstGeom>
        </p:spPr>
        <p:txBody>
          <a:bodyPr wrap="square">
            <a:spAutoFit/>
          </a:bodyPr>
          <a:lstStyle/>
          <a:p>
            <a:r>
              <a:rPr lang="en-US" dirty="0" err="1">
                <a:latin typeface="Courier" pitchFamily="2" charset="0"/>
              </a:rPr>
              <a:t>assignment_statement_base</a:t>
            </a:r>
            <a:r>
              <a:rPr lang="en-US" dirty="0">
                <a:latin typeface="Courier" pitchFamily="2" charset="0"/>
              </a:rPr>
              <a:t> := ID ASSIGN expr </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C43019AC-BFF3-704E-B078-7A6360CE682F}"/>
              </a:ext>
            </a:extLst>
          </p:cNvPr>
          <p:cNvSpPr/>
          <p:nvPr/>
        </p:nvSpPr>
        <p:spPr>
          <a:xfrm>
            <a:off x="384898" y="3301304"/>
            <a:ext cx="6992983" cy="3139321"/>
          </a:xfrm>
          <a:prstGeom prst="rect">
            <a:avLst/>
          </a:prstGeom>
        </p:spPr>
        <p:txBody>
          <a:bodyPr wrap="square">
            <a:spAutoFit/>
          </a:bodyPr>
          <a:lstStyle/>
          <a:p>
            <a:r>
              <a:rPr lang="en-US" dirty="0">
                <a:latin typeface="Courier" pitchFamily="2" charset="0"/>
              </a:rPr>
              <a:t>{</a:t>
            </a:r>
          </a:p>
          <a:p>
            <a:r>
              <a:rPr lang="en-US" dirty="0">
                <a:latin typeface="Courier" pitchFamily="2" charset="0"/>
              </a:rPr>
              <a:t>   </a:t>
            </a:r>
            <a:r>
              <a:rPr lang="en-US" dirty="0" err="1">
                <a:latin typeface="Courier" pitchFamily="2" charset="0"/>
              </a:rPr>
              <a:t>id_name</a:t>
            </a:r>
            <a:r>
              <a:rPr lang="en-US" dirty="0">
                <a:latin typeface="Courier" pitchFamily="2" charset="0"/>
              </a:rPr>
              <a:t> = </a:t>
            </a:r>
            <a:r>
              <a:rPr lang="en-US" dirty="0" err="1">
                <a:latin typeface="Courier" pitchFamily="2" charset="0"/>
              </a:rPr>
              <a:t>to_match.value</a:t>
            </a:r>
            <a:endParaRPr lang="en-US" dirty="0">
              <a:latin typeface="Courier" pitchFamily="2" charset="0"/>
            </a:endParaRPr>
          </a:p>
          <a:p>
            <a:r>
              <a:rPr lang="en-US" dirty="0">
                <a:latin typeface="Courier" pitchFamily="2" charset="0"/>
              </a:rPr>
              <a:t>   eat(“ID”);</a:t>
            </a:r>
          </a:p>
          <a:p>
            <a:r>
              <a:rPr lang="en-US" dirty="0">
                <a:latin typeface="Courier" pitchFamily="2" charset="0"/>
              </a:rPr>
              <a:t>   eat(“ASSIGN”);</a:t>
            </a:r>
          </a:p>
          <a:p>
            <a:r>
              <a:rPr lang="en-US" dirty="0">
                <a:latin typeface="Courier" pitchFamily="2" charset="0"/>
              </a:rPr>
              <a:t>   </a:t>
            </a:r>
            <a:r>
              <a:rPr lang="en-US" dirty="0" err="1">
                <a:highlight>
                  <a:srgbClr val="FFFF00"/>
                </a:highlight>
                <a:latin typeface="Courier" pitchFamily="2" charset="0"/>
              </a:rPr>
              <a:t>ast</a:t>
            </a:r>
            <a:r>
              <a:rPr lang="en-US" dirty="0">
                <a:latin typeface="Courier" pitchFamily="2" charset="0"/>
              </a:rPr>
              <a:t> = </a:t>
            </a:r>
            <a:r>
              <a:rPr lang="en-US" dirty="0" err="1">
                <a:latin typeface="Courier" pitchFamily="2" charset="0"/>
              </a:rPr>
              <a:t>parse_expr</a:t>
            </a:r>
            <a:r>
              <a:rPr lang="en-US" dirty="0">
                <a:latin typeface="Courier" pitchFamily="2" charset="0"/>
              </a:rPr>
              <a:t>()</a:t>
            </a:r>
          </a:p>
          <a:p>
            <a:r>
              <a:rPr lang="en-US" dirty="0">
                <a:latin typeface="Courier" pitchFamily="2" charset="0"/>
              </a:rPr>
              <a:t>   </a:t>
            </a:r>
            <a:r>
              <a:rPr lang="en-US" dirty="0" err="1">
                <a:latin typeface="Courier" pitchFamily="2" charset="0"/>
              </a:rPr>
              <a:t>type_inference</a:t>
            </a:r>
            <a:r>
              <a:rPr lang="en-US" dirty="0">
                <a:latin typeface="Courier" pitchFamily="2" charset="0"/>
              </a:rPr>
              <a:t>(</a:t>
            </a:r>
            <a:r>
              <a:rPr lang="en-US" dirty="0" err="1">
                <a:latin typeface="Courier" pitchFamily="2" charset="0"/>
              </a:rPr>
              <a:t>ast</a:t>
            </a:r>
            <a:r>
              <a:rPr lang="en-US" dirty="0">
                <a:latin typeface="Courier" pitchFamily="2" charset="0"/>
              </a:rPr>
              <a:t>)</a:t>
            </a:r>
          </a:p>
          <a:p>
            <a:r>
              <a:rPr lang="en-US" dirty="0">
                <a:latin typeface="Courier" pitchFamily="2" charset="0"/>
              </a:rPr>
              <a:t>   </a:t>
            </a:r>
            <a:r>
              <a:rPr lang="en-US" dirty="0" err="1">
                <a:latin typeface="Courier" pitchFamily="2" charset="0"/>
              </a:rPr>
              <a:t>assign_registers</a:t>
            </a:r>
            <a:r>
              <a:rPr lang="en-US" dirty="0">
                <a:latin typeface="Courier" pitchFamily="2" charset="0"/>
              </a:rPr>
              <a:t>(</a:t>
            </a:r>
            <a:r>
              <a:rPr lang="en-US" dirty="0" err="1">
                <a:latin typeface="Courier" pitchFamily="2" charset="0"/>
              </a:rPr>
              <a:t>ast</a:t>
            </a:r>
            <a:r>
              <a:rPr lang="en-US" dirty="0">
                <a:latin typeface="Courier" pitchFamily="2" charset="0"/>
              </a:rPr>
              <a:t>)</a:t>
            </a:r>
          </a:p>
          <a:p>
            <a:r>
              <a:rPr lang="en-US" dirty="0">
                <a:latin typeface="Courier" pitchFamily="2" charset="0"/>
              </a:rPr>
              <a:t>   program = </a:t>
            </a:r>
            <a:r>
              <a:rPr lang="en-US" dirty="0" err="1">
                <a:latin typeface="Courier" pitchFamily="2" charset="0"/>
              </a:rPr>
              <a:t>ast.linearize</a:t>
            </a:r>
            <a:r>
              <a:rPr lang="en-US" dirty="0">
                <a:latin typeface="Courier" pitchFamily="2" charset="0"/>
              </a:rPr>
              <a:t>()</a:t>
            </a:r>
          </a:p>
          <a:p>
            <a:r>
              <a:rPr lang="en-US" dirty="0">
                <a:latin typeface="Courier" pitchFamily="2" charset="0"/>
              </a:rPr>
              <a:t>   </a:t>
            </a:r>
            <a:r>
              <a:rPr lang="en-US" dirty="0" err="1">
                <a:latin typeface="Courier" pitchFamily="2" charset="0"/>
              </a:rPr>
              <a:t>new_inst</a:t>
            </a:r>
            <a:r>
              <a:rPr lang="en-US" dirty="0">
                <a:latin typeface="Courier" pitchFamily="2" charset="0"/>
              </a:rPr>
              <a:t> = “%s = %s” % (</a:t>
            </a:r>
            <a:r>
              <a:rPr lang="en-US" dirty="0" err="1">
                <a:highlight>
                  <a:srgbClr val="FFFF00"/>
                </a:highlight>
                <a:latin typeface="Courier" pitchFamily="2" charset="0"/>
              </a:rPr>
              <a:t>id_name</a:t>
            </a:r>
            <a:r>
              <a:rPr lang="en-US" dirty="0">
                <a:highlight>
                  <a:srgbClr val="FFFF00"/>
                </a:highlight>
                <a:latin typeface="Courier" pitchFamily="2" charset="0"/>
              </a:rPr>
              <a:t>, </a:t>
            </a:r>
            <a:r>
              <a:rPr lang="en-US" dirty="0" err="1">
                <a:highlight>
                  <a:srgbClr val="FFFF00"/>
                </a:highlight>
                <a:latin typeface="Courier" pitchFamily="2" charset="0"/>
              </a:rPr>
              <a:t>ast.vr</a:t>
            </a:r>
            <a:r>
              <a:rPr lang="en-US" dirty="0">
                <a:highlight>
                  <a:srgbClr val="FFFF00"/>
                </a:highlight>
                <a:latin typeface="Courier" pitchFamily="2" charset="0"/>
              </a:rPr>
              <a:t>)</a:t>
            </a:r>
          </a:p>
          <a:p>
            <a:r>
              <a:rPr lang="en-US" dirty="0">
                <a:latin typeface="Courier" pitchFamily="2" charset="0"/>
              </a:rPr>
              <a:t>   return program + [</a:t>
            </a:r>
            <a:r>
              <a:rPr lang="en-US" dirty="0" err="1">
                <a:latin typeface="Courier" pitchFamily="2" charset="0"/>
              </a:rPr>
              <a:t>new_inst</a:t>
            </a:r>
            <a:r>
              <a:rPr lang="en-US" dirty="0">
                <a:latin typeface="Courier" pitchFamily="2" charset="0"/>
              </a:rPr>
              <a:t>]</a:t>
            </a:r>
          </a:p>
          <a:p>
            <a:r>
              <a:rPr lang="en-US" dirty="0">
                <a:latin typeface="Courier" pitchFamily="2" charset="0"/>
              </a:rPr>
              <a:t>}</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44C90992-E52D-6048-A92A-C8A9575BA810}"/>
              </a:ext>
            </a:extLst>
          </p:cNvPr>
          <p:cNvSpPr txBox="1"/>
          <p:nvPr/>
        </p:nvSpPr>
        <p:spPr>
          <a:xfrm>
            <a:off x="283784" y="80942"/>
            <a:ext cx="2252540" cy="1200329"/>
          </a:xfrm>
          <a:prstGeom prst="rect">
            <a:avLst/>
          </a:prstGeom>
          <a:noFill/>
          <a:ln>
            <a:solidFill>
              <a:schemeClr val="tx1"/>
            </a:solidFill>
          </a:ln>
        </p:spPr>
        <p:txBody>
          <a:bodyPr wrap="none" rtlCol="0">
            <a:spAutoFit/>
          </a:bodyPr>
          <a:lstStyle/>
          <a:p>
            <a:r>
              <a:rPr lang="en-US" dirty="0">
                <a:latin typeface="Courier" pitchFamily="2" charset="0"/>
              </a:rPr>
              <a:t>int x;</a:t>
            </a:r>
          </a:p>
          <a:p>
            <a:r>
              <a:rPr lang="en-US" dirty="0">
                <a:latin typeface="Courier" pitchFamily="2" charset="0"/>
              </a:rPr>
              <a:t>int y;</a:t>
            </a:r>
          </a:p>
          <a:p>
            <a:r>
              <a:rPr lang="en-US" dirty="0">
                <a:latin typeface="Courier" pitchFamily="2" charset="0"/>
              </a:rPr>
              <a:t>float w;</a:t>
            </a:r>
            <a:br>
              <a:rPr lang="en-US" dirty="0">
                <a:latin typeface="Courier" pitchFamily="2" charset="0"/>
              </a:rPr>
            </a:br>
            <a:r>
              <a:rPr lang="en-US" dirty="0">
                <a:latin typeface="Courier" pitchFamily="2" charset="0"/>
              </a:rPr>
              <a:t>w = x + y + 5.5</a:t>
            </a:r>
          </a:p>
        </p:txBody>
      </p:sp>
      <p:sp>
        <p:nvSpPr>
          <p:cNvPr id="20" name="TextBox 19">
            <a:extLst>
              <a:ext uri="{FF2B5EF4-FFF2-40B4-BE49-F238E27FC236}">
                <a16:creationId xmlns:a16="http://schemas.microsoft.com/office/drawing/2014/main" id="{6FDF3A71-1594-0840-B5DA-1BE23E4052B3}"/>
              </a:ext>
            </a:extLst>
          </p:cNvPr>
          <p:cNvSpPr txBox="1"/>
          <p:nvPr/>
        </p:nvSpPr>
        <p:spPr>
          <a:xfrm>
            <a:off x="8660087" y="4379965"/>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vr4 = float2vr(5.5);</a:t>
            </a:r>
          </a:p>
        </p:txBody>
      </p:sp>
      <p:sp>
        <p:nvSpPr>
          <p:cNvPr id="21" name="TextBox 20">
            <a:extLst>
              <a:ext uri="{FF2B5EF4-FFF2-40B4-BE49-F238E27FC236}">
                <a16:creationId xmlns:a16="http://schemas.microsoft.com/office/drawing/2014/main" id="{3D3AD599-DB2D-2947-9AFD-E789AF827947}"/>
              </a:ext>
            </a:extLst>
          </p:cNvPr>
          <p:cNvSpPr txBox="1"/>
          <p:nvPr/>
        </p:nvSpPr>
        <p:spPr>
          <a:xfrm>
            <a:off x="8660087" y="3144364"/>
            <a:ext cx="2159566" cy="338554"/>
          </a:xfrm>
          <a:prstGeom prst="rect">
            <a:avLst/>
          </a:prstGeom>
          <a:noFill/>
          <a:ln>
            <a:solidFill>
              <a:schemeClr val="tx1"/>
            </a:solidFill>
          </a:ln>
        </p:spPr>
        <p:txBody>
          <a:bodyPr wrap="none" rtlCol="0">
            <a:spAutoFit/>
          </a:bodyPr>
          <a:lstStyle/>
          <a:p>
            <a:r>
              <a:rPr lang="en-US" sz="1600" b="1" dirty="0">
                <a:latin typeface="Courier" pitchFamily="2" charset="0"/>
              </a:rPr>
              <a:t>vr1 = int2vr(y);</a:t>
            </a:r>
          </a:p>
        </p:txBody>
      </p:sp>
      <p:sp>
        <p:nvSpPr>
          <p:cNvPr id="22" name="TextBox 21">
            <a:extLst>
              <a:ext uri="{FF2B5EF4-FFF2-40B4-BE49-F238E27FC236}">
                <a16:creationId xmlns:a16="http://schemas.microsoft.com/office/drawing/2014/main" id="{ED09568E-CBAC-764E-B530-DF410E9F6BC2}"/>
              </a:ext>
            </a:extLst>
          </p:cNvPr>
          <p:cNvSpPr txBox="1"/>
          <p:nvPr/>
        </p:nvSpPr>
        <p:spPr>
          <a:xfrm>
            <a:off x="8660087" y="2735809"/>
            <a:ext cx="2159566" cy="338554"/>
          </a:xfrm>
          <a:prstGeom prst="rect">
            <a:avLst/>
          </a:prstGeom>
          <a:noFill/>
          <a:ln>
            <a:solidFill>
              <a:schemeClr val="tx1"/>
            </a:solidFill>
          </a:ln>
        </p:spPr>
        <p:txBody>
          <a:bodyPr wrap="none" rtlCol="0">
            <a:spAutoFit/>
          </a:bodyPr>
          <a:lstStyle/>
          <a:p>
            <a:r>
              <a:rPr lang="en-US" sz="1600" b="1" dirty="0">
                <a:latin typeface="Courier" pitchFamily="2" charset="0"/>
              </a:rPr>
              <a:t>vr0 = int2vr(x);</a:t>
            </a:r>
          </a:p>
        </p:txBody>
      </p:sp>
      <p:sp>
        <p:nvSpPr>
          <p:cNvPr id="23" name="TextBox 22">
            <a:extLst>
              <a:ext uri="{FF2B5EF4-FFF2-40B4-BE49-F238E27FC236}">
                <a16:creationId xmlns:a16="http://schemas.microsoft.com/office/drawing/2014/main" id="{684DFD83-3277-B341-BA1B-3A376C8C45FB}"/>
              </a:ext>
            </a:extLst>
          </p:cNvPr>
          <p:cNvSpPr txBox="1"/>
          <p:nvPr/>
        </p:nvSpPr>
        <p:spPr>
          <a:xfrm>
            <a:off x="8660087" y="3552919"/>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vr2 = </a:t>
            </a:r>
            <a:r>
              <a:rPr lang="en-US" sz="1600" b="1" dirty="0" err="1">
                <a:latin typeface="Courier" pitchFamily="2" charset="0"/>
              </a:rPr>
              <a:t>addi</a:t>
            </a:r>
            <a:r>
              <a:rPr lang="en-US" sz="1600" b="1" dirty="0">
                <a:latin typeface="Courier" pitchFamily="2" charset="0"/>
              </a:rPr>
              <a:t>(vr0,vr1);</a:t>
            </a:r>
          </a:p>
        </p:txBody>
      </p:sp>
      <p:sp>
        <p:nvSpPr>
          <p:cNvPr id="24" name="TextBox 23">
            <a:extLst>
              <a:ext uri="{FF2B5EF4-FFF2-40B4-BE49-F238E27FC236}">
                <a16:creationId xmlns:a16="http://schemas.microsoft.com/office/drawing/2014/main" id="{D49DD0FA-CBEF-8A4A-AE7C-4439490DEDAA}"/>
              </a:ext>
            </a:extLst>
          </p:cNvPr>
          <p:cNvSpPr txBox="1"/>
          <p:nvPr/>
        </p:nvSpPr>
        <p:spPr>
          <a:xfrm>
            <a:off x="8660087" y="3961474"/>
            <a:ext cx="3147015" cy="338554"/>
          </a:xfrm>
          <a:prstGeom prst="rect">
            <a:avLst/>
          </a:prstGeom>
          <a:noFill/>
          <a:ln>
            <a:solidFill>
              <a:schemeClr val="tx1"/>
            </a:solidFill>
          </a:ln>
        </p:spPr>
        <p:txBody>
          <a:bodyPr wrap="none" rtlCol="0">
            <a:spAutoFit/>
          </a:bodyPr>
          <a:lstStyle/>
          <a:p>
            <a:r>
              <a:rPr lang="en-US" sz="1600" b="1" dirty="0">
                <a:latin typeface="Courier" pitchFamily="2" charset="0"/>
              </a:rPr>
              <a:t>vr3 = vr_int2float(vr2);</a:t>
            </a:r>
          </a:p>
        </p:txBody>
      </p:sp>
      <p:sp>
        <p:nvSpPr>
          <p:cNvPr id="25" name="TextBox 24">
            <a:extLst>
              <a:ext uri="{FF2B5EF4-FFF2-40B4-BE49-F238E27FC236}">
                <a16:creationId xmlns:a16="http://schemas.microsoft.com/office/drawing/2014/main" id="{8C166F8C-2773-8940-9761-5819895F2A68}"/>
              </a:ext>
            </a:extLst>
          </p:cNvPr>
          <p:cNvSpPr txBox="1"/>
          <p:nvPr/>
        </p:nvSpPr>
        <p:spPr>
          <a:xfrm>
            <a:off x="8660087" y="4798456"/>
            <a:ext cx="2653290" cy="338554"/>
          </a:xfrm>
          <a:prstGeom prst="rect">
            <a:avLst/>
          </a:prstGeom>
          <a:noFill/>
          <a:ln>
            <a:solidFill>
              <a:schemeClr val="tx1"/>
            </a:solidFill>
          </a:ln>
        </p:spPr>
        <p:txBody>
          <a:bodyPr wrap="none" rtlCol="0">
            <a:spAutoFit/>
          </a:bodyPr>
          <a:lstStyle/>
          <a:p>
            <a:r>
              <a:rPr lang="en-US" sz="1600" b="1" dirty="0">
                <a:latin typeface="Courier" pitchFamily="2" charset="0"/>
              </a:rPr>
              <a:t>vr5 = </a:t>
            </a:r>
            <a:r>
              <a:rPr lang="en-US" sz="1600" b="1" dirty="0" err="1">
                <a:latin typeface="Courier" pitchFamily="2" charset="0"/>
              </a:rPr>
              <a:t>addf</a:t>
            </a:r>
            <a:r>
              <a:rPr lang="en-US" sz="1600" b="1" dirty="0">
                <a:latin typeface="Courier" pitchFamily="2" charset="0"/>
              </a:rPr>
              <a:t>(vr3,vr4);</a:t>
            </a:r>
          </a:p>
        </p:txBody>
      </p:sp>
      <p:sp>
        <p:nvSpPr>
          <p:cNvPr id="26" name="TextBox 25">
            <a:extLst>
              <a:ext uri="{FF2B5EF4-FFF2-40B4-BE49-F238E27FC236}">
                <a16:creationId xmlns:a16="http://schemas.microsoft.com/office/drawing/2014/main" id="{E925853C-65C7-A74B-9A7C-9994241A70F5}"/>
              </a:ext>
            </a:extLst>
          </p:cNvPr>
          <p:cNvSpPr txBox="1"/>
          <p:nvPr/>
        </p:nvSpPr>
        <p:spPr>
          <a:xfrm>
            <a:off x="8586652" y="2284286"/>
            <a:ext cx="984116" cy="369332"/>
          </a:xfrm>
          <a:prstGeom prst="rect">
            <a:avLst/>
          </a:prstGeom>
          <a:noFill/>
        </p:spPr>
        <p:txBody>
          <a:bodyPr wrap="none" rtlCol="0">
            <a:spAutoFit/>
          </a:bodyPr>
          <a:lstStyle/>
          <a:p>
            <a:r>
              <a:rPr lang="en-US" dirty="0"/>
              <a:t>program</a:t>
            </a:r>
          </a:p>
        </p:txBody>
      </p:sp>
      <p:sp>
        <p:nvSpPr>
          <p:cNvPr id="27" name="TextBox 26">
            <a:extLst>
              <a:ext uri="{FF2B5EF4-FFF2-40B4-BE49-F238E27FC236}">
                <a16:creationId xmlns:a16="http://schemas.microsoft.com/office/drawing/2014/main" id="{55AEBA86-3D59-E546-B7AC-AB2885363B4F}"/>
              </a:ext>
            </a:extLst>
          </p:cNvPr>
          <p:cNvSpPr txBox="1"/>
          <p:nvPr/>
        </p:nvSpPr>
        <p:spPr>
          <a:xfrm>
            <a:off x="8660087" y="5577875"/>
            <a:ext cx="1048685" cy="338554"/>
          </a:xfrm>
          <a:prstGeom prst="rect">
            <a:avLst/>
          </a:prstGeom>
          <a:noFill/>
          <a:ln>
            <a:solidFill>
              <a:schemeClr val="tx1"/>
            </a:solidFill>
          </a:ln>
        </p:spPr>
        <p:txBody>
          <a:bodyPr wrap="none" rtlCol="0">
            <a:spAutoFit/>
          </a:bodyPr>
          <a:lstStyle/>
          <a:p>
            <a:r>
              <a:rPr lang="en-US" sz="1600" b="1" dirty="0">
                <a:latin typeface="Courier" pitchFamily="2" charset="0"/>
              </a:rPr>
              <a:t>w = vr5</a:t>
            </a:r>
          </a:p>
        </p:txBody>
      </p:sp>
      <p:sp>
        <p:nvSpPr>
          <p:cNvPr id="28" name="TextBox 27">
            <a:extLst>
              <a:ext uri="{FF2B5EF4-FFF2-40B4-BE49-F238E27FC236}">
                <a16:creationId xmlns:a16="http://schemas.microsoft.com/office/drawing/2014/main" id="{6D371A7C-BF26-4F44-8396-6119A8BBF4C3}"/>
              </a:ext>
            </a:extLst>
          </p:cNvPr>
          <p:cNvSpPr txBox="1"/>
          <p:nvPr/>
        </p:nvSpPr>
        <p:spPr>
          <a:xfrm>
            <a:off x="8593128" y="5164998"/>
            <a:ext cx="977640" cy="369332"/>
          </a:xfrm>
          <a:prstGeom prst="rect">
            <a:avLst/>
          </a:prstGeom>
          <a:noFill/>
        </p:spPr>
        <p:txBody>
          <a:bodyPr wrap="none" rtlCol="0">
            <a:spAutoFit/>
          </a:bodyPr>
          <a:lstStyle/>
          <a:p>
            <a:r>
              <a:rPr lang="en-US" dirty="0"/>
              <a:t>new </a:t>
            </a:r>
            <a:r>
              <a:rPr lang="en-US" dirty="0" err="1"/>
              <a:t>inst</a:t>
            </a:r>
            <a:endParaRPr lang="en-US" dirty="0"/>
          </a:p>
        </p:txBody>
      </p:sp>
    </p:spTree>
    <p:extLst>
      <p:ext uri="{BB962C8B-B14F-4D97-AF65-F5344CB8AC3E}">
        <p14:creationId xmlns:p14="http://schemas.microsoft.com/office/powerpoint/2010/main" val="310399580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A7301C-F55E-AE45-A98D-566FF553C626}"/>
              </a:ext>
            </a:extLst>
          </p:cNvPr>
          <p:cNvSpPr/>
          <p:nvPr/>
        </p:nvSpPr>
        <p:spPr>
          <a:xfrm>
            <a:off x="314426" y="2366477"/>
            <a:ext cx="6992983" cy="369332"/>
          </a:xfrm>
          <a:prstGeom prst="rect">
            <a:avLst/>
          </a:prstGeom>
        </p:spPr>
        <p:txBody>
          <a:bodyPr wrap="square">
            <a:spAutoFit/>
          </a:bodyPr>
          <a:lstStyle/>
          <a:p>
            <a:r>
              <a:rPr lang="en-US" dirty="0" err="1">
                <a:latin typeface="Courier" pitchFamily="2" charset="0"/>
              </a:rPr>
              <a:t>assignment_statement_base</a:t>
            </a:r>
            <a:r>
              <a:rPr lang="en-US" dirty="0">
                <a:latin typeface="Courier" pitchFamily="2" charset="0"/>
              </a:rPr>
              <a:t> := ID ASSIGN expr </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C43019AC-BFF3-704E-B078-7A6360CE682F}"/>
              </a:ext>
            </a:extLst>
          </p:cNvPr>
          <p:cNvSpPr/>
          <p:nvPr/>
        </p:nvSpPr>
        <p:spPr>
          <a:xfrm>
            <a:off x="384898" y="3301304"/>
            <a:ext cx="6992983" cy="3139321"/>
          </a:xfrm>
          <a:prstGeom prst="rect">
            <a:avLst/>
          </a:prstGeom>
        </p:spPr>
        <p:txBody>
          <a:bodyPr wrap="square">
            <a:spAutoFit/>
          </a:bodyPr>
          <a:lstStyle/>
          <a:p>
            <a:r>
              <a:rPr lang="en-US" dirty="0">
                <a:latin typeface="Courier" pitchFamily="2" charset="0"/>
              </a:rPr>
              <a:t>{</a:t>
            </a:r>
          </a:p>
          <a:p>
            <a:r>
              <a:rPr lang="en-US" dirty="0">
                <a:latin typeface="Courier" pitchFamily="2" charset="0"/>
              </a:rPr>
              <a:t>   </a:t>
            </a:r>
            <a:r>
              <a:rPr lang="en-US" dirty="0" err="1">
                <a:latin typeface="Courier" pitchFamily="2" charset="0"/>
              </a:rPr>
              <a:t>id_name</a:t>
            </a:r>
            <a:r>
              <a:rPr lang="en-US" dirty="0">
                <a:latin typeface="Courier" pitchFamily="2" charset="0"/>
              </a:rPr>
              <a:t> = </a:t>
            </a:r>
            <a:r>
              <a:rPr lang="en-US" dirty="0" err="1">
                <a:latin typeface="Courier" pitchFamily="2" charset="0"/>
              </a:rPr>
              <a:t>to_match.value</a:t>
            </a:r>
            <a:endParaRPr lang="en-US" dirty="0">
              <a:latin typeface="Courier" pitchFamily="2" charset="0"/>
            </a:endParaRPr>
          </a:p>
          <a:p>
            <a:r>
              <a:rPr lang="en-US" dirty="0">
                <a:latin typeface="Courier" pitchFamily="2" charset="0"/>
              </a:rPr>
              <a:t>   eat(“ID”);</a:t>
            </a:r>
          </a:p>
          <a:p>
            <a:r>
              <a:rPr lang="en-US" dirty="0">
                <a:latin typeface="Courier" pitchFamily="2" charset="0"/>
              </a:rPr>
              <a:t>   eat(“ASSIGN”);</a:t>
            </a:r>
          </a:p>
          <a:p>
            <a:r>
              <a:rPr lang="en-US" dirty="0">
                <a:latin typeface="Courier" pitchFamily="2" charset="0"/>
              </a:rPr>
              <a:t>   </a:t>
            </a:r>
            <a:r>
              <a:rPr lang="en-US" dirty="0" err="1">
                <a:latin typeface="Courier" pitchFamily="2" charset="0"/>
              </a:rPr>
              <a:t>ast</a:t>
            </a:r>
            <a:r>
              <a:rPr lang="en-US" dirty="0">
                <a:latin typeface="Courier" pitchFamily="2" charset="0"/>
              </a:rPr>
              <a:t> = </a:t>
            </a:r>
            <a:r>
              <a:rPr lang="en-US" dirty="0" err="1">
                <a:latin typeface="Courier" pitchFamily="2" charset="0"/>
              </a:rPr>
              <a:t>parse_expr</a:t>
            </a:r>
            <a:r>
              <a:rPr lang="en-US" dirty="0">
                <a:latin typeface="Courier" pitchFamily="2" charset="0"/>
              </a:rPr>
              <a:t>()</a:t>
            </a:r>
          </a:p>
          <a:p>
            <a:r>
              <a:rPr lang="en-US" dirty="0">
                <a:latin typeface="Courier" pitchFamily="2" charset="0"/>
              </a:rPr>
              <a:t>   </a:t>
            </a:r>
            <a:r>
              <a:rPr lang="en-US" dirty="0" err="1">
                <a:latin typeface="Courier" pitchFamily="2" charset="0"/>
              </a:rPr>
              <a:t>type_inference</a:t>
            </a:r>
            <a:r>
              <a:rPr lang="en-US" dirty="0">
                <a:latin typeface="Courier" pitchFamily="2" charset="0"/>
              </a:rPr>
              <a:t>(</a:t>
            </a:r>
            <a:r>
              <a:rPr lang="en-US" dirty="0" err="1">
                <a:latin typeface="Courier" pitchFamily="2" charset="0"/>
              </a:rPr>
              <a:t>ast</a:t>
            </a:r>
            <a:r>
              <a:rPr lang="en-US" dirty="0">
                <a:latin typeface="Courier" pitchFamily="2" charset="0"/>
              </a:rPr>
              <a:t>)</a:t>
            </a:r>
          </a:p>
          <a:p>
            <a:r>
              <a:rPr lang="en-US" dirty="0">
                <a:latin typeface="Courier" pitchFamily="2" charset="0"/>
              </a:rPr>
              <a:t>   </a:t>
            </a:r>
            <a:r>
              <a:rPr lang="en-US" dirty="0" err="1">
                <a:latin typeface="Courier" pitchFamily="2" charset="0"/>
              </a:rPr>
              <a:t>assign_registers</a:t>
            </a:r>
            <a:r>
              <a:rPr lang="en-US" dirty="0">
                <a:latin typeface="Courier" pitchFamily="2" charset="0"/>
              </a:rPr>
              <a:t>(</a:t>
            </a:r>
            <a:r>
              <a:rPr lang="en-US" dirty="0" err="1">
                <a:latin typeface="Courier" pitchFamily="2" charset="0"/>
              </a:rPr>
              <a:t>ast</a:t>
            </a:r>
            <a:r>
              <a:rPr lang="en-US" dirty="0">
                <a:latin typeface="Courier" pitchFamily="2" charset="0"/>
              </a:rPr>
              <a:t>)</a:t>
            </a:r>
          </a:p>
          <a:p>
            <a:r>
              <a:rPr lang="en-US" dirty="0">
                <a:latin typeface="Courier" pitchFamily="2" charset="0"/>
              </a:rPr>
              <a:t>   program = </a:t>
            </a:r>
            <a:r>
              <a:rPr lang="en-US" dirty="0" err="1">
                <a:latin typeface="Courier" pitchFamily="2" charset="0"/>
              </a:rPr>
              <a:t>ast.linearize</a:t>
            </a:r>
            <a:r>
              <a:rPr lang="en-US" dirty="0">
                <a:latin typeface="Courier" pitchFamily="2" charset="0"/>
              </a:rPr>
              <a:t>()</a:t>
            </a:r>
          </a:p>
          <a:p>
            <a:r>
              <a:rPr lang="en-US" dirty="0">
                <a:latin typeface="Courier" pitchFamily="2" charset="0"/>
              </a:rPr>
              <a:t>   </a:t>
            </a:r>
            <a:r>
              <a:rPr lang="en-US" dirty="0" err="1">
                <a:latin typeface="Courier" pitchFamily="2" charset="0"/>
              </a:rPr>
              <a:t>new_inst</a:t>
            </a:r>
            <a:r>
              <a:rPr lang="en-US" dirty="0">
                <a:latin typeface="Courier" pitchFamily="2" charset="0"/>
              </a:rPr>
              <a:t> = “%s = %s” % (</a:t>
            </a:r>
            <a:r>
              <a:rPr lang="en-US" dirty="0" err="1">
                <a:latin typeface="Courier" pitchFamily="2" charset="0"/>
              </a:rPr>
              <a:t>id_name</a:t>
            </a:r>
            <a:r>
              <a:rPr lang="en-US" dirty="0">
                <a:latin typeface="Courier" pitchFamily="2" charset="0"/>
              </a:rPr>
              <a:t>, </a:t>
            </a:r>
            <a:r>
              <a:rPr lang="en-US" dirty="0" err="1">
                <a:latin typeface="Courier" pitchFamily="2" charset="0"/>
              </a:rPr>
              <a:t>ast.vr</a:t>
            </a:r>
            <a:r>
              <a:rPr lang="en-US" dirty="0">
                <a:latin typeface="Courier" pitchFamily="2" charset="0"/>
              </a:rPr>
              <a:t>)</a:t>
            </a:r>
          </a:p>
          <a:p>
            <a:r>
              <a:rPr lang="en-US" dirty="0">
                <a:latin typeface="Courier" pitchFamily="2" charset="0"/>
              </a:rPr>
              <a:t>   return program + [</a:t>
            </a:r>
            <a:r>
              <a:rPr lang="en-US" dirty="0" err="1">
                <a:latin typeface="Courier" pitchFamily="2" charset="0"/>
              </a:rPr>
              <a:t>new_inst</a:t>
            </a:r>
            <a:r>
              <a:rPr lang="en-US" dirty="0">
                <a:latin typeface="Courier" pitchFamily="2" charset="0"/>
              </a:rPr>
              <a:t>]</a:t>
            </a:r>
          </a:p>
          <a:p>
            <a:r>
              <a:rPr lang="en-US" dirty="0">
                <a:latin typeface="Courier" pitchFamily="2" charset="0"/>
              </a:rPr>
              <a:t>}</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44C90992-E52D-6048-A92A-C8A9575BA810}"/>
              </a:ext>
            </a:extLst>
          </p:cNvPr>
          <p:cNvSpPr txBox="1"/>
          <p:nvPr/>
        </p:nvSpPr>
        <p:spPr>
          <a:xfrm>
            <a:off x="283784" y="80942"/>
            <a:ext cx="2252540" cy="1200329"/>
          </a:xfrm>
          <a:prstGeom prst="rect">
            <a:avLst/>
          </a:prstGeom>
          <a:noFill/>
          <a:ln>
            <a:solidFill>
              <a:schemeClr val="tx1"/>
            </a:solidFill>
          </a:ln>
        </p:spPr>
        <p:txBody>
          <a:bodyPr wrap="none" rtlCol="0">
            <a:spAutoFit/>
          </a:bodyPr>
          <a:lstStyle/>
          <a:p>
            <a:r>
              <a:rPr lang="en-US" dirty="0">
                <a:latin typeface="Courier" pitchFamily="2" charset="0"/>
              </a:rPr>
              <a:t>int x;</a:t>
            </a:r>
          </a:p>
          <a:p>
            <a:r>
              <a:rPr lang="en-US" dirty="0">
                <a:latin typeface="Courier" pitchFamily="2" charset="0"/>
              </a:rPr>
              <a:t>int y;</a:t>
            </a:r>
          </a:p>
          <a:p>
            <a:r>
              <a:rPr lang="en-US" dirty="0">
                <a:latin typeface="Courier" pitchFamily="2" charset="0"/>
              </a:rPr>
              <a:t>float w;</a:t>
            </a:r>
            <a:br>
              <a:rPr lang="en-US" dirty="0">
                <a:latin typeface="Courier" pitchFamily="2" charset="0"/>
              </a:rPr>
            </a:br>
            <a:r>
              <a:rPr lang="en-US" dirty="0">
                <a:latin typeface="Courier" pitchFamily="2" charset="0"/>
              </a:rPr>
              <a:t>w = x + y + 5.5</a:t>
            </a:r>
          </a:p>
        </p:txBody>
      </p:sp>
      <p:sp>
        <p:nvSpPr>
          <p:cNvPr id="7" name="TextBox 6">
            <a:extLst>
              <a:ext uri="{FF2B5EF4-FFF2-40B4-BE49-F238E27FC236}">
                <a16:creationId xmlns:a16="http://schemas.microsoft.com/office/drawing/2014/main" id="{251ECA89-F17E-2A4B-B526-0A589ABD8D20}"/>
              </a:ext>
            </a:extLst>
          </p:cNvPr>
          <p:cNvSpPr txBox="1"/>
          <p:nvPr/>
        </p:nvSpPr>
        <p:spPr>
          <a:xfrm>
            <a:off x="8307977" y="2185851"/>
            <a:ext cx="3499125" cy="3970318"/>
          </a:xfrm>
          <a:prstGeom prst="rect">
            <a:avLst/>
          </a:prstGeom>
          <a:noFill/>
        </p:spPr>
        <p:txBody>
          <a:bodyPr wrap="square" rtlCol="0">
            <a:spAutoFit/>
          </a:bodyPr>
          <a:lstStyle/>
          <a:p>
            <a:r>
              <a:rPr lang="en-US" i="1" dirty="0"/>
              <a:t>But, what are we missing in this assignment statement?</a:t>
            </a:r>
          </a:p>
          <a:p>
            <a:endParaRPr lang="en-US" dirty="0"/>
          </a:p>
          <a:p>
            <a:r>
              <a:rPr lang="en-US" dirty="0"/>
              <a:t>1. If the type of ID doesn’t match</a:t>
            </a:r>
            <a:br>
              <a:rPr lang="en-US" dirty="0"/>
            </a:br>
            <a:r>
              <a:rPr lang="en-US" dirty="0"/>
              <a:t>the type of the </a:t>
            </a:r>
            <a:r>
              <a:rPr lang="en-US" dirty="0" err="1"/>
              <a:t>ast</a:t>
            </a:r>
            <a:r>
              <a:rPr lang="en-US" dirty="0"/>
              <a:t>, then the </a:t>
            </a:r>
            <a:r>
              <a:rPr lang="en-US" dirty="0" err="1"/>
              <a:t>ast</a:t>
            </a:r>
            <a:br>
              <a:rPr lang="en-US" dirty="0"/>
            </a:br>
            <a:r>
              <a:rPr lang="en-US" dirty="0"/>
              <a:t>needs to be converted.</a:t>
            </a:r>
          </a:p>
          <a:p>
            <a:endParaRPr lang="en-US" dirty="0"/>
          </a:p>
          <a:p>
            <a:r>
              <a:rPr lang="en-US" dirty="0"/>
              <a:t>2. ID should be checked if it is</a:t>
            </a:r>
            <a:br>
              <a:rPr lang="en-US" dirty="0"/>
            </a:br>
            <a:r>
              <a:rPr lang="en-US" dirty="0"/>
              <a:t>an input/output variable. which</a:t>
            </a:r>
            <a:br>
              <a:rPr lang="en-US" dirty="0"/>
            </a:br>
            <a:r>
              <a:rPr lang="en-US" dirty="0"/>
              <a:t>means it will need to be handled</a:t>
            </a:r>
            <a:br>
              <a:rPr lang="en-US" dirty="0"/>
            </a:br>
            <a:r>
              <a:rPr lang="en-US" dirty="0"/>
              <a:t>differently.</a:t>
            </a:r>
          </a:p>
          <a:p>
            <a:endParaRPr lang="en-US" dirty="0"/>
          </a:p>
          <a:p>
            <a:r>
              <a:rPr lang="en-US" dirty="0"/>
              <a:t>3. You need to check the ID in the symbol table</a:t>
            </a:r>
          </a:p>
        </p:txBody>
      </p:sp>
      <p:sp>
        <p:nvSpPr>
          <p:cNvPr id="2" name="TextBox 1">
            <a:extLst>
              <a:ext uri="{FF2B5EF4-FFF2-40B4-BE49-F238E27FC236}">
                <a16:creationId xmlns:a16="http://schemas.microsoft.com/office/drawing/2014/main" id="{A6B76CB7-3E31-D54E-BC30-BADE10782E8C}"/>
              </a:ext>
            </a:extLst>
          </p:cNvPr>
          <p:cNvSpPr txBox="1"/>
          <p:nvPr/>
        </p:nvSpPr>
        <p:spPr>
          <a:xfrm>
            <a:off x="7696200" y="6358467"/>
            <a:ext cx="2320187" cy="369332"/>
          </a:xfrm>
          <a:prstGeom prst="rect">
            <a:avLst/>
          </a:prstGeom>
          <a:noFill/>
        </p:spPr>
        <p:txBody>
          <a:bodyPr wrap="none" rtlCol="0">
            <a:spAutoFit/>
          </a:bodyPr>
          <a:lstStyle/>
          <a:p>
            <a:r>
              <a:rPr lang="en-US" i="1" dirty="0"/>
              <a:t>it can get a little messy</a:t>
            </a:r>
          </a:p>
        </p:txBody>
      </p:sp>
    </p:spTree>
    <p:extLst>
      <p:ext uri="{BB962C8B-B14F-4D97-AF65-F5344CB8AC3E}">
        <p14:creationId xmlns:p14="http://schemas.microsoft.com/office/powerpoint/2010/main" val="10691321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A7301C-F55E-AE45-A98D-566FF553C626}"/>
              </a:ext>
            </a:extLst>
          </p:cNvPr>
          <p:cNvSpPr/>
          <p:nvPr/>
        </p:nvSpPr>
        <p:spPr>
          <a:xfrm>
            <a:off x="283784" y="1698568"/>
            <a:ext cx="6992983" cy="369332"/>
          </a:xfrm>
          <a:prstGeom prst="rect">
            <a:avLst/>
          </a:prstGeom>
        </p:spPr>
        <p:txBody>
          <a:bodyPr wrap="square">
            <a:spAutoFit/>
          </a:bodyPr>
          <a:lstStyle/>
          <a:p>
            <a:r>
              <a:rPr lang="en-US" dirty="0" err="1">
                <a:latin typeface="Courier" pitchFamily="2" charset="0"/>
              </a:rPr>
              <a:t>assignment_statement_base</a:t>
            </a:r>
            <a:r>
              <a:rPr lang="en-US" dirty="0">
                <a:latin typeface="Courier" pitchFamily="2" charset="0"/>
              </a:rPr>
              <a:t> := ID ASSIGN expr </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C43019AC-BFF3-704E-B078-7A6360CE682F}"/>
              </a:ext>
            </a:extLst>
          </p:cNvPr>
          <p:cNvSpPr/>
          <p:nvPr/>
        </p:nvSpPr>
        <p:spPr>
          <a:xfrm>
            <a:off x="345789" y="2201595"/>
            <a:ext cx="8738944" cy="4247317"/>
          </a:xfrm>
          <a:prstGeom prst="rect">
            <a:avLst/>
          </a:prstGeom>
        </p:spPr>
        <p:txBody>
          <a:bodyPr wrap="square">
            <a:spAutoFit/>
          </a:bodyPr>
          <a:lstStyle/>
          <a:p>
            <a:r>
              <a:rPr lang="en-US" dirty="0">
                <a:latin typeface="Courier" pitchFamily="2" charset="0"/>
              </a:rPr>
              <a:t>{</a:t>
            </a:r>
          </a:p>
          <a:p>
            <a:r>
              <a:rPr lang="en-US" dirty="0">
                <a:latin typeface="Courier" pitchFamily="2" charset="0"/>
              </a:rPr>
              <a:t>   </a:t>
            </a:r>
            <a:r>
              <a:rPr lang="en-US" dirty="0" err="1">
                <a:latin typeface="Courier" pitchFamily="2" charset="0"/>
              </a:rPr>
              <a:t>id_name</a:t>
            </a:r>
            <a:r>
              <a:rPr lang="en-US" dirty="0">
                <a:latin typeface="Courier" pitchFamily="2" charset="0"/>
              </a:rPr>
              <a:t> = </a:t>
            </a:r>
            <a:r>
              <a:rPr lang="en-US" dirty="0" err="1">
                <a:latin typeface="Courier" pitchFamily="2" charset="0"/>
              </a:rPr>
              <a:t>to_match.value</a:t>
            </a:r>
            <a:endParaRPr lang="en-US" dirty="0">
              <a:latin typeface="Courier" pitchFamily="2" charset="0"/>
            </a:endParaRPr>
          </a:p>
          <a:p>
            <a:r>
              <a:rPr lang="en-US" dirty="0">
                <a:latin typeface="Courier" pitchFamily="2" charset="0"/>
              </a:rPr>
              <a:t>   </a:t>
            </a:r>
            <a:r>
              <a:rPr lang="en-US" dirty="0" err="1">
                <a:highlight>
                  <a:srgbClr val="FFFF00"/>
                </a:highlight>
                <a:latin typeface="Courier" pitchFamily="2" charset="0"/>
              </a:rPr>
              <a:t>id_data_type</a:t>
            </a:r>
            <a:r>
              <a:rPr lang="en-US" dirty="0">
                <a:highlight>
                  <a:srgbClr val="FFFF00"/>
                </a:highlight>
                <a:latin typeface="Courier" pitchFamily="2" charset="0"/>
              </a:rPr>
              <a:t> = # get ID data type</a:t>
            </a:r>
          </a:p>
          <a:p>
            <a:r>
              <a:rPr lang="en-US" dirty="0">
                <a:latin typeface="Courier" pitchFamily="2" charset="0"/>
              </a:rPr>
              <a:t>   eat(“ID”);</a:t>
            </a:r>
          </a:p>
          <a:p>
            <a:r>
              <a:rPr lang="en-US" dirty="0">
                <a:latin typeface="Courier" pitchFamily="2" charset="0"/>
              </a:rPr>
              <a:t>   eat(“ASSIGN”);</a:t>
            </a:r>
          </a:p>
          <a:p>
            <a:r>
              <a:rPr lang="en-US" dirty="0">
                <a:latin typeface="Courier" pitchFamily="2" charset="0"/>
              </a:rPr>
              <a:t>   </a:t>
            </a:r>
            <a:r>
              <a:rPr lang="en-US" dirty="0" err="1">
                <a:latin typeface="Courier" pitchFamily="2" charset="0"/>
              </a:rPr>
              <a:t>ast</a:t>
            </a:r>
            <a:r>
              <a:rPr lang="en-US" dirty="0">
                <a:latin typeface="Courier" pitchFamily="2" charset="0"/>
              </a:rPr>
              <a:t> = </a:t>
            </a:r>
            <a:r>
              <a:rPr lang="en-US" dirty="0" err="1">
                <a:latin typeface="Courier" pitchFamily="2" charset="0"/>
              </a:rPr>
              <a:t>parse_expr</a:t>
            </a:r>
            <a:r>
              <a:rPr lang="en-US" dirty="0">
                <a:latin typeface="Courier" pitchFamily="2" charset="0"/>
              </a:rPr>
              <a:t>()</a:t>
            </a:r>
          </a:p>
          <a:p>
            <a:r>
              <a:rPr lang="en-US" dirty="0">
                <a:latin typeface="Courier" pitchFamily="2" charset="0"/>
              </a:rPr>
              <a:t>   </a:t>
            </a:r>
            <a:r>
              <a:rPr lang="en-US" dirty="0" err="1">
                <a:latin typeface="Courier" pitchFamily="2" charset="0"/>
              </a:rPr>
              <a:t>type_inference</a:t>
            </a:r>
            <a:r>
              <a:rPr lang="en-US" dirty="0">
                <a:latin typeface="Courier" pitchFamily="2" charset="0"/>
              </a:rPr>
              <a:t>(</a:t>
            </a:r>
            <a:r>
              <a:rPr lang="en-US" dirty="0" err="1">
                <a:latin typeface="Courier" pitchFamily="2" charset="0"/>
              </a:rPr>
              <a:t>ast</a:t>
            </a:r>
            <a:r>
              <a:rPr lang="en-US" dirty="0">
                <a:latin typeface="Courier" pitchFamily="2" charset="0"/>
              </a:rPr>
              <a:t>)</a:t>
            </a:r>
          </a:p>
          <a:p>
            <a:r>
              <a:rPr lang="en-US" dirty="0">
                <a:latin typeface="Courier" pitchFamily="2" charset="0"/>
              </a:rPr>
              <a:t>   </a:t>
            </a:r>
            <a:r>
              <a:rPr lang="en-US" dirty="0">
                <a:highlight>
                  <a:srgbClr val="FFFF00"/>
                </a:highlight>
                <a:latin typeface="Courier" pitchFamily="2" charset="0"/>
              </a:rPr>
              <a:t>if </a:t>
            </a:r>
            <a:r>
              <a:rPr lang="en-US" dirty="0" err="1">
                <a:highlight>
                  <a:srgbClr val="FFFF00"/>
                </a:highlight>
                <a:latin typeface="Courier" pitchFamily="2" charset="0"/>
              </a:rPr>
              <a:t>id_data_type</a:t>
            </a:r>
            <a:r>
              <a:rPr lang="en-US" dirty="0">
                <a:highlight>
                  <a:srgbClr val="FFFF00"/>
                </a:highlight>
                <a:latin typeface="Courier" pitchFamily="2" charset="0"/>
              </a:rPr>
              <a:t> == INT and </a:t>
            </a:r>
          </a:p>
          <a:p>
            <a:r>
              <a:rPr lang="en-US" dirty="0">
                <a:highlight>
                  <a:srgbClr val="FFFF00"/>
                </a:highlight>
                <a:latin typeface="Courier" pitchFamily="2" charset="0"/>
              </a:rPr>
              <a:t>              </a:t>
            </a:r>
            <a:r>
              <a:rPr lang="en-US" dirty="0" err="1">
                <a:highlight>
                  <a:srgbClr val="FFFF00"/>
                </a:highlight>
                <a:latin typeface="Courier" pitchFamily="2" charset="0"/>
              </a:rPr>
              <a:t>ast.node_type</a:t>
            </a:r>
            <a:r>
              <a:rPr lang="en-US" dirty="0">
                <a:highlight>
                  <a:srgbClr val="FFFF00"/>
                </a:highlight>
                <a:latin typeface="Courier" pitchFamily="2" charset="0"/>
              </a:rPr>
              <a:t> == FLOAT:</a:t>
            </a:r>
          </a:p>
          <a:p>
            <a:r>
              <a:rPr lang="en-US" dirty="0">
                <a:highlight>
                  <a:srgbClr val="FFFF00"/>
                </a:highlight>
                <a:latin typeface="Courier" pitchFamily="2" charset="0"/>
              </a:rPr>
              <a:t>      </a:t>
            </a:r>
            <a:r>
              <a:rPr lang="en-US" dirty="0" err="1">
                <a:highlight>
                  <a:srgbClr val="FFFF00"/>
                </a:highlight>
                <a:latin typeface="Courier" pitchFamily="2" charset="0"/>
              </a:rPr>
              <a:t>ast</a:t>
            </a:r>
            <a:r>
              <a:rPr lang="en-US" dirty="0">
                <a:highlight>
                  <a:srgbClr val="FFFF00"/>
                </a:highlight>
                <a:latin typeface="Courier" pitchFamily="2" charset="0"/>
              </a:rPr>
              <a:t> = </a:t>
            </a:r>
            <a:r>
              <a:rPr lang="en-US" dirty="0" err="1">
                <a:highlight>
                  <a:srgbClr val="FFFF00"/>
                </a:highlight>
                <a:latin typeface="Courier" pitchFamily="2" charset="0"/>
              </a:rPr>
              <a:t>ASTFloatToInt</a:t>
            </a:r>
            <a:r>
              <a:rPr lang="en-US" dirty="0">
                <a:highlight>
                  <a:srgbClr val="FFFF00"/>
                </a:highlight>
                <a:latin typeface="Courier" pitchFamily="2" charset="0"/>
              </a:rPr>
              <a:t>(</a:t>
            </a:r>
            <a:r>
              <a:rPr lang="en-US" dirty="0" err="1">
                <a:highlight>
                  <a:srgbClr val="FFFF00"/>
                </a:highlight>
                <a:latin typeface="Courier" pitchFamily="2" charset="0"/>
              </a:rPr>
              <a:t>ast</a:t>
            </a:r>
            <a:r>
              <a:rPr lang="en-US" dirty="0">
                <a:highlight>
                  <a:srgbClr val="FFFF00"/>
                </a:highlight>
                <a:latin typeface="Courier" pitchFamily="2" charset="0"/>
              </a:rPr>
              <a:t>)</a:t>
            </a:r>
          </a:p>
          <a:p>
            <a:r>
              <a:rPr lang="en-US" dirty="0">
                <a:latin typeface="Courier" pitchFamily="2" charset="0"/>
              </a:rPr>
              <a:t>   </a:t>
            </a:r>
            <a:r>
              <a:rPr lang="en-US" dirty="0" err="1">
                <a:latin typeface="Courier" pitchFamily="2" charset="0"/>
              </a:rPr>
              <a:t>assign_registers</a:t>
            </a:r>
            <a:r>
              <a:rPr lang="en-US" dirty="0">
                <a:latin typeface="Courier" pitchFamily="2" charset="0"/>
              </a:rPr>
              <a:t>(</a:t>
            </a:r>
            <a:r>
              <a:rPr lang="en-US" dirty="0" err="1">
                <a:latin typeface="Courier" pitchFamily="2" charset="0"/>
              </a:rPr>
              <a:t>ast</a:t>
            </a:r>
            <a:r>
              <a:rPr lang="en-US" dirty="0">
                <a:latin typeface="Courier" pitchFamily="2" charset="0"/>
              </a:rPr>
              <a:t>)</a:t>
            </a:r>
          </a:p>
          <a:p>
            <a:r>
              <a:rPr lang="en-US" dirty="0">
                <a:latin typeface="Courier" pitchFamily="2" charset="0"/>
              </a:rPr>
              <a:t>   program = </a:t>
            </a:r>
            <a:r>
              <a:rPr lang="en-US" dirty="0" err="1">
                <a:latin typeface="Courier" pitchFamily="2" charset="0"/>
              </a:rPr>
              <a:t>ast.linearize</a:t>
            </a:r>
            <a:r>
              <a:rPr lang="en-US" dirty="0">
                <a:latin typeface="Courier" pitchFamily="2" charset="0"/>
              </a:rPr>
              <a:t>()</a:t>
            </a:r>
          </a:p>
          <a:p>
            <a:r>
              <a:rPr lang="en-US" dirty="0">
                <a:latin typeface="Courier" pitchFamily="2" charset="0"/>
              </a:rPr>
              <a:t>   </a:t>
            </a:r>
            <a:r>
              <a:rPr lang="en-US" dirty="0" err="1">
                <a:latin typeface="Courier" pitchFamily="2" charset="0"/>
              </a:rPr>
              <a:t>new_inst</a:t>
            </a:r>
            <a:r>
              <a:rPr lang="en-US" dirty="0">
                <a:latin typeface="Courier" pitchFamily="2" charset="0"/>
              </a:rPr>
              <a:t> = “%s = %s” % (</a:t>
            </a:r>
            <a:r>
              <a:rPr lang="en-US" dirty="0" err="1">
                <a:latin typeface="Courier" pitchFamily="2" charset="0"/>
              </a:rPr>
              <a:t>id_name</a:t>
            </a:r>
            <a:r>
              <a:rPr lang="en-US" dirty="0">
                <a:latin typeface="Courier" pitchFamily="2" charset="0"/>
              </a:rPr>
              <a:t>, </a:t>
            </a:r>
            <a:r>
              <a:rPr lang="en-US" dirty="0" err="1">
                <a:latin typeface="Courier" pitchFamily="2" charset="0"/>
              </a:rPr>
              <a:t>ast.vr</a:t>
            </a:r>
            <a:r>
              <a:rPr lang="en-US" dirty="0">
                <a:latin typeface="Courier" pitchFamily="2" charset="0"/>
              </a:rPr>
              <a:t>)</a:t>
            </a:r>
          </a:p>
          <a:p>
            <a:r>
              <a:rPr lang="en-US" dirty="0">
                <a:latin typeface="Courier" pitchFamily="2" charset="0"/>
              </a:rPr>
              <a:t>   return program + [</a:t>
            </a:r>
            <a:r>
              <a:rPr lang="en-US" dirty="0" err="1">
                <a:latin typeface="Courier" pitchFamily="2" charset="0"/>
              </a:rPr>
              <a:t>new_inst</a:t>
            </a:r>
            <a:r>
              <a:rPr lang="en-US" dirty="0">
                <a:latin typeface="Courier" pitchFamily="2" charset="0"/>
              </a:rPr>
              <a:t>]</a:t>
            </a:r>
          </a:p>
          <a:p>
            <a:r>
              <a:rPr lang="en-US" dirty="0">
                <a:latin typeface="Courier" pitchFamily="2" charset="0"/>
              </a:rPr>
              <a:t>}</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44C90992-E52D-6048-A92A-C8A9575BA810}"/>
              </a:ext>
            </a:extLst>
          </p:cNvPr>
          <p:cNvSpPr txBox="1"/>
          <p:nvPr/>
        </p:nvSpPr>
        <p:spPr>
          <a:xfrm>
            <a:off x="283784" y="80942"/>
            <a:ext cx="2252540" cy="1200329"/>
          </a:xfrm>
          <a:prstGeom prst="rect">
            <a:avLst/>
          </a:prstGeom>
          <a:noFill/>
          <a:ln>
            <a:solidFill>
              <a:schemeClr val="tx1"/>
            </a:solidFill>
          </a:ln>
        </p:spPr>
        <p:txBody>
          <a:bodyPr wrap="none" rtlCol="0">
            <a:spAutoFit/>
          </a:bodyPr>
          <a:lstStyle/>
          <a:p>
            <a:r>
              <a:rPr lang="en-US" dirty="0">
                <a:latin typeface="Courier" pitchFamily="2" charset="0"/>
              </a:rPr>
              <a:t>int x;</a:t>
            </a:r>
          </a:p>
          <a:p>
            <a:r>
              <a:rPr lang="en-US" dirty="0">
                <a:latin typeface="Courier" pitchFamily="2" charset="0"/>
              </a:rPr>
              <a:t>int y;</a:t>
            </a:r>
          </a:p>
          <a:p>
            <a:r>
              <a:rPr lang="en-US" dirty="0">
                <a:highlight>
                  <a:srgbClr val="FFFF00"/>
                </a:highlight>
                <a:latin typeface="Courier" pitchFamily="2" charset="0"/>
              </a:rPr>
              <a:t>int</a:t>
            </a:r>
            <a:r>
              <a:rPr lang="en-US" dirty="0">
                <a:latin typeface="Courier" pitchFamily="2" charset="0"/>
              </a:rPr>
              <a:t> w;</a:t>
            </a:r>
            <a:br>
              <a:rPr lang="en-US" dirty="0">
                <a:latin typeface="Courier" pitchFamily="2" charset="0"/>
              </a:rPr>
            </a:br>
            <a:r>
              <a:rPr lang="en-US" dirty="0">
                <a:latin typeface="Courier" pitchFamily="2" charset="0"/>
              </a:rPr>
              <a:t>w = x + y + 5.5</a:t>
            </a:r>
          </a:p>
        </p:txBody>
      </p:sp>
      <p:sp>
        <p:nvSpPr>
          <p:cNvPr id="2" name="TextBox 1">
            <a:extLst>
              <a:ext uri="{FF2B5EF4-FFF2-40B4-BE49-F238E27FC236}">
                <a16:creationId xmlns:a16="http://schemas.microsoft.com/office/drawing/2014/main" id="{306EEAB8-8F35-6BC1-8BE7-3431260AFD3A}"/>
              </a:ext>
            </a:extLst>
          </p:cNvPr>
          <p:cNvSpPr txBox="1"/>
          <p:nvPr/>
        </p:nvSpPr>
        <p:spPr>
          <a:xfrm>
            <a:off x="6363055" y="4416724"/>
            <a:ext cx="3391954" cy="646331"/>
          </a:xfrm>
          <a:prstGeom prst="rect">
            <a:avLst/>
          </a:prstGeom>
          <a:noFill/>
        </p:spPr>
        <p:txBody>
          <a:bodyPr wrap="none" rtlCol="0">
            <a:spAutoFit/>
          </a:bodyPr>
          <a:lstStyle/>
          <a:p>
            <a:r>
              <a:rPr lang="en-US" dirty="0"/>
              <a:t>one possible case: w is of type INT</a:t>
            </a:r>
          </a:p>
          <a:p>
            <a:r>
              <a:rPr lang="en-US" dirty="0"/>
              <a:t>   expression of is of type FLOAT</a:t>
            </a:r>
          </a:p>
        </p:txBody>
      </p:sp>
    </p:spTree>
    <p:extLst>
      <p:ext uri="{BB962C8B-B14F-4D97-AF65-F5344CB8AC3E}">
        <p14:creationId xmlns:p14="http://schemas.microsoft.com/office/powerpoint/2010/main" val="33676140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A7301C-F55E-AE45-A98D-566FF553C626}"/>
              </a:ext>
            </a:extLst>
          </p:cNvPr>
          <p:cNvSpPr/>
          <p:nvPr/>
        </p:nvSpPr>
        <p:spPr>
          <a:xfrm>
            <a:off x="283784" y="1698568"/>
            <a:ext cx="6992983" cy="369332"/>
          </a:xfrm>
          <a:prstGeom prst="rect">
            <a:avLst/>
          </a:prstGeom>
        </p:spPr>
        <p:txBody>
          <a:bodyPr wrap="square">
            <a:spAutoFit/>
          </a:bodyPr>
          <a:lstStyle/>
          <a:p>
            <a:r>
              <a:rPr lang="en-US" dirty="0" err="1">
                <a:latin typeface="Courier" pitchFamily="2" charset="0"/>
              </a:rPr>
              <a:t>assignment_statement_base</a:t>
            </a:r>
            <a:r>
              <a:rPr lang="en-US" dirty="0">
                <a:latin typeface="Courier" pitchFamily="2" charset="0"/>
              </a:rPr>
              <a:t> := ID ASSIGN expr </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C43019AC-BFF3-704E-B078-7A6360CE682F}"/>
              </a:ext>
            </a:extLst>
          </p:cNvPr>
          <p:cNvSpPr/>
          <p:nvPr/>
        </p:nvSpPr>
        <p:spPr>
          <a:xfrm>
            <a:off x="345789" y="2201595"/>
            <a:ext cx="8738944" cy="4247317"/>
          </a:xfrm>
          <a:prstGeom prst="rect">
            <a:avLst/>
          </a:prstGeom>
        </p:spPr>
        <p:txBody>
          <a:bodyPr wrap="square">
            <a:spAutoFit/>
          </a:bodyPr>
          <a:lstStyle/>
          <a:p>
            <a:r>
              <a:rPr lang="en-US" dirty="0">
                <a:latin typeface="Courier" pitchFamily="2" charset="0"/>
              </a:rPr>
              <a:t>{</a:t>
            </a:r>
          </a:p>
          <a:p>
            <a:r>
              <a:rPr lang="en-US" dirty="0">
                <a:latin typeface="Courier" pitchFamily="2" charset="0"/>
              </a:rPr>
              <a:t>   </a:t>
            </a:r>
            <a:r>
              <a:rPr lang="en-US" dirty="0" err="1">
                <a:latin typeface="Courier" pitchFamily="2" charset="0"/>
              </a:rPr>
              <a:t>id_name</a:t>
            </a:r>
            <a:r>
              <a:rPr lang="en-US" dirty="0">
                <a:latin typeface="Courier" pitchFamily="2" charset="0"/>
              </a:rPr>
              <a:t> = </a:t>
            </a:r>
            <a:r>
              <a:rPr lang="en-US" dirty="0" err="1">
                <a:latin typeface="Courier" pitchFamily="2" charset="0"/>
              </a:rPr>
              <a:t>to_match.value</a:t>
            </a:r>
            <a:endParaRPr lang="en-US" dirty="0">
              <a:latin typeface="Courier" pitchFamily="2" charset="0"/>
            </a:endParaRPr>
          </a:p>
          <a:p>
            <a:r>
              <a:rPr lang="en-US" dirty="0">
                <a:latin typeface="Courier" pitchFamily="2" charset="0"/>
              </a:rPr>
              <a:t>   </a:t>
            </a:r>
            <a:r>
              <a:rPr lang="en-US" dirty="0" err="1">
                <a:highlight>
                  <a:srgbClr val="FFFF00"/>
                </a:highlight>
                <a:latin typeface="Courier" pitchFamily="2" charset="0"/>
              </a:rPr>
              <a:t>id_data_type</a:t>
            </a:r>
            <a:r>
              <a:rPr lang="en-US" dirty="0">
                <a:highlight>
                  <a:srgbClr val="FFFF00"/>
                </a:highlight>
                <a:latin typeface="Courier" pitchFamily="2" charset="0"/>
              </a:rPr>
              <a:t> = # get ID data type</a:t>
            </a:r>
          </a:p>
          <a:p>
            <a:r>
              <a:rPr lang="en-US" dirty="0">
                <a:latin typeface="Courier" pitchFamily="2" charset="0"/>
              </a:rPr>
              <a:t>   eat(“ID”);</a:t>
            </a:r>
          </a:p>
          <a:p>
            <a:r>
              <a:rPr lang="en-US" dirty="0">
                <a:latin typeface="Courier" pitchFamily="2" charset="0"/>
              </a:rPr>
              <a:t>   eat(“ASSIGN”);</a:t>
            </a:r>
          </a:p>
          <a:p>
            <a:r>
              <a:rPr lang="en-US" dirty="0">
                <a:latin typeface="Courier" pitchFamily="2" charset="0"/>
              </a:rPr>
              <a:t>   </a:t>
            </a:r>
            <a:r>
              <a:rPr lang="en-US" dirty="0" err="1">
                <a:latin typeface="Courier" pitchFamily="2" charset="0"/>
              </a:rPr>
              <a:t>ast</a:t>
            </a:r>
            <a:r>
              <a:rPr lang="en-US" dirty="0">
                <a:latin typeface="Courier" pitchFamily="2" charset="0"/>
              </a:rPr>
              <a:t> = </a:t>
            </a:r>
            <a:r>
              <a:rPr lang="en-US" dirty="0" err="1">
                <a:latin typeface="Courier" pitchFamily="2" charset="0"/>
              </a:rPr>
              <a:t>parse_expr</a:t>
            </a:r>
            <a:r>
              <a:rPr lang="en-US" dirty="0">
                <a:latin typeface="Courier" pitchFamily="2" charset="0"/>
              </a:rPr>
              <a:t>()</a:t>
            </a:r>
          </a:p>
          <a:p>
            <a:r>
              <a:rPr lang="en-US" dirty="0">
                <a:latin typeface="Courier" pitchFamily="2" charset="0"/>
              </a:rPr>
              <a:t>   </a:t>
            </a:r>
            <a:r>
              <a:rPr lang="en-US" dirty="0" err="1">
                <a:latin typeface="Courier" pitchFamily="2" charset="0"/>
              </a:rPr>
              <a:t>type_inference</a:t>
            </a:r>
            <a:r>
              <a:rPr lang="en-US" dirty="0">
                <a:latin typeface="Courier" pitchFamily="2" charset="0"/>
              </a:rPr>
              <a:t>(</a:t>
            </a:r>
            <a:r>
              <a:rPr lang="en-US" dirty="0" err="1">
                <a:latin typeface="Courier" pitchFamily="2" charset="0"/>
              </a:rPr>
              <a:t>ast</a:t>
            </a:r>
            <a:r>
              <a:rPr lang="en-US" dirty="0">
                <a:latin typeface="Courier" pitchFamily="2" charset="0"/>
              </a:rPr>
              <a:t>)</a:t>
            </a:r>
          </a:p>
          <a:p>
            <a:r>
              <a:rPr lang="en-US" dirty="0">
                <a:latin typeface="Courier" pitchFamily="2" charset="0"/>
              </a:rPr>
              <a:t>   </a:t>
            </a:r>
            <a:r>
              <a:rPr lang="en-US" dirty="0">
                <a:highlight>
                  <a:srgbClr val="FFFF00"/>
                </a:highlight>
                <a:latin typeface="Courier" pitchFamily="2" charset="0"/>
              </a:rPr>
              <a:t>if </a:t>
            </a:r>
            <a:r>
              <a:rPr lang="en-US" dirty="0" err="1">
                <a:highlight>
                  <a:srgbClr val="FFFF00"/>
                </a:highlight>
                <a:latin typeface="Courier" pitchFamily="2" charset="0"/>
              </a:rPr>
              <a:t>id_data_type</a:t>
            </a:r>
            <a:r>
              <a:rPr lang="en-US" dirty="0">
                <a:highlight>
                  <a:srgbClr val="FFFF00"/>
                </a:highlight>
                <a:latin typeface="Courier" pitchFamily="2" charset="0"/>
              </a:rPr>
              <a:t> == INT and </a:t>
            </a:r>
          </a:p>
          <a:p>
            <a:r>
              <a:rPr lang="en-US" dirty="0">
                <a:highlight>
                  <a:srgbClr val="FFFF00"/>
                </a:highlight>
                <a:latin typeface="Courier" pitchFamily="2" charset="0"/>
              </a:rPr>
              <a:t>              </a:t>
            </a:r>
            <a:r>
              <a:rPr lang="en-US" dirty="0" err="1">
                <a:highlight>
                  <a:srgbClr val="FFFF00"/>
                </a:highlight>
                <a:latin typeface="Courier" pitchFamily="2" charset="0"/>
              </a:rPr>
              <a:t>ast.node_type</a:t>
            </a:r>
            <a:r>
              <a:rPr lang="en-US" dirty="0">
                <a:highlight>
                  <a:srgbClr val="FFFF00"/>
                </a:highlight>
                <a:latin typeface="Courier" pitchFamily="2" charset="0"/>
              </a:rPr>
              <a:t> == FLOAT:</a:t>
            </a:r>
          </a:p>
          <a:p>
            <a:r>
              <a:rPr lang="en-US" dirty="0">
                <a:highlight>
                  <a:srgbClr val="FFFF00"/>
                </a:highlight>
                <a:latin typeface="Courier" pitchFamily="2" charset="0"/>
              </a:rPr>
              <a:t>      </a:t>
            </a:r>
            <a:r>
              <a:rPr lang="en-US" dirty="0" err="1">
                <a:highlight>
                  <a:srgbClr val="FFFF00"/>
                </a:highlight>
                <a:latin typeface="Courier" pitchFamily="2" charset="0"/>
              </a:rPr>
              <a:t>ast</a:t>
            </a:r>
            <a:r>
              <a:rPr lang="en-US" dirty="0">
                <a:highlight>
                  <a:srgbClr val="FFFF00"/>
                </a:highlight>
                <a:latin typeface="Courier" pitchFamily="2" charset="0"/>
              </a:rPr>
              <a:t> = </a:t>
            </a:r>
            <a:r>
              <a:rPr lang="en-US" dirty="0" err="1">
                <a:highlight>
                  <a:srgbClr val="FFFF00"/>
                </a:highlight>
                <a:latin typeface="Courier" pitchFamily="2" charset="0"/>
              </a:rPr>
              <a:t>ASTFloatToInt</a:t>
            </a:r>
            <a:r>
              <a:rPr lang="en-US" dirty="0">
                <a:highlight>
                  <a:srgbClr val="FFFF00"/>
                </a:highlight>
                <a:latin typeface="Courier" pitchFamily="2" charset="0"/>
              </a:rPr>
              <a:t>(</a:t>
            </a:r>
            <a:r>
              <a:rPr lang="en-US" dirty="0" err="1">
                <a:highlight>
                  <a:srgbClr val="FFFF00"/>
                </a:highlight>
                <a:latin typeface="Courier" pitchFamily="2" charset="0"/>
              </a:rPr>
              <a:t>ast</a:t>
            </a:r>
            <a:r>
              <a:rPr lang="en-US" dirty="0">
                <a:highlight>
                  <a:srgbClr val="FFFF00"/>
                </a:highlight>
                <a:latin typeface="Courier" pitchFamily="2" charset="0"/>
              </a:rPr>
              <a:t>)</a:t>
            </a:r>
          </a:p>
          <a:p>
            <a:r>
              <a:rPr lang="en-US" dirty="0">
                <a:latin typeface="Courier" pitchFamily="2" charset="0"/>
              </a:rPr>
              <a:t>   </a:t>
            </a:r>
            <a:r>
              <a:rPr lang="en-US" dirty="0" err="1">
                <a:latin typeface="Courier" pitchFamily="2" charset="0"/>
              </a:rPr>
              <a:t>assign_registers</a:t>
            </a:r>
            <a:r>
              <a:rPr lang="en-US" dirty="0">
                <a:latin typeface="Courier" pitchFamily="2" charset="0"/>
              </a:rPr>
              <a:t>(</a:t>
            </a:r>
            <a:r>
              <a:rPr lang="en-US" dirty="0" err="1">
                <a:latin typeface="Courier" pitchFamily="2" charset="0"/>
              </a:rPr>
              <a:t>ast</a:t>
            </a:r>
            <a:r>
              <a:rPr lang="en-US" dirty="0">
                <a:latin typeface="Courier" pitchFamily="2" charset="0"/>
              </a:rPr>
              <a:t>)</a:t>
            </a:r>
          </a:p>
          <a:p>
            <a:r>
              <a:rPr lang="en-US" dirty="0">
                <a:latin typeface="Courier" pitchFamily="2" charset="0"/>
              </a:rPr>
              <a:t>   program = </a:t>
            </a:r>
            <a:r>
              <a:rPr lang="en-US" dirty="0" err="1">
                <a:latin typeface="Courier" pitchFamily="2" charset="0"/>
              </a:rPr>
              <a:t>ast.linearize</a:t>
            </a:r>
            <a:r>
              <a:rPr lang="en-US" dirty="0">
                <a:latin typeface="Courier" pitchFamily="2" charset="0"/>
              </a:rPr>
              <a:t>()</a:t>
            </a:r>
          </a:p>
          <a:p>
            <a:r>
              <a:rPr lang="en-US" dirty="0">
                <a:latin typeface="Courier" pitchFamily="2" charset="0"/>
              </a:rPr>
              <a:t>   </a:t>
            </a:r>
            <a:r>
              <a:rPr lang="en-US" dirty="0" err="1">
                <a:latin typeface="Courier" pitchFamily="2" charset="0"/>
              </a:rPr>
              <a:t>new_inst</a:t>
            </a:r>
            <a:r>
              <a:rPr lang="en-US" dirty="0">
                <a:latin typeface="Courier" pitchFamily="2" charset="0"/>
              </a:rPr>
              <a:t> = “%s = %s” % (</a:t>
            </a:r>
            <a:r>
              <a:rPr lang="en-US" dirty="0" err="1">
                <a:latin typeface="Courier" pitchFamily="2" charset="0"/>
              </a:rPr>
              <a:t>id_name</a:t>
            </a:r>
            <a:r>
              <a:rPr lang="en-US" dirty="0">
                <a:latin typeface="Courier" pitchFamily="2" charset="0"/>
              </a:rPr>
              <a:t>, </a:t>
            </a:r>
            <a:r>
              <a:rPr lang="en-US" dirty="0" err="1">
                <a:latin typeface="Courier" pitchFamily="2" charset="0"/>
              </a:rPr>
              <a:t>ast.vr</a:t>
            </a:r>
            <a:r>
              <a:rPr lang="en-US" dirty="0">
                <a:latin typeface="Courier" pitchFamily="2" charset="0"/>
              </a:rPr>
              <a:t>)</a:t>
            </a:r>
          </a:p>
          <a:p>
            <a:r>
              <a:rPr lang="en-US" dirty="0">
                <a:latin typeface="Courier" pitchFamily="2" charset="0"/>
              </a:rPr>
              <a:t>   return program + [</a:t>
            </a:r>
            <a:r>
              <a:rPr lang="en-US" dirty="0" err="1">
                <a:latin typeface="Courier" pitchFamily="2" charset="0"/>
              </a:rPr>
              <a:t>new_inst</a:t>
            </a:r>
            <a:r>
              <a:rPr lang="en-US" dirty="0">
                <a:latin typeface="Courier" pitchFamily="2" charset="0"/>
              </a:rPr>
              <a:t>]</a:t>
            </a:r>
          </a:p>
          <a:p>
            <a:r>
              <a:rPr lang="en-US" dirty="0">
                <a:latin typeface="Courier" pitchFamily="2" charset="0"/>
              </a:rPr>
              <a:t>}</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44C90992-E52D-6048-A92A-C8A9575BA810}"/>
              </a:ext>
            </a:extLst>
          </p:cNvPr>
          <p:cNvSpPr txBox="1"/>
          <p:nvPr/>
        </p:nvSpPr>
        <p:spPr>
          <a:xfrm>
            <a:off x="283784" y="80942"/>
            <a:ext cx="2252540" cy="1200329"/>
          </a:xfrm>
          <a:prstGeom prst="rect">
            <a:avLst/>
          </a:prstGeom>
          <a:noFill/>
          <a:ln>
            <a:solidFill>
              <a:schemeClr val="tx1"/>
            </a:solidFill>
          </a:ln>
        </p:spPr>
        <p:txBody>
          <a:bodyPr wrap="none" rtlCol="0">
            <a:spAutoFit/>
          </a:bodyPr>
          <a:lstStyle/>
          <a:p>
            <a:r>
              <a:rPr lang="en-US" dirty="0">
                <a:latin typeface="Courier" pitchFamily="2" charset="0"/>
              </a:rPr>
              <a:t>int x;</a:t>
            </a:r>
          </a:p>
          <a:p>
            <a:r>
              <a:rPr lang="en-US" dirty="0">
                <a:latin typeface="Courier" pitchFamily="2" charset="0"/>
              </a:rPr>
              <a:t>int y;</a:t>
            </a:r>
          </a:p>
          <a:p>
            <a:r>
              <a:rPr lang="en-US" dirty="0">
                <a:highlight>
                  <a:srgbClr val="FFFF00"/>
                </a:highlight>
                <a:latin typeface="Courier" pitchFamily="2" charset="0"/>
              </a:rPr>
              <a:t>int</a:t>
            </a:r>
            <a:r>
              <a:rPr lang="en-US" dirty="0">
                <a:latin typeface="Courier" pitchFamily="2" charset="0"/>
              </a:rPr>
              <a:t> w;</a:t>
            </a:r>
            <a:br>
              <a:rPr lang="en-US" dirty="0">
                <a:latin typeface="Courier" pitchFamily="2" charset="0"/>
              </a:rPr>
            </a:br>
            <a:r>
              <a:rPr lang="en-US" dirty="0">
                <a:latin typeface="Courier" pitchFamily="2" charset="0"/>
              </a:rPr>
              <a:t>w = x + y + 5.5</a:t>
            </a:r>
          </a:p>
        </p:txBody>
      </p:sp>
      <p:sp>
        <p:nvSpPr>
          <p:cNvPr id="7" name="TextBox 6">
            <a:extLst>
              <a:ext uri="{FF2B5EF4-FFF2-40B4-BE49-F238E27FC236}">
                <a16:creationId xmlns:a16="http://schemas.microsoft.com/office/drawing/2014/main" id="{008C8050-BBC0-1146-BD6D-5E91DFF3A300}"/>
              </a:ext>
            </a:extLst>
          </p:cNvPr>
          <p:cNvSpPr txBox="1"/>
          <p:nvPr/>
        </p:nvSpPr>
        <p:spPr>
          <a:xfrm>
            <a:off x="5853331" y="4237986"/>
            <a:ext cx="1442511" cy="369332"/>
          </a:xfrm>
          <a:prstGeom prst="rect">
            <a:avLst/>
          </a:prstGeom>
          <a:noFill/>
        </p:spPr>
        <p:txBody>
          <a:bodyPr wrap="none" rtlCol="0">
            <a:spAutoFit/>
          </a:bodyPr>
          <a:lstStyle/>
          <a:p>
            <a:r>
              <a:rPr lang="en-US" dirty="0"/>
              <a:t>AST&lt;x, int, ?&gt;</a:t>
            </a:r>
          </a:p>
        </p:txBody>
      </p:sp>
      <p:sp>
        <p:nvSpPr>
          <p:cNvPr id="8" name="TextBox 7">
            <a:extLst>
              <a:ext uri="{FF2B5EF4-FFF2-40B4-BE49-F238E27FC236}">
                <a16:creationId xmlns:a16="http://schemas.microsoft.com/office/drawing/2014/main" id="{AC93FA13-B1DA-4E41-9EF2-CCC716099B58}"/>
              </a:ext>
            </a:extLst>
          </p:cNvPr>
          <p:cNvSpPr txBox="1"/>
          <p:nvPr/>
        </p:nvSpPr>
        <p:spPr>
          <a:xfrm>
            <a:off x="6995494" y="3440803"/>
            <a:ext cx="1405641" cy="369332"/>
          </a:xfrm>
          <a:prstGeom prst="rect">
            <a:avLst/>
          </a:prstGeom>
          <a:noFill/>
        </p:spPr>
        <p:txBody>
          <a:bodyPr wrap="none" rtlCol="0">
            <a:spAutoFit/>
          </a:bodyPr>
          <a:lstStyle/>
          <a:p>
            <a:r>
              <a:rPr lang="en-US" dirty="0"/>
              <a:t>AST&lt;+,int, ?&gt;</a:t>
            </a:r>
          </a:p>
        </p:txBody>
      </p:sp>
      <p:cxnSp>
        <p:nvCxnSpPr>
          <p:cNvPr id="9" name="Straight Connector 8">
            <a:extLst>
              <a:ext uri="{FF2B5EF4-FFF2-40B4-BE49-F238E27FC236}">
                <a16:creationId xmlns:a16="http://schemas.microsoft.com/office/drawing/2014/main" id="{C4B2233F-295B-9546-A001-3388112156CD}"/>
              </a:ext>
            </a:extLst>
          </p:cNvPr>
          <p:cNvCxnSpPr>
            <a:cxnSpLocks/>
          </p:cNvCxnSpPr>
          <p:nvPr/>
        </p:nvCxnSpPr>
        <p:spPr>
          <a:xfrm flipH="1">
            <a:off x="6057636" y="3807820"/>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12A64D6D-DCA4-C348-9ADC-BE4CC3E7BE91}"/>
              </a:ext>
            </a:extLst>
          </p:cNvPr>
          <p:cNvCxnSpPr>
            <a:cxnSpLocks/>
          </p:cNvCxnSpPr>
          <p:nvPr/>
        </p:nvCxnSpPr>
        <p:spPr>
          <a:xfrm>
            <a:off x="7282009" y="3807820"/>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F5EC3E6E-E55A-B848-B620-E8E8001E40EE}"/>
              </a:ext>
            </a:extLst>
          </p:cNvPr>
          <p:cNvSpPr txBox="1"/>
          <p:nvPr/>
        </p:nvSpPr>
        <p:spPr>
          <a:xfrm>
            <a:off x="8226176" y="4237986"/>
            <a:ext cx="1430841" cy="369332"/>
          </a:xfrm>
          <a:prstGeom prst="rect">
            <a:avLst/>
          </a:prstGeom>
          <a:noFill/>
        </p:spPr>
        <p:txBody>
          <a:bodyPr wrap="none" rtlCol="0">
            <a:spAutoFit/>
          </a:bodyPr>
          <a:lstStyle/>
          <a:p>
            <a:r>
              <a:rPr lang="en-US" dirty="0"/>
              <a:t>AST&lt;y, int, ?&gt;</a:t>
            </a:r>
          </a:p>
        </p:txBody>
      </p:sp>
      <p:sp>
        <p:nvSpPr>
          <p:cNvPr id="12" name="TextBox 11">
            <a:extLst>
              <a:ext uri="{FF2B5EF4-FFF2-40B4-BE49-F238E27FC236}">
                <a16:creationId xmlns:a16="http://schemas.microsoft.com/office/drawing/2014/main" id="{0B7DEF56-9C43-8144-A94D-54DF62D3DD36}"/>
              </a:ext>
            </a:extLst>
          </p:cNvPr>
          <p:cNvSpPr txBox="1"/>
          <p:nvPr/>
        </p:nvSpPr>
        <p:spPr>
          <a:xfrm>
            <a:off x="8924694" y="2067900"/>
            <a:ext cx="1586781" cy="369332"/>
          </a:xfrm>
          <a:prstGeom prst="rect">
            <a:avLst/>
          </a:prstGeom>
          <a:noFill/>
        </p:spPr>
        <p:txBody>
          <a:bodyPr wrap="none" rtlCol="0">
            <a:spAutoFit/>
          </a:bodyPr>
          <a:lstStyle/>
          <a:p>
            <a:r>
              <a:rPr lang="en-US" dirty="0"/>
              <a:t>AST&lt;+,float, ?&gt;</a:t>
            </a:r>
          </a:p>
        </p:txBody>
      </p:sp>
      <p:cxnSp>
        <p:nvCxnSpPr>
          <p:cNvPr id="13" name="Straight Connector 12">
            <a:extLst>
              <a:ext uri="{FF2B5EF4-FFF2-40B4-BE49-F238E27FC236}">
                <a16:creationId xmlns:a16="http://schemas.microsoft.com/office/drawing/2014/main" id="{9FA74D3D-E52C-9D46-AC0A-4898E2C33266}"/>
              </a:ext>
            </a:extLst>
          </p:cNvPr>
          <p:cNvCxnSpPr>
            <a:cxnSpLocks/>
            <a:stCxn id="16" idx="2"/>
            <a:endCxn id="8" idx="0"/>
          </p:cNvCxnSpPr>
          <p:nvPr/>
        </p:nvCxnSpPr>
        <p:spPr>
          <a:xfrm flipH="1">
            <a:off x="7698315" y="2981703"/>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65652F6-7714-C842-8131-C052815E81E4}"/>
              </a:ext>
            </a:extLst>
          </p:cNvPr>
          <p:cNvCxnSpPr>
            <a:cxnSpLocks/>
            <a:stCxn id="12" idx="2"/>
            <a:endCxn id="15" idx="0"/>
          </p:cNvCxnSpPr>
          <p:nvPr/>
        </p:nvCxnSpPr>
        <p:spPr>
          <a:xfrm>
            <a:off x="9718085" y="2437232"/>
            <a:ext cx="1346546" cy="1015427"/>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B79680CA-73A6-2041-A51C-D36F632A5FB5}"/>
              </a:ext>
            </a:extLst>
          </p:cNvPr>
          <p:cNvSpPr txBox="1"/>
          <p:nvPr/>
        </p:nvSpPr>
        <p:spPr>
          <a:xfrm>
            <a:off x="10156626" y="3452659"/>
            <a:ext cx="1816010" cy="369332"/>
          </a:xfrm>
          <a:prstGeom prst="rect">
            <a:avLst/>
          </a:prstGeom>
          <a:noFill/>
        </p:spPr>
        <p:txBody>
          <a:bodyPr wrap="none" rtlCol="0">
            <a:spAutoFit/>
          </a:bodyPr>
          <a:lstStyle/>
          <a:p>
            <a:r>
              <a:rPr lang="en-US" dirty="0"/>
              <a:t>AST&lt;5.5, float, ?&gt;</a:t>
            </a:r>
          </a:p>
        </p:txBody>
      </p:sp>
      <p:sp>
        <p:nvSpPr>
          <p:cNvPr id="16" name="TextBox 15">
            <a:extLst>
              <a:ext uri="{FF2B5EF4-FFF2-40B4-BE49-F238E27FC236}">
                <a16:creationId xmlns:a16="http://schemas.microsoft.com/office/drawing/2014/main" id="{B2E0F0D7-B793-EB40-AFEB-149CC42DCC18}"/>
              </a:ext>
            </a:extLst>
          </p:cNvPr>
          <p:cNvSpPr txBox="1"/>
          <p:nvPr/>
        </p:nvSpPr>
        <p:spPr>
          <a:xfrm>
            <a:off x="6934093" y="2612371"/>
            <a:ext cx="2321533" cy="369332"/>
          </a:xfrm>
          <a:prstGeom prst="rect">
            <a:avLst/>
          </a:prstGeom>
          <a:noFill/>
        </p:spPr>
        <p:txBody>
          <a:bodyPr wrap="none" rtlCol="0">
            <a:spAutoFit/>
          </a:bodyPr>
          <a:lstStyle/>
          <a:p>
            <a:r>
              <a:rPr lang="en-US" dirty="0"/>
              <a:t>AST&lt;int2float, float, ?&gt;</a:t>
            </a:r>
          </a:p>
        </p:txBody>
      </p:sp>
      <p:cxnSp>
        <p:nvCxnSpPr>
          <p:cNvPr id="17" name="Straight Connector 16">
            <a:extLst>
              <a:ext uri="{FF2B5EF4-FFF2-40B4-BE49-F238E27FC236}">
                <a16:creationId xmlns:a16="http://schemas.microsoft.com/office/drawing/2014/main" id="{0C84BB30-B68C-064B-9F6B-DCADA30A4B8C}"/>
              </a:ext>
            </a:extLst>
          </p:cNvPr>
          <p:cNvCxnSpPr>
            <a:cxnSpLocks/>
            <a:stCxn id="12" idx="2"/>
            <a:endCxn id="16" idx="0"/>
          </p:cNvCxnSpPr>
          <p:nvPr/>
        </p:nvCxnSpPr>
        <p:spPr>
          <a:xfrm flipH="1">
            <a:off x="8094860" y="2437232"/>
            <a:ext cx="1623225" cy="175139"/>
          </a:xfrm>
          <a:prstGeom prst="line">
            <a:avLst/>
          </a:prstGeom>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0E0FDCE5-9B16-7740-9BD0-6BC7ED3D372F}"/>
              </a:ext>
            </a:extLst>
          </p:cNvPr>
          <p:cNvSpPr txBox="1"/>
          <p:nvPr/>
        </p:nvSpPr>
        <p:spPr>
          <a:xfrm>
            <a:off x="8924694" y="1152988"/>
            <a:ext cx="2087495" cy="369332"/>
          </a:xfrm>
          <a:prstGeom prst="rect">
            <a:avLst/>
          </a:prstGeom>
          <a:noFill/>
        </p:spPr>
        <p:txBody>
          <a:bodyPr wrap="none" rtlCol="0">
            <a:spAutoFit/>
          </a:bodyPr>
          <a:lstStyle/>
          <a:p>
            <a:r>
              <a:rPr lang="en-US" dirty="0">
                <a:highlight>
                  <a:srgbClr val="FFFF00"/>
                </a:highlight>
              </a:rPr>
              <a:t>AST&lt;float2int,int, ?&gt;</a:t>
            </a:r>
          </a:p>
        </p:txBody>
      </p:sp>
      <p:cxnSp>
        <p:nvCxnSpPr>
          <p:cNvPr id="20" name="Straight Connector 19">
            <a:extLst>
              <a:ext uri="{FF2B5EF4-FFF2-40B4-BE49-F238E27FC236}">
                <a16:creationId xmlns:a16="http://schemas.microsoft.com/office/drawing/2014/main" id="{C2A0B9D0-340D-FB4E-9B65-417231110881}"/>
              </a:ext>
            </a:extLst>
          </p:cNvPr>
          <p:cNvCxnSpPr>
            <a:cxnSpLocks/>
            <a:stCxn id="19" idx="2"/>
            <a:endCxn id="12" idx="0"/>
          </p:cNvCxnSpPr>
          <p:nvPr/>
        </p:nvCxnSpPr>
        <p:spPr>
          <a:xfrm flipH="1">
            <a:off x="9718085" y="1522320"/>
            <a:ext cx="250357" cy="54558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934372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A7301C-F55E-AE45-A98D-566FF553C626}"/>
              </a:ext>
            </a:extLst>
          </p:cNvPr>
          <p:cNvSpPr/>
          <p:nvPr/>
        </p:nvSpPr>
        <p:spPr>
          <a:xfrm>
            <a:off x="283784" y="1698568"/>
            <a:ext cx="6992983" cy="369332"/>
          </a:xfrm>
          <a:prstGeom prst="rect">
            <a:avLst/>
          </a:prstGeom>
        </p:spPr>
        <p:txBody>
          <a:bodyPr wrap="square">
            <a:spAutoFit/>
          </a:bodyPr>
          <a:lstStyle/>
          <a:p>
            <a:r>
              <a:rPr lang="en-US" dirty="0" err="1">
                <a:latin typeface="Courier" pitchFamily="2" charset="0"/>
              </a:rPr>
              <a:t>assignment_statement_base</a:t>
            </a:r>
            <a:r>
              <a:rPr lang="en-US" dirty="0">
                <a:latin typeface="Courier" pitchFamily="2" charset="0"/>
              </a:rPr>
              <a:t> := ID ASSIGN expr </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C43019AC-BFF3-704E-B078-7A6360CE682F}"/>
              </a:ext>
            </a:extLst>
          </p:cNvPr>
          <p:cNvSpPr/>
          <p:nvPr/>
        </p:nvSpPr>
        <p:spPr>
          <a:xfrm>
            <a:off x="345789" y="2201595"/>
            <a:ext cx="8738944" cy="4247317"/>
          </a:xfrm>
          <a:prstGeom prst="rect">
            <a:avLst/>
          </a:prstGeom>
        </p:spPr>
        <p:txBody>
          <a:bodyPr wrap="square">
            <a:spAutoFit/>
          </a:bodyPr>
          <a:lstStyle/>
          <a:p>
            <a:r>
              <a:rPr lang="en-US" dirty="0">
                <a:latin typeface="Courier" pitchFamily="2" charset="0"/>
              </a:rPr>
              <a:t>{</a:t>
            </a:r>
          </a:p>
          <a:p>
            <a:r>
              <a:rPr lang="en-US" dirty="0">
                <a:latin typeface="Courier" pitchFamily="2" charset="0"/>
              </a:rPr>
              <a:t>   </a:t>
            </a:r>
            <a:r>
              <a:rPr lang="en-US" dirty="0" err="1">
                <a:latin typeface="Courier" pitchFamily="2" charset="0"/>
              </a:rPr>
              <a:t>id_name</a:t>
            </a:r>
            <a:r>
              <a:rPr lang="en-US" dirty="0">
                <a:latin typeface="Courier" pitchFamily="2" charset="0"/>
              </a:rPr>
              <a:t> = </a:t>
            </a:r>
            <a:r>
              <a:rPr lang="en-US" dirty="0" err="1">
                <a:latin typeface="Courier" pitchFamily="2" charset="0"/>
              </a:rPr>
              <a:t>to_match.value</a:t>
            </a:r>
            <a:endParaRPr lang="en-US" dirty="0">
              <a:latin typeface="Courier" pitchFamily="2" charset="0"/>
            </a:endParaRPr>
          </a:p>
          <a:p>
            <a:r>
              <a:rPr lang="en-US" dirty="0">
                <a:latin typeface="Courier" pitchFamily="2" charset="0"/>
              </a:rPr>
              <a:t>   </a:t>
            </a:r>
            <a:r>
              <a:rPr lang="en-US" dirty="0" err="1">
                <a:highlight>
                  <a:srgbClr val="FFFF00"/>
                </a:highlight>
                <a:latin typeface="Courier" pitchFamily="2" charset="0"/>
              </a:rPr>
              <a:t>id_data_type</a:t>
            </a:r>
            <a:r>
              <a:rPr lang="en-US" dirty="0">
                <a:highlight>
                  <a:srgbClr val="FFFF00"/>
                </a:highlight>
                <a:latin typeface="Courier" pitchFamily="2" charset="0"/>
              </a:rPr>
              <a:t> = # get ID data type</a:t>
            </a:r>
          </a:p>
          <a:p>
            <a:r>
              <a:rPr lang="en-US" dirty="0">
                <a:latin typeface="Courier" pitchFamily="2" charset="0"/>
              </a:rPr>
              <a:t>   eat(“ID”);</a:t>
            </a:r>
          </a:p>
          <a:p>
            <a:r>
              <a:rPr lang="en-US" dirty="0">
                <a:latin typeface="Courier" pitchFamily="2" charset="0"/>
              </a:rPr>
              <a:t>   eat(“ASSIGN”);</a:t>
            </a:r>
          </a:p>
          <a:p>
            <a:r>
              <a:rPr lang="en-US" dirty="0">
                <a:latin typeface="Courier" pitchFamily="2" charset="0"/>
              </a:rPr>
              <a:t>   </a:t>
            </a:r>
            <a:r>
              <a:rPr lang="en-US" dirty="0" err="1">
                <a:latin typeface="Courier" pitchFamily="2" charset="0"/>
              </a:rPr>
              <a:t>ast</a:t>
            </a:r>
            <a:r>
              <a:rPr lang="en-US" dirty="0">
                <a:latin typeface="Courier" pitchFamily="2" charset="0"/>
              </a:rPr>
              <a:t> = </a:t>
            </a:r>
            <a:r>
              <a:rPr lang="en-US" dirty="0" err="1">
                <a:latin typeface="Courier" pitchFamily="2" charset="0"/>
              </a:rPr>
              <a:t>parse_expr</a:t>
            </a:r>
            <a:r>
              <a:rPr lang="en-US" dirty="0">
                <a:latin typeface="Courier" pitchFamily="2" charset="0"/>
              </a:rPr>
              <a:t>()</a:t>
            </a:r>
          </a:p>
          <a:p>
            <a:r>
              <a:rPr lang="en-US" dirty="0">
                <a:latin typeface="Courier" pitchFamily="2" charset="0"/>
              </a:rPr>
              <a:t>   </a:t>
            </a:r>
            <a:r>
              <a:rPr lang="en-US" dirty="0" err="1">
                <a:latin typeface="Courier" pitchFamily="2" charset="0"/>
              </a:rPr>
              <a:t>type_inference</a:t>
            </a:r>
            <a:r>
              <a:rPr lang="en-US" dirty="0">
                <a:latin typeface="Courier" pitchFamily="2" charset="0"/>
              </a:rPr>
              <a:t>(</a:t>
            </a:r>
            <a:r>
              <a:rPr lang="en-US" dirty="0" err="1">
                <a:latin typeface="Courier" pitchFamily="2" charset="0"/>
              </a:rPr>
              <a:t>ast</a:t>
            </a:r>
            <a:r>
              <a:rPr lang="en-US" dirty="0">
                <a:latin typeface="Courier" pitchFamily="2" charset="0"/>
              </a:rPr>
              <a:t>)</a:t>
            </a:r>
          </a:p>
          <a:p>
            <a:r>
              <a:rPr lang="en-US" dirty="0">
                <a:latin typeface="Courier" pitchFamily="2" charset="0"/>
              </a:rPr>
              <a:t>   </a:t>
            </a:r>
            <a:r>
              <a:rPr lang="en-US" dirty="0">
                <a:highlight>
                  <a:srgbClr val="FFFF00"/>
                </a:highlight>
                <a:latin typeface="Courier" pitchFamily="2" charset="0"/>
              </a:rPr>
              <a:t>if </a:t>
            </a:r>
            <a:r>
              <a:rPr lang="en-US" dirty="0" err="1">
                <a:highlight>
                  <a:srgbClr val="FFFF00"/>
                </a:highlight>
                <a:latin typeface="Courier" pitchFamily="2" charset="0"/>
              </a:rPr>
              <a:t>id_data_type</a:t>
            </a:r>
            <a:r>
              <a:rPr lang="en-US" dirty="0">
                <a:highlight>
                  <a:srgbClr val="FFFF00"/>
                </a:highlight>
                <a:latin typeface="Courier" pitchFamily="2" charset="0"/>
              </a:rPr>
              <a:t> == INT and </a:t>
            </a:r>
          </a:p>
          <a:p>
            <a:r>
              <a:rPr lang="en-US" dirty="0">
                <a:highlight>
                  <a:srgbClr val="FFFF00"/>
                </a:highlight>
                <a:latin typeface="Courier" pitchFamily="2" charset="0"/>
              </a:rPr>
              <a:t>              </a:t>
            </a:r>
            <a:r>
              <a:rPr lang="en-US" dirty="0" err="1">
                <a:highlight>
                  <a:srgbClr val="FFFF00"/>
                </a:highlight>
                <a:latin typeface="Courier" pitchFamily="2" charset="0"/>
              </a:rPr>
              <a:t>ast.node_type</a:t>
            </a:r>
            <a:r>
              <a:rPr lang="en-US" dirty="0">
                <a:highlight>
                  <a:srgbClr val="FFFF00"/>
                </a:highlight>
                <a:latin typeface="Courier" pitchFamily="2" charset="0"/>
              </a:rPr>
              <a:t> == FLOAT:</a:t>
            </a:r>
          </a:p>
          <a:p>
            <a:r>
              <a:rPr lang="en-US" dirty="0">
                <a:highlight>
                  <a:srgbClr val="FFFF00"/>
                </a:highlight>
                <a:latin typeface="Courier" pitchFamily="2" charset="0"/>
              </a:rPr>
              <a:t>      </a:t>
            </a:r>
            <a:r>
              <a:rPr lang="en-US" dirty="0" err="1">
                <a:highlight>
                  <a:srgbClr val="FFFF00"/>
                </a:highlight>
                <a:latin typeface="Courier" pitchFamily="2" charset="0"/>
              </a:rPr>
              <a:t>ast</a:t>
            </a:r>
            <a:r>
              <a:rPr lang="en-US" dirty="0">
                <a:highlight>
                  <a:srgbClr val="FFFF00"/>
                </a:highlight>
                <a:latin typeface="Courier" pitchFamily="2" charset="0"/>
              </a:rPr>
              <a:t> = </a:t>
            </a:r>
            <a:r>
              <a:rPr lang="en-US" dirty="0" err="1">
                <a:highlight>
                  <a:srgbClr val="FFFF00"/>
                </a:highlight>
                <a:latin typeface="Courier" pitchFamily="2" charset="0"/>
              </a:rPr>
              <a:t>ASTFloatToInt</a:t>
            </a:r>
            <a:r>
              <a:rPr lang="en-US" dirty="0">
                <a:highlight>
                  <a:srgbClr val="FFFF00"/>
                </a:highlight>
                <a:latin typeface="Courier" pitchFamily="2" charset="0"/>
              </a:rPr>
              <a:t>(</a:t>
            </a:r>
            <a:r>
              <a:rPr lang="en-US" dirty="0" err="1">
                <a:highlight>
                  <a:srgbClr val="FFFF00"/>
                </a:highlight>
                <a:latin typeface="Courier" pitchFamily="2" charset="0"/>
              </a:rPr>
              <a:t>ast</a:t>
            </a:r>
            <a:r>
              <a:rPr lang="en-US" dirty="0">
                <a:highlight>
                  <a:srgbClr val="FFFF00"/>
                </a:highlight>
                <a:latin typeface="Courier" pitchFamily="2" charset="0"/>
              </a:rPr>
              <a:t>)</a:t>
            </a:r>
          </a:p>
          <a:p>
            <a:r>
              <a:rPr lang="en-US" dirty="0">
                <a:latin typeface="Courier" pitchFamily="2" charset="0"/>
              </a:rPr>
              <a:t>   </a:t>
            </a:r>
            <a:r>
              <a:rPr lang="en-US" dirty="0" err="1">
                <a:highlight>
                  <a:srgbClr val="00FF00"/>
                </a:highlight>
                <a:latin typeface="Courier" pitchFamily="2" charset="0"/>
              </a:rPr>
              <a:t>assign_registers</a:t>
            </a:r>
            <a:r>
              <a:rPr lang="en-US" dirty="0">
                <a:highlight>
                  <a:srgbClr val="00FF00"/>
                </a:highlight>
                <a:latin typeface="Courier" pitchFamily="2" charset="0"/>
              </a:rPr>
              <a:t>(</a:t>
            </a:r>
            <a:r>
              <a:rPr lang="en-US" dirty="0" err="1">
                <a:highlight>
                  <a:srgbClr val="00FF00"/>
                </a:highlight>
                <a:latin typeface="Courier" pitchFamily="2" charset="0"/>
              </a:rPr>
              <a:t>ast</a:t>
            </a:r>
            <a:r>
              <a:rPr lang="en-US" dirty="0">
                <a:highlight>
                  <a:srgbClr val="00FF00"/>
                </a:highlight>
                <a:latin typeface="Courier" pitchFamily="2" charset="0"/>
              </a:rPr>
              <a:t>)</a:t>
            </a:r>
          </a:p>
          <a:p>
            <a:r>
              <a:rPr lang="en-US" dirty="0">
                <a:latin typeface="Courier" pitchFamily="2" charset="0"/>
              </a:rPr>
              <a:t>   program = </a:t>
            </a:r>
            <a:r>
              <a:rPr lang="en-US" dirty="0" err="1">
                <a:latin typeface="Courier" pitchFamily="2" charset="0"/>
              </a:rPr>
              <a:t>ast.linearize</a:t>
            </a:r>
            <a:r>
              <a:rPr lang="en-US" dirty="0">
                <a:latin typeface="Courier" pitchFamily="2" charset="0"/>
              </a:rPr>
              <a:t>()</a:t>
            </a:r>
          </a:p>
          <a:p>
            <a:r>
              <a:rPr lang="en-US" dirty="0">
                <a:latin typeface="Courier" pitchFamily="2" charset="0"/>
              </a:rPr>
              <a:t>   </a:t>
            </a:r>
            <a:r>
              <a:rPr lang="en-US" dirty="0" err="1">
                <a:latin typeface="Courier" pitchFamily="2" charset="0"/>
              </a:rPr>
              <a:t>new_inst</a:t>
            </a:r>
            <a:r>
              <a:rPr lang="en-US" dirty="0">
                <a:latin typeface="Courier" pitchFamily="2" charset="0"/>
              </a:rPr>
              <a:t> = “%s = %s” % (</a:t>
            </a:r>
            <a:r>
              <a:rPr lang="en-US" dirty="0" err="1">
                <a:latin typeface="Courier" pitchFamily="2" charset="0"/>
              </a:rPr>
              <a:t>id_name</a:t>
            </a:r>
            <a:r>
              <a:rPr lang="en-US" dirty="0">
                <a:latin typeface="Courier" pitchFamily="2" charset="0"/>
              </a:rPr>
              <a:t>, </a:t>
            </a:r>
            <a:r>
              <a:rPr lang="en-US" dirty="0" err="1">
                <a:latin typeface="Courier" pitchFamily="2" charset="0"/>
              </a:rPr>
              <a:t>ast.vr</a:t>
            </a:r>
            <a:r>
              <a:rPr lang="en-US" dirty="0">
                <a:latin typeface="Courier" pitchFamily="2" charset="0"/>
              </a:rPr>
              <a:t>)</a:t>
            </a:r>
          </a:p>
          <a:p>
            <a:r>
              <a:rPr lang="en-US" dirty="0">
                <a:latin typeface="Courier" pitchFamily="2" charset="0"/>
              </a:rPr>
              <a:t>   return program + [</a:t>
            </a:r>
            <a:r>
              <a:rPr lang="en-US" dirty="0" err="1">
                <a:latin typeface="Courier" pitchFamily="2" charset="0"/>
              </a:rPr>
              <a:t>new_inst</a:t>
            </a:r>
            <a:r>
              <a:rPr lang="en-US" dirty="0">
                <a:latin typeface="Courier" pitchFamily="2" charset="0"/>
              </a:rPr>
              <a:t>]</a:t>
            </a:r>
          </a:p>
          <a:p>
            <a:r>
              <a:rPr lang="en-US" dirty="0">
                <a:latin typeface="Courier" pitchFamily="2" charset="0"/>
              </a:rPr>
              <a:t>}</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44C90992-E52D-6048-A92A-C8A9575BA810}"/>
              </a:ext>
            </a:extLst>
          </p:cNvPr>
          <p:cNvSpPr txBox="1"/>
          <p:nvPr/>
        </p:nvSpPr>
        <p:spPr>
          <a:xfrm>
            <a:off x="283784" y="80942"/>
            <a:ext cx="2252540" cy="1200329"/>
          </a:xfrm>
          <a:prstGeom prst="rect">
            <a:avLst/>
          </a:prstGeom>
          <a:noFill/>
          <a:ln>
            <a:solidFill>
              <a:schemeClr val="tx1"/>
            </a:solidFill>
          </a:ln>
        </p:spPr>
        <p:txBody>
          <a:bodyPr wrap="none" rtlCol="0">
            <a:spAutoFit/>
          </a:bodyPr>
          <a:lstStyle/>
          <a:p>
            <a:r>
              <a:rPr lang="en-US" dirty="0">
                <a:latin typeface="Courier" pitchFamily="2" charset="0"/>
              </a:rPr>
              <a:t>int x;</a:t>
            </a:r>
          </a:p>
          <a:p>
            <a:r>
              <a:rPr lang="en-US" dirty="0">
                <a:latin typeface="Courier" pitchFamily="2" charset="0"/>
              </a:rPr>
              <a:t>int y;</a:t>
            </a:r>
          </a:p>
          <a:p>
            <a:r>
              <a:rPr lang="en-US" dirty="0">
                <a:highlight>
                  <a:srgbClr val="FFFF00"/>
                </a:highlight>
                <a:latin typeface="Courier" pitchFamily="2" charset="0"/>
              </a:rPr>
              <a:t>int</a:t>
            </a:r>
            <a:r>
              <a:rPr lang="en-US" dirty="0">
                <a:latin typeface="Courier" pitchFamily="2" charset="0"/>
              </a:rPr>
              <a:t> w;</a:t>
            </a:r>
            <a:br>
              <a:rPr lang="en-US" dirty="0">
                <a:latin typeface="Courier" pitchFamily="2" charset="0"/>
              </a:rPr>
            </a:br>
            <a:r>
              <a:rPr lang="en-US" dirty="0">
                <a:latin typeface="Courier" pitchFamily="2" charset="0"/>
              </a:rPr>
              <a:t>w = x + y + 5.5</a:t>
            </a:r>
          </a:p>
        </p:txBody>
      </p:sp>
      <p:sp>
        <p:nvSpPr>
          <p:cNvPr id="7" name="TextBox 6">
            <a:extLst>
              <a:ext uri="{FF2B5EF4-FFF2-40B4-BE49-F238E27FC236}">
                <a16:creationId xmlns:a16="http://schemas.microsoft.com/office/drawing/2014/main" id="{008C8050-BBC0-1146-BD6D-5E91DFF3A300}"/>
              </a:ext>
            </a:extLst>
          </p:cNvPr>
          <p:cNvSpPr txBox="1"/>
          <p:nvPr/>
        </p:nvSpPr>
        <p:spPr>
          <a:xfrm>
            <a:off x="5853331" y="4237986"/>
            <a:ext cx="1636474" cy="369332"/>
          </a:xfrm>
          <a:prstGeom prst="rect">
            <a:avLst/>
          </a:prstGeom>
          <a:noFill/>
        </p:spPr>
        <p:txBody>
          <a:bodyPr wrap="none" rtlCol="0">
            <a:spAutoFit/>
          </a:bodyPr>
          <a:lstStyle/>
          <a:p>
            <a:r>
              <a:rPr lang="en-US" dirty="0"/>
              <a:t>AST&lt;x, int, </a:t>
            </a:r>
            <a:r>
              <a:rPr lang="en-US" dirty="0">
                <a:highlight>
                  <a:srgbClr val="00FF00"/>
                </a:highlight>
              </a:rPr>
              <a:t>vr0</a:t>
            </a:r>
            <a:r>
              <a:rPr lang="en-US" dirty="0"/>
              <a:t>&gt;</a:t>
            </a:r>
          </a:p>
        </p:txBody>
      </p:sp>
      <p:sp>
        <p:nvSpPr>
          <p:cNvPr id="8" name="TextBox 7">
            <a:extLst>
              <a:ext uri="{FF2B5EF4-FFF2-40B4-BE49-F238E27FC236}">
                <a16:creationId xmlns:a16="http://schemas.microsoft.com/office/drawing/2014/main" id="{AC93FA13-B1DA-4E41-9EF2-CCC716099B58}"/>
              </a:ext>
            </a:extLst>
          </p:cNvPr>
          <p:cNvSpPr txBox="1"/>
          <p:nvPr/>
        </p:nvSpPr>
        <p:spPr>
          <a:xfrm>
            <a:off x="6995494" y="3440803"/>
            <a:ext cx="1599605" cy="369332"/>
          </a:xfrm>
          <a:prstGeom prst="rect">
            <a:avLst/>
          </a:prstGeom>
          <a:noFill/>
        </p:spPr>
        <p:txBody>
          <a:bodyPr wrap="none" rtlCol="0">
            <a:spAutoFit/>
          </a:bodyPr>
          <a:lstStyle/>
          <a:p>
            <a:r>
              <a:rPr lang="en-US" dirty="0"/>
              <a:t>AST&lt;+,int, </a:t>
            </a:r>
            <a:r>
              <a:rPr lang="en-US" dirty="0">
                <a:highlight>
                  <a:srgbClr val="00FF00"/>
                </a:highlight>
              </a:rPr>
              <a:t>vr2</a:t>
            </a:r>
            <a:r>
              <a:rPr lang="en-US" dirty="0"/>
              <a:t>&gt;</a:t>
            </a:r>
          </a:p>
        </p:txBody>
      </p:sp>
      <p:cxnSp>
        <p:nvCxnSpPr>
          <p:cNvPr id="9" name="Straight Connector 8">
            <a:extLst>
              <a:ext uri="{FF2B5EF4-FFF2-40B4-BE49-F238E27FC236}">
                <a16:creationId xmlns:a16="http://schemas.microsoft.com/office/drawing/2014/main" id="{C4B2233F-295B-9546-A001-3388112156CD}"/>
              </a:ext>
            </a:extLst>
          </p:cNvPr>
          <p:cNvCxnSpPr>
            <a:cxnSpLocks/>
          </p:cNvCxnSpPr>
          <p:nvPr/>
        </p:nvCxnSpPr>
        <p:spPr>
          <a:xfrm flipH="1">
            <a:off x="6057636" y="3807820"/>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12A64D6D-DCA4-C348-9ADC-BE4CC3E7BE91}"/>
              </a:ext>
            </a:extLst>
          </p:cNvPr>
          <p:cNvCxnSpPr>
            <a:cxnSpLocks/>
          </p:cNvCxnSpPr>
          <p:nvPr/>
        </p:nvCxnSpPr>
        <p:spPr>
          <a:xfrm>
            <a:off x="7282009" y="3807820"/>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F5EC3E6E-E55A-B848-B620-E8E8001E40EE}"/>
              </a:ext>
            </a:extLst>
          </p:cNvPr>
          <p:cNvSpPr txBox="1"/>
          <p:nvPr/>
        </p:nvSpPr>
        <p:spPr>
          <a:xfrm>
            <a:off x="8226176" y="4237986"/>
            <a:ext cx="1624804" cy="369332"/>
          </a:xfrm>
          <a:prstGeom prst="rect">
            <a:avLst/>
          </a:prstGeom>
          <a:noFill/>
        </p:spPr>
        <p:txBody>
          <a:bodyPr wrap="none" rtlCol="0">
            <a:spAutoFit/>
          </a:bodyPr>
          <a:lstStyle/>
          <a:p>
            <a:r>
              <a:rPr lang="en-US" dirty="0"/>
              <a:t>AST&lt;y, int, </a:t>
            </a:r>
            <a:r>
              <a:rPr lang="en-US" dirty="0">
                <a:highlight>
                  <a:srgbClr val="00FF00"/>
                </a:highlight>
              </a:rPr>
              <a:t>vr1</a:t>
            </a:r>
            <a:r>
              <a:rPr lang="en-US" dirty="0"/>
              <a:t>&gt;</a:t>
            </a:r>
          </a:p>
        </p:txBody>
      </p:sp>
      <p:sp>
        <p:nvSpPr>
          <p:cNvPr id="12" name="TextBox 11">
            <a:extLst>
              <a:ext uri="{FF2B5EF4-FFF2-40B4-BE49-F238E27FC236}">
                <a16:creationId xmlns:a16="http://schemas.microsoft.com/office/drawing/2014/main" id="{0B7DEF56-9C43-8144-A94D-54DF62D3DD36}"/>
              </a:ext>
            </a:extLst>
          </p:cNvPr>
          <p:cNvSpPr txBox="1"/>
          <p:nvPr/>
        </p:nvSpPr>
        <p:spPr>
          <a:xfrm>
            <a:off x="8924694" y="2067900"/>
            <a:ext cx="1780744" cy="369332"/>
          </a:xfrm>
          <a:prstGeom prst="rect">
            <a:avLst/>
          </a:prstGeom>
          <a:noFill/>
        </p:spPr>
        <p:txBody>
          <a:bodyPr wrap="none" rtlCol="0">
            <a:spAutoFit/>
          </a:bodyPr>
          <a:lstStyle/>
          <a:p>
            <a:r>
              <a:rPr lang="en-US" dirty="0"/>
              <a:t>AST&lt;+,float, </a:t>
            </a:r>
            <a:r>
              <a:rPr lang="en-US" dirty="0">
                <a:highlight>
                  <a:srgbClr val="00FF00"/>
                </a:highlight>
              </a:rPr>
              <a:t>vr5</a:t>
            </a:r>
            <a:r>
              <a:rPr lang="en-US" dirty="0"/>
              <a:t>&gt;</a:t>
            </a:r>
          </a:p>
        </p:txBody>
      </p:sp>
      <p:cxnSp>
        <p:nvCxnSpPr>
          <p:cNvPr id="13" name="Straight Connector 12">
            <a:extLst>
              <a:ext uri="{FF2B5EF4-FFF2-40B4-BE49-F238E27FC236}">
                <a16:creationId xmlns:a16="http://schemas.microsoft.com/office/drawing/2014/main" id="{9FA74D3D-E52C-9D46-AC0A-4898E2C33266}"/>
              </a:ext>
            </a:extLst>
          </p:cNvPr>
          <p:cNvCxnSpPr>
            <a:cxnSpLocks/>
            <a:stCxn id="16" idx="2"/>
            <a:endCxn id="8" idx="0"/>
          </p:cNvCxnSpPr>
          <p:nvPr/>
        </p:nvCxnSpPr>
        <p:spPr>
          <a:xfrm flipH="1">
            <a:off x="7795297" y="2981703"/>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65652F6-7714-C842-8131-C052815E81E4}"/>
              </a:ext>
            </a:extLst>
          </p:cNvPr>
          <p:cNvCxnSpPr>
            <a:cxnSpLocks/>
            <a:stCxn id="12" idx="2"/>
            <a:endCxn id="15" idx="0"/>
          </p:cNvCxnSpPr>
          <p:nvPr/>
        </p:nvCxnSpPr>
        <p:spPr>
          <a:xfrm>
            <a:off x="9815066" y="2437232"/>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B79680CA-73A6-2041-A51C-D36F632A5FB5}"/>
              </a:ext>
            </a:extLst>
          </p:cNvPr>
          <p:cNvSpPr txBox="1"/>
          <p:nvPr/>
        </p:nvSpPr>
        <p:spPr>
          <a:xfrm>
            <a:off x="10156626" y="3452659"/>
            <a:ext cx="2009974" cy="369332"/>
          </a:xfrm>
          <a:prstGeom prst="rect">
            <a:avLst/>
          </a:prstGeom>
          <a:noFill/>
        </p:spPr>
        <p:txBody>
          <a:bodyPr wrap="none" rtlCol="0">
            <a:spAutoFit/>
          </a:bodyPr>
          <a:lstStyle/>
          <a:p>
            <a:r>
              <a:rPr lang="en-US" dirty="0"/>
              <a:t>AST&lt;5.5, float, </a:t>
            </a:r>
            <a:r>
              <a:rPr lang="en-US" dirty="0">
                <a:highlight>
                  <a:srgbClr val="00FF00"/>
                </a:highlight>
              </a:rPr>
              <a:t>vr4</a:t>
            </a:r>
            <a:r>
              <a:rPr lang="en-US" dirty="0"/>
              <a:t>&gt;</a:t>
            </a:r>
          </a:p>
        </p:txBody>
      </p:sp>
      <p:sp>
        <p:nvSpPr>
          <p:cNvPr id="16" name="TextBox 15">
            <a:extLst>
              <a:ext uri="{FF2B5EF4-FFF2-40B4-BE49-F238E27FC236}">
                <a16:creationId xmlns:a16="http://schemas.microsoft.com/office/drawing/2014/main" id="{B2E0F0D7-B793-EB40-AFEB-149CC42DCC18}"/>
              </a:ext>
            </a:extLst>
          </p:cNvPr>
          <p:cNvSpPr txBox="1"/>
          <p:nvPr/>
        </p:nvSpPr>
        <p:spPr>
          <a:xfrm>
            <a:off x="6934093" y="2612371"/>
            <a:ext cx="2515497" cy="369332"/>
          </a:xfrm>
          <a:prstGeom prst="rect">
            <a:avLst/>
          </a:prstGeom>
          <a:noFill/>
        </p:spPr>
        <p:txBody>
          <a:bodyPr wrap="none" rtlCol="0">
            <a:spAutoFit/>
          </a:bodyPr>
          <a:lstStyle/>
          <a:p>
            <a:r>
              <a:rPr lang="en-US" dirty="0"/>
              <a:t>AST&lt;int2float, float, </a:t>
            </a:r>
            <a:r>
              <a:rPr lang="en-US" dirty="0">
                <a:highlight>
                  <a:srgbClr val="00FF00"/>
                </a:highlight>
              </a:rPr>
              <a:t>vr3</a:t>
            </a:r>
            <a:r>
              <a:rPr lang="en-US" dirty="0"/>
              <a:t>&gt;</a:t>
            </a:r>
          </a:p>
        </p:txBody>
      </p:sp>
      <p:cxnSp>
        <p:nvCxnSpPr>
          <p:cNvPr id="17" name="Straight Connector 16">
            <a:extLst>
              <a:ext uri="{FF2B5EF4-FFF2-40B4-BE49-F238E27FC236}">
                <a16:creationId xmlns:a16="http://schemas.microsoft.com/office/drawing/2014/main" id="{0C84BB30-B68C-064B-9F6B-DCADA30A4B8C}"/>
              </a:ext>
            </a:extLst>
          </p:cNvPr>
          <p:cNvCxnSpPr>
            <a:cxnSpLocks/>
            <a:stCxn id="12" idx="2"/>
            <a:endCxn id="16" idx="0"/>
          </p:cNvCxnSpPr>
          <p:nvPr/>
        </p:nvCxnSpPr>
        <p:spPr>
          <a:xfrm flipH="1">
            <a:off x="8191842" y="2437232"/>
            <a:ext cx="1623224" cy="175139"/>
          </a:xfrm>
          <a:prstGeom prst="line">
            <a:avLst/>
          </a:prstGeom>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0E0FDCE5-9B16-7740-9BD0-6BC7ED3D372F}"/>
              </a:ext>
            </a:extLst>
          </p:cNvPr>
          <p:cNvSpPr txBox="1"/>
          <p:nvPr/>
        </p:nvSpPr>
        <p:spPr>
          <a:xfrm>
            <a:off x="8924694" y="1152988"/>
            <a:ext cx="2281458" cy="369332"/>
          </a:xfrm>
          <a:prstGeom prst="rect">
            <a:avLst/>
          </a:prstGeom>
          <a:noFill/>
        </p:spPr>
        <p:txBody>
          <a:bodyPr wrap="none" rtlCol="0">
            <a:spAutoFit/>
          </a:bodyPr>
          <a:lstStyle/>
          <a:p>
            <a:r>
              <a:rPr lang="en-US" dirty="0">
                <a:highlight>
                  <a:srgbClr val="FFFF00"/>
                </a:highlight>
              </a:rPr>
              <a:t>AST&lt;float2int,int, </a:t>
            </a:r>
            <a:r>
              <a:rPr lang="en-US" dirty="0">
                <a:highlight>
                  <a:srgbClr val="00FF00"/>
                </a:highlight>
              </a:rPr>
              <a:t>vr6</a:t>
            </a:r>
            <a:r>
              <a:rPr lang="en-US" dirty="0">
                <a:highlight>
                  <a:srgbClr val="FFFF00"/>
                </a:highlight>
              </a:rPr>
              <a:t>&gt;</a:t>
            </a:r>
          </a:p>
        </p:txBody>
      </p:sp>
      <p:cxnSp>
        <p:nvCxnSpPr>
          <p:cNvPr id="20" name="Straight Connector 19">
            <a:extLst>
              <a:ext uri="{FF2B5EF4-FFF2-40B4-BE49-F238E27FC236}">
                <a16:creationId xmlns:a16="http://schemas.microsoft.com/office/drawing/2014/main" id="{C2A0B9D0-340D-FB4E-9B65-417231110881}"/>
              </a:ext>
            </a:extLst>
          </p:cNvPr>
          <p:cNvCxnSpPr>
            <a:cxnSpLocks/>
            <a:stCxn id="19" idx="2"/>
            <a:endCxn id="12" idx="0"/>
          </p:cNvCxnSpPr>
          <p:nvPr/>
        </p:nvCxnSpPr>
        <p:spPr>
          <a:xfrm flipH="1">
            <a:off x="9815066" y="1522320"/>
            <a:ext cx="250357" cy="54558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8527547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A7301C-F55E-AE45-A98D-566FF553C626}"/>
              </a:ext>
            </a:extLst>
          </p:cNvPr>
          <p:cNvSpPr/>
          <p:nvPr/>
        </p:nvSpPr>
        <p:spPr>
          <a:xfrm>
            <a:off x="283784" y="1698568"/>
            <a:ext cx="6992983" cy="369332"/>
          </a:xfrm>
          <a:prstGeom prst="rect">
            <a:avLst/>
          </a:prstGeom>
        </p:spPr>
        <p:txBody>
          <a:bodyPr wrap="square">
            <a:spAutoFit/>
          </a:bodyPr>
          <a:lstStyle/>
          <a:p>
            <a:r>
              <a:rPr lang="en-US" dirty="0" err="1">
                <a:latin typeface="Courier" pitchFamily="2" charset="0"/>
              </a:rPr>
              <a:t>assignment_statement_base</a:t>
            </a:r>
            <a:r>
              <a:rPr lang="en-US" dirty="0">
                <a:latin typeface="Courier" pitchFamily="2" charset="0"/>
              </a:rPr>
              <a:t> := ID ASSIGN expr </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C43019AC-BFF3-704E-B078-7A6360CE682F}"/>
              </a:ext>
            </a:extLst>
          </p:cNvPr>
          <p:cNvSpPr/>
          <p:nvPr/>
        </p:nvSpPr>
        <p:spPr>
          <a:xfrm>
            <a:off x="345789" y="2201595"/>
            <a:ext cx="8738944" cy="4247317"/>
          </a:xfrm>
          <a:prstGeom prst="rect">
            <a:avLst/>
          </a:prstGeom>
        </p:spPr>
        <p:txBody>
          <a:bodyPr wrap="square">
            <a:spAutoFit/>
          </a:bodyPr>
          <a:lstStyle/>
          <a:p>
            <a:r>
              <a:rPr lang="en-US" dirty="0">
                <a:latin typeface="Courier" pitchFamily="2" charset="0"/>
              </a:rPr>
              <a:t>{</a:t>
            </a:r>
          </a:p>
          <a:p>
            <a:r>
              <a:rPr lang="en-US" dirty="0">
                <a:latin typeface="Courier" pitchFamily="2" charset="0"/>
              </a:rPr>
              <a:t>   </a:t>
            </a:r>
            <a:r>
              <a:rPr lang="en-US" dirty="0" err="1">
                <a:latin typeface="Courier" pitchFamily="2" charset="0"/>
              </a:rPr>
              <a:t>id_name</a:t>
            </a:r>
            <a:r>
              <a:rPr lang="en-US" dirty="0">
                <a:latin typeface="Courier" pitchFamily="2" charset="0"/>
              </a:rPr>
              <a:t> = </a:t>
            </a:r>
            <a:r>
              <a:rPr lang="en-US" dirty="0" err="1">
                <a:latin typeface="Courier" pitchFamily="2" charset="0"/>
              </a:rPr>
              <a:t>to_match.value</a:t>
            </a:r>
            <a:endParaRPr lang="en-US" dirty="0">
              <a:latin typeface="Courier" pitchFamily="2" charset="0"/>
            </a:endParaRPr>
          </a:p>
          <a:p>
            <a:r>
              <a:rPr lang="en-US" dirty="0">
                <a:latin typeface="Courier" pitchFamily="2" charset="0"/>
              </a:rPr>
              <a:t>   </a:t>
            </a:r>
            <a:r>
              <a:rPr lang="en-US" dirty="0" err="1">
                <a:highlight>
                  <a:srgbClr val="FFFF00"/>
                </a:highlight>
                <a:latin typeface="Courier" pitchFamily="2" charset="0"/>
              </a:rPr>
              <a:t>id_data_type</a:t>
            </a:r>
            <a:r>
              <a:rPr lang="en-US" dirty="0">
                <a:highlight>
                  <a:srgbClr val="FFFF00"/>
                </a:highlight>
                <a:latin typeface="Courier" pitchFamily="2" charset="0"/>
              </a:rPr>
              <a:t> = # get ID data type</a:t>
            </a:r>
          </a:p>
          <a:p>
            <a:r>
              <a:rPr lang="en-US" dirty="0">
                <a:latin typeface="Courier" pitchFamily="2" charset="0"/>
              </a:rPr>
              <a:t>   eat(“ID”);</a:t>
            </a:r>
          </a:p>
          <a:p>
            <a:r>
              <a:rPr lang="en-US" dirty="0">
                <a:latin typeface="Courier" pitchFamily="2" charset="0"/>
              </a:rPr>
              <a:t>   eat(“ASSIGN”);</a:t>
            </a:r>
          </a:p>
          <a:p>
            <a:r>
              <a:rPr lang="en-US" dirty="0">
                <a:latin typeface="Courier" pitchFamily="2" charset="0"/>
              </a:rPr>
              <a:t>   </a:t>
            </a:r>
            <a:r>
              <a:rPr lang="en-US" dirty="0" err="1">
                <a:latin typeface="Courier" pitchFamily="2" charset="0"/>
              </a:rPr>
              <a:t>ast</a:t>
            </a:r>
            <a:r>
              <a:rPr lang="en-US" dirty="0">
                <a:latin typeface="Courier" pitchFamily="2" charset="0"/>
              </a:rPr>
              <a:t> = </a:t>
            </a:r>
            <a:r>
              <a:rPr lang="en-US" dirty="0" err="1">
                <a:latin typeface="Courier" pitchFamily="2" charset="0"/>
              </a:rPr>
              <a:t>parse_expr</a:t>
            </a:r>
            <a:r>
              <a:rPr lang="en-US" dirty="0">
                <a:latin typeface="Courier" pitchFamily="2" charset="0"/>
              </a:rPr>
              <a:t>()</a:t>
            </a:r>
          </a:p>
          <a:p>
            <a:r>
              <a:rPr lang="en-US" dirty="0">
                <a:latin typeface="Courier" pitchFamily="2" charset="0"/>
              </a:rPr>
              <a:t>   </a:t>
            </a:r>
            <a:r>
              <a:rPr lang="en-US" dirty="0" err="1">
                <a:latin typeface="Courier" pitchFamily="2" charset="0"/>
              </a:rPr>
              <a:t>type_inference</a:t>
            </a:r>
            <a:r>
              <a:rPr lang="en-US" dirty="0">
                <a:latin typeface="Courier" pitchFamily="2" charset="0"/>
              </a:rPr>
              <a:t>(</a:t>
            </a:r>
            <a:r>
              <a:rPr lang="en-US" dirty="0" err="1">
                <a:latin typeface="Courier" pitchFamily="2" charset="0"/>
              </a:rPr>
              <a:t>ast</a:t>
            </a:r>
            <a:r>
              <a:rPr lang="en-US" dirty="0">
                <a:latin typeface="Courier" pitchFamily="2" charset="0"/>
              </a:rPr>
              <a:t>)</a:t>
            </a:r>
          </a:p>
          <a:p>
            <a:r>
              <a:rPr lang="en-US" dirty="0">
                <a:latin typeface="Courier" pitchFamily="2" charset="0"/>
              </a:rPr>
              <a:t>   </a:t>
            </a:r>
            <a:r>
              <a:rPr lang="en-US" dirty="0">
                <a:highlight>
                  <a:srgbClr val="FFFF00"/>
                </a:highlight>
                <a:latin typeface="Courier" pitchFamily="2" charset="0"/>
              </a:rPr>
              <a:t>if </a:t>
            </a:r>
            <a:r>
              <a:rPr lang="en-US" dirty="0" err="1">
                <a:highlight>
                  <a:srgbClr val="FFFF00"/>
                </a:highlight>
                <a:latin typeface="Courier" pitchFamily="2" charset="0"/>
              </a:rPr>
              <a:t>id_data_type</a:t>
            </a:r>
            <a:r>
              <a:rPr lang="en-US" dirty="0">
                <a:highlight>
                  <a:srgbClr val="FFFF00"/>
                </a:highlight>
                <a:latin typeface="Courier" pitchFamily="2" charset="0"/>
              </a:rPr>
              <a:t> == INT and </a:t>
            </a:r>
          </a:p>
          <a:p>
            <a:r>
              <a:rPr lang="en-US" dirty="0">
                <a:highlight>
                  <a:srgbClr val="FFFF00"/>
                </a:highlight>
                <a:latin typeface="Courier" pitchFamily="2" charset="0"/>
              </a:rPr>
              <a:t>              </a:t>
            </a:r>
            <a:r>
              <a:rPr lang="en-US" dirty="0" err="1">
                <a:highlight>
                  <a:srgbClr val="FFFF00"/>
                </a:highlight>
                <a:latin typeface="Courier" pitchFamily="2" charset="0"/>
              </a:rPr>
              <a:t>ast.node_type</a:t>
            </a:r>
            <a:r>
              <a:rPr lang="en-US" dirty="0">
                <a:highlight>
                  <a:srgbClr val="FFFF00"/>
                </a:highlight>
                <a:latin typeface="Courier" pitchFamily="2" charset="0"/>
              </a:rPr>
              <a:t> == FLOAT:</a:t>
            </a:r>
          </a:p>
          <a:p>
            <a:r>
              <a:rPr lang="en-US" dirty="0">
                <a:highlight>
                  <a:srgbClr val="FFFF00"/>
                </a:highlight>
                <a:latin typeface="Courier" pitchFamily="2" charset="0"/>
              </a:rPr>
              <a:t>      </a:t>
            </a:r>
            <a:r>
              <a:rPr lang="en-US" dirty="0" err="1">
                <a:highlight>
                  <a:srgbClr val="FFFF00"/>
                </a:highlight>
                <a:latin typeface="Courier" pitchFamily="2" charset="0"/>
              </a:rPr>
              <a:t>ast</a:t>
            </a:r>
            <a:r>
              <a:rPr lang="en-US" dirty="0">
                <a:highlight>
                  <a:srgbClr val="FFFF00"/>
                </a:highlight>
                <a:latin typeface="Courier" pitchFamily="2" charset="0"/>
              </a:rPr>
              <a:t> = </a:t>
            </a:r>
            <a:r>
              <a:rPr lang="en-US" dirty="0" err="1">
                <a:highlight>
                  <a:srgbClr val="FFFF00"/>
                </a:highlight>
                <a:latin typeface="Courier" pitchFamily="2" charset="0"/>
              </a:rPr>
              <a:t>ASTFloatToInt</a:t>
            </a:r>
            <a:r>
              <a:rPr lang="en-US" dirty="0">
                <a:highlight>
                  <a:srgbClr val="FFFF00"/>
                </a:highlight>
                <a:latin typeface="Courier" pitchFamily="2" charset="0"/>
              </a:rPr>
              <a:t>(</a:t>
            </a:r>
            <a:r>
              <a:rPr lang="en-US" dirty="0" err="1">
                <a:highlight>
                  <a:srgbClr val="FFFF00"/>
                </a:highlight>
                <a:latin typeface="Courier" pitchFamily="2" charset="0"/>
              </a:rPr>
              <a:t>ast</a:t>
            </a:r>
            <a:r>
              <a:rPr lang="en-US" dirty="0">
                <a:highlight>
                  <a:srgbClr val="FFFF00"/>
                </a:highlight>
                <a:latin typeface="Courier" pitchFamily="2" charset="0"/>
              </a:rPr>
              <a:t>)</a:t>
            </a:r>
          </a:p>
          <a:p>
            <a:r>
              <a:rPr lang="en-US" dirty="0">
                <a:latin typeface="Courier" pitchFamily="2" charset="0"/>
              </a:rPr>
              <a:t>   </a:t>
            </a:r>
            <a:r>
              <a:rPr lang="en-US" dirty="0" err="1">
                <a:highlight>
                  <a:srgbClr val="00FF00"/>
                </a:highlight>
                <a:latin typeface="Courier" pitchFamily="2" charset="0"/>
              </a:rPr>
              <a:t>assign_registers</a:t>
            </a:r>
            <a:r>
              <a:rPr lang="en-US" dirty="0">
                <a:highlight>
                  <a:srgbClr val="00FF00"/>
                </a:highlight>
                <a:latin typeface="Courier" pitchFamily="2" charset="0"/>
              </a:rPr>
              <a:t>(</a:t>
            </a:r>
            <a:r>
              <a:rPr lang="en-US" dirty="0" err="1">
                <a:highlight>
                  <a:srgbClr val="00FF00"/>
                </a:highlight>
                <a:latin typeface="Courier" pitchFamily="2" charset="0"/>
              </a:rPr>
              <a:t>ast</a:t>
            </a:r>
            <a:r>
              <a:rPr lang="en-US" dirty="0">
                <a:highlight>
                  <a:srgbClr val="00FF00"/>
                </a:highlight>
                <a:latin typeface="Courier" pitchFamily="2" charset="0"/>
              </a:rPr>
              <a:t>)</a:t>
            </a:r>
          </a:p>
          <a:p>
            <a:r>
              <a:rPr lang="en-US" dirty="0">
                <a:latin typeface="Courier" pitchFamily="2" charset="0"/>
              </a:rPr>
              <a:t>   program = </a:t>
            </a:r>
            <a:r>
              <a:rPr lang="en-US" dirty="0" err="1">
                <a:latin typeface="Courier" pitchFamily="2" charset="0"/>
              </a:rPr>
              <a:t>ast.linearize</a:t>
            </a:r>
            <a:r>
              <a:rPr lang="en-US" dirty="0">
                <a:latin typeface="Courier" pitchFamily="2" charset="0"/>
              </a:rPr>
              <a:t>()</a:t>
            </a:r>
          </a:p>
          <a:p>
            <a:r>
              <a:rPr lang="en-US" dirty="0">
                <a:latin typeface="Courier" pitchFamily="2" charset="0"/>
              </a:rPr>
              <a:t>   </a:t>
            </a:r>
            <a:r>
              <a:rPr lang="en-US" dirty="0" err="1">
                <a:latin typeface="Courier" pitchFamily="2" charset="0"/>
              </a:rPr>
              <a:t>new_inst</a:t>
            </a:r>
            <a:r>
              <a:rPr lang="en-US" dirty="0">
                <a:latin typeface="Courier" pitchFamily="2" charset="0"/>
              </a:rPr>
              <a:t> = “%s = %s” % (</a:t>
            </a:r>
            <a:r>
              <a:rPr lang="en-US" dirty="0" err="1">
                <a:latin typeface="Courier" pitchFamily="2" charset="0"/>
              </a:rPr>
              <a:t>id_name</a:t>
            </a:r>
            <a:r>
              <a:rPr lang="en-US" dirty="0">
                <a:latin typeface="Courier" pitchFamily="2" charset="0"/>
              </a:rPr>
              <a:t>, </a:t>
            </a:r>
            <a:r>
              <a:rPr lang="en-US" dirty="0" err="1">
                <a:latin typeface="Courier" pitchFamily="2" charset="0"/>
              </a:rPr>
              <a:t>ast.vr</a:t>
            </a:r>
            <a:r>
              <a:rPr lang="en-US" dirty="0">
                <a:latin typeface="Courier" pitchFamily="2" charset="0"/>
              </a:rPr>
              <a:t>)</a:t>
            </a:r>
          </a:p>
          <a:p>
            <a:r>
              <a:rPr lang="en-US" dirty="0">
                <a:latin typeface="Courier" pitchFamily="2" charset="0"/>
              </a:rPr>
              <a:t>   return program + [</a:t>
            </a:r>
            <a:r>
              <a:rPr lang="en-US" dirty="0" err="1">
                <a:latin typeface="Courier" pitchFamily="2" charset="0"/>
              </a:rPr>
              <a:t>new_inst</a:t>
            </a:r>
            <a:r>
              <a:rPr lang="en-US" dirty="0">
                <a:latin typeface="Courier" pitchFamily="2" charset="0"/>
              </a:rPr>
              <a:t>]</a:t>
            </a:r>
          </a:p>
          <a:p>
            <a:r>
              <a:rPr lang="en-US" dirty="0">
                <a:latin typeface="Courier" pitchFamily="2" charset="0"/>
              </a:rPr>
              <a:t>}</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44C90992-E52D-6048-A92A-C8A9575BA810}"/>
              </a:ext>
            </a:extLst>
          </p:cNvPr>
          <p:cNvSpPr txBox="1"/>
          <p:nvPr/>
        </p:nvSpPr>
        <p:spPr>
          <a:xfrm>
            <a:off x="283784" y="80942"/>
            <a:ext cx="2252540" cy="1200329"/>
          </a:xfrm>
          <a:prstGeom prst="rect">
            <a:avLst/>
          </a:prstGeom>
          <a:noFill/>
          <a:ln>
            <a:solidFill>
              <a:schemeClr val="tx1"/>
            </a:solidFill>
          </a:ln>
        </p:spPr>
        <p:txBody>
          <a:bodyPr wrap="none" rtlCol="0">
            <a:spAutoFit/>
          </a:bodyPr>
          <a:lstStyle/>
          <a:p>
            <a:r>
              <a:rPr lang="en-US" dirty="0">
                <a:highlight>
                  <a:srgbClr val="00FFFF"/>
                </a:highlight>
                <a:latin typeface="Courier" pitchFamily="2" charset="0"/>
              </a:rPr>
              <a:t>(IO: int w) </a:t>
            </a:r>
          </a:p>
          <a:p>
            <a:r>
              <a:rPr lang="en-US" dirty="0">
                <a:latin typeface="Courier" pitchFamily="2" charset="0"/>
              </a:rPr>
              <a:t>int x;</a:t>
            </a:r>
          </a:p>
          <a:p>
            <a:r>
              <a:rPr lang="en-US" dirty="0">
                <a:latin typeface="Courier" pitchFamily="2" charset="0"/>
              </a:rPr>
              <a:t>int y;</a:t>
            </a:r>
            <a:br>
              <a:rPr lang="en-US" dirty="0">
                <a:latin typeface="Courier" pitchFamily="2" charset="0"/>
              </a:rPr>
            </a:br>
            <a:r>
              <a:rPr lang="en-US" dirty="0">
                <a:latin typeface="Courier" pitchFamily="2" charset="0"/>
              </a:rPr>
              <a:t>w = x + y + 5.5</a:t>
            </a:r>
          </a:p>
        </p:txBody>
      </p:sp>
      <p:sp>
        <p:nvSpPr>
          <p:cNvPr id="7" name="TextBox 6">
            <a:extLst>
              <a:ext uri="{FF2B5EF4-FFF2-40B4-BE49-F238E27FC236}">
                <a16:creationId xmlns:a16="http://schemas.microsoft.com/office/drawing/2014/main" id="{008C8050-BBC0-1146-BD6D-5E91DFF3A300}"/>
              </a:ext>
            </a:extLst>
          </p:cNvPr>
          <p:cNvSpPr txBox="1"/>
          <p:nvPr/>
        </p:nvSpPr>
        <p:spPr>
          <a:xfrm>
            <a:off x="5853331" y="4237986"/>
            <a:ext cx="1636474" cy="369332"/>
          </a:xfrm>
          <a:prstGeom prst="rect">
            <a:avLst/>
          </a:prstGeom>
          <a:noFill/>
        </p:spPr>
        <p:txBody>
          <a:bodyPr wrap="none" rtlCol="0">
            <a:spAutoFit/>
          </a:bodyPr>
          <a:lstStyle/>
          <a:p>
            <a:r>
              <a:rPr lang="en-US" dirty="0"/>
              <a:t>AST&lt;x, int, </a:t>
            </a:r>
            <a:r>
              <a:rPr lang="en-US" dirty="0">
                <a:highlight>
                  <a:srgbClr val="00FF00"/>
                </a:highlight>
              </a:rPr>
              <a:t>vr0</a:t>
            </a:r>
            <a:r>
              <a:rPr lang="en-US" dirty="0"/>
              <a:t>&gt;</a:t>
            </a:r>
          </a:p>
        </p:txBody>
      </p:sp>
      <p:sp>
        <p:nvSpPr>
          <p:cNvPr id="8" name="TextBox 7">
            <a:extLst>
              <a:ext uri="{FF2B5EF4-FFF2-40B4-BE49-F238E27FC236}">
                <a16:creationId xmlns:a16="http://schemas.microsoft.com/office/drawing/2014/main" id="{AC93FA13-B1DA-4E41-9EF2-CCC716099B58}"/>
              </a:ext>
            </a:extLst>
          </p:cNvPr>
          <p:cNvSpPr txBox="1"/>
          <p:nvPr/>
        </p:nvSpPr>
        <p:spPr>
          <a:xfrm>
            <a:off x="6995494" y="3440803"/>
            <a:ext cx="1599605" cy="369332"/>
          </a:xfrm>
          <a:prstGeom prst="rect">
            <a:avLst/>
          </a:prstGeom>
          <a:noFill/>
        </p:spPr>
        <p:txBody>
          <a:bodyPr wrap="none" rtlCol="0">
            <a:spAutoFit/>
          </a:bodyPr>
          <a:lstStyle/>
          <a:p>
            <a:r>
              <a:rPr lang="en-US" dirty="0"/>
              <a:t>AST&lt;+,int, </a:t>
            </a:r>
            <a:r>
              <a:rPr lang="en-US" dirty="0">
                <a:highlight>
                  <a:srgbClr val="00FF00"/>
                </a:highlight>
              </a:rPr>
              <a:t>vr2</a:t>
            </a:r>
            <a:r>
              <a:rPr lang="en-US" dirty="0"/>
              <a:t>&gt;</a:t>
            </a:r>
          </a:p>
        </p:txBody>
      </p:sp>
      <p:cxnSp>
        <p:nvCxnSpPr>
          <p:cNvPr id="9" name="Straight Connector 8">
            <a:extLst>
              <a:ext uri="{FF2B5EF4-FFF2-40B4-BE49-F238E27FC236}">
                <a16:creationId xmlns:a16="http://schemas.microsoft.com/office/drawing/2014/main" id="{C4B2233F-295B-9546-A001-3388112156CD}"/>
              </a:ext>
            </a:extLst>
          </p:cNvPr>
          <p:cNvCxnSpPr>
            <a:cxnSpLocks/>
          </p:cNvCxnSpPr>
          <p:nvPr/>
        </p:nvCxnSpPr>
        <p:spPr>
          <a:xfrm flipH="1">
            <a:off x="6057636" y="3807820"/>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12A64D6D-DCA4-C348-9ADC-BE4CC3E7BE91}"/>
              </a:ext>
            </a:extLst>
          </p:cNvPr>
          <p:cNvCxnSpPr>
            <a:cxnSpLocks/>
          </p:cNvCxnSpPr>
          <p:nvPr/>
        </p:nvCxnSpPr>
        <p:spPr>
          <a:xfrm>
            <a:off x="7282009" y="3807820"/>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F5EC3E6E-E55A-B848-B620-E8E8001E40EE}"/>
              </a:ext>
            </a:extLst>
          </p:cNvPr>
          <p:cNvSpPr txBox="1"/>
          <p:nvPr/>
        </p:nvSpPr>
        <p:spPr>
          <a:xfrm>
            <a:off x="8226176" y="4237986"/>
            <a:ext cx="1624804" cy="369332"/>
          </a:xfrm>
          <a:prstGeom prst="rect">
            <a:avLst/>
          </a:prstGeom>
          <a:noFill/>
        </p:spPr>
        <p:txBody>
          <a:bodyPr wrap="none" rtlCol="0">
            <a:spAutoFit/>
          </a:bodyPr>
          <a:lstStyle/>
          <a:p>
            <a:r>
              <a:rPr lang="en-US" dirty="0"/>
              <a:t>AST&lt;y, int, </a:t>
            </a:r>
            <a:r>
              <a:rPr lang="en-US" dirty="0">
                <a:highlight>
                  <a:srgbClr val="00FF00"/>
                </a:highlight>
              </a:rPr>
              <a:t>vr1</a:t>
            </a:r>
            <a:r>
              <a:rPr lang="en-US" dirty="0"/>
              <a:t>&gt;</a:t>
            </a:r>
          </a:p>
        </p:txBody>
      </p:sp>
      <p:sp>
        <p:nvSpPr>
          <p:cNvPr id="12" name="TextBox 11">
            <a:extLst>
              <a:ext uri="{FF2B5EF4-FFF2-40B4-BE49-F238E27FC236}">
                <a16:creationId xmlns:a16="http://schemas.microsoft.com/office/drawing/2014/main" id="{0B7DEF56-9C43-8144-A94D-54DF62D3DD36}"/>
              </a:ext>
            </a:extLst>
          </p:cNvPr>
          <p:cNvSpPr txBox="1"/>
          <p:nvPr/>
        </p:nvSpPr>
        <p:spPr>
          <a:xfrm>
            <a:off x="8924694" y="2067900"/>
            <a:ext cx="1780744" cy="369332"/>
          </a:xfrm>
          <a:prstGeom prst="rect">
            <a:avLst/>
          </a:prstGeom>
          <a:noFill/>
        </p:spPr>
        <p:txBody>
          <a:bodyPr wrap="none" rtlCol="0">
            <a:spAutoFit/>
          </a:bodyPr>
          <a:lstStyle/>
          <a:p>
            <a:r>
              <a:rPr lang="en-US" dirty="0"/>
              <a:t>AST&lt;+,float, </a:t>
            </a:r>
            <a:r>
              <a:rPr lang="en-US" dirty="0">
                <a:highlight>
                  <a:srgbClr val="00FF00"/>
                </a:highlight>
              </a:rPr>
              <a:t>vr5</a:t>
            </a:r>
            <a:r>
              <a:rPr lang="en-US" dirty="0"/>
              <a:t>&gt;</a:t>
            </a:r>
          </a:p>
        </p:txBody>
      </p:sp>
      <p:cxnSp>
        <p:nvCxnSpPr>
          <p:cNvPr id="13" name="Straight Connector 12">
            <a:extLst>
              <a:ext uri="{FF2B5EF4-FFF2-40B4-BE49-F238E27FC236}">
                <a16:creationId xmlns:a16="http://schemas.microsoft.com/office/drawing/2014/main" id="{9FA74D3D-E52C-9D46-AC0A-4898E2C33266}"/>
              </a:ext>
            </a:extLst>
          </p:cNvPr>
          <p:cNvCxnSpPr>
            <a:cxnSpLocks/>
            <a:stCxn id="16" idx="2"/>
            <a:endCxn id="8" idx="0"/>
          </p:cNvCxnSpPr>
          <p:nvPr/>
        </p:nvCxnSpPr>
        <p:spPr>
          <a:xfrm flipH="1">
            <a:off x="7795297" y="2981703"/>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65652F6-7714-C842-8131-C052815E81E4}"/>
              </a:ext>
            </a:extLst>
          </p:cNvPr>
          <p:cNvCxnSpPr>
            <a:cxnSpLocks/>
            <a:stCxn id="12" idx="2"/>
            <a:endCxn id="15" idx="0"/>
          </p:cNvCxnSpPr>
          <p:nvPr/>
        </p:nvCxnSpPr>
        <p:spPr>
          <a:xfrm>
            <a:off x="9815066" y="2437232"/>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B79680CA-73A6-2041-A51C-D36F632A5FB5}"/>
              </a:ext>
            </a:extLst>
          </p:cNvPr>
          <p:cNvSpPr txBox="1"/>
          <p:nvPr/>
        </p:nvSpPr>
        <p:spPr>
          <a:xfrm>
            <a:off x="10156626" y="3452659"/>
            <a:ext cx="2009974" cy="369332"/>
          </a:xfrm>
          <a:prstGeom prst="rect">
            <a:avLst/>
          </a:prstGeom>
          <a:noFill/>
        </p:spPr>
        <p:txBody>
          <a:bodyPr wrap="none" rtlCol="0">
            <a:spAutoFit/>
          </a:bodyPr>
          <a:lstStyle/>
          <a:p>
            <a:r>
              <a:rPr lang="en-US" dirty="0"/>
              <a:t>AST&lt;5.5, float, </a:t>
            </a:r>
            <a:r>
              <a:rPr lang="en-US" dirty="0">
                <a:highlight>
                  <a:srgbClr val="00FF00"/>
                </a:highlight>
              </a:rPr>
              <a:t>vr4</a:t>
            </a:r>
            <a:r>
              <a:rPr lang="en-US" dirty="0"/>
              <a:t>&gt;</a:t>
            </a:r>
          </a:p>
        </p:txBody>
      </p:sp>
      <p:sp>
        <p:nvSpPr>
          <p:cNvPr id="16" name="TextBox 15">
            <a:extLst>
              <a:ext uri="{FF2B5EF4-FFF2-40B4-BE49-F238E27FC236}">
                <a16:creationId xmlns:a16="http://schemas.microsoft.com/office/drawing/2014/main" id="{B2E0F0D7-B793-EB40-AFEB-149CC42DCC18}"/>
              </a:ext>
            </a:extLst>
          </p:cNvPr>
          <p:cNvSpPr txBox="1"/>
          <p:nvPr/>
        </p:nvSpPr>
        <p:spPr>
          <a:xfrm>
            <a:off x="6934093" y="2612371"/>
            <a:ext cx="2515497" cy="369332"/>
          </a:xfrm>
          <a:prstGeom prst="rect">
            <a:avLst/>
          </a:prstGeom>
          <a:noFill/>
        </p:spPr>
        <p:txBody>
          <a:bodyPr wrap="none" rtlCol="0">
            <a:spAutoFit/>
          </a:bodyPr>
          <a:lstStyle/>
          <a:p>
            <a:r>
              <a:rPr lang="en-US" dirty="0"/>
              <a:t>AST&lt;int2float, float, </a:t>
            </a:r>
            <a:r>
              <a:rPr lang="en-US" dirty="0">
                <a:highlight>
                  <a:srgbClr val="00FF00"/>
                </a:highlight>
              </a:rPr>
              <a:t>vr3</a:t>
            </a:r>
            <a:r>
              <a:rPr lang="en-US" dirty="0"/>
              <a:t>&gt;</a:t>
            </a:r>
          </a:p>
        </p:txBody>
      </p:sp>
      <p:cxnSp>
        <p:nvCxnSpPr>
          <p:cNvPr id="17" name="Straight Connector 16">
            <a:extLst>
              <a:ext uri="{FF2B5EF4-FFF2-40B4-BE49-F238E27FC236}">
                <a16:creationId xmlns:a16="http://schemas.microsoft.com/office/drawing/2014/main" id="{0C84BB30-B68C-064B-9F6B-DCADA30A4B8C}"/>
              </a:ext>
            </a:extLst>
          </p:cNvPr>
          <p:cNvCxnSpPr>
            <a:cxnSpLocks/>
            <a:stCxn id="12" idx="2"/>
            <a:endCxn id="16" idx="0"/>
          </p:cNvCxnSpPr>
          <p:nvPr/>
        </p:nvCxnSpPr>
        <p:spPr>
          <a:xfrm flipH="1">
            <a:off x="8191842" y="2437232"/>
            <a:ext cx="1623224" cy="175139"/>
          </a:xfrm>
          <a:prstGeom prst="line">
            <a:avLst/>
          </a:prstGeom>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0E0FDCE5-9B16-7740-9BD0-6BC7ED3D372F}"/>
              </a:ext>
            </a:extLst>
          </p:cNvPr>
          <p:cNvSpPr txBox="1"/>
          <p:nvPr/>
        </p:nvSpPr>
        <p:spPr>
          <a:xfrm>
            <a:off x="8924694" y="1152988"/>
            <a:ext cx="2281458" cy="369332"/>
          </a:xfrm>
          <a:prstGeom prst="rect">
            <a:avLst/>
          </a:prstGeom>
          <a:noFill/>
        </p:spPr>
        <p:txBody>
          <a:bodyPr wrap="none" rtlCol="0">
            <a:spAutoFit/>
          </a:bodyPr>
          <a:lstStyle/>
          <a:p>
            <a:r>
              <a:rPr lang="en-US" dirty="0">
                <a:highlight>
                  <a:srgbClr val="FFFF00"/>
                </a:highlight>
              </a:rPr>
              <a:t>AST&lt;float2int,int, </a:t>
            </a:r>
            <a:r>
              <a:rPr lang="en-US" dirty="0">
                <a:highlight>
                  <a:srgbClr val="00FF00"/>
                </a:highlight>
              </a:rPr>
              <a:t>vr6</a:t>
            </a:r>
            <a:r>
              <a:rPr lang="en-US" dirty="0">
                <a:highlight>
                  <a:srgbClr val="FFFF00"/>
                </a:highlight>
              </a:rPr>
              <a:t>&gt;</a:t>
            </a:r>
          </a:p>
        </p:txBody>
      </p:sp>
      <p:cxnSp>
        <p:nvCxnSpPr>
          <p:cNvPr id="20" name="Straight Connector 19">
            <a:extLst>
              <a:ext uri="{FF2B5EF4-FFF2-40B4-BE49-F238E27FC236}">
                <a16:creationId xmlns:a16="http://schemas.microsoft.com/office/drawing/2014/main" id="{C2A0B9D0-340D-FB4E-9B65-417231110881}"/>
              </a:ext>
            </a:extLst>
          </p:cNvPr>
          <p:cNvCxnSpPr>
            <a:cxnSpLocks/>
            <a:stCxn id="19" idx="2"/>
            <a:endCxn id="12" idx="0"/>
          </p:cNvCxnSpPr>
          <p:nvPr/>
        </p:nvCxnSpPr>
        <p:spPr>
          <a:xfrm flipH="1">
            <a:off x="9815066" y="1522320"/>
            <a:ext cx="250357" cy="545580"/>
          </a:xfrm>
          <a:prstGeom prst="line">
            <a:avLst/>
          </a:prstGeom>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13B7A614-852B-FF44-8E16-65C7CF93C64A}"/>
              </a:ext>
            </a:extLst>
          </p:cNvPr>
          <p:cNvSpPr txBox="1"/>
          <p:nvPr/>
        </p:nvSpPr>
        <p:spPr>
          <a:xfrm>
            <a:off x="3098800" y="101600"/>
            <a:ext cx="4428969" cy="369332"/>
          </a:xfrm>
          <a:prstGeom prst="rect">
            <a:avLst/>
          </a:prstGeom>
          <a:noFill/>
        </p:spPr>
        <p:txBody>
          <a:bodyPr wrap="none" rtlCol="0">
            <a:spAutoFit/>
          </a:bodyPr>
          <a:lstStyle/>
          <a:p>
            <a:r>
              <a:rPr lang="en-US" i="1" dirty="0"/>
              <a:t>How would we deal with w as an IO variable?</a:t>
            </a:r>
          </a:p>
        </p:txBody>
      </p:sp>
    </p:spTree>
    <p:extLst>
      <p:ext uri="{BB962C8B-B14F-4D97-AF65-F5344CB8AC3E}">
        <p14:creationId xmlns:p14="http://schemas.microsoft.com/office/powerpoint/2010/main" val="39116192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A7301C-F55E-AE45-A98D-566FF553C626}"/>
              </a:ext>
            </a:extLst>
          </p:cNvPr>
          <p:cNvSpPr/>
          <p:nvPr/>
        </p:nvSpPr>
        <p:spPr>
          <a:xfrm>
            <a:off x="283784" y="1698568"/>
            <a:ext cx="6992983" cy="369332"/>
          </a:xfrm>
          <a:prstGeom prst="rect">
            <a:avLst/>
          </a:prstGeom>
        </p:spPr>
        <p:txBody>
          <a:bodyPr wrap="square">
            <a:spAutoFit/>
          </a:bodyPr>
          <a:lstStyle/>
          <a:p>
            <a:r>
              <a:rPr lang="en-US" dirty="0" err="1">
                <a:latin typeface="Courier" pitchFamily="2" charset="0"/>
              </a:rPr>
              <a:t>assignment_statement_base</a:t>
            </a:r>
            <a:r>
              <a:rPr lang="en-US" dirty="0">
                <a:latin typeface="Courier" pitchFamily="2" charset="0"/>
              </a:rPr>
              <a:t> := ID ASSIGN expr </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C43019AC-BFF3-704E-B078-7A6360CE682F}"/>
              </a:ext>
            </a:extLst>
          </p:cNvPr>
          <p:cNvSpPr/>
          <p:nvPr/>
        </p:nvSpPr>
        <p:spPr>
          <a:xfrm>
            <a:off x="345789" y="2201595"/>
            <a:ext cx="8738944" cy="4247317"/>
          </a:xfrm>
          <a:prstGeom prst="rect">
            <a:avLst/>
          </a:prstGeom>
        </p:spPr>
        <p:txBody>
          <a:bodyPr wrap="square">
            <a:spAutoFit/>
          </a:bodyPr>
          <a:lstStyle/>
          <a:p>
            <a:r>
              <a:rPr lang="en-US" dirty="0">
                <a:latin typeface="Courier" pitchFamily="2" charset="0"/>
              </a:rPr>
              <a:t>{</a:t>
            </a:r>
          </a:p>
          <a:p>
            <a:r>
              <a:rPr lang="en-US" dirty="0">
                <a:latin typeface="Courier" pitchFamily="2" charset="0"/>
              </a:rPr>
              <a:t>   </a:t>
            </a:r>
            <a:r>
              <a:rPr lang="en-US" dirty="0" err="1">
                <a:latin typeface="Courier" pitchFamily="2" charset="0"/>
              </a:rPr>
              <a:t>id_name</a:t>
            </a:r>
            <a:r>
              <a:rPr lang="en-US" dirty="0">
                <a:latin typeface="Courier" pitchFamily="2" charset="0"/>
              </a:rPr>
              <a:t> = </a:t>
            </a:r>
            <a:r>
              <a:rPr lang="en-US" dirty="0" err="1">
                <a:latin typeface="Courier" pitchFamily="2" charset="0"/>
              </a:rPr>
              <a:t>to_match.value</a:t>
            </a:r>
            <a:endParaRPr lang="en-US" dirty="0">
              <a:latin typeface="Courier" pitchFamily="2" charset="0"/>
            </a:endParaRPr>
          </a:p>
          <a:p>
            <a:r>
              <a:rPr lang="en-US" dirty="0">
                <a:latin typeface="Courier" pitchFamily="2" charset="0"/>
              </a:rPr>
              <a:t>   </a:t>
            </a:r>
            <a:r>
              <a:rPr lang="en-US" dirty="0" err="1">
                <a:highlight>
                  <a:srgbClr val="FFFF00"/>
                </a:highlight>
                <a:latin typeface="Courier" pitchFamily="2" charset="0"/>
              </a:rPr>
              <a:t>id_data_type</a:t>
            </a:r>
            <a:r>
              <a:rPr lang="en-US" dirty="0">
                <a:highlight>
                  <a:srgbClr val="FFFF00"/>
                </a:highlight>
                <a:latin typeface="Courier" pitchFamily="2" charset="0"/>
              </a:rPr>
              <a:t> = # get ID data type</a:t>
            </a:r>
          </a:p>
          <a:p>
            <a:r>
              <a:rPr lang="en-US" dirty="0">
                <a:latin typeface="Courier" pitchFamily="2" charset="0"/>
              </a:rPr>
              <a:t>   eat(“ID”);</a:t>
            </a:r>
          </a:p>
          <a:p>
            <a:r>
              <a:rPr lang="en-US" dirty="0">
                <a:latin typeface="Courier" pitchFamily="2" charset="0"/>
              </a:rPr>
              <a:t>   eat(“ASSIGN”);</a:t>
            </a:r>
          </a:p>
          <a:p>
            <a:r>
              <a:rPr lang="en-US" dirty="0">
                <a:latin typeface="Courier" pitchFamily="2" charset="0"/>
              </a:rPr>
              <a:t>   </a:t>
            </a:r>
            <a:r>
              <a:rPr lang="en-US" dirty="0" err="1">
                <a:latin typeface="Courier" pitchFamily="2" charset="0"/>
              </a:rPr>
              <a:t>ast</a:t>
            </a:r>
            <a:r>
              <a:rPr lang="en-US" dirty="0">
                <a:latin typeface="Courier" pitchFamily="2" charset="0"/>
              </a:rPr>
              <a:t> = </a:t>
            </a:r>
            <a:r>
              <a:rPr lang="en-US" dirty="0" err="1">
                <a:latin typeface="Courier" pitchFamily="2" charset="0"/>
              </a:rPr>
              <a:t>parse_expr</a:t>
            </a:r>
            <a:r>
              <a:rPr lang="en-US" dirty="0">
                <a:latin typeface="Courier" pitchFamily="2" charset="0"/>
              </a:rPr>
              <a:t>()</a:t>
            </a:r>
          </a:p>
          <a:p>
            <a:r>
              <a:rPr lang="en-US" dirty="0">
                <a:latin typeface="Courier" pitchFamily="2" charset="0"/>
              </a:rPr>
              <a:t>   </a:t>
            </a:r>
            <a:r>
              <a:rPr lang="en-US" dirty="0" err="1">
                <a:latin typeface="Courier" pitchFamily="2" charset="0"/>
              </a:rPr>
              <a:t>type_inference</a:t>
            </a:r>
            <a:r>
              <a:rPr lang="en-US" dirty="0">
                <a:latin typeface="Courier" pitchFamily="2" charset="0"/>
              </a:rPr>
              <a:t>(</a:t>
            </a:r>
            <a:r>
              <a:rPr lang="en-US" dirty="0" err="1">
                <a:latin typeface="Courier" pitchFamily="2" charset="0"/>
              </a:rPr>
              <a:t>ast</a:t>
            </a:r>
            <a:r>
              <a:rPr lang="en-US" dirty="0">
                <a:latin typeface="Courier" pitchFamily="2" charset="0"/>
              </a:rPr>
              <a:t>)</a:t>
            </a:r>
          </a:p>
          <a:p>
            <a:r>
              <a:rPr lang="en-US" dirty="0">
                <a:latin typeface="Courier" pitchFamily="2" charset="0"/>
              </a:rPr>
              <a:t>   </a:t>
            </a:r>
            <a:r>
              <a:rPr lang="en-US" dirty="0">
                <a:highlight>
                  <a:srgbClr val="FFFF00"/>
                </a:highlight>
                <a:latin typeface="Courier" pitchFamily="2" charset="0"/>
              </a:rPr>
              <a:t>if </a:t>
            </a:r>
            <a:r>
              <a:rPr lang="en-US" dirty="0" err="1">
                <a:highlight>
                  <a:srgbClr val="FFFF00"/>
                </a:highlight>
                <a:latin typeface="Courier" pitchFamily="2" charset="0"/>
              </a:rPr>
              <a:t>id_data_type</a:t>
            </a:r>
            <a:r>
              <a:rPr lang="en-US" dirty="0">
                <a:highlight>
                  <a:srgbClr val="FFFF00"/>
                </a:highlight>
                <a:latin typeface="Courier" pitchFamily="2" charset="0"/>
              </a:rPr>
              <a:t> == INT and </a:t>
            </a:r>
          </a:p>
          <a:p>
            <a:r>
              <a:rPr lang="en-US" dirty="0">
                <a:highlight>
                  <a:srgbClr val="FFFF00"/>
                </a:highlight>
                <a:latin typeface="Courier" pitchFamily="2" charset="0"/>
              </a:rPr>
              <a:t>              </a:t>
            </a:r>
            <a:r>
              <a:rPr lang="en-US" dirty="0" err="1">
                <a:highlight>
                  <a:srgbClr val="FFFF00"/>
                </a:highlight>
                <a:latin typeface="Courier" pitchFamily="2" charset="0"/>
              </a:rPr>
              <a:t>ast.node_type</a:t>
            </a:r>
            <a:r>
              <a:rPr lang="en-US" dirty="0">
                <a:highlight>
                  <a:srgbClr val="FFFF00"/>
                </a:highlight>
                <a:latin typeface="Courier" pitchFamily="2" charset="0"/>
              </a:rPr>
              <a:t> == FLOAT:</a:t>
            </a:r>
          </a:p>
          <a:p>
            <a:r>
              <a:rPr lang="en-US" dirty="0">
                <a:highlight>
                  <a:srgbClr val="FFFF00"/>
                </a:highlight>
                <a:latin typeface="Courier" pitchFamily="2" charset="0"/>
              </a:rPr>
              <a:t>      </a:t>
            </a:r>
            <a:r>
              <a:rPr lang="en-US" dirty="0" err="1">
                <a:highlight>
                  <a:srgbClr val="FFFF00"/>
                </a:highlight>
                <a:latin typeface="Courier" pitchFamily="2" charset="0"/>
              </a:rPr>
              <a:t>ast</a:t>
            </a:r>
            <a:r>
              <a:rPr lang="en-US" dirty="0">
                <a:highlight>
                  <a:srgbClr val="FFFF00"/>
                </a:highlight>
                <a:latin typeface="Courier" pitchFamily="2" charset="0"/>
              </a:rPr>
              <a:t> = </a:t>
            </a:r>
            <a:r>
              <a:rPr lang="en-US" dirty="0" err="1">
                <a:highlight>
                  <a:srgbClr val="FFFF00"/>
                </a:highlight>
                <a:latin typeface="Courier" pitchFamily="2" charset="0"/>
              </a:rPr>
              <a:t>ASTFloatToInt</a:t>
            </a:r>
            <a:r>
              <a:rPr lang="en-US" dirty="0">
                <a:highlight>
                  <a:srgbClr val="FFFF00"/>
                </a:highlight>
                <a:latin typeface="Courier" pitchFamily="2" charset="0"/>
              </a:rPr>
              <a:t>(</a:t>
            </a:r>
            <a:r>
              <a:rPr lang="en-US" dirty="0" err="1">
                <a:highlight>
                  <a:srgbClr val="FFFF00"/>
                </a:highlight>
                <a:latin typeface="Courier" pitchFamily="2" charset="0"/>
              </a:rPr>
              <a:t>ast</a:t>
            </a:r>
            <a:r>
              <a:rPr lang="en-US" dirty="0">
                <a:highlight>
                  <a:srgbClr val="FFFF00"/>
                </a:highlight>
                <a:latin typeface="Courier" pitchFamily="2" charset="0"/>
              </a:rPr>
              <a:t>)</a:t>
            </a:r>
          </a:p>
          <a:p>
            <a:r>
              <a:rPr lang="en-US" dirty="0">
                <a:latin typeface="Courier" pitchFamily="2" charset="0"/>
              </a:rPr>
              <a:t>   </a:t>
            </a:r>
            <a:r>
              <a:rPr lang="en-US" dirty="0" err="1">
                <a:highlight>
                  <a:srgbClr val="00FF00"/>
                </a:highlight>
                <a:latin typeface="Courier" pitchFamily="2" charset="0"/>
              </a:rPr>
              <a:t>assign_registers</a:t>
            </a:r>
            <a:r>
              <a:rPr lang="en-US" dirty="0">
                <a:highlight>
                  <a:srgbClr val="00FF00"/>
                </a:highlight>
                <a:latin typeface="Courier" pitchFamily="2" charset="0"/>
              </a:rPr>
              <a:t>(</a:t>
            </a:r>
            <a:r>
              <a:rPr lang="en-US" dirty="0" err="1">
                <a:highlight>
                  <a:srgbClr val="00FF00"/>
                </a:highlight>
                <a:latin typeface="Courier" pitchFamily="2" charset="0"/>
              </a:rPr>
              <a:t>ast</a:t>
            </a:r>
            <a:r>
              <a:rPr lang="en-US" dirty="0">
                <a:highlight>
                  <a:srgbClr val="00FF00"/>
                </a:highlight>
                <a:latin typeface="Courier" pitchFamily="2" charset="0"/>
              </a:rPr>
              <a:t>)</a:t>
            </a:r>
          </a:p>
          <a:p>
            <a:r>
              <a:rPr lang="en-US" dirty="0">
                <a:latin typeface="Courier" pitchFamily="2" charset="0"/>
              </a:rPr>
              <a:t>   program = </a:t>
            </a:r>
            <a:r>
              <a:rPr lang="en-US" dirty="0" err="1">
                <a:latin typeface="Courier" pitchFamily="2" charset="0"/>
              </a:rPr>
              <a:t>ast.linearize</a:t>
            </a:r>
            <a:r>
              <a:rPr lang="en-US" dirty="0">
                <a:latin typeface="Courier" pitchFamily="2" charset="0"/>
              </a:rPr>
              <a:t>()</a:t>
            </a:r>
          </a:p>
          <a:p>
            <a:r>
              <a:rPr lang="en-US" dirty="0">
                <a:latin typeface="Courier" pitchFamily="2" charset="0"/>
              </a:rPr>
              <a:t>   </a:t>
            </a:r>
            <a:r>
              <a:rPr lang="en-US" dirty="0" err="1">
                <a:latin typeface="Courier" pitchFamily="2" charset="0"/>
              </a:rPr>
              <a:t>new_inst</a:t>
            </a:r>
            <a:r>
              <a:rPr lang="en-US" dirty="0">
                <a:latin typeface="Courier" pitchFamily="2" charset="0"/>
              </a:rPr>
              <a:t> = “%s = </a:t>
            </a:r>
            <a:r>
              <a:rPr lang="en-US" dirty="0">
                <a:highlight>
                  <a:srgbClr val="00FFFF"/>
                </a:highlight>
                <a:latin typeface="Courier" pitchFamily="2" charset="0"/>
              </a:rPr>
              <a:t>vr2int(%s)” </a:t>
            </a:r>
            <a:r>
              <a:rPr lang="en-US" dirty="0">
                <a:latin typeface="Courier" pitchFamily="2" charset="0"/>
              </a:rPr>
              <a:t>% (</a:t>
            </a:r>
            <a:r>
              <a:rPr lang="en-US" dirty="0" err="1">
                <a:highlight>
                  <a:srgbClr val="C0C0C0"/>
                </a:highlight>
                <a:latin typeface="Courier" pitchFamily="2" charset="0"/>
              </a:rPr>
              <a:t>id_name</a:t>
            </a:r>
            <a:r>
              <a:rPr lang="en-US" dirty="0">
                <a:latin typeface="Courier" pitchFamily="2" charset="0"/>
              </a:rPr>
              <a:t>, </a:t>
            </a:r>
            <a:r>
              <a:rPr lang="en-US" dirty="0" err="1">
                <a:latin typeface="Courier" pitchFamily="2" charset="0"/>
              </a:rPr>
              <a:t>ast.vr</a:t>
            </a:r>
            <a:r>
              <a:rPr lang="en-US" dirty="0">
                <a:latin typeface="Courier" pitchFamily="2" charset="0"/>
              </a:rPr>
              <a:t>)</a:t>
            </a:r>
          </a:p>
          <a:p>
            <a:r>
              <a:rPr lang="en-US" dirty="0">
                <a:latin typeface="Courier" pitchFamily="2" charset="0"/>
              </a:rPr>
              <a:t>   return program + [</a:t>
            </a:r>
            <a:r>
              <a:rPr lang="en-US" dirty="0" err="1">
                <a:latin typeface="Courier" pitchFamily="2" charset="0"/>
              </a:rPr>
              <a:t>new_inst</a:t>
            </a:r>
            <a:r>
              <a:rPr lang="en-US" dirty="0">
                <a:latin typeface="Courier" pitchFamily="2" charset="0"/>
              </a:rPr>
              <a:t>]</a:t>
            </a:r>
          </a:p>
          <a:p>
            <a:r>
              <a:rPr lang="en-US" dirty="0">
                <a:latin typeface="Courier" pitchFamily="2" charset="0"/>
              </a:rPr>
              <a:t>}</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18" name="TextBox 17">
            <a:extLst>
              <a:ext uri="{FF2B5EF4-FFF2-40B4-BE49-F238E27FC236}">
                <a16:creationId xmlns:a16="http://schemas.microsoft.com/office/drawing/2014/main" id="{44C90992-E52D-6048-A92A-C8A9575BA810}"/>
              </a:ext>
            </a:extLst>
          </p:cNvPr>
          <p:cNvSpPr txBox="1"/>
          <p:nvPr/>
        </p:nvSpPr>
        <p:spPr>
          <a:xfrm>
            <a:off x="283784" y="80942"/>
            <a:ext cx="2252540" cy="1200329"/>
          </a:xfrm>
          <a:prstGeom prst="rect">
            <a:avLst/>
          </a:prstGeom>
          <a:noFill/>
          <a:ln>
            <a:solidFill>
              <a:schemeClr val="tx1"/>
            </a:solidFill>
          </a:ln>
        </p:spPr>
        <p:txBody>
          <a:bodyPr wrap="none" rtlCol="0">
            <a:spAutoFit/>
          </a:bodyPr>
          <a:lstStyle/>
          <a:p>
            <a:r>
              <a:rPr lang="en-US" dirty="0">
                <a:highlight>
                  <a:srgbClr val="00FFFF"/>
                </a:highlight>
                <a:latin typeface="Courier" pitchFamily="2" charset="0"/>
              </a:rPr>
              <a:t>(IO: int w) </a:t>
            </a:r>
          </a:p>
          <a:p>
            <a:r>
              <a:rPr lang="en-US" dirty="0">
                <a:latin typeface="Courier" pitchFamily="2" charset="0"/>
              </a:rPr>
              <a:t>int x;</a:t>
            </a:r>
          </a:p>
          <a:p>
            <a:r>
              <a:rPr lang="en-US" dirty="0">
                <a:latin typeface="Courier" pitchFamily="2" charset="0"/>
              </a:rPr>
              <a:t>int y;</a:t>
            </a:r>
            <a:br>
              <a:rPr lang="en-US" dirty="0">
                <a:latin typeface="Courier" pitchFamily="2" charset="0"/>
              </a:rPr>
            </a:br>
            <a:r>
              <a:rPr lang="en-US" dirty="0">
                <a:highlight>
                  <a:srgbClr val="C0C0C0"/>
                </a:highlight>
                <a:latin typeface="Courier" pitchFamily="2" charset="0"/>
              </a:rPr>
              <a:t>w</a:t>
            </a:r>
            <a:r>
              <a:rPr lang="en-US" dirty="0">
                <a:latin typeface="Courier" pitchFamily="2" charset="0"/>
              </a:rPr>
              <a:t> = x + y + 5.5</a:t>
            </a:r>
          </a:p>
        </p:txBody>
      </p:sp>
      <p:sp>
        <p:nvSpPr>
          <p:cNvPr id="7" name="TextBox 6">
            <a:extLst>
              <a:ext uri="{FF2B5EF4-FFF2-40B4-BE49-F238E27FC236}">
                <a16:creationId xmlns:a16="http://schemas.microsoft.com/office/drawing/2014/main" id="{008C8050-BBC0-1146-BD6D-5E91DFF3A300}"/>
              </a:ext>
            </a:extLst>
          </p:cNvPr>
          <p:cNvSpPr txBox="1"/>
          <p:nvPr/>
        </p:nvSpPr>
        <p:spPr>
          <a:xfrm>
            <a:off x="5853331" y="4237986"/>
            <a:ext cx="1636474" cy="369332"/>
          </a:xfrm>
          <a:prstGeom prst="rect">
            <a:avLst/>
          </a:prstGeom>
          <a:noFill/>
        </p:spPr>
        <p:txBody>
          <a:bodyPr wrap="none" rtlCol="0">
            <a:spAutoFit/>
          </a:bodyPr>
          <a:lstStyle/>
          <a:p>
            <a:r>
              <a:rPr lang="en-US" dirty="0"/>
              <a:t>AST&lt;x, int, </a:t>
            </a:r>
            <a:r>
              <a:rPr lang="en-US" dirty="0">
                <a:highlight>
                  <a:srgbClr val="00FF00"/>
                </a:highlight>
              </a:rPr>
              <a:t>vr0</a:t>
            </a:r>
            <a:r>
              <a:rPr lang="en-US" dirty="0"/>
              <a:t>&gt;</a:t>
            </a:r>
          </a:p>
        </p:txBody>
      </p:sp>
      <p:sp>
        <p:nvSpPr>
          <p:cNvPr id="8" name="TextBox 7">
            <a:extLst>
              <a:ext uri="{FF2B5EF4-FFF2-40B4-BE49-F238E27FC236}">
                <a16:creationId xmlns:a16="http://schemas.microsoft.com/office/drawing/2014/main" id="{AC93FA13-B1DA-4E41-9EF2-CCC716099B58}"/>
              </a:ext>
            </a:extLst>
          </p:cNvPr>
          <p:cNvSpPr txBox="1"/>
          <p:nvPr/>
        </p:nvSpPr>
        <p:spPr>
          <a:xfrm>
            <a:off x="6995494" y="3440803"/>
            <a:ext cx="1599605" cy="369332"/>
          </a:xfrm>
          <a:prstGeom prst="rect">
            <a:avLst/>
          </a:prstGeom>
          <a:noFill/>
        </p:spPr>
        <p:txBody>
          <a:bodyPr wrap="none" rtlCol="0">
            <a:spAutoFit/>
          </a:bodyPr>
          <a:lstStyle/>
          <a:p>
            <a:r>
              <a:rPr lang="en-US" dirty="0"/>
              <a:t>AST&lt;+,int, </a:t>
            </a:r>
            <a:r>
              <a:rPr lang="en-US" dirty="0">
                <a:highlight>
                  <a:srgbClr val="00FF00"/>
                </a:highlight>
              </a:rPr>
              <a:t>vr2</a:t>
            </a:r>
            <a:r>
              <a:rPr lang="en-US" dirty="0"/>
              <a:t>&gt;</a:t>
            </a:r>
          </a:p>
        </p:txBody>
      </p:sp>
      <p:cxnSp>
        <p:nvCxnSpPr>
          <p:cNvPr id="9" name="Straight Connector 8">
            <a:extLst>
              <a:ext uri="{FF2B5EF4-FFF2-40B4-BE49-F238E27FC236}">
                <a16:creationId xmlns:a16="http://schemas.microsoft.com/office/drawing/2014/main" id="{C4B2233F-295B-9546-A001-3388112156CD}"/>
              </a:ext>
            </a:extLst>
          </p:cNvPr>
          <p:cNvCxnSpPr>
            <a:cxnSpLocks/>
          </p:cNvCxnSpPr>
          <p:nvPr/>
        </p:nvCxnSpPr>
        <p:spPr>
          <a:xfrm flipH="1">
            <a:off x="6057636" y="3807820"/>
            <a:ext cx="1224374" cy="458418"/>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12A64D6D-DCA4-C348-9ADC-BE4CC3E7BE91}"/>
              </a:ext>
            </a:extLst>
          </p:cNvPr>
          <p:cNvCxnSpPr>
            <a:cxnSpLocks/>
          </p:cNvCxnSpPr>
          <p:nvPr/>
        </p:nvCxnSpPr>
        <p:spPr>
          <a:xfrm>
            <a:off x="7282009" y="3807820"/>
            <a:ext cx="1097159" cy="458418"/>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F5EC3E6E-E55A-B848-B620-E8E8001E40EE}"/>
              </a:ext>
            </a:extLst>
          </p:cNvPr>
          <p:cNvSpPr txBox="1"/>
          <p:nvPr/>
        </p:nvSpPr>
        <p:spPr>
          <a:xfrm>
            <a:off x="8226176" y="4237986"/>
            <a:ext cx="1624804" cy="369332"/>
          </a:xfrm>
          <a:prstGeom prst="rect">
            <a:avLst/>
          </a:prstGeom>
          <a:noFill/>
        </p:spPr>
        <p:txBody>
          <a:bodyPr wrap="none" rtlCol="0">
            <a:spAutoFit/>
          </a:bodyPr>
          <a:lstStyle/>
          <a:p>
            <a:r>
              <a:rPr lang="en-US" dirty="0"/>
              <a:t>AST&lt;y, int, </a:t>
            </a:r>
            <a:r>
              <a:rPr lang="en-US" dirty="0">
                <a:highlight>
                  <a:srgbClr val="00FF00"/>
                </a:highlight>
              </a:rPr>
              <a:t>vr1</a:t>
            </a:r>
            <a:r>
              <a:rPr lang="en-US" dirty="0"/>
              <a:t>&gt;</a:t>
            </a:r>
          </a:p>
        </p:txBody>
      </p:sp>
      <p:sp>
        <p:nvSpPr>
          <p:cNvPr id="12" name="TextBox 11">
            <a:extLst>
              <a:ext uri="{FF2B5EF4-FFF2-40B4-BE49-F238E27FC236}">
                <a16:creationId xmlns:a16="http://schemas.microsoft.com/office/drawing/2014/main" id="{0B7DEF56-9C43-8144-A94D-54DF62D3DD36}"/>
              </a:ext>
            </a:extLst>
          </p:cNvPr>
          <p:cNvSpPr txBox="1"/>
          <p:nvPr/>
        </p:nvSpPr>
        <p:spPr>
          <a:xfrm>
            <a:off x="8924694" y="2067900"/>
            <a:ext cx="1780744" cy="369332"/>
          </a:xfrm>
          <a:prstGeom prst="rect">
            <a:avLst/>
          </a:prstGeom>
          <a:noFill/>
        </p:spPr>
        <p:txBody>
          <a:bodyPr wrap="none" rtlCol="0">
            <a:spAutoFit/>
          </a:bodyPr>
          <a:lstStyle/>
          <a:p>
            <a:r>
              <a:rPr lang="en-US" dirty="0"/>
              <a:t>AST&lt;+,float, </a:t>
            </a:r>
            <a:r>
              <a:rPr lang="en-US" dirty="0">
                <a:highlight>
                  <a:srgbClr val="00FF00"/>
                </a:highlight>
              </a:rPr>
              <a:t>vr5</a:t>
            </a:r>
            <a:r>
              <a:rPr lang="en-US" dirty="0"/>
              <a:t>&gt;</a:t>
            </a:r>
          </a:p>
        </p:txBody>
      </p:sp>
      <p:cxnSp>
        <p:nvCxnSpPr>
          <p:cNvPr id="13" name="Straight Connector 12">
            <a:extLst>
              <a:ext uri="{FF2B5EF4-FFF2-40B4-BE49-F238E27FC236}">
                <a16:creationId xmlns:a16="http://schemas.microsoft.com/office/drawing/2014/main" id="{9FA74D3D-E52C-9D46-AC0A-4898E2C33266}"/>
              </a:ext>
            </a:extLst>
          </p:cNvPr>
          <p:cNvCxnSpPr>
            <a:cxnSpLocks/>
            <a:stCxn id="16" idx="2"/>
            <a:endCxn id="8" idx="0"/>
          </p:cNvCxnSpPr>
          <p:nvPr/>
        </p:nvCxnSpPr>
        <p:spPr>
          <a:xfrm flipH="1">
            <a:off x="7795297" y="2981703"/>
            <a:ext cx="396545" cy="45910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65652F6-7714-C842-8131-C052815E81E4}"/>
              </a:ext>
            </a:extLst>
          </p:cNvPr>
          <p:cNvCxnSpPr>
            <a:cxnSpLocks/>
            <a:stCxn id="12" idx="2"/>
            <a:endCxn id="15" idx="0"/>
          </p:cNvCxnSpPr>
          <p:nvPr/>
        </p:nvCxnSpPr>
        <p:spPr>
          <a:xfrm>
            <a:off x="9815066" y="2437232"/>
            <a:ext cx="1346547" cy="1015427"/>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B79680CA-73A6-2041-A51C-D36F632A5FB5}"/>
              </a:ext>
            </a:extLst>
          </p:cNvPr>
          <p:cNvSpPr txBox="1"/>
          <p:nvPr/>
        </p:nvSpPr>
        <p:spPr>
          <a:xfrm>
            <a:off x="10156626" y="3452659"/>
            <a:ext cx="2009974" cy="369332"/>
          </a:xfrm>
          <a:prstGeom prst="rect">
            <a:avLst/>
          </a:prstGeom>
          <a:noFill/>
        </p:spPr>
        <p:txBody>
          <a:bodyPr wrap="none" rtlCol="0">
            <a:spAutoFit/>
          </a:bodyPr>
          <a:lstStyle/>
          <a:p>
            <a:r>
              <a:rPr lang="en-US" dirty="0"/>
              <a:t>AST&lt;5.5, float, </a:t>
            </a:r>
            <a:r>
              <a:rPr lang="en-US" dirty="0">
                <a:highlight>
                  <a:srgbClr val="00FF00"/>
                </a:highlight>
              </a:rPr>
              <a:t>vr4</a:t>
            </a:r>
            <a:r>
              <a:rPr lang="en-US" dirty="0"/>
              <a:t>&gt;</a:t>
            </a:r>
          </a:p>
        </p:txBody>
      </p:sp>
      <p:sp>
        <p:nvSpPr>
          <p:cNvPr id="16" name="TextBox 15">
            <a:extLst>
              <a:ext uri="{FF2B5EF4-FFF2-40B4-BE49-F238E27FC236}">
                <a16:creationId xmlns:a16="http://schemas.microsoft.com/office/drawing/2014/main" id="{B2E0F0D7-B793-EB40-AFEB-149CC42DCC18}"/>
              </a:ext>
            </a:extLst>
          </p:cNvPr>
          <p:cNvSpPr txBox="1"/>
          <p:nvPr/>
        </p:nvSpPr>
        <p:spPr>
          <a:xfrm>
            <a:off x="6934093" y="2612371"/>
            <a:ext cx="2515497" cy="369332"/>
          </a:xfrm>
          <a:prstGeom prst="rect">
            <a:avLst/>
          </a:prstGeom>
          <a:noFill/>
        </p:spPr>
        <p:txBody>
          <a:bodyPr wrap="none" rtlCol="0">
            <a:spAutoFit/>
          </a:bodyPr>
          <a:lstStyle/>
          <a:p>
            <a:r>
              <a:rPr lang="en-US" dirty="0"/>
              <a:t>AST&lt;int2float, float, </a:t>
            </a:r>
            <a:r>
              <a:rPr lang="en-US" dirty="0">
                <a:highlight>
                  <a:srgbClr val="00FF00"/>
                </a:highlight>
              </a:rPr>
              <a:t>vr3</a:t>
            </a:r>
            <a:r>
              <a:rPr lang="en-US" dirty="0"/>
              <a:t>&gt;</a:t>
            </a:r>
          </a:p>
        </p:txBody>
      </p:sp>
      <p:cxnSp>
        <p:nvCxnSpPr>
          <p:cNvPr id="17" name="Straight Connector 16">
            <a:extLst>
              <a:ext uri="{FF2B5EF4-FFF2-40B4-BE49-F238E27FC236}">
                <a16:creationId xmlns:a16="http://schemas.microsoft.com/office/drawing/2014/main" id="{0C84BB30-B68C-064B-9F6B-DCADA30A4B8C}"/>
              </a:ext>
            </a:extLst>
          </p:cNvPr>
          <p:cNvCxnSpPr>
            <a:cxnSpLocks/>
            <a:stCxn id="12" idx="2"/>
            <a:endCxn id="16" idx="0"/>
          </p:cNvCxnSpPr>
          <p:nvPr/>
        </p:nvCxnSpPr>
        <p:spPr>
          <a:xfrm flipH="1">
            <a:off x="8191842" y="2437232"/>
            <a:ext cx="1623224" cy="175139"/>
          </a:xfrm>
          <a:prstGeom prst="line">
            <a:avLst/>
          </a:prstGeom>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0E0FDCE5-9B16-7740-9BD0-6BC7ED3D372F}"/>
              </a:ext>
            </a:extLst>
          </p:cNvPr>
          <p:cNvSpPr txBox="1"/>
          <p:nvPr/>
        </p:nvSpPr>
        <p:spPr>
          <a:xfrm>
            <a:off x="8924694" y="1152988"/>
            <a:ext cx="2281458" cy="369332"/>
          </a:xfrm>
          <a:prstGeom prst="rect">
            <a:avLst/>
          </a:prstGeom>
          <a:noFill/>
        </p:spPr>
        <p:txBody>
          <a:bodyPr wrap="none" rtlCol="0">
            <a:spAutoFit/>
          </a:bodyPr>
          <a:lstStyle/>
          <a:p>
            <a:r>
              <a:rPr lang="en-US" dirty="0">
                <a:highlight>
                  <a:srgbClr val="FFFF00"/>
                </a:highlight>
              </a:rPr>
              <a:t>AST&lt;float2int,int, </a:t>
            </a:r>
            <a:r>
              <a:rPr lang="en-US" dirty="0">
                <a:highlight>
                  <a:srgbClr val="00FF00"/>
                </a:highlight>
              </a:rPr>
              <a:t>vr6</a:t>
            </a:r>
            <a:r>
              <a:rPr lang="en-US" dirty="0">
                <a:highlight>
                  <a:srgbClr val="FFFF00"/>
                </a:highlight>
              </a:rPr>
              <a:t>&gt;</a:t>
            </a:r>
          </a:p>
        </p:txBody>
      </p:sp>
      <p:cxnSp>
        <p:nvCxnSpPr>
          <p:cNvPr id="20" name="Straight Connector 19">
            <a:extLst>
              <a:ext uri="{FF2B5EF4-FFF2-40B4-BE49-F238E27FC236}">
                <a16:creationId xmlns:a16="http://schemas.microsoft.com/office/drawing/2014/main" id="{C2A0B9D0-340D-FB4E-9B65-417231110881}"/>
              </a:ext>
            </a:extLst>
          </p:cNvPr>
          <p:cNvCxnSpPr>
            <a:cxnSpLocks/>
            <a:stCxn id="19" idx="2"/>
            <a:endCxn id="12" idx="0"/>
          </p:cNvCxnSpPr>
          <p:nvPr/>
        </p:nvCxnSpPr>
        <p:spPr>
          <a:xfrm flipH="1">
            <a:off x="9815066" y="1522320"/>
            <a:ext cx="250357" cy="545580"/>
          </a:xfrm>
          <a:prstGeom prst="line">
            <a:avLst/>
          </a:prstGeom>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13B7A614-852B-FF44-8E16-65C7CF93C64A}"/>
              </a:ext>
            </a:extLst>
          </p:cNvPr>
          <p:cNvSpPr txBox="1"/>
          <p:nvPr/>
        </p:nvSpPr>
        <p:spPr>
          <a:xfrm>
            <a:off x="3098800" y="101600"/>
            <a:ext cx="4428969" cy="369332"/>
          </a:xfrm>
          <a:prstGeom prst="rect">
            <a:avLst/>
          </a:prstGeom>
          <a:noFill/>
        </p:spPr>
        <p:txBody>
          <a:bodyPr wrap="none" rtlCol="0">
            <a:spAutoFit/>
          </a:bodyPr>
          <a:lstStyle/>
          <a:p>
            <a:r>
              <a:rPr lang="en-US" i="1" dirty="0"/>
              <a:t>How would we deal with w as an IO variable?</a:t>
            </a:r>
          </a:p>
        </p:txBody>
      </p:sp>
      <p:sp>
        <p:nvSpPr>
          <p:cNvPr id="3" name="TextBox 2">
            <a:extLst>
              <a:ext uri="{FF2B5EF4-FFF2-40B4-BE49-F238E27FC236}">
                <a16:creationId xmlns:a16="http://schemas.microsoft.com/office/drawing/2014/main" id="{77B6748D-3661-9E41-A666-BE870AF6471B}"/>
              </a:ext>
            </a:extLst>
          </p:cNvPr>
          <p:cNvSpPr txBox="1"/>
          <p:nvPr/>
        </p:nvSpPr>
        <p:spPr>
          <a:xfrm>
            <a:off x="5203112" y="6006523"/>
            <a:ext cx="2672526" cy="369332"/>
          </a:xfrm>
          <a:prstGeom prst="rect">
            <a:avLst/>
          </a:prstGeom>
          <a:noFill/>
        </p:spPr>
        <p:txBody>
          <a:bodyPr wrap="none" rtlCol="0">
            <a:spAutoFit/>
          </a:bodyPr>
          <a:lstStyle/>
          <a:p>
            <a:r>
              <a:rPr lang="en-US" b="1" i="1" dirty="0"/>
              <a:t>Only if it is an IO variable!</a:t>
            </a:r>
          </a:p>
        </p:txBody>
      </p:sp>
    </p:spTree>
    <p:extLst>
      <p:ext uri="{BB962C8B-B14F-4D97-AF65-F5344CB8AC3E}">
        <p14:creationId xmlns:p14="http://schemas.microsoft.com/office/powerpoint/2010/main" val="4394557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40F0F9E-225E-2648-BCB2-E88AA1F1B969}"/>
              </a:ext>
            </a:extLst>
          </p:cNvPr>
          <p:cNvSpPr/>
          <p:nvPr/>
        </p:nvSpPr>
        <p:spPr>
          <a:xfrm>
            <a:off x="2725782" y="1433140"/>
            <a:ext cx="6992983" cy="1477328"/>
          </a:xfrm>
          <a:prstGeom prst="rect">
            <a:avLst/>
          </a:prstGeom>
        </p:spPr>
        <p:txBody>
          <a:bodyPr wrap="square">
            <a:spAutoFit/>
          </a:bodyPr>
          <a:lstStyle/>
          <a:p>
            <a:r>
              <a:rPr lang="en-US" dirty="0">
                <a:latin typeface="Courier" pitchFamily="2" charset="0"/>
                <a:ea typeface="Calibri" panose="020F0502020204030204" pitchFamily="34" charset="0"/>
                <a:cs typeface="Times New Roman" panose="02020603050405020304" pitchFamily="18" charset="0"/>
              </a:rPr>
              <a:t>statement := </a:t>
            </a:r>
            <a:r>
              <a:rPr lang="en-US" dirty="0" err="1">
                <a:latin typeface="Courier" pitchFamily="2" charset="0"/>
                <a:ea typeface="Calibri" panose="020F0502020204030204" pitchFamily="34" charset="0"/>
                <a:cs typeface="Times New Roman" panose="02020603050405020304" pitchFamily="18" charset="0"/>
              </a:rPr>
              <a:t>declaration_statement</a:t>
            </a:r>
            <a:r>
              <a:rPr lang="en-US" dirty="0">
                <a:latin typeface="Courier" pitchFamily="2" charset="0"/>
                <a:ea typeface="Calibri" panose="020F0502020204030204" pitchFamily="34" charset="0"/>
                <a:cs typeface="Times New Roman" panose="02020603050405020304" pitchFamily="18" charset="0"/>
              </a:rPr>
              <a:t> </a:t>
            </a: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assignment_statement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highlight>
                  <a:srgbClr val="FFFF00"/>
                </a:highlight>
                <a:latin typeface="Courier" pitchFamily="2" charset="0"/>
                <a:ea typeface="Calibri" panose="020F0502020204030204" pitchFamily="34" charset="0"/>
                <a:cs typeface="Times New Roman" panose="02020603050405020304" pitchFamily="18" charset="0"/>
              </a:rPr>
              <a:t>if_else_statement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block_statement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for_loop_statement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51A7A2FD-8733-5343-A139-CBC1784C1CFD}"/>
              </a:ext>
            </a:extLst>
          </p:cNvPr>
          <p:cNvSpPr txBox="1"/>
          <p:nvPr/>
        </p:nvSpPr>
        <p:spPr>
          <a:xfrm>
            <a:off x="660400" y="431800"/>
            <a:ext cx="2763705" cy="461665"/>
          </a:xfrm>
          <a:prstGeom prst="rect">
            <a:avLst/>
          </a:prstGeom>
          <a:noFill/>
        </p:spPr>
        <p:txBody>
          <a:bodyPr wrap="none" rtlCol="0">
            <a:spAutoFit/>
          </a:bodyPr>
          <a:lstStyle/>
          <a:p>
            <a:r>
              <a:rPr lang="en-US" sz="2400" dirty="0"/>
              <a:t>Let’s do another one</a:t>
            </a:r>
          </a:p>
        </p:txBody>
      </p:sp>
    </p:spTree>
    <p:extLst>
      <p:ext uri="{BB962C8B-B14F-4D97-AF65-F5344CB8AC3E}">
        <p14:creationId xmlns:p14="http://schemas.microsoft.com/office/powerpoint/2010/main" val="15519506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258EB2-A9C8-4E4B-A6D5-99A5401504FF}"/>
              </a:ext>
            </a:extLst>
          </p:cNvPr>
          <p:cNvSpPr/>
          <p:nvPr/>
        </p:nvSpPr>
        <p:spPr>
          <a:xfrm>
            <a:off x="339633" y="1181240"/>
            <a:ext cx="9222378" cy="369332"/>
          </a:xfrm>
          <a:prstGeom prst="rect">
            <a:avLst/>
          </a:prstGeom>
        </p:spPr>
        <p:txBody>
          <a:bodyPr wrap="square">
            <a:spAutoFit/>
          </a:bodyPr>
          <a:lstStyle/>
          <a:p>
            <a:r>
              <a:rPr lang="en-US" dirty="0" err="1">
                <a:latin typeface="Courier" pitchFamily="2" charset="0"/>
                <a:ea typeface="Calibri" panose="020F0502020204030204" pitchFamily="34" charset="0"/>
                <a:cs typeface="Times New Roman" panose="02020603050405020304" pitchFamily="18" charset="0"/>
              </a:rPr>
              <a:t>if_else_statement</a:t>
            </a:r>
            <a:r>
              <a:rPr lang="en-US" dirty="0">
                <a:latin typeface="Courier" pitchFamily="2" charset="0"/>
                <a:ea typeface="Calibri" panose="020F0502020204030204" pitchFamily="34" charset="0"/>
                <a:cs typeface="Times New Roman" panose="02020603050405020304" pitchFamily="18" charset="0"/>
              </a:rPr>
              <a:t> := IF LPAR </a:t>
            </a:r>
            <a:r>
              <a:rPr lang="en-US" dirty="0">
                <a:highlight>
                  <a:srgbClr val="FFFF00"/>
                </a:highlight>
                <a:latin typeface="Courier" pitchFamily="2" charset="0"/>
                <a:ea typeface="Calibri" panose="020F0502020204030204" pitchFamily="34" charset="0"/>
                <a:cs typeface="Times New Roman" panose="02020603050405020304" pitchFamily="18" charset="0"/>
              </a:rPr>
              <a:t>expr</a:t>
            </a:r>
            <a:r>
              <a:rPr lang="en-US" dirty="0">
                <a:latin typeface="Courier" pitchFamily="2" charset="0"/>
                <a:ea typeface="Calibri" panose="020F0502020204030204" pitchFamily="34" charset="0"/>
                <a:cs typeface="Times New Roman" panose="02020603050405020304" pitchFamily="18" charset="0"/>
              </a:rPr>
              <a:t> RPAR </a:t>
            </a:r>
            <a:r>
              <a:rPr lang="en-US" dirty="0">
                <a:highlight>
                  <a:srgbClr val="00FF00"/>
                </a:highlight>
                <a:latin typeface="Courier" pitchFamily="2" charset="0"/>
                <a:ea typeface="Calibri" panose="020F0502020204030204" pitchFamily="34" charset="0"/>
                <a:cs typeface="Times New Roman" panose="02020603050405020304" pitchFamily="18" charset="0"/>
              </a:rPr>
              <a:t>statement</a:t>
            </a:r>
            <a:r>
              <a:rPr lang="en-US" dirty="0">
                <a:latin typeface="Courier" pitchFamily="2" charset="0"/>
                <a:ea typeface="Calibri" panose="020F0502020204030204" pitchFamily="34" charset="0"/>
                <a:cs typeface="Times New Roman" panose="02020603050405020304" pitchFamily="18" charset="0"/>
              </a:rPr>
              <a:t> ELSE </a:t>
            </a:r>
            <a:r>
              <a:rPr lang="en-US" dirty="0">
                <a:highlight>
                  <a:srgbClr val="00FFFF"/>
                </a:highlight>
                <a:latin typeface="Courier" pitchFamily="2" charset="0"/>
                <a:ea typeface="Calibri" panose="020F0502020204030204" pitchFamily="34" charset="0"/>
                <a:cs typeface="Times New Roman" panose="02020603050405020304" pitchFamily="18" charset="0"/>
              </a:rPr>
              <a:t>statement</a:t>
            </a:r>
            <a:r>
              <a:rPr lang="en-US" dirty="0">
                <a:latin typeface="Courier" pitchFamily="2" charset="0"/>
                <a:ea typeface="Calibri" panose="020F0502020204030204" pitchFamily="34" charset="0"/>
                <a:cs typeface="Times New Roman" panose="02020603050405020304" pitchFamily="18" charset="0"/>
              </a:rPr>
              <a:t> </a:t>
            </a:r>
            <a:endParaRPr lang="en-US" dirty="0"/>
          </a:p>
        </p:txBody>
      </p:sp>
      <p:sp>
        <p:nvSpPr>
          <p:cNvPr id="5" name="Rectangle 4">
            <a:extLst>
              <a:ext uri="{FF2B5EF4-FFF2-40B4-BE49-F238E27FC236}">
                <a16:creationId xmlns:a16="http://schemas.microsoft.com/office/drawing/2014/main" id="{29D061B3-321C-BF43-B43E-5A50006033BD}"/>
              </a:ext>
            </a:extLst>
          </p:cNvPr>
          <p:cNvSpPr/>
          <p:nvPr/>
        </p:nvSpPr>
        <p:spPr>
          <a:xfrm>
            <a:off x="339633" y="1859339"/>
            <a:ext cx="7396986" cy="3416320"/>
          </a:xfrm>
          <a:prstGeom prst="rect">
            <a:avLst/>
          </a:prstGeom>
        </p:spPr>
        <p:txBody>
          <a:bodyPr wrap="square">
            <a:spAutoFit/>
          </a:bodyPr>
          <a:lstStyle/>
          <a:p>
            <a:r>
              <a:rPr lang="en-US" dirty="0">
                <a:latin typeface="Courier" pitchFamily="2" charset="0"/>
              </a:rPr>
              <a:t>{</a:t>
            </a:r>
          </a:p>
          <a:p>
            <a:r>
              <a:rPr lang="en-US" dirty="0">
                <a:latin typeface="Courier" pitchFamily="2" charset="0"/>
              </a:rPr>
              <a:t>   eat(“IF”);</a:t>
            </a:r>
          </a:p>
          <a:p>
            <a:r>
              <a:rPr lang="en-US" dirty="0">
                <a:latin typeface="Courier" pitchFamily="2" charset="0"/>
              </a:rPr>
              <a:t>   eat(“LPAR”);</a:t>
            </a:r>
          </a:p>
          <a:p>
            <a:r>
              <a:rPr lang="en-US" dirty="0">
                <a:latin typeface="Courier" pitchFamily="2" charset="0"/>
              </a:rPr>
              <a:t>   </a:t>
            </a:r>
            <a:r>
              <a:rPr lang="en-US" dirty="0" err="1">
                <a:highlight>
                  <a:srgbClr val="FFFF00"/>
                </a:highlight>
                <a:latin typeface="Courier" pitchFamily="2" charset="0"/>
              </a:rPr>
              <a:t>expr_ast</a:t>
            </a:r>
            <a:r>
              <a:rPr lang="en-US" dirty="0">
                <a:latin typeface="Courier" pitchFamily="2" charset="0"/>
              </a:rPr>
              <a:t> = </a:t>
            </a:r>
            <a:r>
              <a:rPr lang="en-US" dirty="0" err="1">
                <a:latin typeface="Courier" pitchFamily="2" charset="0"/>
              </a:rPr>
              <a:t>parse_expr</a:t>
            </a:r>
            <a:r>
              <a:rPr lang="en-US" dirty="0">
                <a:latin typeface="Courier" pitchFamily="2" charset="0"/>
              </a:rPr>
              <a:t>()</a:t>
            </a:r>
          </a:p>
          <a:p>
            <a:r>
              <a:rPr lang="en-US" dirty="0">
                <a:highlight>
                  <a:srgbClr val="FFFF00"/>
                </a:highlight>
                <a:latin typeface="Courier" pitchFamily="2" charset="0"/>
              </a:rPr>
              <a:t>   ...</a:t>
            </a:r>
          </a:p>
          <a:p>
            <a:r>
              <a:rPr lang="en-US" dirty="0">
                <a:highlight>
                  <a:srgbClr val="FFFF00"/>
                </a:highlight>
                <a:latin typeface="Courier" pitchFamily="2" charset="0"/>
              </a:rPr>
              <a:t>   program0 = </a:t>
            </a:r>
            <a:r>
              <a:rPr lang="en-US" dirty="0">
                <a:latin typeface="Courier" pitchFamily="2" charset="0"/>
              </a:rPr>
              <a:t># type safe and linearized </a:t>
            </a:r>
            <a:r>
              <a:rPr lang="en-US" dirty="0" err="1">
                <a:latin typeface="Courier" pitchFamily="2" charset="0"/>
              </a:rPr>
              <a:t>ast</a:t>
            </a:r>
            <a:endParaRPr lang="en-US" dirty="0">
              <a:latin typeface="Courier" pitchFamily="2" charset="0"/>
            </a:endParaRPr>
          </a:p>
          <a:p>
            <a:r>
              <a:rPr lang="en-US" dirty="0">
                <a:latin typeface="Courier" pitchFamily="2" charset="0"/>
              </a:rPr>
              <a:t>   eat(“RPAR”);</a:t>
            </a:r>
          </a:p>
          <a:p>
            <a:r>
              <a:rPr lang="en-US" dirty="0">
                <a:latin typeface="Courier" pitchFamily="2" charset="0"/>
              </a:rPr>
              <a:t>   </a:t>
            </a:r>
            <a:r>
              <a:rPr lang="en-US" dirty="0">
                <a:highlight>
                  <a:srgbClr val="00FF00"/>
                </a:highlight>
                <a:latin typeface="Courier" pitchFamily="2" charset="0"/>
              </a:rPr>
              <a:t>program1</a:t>
            </a:r>
            <a:r>
              <a:rPr lang="en-US" dirty="0">
                <a:latin typeface="Courier" pitchFamily="2" charset="0"/>
              </a:rPr>
              <a:t> = </a:t>
            </a:r>
            <a:r>
              <a:rPr lang="en-US" dirty="0" err="1">
                <a:latin typeface="Courier" pitchFamily="2" charset="0"/>
              </a:rPr>
              <a:t>parse_statement</a:t>
            </a:r>
            <a:r>
              <a:rPr lang="en-US" dirty="0">
                <a:latin typeface="Courier" pitchFamily="2" charset="0"/>
              </a:rPr>
              <a:t>()</a:t>
            </a:r>
            <a:endParaRPr lang="en-US" dirty="0">
              <a:highlight>
                <a:srgbClr val="00FF00"/>
              </a:highlight>
              <a:latin typeface="Courier" pitchFamily="2" charset="0"/>
            </a:endParaRPr>
          </a:p>
          <a:p>
            <a:r>
              <a:rPr lang="en-US" dirty="0">
                <a:latin typeface="Courier" pitchFamily="2" charset="0"/>
              </a:rPr>
              <a:t>   eat(“ELSE”)</a:t>
            </a:r>
          </a:p>
          <a:p>
            <a:r>
              <a:rPr lang="en-US" dirty="0">
                <a:latin typeface="Courier" pitchFamily="2" charset="0"/>
              </a:rPr>
              <a:t>   </a:t>
            </a:r>
            <a:r>
              <a:rPr lang="en-US" dirty="0">
                <a:highlight>
                  <a:srgbClr val="00FFFF"/>
                </a:highlight>
                <a:latin typeface="Courier" pitchFamily="2" charset="0"/>
              </a:rPr>
              <a:t>program2</a:t>
            </a:r>
            <a:r>
              <a:rPr lang="en-US" dirty="0">
                <a:latin typeface="Courier" pitchFamily="2" charset="0"/>
              </a:rPr>
              <a:t> = </a:t>
            </a:r>
            <a:r>
              <a:rPr lang="en-US" dirty="0" err="1">
                <a:latin typeface="Courier" pitchFamily="2" charset="0"/>
              </a:rPr>
              <a:t>parse_statement</a:t>
            </a:r>
            <a:r>
              <a:rPr lang="en-US" dirty="0">
                <a:latin typeface="Courier" pitchFamily="2" charset="0"/>
              </a:rPr>
              <a:t>()</a:t>
            </a:r>
            <a:endParaRPr lang="en-US" dirty="0">
              <a:highlight>
                <a:srgbClr val="00FFFF"/>
              </a:highlight>
              <a:latin typeface="Courier" pitchFamily="2" charset="0"/>
            </a:endParaRPr>
          </a:p>
          <a:p>
            <a:r>
              <a:rPr lang="en-US" dirty="0">
                <a:latin typeface="Courier" pitchFamily="2" charset="0"/>
              </a:rPr>
              <a:t>   ...</a:t>
            </a:r>
          </a:p>
          <a:p>
            <a:r>
              <a:rPr lang="en-US" dirty="0">
                <a:latin typeface="Courier" pitchFamily="2" charset="0"/>
              </a:rPr>
              <a:t>}</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90A7CD11-C9E7-A84C-841E-B6F212D50409}"/>
              </a:ext>
            </a:extLst>
          </p:cNvPr>
          <p:cNvSpPr txBox="1"/>
          <p:nvPr/>
        </p:nvSpPr>
        <p:spPr>
          <a:xfrm>
            <a:off x="9562011" y="1254036"/>
            <a:ext cx="2252540" cy="1754326"/>
          </a:xfrm>
          <a:prstGeom prst="rect">
            <a:avLst/>
          </a:prstGeom>
          <a:noFill/>
        </p:spPr>
        <p:txBody>
          <a:bodyPr wrap="none" rtlCol="0">
            <a:spAutoFit/>
          </a:bodyPr>
          <a:lstStyle/>
          <a:p>
            <a:r>
              <a:rPr lang="en-US" dirty="0">
                <a:latin typeface="Courier" pitchFamily="2" charset="0"/>
              </a:rPr>
              <a:t>if (</a:t>
            </a:r>
            <a:r>
              <a:rPr lang="en-US" dirty="0">
                <a:highlight>
                  <a:srgbClr val="FFFF00"/>
                </a:highlight>
                <a:latin typeface="Courier" pitchFamily="2" charset="0"/>
              </a:rPr>
              <a:t>program0</a:t>
            </a:r>
            <a:r>
              <a:rPr lang="en-US" dirty="0">
                <a:latin typeface="Courier" pitchFamily="2" charset="0"/>
              </a:rPr>
              <a:t>) {</a:t>
            </a:r>
          </a:p>
          <a:p>
            <a:r>
              <a:rPr lang="en-US" dirty="0">
                <a:latin typeface="Courier" pitchFamily="2" charset="0"/>
              </a:rPr>
              <a:t>  </a:t>
            </a:r>
            <a:r>
              <a:rPr lang="en-US" dirty="0">
                <a:highlight>
                  <a:srgbClr val="00FF00"/>
                </a:highlight>
                <a:latin typeface="Courier" pitchFamily="2" charset="0"/>
              </a:rPr>
              <a:t>program1</a:t>
            </a:r>
          </a:p>
          <a:p>
            <a:r>
              <a:rPr lang="en-US" dirty="0">
                <a:latin typeface="Courier" pitchFamily="2" charset="0"/>
              </a:rPr>
              <a:t>}</a:t>
            </a:r>
          </a:p>
          <a:p>
            <a:r>
              <a:rPr lang="en-US" dirty="0">
                <a:latin typeface="Courier" pitchFamily="2" charset="0"/>
              </a:rPr>
              <a:t>else {</a:t>
            </a:r>
          </a:p>
          <a:p>
            <a:r>
              <a:rPr lang="en-US" dirty="0">
                <a:latin typeface="Courier" pitchFamily="2" charset="0"/>
              </a:rPr>
              <a:t>  </a:t>
            </a:r>
            <a:r>
              <a:rPr lang="en-US" dirty="0">
                <a:highlight>
                  <a:srgbClr val="00FFFF"/>
                </a:highlight>
                <a:latin typeface="Courier" pitchFamily="2" charset="0"/>
              </a:rPr>
              <a:t>program2</a:t>
            </a:r>
          </a:p>
          <a:p>
            <a:r>
              <a:rPr lang="en-US" dirty="0">
                <a:latin typeface="Courier" pitchFamily="2" charset="0"/>
              </a:rPr>
              <a:t>}</a:t>
            </a:r>
          </a:p>
        </p:txBody>
      </p:sp>
      <p:sp>
        <p:nvSpPr>
          <p:cNvPr id="4" name="TextBox 3">
            <a:extLst>
              <a:ext uri="{FF2B5EF4-FFF2-40B4-BE49-F238E27FC236}">
                <a16:creationId xmlns:a16="http://schemas.microsoft.com/office/drawing/2014/main" id="{70712360-0EFC-604A-960F-9F645DCB8740}"/>
              </a:ext>
            </a:extLst>
          </p:cNvPr>
          <p:cNvSpPr txBox="1"/>
          <p:nvPr/>
        </p:nvSpPr>
        <p:spPr>
          <a:xfrm>
            <a:off x="9562011" y="3108679"/>
            <a:ext cx="2430987" cy="646331"/>
          </a:xfrm>
          <a:prstGeom prst="rect">
            <a:avLst/>
          </a:prstGeom>
          <a:noFill/>
        </p:spPr>
        <p:txBody>
          <a:bodyPr wrap="none" rtlCol="0">
            <a:spAutoFit/>
          </a:bodyPr>
          <a:lstStyle/>
          <a:p>
            <a:r>
              <a:rPr lang="en-US" i="1" dirty="0"/>
              <a:t>We need to convert this</a:t>
            </a:r>
            <a:br>
              <a:rPr lang="en-US" i="1" dirty="0"/>
            </a:br>
            <a:r>
              <a:rPr lang="en-US" i="1" dirty="0"/>
              <a:t>to 3 address code</a:t>
            </a:r>
          </a:p>
        </p:txBody>
      </p:sp>
    </p:spTree>
    <p:extLst>
      <p:ext uri="{BB962C8B-B14F-4D97-AF65-F5344CB8AC3E}">
        <p14:creationId xmlns:p14="http://schemas.microsoft.com/office/powerpoint/2010/main" val="24898146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258EB2-A9C8-4E4B-A6D5-99A5401504FF}"/>
              </a:ext>
            </a:extLst>
          </p:cNvPr>
          <p:cNvSpPr/>
          <p:nvPr/>
        </p:nvSpPr>
        <p:spPr>
          <a:xfrm>
            <a:off x="339633" y="1181240"/>
            <a:ext cx="9222378" cy="369332"/>
          </a:xfrm>
          <a:prstGeom prst="rect">
            <a:avLst/>
          </a:prstGeom>
        </p:spPr>
        <p:txBody>
          <a:bodyPr wrap="square">
            <a:spAutoFit/>
          </a:bodyPr>
          <a:lstStyle/>
          <a:p>
            <a:r>
              <a:rPr lang="en-US" dirty="0" err="1">
                <a:latin typeface="Courier" pitchFamily="2" charset="0"/>
                <a:ea typeface="Calibri" panose="020F0502020204030204" pitchFamily="34" charset="0"/>
                <a:cs typeface="Times New Roman" panose="02020603050405020304" pitchFamily="18" charset="0"/>
              </a:rPr>
              <a:t>if_else_statement</a:t>
            </a:r>
            <a:r>
              <a:rPr lang="en-US" dirty="0">
                <a:latin typeface="Courier" pitchFamily="2" charset="0"/>
                <a:ea typeface="Calibri" panose="020F0502020204030204" pitchFamily="34" charset="0"/>
                <a:cs typeface="Times New Roman" panose="02020603050405020304" pitchFamily="18" charset="0"/>
              </a:rPr>
              <a:t> := IF LPAR </a:t>
            </a:r>
            <a:r>
              <a:rPr lang="en-US" dirty="0">
                <a:highlight>
                  <a:srgbClr val="FFFF00"/>
                </a:highlight>
                <a:latin typeface="Courier" pitchFamily="2" charset="0"/>
                <a:ea typeface="Calibri" panose="020F0502020204030204" pitchFamily="34" charset="0"/>
                <a:cs typeface="Times New Roman" panose="02020603050405020304" pitchFamily="18" charset="0"/>
              </a:rPr>
              <a:t>expr</a:t>
            </a:r>
            <a:r>
              <a:rPr lang="en-US" dirty="0">
                <a:latin typeface="Courier" pitchFamily="2" charset="0"/>
                <a:ea typeface="Calibri" panose="020F0502020204030204" pitchFamily="34" charset="0"/>
                <a:cs typeface="Times New Roman" panose="02020603050405020304" pitchFamily="18" charset="0"/>
              </a:rPr>
              <a:t> RPAR </a:t>
            </a:r>
            <a:r>
              <a:rPr lang="en-US" dirty="0">
                <a:highlight>
                  <a:srgbClr val="00FF00"/>
                </a:highlight>
                <a:latin typeface="Courier" pitchFamily="2" charset="0"/>
                <a:ea typeface="Calibri" panose="020F0502020204030204" pitchFamily="34" charset="0"/>
                <a:cs typeface="Times New Roman" panose="02020603050405020304" pitchFamily="18" charset="0"/>
              </a:rPr>
              <a:t>statement</a:t>
            </a:r>
            <a:r>
              <a:rPr lang="en-US" dirty="0">
                <a:latin typeface="Courier" pitchFamily="2" charset="0"/>
                <a:ea typeface="Calibri" panose="020F0502020204030204" pitchFamily="34" charset="0"/>
                <a:cs typeface="Times New Roman" panose="02020603050405020304" pitchFamily="18" charset="0"/>
              </a:rPr>
              <a:t> ELSE </a:t>
            </a:r>
            <a:r>
              <a:rPr lang="en-US" dirty="0">
                <a:highlight>
                  <a:srgbClr val="00FFFF"/>
                </a:highlight>
                <a:latin typeface="Courier" pitchFamily="2" charset="0"/>
                <a:ea typeface="Calibri" panose="020F0502020204030204" pitchFamily="34" charset="0"/>
                <a:cs typeface="Times New Roman" panose="02020603050405020304" pitchFamily="18" charset="0"/>
              </a:rPr>
              <a:t>statement</a:t>
            </a:r>
            <a:r>
              <a:rPr lang="en-US" dirty="0">
                <a:latin typeface="Courier" pitchFamily="2" charset="0"/>
                <a:ea typeface="Calibri" panose="020F0502020204030204" pitchFamily="34" charset="0"/>
                <a:cs typeface="Times New Roman" panose="02020603050405020304" pitchFamily="18" charset="0"/>
              </a:rPr>
              <a:t> </a:t>
            </a:r>
            <a:endParaRPr lang="en-US" dirty="0"/>
          </a:p>
        </p:txBody>
      </p:sp>
      <p:sp>
        <p:nvSpPr>
          <p:cNvPr id="3" name="TextBox 2">
            <a:extLst>
              <a:ext uri="{FF2B5EF4-FFF2-40B4-BE49-F238E27FC236}">
                <a16:creationId xmlns:a16="http://schemas.microsoft.com/office/drawing/2014/main" id="{90A7CD11-C9E7-A84C-841E-B6F212D50409}"/>
              </a:ext>
            </a:extLst>
          </p:cNvPr>
          <p:cNvSpPr txBox="1"/>
          <p:nvPr/>
        </p:nvSpPr>
        <p:spPr>
          <a:xfrm>
            <a:off x="9562011" y="1254036"/>
            <a:ext cx="2252540" cy="1754326"/>
          </a:xfrm>
          <a:prstGeom prst="rect">
            <a:avLst/>
          </a:prstGeom>
          <a:noFill/>
        </p:spPr>
        <p:txBody>
          <a:bodyPr wrap="none" rtlCol="0">
            <a:spAutoFit/>
          </a:bodyPr>
          <a:lstStyle/>
          <a:p>
            <a:r>
              <a:rPr lang="en-US" dirty="0">
                <a:latin typeface="Courier" pitchFamily="2" charset="0"/>
              </a:rPr>
              <a:t>if (</a:t>
            </a:r>
            <a:r>
              <a:rPr lang="en-US" dirty="0">
                <a:highlight>
                  <a:srgbClr val="FFFF00"/>
                </a:highlight>
                <a:latin typeface="Courier" pitchFamily="2" charset="0"/>
              </a:rPr>
              <a:t>program0</a:t>
            </a:r>
            <a:r>
              <a:rPr lang="en-US" dirty="0">
                <a:latin typeface="Courier" pitchFamily="2" charset="0"/>
              </a:rPr>
              <a:t>) {</a:t>
            </a:r>
          </a:p>
          <a:p>
            <a:r>
              <a:rPr lang="en-US" dirty="0">
                <a:latin typeface="Courier" pitchFamily="2" charset="0"/>
              </a:rPr>
              <a:t>  </a:t>
            </a:r>
            <a:r>
              <a:rPr lang="en-US" dirty="0">
                <a:highlight>
                  <a:srgbClr val="00FF00"/>
                </a:highlight>
                <a:latin typeface="Courier" pitchFamily="2" charset="0"/>
              </a:rPr>
              <a:t>program1</a:t>
            </a:r>
          </a:p>
          <a:p>
            <a:r>
              <a:rPr lang="en-US" dirty="0">
                <a:latin typeface="Courier" pitchFamily="2" charset="0"/>
              </a:rPr>
              <a:t>}</a:t>
            </a:r>
          </a:p>
          <a:p>
            <a:r>
              <a:rPr lang="en-US" dirty="0">
                <a:latin typeface="Courier" pitchFamily="2" charset="0"/>
              </a:rPr>
              <a:t>else {</a:t>
            </a:r>
          </a:p>
          <a:p>
            <a:r>
              <a:rPr lang="en-US" dirty="0">
                <a:latin typeface="Courier" pitchFamily="2" charset="0"/>
              </a:rPr>
              <a:t>  </a:t>
            </a:r>
            <a:r>
              <a:rPr lang="en-US" dirty="0">
                <a:highlight>
                  <a:srgbClr val="00FFFF"/>
                </a:highlight>
                <a:latin typeface="Courier" pitchFamily="2" charset="0"/>
              </a:rPr>
              <a:t>program2</a:t>
            </a:r>
          </a:p>
          <a:p>
            <a:r>
              <a:rPr lang="en-US" dirty="0">
                <a:latin typeface="Courier" pitchFamily="2" charset="0"/>
              </a:rPr>
              <a:t>}</a:t>
            </a:r>
          </a:p>
        </p:txBody>
      </p:sp>
      <p:sp>
        <p:nvSpPr>
          <p:cNvPr id="4" name="TextBox 3">
            <a:extLst>
              <a:ext uri="{FF2B5EF4-FFF2-40B4-BE49-F238E27FC236}">
                <a16:creationId xmlns:a16="http://schemas.microsoft.com/office/drawing/2014/main" id="{70712360-0EFC-604A-960F-9F645DCB8740}"/>
              </a:ext>
            </a:extLst>
          </p:cNvPr>
          <p:cNvSpPr txBox="1"/>
          <p:nvPr/>
        </p:nvSpPr>
        <p:spPr>
          <a:xfrm>
            <a:off x="9562011" y="3108679"/>
            <a:ext cx="2430987" cy="646331"/>
          </a:xfrm>
          <a:prstGeom prst="rect">
            <a:avLst/>
          </a:prstGeom>
          <a:noFill/>
        </p:spPr>
        <p:txBody>
          <a:bodyPr wrap="none" rtlCol="0">
            <a:spAutoFit/>
          </a:bodyPr>
          <a:lstStyle/>
          <a:p>
            <a:r>
              <a:rPr lang="en-US" i="1" dirty="0"/>
              <a:t>We need to convert this</a:t>
            </a:r>
            <a:br>
              <a:rPr lang="en-US" i="1" dirty="0"/>
            </a:br>
            <a:r>
              <a:rPr lang="en-US" i="1" dirty="0"/>
              <a:t>to 3 address code</a:t>
            </a:r>
          </a:p>
        </p:txBody>
      </p:sp>
      <p:sp>
        <p:nvSpPr>
          <p:cNvPr id="7" name="TextBox 6">
            <a:extLst>
              <a:ext uri="{FF2B5EF4-FFF2-40B4-BE49-F238E27FC236}">
                <a16:creationId xmlns:a16="http://schemas.microsoft.com/office/drawing/2014/main" id="{D5E8AA79-486E-3B45-96F4-BC323830C51C}"/>
              </a:ext>
            </a:extLst>
          </p:cNvPr>
          <p:cNvSpPr txBox="1"/>
          <p:nvPr/>
        </p:nvSpPr>
        <p:spPr>
          <a:xfrm>
            <a:off x="9676369" y="4609851"/>
            <a:ext cx="1563248" cy="923330"/>
          </a:xfrm>
          <a:prstGeom prst="rect">
            <a:avLst/>
          </a:prstGeom>
          <a:noFill/>
        </p:spPr>
        <p:txBody>
          <a:bodyPr wrap="none" rtlCol="0">
            <a:spAutoFit/>
          </a:bodyPr>
          <a:lstStyle/>
          <a:p>
            <a:r>
              <a:rPr lang="en-US" dirty="0">
                <a:highlight>
                  <a:srgbClr val="FFFF00"/>
                </a:highlight>
                <a:latin typeface="Courier" pitchFamily="2" charset="0"/>
              </a:rPr>
              <a:t>  program0</a:t>
            </a:r>
          </a:p>
          <a:p>
            <a:r>
              <a:rPr lang="en-US" dirty="0">
                <a:highlight>
                  <a:srgbClr val="00FF00"/>
                </a:highlight>
                <a:latin typeface="Courier" pitchFamily="2" charset="0"/>
              </a:rPr>
              <a:t>  program1</a:t>
            </a:r>
          </a:p>
          <a:p>
            <a:r>
              <a:rPr lang="en-US" dirty="0">
                <a:highlight>
                  <a:srgbClr val="00FFFF"/>
                </a:highlight>
                <a:latin typeface="Courier" pitchFamily="2" charset="0"/>
              </a:rPr>
              <a:t>  program2</a:t>
            </a:r>
          </a:p>
        </p:txBody>
      </p:sp>
      <p:sp>
        <p:nvSpPr>
          <p:cNvPr id="9" name="Rectangle 8">
            <a:extLst>
              <a:ext uri="{FF2B5EF4-FFF2-40B4-BE49-F238E27FC236}">
                <a16:creationId xmlns:a16="http://schemas.microsoft.com/office/drawing/2014/main" id="{C5BC9AC0-6A65-C74F-82BE-625A68845704}"/>
              </a:ext>
            </a:extLst>
          </p:cNvPr>
          <p:cNvSpPr/>
          <p:nvPr/>
        </p:nvSpPr>
        <p:spPr>
          <a:xfrm>
            <a:off x="339633" y="1859339"/>
            <a:ext cx="7396986" cy="3416320"/>
          </a:xfrm>
          <a:prstGeom prst="rect">
            <a:avLst/>
          </a:prstGeom>
        </p:spPr>
        <p:txBody>
          <a:bodyPr wrap="square">
            <a:spAutoFit/>
          </a:bodyPr>
          <a:lstStyle/>
          <a:p>
            <a:r>
              <a:rPr lang="en-US" dirty="0">
                <a:latin typeface="Courier" pitchFamily="2" charset="0"/>
              </a:rPr>
              <a:t>{</a:t>
            </a:r>
          </a:p>
          <a:p>
            <a:r>
              <a:rPr lang="en-US" dirty="0">
                <a:latin typeface="Courier" pitchFamily="2" charset="0"/>
              </a:rPr>
              <a:t>   eat(“IF”);</a:t>
            </a:r>
          </a:p>
          <a:p>
            <a:r>
              <a:rPr lang="en-US" dirty="0">
                <a:latin typeface="Courier" pitchFamily="2" charset="0"/>
              </a:rPr>
              <a:t>   eat(“LPAR”);</a:t>
            </a:r>
          </a:p>
          <a:p>
            <a:r>
              <a:rPr lang="en-US" dirty="0">
                <a:latin typeface="Courier" pitchFamily="2" charset="0"/>
              </a:rPr>
              <a:t>   </a:t>
            </a:r>
            <a:r>
              <a:rPr lang="en-US" dirty="0" err="1">
                <a:highlight>
                  <a:srgbClr val="FFFF00"/>
                </a:highlight>
                <a:latin typeface="Courier" pitchFamily="2" charset="0"/>
              </a:rPr>
              <a:t>expr_ast</a:t>
            </a:r>
            <a:r>
              <a:rPr lang="en-US" dirty="0">
                <a:latin typeface="Courier" pitchFamily="2" charset="0"/>
              </a:rPr>
              <a:t> = </a:t>
            </a:r>
            <a:r>
              <a:rPr lang="en-US" dirty="0" err="1">
                <a:latin typeface="Courier" pitchFamily="2" charset="0"/>
              </a:rPr>
              <a:t>parse_expr</a:t>
            </a:r>
            <a:r>
              <a:rPr lang="en-US" dirty="0">
                <a:latin typeface="Courier" pitchFamily="2" charset="0"/>
              </a:rPr>
              <a:t>()</a:t>
            </a:r>
          </a:p>
          <a:p>
            <a:r>
              <a:rPr lang="en-US" dirty="0">
                <a:highlight>
                  <a:srgbClr val="FFFF00"/>
                </a:highlight>
                <a:latin typeface="Courier" pitchFamily="2" charset="0"/>
              </a:rPr>
              <a:t>   ...</a:t>
            </a:r>
          </a:p>
          <a:p>
            <a:r>
              <a:rPr lang="en-US" dirty="0">
                <a:highlight>
                  <a:srgbClr val="FFFF00"/>
                </a:highlight>
                <a:latin typeface="Courier" pitchFamily="2" charset="0"/>
              </a:rPr>
              <a:t>   program0 = </a:t>
            </a:r>
            <a:r>
              <a:rPr lang="en-US" dirty="0">
                <a:latin typeface="Courier" pitchFamily="2" charset="0"/>
              </a:rPr>
              <a:t># type safe and linearized </a:t>
            </a:r>
            <a:r>
              <a:rPr lang="en-US" dirty="0" err="1">
                <a:latin typeface="Courier" pitchFamily="2" charset="0"/>
              </a:rPr>
              <a:t>ast</a:t>
            </a:r>
            <a:endParaRPr lang="en-US" dirty="0">
              <a:latin typeface="Courier" pitchFamily="2" charset="0"/>
            </a:endParaRPr>
          </a:p>
          <a:p>
            <a:r>
              <a:rPr lang="en-US" dirty="0">
                <a:latin typeface="Courier" pitchFamily="2" charset="0"/>
              </a:rPr>
              <a:t>   eat(“RPAR”);</a:t>
            </a:r>
          </a:p>
          <a:p>
            <a:r>
              <a:rPr lang="en-US" dirty="0">
                <a:latin typeface="Courier" pitchFamily="2" charset="0"/>
              </a:rPr>
              <a:t>   </a:t>
            </a:r>
            <a:r>
              <a:rPr lang="en-US" dirty="0">
                <a:highlight>
                  <a:srgbClr val="00FF00"/>
                </a:highlight>
                <a:latin typeface="Courier" pitchFamily="2" charset="0"/>
              </a:rPr>
              <a:t>program1</a:t>
            </a:r>
            <a:r>
              <a:rPr lang="en-US" dirty="0">
                <a:latin typeface="Courier" pitchFamily="2" charset="0"/>
              </a:rPr>
              <a:t> = </a:t>
            </a:r>
            <a:r>
              <a:rPr lang="en-US" dirty="0" err="1">
                <a:latin typeface="Courier" pitchFamily="2" charset="0"/>
              </a:rPr>
              <a:t>parse_statement</a:t>
            </a:r>
            <a:r>
              <a:rPr lang="en-US" dirty="0">
                <a:latin typeface="Courier" pitchFamily="2" charset="0"/>
              </a:rPr>
              <a:t>()</a:t>
            </a:r>
            <a:endParaRPr lang="en-US" dirty="0">
              <a:highlight>
                <a:srgbClr val="00FF00"/>
              </a:highlight>
              <a:latin typeface="Courier" pitchFamily="2" charset="0"/>
            </a:endParaRPr>
          </a:p>
          <a:p>
            <a:r>
              <a:rPr lang="en-US" dirty="0">
                <a:latin typeface="Courier" pitchFamily="2" charset="0"/>
              </a:rPr>
              <a:t>   eat(“ELSE”)</a:t>
            </a:r>
          </a:p>
          <a:p>
            <a:r>
              <a:rPr lang="en-US" dirty="0">
                <a:latin typeface="Courier" pitchFamily="2" charset="0"/>
              </a:rPr>
              <a:t>   </a:t>
            </a:r>
            <a:r>
              <a:rPr lang="en-US" dirty="0">
                <a:highlight>
                  <a:srgbClr val="00FFFF"/>
                </a:highlight>
                <a:latin typeface="Courier" pitchFamily="2" charset="0"/>
              </a:rPr>
              <a:t>program2</a:t>
            </a:r>
            <a:r>
              <a:rPr lang="en-US" dirty="0">
                <a:latin typeface="Courier" pitchFamily="2" charset="0"/>
              </a:rPr>
              <a:t> = </a:t>
            </a:r>
            <a:r>
              <a:rPr lang="en-US" dirty="0" err="1">
                <a:latin typeface="Courier" pitchFamily="2" charset="0"/>
              </a:rPr>
              <a:t>parse_statement</a:t>
            </a:r>
            <a:r>
              <a:rPr lang="en-US" dirty="0">
                <a:latin typeface="Courier" pitchFamily="2" charset="0"/>
              </a:rPr>
              <a:t>()</a:t>
            </a:r>
            <a:endParaRPr lang="en-US" dirty="0">
              <a:highlight>
                <a:srgbClr val="00FFFF"/>
              </a:highlight>
              <a:latin typeface="Courier" pitchFamily="2" charset="0"/>
            </a:endParaRPr>
          </a:p>
          <a:p>
            <a:r>
              <a:rPr lang="en-US" dirty="0">
                <a:latin typeface="Courier" pitchFamily="2" charset="0"/>
              </a:rPr>
              <a:t>   ...</a:t>
            </a:r>
          </a:p>
          <a:p>
            <a:r>
              <a:rPr lang="en-US" dirty="0">
                <a:latin typeface="Courier" pitchFamily="2" charset="0"/>
              </a:rPr>
              <a:t>}</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AB5B8571-D673-8F80-577B-55F63310DAED}"/>
              </a:ext>
            </a:extLst>
          </p:cNvPr>
          <p:cNvSpPr txBox="1"/>
          <p:nvPr/>
        </p:nvSpPr>
        <p:spPr>
          <a:xfrm>
            <a:off x="8525436" y="4240519"/>
            <a:ext cx="1815353" cy="369332"/>
          </a:xfrm>
          <a:prstGeom prst="rect">
            <a:avLst/>
          </a:prstGeom>
          <a:noFill/>
        </p:spPr>
        <p:txBody>
          <a:bodyPr wrap="square" rtlCol="0">
            <a:spAutoFit/>
          </a:bodyPr>
          <a:lstStyle/>
          <a:p>
            <a:r>
              <a:rPr lang="en-US" dirty="0"/>
              <a:t>Generate these:</a:t>
            </a:r>
          </a:p>
        </p:txBody>
      </p:sp>
    </p:spTree>
    <p:extLst>
      <p:ext uri="{BB962C8B-B14F-4D97-AF65-F5344CB8AC3E}">
        <p14:creationId xmlns:p14="http://schemas.microsoft.com/office/powerpoint/2010/main" val="34719977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258EB2-A9C8-4E4B-A6D5-99A5401504FF}"/>
              </a:ext>
            </a:extLst>
          </p:cNvPr>
          <p:cNvSpPr/>
          <p:nvPr/>
        </p:nvSpPr>
        <p:spPr>
          <a:xfrm>
            <a:off x="339633" y="1181240"/>
            <a:ext cx="9222378" cy="369332"/>
          </a:xfrm>
          <a:prstGeom prst="rect">
            <a:avLst/>
          </a:prstGeom>
        </p:spPr>
        <p:txBody>
          <a:bodyPr wrap="square">
            <a:spAutoFit/>
          </a:bodyPr>
          <a:lstStyle/>
          <a:p>
            <a:r>
              <a:rPr lang="en-US" dirty="0" err="1">
                <a:latin typeface="Courier" pitchFamily="2" charset="0"/>
                <a:ea typeface="Calibri" panose="020F0502020204030204" pitchFamily="34" charset="0"/>
                <a:cs typeface="Times New Roman" panose="02020603050405020304" pitchFamily="18" charset="0"/>
              </a:rPr>
              <a:t>if_else_statement</a:t>
            </a:r>
            <a:r>
              <a:rPr lang="en-US" dirty="0">
                <a:latin typeface="Courier" pitchFamily="2" charset="0"/>
                <a:ea typeface="Calibri" panose="020F0502020204030204" pitchFamily="34" charset="0"/>
                <a:cs typeface="Times New Roman" panose="02020603050405020304" pitchFamily="18" charset="0"/>
              </a:rPr>
              <a:t> := IF LPAR </a:t>
            </a:r>
            <a:r>
              <a:rPr lang="en-US" dirty="0">
                <a:highlight>
                  <a:srgbClr val="FFFF00"/>
                </a:highlight>
                <a:latin typeface="Courier" pitchFamily="2" charset="0"/>
                <a:ea typeface="Calibri" panose="020F0502020204030204" pitchFamily="34" charset="0"/>
                <a:cs typeface="Times New Roman" panose="02020603050405020304" pitchFamily="18" charset="0"/>
              </a:rPr>
              <a:t>expr</a:t>
            </a:r>
            <a:r>
              <a:rPr lang="en-US" dirty="0">
                <a:latin typeface="Courier" pitchFamily="2" charset="0"/>
                <a:ea typeface="Calibri" panose="020F0502020204030204" pitchFamily="34" charset="0"/>
                <a:cs typeface="Times New Roman" panose="02020603050405020304" pitchFamily="18" charset="0"/>
              </a:rPr>
              <a:t> RPAR </a:t>
            </a:r>
            <a:r>
              <a:rPr lang="en-US" dirty="0">
                <a:highlight>
                  <a:srgbClr val="00FF00"/>
                </a:highlight>
                <a:latin typeface="Courier" pitchFamily="2" charset="0"/>
                <a:ea typeface="Calibri" panose="020F0502020204030204" pitchFamily="34" charset="0"/>
                <a:cs typeface="Times New Roman" panose="02020603050405020304" pitchFamily="18" charset="0"/>
              </a:rPr>
              <a:t>statement</a:t>
            </a:r>
            <a:r>
              <a:rPr lang="en-US" dirty="0">
                <a:latin typeface="Courier" pitchFamily="2" charset="0"/>
                <a:ea typeface="Calibri" panose="020F0502020204030204" pitchFamily="34" charset="0"/>
                <a:cs typeface="Times New Roman" panose="02020603050405020304" pitchFamily="18" charset="0"/>
              </a:rPr>
              <a:t> ELSE </a:t>
            </a:r>
            <a:r>
              <a:rPr lang="en-US" dirty="0">
                <a:highlight>
                  <a:srgbClr val="00FFFF"/>
                </a:highlight>
                <a:latin typeface="Courier" pitchFamily="2" charset="0"/>
                <a:ea typeface="Calibri" panose="020F0502020204030204" pitchFamily="34" charset="0"/>
                <a:cs typeface="Times New Roman" panose="02020603050405020304" pitchFamily="18" charset="0"/>
              </a:rPr>
              <a:t>statement</a:t>
            </a:r>
            <a:r>
              <a:rPr lang="en-US" dirty="0">
                <a:latin typeface="Courier" pitchFamily="2" charset="0"/>
                <a:ea typeface="Calibri" panose="020F0502020204030204" pitchFamily="34" charset="0"/>
                <a:cs typeface="Times New Roman" panose="02020603050405020304" pitchFamily="18" charset="0"/>
              </a:rPr>
              <a:t> </a:t>
            </a:r>
            <a:endParaRPr lang="en-US" dirty="0"/>
          </a:p>
        </p:txBody>
      </p:sp>
      <p:sp>
        <p:nvSpPr>
          <p:cNvPr id="3" name="TextBox 2">
            <a:extLst>
              <a:ext uri="{FF2B5EF4-FFF2-40B4-BE49-F238E27FC236}">
                <a16:creationId xmlns:a16="http://schemas.microsoft.com/office/drawing/2014/main" id="{90A7CD11-C9E7-A84C-841E-B6F212D50409}"/>
              </a:ext>
            </a:extLst>
          </p:cNvPr>
          <p:cNvSpPr txBox="1"/>
          <p:nvPr/>
        </p:nvSpPr>
        <p:spPr>
          <a:xfrm>
            <a:off x="9562011" y="1254036"/>
            <a:ext cx="2252540" cy="1754326"/>
          </a:xfrm>
          <a:prstGeom prst="rect">
            <a:avLst/>
          </a:prstGeom>
          <a:noFill/>
        </p:spPr>
        <p:txBody>
          <a:bodyPr wrap="none" rtlCol="0">
            <a:spAutoFit/>
          </a:bodyPr>
          <a:lstStyle/>
          <a:p>
            <a:r>
              <a:rPr lang="en-US" dirty="0">
                <a:latin typeface="Courier" pitchFamily="2" charset="0"/>
              </a:rPr>
              <a:t>if (</a:t>
            </a:r>
            <a:r>
              <a:rPr lang="en-US" dirty="0">
                <a:highlight>
                  <a:srgbClr val="FFFF00"/>
                </a:highlight>
                <a:latin typeface="Courier" pitchFamily="2" charset="0"/>
              </a:rPr>
              <a:t>program0</a:t>
            </a:r>
            <a:r>
              <a:rPr lang="en-US" dirty="0">
                <a:latin typeface="Courier" pitchFamily="2" charset="0"/>
              </a:rPr>
              <a:t>) {</a:t>
            </a:r>
          </a:p>
          <a:p>
            <a:r>
              <a:rPr lang="en-US" dirty="0">
                <a:latin typeface="Courier" pitchFamily="2" charset="0"/>
              </a:rPr>
              <a:t>  </a:t>
            </a:r>
            <a:r>
              <a:rPr lang="en-US" dirty="0">
                <a:highlight>
                  <a:srgbClr val="00FF00"/>
                </a:highlight>
                <a:latin typeface="Courier" pitchFamily="2" charset="0"/>
              </a:rPr>
              <a:t>program1</a:t>
            </a:r>
          </a:p>
          <a:p>
            <a:r>
              <a:rPr lang="en-US" dirty="0">
                <a:latin typeface="Courier" pitchFamily="2" charset="0"/>
              </a:rPr>
              <a:t>}</a:t>
            </a:r>
          </a:p>
          <a:p>
            <a:r>
              <a:rPr lang="en-US" dirty="0">
                <a:latin typeface="Courier" pitchFamily="2" charset="0"/>
              </a:rPr>
              <a:t>else {</a:t>
            </a:r>
          </a:p>
          <a:p>
            <a:r>
              <a:rPr lang="en-US" dirty="0">
                <a:latin typeface="Courier" pitchFamily="2" charset="0"/>
              </a:rPr>
              <a:t>  </a:t>
            </a:r>
            <a:r>
              <a:rPr lang="en-US" dirty="0">
                <a:highlight>
                  <a:srgbClr val="00FFFF"/>
                </a:highlight>
                <a:latin typeface="Courier" pitchFamily="2" charset="0"/>
              </a:rPr>
              <a:t>program2</a:t>
            </a:r>
          </a:p>
          <a:p>
            <a:r>
              <a:rPr lang="en-US" dirty="0">
                <a:latin typeface="Courier" pitchFamily="2" charset="0"/>
              </a:rPr>
              <a:t>}</a:t>
            </a:r>
          </a:p>
        </p:txBody>
      </p:sp>
      <p:sp>
        <p:nvSpPr>
          <p:cNvPr id="4" name="TextBox 3">
            <a:extLst>
              <a:ext uri="{FF2B5EF4-FFF2-40B4-BE49-F238E27FC236}">
                <a16:creationId xmlns:a16="http://schemas.microsoft.com/office/drawing/2014/main" id="{70712360-0EFC-604A-960F-9F645DCB8740}"/>
              </a:ext>
            </a:extLst>
          </p:cNvPr>
          <p:cNvSpPr txBox="1"/>
          <p:nvPr/>
        </p:nvSpPr>
        <p:spPr>
          <a:xfrm>
            <a:off x="9562011" y="3108679"/>
            <a:ext cx="2430987" cy="646331"/>
          </a:xfrm>
          <a:prstGeom prst="rect">
            <a:avLst/>
          </a:prstGeom>
          <a:noFill/>
        </p:spPr>
        <p:txBody>
          <a:bodyPr wrap="none" rtlCol="0">
            <a:spAutoFit/>
          </a:bodyPr>
          <a:lstStyle/>
          <a:p>
            <a:r>
              <a:rPr lang="en-US" i="1" dirty="0"/>
              <a:t>We need to convert this</a:t>
            </a:r>
            <a:br>
              <a:rPr lang="en-US" i="1" dirty="0"/>
            </a:br>
            <a:r>
              <a:rPr lang="en-US" i="1" dirty="0"/>
              <a:t>to 3 address code</a:t>
            </a:r>
          </a:p>
        </p:txBody>
      </p:sp>
      <p:sp>
        <p:nvSpPr>
          <p:cNvPr id="7" name="TextBox 6">
            <a:extLst>
              <a:ext uri="{FF2B5EF4-FFF2-40B4-BE49-F238E27FC236}">
                <a16:creationId xmlns:a16="http://schemas.microsoft.com/office/drawing/2014/main" id="{D5E8AA79-486E-3B45-96F4-BC323830C51C}"/>
              </a:ext>
            </a:extLst>
          </p:cNvPr>
          <p:cNvSpPr txBox="1"/>
          <p:nvPr/>
        </p:nvSpPr>
        <p:spPr>
          <a:xfrm>
            <a:off x="6662824" y="4212285"/>
            <a:ext cx="5147563" cy="2308324"/>
          </a:xfrm>
          <a:prstGeom prst="rect">
            <a:avLst/>
          </a:prstGeom>
          <a:noFill/>
        </p:spPr>
        <p:txBody>
          <a:bodyPr wrap="none" rtlCol="0">
            <a:spAutoFit/>
          </a:bodyPr>
          <a:lstStyle/>
          <a:p>
            <a:r>
              <a:rPr lang="en-US" dirty="0">
                <a:highlight>
                  <a:srgbClr val="FFFF00"/>
                </a:highlight>
                <a:latin typeface="Courier" pitchFamily="2" charset="0"/>
              </a:rPr>
              <a:t>  program0;</a:t>
            </a:r>
          </a:p>
          <a:p>
            <a:r>
              <a:rPr lang="en-US" dirty="0">
                <a:latin typeface="Courier" pitchFamily="2" charset="0"/>
              </a:rPr>
              <a:t>  </a:t>
            </a:r>
            <a:r>
              <a:rPr lang="en-US" dirty="0" err="1">
                <a:latin typeface="Courier" pitchFamily="2" charset="0"/>
              </a:rPr>
              <a:t>vrX</a:t>
            </a:r>
            <a:r>
              <a:rPr lang="en-US" dirty="0">
                <a:latin typeface="Courier" pitchFamily="2" charset="0"/>
              </a:rPr>
              <a:t> = int2vr(0)</a:t>
            </a:r>
          </a:p>
          <a:p>
            <a:r>
              <a:rPr lang="en-US" dirty="0">
                <a:latin typeface="Courier" pitchFamily="2" charset="0"/>
              </a:rPr>
              <a:t>  </a:t>
            </a:r>
            <a:r>
              <a:rPr lang="en-US" dirty="0" err="1">
                <a:latin typeface="Courier" pitchFamily="2" charset="0"/>
              </a:rPr>
              <a:t>beq</a:t>
            </a:r>
            <a:r>
              <a:rPr lang="en-US" dirty="0">
                <a:latin typeface="Courier" pitchFamily="2" charset="0"/>
              </a:rPr>
              <a:t>(</a:t>
            </a:r>
            <a:r>
              <a:rPr lang="en-US" dirty="0" err="1">
                <a:latin typeface="Courier" pitchFamily="2" charset="0"/>
              </a:rPr>
              <a:t>expr_ast.vr</a:t>
            </a:r>
            <a:r>
              <a:rPr lang="en-US" dirty="0">
                <a:latin typeface="Courier" pitchFamily="2" charset="0"/>
              </a:rPr>
              <a:t>, </a:t>
            </a:r>
            <a:r>
              <a:rPr lang="en-US" dirty="0" err="1">
                <a:latin typeface="Courier" pitchFamily="2" charset="0"/>
              </a:rPr>
              <a:t>vrX</a:t>
            </a:r>
            <a:r>
              <a:rPr lang="en-US" dirty="0">
                <a:latin typeface="Courier" pitchFamily="2" charset="0"/>
              </a:rPr>
              <a:t>, </a:t>
            </a:r>
            <a:r>
              <a:rPr lang="en-US" dirty="0" err="1">
                <a:latin typeface="Courier" pitchFamily="2" charset="0"/>
              </a:rPr>
              <a:t>else_label</a:t>
            </a:r>
            <a:r>
              <a:rPr lang="en-US" dirty="0">
                <a:latin typeface="Courier" pitchFamily="2" charset="0"/>
              </a:rPr>
              <a:t>);</a:t>
            </a:r>
          </a:p>
          <a:p>
            <a:r>
              <a:rPr lang="en-US" dirty="0">
                <a:highlight>
                  <a:srgbClr val="00FF00"/>
                </a:highlight>
                <a:latin typeface="Courier" pitchFamily="2" charset="0"/>
              </a:rPr>
              <a:t>  program1</a:t>
            </a:r>
          </a:p>
          <a:p>
            <a:r>
              <a:rPr lang="en-US" dirty="0">
                <a:latin typeface="Courier" pitchFamily="2" charset="0"/>
              </a:rPr>
              <a:t>  branch(</a:t>
            </a:r>
            <a:r>
              <a:rPr lang="en-US" dirty="0" err="1">
                <a:latin typeface="Courier" pitchFamily="2" charset="0"/>
              </a:rPr>
              <a:t>end_label</a:t>
            </a:r>
            <a:r>
              <a:rPr lang="en-US" dirty="0">
                <a:latin typeface="Courier" pitchFamily="2" charset="0"/>
              </a:rPr>
              <a:t>);</a:t>
            </a:r>
          </a:p>
          <a:p>
            <a:r>
              <a:rPr lang="en-US" dirty="0" err="1">
                <a:latin typeface="Courier" pitchFamily="2" charset="0"/>
              </a:rPr>
              <a:t>else_label</a:t>
            </a:r>
            <a:r>
              <a:rPr lang="en-US" dirty="0">
                <a:latin typeface="Courier" pitchFamily="2" charset="0"/>
              </a:rPr>
              <a:t>:</a:t>
            </a:r>
          </a:p>
          <a:p>
            <a:r>
              <a:rPr lang="en-US" dirty="0">
                <a:highlight>
                  <a:srgbClr val="00FFFF"/>
                </a:highlight>
                <a:latin typeface="Courier" pitchFamily="2" charset="0"/>
              </a:rPr>
              <a:t>  program2</a:t>
            </a:r>
            <a:br>
              <a:rPr lang="en-US" dirty="0">
                <a:highlight>
                  <a:srgbClr val="00FFFF"/>
                </a:highlight>
                <a:latin typeface="Courier" pitchFamily="2" charset="0"/>
              </a:rPr>
            </a:br>
            <a:r>
              <a:rPr lang="en-US" dirty="0" err="1">
                <a:latin typeface="Courier" pitchFamily="2" charset="0"/>
              </a:rPr>
              <a:t>end_label</a:t>
            </a:r>
            <a:r>
              <a:rPr lang="en-US" dirty="0">
                <a:latin typeface="Courier" pitchFamily="2" charset="0"/>
              </a:rPr>
              <a:t>:</a:t>
            </a:r>
          </a:p>
        </p:txBody>
      </p:sp>
      <p:sp>
        <p:nvSpPr>
          <p:cNvPr id="8" name="Rectangle 7">
            <a:extLst>
              <a:ext uri="{FF2B5EF4-FFF2-40B4-BE49-F238E27FC236}">
                <a16:creationId xmlns:a16="http://schemas.microsoft.com/office/drawing/2014/main" id="{03867D15-4671-C846-A139-5B7636F03274}"/>
              </a:ext>
            </a:extLst>
          </p:cNvPr>
          <p:cNvSpPr/>
          <p:nvPr/>
        </p:nvSpPr>
        <p:spPr>
          <a:xfrm>
            <a:off x="339633" y="1859339"/>
            <a:ext cx="7396986" cy="3416320"/>
          </a:xfrm>
          <a:prstGeom prst="rect">
            <a:avLst/>
          </a:prstGeom>
        </p:spPr>
        <p:txBody>
          <a:bodyPr wrap="square">
            <a:spAutoFit/>
          </a:bodyPr>
          <a:lstStyle/>
          <a:p>
            <a:r>
              <a:rPr lang="en-US" dirty="0">
                <a:latin typeface="Courier" pitchFamily="2" charset="0"/>
              </a:rPr>
              <a:t>{</a:t>
            </a:r>
          </a:p>
          <a:p>
            <a:r>
              <a:rPr lang="en-US" dirty="0">
                <a:latin typeface="Courier" pitchFamily="2" charset="0"/>
              </a:rPr>
              <a:t>   eat(“IF”);</a:t>
            </a:r>
          </a:p>
          <a:p>
            <a:r>
              <a:rPr lang="en-US" dirty="0">
                <a:latin typeface="Courier" pitchFamily="2" charset="0"/>
              </a:rPr>
              <a:t>   eat(“LPAR”);</a:t>
            </a:r>
          </a:p>
          <a:p>
            <a:r>
              <a:rPr lang="en-US" dirty="0">
                <a:latin typeface="Courier" pitchFamily="2" charset="0"/>
              </a:rPr>
              <a:t>   </a:t>
            </a:r>
            <a:r>
              <a:rPr lang="en-US" dirty="0" err="1">
                <a:highlight>
                  <a:srgbClr val="FFFF00"/>
                </a:highlight>
                <a:latin typeface="Courier" pitchFamily="2" charset="0"/>
              </a:rPr>
              <a:t>expr_ast</a:t>
            </a:r>
            <a:r>
              <a:rPr lang="en-US" dirty="0">
                <a:latin typeface="Courier" pitchFamily="2" charset="0"/>
              </a:rPr>
              <a:t> = </a:t>
            </a:r>
            <a:r>
              <a:rPr lang="en-US" dirty="0" err="1">
                <a:latin typeface="Courier" pitchFamily="2" charset="0"/>
              </a:rPr>
              <a:t>parse_expr</a:t>
            </a:r>
            <a:r>
              <a:rPr lang="en-US" dirty="0">
                <a:latin typeface="Courier" pitchFamily="2" charset="0"/>
              </a:rPr>
              <a:t>()</a:t>
            </a:r>
          </a:p>
          <a:p>
            <a:r>
              <a:rPr lang="en-US" dirty="0">
                <a:highlight>
                  <a:srgbClr val="FFFF00"/>
                </a:highlight>
                <a:latin typeface="Courier" pitchFamily="2" charset="0"/>
              </a:rPr>
              <a:t>   ...</a:t>
            </a:r>
          </a:p>
          <a:p>
            <a:r>
              <a:rPr lang="en-US" dirty="0">
                <a:highlight>
                  <a:srgbClr val="FFFF00"/>
                </a:highlight>
                <a:latin typeface="Courier" pitchFamily="2" charset="0"/>
              </a:rPr>
              <a:t>   program0 = </a:t>
            </a:r>
            <a:r>
              <a:rPr lang="en-US" dirty="0">
                <a:latin typeface="Courier" pitchFamily="2" charset="0"/>
              </a:rPr>
              <a:t> type safe and linearized </a:t>
            </a:r>
            <a:r>
              <a:rPr lang="en-US" dirty="0" err="1">
                <a:latin typeface="Courier" pitchFamily="2" charset="0"/>
              </a:rPr>
              <a:t>ast</a:t>
            </a:r>
            <a:endParaRPr lang="en-US" dirty="0">
              <a:latin typeface="Courier" pitchFamily="2" charset="0"/>
            </a:endParaRPr>
          </a:p>
          <a:p>
            <a:r>
              <a:rPr lang="en-US" dirty="0">
                <a:latin typeface="Courier" pitchFamily="2" charset="0"/>
              </a:rPr>
              <a:t>   eat(“RPAR”);</a:t>
            </a:r>
          </a:p>
          <a:p>
            <a:r>
              <a:rPr lang="en-US" dirty="0">
                <a:latin typeface="Courier" pitchFamily="2" charset="0"/>
              </a:rPr>
              <a:t>   </a:t>
            </a:r>
            <a:r>
              <a:rPr lang="en-US" dirty="0">
                <a:highlight>
                  <a:srgbClr val="00FF00"/>
                </a:highlight>
                <a:latin typeface="Courier" pitchFamily="2" charset="0"/>
              </a:rPr>
              <a:t>program1</a:t>
            </a:r>
            <a:r>
              <a:rPr lang="en-US" dirty="0">
                <a:latin typeface="Courier" pitchFamily="2" charset="0"/>
              </a:rPr>
              <a:t> = </a:t>
            </a:r>
            <a:r>
              <a:rPr lang="en-US" dirty="0" err="1">
                <a:latin typeface="Courier" pitchFamily="2" charset="0"/>
              </a:rPr>
              <a:t>parse_statement</a:t>
            </a:r>
            <a:r>
              <a:rPr lang="en-US" dirty="0">
                <a:latin typeface="Courier" pitchFamily="2" charset="0"/>
              </a:rPr>
              <a:t>()</a:t>
            </a:r>
            <a:endParaRPr lang="en-US" dirty="0">
              <a:highlight>
                <a:srgbClr val="00FF00"/>
              </a:highlight>
              <a:latin typeface="Courier" pitchFamily="2" charset="0"/>
            </a:endParaRPr>
          </a:p>
          <a:p>
            <a:r>
              <a:rPr lang="en-US" dirty="0">
                <a:latin typeface="Courier" pitchFamily="2" charset="0"/>
              </a:rPr>
              <a:t>   eat(“ELSE”)</a:t>
            </a:r>
          </a:p>
          <a:p>
            <a:r>
              <a:rPr lang="en-US" dirty="0">
                <a:latin typeface="Courier" pitchFamily="2" charset="0"/>
              </a:rPr>
              <a:t>   </a:t>
            </a:r>
            <a:r>
              <a:rPr lang="en-US" dirty="0">
                <a:highlight>
                  <a:srgbClr val="00FFFF"/>
                </a:highlight>
                <a:latin typeface="Courier" pitchFamily="2" charset="0"/>
              </a:rPr>
              <a:t>program2</a:t>
            </a:r>
            <a:r>
              <a:rPr lang="en-US" dirty="0">
                <a:latin typeface="Courier" pitchFamily="2" charset="0"/>
              </a:rPr>
              <a:t> = </a:t>
            </a:r>
            <a:r>
              <a:rPr lang="en-US" dirty="0" err="1">
                <a:latin typeface="Courier" pitchFamily="2" charset="0"/>
              </a:rPr>
              <a:t>parse_statement</a:t>
            </a:r>
            <a:r>
              <a:rPr lang="en-US" dirty="0">
                <a:latin typeface="Courier" pitchFamily="2" charset="0"/>
              </a:rPr>
              <a:t>()</a:t>
            </a:r>
            <a:endParaRPr lang="en-US" dirty="0">
              <a:highlight>
                <a:srgbClr val="00FFFF"/>
              </a:highlight>
              <a:latin typeface="Courier" pitchFamily="2" charset="0"/>
            </a:endParaRPr>
          </a:p>
          <a:p>
            <a:r>
              <a:rPr lang="en-US" dirty="0">
                <a:latin typeface="Courier" pitchFamily="2" charset="0"/>
              </a:rPr>
              <a:t>   ...</a:t>
            </a:r>
          </a:p>
          <a:p>
            <a:r>
              <a:rPr lang="en-US" dirty="0">
                <a:latin typeface="Courier" pitchFamily="2" charset="0"/>
              </a:rPr>
              <a:t>}</a:t>
            </a:r>
            <a:endParaRPr lang="en-US" sz="3200" dirty="0">
              <a:effectLst/>
              <a:latin typeface="Courier" pitchFamily="2"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72729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258EB2-A9C8-4E4B-A6D5-99A5401504FF}"/>
              </a:ext>
            </a:extLst>
          </p:cNvPr>
          <p:cNvSpPr/>
          <p:nvPr/>
        </p:nvSpPr>
        <p:spPr>
          <a:xfrm>
            <a:off x="339633" y="1181240"/>
            <a:ext cx="9222378" cy="369332"/>
          </a:xfrm>
          <a:prstGeom prst="rect">
            <a:avLst/>
          </a:prstGeom>
        </p:spPr>
        <p:txBody>
          <a:bodyPr wrap="square">
            <a:spAutoFit/>
          </a:bodyPr>
          <a:lstStyle/>
          <a:p>
            <a:r>
              <a:rPr lang="en-US" dirty="0" err="1">
                <a:latin typeface="Courier" pitchFamily="2" charset="0"/>
                <a:ea typeface="Calibri" panose="020F0502020204030204" pitchFamily="34" charset="0"/>
                <a:cs typeface="Times New Roman" panose="02020603050405020304" pitchFamily="18" charset="0"/>
              </a:rPr>
              <a:t>if_else_statement</a:t>
            </a:r>
            <a:r>
              <a:rPr lang="en-US" dirty="0">
                <a:latin typeface="Courier" pitchFamily="2" charset="0"/>
                <a:ea typeface="Calibri" panose="020F0502020204030204" pitchFamily="34" charset="0"/>
                <a:cs typeface="Times New Roman" panose="02020603050405020304" pitchFamily="18" charset="0"/>
              </a:rPr>
              <a:t> := IF LPAR </a:t>
            </a:r>
            <a:r>
              <a:rPr lang="en-US" dirty="0">
                <a:highlight>
                  <a:srgbClr val="FFFF00"/>
                </a:highlight>
                <a:latin typeface="Courier" pitchFamily="2" charset="0"/>
                <a:ea typeface="Calibri" panose="020F0502020204030204" pitchFamily="34" charset="0"/>
                <a:cs typeface="Times New Roman" panose="02020603050405020304" pitchFamily="18" charset="0"/>
              </a:rPr>
              <a:t>expr</a:t>
            </a:r>
            <a:r>
              <a:rPr lang="en-US" dirty="0">
                <a:latin typeface="Courier" pitchFamily="2" charset="0"/>
                <a:ea typeface="Calibri" panose="020F0502020204030204" pitchFamily="34" charset="0"/>
                <a:cs typeface="Times New Roman" panose="02020603050405020304" pitchFamily="18" charset="0"/>
              </a:rPr>
              <a:t> RPAR </a:t>
            </a:r>
            <a:r>
              <a:rPr lang="en-US" dirty="0">
                <a:highlight>
                  <a:srgbClr val="00FF00"/>
                </a:highlight>
                <a:latin typeface="Courier" pitchFamily="2" charset="0"/>
                <a:ea typeface="Calibri" panose="020F0502020204030204" pitchFamily="34" charset="0"/>
                <a:cs typeface="Times New Roman" panose="02020603050405020304" pitchFamily="18" charset="0"/>
              </a:rPr>
              <a:t>statement</a:t>
            </a:r>
            <a:r>
              <a:rPr lang="en-US" dirty="0">
                <a:latin typeface="Courier" pitchFamily="2" charset="0"/>
                <a:ea typeface="Calibri" panose="020F0502020204030204" pitchFamily="34" charset="0"/>
                <a:cs typeface="Times New Roman" panose="02020603050405020304" pitchFamily="18" charset="0"/>
              </a:rPr>
              <a:t> ELSE </a:t>
            </a:r>
            <a:r>
              <a:rPr lang="en-US" dirty="0">
                <a:highlight>
                  <a:srgbClr val="00FFFF"/>
                </a:highlight>
                <a:latin typeface="Courier" pitchFamily="2" charset="0"/>
                <a:ea typeface="Calibri" panose="020F0502020204030204" pitchFamily="34" charset="0"/>
                <a:cs typeface="Times New Roman" panose="02020603050405020304" pitchFamily="18" charset="0"/>
              </a:rPr>
              <a:t>statement</a:t>
            </a:r>
            <a:r>
              <a:rPr lang="en-US" dirty="0">
                <a:latin typeface="Courier" pitchFamily="2" charset="0"/>
                <a:ea typeface="Calibri" panose="020F0502020204030204" pitchFamily="34" charset="0"/>
                <a:cs typeface="Times New Roman" panose="02020603050405020304" pitchFamily="18" charset="0"/>
              </a:rPr>
              <a:t> </a:t>
            </a:r>
            <a:endParaRPr lang="en-US" dirty="0"/>
          </a:p>
        </p:txBody>
      </p:sp>
      <p:sp>
        <p:nvSpPr>
          <p:cNvPr id="5" name="Rectangle 4">
            <a:extLst>
              <a:ext uri="{FF2B5EF4-FFF2-40B4-BE49-F238E27FC236}">
                <a16:creationId xmlns:a16="http://schemas.microsoft.com/office/drawing/2014/main" id="{29D061B3-321C-BF43-B43E-5A50006033BD}"/>
              </a:ext>
            </a:extLst>
          </p:cNvPr>
          <p:cNvSpPr/>
          <p:nvPr/>
        </p:nvSpPr>
        <p:spPr>
          <a:xfrm>
            <a:off x="199002" y="1743149"/>
            <a:ext cx="6992983" cy="5078313"/>
          </a:xfrm>
          <a:prstGeom prst="rect">
            <a:avLst/>
          </a:prstGeom>
        </p:spPr>
        <p:txBody>
          <a:bodyPr wrap="square">
            <a:spAutoFit/>
          </a:bodyPr>
          <a:lstStyle/>
          <a:p>
            <a:r>
              <a:rPr lang="en-US" dirty="0">
                <a:latin typeface="Courier" pitchFamily="2" charset="0"/>
              </a:rPr>
              <a:t>{</a:t>
            </a:r>
          </a:p>
          <a:p>
            <a:r>
              <a:rPr lang="en-US" dirty="0">
                <a:latin typeface="Courier" pitchFamily="2" charset="0"/>
              </a:rPr>
              <a:t>   ...</a:t>
            </a:r>
          </a:p>
          <a:p>
            <a:r>
              <a:rPr lang="en-US" dirty="0">
                <a:latin typeface="Courier" pitchFamily="2" charset="0"/>
              </a:rPr>
              <a:t>   # get resources</a:t>
            </a:r>
          </a:p>
          <a:p>
            <a:r>
              <a:rPr lang="en-US" dirty="0">
                <a:latin typeface="Courier" pitchFamily="2" charset="0"/>
              </a:rPr>
              <a:t>   </a:t>
            </a:r>
            <a:r>
              <a:rPr lang="en-US" dirty="0" err="1">
                <a:latin typeface="Courier" pitchFamily="2" charset="0"/>
              </a:rPr>
              <a:t>end_label</a:t>
            </a:r>
            <a:r>
              <a:rPr lang="en-US" dirty="0">
                <a:latin typeface="Courier" pitchFamily="2" charset="0"/>
              </a:rPr>
              <a:t>  = </a:t>
            </a:r>
            <a:r>
              <a:rPr lang="en-US" dirty="0" err="1">
                <a:latin typeface="Courier" pitchFamily="2" charset="0"/>
              </a:rPr>
              <a:t>mk_new_label</a:t>
            </a:r>
            <a:r>
              <a:rPr lang="en-US" dirty="0">
                <a:latin typeface="Courier" pitchFamily="2" charset="0"/>
              </a:rPr>
              <a:t>()</a:t>
            </a:r>
          </a:p>
          <a:p>
            <a:r>
              <a:rPr lang="en-US" dirty="0">
                <a:latin typeface="Courier" pitchFamily="2" charset="0"/>
              </a:rPr>
              <a:t>   </a:t>
            </a:r>
            <a:r>
              <a:rPr lang="en-US" dirty="0" err="1">
                <a:latin typeface="Courier" pitchFamily="2" charset="0"/>
              </a:rPr>
              <a:t>else_label</a:t>
            </a:r>
            <a:r>
              <a:rPr lang="en-US" dirty="0">
                <a:latin typeface="Courier" pitchFamily="2" charset="0"/>
              </a:rPr>
              <a:t> = </a:t>
            </a:r>
            <a:r>
              <a:rPr lang="en-US" dirty="0" err="1">
                <a:latin typeface="Courier" pitchFamily="2" charset="0"/>
              </a:rPr>
              <a:t>mk_new_label</a:t>
            </a:r>
            <a:r>
              <a:rPr lang="en-US" dirty="0">
                <a:latin typeface="Courier" pitchFamily="2" charset="0"/>
              </a:rPr>
              <a:t>()</a:t>
            </a:r>
          </a:p>
          <a:p>
            <a:r>
              <a:rPr lang="en-US" dirty="0">
                <a:latin typeface="Courier" pitchFamily="2" charset="0"/>
              </a:rPr>
              <a:t>   </a:t>
            </a:r>
            <a:r>
              <a:rPr lang="en-US" dirty="0" err="1">
                <a:latin typeface="Courier" pitchFamily="2" charset="0"/>
              </a:rPr>
              <a:t>vrX</a:t>
            </a:r>
            <a:r>
              <a:rPr lang="en-US" dirty="0">
                <a:latin typeface="Courier" pitchFamily="2" charset="0"/>
              </a:rPr>
              <a:t>        = </a:t>
            </a:r>
            <a:r>
              <a:rPr lang="en-US" dirty="0" err="1">
                <a:latin typeface="Courier" pitchFamily="2" charset="0"/>
              </a:rPr>
              <a:t>mk_new_vr</a:t>
            </a:r>
            <a:r>
              <a:rPr lang="en-US" dirty="0">
                <a:latin typeface="Courier" pitchFamily="2" charset="0"/>
              </a:rPr>
              <a:t>()</a:t>
            </a:r>
          </a:p>
          <a:p>
            <a:endParaRPr lang="en-US" dirty="0">
              <a:latin typeface="Courier" pitchFamily="2" charset="0"/>
            </a:endParaRPr>
          </a:p>
          <a:p>
            <a:r>
              <a:rPr lang="en-US" dirty="0">
                <a:latin typeface="Courier" pitchFamily="2" charset="0"/>
              </a:rPr>
              <a:t>   # make instructions</a:t>
            </a:r>
          </a:p>
          <a:p>
            <a:r>
              <a:rPr lang="en-US" dirty="0">
                <a:latin typeface="Courier" pitchFamily="2" charset="0"/>
              </a:rPr>
              <a:t>   ins0 = “%s = int2vr(0)” % </a:t>
            </a:r>
            <a:r>
              <a:rPr lang="en-US" dirty="0" err="1">
                <a:latin typeface="Courier" pitchFamily="2" charset="0"/>
              </a:rPr>
              <a:t>vrX</a:t>
            </a:r>
            <a:r>
              <a:rPr lang="en-US" dirty="0">
                <a:latin typeface="Courier" pitchFamily="2" charset="0"/>
              </a:rPr>
              <a:t>  # create False</a:t>
            </a:r>
          </a:p>
          <a:p>
            <a:r>
              <a:rPr lang="en-US" dirty="0">
                <a:latin typeface="Courier" pitchFamily="2" charset="0"/>
              </a:rPr>
              <a:t>   ins1 = “</a:t>
            </a:r>
            <a:r>
              <a:rPr lang="en-US" dirty="0" err="1">
                <a:latin typeface="Courier" pitchFamily="2" charset="0"/>
              </a:rPr>
              <a:t>beq</a:t>
            </a:r>
            <a:r>
              <a:rPr lang="en-US" dirty="0">
                <a:latin typeface="Courier" pitchFamily="2" charset="0"/>
              </a:rPr>
              <a:t>(%s, %s, %s);” % </a:t>
            </a:r>
          </a:p>
          <a:p>
            <a:r>
              <a:rPr lang="en-US" dirty="0">
                <a:latin typeface="Courier" pitchFamily="2" charset="0"/>
              </a:rPr>
              <a:t>          (</a:t>
            </a:r>
            <a:r>
              <a:rPr lang="en-US" dirty="0" err="1">
                <a:latin typeface="Courier" pitchFamily="2" charset="0"/>
              </a:rPr>
              <a:t>expr_ast.vr</a:t>
            </a:r>
            <a:r>
              <a:rPr lang="en-US" dirty="0">
                <a:latin typeface="Courier" pitchFamily="2" charset="0"/>
              </a:rPr>
              <a:t>, </a:t>
            </a:r>
            <a:r>
              <a:rPr lang="en-US" dirty="0" err="1">
                <a:latin typeface="Courier" pitchFamily="2" charset="0"/>
              </a:rPr>
              <a:t>vrX</a:t>
            </a:r>
            <a:r>
              <a:rPr lang="en-US" dirty="0">
                <a:latin typeface="Courier" pitchFamily="2" charset="0"/>
              </a:rPr>
              <a:t>, </a:t>
            </a:r>
            <a:r>
              <a:rPr lang="en-US" dirty="0" err="1">
                <a:latin typeface="Courier" pitchFamily="2" charset="0"/>
              </a:rPr>
              <a:t>else_label</a:t>
            </a:r>
            <a:r>
              <a:rPr lang="en-US" dirty="0">
                <a:latin typeface="Courier" pitchFamily="2" charset="0"/>
              </a:rPr>
              <a:t>)</a:t>
            </a:r>
          </a:p>
          <a:p>
            <a:r>
              <a:rPr lang="en-US" dirty="0">
                <a:latin typeface="Courier" pitchFamily="2" charset="0"/>
              </a:rPr>
              <a:t>   ins2 = “branch(%s)” % </a:t>
            </a:r>
            <a:r>
              <a:rPr lang="en-US" dirty="0" err="1">
                <a:latin typeface="Courier" pitchFamily="2" charset="0"/>
              </a:rPr>
              <a:t>end_label</a:t>
            </a:r>
            <a:endParaRPr lang="en-US" dirty="0">
              <a:latin typeface="Courier" pitchFamily="2" charset="0"/>
            </a:endParaRPr>
          </a:p>
          <a:p>
            <a:endParaRPr lang="en-US" dirty="0">
              <a:latin typeface="Courier" pitchFamily="2" charset="0"/>
            </a:endParaRPr>
          </a:p>
          <a:p>
            <a:r>
              <a:rPr lang="en-US" dirty="0">
                <a:latin typeface="Courier" pitchFamily="2" charset="0"/>
              </a:rPr>
              <a:t>   # concatenate all programs</a:t>
            </a:r>
          </a:p>
          <a:p>
            <a:r>
              <a:rPr lang="en-US" dirty="0">
                <a:latin typeface="Courier" pitchFamily="2" charset="0"/>
              </a:rPr>
              <a:t>   return program0 + [ins0, ins1] + program1</a:t>
            </a:r>
            <a:br>
              <a:rPr lang="en-US" dirty="0">
                <a:latin typeface="Courier" pitchFamily="2" charset="0"/>
              </a:rPr>
            </a:br>
            <a:r>
              <a:rPr lang="en-US" dirty="0">
                <a:latin typeface="Courier" pitchFamily="2" charset="0"/>
              </a:rPr>
              <a:t>          + [ins2, </a:t>
            </a:r>
            <a:r>
              <a:rPr lang="en-US" dirty="0" err="1">
                <a:latin typeface="Courier" pitchFamily="2" charset="0"/>
              </a:rPr>
              <a:t>label_code</a:t>
            </a:r>
            <a:r>
              <a:rPr lang="en-US" dirty="0">
                <a:latin typeface="Courier" pitchFamily="2" charset="0"/>
              </a:rPr>
              <a:t>(</a:t>
            </a:r>
            <a:r>
              <a:rPr lang="en-US" dirty="0" err="1">
                <a:latin typeface="Courier" pitchFamily="2" charset="0"/>
              </a:rPr>
              <a:t>else_label</a:t>
            </a:r>
            <a:r>
              <a:rPr lang="en-US" dirty="0">
                <a:latin typeface="Courier" pitchFamily="2" charset="0"/>
              </a:rPr>
              <a:t>)]</a:t>
            </a:r>
            <a:br>
              <a:rPr lang="en-US" dirty="0">
                <a:latin typeface="Courier" pitchFamily="2" charset="0"/>
              </a:rPr>
            </a:br>
            <a:r>
              <a:rPr lang="en-US" dirty="0">
                <a:latin typeface="Courier" pitchFamily="2" charset="0"/>
              </a:rPr>
              <a:t>          + program2 + [</a:t>
            </a:r>
            <a:r>
              <a:rPr lang="en-US" dirty="0" err="1">
                <a:latin typeface="Courier" pitchFamily="2" charset="0"/>
              </a:rPr>
              <a:t>label_code</a:t>
            </a:r>
            <a:r>
              <a:rPr lang="en-US" dirty="0">
                <a:latin typeface="Courier" pitchFamily="2" charset="0"/>
              </a:rPr>
              <a:t>(</a:t>
            </a:r>
            <a:r>
              <a:rPr lang="en-US" dirty="0" err="1">
                <a:latin typeface="Courier" pitchFamily="2" charset="0"/>
              </a:rPr>
              <a:t>end_label</a:t>
            </a:r>
            <a:r>
              <a:rPr lang="en-US" dirty="0">
                <a:latin typeface="Courier" pitchFamily="2" charset="0"/>
              </a:rPr>
              <a:t>)]  </a:t>
            </a:r>
          </a:p>
          <a:p>
            <a:r>
              <a:rPr lang="en-US" dirty="0">
                <a:latin typeface="Courier" pitchFamily="2" charset="0"/>
              </a:rPr>
              <a:t>}</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90A7CD11-C9E7-A84C-841E-B6F212D50409}"/>
              </a:ext>
            </a:extLst>
          </p:cNvPr>
          <p:cNvSpPr txBox="1"/>
          <p:nvPr/>
        </p:nvSpPr>
        <p:spPr>
          <a:xfrm>
            <a:off x="9562011" y="1254036"/>
            <a:ext cx="2252540" cy="1754326"/>
          </a:xfrm>
          <a:prstGeom prst="rect">
            <a:avLst/>
          </a:prstGeom>
          <a:noFill/>
        </p:spPr>
        <p:txBody>
          <a:bodyPr wrap="none" rtlCol="0">
            <a:spAutoFit/>
          </a:bodyPr>
          <a:lstStyle/>
          <a:p>
            <a:r>
              <a:rPr lang="en-US" dirty="0">
                <a:latin typeface="Courier" pitchFamily="2" charset="0"/>
              </a:rPr>
              <a:t>if (</a:t>
            </a:r>
            <a:r>
              <a:rPr lang="en-US" dirty="0">
                <a:highlight>
                  <a:srgbClr val="FFFF00"/>
                </a:highlight>
                <a:latin typeface="Courier" pitchFamily="2" charset="0"/>
              </a:rPr>
              <a:t>program0</a:t>
            </a:r>
            <a:r>
              <a:rPr lang="en-US" dirty="0">
                <a:latin typeface="Courier" pitchFamily="2" charset="0"/>
              </a:rPr>
              <a:t>) {</a:t>
            </a:r>
          </a:p>
          <a:p>
            <a:r>
              <a:rPr lang="en-US" dirty="0">
                <a:latin typeface="Courier" pitchFamily="2" charset="0"/>
              </a:rPr>
              <a:t>  </a:t>
            </a:r>
            <a:r>
              <a:rPr lang="en-US" dirty="0">
                <a:highlight>
                  <a:srgbClr val="00FF00"/>
                </a:highlight>
                <a:latin typeface="Courier" pitchFamily="2" charset="0"/>
              </a:rPr>
              <a:t>program1</a:t>
            </a:r>
          </a:p>
          <a:p>
            <a:r>
              <a:rPr lang="en-US" dirty="0">
                <a:latin typeface="Courier" pitchFamily="2" charset="0"/>
              </a:rPr>
              <a:t>}</a:t>
            </a:r>
          </a:p>
          <a:p>
            <a:r>
              <a:rPr lang="en-US" dirty="0">
                <a:latin typeface="Courier" pitchFamily="2" charset="0"/>
              </a:rPr>
              <a:t>else {</a:t>
            </a:r>
          </a:p>
          <a:p>
            <a:r>
              <a:rPr lang="en-US" dirty="0">
                <a:latin typeface="Courier" pitchFamily="2" charset="0"/>
              </a:rPr>
              <a:t>  </a:t>
            </a:r>
            <a:r>
              <a:rPr lang="en-US" dirty="0">
                <a:highlight>
                  <a:srgbClr val="00FFFF"/>
                </a:highlight>
                <a:latin typeface="Courier" pitchFamily="2" charset="0"/>
              </a:rPr>
              <a:t>program2</a:t>
            </a:r>
          </a:p>
          <a:p>
            <a:r>
              <a:rPr lang="en-US" dirty="0">
                <a:latin typeface="Courier" pitchFamily="2" charset="0"/>
              </a:rPr>
              <a:t>}</a:t>
            </a:r>
          </a:p>
        </p:txBody>
      </p:sp>
      <p:sp>
        <p:nvSpPr>
          <p:cNvPr id="4" name="TextBox 3">
            <a:extLst>
              <a:ext uri="{FF2B5EF4-FFF2-40B4-BE49-F238E27FC236}">
                <a16:creationId xmlns:a16="http://schemas.microsoft.com/office/drawing/2014/main" id="{70712360-0EFC-604A-960F-9F645DCB8740}"/>
              </a:ext>
            </a:extLst>
          </p:cNvPr>
          <p:cNvSpPr txBox="1"/>
          <p:nvPr/>
        </p:nvSpPr>
        <p:spPr>
          <a:xfrm>
            <a:off x="9562011" y="3108679"/>
            <a:ext cx="2430987" cy="646331"/>
          </a:xfrm>
          <a:prstGeom prst="rect">
            <a:avLst/>
          </a:prstGeom>
          <a:noFill/>
        </p:spPr>
        <p:txBody>
          <a:bodyPr wrap="none" rtlCol="0">
            <a:spAutoFit/>
          </a:bodyPr>
          <a:lstStyle/>
          <a:p>
            <a:r>
              <a:rPr lang="en-US" i="1" dirty="0"/>
              <a:t>We need to convert this</a:t>
            </a:r>
            <a:br>
              <a:rPr lang="en-US" i="1" dirty="0"/>
            </a:br>
            <a:r>
              <a:rPr lang="en-US" i="1" dirty="0"/>
              <a:t>to 3 address code</a:t>
            </a:r>
          </a:p>
        </p:txBody>
      </p:sp>
      <p:sp>
        <p:nvSpPr>
          <p:cNvPr id="7" name="TextBox 6">
            <a:extLst>
              <a:ext uri="{FF2B5EF4-FFF2-40B4-BE49-F238E27FC236}">
                <a16:creationId xmlns:a16="http://schemas.microsoft.com/office/drawing/2014/main" id="{D5E8AA79-486E-3B45-96F4-BC323830C51C}"/>
              </a:ext>
            </a:extLst>
          </p:cNvPr>
          <p:cNvSpPr txBox="1"/>
          <p:nvPr/>
        </p:nvSpPr>
        <p:spPr>
          <a:xfrm>
            <a:off x="6988229" y="4236139"/>
            <a:ext cx="5147563" cy="2308324"/>
          </a:xfrm>
          <a:prstGeom prst="rect">
            <a:avLst/>
          </a:prstGeom>
          <a:noFill/>
        </p:spPr>
        <p:txBody>
          <a:bodyPr wrap="none" rtlCol="0">
            <a:spAutoFit/>
          </a:bodyPr>
          <a:lstStyle/>
          <a:p>
            <a:r>
              <a:rPr lang="en-US" dirty="0">
                <a:latin typeface="Courier" pitchFamily="2" charset="0"/>
              </a:rPr>
              <a:t>  </a:t>
            </a:r>
            <a:r>
              <a:rPr lang="en-US" dirty="0">
                <a:highlight>
                  <a:srgbClr val="FFFF00"/>
                </a:highlight>
                <a:latin typeface="Courier" pitchFamily="2" charset="0"/>
              </a:rPr>
              <a:t>program0;</a:t>
            </a:r>
          </a:p>
          <a:p>
            <a:r>
              <a:rPr lang="en-US" dirty="0">
                <a:latin typeface="Courier" pitchFamily="2" charset="0"/>
              </a:rPr>
              <a:t>  </a:t>
            </a:r>
            <a:r>
              <a:rPr lang="en-US" dirty="0" err="1">
                <a:latin typeface="Courier" pitchFamily="2" charset="0"/>
              </a:rPr>
              <a:t>vrX</a:t>
            </a:r>
            <a:r>
              <a:rPr lang="en-US" dirty="0">
                <a:latin typeface="Courier" pitchFamily="2" charset="0"/>
              </a:rPr>
              <a:t> = int2vr(0);   // a False</a:t>
            </a:r>
          </a:p>
          <a:p>
            <a:r>
              <a:rPr lang="en-US" dirty="0">
                <a:latin typeface="Courier" pitchFamily="2" charset="0"/>
              </a:rPr>
              <a:t>  </a:t>
            </a:r>
            <a:r>
              <a:rPr lang="en-US" dirty="0" err="1">
                <a:latin typeface="Courier" pitchFamily="2" charset="0"/>
              </a:rPr>
              <a:t>beq</a:t>
            </a:r>
            <a:r>
              <a:rPr lang="en-US" dirty="0">
                <a:latin typeface="Courier" pitchFamily="2" charset="0"/>
              </a:rPr>
              <a:t>(</a:t>
            </a:r>
            <a:r>
              <a:rPr lang="en-US" dirty="0" err="1">
                <a:latin typeface="Courier" pitchFamily="2" charset="0"/>
              </a:rPr>
              <a:t>expr_ast.vr</a:t>
            </a:r>
            <a:r>
              <a:rPr lang="en-US" dirty="0">
                <a:latin typeface="Courier" pitchFamily="2" charset="0"/>
              </a:rPr>
              <a:t>, </a:t>
            </a:r>
            <a:r>
              <a:rPr lang="en-US" dirty="0" err="1">
                <a:latin typeface="Courier" pitchFamily="2" charset="0"/>
              </a:rPr>
              <a:t>vrX</a:t>
            </a:r>
            <a:r>
              <a:rPr lang="en-US" dirty="0">
                <a:latin typeface="Courier" pitchFamily="2" charset="0"/>
              </a:rPr>
              <a:t>, </a:t>
            </a:r>
            <a:r>
              <a:rPr lang="en-US" dirty="0" err="1">
                <a:latin typeface="Courier" pitchFamily="2" charset="0"/>
              </a:rPr>
              <a:t>else_label</a:t>
            </a:r>
            <a:r>
              <a:rPr lang="en-US" dirty="0">
                <a:latin typeface="Courier" pitchFamily="2" charset="0"/>
              </a:rPr>
              <a:t>);</a:t>
            </a:r>
          </a:p>
          <a:p>
            <a:r>
              <a:rPr lang="en-US" dirty="0">
                <a:latin typeface="Courier" pitchFamily="2" charset="0"/>
              </a:rPr>
              <a:t>  </a:t>
            </a:r>
            <a:r>
              <a:rPr lang="en-US" dirty="0">
                <a:highlight>
                  <a:srgbClr val="00FF00"/>
                </a:highlight>
                <a:latin typeface="Courier" pitchFamily="2" charset="0"/>
              </a:rPr>
              <a:t>program1</a:t>
            </a:r>
          </a:p>
          <a:p>
            <a:r>
              <a:rPr lang="en-US" dirty="0">
                <a:latin typeface="Courier" pitchFamily="2" charset="0"/>
              </a:rPr>
              <a:t>  branch(</a:t>
            </a:r>
            <a:r>
              <a:rPr lang="en-US" dirty="0" err="1">
                <a:latin typeface="Courier" pitchFamily="2" charset="0"/>
              </a:rPr>
              <a:t>end_label</a:t>
            </a:r>
            <a:r>
              <a:rPr lang="en-US" dirty="0">
                <a:latin typeface="Courier" pitchFamily="2" charset="0"/>
              </a:rPr>
              <a:t>);</a:t>
            </a:r>
          </a:p>
          <a:p>
            <a:r>
              <a:rPr lang="en-US" dirty="0" err="1">
                <a:latin typeface="Courier" pitchFamily="2" charset="0"/>
              </a:rPr>
              <a:t>else_label</a:t>
            </a:r>
            <a:r>
              <a:rPr lang="en-US" dirty="0">
                <a:latin typeface="Courier" pitchFamily="2" charset="0"/>
              </a:rPr>
              <a:t>:</a:t>
            </a:r>
          </a:p>
          <a:p>
            <a:r>
              <a:rPr lang="en-US" dirty="0">
                <a:latin typeface="Courier" pitchFamily="2" charset="0"/>
              </a:rPr>
              <a:t>  </a:t>
            </a:r>
            <a:r>
              <a:rPr lang="en-US" dirty="0">
                <a:highlight>
                  <a:srgbClr val="00FFFF"/>
                </a:highlight>
                <a:latin typeface="Courier" pitchFamily="2" charset="0"/>
              </a:rPr>
              <a:t>program2</a:t>
            </a:r>
            <a:br>
              <a:rPr lang="en-US" dirty="0">
                <a:highlight>
                  <a:srgbClr val="00FFFF"/>
                </a:highlight>
                <a:latin typeface="Courier" pitchFamily="2" charset="0"/>
              </a:rPr>
            </a:br>
            <a:r>
              <a:rPr lang="en-US" dirty="0" err="1">
                <a:latin typeface="Courier" pitchFamily="2" charset="0"/>
              </a:rPr>
              <a:t>end_label</a:t>
            </a:r>
            <a:r>
              <a:rPr lang="en-US" dirty="0">
                <a:latin typeface="Courier" pitchFamily="2" charset="0"/>
              </a:rPr>
              <a:t>:</a:t>
            </a:r>
          </a:p>
        </p:txBody>
      </p:sp>
    </p:spTree>
    <p:extLst>
      <p:ext uri="{BB962C8B-B14F-4D97-AF65-F5344CB8AC3E}">
        <p14:creationId xmlns:p14="http://schemas.microsoft.com/office/powerpoint/2010/main" val="34618441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258EB2-A9C8-4E4B-A6D5-99A5401504FF}"/>
              </a:ext>
            </a:extLst>
          </p:cNvPr>
          <p:cNvSpPr/>
          <p:nvPr/>
        </p:nvSpPr>
        <p:spPr>
          <a:xfrm>
            <a:off x="339633" y="1181240"/>
            <a:ext cx="9222378" cy="369332"/>
          </a:xfrm>
          <a:prstGeom prst="rect">
            <a:avLst/>
          </a:prstGeom>
        </p:spPr>
        <p:txBody>
          <a:bodyPr wrap="square">
            <a:spAutoFit/>
          </a:bodyPr>
          <a:lstStyle/>
          <a:p>
            <a:r>
              <a:rPr lang="en-US" dirty="0" err="1">
                <a:latin typeface="Courier" pitchFamily="2" charset="0"/>
                <a:ea typeface="Calibri" panose="020F0502020204030204" pitchFamily="34" charset="0"/>
                <a:cs typeface="Times New Roman" panose="02020603050405020304" pitchFamily="18" charset="0"/>
              </a:rPr>
              <a:t>if_else_statement</a:t>
            </a:r>
            <a:r>
              <a:rPr lang="en-US" dirty="0">
                <a:latin typeface="Courier" pitchFamily="2" charset="0"/>
                <a:ea typeface="Calibri" panose="020F0502020204030204" pitchFamily="34" charset="0"/>
                <a:cs typeface="Times New Roman" panose="02020603050405020304" pitchFamily="18" charset="0"/>
              </a:rPr>
              <a:t> := IF LPAR </a:t>
            </a:r>
            <a:r>
              <a:rPr lang="en-US" dirty="0">
                <a:highlight>
                  <a:srgbClr val="FFFF00"/>
                </a:highlight>
                <a:latin typeface="Courier" pitchFamily="2" charset="0"/>
                <a:ea typeface="Calibri" panose="020F0502020204030204" pitchFamily="34" charset="0"/>
                <a:cs typeface="Times New Roman" panose="02020603050405020304" pitchFamily="18" charset="0"/>
              </a:rPr>
              <a:t>expr</a:t>
            </a:r>
            <a:r>
              <a:rPr lang="en-US" dirty="0">
                <a:latin typeface="Courier" pitchFamily="2" charset="0"/>
                <a:ea typeface="Calibri" panose="020F0502020204030204" pitchFamily="34" charset="0"/>
                <a:cs typeface="Times New Roman" panose="02020603050405020304" pitchFamily="18" charset="0"/>
              </a:rPr>
              <a:t> RPAR </a:t>
            </a:r>
            <a:r>
              <a:rPr lang="en-US" dirty="0">
                <a:highlight>
                  <a:srgbClr val="00FF00"/>
                </a:highlight>
                <a:latin typeface="Courier" pitchFamily="2" charset="0"/>
                <a:ea typeface="Calibri" panose="020F0502020204030204" pitchFamily="34" charset="0"/>
                <a:cs typeface="Times New Roman" panose="02020603050405020304" pitchFamily="18" charset="0"/>
              </a:rPr>
              <a:t>statement</a:t>
            </a:r>
            <a:r>
              <a:rPr lang="en-US" dirty="0">
                <a:latin typeface="Courier" pitchFamily="2" charset="0"/>
                <a:ea typeface="Calibri" panose="020F0502020204030204" pitchFamily="34" charset="0"/>
                <a:cs typeface="Times New Roman" panose="02020603050405020304" pitchFamily="18" charset="0"/>
              </a:rPr>
              <a:t> ELSE </a:t>
            </a:r>
            <a:r>
              <a:rPr lang="en-US" dirty="0">
                <a:highlight>
                  <a:srgbClr val="00FFFF"/>
                </a:highlight>
                <a:latin typeface="Courier" pitchFamily="2" charset="0"/>
                <a:ea typeface="Calibri" panose="020F0502020204030204" pitchFamily="34" charset="0"/>
                <a:cs typeface="Times New Roman" panose="02020603050405020304" pitchFamily="18" charset="0"/>
              </a:rPr>
              <a:t>statement</a:t>
            </a:r>
            <a:r>
              <a:rPr lang="en-US" dirty="0">
                <a:latin typeface="Courier" pitchFamily="2" charset="0"/>
                <a:ea typeface="Calibri" panose="020F0502020204030204" pitchFamily="34" charset="0"/>
                <a:cs typeface="Times New Roman" panose="02020603050405020304" pitchFamily="18" charset="0"/>
              </a:rPr>
              <a:t> </a:t>
            </a:r>
            <a:endParaRPr lang="en-US" dirty="0"/>
          </a:p>
        </p:txBody>
      </p:sp>
      <p:sp>
        <p:nvSpPr>
          <p:cNvPr id="5" name="Rectangle 4">
            <a:extLst>
              <a:ext uri="{FF2B5EF4-FFF2-40B4-BE49-F238E27FC236}">
                <a16:creationId xmlns:a16="http://schemas.microsoft.com/office/drawing/2014/main" id="{29D061B3-321C-BF43-B43E-5A50006033BD}"/>
              </a:ext>
            </a:extLst>
          </p:cNvPr>
          <p:cNvSpPr/>
          <p:nvPr/>
        </p:nvSpPr>
        <p:spPr>
          <a:xfrm>
            <a:off x="199002" y="1743149"/>
            <a:ext cx="6992983" cy="5078313"/>
          </a:xfrm>
          <a:prstGeom prst="rect">
            <a:avLst/>
          </a:prstGeom>
        </p:spPr>
        <p:txBody>
          <a:bodyPr wrap="square">
            <a:spAutoFit/>
          </a:bodyPr>
          <a:lstStyle/>
          <a:p>
            <a:r>
              <a:rPr lang="en-US" dirty="0">
                <a:latin typeface="Courier" pitchFamily="2" charset="0"/>
              </a:rPr>
              <a:t>{</a:t>
            </a:r>
          </a:p>
          <a:p>
            <a:r>
              <a:rPr lang="en-US" dirty="0">
                <a:latin typeface="Courier" pitchFamily="2" charset="0"/>
              </a:rPr>
              <a:t>   ...</a:t>
            </a:r>
          </a:p>
          <a:p>
            <a:r>
              <a:rPr lang="en-US" dirty="0">
                <a:latin typeface="Courier" pitchFamily="2" charset="0"/>
              </a:rPr>
              <a:t>   # get resources</a:t>
            </a:r>
          </a:p>
          <a:p>
            <a:r>
              <a:rPr lang="en-US" dirty="0">
                <a:latin typeface="Courier" pitchFamily="2" charset="0"/>
              </a:rPr>
              <a:t>   </a:t>
            </a:r>
            <a:r>
              <a:rPr lang="en-US" dirty="0" err="1">
                <a:latin typeface="Courier" pitchFamily="2" charset="0"/>
              </a:rPr>
              <a:t>end_label</a:t>
            </a:r>
            <a:r>
              <a:rPr lang="en-US" dirty="0">
                <a:latin typeface="Courier" pitchFamily="2" charset="0"/>
              </a:rPr>
              <a:t>  = </a:t>
            </a:r>
            <a:r>
              <a:rPr lang="en-US" dirty="0" err="1">
                <a:latin typeface="Courier" pitchFamily="2" charset="0"/>
              </a:rPr>
              <a:t>mk_new_label</a:t>
            </a:r>
            <a:r>
              <a:rPr lang="en-US" dirty="0">
                <a:latin typeface="Courier" pitchFamily="2" charset="0"/>
              </a:rPr>
              <a:t>()</a:t>
            </a:r>
          </a:p>
          <a:p>
            <a:r>
              <a:rPr lang="en-US" dirty="0">
                <a:latin typeface="Courier" pitchFamily="2" charset="0"/>
              </a:rPr>
              <a:t>   </a:t>
            </a:r>
            <a:r>
              <a:rPr lang="en-US" dirty="0" err="1">
                <a:latin typeface="Courier" pitchFamily="2" charset="0"/>
              </a:rPr>
              <a:t>else_label</a:t>
            </a:r>
            <a:r>
              <a:rPr lang="en-US" dirty="0">
                <a:latin typeface="Courier" pitchFamily="2" charset="0"/>
              </a:rPr>
              <a:t> = </a:t>
            </a:r>
            <a:r>
              <a:rPr lang="en-US" dirty="0" err="1">
                <a:latin typeface="Courier" pitchFamily="2" charset="0"/>
              </a:rPr>
              <a:t>mk_new_label</a:t>
            </a:r>
            <a:r>
              <a:rPr lang="en-US" dirty="0">
                <a:latin typeface="Courier" pitchFamily="2" charset="0"/>
              </a:rPr>
              <a:t>()</a:t>
            </a:r>
          </a:p>
          <a:p>
            <a:r>
              <a:rPr lang="en-US" dirty="0">
                <a:latin typeface="Courier" pitchFamily="2" charset="0"/>
              </a:rPr>
              <a:t>   </a:t>
            </a:r>
            <a:r>
              <a:rPr lang="en-US" dirty="0" err="1">
                <a:latin typeface="Courier" pitchFamily="2" charset="0"/>
              </a:rPr>
              <a:t>vrX</a:t>
            </a:r>
            <a:r>
              <a:rPr lang="en-US" dirty="0">
                <a:latin typeface="Courier" pitchFamily="2" charset="0"/>
              </a:rPr>
              <a:t>        = </a:t>
            </a:r>
            <a:r>
              <a:rPr lang="en-US" dirty="0" err="1">
                <a:highlight>
                  <a:srgbClr val="FF00FF"/>
                </a:highlight>
                <a:latin typeface="Courier" pitchFamily="2" charset="0"/>
              </a:rPr>
              <a:t>mk_new_vr</a:t>
            </a:r>
            <a:r>
              <a:rPr lang="en-US" dirty="0">
                <a:highlight>
                  <a:srgbClr val="FF00FF"/>
                </a:highlight>
                <a:latin typeface="Courier" pitchFamily="2" charset="0"/>
              </a:rPr>
              <a:t>()</a:t>
            </a:r>
          </a:p>
          <a:p>
            <a:endParaRPr lang="en-US" dirty="0">
              <a:latin typeface="Courier" pitchFamily="2" charset="0"/>
            </a:endParaRPr>
          </a:p>
          <a:p>
            <a:r>
              <a:rPr lang="en-US" dirty="0">
                <a:latin typeface="Courier" pitchFamily="2" charset="0"/>
              </a:rPr>
              <a:t>   # make instructions</a:t>
            </a:r>
          </a:p>
          <a:p>
            <a:r>
              <a:rPr lang="en-US" dirty="0">
                <a:latin typeface="Courier" pitchFamily="2" charset="0"/>
              </a:rPr>
              <a:t>   ins0 = “%s = int2vr(0)” % </a:t>
            </a:r>
            <a:r>
              <a:rPr lang="en-US" dirty="0" err="1">
                <a:latin typeface="Courier" pitchFamily="2" charset="0"/>
              </a:rPr>
              <a:t>vrX</a:t>
            </a:r>
            <a:endParaRPr lang="en-US" dirty="0">
              <a:latin typeface="Courier" pitchFamily="2" charset="0"/>
            </a:endParaRPr>
          </a:p>
          <a:p>
            <a:r>
              <a:rPr lang="en-US" dirty="0">
                <a:latin typeface="Courier" pitchFamily="2" charset="0"/>
              </a:rPr>
              <a:t>   ins1 = “</a:t>
            </a:r>
            <a:r>
              <a:rPr lang="en-US" dirty="0" err="1">
                <a:latin typeface="Courier" pitchFamily="2" charset="0"/>
              </a:rPr>
              <a:t>beq</a:t>
            </a:r>
            <a:r>
              <a:rPr lang="en-US" dirty="0">
                <a:latin typeface="Courier" pitchFamily="2" charset="0"/>
              </a:rPr>
              <a:t>(%s, %s, %s);” % </a:t>
            </a:r>
          </a:p>
          <a:p>
            <a:r>
              <a:rPr lang="en-US" dirty="0">
                <a:latin typeface="Courier" pitchFamily="2" charset="0"/>
              </a:rPr>
              <a:t>             (</a:t>
            </a:r>
            <a:r>
              <a:rPr lang="en-US" dirty="0" err="1">
                <a:latin typeface="Courier" pitchFamily="2" charset="0"/>
              </a:rPr>
              <a:t>expr_ast.vr</a:t>
            </a:r>
            <a:r>
              <a:rPr lang="en-US" dirty="0">
                <a:latin typeface="Courier" pitchFamily="2" charset="0"/>
              </a:rPr>
              <a:t>, </a:t>
            </a:r>
            <a:r>
              <a:rPr lang="en-US" dirty="0" err="1">
                <a:latin typeface="Courier" pitchFamily="2" charset="0"/>
              </a:rPr>
              <a:t>vrX</a:t>
            </a:r>
            <a:r>
              <a:rPr lang="en-US" dirty="0">
                <a:latin typeface="Courier" pitchFamily="2" charset="0"/>
              </a:rPr>
              <a:t>, </a:t>
            </a:r>
            <a:r>
              <a:rPr lang="en-US" dirty="0" err="1">
                <a:latin typeface="Courier" pitchFamily="2" charset="0"/>
              </a:rPr>
              <a:t>else_label</a:t>
            </a:r>
            <a:r>
              <a:rPr lang="en-US" dirty="0">
                <a:latin typeface="Courier" pitchFamily="2" charset="0"/>
              </a:rPr>
              <a:t>)</a:t>
            </a:r>
          </a:p>
          <a:p>
            <a:r>
              <a:rPr lang="en-US" dirty="0">
                <a:latin typeface="Courier" pitchFamily="2" charset="0"/>
              </a:rPr>
              <a:t>   ins2 = “branch(%s)” % </a:t>
            </a:r>
            <a:r>
              <a:rPr lang="en-US" dirty="0" err="1">
                <a:latin typeface="Courier" pitchFamily="2" charset="0"/>
              </a:rPr>
              <a:t>end_label</a:t>
            </a:r>
            <a:endParaRPr lang="en-US" dirty="0">
              <a:latin typeface="Courier" pitchFamily="2" charset="0"/>
            </a:endParaRPr>
          </a:p>
          <a:p>
            <a:endParaRPr lang="en-US" dirty="0">
              <a:latin typeface="Courier" pitchFamily="2" charset="0"/>
            </a:endParaRPr>
          </a:p>
          <a:p>
            <a:r>
              <a:rPr lang="en-US" dirty="0">
                <a:latin typeface="Courier" pitchFamily="2" charset="0"/>
              </a:rPr>
              <a:t>   # concatenate all programs</a:t>
            </a:r>
          </a:p>
          <a:p>
            <a:r>
              <a:rPr lang="en-US" dirty="0">
                <a:latin typeface="Courier" pitchFamily="2" charset="0"/>
              </a:rPr>
              <a:t>   return program0 + [ins0, ins1] + program1</a:t>
            </a:r>
            <a:br>
              <a:rPr lang="en-US" dirty="0">
                <a:latin typeface="Courier" pitchFamily="2" charset="0"/>
              </a:rPr>
            </a:br>
            <a:r>
              <a:rPr lang="en-US" dirty="0">
                <a:latin typeface="Courier" pitchFamily="2" charset="0"/>
              </a:rPr>
              <a:t>          + [ins2, </a:t>
            </a:r>
            <a:r>
              <a:rPr lang="en-US" dirty="0" err="1">
                <a:latin typeface="Courier" pitchFamily="2" charset="0"/>
              </a:rPr>
              <a:t>label_code</a:t>
            </a:r>
            <a:r>
              <a:rPr lang="en-US" dirty="0">
                <a:latin typeface="Courier" pitchFamily="2" charset="0"/>
              </a:rPr>
              <a:t>(</a:t>
            </a:r>
            <a:r>
              <a:rPr lang="en-US" dirty="0" err="1">
                <a:latin typeface="Courier" pitchFamily="2" charset="0"/>
              </a:rPr>
              <a:t>else_label</a:t>
            </a:r>
            <a:r>
              <a:rPr lang="en-US" dirty="0">
                <a:latin typeface="Courier" pitchFamily="2" charset="0"/>
              </a:rPr>
              <a:t>)]</a:t>
            </a:r>
            <a:br>
              <a:rPr lang="en-US" dirty="0">
                <a:latin typeface="Courier" pitchFamily="2" charset="0"/>
              </a:rPr>
            </a:br>
            <a:r>
              <a:rPr lang="en-US" dirty="0">
                <a:latin typeface="Courier" pitchFamily="2" charset="0"/>
              </a:rPr>
              <a:t>          + program2 + [</a:t>
            </a:r>
            <a:r>
              <a:rPr lang="en-US" dirty="0" err="1">
                <a:latin typeface="Courier" pitchFamily="2" charset="0"/>
              </a:rPr>
              <a:t>label_code</a:t>
            </a:r>
            <a:r>
              <a:rPr lang="en-US" dirty="0">
                <a:latin typeface="Courier" pitchFamily="2" charset="0"/>
              </a:rPr>
              <a:t>(</a:t>
            </a:r>
            <a:r>
              <a:rPr lang="en-US" dirty="0" err="1">
                <a:latin typeface="Courier" pitchFamily="2" charset="0"/>
              </a:rPr>
              <a:t>end_label</a:t>
            </a:r>
            <a:r>
              <a:rPr lang="en-US" dirty="0">
                <a:latin typeface="Courier" pitchFamily="2" charset="0"/>
              </a:rPr>
              <a:t>)]  </a:t>
            </a:r>
          </a:p>
          <a:p>
            <a:r>
              <a:rPr lang="en-US" dirty="0">
                <a:latin typeface="Courier" pitchFamily="2" charset="0"/>
              </a:rPr>
              <a:t>}</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4BEF6C79-BAD0-ED4A-B303-C52E2AB144B0}"/>
              </a:ext>
            </a:extLst>
          </p:cNvPr>
          <p:cNvSpPr/>
          <p:nvPr/>
        </p:nvSpPr>
        <p:spPr>
          <a:xfrm>
            <a:off x="6728362" y="1997839"/>
            <a:ext cx="5358765" cy="2862322"/>
          </a:xfrm>
          <a:prstGeom prst="rect">
            <a:avLst/>
          </a:prstGeom>
          <a:ln>
            <a:solidFill>
              <a:schemeClr val="tx1"/>
            </a:solidFill>
          </a:ln>
        </p:spPr>
        <p:txBody>
          <a:bodyPr wrap="square">
            <a:spAutoFit/>
          </a:bodyPr>
          <a:lstStyle/>
          <a:p>
            <a:r>
              <a:rPr lang="en-US" b="1" dirty="0">
                <a:solidFill>
                  <a:srgbClr val="2EAEBB"/>
                </a:solidFill>
                <a:latin typeface="Menlo" panose="020B0609030804020204" pitchFamily="49" charset="0"/>
              </a:rPr>
              <a:t>// </a:t>
            </a:r>
            <a:r>
              <a:rPr lang="en-US" b="1" dirty="0" err="1">
                <a:solidFill>
                  <a:srgbClr val="2EAEBB"/>
                </a:solidFill>
                <a:latin typeface="Menlo" panose="020B0609030804020204" pitchFamily="49" charset="0"/>
              </a:rPr>
              <a:t>VRAllocator</a:t>
            </a:r>
            <a:r>
              <a:rPr lang="en-US" b="1" dirty="0">
                <a:solidFill>
                  <a:srgbClr val="2EAEBB"/>
                </a:solidFill>
                <a:latin typeface="Menlo" panose="020B0609030804020204" pitchFamily="49" charset="0"/>
              </a:rPr>
              <a:t> class keeps track of a counter for </a:t>
            </a:r>
            <a:r>
              <a:rPr lang="en-US" b="1" dirty="0" err="1">
                <a:solidFill>
                  <a:srgbClr val="2EAEBB"/>
                </a:solidFill>
                <a:latin typeface="Menlo" panose="020B0609030804020204" pitchFamily="49" charset="0"/>
              </a:rPr>
              <a:t>vrX’s</a:t>
            </a:r>
            <a:r>
              <a:rPr lang="en-US" b="1" dirty="0">
                <a:solidFill>
                  <a:srgbClr val="2EAEBB"/>
                </a:solidFill>
                <a:latin typeface="Menlo" panose="020B0609030804020204" pitchFamily="49" charset="0"/>
              </a:rPr>
              <a:t>:</a:t>
            </a:r>
          </a:p>
          <a:p>
            <a:endParaRPr lang="en-US" b="1" dirty="0">
              <a:solidFill>
                <a:srgbClr val="2EAEBB"/>
              </a:solidFill>
              <a:latin typeface="Menlo" panose="020B0609030804020204" pitchFamily="49" charset="0"/>
            </a:endParaRPr>
          </a:p>
          <a:p>
            <a:r>
              <a:rPr lang="en-US" b="1" dirty="0">
                <a:solidFill>
                  <a:srgbClr val="2EAEBB"/>
                </a:solidFill>
                <a:latin typeface="Menlo" panose="020B0609030804020204" pitchFamily="49" charset="0"/>
              </a:rPr>
              <a:t>class</a:t>
            </a:r>
            <a:r>
              <a:rPr lang="en-US" dirty="0">
                <a:solidFill>
                  <a:srgbClr val="000000"/>
                </a:solidFill>
                <a:latin typeface="Menlo" panose="020B0609030804020204" pitchFamily="49" charset="0"/>
              </a:rPr>
              <a:t> </a:t>
            </a:r>
            <a:r>
              <a:rPr lang="en-US" dirty="0" err="1">
                <a:solidFill>
                  <a:srgbClr val="2FB41D"/>
                </a:solidFill>
                <a:latin typeface="Menlo" panose="020B0609030804020204" pitchFamily="49" charset="0"/>
              </a:rPr>
              <a:t>VRAllocator</a:t>
            </a:r>
            <a:r>
              <a:rPr lang="en-US" dirty="0">
                <a:solidFill>
                  <a:srgbClr val="000000"/>
                </a:solidFill>
                <a:latin typeface="Menlo" panose="020B0609030804020204" pitchFamily="49" charset="0"/>
              </a:rPr>
              <a:t>():</a:t>
            </a:r>
            <a:endParaRPr lang="en-US" dirty="0">
              <a:solidFill>
                <a:srgbClr val="2FB41D"/>
              </a:solidFill>
              <a:latin typeface="Menlo" panose="020B0609030804020204" pitchFamily="49" charset="0"/>
            </a:endParaRP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def</a:t>
            </a:r>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__</a:t>
            </a:r>
            <a:r>
              <a:rPr lang="en-US" b="1" dirty="0" err="1">
                <a:solidFill>
                  <a:srgbClr val="400BD9"/>
                </a:solidFill>
                <a:latin typeface="Menlo" panose="020B0609030804020204" pitchFamily="49" charset="0"/>
              </a:rPr>
              <a:t>init</a:t>
            </a:r>
            <a:r>
              <a:rPr lang="en-US" b="1" dirty="0">
                <a:solidFill>
                  <a:srgbClr val="400BD9"/>
                </a:solidFill>
                <a:latin typeface="Menlo" panose="020B0609030804020204" pitchFamily="49" charset="0"/>
              </a:rPr>
              <a:t>__</a:t>
            </a:r>
            <a:r>
              <a:rPr lang="en-US" dirty="0">
                <a:solidFill>
                  <a:srgbClr val="000000"/>
                </a:solidFill>
                <a:latin typeface="Menlo" panose="020B0609030804020204" pitchFamily="49" charset="0"/>
              </a:rPr>
              <a:t>(</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.count</a:t>
            </a:r>
            <a:r>
              <a:rPr lang="en-US" dirty="0">
                <a:solidFill>
                  <a:srgbClr val="000000"/>
                </a:solidFill>
                <a:latin typeface="Menlo" panose="020B0609030804020204" pitchFamily="49" charset="0"/>
              </a:rPr>
              <a:t> = 0</a:t>
            </a:r>
            <a:br>
              <a:rPr lang="en-US" dirty="0">
                <a:solidFill>
                  <a:srgbClr val="000000"/>
                </a:solidFill>
                <a:latin typeface="Menlo" panose="020B0609030804020204" pitchFamily="49" charset="0"/>
              </a:rPr>
            </a:br>
            <a:endParaRPr lang="en-US" dirty="0">
              <a:solidFill>
                <a:srgbClr val="000000"/>
              </a:solidFill>
              <a:latin typeface="Menlo" panose="020B0609030804020204" pitchFamily="49" charset="0"/>
            </a:endParaRP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def</a:t>
            </a:r>
            <a:r>
              <a:rPr lang="en-US" dirty="0">
                <a:solidFill>
                  <a:srgbClr val="000000"/>
                </a:solidFill>
                <a:latin typeface="Menlo" panose="020B0609030804020204" pitchFamily="49" charset="0"/>
              </a:rPr>
              <a:t> </a:t>
            </a:r>
            <a:r>
              <a:rPr lang="en-US" b="1" dirty="0" err="1">
                <a:solidFill>
                  <a:srgbClr val="400BD9"/>
                </a:solidFill>
                <a:latin typeface="Menlo" panose="020B0609030804020204" pitchFamily="49" charset="0"/>
              </a:rPr>
              <a:t>mk_new_vr</a:t>
            </a:r>
            <a:r>
              <a:rPr lang="en-US" dirty="0">
                <a:solidFill>
                  <a:srgbClr val="000000"/>
                </a:solidFill>
                <a:latin typeface="Menlo" panose="020B0609030804020204" pitchFamily="49" charset="0"/>
              </a:rPr>
              <a:t>(</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a:t>
            </a:r>
            <a:endParaRPr lang="en-US" dirty="0">
              <a:solidFill>
                <a:srgbClr val="400BD9"/>
              </a:solidFill>
              <a:latin typeface="Menlo" panose="020B0609030804020204" pitchFamily="49" charset="0"/>
            </a:endParaRPr>
          </a:p>
          <a:p>
            <a:r>
              <a:rPr lang="en-US" dirty="0">
                <a:solidFill>
                  <a:srgbClr val="9FA01C"/>
                </a:solidFill>
                <a:latin typeface="Menlo" panose="020B0609030804020204" pitchFamily="49" charset="0"/>
              </a:rPr>
              <a:t>        </a:t>
            </a:r>
            <a:r>
              <a:rPr lang="en-US" dirty="0" err="1">
                <a:solidFill>
                  <a:srgbClr val="9FA01C"/>
                </a:solidFill>
                <a:latin typeface="Menlo" panose="020B0609030804020204" pitchFamily="49" charset="0"/>
              </a:rPr>
              <a:t>vr</a:t>
            </a:r>
            <a:r>
              <a:rPr lang="en-US" dirty="0">
                <a:solidFill>
                  <a:srgbClr val="000000"/>
                </a:solidFill>
                <a:latin typeface="Menlo" panose="020B0609030804020204" pitchFamily="49" charset="0"/>
              </a:rPr>
              <a:t> = </a:t>
            </a:r>
            <a:r>
              <a:rPr lang="en-US" dirty="0">
                <a:solidFill>
                  <a:srgbClr val="2FB41D"/>
                </a:solidFill>
                <a:latin typeface="Menlo" panose="020B0609030804020204" pitchFamily="49" charset="0"/>
              </a:rPr>
              <a:t>"</a:t>
            </a:r>
            <a:r>
              <a:rPr lang="en-US" dirty="0" err="1">
                <a:solidFill>
                  <a:srgbClr val="2FB41D"/>
                </a:solidFill>
                <a:latin typeface="Menlo" panose="020B0609030804020204" pitchFamily="49" charset="0"/>
              </a:rPr>
              <a:t>vr</a:t>
            </a:r>
            <a:r>
              <a:rPr lang="en-US" dirty="0">
                <a:solidFill>
                  <a:srgbClr val="2FB41D"/>
                </a:solidFill>
                <a:latin typeface="Menlo" panose="020B0609030804020204" pitchFamily="49" charset="0"/>
              </a:rPr>
              <a:t>"</a:t>
            </a:r>
            <a:r>
              <a:rPr lang="en-US" dirty="0">
                <a:solidFill>
                  <a:srgbClr val="000000"/>
                </a:solidFill>
                <a:latin typeface="Menlo" panose="020B0609030804020204" pitchFamily="49" charset="0"/>
              </a:rPr>
              <a:t> + </a:t>
            </a:r>
            <a:r>
              <a:rPr lang="en-US" b="1" dirty="0">
                <a:solidFill>
                  <a:srgbClr val="400BD9"/>
                </a:solidFill>
                <a:latin typeface="Menlo" panose="020B0609030804020204" pitchFamily="49" charset="0"/>
              </a:rPr>
              <a:t>str</a:t>
            </a:r>
            <a:r>
              <a:rPr lang="en-US" dirty="0">
                <a:solidFill>
                  <a:srgbClr val="000000"/>
                </a:solidFill>
                <a:latin typeface="Menlo" panose="020B0609030804020204" pitchFamily="49" charset="0"/>
              </a:rPr>
              <a:t>(</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.count</a:t>
            </a:r>
            <a:r>
              <a:rPr lang="en-US" dirty="0">
                <a:solidFill>
                  <a:srgbClr val="000000"/>
                </a:solidFill>
                <a:latin typeface="Menlo" panose="020B0609030804020204" pitchFamily="49" charset="0"/>
              </a:rPr>
              <a:t>)</a:t>
            </a:r>
          </a:p>
          <a:p>
            <a:r>
              <a:rPr lang="en-US" b="1" dirty="0">
                <a:solidFill>
                  <a:srgbClr val="2EAEBB"/>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.count</a:t>
            </a:r>
            <a:r>
              <a:rPr lang="en-US" dirty="0">
                <a:solidFill>
                  <a:srgbClr val="000000"/>
                </a:solidFill>
                <a:latin typeface="Menlo" panose="020B0609030804020204" pitchFamily="49" charset="0"/>
              </a:rPr>
              <a:t> += 1</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return</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vr</a:t>
            </a:r>
            <a:endParaRPr lang="en-US"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4422068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258EB2-A9C8-4E4B-A6D5-99A5401504FF}"/>
              </a:ext>
            </a:extLst>
          </p:cNvPr>
          <p:cNvSpPr/>
          <p:nvPr/>
        </p:nvSpPr>
        <p:spPr>
          <a:xfrm>
            <a:off x="339633" y="1181240"/>
            <a:ext cx="9222378" cy="369332"/>
          </a:xfrm>
          <a:prstGeom prst="rect">
            <a:avLst/>
          </a:prstGeom>
        </p:spPr>
        <p:txBody>
          <a:bodyPr wrap="square">
            <a:spAutoFit/>
          </a:bodyPr>
          <a:lstStyle/>
          <a:p>
            <a:r>
              <a:rPr lang="en-US" dirty="0" err="1">
                <a:latin typeface="Courier" pitchFamily="2" charset="0"/>
                <a:ea typeface="Calibri" panose="020F0502020204030204" pitchFamily="34" charset="0"/>
                <a:cs typeface="Times New Roman" panose="02020603050405020304" pitchFamily="18" charset="0"/>
              </a:rPr>
              <a:t>if_else_statement</a:t>
            </a:r>
            <a:r>
              <a:rPr lang="en-US" dirty="0">
                <a:latin typeface="Courier" pitchFamily="2" charset="0"/>
                <a:ea typeface="Calibri" panose="020F0502020204030204" pitchFamily="34" charset="0"/>
                <a:cs typeface="Times New Roman" panose="02020603050405020304" pitchFamily="18" charset="0"/>
              </a:rPr>
              <a:t> := IF LPAR </a:t>
            </a:r>
            <a:r>
              <a:rPr lang="en-US" dirty="0">
                <a:highlight>
                  <a:srgbClr val="FFFF00"/>
                </a:highlight>
                <a:latin typeface="Courier" pitchFamily="2" charset="0"/>
                <a:ea typeface="Calibri" panose="020F0502020204030204" pitchFamily="34" charset="0"/>
                <a:cs typeface="Times New Roman" panose="02020603050405020304" pitchFamily="18" charset="0"/>
              </a:rPr>
              <a:t>expr</a:t>
            </a:r>
            <a:r>
              <a:rPr lang="en-US" dirty="0">
                <a:latin typeface="Courier" pitchFamily="2" charset="0"/>
                <a:ea typeface="Calibri" panose="020F0502020204030204" pitchFamily="34" charset="0"/>
                <a:cs typeface="Times New Roman" panose="02020603050405020304" pitchFamily="18" charset="0"/>
              </a:rPr>
              <a:t> RPAR </a:t>
            </a:r>
            <a:r>
              <a:rPr lang="en-US" dirty="0">
                <a:highlight>
                  <a:srgbClr val="00FF00"/>
                </a:highlight>
                <a:latin typeface="Courier" pitchFamily="2" charset="0"/>
                <a:ea typeface="Calibri" panose="020F0502020204030204" pitchFamily="34" charset="0"/>
                <a:cs typeface="Times New Roman" panose="02020603050405020304" pitchFamily="18" charset="0"/>
              </a:rPr>
              <a:t>statement</a:t>
            </a:r>
            <a:r>
              <a:rPr lang="en-US" dirty="0">
                <a:latin typeface="Courier" pitchFamily="2" charset="0"/>
                <a:ea typeface="Calibri" panose="020F0502020204030204" pitchFamily="34" charset="0"/>
                <a:cs typeface="Times New Roman" panose="02020603050405020304" pitchFamily="18" charset="0"/>
              </a:rPr>
              <a:t> ELSE </a:t>
            </a:r>
            <a:r>
              <a:rPr lang="en-US" dirty="0">
                <a:highlight>
                  <a:srgbClr val="00FFFF"/>
                </a:highlight>
                <a:latin typeface="Courier" pitchFamily="2" charset="0"/>
                <a:ea typeface="Calibri" panose="020F0502020204030204" pitchFamily="34" charset="0"/>
                <a:cs typeface="Times New Roman" panose="02020603050405020304" pitchFamily="18" charset="0"/>
              </a:rPr>
              <a:t>statement</a:t>
            </a:r>
            <a:r>
              <a:rPr lang="en-US" dirty="0">
                <a:latin typeface="Courier" pitchFamily="2" charset="0"/>
                <a:ea typeface="Calibri" panose="020F0502020204030204" pitchFamily="34" charset="0"/>
                <a:cs typeface="Times New Roman" panose="02020603050405020304" pitchFamily="18" charset="0"/>
              </a:rPr>
              <a:t> </a:t>
            </a:r>
            <a:endParaRPr lang="en-US" dirty="0"/>
          </a:p>
        </p:txBody>
      </p:sp>
      <p:sp>
        <p:nvSpPr>
          <p:cNvPr id="5" name="Rectangle 4">
            <a:extLst>
              <a:ext uri="{FF2B5EF4-FFF2-40B4-BE49-F238E27FC236}">
                <a16:creationId xmlns:a16="http://schemas.microsoft.com/office/drawing/2014/main" id="{29D061B3-321C-BF43-B43E-5A50006033BD}"/>
              </a:ext>
            </a:extLst>
          </p:cNvPr>
          <p:cNvSpPr/>
          <p:nvPr/>
        </p:nvSpPr>
        <p:spPr>
          <a:xfrm>
            <a:off x="199002" y="1743149"/>
            <a:ext cx="6992983" cy="5078313"/>
          </a:xfrm>
          <a:prstGeom prst="rect">
            <a:avLst/>
          </a:prstGeom>
        </p:spPr>
        <p:txBody>
          <a:bodyPr wrap="square">
            <a:spAutoFit/>
          </a:bodyPr>
          <a:lstStyle/>
          <a:p>
            <a:r>
              <a:rPr lang="en-US" dirty="0">
                <a:latin typeface="Courier" pitchFamily="2" charset="0"/>
              </a:rPr>
              <a:t>{</a:t>
            </a:r>
          </a:p>
          <a:p>
            <a:r>
              <a:rPr lang="en-US" dirty="0">
                <a:latin typeface="Courier" pitchFamily="2" charset="0"/>
              </a:rPr>
              <a:t>   ...</a:t>
            </a:r>
          </a:p>
          <a:p>
            <a:r>
              <a:rPr lang="en-US" dirty="0">
                <a:latin typeface="Courier" pitchFamily="2" charset="0"/>
              </a:rPr>
              <a:t>   # get resources</a:t>
            </a:r>
          </a:p>
          <a:p>
            <a:r>
              <a:rPr lang="en-US" dirty="0">
                <a:latin typeface="Courier" pitchFamily="2" charset="0"/>
              </a:rPr>
              <a:t>   </a:t>
            </a:r>
            <a:r>
              <a:rPr lang="en-US" dirty="0" err="1">
                <a:latin typeface="Courier" pitchFamily="2" charset="0"/>
              </a:rPr>
              <a:t>end_label</a:t>
            </a:r>
            <a:r>
              <a:rPr lang="en-US" dirty="0">
                <a:latin typeface="Courier" pitchFamily="2" charset="0"/>
              </a:rPr>
              <a:t>  = </a:t>
            </a:r>
            <a:r>
              <a:rPr lang="en-US" dirty="0" err="1">
                <a:highlight>
                  <a:srgbClr val="FF00FF"/>
                </a:highlight>
                <a:latin typeface="Courier" pitchFamily="2" charset="0"/>
              </a:rPr>
              <a:t>mk_new_label</a:t>
            </a:r>
            <a:r>
              <a:rPr lang="en-US" dirty="0">
                <a:highlight>
                  <a:srgbClr val="FF00FF"/>
                </a:highlight>
                <a:latin typeface="Courier" pitchFamily="2" charset="0"/>
              </a:rPr>
              <a:t>()</a:t>
            </a:r>
          </a:p>
          <a:p>
            <a:r>
              <a:rPr lang="en-US" dirty="0">
                <a:latin typeface="Courier" pitchFamily="2" charset="0"/>
              </a:rPr>
              <a:t>   </a:t>
            </a:r>
            <a:r>
              <a:rPr lang="en-US" dirty="0" err="1">
                <a:latin typeface="Courier" pitchFamily="2" charset="0"/>
              </a:rPr>
              <a:t>else_label</a:t>
            </a:r>
            <a:r>
              <a:rPr lang="en-US" dirty="0">
                <a:latin typeface="Courier" pitchFamily="2" charset="0"/>
              </a:rPr>
              <a:t> = </a:t>
            </a:r>
            <a:r>
              <a:rPr lang="en-US" dirty="0" err="1">
                <a:highlight>
                  <a:srgbClr val="FF00FF"/>
                </a:highlight>
                <a:latin typeface="Courier" pitchFamily="2" charset="0"/>
              </a:rPr>
              <a:t>mk_new_label</a:t>
            </a:r>
            <a:r>
              <a:rPr lang="en-US" dirty="0">
                <a:highlight>
                  <a:srgbClr val="FF00FF"/>
                </a:highlight>
                <a:latin typeface="Courier" pitchFamily="2" charset="0"/>
              </a:rPr>
              <a:t>()</a:t>
            </a:r>
          </a:p>
          <a:p>
            <a:r>
              <a:rPr lang="en-US" dirty="0">
                <a:latin typeface="Courier" pitchFamily="2" charset="0"/>
              </a:rPr>
              <a:t>   </a:t>
            </a:r>
            <a:r>
              <a:rPr lang="en-US" dirty="0" err="1">
                <a:latin typeface="Courier" pitchFamily="2" charset="0"/>
              </a:rPr>
              <a:t>vrX</a:t>
            </a:r>
            <a:r>
              <a:rPr lang="en-US" dirty="0">
                <a:latin typeface="Courier" pitchFamily="2" charset="0"/>
              </a:rPr>
              <a:t>        = </a:t>
            </a:r>
            <a:r>
              <a:rPr lang="en-US" dirty="0" err="1">
                <a:latin typeface="Courier" pitchFamily="2" charset="0"/>
              </a:rPr>
              <a:t>mk_new_vr</a:t>
            </a:r>
            <a:r>
              <a:rPr lang="en-US" dirty="0">
                <a:latin typeface="Courier" pitchFamily="2" charset="0"/>
              </a:rPr>
              <a:t>()</a:t>
            </a:r>
          </a:p>
          <a:p>
            <a:endParaRPr lang="en-US" dirty="0">
              <a:latin typeface="Courier" pitchFamily="2" charset="0"/>
            </a:endParaRPr>
          </a:p>
          <a:p>
            <a:r>
              <a:rPr lang="en-US" dirty="0">
                <a:latin typeface="Courier" pitchFamily="2" charset="0"/>
              </a:rPr>
              <a:t>   # make instructions</a:t>
            </a:r>
          </a:p>
          <a:p>
            <a:r>
              <a:rPr lang="en-US" dirty="0">
                <a:latin typeface="Courier" pitchFamily="2" charset="0"/>
              </a:rPr>
              <a:t>   ins0 = “%s = int2vr(0)” % </a:t>
            </a:r>
            <a:r>
              <a:rPr lang="en-US" dirty="0" err="1">
                <a:latin typeface="Courier" pitchFamily="2" charset="0"/>
              </a:rPr>
              <a:t>vrX</a:t>
            </a:r>
            <a:endParaRPr lang="en-US" dirty="0">
              <a:latin typeface="Courier" pitchFamily="2" charset="0"/>
            </a:endParaRPr>
          </a:p>
          <a:p>
            <a:r>
              <a:rPr lang="en-US" dirty="0">
                <a:latin typeface="Courier" pitchFamily="2" charset="0"/>
              </a:rPr>
              <a:t>   ins1 = “</a:t>
            </a:r>
            <a:r>
              <a:rPr lang="en-US" dirty="0" err="1">
                <a:latin typeface="Courier" pitchFamily="2" charset="0"/>
              </a:rPr>
              <a:t>beq</a:t>
            </a:r>
            <a:r>
              <a:rPr lang="en-US" dirty="0">
                <a:latin typeface="Courier" pitchFamily="2" charset="0"/>
              </a:rPr>
              <a:t>(%s, %s, %s);” % </a:t>
            </a:r>
          </a:p>
          <a:p>
            <a:r>
              <a:rPr lang="en-US" dirty="0">
                <a:latin typeface="Courier" pitchFamily="2" charset="0"/>
              </a:rPr>
              <a:t>          (</a:t>
            </a:r>
            <a:r>
              <a:rPr lang="en-US" dirty="0" err="1">
                <a:latin typeface="Courier" pitchFamily="2" charset="0"/>
              </a:rPr>
              <a:t>expr_ast.vr</a:t>
            </a:r>
            <a:r>
              <a:rPr lang="en-US" dirty="0">
                <a:latin typeface="Courier" pitchFamily="2" charset="0"/>
              </a:rPr>
              <a:t>, </a:t>
            </a:r>
            <a:r>
              <a:rPr lang="en-US" dirty="0" err="1">
                <a:latin typeface="Courier" pitchFamily="2" charset="0"/>
              </a:rPr>
              <a:t>vrX</a:t>
            </a:r>
            <a:r>
              <a:rPr lang="en-US" dirty="0">
                <a:latin typeface="Courier" pitchFamily="2" charset="0"/>
              </a:rPr>
              <a:t>, </a:t>
            </a:r>
            <a:r>
              <a:rPr lang="en-US" dirty="0" err="1">
                <a:latin typeface="Courier" pitchFamily="2" charset="0"/>
              </a:rPr>
              <a:t>else_label</a:t>
            </a:r>
            <a:r>
              <a:rPr lang="en-US" dirty="0">
                <a:latin typeface="Courier" pitchFamily="2" charset="0"/>
              </a:rPr>
              <a:t>)</a:t>
            </a:r>
          </a:p>
          <a:p>
            <a:r>
              <a:rPr lang="en-US" dirty="0">
                <a:latin typeface="Courier" pitchFamily="2" charset="0"/>
              </a:rPr>
              <a:t>   ins2 = “branch(%s)” % </a:t>
            </a:r>
            <a:r>
              <a:rPr lang="en-US" dirty="0" err="1">
                <a:latin typeface="Courier" pitchFamily="2" charset="0"/>
              </a:rPr>
              <a:t>end_label</a:t>
            </a:r>
            <a:endParaRPr lang="en-US" dirty="0">
              <a:latin typeface="Courier" pitchFamily="2" charset="0"/>
            </a:endParaRPr>
          </a:p>
          <a:p>
            <a:endParaRPr lang="en-US" dirty="0">
              <a:latin typeface="Courier" pitchFamily="2" charset="0"/>
            </a:endParaRPr>
          </a:p>
          <a:p>
            <a:r>
              <a:rPr lang="en-US" dirty="0">
                <a:latin typeface="Courier" pitchFamily="2" charset="0"/>
              </a:rPr>
              <a:t>   # concatenate all programs</a:t>
            </a:r>
          </a:p>
          <a:p>
            <a:r>
              <a:rPr lang="en-US" dirty="0">
                <a:latin typeface="Courier" pitchFamily="2" charset="0"/>
              </a:rPr>
              <a:t>   return program0 + [ins0, ins1] + program1</a:t>
            </a:r>
            <a:br>
              <a:rPr lang="en-US" dirty="0">
                <a:latin typeface="Courier" pitchFamily="2" charset="0"/>
              </a:rPr>
            </a:br>
            <a:r>
              <a:rPr lang="en-US" dirty="0">
                <a:latin typeface="Courier" pitchFamily="2" charset="0"/>
              </a:rPr>
              <a:t>          + [ins2, </a:t>
            </a:r>
            <a:r>
              <a:rPr lang="en-US" dirty="0" err="1">
                <a:latin typeface="Courier" pitchFamily="2" charset="0"/>
              </a:rPr>
              <a:t>label_code</a:t>
            </a:r>
            <a:r>
              <a:rPr lang="en-US" dirty="0">
                <a:latin typeface="Courier" pitchFamily="2" charset="0"/>
              </a:rPr>
              <a:t>(</a:t>
            </a:r>
            <a:r>
              <a:rPr lang="en-US" dirty="0" err="1">
                <a:latin typeface="Courier" pitchFamily="2" charset="0"/>
              </a:rPr>
              <a:t>else_label</a:t>
            </a:r>
            <a:r>
              <a:rPr lang="en-US" dirty="0">
                <a:latin typeface="Courier" pitchFamily="2" charset="0"/>
              </a:rPr>
              <a:t>)]</a:t>
            </a:r>
            <a:br>
              <a:rPr lang="en-US" dirty="0">
                <a:latin typeface="Courier" pitchFamily="2" charset="0"/>
              </a:rPr>
            </a:br>
            <a:r>
              <a:rPr lang="en-US" dirty="0">
                <a:latin typeface="Courier" pitchFamily="2" charset="0"/>
              </a:rPr>
              <a:t>          + program2 + [</a:t>
            </a:r>
            <a:r>
              <a:rPr lang="en-US" dirty="0" err="1">
                <a:latin typeface="Courier" pitchFamily="2" charset="0"/>
              </a:rPr>
              <a:t>label_code</a:t>
            </a:r>
            <a:r>
              <a:rPr lang="en-US" dirty="0">
                <a:latin typeface="Courier" pitchFamily="2" charset="0"/>
              </a:rPr>
              <a:t>(</a:t>
            </a:r>
            <a:r>
              <a:rPr lang="en-US" dirty="0" err="1">
                <a:latin typeface="Courier" pitchFamily="2" charset="0"/>
              </a:rPr>
              <a:t>end_label</a:t>
            </a:r>
            <a:r>
              <a:rPr lang="en-US" dirty="0">
                <a:latin typeface="Courier" pitchFamily="2" charset="0"/>
              </a:rPr>
              <a:t>)]  </a:t>
            </a:r>
          </a:p>
          <a:p>
            <a:r>
              <a:rPr lang="en-US" dirty="0">
                <a:latin typeface="Courier" pitchFamily="2" charset="0"/>
              </a:rPr>
              <a:t>}</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4BEF6C79-BAD0-ED4A-B303-C52E2AB144B0}"/>
              </a:ext>
            </a:extLst>
          </p:cNvPr>
          <p:cNvSpPr/>
          <p:nvPr/>
        </p:nvSpPr>
        <p:spPr>
          <a:xfrm>
            <a:off x="6377360" y="2073445"/>
            <a:ext cx="5517791" cy="2862322"/>
          </a:xfrm>
          <a:prstGeom prst="rect">
            <a:avLst/>
          </a:prstGeom>
          <a:ln>
            <a:solidFill>
              <a:schemeClr val="tx1"/>
            </a:solidFill>
          </a:ln>
        </p:spPr>
        <p:txBody>
          <a:bodyPr wrap="square">
            <a:spAutoFit/>
          </a:bodyPr>
          <a:lstStyle/>
          <a:p>
            <a:r>
              <a:rPr lang="en-US" b="1" dirty="0">
                <a:solidFill>
                  <a:srgbClr val="2EAEBB"/>
                </a:solidFill>
                <a:latin typeface="Menlo" panose="020B0609030804020204" pitchFamily="49" charset="0"/>
              </a:rPr>
              <a:t>// </a:t>
            </a:r>
            <a:r>
              <a:rPr lang="en-US" b="1" dirty="0" err="1">
                <a:solidFill>
                  <a:srgbClr val="2EAEBB"/>
                </a:solidFill>
                <a:latin typeface="Menlo" panose="020B0609030804020204" pitchFamily="49" charset="0"/>
              </a:rPr>
              <a:t>LabelAllocator</a:t>
            </a:r>
            <a:r>
              <a:rPr lang="en-US" b="1" dirty="0">
                <a:solidFill>
                  <a:srgbClr val="2EAEBB"/>
                </a:solidFill>
                <a:latin typeface="Menlo" panose="020B0609030804020204" pitchFamily="49" charset="0"/>
              </a:rPr>
              <a:t> class keeps track of counter for labels:</a:t>
            </a:r>
          </a:p>
          <a:p>
            <a:endParaRPr lang="en-US" b="1" dirty="0">
              <a:solidFill>
                <a:srgbClr val="2EAEBB"/>
              </a:solidFill>
              <a:latin typeface="Menlo" panose="020B0609030804020204" pitchFamily="49" charset="0"/>
            </a:endParaRPr>
          </a:p>
          <a:p>
            <a:r>
              <a:rPr lang="en-US" b="1" dirty="0">
                <a:solidFill>
                  <a:srgbClr val="2EAEBB"/>
                </a:solidFill>
                <a:latin typeface="Menlo" panose="020B0609030804020204" pitchFamily="49" charset="0"/>
              </a:rPr>
              <a:t>class</a:t>
            </a:r>
            <a:r>
              <a:rPr lang="en-US" dirty="0">
                <a:solidFill>
                  <a:srgbClr val="000000"/>
                </a:solidFill>
                <a:latin typeface="Menlo" panose="020B0609030804020204" pitchFamily="49" charset="0"/>
              </a:rPr>
              <a:t> </a:t>
            </a:r>
            <a:r>
              <a:rPr lang="en-US" dirty="0" err="1">
                <a:solidFill>
                  <a:srgbClr val="2FB41D"/>
                </a:solidFill>
                <a:latin typeface="Menlo" panose="020B0609030804020204" pitchFamily="49" charset="0"/>
              </a:rPr>
              <a:t>LabelAllocator</a:t>
            </a:r>
            <a:r>
              <a:rPr lang="en-US" dirty="0">
                <a:solidFill>
                  <a:srgbClr val="000000"/>
                </a:solidFill>
                <a:latin typeface="Menlo" panose="020B0609030804020204" pitchFamily="49" charset="0"/>
              </a:rPr>
              <a:t>():</a:t>
            </a:r>
            <a:endParaRPr lang="en-US" dirty="0">
              <a:solidFill>
                <a:srgbClr val="2FB41D"/>
              </a:solidFill>
              <a:latin typeface="Menlo" panose="020B0609030804020204" pitchFamily="49" charset="0"/>
            </a:endParaRP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def</a:t>
            </a:r>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__</a:t>
            </a:r>
            <a:r>
              <a:rPr lang="en-US" b="1" dirty="0" err="1">
                <a:solidFill>
                  <a:srgbClr val="400BD9"/>
                </a:solidFill>
                <a:latin typeface="Menlo" panose="020B0609030804020204" pitchFamily="49" charset="0"/>
              </a:rPr>
              <a:t>init</a:t>
            </a:r>
            <a:r>
              <a:rPr lang="en-US" b="1" dirty="0">
                <a:solidFill>
                  <a:srgbClr val="400BD9"/>
                </a:solidFill>
                <a:latin typeface="Menlo" panose="020B0609030804020204" pitchFamily="49" charset="0"/>
              </a:rPr>
              <a:t>__</a:t>
            </a:r>
            <a:r>
              <a:rPr lang="en-US" dirty="0">
                <a:solidFill>
                  <a:srgbClr val="000000"/>
                </a:solidFill>
                <a:latin typeface="Menlo" panose="020B0609030804020204" pitchFamily="49" charset="0"/>
              </a:rPr>
              <a:t>(</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.count</a:t>
            </a:r>
            <a:r>
              <a:rPr lang="en-US" dirty="0">
                <a:solidFill>
                  <a:srgbClr val="000000"/>
                </a:solidFill>
                <a:latin typeface="Menlo" panose="020B0609030804020204" pitchFamily="49" charset="0"/>
              </a:rPr>
              <a:t> = 0</a:t>
            </a:r>
          </a:p>
          <a:p>
            <a:endParaRPr lang="en-US" dirty="0">
              <a:solidFill>
                <a:srgbClr val="000000"/>
              </a:solidFill>
              <a:latin typeface="Menlo" panose="020B0609030804020204" pitchFamily="49" charset="0"/>
            </a:endParaRP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def</a:t>
            </a:r>
            <a:r>
              <a:rPr lang="en-US" dirty="0">
                <a:solidFill>
                  <a:srgbClr val="000000"/>
                </a:solidFill>
                <a:latin typeface="Menlo" panose="020B0609030804020204" pitchFamily="49" charset="0"/>
              </a:rPr>
              <a:t> </a:t>
            </a:r>
            <a:r>
              <a:rPr lang="en-US" b="1" dirty="0" err="1">
                <a:solidFill>
                  <a:srgbClr val="400BD9"/>
                </a:solidFill>
                <a:latin typeface="Menlo" panose="020B0609030804020204" pitchFamily="49" charset="0"/>
              </a:rPr>
              <a:t>mk_new_label</a:t>
            </a:r>
            <a:r>
              <a:rPr lang="en-US" dirty="0">
                <a:solidFill>
                  <a:srgbClr val="000000"/>
                </a:solidFill>
                <a:latin typeface="Menlo" panose="020B0609030804020204" pitchFamily="49" charset="0"/>
              </a:rPr>
              <a:t>(</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a:t>
            </a:r>
            <a:endParaRPr lang="en-US" dirty="0">
              <a:solidFill>
                <a:srgbClr val="400BD9"/>
              </a:solidFill>
              <a:latin typeface="Menlo" panose="020B0609030804020204" pitchFamily="49" charset="0"/>
            </a:endParaRPr>
          </a:p>
          <a:p>
            <a:r>
              <a:rPr lang="en-US" dirty="0">
                <a:solidFill>
                  <a:srgbClr val="9FA01C"/>
                </a:solidFill>
                <a:latin typeface="Menlo" panose="020B0609030804020204" pitchFamily="49" charset="0"/>
              </a:rPr>
              <a:t>        </a:t>
            </a:r>
            <a:r>
              <a:rPr lang="en-US" dirty="0" err="1">
                <a:solidFill>
                  <a:srgbClr val="9FA01C"/>
                </a:solidFill>
                <a:latin typeface="Menlo" panose="020B0609030804020204" pitchFamily="49" charset="0"/>
              </a:rPr>
              <a:t>lb</a:t>
            </a:r>
            <a:r>
              <a:rPr lang="en-US" dirty="0">
                <a:solidFill>
                  <a:srgbClr val="000000"/>
                </a:solidFill>
                <a:latin typeface="Menlo" panose="020B0609030804020204" pitchFamily="49" charset="0"/>
              </a:rPr>
              <a:t> = </a:t>
            </a:r>
            <a:r>
              <a:rPr lang="en-US" dirty="0">
                <a:solidFill>
                  <a:srgbClr val="2FB41D"/>
                </a:solidFill>
                <a:latin typeface="Menlo" panose="020B0609030804020204" pitchFamily="49" charset="0"/>
              </a:rPr>
              <a:t>”label"</a:t>
            </a:r>
            <a:r>
              <a:rPr lang="en-US" dirty="0">
                <a:solidFill>
                  <a:srgbClr val="000000"/>
                </a:solidFill>
                <a:latin typeface="Menlo" panose="020B0609030804020204" pitchFamily="49" charset="0"/>
              </a:rPr>
              <a:t> + </a:t>
            </a:r>
            <a:r>
              <a:rPr lang="en-US" b="1" dirty="0">
                <a:solidFill>
                  <a:srgbClr val="400BD9"/>
                </a:solidFill>
                <a:latin typeface="Menlo" panose="020B0609030804020204" pitchFamily="49" charset="0"/>
              </a:rPr>
              <a:t>str</a:t>
            </a:r>
            <a:r>
              <a:rPr lang="en-US" dirty="0">
                <a:solidFill>
                  <a:srgbClr val="000000"/>
                </a:solidFill>
                <a:latin typeface="Menlo" panose="020B0609030804020204" pitchFamily="49" charset="0"/>
              </a:rPr>
              <a:t>(</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.count</a:t>
            </a:r>
            <a:r>
              <a:rPr lang="en-US" dirty="0">
                <a:solidFill>
                  <a:srgbClr val="000000"/>
                </a:solidFill>
                <a:latin typeface="Menlo" panose="020B0609030804020204" pitchFamily="49" charset="0"/>
              </a:rPr>
              <a:t>)</a:t>
            </a:r>
          </a:p>
          <a:p>
            <a:r>
              <a:rPr lang="en-US" b="1" dirty="0">
                <a:solidFill>
                  <a:srgbClr val="2EAEBB"/>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.count</a:t>
            </a:r>
            <a:r>
              <a:rPr lang="en-US" dirty="0">
                <a:solidFill>
                  <a:srgbClr val="000000"/>
                </a:solidFill>
                <a:latin typeface="Menlo" panose="020B0609030804020204" pitchFamily="49" charset="0"/>
              </a:rPr>
              <a:t> += 1</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return</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lb</a:t>
            </a:r>
            <a:endParaRPr lang="en-US"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1762256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258EB2-A9C8-4E4B-A6D5-99A5401504FF}"/>
              </a:ext>
            </a:extLst>
          </p:cNvPr>
          <p:cNvSpPr/>
          <p:nvPr/>
        </p:nvSpPr>
        <p:spPr>
          <a:xfrm>
            <a:off x="339633" y="1181240"/>
            <a:ext cx="9222378" cy="369332"/>
          </a:xfrm>
          <a:prstGeom prst="rect">
            <a:avLst/>
          </a:prstGeom>
        </p:spPr>
        <p:txBody>
          <a:bodyPr wrap="square">
            <a:spAutoFit/>
          </a:bodyPr>
          <a:lstStyle/>
          <a:p>
            <a:r>
              <a:rPr lang="en-US" dirty="0" err="1">
                <a:latin typeface="Courier" pitchFamily="2" charset="0"/>
                <a:ea typeface="Calibri" panose="020F0502020204030204" pitchFamily="34" charset="0"/>
                <a:cs typeface="Times New Roman" panose="02020603050405020304" pitchFamily="18" charset="0"/>
              </a:rPr>
              <a:t>if_else_statement</a:t>
            </a:r>
            <a:r>
              <a:rPr lang="en-US" dirty="0">
                <a:latin typeface="Courier" pitchFamily="2" charset="0"/>
                <a:ea typeface="Calibri" panose="020F0502020204030204" pitchFamily="34" charset="0"/>
                <a:cs typeface="Times New Roman" panose="02020603050405020304" pitchFamily="18" charset="0"/>
              </a:rPr>
              <a:t> := IF LPAR </a:t>
            </a:r>
            <a:r>
              <a:rPr lang="en-US" dirty="0">
                <a:highlight>
                  <a:srgbClr val="FFFF00"/>
                </a:highlight>
                <a:latin typeface="Courier" pitchFamily="2" charset="0"/>
                <a:ea typeface="Calibri" panose="020F0502020204030204" pitchFamily="34" charset="0"/>
                <a:cs typeface="Times New Roman" panose="02020603050405020304" pitchFamily="18" charset="0"/>
              </a:rPr>
              <a:t>expr</a:t>
            </a:r>
            <a:r>
              <a:rPr lang="en-US" dirty="0">
                <a:latin typeface="Courier" pitchFamily="2" charset="0"/>
                <a:ea typeface="Calibri" panose="020F0502020204030204" pitchFamily="34" charset="0"/>
                <a:cs typeface="Times New Roman" panose="02020603050405020304" pitchFamily="18" charset="0"/>
              </a:rPr>
              <a:t> RPAR </a:t>
            </a:r>
            <a:r>
              <a:rPr lang="en-US" dirty="0">
                <a:highlight>
                  <a:srgbClr val="00FF00"/>
                </a:highlight>
                <a:latin typeface="Courier" pitchFamily="2" charset="0"/>
                <a:ea typeface="Calibri" panose="020F0502020204030204" pitchFamily="34" charset="0"/>
                <a:cs typeface="Times New Roman" panose="02020603050405020304" pitchFamily="18" charset="0"/>
              </a:rPr>
              <a:t>statement</a:t>
            </a:r>
            <a:r>
              <a:rPr lang="en-US" dirty="0">
                <a:latin typeface="Courier" pitchFamily="2" charset="0"/>
                <a:ea typeface="Calibri" panose="020F0502020204030204" pitchFamily="34" charset="0"/>
                <a:cs typeface="Times New Roman" panose="02020603050405020304" pitchFamily="18" charset="0"/>
              </a:rPr>
              <a:t> ELSE </a:t>
            </a:r>
            <a:r>
              <a:rPr lang="en-US" dirty="0">
                <a:highlight>
                  <a:srgbClr val="00FFFF"/>
                </a:highlight>
                <a:latin typeface="Courier" pitchFamily="2" charset="0"/>
                <a:ea typeface="Calibri" panose="020F0502020204030204" pitchFamily="34" charset="0"/>
                <a:cs typeface="Times New Roman" panose="02020603050405020304" pitchFamily="18" charset="0"/>
              </a:rPr>
              <a:t>statement</a:t>
            </a:r>
            <a:r>
              <a:rPr lang="en-US" dirty="0">
                <a:latin typeface="Courier" pitchFamily="2" charset="0"/>
                <a:ea typeface="Calibri" panose="020F0502020204030204" pitchFamily="34" charset="0"/>
                <a:cs typeface="Times New Roman" panose="02020603050405020304" pitchFamily="18" charset="0"/>
              </a:rPr>
              <a:t> </a:t>
            </a:r>
            <a:endParaRPr lang="en-US" dirty="0"/>
          </a:p>
        </p:txBody>
      </p:sp>
      <p:sp>
        <p:nvSpPr>
          <p:cNvPr id="5" name="Rectangle 4">
            <a:extLst>
              <a:ext uri="{FF2B5EF4-FFF2-40B4-BE49-F238E27FC236}">
                <a16:creationId xmlns:a16="http://schemas.microsoft.com/office/drawing/2014/main" id="{29D061B3-321C-BF43-B43E-5A50006033BD}"/>
              </a:ext>
            </a:extLst>
          </p:cNvPr>
          <p:cNvSpPr/>
          <p:nvPr/>
        </p:nvSpPr>
        <p:spPr>
          <a:xfrm>
            <a:off x="199002" y="1743149"/>
            <a:ext cx="6992983" cy="5078313"/>
          </a:xfrm>
          <a:prstGeom prst="rect">
            <a:avLst/>
          </a:prstGeom>
        </p:spPr>
        <p:txBody>
          <a:bodyPr wrap="square">
            <a:spAutoFit/>
          </a:bodyPr>
          <a:lstStyle/>
          <a:p>
            <a:r>
              <a:rPr lang="en-US" dirty="0">
                <a:latin typeface="Courier" pitchFamily="2" charset="0"/>
              </a:rPr>
              <a:t>{</a:t>
            </a:r>
          </a:p>
          <a:p>
            <a:r>
              <a:rPr lang="en-US" dirty="0">
                <a:latin typeface="Courier" pitchFamily="2" charset="0"/>
              </a:rPr>
              <a:t>   ...</a:t>
            </a:r>
          </a:p>
          <a:p>
            <a:r>
              <a:rPr lang="en-US" dirty="0">
                <a:latin typeface="Courier" pitchFamily="2" charset="0"/>
              </a:rPr>
              <a:t>   # get resources</a:t>
            </a:r>
          </a:p>
          <a:p>
            <a:r>
              <a:rPr lang="en-US" dirty="0">
                <a:latin typeface="Courier" pitchFamily="2" charset="0"/>
              </a:rPr>
              <a:t>   </a:t>
            </a:r>
            <a:r>
              <a:rPr lang="en-US" dirty="0" err="1">
                <a:latin typeface="Courier" pitchFamily="2" charset="0"/>
              </a:rPr>
              <a:t>end_label</a:t>
            </a:r>
            <a:r>
              <a:rPr lang="en-US" dirty="0">
                <a:latin typeface="Courier" pitchFamily="2" charset="0"/>
              </a:rPr>
              <a:t>  = </a:t>
            </a:r>
            <a:r>
              <a:rPr lang="en-US" dirty="0" err="1">
                <a:latin typeface="Courier" pitchFamily="2" charset="0"/>
              </a:rPr>
              <a:t>mk_new_label</a:t>
            </a:r>
            <a:r>
              <a:rPr lang="en-US" dirty="0">
                <a:latin typeface="Courier" pitchFamily="2" charset="0"/>
              </a:rPr>
              <a:t>()</a:t>
            </a:r>
          </a:p>
          <a:p>
            <a:r>
              <a:rPr lang="en-US" dirty="0">
                <a:latin typeface="Courier" pitchFamily="2" charset="0"/>
              </a:rPr>
              <a:t>   </a:t>
            </a:r>
            <a:r>
              <a:rPr lang="en-US" dirty="0" err="1">
                <a:latin typeface="Courier" pitchFamily="2" charset="0"/>
              </a:rPr>
              <a:t>else_label</a:t>
            </a:r>
            <a:r>
              <a:rPr lang="en-US" dirty="0">
                <a:latin typeface="Courier" pitchFamily="2" charset="0"/>
              </a:rPr>
              <a:t> = </a:t>
            </a:r>
            <a:r>
              <a:rPr lang="en-US" dirty="0" err="1">
                <a:latin typeface="Courier" pitchFamily="2" charset="0"/>
              </a:rPr>
              <a:t>mk_new_label</a:t>
            </a:r>
            <a:r>
              <a:rPr lang="en-US" dirty="0">
                <a:latin typeface="Courier" pitchFamily="2" charset="0"/>
              </a:rPr>
              <a:t>()</a:t>
            </a:r>
          </a:p>
          <a:p>
            <a:r>
              <a:rPr lang="en-US" dirty="0">
                <a:latin typeface="Courier" pitchFamily="2" charset="0"/>
              </a:rPr>
              <a:t>   </a:t>
            </a:r>
            <a:r>
              <a:rPr lang="en-US" dirty="0" err="1">
                <a:latin typeface="Courier" pitchFamily="2" charset="0"/>
              </a:rPr>
              <a:t>vrX</a:t>
            </a:r>
            <a:r>
              <a:rPr lang="en-US" dirty="0">
                <a:latin typeface="Courier" pitchFamily="2" charset="0"/>
              </a:rPr>
              <a:t>        = </a:t>
            </a:r>
            <a:r>
              <a:rPr lang="en-US" dirty="0" err="1">
                <a:latin typeface="Courier" pitchFamily="2" charset="0"/>
              </a:rPr>
              <a:t>mk_new_vr</a:t>
            </a:r>
            <a:r>
              <a:rPr lang="en-US" dirty="0">
                <a:latin typeface="Courier" pitchFamily="2" charset="0"/>
              </a:rPr>
              <a:t>()</a:t>
            </a:r>
          </a:p>
          <a:p>
            <a:endParaRPr lang="en-US" dirty="0">
              <a:latin typeface="Courier" pitchFamily="2" charset="0"/>
            </a:endParaRPr>
          </a:p>
          <a:p>
            <a:r>
              <a:rPr lang="en-US" dirty="0">
                <a:latin typeface="Courier" pitchFamily="2" charset="0"/>
              </a:rPr>
              <a:t>   # make instructions</a:t>
            </a:r>
          </a:p>
          <a:p>
            <a:r>
              <a:rPr lang="en-US" dirty="0">
                <a:latin typeface="Courier" pitchFamily="2" charset="0"/>
              </a:rPr>
              <a:t>   ins0 = “%s = int2vr(0)” % </a:t>
            </a:r>
            <a:r>
              <a:rPr lang="en-US" dirty="0" err="1">
                <a:latin typeface="Courier" pitchFamily="2" charset="0"/>
              </a:rPr>
              <a:t>vrX</a:t>
            </a:r>
            <a:endParaRPr lang="en-US" dirty="0">
              <a:latin typeface="Courier" pitchFamily="2" charset="0"/>
            </a:endParaRPr>
          </a:p>
          <a:p>
            <a:r>
              <a:rPr lang="en-US" dirty="0">
                <a:latin typeface="Courier" pitchFamily="2" charset="0"/>
              </a:rPr>
              <a:t>   ins1 = “</a:t>
            </a:r>
            <a:r>
              <a:rPr lang="en-US" dirty="0" err="1">
                <a:latin typeface="Courier" pitchFamily="2" charset="0"/>
              </a:rPr>
              <a:t>beq</a:t>
            </a:r>
            <a:r>
              <a:rPr lang="en-US" dirty="0">
                <a:latin typeface="Courier" pitchFamily="2" charset="0"/>
              </a:rPr>
              <a:t>(%s, %s, %s);” % </a:t>
            </a:r>
          </a:p>
          <a:p>
            <a:r>
              <a:rPr lang="en-US" dirty="0">
                <a:latin typeface="Courier" pitchFamily="2" charset="0"/>
              </a:rPr>
              <a:t>          (</a:t>
            </a:r>
            <a:r>
              <a:rPr lang="en-US" dirty="0" err="1">
                <a:latin typeface="Courier" pitchFamily="2" charset="0"/>
              </a:rPr>
              <a:t>expr_ast.vr</a:t>
            </a:r>
            <a:r>
              <a:rPr lang="en-US" dirty="0">
                <a:latin typeface="Courier" pitchFamily="2" charset="0"/>
              </a:rPr>
              <a:t>, </a:t>
            </a:r>
            <a:r>
              <a:rPr lang="en-US" dirty="0" err="1">
                <a:latin typeface="Courier" pitchFamily="2" charset="0"/>
              </a:rPr>
              <a:t>vrX</a:t>
            </a:r>
            <a:r>
              <a:rPr lang="en-US" dirty="0">
                <a:latin typeface="Courier" pitchFamily="2" charset="0"/>
              </a:rPr>
              <a:t>, </a:t>
            </a:r>
            <a:r>
              <a:rPr lang="en-US" dirty="0" err="1">
                <a:latin typeface="Courier" pitchFamily="2" charset="0"/>
              </a:rPr>
              <a:t>else_label</a:t>
            </a:r>
            <a:r>
              <a:rPr lang="en-US" dirty="0">
                <a:latin typeface="Courier" pitchFamily="2" charset="0"/>
              </a:rPr>
              <a:t>)</a:t>
            </a:r>
          </a:p>
          <a:p>
            <a:r>
              <a:rPr lang="en-US" dirty="0">
                <a:latin typeface="Courier" pitchFamily="2" charset="0"/>
              </a:rPr>
              <a:t>   ins2 = “branch(%s)” % </a:t>
            </a:r>
            <a:r>
              <a:rPr lang="en-US" dirty="0" err="1">
                <a:latin typeface="Courier" pitchFamily="2" charset="0"/>
              </a:rPr>
              <a:t>end_label</a:t>
            </a:r>
            <a:endParaRPr lang="en-US" dirty="0">
              <a:latin typeface="Courier" pitchFamily="2" charset="0"/>
            </a:endParaRPr>
          </a:p>
          <a:p>
            <a:endParaRPr lang="en-US" dirty="0">
              <a:latin typeface="Courier" pitchFamily="2" charset="0"/>
            </a:endParaRPr>
          </a:p>
          <a:p>
            <a:r>
              <a:rPr lang="en-US" dirty="0">
                <a:latin typeface="Courier" pitchFamily="2" charset="0"/>
              </a:rPr>
              <a:t>   # concatenate all programs</a:t>
            </a:r>
          </a:p>
          <a:p>
            <a:r>
              <a:rPr lang="en-US" dirty="0">
                <a:latin typeface="Courier" pitchFamily="2" charset="0"/>
              </a:rPr>
              <a:t>   return program0 + [ins0, ins1] + program1</a:t>
            </a:r>
            <a:br>
              <a:rPr lang="en-US" dirty="0">
                <a:latin typeface="Courier" pitchFamily="2" charset="0"/>
              </a:rPr>
            </a:br>
            <a:r>
              <a:rPr lang="en-US" dirty="0">
                <a:latin typeface="Courier" pitchFamily="2" charset="0"/>
              </a:rPr>
              <a:t>          + [ins2, </a:t>
            </a:r>
            <a:r>
              <a:rPr lang="en-US" dirty="0" err="1">
                <a:highlight>
                  <a:srgbClr val="FF00FF"/>
                </a:highlight>
                <a:latin typeface="Courier" pitchFamily="2" charset="0"/>
              </a:rPr>
              <a:t>label_code</a:t>
            </a:r>
            <a:r>
              <a:rPr lang="en-US" dirty="0">
                <a:highlight>
                  <a:srgbClr val="FF00FF"/>
                </a:highlight>
                <a:latin typeface="Courier" pitchFamily="2" charset="0"/>
              </a:rPr>
              <a:t>(</a:t>
            </a:r>
            <a:r>
              <a:rPr lang="en-US" dirty="0" err="1">
                <a:highlight>
                  <a:srgbClr val="FF00FF"/>
                </a:highlight>
                <a:latin typeface="Courier" pitchFamily="2" charset="0"/>
              </a:rPr>
              <a:t>else_label</a:t>
            </a:r>
            <a:r>
              <a:rPr lang="en-US" dirty="0">
                <a:highlight>
                  <a:srgbClr val="FF00FF"/>
                </a:highlight>
                <a:latin typeface="Courier" pitchFamily="2" charset="0"/>
              </a:rPr>
              <a:t>)</a:t>
            </a:r>
            <a:r>
              <a:rPr lang="en-US" dirty="0">
                <a:latin typeface="Courier" pitchFamily="2" charset="0"/>
              </a:rPr>
              <a:t>]</a:t>
            </a:r>
            <a:br>
              <a:rPr lang="en-US" dirty="0">
                <a:latin typeface="Courier" pitchFamily="2" charset="0"/>
              </a:rPr>
            </a:br>
            <a:r>
              <a:rPr lang="en-US" dirty="0">
                <a:latin typeface="Courier" pitchFamily="2" charset="0"/>
              </a:rPr>
              <a:t>          + program2 + [</a:t>
            </a:r>
            <a:r>
              <a:rPr lang="en-US" dirty="0" err="1">
                <a:latin typeface="Courier" pitchFamily="2" charset="0"/>
              </a:rPr>
              <a:t>label_code</a:t>
            </a:r>
            <a:r>
              <a:rPr lang="en-US" dirty="0">
                <a:latin typeface="Courier" pitchFamily="2" charset="0"/>
              </a:rPr>
              <a:t>(</a:t>
            </a:r>
            <a:r>
              <a:rPr lang="en-US" dirty="0" err="1">
                <a:latin typeface="Courier" pitchFamily="2" charset="0"/>
              </a:rPr>
              <a:t>end_label</a:t>
            </a:r>
            <a:r>
              <a:rPr lang="en-US" dirty="0">
                <a:latin typeface="Courier" pitchFamily="2" charset="0"/>
              </a:rPr>
              <a:t>)]  </a:t>
            </a:r>
          </a:p>
          <a:p>
            <a:r>
              <a:rPr lang="en-US" dirty="0">
                <a:latin typeface="Courier" pitchFamily="2" charset="0"/>
              </a:rPr>
              <a:t>}</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E3EE3C23-82FE-A145-BAF8-EB4E7320D94C}"/>
              </a:ext>
            </a:extLst>
          </p:cNvPr>
          <p:cNvSpPr txBox="1"/>
          <p:nvPr/>
        </p:nvSpPr>
        <p:spPr>
          <a:xfrm>
            <a:off x="6845435" y="2550463"/>
            <a:ext cx="5147563" cy="2308324"/>
          </a:xfrm>
          <a:prstGeom prst="rect">
            <a:avLst/>
          </a:prstGeom>
          <a:noFill/>
        </p:spPr>
        <p:txBody>
          <a:bodyPr wrap="none" rtlCol="0">
            <a:spAutoFit/>
          </a:bodyPr>
          <a:lstStyle/>
          <a:p>
            <a:r>
              <a:rPr lang="en-US" dirty="0">
                <a:highlight>
                  <a:srgbClr val="FFFF00"/>
                </a:highlight>
                <a:latin typeface="Courier" pitchFamily="2" charset="0"/>
              </a:rPr>
              <a:t>  program0;</a:t>
            </a:r>
          </a:p>
          <a:p>
            <a:r>
              <a:rPr lang="en-US" dirty="0">
                <a:latin typeface="Courier" pitchFamily="2" charset="0"/>
              </a:rPr>
              <a:t>  </a:t>
            </a:r>
            <a:r>
              <a:rPr lang="en-US" dirty="0" err="1">
                <a:latin typeface="Courier" pitchFamily="2" charset="0"/>
              </a:rPr>
              <a:t>vrX</a:t>
            </a:r>
            <a:r>
              <a:rPr lang="en-US" dirty="0">
                <a:latin typeface="Courier" pitchFamily="2" charset="0"/>
              </a:rPr>
              <a:t> = int2vr(0)</a:t>
            </a:r>
          </a:p>
          <a:p>
            <a:r>
              <a:rPr lang="en-US" dirty="0">
                <a:latin typeface="Courier" pitchFamily="2" charset="0"/>
              </a:rPr>
              <a:t>  </a:t>
            </a:r>
            <a:r>
              <a:rPr lang="en-US" dirty="0" err="1">
                <a:latin typeface="Courier" pitchFamily="2" charset="0"/>
              </a:rPr>
              <a:t>beq</a:t>
            </a:r>
            <a:r>
              <a:rPr lang="en-US" dirty="0">
                <a:latin typeface="Courier" pitchFamily="2" charset="0"/>
              </a:rPr>
              <a:t>(</a:t>
            </a:r>
            <a:r>
              <a:rPr lang="en-US" dirty="0" err="1">
                <a:latin typeface="Courier" pitchFamily="2" charset="0"/>
              </a:rPr>
              <a:t>expr_ast.vr</a:t>
            </a:r>
            <a:r>
              <a:rPr lang="en-US" dirty="0">
                <a:latin typeface="Courier" pitchFamily="2" charset="0"/>
              </a:rPr>
              <a:t>, </a:t>
            </a:r>
            <a:r>
              <a:rPr lang="en-US" dirty="0" err="1">
                <a:latin typeface="Courier" pitchFamily="2" charset="0"/>
              </a:rPr>
              <a:t>vrX</a:t>
            </a:r>
            <a:r>
              <a:rPr lang="en-US" dirty="0">
                <a:latin typeface="Courier" pitchFamily="2" charset="0"/>
              </a:rPr>
              <a:t>, </a:t>
            </a:r>
            <a:r>
              <a:rPr lang="en-US" dirty="0" err="1">
                <a:latin typeface="Courier" pitchFamily="2" charset="0"/>
              </a:rPr>
              <a:t>else_label</a:t>
            </a:r>
            <a:r>
              <a:rPr lang="en-US" dirty="0">
                <a:latin typeface="Courier" pitchFamily="2" charset="0"/>
              </a:rPr>
              <a:t>);</a:t>
            </a:r>
          </a:p>
          <a:p>
            <a:r>
              <a:rPr lang="en-US" dirty="0">
                <a:highlight>
                  <a:srgbClr val="00FF00"/>
                </a:highlight>
                <a:latin typeface="Courier" pitchFamily="2" charset="0"/>
              </a:rPr>
              <a:t>  program1</a:t>
            </a:r>
          </a:p>
          <a:p>
            <a:r>
              <a:rPr lang="en-US" dirty="0">
                <a:latin typeface="Courier" pitchFamily="2" charset="0"/>
              </a:rPr>
              <a:t>  branch(</a:t>
            </a:r>
            <a:r>
              <a:rPr lang="en-US" dirty="0" err="1">
                <a:highlight>
                  <a:srgbClr val="FF00FF"/>
                </a:highlight>
                <a:latin typeface="Courier" pitchFamily="2" charset="0"/>
              </a:rPr>
              <a:t>end_label</a:t>
            </a:r>
            <a:r>
              <a:rPr lang="en-US" dirty="0">
                <a:latin typeface="Courier" pitchFamily="2" charset="0"/>
              </a:rPr>
              <a:t>);</a:t>
            </a:r>
          </a:p>
          <a:p>
            <a:r>
              <a:rPr lang="en-US" dirty="0" err="1">
                <a:latin typeface="Courier" pitchFamily="2" charset="0"/>
              </a:rPr>
              <a:t>else_label</a:t>
            </a:r>
            <a:r>
              <a:rPr lang="en-US" dirty="0">
                <a:latin typeface="Courier" pitchFamily="2" charset="0"/>
              </a:rPr>
              <a:t>:</a:t>
            </a:r>
          </a:p>
          <a:p>
            <a:r>
              <a:rPr lang="en-US" dirty="0">
                <a:highlight>
                  <a:srgbClr val="00FFFF"/>
                </a:highlight>
                <a:latin typeface="Courier" pitchFamily="2" charset="0"/>
              </a:rPr>
              <a:t>  program2</a:t>
            </a:r>
            <a:br>
              <a:rPr lang="en-US" dirty="0">
                <a:highlight>
                  <a:srgbClr val="00FFFF"/>
                </a:highlight>
                <a:latin typeface="Courier" pitchFamily="2" charset="0"/>
              </a:rPr>
            </a:br>
            <a:r>
              <a:rPr lang="en-US" dirty="0" err="1">
                <a:highlight>
                  <a:srgbClr val="FF00FF"/>
                </a:highlight>
                <a:latin typeface="Courier" pitchFamily="2" charset="0"/>
              </a:rPr>
              <a:t>end_label</a:t>
            </a:r>
            <a:r>
              <a:rPr lang="en-US" dirty="0">
                <a:highlight>
                  <a:srgbClr val="FF00FF"/>
                </a:highlight>
                <a:latin typeface="Courier" pitchFamily="2" charset="0"/>
              </a:rPr>
              <a:t>:</a:t>
            </a:r>
          </a:p>
        </p:txBody>
      </p:sp>
      <p:sp>
        <p:nvSpPr>
          <p:cNvPr id="3" name="TextBox 2">
            <a:extLst>
              <a:ext uri="{FF2B5EF4-FFF2-40B4-BE49-F238E27FC236}">
                <a16:creationId xmlns:a16="http://schemas.microsoft.com/office/drawing/2014/main" id="{68F62EC2-4E10-3C4F-9519-A970344ECDFB}"/>
              </a:ext>
            </a:extLst>
          </p:cNvPr>
          <p:cNvSpPr txBox="1"/>
          <p:nvPr/>
        </p:nvSpPr>
        <p:spPr>
          <a:xfrm>
            <a:off x="8134184" y="5454595"/>
            <a:ext cx="2426113" cy="369332"/>
          </a:xfrm>
          <a:prstGeom prst="rect">
            <a:avLst/>
          </a:prstGeom>
          <a:noFill/>
        </p:spPr>
        <p:txBody>
          <a:bodyPr wrap="none" rtlCol="0">
            <a:spAutoFit/>
          </a:bodyPr>
          <a:lstStyle/>
          <a:p>
            <a:r>
              <a:rPr lang="en-US" b="1" dirty="0"/>
              <a:t>Labels need a colon  “:”</a:t>
            </a:r>
          </a:p>
        </p:txBody>
      </p:sp>
      <p:sp>
        <p:nvSpPr>
          <p:cNvPr id="4" name="TextBox 3">
            <a:extLst>
              <a:ext uri="{FF2B5EF4-FFF2-40B4-BE49-F238E27FC236}">
                <a16:creationId xmlns:a16="http://schemas.microsoft.com/office/drawing/2014/main" id="{775E1CE9-3A75-0C9C-C7B3-EEB195E75E05}"/>
              </a:ext>
            </a:extLst>
          </p:cNvPr>
          <p:cNvSpPr txBox="1"/>
          <p:nvPr/>
        </p:nvSpPr>
        <p:spPr>
          <a:xfrm>
            <a:off x="6199094" y="2080701"/>
            <a:ext cx="3576918" cy="369332"/>
          </a:xfrm>
          <a:prstGeom prst="rect">
            <a:avLst/>
          </a:prstGeom>
          <a:noFill/>
        </p:spPr>
        <p:txBody>
          <a:bodyPr wrap="square" rtlCol="0">
            <a:spAutoFit/>
          </a:bodyPr>
          <a:lstStyle/>
          <a:p>
            <a:r>
              <a:rPr lang="en-US" dirty="0"/>
              <a:t>Template code for if-then-else:</a:t>
            </a:r>
          </a:p>
        </p:txBody>
      </p:sp>
    </p:spTree>
    <p:extLst>
      <p:ext uri="{BB962C8B-B14F-4D97-AF65-F5344CB8AC3E}">
        <p14:creationId xmlns:p14="http://schemas.microsoft.com/office/powerpoint/2010/main" val="195672755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258EB2-A9C8-4E4B-A6D5-99A5401504FF}"/>
              </a:ext>
            </a:extLst>
          </p:cNvPr>
          <p:cNvSpPr/>
          <p:nvPr/>
        </p:nvSpPr>
        <p:spPr>
          <a:xfrm>
            <a:off x="339633" y="1181240"/>
            <a:ext cx="9222378" cy="369332"/>
          </a:xfrm>
          <a:prstGeom prst="rect">
            <a:avLst/>
          </a:prstGeom>
        </p:spPr>
        <p:txBody>
          <a:bodyPr wrap="square">
            <a:spAutoFit/>
          </a:bodyPr>
          <a:lstStyle/>
          <a:p>
            <a:r>
              <a:rPr lang="en-US" dirty="0" err="1">
                <a:latin typeface="Courier" pitchFamily="2" charset="0"/>
                <a:ea typeface="Calibri" panose="020F0502020204030204" pitchFamily="34" charset="0"/>
                <a:cs typeface="Times New Roman" panose="02020603050405020304" pitchFamily="18" charset="0"/>
              </a:rPr>
              <a:t>if_else_statement</a:t>
            </a:r>
            <a:r>
              <a:rPr lang="en-US" dirty="0">
                <a:latin typeface="Courier" pitchFamily="2" charset="0"/>
                <a:ea typeface="Calibri" panose="020F0502020204030204" pitchFamily="34" charset="0"/>
                <a:cs typeface="Times New Roman" panose="02020603050405020304" pitchFamily="18" charset="0"/>
              </a:rPr>
              <a:t> := IF LPAR </a:t>
            </a:r>
            <a:r>
              <a:rPr lang="en-US" dirty="0">
                <a:highlight>
                  <a:srgbClr val="FFFF00"/>
                </a:highlight>
                <a:latin typeface="Courier" pitchFamily="2" charset="0"/>
                <a:ea typeface="Calibri" panose="020F0502020204030204" pitchFamily="34" charset="0"/>
                <a:cs typeface="Times New Roman" panose="02020603050405020304" pitchFamily="18" charset="0"/>
              </a:rPr>
              <a:t>expr</a:t>
            </a:r>
            <a:r>
              <a:rPr lang="en-US" dirty="0">
                <a:latin typeface="Courier" pitchFamily="2" charset="0"/>
                <a:ea typeface="Calibri" panose="020F0502020204030204" pitchFamily="34" charset="0"/>
                <a:cs typeface="Times New Roman" panose="02020603050405020304" pitchFamily="18" charset="0"/>
              </a:rPr>
              <a:t> RPAR </a:t>
            </a:r>
            <a:r>
              <a:rPr lang="en-US" dirty="0">
                <a:highlight>
                  <a:srgbClr val="00FF00"/>
                </a:highlight>
                <a:latin typeface="Courier" pitchFamily="2" charset="0"/>
                <a:ea typeface="Calibri" panose="020F0502020204030204" pitchFamily="34" charset="0"/>
                <a:cs typeface="Times New Roman" panose="02020603050405020304" pitchFamily="18" charset="0"/>
              </a:rPr>
              <a:t>statement</a:t>
            </a:r>
            <a:r>
              <a:rPr lang="en-US" dirty="0">
                <a:latin typeface="Courier" pitchFamily="2" charset="0"/>
                <a:ea typeface="Calibri" panose="020F0502020204030204" pitchFamily="34" charset="0"/>
                <a:cs typeface="Times New Roman" panose="02020603050405020304" pitchFamily="18" charset="0"/>
              </a:rPr>
              <a:t> ELSE </a:t>
            </a:r>
            <a:r>
              <a:rPr lang="en-US" dirty="0">
                <a:highlight>
                  <a:srgbClr val="00FFFF"/>
                </a:highlight>
                <a:latin typeface="Courier" pitchFamily="2" charset="0"/>
                <a:ea typeface="Calibri" panose="020F0502020204030204" pitchFamily="34" charset="0"/>
                <a:cs typeface="Times New Roman" panose="02020603050405020304" pitchFamily="18" charset="0"/>
              </a:rPr>
              <a:t>statement</a:t>
            </a:r>
            <a:r>
              <a:rPr lang="en-US" dirty="0">
                <a:latin typeface="Courier" pitchFamily="2" charset="0"/>
                <a:ea typeface="Calibri" panose="020F0502020204030204" pitchFamily="34" charset="0"/>
                <a:cs typeface="Times New Roman" panose="02020603050405020304" pitchFamily="18" charset="0"/>
              </a:rPr>
              <a:t> </a:t>
            </a:r>
            <a:endParaRPr lang="en-US" dirty="0"/>
          </a:p>
        </p:txBody>
      </p:sp>
      <p:sp>
        <p:nvSpPr>
          <p:cNvPr id="5" name="Rectangle 4">
            <a:extLst>
              <a:ext uri="{FF2B5EF4-FFF2-40B4-BE49-F238E27FC236}">
                <a16:creationId xmlns:a16="http://schemas.microsoft.com/office/drawing/2014/main" id="{29D061B3-321C-BF43-B43E-5A50006033BD}"/>
              </a:ext>
            </a:extLst>
          </p:cNvPr>
          <p:cNvSpPr/>
          <p:nvPr/>
        </p:nvSpPr>
        <p:spPr>
          <a:xfrm>
            <a:off x="199002" y="1743149"/>
            <a:ext cx="6992983" cy="5078313"/>
          </a:xfrm>
          <a:prstGeom prst="rect">
            <a:avLst/>
          </a:prstGeom>
        </p:spPr>
        <p:txBody>
          <a:bodyPr wrap="square">
            <a:spAutoFit/>
          </a:bodyPr>
          <a:lstStyle/>
          <a:p>
            <a:r>
              <a:rPr lang="en-US" dirty="0">
                <a:latin typeface="Courier" pitchFamily="2" charset="0"/>
              </a:rPr>
              <a:t>{</a:t>
            </a:r>
          </a:p>
          <a:p>
            <a:r>
              <a:rPr lang="en-US" dirty="0">
                <a:latin typeface="Courier" pitchFamily="2" charset="0"/>
              </a:rPr>
              <a:t>   ...</a:t>
            </a:r>
          </a:p>
          <a:p>
            <a:r>
              <a:rPr lang="en-US" dirty="0">
                <a:latin typeface="Courier" pitchFamily="2" charset="0"/>
              </a:rPr>
              <a:t>   # get resources</a:t>
            </a:r>
          </a:p>
          <a:p>
            <a:r>
              <a:rPr lang="en-US" dirty="0">
                <a:latin typeface="Courier" pitchFamily="2" charset="0"/>
              </a:rPr>
              <a:t>   </a:t>
            </a:r>
            <a:r>
              <a:rPr lang="en-US" dirty="0" err="1">
                <a:latin typeface="Courier" pitchFamily="2" charset="0"/>
              </a:rPr>
              <a:t>end_label</a:t>
            </a:r>
            <a:r>
              <a:rPr lang="en-US" dirty="0">
                <a:latin typeface="Courier" pitchFamily="2" charset="0"/>
              </a:rPr>
              <a:t>  = </a:t>
            </a:r>
            <a:r>
              <a:rPr lang="en-US" dirty="0" err="1">
                <a:latin typeface="Courier" pitchFamily="2" charset="0"/>
              </a:rPr>
              <a:t>mk_new_label</a:t>
            </a:r>
            <a:r>
              <a:rPr lang="en-US" dirty="0">
                <a:latin typeface="Courier" pitchFamily="2" charset="0"/>
              </a:rPr>
              <a:t>()</a:t>
            </a:r>
          </a:p>
          <a:p>
            <a:r>
              <a:rPr lang="en-US" dirty="0">
                <a:latin typeface="Courier" pitchFamily="2" charset="0"/>
              </a:rPr>
              <a:t>   </a:t>
            </a:r>
            <a:r>
              <a:rPr lang="en-US" dirty="0" err="1">
                <a:latin typeface="Courier" pitchFamily="2" charset="0"/>
              </a:rPr>
              <a:t>else_label</a:t>
            </a:r>
            <a:r>
              <a:rPr lang="en-US" dirty="0">
                <a:latin typeface="Courier" pitchFamily="2" charset="0"/>
              </a:rPr>
              <a:t> = </a:t>
            </a:r>
            <a:r>
              <a:rPr lang="en-US" dirty="0" err="1">
                <a:latin typeface="Courier" pitchFamily="2" charset="0"/>
              </a:rPr>
              <a:t>mk_new_label</a:t>
            </a:r>
            <a:r>
              <a:rPr lang="en-US" dirty="0">
                <a:latin typeface="Courier" pitchFamily="2" charset="0"/>
              </a:rPr>
              <a:t>()</a:t>
            </a:r>
          </a:p>
          <a:p>
            <a:r>
              <a:rPr lang="en-US" dirty="0">
                <a:latin typeface="Courier" pitchFamily="2" charset="0"/>
              </a:rPr>
              <a:t>   </a:t>
            </a:r>
            <a:r>
              <a:rPr lang="en-US" dirty="0" err="1">
                <a:latin typeface="Courier" pitchFamily="2" charset="0"/>
              </a:rPr>
              <a:t>vrX</a:t>
            </a:r>
            <a:r>
              <a:rPr lang="en-US" dirty="0">
                <a:latin typeface="Courier" pitchFamily="2" charset="0"/>
              </a:rPr>
              <a:t>        = </a:t>
            </a:r>
            <a:r>
              <a:rPr lang="en-US" dirty="0" err="1">
                <a:latin typeface="Courier" pitchFamily="2" charset="0"/>
              </a:rPr>
              <a:t>mk_new_vr</a:t>
            </a:r>
            <a:r>
              <a:rPr lang="en-US" dirty="0">
                <a:latin typeface="Courier" pitchFamily="2" charset="0"/>
              </a:rPr>
              <a:t>()</a:t>
            </a:r>
          </a:p>
          <a:p>
            <a:endParaRPr lang="en-US" dirty="0">
              <a:latin typeface="Courier" pitchFamily="2" charset="0"/>
            </a:endParaRPr>
          </a:p>
          <a:p>
            <a:r>
              <a:rPr lang="en-US" dirty="0">
                <a:latin typeface="Courier" pitchFamily="2" charset="0"/>
              </a:rPr>
              <a:t>   # make instructions</a:t>
            </a:r>
          </a:p>
          <a:p>
            <a:r>
              <a:rPr lang="en-US" dirty="0">
                <a:latin typeface="Courier" pitchFamily="2" charset="0"/>
              </a:rPr>
              <a:t>   ins0 = “%s = int2vr(0)” % </a:t>
            </a:r>
            <a:r>
              <a:rPr lang="en-US" dirty="0" err="1">
                <a:latin typeface="Courier" pitchFamily="2" charset="0"/>
              </a:rPr>
              <a:t>vrX</a:t>
            </a:r>
            <a:endParaRPr lang="en-US" dirty="0">
              <a:latin typeface="Courier" pitchFamily="2" charset="0"/>
            </a:endParaRPr>
          </a:p>
          <a:p>
            <a:r>
              <a:rPr lang="en-US" dirty="0">
                <a:latin typeface="Courier" pitchFamily="2" charset="0"/>
              </a:rPr>
              <a:t>   ins1 = “</a:t>
            </a:r>
            <a:r>
              <a:rPr lang="en-US" dirty="0" err="1">
                <a:latin typeface="Courier" pitchFamily="2" charset="0"/>
              </a:rPr>
              <a:t>beq</a:t>
            </a:r>
            <a:r>
              <a:rPr lang="en-US" dirty="0">
                <a:latin typeface="Courier" pitchFamily="2" charset="0"/>
              </a:rPr>
              <a:t>(%s, %s, %s);” % </a:t>
            </a:r>
          </a:p>
          <a:p>
            <a:r>
              <a:rPr lang="en-US" dirty="0">
                <a:latin typeface="Courier" pitchFamily="2" charset="0"/>
              </a:rPr>
              <a:t>          (</a:t>
            </a:r>
            <a:r>
              <a:rPr lang="en-US" dirty="0" err="1">
                <a:latin typeface="Courier" pitchFamily="2" charset="0"/>
              </a:rPr>
              <a:t>expr_ast.vr</a:t>
            </a:r>
            <a:r>
              <a:rPr lang="en-US" dirty="0">
                <a:latin typeface="Courier" pitchFamily="2" charset="0"/>
              </a:rPr>
              <a:t>, </a:t>
            </a:r>
            <a:r>
              <a:rPr lang="en-US" dirty="0" err="1">
                <a:latin typeface="Courier" pitchFamily="2" charset="0"/>
              </a:rPr>
              <a:t>vrX</a:t>
            </a:r>
            <a:r>
              <a:rPr lang="en-US" dirty="0">
                <a:latin typeface="Courier" pitchFamily="2" charset="0"/>
              </a:rPr>
              <a:t>, </a:t>
            </a:r>
            <a:r>
              <a:rPr lang="en-US" dirty="0" err="1">
                <a:latin typeface="Courier" pitchFamily="2" charset="0"/>
              </a:rPr>
              <a:t>else_label</a:t>
            </a:r>
            <a:r>
              <a:rPr lang="en-US" dirty="0">
                <a:latin typeface="Courier" pitchFamily="2" charset="0"/>
              </a:rPr>
              <a:t>)</a:t>
            </a:r>
          </a:p>
          <a:p>
            <a:r>
              <a:rPr lang="en-US" dirty="0">
                <a:latin typeface="Courier" pitchFamily="2" charset="0"/>
              </a:rPr>
              <a:t>   ins2 = “branch(%s)” % </a:t>
            </a:r>
            <a:r>
              <a:rPr lang="en-US" dirty="0" err="1">
                <a:latin typeface="Courier" pitchFamily="2" charset="0"/>
              </a:rPr>
              <a:t>end_label</a:t>
            </a:r>
            <a:endParaRPr lang="en-US" dirty="0">
              <a:latin typeface="Courier" pitchFamily="2" charset="0"/>
            </a:endParaRPr>
          </a:p>
          <a:p>
            <a:endParaRPr lang="en-US" dirty="0">
              <a:latin typeface="Courier" pitchFamily="2" charset="0"/>
            </a:endParaRPr>
          </a:p>
          <a:p>
            <a:r>
              <a:rPr lang="en-US" dirty="0">
                <a:latin typeface="Courier" pitchFamily="2" charset="0"/>
              </a:rPr>
              <a:t>   # concatenate all programs</a:t>
            </a:r>
          </a:p>
          <a:p>
            <a:r>
              <a:rPr lang="en-US" dirty="0">
                <a:latin typeface="Courier" pitchFamily="2" charset="0"/>
              </a:rPr>
              <a:t>   return program0 + [ins0, ins1] + program1</a:t>
            </a:r>
            <a:br>
              <a:rPr lang="en-US" dirty="0">
                <a:latin typeface="Courier" pitchFamily="2" charset="0"/>
              </a:rPr>
            </a:br>
            <a:r>
              <a:rPr lang="en-US" dirty="0">
                <a:latin typeface="Courier" pitchFamily="2" charset="0"/>
              </a:rPr>
              <a:t>          + [ins2, </a:t>
            </a:r>
            <a:r>
              <a:rPr lang="en-US" dirty="0" err="1">
                <a:highlight>
                  <a:srgbClr val="FF00FF"/>
                </a:highlight>
                <a:latin typeface="Courier" pitchFamily="2" charset="0"/>
              </a:rPr>
              <a:t>label_code</a:t>
            </a:r>
            <a:r>
              <a:rPr lang="en-US" dirty="0">
                <a:highlight>
                  <a:srgbClr val="FF00FF"/>
                </a:highlight>
                <a:latin typeface="Courier" pitchFamily="2" charset="0"/>
              </a:rPr>
              <a:t>(</a:t>
            </a:r>
            <a:r>
              <a:rPr lang="en-US" dirty="0" err="1">
                <a:highlight>
                  <a:srgbClr val="FF00FF"/>
                </a:highlight>
                <a:latin typeface="Courier" pitchFamily="2" charset="0"/>
              </a:rPr>
              <a:t>else_label</a:t>
            </a:r>
            <a:r>
              <a:rPr lang="en-US" dirty="0">
                <a:highlight>
                  <a:srgbClr val="FF00FF"/>
                </a:highlight>
                <a:latin typeface="Courier" pitchFamily="2" charset="0"/>
              </a:rPr>
              <a:t>)</a:t>
            </a:r>
            <a:r>
              <a:rPr lang="en-US" dirty="0">
                <a:latin typeface="Courier" pitchFamily="2" charset="0"/>
              </a:rPr>
              <a:t>]</a:t>
            </a:r>
            <a:br>
              <a:rPr lang="en-US" dirty="0">
                <a:latin typeface="Courier" pitchFamily="2" charset="0"/>
              </a:rPr>
            </a:br>
            <a:r>
              <a:rPr lang="en-US" dirty="0">
                <a:latin typeface="Courier" pitchFamily="2" charset="0"/>
              </a:rPr>
              <a:t>          + program2 + [</a:t>
            </a:r>
            <a:r>
              <a:rPr lang="en-US" dirty="0" err="1">
                <a:latin typeface="Courier" pitchFamily="2" charset="0"/>
              </a:rPr>
              <a:t>label_code</a:t>
            </a:r>
            <a:r>
              <a:rPr lang="en-US" dirty="0">
                <a:latin typeface="Courier" pitchFamily="2" charset="0"/>
              </a:rPr>
              <a:t>(</a:t>
            </a:r>
            <a:r>
              <a:rPr lang="en-US" dirty="0" err="1">
                <a:latin typeface="Courier" pitchFamily="2" charset="0"/>
              </a:rPr>
              <a:t>end_label</a:t>
            </a:r>
            <a:r>
              <a:rPr lang="en-US" dirty="0">
                <a:latin typeface="Courier" pitchFamily="2" charset="0"/>
              </a:rPr>
              <a:t>)]  </a:t>
            </a:r>
          </a:p>
          <a:p>
            <a:r>
              <a:rPr lang="en-US" dirty="0">
                <a:latin typeface="Courier" pitchFamily="2" charset="0"/>
              </a:rPr>
              <a:t>}</a:t>
            </a:r>
            <a:endParaRPr lang="en-US" sz="3200" dirty="0">
              <a:effectLst/>
              <a:latin typeface="Courier" pitchFamily="2"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E3EE3C23-82FE-A145-BAF8-EB4E7320D94C}"/>
              </a:ext>
            </a:extLst>
          </p:cNvPr>
          <p:cNvSpPr txBox="1"/>
          <p:nvPr/>
        </p:nvSpPr>
        <p:spPr>
          <a:xfrm>
            <a:off x="6877240" y="3429000"/>
            <a:ext cx="4044697" cy="1477328"/>
          </a:xfrm>
          <a:prstGeom prst="rect">
            <a:avLst/>
          </a:prstGeom>
          <a:noFill/>
        </p:spPr>
        <p:txBody>
          <a:bodyPr wrap="none" rtlCol="0">
            <a:spAutoFit/>
          </a:bodyPr>
          <a:lstStyle/>
          <a:p>
            <a:r>
              <a:rPr lang="en-US" b="1" dirty="0">
                <a:latin typeface="Courier" pitchFamily="2" charset="0"/>
              </a:rPr>
              <a:t>def</a:t>
            </a:r>
            <a:r>
              <a:rPr lang="en-US" dirty="0">
                <a:latin typeface="Courier" pitchFamily="2" charset="0"/>
              </a:rPr>
              <a:t> </a:t>
            </a:r>
            <a:r>
              <a:rPr lang="en-US" dirty="0" err="1">
                <a:latin typeface="Courier" pitchFamily="2" charset="0"/>
              </a:rPr>
              <a:t>label_code</a:t>
            </a:r>
            <a:r>
              <a:rPr lang="en-US" dirty="0">
                <a:latin typeface="Courier" pitchFamily="2" charset="0"/>
              </a:rPr>
              <a:t>(l): </a:t>
            </a:r>
          </a:p>
          <a:p>
            <a:r>
              <a:rPr lang="en-US" b="1" dirty="0">
                <a:latin typeface="Courier" pitchFamily="2" charset="0"/>
              </a:rPr>
              <a:t>    return</a:t>
            </a:r>
            <a:r>
              <a:rPr lang="en-US" dirty="0">
                <a:latin typeface="Courier" pitchFamily="2" charset="0"/>
              </a:rPr>
              <a:t> l + “:”</a:t>
            </a:r>
          </a:p>
          <a:p>
            <a:endParaRPr lang="en-US" dirty="0">
              <a:latin typeface="Courier" pitchFamily="2" charset="0"/>
            </a:endParaRPr>
          </a:p>
          <a:p>
            <a:r>
              <a:rPr lang="en-US" dirty="0">
                <a:latin typeface="Courier" pitchFamily="2" charset="0"/>
              </a:rPr>
              <a:t># return a well-formed label</a:t>
            </a:r>
          </a:p>
          <a:p>
            <a:r>
              <a:rPr lang="en-US" dirty="0">
                <a:latin typeface="Courier" pitchFamily="2" charset="0"/>
              </a:rPr>
              <a:t># e.g.  else_label_2:</a:t>
            </a:r>
          </a:p>
        </p:txBody>
      </p:sp>
    </p:spTree>
    <p:extLst>
      <p:ext uri="{BB962C8B-B14F-4D97-AF65-F5344CB8AC3E}">
        <p14:creationId xmlns:p14="http://schemas.microsoft.com/office/powerpoint/2010/main" val="29472207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40F0F9E-225E-2648-BCB2-E88AA1F1B969}"/>
              </a:ext>
            </a:extLst>
          </p:cNvPr>
          <p:cNvSpPr/>
          <p:nvPr/>
        </p:nvSpPr>
        <p:spPr>
          <a:xfrm>
            <a:off x="2725782" y="959007"/>
            <a:ext cx="6992983" cy="1477328"/>
          </a:xfrm>
          <a:prstGeom prst="rect">
            <a:avLst/>
          </a:prstGeom>
        </p:spPr>
        <p:txBody>
          <a:bodyPr wrap="square">
            <a:spAutoFit/>
          </a:bodyPr>
          <a:lstStyle/>
          <a:p>
            <a:r>
              <a:rPr lang="en-US" dirty="0">
                <a:latin typeface="Courier" pitchFamily="2" charset="0"/>
                <a:ea typeface="Calibri" panose="020F0502020204030204" pitchFamily="34" charset="0"/>
                <a:cs typeface="Times New Roman" panose="02020603050405020304" pitchFamily="18" charset="0"/>
              </a:rPr>
              <a:t>statement := </a:t>
            </a:r>
            <a:r>
              <a:rPr lang="en-US" dirty="0" err="1">
                <a:latin typeface="Courier" pitchFamily="2" charset="0"/>
                <a:ea typeface="Calibri" panose="020F0502020204030204" pitchFamily="34" charset="0"/>
                <a:cs typeface="Times New Roman" panose="02020603050405020304" pitchFamily="18" charset="0"/>
              </a:rPr>
              <a:t>declaration_statement</a:t>
            </a:r>
            <a:r>
              <a:rPr lang="en-US" dirty="0">
                <a:latin typeface="Courier" pitchFamily="2" charset="0"/>
                <a:ea typeface="Calibri" panose="020F0502020204030204" pitchFamily="34" charset="0"/>
                <a:cs typeface="Times New Roman" panose="02020603050405020304" pitchFamily="18" charset="0"/>
              </a:rPr>
              <a:t> </a:t>
            </a:r>
          </a:p>
          <a:p>
            <a:r>
              <a:rPr lang="en-US" dirty="0">
                <a:latin typeface="Courier" pitchFamily="2" charset="0"/>
                <a:ea typeface="Calibri" panose="020F0502020204030204" pitchFamily="34" charset="0"/>
                <a:cs typeface="Times New Roman" panose="02020603050405020304" pitchFamily="18" charset="0"/>
              </a:rPr>
              <a:t>          |  </a:t>
            </a:r>
            <a:r>
              <a:rPr lang="en-US" dirty="0" err="1">
                <a:highlight>
                  <a:srgbClr val="FFFF00"/>
                </a:highlight>
                <a:latin typeface="Courier" pitchFamily="2" charset="0"/>
                <a:ea typeface="Calibri" panose="020F0502020204030204" pitchFamily="34" charset="0"/>
                <a:cs typeface="Times New Roman" panose="02020603050405020304" pitchFamily="18" charset="0"/>
              </a:rPr>
              <a:t>assignment_statement</a:t>
            </a:r>
            <a:r>
              <a:rPr lang="en-US" dirty="0">
                <a:highlight>
                  <a:srgbClr val="FFFF00"/>
                </a:highlight>
                <a:latin typeface="Courier" pitchFamily="2" charset="0"/>
                <a:ea typeface="Calibri" panose="020F0502020204030204" pitchFamily="34" charset="0"/>
                <a:cs typeface="Times New Roman" panose="02020603050405020304" pitchFamily="18" charset="0"/>
              </a:rPr>
              <a:t>   </a:t>
            </a:r>
            <a:endParaRPr lang="en-US" sz="3200" dirty="0">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highlight>
                  <a:srgbClr val="FFFF00"/>
                </a:highlight>
                <a:latin typeface="Courier" pitchFamily="2" charset="0"/>
                <a:ea typeface="Calibri" panose="020F0502020204030204" pitchFamily="34" charset="0"/>
                <a:cs typeface="Times New Roman" panose="02020603050405020304" pitchFamily="18" charset="0"/>
              </a:rPr>
              <a:t>if_else_statement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highlight>
                  <a:srgbClr val="00FF00"/>
                </a:highlight>
                <a:latin typeface="Courier" pitchFamily="2" charset="0"/>
                <a:ea typeface="Calibri" panose="020F0502020204030204" pitchFamily="34" charset="0"/>
                <a:cs typeface="Times New Roman" panose="02020603050405020304" pitchFamily="18" charset="0"/>
              </a:rPr>
              <a:t>block_statement</a:t>
            </a:r>
            <a:r>
              <a:rPr lang="en-US" dirty="0">
                <a:highlight>
                  <a:srgbClr val="00FF00"/>
                </a:highlight>
                <a:latin typeface="Courier" pitchFamily="2" charset="0"/>
                <a:ea typeface="Calibri" panose="020F0502020204030204" pitchFamily="34" charset="0"/>
                <a:cs typeface="Times New Roman" panose="02020603050405020304" pitchFamily="18" charset="0"/>
              </a:rPr>
              <a:t>        </a:t>
            </a:r>
            <a:endParaRPr lang="en-US" sz="3200" dirty="0">
              <a:highlight>
                <a:srgbClr val="00FF00"/>
              </a:highlight>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highlight>
                  <a:srgbClr val="00FF00"/>
                </a:highlight>
                <a:latin typeface="Courier" pitchFamily="2" charset="0"/>
                <a:ea typeface="Calibri" panose="020F0502020204030204" pitchFamily="34" charset="0"/>
                <a:cs typeface="Times New Roman" panose="02020603050405020304" pitchFamily="18" charset="0"/>
              </a:rPr>
              <a:t>for_loop_statement</a:t>
            </a:r>
            <a:r>
              <a:rPr lang="en-US" dirty="0">
                <a:highlight>
                  <a:srgbClr val="00FF00"/>
                </a:highlight>
                <a:latin typeface="Courier" pitchFamily="2" charset="0"/>
                <a:ea typeface="Calibri" panose="020F0502020204030204" pitchFamily="34" charset="0"/>
                <a:cs typeface="Times New Roman" panose="02020603050405020304" pitchFamily="18" charset="0"/>
              </a:rPr>
              <a:t>     </a:t>
            </a:r>
            <a:endParaRPr lang="en-US" sz="3200" dirty="0">
              <a:effectLst/>
              <a:highlight>
                <a:srgbClr val="00FF00"/>
              </a:highligh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869FBA69-4247-8041-BBEC-529DFAB1D02D}"/>
              </a:ext>
            </a:extLst>
          </p:cNvPr>
          <p:cNvSpPr txBox="1"/>
          <p:nvPr/>
        </p:nvSpPr>
        <p:spPr>
          <a:xfrm>
            <a:off x="7776375" y="1399429"/>
            <a:ext cx="1833194" cy="369332"/>
          </a:xfrm>
          <a:prstGeom prst="rect">
            <a:avLst/>
          </a:prstGeom>
          <a:noFill/>
        </p:spPr>
        <p:txBody>
          <a:bodyPr wrap="none" rtlCol="0">
            <a:spAutoFit/>
          </a:bodyPr>
          <a:lstStyle/>
          <a:p>
            <a:r>
              <a:rPr lang="en-US" dirty="0"/>
              <a:t>We did these two</a:t>
            </a:r>
          </a:p>
        </p:txBody>
      </p:sp>
      <p:sp>
        <p:nvSpPr>
          <p:cNvPr id="5" name="TextBox 4">
            <a:extLst>
              <a:ext uri="{FF2B5EF4-FFF2-40B4-BE49-F238E27FC236}">
                <a16:creationId xmlns:a16="http://schemas.microsoft.com/office/drawing/2014/main" id="{C8145B02-0560-CF4E-A34C-F0D7F1A55623}"/>
              </a:ext>
            </a:extLst>
          </p:cNvPr>
          <p:cNvSpPr txBox="1"/>
          <p:nvPr/>
        </p:nvSpPr>
        <p:spPr>
          <a:xfrm>
            <a:off x="7776375" y="1917882"/>
            <a:ext cx="3669851" cy="369332"/>
          </a:xfrm>
          <a:prstGeom prst="rect">
            <a:avLst/>
          </a:prstGeom>
          <a:noFill/>
        </p:spPr>
        <p:txBody>
          <a:bodyPr wrap="none" rtlCol="0">
            <a:spAutoFit/>
          </a:bodyPr>
          <a:lstStyle/>
          <a:p>
            <a:r>
              <a:rPr lang="en-US" dirty="0"/>
              <a:t>You do these two for your homework</a:t>
            </a:r>
          </a:p>
        </p:txBody>
      </p:sp>
      <p:sp>
        <p:nvSpPr>
          <p:cNvPr id="3" name="TextBox 2">
            <a:extLst>
              <a:ext uri="{FF2B5EF4-FFF2-40B4-BE49-F238E27FC236}">
                <a16:creationId xmlns:a16="http://schemas.microsoft.com/office/drawing/2014/main" id="{BD773566-2486-EA4E-9E28-34F75BD0A93F}"/>
              </a:ext>
            </a:extLst>
          </p:cNvPr>
          <p:cNvSpPr txBox="1"/>
          <p:nvPr/>
        </p:nvSpPr>
        <p:spPr>
          <a:xfrm>
            <a:off x="4190720" y="2949934"/>
            <a:ext cx="6023829" cy="369332"/>
          </a:xfrm>
          <a:prstGeom prst="rect">
            <a:avLst/>
          </a:prstGeom>
          <a:noFill/>
        </p:spPr>
        <p:txBody>
          <a:bodyPr wrap="none" rtlCol="0">
            <a:spAutoFit/>
          </a:bodyPr>
          <a:lstStyle/>
          <a:p>
            <a:r>
              <a:rPr lang="en-US" i="1" dirty="0"/>
              <a:t>Draw out for loops just like how we did with the if statements!</a:t>
            </a:r>
          </a:p>
        </p:txBody>
      </p:sp>
    </p:spTree>
    <p:extLst>
      <p:ext uri="{BB962C8B-B14F-4D97-AF65-F5344CB8AC3E}">
        <p14:creationId xmlns:p14="http://schemas.microsoft.com/office/powerpoint/2010/main" val="31834670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2F185-D84E-0FBD-F6FA-064C8C974F87}"/>
              </a:ext>
            </a:extLst>
          </p:cNvPr>
          <p:cNvSpPr>
            <a:spLocks noGrp="1"/>
          </p:cNvSpPr>
          <p:nvPr>
            <p:ph type="title"/>
          </p:nvPr>
        </p:nvSpPr>
        <p:spPr/>
        <p:txBody>
          <a:bodyPr/>
          <a:lstStyle/>
          <a:p>
            <a:r>
              <a:rPr lang="en-US" dirty="0"/>
              <a:t>Compiler pragmatics</a:t>
            </a:r>
          </a:p>
        </p:txBody>
      </p:sp>
      <p:sp>
        <p:nvSpPr>
          <p:cNvPr id="3" name="Content Placeholder 2">
            <a:extLst>
              <a:ext uri="{FF2B5EF4-FFF2-40B4-BE49-F238E27FC236}">
                <a16:creationId xmlns:a16="http://schemas.microsoft.com/office/drawing/2014/main" id="{4BBF0607-5B91-0B43-1E40-736797171900}"/>
              </a:ext>
            </a:extLst>
          </p:cNvPr>
          <p:cNvSpPr>
            <a:spLocks noGrp="1"/>
          </p:cNvSpPr>
          <p:nvPr>
            <p:ph idx="1"/>
          </p:nvPr>
        </p:nvSpPr>
        <p:spPr/>
        <p:txBody>
          <a:bodyPr/>
          <a:lstStyle/>
          <a:p>
            <a:r>
              <a:rPr lang="en-US" dirty="0"/>
              <a:t>New terminology I learned recently:</a:t>
            </a:r>
          </a:p>
          <a:p>
            <a:pPr lvl="1"/>
            <a:r>
              <a:rPr lang="en-US" b="1" dirty="0"/>
              <a:t>Pragmatics</a:t>
            </a:r>
            <a:r>
              <a:rPr lang="en-US" dirty="0"/>
              <a:t> gives you the </a:t>
            </a:r>
            <a:r>
              <a:rPr lang="en-US" i="1" dirty="0"/>
              <a:t>how and why</a:t>
            </a:r>
            <a:r>
              <a:rPr lang="en-US" dirty="0"/>
              <a:t> of how real compilers make trade-offs, handle edge cases, optimize code, or support language features not captured by formal models.</a:t>
            </a:r>
          </a:p>
          <a:p>
            <a:pPr lvl="1"/>
            <a:endParaRPr lang="en-US" dirty="0"/>
          </a:p>
          <a:p>
            <a:r>
              <a:rPr lang="en-US" dirty="0"/>
              <a:t>We also need to talk about different ID types (IO, VRs)</a:t>
            </a:r>
          </a:p>
          <a:p>
            <a:r>
              <a:rPr lang="en-US" dirty="0"/>
              <a:t>We need to talk about scopes</a:t>
            </a:r>
          </a:p>
        </p:txBody>
      </p:sp>
    </p:spTree>
    <p:extLst>
      <p:ext uri="{BB962C8B-B14F-4D97-AF65-F5344CB8AC3E}">
        <p14:creationId xmlns:p14="http://schemas.microsoft.com/office/powerpoint/2010/main" val="36540688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9534-BD2E-AD47-A269-2AC3A9B9BBEF}"/>
              </a:ext>
            </a:extLst>
          </p:cNvPr>
          <p:cNvSpPr>
            <a:spLocks noGrp="1"/>
          </p:cNvSpPr>
          <p:nvPr>
            <p:ph type="title"/>
          </p:nvPr>
        </p:nvSpPr>
        <p:spPr/>
        <p:txBody>
          <a:bodyPr/>
          <a:lstStyle/>
          <a:p>
            <a:r>
              <a:rPr lang="en-US" dirty="0"/>
              <a:t>Class-IR</a:t>
            </a:r>
          </a:p>
        </p:txBody>
      </p:sp>
      <p:sp>
        <p:nvSpPr>
          <p:cNvPr id="6" name="Content Placeholder 2">
            <a:extLst>
              <a:ext uri="{FF2B5EF4-FFF2-40B4-BE49-F238E27FC236}">
                <a16:creationId xmlns:a16="http://schemas.microsoft.com/office/drawing/2014/main" id="{684234CF-66E9-9249-9F6C-FEF36BADB739}"/>
              </a:ext>
            </a:extLst>
          </p:cNvPr>
          <p:cNvSpPr>
            <a:spLocks noGrp="1"/>
          </p:cNvSpPr>
          <p:nvPr>
            <p:ph idx="1"/>
          </p:nvPr>
        </p:nvSpPr>
        <p:spPr>
          <a:xfrm>
            <a:off x="838200" y="1825625"/>
            <a:ext cx="10515600" cy="4351338"/>
          </a:xfrm>
        </p:spPr>
        <p:txBody>
          <a:bodyPr>
            <a:normAutofit lnSpcReduction="10000"/>
          </a:bodyPr>
          <a:lstStyle/>
          <a:p>
            <a:pPr marL="0" indent="0">
              <a:buNone/>
            </a:pPr>
            <a:r>
              <a:rPr lang="en-US" b="1" dirty="0"/>
              <a:t>Inputs/outputs (IO): </a:t>
            </a:r>
            <a:r>
              <a:rPr lang="en-US" dirty="0"/>
              <a:t>32-bit typed inputs</a:t>
            </a:r>
          </a:p>
          <a:p>
            <a:pPr marL="0" indent="0">
              <a:buNone/>
            </a:pPr>
            <a:r>
              <a:rPr lang="en-US" dirty="0"/>
              <a:t>e.g.: </a:t>
            </a:r>
            <a:r>
              <a:rPr lang="en-US" dirty="0">
                <a:latin typeface="Courier" pitchFamily="2" charset="0"/>
              </a:rPr>
              <a:t>int x, int y, float z</a:t>
            </a:r>
          </a:p>
          <a:p>
            <a:pPr marL="0" indent="0">
              <a:buNone/>
            </a:pPr>
            <a:endParaRPr lang="en-US" b="1" dirty="0"/>
          </a:p>
          <a:p>
            <a:pPr marL="0" indent="0">
              <a:buNone/>
            </a:pPr>
            <a:r>
              <a:rPr lang="en-US" b="1" dirty="0"/>
              <a:t>Program Variables (Variables): </a:t>
            </a:r>
            <a:r>
              <a:rPr lang="en-US" dirty="0"/>
              <a:t>32-bit untyped virtual register</a:t>
            </a:r>
          </a:p>
          <a:p>
            <a:pPr marL="0" indent="0">
              <a:buNone/>
            </a:pPr>
            <a:r>
              <a:rPr lang="en-US" dirty="0"/>
              <a:t>given as </a:t>
            </a:r>
            <a:r>
              <a:rPr lang="en-US" dirty="0" err="1">
                <a:latin typeface="Courier" pitchFamily="2" charset="0"/>
              </a:rPr>
              <a:t>vrX</a:t>
            </a:r>
            <a:r>
              <a:rPr lang="en-US" dirty="0"/>
              <a:t> where </a:t>
            </a:r>
            <a:r>
              <a:rPr lang="en-US" dirty="0">
                <a:latin typeface="Courier" pitchFamily="2" charset="0"/>
              </a:rPr>
              <a:t>X</a:t>
            </a:r>
            <a:r>
              <a:rPr lang="en-US" dirty="0"/>
              <a:t> is an integer:</a:t>
            </a:r>
          </a:p>
          <a:p>
            <a:pPr marL="0" indent="0">
              <a:buNone/>
            </a:pPr>
            <a:r>
              <a:rPr lang="en-US" dirty="0"/>
              <a:t>e.g. </a:t>
            </a:r>
            <a:r>
              <a:rPr lang="en-US" dirty="0">
                <a:latin typeface="Courier" pitchFamily="2" charset="0"/>
              </a:rPr>
              <a:t>vr0, vr1, vr2, vr3 </a:t>
            </a:r>
            <a:r>
              <a:rPr lang="en-US" dirty="0"/>
              <a:t>...</a:t>
            </a:r>
          </a:p>
          <a:p>
            <a:pPr marL="0" indent="0">
              <a:buNone/>
            </a:pPr>
            <a:endParaRPr lang="en-US" dirty="0"/>
          </a:p>
          <a:p>
            <a:pPr marL="0" indent="0">
              <a:buNone/>
            </a:pPr>
            <a:r>
              <a:rPr lang="en-US" dirty="0"/>
              <a:t>we will assume input/output names are disjoint from virtual register names</a:t>
            </a:r>
          </a:p>
          <a:p>
            <a:endParaRPr lang="en-US" dirty="0"/>
          </a:p>
        </p:txBody>
      </p:sp>
    </p:spTree>
    <p:extLst>
      <p:ext uri="{BB962C8B-B14F-4D97-AF65-F5344CB8AC3E}">
        <p14:creationId xmlns:p14="http://schemas.microsoft.com/office/powerpoint/2010/main" val="25393894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9534-BD2E-AD47-A269-2AC3A9B9BBEF}"/>
              </a:ext>
            </a:extLst>
          </p:cNvPr>
          <p:cNvSpPr>
            <a:spLocks noGrp="1"/>
          </p:cNvSpPr>
          <p:nvPr>
            <p:ph type="title"/>
          </p:nvPr>
        </p:nvSpPr>
        <p:spPr/>
        <p:txBody>
          <a:bodyPr/>
          <a:lstStyle/>
          <a:p>
            <a:r>
              <a:rPr lang="en-US" dirty="0"/>
              <a:t>Two different ID nodes</a:t>
            </a:r>
          </a:p>
        </p:txBody>
      </p:sp>
      <p:sp>
        <p:nvSpPr>
          <p:cNvPr id="5" name="Rectangle 4">
            <a:extLst>
              <a:ext uri="{FF2B5EF4-FFF2-40B4-BE49-F238E27FC236}">
                <a16:creationId xmlns:a16="http://schemas.microsoft.com/office/drawing/2014/main" id="{9FB8F063-264E-F34A-AB74-AFC2D1512433}"/>
              </a:ext>
            </a:extLst>
          </p:cNvPr>
          <p:cNvSpPr/>
          <p:nvPr/>
        </p:nvSpPr>
        <p:spPr>
          <a:xfrm>
            <a:off x="2737899" y="2534319"/>
            <a:ext cx="6096000" cy="1200329"/>
          </a:xfrm>
          <a:prstGeom prst="rect">
            <a:avLst/>
          </a:prstGeom>
        </p:spPr>
        <p:txBody>
          <a:bodyPr>
            <a:spAutoFit/>
          </a:bodyPr>
          <a:lstStyle/>
          <a:p>
            <a:r>
              <a:rPr lang="en-US" b="1" dirty="0">
                <a:solidFill>
                  <a:srgbClr val="2EAEBB"/>
                </a:solidFill>
                <a:latin typeface="Menlo" panose="020B0609030804020204" pitchFamily="49" charset="0"/>
              </a:rPr>
              <a:t>class</a:t>
            </a:r>
            <a:r>
              <a:rPr lang="en-US" dirty="0">
                <a:solidFill>
                  <a:srgbClr val="000000"/>
                </a:solidFill>
                <a:latin typeface="Menlo" panose="020B0609030804020204" pitchFamily="49" charset="0"/>
              </a:rPr>
              <a:t> </a:t>
            </a:r>
            <a:r>
              <a:rPr lang="en-US" dirty="0" err="1">
                <a:solidFill>
                  <a:srgbClr val="2FB41D"/>
                </a:solidFill>
                <a:latin typeface="Menlo" panose="020B0609030804020204" pitchFamily="49" charset="0"/>
              </a:rPr>
              <a:t>ASTVarIDNode</a:t>
            </a:r>
            <a:r>
              <a:rPr lang="en-US" dirty="0">
                <a:solidFill>
                  <a:srgbClr val="000000"/>
                </a:solidFill>
                <a:latin typeface="Menlo" panose="020B0609030804020204" pitchFamily="49" charset="0"/>
              </a:rPr>
              <a:t>(</a:t>
            </a:r>
            <a:r>
              <a:rPr lang="en-US" dirty="0" err="1">
                <a:solidFill>
                  <a:srgbClr val="000000"/>
                </a:solidFill>
                <a:latin typeface="Menlo" panose="020B0609030804020204" pitchFamily="49" charset="0"/>
              </a:rPr>
              <a:t>ASTLeafNode</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def</a:t>
            </a:r>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__</a:t>
            </a:r>
            <a:r>
              <a:rPr lang="en-US" b="1" dirty="0" err="1">
                <a:solidFill>
                  <a:srgbClr val="400BD9"/>
                </a:solidFill>
                <a:latin typeface="Menlo" panose="020B0609030804020204" pitchFamily="49" charset="0"/>
              </a:rPr>
              <a:t>init</a:t>
            </a:r>
            <a:r>
              <a:rPr lang="en-US" b="1" dirty="0">
                <a:solidFill>
                  <a:srgbClr val="400BD9"/>
                </a:solidFill>
                <a:latin typeface="Menlo" panose="020B0609030804020204" pitchFamily="49" charset="0"/>
              </a:rPr>
              <a:t>__</a:t>
            </a:r>
            <a:r>
              <a:rPr lang="en-US" dirty="0">
                <a:solidFill>
                  <a:srgbClr val="000000"/>
                </a:solidFill>
                <a:latin typeface="Menlo" panose="020B0609030804020204" pitchFamily="49" charset="0"/>
              </a:rPr>
              <a:t>(</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 value, </a:t>
            </a:r>
            <a:r>
              <a:rPr lang="en-US" dirty="0" err="1">
                <a:solidFill>
                  <a:srgbClr val="000000"/>
                </a:solidFill>
                <a:latin typeface="Menlo" panose="020B0609030804020204" pitchFamily="49" charset="0"/>
              </a:rPr>
              <a:t>value_type</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super</a:t>
            </a:r>
            <a:r>
              <a:rPr lang="en-US" dirty="0">
                <a:solidFill>
                  <a:srgbClr val="000000"/>
                </a:solidFill>
                <a:latin typeface="Menlo" panose="020B0609030804020204" pitchFamily="49" charset="0"/>
              </a:rPr>
              <a:t>().__</a:t>
            </a:r>
            <a:r>
              <a:rPr lang="en-US" dirty="0" err="1">
                <a:solidFill>
                  <a:srgbClr val="000000"/>
                </a:solidFill>
                <a:latin typeface="Menlo" panose="020B0609030804020204" pitchFamily="49" charset="0"/>
              </a:rPr>
              <a:t>init</a:t>
            </a:r>
            <a:r>
              <a:rPr lang="en-US" dirty="0">
                <a:solidFill>
                  <a:srgbClr val="000000"/>
                </a:solidFill>
                <a:latin typeface="Menlo" panose="020B0609030804020204" pitchFamily="49" charset="0"/>
              </a:rPr>
              <a:t>__(value)</a:t>
            </a:r>
          </a:p>
          <a:p>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.node_type</a:t>
            </a:r>
            <a:r>
              <a:rPr lang="en-US" dirty="0">
                <a:solidFill>
                  <a:srgbClr val="000000"/>
                </a:solidFill>
                <a:latin typeface="Menlo" panose="020B0609030804020204" pitchFamily="49" charset="0"/>
              </a:rPr>
              <a:t> = </a:t>
            </a:r>
            <a:r>
              <a:rPr lang="en-US" dirty="0" err="1">
                <a:solidFill>
                  <a:srgbClr val="000000"/>
                </a:solidFill>
                <a:latin typeface="Menlo" panose="020B0609030804020204" pitchFamily="49" charset="0"/>
              </a:rPr>
              <a:t>value_type</a:t>
            </a:r>
            <a:endParaRPr lang="en-US" dirty="0">
              <a:solidFill>
                <a:srgbClr val="000000"/>
              </a:solidFill>
              <a:effectLst/>
              <a:latin typeface="Menlo" panose="020B0609030804020204" pitchFamily="49" charset="0"/>
            </a:endParaRPr>
          </a:p>
        </p:txBody>
      </p:sp>
      <p:sp>
        <p:nvSpPr>
          <p:cNvPr id="7" name="Rectangle 6">
            <a:extLst>
              <a:ext uri="{FF2B5EF4-FFF2-40B4-BE49-F238E27FC236}">
                <a16:creationId xmlns:a16="http://schemas.microsoft.com/office/drawing/2014/main" id="{DC6A4735-8CA2-6F4C-A646-445D500027E9}"/>
              </a:ext>
            </a:extLst>
          </p:cNvPr>
          <p:cNvSpPr/>
          <p:nvPr/>
        </p:nvSpPr>
        <p:spPr>
          <a:xfrm>
            <a:off x="2737899" y="4960012"/>
            <a:ext cx="8378024" cy="1200329"/>
          </a:xfrm>
          <a:prstGeom prst="rect">
            <a:avLst/>
          </a:prstGeom>
        </p:spPr>
        <p:txBody>
          <a:bodyPr wrap="square">
            <a:spAutoFit/>
          </a:bodyPr>
          <a:lstStyle/>
          <a:p>
            <a:r>
              <a:rPr lang="en-US" b="1" dirty="0">
                <a:solidFill>
                  <a:srgbClr val="2EAEBB"/>
                </a:solidFill>
                <a:latin typeface="Menlo" panose="020B0609030804020204" pitchFamily="49" charset="0"/>
              </a:rPr>
              <a:t>class</a:t>
            </a:r>
            <a:r>
              <a:rPr lang="en-US" dirty="0">
                <a:solidFill>
                  <a:srgbClr val="000000"/>
                </a:solidFill>
                <a:latin typeface="Menlo" panose="020B0609030804020204" pitchFamily="49" charset="0"/>
              </a:rPr>
              <a:t> </a:t>
            </a:r>
            <a:r>
              <a:rPr lang="en-US" dirty="0" err="1">
                <a:solidFill>
                  <a:srgbClr val="2FB41D"/>
                </a:solidFill>
                <a:latin typeface="Menlo" panose="020B0609030804020204" pitchFamily="49" charset="0"/>
              </a:rPr>
              <a:t>ASTIOIDNode</a:t>
            </a:r>
            <a:r>
              <a:rPr lang="en-US" dirty="0">
                <a:solidFill>
                  <a:srgbClr val="000000"/>
                </a:solidFill>
                <a:latin typeface="Menlo" panose="020B0609030804020204" pitchFamily="49" charset="0"/>
              </a:rPr>
              <a:t>(</a:t>
            </a:r>
            <a:r>
              <a:rPr lang="en-US" dirty="0" err="1">
                <a:solidFill>
                  <a:srgbClr val="000000"/>
                </a:solidFill>
                <a:latin typeface="Menlo" panose="020B0609030804020204" pitchFamily="49" charset="0"/>
              </a:rPr>
              <a:t>ASTLeafNode</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def</a:t>
            </a:r>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__</a:t>
            </a:r>
            <a:r>
              <a:rPr lang="en-US" b="1" dirty="0" err="1">
                <a:solidFill>
                  <a:srgbClr val="400BD9"/>
                </a:solidFill>
                <a:latin typeface="Menlo" panose="020B0609030804020204" pitchFamily="49" charset="0"/>
              </a:rPr>
              <a:t>init</a:t>
            </a:r>
            <a:r>
              <a:rPr lang="en-US" b="1" dirty="0">
                <a:solidFill>
                  <a:srgbClr val="400BD9"/>
                </a:solidFill>
                <a:latin typeface="Menlo" panose="020B0609030804020204" pitchFamily="49" charset="0"/>
              </a:rPr>
              <a:t>__</a:t>
            </a:r>
            <a:r>
              <a:rPr lang="en-US" dirty="0">
                <a:solidFill>
                  <a:srgbClr val="000000"/>
                </a:solidFill>
                <a:latin typeface="Menlo" panose="020B0609030804020204" pitchFamily="49" charset="0"/>
              </a:rPr>
              <a:t>(</a:t>
            </a:r>
            <a:r>
              <a:rPr lang="en-US" b="1" dirty="0">
                <a:solidFill>
                  <a:srgbClr val="2EAEBB"/>
                </a:solidFill>
                <a:latin typeface="Menlo" panose="020B0609030804020204" pitchFamily="49" charset="0"/>
              </a:rPr>
              <a:t>self</a:t>
            </a:r>
            <a:r>
              <a:rPr lang="en-US" dirty="0">
                <a:solidFill>
                  <a:srgbClr val="000000"/>
                </a:solidFill>
                <a:latin typeface="Menlo" panose="020B0609030804020204" pitchFamily="49" charset="0"/>
              </a:rPr>
              <a:t>, value, </a:t>
            </a:r>
            <a:r>
              <a:rPr lang="en-US" dirty="0" err="1">
                <a:solidFill>
                  <a:srgbClr val="000000"/>
                </a:solidFill>
                <a:latin typeface="Menlo" panose="020B0609030804020204" pitchFamily="49" charset="0"/>
              </a:rPr>
              <a:t>value_type</a:t>
            </a:r>
            <a:r>
              <a:rPr lang="en-US" dirty="0">
                <a:solidFill>
                  <a:srgbClr val="000000"/>
                </a:solidFill>
                <a:latin typeface="Menlo" panose="020B0609030804020204" pitchFamily="49" charset="0"/>
              </a:rPr>
              <a:t>):</a:t>
            </a:r>
          </a:p>
          <a:p>
            <a:r>
              <a:rPr lang="en-US" b="1" dirty="0">
                <a:solidFill>
                  <a:srgbClr val="400BD9"/>
                </a:solidFill>
                <a:latin typeface="Menlo" panose="020B0609030804020204" pitchFamily="49" charset="0"/>
              </a:rPr>
              <a:t>        super</a:t>
            </a:r>
            <a:r>
              <a:rPr lang="en-US" dirty="0">
                <a:solidFill>
                  <a:srgbClr val="000000"/>
                </a:solidFill>
                <a:latin typeface="Menlo" panose="020B0609030804020204" pitchFamily="49" charset="0"/>
              </a:rPr>
              <a:t>().__</a:t>
            </a:r>
            <a:r>
              <a:rPr lang="en-US" dirty="0" err="1">
                <a:solidFill>
                  <a:srgbClr val="000000"/>
                </a:solidFill>
                <a:latin typeface="Menlo" panose="020B0609030804020204" pitchFamily="49" charset="0"/>
              </a:rPr>
              <a:t>init</a:t>
            </a:r>
            <a:r>
              <a:rPr lang="en-US" dirty="0">
                <a:solidFill>
                  <a:srgbClr val="000000"/>
                </a:solidFill>
                <a:latin typeface="Menlo" panose="020B0609030804020204" pitchFamily="49" charset="0"/>
              </a:rPr>
              <a:t>__(value)</a:t>
            </a:r>
          </a:p>
          <a:p>
            <a:r>
              <a:rPr lang="en-US" dirty="0">
                <a:solidFill>
                  <a:srgbClr val="000000"/>
                </a:solidFill>
                <a:latin typeface="Menlo" panose="020B0609030804020204" pitchFamily="49" charset="0"/>
              </a:rPr>
              <a:t>        </a:t>
            </a:r>
            <a:r>
              <a:rPr lang="en-US" b="1" dirty="0" err="1">
                <a:solidFill>
                  <a:srgbClr val="2EAEBB"/>
                </a:solidFill>
                <a:latin typeface="Menlo" panose="020B0609030804020204" pitchFamily="49" charset="0"/>
              </a:rPr>
              <a:t>self</a:t>
            </a:r>
            <a:r>
              <a:rPr lang="en-US" dirty="0" err="1">
                <a:solidFill>
                  <a:srgbClr val="000000"/>
                </a:solidFill>
                <a:latin typeface="Menlo" panose="020B0609030804020204" pitchFamily="49" charset="0"/>
              </a:rPr>
              <a:t>.node_type</a:t>
            </a:r>
            <a:r>
              <a:rPr lang="en-US" dirty="0">
                <a:solidFill>
                  <a:srgbClr val="000000"/>
                </a:solidFill>
                <a:latin typeface="Menlo" panose="020B0609030804020204" pitchFamily="49" charset="0"/>
              </a:rPr>
              <a:t> = </a:t>
            </a:r>
            <a:r>
              <a:rPr lang="en-US" dirty="0" err="1">
                <a:solidFill>
                  <a:srgbClr val="000000"/>
                </a:solidFill>
                <a:latin typeface="Menlo" panose="020B0609030804020204" pitchFamily="49" charset="0"/>
              </a:rPr>
              <a:t>value_type</a:t>
            </a:r>
            <a:endParaRPr lang="en-US" dirty="0">
              <a:solidFill>
                <a:srgbClr val="000000"/>
              </a:solidFill>
              <a:effectLst/>
              <a:latin typeface="Menlo" panose="020B0609030804020204" pitchFamily="49" charset="0"/>
            </a:endParaRPr>
          </a:p>
        </p:txBody>
      </p:sp>
      <p:sp>
        <p:nvSpPr>
          <p:cNvPr id="8" name="TextBox 7">
            <a:extLst>
              <a:ext uri="{FF2B5EF4-FFF2-40B4-BE49-F238E27FC236}">
                <a16:creationId xmlns:a16="http://schemas.microsoft.com/office/drawing/2014/main" id="{3CF97CAF-CEB3-3A4A-B842-A3CE048341F2}"/>
              </a:ext>
            </a:extLst>
          </p:cNvPr>
          <p:cNvSpPr txBox="1"/>
          <p:nvPr/>
        </p:nvSpPr>
        <p:spPr>
          <a:xfrm>
            <a:off x="2737899" y="2164987"/>
            <a:ext cx="4490268" cy="369332"/>
          </a:xfrm>
          <a:prstGeom prst="rect">
            <a:avLst/>
          </a:prstGeom>
          <a:noFill/>
        </p:spPr>
        <p:txBody>
          <a:bodyPr wrap="none" rtlCol="0">
            <a:spAutoFit/>
          </a:bodyPr>
          <a:lstStyle/>
          <a:p>
            <a:r>
              <a:rPr lang="en-US" i="1" dirty="0"/>
              <a:t>Gets compiled into an untyped virtual register</a:t>
            </a:r>
          </a:p>
        </p:txBody>
      </p:sp>
      <p:sp>
        <p:nvSpPr>
          <p:cNvPr id="9" name="TextBox 8">
            <a:extLst>
              <a:ext uri="{FF2B5EF4-FFF2-40B4-BE49-F238E27FC236}">
                <a16:creationId xmlns:a16="http://schemas.microsoft.com/office/drawing/2014/main" id="{F9A501A5-CC23-E747-9FD0-CBB4CBE4592E}"/>
              </a:ext>
            </a:extLst>
          </p:cNvPr>
          <p:cNvSpPr txBox="1"/>
          <p:nvPr/>
        </p:nvSpPr>
        <p:spPr>
          <a:xfrm>
            <a:off x="2737899" y="4578279"/>
            <a:ext cx="3743141" cy="369332"/>
          </a:xfrm>
          <a:prstGeom prst="rect">
            <a:avLst/>
          </a:prstGeom>
          <a:noFill/>
        </p:spPr>
        <p:txBody>
          <a:bodyPr wrap="none" rtlCol="0">
            <a:spAutoFit/>
          </a:bodyPr>
          <a:lstStyle/>
          <a:p>
            <a:r>
              <a:rPr lang="en-US" i="1" dirty="0"/>
              <a:t>Gets compiled into a typed IO variable</a:t>
            </a:r>
          </a:p>
        </p:txBody>
      </p:sp>
    </p:spTree>
    <p:extLst>
      <p:ext uri="{BB962C8B-B14F-4D97-AF65-F5344CB8AC3E}">
        <p14:creationId xmlns:p14="http://schemas.microsoft.com/office/powerpoint/2010/main" val="201412761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9534-BD2E-AD47-A269-2AC3A9B9BBEF}"/>
              </a:ext>
            </a:extLst>
          </p:cNvPr>
          <p:cNvSpPr>
            <a:spLocks noGrp="1"/>
          </p:cNvSpPr>
          <p:nvPr>
            <p:ph type="title"/>
          </p:nvPr>
        </p:nvSpPr>
        <p:spPr/>
        <p:txBody>
          <a:bodyPr/>
          <a:lstStyle/>
          <a:p>
            <a:r>
              <a:rPr lang="en-US" dirty="0"/>
              <a:t>Two different ID nodes</a:t>
            </a:r>
          </a:p>
        </p:txBody>
      </p:sp>
      <p:sp>
        <p:nvSpPr>
          <p:cNvPr id="3" name="Rectangle 2">
            <a:extLst>
              <a:ext uri="{FF2B5EF4-FFF2-40B4-BE49-F238E27FC236}">
                <a16:creationId xmlns:a16="http://schemas.microsoft.com/office/drawing/2014/main" id="{ED6B40FC-2098-104B-A309-290F86173275}"/>
              </a:ext>
            </a:extLst>
          </p:cNvPr>
          <p:cNvSpPr/>
          <p:nvPr/>
        </p:nvSpPr>
        <p:spPr>
          <a:xfrm>
            <a:off x="1004515" y="2551837"/>
            <a:ext cx="5284967" cy="1754326"/>
          </a:xfrm>
          <a:prstGeom prst="rect">
            <a:avLst/>
          </a:prstGeom>
          <a:ln>
            <a:solidFill>
              <a:schemeClr val="tx1"/>
            </a:solidFill>
          </a:ln>
        </p:spPr>
        <p:txBody>
          <a:bodyPr wrap="square">
            <a:spAutoFit/>
          </a:bodyPr>
          <a:lstStyle/>
          <a:p>
            <a:r>
              <a:rPr lang="en-US" dirty="0">
                <a:solidFill>
                  <a:srgbClr val="2FB41D"/>
                </a:solidFill>
                <a:latin typeface="Menlo" panose="020B0609030804020204" pitchFamily="49" charset="0"/>
              </a:rPr>
              <a:t>void</a:t>
            </a:r>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test4</a:t>
            </a:r>
            <a:r>
              <a:rPr lang="en-US" dirty="0">
                <a:solidFill>
                  <a:srgbClr val="000000"/>
                </a:solidFill>
                <a:latin typeface="Menlo" panose="020B0609030804020204" pitchFamily="49" charset="0"/>
              </a:rPr>
              <a:t>(</a:t>
            </a:r>
            <a:r>
              <a:rPr lang="en-US" dirty="0">
                <a:solidFill>
                  <a:srgbClr val="2FB41D"/>
                </a:solidFill>
                <a:latin typeface="Menlo" panose="020B0609030804020204" pitchFamily="49" charset="0"/>
              </a:rPr>
              <a:t>float</a:t>
            </a:r>
            <a:r>
              <a:rPr lang="en-US" dirty="0">
                <a:solidFill>
                  <a:srgbClr val="000000"/>
                </a:solidFill>
                <a:latin typeface="Menlo" panose="020B0609030804020204" pitchFamily="49" charset="0"/>
              </a:rPr>
              <a:t> &amp;</a:t>
            </a:r>
            <a:r>
              <a:rPr lang="en-US" dirty="0">
                <a:solidFill>
                  <a:srgbClr val="9FA01C"/>
                </a:solidFill>
                <a:latin typeface="Menlo" panose="020B0609030804020204" pitchFamily="49" charset="0"/>
              </a:rPr>
              <a:t>x</a:t>
            </a:r>
            <a:r>
              <a:rPr lang="en-US" dirty="0">
                <a:solidFill>
                  <a:srgbClr val="000000"/>
                </a:solidFill>
                <a:latin typeface="Menlo" panose="020B0609030804020204" pitchFamily="49" charset="0"/>
              </a:rPr>
              <a:t>) {</a:t>
            </a:r>
          </a:p>
          <a:p>
            <a:r>
              <a:rPr lang="en-US" dirty="0">
                <a:solidFill>
                  <a:srgbClr val="000000"/>
                </a:solidFill>
                <a:latin typeface="Menlo" panose="020B0609030804020204" pitchFamily="49" charset="0"/>
              </a:rPr>
              <a:t>  </a:t>
            </a:r>
            <a:r>
              <a:rPr lang="en-US" dirty="0">
                <a:solidFill>
                  <a:srgbClr val="2FB41D"/>
                </a:solidFill>
                <a:latin typeface="Menlo" panose="020B0609030804020204" pitchFamily="49" charset="0"/>
              </a:rPr>
              <a:t>int</a:t>
            </a:r>
            <a:r>
              <a:rPr lang="en-US" dirty="0">
                <a:solidFill>
                  <a:srgbClr val="000000"/>
                </a:solidFill>
                <a:latin typeface="Menlo" panose="020B0609030804020204" pitchFamily="49" charset="0"/>
              </a:rPr>
              <a:t> </a:t>
            </a:r>
            <a:r>
              <a:rPr lang="en-US" dirty="0" err="1">
                <a:solidFill>
                  <a:srgbClr val="9FA01C"/>
                </a:solidFill>
                <a:latin typeface="Menlo" panose="020B0609030804020204" pitchFamily="49" charset="0"/>
              </a:rPr>
              <a:t>i</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for</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 0;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&lt; 100;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+ 1) {</a:t>
            </a:r>
          </a:p>
          <a:p>
            <a:r>
              <a:rPr lang="en-US" dirty="0">
                <a:solidFill>
                  <a:srgbClr val="000000"/>
                </a:solidFill>
                <a:latin typeface="Menlo" panose="020B0609030804020204" pitchFamily="49" charset="0"/>
              </a:rPr>
              <a:t>    x =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p>
          <a:p>
            <a:r>
              <a:rPr lang="en-US" dirty="0">
                <a:solidFill>
                  <a:srgbClr val="000000"/>
                </a:solidFill>
                <a:latin typeface="Menlo" panose="020B0609030804020204" pitchFamily="49" charset="0"/>
              </a:rPr>
              <a:t>}</a:t>
            </a:r>
            <a:endParaRPr lang="en-US" dirty="0">
              <a:solidFill>
                <a:srgbClr val="000000"/>
              </a:solidFill>
              <a:effectLst/>
              <a:latin typeface="Menlo" panose="020B0609030804020204" pitchFamily="49" charset="0"/>
            </a:endParaRPr>
          </a:p>
        </p:txBody>
      </p:sp>
      <p:sp>
        <p:nvSpPr>
          <p:cNvPr id="4" name="TextBox 3">
            <a:extLst>
              <a:ext uri="{FF2B5EF4-FFF2-40B4-BE49-F238E27FC236}">
                <a16:creationId xmlns:a16="http://schemas.microsoft.com/office/drawing/2014/main" id="{CE681E96-79B3-084D-8892-3B5D54BF3CD0}"/>
              </a:ext>
            </a:extLst>
          </p:cNvPr>
          <p:cNvSpPr txBox="1"/>
          <p:nvPr/>
        </p:nvSpPr>
        <p:spPr>
          <a:xfrm>
            <a:off x="1004515" y="2067338"/>
            <a:ext cx="2403735" cy="369332"/>
          </a:xfrm>
          <a:prstGeom prst="rect">
            <a:avLst/>
          </a:prstGeom>
          <a:noFill/>
        </p:spPr>
        <p:txBody>
          <a:bodyPr wrap="none" rtlCol="0">
            <a:spAutoFit/>
          </a:bodyPr>
          <a:lstStyle/>
          <a:p>
            <a:r>
              <a:rPr lang="en-US" dirty="0"/>
              <a:t>What we are compiling</a:t>
            </a:r>
          </a:p>
        </p:txBody>
      </p:sp>
    </p:spTree>
    <p:extLst>
      <p:ext uri="{BB962C8B-B14F-4D97-AF65-F5344CB8AC3E}">
        <p14:creationId xmlns:p14="http://schemas.microsoft.com/office/powerpoint/2010/main" val="20067000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9534-BD2E-AD47-A269-2AC3A9B9BBEF}"/>
              </a:ext>
            </a:extLst>
          </p:cNvPr>
          <p:cNvSpPr>
            <a:spLocks noGrp="1"/>
          </p:cNvSpPr>
          <p:nvPr>
            <p:ph type="title"/>
          </p:nvPr>
        </p:nvSpPr>
        <p:spPr/>
        <p:txBody>
          <a:bodyPr/>
          <a:lstStyle/>
          <a:p>
            <a:r>
              <a:rPr lang="en-US" dirty="0"/>
              <a:t>Class-IR</a:t>
            </a:r>
          </a:p>
        </p:txBody>
      </p:sp>
      <p:sp>
        <p:nvSpPr>
          <p:cNvPr id="3" name="Rectangle 2">
            <a:extLst>
              <a:ext uri="{FF2B5EF4-FFF2-40B4-BE49-F238E27FC236}">
                <a16:creationId xmlns:a16="http://schemas.microsoft.com/office/drawing/2014/main" id="{ED6B40FC-2098-104B-A309-290F86173275}"/>
              </a:ext>
            </a:extLst>
          </p:cNvPr>
          <p:cNvSpPr/>
          <p:nvPr/>
        </p:nvSpPr>
        <p:spPr>
          <a:xfrm>
            <a:off x="1004515" y="2551837"/>
            <a:ext cx="5284967" cy="1754326"/>
          </a:xfrm>
          <a:prstGeom prst="rect">
            <a:avLst/>
          </a:prstGeom>
          <a:ln>
            <a:solidFill>
              <a:schemeClr val="tx1"/>
            </a:solidFill>
          </a:ln>
        </p:spPr>
        <p:txBody>
          <a:bodyPr wrap="square">
            <a:spAutoFit/>
          </a:bodyPr>
          <a:lstStyle/>
          <a:p>
            <a:r>
              <a:rPr lang="en-US" dirty="0">
                <a:solidFill>
                  <a:srgbClr val="2FB41D"/>
                </a:solidFill>
                <a:latin typeface="Menlo" panose="020B0609030804020204" pitchFamily="49" charset="0"/>
              </a:rPr>
              <a:t>void</a:t>
            </a:r>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test4</a:t>
            </a:r>
            <a:r>
              <a:rPr lang="en-US" dirty="0">
                <a:solidFill>
                  <a:srgbClr val="000000"/>
                </a:solidFill>
                <a:latin typeface="Menlo" panose="020B0609030804020204" pitchFamily="49" charset="0"/>
              </a:rPr>
              <a:t>(</a:t>
            </a:r>
            <a:r>
              <a:rPr lang="en-US" dirty="0">
                <a:solidFill>
                  <a:srgbClr val="2FB41D"/>
                </a:solidFill>
                <a:highlight>
                  <a:srgbClr val="FFFF00"/>
                </a:highlight>
                <a:latin typeface="Menlo" panose="020B0609030804020204" pitchFamily="49" charset="0"/>
              </a:rPr>
              <a:t>float</a:t>
            </a:r>
            <a:r>
              <a:rPr lang="en-US" dirty="0">
                <a:solidFill>
                  <a:srgbClr val="000000"/>
                </a:solidFill>
                <a:highlight>
                  <a:srgbClr val="FFFF00"/>
                </a:highlight>
                <a:latin typeface="Menlo" panose="020B0609030804020204" pitchFamily="49" charset="0"/>
              </a:rPr>
              <a:t> &amp;</a:t>
            </a:r>
            <a:r>
              <a:rPr lang="en-US" dirty="0">
                <a:solidFill>
                  <a:srgbClr val="9FA01C"/>
                </a:solidFill>
                <a:highlight>
                  <a:srgbClr val="FFFF00"/>
                </a:highlight>
                <a:latin typeface="Menlo" panose="020B0609030804020204" pitchFamily="49" charset="0"/>
              </a:rPr>
              <a:t>x</a:t>
            </a:r>
            <a:r>
              <a:rPr lang="en-US" dirty="0">
                <a:solidFill>
                  <a:srgbClr val="000000"/>
                </a:solidFill>
                <a:latin typeface="Menlo" panose="020B0609030804020204" pitchFamily="49" charset="0"/>
              </a:rPr>
              <a:t>) {</a:t>
            </a:r>
          </a:p>
          <a:p>
            <a:r>
              <a:rPr lang="en-US" dirty="0">
                <a:solidFill>
                  <a:srgbClr val="000000"/>
                </a:solidFill>
                <a:latin typeface="Menlo" panose="020B0609030804020204" pitchFamily="49" charset="0"/>
              </a:rPr>
              <a:t>  </a:t>
            </a:r>
            <a:r>
              <a:rPr lang="en-US" dirty="0">
                <a:solidFill>
                  <a:srgbClr val="2FB41D"/>
                </a:solidFill>
                <a:highlight>
                  <a:srgbClr val="00FF00"/>
                </a:highlight>
                <a:latin typeface="Menlo" panose="020B0609030804020204" pitchFamily="49" charset="0"/>
              </a:rPr>
              <a:t>int</a:t>
            </a:r>
            <a:r>
              <a:rPr lang="en-US" dirty="0">
                <a:solidFill>
                  <a:srgbClr val="000000"/>
                </a:solidFill>
                <a:highlight>
                  <a:srgbClr val="00FF00"/>
                </a:highlight>
                <a:latin typeface="Menlo" panose="020B0609030804020204" pitchFamily="49" charset="0"/>
              </a:rPr>
              <a:t> </a:t>
            </a:r>
            <a:r>
              <a:rPr lang="en-US" dirty="0" err="1">
                <a:solidFill>
                  <a:srgbClr val="9FA01C"/>
                </a:solidFill>
                <a:highlight>
                  <a:srgbClr val="00FF00"/>
                </a:highlight>
                <a:latin typeface="Menlo" panose="020B0609030804020204" pitchFamily="49" charset="0"/>
              </a:rPr>
              <a:t>i</a:t>
            </a:r>
            <a:r>
              <a:rPr lang="en-US" dirty="0">
                <a:solidFill>
                  <a:srgbClr val="000000"/>
                </a:solidFill>
                <a:highlight>
                  <a:srgbClr val="00FF00"/>
                </a:highlight>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for</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 0;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&lt; 100;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+ 1) {</a:t>
            </a:r>
          </a:p>
          <a:p>
            <a:r>
              <a:rPr lang="en-US" dirty="0">
                <a:solidFill>
                  <a:srgbClr val="000000"/>
                </a:solidFill>
                <a:latin typeface="Menlo" panose="020B0609030804020204" pitchFamily="49" charset="0"/>
              </a:rPr>
              <a:t>    x =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p>
          <a:p>
            <a:r>
              <a:rPr lang="en-US" dirty="0">
                <a:solidFill>
                  <a:srgbClr val="000000"/>
                </a:solidFill>
                <a:latin typeface="Menlo" panose="020B0609030804020204" pitchFamily="49" charset="0"/>
              </a:rPr>
              <a:t>}</a:t>
            </a:r>
            <a:endParaRPr lang="en-US" dirty="0">
              <a:solidFill>
                <a:srgbClr val="000000"/>
              </a:solidFill>
              <a:effectLst/>
              <a:latin typeface="Menlo" panose="020B0609030804020204" pitchFamily="49" charset="0"/>
            </a:endParaRPr>
          </a:p>
        </p:txBody>
      </p:sp>
      <p:sp>
        <p:nvSpPr>
          <p:cNvPr id="4" name="TextBox 3">
            <a:extLst>
              <a:ext uri="{FF2B5EF4-FFF2-40B4-BE49-F238E27FC236}">
                <a16:creationId xmlns:a16="http://schemas.microsoft.com/office/drawing/2014/main" id="{CE681E96-79B3-084D-8892-3B5D54BF3CD0}"/>
              </a:ext>
            </a:extLst>
          </p:cNvPr>
          <p:cNvSpPr txBox="1"/>
          <p:nvPr/>
        </p:nvSpPr>
        <p:spPr>
          <a:xfrm>
            <a:off x="1004515" y="2067338"/>
            <a:ext cx="2403735" cy="369332"/>
          </a:xfrm>
          <a:prstGeom prst="rect">
            <a:avLst/>
          </a:prstGeom>
          <a:noFill/>
        </p:spPr>
        <p:txBody>
          <a:bodyPr wrap="none" rtlCol="0">
            <a:spAutoFit/>
          </a:bodyPr>
          <a:lstStyle/>
          <a:p>
            <a:r>
              <a:rPr lang="en-US" dirty="0"/>
              <a:t>What we are compiling</a:t>
            </a:r>
          </a:p>
        </p:txBody>
      </p:sp>
      <p:sp>
        <p:nvSpPr>
          <p:cNvPr id="7" name="TextBox 6">
            <a:extLst>
              <a:ext uri="{FF2B5EF4-FFF2-40B4-BE49-F238E27FC236}">
                <a16:creationId xmlns:a16="http://schemas.microsoft.com/office/drawing/2014/main" id="{E118D816-5809-9548-81E2-95C014140F5F}"/>
              </a:ext>
            </a:extLst>
          </p:cNvPr>
          <p:cNvSpPr txBox="1"/>
          <p:nvPr/>
        </p:nvSpPr>
        <p:spPr>
          <a:xfrm>
            <a:off x="6607534" y="2551837"/>
            <a:ext cx="1282531" cy="369332"/>
          </a:xfrm>
          <a:prstGeom prst="rect">
            <a:avLst/>
          </a:prstGeom>
          <a:noFill/>
        </p:spPr>
        <p:txBody>
          <a:bodyPr wrap="none" rtlCol="0">
            <a:spAutoFit/>
          </a:bodyPr>
          <a:lstStyle/>
          <a:p>
            <a:r>
              <a:rPr lang="en-US" dirty="0">
                <a:highlight>
                  <a:srgbClr val="FFFF00"/>
                </a:highlight>
              </a:rPr>
              <a:t>IO variables</a:t>
            </a:r>
          </a:p>
        </p:txBody>
      </p:sp>
      <p:sp>
        <p:nvSpPr>
          <p:cNvPr id="8" name="TextBox 7">
            <a:extLst>
              <a:ext uri="{FF2B5EF4-FFF2-40B4-BE49-F238E27FC236}">
                <a16:creationId xmlns:a16="http://schemas.microsoft.com/office/drawing/2014/main" id="{81E6C31D-BC91-884F-A2F3-5FA507D7AB16}"/>
              </a:ext>
            </a:extLst>
          </p:cNvPr>
          <p:cNvSpPr txBox="1"/>
          <p:nvPr/>
        </p:nvSpPr>
        <p:spPr>
          <a:xfrm>
            <a:off x="6607534" y="3124863"/>
            <a:ext cx="1871987" cy="369332"/>
          </a:xfrm>
          <a:prstGeom prst="rect">
            <a:avLst/>
          </a:prstGeom>
          <a:noFill/>
        </p:spPr>
        <p:txBody>
          <a:bodyPr wrap="none" rtlCol="0">
            <a:spAutoFit/>
          </a:bodyPr>
          <a:lstStyle/>
          <a:p>
            <a:r>
              <a:rPr lang="en-US" dirty="0">
                <a:highlight>
                  <a:srgbClr val="00FF00"/>
                </a:highlight>
              </a:rPr>
              <a:t>program variables</a:t>
            </a:r>
          </a:p>
        </p:txBody>
      </p:sp>
      <p:sp>
        <p:nvSpPr>
          <p:cNvPr id="11" name="Rectangle 10">
            <a:extLst>
              <a:ext uri="{FF2B5EF4-FFF2-40B4-BE49-F238E27FC236}">
                <a16:creationId xmlns:a16="http://schemas.microsoft.com/office/drawing/2014/main" id="{03FC6E7E-07E7-DB48-9CCB-6D24A7377F29}"/>
              </a:ext>
            </a:extLst>
          </p:cNvPr>
          <p:cNvSpPr/>
          <p:nvPr/>
        </p:nvSpPr>
        <p:spPr>
          <a:xfrm>
            <a:off x="1004515" y="4634637"/>
            <a:ext cx="5284967" cy="1754326"/>
          </a:xfrm>
          <a:prstGeom prst="rect">
            <a:avLst/>
          </a:prstGeom>
          <a:ln>
            <a:solidFill>
              <a:schemeClr val="tx1"/>
            </a:solidFill>
          </a:ln>
        </p:spPr>
        <p:txBody>
          <a:bodyPr wrap="square">
            <a:spAutoFit/>
          </a:bodyPr>
          <a:lstStyle/>
          <a:p>
            <a:r>
              <a:rPr lang="en-US" dirty="0">
                <a:solidFill>
                  <a:srgbClr val="2FB41D"/>
                </a:solidFill>
                <a:latin typeface="Menlo" panose="020B0609030804020204" pitchFamily="49" charset="0"/>
              </a:rPr>
              <a:t>int</a:t>
            </a:r>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main</a:t>
            </a:r>
            <a:r>
              <a:rPr lang="en-US" dirty="0">
                <a:solidFill>
                  <a:srgbClr val="000000"/>
                </a:solidFill>
                <a:latin typeface="Menlo" panose="020B0609030804020204" pitchFamily="49" charset="0"/>
              </a:rPr>
              <a:t>() {</a:t>
            </a:r>
          </a:p>
          <a:p>
            <a:r>
              <a:rPr lang="en-US" dirty="0">
                <a:solidFill>
                  <a:srgbClr val="000000"/>
                </a:solidFill>
                <a:latin typeface="Menlo" panose="020B0609030804020204" pitchFamily="49" charset="0"/>
              </a:rPr>
              <a:t>  </a:t>
            </a:r>
            <a:r>
              <a:rPr lang="en-US" dirty="0">
                <a:solidFill>
                  <a:srgbClr val="2FB41D"/>
                </a:solidFill>
                <a:latin typeface="Menlo" panose="020B0609030804020204" pitchFamily="49" charset="0"/>
              </a:rPr>
              <a:t>int</a:t>
            </a:r>
            <a:r>
              <a:rPr lang="en-US" dirty="0">
                <a:solidFill>
                  <a:srgbClr val="000000"/>
                </a:solidFill>
                <a:latin typeface="Menlo" panose="020B0609030804020204" pitchFamily="49" charset="0"/>
              </a:rPr>
              <a:t> </a:t>
            </a:r>
            <a:r>
              <a:rPr lang="en-US" dirty="0">
                <a:solidFill>
                  <a:srgbClr val="9FA01C"/>
                </a:solidFill>
                <a:latin typeface="Menlo" panose="020B0609030804020204" pitchFamily="49" charset="0"/>
              </a:rPr>
              <a:t>a</a:t>
            </a:r>
            <a:r>
              <a:rPr lang="en-US" dirty="0">
                <a:solidFill>
                  <a:srgbClr val="000000"/>
                </a:solidFill>
                <a:latin typeface="Menlo" panose="020B0609030804020204" pitchFamily="49" charset="0"/>
              </a:rPr>
              <a:t> = 0;</a:t>
            </a:r>
          </a:p>
          <a:p>
            <a:r>
              <a:rPr lang="en-US" dirty="0">
                <a:solidFill>
                  <a:srgbClr val="000000"/>
                </a:solidFill>
                <a:latin typeface="Menlo" panose="020B0609030804020204" pitchFamily="49" charset="0"/>
              </a:rPr>
              <a:t>  test1(a);</a:t>
            </a:r>
          </a:p>
          <a:p>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cout</a:t>
            </a:r>
            <a:r>
              <a:rPr lang="en-US" dirty="0">
                <a:solidFill>
                  <a:srgbClr val="000000"/>
                </a:solidFill>
                <a:latin typeface="Menlo" panose="020B0609030804020204" pitchFamily="49" charset="0"/>
              </a:rPr>
              <a:t> &lt;&lt; a &lt;&lt; </a:t>
            </a:r>
            <a:r>
              <a:rPr lang="en-US" dirty="0" err="1">
                <a:solidFill>
                  <a:srgbClr val="000000"/>
                </a:solidFill>
                <a:latin typeface="Menlo" panose="020B0609030804020204" pitchFamily="49" charset="0"/>
              </a:rPr>
              <a:t>endl</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return</a:t>
            </a:r>
            <a:r>
              <a:rPr lang="en-US" dirty="0">
                <a:solidFill>
                  <a:srgbClr val="000000"/>
                </a:solidFill>
                <a:latin typeface="Menlo" panose="020B0609030804020204" pitchFamily="49" charset="0"/>
              </a:rPr>
              <a:t> 0;</a:t>
            </a:r>
            <a:endParaRPr lang="en-US" dirty="0">
              <a:solidFill>
                <a:srgbClr val="2EAEBB"/>
              </a:solidFill>
              <a:latin typeface="Menlo" panose="020B0609030804020204" pitchFamily="49" charset="0"/>
            </a:endParaRPr>
          </a:p>
          <a:p>
            <a:r>
              <a:rPr lang="en-US" dirty="0">
                <a:solidFill>
                  <a:srgbClr val="000000"/>
                </a:solidFill>
                <a:latin typeface="Menlo" panose="020B0609030804020204" pitchFamily="49" charset="0"/>
              </a:rPr>
              <a:t>}</a:t>
            </a:r>
            <a:endParaRPr lang="en-US" dirty="0">
              <a:solidFill>
                <a:srgbClr val="000000"/>
              </a:solidFill>
              <a:effectLst/>
              <a:latin typeface="Menlo" panose="020B0609030804020204" pitchFamily="49" charset="0"/>
            </a:endParaRPr>
          </a:p>
        </p:txBody>
      </p:sp>
      <p:sp>
        <p:nvSpPr>
          <p:cNvPr id="12" name="TextBox 11">
            <a:extLst>
              <a:ext uri="{FF2B5EF4-FFF2-40B4-BE49-F238E27FC236}">
                <a16:creationId xmlns:a16="http://schemas.microsoft.com/office/drawing/2014/main" id="{5EE4C1B3-5538-9642-8EF6-B7F179EDF1C5}"/>
              </a:ext>
            </a:extLst>
          </p:cNvPr>
          <p:cNvSpPr txBox="1"/>
          <p:nvPr/>
        </p:nvSpPr>
        <p:spPr>
          <a:xfrm>
            <a:off x="6441013" y="5393266"/>
            <a:ext cx="2205027" cy="369332"/>
          </a:xfrm>
          <a:prstGeom prst="rect">
            <a:avLst/>
          </a:prstGeom>
          <a:noFill/>
        </p:spPr>
        <p:txBody>
          <a:bodyPr wrap="none" rtlCol="0">
            <a:spAutoFit/>
          </a:bodyPr>
          <a:lstStyle/>
          <a:p>
            <a:r>
              <a:rPr lang="en-US" i="1" dirty="0"/>
              <a:t>What does this print?</a:t>
            </a:r>
          </a:p>
        </p:txBody>
      </p:sp>
    </p:spTree>
    <p:extLst>
      <p:ext uri="{BB962C8B-B14F-4D97-AF65-F5344CB8AC3E}">
        <p14:creationId xmlns:p14="http://schemas.microsoft.com/office/powerpoint/2010/main" val="24117462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D6B40FC-2098-104B-A309-290F86173275}"/>
              </a:ext>
            </a:extLst>
          </p:cNvPr>
          <p:cNvSpPr/>
          <p:nvPr/>
        </p:nvSpPr>
        <p:spPr>
          <a:xfrm>
            <a:off x="331305" y="872773"/>
            <a:ext cx="5284967" cy="1754326"/>
          </a:xfrm>
          <a:prstGeom prst="rect">
            <a:avLst/>
          </a:prstGeom>
          <a:ln>
            <a:solidFill>
              <a:schemeClr val="tx1"/>
            </a:solidFill>
          </a:ln>
        </p:spPr>
        <p:txBody>
          <a:bodyPr wrap="square">
            <a:spAutoFit/>
          </a:bodyPr>
          <a:lstStyle/>
          <a:p>
            <a:r>
              <a:rPr lang="en-US" dirty="0">
                <a:solidFill>
                  <a:srgbClr val="2FB41D"/>
                </a:solidFill>
                <a:latin typeface="Menlo" panose="020B0609030804020204" pitchFamily="49" charset="0"/>
              </a:rPr>
              <a:t>void</a:t>
            </a:r>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test4</a:t>
            </a:r>
            <a:r>
              <a:rPr lang="en-US" dirty="0">
                <a:solidFill>
                  <a:srgbClr val="000000"/>
                </a:solidFill>
                <a:latin typeface="Menlo" panose="020B0609030804020204" pitchFamily="49" charset="0"/>
              </a:rPr>
              <a:t>(</a:t>
            </a:r>
            <a:r>
              <a:rPr lang="en-US" dirty="0">
                <a:solidFill>
                  <a:srgbClr val="2FB41D"/>
                </a:solidFill>
                <a:highlight>
                  <a:srgbClr val="FFFF00"/>
                </a:highlight>
                <a:latin typeface="Menlo" panose="020B0609030804020204" pitchFamily="49" charset="0"/>
              </a:rPr>
              <a:t>float</a:t>
            </a:r>
            <a:r>
              <a:rPr lang="en-US" dirty="0">
                <a:solidFill>
                  <a:srgbClr val="000000"/>
                </a:solidFill>
                <a:highlight>
                  <a:srgbClr val="FFFF00"/>
                </a:highlight>
                <a:latin typeface="Menlo" panose="020B0609030804020204" pitchFamily="49" charset="0"/>
              </a:rPr>
              <a:t> &amp;</a:t>
            </a:r>
            <a:r>
              <a:rPr lang="en-US" dirty="0">
                <a:solidFill>
                  <a:srgbClr val="9FA01C"/>
                </a:solidFill>
                <a:highlight>
                  <a:srgbClr val="FFFF00"/>
                </a:highlight>
                <a:latin typeface="Menlo" panose="020B0609030804020204" pitchFamily="49" charset="0"/>
              </a:rPr>
              <a:t>x</a:t>
            </a:r>
            <a:r>
              <a:rPr lang="en-US" dirty="0">
                <a:solidFill>
                  <a:srgbClr val="000000"/>
                </a:solidFill>
                <a:latin typeface="Menlo" panose="020B0609030804020204" pitchFamily="49" charset="0"/>
              </a:rPr>
              <a:t>) {</a:t>
            </a:r>
          </a:p>
          <a:p>
            <a:r>
              <a:rPr lang="en-US" dirty="0">
                <a:solidFill>
                  <a:srgbClr val="000000"/>
                </a:solidFill>
                <a:latin typeface="Menlo" panose="020B0609030804020204" pitchFamily="49" charset="0"/>
              </a:rPr>
              <a:t>  </a:t>
            </a:r>
            <a:r>
              <a:rPr lang="en-US" dirty="0">
                <a:solidFill>
                  <a:srgbClr val="2FB41D"/>
                </a:solidFill>
                <a:highlight>
                  <a:srgbClr val="00FF00"/>
                </a:highlight>
                <a:latin typeface="Menlo" panose="020B0609030804020204" pitchFamily="49" charset="0"/>
              </a:rPr>
              <a:t>int</a:t>
            </a:r>
            <a:r>
              <a:rPr lang="en-US" dirty="0">
                <a:solidFill>
                  <a:srgbClr val="000000"/>
                </a:solidFill>
                <a:highlight>
                  <a:srgbClr val="00FF00"/>
                </a:highlight>
                <a:latin typeface="Menlo" panose="020B0609030804020204" pitchFamily="49" charset="0"/>
              </a:rPr>
              <a:t> </a:t>
            </a:r>
            <a:r>
              <a:rPr lang="en-US" dirty="0" err="1">
                <a:solidFill>
                  <a:srgbClr val="9FA01C"/>
                </a:solidFill>
                <a:highlight>
                  <a:srgbClr val="00FF00"/>
                </a:highlight>
                <a:latin typeface="Menlo" panose="020B0609030804020204" pitchFamily="49" charset="0"/>
              </a:rPr>
              <a:t>i</a:t>
            </a:r>
            <a:r>
              <a:rPr lang="en-US" dirty="0">
                <a:solidFill>
                  <a:srgbClr val="000000"/>
                </a:solidFill>
                <a:highlight>
                  <a:srgbClr val="00FF00"/>
                </a:highlight>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for</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 0;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&lt; 100;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+ 1) {</a:t>
            </a:r>
          </a:p>
          <a:p>
            <a:r>
              <a:rPr lang="en-US" dirty="0">
                <a:solidFill>
                  <a:srgbClr val="000000"/>
                </a:solidFill>
                <a:latin typeface="Menlo" panose="020B0609030804020204" pitchFamily="49" charset="0"/>
              </a:rPr>
              <a:t>    x =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p>
          <a:p>
            <a:r>
              <a:rPr lang="en-US" dirty="0">
                <a:solidFill>
                  <a:srgbClr val="000000"/>
                </a:solidFill>
                <a:latin typeface="Menlo" panose="020B0609030804020204" pitchFamily="49" charset="0"/>
              </a:rPr>
              <a:t>}</a:t>
            </a:r>
            <a:endParaRPr lang="en-US" dirty="0">
              <a:solidFill>
                <a:srgbClr val="000000"/>
              </a:solidFill>
              <a:effectLst/>
              <a:latin typeface="Menlo" panose="020B0609030804020204" pitchFamily="49" charset="0"/>
            </a:endParaRPr>
          </a:p>
        </p:txBody>
      </p:sp>
      <p:sp>
        <p:nvSpPr>
          <p:cNvPr id="4" name="TextBox 3">
            <a:extLst>
              <a:ext uri="{FF2B5EF4-FFF2-40B4-BE49-F238E27FC236}">
                <a16:creationId xmlns:a16="http://schemas.microsoft.com/office/drawing/2014/main" id="{CE681E96-79B3-084D-8892-3B5D54BF3CD0}"/>
              </a:ext>
            </a:extLst>
          </p:cNvPr>
          <p:cNvSpPr txBox="1"/>
          <p:nvPr/>
        </p:nvSpPr>
        <p:spPr>
          <a:xfrm>
            <a:off x="331305" y="404114"/>
            <a:ext cx="2807692" cy="369332"/>
          </a:xfrm>
          <a:prstGeom prst="rect">
            <a:avLst/>
          </a:prstGeom>
          <a:noFill/>
        </p:spPr>
        <p:txBody>
          <a:bodyPr wrap="none" rtlCol="0">
            <a:spAutoFit/>
          </a:bodyPr>
          <a:lstStyle/>
          <a:p>
            <a:r>
              <a:rPr lang="en-US" dirty="0"/>
              <a:t>What we are compiling this:</a:t>
            </a:r>
          </a:p>
        </p:txBody>
      </p:sp>
      <p:sp>
        <p:nvSpPr>
          <p:cNvPr id="7" name="TextBox 6">
            <a:extLst>
              <a:ext uri="{FF2B5EF4-FFF2-40B4-BE49-F238E27FC236}">
                <a16:creationId xmlns:a16="http://schemas.microsoft.com/office/drawing/2014/main" id="{E118D816-5809-9548-81E2-95C014140F5F}"/>
              </a:ext>
            </a:extLst>
          </p:cNvPr>
          <p:cNvSpPr txBox="1"/>
          <p:nvPr/>
        </p:nvSpPr>
        <p:spPr>
          <a:xfrm>
            <a:off x="6596867" y="397631"/>
            <a:ext cx="3598870" cy="646331"/>
          </a:xfrm>
          <a:prstGeom prst="rect">
            <a:avLst/>
          </a:prstGeom>
          <a:noFill/>
        </p:spPr>
        <p:txBody>
          <a:bodyPr wrap="none" rtlCol="0">
            <a:spAutoFit/>
          </a:bodyPr>
          <a:lstStyle/>
          <a:p>
            <a:r>
              <a:rPr lang="en-US" sz="3600" dirty="0">
                <a:highlight>
                  <a:srgbClr val="FFFF00"/>
                </a:highlight>
              </a:rPr>
              <a:t>IO variables: e.g. x</a:t>
            </a:r>
          </a:p>
        </p:txBody>
      </p:sp>
      <p:sp>
        <p:nvSpPr>
          <p:cNvPr id="8" name="TextBox 7">
            <a:extLst>
              <a:ext uri="{FF2B5EF4-FFF2-40B4-BE49-F238E27FC236}">
                <a16:creationId xmlns:a16="http://schemas.microsoft.com/office/drawing/2014/main" id="{81E6C31D-BC91-884F-A2F3-5FA507D7AB16}"/>
              </a:ext>
            </a:extLst>
          </p:cNvPr>
          <p:cNvSpPr txBox="1"/>
          <p:nvPr/>
        </p:nvSpPr>
        <p:spPr>
          <a:xfrm>
            <a:off x="254441" y="2714499"/>
            <a:ext cx="1871987" cy="369332"/>
          </a:xfrm>
          <a:prstGeom prst="rect">
            <a:avLst/>
          </a:prstGeom>
          <a:noFill/>
        </p:spPr>
        <p:txBody>
          <a:bodyPr wrap="none" rtlCol="0">
            <a:spAutoFit/>
          </a:bodyPr>
          <a:lstStyle/>
          <a:p>
            <a:r>
              <a:rPr lang="en-US" dirty="0">
                <a:highlight>
                  <a:srgbClr val="00FF00"/>
                </a:highlight>
              </a:rPr>
              <a:t>program variables</a:t>
            </a:r>
          </a:p>
        </p:txBody>
      </p:sp>
      <p:sp>
        <p:nvSpPr>
          <p:cNvPr id="5" name="TextBox 4">
            <a:extLst>
              <a:ext uri="{FF2B5EF4-FFF2-40B4-BE49-F238E27FC236}">
                <a16:creationId xmlns:a16="http://schemas.microsoft.com/office/drawing/2014/main" id="{A7354E5F-12F1-6746-8419-D5239958587F}"/>
              </a:ext>
            </a:extLst>
          </p:cNvPr>
          <p:cNvSpPr txBox="1"/>
          <p:nvPr/>
        </p:nvSpPr>
        <p:spPr>
          <a:xfrm>
            <a:off x="254441" y="3290501"/>
            <a:ext cx="3697357" cy="1015663"/>
          </a:xfrm>
          <a:prstGeom prst="rect">
            <a:avLst/>
          </a:prstGeom>
          <a:noFill/>
        </p:spPr>
        <p:txBody>
          <a:bodyPr wrap="square" rtlCol="0">
            <a:spAutoFit/>
          </a:bodyPr>
          <a:lstStyle/>
          <a:p>
            <a:r>
              <a:rPr lang="en-US" sz="2000" i="1" dirty="0"/>
              <a:t>Every time you </a:t>
            </a:r>
            <a:r>
              <a:rPr lang="en-US" sz="2000" b="1" i="1" dirty="0"/>
              <a:t>access</a:t>
            </a:r>
            <a:r>
              <a:rPr lang="en-US" sz="2000" i="1" dirty="0"/>
              <a:t> an </a:t>
            </a:r>
            <a:r>
              <a:rPr lang="en-US" sz="2000" i="1" dirty="0">
                <a:highlight>
                  <a:srgbClr val="FFFF00"/>
                </a:highlight>
              </a:rPr>
              <a:t>IO variable</a:t>
            </a:r>
            <a:r>
              <a:rPr lang="en-US" sz="2000" i="1" dirty="0"/>
              <a:t>, </a:t>
            </a:r>
            <a:r>
              <a:rPr lang="en-US" sz="2000" b="1" i="1" dirty="0"/>
              <a:t>you need to convert it to a </a:t>
            </a:r>
            <a:r>
              <a:rPr lang="en-US" sz="2000" b="1" i="1" dirty="0" err="1"/>
              <a:t>vr</a:t>
            </a:r>
            <a:r>
              <a:rPr lang="en-US" sz="2000" b="1" i="1" dirty="0"/>
              <a:t> first using float2vr or int2vr</a:t>
            </a:r>
          </a:p>
        </p:txBody>
      </p:sp>
      <p:sp>
        <p:nvSpPr>
          <p:cNvPr id="6" name="Rectangle 5">
            <a:extLst>
              <a:ext uri="{FF2B5EF4-FFF2-40B4-BE49-F238E27FC236}">
                <a16:creationId xmlns:a16="http://schemas.microsoft.com/office/drawing/2014/main" id="{61E5A053-6139-7A43-BA4B-F528ABC58486}"/>
              </a:ext>
            </a:extLst>
          </p:cNvPr>
          <p:cNvSpPr/>
          <p:nvPr/>
        </p:nvSpPr>
        <p:spPr>
          <a:xfrm>
            <a:off x="3456167" y="4258476"/>
            <a:ext cx="8481392" cy="2246769"/>
          </a:xfrm>
          <a:prstGeom prst="rect">
            <a:avLst/>
          </a:prstGeom>
        </p:spPr>
        <p:txBody>
          <a:bodyPr wrap="square">
            <a:spAutoFit/>
          </a:bodyPr>
          <a:lstStyle/>
          <a:p>
            <a:r>
              <a:rPr lang="en-US" sz="2000" b="1" dirty="0">
                <a:solidFill>
                  <a:srgbClr val="2EAEBB"/>
                </a:solidFill>
                <a:latin typeface="Menlo" panose="020B0609030804020204" pitchFamily="49" charset="0"/>
              </a:rPr>
              <a:t>class</a:t>
            </a:r>
            <a:r>
              <a:rPr lang="en-US" sz="2000" dirty="0">
                <a:solidFill>
                  <a:srgbClr val="000000"/>
                </a:solidFill>
                <a:latin typeface="Menlo" panose="020B0609030804020204" pitchFamily="49" charset="0"/>
              </a:rPr>
              <a:t> </a:t>
            </a:r>
            <a:r>
              <a:rPr lang="en-US" sz="2000" b="1" dirty="0" err="1">
                <a:solidFill>
                  <a:srgbClr val="2FB41D"/>
                </a:solidFill>
                <a:latin typeface="Menlo" panose="020B0609030804020204" pitchFamily="49" charset="0"/>
              </a:rPr>
              <a:t>ASTIOIDNode</a:t>
            </a:r>
            <a:r>
              <a:rPr lang="en-US" sz="2000" dirty="0">
                <a:solidFill>
                  <a:srgbClr val="000000"/>
                </a:solidFill>
                <a:latin typeface="Menlo" panose="020B0609030804020204" pitchFamily="49" charset="0"/>
              </a:rPr>
              <a:t>(</a:t>
            </a:r>
            <a:r>
              <a:rPr lang="en-US" sz="2000" dirty="0" err="1">
                <a:solidFill>
                  <a:srgbClr val="000000"/>
                </a:solidFill>
                <a:latin typeface="Menlo" panose="020B0609030804020204" pitchFamily="49" charset="0"/>
              </a:rPr>
              <a:t>ASTLeafNode</a:t>
            </a:r>
            <a:r>
              <a:rPr lang="en-US" sz="2000" dirty="0">
                <a:solidFill>
                  <a:srgbClr val="000000"/>
                </a:solidFill>
                <a:latin typeface="Menlo" panose="020B0609030804020204" pitchFamily="49" charset="0"/>
              </a:rPr>
              <a:t>):</a:t>
            </a:r>
          </a:p>
          <a:p>
            <a:r>
              <a:rPr lang="en-US" sz="2000" dirty="0">
                <a:solidFill>
                  <a:srgbClr val="000000"/>
                </a:solidFill>
                <a:latin typeface="Menlo" panose="020B0609030804020204" pitchFamily="49" charset="0"/>
              </a:rPr>
              <a:t>...</a:t>
            </a:r>
          </a:p>
          <a:p>
            <a:r>
              <a:rPr lang="en-US" sz="2000" dirty="0">
                <a:solidFill>
                  <a:srgbClr val="000000"/>
                </a:solidFill>
                <a:latin typeface="Menlo" panose="020B0609030804020204" pitchFamily="49" charset="0"/>
              </a:rPr>
              <a:t>    </a:t>
            </a:r>
            <a:r>
              <a:rPr lang="en-US" sz="2000" b="1" dirty="0">
                <a:solidFill>
                  <a:srgbClr val="2EAEBB"/>
                </a:solidFill>
                <a:latin typeface="Menlo" panose="020B0609030804020204" pitchFamily="49" charset="0"/>
              </a:rPr>
              <a:t>def</a:t>
            </a:r>
            <a:r>
              <a:rPr lang="en-US" sz="2000" dirty="0">
                <a:solidFill>
                  <a:srgbClr val="000000"/>
                </a:solidFill>
                <a:latin typeface="Menlo" panose="020B0609030804020204" pitchFamily="49" charset="0"/>
              </a:rPr>
              <a:t> </a:t>
            </a:r>
            <a:r>
              <a:rPr lang="en-US" sz="2000" b="1" dirty="0" err="1">
                <a:solidFill>
                  <a:srgbClr val="400BD9"/>
                </a:solidFill>
                <a:latin typeface="Menlo" panose="020B0609030804020204" pitchFamily="49" charset="0"/>
              </a:rPr>
              <a:t>three_addr_code</a:t>
            </a:r>
            <a:r>
              <a:rPr lang="en-US" sz="2000" dirty="0">
                <a:solidFill>
                  <a:srgbClr val="000000"/>
                </a:solidFill>
                <a:latin typeface="Menlo" panose="020B0609030804020204" pitchFamily="49" charset="0"/>
              </a:rPr>
              <a:t>(</a:t>
            </a:r>
            <a:r>
              <a:rPr lang="en-US" sz="2000" b="1" dirty="0">
                <a:solidFill>
                  <a:srgbClr val="2EAEBB"/>
                </a:solidFill>
                <a:latin typeface="Menlo" panose="020B0609030804020204" pitchFamily="49" charset="0"/>
              </a:rPr>
              <a:t>self</a:t>
            </a:r>
            <a:r>
              <a:rPr lang="en-US" sz="2000" dirty="0">
                <a:solidFill>
                  <a:srgbClr val="000000"/>
                </a:solidFill>
                <a:latin typeface="Menlo" panose="020B0609030804020204" pitchFamily="49" charset="0"/>
              </a:rPr>
              <a:t>):</a:t>
            </a:r>
            <a:endParaRPr lang="en-US" sz="2000" dirty="0">
              <a:solidFill>
                <a:srgbClr val="400BD9"/>
              </a:solidFill>
              <a:latin typeface="Menlo" panose="020B0609030804020204" pitchFamily="49" charset="0"/>
            </a:endParaRPr>
          </a:p>
          <a:p>
            <a:r>
              <a:rPr lang="en-US" sz="2000" b="1" dirty="0">
                <a:solidFill>
                  <a:srgbClr val="2EAEBB"/>
                </a:solidFill>
                <a:latin typeface="Menlo" panose="020B0609030804020204" pitchFamily="49" charset="0"/>
              </a:rPr>
              <a:t>        if</a:t>
            </a:r>
            <a:r>
              <a:rPr lang="en-US" sz="2000" dirty="0">
                <a:solidFill>
                  <a:srgbClr val="000000"/>
                </a:solidFill>
                <a:latin typeface="Menlo" panose="020B0609030804020204" pitchFamily="49" charset="0"/>
              </a:rPr>
              <a:t> </a:t>
            </a:r>
            <a:r>
              <a:rPr lang="en-US" sz="2000" b="1" dirty="0" err="1">
                <a:solidFill>
                  <a:srgbClr val="2EAEBB"/>
                </a:solidFill>
                <a:latin typeface="Menlo" panose="020B0609030804020204" pitchFamily="49" charset="0"/>
              </a:rPr>
              <a:t>self</a:t>
            </a:r>
            <a:r>
              <a:rPr lang="en-US" sz="2000" dirty="0" err="1">
                <a:solidFill>
                  <a:srgbClr val="000000"/>
                </a:solidFill>
                <a:latin typeface="Menlo" panose="020B0609030804020204" pitchFamily="49" charset="0"/>
              </a:rPr>
              <a:t>.node_type</a:t>
            </a:r>
            <a:r>
              <a:rPr lang="en-US" sz="2000" dirty="0">
                <a:solidFill>
                  <a:srgbClr val="000000"/>
                </a:solidFill>
                <a:latin typeface="Menlo" panose="020B0609030804020204" pitchFamily="49" charset="0"/>
              </a:rPr>
              <a:t> == </a:t>
            </a:r>
            <a:r>
              <a:rPr lang="en-US" sz="2000" dirty="0" err="1">
                <a:solidFill>
                  <a:srgbClr val="000000"/>
                </a:solidFill>
                <a:latin typeface="Menlo" panose="020B0609030804020204" pitchFamily="49" charset="0"/>
              </a:rPr>
              <a:t>Types.INT</a:t>
            </a:r>
            <a:r>
              <a:rPr lang="en-US" sz="2000" dirty="0">
                <a:solidFill>
                  <a:srgbClr val="000000"/>
                </a:solidFill>
                <a:latin typeface="Menlo" panose="020B0609030804020204" pitchFamily="49" charset="0"/>
              </a:rPr>
              <a:t>:</a:t>
            </a:r>
          </a:p>
          <a:p>
            <a:r>
              <a:rPr lang="en-US" sz="2000" dirty="0">
                <a:solidFill>
                  <a:srgbClr val="000000"/>
                </a:solidFill>
                <a:latin typeface="Menlo" panose="020B0609030804020204" pitchFamily="49" charset="0"/>
              </a:rPr>
              <a:t>            </a:t>
            </a:r>
            <a:r>
              <a:rPr lang="en-US" sz="2000" b="1" dirty="0">
                <a:solidFill>
                  <a:srgbClr val="2EAEBB"/>
                </a:solidFill>
                <a:latin typeface="Menlo" panose="020B0609030804020204" pitchFamily="49" charset="0"/>
              </a:rPr>
              <a:t>return</a:t>
            </a:r>
            <a:r>
              <a:rPr lang="en-US" sz="2000" dirty="0">
                <a:solidFill>
                  <a:srgbClr val="000000"/>
                </a:solidFill>
                <a:latin typeface="Menlo" panose="020B0609030804020204" pitchFamily="49" charset="0"/>
              </a:rPr>
              <a:t> </a:t>
            </a:r>
            <a:r>
              <a:rPr lang="en-US" sz="2000" dirty="0">
                <a:solidFill>
                  <a:srgbClr val="2FB41D"/>
                </a:solidFill>
                <a:latin typeface="Menlo" panose="020B0609030804020204" pitchFamily="49" charset="0"/>
              </a:rPr>
              <a:t>"%s = int2vr(%s);"</a:t>
            </a:r>
            <a:r>
              <a:rPr lang="en-US" sz="2000" dirty="0">
                <a:solidFill>
                  <a:srgbClr val="000000"/>
                </a:solidFill>
                <a:latin typeface="Menlo" panose="020B0609030804020204" pitchFamily="49" charset="0"/>
              </a:rPr>
              <a:t> % (</a:t>
            </a:r>
            <a:r>
              <a:rPr lang="en-US" sz="2000" b="1" dirty="0" err="1">
                <a:solidFill>
                  <a:srgbClr val="2EAEBB"/>
                </a:solidFill>
                <a:latin typeface="Menlo" panose="020B0609030804020204" pitchFamily="49" charset="0"/>
              </a:rPr>
              <a:t>self</a:t>
            </a:r>
            <a:r>
              <a:rPr lang="en-US" sz="2000" dirty="0" err="1">
                <a:solidFill>
                  <a:srgbClr val="000000"/>
                </a:solidFill>
                <a:latin typeface="Menlo" panose="020B0609030804020204" pitchFamily="49" charset="0"/>
              </a:rPr>
              <a:t>.vr</a:t>
            </a:r>
            <a:r>
              <a:rPr lang="en-US" sz="2000" dirty="0">
                <a:solidFill>
                  <a:srgbClr val="000000"/>
                </a:solidFill>
                <a:latin typeface="Menlo" panose="020B0609030804020204" pitchFamily="49" charset="0"/>
              </a:rPr>
              <a:t>, </a:t>
            </a:r>
            <a:r>
              <a:rPr lang="en-US" sz="2000" b="1" dirty="0" err="1">
                <a:solidFill>
                  <a:srgbClr val="2EAEBB"/>
                </a:solidFill>
                <a:latin typeface="Menlo" panose="020B0609030804020204" pitchFamily="49" charset="0"/>
              </a:rPr>
              <a:t>self</a:t>
            </a:r>
            <a:r>
              <a:rPr lang="en-US" sz="2000" dirty="0" err="1">
                <a:solidFill>
                  <a:srgbClr val="000000"/>
                </a:solidFill>
                <a:latin typeface="Menlo" panose="020B0609030804020204" pitchFamily="49" charset="0"/>
              </a:rPr>
              <a:t>.value</a:t>
            </a:r>
            <a:r>
              <a:rPr lang="en-US" sz="2000" dirty="0">
                <a:solidFill>
                  <a:srgbClr val="000000"/>
                </a:solidFill>
                <a:latin typeface="Menlo" panose="020B0609030804020204" pitchFamily="49" charset="0"/>
              </a:rPr>
              <a:t>)</a:t>
            </a:r>
          </a:p>
          <a:p>
            <a:r>
              <a:rPr lang="en-US" sz="2000" dirty="0">
                <a:solidFill>
                  <a:srgbClr val="000000"/>
                </a:solidFill>
                <a:latin typeface="Menlo" panose="020B0609030804020204" pitchFamily="49" charset="0"/>
              </a:rPr>
              <a:t>        </a:t>
            </a:r>
            <a:r>
              <a:rPr lang="en-US" sz="2000" b="1" dirty="0">
                <a:solidFill>
                  <a:srgbClr val="2EAEBB"/>
                </a:solidFill>
                <a:latin typeface="Menlo" panose="020B0609030804020204" pitchFamily="49" charset="0"/>
              </a:rPr>
              <a:t>if</a:t>
            </a:r>
            <a:r>
              <a:rPr lang="en-US" sz="2000" dirty="0">
                <a:solidFill>
                  <a:srgbClr val="000000"/>
                </a:solidFill>
                <a:latin typeface="Menlo" panose="020B0609030804020204" pitchFamily="49" charset="0"/>
              </a:rPr>
              <a:t> </a:t>
            </a:r>
            <a:r>
              <a:rPr lang="en-US" sz="2000" b="1" dirty="0" err="1">
                <a:solidFill>
                  <a:srgbClr val="2EAEBB"/>
                </a:solidFill>
                <a:latin typeface="Menlo" panose="020B0609030804020204" pitchFamily="49" charset="0"/>
              </a:rPr>
              <a:t>self</a:t>
            </a:r>
            <a:r>
              <a:rPr lang="en-US" sz="2000" dirty="0" err="1">
                <a:solidFill>
                  <a:srgbClr val="000000"/>
                </a:solidFill>
                <a:latin typeface="Menlo" panose="020B0609030804020204" pitchFamily="49" charset="0"/>
              </a:rPr>
              <a:t>.node_type</a:t>
            </a:r>
            <a:r>
              <a:rPr lang="en-US" sz="2000" dirty="0">
                <a:solidFill>
                  <a:srgbClr val="000000"/>
                </a:solidFill>
                <a:latin typeface="Menlo" panose="020B0609030804020204" pitchFamily="49" charset="0"/>
              </a:rPr>
              <a:t> == </a:t>
            </a:r>
            <a:r>
              <a:rPr lang="en-US" sz="2000" dirty="0" err="1">
                <a:solidFill>
                  <a:srgbClr val="000000"/>
                </a:solidFill>
                <a:latin typeface="Menlo" panose="020B0609030804020204" pitchFamily="49" charset="0"/>
              </a:rPr>
              <a:t>Types.FLOAT</a:t>
            </a:r>
            <a:r>
              <a:rPr lang="en-US" sz="2000" dirty="0">
                <a:solidFill>
                  <a:srgbClr val="000000"/>
                </a:solidFill>
                <a:latin typeface="Menlo" panose="020B0609030804020204" pitchFamily="49" charset="0"/>
              </a:rPr>
              <a:t>:</a:t>
            </a:r>
          </a:p>
          <a:p>
            <a:r>
              <a:rPr lang="en-US" sz="2000" dirty="0">
                <a:solidFill>
                  <a:srgbClr val="000000"/>
                </a:solidFill>
                <a:latin typeface="Menlo" panose="020B0609030804020204" pitchFamily="49" charset="0"/>
              </a:rPr>
              <a:t>            </a:t>
            </a:r>
            <a:r>
              <a:rPr lang="en-US" sz="2000" b="1" dirty="0">
                <a:solidFill>
                  <a:srgbClr val="2EAEBB"/>
                </a:solidFill>
                <a:latin typeface="Menlo" panose="020B0609030804020204" pitchFamily="49" charset="0"/>
              </a:rPr>
              <a:t>return</a:t>
            </a:r>
            <a:r>
              <a:rPr lang="en-US" sz="2000" dirty="0">
                <a:solidFill>
                  <a:srgbClr val="000000"/>
                </a:solidFill>
                <a:latin typeface="Menlo" panose="020B0609030804020204" pitchFamily="49" charset="0"/>
              </a:rPr>
              <a:t> </a:t>
            </a:r>
            <a:r>
              <a:rPr lang="en-US" sz="2000" dirty="0">
                <a:solidFill>
                  <a:srgbClr val="2FB41D"/>
                </a:solidFill>
                <a:latin typeface="Menlo" panose="020B0609030804020204" pitchFamily="49" charset="0"/>
              </a:rPr>
              <a:t>"%s = float2vr(%s);"</a:t>
            </a:r>
            <a:r>
              <a:rPr lang="en-US" sz="2000" dirty="0">
                <a:solidFill>
                  <a:srgbClr val="000000"/>
                </a:solidFill>
                <a:latin typeface="Menlo" panose="020B0609030804020204" pitchFamily="49" charset="0"/>
              </a:rPr>
              <a:t> % (</a:t>
            </a:r>
            <a:r>
              <a:rPr lang="en-US" sz="2000" b="1" dirty="0" err="1">
                <a:solidFill>
                  <a:srgbClr val="2EAEBB"/>
                </a:solidFill>
                <a:latin typeface="Menlo" panose="020B0609030804020204" pitchFamily="49" charset="0"/>
              </a:rPr>
              <a:t>self</a:t>
            </a:r>
            <a:r>
              <a:rPr lang="en-US" sz="2000" dirty="0" err="1">
                <a:solidFill>
                  <a:srgbClr val="000000"/>
                </a:solidFill>
                <a:latin typeface="Menlo" panose="020B0609030804020204" pitchFamily="49" charset="0"/>
              </a:rPr>
              <a:t>.vr</a:t>
            </a:r>
            <a:r>
              <a:rPr lang="en-US" sz="2000" dirty="0">
                <a:solidFill>
                  <a:srgbClr val="000000"/>
                </a:solidFill>
                <a:latin typeface="Menlo" panose="020B0609030804020204" pitchFamily="49" charset="0"/>
              </a:rPr>
              <a:t>, </a:t>
            </a:r>
            <a:r>
              <a:rPr lang="en-US" sz="2000" b="1" dirty="0" err="1">
                <a:solidFill>
                  <a:srgbClr val="2EAEBB"/>
                </a:solidFill>
                <a:latin typeface="Menlo" panose="020B0609030804020204" pitchFamily="49" charset="0"/>
              </a:rPr>
              <a:t>self</a:t>
            </a:r>
            <a:r>
              <a:rPr lang="en-US" sz="2000" dirty="0" err="1">
                <a:solidFill>
                  <a:srgbClr val="000000"/>
                </a:solidFill>
                <a:latin typeface="Menlo" panose="020B0609030804020204" pitchFamily="49" charset="0"/>
              </a:rPr>
              <a:t>.value</a:t>
            </a:r>
            <a:r>
              <a:rPr lang="en-US" sz="2000" dirty="0">
                <a:solidFill>
                  <a:srgbClr val="000000"/>
                </a:solidFill>
                <a:latin typeface="Menlo" panose="020B0609030804020204" pitchFamily="49" charset="0"/>
              </a:rPr>
              <a:t>)</a:t>
            </a:r>
            <a:endParaRPr lang="en-US" sz="2000" dirty="0">
              <a:solidFill>
                <a:srgbClr val="000000"/>
              </a:solidFill>
              <a:effectLst/>
              <a:latin typeface="Menlo" panose="020B0609030804020204" pitchFamily="49" charset="0"/>
            </a:endParaRPr>
          </a:p>
        </p:txBody>
      </p:sp>
      <p:sp>
        <p:nvSpPr>
          <p:cNvPr id="2" name="TextBox 1">
            <a:extLst>
              <a:ext uri="{FF2B5EF4-FFF2-40B4-BE49-F238E27FC236}">
                <a16:creationId xmlns:a16="http://schemas.microsoft.com/office/drawing/2014/main" id="{0BE02FF1-E65C-9E89-E340-1A6FDCC2D632}"/>
              </a:ext>
            </a:extLst>
          </p:cNvPr>
          <p:cNvSpPr txBox="1"/>
          <p:nvPr/>
        </p:nvSpPr>
        <p:spPr>
          <a:xfrm>
            <a:off x="9253495" y="6114568"/>
            <a:ext cx="1982972" cy="369332"/>
          </a:xfrm>
          <a:prstGeom prst="rect">
            <a:avLst/>
          </a:prstGeom>
          <a:noFill/>
        </p:spPr>
        <p:txBody>
          <a:bodyPr wrap="square" rtlCol="0">
            <a:spAutoFit/>
          </a:bodyPr>
          <a:lstStyle/>
          <a:p>
            <a:r>
              <a:rPr lang="en-US" dirty="0">
                <a:highlight>
                  <a:srgbClr val="FFFF00"/>
                </a:highlight>
              </a:rPr>
              <a:t>&lt;= Code generated</a:t>
            </a:r>
          </a:p>
        </p:txBody>
      </p:sp>
      <p:sp>
        <p:nvSpPr>
          <p:cNvPr id="9" name="TextBox 8">
            <a:extLst>
              <a:ext uri="{FF2B5EF4-FFF2-40B4-BE49-F238E27FC236}">
                <a16:creationId xmlns:a16="http://schemas.microsoft.com/office/drawing/2014/main" id="{FB00A1F8-3C1F-605B-5271-6FF5EB52FE92}"/>
              </a:ext>
            </a:extLst>
          </p:cNvPr>
          <p:cNvSpPr txBox="1"/>
          <p:nvPr/>
        </p:nvSpPr>
        <p:spPr>
          <a:xfrm>
            <a:off x="6547624" y="1749935"/>
            <a:ext cx="3697357" cy="1200329"/>
          </a:xfrm>
          <a:prstGeom prst="rect">
            <a:avLst/>
          </a:prstGeom>
          <a:noFill/>
        </p:spPr>
        <p:txBody>
          <a:bodyPr wrap="square" rtlCol="0">
            <a:spAutoFit/>
          </a:bodyPr>
          <a:lstStyle/>
          <a:p>
            <a:r>
              <a:rPr lang="en-US" sz="2400" dirty="0"/>
              <a:t>The IO Node needs to convert according to the type of the IO variable</a:t>
            </a:r>
          </a:p>
        </p:txBody>
      </p:sp>
      <p:sp>
        <p:nvSpPr>
          <p:cNvPr id="10" name="TextBox 9">
            <a:extLst>
              <a:ext uri="{FF2B5EF4-FFF2-40B4-BE49-F238E27FC236}">
                <a16:creationId xmlns:a16="http://schemas.microsoft.com/office/drawing/2014/main" id="{863F5CF3-6118-9164-35B7-DE24F55564F2}"/>
              </a:ext>
            </a:extLst>
          </p:cNvPr>
          <p:cNvSpPr txBox="1"/>
          <p:nvPr/>
        </p:nvSpPr>
        <p:spPr>
          <a:xfrm>
            <a:off x="9253495" y="5451925"/>
            <a:ext cx="1982972" cy="369332"/>
          </a:xfrm>
          <a:prstGeom prst="rect">
            <a:avLst/>
          </a:prstGeom>
          <a:noFill/>
        </p:spPr>
        <p:txBody>
          <a:bodyPr wrap="square" rtlCol="0">
            <a:spAutoFit/>
          </a:bodyPr>
          <a:lstStyle/>
          <a:p>
            <a:r>
              <a:rPr lang="en-US" dirty="0">
                <a:highlight>
                  <a:srgbClr val="FFFF00"/>
                </a:highlight>
              </a:rPr>
              <a:t>&lt;= Code generated</a:t>
            </a:r>
          </a:p>
        </p:txBody>
      </p:sp>
      <p:cxnSp>
        <p:nvCxnSpPr>
          <p:cNvPr id="11" name="Straight Connector 10">
            <a:extLst>
              <a:ext uri="{FF2B5EF4-FFF2-40B4-BE49-F238E27FC236}">
                <a16:creationId xmlns:a16="http://schemas.microsoft.com/office/drawing/2014/main" id="{9F38A6C4-DD21-0868-B4BD-C1DADBC7F582}"/>
              </a:ext>
            </a:extLst>
          </p:cNvPr>
          <p:cNvCxnSpPr>
            <a:cxnSpLocks/>
          </p:cNvCxnSpPr>
          <p:nvPr/>
        </p:nvCxnSpPr>
        <p:spPr>
          <a:xfrm flipV="1">
            <a:off x="8589191" y="4961965"/>
            <a:ext cx="366550" cy="489960"/>
          </a:xfrm>
          <a:prstGeom prst="line">
            <a:avLst/>
          </a:prstGeom>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D5BF127A-6E84-380C-FD42-8E2AA5019BB7}"/>
              </a:ext>
            </a:extLst>
          </p:cNvPr>
          <p:cNvSpPr txBox="1"/>
          <p:nvPr/>
        </p:nvSpPr>
        <p:spPr>
          <a:xfrm>
            <a:off x="8444753" y="4581641"/>
            <a:ext cx="2791714" cy="369332"/>
          </a:xfrm>
          <a:prstGeom prst="rect">
            <a:avLst/>
          </a:prstGeom>
          <a:noFill/>
        </p:spPr>
        <p:txBody>
          <a:bodyPr wrap="square" rtlCol="0">
            <a:spAutoFit/>
          </a:bodyPr>
          <a:lstStyle/>
          <a:p>
            <a:r>
              <a:rPr lang="en-US" dirty="0"/>
              <a:t>Value is the name of the id</a:t>
            </a:r>
          </a:p>
        </p:txBody>
      </p:sp>
      <p:sp>
        <p:nvSpPr>
          <p:cNvPr id="15" name="TextBox 14">
            <a:extLst>
              <a:ext uri="{FF2B5EF4-FFF2-40B4-BE49-F238E27FC236}">
                <a16:creationId xmlns:a16="http://schemas.microsoft.com/office/drawing/2014/main" id="{BD12351E-86DD-C6F7-2E72-0FD1931A47F6}"/>
              </a:ext>
            </a:extLst>
          </p:cNvPr>
          <p:cNvSpPr txBox="1"/>
          <p:nvPr/>
        </p:nvSpPr>
        <p:spPr>
          <a:xfrm>
            <a:off x="2245659" y="2714499"/>
            <a:ext cx="1479176" cy="369332"/>
          </a:xfrm>
          <a:prstGeom prst="rect">
            <a:avLst/>
          </a:prstGeom>
          <a:noFill/>
        </p:spPr>
        <p:txBody>
          <a:bodyPr wrap="square" rtlCol="0">
            <a:spAutoFit/>
          </a:bodyPr>
          <a:lstStyle/>
          <a:p>
            <a:r>
              <a:rPr lang="en-US" dirty="0">
                <a:highlight>
                  <a:srgbClr val="FFFF00"/>
                </a:highlight>
              </a:rPr>
              <a:t>IO variables</a:t>
            </a:r>
          </a:p>
        </p:txBody>
      </p:sp>
    </p:spTree>
    <p:extLst>
      <p:ext uri="{BB962C8B-B14F-4D97-AF65-F5344CB8AC3E}">
        <p14:creationId xmlns:p14="http://schemas.microsoft.com/office/powerpoint/2010/main" val="26056851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E681E96-79B3-084D-8892-3B5D54BF3CD0}"/>
              </a:ext>
            </a:extLst>
          </p:cNvPr>
          <p:cNvSpPr txBox="1"/>
          <p:nvPr/>
        </p:nvSpPr>
        <p:spPr>
          <a:xfrm>
            <a:off x="331305" y="404114"/>
            <a:ext cx="2807692" cy="369332"/>
          </a:xfrm>
          <a:prstGeom prst="rect">
            <a:avLst/>
          </a:prstGeom>
          <a:noFill/>
        </p:spPr>
        <p:txBody>
          <a:bodyPr wrap="none" rtlCol="0">
            <a:spAutoFit/>
          </a:bodyPr>
          <a:lstStyle/>
          <a:p>
            <a:r>
              <a:rPr lang="en-US" dirty="0"/>
              <a:t>What we are compiling this:</a:t>
            </a:r>
          </a:p>
        </p:txBody>
      </p:sp>
      <p:sp>
        <p:nvSpPr>
          <p:cNvPr id="7" name="TextBox 6">
            <a:extLst>
              <a:ext uri="{FF2B5EF4-FFF2-40B4-BE49-F238E27FC236}">
                <a16:creationId xmlns:a16="http://schemas.microsoft.com/office/drawing/2014/main" id="{E118D816-5809-9548-81E2-95C014140F5F}"/>
              </a:ext>
            </a:extLst>
          </p:cNvPr>
          <p:cNvSpPr txBox="1"/>
          <p:nvPr/>
        </p:nvSpPr>
        <p:spPr>
          <a:xfrm>
            <a:off x="6621620" y="327170"/>
            <a:ext cx="3669466" cy="523220"/>
          </a:xfrm>
          <a:prstGeom prst="rect">
            <a:avLst/>
          </a:prstGeom>
          <a:noFill/>
        </p:spPr>
        <p:txBody>
          <a:bodyPr wrap="none" rtlCol="0">
            <a:spAutoFit/>
          </a:bodyPr>
          <a:lstStyle/>
          <a:p>
            <a:r>
              <a:rPr lang="en-US" sz="2800" dirty="0">
                <a:highlight>
                  <a:srgbClr val="00FF00"/>
                </a:highlight>
              </a:rPr>
              <a:t>Program variables, e.g. </a:t>
            </a:r>
            <a:r>
              <a:rPr lang="en-US" sz="2800" dirty="0" err="1">
                <a:highlight>
                  <a:srgbClr val="00FF00"/>
                </a:highlight>
              </a:rPr>
              <a:t>i</a:t>
            </a:r>
            <a:endParaRPr lang="en-US" sz="2800" dirty="0">
              <a:highlight>
                <a:srgbClr val="00FF00"/>
              </a:highlight>
            </a:endParaRPr>
          </a:p>
        </p:txBody>
      </p:sp>
      <p:sp>
        <p:nvSpPr>
          <p:cNvPr id="8" name="TextBox 7">
            <a:extLst>
              <a:ext uri="{FF2B5EF4-FFF2-40B4-BE49-F238E27FC236}">
                <a16:creationId xmlns:a16="http://schemas.microsoft.com/office/drawing/2014/main" id="{81E6C31D-BC91-884F-A2F3-5FA507D7AB16}"/>
              </a:ext>
            </a:extLst>
          </p:cNvPr>
          <p:cNvSpPr txBox="1"/>
          <p:nvPr/>
        </p:nvSpPr>
        <p:spPr>
          <a:xfrm>
            <a:off x="260280" y="2714499"/>
            <a:ext cx="1871987" cy="369332"/>
          </a:xfrm>
          <a:prstGeom prst="rect">
            <a:avLst/>
          </a:prstGeom>
          <a:noFill/>
        </p:spPr>
        <p:txBody>
          <a:bodyPr wrap="none" rtlCol="0">
            <a:spAutoFit/>
          </a:bodyPr>
          <a:lstStyle/>
          <a:p>
            <a:r>
              <a:rPr lang="en-US" dirty="0">
                <a:highlight>
                  <a:srgbClr val="00FF00"/>
                </a:highlight>
              </a:rPr>
              <a:t>program variables</a:t>
            </a:r>
          </a:p>
        </p:txBody>
      </p:sp>
      <p:sp>
        <p:nvSpPr>
          <p:cNvPr id="5" name="TextBox 4">
            <a:extLst>
              <a:ext uri="{FF2B5EF4-FFF2-40B4-BE49-F238E27FC236}">
                <a16:creationId xmlns:a16="http://schemas.microsoft.com/office/drawing/2014/main" id="{A7354E5F-12F1-6746-8419-D5239958587F}"/>
              </a:ext>
            </a:extLst>
          </p:cNvPr>
          <p:cNvSpPr txBox="1"/>
          <p:nvPr/>
        </p:nvSpPr>
        <p:spPr>
          <a:xfrm>
            <a:off x="254441" y="3290501"/>
            <a:ext cx="4196535" cy="1754326"/>
          </a:xfrm>
          <a:prstGeom prst="rect">
            <a:avLst/>
          </a:prstGeom>
          <a:noFill/>
        </p:spPr>
        <p:txBody>
          <a:bodyPr wrap="square" rtlCol="0">
            <a:spAutoFit/>
          </a:bodyPr>
          <a:lstStyle/>
          <a:p>
            <a:r>
              <a:rPr lang="en-US" i="1" dirty="0"/>
              <a:t>Every time you access a </a:t>
            </a:r>
            <a:r>
              <a:rPr lang="en-US" i="1" dirty="0">
                <a:highlight>
                  <a:srgbClr val="00FF00"/>
                </a:highlight>
              </a:rPr>
              <a:t>program variable</a:t>
            </a:r>
            <a:r>
              <a:rPr lang="en-US" i="1" dirty="0"/>
              <a:t>, </a:t>
            </a:r>
            <a:r>
              <a:rPr lang="en-US" b="1" i="1" dirty="0"/>
              <a:t>it does not need to be converted.</a:t>
            </a:r>
            <a:r>
              <a:rPr lang="en-US" i="1" dirty="0"/>
              <a:t> </a:t>
            </a:r>
          </a:p>
          <a:p>
            <a:endParaRPr lang="en-US" i="1" dirty="0"/>
          </a:p>
          <a:p>
            <a:r>
              <a:rPr lang="en-US" i="1" dirty="0"/>
              <a:t>If you are clever, you could use its name as a VR, but it may be simpler to just uniformly create a new VR name for these.</a:t>
            </a:r>
          </a:p>
        </p:txBody>
      </p:sp>
      <p:sp>
        <p:nvSpPr>
          <p:cNvPr id="2" name="Rectangle 1">
            <a:extLst>
              <a:ext uri="{FF2B5EF4-FFF2-40B4-BE49-F238E27FC236}">
                <a16:creationId xmlns:a16="http://schemas.microsoft.com/office/drawing/2014/main" id="{70E994C6-32B0-A247-91A4-E3D4746E44FF}"/>
              </a:ext>
            </a:extLst>
          </p:cNvPr>
          <p:cNvSpPr/>
          <p:nvPr/>
        </p:nvSpPr>
        <p:spPr>
          <a:xfrm>
            <a:off x="5186899" y="3585548"/>
            <a:ext cx="6620787" cy="1323439"/>
          </a:xfrm>
          <a:prstGeom prst="rect">
            <a:avLst/>
          </a:prstGeom>
        </p:spPr>
        <p:txBody>
          <a:bodyPr wrap="square">
            <a:spAutoFit/>
          </a:bodyPr>
          <a:lstStyle/>
          <a:p>
            <a:r>
              <a:rPr lang="en-US" sz="1600" b="1" dirty="0">
                <a:solidFill>
                  <a:srgbClr val="2EAEBB"/>
                </a:solidFill>
                <a:latin typeface="Menlo" panose="020B0609030804020204" pitchFamily="49" charset="0"/>
              </a:rPr>
              <a:t>class</a:t>
            </a:r>
            <a:r>
              <a:rPr lang="en-US" sz="1600" dirty="0">
                <a:solidFill>
                  <a:srgbClr val="000000"/>
                </a:solidFill>
                <a:latin typeface="Menlo" panose="020B0609030804020204" pitchFamily="49" charset="0"/>
              </a:rPr>
              <a:t> </a:t>
            </a:r>
            <a:r>
              <a:rPr lang="en-US" sz="1600" b="1" dirty="0" err="1">
                <a:solidFill>
                  <a:srgbClr val="2FB41D"/>
                </a:solidFill>
                <a:latin typeface="Menlo" panose="020B0609030804020204" pitchFamily="49" charset="0"/>
              </a:rPr>
              <a:t>ASTVarIDNode</a:t>
            </a:r>
            <a:r>
              <a:rPr lang="en-US" sz="1600" dirty="0">
                <a:solidFill>
                  <a:srgbClr val="000000"/>
                </a:solidFill>
                <a:latin typeface="Menlo" panose="020B0609030804020204" pitchFamily="49" charset="0"/>
              </a:rPr>
              <a:t>(</a:t>
            </a:r>
            <a:r>
              <a:rPr lang="en-US" sz="1600" dirty="0" err="1">
                <a:solidFill>
                  <a:srgbClr val="000000"/>
                </a:solidFill>
                <a:latin typeface="Menlo" panose="020B0609030804020204" pitchFamily="49" charset="0"/>
              </a:rPr>
              <a:t>ASTLeafNode</a:t>
            </a:r>
            <a:r>
              <a:rPr lang="en-US" sz="1600" dirty="0">
                <a:solidFill>
                  <a:srgbClr val="000000"/>
                </a:solidFill>
                <a:latin typeface="Menlo" panose="020B0609030804020204" pitchFamily="49" charset="0"/>
              </a:rPr>
              <a:t>):</a:t>
            </a:r>
          </a:p>
          <a:p>
            <a:r>
              <a:rPr lang="en-US" sz="1600" dirty="0">
                <a:solidFill>
                  <a:srgbClr val="000000"/>
                </a:solidFill>
                <a:latin typeface="Menlo" panose="020B0609030804020204" pitchFamily="49" charset="0"/>
              </a:rPr>
              <a:t>...</a:t>
            </a:r>
            <a:br>
              <a:rPr lang="en-US" sz="1600" dirty="0">
                <a:solidFill>
                  <a:srgbClr val="000000"/>
                </a:solidFill>
                <a:latin typeface="Menlo" panose="020B0609030804020204" pitchFamily="49" charset="0"/>
              </a:rPr>
            </a:br>
            <a:endParaRPr lang="en-US" sz="1600" dirty="0">
              <a:solidFill>
                <a:srgbClr val="000000"/>
              </a:solidFill>
              <a:latin typeface="Menlo" panose="020B0609030804020204" pitchFamily="49" charset="0"/>
            </a:endParaRPr>
          </a:p>
          <a:p>
            <a:r>
              <a:rPr lang="en-US" sz="1600" dirty="0">
                <a:solidFill>
                  <a:srgbClr val="000000"/>
                </a:solidFill>
                <a:latin typeface="Menlo" panose="020B0609030804020204" pitchFamily="49" charset="0"/>
              </a:rPr>
              <a:t>    </a:t>
            </a:r>
            <a:r>
              <a:rPr lang="en-US" sz="1600" b="1" dirty="0">
                <a:solidFill>
                  <a:srgbClr val="2EAEBB"/>
                </a:solidFill>
                <a:latin typeface="Menlo" panose="020B0609030804020204" pitchFamily="49" charset="0"/>
              </a:rPr>
              <a:t>def</a:t>
            </a:r>
            <a:r>
              <a:rPr lang="en-US" sz="1600" dirty="0">
                <a:solidFill>
                  <a:srgbClr val="000000"/>
                </a:solidFill>
                <a:latin typeface="Menlo" panose="020B0609030804020204" pitchFamily="49" charset="0"/>
              </a:rPr>
              <a:t> </a:t>
            </a:r>
            <a:r>
              <a:rPr lang="en-US" sz="1600" b="1" dirty="0" err="1">
                <a:solidFill>
                  <a:srgbClr val="400BD9"/>
                </a:solidFill>
                <a:latin typeface="Menlo" panose="020B0609030804020204" pitchFamily="49" charset="0"/>
              </a:rPr>
              <a:t>three_addr_code</a:t>
            </a:r>
            <a:r>
              <a:rPr lang="en-US" sz="1600" dirty="0">
                <a:solidFill>
                  <a:srgbClr val="000000"/>
                </a:solidFill>
                <a:latin typeface="Menlo" panose="020B0609030804020204" pitchFamily="49" charset="0"/>
              </a:rPr>
              <a:t>(</a:t>
            </a:r>
            <a:r>
              <a:rPr lang="en-US" sz="1600" b="1" dirty="0">
                <a:solidFill>
                  <a:srgbClr val="2EAEBB"/>
                </a:solidFill>
                <a:latin typeface="Menlo" panose="020B0609030804020204" pitchFamily="49" charset="0"/>
              </a:rPr>
              <a:t>self</a:t>
            </a:r>
            <a:r>
              <a:rPr lang="en-US" sz="1600" dirty="0">
                <a:solidFill>
                  <a:srgbClr val="000000"/>
                </a:solidFill>
                <a:latin typeface="Menlo" panose="020B0609030804020204" pitchFamily="49" charset="0"/>
              </a:rPr>
              <a:t>):</a:t>
            </a:r>
            <a:endParaRPr lang="en-US" sz="1600" dirty="0">
              <a:solidFill>
                <a:srgbClr val="400BD9"/>
              </a:solidFill>
              <a:latin typeface="Menlo" panose="020B0609030804020204" pitchFamily="49" charset="0"/>
            </a:endParaRPr>
          </a:p>
          <a:p>
            <a:r>
              <a:rPr lang="en-US" sz="1600" b="1" dirty="0">
                <a:solidFill>
                  <a:srgbClr val="2EAEBB"/>
                </a:solidFill>
                <a:latin typeface="Menlo" panose="020B0609030804020204" pitchFamily="49" charset="0"/>
              </a:rPr>
              <a:t>        return</a:t>
            </a:r>
            <a:r>
              <a:rPr lang="en-US" sz="1600" dirty="0">
                <a:solidFill>
                  <a:srgbClr val="000000"/>
                </a:solidFill>
                <a:latin typeface="Menlo" panose="020B0609030804020204" pitchFamily="49" charset="0"/>
              </a:rPr>
              <a:t> </a:t>
            </a:r>
            <a:r>
              <a:rPr lang="en-US" sz="1600" dirty="0">
                <a:solidFill>
                  <a:srgbClr val="2FB41D"/>
                </a:solidFill>
                <a:latin typeface="Menlo" panose="020B0609030804020204" pitchFamily="49" charset="0"/>
              </a:rPr>
              <a:t>"%s = %s;"</a:t>
            </a:r>
            <a:r>
              <a:rPr lang="en-US" sz="1600" dirty="0">
                <a:solidFill>
                  <a:srgbClr val="000000"/>
                </a:solidFill>
                <a:latin typeface="Menlo" panose="020B0609030804020204" pitchFamily="49" charset="0"/>
              </a:rPr>
              <a:t> % (</a:t>
            </a:r>
            <a:r>
              <a:rPr lang="en-US" sz="1600" b="1" dirty="0" err="1">
                <a:solidFill>
                  <a:srgbClr val="2EAEBB"/>
                </a:solidFill>
                <a:latin typeface="Menlo" panose="020B0609030804020204" pitchFamily="49" charset="0"/>
              </a:rPr>
              <a:t>self</a:t>
            </a:r>
            <a:r>
              <a:rPr lang="en-US" sz="1600" dirty="0" err="1">
                <a:solidFill>
                  <a:srgbClr val="000000"/>
                </a:solidFill>
                <a:latin typeface="Menlo" panose="020B0609030804020204" pitchFamily="49" charset="0"/>
              </a:rPr>
              <a:t>.vr</a:t>
            </a:r>
            <a:r>
              <a:rPr lang="en-US" sz="1600" dirty="0">
                <a:solidFill>
                  <a:srgbClr val="000000"/>
                </a:solidFill>
                <a:latin typeface="Menlo" panose="020B0609030804020204" pitchFamily="49" charset="0"/>
              </a:rPr>
              <a:t>, </a:t>
            </a:r>
            <a:r>
              <a:rPr lang="en-US" sz="1600" b="1" dirty="0" err="1">
                <a:solidFill>
                  <a:srgbClr val="2EAEBB"/>
                </a:solidFill>
                <a:latin typeface="Menlo" panose="020B0609030804020204" pitchFamily="49" charset="0"/>
              </a:rPr>
              <a:t>self</a:t>
            </a:r>
            <a:r>
              <a:rPr lang="en-US" sz="1600" dirty="0" err="1">
                <a:solidFill>
                  <a:srgbClr val="000000"/>
                </a:solidFill>
                <a:latin typeface="Menlo" panose="020B0609030804020204" pitchFamily="49" charset="0"/>
              </a:rPr>
              <a:t>.value</a:t>
            </a:r>
            <a:r>
              <a:rPr lang="en-US" sz="1600" dirty="0">
                <a:solidFill>
                  <a:srgbClr val="000000"/>
                </a:solidFill>
                <a:latin typeface="Menlo" panose="020B0609030804020204" pitchFamily="49" charset="0"/>
              </a:rPr>
              <a:t>)</a:t>
            </a:r>
            <a:endParaRPr lang="en-US" sz="1600" dirty="0">
              <a:solidFill>
                <a:srgbClr val="000000"/>
              </a:solidFill>
              <a:effectLst/>
              <a:latin typeface="Menlo" panose="020B0609030804020204" pitchFamily="49" charset="0"/>
            </a:endParaRPr>
          </a:p>
        </p:txBody>
      </p:sp>
      <p:sp>
        <p:nvSpPr>
          <p:cNvPr id="9" name="Rectangle 8">
            <a:extLst>
              <a:ext uri="{FF2B5EF4-FFF2-40B4-BE49-F238E27FC236}">
                <a16:creationId xmlns:a16="http://schemas.microsoft.com/office/drawing/2014/main" id="{70AC6B39-1EB9-164D-BBCF-5B962A3B61FD}"/>
              </a:ext>
            </a:extLst>
          </p:cNvPr>
          <p:cNvSpPr/>
          <p:nvPr/>
        </p:nvSpPr>
        <p:spPr>
          <a:xfrm>
            <a:off x="331305" y="872773"/>
            <a:ext cx="5284967" cy="1754326"/>
          </a:xfrm>
          <a:prstGeom prst="rect">
            <a:avLst/>
          </a:prstGeom>
          <a:ln>
            <a:solidFill>
              <a:schemeClr val="tx1"/>
            </a:solidFill>
          </a:ln>
        </p:spPr>
        <p:txBody>
          <a:bodyPr wrap="square">
            <a:spAutoFit/>
          </a:bodyPr>
          <a:lstStyle/>
          <a:p>
            <a:r>
              <a:rPr lang="en-US" dirty="0">
                <a:solidFill>
                  <a:srgbClr val="2FB41D"/>
                </a:solidFill>
                <a:latin typeface="Menlo" panose="020B0609030804020204" pitchFamily="49" charset="0"/>
              </a:rPr>
              <a:t>void</a:t>
            </a:r>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test4</a:t>
            </a:r>
            <a:r>
              <a:rPr lang="en-US" dirty="0">
                <a:solidFill>
                  <a:srgbClr val="000000"/>
                </a:solidFill>
                <a:latin typeface="Menlo" panose="020B0609030804020204" pitchFamily="49" charset="0"/>
              </a:rPr>
              <a:t>(</a:t>
            </a:r>
            <a:r>
              <a:rPr lang="en-US" dirty="0">
                <a:solidFill>
                  <a:srgbClr val="2FB41D"/>
                </a:solidFill>
                <a:highlight>
                  <a:srgbClr val="FFFF00"/>
                </a:highlight>
                <a:latin typeface="Menlo" panose="020B0609030804020204" pitchFamily="49" charset="0"/>
              </a:rPr>
              <a:t>float</a:t>
            </a:r>
            <a:r>
              <a:rPr lang="en-US" dirty="0">
                <a:solidFill>
                  <a:srgbClr val="000000"/>
                </a:solidFill>
                <a:highlight>
                  <a:srgbClr val="FFFF00"/>
                </a:highlight>
                <a:latin typeface="Menlo" panose="020B0609030804020204" pitchFamily="49" charset="0"/>
              </a:rPr>
              <a:t> &amp;</a:t>
            </a:r>
            <a:r>
              <a:rPr lang="en-US" dirty="0">
                <a:solidFill>
                  <a:srgbClr val="9FA01C"/>
                </a:solidFill>
                <a:highlight>
                  <a:srgbClr val="FFFF00"/>
                </a:highlight>
                <a:latin typeface="Menlo" panose="020B0609030804020204" pitchFamily="49" charset="0"/>
              </a:rPr>
              <a:t>x</a:t>
            </a:r>
            <a:r>
              <a:rPr lang="en-US" dirty="0">
                <a:solidFill>
                  <a:srgbClr val="000000"/>
                </a:solidFill>
                <a:latin typeface="Menlo" panose="020B0609030804020204" pitchFamily="49" charset="0"/>
              </a:rPr>
              <a:t>) {</a:t>
            </a:r>
          </a:p>
          <a:p>
            <a:r>
              <a:rPr lang="en-US" dirty="0">
                <a:solidFill>
                  <a:srgbClr val="000000"/>
                </a:solidFill>
                <a:latin typeface="Menlo" panose="020B0609030804020204" pitchFamily="49" charset="0"/>
              </a:rPr>
              <a:t>  </a:t>
            </a:r>
            <a:r>
              <a:rPr lang="en-US" dirty="0">
                <a:solidFill>
                  <a:srgbClr val="2FB41D"/>
                </a:solidFill>
                <a:highlight>
                  <a:srgbClr val="00FF00"/>
                </a:highlight>
                <a:latin typeface="Menlo" panose="020B0609030804020204" pitchFamily="49" charset="0"/>
              </a:rPr>
              <a:t>int</a:t>
            </a:r>
            <a:r>
              <a:rPr lang="en-US" dirty="0">
                <a:solidFill>
                  <a:srgbClr val="000000"/>
                </a:solidFill>
                <a:highlight>
                  <a:srgbClr val="00FF00"/>
                </a:highlight>
                <a:latin typeface="Menlo" panose="020B0609030804020204" pitchFamily="49" charset="0"/>
              </a:rPr>
              <a:t> </a:t>
            </a:r>
            <a:r>
              <a:rPr lang="en-US" dirty="0" err="1">
                <a:solidFill>
                  <a:srgbClr val="9FA01C"/>
                </a:solidFill>
                <a:highlight>
                  <a:srgbClr val="00FF00"/>
                </a:highlight>
                <a:latin typeface="Menlo" panose="020B0609030804020204" pitchFamily="49" charset="0"/>
              </a:rPr>
              <a:t>i</a:t>
            </a:r>
            <a:r>
              <a:rPr lang="en-US" dirty="0">
                <a:solidFill>
                  <a:srgbClr val="000000"/>
                </a:solidFill>
                <a:highlight>
                  <a:srgbClr val="00FF00"/>
                </a:highlight>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for</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 0;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&lt; 100;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+ 1) {</a:t>
            </a:r>
          </a:p>
          <a:p>
            <a:r>
              <a:rPr lang="en-US" dirty="0">
                <a:solidFill>
                  <a:srgbClr val="000000"/>
                </a:solidFill>
                <a:latin typeface="Menlo" panose="020B0609030804020204" pitchFamily="49" charset="0"/>
              </a:rPr>
              <a:t>    x =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p>
          <a:p>
            <a:r>
              <a:rPr lang="en-US" dirty="0">
                <a:solidFill>
                  <a:srgbClr val="000000"/>
                </a:solidFill>
                <a:latin typeface="Menlo" panose="020B0609030804020204" pitchFamily="49" charset="0"/>
              </a:rPr>
              <a:t>}</a:t>
            </a:r>
            <a:endParaRPr lang="en-US" dirty="0">
              <a:solidFill>
                <a:srgbClr val="000000"/>
              </a:solidFill>
              <a:effectLst/>
              <a:latin typeface="Menlo" panose="020B0609030804020204" pitchFamily="49" charset="0"/>
            </a:endParaRPr>
          </a:p>
        </p:txBody>
      </p:sp>
      <p:sp>
        <p:nvSpPr>
          <p:cNvPr id="3" name="TextBox 2">
            <a:extLst>
              <a:ext uri="{FF2B5EF4-FFF2-40B4-BE49-F238E27FC236}">
                <a16:creationId xmlns:a16="http://schemas.microsoft.com/office/drawing/2014/main" id="{D9F05F25-4077-9BCD-FF5F-59A89F7E00F0}"/>
              </a:ext>
            </a:extLst>
          </p:cNvPr>
          <p:cNvSpPr txBox="1"/>
          <p:nvPr/>
        </p:nvSpPr>
        <p:spPr>
          <a:xfrm>
            <a:off x="8936667" y="4558056"/>
            <a:ext cx="1982972" cy="369332"/>
          </a:xfrm>
          <a:prstGeom prst="rect">
            <a:avLst/>
          </a:prstGeom>
          <a:noFill/>
        </p:spPr>
        <p:txBody>
          <a:bodyPr wrap="square" rtlCol="0">
            <a:spAutoFit/>
          </a:bodyPr>
          <a:lstStyle/>
          <a:p>
            <a:r>
              <a:rPr lang="en-US" dirty="0">
                <a:highlight>
                  <a:srgbClr val="00FF00"/>
                </a:highlight>
              </a:rPr>
              <a:t>&lt;= Code generated</a:t>
            </a:r>
          </a:p>
        </p:txBody>
      </p:sp>
      <p:sp>
        <p:nvSpPr>
          <p:cNvPr id="6" name="TextBox 5">
            <a:extLst>
              <a:ext uri="{FF2B5EF4-FFF2-40B4-BE49-F238E27FC236}">
                <a16:creationId xmlns:a16="http://schemas.microsoft.com/office/drawing/2014/main" id="{280AA2A8-1DBD-0E5C-2E90-66D4044ED6CB}"/>
              </a:ext>
            </a:extLst>
          </p:cNvPr>
          <p:cNvSpPr txBox="1"/>
          <p:nvPr/>
        </p:nvSpPr>
        <p:spPr>
          <a:xfrm>
            <a:off x="6490961" y="1518328"/>
            <a:ext cx="4504765" cy="1569660"/>
          </a:xfrm>
          <a:prstGeom prst="rect">
            <a:avLst/>
          </a:prstGeom>
          <a:noFill/>
        </p:spPr>
        <p:txBody>
          <a:bodyPr wrap="square" rtlCol="0">
            <a:spAutoFit/>
          </a:bodyPr>
          <a:lstStyle/>
          <a:p>
            <a:r>
              <a:rPr lang="en-US" sz="2400" dirty="0"/>
              <a:t>This is simpler, you can assign a VR to a VR, since the type is being tracked by the AST, so you can do a VR assignment.</a:t>
            </a:r>
          </a:p>
        </p:txBody>
      </p:sp>
      <p:cxnSp>
        <p:nvCxnSpPr>
          <p:cNvPr id="10" name="Straight Connector 9">
            <a:extLst>
              <a:ext uri="{FF2B5EF4-FFF2-40B4-BE49-F238E27FC236}">
                <a16:creationId xmlns:a16="http://schemas.microsoft.com/office/drawing/2014/main" id="{D7DDD53E-87D5-2630-7BBD-A9AE1E8F5A7C}"/>
              </a:ext>
            </a:extLst>
          </p:cNvPr>
          <p:cNvCxnSpPr>
            <a:cxnSpLocks/>
          </p:cNvCxnSpPr>
          <p:nvPr/>
        </p:nvCxnSpPr>
        <p:spPr>
          <a:xfrm flipV="1">
            <a:off x="7947467" y="4908987"/>
            <a:ext cx="366550" cy="489960"/>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DA245979-92C4-02A2-9240-08262F0748F1}"/>
              </a:ext>
            </a:extLst>
          </p:cNvPr>
          <p:cNvSpPr txBox="1"/>
          <p:nvPr/>
        </p:nvSpPr>
        <p:spPr>
          <a:xfrm>
            <a:off x="7499372" y="5398947"/>
            <a:ext cx="2791714" cy="369332"/>
          </a:xfrm>
          <a:prstGeom prst="rect">
            <a:avLst/>
          </a:prstGeom>
          <a:noFill/>
        </p:spPr>
        <p:txBody>
          <a:bodyPr wrap="square" rtlCol="0">
            <a:spAutoFit/>
          </a:bodyPr>
          <a:lstStyle/>
          <a:p>
            <a:r>
              <a:rPr lang="en-US" dirty="0"/>
              <a:t>Value is the name of the id</a:t>
            </a:r>
          </a:p>
        </p:txBody>
      </p:sp>
      <p:sp>
        <p:nvSpPr>
          <p:cNvPr id="12" name="TextBox 11">
            <a:extLst>
              <a:ext uri="{FF2B5EF4-FFF2-40B4-BE49-F238E27FC236}">
                <a16:creationId xmlns:a16="http://schemas.microsoft.com/office/drawing/2014/main" id="{8E60ED70-B144-90B3-267D-B34D3D0854EB}"/>
              </a:ext>
            </a:extLst>
          </p:cNvPr>
          <p:cNvSpPr txBox="1"/>
          <p:nvPr/>
        </p:nvSpPr>
        <p:spPr>
          <a:xfrm>
            <a:off x="2245659" y="2714499"/>
            <a:ext cx="1479176" cy="369332"/>
          </a:xfrm>
          <a:prstGeom prst="rect">
            <a:avLst/>
          </a:prstGeom>
          <a:noFill/>
        </p:spPr>
        <p:txBody>
          <a:bodyPr wrap="square" rtlCol="0">
            <a:spAutoFit/>
          </a:bodyPr>
          <a:lstStyle/>
          <a:p>
            <a:r>
              <a:rPr lang="en-US" dirty="0">
                <a:highlight>
                  <a:srgbClr val="FFFF00"/>
                </a:highlight>
              </a:rPr>
              <a:t>IO variables</a:t>
            </a:r>
          </a:p>
        </p:txBody>
      </p:sp>
    </p:spTree>
    <p:extLst>
      <p:ext uri="{BB962C8B-B14F-4D97-AF65-F5344CB8AC3E}">
        <p14:creationId xmlns:p14="http://schemas.microsoft.com/office/powerpoint/2010/main" val="32690122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AE0790-AAE7-E442-BF58-E06983DA75E7}"/>
              </a:ext>
            </a:extLst>
          </p:cNvPr>
          <p:cNvSpPr/>
          <p:nvPr/>
        </p:nvSpPr>
        <p:spPr>
          <a:xfrm>
            <a:off x="612249" y="1095453"/>
            <a:ext cx="2724647" cy="646331"/>
          </a:xfrm>
          <a:prstGeom prst="rect">
            <a:avLst/>
          </a:prstGeom>
        </p:spPr>
        <p:txBody>
          <a:bodyPr wrap="square">
            <a:spAutoFit/>
          </a:bodyPr>
          <a:lstStyle/>
          <a:p>
            <a:r>
              <a:rPr lang="en-US" dirty="0">
                <a:latin typeface="Courier" pitchFamily="2" charset="0"/>
                <a:ea typeface="Calibri" panose="020F0502020204030204" pitchFamily="34" charset="0"/>
                <a:cs typeface="Times New Roman" panose="02020603050405020304" pitchFamily="18" charset="0"/>
              </a:rPr>
              <a:t>unit := ID </a:t>
            </a:r>
          </a:p>
          <a:p>
            <a:r>
              <a:rPr lang="en-US" dirty="0">
                <a:latin typeface="Courier" pitchFamily="2" charset="0"/>
                <a:ea typeface="Calibri" panose="020F0502020204030204" pitchFamily="34" charset="0"/>
                <a:cs typeface="Times New Roman" panose="02020603050405020304" pitchFamily="18" charset="0"/>
              </a:rPr>
              <a:t>     |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1609FF41-5AA1-5F4B-95F9-EB6737D7F1A2}"/>
              </a:ext>
            </a:extLst>
          </p:cNvPr>
          <p:cNvSpPr txBox="1"/>
          <p:nvPr/>
        </p:nvSpPr>
        <p:spPr>
          <a:xfrm>
            <a:off x="3336896" y="1372452"/>
            <a:ext cx="5969583" cy="369332"/>
          </a:xfrm>
          <a:prstGeom prst="rect">
            <a:avLst/>
          </a:prstGeom>
          <a:noFill/>
        </p:spPr>
        <p:txBody>
          <a:bodyPr wrap="none" rtlCol="0">
            <a:spAutoFit/>
          </a:bodyPr>
          <a:lstStyle/>
          <a:p>
            <a:r>
              <a:rPr lang="en-US" i="1" dirty="0"/>
              <a:t>How do we know whether to make an IO node or a Var node?</a:t>
            </a:r>
          </a:p>
        </p:txBody>
      </p:sp>
      <p:sp>
        <p:nvSpPr>
          <p:cNvPr id="6" name="TextBox 5">
            <a:extLst>
              <a:ext uri="{FF2B5EF4-FFF2-40B4-BE49-F238E27FC236}">
                <a16:creationId xmlns:a16="http://schemas.microsoft.com/office/drawing/2014/main" id="{53D240A9-0892-A747-B13D-5625B33D333F}"/>
              </a:ext>
            </a:extLst>
          </p:cNvPr>
          <p:cNvSpPr txBox="1"/>
          <p:nvPr/>
        </p:nvSpPr>
        <p:spPr>
          <a:xfrm>
            <a:off x="612249" y="1948070"/>
            <a:ext cx="6877879" cy="1754326"/>
          </a:xfrm>
          <a:prstGeom prst="rect">
            <a:avLst/>
          </a:prstGeom>
          <a:noFill/>
        </p:spPr>
        <p:txBody>
          <a:bodyPr wrap="square" rtlCol="0">
            <a:spAutoFit/>
          </a:bodyPr>
          <a:lstStyle/>
          <a:p>
            <a:r>
              <a:rPr lang="en-US" dirty="0">
                <a:latin typeface="Courier" pitchFamily="2" charset="0"/>
              </a:rPr>
              <a:t>{</a:t>
            </a:r>
          </a:p>
          <a:p>
            <a:r>
              <a:rPr lang="en-US" dirty="0">
                <a:latin typeface="Courier" pitchFamily="2" charset="0"/>
              </a:rPr>
              <a:t>   </a:t>
            </a:r>
            <a:r>
              <a:rPr lang="en-US" dirty="0" err="1">
                <a:latin typeface="Courier" pitchFamily="2" charset="0"/>
              </a:rPr>
              <a:t>id_name</a:t>
            </a:r>
            <a:r>
              <a:rPr lang="en-US" dirty="0">
                <a:latin typeface="Courier" pitchFamily="2" charset="0"/>
              </a:rPr>
              <a:t> = </a:t>
            </a:r>
            <a:r>
              <a:rPr lang="en-US" dirty="0" err="1">
                <a:latin typeface="Courier" pitchFamily="2" charset="0"/>
              </a:rPr>
              <a:t>self.to_match</a:t>
            </a:r>
            <a:r>
              <a:rPr lang="en-US" dirty="0">
                <a:latin typeface="Courier" pitchFamily="2" charset="0"/>
              </a:rPr>
              <a:t>[1]</a:t>
            </a:r>
          </a:p>
          <a:p>
            <a:r>
              <a:rPr lang="en-US" dirty="0">
                <a:latin typeface="Courier" pitchFamily="2" charset="0"/>
              </a:rPr>
              <a:t>   </a:t>
            </a:r>
            <a:r>
              <a:rPr lang="en-US" dirty="0" err="1">
                <a:latin typeface="Courier" pitchFamily="2" charset="0"/>
              </a:rPr>
              <a:t>data_type</a:t>
            </a:r>
            <a:r>
              <a:rPr lang="en-US" dirty="0">
                <a:latin typeface="Courier" pitchFamily="2" charset="0"/>
              </a:rPr>
              <a:t> = # get type from symbol table</a:t>
            </a:r>
          </a:p>
          <a:p>
            <a:r>
              <a:rPr lang="en-US" dirty="0">
                <a:latin typeface="Courier" pitchFamily="2" charset="0"/>
              </a:rPr>
              <a:t>   eat(“ID”)</a:t>
            </a:r>
          </a:p>
          <a:p>
            <a:r>
              <a:rPr lang="en-US" dirty="0">
                <a:latin typeface="Courier" pitchFamily="2" charset="0"/>
              </a:rPr>
              <a:t>   </a:t>
            </a:r>
            <a:r>
              <a:rPr lang="en-US" b="1" dirty="0">
                <a:latin typeface="Courier" pitchFamily="2" charset="0"/>
              </a:rPr>
              <a:t>return</a:t>
            </a:r>
            <a:r>
              <a:rPr lang="en-US" dirty="0">
                <a:latin typeface="Courier" pitchFamily="2" charset="0"/>
              </a:rPr>
              <a:t> </a:t>
            </a:r>
            <a:r>
              <a:rPr lang="en-US" dirty="0" err="1">
                <a:highlight>
                  <a:srgbClr val="FFFF00"/>
                </a:highlight>
                <a:latin typeface="Courier" pitchFamily="2" charset="0"/>
              </a:rPr>
              <a:t>ASTIDNode</a:t>
            </a:r>
            <a:r>
              <a:rPr lang="en-US" dirty="0">
                <a:latin typeface="Courier" pitchFamily="2" charset="0"/>
              </a:rPr>
              <a:t>(</a:t>
            </a:r>
            <a:r>
              <a:rPr lang="en-US" dirty="0" err="1">
                <a:latin typeface="Courier" pitchFamily="2" charset="0"/>
              </a:rPr>
              <a:t>id_name</a:t>
            </a:r>
            <a:r>
              <a:rPr lang="en-US" dirty="0">
                <a:latin typeface="Courier" pitchFamily="2" charset="0"/>
              </a:rPr>
              <a:t>, </a:t>
            </a:r>
            <a:r>
              <a:rPr lang="en-US" dirty="0" err="1">
                <a:latin typeface="Courier" pitchFamily="2" charset="0"/>
              </a:rPr>
              <a:t>data_type</a:t>
            </a:r>
            <a:r>
              <a:rPr lang="en-US" dirty="0">
                <a:latin typeface="Courier" pitchFamily="2" charset="0"/>
              </a:rPr>
              <a:t>)</a:t>
            </a:r>
          </a:p>
          <a:p>
            <a:r>
              <a:rPr lang="en-US" dirty="0">
                <a:latin typeface="Courier" pitchFamily="2" charset="0"/>
              </a:rPr>
              <a:t>}</a:t>
            </a:r>
          </a:p>
        </p:txBody>
      </p:sp>
      <p:sp>
        <p:nvSpPr>
          <p:cNvPr id="2" name="TextBox 1">
            <a:extLst>
              <a:ext uri="{FF2B5EF4-FFF2-40B4-BE49-F238E27FC236}">
                <a16:creationId xmlns:a16="http://schemas.microsoft.com/office/drawing/2014/main" id="{CC542D58-0189-9B40-9E88-37D087A42EAC}"/>
              </a:ext>
            </a:extLst>
          </p:cNvPr>
          <p:cNvSpPr txBox="1"/>
          <p:nvPr/>
        </p:nvSpPr>
        <p:spPr>
          <a:xfrm>
            <a:off x="355157" y="438312"/>
            <a:ext cx="5300041" cy="369332"/>
          </a:xfrm>
          <a:prstGeom prst="rect">
            <a:avLst/>
          </a:prstGeom>
          <a:noFill/>
        </p:spPr>
        <p:txBody>
          <a:bodyPr wrap="none" rtlCol="0">
            <a:spAutoFit/>
          </a:bodyPr>
          <a:lstStyle/>
          <a:p>
            <a:r>
              <a:rPr lang="en-US" dirty="0"/>
              <a:t>building an expression AST, we parse a unit at the base</a:t>
            </a:r>
          </a:p>
        </p:txBody>
      </p:sp>
      <p:sp>
        <p:nvSpPr>
          <p:cNvPr id="3" name="TextBox 2">
            <a:extLst>
              <a:ext uri="{FF2B5EF4-FFF2-40B4-BE49-F238E27FC236}">
                <a16:creationId xmlns:a16="http://schemas.microsoft.com/office/drawing/2014/main" id="{057A1280-0727-5B43-84F1-2CD10AAEAD39}"/>
              </a:ext>
            </a:extLst>
          </p:cNvPr>
          <p:cNvSpPr txBox="1"/>
          <p:nvPr/>
        </p:nvSpPr>
        <p:spPr>
          <a:xfrm>
            <a:off x="3005177" y="3793067"/>
            <a:ext cx="3473259" cy="369332"/>
          </a:xfrm>
          <a:prstGeom prst="rect">
            <a:avLst/>
          </a:prstGeom>
          <a:noFill/>
        </p:spPr>
        <p:txBody>
          <a:bodyPr wrap="none" rtlCol="0">
            <a:spAutoFit/>
          </a:bodyPr>
          <a:lstStyle/>
          <a:p>
            <a:r>
              <a:rPr lang="en-US" i="1" dirty="0"/>
              <a:t>Previously we had just one ID node</a:t>
            </a:r>
          </a:p>
        </p:txBody>
      </p:sp>
    </p:spTree>
    <p:extLst>
      <p:ext uri="{BB962C8B-B14F-4D97-AF65-F5344CB8AC3E}">
        <p14:creationId xmlns:p14="http://schemas.microsoft.com/office/powerpoint/2010/main" val="391401164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AE0790-AAE7-E442-BF58-E06983DA75E7}"/>
              </a:ext>
            </a:extLst>
          </p:cNvPr>
          <p:cNvSpPr/>
          <p:nvPr/>
        </p:nvSpPr>
        <p:spPr>
          <a:xfrm>
            <a:off x="612249" y="1095453"/>
            <a:ext cx="2724647" cy="646331"/>
          </a:xfrm>
          <a:prstGeom prst="rect">
            <a:avLst/>
          </a:prstGeom>
        </p:spPr>
        <p:txBody>
          <a:bodyPr wrap="square">
            <a:spAutoFit/>
          </a:bodyPr>
          <a:lstStyle/>
          <a:p>
            <a:r>
              <a:rPr lang="en-US" dirty="0">
                <a:latin typeface="Courier" pitchFamily="2" charset="0"/>
                <a:ea typeface="Calibri" panose="020F0502020204030204" pitchFamily="34" charset="0"/>
                <a:cs typeface="Times New Roman" panose="02020603050405020304" pitchFamily="18" charset="0"/>
              </a:rPr>
              <a:t>unit := ID </a:t>
            </a:r>
          </a:p>
          <a:p>
            <a:r>
              <a:rPr lang="en-US" dirty="0">
                <a:latin typeface="Courier" pitchFamily="2" charset="0"/>
                <a:ea typeface="Calibri" panose="020F0502020204030204" pitchFamily="34" charset="0"/>
                <a:cs typeface="Times New Roman" panose="02020603050405020304" pitchFamily="18" charset="0"/>
              </a:rPr>
              <a:t>     |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1609FF41-5AA1-5F4B-95F9-EB6737D7F1A2}"/>
              </a:ext>
            </a:extLst>
          </p:cNvPr>
          <p:cNvSpPr txBox="1"/>
          <p:nvPr/>
        </p:nvSpPr>
        <p:spPr>
          <a:xfrm>
            <a:off x="3336896" y="1372452"/>
            <a:ext cx="5969583" cy="369332"/>
          </a:xfrm>
          <a:prstGeom prst="rect">
            <a:avLst/>
          </a:prstGeom>
          <a:noFill/>
        </p:spPr>
        <p:txBody>
          <a:bodyPr wrap="none" rtlCol="0">
            <a:spAutoFit/>
          </a:bodyPr>
          <a:lstStyle/>
          <a:p>
            <a:r>
              <a:rPr lang="en-US" i="1" dirty="0"/>
              <a:t>How do we know whether to make an IO node or a Var node?</a:t>
            </a:r>
          </a:p>
        </p:txBody>
      </p:sp>
      <p:sp>
        <p:nvSpPr>
          <p:cNvPr id="6" name="TextBox 5">
            <a:extLst>
              <a:ext uri="{FF2B5EF4-FFF2-40B4-BE49-F238E27FC236}">
                <a16:creationId xmlns:a16="http://schemas.microsoft.com/office/drawing/2014/main" id="{53D240A9-0892-A747-B13D-5625B33D333F}"/>
              </a:ext>
            </a:extLst>
          </p:cNvPr>
          <p:cNvSpPr txBox="1"/>
          <p:nvPr/>
        </p:nvSpPr>
        <p:spPr>
          <a:xfrm>
            <a:off x="612249" y="1948070"/>
            <a:ext cx="6877879" cy="1754326"/>
          </a:xfrm>
          <a:prstGeom prst="rect">
            <a:avLst/>
          </a:prstGeom>
          <a:noFill/>
        </p:spPr>
        <p:txBody>
          <a:bodyPr wrap="square" rtlCol="0">
            <a:spAutoFit/>
          </a:bodyPr>
          <a:lstStyle/>
          <a:p>
            <a:r>
              <a:rPr lang="en-US" dirty="0">
                <a:latin typeface="Courier" pitchFamily="2" charset="0"/>
              </a:rPr>
              <a:t>{</a:t>
            </a:r>
          </a:p>
          <a:p>
            <a:r>
              <a:rPr lang="en-US" dirty="0">
                <a:latin typeface="Courier" pitchFamily="2" charset="0"/>
              </a:rPr>
              <a:t>   </a:t>
            </a:r>
            <a:r>
              <a:rPr lang="en-US" dirty="0" err="1">
                <a:latin typeface="Courier" pitchFamily="2" charset="0"/>
              </a:rPr>
              <a:t>id_name</a:t>
            </a:r>
            <a:r>
              <a:rPr lang="en-US" dirty="0">
                <a:latin typeface="Courier" pitchFamily="2" charset="0"/>
              </a:rPr>
              <a:t> = </a:t>
            </a:r>
            <a:r>
              <a:rPr lang="en-US" dirty="0" err="1">
                <a:latin typeface="Courier" pitchFamily="2" charset="0"/>
              </a:rPr>
              <a:t>self.to_match</a:t>
            </a:r>
            <a:r>
              <a:rPr lang="en-US" dirty="0">
                <a:latin typeface="Courier" pitchFamily="2" charset="0"/>
              </a:rPr>
              <a:t>[1]</a:t>
            </a:r>
          </a:p>
          <a:p>
            <a:r>
              <a:rPr lang="en-US" dirty="0">
                <a:latin typeface="Courier" pitchFamily="2" charset="0"/>
              </a:rPr>
              <a:t>   </a:t>
            </a:r>
            <a:r>
              <a:rPr lang="en-US" dirty="0" err="1">
                <a:highlight>
                  <a:srgbClr val="FFFF00"/>
                </a:highlight>
                <a:latin typeface="Courier" pitchFamily="2" charset="0"/>
              </a:rPr>
              <a:t>data_type</a:t>
            </a:r>
            <a:r>
              <a:rPr lang="en-US" dirty="0">
                <a:highlight>
                  <a:srgbClr val="FFFF00"/>
                </a:highlight>
                <a:latin typeface="Courier" pitchFamily="2" charset="0"/>
              </a:rPr>
              <a:t> </a:t>
            </a:r>
            <a:r>
              <a:rPr lang="en-US" dirty="0">
                <a:latin typeface="Courier" pitchFamily="2" charset="0"/>
              </a:rPr>
              <a:t>= # </a:t>
            </a:r>
            <a:r>
              <a:rPr lang="en-US" b="1" dirty="0">
                <a:latin typeface="Courier" pitchFamily="2" charset="0"/>
              </a:rPr>
              <a:t>get type from symbol table</a:t>
            </a:r>
          </a:p>
          <a:p>
            <a:r>
              <a:rPr lang="en-US" dirty="0">
                <a:latin typeface="Courier" pitchFamily="2" charset="0"/>
              </a:rPr>
              <a:t>   eat(“ID”)</a:t>
            </a:r>
          </a:p>
          <a:p>
            <a:r>
              <a:rPr lang="en-US" dirty="0">
                <a:latin typeface="Courier" pitchFamily="2" charset="0"/>
              </a:rPr>
              <a:t>   </a:t>
            </a:r>
            <a:r>
              <a:rPr lang="en-US" b="1" dirty="0">
                <a:latin typeface="Courier" pitchFamily="2" charset="0"/>
              </a:rPr>
              <a:t>return</a:t>
            </a:r>
            <a:r>
              <a:rPr lang="en-US" dirty="0">
                <a:latin typeface="Courier" pitchFamily="2" charset="0"/>
              </a:rPr>
              <a:t> </a:t>
            </a:r>
            <a:r>
              <a:rPr lang="en-US" dirty="0" err="1">
                <a:latin typeface="Courier" pitchFamily="2" charset="0"/>
              </a:rPr>
              <a:t>ASTIDNode</a:t>
            </a:r>
            <a:r>
              <a:rPr lang="en-US" dirty="0">
                <a:latin typeface="Courier" pitchFamily="2" charset="0"/>
              </a:rPr>
              <a:t>(</a:t>
            </a:r>
            <a:r>
              <a:rPr lang="en-US" dirty="0" err="1">
                <a:latin typeface="Courier" pitchFamily="2" charset="0"/>
              </a:rPr>
              <a:t>id_name</a:t>
            </a:r>
            <a:r>
              <a:rPr lang="en-US" dirty="0">
                <a:latin typeface="Courier" pitchFamily="2" charset="0"/>
              </a:rPr>
              <a:t>, </a:t>
            </a:r>
            <a:r>
              <a:rPr lang="en-US" dirty="0" err="1">
                <a:latin typeface="Courier" pitchFamily="2" charset="0"/>
              </a:rPr>
              <a:t>data_type</a:t>
            </a:r>
            <a:r>
              <a:rPr lang="en-US" dirty="0">
                <a:latin typeface="Courier" pitchFamily="2" charset="0"/>
              </a:rPr>
              <a:t>)</a:t>
            </a:r>
          </a:p>
          <a:p>
            <a:r>
              <a:rPr lang="en-US" dirty="0">
                <a:latin typeface="Courier" pitchFamily="2" charset="0"/>
              </a:rPr>
              <a:t>}</a:t>
            </a:r>
          </a:p>
        </p:txBody>
      </p:sp>
      <p:sp>
        <p:nvSpPr>
          <p:cNvPr id="2" name="TextBox 1">
            <a:extLst>
              <a:ext uri="{FF2B5EF4-FFF2-40B4-BE49-F238E27FC236}">
                <a16:creationId xmlns:a16="http://schemas.microsoft.com/office/drawing/2014/main" id="{CC542D58-0189-9B40-9E88-37D087A42EAC}"/>
              </a:ext>
            </a:extLst>
          </p:cNvPr>
          <p:cNvSpPr txBox="1"/>
          <p:nvPr/>
        </p:nvSpPr>
        <p:spPr>
          <a:xfrm>
            <a:off x="355157" y="438312"/>
            <a:ext cx="5300041" cy="369332"/>
          </a:xfrm>
          <a:prstGeom prst="rect">
            <a:avLst/>
          </a:prstGeom>
          <a:noFill/>
        </p:spPr>
        <p:txBody>
          <a:bodyPr wrap="none" rtlCol="0">
            <a:spAutoFit/>
          </a:bodyPr>
          <a:lstStyle/>
          <a:p>
            <a:r>
              <a:rPr lang="en-US" dirty="0"/>
              <a:t>building an expression AST, we parse a unit at the base</a:t>
            </a:r>
          </a:p>
        </p:txBody>
      </p:sp>
    </p:spTree>
    <p:extLst>
      <p:ext uri="{BB962C8B-B14F-4D97-AF65-F5344CB8AC3E}">
        <p14:creationId xmlns:p14="http://schemas.microsoft.com/office/powerpoint/2010/main" val="36276870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AE0790-AAE7-E442-BF58-E06983DA75E7}"/>
              </a:ext>
            </a:extLst>
          </p:cNvPr>
          <p:cNvSpPr/>
          <p:nvPr/>
        </p:nvSpPr>
        <p:spPr>
          <a:xfrm>
            <a:off x="612249" y="1095453"/>
            <a:ext cx="2724647" cy="646331"/>
          </a:xfrm>
          <a:prstGeom prst="rect">
            <a:avLst/>
          </a:prstGeom>
        </p:spPr>
        <p:txBody>
          <a:bodyPr wrap="square">
            <a:spAutoFit/>
          </a:bodyPr>
          <a:lstStyle/>
          <a:p>
            <a:r>
              <a:rPr lang="en-US" dirty="0">
                <a:latin typeface="Courier" pitchFamily="2" charset="0"/>
                <a:ea typeface="Calibri" panose="020F0502020204030204" pitchFamily="34" charset="0"/>
                <a:cs typeface="Times New Roman" panose="02020603050405020304" pitchFamily="18" charset="0"/>
              </a:rPr>
              <a:t>unit := ID </a:t>
            </a:r>
          </a:p>
          <a:p>
            <a:r>
              <a:rPr lang="en-US" dirty="0">
                <a:latin typeface="Courier" pitchFamily="2" charset="0"/>
                <a:ea typeface="Calibri" panose="020F0502020204030204" pitchFamily="34" charset="0"/>
                <a:cs typeface="Times New Roman" panose="02020603050405020304" pitchFamily="18" charset="0"/>
              </a:rPr>
              <a:t>     |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1609FF41-5AA1-5F4B-95F9-EB6737D7F1A2}"/>
              </a:ext>
            </a:extLst>
          </p:cNvPr>
          <p:cNvSpPr txBox="1"/>
          <p:nvPr/>
        </p:nvSpPr>
        <p:spPr>
          <a:xfrm>
            <a:off x="3336896" y="1372452"/>
            <a:ext cx="5969583" cy="369332"/>
          </a:xfrm>
          <a:prstGeom prst="rect">
            <a:avLst/>
          </a:prstGeom>
          <a:noFill/>
        </p:spPr>
        <p:txBody>
          <a:bodyPr wrap="none" rtlCol="0">
            <a:spAutoFit/>
          </a:bodyPr>
          <a:lstStyle/>
          <a:p>
            <a:r>
              <a:rPr lang="en-US" i="1" dirty="0"/>
              <a:t>How do we know whether to make an IO node or a Var node?</a:t>
            </a:r>
          </a:p>
        </p:txBody>
      </p:sp>
      <p:sp>
        <p:nvSpPr>
          <p:cNvPr id="6" name="TextBox 5">
            <a:extLst>
              <a:ext uri="{FF2B5EF4-FFF2-40B4-BE49-F238E27FC236}">
                <a16:creationId xmlns:a16="http://schemas.microsoft.com/office/drawing/2014/main" id="{53D240A9-0892-A747-B13D-5625B33D333F}"/>
              </a:ext>
            </a:extLst>
          </p:cNvPr>
          <p:cNvSpPr txBox="1"/>
          <p:nvPr/>
        </p:nvSpPr>
        <p:spPr>
          <a:xfrm>
            <a:off x="612249" y="1948070"/>
            <a:ext cx="8507897" cy="1754326"/>
          </a:xfrm>
          <a:prstGeom prst="rect">
            <a:avLst/>
          </a:prstGeom>
          <a:noFill/>
        </p:spPr>
        <p:txBody>
          <a:bodyPr wrap="square" rtlCol="0">
            <a:spAutoFit/>
          </a:bodyPr>
          <a:lstStyle/>
          <a:p>
            <a:r>
              <a:rPr lang="en-US" dirty="0">
                <a:latin typeface="Courier" pitchFamily="2" charset="0"/>
              </a:rPr>
              <a:t>{</a:t>
            </a:r>
          </a:p>
          <a:p>
            <a:r>
              <a:rPr lang="en-US" dirty="0">
                <a:latin typeface="Courier" pitchFamily="2" charset="0"/>
              </a:rPr>
              <a:t>   </a:t>
            </a:r>
            <a:r>
              <a:rPr lang="en-US" dirty="0" err="1">
                <a:latin typeface="Courier" pitchFamily="2" charset="0"/>
              </a:rPr>
              <a:t>id_name</a:t>
            </a:r>
            <a:r>
              <a:rPr lang="en-US" dirty="0">
                <a:latin typeface="Courier" pitchFamily="2" charset="0"/>
              </a:rPr>
              <a:t> = </a:t>
            </a:r>
            <a:r>
              <a:rPr lang="en-US" dirty="0" err="1">
                <a:latin typeface="Courier" pitchFamily="2" charset="0"/>
              </a:rPr>
              <a:t>self.to_match</a:t>
            </a:r>
            <a:r>
              <a:rPr lang="en-US" dirty="0">
                <a:latin typeface="Courier" pitchFamily="2" charset="0"/>
              </a:rPr>
              <a:t>[1]</a:t>
            </a:r>
          </a:p>
          <a:p>
            <a:r>
              <a:rPr lang="en-US" dirty="0">
                <a:latin typeface="Courier" pitchFamily="2" charset="0"/>
              </a:rPr>
              <a:t>   </a:t>
            </a:r>
            <a:r>
              <a:rPr lang="en-US" dirty="0" err="1">
                <a:highlight>
                  <a:srgbClr val="FFFF00"/>
                </a:highlight>
                <a:latin typeface="Courier" pitchFamily="2" charset="0"/>
              </a:rPr>
              <a:t>id_data</a:t>
            </a:r>
            <a:r>
              <a:rPr lang="en-US" dirty="0">
                <a:highlight>
                  <a:srgbClr val="FFFF00"/>
                </a:highlight>
                <a:latin typeface="Courier" pitchFamily="2" charset="0"/>
              </a:rPr>
              <a:t> </a:t>
            </a:r>
            <a:r>
              <a:rPr lang="en-US" dirty="0">
                <a:latin typeface="Courier" pitchFamily="2" charset="0"/>
              </a:rPr>
              <a:t>= # get </a:t>
            </a:r>
            <a:r>
              <a:rPr lang="en-US" b="1" dirty="0" err="1">
                <a:latin typeface="Courier" pitchFamily="2" charset="0"/>
              </a:rPr>
              <a:t>id_data</a:t>
            </a:r>
            <a:r>
              <a:rPr lang="en-US" b="1" dirty="0">
                <a:latin typeface="Courier" pitchFamily="2" charset="0"/>
              </a:rPr>
              <a:t> from the symbol table</a:t>
            </a:r>
          </a:p>
          <a:p>
            <a:r>
              <a:rPr lang="en-US" dirty="0">
                <a:latin typeface="Courier" pitchFamily="2" charset="0"/>
              </a:rPr>
              <a:t>   eat(“ID”)</a:t>
            </a:r>
          </a:p>
          <a:p>
            <a:r>
              <a:rPr lang="en-US" dirty="0">
                <a:latin typeface="Courier" pitchFamily="2" charset="0"/>
              </a:rPr>
              <a:t>   </a:t>
            </a:r>
            <a:r>
              <a:rPr lang="en-US" b="1" dirty="0">
                <a:latin typeface="Courier" pitchFamily="2" charset="0"/>
              </a:rPr>
              <a:t>return</a:t>
            </a:r>
            <a:r>
              <a:rPr lang="en-US" dirty="0">
                <a:latin typeface="Courier" pitchFamily="2" charset="0"/>
              </a:rPr>
              <a:t> </a:t>
            </a:r>
            <a:r>
              <a:rPr lang="en-US" dirty="0" err="1">
                <a:latin typeface="Courier" pitchFamily="2" charset="0"/>
              </a:rPr>
              <a:t>ASTIDNode</a:t>
            </a:r>
            <a:r>
              <a:rPr lang="en-US" dirty="0">
                <a:latin typeface="Courier" pitchFamily="2" charset="0"/>
              </a:rPr>
              <a:t>(</a:t>
            </a:r>
            <a:r>
              <a:rPr lang="en-US" dirty="0" err="1">
                <a:latin typeface="Courier" pitchFamily="2" charset="0"/>
              </a:rPr>
              <a:t>id_name</a:t>
            </a:r>
            <a:r>
              <a:rPr lang="en-US" dirty="0">
                <a:latin typeface="Courier" pitchFamily="2" charset="0"/>
              </a:rPr>
              <a:t>, ...)</a:t>
            </a:r>
          </a:p>
          <a:p>
            <a:r>
              <a:rPr lang="en-US" dirty="0">
                <a:latin typeface="Courier" pitchFamily="2" charset="0"/>
              </a:rPr>
              <a:t>}</a:t>
            </a:r>
          </a:p>
        </p:txBody>
      </p:sp>
      <p:sp>
        <p:nvSpPr>
          <p:cNvPr id="2" name="TextBox 1">
            <a:extLst>
              <a:ext uri="{FF2B5EF4-FFF2-40B4-BE49-F238E27FC236}">
                <a16:creationId xmlns:a16="http://schemas.microsoft.com/office/drawing/2014/main" id="{CC542D58-0189-9B40-9E88-37D087A42EAC}"/>
              </a:ext>
            </a:extLst>
          </p:cNvPr>
          <p:cNvSpPr txBox="1"/>
          <p:nvPr/>
        </p:nvSpPr>
        <p:spPr>
          <a:xfrm>
            <a:off x="355157" y="438312"/>
            <a:ext cx="5300041" cy="369332"/>
          </a:xfrm>
          <a:prstGeom prst="rect">
            <a:avLst/>
          </a:prstGeom>
          <a:noFill/>
        </p:spPr>
        <p:txBody>
          <a:bodyPr wrap="none" rtlCol="0">
            <a:spAutoFit/>
          </a:bodyPr>
          <a:lstStyle/>
          <a:p>
            <a:r>
              <a:rPr lang="en-US" dirty="0"/>
              <a:t>building an expression AST, we parse a unit at the base</a:t>
            </a:r>
          </a:p>
        </p:txBody>
      </p:sp>
      <p:sp>
        <p:nvSpPr>
          <p:cNvPr id="3" name="TextBox 2">
            <a:extLst>
              <a:ext uri="{FF2B5EF4-FFF2-40B4-BE49-F238E27FC236}">
                <a16:creationId xmlns:a16="http://schemas.microsoft.com/office/drawing/2014/main" id="{D071145A-E7AD-AD44-A4EF-72FEA6B387EC}"/>
              </a:ext>
            </a:extLst>
          </p:cNvPr>
          <p:cNvSpPr txBox="1"/>
          <p:nvPr/>
        </p:nvSpPr>
        <p:spPr>
          <a:xfrm>
            <a:off x="1853472" y="4562218"/>
            <a:ext cx="3801725" cy="1200329"/>
          </a:xfrm>
          <a:prstGeom prst="rect">
            <a:avLst/>
          </a:prstGeom>
          <a:noFill/>
        </p:spPr>
        <p:txBody>
          <a:bodyPr wrap="square" rtlCol="0">
            <a:spAutoFit/>
          </a:bodyPr>
          <a:lstStyle/>
          <a:p>
            <a:r>
              <a:rPr lang="en-US" sz="2400" i="1" dirty="0" err="1"/>
              <a:t>id_data</a:t>
            </a:r>
            <a:r>
              <a:rPr lang="en-US" sz="2400" i="1" dirty="0"/>
              <a:t> should now contain:</a:t>
            </a:r>
          </a:p>
          <a:p>
            <a:r>
              <a:rPr lang="en-US" sz="2400" b="1" i="1" dirty="0">
                <a:highlight>
                  <a:srgbClr val="FFFF00"/>
                </a:highlight>
                <a:latin typeface="Courier" pitchFamily="2" charset="0"/>
              </a:rPr>
              <a:t>  </a:t>
            </a:r>
            <a:r>
              <a:rPr lang="en-US" sz="2400" b="1" i="1" dirty="0" err="1">
                <a:highlight>
                  <a:srgbClr val="FFFF00"/>
                </a:highlight>
                <a:latin typeface="Courier" pitchFamily="2" charset="0"/>
              </a:rPr>
              <a:t>id_type</a:t>
            </a:r>
            <a:r>
              <a:rPr lang="en-US" sz="2400" i="1" dirty="0">
                <a:highlight>
                  <a:srgbClr val="FFFF00"/>
                </a:highlight>
              </a:rPr>
              <a:t>: IO or Var</a:t>
            </a:r>
          </a:p>
          <a:p>
            <a:r>
              <a:rPr lang="en-US" sz="2400" b="1" i="1" dirty="0">
                <a:latin typeface="Courier" pitchFamily="2" charset="0"/>
              </a:rPr>
              <a:t>  </a:t>
            </a:r>
            <a:r>
              <a:rPr lang="en-US" sz="2400" b="1" i="1" dirty="0" err="1">
                <a:latin typeface="Courier" pitchFamily="2" charset="0"/>
              </a:rPr>
              <a:t>data_type</a:t>
            </a:r>
            <a:r>
              <a:rPr lang="en-US" sz="2400" i="1" dirty="0"/>
              <a:t>: int or float</a:t>
            </a:r>
          </a:p>
        </p:txBody>
      </p:sp>
    </p:spTree>
    <p:extLst>
      <p:ext uri="{BB962C8B-B14F-4D97-AF65-F5344CB8AC3E}">
        <p14:creationId xmlns:p14="http://schemas.microsoft.com/office/powerpoint/2010/main" val="423440357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AE0790-AAE7-E442-BF58-E06983DA75E7}"/>
              </a:ext>
            </a:extLst>
          </p:cNvPr>
          <p:cNvSpPr/>
          <p:nvPr/>
        </p:nvSpPr>
        <p:spPr>
          <a:xfrm>
            <a:off x="612249" y="1095453"/>
            <a:ext cx="2724647" cy="646331"/>
          </a:xfrm>
          <a:prstGeom prst="rect">
            <a:avLst/>
          </a:prstGeom>
        </p:spPr>
        <p:txBody>
          <a:bodyPr wrap="square">
            <a:spAutoFit/>
          </a:bodyPr>
          <a:lstStyle/>
          <a:p>
            <a:r>
              <a:rPr lang="en-US" dirty="0">
                <a:latin typeface="Courier" pitchFamily="2" charset="0"/>
                <a:ea typeface="Calibri" panose="020F0502020204030204" pitchFamily="34" charset="0"/>
                <a:cs typeface="Times New Roman" panose="02020603050405020304" pitchFamily="18" charset="0"/>
              </a:rPr>
              <a:t>unit := ID </a:t>
            </a:r>
          </a:p>
          <a:p>
            <a:r>
              <a:rPr lang="en-US" dirty="0">
                <a:latin typeface="Courier" pitchFamily="2" charset="0"/>
                <a:ea typeface="Calibri" panose="020F0502020204030204" pitchFamily="34" charset="0"/>
                <a:cs typeface="Times New Roman" panose="02020603050405020304" pitchFamily="18" charset="0"/>
              </a:rPr>
              <a:t>     |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1609FF41-5AA1-5F4B-95F9-EB6737D7F1A2}"/>
              </a:ext>
            </a:extLst>
          </p:cNvPr>
          <p:cNvSpPr txBox="1"/>
          <p:nvPr/>
        </p:nvSpPr>
        <p:spPr>
          <a:xfrm>
            <a:off x="3336896" y="1372452"/>
            <a:ext cx="5969583" cy="369332"/>
          </a:xfrm>
          <a:prstGeom prst="rect">
            <a:avLst/>
          </a:prstGeom>
          <a:noFill/>
        </p:spPr>
        <p:txBody>
          <a:bodyPr wrap="none" rtlCol="0">
            <a:spAutoFit/>
          </a:bodyPr>
          <a:lstStyle/>
          <a:p>
            <a:r>
              <a:rPr lang="en-US" i="1" dirty="0"/>
              <a:t>How do we know whether to make an IO node or a Var node?</a:t>
            </a:r>
          </a:p>
        </p:txBody>
      </p:sp>
      <p:sp>
        <p:nvSpPr>
          <p:cNvPr id="6" name="TextBox 5">
            <a:extLst>
              <a:ext uri="{FF2B5EF4-FFF2-40B4-BE49-F238E27FC236}">
                <a16:creationId xmlns:a16="http://schemas.microsoft.com/office/drawing/2014/main" id="{53D240A9-0892-A747-B13D-5625B33D333F}"/>
              </a:ext>
            </a:extLst>
          </p:cNvPr>
          <p:cNvSpPr txBox="1"/>
          <p:nvPr/>
        </p:nvSpPr>
        <p:spPr>
          <a:xfrm>
            <a:off x="1248355" y="1880133"/>
            <a:ext cx="8507897" cy="2862322"/>
          </a:xfrm>
          <a:prstGeom prst="rect">
            <a:avLst/>
          </a:prstGeom>
          <a:noFill/>
        </p:spPr>
        <p:txBody>
          <a:bodyPr wrap="square" rtlCol="0">
            <a:spAutoFit/>
          </a:bodyPr>
          <a:lstStyle/>
          <a:p>
            <a:r>
              <a:rPr lang="en-US" sz="2000" dirty="0">
                <a:latin typeface="Courier" pitchFamily="2" charset="0"/>
              </a:rPr>
              <a:t>{</a:t>
            </a:r>
          </a:p>
          <a:p>
            <a:r>
              <a:rPr lang="en-US" sz="2000" dirty="0">
                <a:latin typeface="Courier" pitchFamily="2" charset="0"/>
              </a:rPr>
              <a:t>   </a:t>
            </a:r>
            <a:r>
              <a:rPr lang="en-US" sz="2000" dirty="0" err="1">
                <a:latin typeface="Courier" pitchFamily="2" charset="0"/>
              </a:rPr>
              <a:t>id_name</a:t>
            </a:r>
            <a:r>
              <a:rPr lang="en-US" sz="2000" dirty="0">
                <a:latin typeface="Courier" pitchFamily="2" charset="0"/>
              </a:rPr>
              <a:t> = </a:t>
            </a:r>
            <a:r>
              <a:rPr lang="en-US" sz="2000" dirty="0" err="1">
                <a:latin typeface="Courier" pitchFamily="2" charset="0"/>
              </a:rPr>
              <a:t>self.to_match</a:t>
            </a:r>
            <a:r>
              <a:rPr lang="en-US" sz="2000" dirty="0">
                <a:latin typeface="Courier" pitchFamily="2" charset="0"/>
              </a:rPr>
              <a:t>[1]</a:t>
            </a:r>
          </a:p>
          <a:p>
            <a:r>
              <a:rPr lang="en-US" sz="2000" dirty="0">
                <a:latin typeface="Courier" pitchFamily="2" charset="0"/>
              </a:rPr>
              <a:t>   </a:t>
            </a:r>
            <a:r>
              <a:rPr lang="en-US" sz="2000" dirty="0" err="1">
                <a:highlight>
                  <a:srgbClr val="FFFF00"/>
                </a:highlight>
                <a:latin typeface="Courier" pitchFamily="2" charset="0"/>
              </a:rPr>
              <a:t>id_data</a:t>
            </a:r>
            <a:r>
              <a:rPr lang="en-US" sz="2000" dirty="0">
                <a:highlight>
                  <a:srgbClr val="FFFF00"/>
                </a:highlight>
                <a:latin typeface="Courier" pitchFamily="2" charset="0"/>
              </a:rPr>
              <a:t> </a:t>
            </a:r>
            <a:r>
              <a:rPr lang="en-US" sz="2000" dirty="0">
                <a:latin typeface="Courier" pitchFamily="2" charset="0"/>
              </a:rPr>
              <a:t>= </a:t>
            </a:r>
            <a:r>
              <a:rPr lang="en-US" sz="2000" dirty="0">
                <a:highlight>
                  <a:srgbClr val="00FF00"/>
                </a:highlight>
                <a:latin typeface="Courier" pitchFamily="2" charset="0"/>
              </a:rPr>
              <a:t># get </a:t>
            </a:r>
            <a:r>
              <a:rPr lang="en-US" sz="2000" dirty="0" err="1">
                <a:highlight>
                  <a:srgbClr val="00FF00"/>
                </a:highlight>
                <a:latin typeface="Courier" pitchFamily="2" charset="0"/>
              </a:rPr>
              <a:t>id_data</a:t>
            </a:r>
            <a:r>
              <a:rPr lang="en-US" sz="2000" dirty="0">
                <a:highlight>
                  <a:srgbClr val="00FF00"/>
                </a:highlight>
                <a:latin typeface="Courier" pitchFamily="2" charset="0"/>
              </a:rPr>
              <a:t> from the symbol table</a:t>
            </a:r>
          </a:p>
          <a:p>
            <a:r>
              <a:rPr lang="en-US" sz="2000" dirty="0">
                <a:latin typeface="Courier" pitchFamily="2" charset="0"/>
              </a:rPr>
              <a:t>   eat(“ID”)</a:t>
            </a:r>
          </a:p>
          <a:p>
            <a:r>
              <a:rPr lang="en-US" sz="2000" dirty="0">
                <a:latin typeface="Courier" pitchFamily="2" charset="0"/>
              </a:rPr>
              <a:t>   if (</a:t>
            </a:r>
            <a:r>
              <a:rPr lang="en-US" sz="2000" dirty="0" err="1">
                <a:highlight>
                  <a:srgbClr val="FFFF00"/>
                </a:highlight>
                <a:latin typeface="Courier" pitchFamily="2" charset="0"/>
              </a:rPr>
              <a:t>id_data</a:t>
            </a:r>
            <a:r>
              <a:rPr lang="en-US" sz="2000" dirty="0" err="1">
                <a:latin typeface="Courier" pitchFamily="2" charset="0"/>
              </a:rPr>
              <a:t>.id_type</a:t>
            </a:r>
            <a:r>
              <a:rPr lang="en-US" sz="2000" dirty="0">
                <a:latin typeface="Courier" pitchFamily="2" charset="0"/>
              </a:rPr>
              <a:t> == IO)</a:t>
            </a:r>
          </a:p>
          <a:p>
            <a:r>
              <a:rPr lang="en-US" sz="2000" dirty="0">
                <a:latin typeface="Courier" pitchFamily="2" charset="0"/>
              </a:rPr>
              <a:t>       </a:t>
            </a:r>
            <a:r>
              <a:rPr lang="en-US" sz="2000" b="1" dirty="0">
                <a:latin typeface="Courier" pitchFamily="2" charset="0"/>
              </a:rPr>
              <a:t>return</a:t>
            </a:r>
            <a:r>
              <a:rPr lang="en-US" sz="2000" dirty="0">
                <a:latin typeface="Courier" pitchFamily="2" charset="0"/>
              </a:rPr>
              <a:t> </a:t>
            </a:r>
            <a:r>
              <a:rPr lang="en-US" sz="2000" dirty="0" err="1">
                <a:latin typeface="Courier" pitchFamily="2" charset="0"/>
              </a:rPr>
              <a:t>AST</a:t>
            </a:r>
            <a:r>
              <a:rPr lang="en-US" sz="2000" dirty="0" err="1">
                <a:highlight>
                  <a:srgbClr val="FFFF00"/>
                </a:highlight>
                <a:latin typeface="Courier" pitchFamily="2" charset="0"/>
              </a:rPr>
              <a:t>IO</a:t>
            </a:r>
            <a:r>
              <a:rPr lang="en-US" sz="2000" dirty="0" err="1">
                <a:latin typeface="Courier" pitchFamily="2" charset="0"/>
              </a:rPr>
              <a:t>IDNode</a:t>
            </a:r>
            <a:r>
              <a:rPr lang="en-US" sz="2000" dirty="0">
                <a:latin typeface="Courier" pitchFamily="2" charset="0"/>
              </a:rPr>
              <a:t>(</a:t>
            </a:r>
            <a:r>
              <a:rPr lang="en-US" sz="2000" dirty="0" err="1">
                <a:latin typeface="Courier" pitchFamily="2" charset="0"/>
              </a:rPr>
              <a:t>id_name</a:t>
            </a:r>
            <a:r>
              <a:rPr lang="en-US" sz="2000" dirty="0">
                <a:latin typeface="Courier" pitchFamily="2" charset="0"/>
              </a:rPr>
              <a:t>, </a:t>
            </a:r>
            <a:r>
              <a:rPr lang="en-US" sz="2000" dirty="0" err="1">
                <a:highlight>
                  <a:srgbClr val="FFFF00"/>
                </a:highlight>
                <a:latin typeface="Courier" pitchFamily="2" charset="0"/>
              </a:rPr>
              <a:t>id_data</a:t>
            </a:r>
            <a:r>
              <a:rPr lang="en-US" sz="2000" dirty="0" err="1">
                <a:latin typeface="Courier" pitchFamily="2" charset="0"/>
              </a:rPr>
              <a:t>.data_type</a:t>
            </a:r>
            <a:r>
              <a:rPr lang="en-US" sz="2000" dirty="0">
                <a:latin typeface="Courier" pitchFamily="2" charset="0"/>
              </a:rPr>
              <a:t>)</a:t>
            </a:r>
          </a:p>
          <a:p>
            <a:r>
              <a:rPr lang="en-US" sz="2000" dirty="0">
                <a:latin typeface="Courier" pitchFamily="2" charset="0"/>
              </a:rPr>
              <a:t>   else</a:t>
            </a:r>
          </a:p>
          <a:p>
            <a:r>
              <a:rPr lang="en-US" sz="2000" dirty="0">
                <a:latin typeface="Courier" pitchFamily="2" charset="0"/>
              </a:rPr>
              <a:t>       </a:t>
            </a:r>
            <a:r>
              <a:rPr lang="en-US" sz="2000" b="1" dirty="0">
                <a:latin typeface="Courier" pitchFamily="2" charset="0"/>
              </a:rPr>
              <a:t>return</a:t>
            </a:r>
            <a:r>
              <a:rPr lang="en-US" sz="2000" dirty="0">
                <a:latin typeface="Courier" pitchFamily="2" charset="0"/>
              </a:rPr>
              <a:t> </a:t>
            </a:r>
            <a:r>
              <a:rPr lang="en-US" sz="2000" dirty="0" err="1">
                <a:latin typeface="Courier" pitchFamily="2" charset="0"/>
              </a:rPr>
              <a:t>AST</a:t>
            </a:r>
            <a:r>
              <a:rPr lang="en-US" sz="2000" dirty="0" err="1">
                <a:highlight>
                  <a:srgbClr val="FFFF00"/>
                </a:highlight>
                <a:latin typeface="Courier" pitchFamily="2" charset="0"/>
              </a:rPr>
              <a:t>Var</a:t>
            </a:r>
            <a:r>
              <a:rPr lang="en-US" sz="2000" dirty="0" err="1">
                <a:latin typeface="Courier" pitchFamily="2" charset="0"/>
              </a:rPr>
              <a:t>IDNode</a:t>
            </a:r>
            <a:r>
              <a:rPr lang="en-US" sz="2000" dirty="0">
                <a:latin typeface="Courier" pitchFamily="2" charset="0"/>
              </a:rPr>
              <a:t>(</a:t>
            </a:r>
            <a:r>
              <a:rPr lang="en-US" sz="2000" dirty="0" err="1">
                <a:latin typeface="Courier" pitchFamily="2" charset="0"/>
              </a:rPr>
              <a:t>id_name</a:t>
            </a:r>
            <a:r>
              <a:rPr lang="en-US" sz="2000" dirty="0">
                <a:latin typeface="Courier" pitchFamily="2" charset="0"/>
              </a:rPr>
              <a:t>, </a:t>
            </a:r>
            <a:r>
              <a:rPr lang="en-US" sz="2000" dirty="0" err="1">
                <a:highlight>
                  <a:srgbClr val="FFFF00"/>
                </a:highlight>
                <a:latin typeface="Courier" pitchFamily="2" charset="0"/>
              </a:rPr>
              <a:t>id_data</a:t>
            </a:r>
            <a:r>
              <a:rPr lang="en-US" sz="2000" dirty="0" err="1">
                <a:latin typeface="Courier" pitchFamily="2" charset="0"/>
              </a:rPr>
              <a:t>.data_type</a:t>
            </a:r>
            <a:r>
              <a:rPr lang="en-US" sz="2000" dirty="0">
                <a:latin typeface="Courier" pitchFamily="2" charset="0"/>
              </a:rPr>
              <a:t>)</a:t>
            </a:r>
          </a:p>
          <a:p>
            <a:r>
              <a:rPr lang="en-US" sz="2000" dirty="0">
                <a:latin typeface="Courier" pitchFamily="2" charset="0"/>
              </a:rPr>
              <a:t>}</a:t>
            </a:r>
          </a:p>
        </p:txBody>
      </p:sp>
      <p:sp>
        <p:nvSpPr>
          <p:cNvPr id="2" name="TextBox 1">
            <a:extLst>
              <a:ext uri="{FF2B5EF4-FFF2-40B4-BE49-F238E27FC236}">
                <a16:creationId xmlns:a16="http://schemas.microsoft.com/office/drawing/2014/main" id="{CC542D58-0189-9B40-9E88-37D087A42EAC}"/>
              </a:ext>
            </a:extLst>
          </p:cNvPr>
          <p:cNvSpPr txBox="1"/>
          <p:nvPr/>
        </p:nvSpPr>
        <p:spPr>
          <a:xfrm>
            <a:off x="355157" y="438312"/>
            <a:ext cx="5300041" cy="369332"/>
          </a:xfrm>
          <a:prstGeom prst="rect">
            <a:avLst/>
          </a:prstGeom>
          <a:noFill/>
        </p:spPr>
        <p:txBody>
          <a:bodyPr wrap="none" rtlCol="0">
            <a:spAutoFit/>
          </a:bodyPr>
          <a:lstStyle/>
          <a:p>
            <a:r>
              <a:rPr lang="en-US" dirty="0"/>
              <a:t>building an expression AST, we parse a unit at the base</a:t>
            </a:r>
          </a:p>
        </p:txBody>
      </p:sp>
      <p:sp>
        <p:nvSpPr>
          <p:cNvPr id="7" name="TextBox 6">
            <a:extLst>
              <a:ext uri="{FF2B5EF4-FFF2-40B4-BE49-F238E27FC236}">
                <a16:creationId xmlns:a16="http://schemas.microsoft.com/office/drawing/2014/main" id="{B2AE5C40-B1AA-D541-BA6F-ADB97C7F5C41}"/>
              </a:ext>
            </a:extLst>
          </p:cNvPr>
          <p:cNvSpPr txBox="1"/>
          <p:nvPr/>
        </p:nvSpPr>
        <p:spPr>
          <a:xfrm>
            <a:off x="1248355" y="5157862"/>
            <a:ext cx="4473982" cy="1384995"/>
          </a:xfrm>
          <a:prstGeom prst="rect">
            <a:avLst/>
          </a:prstGeom>
          <a:noFill/>
        </p:spPr>
        <p:txBody>
          <a:bodyPr wrap="none" rtlCol="0">
            <a:spAutoFit/>
          </a:bodyPr>
          <a:lstStyle/>
          <a:p>
            <a:r>
              <a:rPr lang="en-US" sz="2800" i="1" dirty="0" err="1"/>
              <a:t>id_data</a:t>
            </a:r>
            <a:r>
              <a:rPr lang="en-US" sz="2800" i="1" dirty="0"/>
              <a:t> should contain:</a:t>
            </a:r>
          </a:p>
          <a:p>
            <a:r>
              <a:rPr lang="en-US" sz="2800" b="1" i="1" dirty="0">
                <a:latin typeface="Courier" pitchFamily="2" charset="0"/>
              </a:rPr>
              <a:t>   </a:t>
            </a:r>
            <a:r>
              <a:rPr lang="en-US" sz="2800" b="1" i="1" dirty="0" err="1">
                <a:latin typeface="Courier" pitchFamily="2" charset="0"/>
              </a:rPr>
              <a:t>id_type</a:t>
            </a:r>
            <a:r>
              <a:rPr lang="en-US" sz="2800" i="1" dirty="0"/>
              <a:t>: IO or Var</a:t>
            </a:r>
          </a:p>
          <a:p>
            <a:r>
              <a:rPr lang="en-US" sz="2800" b="1" i="1" dirty="0">
                <a:latin typeface="Courier" pitchFamily="2" charset="0"/>
              </a:rPr>
              <a:t>   </a:t>
            </a:r>
            <a:r>
              <a:rPr lang="en-US" sz="2800" b="1" i="1" dirty="0" err="1">
                <a:latin typeface="Courier" pitchFamily="2" charset="0"/>
              </a:rPr>
              <a:t>data_type</a:t>
            </a:r>
            <a:r>
              <a:rPr lang="en-US" sz="2800" i="1" dirty="0"/>
              <a:t>: int or float</a:t>
            </a:r>
          </a:p>
        </p:txBody>
      </p:sp>
      <p:sp>
        <p:nvSpPr>
          <p:cNvPr id="3" name="TextBox 2">
            <a:extLst>
              <a:ext uri="{FF2B5EF4-FFF2-40B4-BE49-F238E27FC236}">
                <a16:creationId xmlns:a16="http://schemas.microsoft.com/office/drawing/2014/main" id="{33EF8220-0DB8-B994-0723-DFF2B4432B10}"/>
              </a:ext>
            </a:extLst>
          </p:cNvPr>
          <p:cNvSpPr txBox="1"/>
          <p:nvPr/>
        </p:nvSpPr>
        <p:spPr>
          <a:xfrm>
            <a:off x="6594249" y="5388695"/>
            <a:ext cx="4531109" cy="923330"/>
          </a:xfrm>
          <a:prstGeom prst="rect">
            <a:avLst/>
          </a:prstGeom>
          <a:noFill/>
        </p:spPr>
        <p:txBody>
          <a:bodyPr wrap="square" rtlCol="0">
            <a:spAutoFit/>
          </a:bodyPr>
          <a:lstStyle/>
          <a:p>
            <a:r>
              <a:rPr lang="en-US" dirty="0"/>
              <a:t>Note that we are adding extra information to our symbol table i.e. whether an </a:t>
            </a:r>
            <a:r>
              <a:rPr lang="en-US" b="1" dirty="0"/>
              <a:t>ID is IO </a:t>
            </a:r>
            <a:r>
              <a:rPr lang="en-US" dirty="0"/>
              <a:t>or a </a:t>
            </a:r>
            <a:r>
              <a:rPr lang="en-US" b="1" dirty="0"/>
              <a:t>ID is VAR </a:t>
            </a:r>
            <a:r>
              <a:rPr lang="en-US" dirty="0"/>
              <a:t>type.</a:t>
            </a:r>
          </a:p>
        </p:txBody>
      </p:sp>
    </p:spTree>
    <p:extLst>
      <p:ext uri="{BB962C8B-B14F-4D97-AF65-F5344CB8AC3E}">
        <p14:creationId xmlns:p14="http://schemas.microsoft.com/office/powerpoint/2010/main" val="312638032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40F0F9E-225E-2648-BCB2-E88AA1F1B969}"/>
              </a:ext>
            </a:extLst>
          </p:cNvPr>
          <p:cNvSpPr/>
          <p:nvPr/>
        </p:nvSpPr>
        <p:spPr>
          <a:xfrm>
            <a:off x="2670123" y="1937017"/>
            <a:ext cx="5169863" cy="1477328"/>
          </a:xfrm>
          <a:prstGeom prst="rect">
            <a:avLst/>
          </a:prstGeom>
        </p:spPr>
        <p:txBody>
          <a:bodyPr wrap="square">
            <a:spAutoFit/>
          </a:bodyPr>
          <a:lstStyle/>
          <a:p>
            <a:r>
              <a:rPr lang="en-US" dirty="0">
                <a:latin typeface="Courier" pitchFamily="2" charset="0"/>
                <a:ea typeface="Calibri" panose="020F0502020204030204" pitchFamily="34" charset="0"/>
                <a:cs typeface="Times New Roman" panose="02020603050405020304" pitchFamily="18" charset="0"/>
              </a:rPr>
              <a:t>statement := </a:t>
            </a:r>
            <a:r>
              <a:rPr lang="en-US" dirty="0" err="1">
                <a:highlight>
                  <a:srgbClr val="FFFF00"/>
                </a:highlight>
                <a:latin typeface="Courier" pitchFamily="2" charset="0"/>
                <a:ea typeface="Calibri" panose="020F0502020204030204" pitchFamily="34" charset="0"/>
                <a:cs typeface="Times New Roman" panose="02020603050405020304" pitchFamily="18" charset="0"/>
              </a:rPr>
              <a:t>declaration_statement</a:t>
            </a:r>
            <a:r>
              <a:rPr lang="en-US" dirty="0">
                <a:highlight>
                  <a:srgbClr val="FFFF00"/>
                </a:highlight>
                <a:latin typeface="Courier" pitchFamily="2" charset="0"/>
                <a:ea typeface="Calibri" panose="020F0502020204030204" pitchFamily="34" charset="0"/>
                <a:cs typeface="Times New Roman" panose="02020603050405020304" pitchFamily="18" charset="0"/>
              </a:rPr>
              <a:t> </a:t>
            </a: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assignment_statement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if_else_statement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block_statement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for_loop_statement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0A83B950-0F56-DA4A-9330-2602CDE198A2}"/>
              </a:ext>
            </a:extLst>
          </p:cNvPr>
          <p:cNvSpPr txBox="1"/>
          <p:nvPr/>
        </p:nvSpPr>
        <p:spPr>
          <a:xfrm>
            <a:off x="3395207" y="923462"/>
            <a:ext cx="3153812" cy="369332"/>
          </a:xfrm>
          <a:prstGeom prst="rect">
            <a:avLst/>
          </a:prstGeom>
          <a:noFill/>
        </p:spPr>
        <p:txBody>
          <a:bodyPr wrap="none" rtlCol="0">
            <a:spAutoFit/>
          </a:bodyPr>
          <a:lstStyle/>
          <a:p>
            <a:r>
              <a:rPr lang="en-US" dirty="0"/>
              <a:t>Getting back to our statements:</a:t>
            </a:r>
          </a:p>
        </p:txBody>
      </p:sp>
      <p:sp>
        <p:nvSpPr>
          <p:cNvPr id="5" name="TextBox 4">
            <a:extLst>
              <a:ext uri="{FF2B5EF4-FFF2-40B4-BE49-F238E27FC236}">
                <a16:creationId xmlns:a16="http://schemas.microsoft.com/office/drawing/2014/main" id="{9373A200-734D-AF49-8751-0C249C017E35}"/>
              </a:ext>
            </a:extLst>
          </p:cNvPr>
          <p:cNvSpPr txBox="1"/>
          <p:nvPr/>
        </p:nvSpPr>
        <p:spPr>
          <a:xfrm>
            <a:off x="7526867" y="4114800"/>
            <a:ext cx="3702360" cy="923330"/>
          </a:xfrm>
          <a:prstGeom prst="rect">
            <a:avLst/>
          </a:prstGeom>
          <a:noFill/>
        </p:spPr>
        <p:txBody>
          <a:bodyPr wrap="none" rtlCol="0">
            <a:spAutoFit/>
          </a:bodyPr>
          <a:lstStyle/>
          <a:p>
            <a:r>
              <a:rPr lang="en-US" dirty="0"/>
              <a:t>When we declare a variable, we need</a:t>
            </a:r>
          </a:p>
          <a:p>
            <a:r>
              <a:rPr lang="en-US" dirty="0"/>
              <a:t>to mark it as a program variable in</a:t>
            </a:r>
          </a:p>
          <a:p>
            <a:r>
              <a:rPr lang="en-US" dirty="0"/>
              <a:t>the symbol table</a:t>
            </a:r>
          </a:p>
        </p:txBody>
      </p:sp>
    </p:spTree>
    <p:extLst>
      <p:ext uri="{BB962C8B-B14F-4D97-AF65-F5344CB8AC3E}">
        <p14:creationId xmlns:p14="http://schemas.microsoft.com/office/powerpoint/2010/main" val="106041677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40F0F9E-225E-2648-BCB2-E88AA1F1B969}"/>
              </a:ext>
            </a:extLst>
          </p:cNvPr>
          <p:cNvSpPr/>
          <p:nvPr/>
        </p:nvSpPr>
        <p:spPr>
          <a:xfrm>
            <a:off x="2670123" y="1937017"/>
            <a:ext cx="5169863" cy="1477328"/>
          </a:xfrm>
          <a:prstGeom prst="rect">
            <a:avLst/>
          </a:prstGeom>
        </p:spPr>
        <p:txBody>
          <a:bodyPr wrap="square">
            <a:spAutoFit/>
          </a:bodyPr>
          <a:lstStyle/>
          <a:p>
            <a:r>
              <a:rPr lang="en-US" dirty="0">
                <a:latin typeface="Courier" pitchFamily="2" charset="0"/>
                <a:ea typeface="Calibri" panose="020F0502020204030204" pitchFamily="34" charset="0"/>
                <a:cs typeface="Times New Roman" panose="02020603050405020304" pitchFamily="18" charset="0"/>
              </a:rPr>
              <a:t>statement := </a:t>
            </a:r>
            <a:r>
              <a:rPr lang="en-US" dirty="0" err="1">
                <a:latin typeface="Courier" pitchFamily="2" charset="0"/>
                <a:ea typeface="Calibri" panose="020F0502020204030204" pitchFamily="34" charset="0"/>
                <a:cs typeface="Times New Roman" panose="02020603050405020304" pitchFamily="18" charset="0"/>
              </a:rPr>
              <a:t>declaration_statement</a:t>
            </a:r>
            <a:r>
              <a:rPr lang="en-US" dirty="0">
                <a:latin typeface="Courier" pitchFamily="2" charset="0"/>
                <a:ea typeface="Calibri" panose="020F0502020204030204" pitchFamily="34" charset="0"/>
                <a:cs typeface="Times New Roman" panose="02020603050405020304" pitchFamily="18" charset="0"/>
              </a:rPr>
              <a:t> </a:t>
            </a: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assignment_statement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if_else_statement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block_statement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for_loop_statement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91C8A81-DD4B-3F48-80F4-D5AB81132494}"/>
              </a:ext>
            </a:extLst>
          </p:cNvPr>
          <p:cNvSpPr txBox="1"/>
          <p:nvPr/>
        </p:nvSpPr>
        <p:spPr>
          <a:xfrm>
            <a:off x="3753016" y="4333459"/>
            <a:ext cx="3693383" cy="646331"/>
          </a:xfrm>
          <a:prstGeom prst="rect">
            <a:avLst/>
          </a:prstGeom>
          <a:noFill/>
        </p:spPr>
        <p:txBody>
          <a:bodyPr wrap="none" rtlCol="0">
            <a:spAutoFit/>
          </a:bodyPr>
          <a:lstStyle/>
          <a:p>
            <a:r>
              <a:rPr lang="en-US" i="1" dirty="0"/>
              <a:t>We need to use symbol table data for</a:t>
            </a:r>
          </a:p>
          <a:p>
            <a:r>
              <a:rPr lang="en-US" i="1" dirty="0"/>
              <a:t>something else. What? </a:t>
            </a:r>
          </a:p>
        </p:txBody>
      </p:sp>
      <p:sp>
        <p:nvSpPr>
          <p:cNvPr id="3" name="TextBox 2">
            <a:extLst>
              <a:ext uri="{FF2B5EF4-FFF2-40B4-BE49-F238E27FC236}">
                <a16:creationId xmlns:a16="http://schemas.microsoft.com/office/drawing/2014/main" id="{0A83B950-0F56-DA4A-9330-2602CDE198A2}"/>
              </a:ext>
            </a:extLst>
          </p:cNvPr>
          <p:cNvSpPr txBox="1"/>
          <p:nvPr/>
        </p:nvSpPr>
        <p:spPr>
          <a:xfrm>
            <a:off x="3395207" y="923462"/>
            <a:ext cx="3153812" cy="369332"/>
          </a:xfrm>
          <a:prstGeom prst="rect">
            <a:avLst/>
          </a:prstGeom>
          <a:noFill/>
        </p:spPr>
        <p:txBody>
          <a:bodyPr wrap="none" rtlCol="0">
            <a:spAutoFit/>
          </a:bodyPr>
          <a:lstStyle/>
          <a:p>
            <a:r>
              <a:rPr lang="en-US" dirty="0"/>
              <a:t>Getting back to our statements:</a:t>
            </a:r>
          </a:p>
        </p:txBody>
      </p:sp>
    </p:spTree>
    <p:extLst>
      <p:ext uri="{BB962C8B-B14F-4D97-AF65-F5344CB8AC3E}">
        <p14:creationId xmlns:p14="http://schemas.microsoft.com/office/powerpoint/2010/main" val="350054171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40F0F9E-225E-2648-BCB2-E88AA1F1B969}"/>
              </a:ext>
            </a:extLst>
          </p:cNvPr>
          <p:cNvSpPr/>
          <p:nvPr/>
        </p:nvSpPr>
        <p:spPr>
          <a:xfrm>
            <a:off x="2670123" y="1937017"/>
            <a:ext cx="5169863" cy="1477328"/>
          </a:xfrm>
          <a:prstGeom prst="rect">
            <a:avLst/>
          </a:prstGeom>
        </p:spPr>
        <p:txBody>
          <a:bodyPr wrap="square">
            <a:spAutoFit/>
          </a:bodyPr>
          <a:lstStyle/>
          <a:p>
            <a:r>
              <a:rPr lang="en-US" dirty="0">
                <a:latin typeface="Courier" pitchFamily="2" charset="0"/>
                <a:ea typeface="Calibri" panose="020F0502020204030204" pitchFamily="34" charset="0"/>
                <a:cs typeface="Times New Roman" panose="02020603050405020304" pitchFamily="18" charset="0"/>
              </a:rPr>
              <a:t>statement := </a:t>
            </a:r>
            <a:r>
              <a:rPr lang="en-US" dirty="0" err="1">
                <a:latin typeface="Courier" pitchFamily="2" charset="0"/>
                <a:ea typeface="Calibri" panose="020F0502020204030204" pitchFamily="34" charset="0"/>
                <a:cs typeface="Times New Roman" panose="02020603050405020304" pitchFamily="18" charset="0"/>
              </a:rPr>
              <a:t>declaration_statement</a:t>
            </a:r>
            <a:r>
              <a:rPr lang="en-US" dirty="0">
                <a:latin typeface="Courier" pitchFamily="2" charset="0"/>
                <a:ea typeface="Calibri" panose="020F0502020204030204" pitchFamily="34" charset="0"/>
                <a:cs typeface="Times New Roman" panose="02020603050405020304" pitchFamily="18" charset="0"/>
              </a:rPr>
              <a:t> </a:t>
            </a: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assignment_statement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if_else_statement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highlight>
                  <a:srgbClr val="FFFF00"/>
                </a:highlight>
                <a:latin typeface="Courier" pitchFamily="2" charset="0"/>
                <a:ea typeface="Calibri" panose="020F0502020204030204" pitchFamily="34" charset="0"/>
                <a:cs typeface="Times New Roman" panose="02020603050405020304" pitchFamily="18" charset="0"/>
              </a:rPr>
              <a:t>block_statement</a:t>
            </a:r>
            <a:r>
              <a:rPr lang="en-US" dirty="0">
                <a:highlight>
                  <a:srgbClr val="FFFF00"/>
                </a:highlight>
                <a:latin typeface="Courier" pitchFamily="2" charset="0"/>
                <a:ea typeface="Calibri" panose="020F0502020204030204" pitchFamily="34" charset="0"/>
                <a:cs typeface="Times New Roman" panose="02020603050405020304" pitchFamily="18" charset="0"/>
              </a:rPr>
              <a:t>        </a:t>
            </a:r>
            <a:endParaRPr lang="en-US" sz="3200" dirty="0">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r>
              <a:rPr lang="en-US" dirty="0">
                <a:latin typeface="Courier" pitchFamily="2" charset="0"/>
                <a:ea typeface="Calibri" panose="020F0502020204030204" pitchFamily="34" charset="0"/>
                <a:cs typeface="Times New Roman" panose="02020603050405020304" pitchFamily="18" charset="0"/>
              </a:rPr>
              <a:t>          |  </a:t>
            </a:r>
            <a:r>
              <a:rPr lang="en-US" dirty="0" err="1">
                <a:latin typeface="Courier" pitchFamily="2" charset="0"/>
                <a:ea typeface="Calibri" panose="020F0502020204030204" pitchFamily="34" charset="0"/>
                <a:cs typeface="Times New Roman" panose="02020603050405020304" pitchFamily="18" charset="0"/>
              </a:rPr>
              <a:t>for_loop_statement</a:t>
            </a:r>
            <a:r>
              <a:rPr lang="en-US" dirty="0">
                <a:latin typeface="Courier" pitchFamily="2" charset="0"/>
                <a:ea typeface="Calibri" panose="020F0502020204030204" pitchFamily="34" charset="0"/>
                <a:cs typeface="Times New Roman" panose="02020603050405020304" pitchFamily="18" charset="0"/>
              </a:rPr>
              <a:t>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91C8A81-DD4B-3F48-80F4-D5AB81132494}"/>
              </a:ext>
            </a:extLst>
          </p:cNvPr>
          <p:cNvSpPr txBox="1"/>
          <p:nvPr/>
        </p:nvSpPr>
        <p:spPr>
          <a:xfrm>
            <a:off x="3753016" y="4333459"/>
            <a:ext cx="5512791" cy="1200329"/>
          </a:xfrm>
          <a:prstGeom prst="rect">
            <a:avLst/>
          </a:prstGeom>
          <a:noFill/>
        </p:spPr>
        <p:txBody>
          <a:bodyPr wrap="none" rtlCol="0">
            <a:spAutoFit/>
          </a:bodyPr>
          <a:lstStyle/>
          <a:p>
            <a:r>
              <a:rPr lang="en-US" i="1" dirty="0"/>
              <a:t>We need to use symbol table data for</a:t>
            </a:r>
          </a:p>
          <a:p>
            <a:r>
              <a:rPr lang="en-US" i="1" dirty="0"/>
              <a:t>something else. What? </a:t>
            </a:r>
          </a:p>
          <a:p>
            <a:endParaRPr lang="en-US" i="1" dirty="0"/>
          </a:p>
          <a:p>
            <a:r>
              <a:rPr lang="en-US" i="1" dirty="0"/>
              <a:t>Scopes! Class IR has no {}s, so we need to manage scopes</a:t>
            </a:r>
          </a:p>
        </p:txBody>
      </p:sp>
      <p:sp>
        <p:nvSpPr>
          <p:cNvPr id="3" name="TextBox 2">
            <a:extLst>
              <a:ext uri="{FF2B5EF4-FFF2-40B4-BE49-F238E27FC236}">
                <a16:creationId xmlns:a16="http://schemas.microsoft.com/office/drawing/2014/main" id="{0A83B950-0F56-DA4A-9330-2602CDE198A2}"/>
              </a:ext>
            </a:extLst>
          </p:cNvPr>
          <p:cNvSpPr txBox="1"/>
          <p:nvPr/>
        </p:nvSpPr>
        <p:spPr>
          <a:xfrm>
            <a:off x="3395207" y="923462"/>
            <a:ext cx="3153812" cy="369332"/>
          </a:xfrm>
          <a:prstGeom prst="rect">
            <a:avLst/>
          </a:prstGeom>
          <a:noFill/>
        </p:spPr>
        <p:txBody>
          <a:bodyPr wrap="none" rtlCol="0">
            <a:spAutoFit/>
          </a:bodyPr>
          <a:lstStyle/>
          <a:p>
            <a:r>
              <a:rPr lang="en-US" dirty="0"/>
              <a:t>Getting back to our statements:</a:t>
            </a:r>
          </a:p>
        </p:txBody>
      </p:sp>
    </p:spTree>
    <p:extLst>
      <p:ext uri="{BB962C8B-B14F-4D97-AF65-F5344CB8AC3E}">
        <p14:creationId xmlns:p14="http://schemas.microsoft.com/office/powerpoint/2010/main" val="295309740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79BB-2980-7F44-8375-A2C2CA41E623}"/>
              </a:ext>
            </a:extLst>
          </p:cNvPr>
          <p:cNvSpPr>
            <a:spLocks noGrp="1"/>
          </p:cNvSpPr>
          <p:nvPr>
            <p:ph type="title"/>
          </p:nvPr>
        </p:nvSpPr>
        <p:spPr/>
        <p:txBody>
          <a:bodyPr/>
          <a:lstStyle/>
          <a:p>
            <a:r>
              <a:rPr lang="en-US" dirty="0"/>
              <a:t>Scopes</a:t>
            </a:r>
          </a:p>
        </p:txBody>
      </p:sp>
      <p:sp>
        <p:nvSpPr>
          <p:cNvPr id="4" name="Rectangle 3">
            <a:extLst>
              <a:ext uri="{FF2B5EF4-FFF2-40B4-BE49-F238E27FC236}">
                <a16:creationId xmlns:a16="http://schemas.microsoft.com/office/drawing/2014/main" id="{2BDE935A-3EA5-6B48-A06C-554DB36E69C9}"/>
              </a:ext>
            </a:extLst>
          </p:cNvPr>
          <p:cNvSpPr/>
          <p:nvPr/>
        </p:nvSpPr>
        <p:spPr>
          <a:xfrm>
            <a:off x="936266" y="2306644"/>
            <a:ext cx="1390075" cy="3046988"/>
          </a:xfrm>
          <a:prstGeom prst="rect">
            <a:avLst/>
          </a:prstGeom>
        </p:spPr>
        <p:txBody>
          <a:bodyPr wrap="square">
            <a:spAutoFit/>
          </a:bodyPr>
          <a:lstStyle/>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y</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000000"/>
                </a:solidFill>
                <a:latin typeface="Menlo" panose="020B0609030804020204" pitchFamily="49" charset="0"/>
              </a:rPr>
              <a:t>x = 5;</a:t>
            </a:r>
          </a:p>
          <a:p>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a:t>
            </a:r>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x = 6;</a:t>
            </a:r>
          </a:p>
          <a:p>
            <a:r>
              <a:rPr lang="en-US" sz="2400" dirty="0">
                <a:solidFill>
                  <a:srgbClr val="000000"/>
                </a:solidFill>
                <a:latin typeface="Menlo" panose="020B0609030804020204" pitchFamily="49" charset="0"/>
              </a:rPr>
              <a:t>    y = x;</a:t>
            </a:r>
          </a:p>
          <a:p>
            <a:r>
              <a:rPr lang="en-US" sz="2400" dirty="0">
                <a:solidFill>
                  <a:srgbClr val="000000"/>
                </a:solidFill>
                <a:latin typeface="Menlo" panose="020B0609030804020204" pitchFamily="49" charset="0"/>
              </a:rPr>
              <a:t>}</a:t>
            </a:r>
            <a:endParaRPr lang="en-US" sz="2400" dirty="0">
              <a:solidFill>
                <a:srgbClr val="000000"/>
              </a:solidFill>
              <a:effectLst/>
              <a:latin typeface="Menlo" panose="020B0609030804020204" pitchFamily="49" charset="0"/>
            </a:endParaRPr>
          </a:p>
        </p:txBody>
      </p:sp>
      <p:sp>
        <p:nvSpPr>
          <p:cNvPr id="5" name="TextBox 4">
            <a:extLst>
              <a:ext uri="{FF2B5EF4-FFF2-40B4-BE49-F238E27FC236}">
                <a16:creationId xmlns:a16="http://schemas.microsoft.com/office/drawing/2014/main" id="{F90C5988-5228-6145-A8D0-E8F457FD5FDE}"/>
              </a:ext>
            </a:extLst>
          </p:cNvPr>
          <p:cNvSpPr txBox="1"/>
          <p:nvPr/>
        </p:nvSpPr>
        <p:spPr>
          <a:xfrm>
            <a:off x="838200" y="5568450"/>
            <a:ext cx="2123530" cy="400110"/>
          </a:xfrm>
          <a:prstGeom prst="rect">
            <a:avLst/>
          </a:prstGeom>
          <a:noFill/>
        </p:spPr>
        <p:txBody>
          <a:bodyPr wrap="none" rtlCol="0">
            <a:spAutoFit/>
          </a:bodyPr>
          <a:lstStyle/>
          <a:p>
            <a:r>
              <a:rPr lang="en-US" sz="2000" dirty="0"/>
              <a:t>What does y hold?</a:t>
            </a:r>
          </a:p>
        </p:txBody>
      </p:sp>
      <p:sp>
        <p:nvSpPr>
          <p:cNvPr id="3" name="TextBox 2">
            <a:extLst>
              <a:ext uri="{FF2B5EF4-FFF2-40B4-BE49-F238E27FC236}">
                <a16:creationId xmlns:a16="http://schemas.microsoft.com/office/drawing/2014/main" id="{4C8AFA59-FE99-3F96-414A-87FFC552C054}"/>
              </a:ext>
            </a:extLst>
          </p:cNvPr>
          <p:cNvSpPr txBox="1"/>
          <p:nvPr/>
        </p:nvSpPr>
        <p:spPr>
          <a:xfrm>
            <a:off x="4090307" y="2065564"/>
            <a:ext cx="6707681" cy="1200329"/>
          </a:xfrm>
          <a:prstGeom prst="rect">
            <a:avLst/>
          </a:prstGeom>
          <a:noFill/>
        </p:spPr>
        <p:txBody>
          <a:bodyPr wrap="square" rtlCol="0">
            <a:spAutoFit/>
          </a:bodyPr>
          <a:lstStyle/>
          <a:p>
            <a:r>
              <a:rPr lang="en-US" sz="2400" b="1" dirty="0" err="1"/>
              <a:t>ClassIR</a:t>
            </a:r>
            <a:r>
              <a:rPr lang="en-US" sz="2400" b="1" dirty="0"/>
              <a:t> {the linearized code) does not have braces.</a:t>
            </a:r>
          </a:p>
          <a:p>
            <a:r>
              <a:rPr lang="en-US" sz="2400" dirty="0"/>
              <a:t>So we will have to </a:t>
            </a:r>
            <a:r>
              <a:rPr lang="en-US" sz="2400" b="1" dirty="0"/>
              <a:t>use our symbol table to keep track of scope.</a:t>
            </a:r>
          </a:p>
        </p:txBody>
      </p:sp>
    </p:spTree>
    <p:extLst>
      <p:ext uri="{BB962C8B-B14F-4D97-AF65-F5344CB8AC3E}">
        <p14:creationId xmlns:p14="http://schemas.microsoft.com/office/powerpoint/2010/main" val="20963839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79BB-2980-7F44-8375-A2C2CA41E623}"/>
              </a:ext>
            </a:extLst>
          </p:cNvPr>
          <p:cNvSpPr>
            <a:spLocks noGrp="1"/>
          </p:cNvSpPr>
          <p:nvPr>
            <p:ph type="title"/>
          </p:nvPr>
        </p:nvSpPr>
        <p:spPr/>
        <p:txBody>
          <a:bodyPr/>
          <a:lstStyle/>
          <a:p>
            <a:r>
              <a:rPr lang="en-US" dirty="0"/>
              <a:t>Scopes</a:t>
            </a:r>
          </a:p>
        </p:txBody>
      </p:sp>
      <p:sp>
        <p:nvSpPr>
          <p:cNvPr id="6" name="TextBox 5">
            <a:extLst>
              <a:ext uri="{FF2B5EF4-FFF2-40B4-BE49-F238E27FC236}">
                <a16:creationId xmlns:a16="http://schemas.microsoft.com/office/drawing/2014/main" id="{92B7D644-6ABF-4B4A-81D0-0AED4BDD1675}"/>
              </a:ext>
            </a:extLst>
          </p:cNvPr>
          <p:cNvSpPr txBox="1"/>
          <p:nvPr/>
        </p:nvSpPr>
        <p:spPr>
          <a:xfrm>
            <a:off x="2772832" y="3117316"/>
            <a:ext cx="3036729" cy="369332"/>
          </a:xfrm>
          <a:prstGeom prst="rect">
            <a:avLst/>
          </a:prstGeom>
          <a:noFill/>
        </p:spPr>
        <p:txBody>
          <a:bodyPr wrap="none" rtlCol="0">
            <a:spAutoFit/>
          </a:bodyPr>
          <a:lstStyle/>
          <a:p>
            <a:r>
              <a:rPr lang="en-US" dirty="0"/>
              <a:t>How can we get rid of the {}’s?</a:t>
            </a:r>
          </a:p>
        </p:txBody>
      </p:sp>
      <p:sp>
        <p:nvSpPr>
          <p:cNvPr id="3" name="Rectangle 2">
            <a:extLst>
              <a:ext uri="{FF2B5EF4-FFF2-40B4-BE49-F238E27FC236}">
                <a16:creationId xmlns:a16="http://schemas.microsoft.com/office/drawing/2014/main" id="{F3E29F9D-8C07-DD0D-FD97-298BC16C4EEB}"/>
              </a:ext>
            </a:extLst>
          </p:cNvPr>
          <p:cNvSpPr/>
          <p:nvPr/>
        </p:nvSpPr>
        <p:spPr>
          <a:xfrm>
            <a:off x="936266" y="2306644"/>
            <a:ext cx="1390075" cy="3046988"/>
          </a:xfrm>
          <a:prstGeom prst="rect">
            <a:avLst/>
          </a:prstGeom>
        </p:spPr>
        <p:txBody>
          <a:bodyPr wrap="square">
            <a:spAutoFit/>
          </a:bodyPr>
          <a:lstStyle/>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y</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000000"/>
                </a:solidFill>
                <a:latin typeface="Menlo" panose="020B0609030804020204" pitchFamily="49" charset="0"/>
              </a:rPr>
              <a:t>x = 5;</a:t>
            </a:r>
          </a:p>
          <a:p>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a:t>
            </a:r>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x = 6;</a:t>
            </a:r>
          </a:p>
          <a:p>
            <a:r>
              <a:rPr lang="en-US" sz="2400" dirty="0">
                <a:solidFill>
                  <a:srgbClr val="000000"/>
                </a:solidFill>
                <a:latin typeface="Menlo" panose="020B0609030804020204" pitchFamily="49" charset="0"/>
              </a:rPr>
              <a:t>    y = x;</a:t>
            </a:r>
          </a:p>
          <a:p>
            <a:r>
              <a:rPr lang="en-US" sz="2400" dirty="0">
                <a:solidFill>
                  <a:srgbClr val="000000"/>
                </a:solidFill>
                <a:latin typeface="Menlo" panose="020B0609030804020204" pitchFamily="49" charset="0"/>
              </a:rPr>
              <a:t>}</a:t>
            </a:r>
            <a:endParaRPr lang="en-US" sz="24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179244166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79BB-2980-7F44-8375-A2C2CA41E623}"/>
              </a:ext>
            </a:extLst>
          </p:cNvPr>
          <p:cNvSpPr>
            <a:spLocks noGrp="1"/>
          </p:cNvSpPr>
          <p:nvPr>
            <p:ph type="title"/>
          </p:nvPr>
        </p:nvSpPr>
        <p:spPr/>
        <p:txBody>
          <a:bodyPr/>
          <a:lstStyle/>
          <a:p>
            <a:r>
              <a:rPr lang="en-US" dirty="0"/>
              <a:t>Scopes</a:t>
            </a:r>
          </a:p>
        </p:txBody>
      </p:sp>
      <p:sp>
        <p:nvSpPr>
          <p:cNvPr id="17" name="TextBox 16">
            <a:extLst>
              <a:ext uri="{FF2B5EF4-FFF2-40B4-BE49-F238E27FC236}">
                <a16:creationId xmlns:a16="http://schemas.microsoft.com/office/drawing/2014/main" id="{6F305AA7-267D-8547-A0AD-D54A869F4626}"/>
              </a:ext>
            </a:extLst>
          </p:cNvPr>
          <p:cNvSpPr txBox="1"/>
          <p:nvPr/>
        </p:nvSpPr>
        <p:spPr>
          <a:xfrm>
            <a:off x="3733800" y="1837267"/>
            <a:ext cx="5212966" cy="461665"/>
          </a:xfrm>
          <a:prstGeom prst="rect">
            <a:avLst/>
          </a:prstGeom>
          <a:noFill/>
        </p:spPr>
        <p:txBody>
          <a:bodyPr wrap="none" rtlCol="0">
            <a:spAutoFit/>
          </a:bodyPr>
          <a:lstStyle/>
          <a:p>
            <a:r>
              <a:rPr lang="en-US" sz="2400" dirty="0"/>
              <a:t>Let’s walk through it with a symbol table</a:t>
            </a:r>
          </a:p>
        </p:txBody>
      </p:sp>
      <p:sp>
        <p:nvSpPr>
          <p:cNvPr id="3" name="Rectangle 2">
            <a:extLst>
              <a:ext uri="{FF2B5EF4-FFF2-40B4-BE49-F238E27FC236}">
                <a16:creationId xmlns:a16="http://schemas.microsoft.com/office/drawing/2014/main" id="{4FB33076-7D1A-7A70-CBCF-4599C7303A3D}"/>
              </a:ext>
            </a:extLst>
          </p:cNvPr>
          <p:cNvSpPr/>
          <p:nvPr/>
        </p:nvSpPr>
        <p:spPr>
          <a:xfrm>
            <a:off x="936266" y="2306644"/>
            <a:ext cx="1390075" cy="3046988"/>
          </a:xfrm>
          <a:prstGeom prst="rect">
            <a:avLst/>
          </a:prstGeom>
        </p:spPr>
        <p:txBody>
          <a:bodyPr wrap="square">
            <a:spAutoFit/>
          </a:bodyPr>
          <a:lstStyle/>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y</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000000"/>
                </a:solidFill>
                <a:latin typeface="Menlo" panose="020B0609030804020204" pitchFamily="49" charset="0"/>
              </a:rPr>
              <a:t>x = 5;</a:t>
            </a:r>
          </a:p>
          <a:p>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a:t>
            </a:r>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x = 6;</a:t>
            </a:r>
          </a:p>
          <a:p>
            <a:r>
              <a:rPr lang="en-US" sz="2400" dirty="0">
                <a:solidFill>
                  <a:srgbClr val="000000"/>
                </a:solidFill>
                <a:latin typeface="Menlo" panose="020B0609030804020204" pitchFamily="49" charset="0"/>
              </a:rPr>
              <a:t>    y = x;</a:t>
            </a:r>
          </a:p>
          <a:p>
            <a:r>
              <a:rPr lang="en-US" sz="2400" dirty="0">
                <a:solidFill>
                  <a:srgbClr val="000000"/>
                </a:solidFill>
                <a:latin typeface="Menlo" panose="020B0609030804020204" pitchFamily="49" charset="0"/>
              </a:rPr>
              <a:t>}</a:t>
            </a:r>
            <a:endParaRPr lang="en-US" sz="24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35836688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79BB-2980-7F44-8375-A2C2CA41E623}"/>
              </a:ext>
            </a:extLst>
          </p:cNvPr>
          <p:cNvSpPr>
            <a:spLocks noGrp="1"/>
          </p:cNvSpPr>
          <p:nvPr>
            <p:ph type="title"/>
          </p:nvPr>
        </p:nvSpPr>
        <p:spPr/>
        <p:txBody>
          <a:bodyPr/>
          <a:lstStyle/>
          <a:p>
            <a:r>
              <a:rPr lang="en-US" dirty="0"/>
              <a:t>Scopes</a:t>
            </a:r>
          </a:p>
        </p:txBody>
      </p:sp>
      <p:sp>
        <p:nvSpPr>
          <p:cNvPr id="17" name="TextBox 16">
            <a:extLst>
              <a:ext uri="{FF2B5EF4-FFF2-40B4-BE49-F238E27FC236}">
                <a16:creationId xmlns:a16="http://schemas.microsoft.com/office/drawing/2014/main" id="{6F305AA7-267D-8547-A0AD-D54A869F4626}"/>
              </a:ext>
            </a:extLst>
          </p:cNvPr>
          <p:cNvSpPr txBox="1"/>
          <p:nvPr/>
        </p:nvSpPr>
        <p:spPr>
          <a:xfrm>
            <a:off x="3733800" y="1837267"/>
            <a:ext cx="3968009" cy="369332"/>
          </a:xfrm>
          <a:prstGeom prst="rect">
            <a:avLst/>
          </a:prstGeom>
          <a:noFill/>
        </p:spPr>
        <p:txBody>
          <a:bodyPr wrap="none" rtlCol="0">
            <a:spAutoFit/>
          </a:bodyPr>
          <a:lstStyle/>
          <a:p>
            <a:r>
              <a:rPr lang="en-US" dirty="0"/>
              <a:t>Let’s walk through it with a symbol table</a:t>
            </a:r>
          </a:p>
        </p:txBody>
      </p:sp>
      <p:sp>
        <p:nvSpPr>
          <p:cNvPr id="5" name="Rectangle 4">
            <a:extLst>
              <a:ext uri="{FF2B5EF4-FFF2-40B4-BE49-F238E27FC236}">
                <a16:creationId xmlns:a16="http://schemas.microsoft.com/office/drawing/2014/main" id="{89F91E01-3926-EC42-AAF2-2AD64847DE70}"/>
              </a:ext>
            </a:extLst>
          </p:cNvPr>
          <p:cNvSpPr/>
          <p:nvPr/>
        </p:nvSpPr>
        <p:spPr>
          <a:xfrm>
            <a:off x="8102379" y="5160396"/>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441C2A4C-52EA-BA41-9783-B9C1E79FCF74}"/>
              </a:ext>
            </a:extLst>
          </p:cNvPr>
          <p:cNvSpPr txBox="1"/>
          <p:nvPr/>
        </p:nvSpPr>
        <p:spPr>
          <a:xfrm>
            <a:off x="8285650" y="5947576"/>
            <a:ext cx="2934650" cy="369332"/>
          </a:xfrm>
          <a:prstGeom prst="rect">
            <a:avLst/>
          </a:prstGeom>
          <a:noFill/>
        </p:spPr>
        <p:txBody>
          <a:bodyPr wrap="none" rtlCol="0">
            <a:spAutoFit/>
          </a:bodyPr>
          <a:lstStyle/>
          <a:p>
            <a:r>
              <a:rPr lang="en-US" dirty="0"/>
              <a:t>symbol table hash table stack</a:t>
            </a:r>
          </a:p>
        </p:txBody>
      </p:sp>
      <p:sp>
        <p:nvSpPr>
          <p:cNvPr id="8" name="TextBox 7">
            <a:extLst>
              <a:ext uri="{FF2B5EF4-FFF2-40B4-BE49-F238E27FC236}">
                <a16:creationId xmlns:a16="http://schemas.microsoft.com/office/drawing/2014/main" id="{47DC9C72-0DAA-3B44-B379-09962618C374}"/>
              </a:ext>
            </a:extLst>
          </p:cNvPr>
          <p:cNvSpPr txBox="1"/>
          <p:nvPr/>
        </p:nvSpPr>
        <p:spPr>
          <a:xfrm>
            <a:off x="7245300" y="5303518"/>
            <a:ext cx="558166" cy="369332"/>
          </a:xfrm>
          <a:prstGeom prst="rect">
            <a:avLst/>
          </a:prstGeom>
          <a:noFill/>
        </p:spPr>
        <p:txBody>
          <a:bodyPr wrap="none" rtlCol="0">
            <a:spAutoFit/>
          </a:bodyPr>
          <a:lstStyle/>
          <a:p>
            <a:r>
              <a:rPr lang="en-US" dirty="0"/>
              <a:t>HT0</a:t>
            </a:r>
          </a:p>
        </p:txBody>
      </p:sp>
      <p:sp>
        <p:nvSpPr>
          <p:cNvPr id="3" name="Rectangle 2">
            <a:extLst>
              <a:ext uri="{FF2B5EF4-FFF2-40B4-BE49-F238E27FC236}">
                <a16:creationId xmlns:a16="http://schemas.microsoft.com/office/drawing/2014/main" id="{29301AE7-BFB3-A61D-FFB6-35211EB54DC1}"/>
              </a:ext>
            </a:extLst>
          </p:cNvPr>
          <p:cNvSpPr/>
          <p:nvPr/>
        </p:nvSpPr>
        <p:spPr>
          <a:xfrm>
            <a:off x="936266" y="2306644"/>
            <a:ext cx="1390075" cy="3046988"/>
          </a:xfrm>
          <a:prstGeom prst="rect">
            <a:avLst/>
          </a:prstGeom>
        </p:spPr>
        <p:txBody>
          <a:bodyPr wrap="square">
            <a:spAutoFit/>
          </a:bodyPr>
          <a:lstStyle/>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y</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000000"/>
                </a:solidFill>
                <a:latin typeface="Menlo" panose="020B0609030804020204" pitchFamily="49" charset="0"/>
              </a:rPr>
              <a:t>x = 5;</a:t>
            </a:r>
          </a:p>
          <a:p>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a:t>
            </a:r>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x = 6;</a:t>
            </a:r>
          </a:p>
          <a:p>
            <a:r>
              <a:rPr lang="en-US" sz="2400" dirty="0">
                <a:solidFill>
                  <a:srgbClr val="000000"/>
                </a:solidFill>
                <a:latin typeface="Menlo" panose="020B0609030804020204" pitchFamily="49" charset="0"/>
              </a:rPr>
              <a:t>    y = x;</a:t>
            </a:r>
          </a:p>
          <a:p>
            <a:r>
              <a:rPr lang="en-US" sz="2400" dirty="0">
                <a:solidFill>
                  <a:srgbClr val="000000"/>
                </a:solidFill>
                <a:latin typeface="Menlo" panose="020B0609030804020204" pitchFamily="49" charset="0"/>
              </a:rPr>
              <a:t>}</a:t>
            </a:r>
            <a:endParaRPr lang="en-US" sz="24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11107740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79BB-2980-7F44-8375-A2C2CA41E623}"/>
              </a:ext>
            </a:extLst>
          </p:cNvPr>
          <p:cNvSpPr>
            <a:spLocks noGrp="1"/>
          </p:cNvSpPr>
          <p:nvPr>
            <p:ph type="title"/>
          </p:nvPr>
        </p:nvSpPr>
        <p:spPr/>
        <p:txBody>
          <a:bodyPr/>
          <a:lstStyle/>
          <a:p>
            <a:r>
              <a:rPr lang="en-US" dirty="0"/>
              <a:t>Scopes</a:t>
            </a:r>
          </a:p>
        </p:txBody>
      </p:sp>
      <p:sp>
        <p:nvSpPr>
          <p:cNvPr id="17" name="TextBox 16">
            <a:extLst>
              <a:ext uri="{FF2B5EF4-FFF2-40B4-BE49-F238E27FC236}">
                <a16:creationId xmlns:a16="http://schemas.microsoft.com/office/drawing/2014/main" id="{6F305AA7-267D-8547-A0AD-D54A869F4626}"/>
              </a:ext>
            </a:extLst>
          </p:cNvPr>
          <p:cNvSpPr txBox="1"/>
          <p:nvPr/>
        </p:nvSpPr>
        <p:spPr>
          <a:xfrm>
            <a:off x="3733800" y="1837267"/>
            <a:ext cx="3968009" cy="369332"/>
          </a:xfrm>
          <a:prstGeom prst="rect">
            <a:avLst/>
          </a:prstGeom>
          <a:noFill/>
        </p:spPr>
        <p:txBody>
          <a:bodyPr wrap="none" rtlCol="0">
            <a:spAutoFit/>
          </a:bodyPr>
          <a:lstStyle/>
          <a:p>
            <a:r>
              <a:rPr lang="en-US" dirty="0"/>
              <a:t>Let’s walk through it with a symbol table</a:t>
            </a:r>
          </a:p>
        </p:txBody>
      </p:sp>
      <p:sp>
        <p:nvSpPr>
          <p:cNvPr id="5" name="Rectangle 4">
            <a:extLst>
              <a:ext uri="{FF2B5EF4-FFF2-40B4-BE49-F238E27FC236}">
                <a16:creationId xmlns:a16="http://schemas.microsoft.com/office/drawing/2014/main" id="{89F91E01-3926-EC42-AAF2-2AD64847DE70}"/>
              </a:ext>
            </a:extLst>
          </p:cNvPr>
          <p:cNvSpPr/>
          <p:nvPr/>
        </p:nvSpPr>
        <p:spPr>
          <a:xfrm>
            <a:off x="8102379" y="5160396"/>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441C2A4C-52EA-BA41-9783-B9C1E79FCF74}"/>
              </a:ext>
            </a:extLst>
          </p:cNvPr>
          <p:cNvSpPr txBox="1"/>
          <p:nvPr/>
        </p:nvSpPr>
        <p:spPr>
          <a:xfrm>
            <a:off x="8285650" y="5947576"/>
            <a:ext cx="2934650" cy="369332"/>
          </a:xfrm>
          <a:prstGeom prst="rect">
            <a:avLst/>
          </a:prstGeom>
          <a:noFill/>
        </p:spPr>
        <p:txBody>
          <a:bodyPr wrap="none" rtlCol="0">
            <a:spAutoFit/>
          </a:bodyPr>
          <a:lstStyle/>
          <a:p>
            <a:r>
              <a:rPr lang="en-US" dirty="0"/>
              <a:t>symbol table hash table stack</a:t>
            </a:r>
          </a:p>
        </p:txBody>
      </p:sp>
      <p:sp>
        <p:nvSpPr>
          <p:cNvPr id="7" name="TextBox 6">
            <a:extLst>
              <a:ext uri="{FF2B5EF4-FFF2-40B4-BE49-F238E27FC236}">
                <a16:creationId xmlns:a16="http://schemas.microsoft.com/office/drawing/2014/main" id="{35AE57B7-33F9-C841-A5E7-561FA291058C}"/>
              </a:ext>
            </a:extLst>
          </p:cNvPr>
          <p:cNvSpPr txBox="1"/>
          <p:nvPr/>
        </p:nvSpPr>
        <p:spPr>
          <a:xfrm>
            <a:off x="8278469" y="5189181"/>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x_0</a:t>
            </a:r>
            <a:r>
              <a:rPr lang="en-US" dirty="0">
                <a:latin typeface="Courier" pitchFamily="2" charset="0"/>
              </a:rPr>
              <a:t>”)</a:t>
            </a:r>
          </a:p>
        </p:txBody>
      </p:sp>
      <p:sp>
        <p:nvSpPr>
          <p:cNvPr id="8" name="TextBox 7">
            <a:extLst>
              <a:ext uri="{FF2B5EF4-FFF2-40B4-BE49-F238E27FC236}">
                <a16:creationId xmlns:a16="http://schemas.microsoft.com/office/drawing/2014/main" id="{47DC9C72-0DAA-3B44-B379-09962618C374}"/>
              </a:ext>
            </a:extLst>
          </p:cNvPr>
          <p:cNvSpPr txBox="1"/>
          <p:nvPr/>
        </p:nvSpPr>
        <p:spPr>
          <a:xfrm>
            <a:off x="7245300" y="5303518"/>
            <a:ext cx="558166" cy="369332"/>
          </a:xfrm>
          <a:prstGeom prst="rect">
            <a:avLst/>
          </a:prstGeom>
          <a:noFill/>
        </p:spPr>
        <p:txBody>
          <a:bodyPr wrap="none" rtlCol="0">
            <a:spAutoFit/>
          </a:bodyPr>
          <a:lstStyle/>
          <a:p>
            <a:r>
              <a:rPr lang="en-US" dirty="0"/>
              <a:t>HT0</a:t>
            </a:r>
          </a:p>
        </p:txBody>
      </p:sp>
      <p:sp>
        <p:nvSpPr>
          <p:cNvPr id="3" name="TextBox 2">
            <a:extLst>
              <a:ext uri="{FF2B5EF4-FFF2-40B4-BE49-F238E27FC236}">
                <a16:creationId xmlns:a16="http://schemas.microsoft.com/office/drawing/2014/main" id="{B0956179-EF85-014A-A151-7B74CAFFC1AA}"/>
              </a:ext>
            </a:extLst>
          </p:cNvPr>
          <p:cNvSpPr txBox="1"/>
          <p:nvPr/>
        </p:nvSpPr>
        <p:spPr>
          <a:xfrm>
            <a:off x="1781681" y="1837267"/>
            <a:ext cx="909416" cy="369332"/>
          </a:xfrm>
          <a:prstGeom prst="rect">
            <a:avLst/>
          </a:prstGeom>
          <a:noFill/>
        </p:spPr>
        <p:txBody>
          <a:bodyPr wrap="none" rtlCol="0">
            <a:spAutoFit/>
          </a:bodyPr>
          <a:lstStyle/>
          <a:p>
            <a:r>
              <a:rPr lang="en-US" dirty="0"/>
              <a:t>rename</a:t>
            </a:r>
          </a:p>
        </p:txBody>
      </p:sp>
      <p:sp>
        <p:nvSpPr>
          <p:cNvPr id="9" name="TextBox 8">
            <a:extLst>
              <a:ext uri="{FF2B5EF4-FFF2-40B4-BE49-F238E27FC236}">
                <a16:creationId xmlns:a16="http://schemas.microsoft.com/office/drawing/2014/main" id="{E359AF37-615B-1C41-857C-23184566DE33}"/>
              </a:ext>
            </a:extLst>
          </p:cNvPr>
          <p:cNvSpPr txBox="1"/>
          <p:nvPr/>
        </p:nvSpPr>
        <p:spPr>
          <a:xfrm>
            <a:off x="8211463" y="4398496"/>
            <a:ext cx="3075842" cy="369332"/>
          </a:xfrm>
          <a:prstGeom prst="rect">
            <a:avLst/>
          </a:prstGeom>
          <a:noFill/>
        </p:spPr>
        <p:txBody>
          <a:bodyPr wrap="none" rtlCol="0">
            <a:spAutoFit/>
          </a:bodyPr>
          <a:lstStyle/>
          <a:p>
            <a:r>
              <a:rPr lang="en-US" dirty="0"/>
              <a:t>make a new unique name for x</a:t>
            </a:r>
          </a:p>
        </p:txBody>
      </p:sp>
      <p:sp>
        <p:nvSpPr>
          <p:cNvPr id="10" name="Rectangle 9">
            <a:extLst>
              <a:ext uri="{FF2B5EF4-FFF2-40B4-BE49-F238E27FC236}">
                <a16:creationId xmlns:a16="http://schemas.microsoft.com/office/drawing/2014/main" id="{06AE1997-CD86-A93C-4EC4-3BC0928E1454}"/>
              </a:ext>
            </a:extLst>
          </p:cNvPr>
          <p:cNvSpPr/>
          <p:nvPr/>
        </p:nvSpPr>
        <p:spPr>
          <a:xfrm>
            <a:off x="936266" y="2306644"/>
            <a:ext cx="1390075" cy="3046988"/>
          </a:xfrm>
          <a:prstGeom prst="rect">
            <a:avLst/>
          </a:prstGeom>
        </p:spPr>
        <p:txBody>
          <a:bodyPr wrap="square">
            <a:spAutoFit/>
          </a:bodyPr>
          <a:lstStyle/>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highlight>
                  <a:srgbClr val="FFFF00"/>
                </a:highlight>
                <a:latin typeface="Menlo" panose="020B0609030804020204" pitchFamily="49" charset="0"/>
              </a:rPr>
              <a:t>x_0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y</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000000"/>
                </a:solidFill>
                <a:latin typeface="Menlo" panose="020B0609030804020204" pitchFamily="49" charset="0"/>
              </a:rPr>
              <a:t>x = 5;</a:t>
            </a:r>
          </a:p>
          <a:p>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a:t>
            </a:r>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x = 6;</a:t>
            </a:r>
          </a:p>
          <a:p>
            <a:r>
              <a:rPr lang="en-US" sz="2400" dirty="0">
                <a:solidFill>
                  <a:srgbClr val="000000"/>
                </a:solidFill>
                <a:latin typeface="Menlo" panose="020B0609030804020204" pitchFamily="49" charset="0"/>
              </a:rPr>
              <a:t>    y = x;</a:t>
            </a:r>
          </a:p>
          <a:p>
            <a:r>
              <a:rPr lang="en-US" sz="2400" dirty="0">
                <a:solidFill>
                  <a:srgbClr val="000000"/>
                </a:solidFill>
                <a:latin typeface="Menlo" panose="020B0609030804020204" pitchFamily="49" charset="0"/>
              </a:rPr>
              <a:t>}</a:t>
            </a:r>
            <a:endParaRPr lang="en-US" sz="24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86612871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79BB-2980-7F44-8375-A2C2CA41E623}"/>
              </a:ext>
            </a:extLst>
          </p:cNvPr>
          <p:cNvSpPr>
            <a:spLocks noGrp="1"/>
          </p:cNvSpPr>
          <p:nvPr>
            <p:ph type="title"/>
          </p:nvPr>
        </p:nvSpPr>
        <p:spPr/>
        <p:txBody>
          <a:bodyPr/>
          <a:lstStyle/>
          <a:p>
            <a:r>
              <a:rPr lang="en-US" dirty="0"/>
              <a:t>Scopes</a:t>
            </a:r>
          </a:p>
        </p:txBody>
      </p:sp>
      <p:sp>
        <p:nvSpPr>
          <p:cNvPr id="17" name="TextBox 16">
            <a:extLst>
              <a:ext uri="{FF2B5EF4-FFF2-40B4-BE49-F238E27FC236}">
                <a16:creationId xmlns:a16="http://schemas.microsoft.com/office/drawing/2014/main" id="{6F305AA7-267D-8547-A0AD-D54A869F4626}"/>
              </a:ext>
            </a:extLst>
          </p:cNvPr>
          <p:cNvSpPr txBox="1"/>
          <p:nvPr/>
        </p:nvSpPr>
        <p:spPr>
          <a:xfrm>
            <a:off x="3733800" y="1837267"/>
            <a:ext cx="3968009" cy="369332"/>
          </a:xfrm>
          <a:prstGeom prst="rect">
            <a:avLst/>
          </a:prstGeom>
          <a:noFill/>
        </p:spPr>
        <p:txBody>
          <a:bodyPr wrap="none" rtlCol="0">
            <a:spAutoFit/>
          </a:bodyPr>
          <a:lstStyle/>
          <a:p>
            <a:r>
              <a:rPr lang="en-US" dirty="0"/>
              <a:t>Let’s walk through it with a symbol table</a:t>
            </a:r>
          </a:p>
        </p:txBody>
      </p:sp>
      <p:sp>
        <p:nvSpPr>
          <p:cNvPr id="5" name="Rectangle 4">
            <a:extLst>
              <a:ext uri="{FF2B5EF4-FFF2-40B4-BE49-F238E27FC236}">
                <a16:creationId xmlns:a16="http://schemas.microsoft.com/office/drawing/2014/main" id="{89F91E01-3926-EC42-AAF2-2AD64847DE70}"/>
              </a:ext>
            </a:extLst>
          </p:cNvPr>
          <p:cNvSpPr/>
          <p:nvPr/>
        </p:nvSpPr>
        <p:spPr>
          <a:xfrm>
            <a:off x="8102379" y="5160396"/>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441C2A4C-52EA-BA41-9783-B9C1E79FCF74}"/>
              </a:ext>
            </a:extLst>
          </p:cNvPr>
          <p:cNvSpPr txBox="1"/>
          <p:nvPr/>
        </p:nvSpPr>
        <p:spPr>
          <a:xfrm>
            <a:off x="8285650" y="5947576"/>
            <a:ext cx="2934650" cy="369332"/>
          </a:xfrm>
          <a:prstGeom prst="rect">
            <a:avLst/>
          </a:prstGeom>
          <a:noFill/>
        </p:spPr>
        <p:txBody>
          <a:bodyPr wrap="none" rtlCol="0">
            <a:spAutoFit/>
          </a:bodyPr>
          <a:lstStyle/>
          <a:p>
            <a:r>
              <a:rPr lang="en-US" dirty="0"/>
              <a:t>symbol table hash table stack</a:t>
            </a:r>
          </a:p>
        </p:txBody>
      </p:sp>
      <p:sp>
        <p:nvSpPr>
          <p:cNvPr id="7" name="TextBox 6">
            <a:extLst>
              <a:ext uri="{FF2B5EF4-FFF2-40B4-BE49-F238E27FC236}">
                <a16:creationId xmlns:a16="http://schemas.microsoft.com/office/drawing/2014/main" id="{35AE57B7-33F9-C841-A5E7-561FA291058C}"/>
              </a:ext>
            </a:extLst>
          </p:cNvPr>
          <p:cNvSpPr txBox="1"/>
          <p:nvPr/>
        </p:nvSpPr>
        <p:spPr>
          <a:xfrm>
            <a:off x="8278469" y="5189181"/>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x_0</a:t>
            </a:r>
            <a:r>
              <a:rPr lang="en-US" dirty="0">
                <a:latin typeface="Courier" pitchFamily="2" charset="0"/>
              </a:rPr>
              <a:t>”)</a:t>
            </a:r>
          </a:p>
        </p:txBody>
      </p:sp>
      <p:sp>
        <p:nvSpPr>
          <p:cNvPr id="8" name="TextBox 7">
            <a:extLst>
              <a:ext uri="{FF2B5EF4-FFF2-40B4-BE49-F238E27FC236}">
                <a16:creationId xmlns:a16="http://schemas.microsoft.com/office/drawing/2014/main" id="{47DC9C72-0DAA-3B44-B379-09962618C374}"/>
              </a:ext>
            </a:extLst>
          </p:cNvPr>
          <p:cNvSpPr txBox="1"/>
          <p:nvPr/>
        </p:nvSpPr>
        <p:spPr>
          <a:xfrm>
            <a:off x="7245300" y="5303518"/>
            <a:ext cx="558166" cy="369332"/>
          </a:xfrm>
          <a:prstGeom prst="rect">
            <a:avLst/>
          </a:prstGeom>
          <a:noFill/>
        </p:spPr>
        <p:txBody>
          <a:bodyPr wrap="none" rtlCol="0">
            <a:spAutoFit/>
          </a:bodyPr>
          <a:lstStyle/>
          <a:p>
            <a:r>
              <a:rPr lang="en-US" dirty="0"/>
              <a:t>HT0</a:t>
            </a:r>
          </a:p>
        </p:txBody>
      </p:sp>
      <p:sp>
        <p:nvSpPr>
          <p:cNvPr id="3" name="Rectangle 2">
            <a:extLst>
              <a:ext uri="{FF2B5EF4-FFF2-40B4-BE49-F238E27FC236}">
                <a16:creationId xmlns:a16="http://schemas.microsoft.com/office/drawing/2014/main" id="{3BE6D9CE-BB5A-AE79-7886-119036F15B64}"/>
              </a:ext>
            </a:extLst>
          </p:cNvPr>
          <p:cNvSpPr/>
          <p:nvPr/>
        </p:nvSpPr>
        <p:spPr>
          <a:xfrm>
            <a:off x="936266" y="2306644"/>
            <a:ext cx="1390075" cy="3046988"/>
          </a:xfrm>
          <a:prstGeom prst="rect">
            <a:avLst/>
          </a:prstGeom>
        </p:spPr>
        <p:txBody>
          <a:bodyPr wrap="square">
            <a:spAutoFit/>
          </a:bodyPr>
          <a:lstStyle/>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highlight>
                  <a:srgbClr val="FFFF00"/>
                </a:highlight>
                <a:latin typeface="Menlo" panose="020B0609030804020204" pitchFamily="49" charset="0"/>
              </a:rPr>
              <a:t>y</a:t>
            </a:r>
            <a:r>
              <a:rPr lang="en-US" sz="2400" dirty="0">
                <a:solidFill>
                  <a:srgbClr val="000000"/>
                </a:solidFill>
                <a:highlight>
                  <a:srgbClr val="FFFF00"/>
                </a:highlight>
                <a:latin typeface="Menlo" panose="020B0609030804020204" pitchFamily="49" charset="0"/>
              </a:rPr>
              <a:t>;</a:t>
            </a:r>
            <a:endParaRPr lang="en-US" sz="2400" dirty="0">
              <a:solidFill>
                <a:srgbClr val="2FB41D"/>
              </a:solidFill>
              <a:highlight>
                <a:srgbClr val="FFFF00"/>
              </a:highlight>
              <a:latin typeface="Menlo" panose="020B0609030804020204" pitchFamily="49" charset="0"/>
            </a:endParaRPr>
          </a:p>
          <a:p>
            <a:r>
              <a:rPr lang="en-US" sz="2400" dirty="0">
                <a:solidFill>
                  <a:srgbClr val="000000"/>
                </a:solidFill>
                <a:latin typeface="Menlo" panose="020B0609030804020204" pitchFamily="49" charset="0"/>
              </a:rPr>
              <a:t>x = 5;</a:t>
            </a:r>
          </a:p>
          <a:p>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a:t>
            </a:r>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x = 6;</a:t>
            </a:r>
          </a:p>
          <a:p>
            <a:r>
              <a:rPr lang="en-US" sz="2400" dirty="0">
                <a:solidFill>
                  <a:srgbClr val="000000"/>
                </a:solidFill>
                <a:latin typeface="Menlo" panose="020B0609030804020204" pitchFamily="49" charset="0"/>
              </a:rPr>
              <a:t>    y = x;</a:t>
            </a:r>
          </a:p>
          <a:p>
            <a:r>
              <a:rPr lang="en-US" sz="2400" dirty="0">
                <a:solidFill>
                  <a:srgbClr val="000000"/>
                </a:solidFill>
                <a:latin typeface="Menlo" panose="020B0609030804020204" pitchFamily="49" charset="0"/>
              </a:rPr>
              <a:t>}</a:t>
            </a:r>
            <a:endParaRPr lang="en-US" sz="24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88185429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79BB-2980-7F44-8375-A2C2CA41E623}"/>
              </a:ext>
            </a:extLst>
          </p:cNvPr>
          <p:cNvSpPr>
            <a:spLocks noGrp="1"/>
          </p:cNvSpPr>
          <p:nvPr>
            <p:ph type="title"/>
          </p:nvPr>
        </p:nvSpPr>
        <p:spPr/>
        <p:txBody>
          <a:bodyPr/>
          <a:lstStyle/>
          <a:p>
            <a:r>
              <a:rPr lang="en-US" dirty="0"/>
              <a:t>Scopes</a:t>
            </a:r>
          </a:p>
        </p:txBody>
      </p:sp>
      <p:sp>
        <p:nvSpPr>
          <p:cNvPr id="17" name="TextBox 16">
            <a:extLst>
              <a:ext uri="{FF2B5EF4-FFF2-40B4-BE49-F238E27FC236}">
                <a16:creationId xmlns:a16="http://schemas.microsoft.com/office/drawing/2014/main" id="{6F305AA7-267D-8547-A0AD-D54A869F4626}"/>
              </a:ext>
            </a:extLst>
          </p:cNvPr>
          <p:cNvSpPr txBox="1"/>
          <p:nvPr/>
        </p:nvSpPr>
        <p:spPr>
          <a:xfrm>
            <a:off x="3733800" y="1837267"/>
            <a:ext cx="3968009" cy="369332"/>
          </a:xfrm>
          <a:prstGeom prst="rect">
            <a:avLst/>
          </a:prstGeom>
          <a:noFill/>
        </p:spPr>
        <p:txBody>
          <a:bodyPr wrap="none" rtlCol="0">
            <a:spAutoFit/>
          </a:bodyPr>
          <a:lstStyle/>
          <a:p>
            <a:r>
              <a:rPr lang="en-US" dirty="0"/>
              <a:t>Let’s walk through it with a symbol table</a:t>
            </a:r>
          </a:p>
        </p:txBody>
      </p:sp>
      <p:sp>
        <p:nvSpPr>
          <p:cNvPr id="5" name="Rectangle 4">
            <a:extLst>
              <a:ext uri="{FF2B5EF4-FFF2-40B4-BE49-F238E27FC236}">
                <a16:creationId xmlns:a16="http://schemas.microsoft.com/office/drawing/2014/main" id="{89F91E01-3926-EC42-AAF2-2AD64847DE70}"/>
              </a:ext>
            </a:extLst>
          </p:cNvPr>
          <p:cNvSpPr/>
          <p:nvPr/>
        </p:nvSpPr>
        <p:spPr>
          <a:xfrm>
            <a:off x="8102379" y="5160396"/>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441C2A4C-52EA-BA41-9783-B9C1E79FCF74}"/>
              </a:ext>
            </a:extLst>
          </p:cNvPr>
          <p:cNvSpPr txBox="1"/>
          <p:nvPr/>
        </p:nvSpPr>
        <p:spPr>
          <a:xfrm>
            <a:off x="8285650" y="5947576"/>
            <a:ext cx="2934650" cy="369332"/>
          </a:xfrm>
          <a:prstGeom prst="rect">
            <a:avLst/>
          </a:prstGeom>
          <a:noFill/>
        </p:spPr>
        <p:txBody>
          <a:bodyPr wrap="none" rtlCol="0">
            <a:spAutoFit/>
          </a:bodyPr>
          <a:lstStyle/>
          <a:p>
            <a:r>
              <a:rPr lang="en-US" dirty="0"/>
              <a:t>symbol table hash table stack</a:t>
            </a:r>
          </a:p>
        </p:txBody>
      </p:sp>
      <p:sp>
        <p:nvSpPr>
          <p:cNvPr id="7" name="TextBox 6">
            <a:extLst>
              <a:ext uri="{FF2B5EF4-FFF2-40B4-BE49-F238E27FC236}">
                <a16:creationId xmlns:a16="http://schemas.microsoft.com/office/drawing/2014/main" id="{35AE57B7-33F9-C841-A5E7-561FA291058C}"/>
              </a:ext>
            </a:extLst>
          </p:cNvPr>
          <p:cNvSpPr txBox="1"/>
          <p:nvPr/>
        </p:nvSpPr>
        <p:spPr>
          <a:xfrm>
            <a:off x="8278469" y="5189181"/>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x_0</a:t>
            </a:r>
            <a:r>
              <a:rPr lang="en-US" dirty="0">
                <a:latin typeface="Courier" pitchFamily="2" charset="0"/>
              </a:rPr>
              <a:t>”)</a:t>
            </a:r>
          </a:p>
        </p:txBody>
      </p:sp>
      <p:sp>
        <p:nvSpPr>
          <p:cNvPr id="8" name="TextBox 7">
            <a:extLst>
              <a:ext uri="{FF2B5EF4-FFF2-40B4-BE49-F238E27FC236}">
                <a16:creationId xmlns:a16="http://schemas.microsoft.com/office/drawing/2014/main" id="{47DC9C72-0DAA-3B44-B379-09962618C374}"/>
              </a:ext>
            </a:extLst>
          </p:cNvPr>
          <p:cNvSpPr txBox="1"/>
          <p:nvPr/>
        </p:nvSpPr>
        <p:spPr>
          <a:xfrm>
            <a:off x="7245300" y="5303518"/>
            <a:ext cx="558166" cy="369332"/>
          </a:xfrm>
          <a:prstGeom prst="rect">
            <a:avLst/>
          </a:prstGeom>
          <a:noFill/>
        </p:spPr>
        <p:txBody>
          <a:bodyPr wrap="none" rtlCol="0">
            <a:spAutoFit/>
          </a:bodyPr>
          <a:lstStyle/>
          <a:p>
            <a:r>
              <a:rPr lang="en-US" dirty="0"/>
              <a:t>HT0</a:t>
            </a:r>
          </a:p>
        </p:txBody>
      </p:sp>
      <p:sp>
        <p:nvSpPr>
          <p:cNvPr id="3" name="TextBox 2">
            <a:extLst>
              <a:ext uri="{FF2B5EF4-FFF2-40B4-BE49-F238E27FC236}">
                <a16:creationId xmlns:a16="http://schemas.microsoft.com/office/drawing/2014/main" id="{B0956179-EF85-014A-A151-7B74CAFFC1AA}"/>
              </a:ext>
            </a:extLst>
          </p:cNvPr>
          <p:cNvSpPr txBox="1"/>
          <p:nvPr/>
        </p:nvSpPr>
        <p:spPr>
          <a:xfrm>
            <a:off x="1781681" y="1837267"/>
            <a:ext cx="909416" cy="369332"/>
          </a:xfrm>
          <a:prstGeom prst="rect">
            <a:avLst/>
          </a:prstGeom>
          <a:noFill/>
        </p:spPr>
        <p:txBody>
          <a:bodyPr wrap="none" rtlCol="0">
            <a:spAutoFit/>
          </a:bodyPr>
          <a:lstStyle/>
          <a:p>
            <a:r>
              <a:rPr lang="en-US" dirty="0"/>
              <a:t>rename</a:t>
            </a:r>
          </a:p>
        </p:txBody>
      </p:sp>
      <p:sp>
        <p:nvSpPr>
          <p:cNvPr id="10" name="TextBox 9">
            <a:extLst>
              <a:ext uri="{FF2B5EF4-FFF2-40B4-BE49-F238E27FC236}">
                <a16:creationId xmlns:a16="http://schemas.microsoft.com/office/drawing/2014/main" id="{9596A71B-873B-DE49-A476-84A162A53285}"/>
              </a:ext>
            </a:extLst>
          </p:cNvPr>
          <p:cNvSpPr txBox="1"/>
          <p:nvPr/>
        </p:nvSpPr>
        <p:spPr>
          <a:xfrm>
            <a:off x="8278469" y="5469264"/>
            <a:ext cx="2941831" cy="369332"/>
          </a:xfrm>
          <a:prstGeom prst="rect">
            <a:avLst/>
          </a:prstGeom>
          <a:noFill/>
        </p:spPr>
        <p:txBody>
          <a:bodyPr wrap="none" rtlCol="0">
            <a:spAutoFit/>
          </a:bodyPr>
          <a:lstStyle/>
          <a:p>
            <a:r>
              <a:rPr lang="en-US" dirty="0">
                <a:latin typeface="Courier" pitchFamily="2" charset="0"/>
              </a:rPr>
              <a:t>y: (INT, VAR, “</a:t>
            </a:r>
            <a:r>
              <a:rPr lang="en-US" dirty="0">
                <a:highlight>
                  <a:srgbClr val="FFFF00"/>
                </a:highlight>
                <a:latin typeface="Courier" pitchFamily="2" charset="0"/>
              </a:rPr>
              <a:t>y_0</a:t>
            </a:r>
            <a:r>
              <a:rPr lang="en-US" dirty="0">
                <a:latin typeface="Courier" pitchFamily="2" charset="0"/>
              </a:rPr>
              <a:t>”)</a:t>
            </a:r>
          </a:p>
        </p:txBody>
      </p:sp>
      <p:sp>
        <p:nvSpPr>
          <p:cNvPr id="11" name="TextBox 10">
            <a:extLst>
              <a:ext uri="{FF2B5EF4-FFF2-40B4-BE49-F238E27FC236}">
                <a16:creationId xmlns:a16="http://schemas.microsoft.com/office/drawing/2014/main" id="{032F6F0A-CEC8-B247-908E-3AE85BC8EF87}"/>
              </a:ext>
            </a:extLst>
          </p:cNvPr>
          <p:cNvSpPr txBox="1"/>
          <p:nvPr/>
        </p:nvSpPr>
        <p:spPr>
          <a:xfrm>
            <a:off x="8211463" y="4398496"/>
            <a:ext cx="3075842" cy="369332"/>
          </a:xfrm>
          <a:prstGeom prst="rect">
            <a:avLst/>
          </a:prstGeom>
          <a:noFill/>
        </p:spPr>
        <p:txBody>
          <a:bodyPr wrap="none" rtlCol="0">
            <a:spAutoFit/>
          </a:bodyPr>
          <a:lstStyle/>
          <a:p>
            <a:r>
              <a:rPr lang="en-US" dirty="0"/>
              <a:t>make a new unique name for y</a:t>
            </a:r>
          </a:p>
        </p:txBody>
      </p:sp>
      <p:sp>
        <p:nvSpPr>
          <p:cNvPr id="9" name="TextBox 8">
            <a:extLst>
              <a:ext uri="{FF2B5EF4-FFF2-40B4-BE49-F238E27FC236}">
                <a16:creationId xmlns:a16="http://schemas.microsoft.com/office/drawing/2014/main" id="{9FAE4329-65EC-30B3-1E29-3A7E8EFECA56}"/>
              </a:ext>
            </a:extLst>
          </p:cNvPr>
          <p:cNvSpPr txBox="1"/>
          <p:nvPr/>
        </p:nvSpPr>
        <p:spPr>
          <a:xfrm>
            <a:off x="3382903" y="2758439"/>
            <a:ext cx="4318906" cy="1477328"/>
          </a:xfrm>
          <a:prstGeom prst="rect">
            <a:avLst/>
          </a:prstGeom>
          <a:noFill/>
        </p:spPr>
        <p:txBody>
          <a:bodyPr wrap="square" rtlCol="0">
            <a:spAutoFit/>
          </a:bodyPr>
          <a:lstStyle/>
          <a:p>
            <a:r>
              <a:rPr lang="en-US" dirty="0"/>
              <a:t>We have a stack of symbol tables.  HT0 represents the base of the stack.   So we rename a variable on the outermost scope to be &lt;name&gt;_0.</a:t>
            </a:r>
          </a:p>
          <a:p>
            <a:endParaRPr lang="en-US" dirty="0"/>
          </a:p>
        </p:txBody>
      </p:sp>
      <p:sp>
        <p:nvSpPr>
          <p:cNvPr id="12" name="Rectangle 11">
            <a:extLst>
              <a:ext uri="{FF2B5EF4-FFF2-40B4-BE49-F238E27FC236}">
                <a16:creationId xmlns:a16="http://schemas.microsoft.com/office/drawing/2014/main" id="{555FD243-9AE5-2984-E272-D49C6CBE1770}"/>
              </a:ext>
            </a:extLst>
          </p:cNvPr>
          <p:cNvSpPr/>
          <p:nvPr/>
        </p:nvSpPr>
        <p:spPr>
          <a:xfrm>
            <a:off x="936266" y="2306644"/>
            <a:ext cx="1390075" cy="3046988"/>
          </a:xfrm>
          <a:prstGeom prst="rect">
            <a:avLst/>
          </a:prstGeom>
        </p:spPr>
        <p:txBody>
          <a:bodyPr wrap="square">
            <a:spAutoFit/>
          </a:bodyPr>
          <a:lstStyle/>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highlight>
                  <a:srgbClr val="FFFF00"/>
                </a:highlight>
                <a:latin typeface="Menlo" panose="020B0609030804020204" pitchFamily="49" charset="0"/>
              </a:rPr>
              <a:t>y_0</a:t>
            </a:r>
            <a:r>
              <a:rPr lang="en-US" sz="2400" dirty="0">
                <a:solidFill>
                  <a:srgbClr val="000000"/>
                </a:solidFill>
                <a:highlight>
                  <a:srgbClr val="FFFF00"/>
                </a:highlight>
                <a:latin typeface="Menlo" panose="020B0609030804020204" pitchFamily="49" charset="0"/>
              </a:rPr>
              <a:t>;</a:t>
            </a:r>
            <a:endParaRPr lang="en-US" sz="2400" dirty="0">
              <a:solidFill>
                <a:srgbClr val="2FB41D"/>
              </a:solidFill>
              <a:highlight>
                <a:srgbClr val="FFFF00"/>
              </a:highlight>
              <a:latin typeface="Menlo" panose="020B0609030804020204" pitchFamily="49" charset="0"/>
            </a:endParaRPr>
          </a:p>
          <a:p>
            <a:r>
              <a:rPr lang="en-US" sz="2400" dirty="0">
                <a:solidFill>
                  <a:srgbClr val="000000"/>
                </a:solidFill>
                <a:latin typeface="Menlo" panose="020B0609030804020204" pitchFamily="49" charset="0"/>
              </a:rPr>
              <a:t>x = 5;</a:t>
            </a:r>
          </a:p>
          <a:p>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a:t>
            </a:r>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x = 6;</a:t>
            </a:r>
          </a:p>
          <a:p>
            <a:r>
              <a:rPr lang="en-US" sz="2400" dirty="0">
                <a:solidFill>
                  <a:srgbClr val="000000"/>
                </a:solidFill>
                <a:latin typeface="Menlo" panose="020B0609030804020204" pitchFamily="49" charset="0"/>
              </a:rPr>
              <a:t>    y = x;</a:t>
            </a:r>
          </a:p>
          <a:p>
            <a:r>
              <a:rPr lang="en-US" sz="2400" dirty="0">
                <a:solidFill>
                  <a:srgbClr val="000000"/>
                </a:solidFill>
                <a:latin typeface="Menlo" panose="020B0609030804020204" pitchFamily="49" charset="0"/>
              </a:rPr>
              <a:t>}</a:t>
            </a:r>
            <a:endParaRPr lang="en-US" sz="24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73635368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79BB-2980-7F44-8375-A2C2CA41E623}"/>
              </a:ext>
            </a:extLst>
          </p:cNvPr>
          <p:cNvSpPr>
            <a:spLocks noGrp="1"/>
          </p:cNvSpPr>
          <p:nvPr>
            <p:ph type="title"/>
          </p:nvPr>
        </p:nvSpPr>
        <p:spPr/>
        <p:txBody>
          <a:bodyPr/>
          <a:lstStyle/>
          <a:p>
            <a:r>
              <a:rPr lang="en-US" dirty="0"/>
              <a:t>Scopes</a:t>
            </a:r>
          </a:p>
        </p:txBody>
      </p:sp>
      <p:sp>
        <p:nvSpPr>
          <p:cNvPr id="17" name="TextBox 16">
            <a:extLst>
              <a:ext uri="{FF2B5EF4-FFF2-40B4-BE49-F238E27FC236}">
                <a16:creationId xmlns:a16="http://schemas.microsoft.com/office/drawing/2014/main" id="{6F305AA7-267D-8547-A0AD-D54A869F4626}"/>
              </a:ext>
            </a:extLst>
          </p:cNvPr>
          <p:cNvSpPr txBox="1"/>
          <p:nvPr/>
        </p:nvSpPr>
        <p:spPr>
          <a:xfrm>
            <a:off x="3733800" y="1837267"/>
            <a:ext cx="3968009" cy="369332"/>
          </a:xfrm>
          <a:prstGeom prst="rect">
            <a:avLst/>
          </a:prstGeom>
          <a:noFill/>
        </p:spPr>
        <p:txBody>
          <a:bodyPr wrap="none" rtlCol="0">
            <a:spAutoFit/>
          </a:bodyPr>
          <a:lstStyle/>
          <a:p>
            <a:r>
              <a:rPr lang="en-US" dirty="0"/>
              <a:t>Let’s walk through it with a symbol table</a:t>
            </a:r>
          </a:p>
        </p:txBody>
      </p:sp>
      <p:sp>
        <p:nvSpPr>
          <p:cNvPr id="5" name="Rectangle 4">
            <a:extLst>
              <a:ext uri="{FF2B5EF4-FFF2-40B4-BE49-F238E27FC236}">
                <a16:creationId xmlns:a16="http://schemas.microsoft.com/office/drawing/2014/main" id="{89F91E01-3926-EC42-AAF2-2AD64847DE70}"/>
              </a:ext>
            </a:extLst>
          </p:cNvPr>
          <p:cNvSpPr/>
          <p:nvPr/>
        </p:nvSpPr>
        <p:spPr>
          <a:xfrm>
            <a:off x="8102379" y="5160396"/>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441C2A4C-52EA-BA41-9783-B9C1E79FCF74}"/>
              </a:ext>
            </a:extLst>
          </p:cNvPr>
          <p:cNvSpPr txBox="1"/>
          <p:nvPr/>
        </p:nvSpPr>
        <p:spPr>
          <a:xfrm>
            <a:off x="8285650" y="5947576"/>
            <a:ext cx="2934650" cy="369332"/>
          </a:xfrm>
          <a:prstGeom prst="rect">
            <a:avLst/>
          </a:prstGeom>
          <a:noFill/>
        </p:spPr>
        <p:txBody>
          <a:bodyPr wrap="none" rtlCol="0">
            <a:spAutoFit/>
          </a:bodyPr>
          <a:lstStyle/>
          <a:p>
            <a:r>
              <a:rPr lang="en-US" dirty="0"/>
              <a:t>symbol table hash table stack</a:t>
            </a:r>
          </a:p>
        </p:txBody>
      </p:sp>
      <p:sp>
        <p:nvSpPr>
          <p:cNvPr id="7" name="TextBox 6">
            <a:extLst>
              <a:ext uri="{FF2B5EF4-FFF2-40B4-BE49-F238E27FC236}">
                <a16:creationId xmlns:a16="http://schemas.microsoft.com/office/drawing/2014/main" id="{35AE57B7-33F9-C841-A5E7-561FA291058C}"/>
              </a:ext>
            </a:extLst>
          </p:cNvPr>
          <p:cNvSpPr txBox="1"/>
          <p:nvPr/>
        </p:nvSpPr>
        <p:spPr>
          <a:xfrm>
            <a:off x="8278469" y="5189181"/>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x_0</a:t>
            </a:r>
            <a:r>
              <a:rPr lang="en-US" dirty="0">
                <a:latin typeface="Courier" pitchFamily="2" charset="0"/>
              </a:rPr>
              <a:t>”)</a:t>
            </a:r>
          </a:p>
        </p:txBody>
      </p:sp>
      <p:sp>
        <p:nvSpPr>
          <p:cNvPr id="8" name="TextBox 7">
            <a:extLst>
              <a:ext uri="{FF2B5EF4-FFF2-40B4-BE49-F238E27FC236}">
                <a16:creationId xmlns:a16="http://schemas.microsoft.com/office/drawing/2014/main" id="{47DC9C72-0DAA-3B44-B379-09962618C374}"/>
              </a:ext>
            </a:extLst>
          </p:cNvPr>
          <p:cNvSpPr txBox="1"/>
          <p:nvPr/>
        </p:nvSpPr>
        <p:spPr>
          <a:xfrm>
            <a:off x="7245300" y="5303518"/>
            <a:ext cx="558166" cy="369332"/>
          </a:xfrm>
          <a:prstGeom prst="rect">
            <a:avLst/>
          </a:prstGeom>
          <a:noFill/>
        </p:spPr>
        <p:txBody>
          <a:bodyPr wrap="none" rtlCol="0">
            <a:spAutoFit/>
          </a:bodyPr>
          <a:lstStyle/>
          <a:p>
            <a:r>
              <a:rPr lang="en-US" dirty="0"/>
              <a:t>HT0</a:t>
            </a:r>
          </a:p>
        </p:txBody>
      </p:sp>
      <p:sp>
        <p:nvSpPr>
          <p:cNvPr id="10" name="TextBox 9">
            <a:extLst>
              <a:ext uri="{FF2B5EF4-FFF2-40B4-BE49-F238E27FC236}">
                <a16:creationId xmlns:a16="http://schemas.microsoft.com/office/drawing/2014/main" id="{9596A71B-873B-DE49-A476-84A162A53285}"/>
              </a:ext>
            </a:extLst>
          </p:cNvPr>
          <p:cNvSpPr txBox="1"/>
          <p:nvPr/>
        </p:nvSpPr>
        <p:spPr>
          <a:xfrm>
            <a:off x="8278469" y="5469264"/>
            <a:ext cx="2941831" cy="369332"/>
          </a:xfrm>
          <a:prstGeom prst="rect">
            <a:avLst/>
          </a:prstGeom>
          <a:noFill/>
        </p:spPr>
        <p:txBody>
          <a:bodyPr wrap="none" rtlCol="0">
            <a:spAutoFit/>
          </a:bodyPr>
          <a:lstStyle/>
          <a:p>
            <a:r>
              <a:rPr lang="en-US" dirty="0">
                <a:latin typeface="Courier" pitchFamily="2" charset="0"/>
              </a:rPr>
              <a:t>y: (INT, VAR, “</a:t>
            </a:r>
            <a:r>
              <a:rPr lang="en-US" dirty="0">
                <a:highlight>
                  <a:srgbClr val="FFFF00"/>
                </a:highlight>
                <a:latin typeface="Courier" pitchFamily="2" charset="0"/>
              </a:rPr>
              <a:t>y_0</a:t>
            </a:r>
            <a:r>
              <a:rPr lang="en-US" dirty="0">
                <a:latin typeface="Courier" pitchFamily="2" charset="0"/>
              </a:rPr>
              <a:t>”)</a:t>
            </a:r>
          </a:p>
        </p:txBody>
      </p:sp>
      <p:sp>
        <p:nvSpPr>
          <p:cNvPr id="9" name="TextBox 8">
            <a:extLst>
              <a:ext uri="{FF2B5EF4-FFF2-40B4-BE49-F238E27FC236}">
                <a16:creationId xmlns:a16="http://schemas.microsoft.com/office/drawing/2014/main" id="{760138C0-BB90-2D4E-AC55-1D91C8DB0A51}"/>
              </a:ext>
            </a:extLst>
          </p:cNvPr>
          <p:cNvSpPr txBox="1"/>
          <p:nvPr/>
        </p:nvSpPr>
        <p:spPr>
          <a:xfrm>
            <a:off x="2183446" y="1794934"/>
            <a:ext cx="796821" cy="369332"/>
          </a:xfrm>
          <a:prstGeom prst="rect">
            <a:avLst/>
          </a:prstGeom>
          <a:noFill/>
        </p:spPr>
        <p:txBody>
          <a:bodyPr wrap="none" rtlCol="0">
            <a:spAutoFit/>
          </a:bodyPr>
          <a:lstStyle/>
          <a:p>
            <a:r>
              <a:rPr lang="en-US" dirty="0"/>
              <a:t>search</a:t>
            </a:r>
          </a:p>
        </p:txBody>
      </p:sp>
      <p:sp>
        <p:nvSpPr>
          <p:cNvPr id="3" name="Rectangle 2">
            <a:extLst>
              <a:ext uri="{FF2B5EF4-FFF2-40B4-BE49-F238E27FC236}">
                <a16:creationId xmlns:a16="http://schemas.microsoft.com/office/drawing/2014/main" id="{3B928637-30DC-A252-111A-FB0FB7E7B7C8}"/>
              </a:ext>
            </a:extLst>
          </p:cNvPr>
          <p:cNvSpPr/>
          <p:nvPr/>
        </p:nvSpPr>
        <p:spPr>
          <a:xfrm>
            <a:off x="936266" y="2306644"/>
            <a:ext cx="1390075" cy="3046988"/>
          </a:xfrm>
          <a:prstGeom prst="rect">
            <a:avLst/>
          </a:prstGeom>
        </p:spPr>
        <p:txBody>
          <a:bodyPr wrap="square">
            <a:spAutoFit/>
          </a:bodyPr>
          <a:lstStyle/>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y_0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000000"/>
                </a:solidFill>
                <a:highlight>
                  <a:srgbClr val="FFFF00"/>
                </a:highlight>
                <a:latin typeface="Menlo" panose="020B0609030804020204" pitchFamily="49" charset="0"/>
              </a:rPr>
              <a:t>x = 5</a:t>
            </a:r>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a:t>
            </a:r>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x = 6;</a:t>
            </a:r>
          </a:p>
          <a:p>
            <a:r>
              <a:rPr lang="en-US" sz="2400" dirty="0">
                <a:solidFill>
                  <a:srgbClr val="000000"/>
                </a:solidFill>
                <a:latin typeface="Menlo" panose="020B0609030804020204" pitchFamily="49" charset="0"/>
              </a:rPr>
              <a:t>    y = x;</a:t>
            </a:r>
          </a:p>
          <a:p>
            <a:r>
              <a:rPr lang="en-US" sz="2400" dirty="0">
                <a:solidFill>
                  <a:srgbClr val="000000"/>
                </a:solidFill>
                <a:latin typeface="Menlo" panose="020B0609030804020204" pitchFamily="49" charset="0"/>
              </a:rPr>
              <a:t>}</a:t>
            </a:r>
            <a:endParaRPr lang="en-US" sz="24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07468037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79BB-2980-7F44-8375-A2C2CA41E623}"/>
              </a:ext>
            </a:extLst>
          </p:cNvPr>
          <p:cNvSpPr>
            <a:spLocks noGrp="1"/>
          </p:cNvSpPr>
          <p:nvPr>
            <p:ph type="title"/>
          </p:nvPr>
        </p:nvSpPr>
        <p:spPr/>
        <p:txBody>
          <a:bodyPr/>
          <a:lstStyle/>
          <a:p>
            <a:r>
              <a:rPr lang="en-US" dirty="0"/>
              <a:t>Scopes</a:t>
            </a:r>
          </a:p>
        </p:txBody>
      </p:sp>
      <p:sp>
        <p:nvSpPr>
          <p:cNvPr id="17" name="TextBox 16">
            <a:extLst>
              <a:ext uri="{FF2B5EF4-FFF2-40B4-BE49-F238E27FC236}">
                <a16:creationId xmlns:a16="http://schemas.microsoft.com/office/drawing/2014/main" id="{6F305AA7-267D-8547-A0AD-D54A869F4626}"/>
              </a:ext>
            </a:extLst>
          </p:cNvPr>
          <p:cNvSpPr txBox="1"/>
          <p:nvPr/>
        </p:nvSpPr>
        <p:spPr>
          <a:xfrm>
            <a:off x="3733800" y="1837267"/>
            <a:ext cx="3968009" cy="369332"/>
          </a:xfrm>
          <a:prstGeom prst="rect">
            <a:avLst/>
          </a:prstGeom>
          <a:noFill/>
        </p:spPr>
        <p:txBody>
          <a:bodyPr wrap="none" rtlCol="0">
            <a:spAutoFit/>
          </a:bodyPr>
          <a:lstStyle/>
          <a:p>
            <a:r>
              <a:rPr lang="en-US" dirty="0"/>
              <a:t>Let’s walk through it with a symbol table</a:t>
            </a:r>
          </a:p>
        </p:txBody>
      </p:sp>
      <p:sp>
        <p:nvSpPr>
          <p:cNvPr id="5" name="Rectangle 4">
            <a:extLst>
              <a:ext uri="{FF2B5EF4-FFF2-40B4-BE49-F238E27FC236}">
                <a16:creationId xmlns:a16="http://schemas.microsoft.com/office/drawing/2014/main" id="{89F91E01-3926-EC42-AAF2-2AD64847DE70}"/>
              </a:ext>
            </a:extLst>
          </p:cNvPr>
          <p:cNvSpPr/>
          <p:nvPr/>
        </p:nvSpPr>
        <p:spPr>
          <a:xfrm>
            <a:off x="8102379" y="5160396"/>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441C2A4C-52EA-BA41-9783-B9C1E79FCF74}"/>
              </a:ext>
            </a:extLst>
          </p:cNvPr>
          <p:cNvSpPr txBox="1"/>
          <p:nvPr/>
        </p:nvSpPr>
        <p:spPr>
          <a:xfrm>
            <a:off x="8285650" y="5947576"/>
            <a:ext cx="2934650" cy="369332"/>
          </a:xfrm>
          <a:prstGeom prst="rect">
            <a:avLst/>
          </a:prstGeom>
          <a:noFill/>
        </p:spPr>
        <p:txBody>
          <a:bodyPr wrap="none" rtlCol="0">
            <a:spAutoFit/>
          </a:bodyPr>
          <a:lstStyle/>
          <a:p>
            <a:r>
              <a:rPr lang="en-US" dirty="0"/>
              <a:t>symbol table hash table stack</a:t>
            </a:r>
          </a:p>
        </p:txBody>
      </p:sp>
      <p:sp>
        <p:nvSpPr>
          <p:cNvPr id="7" name="TextBox 6">
            <a:extLst>
              <a:ext uri="{FF2B5EF4-FFF2-40B4-BE49-F238E27FC236}">
                <a16:creationId xmlns:a16="http://schemas.microsoft.com/office/drawing/2014/main" id="{35AE57B7-33F9-C841-A5E7-561FA291058C}"/>
              </a:ext>
            </a:extLst>
          </p:cNvPr>
          <p:cNvSpPr txBox="1"/>
          <p:nvPr/>
        </p:nvSpPr>
        <p:spPr>
          <a:xfrm>
            <a:off x="8278469" y="5189181"/>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x_0</a:t>
            </a:r>
            <a:r>
              <a:rPr lang="en-US" dirty="0">
                <a:latin typeface="Courier" pitchFamily="2" charset="0"/>
              </a:rPr>
              <a:t>”)</a:t>
            </a:r>
          </a:p>
        </p:txBody>
      </p:sp>
      <p:sp>
        <p:nvSpPr>
          <p:cNvPr id="8" name="TextBox 7">
            <a:extLst>
              <a:ext uri="{FF2B5EF4-FFF2-40B4-BE49-F238E27FC236}">
                <a16:creationId xmlns:a16="http://schemas.microsoft.com/office/drawing/2014/main" id="{47DC9C72-0DAA-3B44-B379-09962618C374}"/>
              </a:ext>
            </a:extLst>
          </p:cNvPr>
          <p:cNvSpPr txBox="1"/>
          <p:nvPr/>
        </p:nvSpPr>
        <p:spPr>
          <a:xfrm>
            <a:off x="7245300" y="5303518"/>
            <a:ext cx="558166" cy="369332"/>
          </a:xfrm>
          <a:prstGeom prst="rect">
            <a:avLst/>
          </a:prstGeom>
          <a:noFill/>
        </p:spPr>
        <p:txBody>
          <a:bodyPr wrap="none" rtlCol="0">
            <a:spAutoFit/>
          </a:bodyPr>
          <a:lstStyle/>
          <a:p>
            <a:r>
              <a:rPr lang="en-US" dirty="0"/>
              <a:t>HT0</a:t>
            </a:r>
          </a:p>
        </p:txBody>
      </p:sp>
      <p:sp>
        <p:nvSpPr>
          <p:cNvPr id="10" name="TextBox 9">
            <a:extLst>
              <a:ext uri="{FF2B5EF4-FFF2-40B4-BE49-F238E27FC236}">
                <a16:creationId xmlns:a16="http://schemas.microsoft.com/office/drawing/2014/main" id="{9596A71B-873B-DE49-A476-84A162A53285}"/>
              </a:ext>
            </a:extLst>
          </p:cNvPr>
          <p:cNvSpPr txBox="1"/>
          <p:nvPr/>
        </p:nvSpPr>
        <p:spPr>
          <a:xfrm>
            <a:off x="8278469" y="5469264"/>
            <a:ext cx="2941831" cy="369332"/>
          </a:xfrm>
          <a:prstGeom prst="rect">
            <a:avLst/>
          </a:prstGeom>
          <a:noFill/>
        </p:spPr>
        <p:txBody>
          <a:bodyPr wrap="none" rtlCol="0">
            <a:spAutoFit/>
          </a:bodyPr>
          <a:lstStyle/>
          <a:p>
            <a:r>
              <a:rPr lang="en-US" dirty="0">
                <a:latin typeface="Courier" pitchFamily="2" charset="0"/>
              </a:rPr>
              <a:t>y: (INT, VAR, “</a:t>
            </a:r>
            <a:r>
              <a:rPr lang="en-US" dirty="0">
                <a:highlight>
                  <a:srgbClr val="FFFF00"/>
                </a:highlight>
                <a:latin typeface="Courier" pitchFamily="2" charset="0"/>
              </a:rPr>
              <a:t>y_0</a:t>
            </a:r>
            <a:r>
              <a:rPr lang="en-US" dirty="0">
                <a:latin typeface="Courier" pitchFamily="2" charset="0"/>
              </a:rPr>
              <a:t>”)</a:t>
            </a:r>
          </a:p>
        </p:txBody>
      </p:sp>
      <p:sp>
        <p:nvSpPr>
          <p:cNvPr id="9" name="TextBox 8">
            <a:extLst>
              <a:ext uri="{FF2B5EF4-FFF2-40B4-BE49-F238E27FC236}">
                <a16:creationId xmlns:a16="http://schemas.microsoft.com/office/drawing/2014/main" id="{760138C0-BB90-2D4E-AC55-1D91C8DB0A51}"/>
              </a:ext>
            </a:extLst>
          </p:cNvPr>
          <p:cNvSpPr txBox="1"/>
          <p:nvPr/>
        </p:nvSpPr>
        <p:spPr>
          <a:xfrm>
            <a:off x="2183446" y="1794934"/>
            <a:ext cx="1170962" cy="923330"/>
          </a:xfrm>
          <a:prstGeom prst="rect">
            <a:avLst/>
          </a:prstGeom>
          <a:noFill/>
        </p:spPr>
        <p:txBody>
          <a:bodyPr wrap="none" rtlCol="0">
            <a:spAutoFit/>
          </a:bodyPr>
          <a:lstStyle/>
          <a:p>
            <a:r>
              <a:rPr lang="en-US" dirty="0"/>
              <a:t>replace</a:t>
            </a:r>
            <a:br>
              <a:rPr lang="en-US" dirty="0"/>
            </a:br>
            <a:r>
              <a:rPr lang="en-US" dirty="0"/>
              <a:t>with </a:t>
            </a:r>
            <a:br>
              <a:rPr lang="en-US" dirty="0"/>
            </a:br>
            <a:r>
              <a:rPr lang="en-US" dirty="0"/>
              <a:t>new name</a:t>
            </a:r>
          </a:p>
        </p:txBody>
      </p:sp>
      <p:sp>
        <p:nvSpPr>
          <p:cNvPr id="3" name="TextBox 2">
            <a:extLst>
              <a:ext uri="{FF2B5EF4-FFF2-40B4-BE49-F238E27FC236}">
                <a16:creationId xmlns:a16="http://schemas.microsoft.com/office/drawing/2014/main" id="{0275C473-0A7B-C158-DB5B-9E016DF4F69D}"/>
              </a:ext>
            </a:extLst>
          </p:cNvPr>
          <p:cNvSpPr txBox="1"/>
          <p:nvPr/>
        </p:nvSpPr>
        <p:spPr>
          <a:xfrm>
            <a:off x="3486150" y="3143250"/>
            <a:ext cx="3968009" cy="923330"/>
          </a:xfrm>
          <a:prstGeom prst="rect">
            <a:avLst/>
          </a:prstGeom>
          <a:noFill/>
        </p:spPr>
        <p:txBody>
          <a:bodyPr wrap="square" rtlCol="0">
            <a:spAutoFit/>
          </a:bodyPr>
          <a:lstStyle/>
          <a:p>
            <a:r>
              <a:rPr lang="en-US" dirty="0"/>
              <a:t>We now use the new name on the symbol table – to make the VAR name unique, different from a different scope.</a:t>
            </a:r>
          </a:p>
        </p:txBody>
      </p:sp>
      <p:sp>
        <p:nvSpPr>
          <p:cNvPr id="11" name="Rectangle 10">
            <a:extLst>
              <a:ext uri="{FF2B5EF4-FFF2-40B4-BE49-F238E27FC236}">
                <a16:creationId xmlns:a16="http://schemas.microsoft.com/office/drawing/2014/main" id="{AEC82B49-F2DA-7221-91FF-88BABD0ABFDF}"/>
              </a:ext>
            </a:extLst>
          </p:cNvPr>
          <p:cNvSpPr/>
          <p:nvPr/>
        </p:nvSpPr>
        <p:spPr>
          <a:xfrm>
            <a:off x="936266" y="2306644"/>
            <a:ext cx="1390075" cy="3046988"/>
          </a:xfrm>
          <a:prstGeom prst="rect">
            <a:avLst/>
          </a:prstGeom>
        </p:spPr>
        <p:txBody>
          <a:bodyPr wrap="square">
            <a:spAutoFit/>
          </a:bodyPr>
          <a:lstStyle/>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y_0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000000"/>
                </a:solidFill>
                <a:highlight>
                  <a:srgbClr val="FFFF00"/>
                </a:highlight>
                <a:latin typeface="Menlo" panose="020B0609030804020204" pitchFamily="49" charset="0"/>
              </a:rPr>
              <a:t>x_0 = 5</a:t>
            </a:r>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a:t>
            </a:r>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x = 6;</a:t>
            </a:r>
          </a:p>
          <a:p>
            <a:r>
              <a:rPr lang="en-US" sz="2400" dirty="0">
                <a:solidFill>
                  <a:srgbClr val="000000"/>
                </a:solidFill>
                <a:latin typeface="Menlo" panose="020B0609030804020204" pitchFamily="49" charset="0"/>
              </a:rPr>
              <a:t>    y = x;</a:t>
            </a:r>
          </a:p>
          <a:p>
            <a:r>
              <a:rPr lang="en-US" sz="2400" dirty="0">
                <a:solidFill>
                  <a:srgbClr val="000000"/>
                </a:solidFill>
                <a:latin typeface="Menlo" panose="020B0609030804020204" pitchFamily="49" charset="0"/>
              </a:rPr>
              <a:t>}</a:t>
            </a:r>
            <a:endParaRPr lang="en-US" sz="24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72162805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79BB-2980-7F44-8375-A2C2CA41E623}"/>
              </a:ext>
            </a:extLst>
          </p:cNvPr>
          <p:cNvSpPr>
            <a:spLocks noGrp="1"/>
          </p:cNvSpPr>
          <p:nvPr>
            <p:ph type="title"/>
          </p:nvPr>
        </p:nvSpPr>
        <p:spPr/>
        <p:txBody>
          <a:bodyPr/>
          <a:lstStyle/>
          <a:p>
            <a:r>
              <a:rPr lang="en-US" dirty="0"/>
              <a:t>Scopes</a:t>
            </a:r>
          </a:p>
        </p:txBody>
      </p:sp>
      <p:sp>
        <p:nvSpPr>
          <p:cNvPr id="17" name="TextBox 16">
            <a:extLst>
              <a:ext uri="{FF2B5EF4-FFF2-40B4-BE49-F238E27FC236}">
                <a16:creationId xmlns:a16="http://schemas.microsoft.com/office/drawing/2014/main" id="{6F305AA7-267D-8547-A0AD-D54A869F4626}"/>
              </a:ext>
            </a:extLst>
          </p:cNvPr>
          <p:cNvSpPr txBox="1"/>
          <p:nvPr/>
        </p:nvSpPr>
        <p:spPr>
          <a:xfrm>
            <a:off x="3733800" y="1837267"/>
            <a:ext cx="3968009" cy="369332"/>
          </a:xfrm>
          <a:prstGeom prst="rect">
            <a:avLst/>
          </a:prstGeom>
          <a:noFill/>
        </p:spPr>
        <p:txBody>
          <a:bodyPr wrap="none" rtlCol="0">
            <a:spAutoFit/>
          </a:bodyPr>
          <a:lstStyle/>
          <a:p>
            <a:r>
              <a:rPr lang="en-US" dirty="0"/>
              <a:t>Let’s walk through it with a symbol table</a:t>
            </a:r>
          </a:p>
        </p:txBody>
      </p:sp>
      <p:sp>
        <p:nvSpPr>
          <p:cNvPr id="5" name="Rectangle 4">
            <a:extLst>
              <a:ext uri="{FF2B5EF4-FFF2-40B4-BE49-F238E27FC236}">
                <a16:creationId xmlns:a16="http://schemas.microsoft.com/office/drawing/2014/main" id="{89F91E01-3926-EC42-AAF2-2AD64847DE70}"/>
              </a:ext>
            </a:extLst>
          </p:cNvPr>
          <p:cNvSpPr/>
          <p:nvPr/>
        </p:nvSpPr>
        <p:spPr>
          <a:xfrm>
            <a:off x="8102379" y="5160396"/>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441C2A4C-52EA-BA41-9783-B9C1E79FCF74}"/>
              </a:ext>
            </a:extLst>
          </p:cNvPr>
          <p:cNvSpPr txBox="1"/>
          <p:nvPr/>
        </p:nvSpPr>
        <p:spPr>
          <a:xfrm>
            <a:off x="8285650" y="5947576"/>
            <a:ext cx="2934650" cy="369332"/>
          </a:xfrm>
          <a:prstGeom prst="rect">
            <a:avLst/>
          </a:prstGeom>
          <a:noFill/>
        </p:spPr>
        <p:txBody>
          <a:bodyPr wrap="none" rtlCol="0">
            <a:spAutoFit/>
          </a:bodyPr>
          <a:lstStyle/>
          <a:p>
            <a:r>
              <a:rPr lang="en-US" dirty="0"/>
              <a:t>symbol table hash table stack</a:t>
            </a:r>
          </a:p>
        </p:txBody>
      </p:sp>
      <p:sp>
        <p:nvSpPr>
          <p:cNvPr id="7" name="TextBox 6">
            <a:extLst>
              <a:ext uri="{FF2B5EF4-FFF2-40B4-BE49-F238E27FC236}">
                <a16:creationId xmlns:a16="http://schemas.microsoft.com/office/drawing/2014/main" id="{35AE57B7-33F9-C841-A5E7-561FA291058C}"/>
              </a:ext>
            </a:extLst>
          </p:cNvPr>
          <p:cNvSpPr txBox="1"/>
          <p:nvPr/>
        </p:nvSpPr>
        <p:spPr>
          <a:xfrm>
            <a:off x="8278469" y="5189181"/>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x_0</a:t>
            </a:r>
            <a:r>
              <a:rPr lang="en-US" dirty="0">
                <a:latin typeface="Courier" pitchFamily="2" charset="0"/>
              </a:rPr>
              <a:t>”)</a:t>
            </a:r>
          </a:p>
        </p:txBody>
      </p:sp>
      <p:sp>
        <p:nvSpPr>
          <p:cNvPr id="8" name="TextBox 7">
            <a:extLst>
              <a:ext uri="{FF2B5EF4-FFF2-40B4-BE49-F238E27FC236}">
                <a16:creationId xmlns:a16="http://schemas.microsoft.com/office/drawing/2014/main" id="{47DC9C72-0DAA-3B44-B379-09962618C374}"/>
              </a:ext>
            </a:extLst>
          </p:cNvPr>
          <p:cNvSpPr txBox="1"/>
          <p:nvPr/>
        </p:nvSpPr>
        <p:spPr>
          <a:xfrm>
            <a:off x="7245300" y="5303518"/>
            <a:ext cx="558166" cy="369332"/>
          </a:xfrm>
          <a:prstGeom prst="rect">
            <a:avLst/>
          </a:prstGeom>
          <a:noFill/>
        </p:spPr>
        <p:txBody>
          <a:bodyPr wrap="none" rtlCol="0">
            <a:spAutoFit/>
          </a:bodyPr>
          <a:lstStyle/>
          <a:p>
            <a:r>
              <a:rPr lang="en-US" dirty="0"/>
              <a:t>HT0</a:t>
            </a:r>
          </a:p>
        </p:txBody>
      </p:sp>
      <p:sp>
        <p:nvSpPr>
          <p:cNvPr id="10" name="TextBox 9">
            <a:extLst>
              <a:ext uri="{FF2B5EF4-FFF2-40B4-BE49-F238E27FC236}">
                <a16:creationId xmlns:a16="http://schemas.microsoft.com/office/drawing/2014/main" id="{9596A71B-873B-DE49-A476-84A162A53285}"/>
              </a:ext>
            </a:extLst>
          </p:cNvPr>
          <p:cNvSpPr txBox="1"/>
          <p:nvPr/>
        </p:nvSpPr>
        <p:spPr>
          <a:xfrm>
            <a:off x="8278469" y="5469264"/>
            <a:ext cx="2941831" cy="369332"/>
          </a:xfrm>
          <a:prstGeom prst="rect">
            <a:avLst/>
          </a:prstGeom>
          <a:noFill/>
        </p:spPr>
        <p:txBody>
          <a:bodyPr wrap="none" rtlCol="0">
            <a:spAutoFit/>
          </a:bodyPr>
          <a:lstStyle/>
          <a:p>
            <a:r>
              <a:rPr lang="en-US" dirty="0">
                <a:latin typeface="Courier" pitchFamily="2" charset="0"/>
              </a:rPr>
              <a:t>y: (INT, VAR, “</a:t>
            </a:r>
            <a:r>
              <a:rPr lang="en-US" dirty="0">
                <a:highlight>
                  <a:srgbClr val="FFFF00"/>
                </a:highlight>
                <a:latin typeface="Courier" pitchFamily="2" charset="0"/>
              </a:rPr>
              <a:t>y_0</a:t>
            </a:r>
            <a:r>
              <a:rPr lang="en-US" dirty="0">
                <a:latin typeface="Courier" pitchFamily="2" charset="0"/>
              </a:rPr>
              <a:t>”)</a:t>
            </a:r>
          </a:p>
        </p:txBody>
      </p:sp>
      <p:sp>
        <p:nvSpPr>
          <p:cNvPr id="11" name="Rectangle 10">
            <a:extLst>
              <a:ext uri="{FF2B5EF4-FFF2-40B4-BE49-F238E27FC236}">
                <a16:creationId xmlns:a16="http://schemas.microsoft.com/office/drawing/2014/main" id="{1DA96CB4-D0E3-A24E-8289-C8A20EF1D94C}"/>
              </a:ext>
            </a:extLst>
          </p:cNvPr>
          <p:cNvSpPr/>
          <p:nvPr/>
        </p:nvSpPr>
        <p:spPr>
          <a:xfrm>
            <a:off x="8102379" y="4328591"/>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TextBox 11">
            <a:extLst>
              <a:ext uri="{FF2B5EF4-FFF2-40B4-BE49-F238E27FC236}">
                <a16:creationId xmlns:a16="http://schemas.microsoft.com/office/drawing/2014/main" id="{965F2E6E-76A6-7A40-B86A-B3BDF8A013C9}"/>
              </a:ext>
            </a:extLst>
          </p:cNvPr>
          <p:cNvSpPr txBox="1"/>
          <p:nvPr/>
        </p:nvSpPr>
        <p:spPr>
          <a:xfrm>
            <a:off x="8278469" y="4357376"/>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x_1</a:t>
            </a:r>
            <a:r>
              <a:rPr lang="en-US" dirty="0">
                <a:latin typeface="Courier" pitchFamily="2" charset="0"/>
              </a:rPr>
              <a:t>”)</a:t>
            </a:r>
          </a:p>
        </p:txBody>
      </p:sp>
      <p:sp>
        <p:nvSpPr>
          <p:cNvPr id="13" name="TextBox 12">
            <a:extLst>
              <a:ext uri="{FF2B5EF4-FFF2-40B4-BE49-F238E27FC236}">
                <a16:creationId xmlns:a16="http://schemas.microsoft.com/office/drawing/2014/main" id="{301E6826-1076-6947-8DC2-4C3E510B92A6}"/>
              </a:ext>
            </a:extLst>
          </p:cNvPr>
          <p:cNvSpPr txBox="1"/>
          <p:nvPr/>
        </p:nvSpPr>
        <p:spPr>
          <a:xfrm>
            <a:off x="7245300" y="4471713"/>
            <a:ext cx="558166" cy="369332"/>
          </a:xfrm>
          <a:prstGeom prst="rect">
            <a:avLst/>
          </a:prstGeom>
          <a:noFill/>
        </p:spPr>
        <p:txBody>
          <a:bodyPr wrap="none" rtlCol="0">
            <a:spAutoFit/>
          </a:bodyPr>
          <a:lstStyle/>
          <a:p>
            <a:r>
              <a:rPr lang="en-US" dirty="0"/>
              <a:t>HT1</a:t>
            </a:r>
          </a:p>
        </p:txBody>
      </p:sp>
      <p:sp>
        <p:nvSpPr>
          <p:cNvPr id="3" name="TextBox 2">
            <a:extLst>
              <a:ext uri="{FF2B5EF4-FFF2-40B4-BE49-F238E27FC236}">
                <a16:creationId xmlns:a16="http://schemas.microsoft.com/office/drawing/2014/main" id="{9FC01CF1-2467-C54C-B34A-5C33C08FAA64}"/>
              </a:ext>
            </a:extLst>
          </p:cNvPr>
          <p:cNvSpPr txBox="1"/>
          <p:nvPr/>
        </p:nvSpPr>
        <p:spPr>
          <a:xfrm>
            <a:off x="8102379" y="3240876"/>
            <a:ext cx="3495444" cy="369332"/>
          </a:xfrm>
          <a:prstGeom prst="rect">
            <a:avLst/>
          </a:prstGeom>
          <a:noFill/>
        </p:spPr>
        <p:txBody>
          <a:bodyPr wrap="none" rtlCol="0">
            <a:spAutoFit/>
          </a:bodyPr>
          <a:lstStyle/>
          <a:p>
            <a:r>
              <a:rPr lang="en-US" dirty="0"/>
              <a:t>new scope. Add x with a new name</a:t>
            </a:r>
          </a:p>
        </p:txBody>
      </p:sp>
      <p:sp>
        <p:nvSpPr>
          <p:cNvPr id="9" name="TextBox 8">
            <a:extLst>
              <a:ext uri="{FF2B5EF4-FFF2-40B4-BE49-F238E27FC236}">
                <a16:creationId xmlns:a16="http://schemas.microsoft.com/office/drawing/2014/main" id="{516AF179-14D8-960A-0EC5-E1EDB1DD5A5C}"/>
              </a:ext>
            </a:extLst>
          </p:cNvPr>
          <p:cNvSpPr txBox="1"/>
          <p:nvPr/>
        </p:nvSpPr>
        <p:spPr>
          <a:xfrm>
            <a:off x="3314700" y="3240876"/>
            <a:ext cx="3004457" cy="2031325"/>
          </a:xfrm>
          <a:prstGeom prst="rect">
            <a:avLst/>
          </a:prstGeom>
          <a:noFill/>
        </p:spPr>
        <p:txBody>
          <a:bodyPr wrap="square" rtlCol="0">
            <a:spAutoFit/>
          </a:bodyPr>
          <a:lstStyle/>
          <a:p>
            <a:r>
              <a:rPr lang="en-US" dirty="0"/>
              <a:t>As we push a new symbol table (HT1) for the new scope, we now create new names as per the declarations, by concatenating the 1 corresponding to this level in the stack, and so on.</a:t>
            </a:r>
          </a:p>
        </p:txBody>
      </p:sp>
      <p:sp>
        <p:nvSpPr>
          <p:cNvPr id="14" name="Rectangle 13">
            <a:extLst>
              <a:ext uri="{FF2B5EF4-FFF2-40B4-BE49-F238E27FC236}">
                <a16:creationId xmlns:a16="http://schemas.microsoft.com/office/drawing/2014/main" id="{B9DDAEE4-2B4E-C8F9-626B-2D4B79EC06F5}"/>
              </a:ext>
            </a:extLst>
          </p:cNvPr>
          <p:cNvSpPr/>
          <p:nvPr/>
        </p:nvSpPr>
        <p:spPr>
          <a:xfrm>
            <a:off x="936266" y="2306644"/>
            <a:ext cx="1390075" cy="3046988"/>
          </a:xfrm>
          <a:prstGeom prst="rect">
            <a:avLst/>
          </a:prstGeom>
        </p:spPr>
        <p:txBody>
          <a:bodyPr wrap="square">
            <a:spAutoFit/>
          </a:bodyPr>
          <a:lstStyle/>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y_0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000000"/>
                </a:solidFill>
                <a:latin typeface="Menlo" panose="020B0609030804020204" pitchFamily="49" charset="0"/>
              </a:rPr>
              <a:t>x_0 = 5;</a:t>
            </a:r>
          </a:p>
          <a:p>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2FB41D"/>
                </a:solidFill>
                <a:highlight>
                  <a:srgbClr val="FFFF00"/>
                </a:highlight>
                <a:latin typeface="Menlo" panose="020B0609030804020204" pitchFamily="49" charset="0"/>
              </a:rPr>
              <a:t>int</a:t>
            </a:r>
            <a:r>
              <a:rPr lang="en-US" sz="2400" dirty="0">
                <a:solidFill>
                  <a:srgbClr val="000000"/>
                </a:solidFill>
                <a:highlight>
                  <a:srgbClr val="FFFF00"/>
                </a:highlight>
                <a:latin typeface="Menlo" panose="020B0609030804020204" pitchFamily="49" charset="0"/>
              </a:rPr>
              <a:t> </a:t>
            </a:r>
            <a:r>
              <a:rPr lang="en-US" sz="2400" dirty="0">
                <a:solidFill>
                  <a:srgbClr val="9FA01C"/>
                </a:solidFill>
                <a:highlight>
                  <a:srgbClr val="FFFF00"/>
                </a:highlight>
                <a:latin typeface="Menlo" panose="020B0609030804020204" pitchFamily="49" charset="0"/>
              </a:rPr>
              <a:t>x</a:t>
            </a:r>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x = 6;</a:t>
            </a:r>
          </a:p>
          <a:p>
            <a:r>
              <a:rPr lang="en-US" sz="2400" dirty="0">
                <a:solidFill>
                  <a:srgbClr val="000000"/>
                </a:solidFill>
                <a:latin typeface="Menlo" panose="020B0609030804020204" pitchFamily="49" charset="0"/>
              </a:rPr>
              <a:t>    y = x;</a:t>
            </a:r>
          </a:p>
          <a:p>
            <a:r>
              <a:rPr lang="en-US" sz="2400" dirty="0">
                <a:solidFill>
                  <a:srgbClr val="000000"/>
                </a:solidFill>
                <a:latin typeface="Menlo" panose="020B0609030804020204" pitchFamily="49" charset="0"/>
              </a:rPr>
              <a:t>}</a:t>
            </a:r>
            <a:endParaRPr lang="en-US" sz="24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22987959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79BB-2980-7F44-8375-A2C2CA41E623}"/>
              </a:ext>
            </a:extLst>
          </p:cNvPr>
          <p:cNvSpPr>
            <a:spLocks noGrp="1"/>
          </p:cNvSpPr>
          <p:nvPr>
            <p:ph type="title"/>
          </p:nvPr>
        </p:nvSpPr>
        <p:spPr/>
        <p:txBody>
          <a:bodyPr/>
          <a:lstStyle/>
          <a:p>
            <a:r>
              <a:rPr lang="en-US" dirty="0"/>
              <a:t>Scopes</a:t>
            </a:r>
          </a:p>
        </p:txBody>
      </p:sp>
      <p:sp>
        <p:nvSpPr>
          <p:cNvPr id="17" name="TextBox 16">
            <a:extLst>
              <a:ext uri="{FF2B5EF4-FFF2-40B4-BE49-F238E27FC236}">
                <a16:creationId xmlns:a16="http://schemas.microsoft.com/office/drawing/2014/main" id="{6F305AA7-267D-8547-A0AD-D54A869F4626}"/>
              </a:ext>
            </a:extLst>
          </p:cNvPr>
          <p:cNvSpPr txBox="1"/>
          <p:nvPr/>
        </p:nvSpPr>
        <p:spPr>
          <a:xfrm>
            <a:off x="3733800" y="1837267"/>
            <a:ext cx="3968009" cy="369332"/>
          </a:xfrm>
          <a:prstGeom prst="rect">
            <a:avLst/>
          </a:prstGeom>
          <a:noFill/>
        </p:spPr>
        <p:txBody>
          <a:bodyPr wrap="none" rtlCol="0">
            <a:spAutoFit/>
          </a:bodyPr>
          <a:lstStyle/>
          <a:p>
            <a:r>
              <a:rPr lang="en-US" dirty="0"/>
              <a:t>Let’s walk through it with a symbol table</a:t>
            </a:r>
          </a:p>
        </p:txBody>
      </p:sp>
      <p:sp>
        <p:nvSpPr>
          <p:cNvPr id="5" name="Rectangle 4">
            <a:extLst>
              <a:ext uri="{FF2B5EF4-FFF2-40B4-BE49-F238E27FC236}">
                <a16:creationId xmlns:a16="http://schemas.microsoft.com/office/drawing/2014/main" id="{89F91E01-3926-EC42-AAF2-2AD64847DE70}"/>
              </a:ext>
            </a:extLst>
          </p:cNvPr>
          <p:cNvSpPr/>
          <p:nvPr/>
        </p:nvSpPr>
        <p:spPr>
          <a:xfrm>
            <a:off x="8102379" y="5160396"/>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441C2A4C-52EA-BA41-9783-B9C1E79FCF74}"/>
              </a:ext>
            </a:extLst>
          </p:cNvPr>
          <p:cNvSpPr txBox="1"/>
          <p:nvPr/>
        </p:nvSpPr>
        <p:spPr>
          <a:xfrm>
            <a:off x="8285650" y="5947576"/>
            <a:ext cx="2934650" cy="369332"/>
          </a:xfrm>
          <a:prstGeom prst="rect">
            <a:avLst/>
          </a:prstGeom>
          <a:noFill/>
        </p:spPr>
        <p:txBody>
          <a:bodyPr wrap="none" rtlCol="0">
            <a:spAutoFit/>
          </a:bodyPr>
          <a:lstStyle/>
          <a:p>
            <a:r>
              <a:rPr lang="en-US" dirty="0"/>
              <a:t>symbol table hash table stack</a:t>
            </a:r>
          </a:p>
        </p:txBody>
      </p:sp>
      <p:sp>
        <p:nvSpPr>
          <p:cNvPr id="7" name="TextBox 6">
            <a:extLst>
              <a:ext uri="{FF2B5EF4-FFF2-40B4-BE49-F238E27FC236}">
                <a16:creationId xmlns:a16="http://schemas.microsoft.com/office/drawing/2014/main" id="{35AE57B7-33F9-C841-A5E7-561FA291058C}"/>
              </a:ext>
            </a:extLst>
          </p:cNvPr>
          <p:cNvSpPr txBox="1"/>
          <p:nvPr/>
        </p:nvSpPr>
        <p:spPr>
          <a:xfrm>
            <a:off x="8278469" y="5189181"/>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x_0</a:t>
            </a:r>
            <a:r>
              <a:rPr lang="en-US" dirty="0">
                <a:latin typeface="Courier" pitchFamily="2" charset="0"/>
              </a:rPr>
              <a:t>”)</a:t>
            </a:r>
          </a:p>
        </p:txBody>
      </p:sp>
      <p:sp>
        <p:nvSpPr>
          <p:cNvPr id="8" name="TextBox 7">
            <a:extLst>
              <a:ext uri="{FF2B5EF4-FFF2-40B4-BE49-F238E27FC236}">
                <a16:creationId xmlns:a16="http://schemas.microsoft.com/office/drawing/2014/main" id="{47DC9C72-0DAA-3B44-B379-09962618C374}"/>
              </a:ext>
            </a:extLst>
          </p:cNvPr>
          <p:cNvSpPr txBox="1"/>
          <p:nvPr/>
        </p:nvSpPr>
        <p:spPr>
          <a:xfrm>
            <a:off x="7245300" y="5303518"/>
            <a:ext cx="558166" cy="369332"/>
          </a:xfrm>
          <a:prstGeom prst="rect">
            <a:avLst/>
          </a:prstGeom>
          <a:noFill/>
        </p:spPr>
        <p:txBody>
          <a:bodyPr wrap="none" rtlCol="0">
            <a:spAutoFit/>
          </a:bodyPr>
          <a:lstStyle/>
          <a:p>
            <a:r>
              <a:rPr lang="en-US" dirty="0"/>
              <a:t>HT0</a:t>
            </a:r>
          </a:p>
        </p:txBody>
      </p:sp>
      <p:sp>
        <p:nvSpPr>
          <p:cNvPr id="10" name="TextBox 9">
            <a:extLst>
              <a:ext uri="{FF2B5EF4-FFF2-40B4-BE49-F238E27FC236}">
                <a16:creationId xmlns:a16="http://schemas.microsoft.com/office/drawing/2014/main" id="{9596A71B-873B-DE49-A476-84A162A53285}"/>
              </a:ext>
            </a:extLst>
          </p:cNvPr>
          <p:cNvSpPr txBox="1"/>
          <p:nvPr/>
        </p:nvSpPr>
        <p:spPr>
          <a:xfrm>
            <a:off x="8278469" y="5469264"/>
            <a:ext cx="2941831" cy="369332"/>
          </a:xfrm>
          <a:prstGeom prst="rect">
            <a:avLst/>
          </a:prstGeom>
          <a:noFill/>
        </p:spPr>
        <p:txBody>
          <a:bodyPr wrap="none" rtlCol="0">
            <a:spAutoFit/>
          </a:bodyPr>
          <a:lstStyle/>
          <a:p>
            <a:r>
              <a:rPr lang="en-US" dirty="0">
                <a:latin typeface="Courier" pitchFamily="2" charset="0"/>
              </a:rPr>
              <a:t>y: (INT, VAR, “</a:t>
            </a:r>
            <a:r>
              <a:rPr lang="en-US" dirty="0">
                <a:highlight>
                  <a:srgbClr val="FFFF00"/>
                </a:highlight>
                <a:latin typeface="Courier" pitchFamily="2" charset="0"/>
              </a:rPr>
              <a:t>y_0</a:t>
            </a:r>
            <a:r>
              <a:rPr lang="en-US" dirty="0">
                <a:latin typeface="Courier" pitchFamily="2" charset="0"/>
              </a:rPr>
              <a:t>”)</a:t>
            </a:r>
          </a:p>
        </p:txBody>
      </p:sp>
      <p:sp>
        <p:nvSpPr>
          <p:cNvPr id="11" name="Rectangle 10">
            <a:extLst>
              <a:ext uri="{FF2B5EF4-FFF2-40B4-BE49-F238E27FC236}">
                <a16:creationId xmlns:a16="http://schemas.microsoft.com/office/drawing/2014/main" id="{1DA96CB4-D0E3-A24E-8289-C8A20EF1D94C}"/>
              </a:ext>
            </a:extLst>
          </p:cNvPr>
          <p:cNvSpPr/>
          <p:nvPr/>
        </p:nvSpPr>
        <p:spPr>
          <a:xfrm>
            <a:off x="8102379" y="4328591"/>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TextBox 11">
            <a:extLst>
              <a:ext uri="{FF2B5EF4-FFF2-40B4-BE49-F238E27FC236}">
                <a16:creationId xmlns:a16="http://schemas.microsoft.com/office/drawing/2014/main" id="{965F2E6E-76A6-7A40-B86A-B3BDF8A013C9}"/>
              </a:ext>
            </a:extLst>
          </p:cNvPr>
          <p:cNvSpPr txBox="1"/>
          <p:nvPr/>
        </p:nvSpPr>
        <p:spPr>
          <a:xfrm>
            <a:off x="8278469" y="4357376"/>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x_1</a:t>
            </a:r>
            <a:r>
              <a:rPr lang="en-US" dirty="0">
                <a:latin typeface="Courier" pitchFamily="2" charset="0"/>
              </a:rPr>
              <a:t>”)</a:t>
            </a:r>
          </a:p>
        </p:txBody>
      </p:sp>
      <p:sp>
        <p:nvSpPr>
          <p:cNvPr id="13" name="TextBox 12">
            <a:extLst>
              <a:ext uri="{FF2B5EF4-FFF2-40B4-BE49-F238E27FC236}">
                <a16:creationId xmlns:a16="http://schemas.microsoft.com/office/drawing/2014/main" id="{301E6826-1076-6947-8DC2-4C3E510B92A6}"/>
              </a:ext>
            </a:extLst>
          </p:cNvPr>
          <p:cNvSpPr txBox="1"/>
          <p:nvPr/>
        </p:nvSpPr>
        <p:spPr>
          <a:xfrm>
            <a:off x="7245300" y="4471713"/>
            <a:ext cx="558166" cy="369332"/>
          </a:xfrm>
          <a:prstGeom prst="rect">
            <a:avLst/>
          </a:prstGeom>
          <a:noFill/>
        </p:spPr>
        <p:txBody>
          <a:bodyPr wrap="none" rtlCol="0">
            <a:spAutoFit/>
          </a:bodyPr>
          <a:lstStyle/>
          <a:p>
            <a:r>
              <a:rPr lang="en-US" dirty="0"/>
              <a:t>HT1</a:t>
            </a:r>
          </a:p>
        </p:txBody>
      </p:sp>
      <p:sp>
        <p:nvSpPr>
          <p:cNvPr id="3" name="TextBox 2">
            <a:extLst>
              <a:ext uri="{FF2B5EF4-FFF2-40B4-BE49-F238E27FC236}">
                <a16:creationId xmlns:a16="http://schemas.microsoft.com/office/drawing/2014/main" id="{9FC01CF1-2467-C54C-B34A-5C33C08FAA64}"/>
              </a:ext>
            </a:extLst>
          </p:cNvPr>
          <p:cNvSpPr txBox="1"/>
          <p:nvPr/>
        </p:nvSpPr>
        <p:spPr>
          <a:xfrm>
            <a:off x="8102379" y="3240876"/>
            <a:ext cx="3495444" cy="369332"/>
          </a:xfrm>
          <a:prstGeom prst="rect">
            <a:avLst/>
          </a:prstGeom>
          <a:noFill/>
        </p:spPr>
        <p:txBody>
          <a:bodyPr wrap="none" rtlCol="0">
            <a:spAutoFit/>
          </a:bodyPr>
          <a:lstStyle/>
          <a:p>
            <a:r>
              <a:rPr lang="en-US" dirty="0"/>
              <a:t>new scope. Add x with a new name</a:t>
            </a:r>
          </a:p>
        </p:txBody>
      </p:sp>
      <p:sp>
        <p:nvSpPr>
          <p:cNvPr id="9" name="Rectangle 8">
            <a:extLst>
              <a:ext uri="{FF2B5EF4-FFF2-40B4-BE49-F238E27FC236}">
                <a16:creationId xmlns:a16="http://schemas.microsoft.com/office/drawing/2014/main" id="{DC6C522E-B066-A173-A913-4E92BD09DEFB}"/>
              </a:ext>
            </a:extLst>
          </p:cNvPr>
          <p:cNvSpPr/>
          <p:nvPr/>
        </p:nvSpPr>
        <p:spPr>
          <a:xfrm>
            <a:off x="936266" y="2306644"/>
            <a:ext cx="1390075" cy="3046988"/>
          </a:xfrm>
          <a:prstGeom prst="rect">
            <a:avLst/>
          </a:prstGeom>
        </p:spPr>
        <p:txBody>
          <a:bodyPr wrap="square">
            <a:spAutoFit/>
          </a:bodyPr>
          <a:lstStyle/>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y_0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000000"/>
                </a:solidFill>
                <a:latin typeface="Menlo" panose="020B0609030804020204" pitchFamily="49" charset="0"/>
              </a:rPr>
              <a:t>x_0 = 5;</a:t>
            </a:r>
          </a:p>
          <a:p>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2FB41D"/>
                </a:solidFill>
                <a:highlight>
                  <a:srgbClr val="FFFF00"/>
                </a:highlight>
                <a:latin typeface="Menlo" panose="020B0609030804020204" pitchFamily="49" charset="0"/>
              </a:rPr>
              <a:t>int</a:t>
            </a:r>
            <a:r>
              <a:rPr lang="en-US" sz="2400" dirty="0">
                <a:solidFill>
                  <a:srgbClr val="000000"/>
                </a:solidFill>
                <a:highlight>
                  <a:srgbClr val="FFFF00"/>
                </a:highlight>
                <a:latin typeface="Menlo" panose="020B0609030804020204" pitchFamily="49" charset="0"/>
              </a:rPr>
              <a:t> </a:t>
            </a:r>
            <a:r>
              <a:rPr lang="en-US" sz="2400" dirty="0">
                <a:solidFill>
                  <a:srgbClr val="9FA01C"/>
                </a:solidFill>
                <a:highlight>
                  <a:srgbClr val="FFFF00"/>
                </a:highlight>
                <a:latin typeface="Menlo" panose="020B0609030804020204" pitchFamily="49" charset="0"/>
              </a:rPr>
              <a:t>x_1</a:t>
            </a:r>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x = 6;</a:t>
            </a:r>
          </a:p>
          <a:p>
            <a:r>
              <a:rPr lang="en-US" sz="2400" dirty="0">
                <a:solidFill>
                  <a:srgbClr val="000000"/>
                </a:solidFill>
                <a:latin typeface="Menlo" panose="020B0609030804020204" pitchFamily="49" charset="0"/>
              </a:rPr>
              <a:t>    y = x;</a:t>
            </a:r>
          </a:p>
          <a:p>
            <a:r>
              <a:rPr lang="en-US" sz="2400" dirty="0">
                <a:solidFill>
                  <a:srgbClr val="000000"/>
                </a:solidFill>
                <a:latin typeface="Menlo" panose="020B0609030804020204" pitchFamily="49" charset="0"/>
              </a:rPr>
              <a:t>}</a:t>
            </a:r>
            <a:endParaRPr lang="en-US" sz="2400" dirty="0">
              <a:solidFill>
                <a:srgbClr val="000000"/>
              </a:solidFill>
              <a:effectLst/>
              <a:latin typeface="Menlo" panose="020B0609030804020204" pitchFamily="49" charset="0"/>
            </a:endParaRPr>
          </a:p>
        </p:txBody>
      </p:sp>
      <p:sp>
        <p:nvSpPr>
          <p:cNvPr id="14" name="TextBox 13">
            <a:extLst>
              <a:ext uri="{FF2B5EF4-FFF2-40B4-BE49-F238E27FC236}">
                <a16:creationId xmlns:a16="http://schemas.microsoft.com/office/drawing/2014/main" id="{F40068E1-0671-C099-1A44-CED46ECBD20F}"/>
              </a:ext>
            </a:extLst>
          </p:cNvPr>
          <p:cNvSpPr txBox="1"/>
          <p:nvPr/>
        </p:nvSpPr>
        <p:spPr>
          <a:xfrm>
            <a:off x="1781681" y="1837267"/>
            <a:ext cx="909416" cy="369332"/>
          </a:xfrm>
          <a:prstGeom prst="rect">
            <a:avLst/>
          </a:prstGeom>
          <a:noFill/>
        </p:spPr>
        <p:txBody>
          <a:bodyPr wrap="none" rtlCol="0">
            <a:spAutoFit/>
          </a:bodyPr>
          <a:lstStyle/>
          <a:p>
            <a:r>
              <a:rPr lang="en-US" dirty="0"/>
              <a:t>rename</a:t>
            </a:r>
          </a:p>
        </p:txBody>
      </p:sp>
    </p:spTree>
    <p:extLst>
      <p:ext uri="{BB962C8B-B14F-4D97-AF65-F5344CB8AC3E}">
        <p14:creationId xmlns:p14="http://schemas.microsoft.com/office/powerpoint/2010/main" val="291157559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79BB-2980-7F44-8375-A2C2CA41E623}"/>
              </a:ext>
            </a:extLst>
          </p:cNvPr>
          <p:cNvSpPr>
            <a:spLocks noGrp="1"/>
          </p:cNvSpPr>
          <p:nvPr>
            <p:ph type="title"/>
          </p:nvPr>
        </p:nvSpPr>
        <p:spPr/>
        <p:txBody>
          <a:bodyPr/>
          <a:lstStyle/>
          <a:p>
            <a:r>
              <a:rPr lang="en-US" dirty="0"/>
              <a:t>Scopes</a:t>
            </a:r>
          </a:p>
        </p:txBody>
      </p:sp>
      <p:sp>
        <p:nvSpPr>
          <p:cNvPr id="17" name="TextBox 16">
            <a:extLst>
              <a:ext uri="{FF2B5EF4-FFF2-40B4-BE49-F238E27FC236}">
                <a16:creationId xmlns:a16="http://schemas.microsoft.com/office/drawing/2014/main" id="{6F305AA7-267D-8547-A0AD-D54A869F4626}"/>
              </a:ext>
            </a:extLst>
          </p:cNvPr>
          <p:cNvSpPr txBox="1"/>
          <p:nvPr/>
        </p:nvSpPr>
        <p:spPr>
          <a:xfrm>
            <a:off x="3733800" y="1837267"/>
            <a:ext cx="3968009" cy="369332"/>
          </a:xfrm>
          <a:prstGeom prst="rect">
            <a:avLst/>
          </a:prstGeom>
          <a:noFill/>
        </p:spPr>
        <p:txBody>
          <a:bodyPr wrap="none" rtlCol="0">
            <a:spAutoFit/>
          </a:bodyPr>
          <a:lstStyle/>
          <a:p>
            <a:r>
              <a:rPr lang="en-US" dirty="0"/>
              <a:t>Let’s walk through it with a symbol table</a:t>
            </a:r>
          </a:p>
        </p:txBody>
      </p:sp>
      <p:sp>
        <p:nvSpPr>
          <p:cNvPr id="5" name="Rectangle 4">
            <a:extLst>
              <a:ext uri="{FF2B5EF4-FFF2-40B4-BE49-F238E27FC236}">
                <a16:creationId xmlns:a16="http://schemas.microsoft.com/office/drawing/2014/main" id="{89F91E01-3926-EC42-AAF2-2AD64847DE70}"/>
              </a:ext>
            </a:extLst>
          </p:cNvPr>
          <p:cNvSpPr/>
          <p:nvPr/>
        </p:nvSpPr>
        <p:spPr>
          <a:xfrm>
            <a:off x="8102379" y="5160396"/>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441C2A4C-52EA-BA41-9783-B9C1E79FCF74}"/>
              </a:ext>
            </a:extLst>
          </p:cNvPr>
          <p:cNvSpPr txBox="1"/>
          <p:nvPr/>
        </p:nvSpPr>
        <p:spPr>
          <a:xfrm>
            <a:off x="8285650" y="5947576"/>
            <a:ext cx="2934650" cy="369332"/>
          </a:xfrm>
          <a:prstGeom prst="rect">
            <a:avLst/>
          </a:prstGeom>
          <a:noFill/>
        </p:spPr>
        <p:txBody>
          <a:bodyPr wrap="none" rtlCol="0">
            <a:spAutoFit/>
          </a:bodyPr>
          <a:lstStyle/>
          <a:p>
            <a:r>
              <a:rPr lang="en-US" dirty="0"/>
              <a:t>symbol table hash table stack</a:t>
            </a:r>
          </a:p>
        </p:txBody>
      </p:sp>
      <p:sp>
        <p:nvSpPr>
          <p:cNvPr id="7" name="TextBox 6">
            <a:extLst>
              <a:ext uri="{FF2B5EF4-FFF2-40B4-BE49-F238E27FC236}">
                <a16:creationId xmlns:a16="http://schemas.microsoft.com/office/drawing/2014/main" id="{35AE57B7-33F9-C841-A5E7-561FA291058C}"/>
              </a:ext>
            </a:extLst>
          </p:cNvPr>
          <p:cNvSpPr txBox="1"/>
          <p:nvPr/>
        </p:nvSpPr>
        <p:spPr>
          <a:xfrm>
            <a:off x="8278469" y="5189181"/>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x_0</a:t>
            </a:r>
            <a:r>
              <a:rPr lang="en-US" dirty="0">
                <a:latin typeface="Courier" pitchFamily="2" charset="0"/>
              </a:rPr>
              <a:t>”)</a:t>
            </a:r>
          </a:p>
        </p:txBody>
      </p:sp>
      <p:sp>
        <p:nvSpPr>
          <p:cNvPr id="8" name="TextBox 7">
            <a:extLst>
              <a:ext uri="{FF2B5EF4-FFF2-40B4-BE49-F238E27FC236}">
                <a16:creationId xmlns:a16="http://schemas.microsoft.com/office/drawing/2014/main" id="{47DC9C72-0DAA-3B44-B379-09962618C374}"/>
              </a:ext>
            </a:extLst>
          </p:cNvPr>
          <p:cNvSpPr txBox="1"/>
          <p:nvPr/>
        </p:nvSpPr>
        <p:spPr>
          <a:xfrm>
            <a:off x="7245300" y="5303518"/>
            <a:ext cx="558166" cy="369332"/>
          </a:xfrm>
          <a:prstGeom prst="rect">
            <a:avLst/>
          </a:prstGeom>
          <a:noFill/>
        </p:spPr>
        <p:txBody>
          <a:bodyPr wrap="none" rtlCol="0">
            <a:spAutoFit/>
          </a:bodyPr>
          <a:lstStyle/>
          <a:p>
            <a:r>
              <a:rPr lang="en-US" dirty="0"/>
              <a:t>HT0</a:t>
            </a:r>
          </a:p>
        </p:txBody>
      </p:sp>
      <p:sp>
        <p:nvSpPr>
          <p:cNvPr id="10" name="TextBox 9">
            <a:extLst>
              <a:ext uri="{FF2B5EF4-FFF2-40B4-BE49-F238E27FC236}">
                <a16:creationId xmlns:a16="http://schemas.microsoft.com/office/drawing/2014/main" id="{9596A71B-873B-DE49-A476-84A162A53285}"/>
              </a:ext>
            </a:extLst>
          </p:cNvPr>
          <p:cNvSpPr txBox="1"/>
          <p:nvPr/>
        </p:nvSpPr>
        <p:spPr>
          <a:xfrm>
            <a:off x="8278469" y="5469264"/>
            <a:ext cx="2941831" cy="369332"/>
          </a:xfrm>
          <a:prstGeom prst="rect">
            <a:avLst/>
          </a:prstGeom>
          <a:noFill/>
        </p:spPr>
        <p:txBody>
          <a:bodyPr wrap="none" rtlCol="0">
            <a:spAutoFit/>
          </a:bodyPr>
          <a:lstStyle/>
          <a:p>
            <a:r>
              <a:rPr lang="en-US" dirty="0">
                <a:latin typeface="Courier" pitchFamily="2" charset="0"/>
              </a:rPr>
              <a:t>y: (INT, VAR, “</a:t>
            </a:r>
            <a:r>
              <a:rPr lang="en-US" dirty="0">
                <a:highlight>
                  <a:srgbClr val="FFFF00"/>
                </a:highlight>
                <a:latin typeface="Courier" pitchFamily="2" charset="0"/>
              </a:rPr>
              <a:t>y_0</a:t>
            </a:r>
            <a:r>
              <a:rPr lang="en-US" dirty="0">
                <a:latin typeface="Courier" pitchFamily="2" charset="0"/>
              </a:rPr>
              <a:t>”)</a:t>
            </a:r>
          </a:p>
        </p:txBody>
      </p:sp>
      <p:sp>
        <p:nvSpPr>
          <p:cNvPr id="11" name="Rectangle 10">
            <a:extLst>
              <a:ext uri="{FF2B5EF4-FFF2-40B4-BE49-F238E27FC236}">
                <a16:creationId xmlns:a16="http://schemas.microsoft.com/office/drawing/2014/main" id="{1DA96CB4-D0E3-A24E-8289-C8A20EF1D94C}"/>
              </a:ext>
            </a:extLst>
          </p:cNvPr>
          <p:cNvSpPr/>
          <p:nvPr/>
        </p:nvSpPr>
        <p:spPr>
          <a:xfrm>
            <a:off x="8102379" y="4328591"/>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TextBox 11">
            <a:extLst>
              <a:ext uri="{FF2B5EF4-FFF2-40B4-BE49-F238E27FC236}">
                <a16:creationId xmlns:a16="http://schemas.microsoft.com/office/drawing/2014/main" id="{965F2E6E-76A6-7A40-B86A-B3BDF8A013C9}"/>
              </a:ext>
            </a:extLst>
          </p:cNvPr>
          <p:cNvSpPr txBox="1"/>
          <p:nvPr/>
        </p:nvSpPr>
        <p:spPr>
          <a:xfrm>
            <a:off x="8278469" y="4357376"/>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x_1</a:t>
            </a:r>
            <a:r>
              <a:rPr lang="en-US" dirty="0">
                <a:latin typeface="Courier" pitchFamily="2" charset="0"/>
              </a:rPr>
              <a:t>”)</a:t>
            </a:r>
          </a:p>
        </p:txBody>
      </p:sp>
      <p:sp>
        <p:nvSpPr>
          <p:cNvPr id="13" name="TextBox 12">
            <a:extLst>
              <a:ext uri="{FF2B5EF4-FFF2-40B4-BE49-F238E27FC236}">
                <a16:creationId xmlns:a16="http://schemas.microsoft.com/office/drawing/2014/main" id="{301E6826-1076-6947-8DC2-4C3E510B92A6}"/>
              </a:ext>
            </a:extLst>
          </p:cNvPr>
          <p:cNvSpPr txBox="1"/>
          <p:nvPr/>
        </p:nvSpPr>
        <p:spPr>
          <a:xfrm>
            <a:off x="7245300" y="4471713"/>
            <a:ext cx="558166" cy="369332"/>
          </a:xfrm>
          <a:prstGeom prst="rect">
            <a:avLst/>
          </a:prstGeom>
          <a:noFill/>
        </p:spPr>
        <p:txBody>
          <a:bodyPr wrap="none" rtlCol="0">
            <a:spAutoFit/>
          </a:bodyPr>
          <a:lstStyle/>
          <a:p>
            <a:r>
              <a:rPr lang="en-US" dirty="0"/>
              <a:t>HT1</a:t>
            </a:r>
          </a:p>
        </p:txBody>
      </p:sp>
      <p:sp>
        <p:nvSpPr>
          <p:cNvPr id="3" name="TextBox 2">
            <a:extLst>
              <a:ext uri="{FF2B5EF4-FFF2-40B4-BE49-F238E27FC236}">
                <a16:creationId xmlns:a16="http://schemas.microsoft.com/office/drawing/2014/main" id="{9FC01CF1-2467-C54C-B34A-5C33C08FAA64}"/>
              </a:ext>
            </a:extLst>
          </p:cNvPr>
          <p:cNvSpPr txBox="1"/>
          <p:nvPr/>
        </p:nvSpPr>
        <p:spPr>
          <a:xfrm>
            <a:off x="8102379" y="3240876"/>
            <a:ext cx="3495444" cy="369332"/>
          </a:xfrm>
          <a:prstGeom prst="rect">
            <a:avLst/>
          </a:prstGeom>
          <a:noFill/>
        </p:spPr>
        <p:txBody>
          <a:bodyPr wrap="none" rtlCol="0">
            <a:spAutoFit/>
          </a:bodyPr>
          <a:lstStyle/>
          <a:p>
            <a:r>
              <a:rPr lang="en-US" dirty="0"/>
              <a:t>new scope. Add x with a new name</a:t>
            </a:r>
          </a:p>
        </p:txBody>
      </p:sp>
      <p:sp>
        <p:nvSpPr>
          <p:cNvPr id="9" name="TextBox 8">
            <a:extLst>
              <a:ext uri="{FF2B5EF4-FFF2-40B4-BE49-F238E27FC236}">
                <a16:creationId xmlns:a16="http://schemas.microsoft.com/office/drawing/2014/main" id="{5AEABD0B-8BBE-F24D-9944-749F1B0379FE}"/>
              </a:ext>
            </a:extLst>
          </p:cNvPr>
          <p:cNvSpPr txBox="1"/>
          <p:nvPr/>
        </p:nvSpPr>
        <p:spPr>
          <a:xfrm>
            <a:off x="3208867" y="3716564"/>
            <a:ext cx="2579612" cy="369332"/>
          </a:xfrm>
          <a:prstGeom prst="rect">
            <a:avLst/>
          </a:prstGeom>
          <a:noFill/>
        </p:spPr>
        <p:txBody>
          <a:bodyPr wrap="square" rtlCol="0">
            <a:spAutoFit/>
          </a:bodyPr>
          <a:lstStyle/>
          <a:p>
            <a:r>
              <a:rPr lang="en-US" dirty="0"/>
              <a:t>Lookup of x now yields … </a:t>
            </a:r>
          </a:p>
        </p:txBody>
      </p:sp>
      <p:sp>
        <p:nvSpPr>
          <p:cNvPr id="14" name="Rectangle 13">
            <a:extLst>
              <a:ext uri="{FF2B5EF4-FFF2-40B4-BE49-F238E27FC236}">
                <a16:creationId xmlns:a16="http://schemas.microsoft.com/office/drawing/2014/main" id="{414B1998-19BF-3F19-1A18-7A46584A96A4}"/>
              </a:ext>
            </a:extLst>
          </p:cNvPr>
          <p:cNvSpPr/>
          <p:nvPr/>
        </p:nvSpPr>
        <p:spPr>
          <a:xfrm>
            <a:off x="936266" y="2306644"/>
            <a:ext cx="1390075" cy="3046988"/>
          </a:xfrm>
          <a:prstGeom prst="rect">
            <a:avLst/>
          </a:prstGeom>
        </p:spPr>
        <p:txBody>
          <a:bodyPr wrap="square">
            <a:spAutoFit/>
          </a:bodyPr>
          <a:lstStyle/>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y_0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000000"/>
                </a:solidFill>
                <a:latin typeface="Menlo" panose="020B0609030804020204" pitchFamily="49" charset="0"/>
              </a:rPr>
              <a:t>x_0 = 5;</a:t>
            </a:r>
          </a:p>
          <a:p>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x_1</a:t>
            </a:r>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000000"/>
                </a:solidFill>
                <a:highlight>
                  <a:srgbClr val="FFFF00"/>
                </a:highlight>
                <a:latin typeface="Menlo" panose="020B0609030804020204" pitchFamily="49" charset="0"/>
              </a:rPr>
              <a:t>x = 6;</a:t>
            </a:r>
          </a:p>
          <a:p>
            <a:r>
              <a:rPr lang="en-US" sz="2400" dirty="0">
                <a:solidFill>
                  <a:srgbClr val="000000"/>
                </a:solidFill>
                <a:latin typeface="Menlo" panose="020B0609030804020204" pitchFamily="49" charset="0"/>
              </a:rPr>
              <a:t>    y = x;</a:t>
            </a:r>
          </a:p>
          <a:p>
            <a:r>
              <a:rPr lang="en-US" sz="2400" dirty="0">
                <a:solidFill>
                  <a:srgbClr val="000000"/>
                </a:solidFill>
                <a:latin typeface="Menlo" panose="020B0609030804020204" pitchFamily="49" charset="0"/>
              </a:rPr>
              <a:t>}</a:t>
            </a:r>
            <a:endParaRPr lang="en-US" sz="24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133280724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79BB-2980-7F44-8375-A2C2CA41E623}"/>
              </a:ext>
            </a:extLst>
          </p:cNvPr>
          <p:cNvSpPr>
            <a:spLocks noGrp="1"/>
          </p:cNvSpPr>
          <p:nvPr>
            <p:ph type="title"/>
          </p:nvPr>
        </p:nvSpPr>
        <p:spPr/>
        <p:txBody>
          <a:bodyPr/>
          <a:lstStyle/>
          <a:p>
            <a:r>
              <a:rPr lang="en-US" dirty="0"/>
              <a:t>Scopes</a:t>
            </a:r>
          </a:p>
        </p:txBody>
      </p:sp>
      <p:sp>
        <p:nvSpPr>
          <p:cNvPr id="17" name="TextBox 16">
            <a:extLst>
              <a:ext uri="{FF2B5EF4-FFF2-40B4-BE49-F238E27FC236}">
                <a16:creationId xmlns:a16="http://schemas.microsoft.com/office/drawing/2014/main" id="{6F305AA7-267D-8547-A0AD-D54A869F4626}"/>
              </a:ext>
            </a:extLst>
          </p:cNvPr>
          <p:cNvSpPr txBox="1"/>
          <p:nvPr/>
        </p:nvSpPr>
        <p:spPr>
          <a:xfrm>
            <a:off x="3733800" y="1837267"/>
            <a:ext cx="3968009" cy="369332"/>
          </a:xfrm>
          <a:prstGeom prst="rect">
            <a:avLst/>
          </a:prstGeom>
          <a:noFill/>
        </p:spPr>
        <p:txBody>
          <a:bodyPr wrap="none" rtlCol="0">
            <a:spAutoFit/>
          </a:bodyPr>
          <a:lstStyle/>
          <a:p>
            <a:r>
              <a:rPr lang="en-US" dirty="0"/>
              <a:t>Let’s walk through it with a symbol table</a:t>
            </a:r>
          </a:p>
        </p:txBody>
      </p:sp>
      <p:sp>
        <p:nvSpPr>
          <p:cNvPr id="5" name="Rectangle 4">
            <a:extLst>
              <a:ext uri="{FF2B5EF4-FFF2-40B4-BE49-F238E27FC236}">
                <a16:creationId xmlns:a16="http://schemas.microsoft.com/office/drawing/2014/main" id="{89F91E01-3926-EC42-AAF2-2AD64847DE70}"/>
              </a:ext>
            </a:extLst>
          </p:cNvPr>
          <p:cNvSpPr/>
          <p:nvPr/>
        </p:nvSpPr>
        <p:spPr>
          <a:xfrm>
            <a:off x="8102379" y="5160396"/>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441C2A4C-52EA-BA41-9783-B9C1E79FCF74}"/>
              </a:ext>
            </a:extLst>
          </p:cNvPr>
          <p:cNvSpPr txBox="1"/>
          <p:nvPr/>
        </p:nvSpPr>
        <p:spPr>
          <a:xfrm>
            <a:off x="8285650" y="5947576"/>
            <a:ext cx="2934650" cy="369332"/>
          </a:xfrm>
          <a:prstGeom prst="rect">
            <a:avLst/>
          </a:prstGeom>
          <a:noFill/>
        </p:spPr>
        <p:txBody>
          <a:bodyPr wrap="none" rtlCol="0">
            <a:spAutoFit/>
          </a:bodyPr>
          <a:lstStyle/>
          <a:p>
            <a:r>
              <a:rPr lang="en-US" dirty="0"/>
              <a:t>symbol table hash table stack</a:t>
            </a:r>
          </a:p>
        </p:txBody>
      </p:sp>
      <p:sp>
        <p:nvSpPr>
          <p:cNvPr id="7" name="TextBox 6">
            <a:extLst>
              <a:ext uri="{FF2B5EF4-FFF2-40B4-BE49-F238E27FC236}">
                <a16:creationId xmlns:a16="http://schemas.microsoft.com/office/drawing/2014/main" id="{35AE57B7-33F9-C841-A5E7-561FA291058C}"/>
              </a:ext>
            </a:extLst>
          </p:cNvPr>
          <p:cNvSpPr txBox="1"/>
          <p:nvPr/>
        </p:nvSpPr>
        <p:spPr>
          <a:xfrm>
            <a:off x="8278469" y="5189181"/>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x_0</a:t>
            </a:r>
            <a:r>
              <a:rPr lang="en-US" dirty="0">
                <a:latin typeface="Courier" pitchFamily="2" charset="0"/>
              </a:rPr>
              <a:t>”)</a:t>
            </a:r>
          </a:p>
        </p:txBody>
      </p:sp>
      <p:sp>
        <p:nvSpPr>
          <p:cNvPr id="8" name="TextBox 7">
            <a:extLst>
              <a:ext uri="{FF2B5EF4-FFF2-40B4-BE49-F238E27FC236}">
                <a16:creationId xmlns:a16="http://schemas.microsoft.com/office/drawing/2014/main" id="{47DC9C72-0DAA-3B44-B379-09962618C374}"/>
              </a:ext>
            </a:extLst>
          </p:cNvPr>
          <p:cNvSpPr txBox="1"/>
          <p:nvPr/>
        </p:nvSpPr>
        <p:spPr>
          <a:xfrm>
            <a:off x="7245300" y="5303518"/>
            <a:ext cx="558166" cy="369332"/>
          </a:xfrm>
          <a:prstGeom prst="rect">
            <a:avLst/>
          </a:prstGeom>
          <a:noFill/>
        </p:spPr>
        <p:txBody>
          <a:bodyPr wrap="none" rtlCol="0">
            <a:spAutoFit/>
          </a:bodyPr>
          <a:lstStyle/>
          <a:p>
            <a:r>
              <a:rPr lang="en-US" dirty="0"/>
              <a:t>HT0</a:t>
            </a:r>
          </a:p>
        </p:txBody>
      </p:sp>
      <p:sp>
        <p:nvSpPr>
          <p:cNvPr id="10" name="TextBox 9">
            <a:extLst>
              <a:ext uri="{FF2B5EF4-FFF2-40B4-BE49-F238E27FC236}">
                <a16:creationId xmlns:a16="http://schemas.microsoft.com/office/drawing/2014/main" id="{9596A71B-873B-DE49-A476-84A162A53285}"/>
              </a:ext>
            </a:extLst>
          </p:cNvPr>
          <p:cNvSpPr txBox="1"/>
          <p:nvPr/>
        </p:nvSpPr>
        <p:spPr>
          <a:xfrm>
            <a:off x="8278469" y="5469264"/>
            <a:ext cx="2941831" cy="369332"/>
          </a:xfrm>
          <a:prstGeom prst="rect">
            <a:avLst/>
          </a:prstGeom>
          <a:noFill/>
        </p:spPr>
        <p:txBody>
          <a:bodyPr wrap="none" rtlCol="0">
            <a:spAutoFit/>
          </a:bodyPr>
          <a:lstStyle/>
          <a:p>
            <a:r>
              <a:rPr lang="en-US" dirty="0">
                <a:latin typeface="Courier" pitchFamily="2" charset="0"/>
              </a:rPr>
              <a:t>y: (INT, VAR, “</a:t>
            </a:r>
            <a:r>
              <a:rPr lang="en-US" dirty="0">
                <a:highlight>
                  <a:srgbClr val="FFFF00"/>
                </a:highlight>
                <a:latin typeface="Courier" pitchFamily="2" charset="0"/>
              </a:rPr>
              <a:t>y_0</a:t>
            </a:r>
            <a:r>
              <a:rPr lang="en-US" dirty="0">
                <a:latin typeface="Courier" pitchFamily="2" charset="0"/>
              </a:rPr>
              <a:t>”)</a:t>
            </a:r>
          </a:p>
        </p:txBody>
      </p:sp>
      <p:sp>
        <p:nvSpPr>
          <p:cNvPr id="11" name="Rectangle 10">
            <a:extLst>
              <a:ext uri="{FF2B5EF4-FFF2-40B4-BE49-F238E27FC236}">
                <a16:creationId xmlns:a16="http://schemas.microsoft.com/office/drawing/2014/main" id="{1DA96CB4-D0E3-A24E-8289-C8A20EF1D94C}"/>
              </a:ext>
            </a:extLst>
          </p:cNvPr>
          <p:cNvSpPr/>
          <p:nvPr/>
        </p:nvSpPr>
        <p:spPr>
          <a:xfrm>
            <a:off x="8102379" y="4328591"/>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TextBox 11">
            <a:extLst>
              <a:ext uri="{FF2B5EF4-FFF2-40B4-BE49-F238E27FC236}">
                <a16:creationId xmlns:a16="http://schemas.microsoft.com/office/drawing/2014/main" id="{965F2E6E-76A6-7A40-B86A-B3BDF8A013C9}"/>
              </a:ext>
            </a:extLst>
          </p:cNvPr>
          <p:cNvSpPr txBox="1"/>
          <p:nvPr/>
        </p:nvSpPr>
        <p:spPr>
          <a:xfrm>
            <a:off x="8278469" y="4357376"/>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x_1</a:t>
            </a:r>
            <a:r>
              <a:rPr lang="en-US" dirty="0">
                <a:latin typeface="Courier" pitchFamily="2" charset="0"/>
              </a:rPr>
              <a:t>”)</a:t>
            </a:r>
          </a:p>
        </p:txBody>
      </p:sp>
      <p:sp>
        <p:nvSpPr>
          <p:cNvPr id="13" name="TextBox 12">
            <a:extLst>
              <a:ext uri="{FF2B5EF4-FFF2-40B4-BE49-F238E27FC236}">
                <a16:creationId xmlns:a16="http://schemas.microsoft.com/office/drawing/2014/main" id="{301E6826-1076-6947-8DC2-4C3E510B92A6}"/>
              </a:ext>
            </a:extLst>
          </p:cNvPr>
          <p:cNvSpPr txBox="1"/>
          <p:nvPr/>
        </p:nvSpPr>
        <p:spPr>
          <a:xfrm>
            <a:off x="7245300" y="4471713"/>
            <a:ext cx="558166" cy="369332"/>
          </a:xfrm>
          <a:prstGeom prst="rect">
            <a:avLst/>
          </a:prstGeom>
          <a:noFill/>
        </p:spPr>
        <p:txBody>
          <a:bodyPr wrap="none" rtlCol="0">
            <a:spAutoFit/>
          </a:bodyPr>
          <a:lstStyle/>
          <a:p>
            <a:r>
              <a:rPr lang="en-US" dirty="0"/>
              <a:t>HT1</a:t>
            </a:r>
          </a:p>
        </p:txBody>
      </p:sp>
      <p:sp>
        <p:nvSpPr>
          <p:cNvPr id="3" name="TextBox 2">
            <a:extLst>
              <a:ext uri="{FF2B5EF4-FFF2-40B4-BE49-F238E27FC236}">
                <a16:creationId xmlns:a16="http://schemas.microsoft.com/office/drawing/2014/main" id="{9FC01CF1-2467-C54C-B34A-5C33C08FAA64}"/>
              </a:ext>
            </a:extLst>
          </p:cNvPr>
          <p:cNvSpPr txBox="1"/>
          <p:nvPr/>
        </p:nvSpPr>
        <p:spPr>
          <a:xfrm>
            <a:off x="8102379" y="3240876"/>
            <a:ext cx="3495444" cy="369332"/>
          </a:xfrm>
          <a:prstGeom prst="rect">
            <a:avLst/>
          </a:prstGeom>
          <a:noFill/>
        </p:spPr>
        <p:txBody>
          <a:bodyPr wrap="none" rtlCol="0">
            <a:spAutoFit/>
          </a:bodyPr>
          <a:lstStyle/>
          <a:p>
            <a:r>
              <a:rPr lang="en-US" dirty="0"/>
              <a:t>new scope. Add x with a new name</a:t>
            </a:r>
          </a:p>
        </p:txBody>
      </p:sp>
      <p:sp>
        <p:nvSpPr>
          <p:cNvPr id="14" name="TextBox 13">
            <a:extLst>
              <a:ext uri="{FF2B5EF4-FFF2-40B4-BE49-F238E27FC236}">
                <a16:creationId xmlns:a16="http://schemas.microsoft.com/office/drawing/2014/main" id="{7BF3F4BC-5D4E-AE11-D543-11E8E0EFA5F9}"/>
              </a:ext>
            </a:extLst>
          </p:cNvPr>
          <p:cNvSpPr txBox="1"/>
          <p:nvPr/>
        </p:nvSpPr>
        <p:spPr>
          <a:xfrm>
            <a:off x="3208866" y="3708400"/>
            <a:ext cx="3191934" cy="646331"/>
          </a:xfrm>
          <a:prstGeom prst="rect">
            <a:avLst/>
          </a:prstGeom>
          <a:noFill/>
        </p:spPr>
        <p:txBody>
          <a:bodyPr wrap="square" rtlCol="0">
            <a:spAutoFit/>
          </a:bodyPr>
          <a:lstStyle/>
          <a:p>
            <a:r>
              <a:rPr lang="en-US" dirty="0"/>
              <a:t>Lookup of x now yields </a:t>
            </a:r>
            <a:r>
              <a:rPr lang="en-US" dirty="0">
                <a:highlight>
                  <a:srgbClr val="FFFF00"/>
                </a:highlight>
              </a:rPr>
              <a:t>x_1</a:t>
            </a:r>
          </a:p>
          <a:p>
            <a:r>
              <a:rPr lang="en-US" dirty="0"/>
              <a:t>From the current active stack.</a:t>
            </a:r>
          </a:p>
        </p:txBody>
      </p:sp>
      <p:sp>
        <p:nvSpPr>
          <p:cNvPr id="9" name="Rectangle 8">
            <a:extLst>
              <a:ext uri="{FF2B5EF4-FFF2-40B4-BE49-F238E27FC236}">
                <a16:creationId xmlns:a16="http://schemas.microsoft.com/office/drawing/2014/main" id="{6B3B9014-9485-F14D-3121-B57AAD8F34C8}"/>
              </a:ext>
            </a:extLst>
          </p:cNvPr>
          <p:cNvSpPr/>
          <p:nvPr/>
        </p:nvSpPr>
        <p:spPr>
          <a:xfrm>
            <a:off x="936266" y="2320091"/>
            <a:ext cx="1605228" cy="3046988"/>
          </a:xfrm>
          <a:prstGeom prst="rect">
            <a:avLst/>
          </a:prstGeom>
        </p:spPr>
        <p:txBody>
          <a:bodyPr wrap="square">
            <a:spAutoFit/>
          </a:bodyPr>
          <a:lstStyle/>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y_0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000000"/>
                </a:solidFill>
                <a:latin typeface="Menlo" panose="020B0609030804020204" pitchFamily="49" charset="0"/>
              </a:rPr>
              <a:t>x_0 = 5;</a:t>
            </a:r>
          </a:p>
          <a:p>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x_1</a:t>
            </a:r>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000000"/>
                </a:solidFill>
                <a:highlight>
                  <a:srgbClr val="FFFF00"/>
                </a:highlight>
                <a:latin typeface="Menlo" panose="020B0609030804020204" pitchFamily="49" charset="0"/>
              </a:rPr>
              <a:t>x_1 = 6;</a:t>
            </a:r>
          </a:p>
          <a:p>
            <a:r>
              <a:rPr lang="en-US" sz="2400" dirty="0">
                <a:solidFill>
                  <a:srgbClr val="000000"/>
                </a:solidFill>
                <a:latin typeface="Menlo" panose="020B0609030804020204" pitchFamily="49" charset="0"/>
              </a:rPr>
              <a:t>    y = x;</a:t>
            </a:r>
          </a:p>
          <a:p>
            <a:r>
              <a:rPr lang="en-US" sz="2400" dirty="0">
                <a:solidFill>
                  <a:srgbClr val="000000"/>
                </a:solidFill>
                <a:latin typeface="Menlo" panose="020B0609030804020204" pitchFamily="49" charset="0"/>
              </a:rPr>
              <a:t>}</a:t>
            </a:r>
            <a:endParaRPr lang="en-US" sz="24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182093899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79BB-2980-7F44-8375-A2C2CA41E623}"/>
              </a:ext>
            </a:extLst>
          </p:cNvPr>
          <p:cNvSpPr>
            <a:spLocks noGrp="1"/>
          </p:cNvSpPr>
          <p:nvPr>
            <p:ph type="title"/>
          </p:nvPr>
        </p:nvSpPr>
        <p:spPr/>
        <p:txBody>
          <a:bodyPr/>
          <a:lstStyle/>
          <a:p>
            <a:r>
              <a:rPr lang="en-US" dirty="0"/>
              <a:t>Scopes</a:t>
            </a:r>
          </a:p>
        </p:txBody>
      </p:sp>
      <p:sp>
        <p:nvSpPr>
          <p:cNvPr id="17" name="TextBox 16">
            <a:extLst>
              <a:ext uri="{FF2B5EF4-FFF2-40B4-BE49-F238E27FC236}">
                <a16:creationId xmlns:a16="http://schemas.microsoft.com/office/drawing/2014/main" id="{6F305AA7-267D-8547-A0AD-D54A869F4626}"/>
              </a:ext>
            </a:extLst>
          </p:cNvPr>
          <p:cNvSpPr txBox="1"/>
          <p:nvPr/>
        </p:nvSpPr>
        <p:spPr>
          <a:xfrm>
            <a:off x="3733800" y="1837267"/>
            <a:ext cx="3968009" cy="369332"/>
          </a:xfrm>
          <a:prstGeom prst="rect">
            <a:avLst/>
          </a:prstGeom>
          <a:noFill/>
        </p:spPr>
        <p:txBody>
          <a:bodyPr wrap="none" rtlCol="0">
            <a:spAutoFit/>
          </a:bodyPr>
          <a:lstStyle/>
          <a:p>
            <a:r>
              <a:rPr lang="en-US" dirty="0"/>
              <a:t>Let’s walk through it with a symbol table</a:t>
            </a:r>
          </a:p>
        </p:txBody>
      </p:sp>
      <p:sp>
        <p:nvSpPr>
          <p:cNvPr id="5" name="Rectangle 4">
            <a:extLst>
              <a:ext uri="{FF2B5EF4-FFF2-40B4-BE49-F238E27FC236}">
                <a16:creationId xmlns:a16="http://schemas.microsoft.com/office/drawing/2014/main" id="{89F91E01-3926-EC42-AAF2-2AD64847DE70}"/>
              </a:ext>
            </a:extLst>
          </p:cNvPr>
          <p:cNvSpPr/>
          <p:nvPr/>
        </p:nvSpPr>
        <p:spPr>
          <a:xfrm>
            <a:off x="8102379" y="5160396"/>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441C2A4C-52EA-BA41-9783-B9C1E79FCF74}"/>
              </a:ext>
            </a:extLst>
          </p:cNvPr>
          <p:cNvSpPr txBox="1"/>
          <p:nvPr/>
        </p:nvSpPr>
        <p:spPr>
          <a:xfrm>
            <a:off x="8285650" y="5947576"/>
            <a:ext cx="2934650" cy="369332"/>
          </a:xfrm>
          <a:prstGeom prst="rect">
            <a:avLst/>
          </a:prstGeom>
          <a:noFill/>
        </p:spPr>
        <p:txBody>
          <a:bodyPr wrap="none" rtlCol="0">
            <a:spAutoFit/>
          </a:bodyPr>
          <a:lstStyle/>
          <a:p>
            <a:r>
              <a:rPr lang="en-US" dirty="0"/>
              <a:t>symbol table hash table stack</a:t>
            </a:r>
          </a:p>
        </p:txBody>
      </p:sp>
      <p:sp>
        <p:nvSpPr>
          <p:cNvPr id="7" name="TextBox 6">
            <a:extLst>
              <a:ext uri="{FF2B5EF4-FFF2-40B4-BE49-F238E27FC236}">
                <a16:creationId xmlns:a16="http://schemas.microsoft.com/office/drawing/2014/main" id="{35AE57B7-33F9-C841-A5E7-561FA291058C}"/>
              </a:ext>
            </a:extLst>
          </p:cNvPr>
          <p:cNvSpPr txBox="1"/>
          <p:nvPr/>
        </p:nvSpPr>
        <p:spPr>
          <a:xfrm>
            <a:off x="8278469" y="5189181"/>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x_0</a:t>
            </a:r>
            <a:r>
              <a:rPr lang="en-US" dirty="0">
                <a:latin typeface="Courier" pitchFamily="2" charset="0"/>
              </a:rPr>
              <a:t>”)</a:t>
            </a:r>
          </a:p>
        </p:txBody>
      </p:sp>
      <p:sp>
        <p:nvSpPr>
          <p:cNvPr id="8" name="TextBox 7">
            <a:extLst>
              <a:ext uri="{FF2B5EF4-FFF2-40B4-BE49-F238E27FC236}">
                <a16:creationId xmlns:a16="http://schemas.microsoft.com/office/drawing/2014/main" id="{47DC9C72-0DAA-3B44-B379-09962618C374}"/>
              </a:ext>
            </a:extLst>
          </p:cNvPr>
          <p:cNvSpPr txBox="1"/>
          <p:nvPr/>
        </p:nvSpPr>
        <p:spPr>
          <a:xfrm>
            <a:off x="7245300" y="5303518"/>
            <a:ext cx="558166" cy="369332"/>
          </a:xfrm>
          <a:prstGeom prst="rect">
            <a:avLst/>
          </a:prstGeom>
          <a:noFill/>
        </p:spPr>
        <p:txBody>
          <a:bodyPr wrap="none" rtlCol="0">
            <a:spAutoFit/>
          </a:bodyPr>
          <a:lstStyle/>
          <a:p>
            <a:r>
              <a:rPr lang="en-US" dirty="0"/>
              <a:t>HT0</a:t>
            </a:r>
          </a:p>
        </p:txBody>
      </p:sp>
      <p:sp>
        <p:nvSpPr>
          <p:cNvPr id="10" name="TextBox 9">
            <a:extLst>
              <a:ext uri="{FF2B5EF4-FFF2-40B4-BE49-F238E27FC236}">
                <a16:creationId xmlns:a16="http://schemas.microsoft.com/office/drawing/2014/main" id="{9596A71B-873B-DE49-A476-84A162A53285}"/>
              </a:ext>
            </a:extLst>
          </p:cNvPr>
          <p:cNvSpPr txBox="1"/>
          <p:nvPr/>
        </p:nvSpPr>
        <p:spPr>
          <a:xfrm>
            <a:off x="8278469" y="5469264"/>
            <a:ext cx="2941831" cy="369332"/>
          </a:xfrm>
          <a:prstGeom prst="rect">
            <a:avLst/>
          </a:prstGeom>
          <a:noFill/>
        </p:spPr>
        <p:txBody>
          <a:bodyPr wrap="none" rtlCol="0">
            <a:spAutoFit/>
          </a:bodyPr>
          <a:lstStyle/>
          <a:p>
            <a:r>
              <a:rPr lang="en-US" dirty="0">
                <a:latin typeface="Courier" pitchFamily="2" charset="0"/>
              </a:rPr>
              <a:t>y: (INT, VAR, “</a:t>
            </a:r>
            <a:r>
              <a:rPr lang="en-US" dirty="0">
                <a:highlight>
                  <a:srgbClr val="FFFF00"/>
                </a:highlight>
                <a:latin typeface="Courier" pitchFamily="2" charset="0"/>
              </a:rPr>
              <a:t>y_0</a:t>
            </a:r>
            <a:r>
              <a:rPr lang="en-US" dirty="0">
                <a:latin typeface="Courier" pitchFamily="2" charset="0"/>
              </a:rPr>
              <a:t>”)</a:t>
            </a:r>
          </a:p>
        </p:txBody>
      </p:sp>
      <p:sp>
        <p:nvSpPr>
          <p:cNvPr id="11" name="Rectangle 10">
            <a:extLst>
              <a:ext uri="{FF2B5EF4-FFF2-40B4-BE49-F238E27FC236}">
                <a16:creationId xmlns:a16="http://schemas.microsoft.com/office/drawing/2014/main" id="{1DA96CB4-D0E3-A24E-8289-C8A20EF1D94C}"/>
              </a:ext>
            </a:extLst>
          </p:cNvPr>
          <p:cNvSpPr/>
          <p:nvPr/>
        </p:nvSpPr>
        <p:spPr>
          <a:xfrm>
            <a:off x="8102379" y="4328591"/>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TextBox 11">
            <a:extLst>
              <a:ext uri="{FF2B5EF4-FFF2-40B4-BE49-F238E27FC236}">
                <a16:creationId xmlns:a16="http://schemas.microsoft.com/office/drawing/2014/main" id="{965F2E6E-76A6-7A40-B86A-B3BDF8A013C9}"/>
              </a:ext>
            </a:extLst>
          </p:cNvPr>
          <p:cNvSpPr txBox="1"/>
          <p:nvPr/>
        </p:nvSpPr>
        <p:spPr>
          <a:xfrm>
            <a:off x="8278469" y="4357376"/>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x_1</a:t>
            </a:r>
            <a:r>
              <a:rPr lang="en-US" dirty="0">
                <a:latin typeface="Courier" pitchFamily="2" charset="0"/>
              </a:rPr>
              <a:t>”)</a:t>
            </a:r>
          </a:p>
        </p:txBody>
      </p:sp>
      <p:sp>
        <p:nvSpPr>
          <p:cNvPr id="13" name="TextBox 12">
            <a:extLst>
              <a:ext uri="{FF2B5EF4-FFF2-40B4-BE49-F238E27FC236}">
                <a16:creationId xmlns:a16="http://schemas.microsoft.com/office/drawing/2014/main" id="{301E6826-1076-6947-8DC2-4C3E510B92A6}"/>
              </a:ext>
            </a:extLst>
          </p:cNvPr>
          <p:cNvSpPr txBox="1"/>
          <p:nvPr/>
        </p:nvSpPr>
        <p:spPr>
          <a:xfrm>
            <a:off x="7245300" y="4471713"/>
            <a:ext cx="558166" cy="369332"/>
          </a:xfrm>
          <a:prstGeom prst="rect">
            <a:avLst/>
          </a:prstGeom>
          <a:noFill/>
        </p:spPr>
        <p:txBody>
          <a:bodyPr wrap="none" rtlCol="0">
            <a:spAutoFit/>
          </a:bodyPr>
          <a:lstStyle/>
          <a:p>
            <a:r>
              <a:rPr lang="en-US" dirty="0"/>
              <a:t>HT1</a:t>
            </a:r>
          </a:p>
        </p:txBody>
      </p:sp>
      <p:sp>
        <p:nvSpPr>
          <p:cNvPr id="3" name="TextBox 2">
            <a:extLst>
              <a:ext uri="{FF2B5EF4-FFF2-40B4-BE49-F238E27FC236}">
                <a16:creationId xmlns:a16="http://schemas.microsoft.com/office/drawing/2014/main" id="{9FC01CF1-2467-C54C-B34A-5C33C08FAA64}"/>
              </a:ext>
            </a:extLst>
          </p:cNvPr>
          <p:cNvSpPr txBox="1"/>
          <p:nvPr/>
        </p:nvSpPr>
        <p:spPr>
          <a:xfrm>
            <a:off x="8102379" y="3240876"/>
            <a:ext cx="3495444" cy="369332"/>
          </a:xfrm>
          <a:prstGeom prst="rect">
            <a:avLst/>
          </a:prstGeom>
          <a:noFill/>
        </p:spPr>
        <p:txBody>
          <a:bodyPr wrap="none" rtlCol="0">
            <a:spAutoFit/>
          </a:bodyPr>
          <a:lstStyle/>
          <a:p>
            <a:r>
              <a:rPr lang="en-US" dirty="0"/>
              <a:t>new scope. Add x with a new name</a:t>
            </a:r>
          </a:p>
        </p:txBody>
      </p:sp>
      <p:sp>
        <p:nvSpPr>
          <p:cNvPr id="14" name="TextBox 13">
            <a:extLst>
              <a:ext uri="{FF2B5EF4-FFF2-40B4-BE49-F238E27FC236}">
                <a16:creationId xmlns:a16="http://schemas.microsoft.com/office/drawing/2014/main" id="{8546E37F-C8BA-81A9-66B2-DF53FB0674F3}"/>
              </a:ext>
            </a:extLst>
          </p:cNvPr>
          <p:cNvSpPr txBox="1"/>
          <p:nvPr/>
        </p:nvSpPr>
        <p:spPr>
          <a:xfrm>
            <a:off x="3060665" y="3640716"/>
            <a:ext cx="3665463" cy="1200329"/>
          </a:xfrm>
          <a:prstGeom prst="rect">
            <a:avLst/>
          </a:prstGeom>
          <a:noFill/>
        </p:spPr>
        <p:txBody>
          <a:bodyPr wrap="square" rtlCol="0">
            <a:spAutoFit/>
          </a:bodyPr>
          <a:lstStyle/>
          <a:p>
            <a:r>
              <a:rPr lang="en-US" dirty="0"/>
              <a:t>Lookup of y in this case cannot be found on the current active stack so it gets looked on the next stack, and finds the name to be used: …</a:t>
            </a:r>
          </a:p>
        </p:txBody>
      </p:sp>
      <p:sp>
        <p:nvSpPr>
          <p:cNvPr id="15" name="Rectangle 14">
            <a:extLst>
              <a:ext uri="{FF2B5EF4-FFF2-40B4-BE49-F238E27FC236}">
                <a16:creationId xmlns:a16="http://schemas.microsoft.com/office/drawing/2014/main" id="{A12E8DD2-43EC-0665-4BF5-9561EE78DC79}"/>
              </a:ext>
            </a:extLst>
          </p:cNvPr>
          <p:cNvSpPr/>
          <p:nvPr/>
        </p:nvSpPr>
        <p:spPr>
          <a:xfrm>
            <a:off x="936266" y="2320091"/>
            <a:ext cx="1605228" cy="3046988"/>
          </a:xfrm>
          <a:prstGeom prst="rect">
            <a:avLst/>
          </a:prstGeom>
        </p:spPr>
        <p:txBody>
          <a:bodyPr wrap="square">
            <a:spAutoFit/>
          </a:bodyPr>
          <a:lstStyle/>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y_0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000000"/>
                </a:solidFill>
                <a:latin typeface="Menlo" panose="020B0609030804020204" pitchFamily="49" charset="0"/>
              </a:rPr>
              <a:t>x_0 = 5;</a:t>
            </a:r>
          </a:p>
          <a:p>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x_1</a:t>
            </a:r>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x_1 = 6</a:t>
            </a:r>
            <a:r>
              <a:rPr lang="en-US" sz="2400" dirty="0">
                <a:solidFill>
                  <a:srgbClr val="000000"/>
                </a:solidFill>
                <a:highlight>
                  <a:srgbClr val="FFFF00"/>
                </a:highlight>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000000"/>
                </a:solidFill>
                <a:highlight>
                  <a:srgbClr val="FFFF00"/>
                </a:highlight>
                <a:latin typeface="Menlo" panose="020B0609030804020204" pitchFamily="49" charset="0"/>
              </a:rPr>
              <a:t>y = x;</a:t>
            </a:r>
          </a:p>
          <a:p>
            <a:r>
              <a:rPr lang="en-US" sz="2400" dirty="0">
                <a:solidFill>
                  <a:srgbClr val="000000"/>
                </a:solidFill>
                <a:latin typeface="Menlo" panose="020B0609030804020204" pitchFamily="49" charset="0"/>
              </a:rPr>
              <a:t>}</a:t>
            </a:r>
            <a:endParaRPr lang="en-US" sz="24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01014991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79BB-2980-7F44-8375-A2C2CA41E623}"/>
              </a:ext>
            </a:extLst>
          </p:cNvPr>
          <p:cNvSpPr>
            <a:spLocks noGrp="1"/>
          </p:cNvSpPr>
          <p:nvPr>
            <p:ph type="title"/>
          </p:nvPr>
        </p:nvSpPr>
        <p:spPr/>
        <p:txBody>
          <a:bodyPr/>
          <a:lstStyle/>
          <a:p>
            <a:r>
              <a:rPr lang="en-US" dirty="0"/>
              <a:t>Scopes</a:t>
            </a:r>
          </a:p>
        </p:txBody>
      </p:sp>
      <p:sp>
        <p:nvSpPr>
          <p:cNvPr id="17" name="TextBox 16">
            <a:extLst>
              <a:ext uri="{FF2B5EF4-FFF2-40B4-BE49-F238E27FC236}">
                <a16:creationId xmlns:a16="http://schemas.microsoft.com/office/drawing/2014/main" id="{6F305AA7-267D-8547-A0AD-D54A869F4626}"/>
              </a:ext>
            </a:extLst>
          </p:cNvPr>
          <p:cNvSpPr txBox="1"/>
          <p:nvPr/>
        </p:nvSpPr>
        <p:spPr>
          <a:xfrm>
            <a:off x="3733800" y="1837267"/>
            <a:ext cx="3968009" cy="369332"/>
          </a:xfrm>
          <a:prstGeom prst="rect">
            <a:avLst/>
          </a:prstGeom>
          <a:noFill/>
        </p:spPr>
        <p:txBody>
          <a:bodyPr wrap="none" rtlCol="0">
            <a:spAutoFit/>
          </a:bodyPr>
          <a:lstStyle/>
          <a:p>
            <a:r>
              <a:rPr lang="en-US" dirty="0"/>
              <a:t>Let’s walk through it with a symbol table</a:t>
            </a:r>
          </a:p>
        </p:txBody>
      </p:sp>
      <p:sp>
        <p:nvSpPr>
          <p:cNvPr id="5" name="Rectangle 4">
            <a:extLst>
              <a:ext uri="{FF2B5EF4-FFF2-40B4-BE49-F238E27FC236}">
                <a16:creationId xmlns:a16="http://schemas.microsoft.com/office/drawing/2014/main" id="{89F91E01-3926-EC42-AAF2-2AD64847DE70}"/>
              </a:ext>
            </a:extLst>
          </p:cNvPr>
          <p:cNvSpPr/>
          <p:nvPr/>
        </p:nvSpPr>
        <p:spPr>
          <a:xfrm>
            <a:off x="8102379" y="5160396"/>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441C2A4C-52EA-BA41-9783-B9C1E79FCF74}"/>
              </a:ext>
            </a:extLst>
          </p:cNvPr>
          <p:cNvSpPr txBox="1"/>
          <p:nvPr/>
        </p:nvSpPr>
        <p:spPr>
          <a:xfrm>
            <a:off x="8285650" y="5947576"/>
            <a:ext cx="2934650" cy="369332"/>
          </a:xfrm>
          <a:prstGeom prst="rect">
            <a:avLst/>
          </a:prstGeom>
          <a:noFill/>
        </p:spPr>
        <p:txBody>
          <a:bodyPr wrap="none" rtlCol="0">
            <a:spAutoFit/>
          </a:bodyPr>
          <a:lstStyle/>
          <a:p>
            <a:r>
              <a:rPr lang="en-US" dirty="0"/>
              <a:t>symbol table hash table stack</a:t>
            </a:r>
          </a:p>
        </p:txBody>
      </p:sp>
      <p:sp>
        <p:nvSpPr>
          <p:cNvPr id="7" name="TextBox 6">
            <a:extLst>
              <a:ext uri="{FF2B5EF4-FFF2-40B4-BE49-F238E27FC236}">
                <a16:creationId xmlns:a16="http://schemas.microsoft.com/office/drawing/2014/main" id="{35AE57B7-33F9-C841-A5E7-561FA291058C}"/>
              </a:ext>
            </a:extLst>
          </p:cNvPr>
          <p:cNvSpPr txBox="1"/>
          <p:nvPr/>
        </p:nvSpPr>
        <p:spPr>
          <a:xfrm>
            <a:off x="8278469" y="5189181"/>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x_0</a:t>
            </a:r>
            <a:r>
              <a:rPr lang="en-US" dirty="0">
                <a:latin typeface="Courier" pitchFamily="2" charset="0"/>
              </a:rPr>
              <a:t>”)</a:t>
            </a:r>
          </a:p>
        </p:txBody>
      </p:sp>
      <p:sp>
        <p:nvSpPr>
          <p:cNvPr id="8" name="TextBox 7">
            <a:extLst>
              <a:ext uri="{FF2B5EF4-FFF2-40B4-BE49-F238E27FC236}">
                <a16:creationId xmlns:a16="http://schemas.microsoft.com/office/drawing/2014/main" id="{47DC9C72-0DAA-3B44-B379-09962618C374}"/>
              </a:ext>
            </a:extLst>
          </p:cNvPr>
          <p:cNvSpPr txBox="1"/>
          <p:nvPr/>
        </p:nvSpPr>
        <p:spPr>
          <a:xfrm>
            <a:off x="7245300" y="5303518"/>
            <a:ext cx="558166" cy="369332"/>
          </a:xfrm>
          <a:prstGeom prst="rect">
            <a:avLst/>
          </a:prstGeom>
          <a:noFill/>
        </p:spPr>
        <p:txBody>
          <a:bodyPr wrap="none" rtlCol="0">
            <a:spAutoFit/>
          </a:bodyPr>
          <a:lstStyle/>
          <a:p>
            <a:r>
              <a:rPr lang="en-US" dirty="0"/>
              <a:t>HT0</a:t>
            </a:r>
          </a:p>
        </p:txBody>
      </p:sp>
      <p:sp>
        <p:nvSpPr>
          <p:cNvPr id="10" name="TextBox 9">
            <a:extLst>
              <a:ext uri="{FF2B5EF4-FFF2-40B4-BE49-F238E27FC236}">
                <a16:creationId xmlns:a16="http://schemas.microsoft.com/office/drawing/2014/main" id="{9596A71B-873B-DE49-A476-84A162A53285}"/>
              </a:ext>
            </a:extLst>
          </p:cNvPr>
          <p:cNvSpPr txBox="1"/>
          <p:nvPr/>
        </p:nvSpPr>
        <p:spPr>
          <a:xfrm>
            <a:off x="8278469" y="5469264"/>
            <a:ext cx="2941831" cy="369332"/>
          </a:xfrm>
          <a:prstGeom prst="rect">
            <a:avLst/>
          </a:prstGeom>
          <a:noFill/>
        </p:spPr>
        <p:txBody>
          <a:bodyPr wrap="none" rtlCol="0">
            <a:spAutoFit/>
          </a:bodyPr>
          <a:lstStyle/>
          <a:p>
            <a:r>
              <a:rPr lang="en-US" dirty="0">
                <a:latin typeface="Courier" pitchFamily="2" charset="0"/>
              </a:rPr>
              <a:t>y: (INT, VAR, “</a:t>
            </a:r>
            <a:r>
              <a:rPr lang="en-US" dirty="0">
                <a:highlight>
                  <a:srgbClr val="FFFF00"/>
                </a:highlight>
                <a:latin typeface="Courier" pitchFamily="2" charset="0"/>
              </a:rPr>
              <a:t>y_0</a:t>
            </a:r>
            <a:r>
              <a:rPr lang="en-US" dirty="0">
                <a:latin typeface="Courier" pitchFamily="2" charset="0"/>
              </a:rPr>
              <a:t>”)</a:t>
            </a:r>
          </a:p>
        </p:txBody>
      </p:sp>
      <p:sp>
        <p:nvSpPr>
          <p:cNvPr id="11" name="Rectangle 10">
            <a:extLst>
              <a:ext uri="{FF2B5EF4-FFF2-40B4-BE49-F238E27FC236}">
                <a16:creationId xmlns:a16="http://schemas.microsoft.com/office/drawing/2014/main" id="{1DA96CB4-D0E3-A24E-8289-C8A20EF1D94C}"/>
              </a:ext>
            </a:extLst>
          </p:cNvPr>
          <p:cNvSpPr/>
          <p:nvPr/>
        </p:nvSpPr>
        <p:spPr>
          <a:xfrm>
            <a:off x="8102379" y="4328591"/>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TextBox 11">
            <a:extLst>
              <a:ext uri="{FF2B5EF4-FFF2-40B4-BE49-F238E27FC236}">
                <a16:creationId xmlns:a16="http://schemas.microsoft.com/office/drawing/2014/main" id="{965F2E6E-76A6-7A40-B86A-B3BDF8A013C9}"/>
              </a:ext>
            </a:extLst>
          </p:cNvPr>
          <p:cNvSpPr txBox="1"/>
          <p:nvPr/>
        </p:nvSpPr>
        <p:spPr>
          <a:xfrm>
            <a:off x="8278469" y="4357376"/>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x_1</a:t>
            </a:r>
            <a:r>
              <a:rPr lang="en-US" dirty="0">
                <a:latin typeface="Courier" pitchFamily="2" charset="0"/>
              </a:rPr>
              <a:t>”)</a:t>
            </a:r>
          </a:p>
        </p:txBody>
      </p:sp>
      <p:sp>
        <p:nvSpPr>
          <p:cNvPr id="13" name="TextBox 12">
            <a:extLst>
              <a:ext uri="{FF2B5EF4-FFF2-40B4-BE49-F238E27FC236}">
                <a16:creationId xmlns:a16="http://schemas.microsoft.com/office/drawing/2014/main" id="{301E6826-1076-6947-8DC2-4C3E510B92A6}"/>
              </a:ext>
            </a:extLst>
          </p:cNvPr>
          <p:cNvSpPr txBox="1"/>
          <p:nvPr/>
        </p:nvSpPr>
        <p:spPr>
          <a:xfrm>
            <a:off x="7245300" y="4471713"/>
            <a:ext cx="558166" cy="369332"/>
          </a:xfrm>
          <a:prstGeom prst="rect">
            <a:avLst/>
          </a:prstGeom>
          <a:noFill/>
        </p:spPr>
        <p:txBody>
          <a:bodyPr wrap="none" rtlCol="0">
            <a:spAutoFit/>
          </a:bodyPr>
          <a:lstStyle/>
          <a:p>
            <a:r>
              <a:rPr lang="en-US" dirty="0"/>
              <a:t>HT1</a:t>
            </a:r>
          </a:p>
        </p:txBody>
      </p:sp>
      <p:sp>
        <p:nvSpPr>
          <p:cNvPr id="3" name="TextBox 2">
            <a:extLst>
              <a:ext uri="{FF2B5EF4-FFF2-40B4-BE49-F238E27FC236}">
                <a16:creationId xmlns:a16="http://schemas.microsoft.com/office/drawing/2014/main" id="{9FC01CF1-2467-C54C-B34A-5C33C08FAA64}"/>
              </a:ext>
            </a:extLst>
          </p:cNvPr>
          <p:cNvSpPr txBox="1"/>
          <p:nvPr/>
        </p:nvSpPr>
        <p:spPr>
          <a:xfrm>
            <a:off x="8102379" y="3240876"/>
            <a:ext cx="3495444" cy="369332"/>
          </a:xfrm>
          <a:prstGeom prst="rect">
            <a:avLst/>
          </a:prstGeom>
          <a:noFill/>
        </p:spPr>
        <p:txBody>
          <a:bodyPr wrap="none" rtlCol="0">
            <a:spAutoFit/>
          </a:bodyPr>
          <a:lstStyle/>
          <a:p>
            <a:r>
              <a:rPr lang="en-US" dirty="0"/>
              <a:t>new scope. Add x with a new name</a:t>
            </a:r>
          </a:p>
        </p:txBody>
      </p:sp>
      <p:sp>
        <p:nvSpPr>
          <p:cNvPr id="14" name="TextBox 13">
            <a:extLst>
              <a:ext uri="{FF2B5EF4-FFF2-40B4-BE49-F238E27FC236}">
                <a16:creationId xmlns:a16="http://schemas.microsoft.com/office/drawing/2014/main" id="{1E7CD9B6-EEDA-0838-556A-6B01BD0B1DBF}"/>
              </a:ext>
            </a:extLst>
          </p:cNvPr>
          <p:cNvSpPr txBox="1"/>
          <p:nvPr/>
        </p:nvSpPr>
        <p:spPr>
          <a:xfrm>
            <a:off x="3012710" y="3610208"/>
            <a:ext cx="3665463" cy="1754326"/>
          </a:xfrm>
          <a:prstGeom prst="rect">
            <a:avLst/>
          </a:prstGeom>
          <a:noFill/>
        </p:spPr>
        <p:txBody>
          <a:bodyPr wrap="square" rtlCol="0">
            <a:spAutoFit/>
          </a:bodyPr>
          <a:lstStyle/>
          <a:p>
            <a:r>
              <a:rPr lang="en-US" dirty="0"/>
              <a:t>Lookup of y in this case cannot be found on the current active stack so it gets looked on the next stack, and finds the name to be used: </a:t>
            </a:r>
            <a:r>
              <a:rPr lang="en-US" dirty="0">
                <a:highlight>
                  <a:srgbClr val="FFFF00"/>
                </a:highlight>
              </a:rPr>
              <a:t>y_0 </a:t>
            </a:r>
            <a:r>
              <a:rPr lang="en-US" dirty="0"/>
              <a:t>whereas x is found on the current stack as </a:t>
            </a:r>
            <a:r>
              <a:rPr lang="en-US" dirty="0">
                <a:highlight>
                  <a:srgbClr val="FFFF00"/>
                </a:highlight>
              </a:rPr>
              <a:t>x_1</a:t>
            </a:r>
            <a:r>
              <a:rPr lang="en-US" dirty="0"/>
              <a:t> </a:t>
            </a:r>
          </a:p>
        </p:txBody>
      </p:sp>
      <p:sp>
        <p:nvSpPr>
          <p:cNvPr id="16" name="Rectangle 15">
            <a:extLst>
              <a:ext uri="{FF2B5EF4-FFF2-40B4-BE49-F238E27FC236}">
                <a16:creationId xmlns:a16="http://schemas.microsoft.com/office/drawing/2014/main" id="{0DB1A7DA-423A-266D-0620-91CB6395ED0F}"/>
              </a:ext>
            </a:extLst>
          </p:cNvPr>
          <p:cNvSpPr/>
          <p:nvPr/>
        </p:nvSpPr>
        <p:spPr>
          <a:xfrm>
            <a:off x="936266" y="2320091"/>
            <a:ext cx="1900354" cy="3046988"/>
          </a:xfrm>
          <a:prstGeom prst="rect">
            <a:avLst/>
          </a:prstGeom>
        </p:spPr>
        <p:txBody>
          <a:bodyPr wrap="square">
            <a:spAutoFit/>
          </a:bodyPr>
          <a:lstStyle/>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y_0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000000"/>
                </a:solidFill>
                <a:latin typeface="Menlo" panose="020B0609030804020204" pitchFamily="49" charset="0"/>
              </a:rPr>
              <a:t>x_0 = 5;</a:t>
            </a:r>
          </a:p>
          <a:p>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x_1</a:t>
            </a:r>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000000"/>
                </a:solidFill>
                <a:highlight>
                  <a:srgbClr val="FFFF00"/>
                </a:highlight>
                <a:latin typeface="Menlo" panose="020B0609030804020204" pitchFamily="49" charset="0"/>
              </a:rPr>
              <a:t>x_1 = 6;</a:t>
            </a:r>
          </a:p>
          <a:p>
            <a:r>
              <a:rPr lang="en-US" sz="2400" dirty="0">
                <a:solidFill>
                  <a:srgbClr val="000000"/>
                </a:solidFill>
                <a:latin typeface="Menlo" panose="020B0609030804020204" pitchFamily="49" charset="0"/>
              </a:rPr>
              <a:t>    y_0 = x_1;</a:t>
            </a:r>
          </a:p>
          <a:p>
            <a:r>
              <a:rPr lang="en-US" sz="2400" dirty="0">
                <a:solidFill>
                  <a:srgbClr val="000000"/>
                </a:solidFill>
                <a:latin typeface="Menlo" panose="020B0609030804020204" pitchFamily="49" charset="0"/>
              </a:rPr>
              <a:t>}</a:t>
            </a:r>
            <a:endParaRPr lang="en-US" sz="24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148569014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79BB-2980-7F44-8375-A2C2CA41E623}"/>
              </a:ext>
            </a:extLst>
          </p:cNvPr>
          <p:cNvSpPr>
            <a:spLocks noGrp="1"/>
          </p:cNvSpPr>
          <p:nvPr>
            <p:ph type="title"/>
          </p:nvPr>
        </p:nvSpPr>
        <p:spPr/>
        <p:txBody>
          <a:bodyPr/>
          <a:lstStyle/>
          <a:p>
            <a:r>
              <a:rPr lang="en-US" dirty="0"/>
              <a:t>Scopes</a:t>
            </a:r>
          </a:p>
        </p:txBody>
      </p:sp>
      <p:sp>
        <p:nvSpPr>
          <p:cNvPr id="17" name="TextBox 16">
            <a:extLst>
              <a:ext uri="{FF2B5EF4-FFF2-40B4-BE49-F238E27FC236}">
                <a16:creationId xmlns:a16="http://schemas.microsoft.com/office/drawing/2014/main" id="{6F305AA7-267D-8547-A0AD-D54A869F4626}"/>
              </a:ext>
            </a:extLst>
          </p:cNvPr>
          <p:cNvSpPr txBox="1"/>
          <p:nvPr/>
        </p:nvSpPr>
        <p:spPr>
          <a:xfrm>
            <a:off x="3733800" y="1837267"/>
            <a:ext cx="3968009" cy="369332"/>
          </a:xfrm>
          <a:prstGeom prst="rect">
            <a:avLst/>
          </a:prstGeom>
          <a:noFill/>
        </p:spPr>
        <p:txBody>
          <a:bodyPr wrap="none" rtlCol="0">
            <a:spAutoFit/>
          </a:bodyPr>
          <a:lstStyle/>
          <a:p>
            <a:r>
              <a:rPr lang="en-US" dirty="0"/>
              <a:t>Let’s walk through it with a symbol table</a:t>
            </a:r>
          </a:p>
        </p:txBody>
      </p:sp>
      <p:sp>
        <p:nvSpPr>
          <p:cNvPr id="5" name="Rectangle 4">
            <a:extLst>
              <a:ext uri="{FF2B5EF4-FFF2-40B4-BE49-F238E27FC236}">
                <a16:creationId xmlns:a16="http://schemas.microsoft.com/office/drawing/2014/main" id="{89F91E01-3926-EC42-AAF2-2AD64847DE70}"/>
              </a:ext>
            </a:extLst>
          </p:cNvPr>
          <p:cNvSpPr/>
          <p:nvPr/>
        </p:nvSpPr>
        <p:spPr>
          <a:xfrm>
            <a:off x="8102379" y="5160396"/>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441C2A4C-52EA-BA41-9783-B9C1E79FCF74}"/>
              </a:ext>
            </a:extLst>
          </p:cNvPr>
          <p:cNvSpPr txBox="1"/>
          <p:nvPr/>
        </p:nvSpPr>
        <p:spPr>
          <a:xfrm>
            <a:off x="8285650" y="5947576"/>
            <a:ext cx="2934650" cy="369332"/>
          </a:xfrm>
          <a:prstGeom prst="rect">
            <a:avLst/>
          </a:prstGeom>
          <a:noFill/>
        </p:spPr>
        <p:txBody>
          <a:bodyPr wrap="none" rtlCol="0">
            <a:spAutoFit/>
          </a:bodyPr>
          <a:lstStyle/>
          <a:p>
            <a:r>
              <a:rPr lang="en-US" dirty="0"/>
              <a:t>symbol table hash table stack</a:t>
            </a:r>
          </a:p>
        </p:txBody>
      </p:sp>
      <p:sp>
        <p:nvSpPr>
          <p:cNvPr id="7" name="TextBox 6">
            <a:extLst>
              <a:ext uri="{FF2B5EF4-FFF2-40B4-BE49-F238E27FC236}">
                <a16:creationId xmlns:a16="http://schemas.microsoft.com/office/drawing/2014/main" id="{35AE57B7-33F9-C841-A5E7-561FA291058C}"/>
              </a:ext>
            </a:extLst>
          </p:cNvPr>
          <p:cNvSpPr txBox="1"/>
          <p:nvPr/>
        </p:nvSpPr>
        <p:spPr>
          <a:xfrm>
            <a:off x="8278469" y="5189181"/>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x_0</a:t>
            </a:r>
            <a:r>
              <a:rPr lang="en-US" dirty="0">
                <a:latin typeface="Courier" pitchFamily="2" charset="0"/>
              </a:rPr>
              <a:t>”)</a:t>
            </a:r>
          </a:p>
        </p:txBody>
      </p:sp>
      <p:sp>
        <p:nvSpPr>
          <p:cNvPr id="8" name="TextBox 7">
            <a:extLst>
              <a:ext uri="{FF2B5EF4-FFF2-40B4-BE49-F238E27FC236}">
                <a16:creationId xmlns:a16="http://schemas.microsoft.com/office/drawing/2014/main" id="{47DC9C72-0DAA-3B44-B379-09962618C374}"/>
              </a:ext>
            </a:extLst>
          </p:cNvPr>
          <p:cNvSpPr txBox="1"/>
          <p:nvPr/>
        </p:nvSpPr>
        <p:spPr>
          <a:xfrm>
            <a:off x="7245300" y="5303518"/>
            <a:ext cx="558166" cy="369332"/>
          </a:xfrm>
          <a:prstGeom prst="rect">
            <a:avLst/>
          </a:prstGeom>
          <a:noFill/>
        </p:spPr>
        <p:txBody>
          <a:bodyPr wrap="none" rtlCol="0">
            <a:spAutoFit/>
          </a:bodyPr>
          <a:lstStyle/>
          <a:p>
            <a:r>
              <a:rPr lang="en-US" dirty="0"/>
              <a:t>HT0</a:t>
            </a:r>
          </a:p>
        </p:txBody>
      </p:sp>
      <p:sp>
        <p:nvSpPr>
          <p:cNvPr id="10" name="TextBox 9">
            <a:extLst>
              <a:ext uri="{FF2B5EF4-FFF2-40B4-BE49-F238E27FC236}">
                <a16:creationId xmlns:a16="http://schemas.microsoft.com/office/drawing/2014/main" id="{9596A71B-873B-DE49-A476-84A162A53285}"/>
              </a:ext>
            </a:extLst>
          </p:cNvPr>
          <p:cNvSpPr txBox="1"/>
          <p:nvPr/>
        </p:nvSpPr>
        <p:spPr>
          <a:xfrm>
            <a:off x="8278469" y="5469264"/>
            <a:ext cx="2941831" cy="369332"/>
          </a:xfrm>
          <a:prstGeom prst="rect">
            <a:avLst/>
          </a:prstGeom>
          <a:noFill/>
        </p:spPr>
        <p:txBody>
          <a:bodyPr wrap="none" rtlCol="0">
            <a:spAutoFit/>
          </a:bodyPr>
          <a:lstStyle/>
          <a:p>
            <a:r>
              <a:rPr lang="en-US" dirty="0">
                <a:latin typeface="Courier" pitchFamily="2" charset="0"/>
              </a:rPr>
              <a:t>y: (INT, VAR, “</a:t>
            </a:r>
            <a:r>
              <a:rPr lang="en-US" dirty="0">
                <a:highlight>
                  <a:srgbClr val="FFFF00"/>
                </a:highlight>
                <a:latin typeface="Courier" pitchFamily="2" charset="0"/>
              </a:rPr>
              <a:t>y_0</a:t>
            </a:r>
            <a:r>
              <a:rPr lang="en-US" dirty="0">
                <a:latin typeface="Courier" pitchFamily="2" charset="0"/>
              </a:rPr>
              <a:t>”)</a:t>
            </a:r>
          </a:p>
        </p:txBody>
      </p:sp>
      <p:sp>
        <p:nvSpPr>
          <p:cNvPr id="11" name="Rectangle 10">
            <a:extLst>
              <a:ext uri="{FF2B5EF4-FFF2-40B4-BE49-F238E27FC236}">
                <a16:creationId xmlns:a16="http://schemas.microsoft.com/office/drawing/2014/main" id="{1DA96CB4-D0E3-A24E-8289-C8A20EF1D94C}"/>
              </a:ext>
            </a:extLst>
          </p:cNvPr>
          <p:cNvSpPr/>
          <p:nvPr/>
        </p:nvSpPr>
        <p:spPr>
          <a:xfrm>
            <a:off x="8102379" y="4328591"/>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TextBox 11">
            <a:extLst>
              <a:ext uri="{FF2B5EF4-FFF2-40B4-BE49-F238E27FC236}">
                <a16:creationId xmlns:a16="http://schemas.microsoft.com/office/drawing/2014/main" id="{965F2E6E-76A6-7A40-B86A-B3BDF8A013C9}"/>
              </a:ext>
            </a:extLst>
          </p:cNvPr>
          <p:cNvSpPr txBox="1"/>
          <p:nvPr/>
        </p:nvSpPr>
        <p:spPr>
          <a:xfrm>
            <a:off x="8278469" y="4357376"/>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x_1</a:t>
            </a:r>
            <a:r>
              <a:rPr lang="en-US" dirty="0">
                <a:latin typeface="Courier" pitchFamily="2" charset="0"/>
              </a:rPr>
              <a:t>”)</a:t>
            </a:r>
          </a:p>
        </p:txBody>
      </p:sp>
      <p:sp>
        <p:nvSpPr>
          <p:cNvPr id="13" name="TextBox 12">
            <a:extLst>
              <a:ext uri="{FF2B5EF4-FFF2-40B4-BE49-F238E27FC236}">
                <a16:creationId xmlns:a16="http://schemas.microsoft.com/office/drawing/2014/main" id="{301E6826-1076-6947-8DC2-4C3E510B92A6}"/>
              </a:ext>
            </a:extLst>
          </p:cNvPr>
          <p:cNvSpPr txBox="1"/>
          <p:nvPr/>
        </p:nvSpPr>
        <p:spPr>
          <a:xfrm>
            <a:off x="7245300" y="4471713"/>
            <a:ext cx="558166" cy="369332"/>
          </a:xfrm>
          <a:prstGeom prst="rect">
            <a:avLst/>
          </a:prstGeom>
          <a:noFill/>
        </p:spPr>
        <p:txBody>
          <a:bodyPr wrap="none" rtlCol="0">
            <a:spAutoFit/>
          </a:bodyPr>
          <a:lstStyle/>
          <a:p>
            <a:r>
              <a:rPr lang="en-US" dirty="0"/>
              <a:t>HT1</a:t>
            </a:r>
          </a:p>
        </p:txBody>
      </p:sp>
      <p:sp>
        <p:nvSpPr>
          <p:cNvPr id="3" name="TextBox 2">
            <a:extLst>
              <a:ext uri="{FF2B5EF4-FFF2-40B4-BE49-F238E27FC236}">
                <a16:creationId xmlns:a16="http://schemas.microsoft.com/office/drawing/2014/main" id="{9FC01CF1-2467-C54C-B34A-5C33C08FAA64}"/>
              </a:ext>
            </a:extLst>
          </p:cNvPr>
          <p:cNvSpPr txBox="1"/>
          <p:nvPr/>
        </p:nvSpPr>
        <p:spPr>
          <a:xfrm>
            <a:off x="8102379" y="3240876"/>
            <a:ext cx="3495444" cy="369332"/>
          </a:xfrm>
          <a:prstGeom prst="rect">
            <a:avLst/>
          </a:prstGeom>
          <a:noFill/>
        </p:spPr>
        <p:txBody>
          <a:bodyPr wrap="none" rtlCol="0">
            <a:spAutoFit/>
          </a:bodyPr>
          <a:lstStyle/>
          <a:p>
            <a:r>
              <a:rPr lang="en-US" dirty="0"/>
              <a:t>new scope. Add x with a new name</a:t>
            </a:r>
          </a:p>
        </p:txBody>
      </p:sp>
      <p:sp>
        <p:nvSpPr>
          <p:cNvPr id="9" name="TextBox 8">
            <a:extLst>
              <a:ext uri="{FF2B5EF4-FFF2-40B4-BE49-F238E27FC236}">
                <a16:creationId xmlns:a16="http://schemas.microsoft.com/office/drawing/2014/main" id="{5882DE18-2231-FCD0-8DF2-41836CF9BC18}"/>
              </a:ext>
            </a:extLst>
          </p:cNvPr>
          <p:cNvSpPr txBox="1"/>
          <p:nvPr/>
        </p:nvSpPr>
        <p:spPr>
          <a:xfrm>
            <a:off x="2387693" y="5249928"/>
            <a:ext cx="3081806" cy="523220"/>
          </a:xfrm>
          <a:prstGeom prst="rect">
            <a:avLst/>
          </a:prstGeom>
          <a:noFill/>
        </p:spPr>
        <p:txBody>
          <a:bodyPr wrap="none" rtlCol="0">
            <a:spAutoFit/>
          </a:bodyPr>
          <a:lstStyle/>
          <a:p>
            <a:r>
              <a:rPr lang="en-US" sz="2800" dirty="0"/>
              <a:t>No more need for {}</a:t>
            </a:r>
          </a:p>
        </p:txBody>
      </p:sp>
      <p:sp>
        <p:nvSpPr>
          <p:cNvPr id="14" name="Rectangle 13">
            <a:extLst>
              <a:ext uri="{FF2B5EF4-FFF2-40B4-BE49-F238E27FC236}">
                <a16:creationId xmlns:a16="http://schemas.microsoft.com/office/drawing/2014/main" id="{008D7A62-399D-0527-2DA0-48D05483EBB4}"/>
              </a:ext>
            </a:extLst>
          </p:cNvPr>
          <p:cNvSpPr/>
          <p:nvPr/>
        </p:nvSpPr>
        <p:spPr>
          <a:xfrm>
            <a:off x="936266" y="2320091"/>
            <a:ext cx="1900354" cy="3046988"/>
          </a:xfrm>
          <a:prstGeom prst="rect">
            <a:avLst/>
          </a:prstGeom>
        </p:spPr>
        <p:txBody>
          <a:bodyPr wrap="square">
            <a:spAutoFit/>
          </a:bodyPr>
          <a:lstStyle/>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y_0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000000"/>
                </a:solidFill>
                <a:latin typeface="Menlo" panose="020B0609030804020204" pitchFamily="49" charset="0"/>
              </a:rPr>
              <a:t>x_0 = 5;</a:t>
            </a:r>
          </a:p>
          <a:p>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a:t>
            </a:r>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x_1</a:t>
            </a:r>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    x_1 = 6;</a:t>
            </a:r>
          </a:p>
          <a:p>
            <a:r>
              <a:rPr lang="en-US" sz="2400" dirty="0">
                <a:solidFill>
                  <a:srgbClr val="000000"/>
                </a:solidFill>
                <a:latin typeface="Menlo" panose="020B0609030804020204" pitchFamily="49" charset="0"/>
              </a:rPr>
              <a:t>    y_0 = x_1;</a:t>
            </a:r>
          </a:p>
          <a:p>
            <a:r>
              <a:rPr lang="en-US" sz="2400" dirty="0">
                <a:solidFill>
                  <a:srgbClr val="000000"/>
                </a:solidFill>
                <a:latin typeface="Menlo" panose="020B0609030804020204" pitchFamily="49" charset="0"/>
              </a:rPr>
              <a:t>}</a:t>
            </a:r>
            <a:endParaRPr lang="en-US" sz="24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34887208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79BB-2980-7F44-8375-A2C2CA41E623}"/>
              </a:ext>
            </a:extLst>
          </p:cNvPr>
          <p:cNvSpPr>
            <a:spLocks noGrp="1"/>
          </p:cNvSpPr>
          <p:nvPr>
            <p:ph type="title"/>
          </p:nvPr>
        </p:nvSpPr>
        <p:spPr/>
        <p:txBody>
          <a:bodyPr/>
          <a:lstStyle/>
          <a:p>
            <a:r>
              <a:rPr lang="en-US" dirty="0"/>
              <a:t>Scopes</a:t>
            </a:r>
          </a:p>
        </p:txBody>
      </p:sp>
      <p:sp>
        <p:nvSpPr>
          <p:cNvPr id="17" name="TextBox 16">
            <a:extLst>
              <a:ext uri="{FF2B5EF4-FFF2-40B4-BE49-F238E27FC236}">
                <a16:creationId xmlns:a16="http://schemas.microsoft.com/office/drawing/2014/main" id="{6F305AA7-267D-8547-A0AD-D54A869F4626}"/>
              </a:ext>
            </a:extLst>
          </p:cNvPr>
          <p:cNvSpPr txBox="1"/>
          <p:nvPr/>
        </p:nvSpPr>
        <p:spPr>
          <a:xfrm>
            <a:off x="3733800" y="1837267"/>
            <a:ext cx="3968009" cy="369332"/>
          </a:xfrm>
          <a:prstGeom prst="rect">
            <a:avLst/>
          </a:prstGeom>
          <a:noFill/>
        </p:spPr>
        <p:txBody>
          <a:bodyPr wrap="none" rtlCol="0">
            <a:spAutoFit/>
          </a:bodyPr>
          <a:lstStyle/>
          <a:p>
            <a:r>
              <a:rPr lang="en-US" dirty="0"/>
              <a:t>Let’s walk through it with a symbol table</a:t>
            </a:r>
          </a:p>
        </p:txBody>
      </p:sp>
      <p:sp>
        <p:nvSpPr>
          <p:cNvPr id="5" name="Rectangle 4">
            <a:extLst>
              <a:ext uri="{FF2B5EF4-FFF2-40B4-BE49-F238E27FC236}">
                <a16:creationId xmlns:a16="http://schemas.microsoft.com/office/drawing/2014/main" id="{89F91E01-3926-EC42-AAF2-2AD64847DE70}"/>
              </a:ext>
            </a:extLst>
          </p:cNvPr>
          <p:cNvSpPr/>
          <p:nvPr/>
        </p:nvSpPr>
        <p:spPr>
          <a:xfrm>
            <a:off x="8102379" y="5160396"/>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441C2A4C-52EA-BA41-9783-B9C1E79FCF74}"/>
              </a:ext>
            </a:extLst>
          </p:cNvPr>
          <p:cNvSpPr txBox="1"/>
          <p:nvPr/>
        </p:nvSpPr>
        <p:spPr>
          <a:xfrm>
            <a:off x="8285650" y="5947576"/>
            <a:ext cx="2934650" cy="369332"/>
          </a:xfrm>
          <a:prstGeom prst="rect">
            <a:avLst/>
          </a:prstGeom>
          <a:noFill/>
        </p:spPr>
        <p:txBody>
          <a:bodyPr wrap="none" rtlCol="0">
            <a:spAutoFit/>
          </a:bodyPr>
          <a:lstStyle/>
          <a:p>
            <a:r>
              <a:rPr lang="en-US" dirty="0"/>
              <a:t>symbol table hash table stack</a:t>
            </a:r>
          </a:p>
        </p:txBody>
      </p:sp>
      <p:sp>
        <p:nvSpPr>
          <p:cNvPr id="7" name="TextBox 6">
            <a:extLst>
              <a:ext uri="{FF2B5EF4-FFF2-40B4-BE49-F238E27FC236}">
                <a16:creationId xmlns:a16="http://schemas.microsoft.com/office/drawing/2014/main" id="{35AE57B7-33F9-C841-A5E7-561FA291058C}"/>
              </a:ext>
            </a:extLst>
          </p:cNvPr>
          <p:cNvSpPr txBox="1"/>
          <p:nvPr/>
        </p:nvSpPr>
        <p:spPr>
          <a:xfrm>
            <a:off x="8278469" y="5189181"/>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x_0</a:t>
            </a:r>
            <a:r>
              <a:rPr lang="en-US" dirty="0">
                <a:latin typeface="Courier" pitchFamily="2" charset="0"/>
              </a:rPr>
              <a:t>”)</a:t>
            </a:r>
          </a:p>
        </p:txBody>
      </p:sp>
      <p:sp>
        <p:nvSpPr>
          <p:cNvPr id="8" name="TextBox 7">
            <a:extLst>
              <a:ext uri="{FF2B5EF4-FFF2-40B4-BE49-F238E27FC236}">
                <a16:creationId xmlns:a16="http://schemas.microsoft.com/office/drawing/2014/main" id="{47DC9C72-0DAA-3B44-B379-09962618C374}"/>
              </a:ext>
            </a:extLst>
          </p:cNvPr>
          <p:cNvSpPr txBox="1"/>
          <p:nvPr/>
        </p:nvSpPr>
        <p:spPr>
          <a:xfrm>
            <a:off x="7245300" y="5303518"/>
            <a:ext cx="558166" cy="369332"/>
          </a:xfrm>
          <a:prstGeom prst="rect">
            <a:avLst/>
          </a:prstGeom>
          <a:noFill/>
        </p:spPr>
        <p:txBody>
          <a:bodyPr wrap="none" rtlCol="0">
            <a:spAutoFit/>
          </a:bodyPr>
          <a:lstStyle/>
          <a:p>
            <a:r>
              <a:rPr lang="en-US" dirty="0"/>
              <a:t>HT0</a:t>
            </a:r>
          </a:p>
        </p:txBody>
      </p:sp>
      <p:sp>
        <p:nvSpPr>
          <p:cNvPr id="10" name="TextBox 9">
            <a:extLst>
              <a:ext uri="{FF2B5EF4-FFF2-40B4-BE49-F238E27FC236}">
                <a16:creationId xmlns:a16="http://schemas.microsoft.com/office/drawing/2014/main" id="{9596A71B-873B-DE49-A476-84A162A53285}"/>
              </a:ext>
            </a:extLst>
          </p:cNvPr>
          <p:cNvSpPr txBox="1"/>
          <p:nvPr/>
        </p:nvSpPr>
        <p:spPr>
          <a:xfrm>
            <a:off x="8278469" y="5469264"/>
            <a:ext cx="2941831" cy="369332"/>
          </a:xfrm>
          <a:prstGeom prst="rect">
            <a:avLst/>
          </a:prstGeom>
          <a:noFill/>
        </p:spPr>
        <p:txBody>
          <a:bodyPr wrap="none" rtlCol="0">
            <a:spAutoFit/>
          </a:bodyPr>
          <a:lstStyle/>
          <a:p>
            <a:r>
              <a:rPr lang="en-US" dirty="0">
                <a:latin typeface="Courier" pitchFamily="2" charset="0"/>
              </a:rPr>
              <a:t>y: (INT, VAR, “</a:t>
            </a:r>
            <a:r>
              <a:rPr lang="en-US" dirty="0">
                <a:highlight>
                  <a:srgbClr val="FFFF00"/>
                </a:highlight>
                <a:latin typeface="Courier" pitchFamily="2" charset="0"/>
              </a:rPr>
              <a:t>y_0</a:t>
            </a:r>
            <a:r>
              <a:rPr lang="en-US" dirty="0">
                <a:latin typeface="Courier" pitchFamily="2" charset="0"/>
              </a:rPr>
              <a:t>”)</a:t>
            </a:r>
          </a:p>
        </p:txBody>
      </p:sp>
      <p:sp>
        <p:nvSpPr>
          <p:cNvPr id="11" name="Rectangle 10">
            <a:extLst>
              <a:ext uri="{FF2B5EF4-FFF2-40B4-BE49-F238E27FC236}">
                <a16:creationId xmlns:a16="http://schemas.microsoft.com/office/drawing/2014/main" id="{1DA96CB4-D0E3-A24E-8289-C8A20EF1D94C}"/>
              </a:ext>
            </a:extLst>
          </p:cNvPr>
          <p:cNvSpPr/>
          <p:nvPr/>
        </p:nvSpPr>
        <p:spPr>
          <a:xfrm>
            <a:off x="8102379" y="4328591"/>
            <a:ext cx="3132814" cy="691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TextBox 11">
            <a:extLst>
              <a:ext uri="{FF2B5EF4-FFF2-40B4-BE49-F238E27FC236}">
                <a16:creationId xmlns:a16="http://schemas.microsoft.com/office/drawing/2014/main" id="{965F2E6E-76A6-7A40-B86A-B3BDF8A013C9}"/>
              </a:ext>
            </a:extLst>
          </p:cNvPr>
          <p:cNvSpPr txBox="1"/>
          <p:nvPr/>
        </p:nvSpPr>
        <p:spPr>
          <a:xfrm>
            <a:off x="8278469" y="4357376"/>
            <a:ext cx="2941831" cy="369332"/>
          </a:xfrm>
          <a:prstGeom prst="rect">
            <a:avLst/>
          </a:prstGeom>
          <a:noFill/>
        </p:spPr>
        <p:txBody>
          <a:bodyPr wrap="none" rtlCol="0">
            <a:spAutoFit/>
          </a:bodyPr>
          <a:lstStyle/>
          <a:p>
            <a:r>
              <a:rPr lang="en-US" dirty="0">
                <a:latin typeface="Courier" pitchFamily="2" charset="0"/>
              </a:rPr>
              <a:t>x: (INT, VAR, “</a:t>
            </a:r>
            <a:r>
              <a:rPr lang="en-US" dirty="0">
                <a:highlight>
                  <a:srgbClr val="FFFF00"/>
                </a:highlight>
                <a:latin typeface="Courier" pitchFamily="2" charset="0"/>
              </a:rPr>
              <a:t>x_1</a:t>
            </a:r>
            <a:r>
              <a:rPr lang="en-US" dirty="0">
                <a:latin typeface="Courier" pitchFamily="2" charset="0"/>
              </a:rPr>
              <a:t>”)</a:t>
            </a:r>
          </a:p>
        </p:txBody>
      </p:sp>
      <p:sp>
        <p:nvSpPr>
          <p:cNvPr id="13" name="TextBox 12">
            <a:extLst>
              <a:ext uri="{FF2B5EF4-FFF2-40B4-BE49-F238E27FC236}">
                <a16:creationId xmlns:a16="http://schemas.microsoft.com/office/drawing/2014/main" id="{301E6826-1076-6947-8DC2-4C3E510B92A6}"/>
              </a:ext>
            </a:extLst>
          </p:cNvPr>
          <p:cNvSpPr txBox="1"/>
          <p:nvPr/>
        </p:nvSpPr>
        <p:spPr>
          <a:xfrm>
            <a:off x="7245300" y="4471713"/>
            <a:ext cx="558166" cy="369332"/>
          </a:xfrm>
          <a:prstGeom prst="rect">
            <a:avLst/>
          </a:prstGeom>
          <a:noFill/>
        </p:spPr>
        <p:txBody>
          <a:bodyPr wrap="none" rtlCol="0">
            <a:spAutoFit/>
          </a:bodyPr>
          <a:lstStyle/>
          <a:p>
            <a:r>
              <a:rPr lang="en-US" dirty="0"/>
              <a:t>HT1</a:t>
            </a:r>
          </a:p>
        </p:txBody>
      </p:sp>
      <p:sp>
        <p:nvSpPr>
          <p:cNvPr id="3" name="TextBox 2">
            <a:extLst>
              <a:ext uri="{FF2B5EF4-FFF2-40B4-BE49-F238E27FC236}">
                <a16:creationId xmlns:a16="http://schemas.microsoft.com/office/drawing/2014/main" id="{9FC01CF1-2467-C54C-B34A-5C33C08FAA64}"/>
              </a:ext>
            </a:extLst>
          </p:cNvPr>
          <p:cNvSpPr txBox="1"/>
          <p:nvPr/>
        </p:nvSpPr>
        <p:spPr>
          <a:xfrm>
            <a:off x="8102379" y="3240876"/>
            <a:ext cx="3495444" cy="369332"/>
          </a:xfrm>
          <a:prstGeom prst="rect">
            <a:avLst/>
          </a:prstGeom>
          <a:noFill/>
        </p:spPr>
        <p:txBody>
          <a:bodyPr wrap="none" rtlCol="0">
            <a:spAutoFit/>
          </a:bodyPr>
          <a:lstStyle/>
          <a:p>
            <a:r>
              <a:rPr lang="en-US" dirty="0"/>
              <a:t>new scope. Add x with a new name</a:t>
            </a:r>
          </a:p>
        </p:txBody>
      </p:sp>
      <p:sp>
        <p:nvSpPr>
          <p:cNvPr id="18" name="TextBox 17">
            <a:extLst>
              <a:ext uri="{FF2B5EF4-FFF2-40B4-BE49-F238E27FC236}">
                <a16:creationId xmlns:a16="http://schemas.microsoft.com/office/drawing/2014/main" id="{21956C8B-9788-A808-1F17-453A3D0F1282}"/>
              </a:ext>
            </a:extLst>
          </p:cNvPr>
          <p:cNvSpPr txBox="1"/>
          <p:nvPr/>
        </p:nvSpPr>
        <p:spPr>
          <a:xfrm>
            <a:off x="1886443" y="5054038"/>
            <a:ext cx="4837415" cy="1384995"/>
          </a:xfrm>
          <a:prstGeom prst="rect">
            <a:avLst/>
          </a:prstGeom>
          <a:noFill/>
        </p:spPr>
        <p:txBody>
          <a:bodyPr wrap="none" rtlCol="0">
            <a:spAutoFit/>
          </a:bodyPr>
          <a:lstStyle/>
          <a:p>
            <a:r>
              <a:rPr lang="en-US" sz="2800" dirty="0"/>
              <a:t>No more need for {}</a:t>
            </a:r>
          </a:p>
          <a:p>
            <a:r>
              <a:rPr lang="en-US" sz="2800" dirty="0"/>
              <a:t>   The names make the variables</a:t>
            </a:r>
          </a:p>
          <a:p>
            <a:r>
              <a:rPr lang="en-US" sz="2800" dirty="0"/>
              <a:t>   unique – based on the scope.</a:t>
            </a:r>
          </a:p>
        </p:txBody>
      </p:sp>
      <p:sp>
        <p:nvSpPr>
          <p:cNvPr id="9" name="Rectangle 8">
            <a:extLst>
              <a:ext uri="{FF2B5EF4-FFF2-40B4-BE49-F238E27FC236}">
                <a16:creationId xmlns:a16="http://schemas.microsoft.com/office/drawing/2014/main" id="{67AAC3AD-13A1-7F17-894B-1A6AED08F566}"/>
              </a:ext>
            </a:extLst>
          </p:cNvPr>
          <p:cNvSpPr/>
          <p:nvPr/>
        </p:nvSpPr>
        <p:spPr>
          <a:xfrm>
            <a:off x="936266" y="2320091"/>
            <a:ext cx="1900354" cy="2308324"/>
          </a:xfrm>
          <a:prstGeom prst="rect">
            <a:avLst/>
          </a:prstGeom>
        </p:spPr>
        <p:txBody>
          <a:bodyPr wrap="square">
            <a:spAutoFit/>
          </a:bodyPr>
          <a:lstStyle/>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y_0</a:t>
            </a:r>
            <a:r>
              <a:rPr lang="en-US" sz="2400" dirty="0">
                <a:solidFill>
                  <a:srgbClr val="000000"/>
                </a:solidFill>
                <a:latin typeface="Menlo" panose="020B0609030804020204" pitchFamily="49" charset="0"/>
              </a:rPr>
              <a:t>;</a:t>
            </a:r>
            <a:endParaRPr lang="en-US" sz="2400" dirty="0">
              <a:solidFill>
                <a:srgbClr val="2FB41D"/>
              </a:solidFill>
              <a:latin typeface="Menlo" panose="020B0609030804020204" pitchFamily="49" charset="0"/>
            </a:endParaRPr>
          </a:p>
          <a:p>
            <a:r>
              <a:rPr lang="en-US" sz="2400" dirty="0">
                <a:solidFill>
                  <a:srgbClr val="000000"/>
                </a:solidFill>
                <a:latin typeface="Menlo" panose="020B0609030804020204" pitchFamily="49" charset="0"/>
              </a:rPr>
              <a:t>x_0 = 5;</a:t>
            </a:r>
          </a:p>
          <a:p>
            <a:r>
              <a:rPr lang="en-US" sz="2400" dirty="0">
                <a:solidFill>
                  <a:srgbClr val="2FB41D"/>
                </a:solidFill>
                <a:latin typeface="Menlo" panose="020B0609030804020204" pitchFamily="49" charset="0"/>
              </a:rPr>
              <a:t>int</a:t>
            </a:r>
            <a:r>
              <a:rPr lang="en-US" sz="2400" dirty="0">
                <a:solidFill>
                  <a:srgbClr val="000000"/>
                </a:solidFill>
                <a:latin typeface="Menlo" panose="020B0609030804020204" pitchFamily="49" charset="0"/>
              </a:rPr>
              <a:t> </a:t>
            </a:r>
            <a:r>
              <a:rPr lang="en-US" sz="2400" dirty="0">
                <a:solidFill>
                  <a:srgbClr val="9FA01C"/>
                </a:solidFill>
                <a:latin typeface="Menlo" panose="020B0609030804020204" pitchFamily="49" charset="0"/>
              </a:rPr>
              <a:t>x_1</a:t>
            </a:r>
            <a:r>
              <a:rPr lang="en-US" sz="2400" dirty="0">
                <a:solidFill>
                  <a:srgbClr val="000000"/>
                </a:solidFill>
                <a:latin typeface="Menlo" panose="020B0609030804020204" pitchFamily="49" charset="0"/>
              </a:rPr>
              <a:t>;</a:t>
            </a:r>
          </a:p>
          <a:p>
            <a:r>
              <a:rPr lang="en-US" sz="2400" dirty="0">
                <a:solidFill>
                  <a:srgbClr val="000000"/>
                </a:solidFill>
                <a:latin typeface="Menlo" panose="020B0609030804020204" pitchFamily="49" charset="0"/>
              </a:rPr>
              <a:t>x_1 = 6;</a:t>
            </a:r>
          </a:p>
          <a:p>
            <a:r>
              <a:rPr lang="en-US" sz="2400" dirty="0">
                <a:solidFill>
                  <a:srgbClr val="000000"/>
                </a:solidFill>
                <a:latin typeface="Menlo" panose="020B0609030804020204" pitchFamily="49" charset="0"/>
              </a:rPr>
              <a:t>y_0 = x_1;</a:t>
            </a:r>
          </a:p>
        </p:txBody>
      </p:sp>
    </p:spTree>
    <p:extLst>
      <p:ext uri="{BB962C8B-B14F-4D97-AF65-F5344CB8AC3E}">
        <p14:creationId xmlns:p14="http://schemas.microsoft.com/office/powerpoint/2010/main" val="46580328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79BB-2980-7F44-8375-A2C2CA41E623}"/>
              </a:ext>
            </a:extLst>
          </p:cNvPr>
          <p:cNvSpPr>
            <a:spLocks noGrp="1"/>
          </p:cNvSpPr>
          <p:nvPr>
            <p:ph type="title"/>
          </p:nvPr>
        </p:nvSpPr>
        <p:spPr/>
        <p:txBody>
          <a:bodyPr/>
          <a:lstStyle/>
          <a:p>
            <a:r>
              <a:rPr lang="en-US" dirty="0"/>
              <a:t>Scopes</a:t>
            </a:r>
          </a:p>
        </p:txBody>
      </p:sp>
      <p:sp>
        <p:nvSpPr>
          <p:cNvPr id="4" name="Rectangle 3">
            <a:extLst>
              <a:ext uri="{FF2B5EF4-FFF2-40B4-BE49-F238E27FC236}">
                <a16:creationId xmlns:a16="http://schemas.microsoft.com/office/drawing/2014/main" id="{2BDE935A-3EA5-6B48-A06C-554DB36E69C9}"/>
              </a:ext>
            </a:extLst>
          </p:cNvPr>
          <p:cNvSpPr/>
          <p:nvPr/>
        </p:nvSpPr>
        <p:spPr>
          <a:xfrm>
            <a:off x="583095" y="2274838"/>
            <a:ext cx="2397172" cy="3416320"/>
          </a:xfrm>
          <a:prstGeom prst="rect">
            <a:avLst/>
          </a:prstGeom>
        </p:spPr>
        <p:txBody>
          <a:bodyPr wrap="square">
            <a:spAutoFit/>
          </a:bodyPr>
          <a:lstStyle/>
          <a:p>
            <a:r>
              <a:rPr lang="en-US" dirty="0">
                <a:solidFill>
                  <a:srgbClr val="2FB41D"/>
                </a:solidFill>
                <a:latin typeface="Menlo" panose="020B0609030804020204" pitchFamily="49" charset="0"/>
              </a:rPr>
              <a:t>int</a:t>
            </a:r>
            <a:r>
              <a:rPr lang="en-US" dirty="0">
                <a:solidFill>
                  <a:srgbClr val="000000"/>
                </a:solidFill>
                <a:latin typeface="Menlo" panose="020B0609030804020204" pitchFamily="49" charset="0"/>
              </a:rPr>
              <a:t> </a:t>
            </a:r>
            <a:r>
              <a:rPr lang="en-US" dirty="0">
                <a:solidFill>
                  <a:srgbClr val="9FA01C"/>
                </a:solidFill>
                <a:latin typeface="Menlo" panose="020B0609030804020204" pitchFamily="49" charset="0"/>
              </a:rPr>
              <a:t>x</a:t>
            </a:r>
            <a:r>
              <a:rPr lang="en-US" dirty="0">
                <a:solidFill>
                  <a:srgbClr val="000000"/>
                </a:solidFill>
                <a:latin typeface="Menlo" panose="020B0609030804020204" pitchFamily="49" charset="0"/>
              </a:rPr>
              <a:t>;</a:t>
            </a:r>
            <a:endParaRPr lang="en-US" dirty="0">
              <a:solidFill>
                <a:srgbClr val="2FB41D"/>
              </a:solidFill>
              <a:latin typeface="Menlo" panose="020B0609030804020204" pitchFamily="49" charset="0"/>
            </a:endParaRPr>
          </a:p>
          <a:p>
            <a:r>
              <a:rPr lang="en-US" dirty="0">
                <a:solidFill>
                  <a:srgbClr val="2FB41D"/>
                </a:solidFill>
                <a:latin typeface="Menlo" panose="020B0609030804020204" pitchFamily="49" charset="0"/>
              </a:rPr>
              <a:t>int</a:t>
            </a:r>
            <a:r>
              <a:rPr lang="en-US" dirty="0">
                <a:solidFill>
                  <a:srgbClr val="000000"/>
                </a:solidFill>
                <a:latin typeface="Menlo" panose="020B0609030804020204" pitchFamily="49" charset="0"/>
              </a:rPr>
              <a:t> </a:t>
            </a:r>
            <a:r>
              <a:rPr lang="en-US" dirty="0">
                <a:solidFill>
                  <a:srgbClr val="9FA01C"/>
                </a:solidFill>
                <a:latin typeface="Menlo" panose="020B0609030804020204" pitchFamily="49" charset="0"/>
              </a:rPr>
              <a:t>y</a:t>
            </a:r>
            <a:r>
              <a:rPr lang="en-US" dirty="0">
                <a:solidFill>
                  <a:srgbClr val="000000"/>
                </a:solidFill>
                <a:latin typeface="Menlo" panose="020B0609030804020204" pitchFamily="49" charset="0"/>
              </a:rPr>
              <a:t>;</a:t>
            </a:r>
            <a:endParaRPr lang="en-US" dirty="0">
              <a:solidFill>
                <a:srgbClr val="2FB41D"/>
              </a:solidFill>
              <a:latin typeface="Menlo" panose="020B0609030804020204" pitchFamily="49" charset="0"/>
            </a:endParaRPr>
          </a:p>
          <a:p>
            <a:r>
              <a:rPr lang="en-US" dirty="0">
                <a:solidFill>
                  <a:srgbClr val="000000"/>
                </a:solidFill>
                <a:latin typeface="Menlo" panose="020B0609030804020204" pitchFamily="49" charset="0"/>
              </a:rPr>
              <a:t>x = 5;</a:t>
            </a:r>
          </a:p>
          <a:p>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dirty="0">
                <a:solidFill>
                  <a:srgbClr val="2FB41D"/>
                </a:solidFill>
                <a:latin typeface="Menlo" panose="020B0609030804020204" pitchFamily="49" charset="0"/>
              </a:rPr>
              <a:t>int</a:t>
            </a:r>
            <a:r>
              <a:rPr lang="en-US" dirty="0">
                <a:solidFill>
                  <a:srgbClr val="000000"/>
                </a:solidFill>
                <a:latin typeface="Menlo" panose="020B0609030804020204" pitchFamily="49" charset="0"/>
              </a:rPr>
              <a:t> </a:t>
            </a:r>
            <a:r>
              <a:rPr lang="en-US" dirty="0">
                <a:solidFill>
                  <a:srgbClr val="9FA01C"/>
                </a:solidFill>
                <a:latin typeface="Menlo" panose="020B0609030804020204" pitchFamily="49" charset="0"/>
              </a:rPr>
              <a:t>x</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x = 6;</a:t>
            </a:r>
          </a:p>
          <a:p>
            <a:r>
              <a:rPr lang="en-US" dirty="0">
                <a:solidFill>
                  <a:srgbClr val="000000"/>
                </a:solidFill>
                <a:latin typeface="Menlo" panose="020B0609030804020204" pitchFamily="49" charset="0"/>
              </a:rPr>
              <a:t>}</a:t>
            </a:r>
          </a:p>
          <a:p>
            <a:r>
              <a:rPr lang="en-US" dirty="0">
                <a:solidFill>
                  <a:srgbClr val="000000"/>
                </a:solidFill>
                <a:effectLst/>
                <a:latin typeface="Menlo" panose="020B0609030804020204" pitchFamily="49" charset="0"/>
              </a:rPr>
              <a:t>{</a:t>
            </a:r>
          </a:p>
          <a:p>
            <a:r>
              <a:rPr lang="en-US" dirty="0">
                <a:solidFill>
                  <a:srgbClr val="000000"/>
                </a:solidFill>
                <a:latin typeface="Menlo" panose="020B0609030804020204" pitchFamily="49" charset="0"/>
              </a:rPr>
              <a:t>  </a:t>
            </a:r>
            <a:r>
              <a:rPr lang="en-US" dirty="0">
                <a:solidFill>
                  <a:srgbClr val="2FB41D"/>
                </a:solidFill>
                <a:latin typeface="Menlo" panose="020B0609030804020204" pitchFamily="49" charset="0"/>
              </a:rPr>
              <a:t>int</a:t>
            </a:r>
            <a:r>
              <a:rPr lang="en-US" dirty="0">
                <a:solidFill>
                  <a:srgbClr val="000000"/>
                </a:solidFill>
                <a:latin typeface="Menlo" panose="020B0609030804020204" pitchFamily="49" charset="0"/>
              </a:rPr>
              <a:t> </a:t>
            </a:r>
            <a:r>
              <a:rPr lang="en-US" dirty="0">
                <a:solidFill>
                  <a:srgbClr val="9FA01C"/>
                </a:solidFill>
                <a:latin typeface="Menlo" panose="020B0609030804020204" pitchFamily="49" charset="0"/>
              </a:rPr>
              <a:t>x</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x = 1;</a:t>
            </a:r>
          </a:p>
          <a:p>
            <a:r>
              <a:rPr lang="en-US" dirty="0">
                <a:solidFill>
                  <a:srgbClr val="000000"/>
                </a:solidFill>
                <a:latin typeface="Menlo" panose="020B0609030804020204" pitchFamily="49" charset="0"/>
              </a:rPr>
              <a:t>  y = x;</a:t>
            </a:r>
          </a:p>
          <a:p>
            <a:r>
              <a:rPr lang="en-US" dirty="0">
                <a:solidFill>
                  <a:srgbClr val="000000"/>
                </a:solidFill>
                <a:latin typeface="Menlo" panose="020B0609030804020204" pitchFamily="49" charset="0"/>
              </a:rPr>
              <a:t>}</a:t>
            </a:r>
            <a:endParaRPr lang="en-US" dirty="0">
              <a:solidFill>
                <a:srgbClr val="000000"/>
              </a:solidFill>
              <a:effectLst/>
              <a:latin typeface="Menlo" panose="020B0609030804020204" pitchFamily="49" charset="0"/>
            </a:endParaRPr>
          </a:p>
        </p:txBody>
      </p:sp>
      <p:sp>
        <p:nvSpPr>
          <p:cNvPr id="17" name="TextBox 16">
            <a:extLst>
              <a:ext uri="{FF2B5EF4-FFF2-40B4-BE49-F238E27FC236}">
                <a16:creationId xmlns:a16="http://schemas.microsoft.com/office/drawing/2014/main" id="{6F305AA7-267D-8547-A0AD-D54A869F4626}"/>
              </a:ext>
            </a:extLst>
          </p:cNvPr>
          <p:cNvSpPr txBox="1"/>
          <p:nvPr/>
        </p:nvSpPr>
        <p:spPr>
          <a:xfrm>
            <a:off x="3733800" y="1837267"/>
            <a:ext cx="3649525" cy="369332"/>
          </a:xfrm>
          <a:prstGeom prst="rect">
            <a:avLst/>
          </a:prstGeom>
          <a:noFill/>
        </p:spPr>
        <p:txBody>
          <a:bodyPr wrap="none" rtlCol="0">
            <a:spAutoFit/>
          </a:bodyPr>
          <a:lstStyle/>
          <a:p>
            <a:r>
              <a:rPr lang="en-US" dirty="0"/>
              <a:t>What happens with multiple scopes?</a:t>
            </a:r>
          </a:p>
        </p:txBody>
      </p:sp>
    </p:spTree>
    <p:extLst>
      <p:ext uri="{BB962C8B-B14F-4D97-AF65-F5344CB8AC3E}">
        <p14:creationId xmlns:p14="http://schemas.microsoft.com/office/powerpoint/2010/main" val="154800694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779BB-2980-7F44-8375-A2C2CA41E623}"/>
              </a:ext>
            </a:extLst>
          </p:cNvPr>
          <p:cNvSpPr>
            <a:spLocks noGrp="1"/>
          </p:cNvSpPr>
          <p:nvPr>
            <p:ph type="title"/>
          </p:nvPr>
        </p:nvSpPr>
        <p:spPr/>
        <p:txBody>
          <a:bodyPr/>
          <a:lstStyle/>
          <a:p>
            <a:r>
              <a:rPr lang="en-US" dirty="0"/>
              <a:t>Scopes</a:t>
            </a:r>
          </a:p>
        </p:txBody>
      </p:sp>
      <p:sp>
        <p:nvSpPr>
          <p:cNvPr id="4" name="Rectangle 3">
            <a:extLst>
              <a:ext uri="{FF2B5EF4-FFF2-40B4-BE49-F238E27FC236}">
                <a16:creationId xmlns:a16="http://schemas.microsoft.com/office/drawing/2014/main" id="{2BDE935A-3EA5-6B48-A06C-554DB36E69C9}"/>
              </a:ext>
            </a:extLst>
          </p:cNvPr>
          <p:cNvSpPr/>
          <p:nvPr/>
        </p:nvSpPr>
        <p:spPr>
          <a:xfrm>
            <a:off x="583095" y="2274838"/>
            <a:ext cx="2397172" cy="3416320"/>
          </a:xfrm>
          <a:prstGeom prst="rect">
            <a:avLst/>
          </a:prstGeom>
        </p:spPr>
        <p:txBody>
          <a:bodyPr wrap="square">
            <a:spAutoFit/>
          </a:bodyPr>
          <a:lstStyle/>
          <a:p>
            <a:r>
              <a:rPr lang="en-US" dirty="0">
                <a:solidFill>
                  <a:srgbClr val="2FB41D"/>
                </a:solidFill>
                <a:latin typeface="Menlo" panose="020B0609030804020204" pitchFamily="49" charset="0"/>
              </a:rPr>
              <a:t>int</a:t>
            </a:r>
            <a:r>
              <a:rPr lang="en-US" dirty="0">
                <a:solidFill>
                  <a:srgbClr val="000000"/>
                </a:solidFill>
                <a:latin typeface="Menlo" panose="020B0609030804020204" pitchFamily="49" charset="0"/>
              </a:rPr>
              <a:t> </a:t>
            </a:r>
            <a:r>
              <a:rPr lang="en-US" dirty="0">
                <a:solidFill>
                  <a:srgbClr val="9FA01C"/>
                </a:solidFill>
                <a:latin typeface="Menlo" panose="020B0609030804020204" pitchFamily="49" charset="0"/>
              </a:rPr>
              <a:t>x</a:t>
            </a:r>
            <a:r>
              <a:rPr lang="en-US" dirty="0">
                <a:solidFill>
                  <a:srgbClr val="000000"/>
                </a:solidFill>
                <a:latin typeface="Menlo" panose="020B0609030804020204" pitchFamily="49" charset="0"/>
              </a:rPr>
              <a:t>;</a:t>
            </a:r>
            <a:endParaRPr lang="en-US" dirty="0">
              <a:solidFill>
                <a:srgbClr val="2FB41D"/>
              </a:solidFill>
              <a:latin typeface="Menlo" panose="020B0609030804020204" pitchFamily="49" charset="0"/>
            </a:endParaRPr>
          </a:p>
          <a:p>
            <a:r>
              <a:rPr lang="en-US" dirty="0">
                <a:solidFill>
                  <a:srgbClr val="2FB41D"/>
                </a:solidFill>
                <a:latin typeface="Menlo" panose="020B0609030804020204" pitchFamily="49" charset="0"/>
              </a:rPr>
              <a:t>int</a:t>
            </a:r>
            <a:r>
              <a:rPr lang="en-US" dirty="0">
                <a:solidFill>
                  <a:srgbClr val="000000"/>
                </a:solidFill>
                <a:latin typeface="Menlo" panose="020B0609030804020204" pitchFamily="49" charset="0"/>
              </a:rPr>
              <a:t> </a:t>
            </a:r>
            <a:r>
              <a:rPr lang="en-US" dirty="0">
                <a:solidFill>
                  <a:srgbClr val="9FA01C"/>
                </a:solidFill>
                <a:latin typeface="Menlo" panose="020B0609030804020204" pitchFamily="49" charset="0"/>
              </a:rPr>
              <a:t>y</a:t>
            </a:r>
            <a:r>
              <a:rPr lang="en-US" dirty="0">
                <a:solidFill>
                  <a:srgbClr val="000000"/>
                </a:solidFill>
                <a:latin typeface="Menlo" panose="020B0609030804020204" pitchFamily="49" charset="0"/>
              </a:rPr>
              <a:t>;</a:t>
            </a:r>
            <a:endParaRPr lang="en-US" dirty="0">
              <a:solidFill>
                <a:srgbClr val="2FB41D"/>
              </a:solidFill>
              <a:latin typeface="Menlo" panose="020B0609030804020204" pitchFamily="49" charset="0"/>
            </a:endParaRPr>
          </a:p>
          <a:p>
            <a:r>
              <a:rPr lang="en-US" dirty="0">
                <a:solidFill>
                  <a:srgbClr val="000000"/>
                </a:solidFill>
                <a:latin typeface="Menlo" panose="020B0609030804020204" pitchFamily="49" charset="0"/>
              </a:rPr>
              <a:t>x = 5;</a:t>
            </a:r>
          </a:p>
          <a:p>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dirty="0">
                <a:solidFill>
                  <a:srgbClr val="2FB41D"/>
                </a:solidFill>
                <a:latin typeface="Menlo" panose="020B0609030804020204" pitchFamily="49" charset="0"/>
              </a:rPr>
              <a:t>int</a:t>
            </a:r>
            <a:r>
              <a:rPr lang="en-US" dirty="0">
                <a:solidFill>
                  <a:srgbClr val="000000"/>
                </a:solidFill>
                <a:latin typeface="Menlo" panose="020B0609030804020204" pitchFamily="49" charset="0"/>
              </a:rPr>
              <a:t> </a:t>
            </a:r>
            <a:r>
              <a:rPr lang="en-US" dirty="0">
                <a:solidFill>
                  <a:srgbClr val="9FA01C"/>
                </a:solidFill>
                <a:latin typeface="Menlo" panose="020B0609030804020204" pitchFamily="49" charset="0"/>
              </a:rPr>
              <a:t>x</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x = 6;</a:t>
            </a:r>
          </a:p>
          <a:p>
            <a:r>
              <a:rPr lang="en-US" dirty="0">
                <a:solidFill>
                  <a:srgbClr val="000000"/>
                </a:solidFill>
                <a:latin typeface="Menlo" panose="020B0609030804020204" pitchFamily="49" charset="0"/>
              </a:rPr>
              <a:t>}</a:t>
            </a:r>
          </a:p>
          <a:p>
            <a:r>
              <a:rPr lang="en-US" dirty="0">
                <a:solidFill>
                  <a:srgbClr val="000000"/>
                </a:solidFill>
                <a:effectLst/>
                <a:latin typeface="Menlo" panose="020B0609030804020204" pitchFamily="49" charset="0"/>
              </a:rPr>
              <a:t>{</a:t>
            </a:r>
          </a:p>
          <a:p>
            <a:r>
              <a:rPr lang="en-US" dirty="0">
                <a:solidFill>
                  <a:srgbClr val="000000"/>
                </a:solidFill>
                <a:latin typeface="Menlo" panose="020B0609030804020204" pitchFamily="49" charset="0"/>
              </a:rPr>
              <a:t>  </a:t>
            </a:r>
            <a:r>
              <a:rPr lang="en-US" dirty="0">
                <a:solidFill>
                  <a:srgbClr val="2FB41D"/>
                </a:solidFill>
                <a:latin typeface="Menlo" panose="020B0609030804020204" pitchFamily="49" charset="0"/>
              </a:rPr>
              <a:t>int</a:t>
            </a:r>
            <a:r>
              <a:rPr lang="en-US" dirty="0">
                <a:solidFill>
                  <a:srgbClr val="000000"/>
                </a:solidFill>
                <a:latin typeface="Menlo" panose="020B0609030804020204" pitchFamily="49" charset="0"/>
              </a:rPr>
              <a:t> </a:t>
            </a:r>
            <a:r>
              <a:rPr lang="en-US" dirty="0">
                <a:solidFill>
                  <a:srgbClr val="9FA01C"/>
                </a:solidFill>
                <a:latin typeface="Menlo" panose="020B0609030804020204" pitchFamily="49" charset="0"/>
              </a:rPr>
              <a:t>x</a:t>
            </a:r>
            <a:r>
              <a:rPr lang="en-US" dirty="0">
                <a:solidFill>
                  <a:srgbClr val="000000"/>
                </a:solidFill>
                <a:latin typeface="Menlo" panose="020B0609030804020204" pitchFamily="49" charset="0"/>
              </a:rPr>
              <a:t>;</a:t>
            </a:r>
          </a:p>
          <a:p>
            <a:r>
              <a:rPr lang="en-US" strike="sngStrike" dirty="0">
                <a:solidFill>
                  <a:srgbClr val="000000"/>
                </a:solidFill>
                <a:latin typeface="Menlo" panose="020B0609030804020204" pitchFamily="49" charset="0"/>
              </a:rPr>
              <a:t>  x = 1;</a:t>
            </a:r>
          </a:p>
          <a:p>
            <a:r>
              <a:rPr lang="en-US" dirty="0">
                <a:solidFill>
                  <a:srgbClr val="000000"/>
                </a:solidFill>
                <a:latin typeface="Menlo" panose="020B0609030804020204" pitchFamily="49" charset="0"/>
              </a:rPr>
              <a:t>  y = x;</a:t>
            </a:r>
          </a:p>
          <a:p>
            <a:r>
              <a:rPr lang="en-US" dirty="0">
                <a:solidFill>
                  <a:srgbClr val="000000"/>
                </a:solidFill>
                <a:latin typeface="Menlo" panose="020B0609030804020204" pitchFamily="49" charset="0"/>
              </a:rPr>
              <a:t>}</a:t>
            </a:r>
            <a:endParaRPr lang="en-US" dirty="0">
              <a:solidFill>
                <a:srgbClr val="000000"/>
              </a:solidFill>
              <a:effectLst/>
              <a:latin typeface="Menlo" panose="020B0609030804020204" pitchFamily="49" charset="0"/>
            </a:endParaRPr>
          </a:p>
        </p:txBody>
      </p:sp>
      <p:sp>
        <p:nvSpPr>
          <p:cNvPr id="17" name="TextBox 16">
            <a:extLst>
              <a:ext uri="{FF2B5EF4-FFF2-40B4-BE49-F238E27FC236}">
                <a16:creationId xmlns:a16="http://schemas.microsoft.com/office/drawing/2014/main" id="{6F305AA7-267D-8547-A0AD-D54A869F4626}"/>
              </a:ext>
            </a:extLst>
          </p:cNvPr>
          <p:cNvSpPr txBox="1"/>
          <p:nvPr/>
        </p:nvSpPr>
        <p:spPr>
          <a:xfrm>
            <a:off x="3733800" y="1837267"/>
            <a:ext cx="3649525" cy="369332"/>
          </a:xfrm>
          <a:prstGeom prst="rect">
            <a:avLst/>
          </a:prstGeom>
          <a:noFill/>
        </p:spPr>
        <p:txBody>
          <a:bodyPr wrap="none" rtlCol="0">
            <a:spAutoFit/>
          </a:bodyPr>
          <a:lstStyle/>
          <a:p>
            <a:r>
              <a:rPr lang="en-US" dirty="0"/>
              <a:t>What happens with multiple scopes?</a:t>
            </a:r>
          </a:p>
        </p:txBody>
      </p:sp>
      <p:sp>
        <p:nvSpPr>
          <p:cNvPr id="3" name="TextBox 2">
            <a:extLst>
              <a:ext uri="{FF2B5EF4-FFF2-40B4-BE49-F238E27FC236}">
                <a16:creationId xmlns:a16="http://schemas.microsoft.com/office/drawing/2014/main" id="{59A1359F-6DCC-5BA2-2F33-C77B40F420DE}"/>
              </a:ext>
            </a:extLst>
          </p:cNvPr>
          <p:cNvSpPr txBox="1"/>
          <p:nvPr/>
        </p:nvSpPr>
        <p:spPr>
          <a:xfrm>
            <a:off x="3321996" y="4771778"/>
            <a:ext cx="2522550" cy="369332"/>
          </a:xfrm>
          <a:prstGeom prst="rect">
            <a:avLst/>
          </a:prstGeom>
          <a:noFill/>
        </p:spPr>
        <p:txBody>
          <a:bodyPr wrap="none" rtlCol="0">
            <a:spAutoFit/>
          </a:bodyPr>
          <a:lstStyle/>
          <a:p>
            <a:r>
              <a:rPr lang="en-US" dirty="0"/>
              <a:t>What if x is uninitialized?</a:t>
            </a:r>
          </a:p>
        </p:txBody>
      </p:sp>
    </p:spTree>
    <p:extLst>
      <p:ext uri="{BB962C8B-B14F-4D97-AF65-F5344CB8AC3E}">
        <p14:creationId xmlns:p14="http://schemas.microsoft.com/office/powerpoint/2010/main" val="214900854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92D50-2B49-827C-7F23-E7AD1B028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F56AD7-F65F-0E54-DD7B-78717F589E8F}"/>
              </a:ext>
            </a:extLst>
          </p:cNvPr>
          <p:cNvSpPr>
            <a:spLocks noGrp="1"/>
          </p:cNvSpPr>
          <p:nvPr>
            <p:ph type="title"/>
          </p:nvPr>
        </p:nvSpPr>
        <p:spPr/>
        <p:txBody>
          <a:bodyPr/>
          <a:lstStyle/>
          <a:p>
            <a:r>
              <a:rPr lang="en-US" dirty="0"/>
              <a:t>Scopes</a:t>
            </a:r>
          </a:p>
        </p:txBody>
      </p:sp>
      <p:sp>
        <p:nvSpPr>
          <p:cNvPr id="4" name="Rectangle 3">
            <a:extLst>
              <a:ext uri="{FF2B5EF4-FFF2-40B4-BE49-F238E27FC236}">
                <a16:creationId xmlns:a16="http://schemas.microsoft.com/office/drawing/2014/main" id="{E69EC540-EBC5-E26E-768B-B5932C74D648}"/>
              </a:ext>
            </a:extLst>
          </p:cNvPr>
          <p:cNvSpPr/>
          <p:nvPr/>
        </p:nvSpPr>
        <p:spPr>
          <a:xfrm>
            <a:off x="583095" y="2274838"/>
            <a:ext cx="2397172" cy="3416320"/>
          </a:xfrm>
          <a:prstGeom prst="rect">
            <a:avLst/>
          </a:prstGeom>
        </p:spPr>
        <p:txBody>
          <a:bodyPr wrap="square">
            <a:spAutoFit/>
          </a:bodyPr>
          <a:lstStyle/>
          <a:p>
            <a:r>
              <a:rPr lang="en-US" dirty="0">
                <a:solidFill>
                  <a:srgbClr val="2FB41D"/>
                </a:solidFill>
                <a:latin typeface="Menlo" panose="020B0609030804020204" pitchFamily="49" charset="0"/>
              </a:rPr>
              <a:t>int</a:t>
            </a:r>
            <a:r>
              <a:rPr lang="en-US" dirty="0">
                <a:solidFill>
                  <a:srgbClr val="000000"/>
                </a:solidFill>
                <a:latin typeface="Menlo" panose="020B0609030804020204" pitchFamily="49" charset="0"/>
              </a:rPr>
              <a:t> </a:t>
            </a:r>
            <a:r>
              <a:rPr lang="en-US" dirty="0">
                <a:solidFill>
                  <a:srgbClr val="9FA01C"/>
                </a:solidFill>
                <a:latin typeface="Menlo" panose="020B0609030804020204" pitchFamily="49" charset="0"/>
              </a:rPr>
              <a:t>x_0</a:t>
            </a:r>
            <a:r>
              <a:rPr lang="en-US" dirty="0">
                <a:solidFill>
                  <a:srgbClr val="000000"/>
                </a:solidFill>
                <a:latin typeface="Menlo" panose="020B0609030804020204" pitchFamily="49" charset="0"/>
              </a:rPr>
              <a:t>;</a:t>
            </a:r>
            <a:endParaRPr lang="en-US" dirty="0">
              <a:solidFill>
                <a:srgbClr val="2FB41D"/>
              </a:solidFill>
              <a:latin typeface="Menlo" panose="020B0609030804020204" pitchFamily="49" charset="0"/>
            </a:endParaRPr>
          </a:p>
          <a:p>
            <a:r>
              <a:rPr lang="en-US" dirty="0">
                <a:solidFill>
                  <a:srgbClr val="2FB41D"/>
                </a:solidFill>
                <a:latin typeface="Menlo" panose="020B0609030804020204" pitchFamily="49" charset="0"/>
              </a:rPr>
              <a:t>int</a:t>
            </a:r>
            <a:r>
              <a:rPr lang="en-US" dirty="0">
                <a:solidFill>
                  <a:srgbClr val="000000"/>
                </a:solidFill>
                <a:latin typeface="Menlo" panose="020B0609030804020204" pitchFamily="49" charset="0"/>
              </a:rPr>
              <a:t> </a:t>
            </a:r>
            <a:r>
              <a:rPr lang="en-US" dirty="0">
                <a:solidFill>
                  <a:srgbClr val="9FA01C"/>
                </a:solidFill>
                <a:latin typeface="Menlo" panose="020B0609030804020204" pitchFamily="49" charset="0"/>
              </a:rPr>
              <a:t>y_0</a:t>
            </a:r>
            <a:r>
              <a:rPr lang="en-US" dirty="0">
                <a:solidFill>
                  <a:srgbClr val="000000"/>
                </a:solidFill>
                <a:latin typeface="Menlo" panose="020B0609030804020204" pitchFamily="49" charset="0"/>
              </a:rPr>
              <a:t>;</a:t>
            </a:r>
            <a:endParaRPr lang="en-US" dirty="0">
              <a:solidFill>
                <a:srgbClr val="2FB41D"/>
              </a:solidFill>
              <a:latin typeface="Menlo" panose="020B0609030804020204" pitchFamily="49" charset="0"/>
            </a:endParaRPr>
          </a:p>
          <a:p>
            <a:r>
              <a:rPr lang="en-US" dirty="0">
                <a:solidFill>
                  <a:srgbClr val="000000"/>
                </a:solidFill>
                <a:latin typeface="Menlo" panose="020B0609030804020204" pitchFamily="49" charset="0"/>
              </a:rPr>
              <a:t>x_0 = 5;</a:t>
            </a:r>
          </a:p>
          <a:p>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dirty="0">
                <a:solidFill>
                  <a:srgbClr val="2FB41D"/>
                </a:solidFill>
                <a:latin typeface="Menlo" panose="020B0609030804020204" pitchFamily="49" charset="0"/>
              </a:rPr>
              <a:t>int</a:t>
            </a:r>
            <a:r>
              <a:rPr lang="en-US" dirty="0">
                <a:solidFill>
                  <a:srgbClr val="000000"/>
                </a:solidFill>
                <a:latin typeface="Menlo" panose="020B0609030804020204" pitchFamily="49" charset="0"/>
              </a:rPr>
              <a:t> </a:t>
            </a:r>
            <a:r>
              <a:rPr lang="en-US" dirty="0">
                <a:solidFill>
                  <a:srgbClr val="9FA01C"/>
                </a:solidFill>
                <a:latin typeface="Menlo" panose="020B0609030804020204" pitchFamily="49" charset="0"/>
              </a:rPr>
              <a:t>x_1</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x_1 = 6;</a:t>
            </a:r>
          </a:p>
          <a:p>
            <a:r>
              <a:rPr lang="en-US" dirty="0">
                <a:solidFill>
                  <a:srgbClr val="000000"/>
                </a:solidFill>
                <a:latin typeface="Menlo" panose="020B0609030804020204" pitchFamily="49" charset="0"/>
              </a:rPr>
              <a:t>}</a:t>
            </a:r>
          </a:p>
          <a:p>
            <a:r>
              <a:rPr lang="en-US" dirty="0">
                <a:solidFill>
                  <a:srgbClr val="000000"/>
                </a:solidFill>
                <a:effectLst/>
                <a:latin typeface="Menlo" panose="020B0609030804020204" pitchFamily="49" charset="0"/>
              </a:rPr>
              <a:t>{</a:t>
            </a:r>
          </a:p>
          <a:p>
            <a:r>
              <a:rPr lang="en-US" dirty="0">
                <a:solidFill>
                  <a:srgbClr val="000000"/>
                </a:solidFill>
                <a:latin typeface="Menlo" panose="020B0609030804020204" pitchFamily="49" charset="0"/>
              </a:rPr>
              <a:t>  </a:t>
            </a:r>
            <a:r>
              <a:rPr lang="en-US" dirty="0">
                <a:solidFill>
                  <a:srgbClr val="2FB41D"/>
                </a:solidFill>
                <a:latin typeface="Menlo" panose="020B0609030804020204" pitchFamily="49" charset="0"/>
              </a:rPr>
              <a:t>int</a:t>
            </a:r>
            <a:r>
              <a:rPr lang="en-US" dirty="0">
                <a:solidFill>
                  <a:srgbClr val="000000"/>
                </a:solidFill>
                <a:latin typeface="Menlo" panose="020B0609030804020204" pitchFamily="49" charset="0"/>
              </a:rPr>
              <a:t> </a:t>
            </a:r>
            <a:r>
              <a:rPr lang="en-US" dirty="0">
                <a:solidFill>
                  <a:srgbClr val="9FA01C"/>
                </a:solidFill>
                <a:latin typeface="Menlo" panose="020B0609030804020204" pitchFamily="49" charset="0"/>
              </a:rPr>
              <a:t>x_1</a:t>
            </a:r>
            <a:r>
              <a:rPr lang="en-US" dirty="0">
                <a:solidFill>
                  <a:srgbClr val="000000"/>
                </a:solidFill>
                <a:latin typeface="Menlo" panose="020B0609030804020204" pitchFamily="49" charset="0"/>
              </a:rPr>
              <a:t>;</a:t>
            </a:r>
          </a:p>
          <a:p>
            <a:r>
              <a:rPr lang="en-US" strike="sngStrike" dirty="0">
                <a:solidFill>
                  <a:srgbClr val="000000"/>
                </a:solidFill>
                <a:latin typeface="Menlo" panose="020B0609030804020204" pitchFamily="49" charset="0"/>
              </a:rPr>
              <a:t>  x_1 = 1;</a:t>
            </a:r>
          </a:p>
          <a:p>
            <a:r>
              <a:rPr lang="en-US" dirty="0">
                <a:solidFill>
                  <a:srgbClr val="000000"/>
                </a:solidFill>
                <a:latin typeface="Menlo" panose="020B0609030804020204" pitchFamily="49" charset="0"/>
              </a:rPr>
              <a:t>  y_0 = x_1;</a:t>
            </a:r>
          </a:p>
          <a:p>
            <a:r>
              <a:rPr lang="en-US" dirty="0">
                <a:solidFill>
                  <a:srgbClr val="000000"/>
                </a:solidFill>
                <a:latin typeface="Menlo" panose="020B0609030804020204" pitchFamily="49" charset="0"/>
              </a:rPr>
              <a:t>}</a:t>
            </a:r>
            <a:endParaRPr lang="en-US" dirty="0">
              <a:solidFill>
                <a:srgbClr val="000000"/>
              </a:solidFill>
              <a:effectLst/>
              <a:latin typeface="Menlo" panose="020B0609030804020204" pitchFamily="49" charset="0"/>
            </a:endParaRPr>
          </a:p>
        </p:txBody>
      </p:sp>
      <p:sp>
        <p:nvSpPr>
          <p:cNvPr id="17" name="TextBox 16">
            <a:extLst>
              <a:ext uri="{FF2B5EF4-FFF2-40B4-BE49-F238E27FC236}">
                <a16:creationId xmlns:a16="http://schemas.microsoft.com/office/drawing/2014/main" id="{8ED8D2D0-B984-AE07-C8DE-C26BA5F35B1C}"/>
              </a:ext>
            </a:extLst>
          </p:cNvPr>
          <p:cNvSpPr txBox="1"/>
          <p:nvPr/>
        </p:nvSpPr>
        <p:spPr>
          <a:xfrm>
            <a:off x="3733800" y="1837267"/>
            <a:ext cx="4414735" cy="369332"/>
          </a:xfrm>
          <a:prstGeom prst="rect">
            <a:avLst/>
          </a:prstGeom>
          <a:noFill/>
        </p:spPr>
        <p:txBody>
          <a:bodyPr wrap="none" rtlCol="0">
            <a:spAutoFit/>
          </a:bodyPr>
          <a:lstStyle/>
          <a:p>
            <a:r>
              <a:rPr lang="en-US" dirty="0"/>
              <a:t>What happens with multiple scopes like this?</a:t>
            </a:r>
          </a:p>
        </p:txBody>
      </p:sp>
      <p:sp>
        <p:nvSpPr>
          <p:cNvPr id="3" name="TextBox 2">
            <a:extLst>
              <a:ext uri="{FF2B5EF4-FFF2-40B4-BE49-F238E27FC236}">
                <a16:creationId xmlns:a16="http://schemas.microsoft.com/office/drawing/2014/main" id="{3CD0AE20-7606-7098-D844-4C246535AC42}"/>
              </a:ext>
            </a:extLst>
          </p:cNvPr>
          <p:cNvSpPr txBox="1"/>
          <p:nvPr/>
        </p:nvSpPr>
        <p:spPr>
          <a:xfrm>
            <a:off x="3321996" y="4771778"/>
            <a:ext cx="2522550" cy="369332"/>
          </a:xfrm>
          <a:prstGeom prst="rect">
            <a:avLst/>
          </a:prstGeom>
          <a:noFill/>
        </p:spPr>
        <p:txBody>
          <a:bodyPr wrap="none" rtlCol="0">
            <a:spAutoFit/>
          </a:bodyPr>
          <a:lstStyle/>
          <a:p>
            <a:r>
              <a:rPr lang="en-US" dirty="0"/>
              <a:t>What if x is uninitialized?</a:t>
            </a:r>
          </a:p>
        </p:txBody>
      </p:sp>
      <p:sp>
        <p:nvSpPr>
          <p:cNvPr id="5" name="TextBox 4">
            <a:extLst>
              <a:ext uri="{FF2B5EF4-FFF2-40B4-BE49-F238E27FC236}">
                <a16:creationId xmlns:a16="http://schemas.microsoft.com/office/drawing/2014/main" id="{36B0D680-39A0-F746-BD3B-BAD02641592D}"/>
              </a:ext>
            </a:extLst>
          </p:cNvPr>
          <p:cNvSpPr txBox="1"/>
          <p:nvPr/>
        </p:nvSpPr>
        <p:spPr>
          <a:xfrm>
            <a:off x="4171950" y="5229493"/>
            <a:ext cx="5780314" cy="1200329"/>
          </a:xfrm>
          <a:prstGeom prst="rect">
            <a:avLst/>
          </a:prstGeom>
          <a:noFill/>
        </p:spPr>
        <p:txBody>
          <a:bodyPr wrap="square" rtlCol="0">
            <a:spAutoFit/>
          </a:bodyPr>
          <a:lstStyle/>
          <a:p>
            <a:r>
              <a:rPr lang="en-US" dirty="0"/>
              <a:t>This could be a problem and may need some thought with regards to the implications of thus  technique, and the robustness of the language with regards to uninitialized data.  The wrong state might be re-used, without warning.</a:t>
            </a:r>
          </a:p>
        </p:txBody>
      </p:sp>
      <p:sp>
        <p:nvSpPr>
          <p:cNvPr id="6" name="TextBox 5">
            <a:extLst>
              <a:ext uri="{FF2B5EF4-FFF2-40B4-BE49-F238E27FC236}">
                <a16:creationId xmlns:a16="http://schemas.microsoft.com/office/drawing/2014/main" id="{8573A822-978C-D26C-B48F-5AA19F8C4F3C}"/>
              </a:ext>
            </a:extLst>
          </p:cNvPr>
          <p:cNvSpPr txBox="1"/>
          <p:nvPr/>
        </p:nvSpPr>
        <p:spPr>
          <a:xfrm>
            <a:off x="3397558" y="3336667"/>
            <a:ext cx="5087218" cy="646331"/>
          </a:xfrm>
          <a:prstGeom prst="rect">
            <a:avLst/>
          </a:prstGeom>
          <a:noFill/>
        </p:spPr>
        <p:txBody>
          <a:bodyPr wrap="square" rtlCol="0">
            <a:spAutoFit/>
          </a:bodyPr>
          <a:lstStyle/>
          <a:p>
            <a:r>
              <a:rPr lang="en-US" dirty="0"/>
              <a:t>If x gets re-initialized the modified name and location might get re-used.  But then what if …</a:t>
            </a:r>
          </a:p>
        </p:txBody>
      </p:sp>
    </p:spTree>
    <p:extLst>
      <p:ext uri="{BB962C8B-B14F-4D97-AF65-F5344CB8AC3E}">
        <p14:creationId xmlns:p14="http://schemas.microsoft.com/office/powerpoint/2010/main" val="64589732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9534-BD2E-AD47-A269-2AC3A9B9BBEF}"/>
              </a:ext>
            </a:extLst>
          </p:cNvPr>
          <p:cNvSpPr>
            <a:spLocks noGrp="1"/>
          </p:cNvSpPr>
          <p:nvPr>
            <p:ph type="title"/>
          </p:nvPr>
        </p:nvSpPr>
        <p:spPr/>
        <p:txBody>
          <a:bodyPr/>
          <a:lstStyle/>
          <a:p>
            <a:r>
              <a:rPr lang="en-US" dirty="0"/>
              <a:t>Class-IR</a:t>
            </a:r>
          </a:p>
        </p:txBody>
      </p:sp>
      <p:sp>
        <p:nvSpPr>
          <p:cNvPr id="3" name="Rectangle 2">
            <a:extLst>
              <a:ext uri="{FF2B5EF4-FFF2-40B4-BE49-F238E27FC236}">
                <a16:creationId xmlns:a16="http://schemas.microsoft.com/office/drawing/2014/main" id="{ED6B40FC-2098-104B-A309-290F86173275}"/>
              </a:ext>
            </a:extLst>
          </p:cNvPr>
          <p:cNvSpPr/>
          <p:nvPr/>
        </p:nvSpPr>
        <p:spPr>
          <a:xfrm>
            <a:off x="1004515" y="2551837"/>
            <a:ext cx="5284967" cy="1754326"/>
          </a:xfrm>
          <a:prstGeom prst="rect">
            <a:avLst/>
          </a:prstGeom>
          <a:ln>
            <a:solidFill>
              <a:schemeClr val="tx1"/>
            </a:solidFill>
          </a:ln>
        </p:spPr>
        <p:txBody>
          <a:bodyPr wrap="square">
            <a:spAutoFit/>
          </a:bodyPr>
          <a:lstStyle/>
          <a:p>
            <a:r>
              <a:rPr lang="en-US" dirty="0">
                <a:solidFill>
                  <a:srgbClr val="2FB41D"/>
                </a:solidFill>
                <a:latin typeface="Menlo" panose="020B0609030804020204" pitchFamily="49" charset="0"/>
              </a:rPr>
              <a:t>void</a:t>
            </a:r>
            <a:r>
              <a:rPr lang="en-US" dirty="0">
                <a:solidFill>
                  <a:srgbClr val="000000"/>
                </a:solidFill>
                <a:latin typeface="Menlo" panose="020B0609030804020204" pitchFamily="49" charset="0"/>
              </a:rPr>
              <a:t> </a:t>
            </a:r>
            <a:r>
              <a:rPr lang="en-US" b="1" dirty="0">
                <a:solidFill>
                  <a:srgbClr val="400BD9"/>
                </a:solidFill>
                <a:latin typeface="Menlo" panose="020B0609030804020204" pitchFamily="49" charset="0"/>
              </a:rPr>
              <a:t>test4</a:t>
            </a:r>
            <a:r>
              <a:rPr lang="en-US" dirty="0">
                <a:solidFill>
                  <a:srgbClr val="000000"/>
                </a:solidFill>
                <a:latin typeface="Menlo" panose="020B0609030804020204" pitchFamily="49" charset="0"/>
              </a:rPr>
              <a:t>(</a:t>
            </a:r>
            <a:r>
              <a:rPr lang="en-US" dirty="0">
                <a:solidFill>
                  <a:srgbClr val="2FB41D"/>
                </a:solidFill>
                <a:latin typeface="Menlo" panose="020B0609030804020204" pitchFamily="49" charset="0"/>
              </a:rPr>
              <a:t>float</a:t>
            </a:r>
            <a:r>
              <a:rPr lang="en-US" dirty="0">
                <a:solidFill>
                  <a:srgbClr val="000000"/>
                </a:solidFill>
                <a:latin typeface="Menlo" panose="020B0609030804020204" pitchFamily="49" charset="0"/>
              </a:rPr>
              <a:t> &amp;</a:t>
            </a:r>
            <a:r>
              <a:rPr lang="en-US" dirty="0">
                <a:solidFill>
                  <a:srgbClr val="9FA01C"/>
                </a:solidFill>
                <a:highlight>
                  <a:srgbClr val="FFFF00"/>
                </a:highlight>
                <a:latin typeface="Menlo" panose="020B0609030804020204" pitchFamily="49" charset="0"/>
              </a:rPr>
              <a:t>x</a:t>
            </a:r>
            <a:r>
              <a:rPr lang="en-US" dirty="0">
                <a:solidFill>
                  <a:srgbClr val="000000"/>
                </a:solidFill>
                <a:latin typeface="Menlo" panose="020B0609030804020204" pitchFamily="49" charset="0"/>
              </a:rPr>
              <a:t>) {</a:t>
            </a:r>
          </a:p>
          <a:p>
            <a:r>
              <a:rPr lang="en-US" dirty="0">
                <a:solidFill>
                  <a:srgbClr val="000000"/>
                </a:solidFill>
                <a:latin typeface="Menlo" panose="020B0609030804020204" pitchFamily="49" charset="0"/>
              </a:rPr>
              <a:t>    </a:t>
            </a:r>
            <a:r>
              <a:rPr lang="en-US" dirty="0">
                <a:solidFill>
                  <a:srgbClr val="2FB41D"/>
                </a:solidFill>
                <a:latin typeface="Menlo" panose="020B0609030804020204" pitchFamily="49" charset="0"/>
              </a:rPr>
              <a:t>int</a:t>
            </a:r>
            <a:r>
              <a:rPr lang="en-US" dirty="0">
                <a:solidFill>
                  <a:srgbClr val="000000"/>
                </a:solidFill>
                <a:latin typeface="Menlo" panose="020B0609030804020204" pitchFamily="49" charset="0"/>
              </a:rPr>
              <a:t> </a:t>
            </a:r>
            <a:r>
              <a:rPr lang="en-US" dirty="0" err="1">
                <a:solidFill>
                  <a:srgbClr val="9FA01C"/>
                </a:solidFill>
                <a:highlight>
                  <a:srgbClr val="FFFF00"/>
                </a:highlight>
                <a:latin typeface="Menlo" panose="020B0609030804020204" pitchFamily="49" charset="0"/>
              </a:rPr>
              <a:t>i</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r>
              <a:rPr lang="en-US" b="1" dirty="0">
                <a:solidFill>
                  <a:srgbClr val="2EAEBB"/>
                </a:solidFill>
                <a:latin typeface="Menlo" panose="020B0609030804020204" pitchFamily="49" charset="0"/>
              </a:rPr>
              <a:t>for</a:t>
            </a:r>
            <a:r>
              <a:rPr lang="en-US" dirty="0">
                <a:solidFill>
                  <a:srgbClr val="000000"/>
                </a:solidFill>
                <a:latin typeface="Menlo" panose="020B0609030804020204" pitchFamily="49" charset="0"/>
              </a:rPr>
              <a:t>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 0;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&lt; 100;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 + 1) {</a:t>
            </a:r>
          </a:p>
          <a:p>
            <a:r>
              <a:rPr lang="en-US" dirty="0">
                <a:solidFill>
                  <a:srgbClr val="000000"/>
                </a:solidFill>
                <a:latin typeface="Menlo" panose="020B0609030804020204" pitchFamily="49" charset="0"/>
              </a:rPr>
              <a:t>         x = x + </a:t>
            </a:r>
            <a:r>
              <a:rPr lang="en-US" dirty="0" err="1">
                <a:solidFill>
                  <a:srgbClr val="000000"/>
                </a:solidFill>
                <a:latin typeface="Menlo" panose="020B0609030804020204" pitchFamily="49" charset="0"/>
              </a:rPr>
              <a:t>i</a:t>
            </a:r>
            <a:r>
              <a:rPr lang="en-US" dirty="0">
                <a:solidFill>
                  <a:srgbClr val="000000"/>
                </a:solidFill>
                <a:latin typeface="Menlo" panose="020B0609030804020204" pitchFamily="49" charset="0"/>
              </a:rPr>
              <a:t>;</a:t>
            </a:r>
          </a:p>
          <a:p>
            <a:r>
              <a:rPr lang="en-US" dirty="0">
                <a:solidFill>
                  <a:srgbClr val="000000"/>
                </a:solidFill>
                <a:latin typeface="Menlo" panose="020B0609030804020204" pitchFamily="49" charset="0"/>
              </a:rPr>
              <a:t>  }</a:t>
            </a:r>
          </a:p>
          <a:p>
            <a:r>
              <a:rPr lang="en-US" dirty="0">
                <a:solidFill>
                  <a:srgbClr val="000000"/>
                </a:solidFill>
                <a:latin typeface="Menlo" panose="020B0609030804020204" pitchFamily="49" charset="0"/>
              </a:rPr>
              <a:t>}</a:t>
            </a:r>
            <a:endParaRPr lang="en-US" dirty="0">
              <a:solidFill>
                <a:srgbClr val="000000"/>
              </a:solidFill>
              <a:effectLst/>
              <a:latin typeface="Menlo" panose="020B0609030804020204" pitchFamily="49" charset="0"/>
            </a:endParaRPr>
          </a:p>
        </p:txBody>
      </p:sp>
      <p:sp>
        <p:nvSpPr>
          <p:cNvPr id="4" name="TextBox 3">
            <a:extLst>
              <a:ext uri="{FF2B5EF4-FFF2-40B4-BE49-F238E27FC236}">
                <a16:creationId xmlns:a16="http://schemas.microsoft.com/office/drawing/2014/main" id="{CE681E96-79B3-084D-8892-3B5D54BF3CD0}"/>
              </a:ext>
            </a:extLst>
          </p:cNvPr>
          <p:cNvSpPr txBox="1"/>
          <p:nvPr/>
        </p:nvSpPr>
        <p:spPr>
          <a:xfrm>
            <a:off x="1004515" y="2067338"/>
            <a:ext cx="4018921" cy="369332"/>
          </a:xfrm>
          <a:prstGeom prst="rect">
            <a:avLst/>
          </a:prstGeom>
          <a:noFill/>
        </p:spPr>
        <p:txBody>
          <a:bodyPr wrap="none" rtlCol="0">
            <a:spAutoFit/>
          </a:bodyPr>
          <a:lstStyle/>
          <a:p>
            <a:r>
              <a:rPr lang="en-US" dirty="0"/>
              <a:t>Remind ourselves what we are compiling</a:t>
            </a:r>
          </a:p>
        </p:txBody>
      </p:sp>
      <p:sp>
        <p:nvSpPr>
          <p:cNvPr id="5" name="TextBox 4">
            <a:extLst>
              <a:ext uri="{FF2B5EF4-FFF2-40B4-BE49-F238E27FC236}">
                <a16:creationId xmlns:a16="http://schemas.microsoft.com/office/drawing/2014/main" id="{7D0BEF97-BF11-7B49-923B-06D789EE7EDB}"/>
              </a:ext>
            </a:extLst>
          </p:cNvPr>
          <p:cNvSpPr txBox="1"/>
          <p:nvPr/>
        </p:nvSpPr>
        <p:spPr>
          <a:xfrm>
            <a:off x="7172077" y="2719346"/>
            <a:ext cx="4293804" cy="1754326"/>
          </a:xfrm>
          <a:prstGeom prst="rect">
            <a:avLst/>
          </a:prstGeom>
          <a:noFill/>
        </p:spPr>
        <p:txBody>
          <a:bodyPr wrap="none" rtlCol="0">
            <a:spAutoFit/>
          </a:bodyPr>
          <a:lstStyle/>
          <a:p>
            <a:r>
              <a:rPr lang="en-US" dirty="0"/>
              <a:t>We only need new names for program</a:t>
            </a:r>
          </a:p>
          <a:p>
            <a:r>
              <a:rPr lang="en-US" dirty="0"/>
              <a:t>variables, not for IO variables.</a:t>
            </a:r>
          </a:p>
          <a:p>
            <a:endParaRPr lang="en-US" dirty="0"/>
          </a:p>
          <a:p>
            <a:r>
              <a:rPr lang="en-US" dirty="0"/>
              <a:t>IO variables are handled for you.  We are</a:t>
            </a:r>
          </a:p>
          <a:p>
            <a:r>
              <a:rPr lang="en-US" dirty="0"/>
              <a:t>currently assuming that there is no collision</a:t>
            </a:r>
          </a:p>
          <a:p>
            <a:r>
              <a:rPr lang="en-US" dirty="0"/>
              <a:t>Between variables and IO IDs.</a:t>
            </a:r>
          </a:p>
        </p:txBody>
      </p:sp>
      <p:sp>
        <p:nvSpPr>
          <p:cNvPr id="6" name="TextBox 5">
            <a:extLst>
              <a:ext uri="{FF2B5EF4-FFF2-40B4-BE49-F238E27FC236}">
                <a16:creationId xmlns:a16="http://schemas.microsoft.com/office/drawing/2014/main" id="{1D8BBD95-562B-C8FE-9B7D-07256920D66D}"/>
              </a:ext>
            </a:extLst>
          </p:cNvPr>
          <p:cNvSpPr txBox="1"/>
          <p:nvPr/>
        </p:nvSpPr>
        <p:spPr>
          <a:xfrm>
            <a:off x="3980328" y="5103988"/>
            <a:ext cx="5540189" cy="1200329"/>
          </a:xfrm>
          <a:prstGeom prst="rect">
            <a:avLst/>
          </a:prstGeom>
          <a:noFill/>
        </p:spPr>
        <p:txBody>
          <a:bodyPr wrap="square" rtlCol="0">
            <a:spAutoFit/>
          </a:bodyPr>
          <a:lstStyle/>
          <a:p>
            <a:r>
              <a:rPr lang="en-US" sz="2400" dirty="0"/>
              <a:t>We don’t need to rename our IO variables</a:t>
            </a:r>
          </a:p>
          <a:p>
            <a:r>
              <a:rPr lang="en-US" sz="2400" dirty="0"/>
              <a:t>   There won’t be any naming collisions</a:t>
            </a:r>
          </a:p>
          <a:p>
            <a:r>
              <a:rPr lang="en-US" sz="2400" dirty="0"/>
              <a:t>    or scope issues for these..</a:t>
            </a:r>
          </a:p>
        </p:txBody>
      </p:sp>
    </p:spTree>
    <p:extLst>
      <p:ext uri="{BB962C8B-B14F-4D97-AF65-F5344CB8AC3E}">
        <p14:creationId xmlns:p14="http://schemas.microsoft.com/office/powerpoint/2010/main" val="365193255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4AE0790-AAE7-E442-BF58-E06983DA75E7}"/>
              </a:ext>
            </a:extLst>
          </p:cNvPr>
          <p:cNvSpPr/>
          <p:nvPr/>
        </p:nvSpPr>
        <p:spPr>
          <a:xfrm>
            <a:off x="612249" y="1095453"/>
            <a:ext cx="2724647" cy="646331"/>
          </a:xfrm>
          <a:prstGeom prst="rect">
            <a:avLst/>
          </a:prstGeom>
        </p:spPr>
        <p:txBody>
          <a:bodyPr wrap="square">
            <a:spAutoFit/>
          </a:bodyPr>
          <a:lstStyle/>
          <a:p>
            <a:r>
              <a:rPr lang="en-US" dirty="0">
                <a:latin typeface="Courier" pitchFamily="2" charset="0"/>
                <a:ea typeface="Calibri" panose="020F0502020204030204" pitchFamily="34" charset="0"/>
                <a:cs typeface="Times New Roman" panose="02020603050405020304" pitchFamily="18" charset="0"/>
              </a:rPr>
              <a:t>unit := ID </a:t>
            </a:r>
          </a:p>
          <a:p>
            <a:r>
              <a:rPr lang="en-US" dirty="0">
                <a:latin typeface="Courier" pitchFamily="2" charset="0"/>
                <a:ea typeface="Calibri" panose="020F0502020204030204" pitchFamily="34" charset="0"/>
                <a:cs typeface="Times New Roman" panose="02020603050405020304" pitchFamily="18" charset="0"/>
              </a:rPr>
              <a:t>     |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1609FF41-5AA1-5F4B-95F9-EB6737D7F1A2}"/>
              </a:ext>
            </a:extLst>
          </p:cNvPr>
          <p:cNvSpPr txBox="1"/>
          <p:nvPr/>
        </p:nvSpPr>
        <p:spPr>
          <a:xfrm>
            <a:off x="3336896" y="1372452"/>
            <a:ext cx="5969583" cy="369332"/>
          </a:xfrm>
          <a:prstGeom prst="rect">
            <a:avLst/>
          </a:prstGeom>
          <a:noFill/>
        </p:spPr>
        <p:txBody>
          <a:bodyPr wrap="none" rtlCol="0">
            <a:spAutoFit/>
          </a:bodyPr>
          <a:lstStyle/>
          <a:p>
            <a:r>
              <a:rPr lang="en-US" i="1" dirty="0"/>
              <a:t>How do we know whether to make an IO node or a Var node?</a:t>
            </a:r>
          </a:p>
        </p:txBody>
      </p:sp>
      <p:sp>
        <p:nvSpPr>
          <p:cNvPr id="6" name="TextBox 5">
            <a:extLst>
              <a:ext uri="{FF2B5EF4-FFF2-40B4-BE49-F238E27FC236}">
                <a16:creationId xmlns:a16="http://schemas.microsoft.com/office/drawing/2014/main" id="{53D240A9-0892-A747-B13D-5625B33D333F}"/>
              </a:ext>
            </a:extLst>
          </p:cNvPr>
          <p:cNvSpPr txBox="1"/>
          <p:nvPr/>
        </p:nvSpPr>
        <p:spPr>
          <a:xfrm>
            <a:off x="612249" y="1948070"/>
            <a:ext cx="9660836" cy="2585323"/>
          </a:xfrm>
          <a:prstGeom prst="rect">
            <a:avLst/>
          </a:prstGeom>
          <a:noFill/>
        </p:spPr>
        <p:txBody>
          <a:bodyPr wrap="square" rtlCol="0">
            <a:spAutoFit/>
          </a:bodyPr>
          <a:lstStyle/>
          <a:p>
            <a:r>
              <a:rPr lang="en-US" dirty="0">
                <a:latin typeface="Courier" pitchFamily="2" charset="0"/>
              </a:rPr>
              <a:t>{</a:t>
            </a:r>
          </a:p>
          <a:p>
            <a:r>
              <a:rPr lang="en-US" dirty="0">
                <a:latin typeface="Courier" pitchFamily="2" charset="0"/>
              </a:rPr>
              <a:t>   </a:t>
            </a:r>
            <a:r>
              <a:rPr lang="en-US" dirty="0" err="1">
                <a:latin typeface="Courier" pitchFamily="2" charset="0"/>
              </a:rPr>
              <a:t>id_name</a:t>
            </a:r>
            <a:r>
              <a:rPr lang="en-US" dirty="0">
                <a:latin typeface="Courier" pitchFamily="2" charset="0"/>
              </a:rPr>
              <a:t> = </a:t>
            </a:r>
            <a:r>
              <a:rPr lang="en-US" dirty="0" err="1">
                <a:latin typeface="Courier" pitchFamily="2" charset="0"/>
              </a:rPr>
              <a:t>self.to_match</a:t>
            </a:r>
            <a:r>
              <a:rPr lang="en-US" dirty="0">
                <a:latin typeface="Courier" pitchFamily="2" charset="0"/>
              </a:rPr>
              <a:t>[1]</a:t>
            </a:r>
          </a:p>
          <a:p>
            <a:r>
              <a:rPr lang="en-US" dirty="0">
                <a:latin typeface="Courier" pitchFamily="2" charset="0"/>
              </a:rPr>
              <a:t>   </a:t>
            </a:r>
            <a:r>
              <a:rPr lang="en-US" dirty="0" err="1">
                <a:highlight>
                  <a:srgbClr val="FFFF00"/>
                </a:highlight>
                <a:latin typeface="Courier" pitchFamily="2" charset="0"/>
              </a:rPr>
              <a:t>id_data</a:t>
            </a:r>
            <a:r>
              <a:rPr lang="en-US" dirty="0">
                <a:highlight>
                  <a:srgbClr val="FFFF00"/>
                </a:highlight>
                <a:latin typeface="Courier" pitchFamily="2" charset="0"/>
              </a:rPr>
              <a:t> </a:t>
            </a:r>
            <a:r>
              <a:rPr lang="en-US" dirty="0">
                <a:latin typeface="Courier" pitchFamily="2" charset="0"/>
              </a:rPr>
              <a:t>= # get </a:t>
            </a:r>
            <a:r>
              <a:rPr lang="en-US" dirty="0" err="1">
                <a:latin typeface="Courier" pitchFamily="2" charset="0"/>
              </a:rPr>
              <a:t>id_data</a:t>
            </a:r>
            <a:r>
              <a:rPr lang="en-US" dirty="0">
                <a:latin typeface="Courier" pitchFamily="2" charset="0"/>
              </a:rPr>
              <a:t> from the symbol table</a:t>
            </a:r>
          </a:p>
          <a:p>
            <a:r>
              <a:rPr lang="en-US" dirty="0">
                <a:latin typeface="Courier" pitchFamily="2" charset="0"/>
              </a:rPr>
              <a:t>   eat(“ID”)</a:t>
            </a:r>
          </a:p>
          <a:p>
            <a:r>
              <a:rPr lang="en-US" dirty="0">
                <a:latin typeface="Courier" pitchFamily="2" charset="0"/>
              </a:rPr>
              <a:t>   if (</a:t>
            </a:r>
            <a:r>
              <a:rPr lang="en-US" dirty="0" err="1">
                <a:latin typeface="Courier" pitchFamily="2" charset="0"/>
              </a:rPr>
              <a:t>id_data.id_type</a:t>
            </a:r>
            <a:r>
              <a:rPr lang="en-US" dirty="0">
                <a:latin typeface="Courier" pitchFamily="2" charset="0"/>
              </a:rPr>
              <a:t> == IO)</a:t>
            </a:r>
          </a:p>
          <a:p>
            <a:r>
              <a:rPr lang="en-US" dirty="0">
                <a:latin typeface="Courier" pitchFamily="2" charset="0"/>
              </a:rPr>
              <a:t>       </a:t>
            </a:r>
            <a:r>
              <a:rPr lang="en-US" b="1" dirty="0">
                <a:latin typeface="Courier" pitchFamily="2" charset="0"/>
              </a:rPr>
              <a:t>return</a:t>
            </a:r>
            <a:r>
              <a:rPr lang="en-US" dirty="0">
                <a:latin typeface="Courier" pitchFamily="2" charset="0"/>
              </a:rPr>
              <a:t> </a:t>
            </a:r>
            <a:r>
              <a:rPr lang="en-US" dirty="0" err="1">
                <a:latin typeface="Courier" pitchFamily="2" charset="0"/>
              </a:rPr>
              <a:t>ASTIOIDNode</a:t>
            </a:r>
            <a:r>
              <a:rPr lang="en-US" dirty="0">
                <a:latin typeface="Courier" pitchFamily="2" charset="0"/>
              </a:rPr>
              <a:t>(</a:t>
            </a:r>
            <a:r>
              <a:rPr lang="en-US" dirty="0" err="1">
                <a:latin typeface="Courier" pitchFamily="2" charset="0"/>
              </a:rPr>
              <a:t>id_name</a:t>
            </a:r>
            <a:r>
              <a:rPr lang="en-US" dirty="0">
                <a:latin typeface="Courier" pitchFamily="2" charset="0"/>
              </a:rPr>
              <a:t>, </a:t>
            </a:r>
            <a:r>
              <a:rPr lang="en-US" dirty="0" err="1">
                <a:latin typeface="Courier" pitchFamily="2" charset="0"/>
              </a:rPr>
              <a:t>id_data.data_type</a:t>
            </a:r>
            <a:r>
              <a:rPr lang="en-US" dirty="0">
                <a:latin typeface="Courier" pitchFamily="2" charset="0"/>
              </a:rPr>
              <a:t>)</a:t>
            </a:r>
          </a:p>
          <a:p>
            <a:r>
              <a:rPr lang="en-US" dirty="0">
                <a:latin typeface="Courier" pitchFamily="2" charset="0"/>
              </a:rPr>
              <a:t>   else</a:t>
            </a:r>
          </a:p>
          <a:p>
            <a:r>
              <a:rPr lang="en-US" dirty="0">
                <a:latin typeface="Courier" pitchFamily="2" charset="0"/>
              </a:rPr>
              <a:t>       </a:t>
            </a:r>
            <a:r>
              <a:rPr lang="en-US" b="1" dirty="0">
                <a:latin typeface="Courier" pitchFamily="2" charset="0"/>
              </a:rPr>
              <a:t>return</a:t>
            </a:r>
            <a:r>
              <a:rPr lang="en-US" dirty="0">
                <a:latin typeface="Courier" pitchFamily="2" charset="0"/>
              </a:rPr>
              <a:t> </a:t>
            </a:r>
            <a:r>
              <a:rPr lang="en-US" dirty="0" err="1">
                <a:latin typeface="Courier" pitchFamily="2" charset="0"/>
              </a:rPr>
              <a:t>ASTVarIDNode</a:t>
            </a:r>
            <a:r>
              <a:rPr lang="en-US" dirty="0">
                <a:latin typeface="Courier" pitchFamily="2" charset="0"/>
              </a:rPr>
              <a:t>(</a:t>
            </a:r>
            <a:r>
              <a:rPr lang="en-US" dirty="0" err="1">
                <a:highlight>
                  <a:srgbClr val="FFFF00"/>
                </a:highlight>
                <a:latin typeface="Courier" pitchFamily="2" charset="0"/>
              </a:rPr>
              <a:t>id_data.new_name</a:t>
            </a:r>
            <a:r>
              <a:rPr lang="en-US" dirty="0">
                <a:latin typeface="Courier" pitchFamily="2" charset="0"/>
              </a:rPr>
              <a:t>, </a:t>
            </a:r>
            <a:r>
              <a:rPr lang="en-US" dirty="0" err="1">
                <a:latin typeface="Courier" pitchFamily="2" charset="0"/>
              </a:rPr>
              <a:t>id_data.data_type</a:t>
            </a:r>
            <a:r>
              <a:rPr lang="en-US" dirty="0">
                <a:latin typeface="Courier" pitchFamily="2" charset="0"/>
              </a:rPr>
              <a:t>)</a:t>
            </a:r>
          </a:p>
          <a:p>
            <a:r>
              <a:rPr lang="en-US" dirty="0">
                <a:latin typeface="Courier" pitchFamily="2" charset="0"/>
              </a:rPr>
              <a:t>}</a:t>
            </a:r>
          </a:p>
        </p:txBody>
      </p:sp>
      <p:sp>
        <p:nvSpPr>
          <p:cNvPr id="2" name="TextBox 1">
            <a:extLst>
              <a:ext uri="{FF2B5EF4-FFF2-40B4-BE49-F238E27FC236}">
                <a16:creationId xmlns:a16="http://schemas.microsoft.com/office/drawing/2014/main" id="{CC542D58-0189-9B40-9E88-37D087A42EAC}"/>
              </a:ext>
            </a:extLst>
          </p:cNvPr>
          <p:cNvSpPr txBox="1"/>
          <p:nvPr/>
        </p:nvSpPr>
        <p:spPr>
          <a:xfrm>
            <a:off x="355157" y="438312"/>
            <a:ext cx="5300041" cy="369332"/>
          </a:xfrm>
          <a:prstGeom prst="rect">
            <a:avLst/>
          </a:prstGeom>
          <a:noFill/>
        </p:spPr>
        <p:txBody>
          <a:bodyPr wrap="none" rtlCol="0">
            <a:spAutoFit/>
          </a:bodyPr>
          <a:lstStyle/>
          <a:p>
            <a:r>
              <a:rPr lang="en-US" dirty="0"/>
              <a:t>building an expression AST, we parse a unit at the base</a:t>
            </a:r>
          </a:p>
        </p:txBody>
      </p:sp>
      <p:sp>
        <p:nvSpPr>
          <p:cNvPr id="7" name="TextBox 6">
            <a:extLst>
              <a:ext uri="{FF2B5EF4-FFF2-40B4-BE49-F238E27FC236}">
                <a16:creationId xmlns:a16="http://schemas.microsoft.com/office/drawing/2014/main" id="{B2AE5C40-B1AA-D541-BA6F-ADB97C7F5C41}"/>
              </a:ext>
            </a:extLst>
          </p:cNvPr>
          <p:cNvSpPr txBox="1"/>
          <p:nvPr/>
        </p:nvSpPr>
        <p:spPr>
          <a:xfrm>
            <a:off x="1375677" y="4739679"/>
            <a:ext cx="3296159" cy="1200329"/>
          </a:xfrm>
          <a:prstGeom prst="rect">
            <a:avLst/>
          </a:prstGeom>
          <a:noFill/>
        </p:spPr>
        <p:txBody>
          <a:bodyPr wrap="none" rtlCol="0">
            <a:spAutoFit/>
          </a:bodyPr>
          <a:lstStyle/>
          <a:p>
            <a:r>
              <a:rPr lang="en-US" i="1" dirty="0" err="1"/>
              <a:t>id_data</a:t>
            </a:r>
            <a:r>
              <a:rPr lang="en-US" i="1" dirty="0"/>
              <a:t> should contain:</a:t>
            </a:r>
          </a:p>
          <a:p>
            <a:r>
              <a:rPr lang="en-US" b="1" i="1" dirty="0">
                <a:latin typeface="Courier" pitchFamily="2" charset="0"/>
              </a:rPr>
              <a:t>  </a:t>
            </a:r>
            <a:r>
              <a:rPr lang="en-US" b="1" i="1" dirty="0" err="1">
                <a:latin typeface="Courier" pitchFamily="2" charset="0"/>
              </a:rPr>
              <a:t>id_type</a:t>
            </a:r>
            <a:r>
              <a:rPr lang="en-US" i="1" dirty="0"/>
              <a:t>: IO or Var</a:t>
            </a:r>
          </a:p>
          <a:p>
            <a:r>
              <a:rPr lang="en-US" b="1" i="1" dirty="0">
                <a:latin typeface="Courier" pitchFamily="2" charset="0"/>
              </a:rPr>
              <a:t>  </a:t>
            </a:r>
            <a:r>
              <a:rPr lang="en-US" b="1" i="1" dirty="0" err="1">
                <a:latin typeface="Courier" pitchFamily="2" charset="0"/>
              </a:rPr>
              <a:t>data_type</a:t>
            </a:r>
            <a:r>
              <a:rPr lang="en-US" i="1" dirty="0"/>
              <a:t>: int or float</a:t>
            </a:r>
          </a:p>
          <a:p>
            <a:r>
              <a:rPr lang="en-US" b="1" i="1"/>
              <a:t>     new</a:t>
            </a:r>
            <a:r>
              <a:rPr lang="en-US" b="1" i="1" dirty="0" err="1"/>
              <a:t>_name</a:t>
            </a:r>
            <a:r>
              <a:rPr lang="en-US" i="1" dirty="0"/>
              <a:t>: new unique name</a:t>
            </a:r>
          </a:p>
        </p:txBody>
      </p:sp>
      <p:sp>
        <p:nvSpPr>
          <p:cNvPr id="3" name="TextBox 2">
            <a:extLst>
              <a:ext uri="{FF2B5EF4-FFF2-40B4-BE49-F238E27FC236}">
                <a16:creationId xmlns:a16="http://schemas.microsoft.com/office/drawing/2014/main" id="{CB060F7E-7E4D-09DF-64D7-8695C894E1A8}"/>
              </a:ext>
            </a:extLst>
          </p:cNvPr>
          <p:cNvSpPr txBox="1"/>
          <p:nvPr/>
        </p:nvSpPr>
        <p:spPr>
          <a:xfrm>
            <a:off x="5655198" y="4747844"/>
            <a:ext cx="4889052" cy="646331"/>
          </a:xfrm>
          <a:prstGeom prst="rect">
            <a:avLst/>
          </a:prstGeom>
          <a:noFill/>
        </p:spPr>
        <p:txBody>
          <a:bodyPr wrap="square" rtlCol="0">
            <a:spAutoFit/>
          </a:bodyPr>
          <a:lstStyle/>
          <a:p>
            <a:r>
              <a:rPr lang="en-US" dirty="0"/>
              <a:t>Remember that the symbol table provides the needed information to handle this.</a:t>
            </a:r>
          </a:p>
        </p:txBody>
      </p:sp>
    </p:spTree>
    <p:extLst>
      <p:ext uri="{BB962C8B-B14F-4D97-AF65-F5344CB8AC3E}">
        <p14:creationId xmlns:p14="http://schemas.microsoft.com/office/powerpoint/2010/main" val="12593066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60331</TotalTime>
  <Words>10900</Words>
  <Application>Microsoft Office PowerPoint</Application>
  <PresentationFormat>Widescreen</PresentationFormat>
  <Paragraphs>1664</Paragraphs>
  <Slides>108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108</vt:i4>
      </vt:variant>
    </vt:vector>
  </HeadingPairs>
  <TitlesOfParts>
    <vt:vector size="116" baseType="lpstr">
      <vt:lpstr>Arial</vt:lpstr>
      <vt:lpstr>Calibri</vt:lpstr>
      <vt:lpstr>Calibri Light</vt:lpstr>
      <vt:lpstr>Consolas</vt:lpstr>
      <vt:lpstr>Courier</vt:lpstr>
      <vt:lpstr>Menlo</vt:lpstr>
      <vt:lpstr>Wingdings</vt:lpstr>
      <vt:lpstr>Office Theme</vt:lpstr>
      <vt:lpstr>CSE110A: Compilers</vt:lpstr>
      <vt:lpstr>Type Systems</vt:lpstr>
      <vt:lpstr>How are functions handled?</vt:lpstr>
      <vt:lpstr>How are functions handled?</vt:lpstr>
      <vt:lpstr>How are functions handled?</vt:lpstr>
      <vt:lpstr>How are functions handled?</vt:lpstr>
      <vt:lpstr>How are functions handled?</vt:lpstr>
      <vt:lpstr>How are functions handled?</vt:lpstr>
      <vt:lpstr>What about floats to ints?</vt:lpstr>
      <vt:lpstr>What about floats to ints?</vt:lpstr>
      <vt:lpstr>What about floats to ints?</vt:lpstr>
      <vt:lpstr>Discussion</vt:lpstr>
      <vt:lpstr>PowerPoint Presentation</vt:lpstr>
      <vt:lpstr>PowerPoint Presentation</vt:lpstr>
      <vt:lpstr>PowerPoint Presentation</vt:lpstr>
      <vt:lpstr>Type systems finished</vt:lpstr>
      <vt:lpstr>Intermediate Representations </vt:lpstr>
      <vt:lpstr>Our next challenge, IR: 3 address code or linear IR</vt:lpstr>
      <vt:lpstr>LES US SET DOWN SOME  RULES FOR OUR IR</vt:lpstr>
      <vt:lpstr>Class-IR: The Players</vt:lpstr>
      <vt:lpstr>Class-IR</vt:lpstr>
      <vt:lpstr>Class-IR: Examples</vt:lpstr>
      <vt:lpstr>Class-IR: Control Flow</vt:lpstr>
      <vt:lpstr>Class-IR</vt:lpstr>
      <vt:lpstr>Class-IR</vt:lpstr>
      <vt:lpstr>Class-IR</vt:lpstr>
      <vt:lpstr>Class-IR</vt:lpstr>
      <vt:lpstr>Class-IR: Examples</vt:lpstr>
      <vt:lpstr>Example</vt:lpstr>
      <vt:lpstr>Example</vt:lpstr>
      <vt:lpstr>SO WE HAVE THE RULES</vt:lpstr>
      <vt:lpstr>Converting AST into Class-IR</vt:lpstr>
      <vt:lpstr>Converting AST into Class-IR</vt:lpstr>
      <vt:lpstr>Converting AST into Class-IR</vt:lpstr>
      <vt:lpstr>Converting AST into Class-IR</vt:lpstr>
      <vt:lpstr>Converting AST into Class-IR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Thinking at a higher level</vt:lpstr>
      <vt:lpstr>Backing up to an even higher level</vt:lpstr>
      <vt:lpstr>From our grammar</vt:lpstr>
      <vt:lpstr>From our grammar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Compiler pragmatics</vt:lpstr>
      <vt:lpstr>Class-IR</vt:lpstr>
      <vt:lpstr>Two different ID nodes</vt:lpstr>
      <vt:lpstr>Two different ID nodes</vt:lpstr>
      <vt:lpstr>Class-IR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Scopes</vt:lpstr>
      <vt:lpstr>Scopes</vt:lpstr>
      <vt:lpstr>Scopes</vt:lpstr>
      <vt:lpstr>Scopes</vt:lpstr>
      <vt:lpstr>Scopes</vt:lpstr>
      <vt:lpstr>Scopes</vt:lpstr>
      <vt:lpstr>Scopes</vt:lpstr>
      <vt:lpstr>Scopes</vt:lpstr>
      <vt:lpstr>Scopes</vt:lpstr>
      <vt:lpstr>Scopes</vt:lpstr>
      <vt:lpstr>Scopes</vt:lpstr>
      <vt:lpstr>Scopes</vt:lpstr>
      <vt:lpstr>Scopes</vt:lpstr>
      <vt:lpstr>Scopes</vt:lpstr>
      <vt:lpstr>Scopes</vt:lpstr>
      <vt:lpstr>Scopes</vt:lpstr>
      <vt:lpstr>Scopes</vt:lpstr>
      <vt:lpstr>Scopes</vt:lpstr>
      <vt:lpstr>Scopes</vt:lpstr>
      <vt:lpstr>Scopes</vt:lpstr>
      <vt:lpstr>Class-IR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Tyler Sorensen</dc:creator>
  <cp:lastModifiedBy>Marcelo Siero</cp:lastModifiedBy>
  <cp:revision>830</cp:revision>
  <dcterms:created xsi:type="dcterms:W3CDTF">2021-03-23T23:59:42Z</dcterms:created>
  <dcterms:modified xsi:type="dcterms:W3CDTF">2026-02-26T13:58:37Z</dcterms:modified>
</cp:coreProperties>
</file>