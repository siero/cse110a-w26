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796" r:id="rId2"/>
    <p:sldId id="819" r:id="rId3"/>
    <p:sldId id="820" r:id="rId4"/>
    <p:sldId id="821" r:id="rId5"/>
    <p:sldId id="782" r:id="rId6"/>
    <p:sldId id="822" r:id="rId7"/>
    <p:sldId id="823" r:id="rId8"/>
    <p:sldId id="824" r:id="rId9"/>
    <p:sldId id="850" r:id="rId10"/>
    <p:sldId id="851" r:id="rId11"/>
    <p:sldId id="852" r:id="rId12"/>
    <p:sldId id="846" r:id="rId13"/>
    <p:sldId id="847" r:id="rId14"/>
    <p:sldId id="853" r:id="rId15"/>
    <p:sldId id="849" r:id="rId16"/>
    <p:sldId id="855" r:id="rId17"/>
    <p:sldId id="856" r:id="rId18"/>
    <p:sldId id="857" r:id="rId19"/>
    <p:sldId id="858" r:id="rId20"/>
    <p:sldId id="859" r:id="rId21"/>
    <p:sldId id="860" r:id="rId22"/>
    <p:sldId id="862" r:id="rId23"/>
    <p:sldId id="863" r:id="rId24"/>
    <p:sldId id="864" r:id="rId25"/>
    <p:sldId id="865" r:id="rId26"/>
    <p:sldId id="829" r:id="rId27"/>
    <p:sldId id="866" r:id="rId28"/>
    <p:sldId id="867" r:id="rId29"/>
    <p:sldId id="868" r:id="rId30"/>
    <p:sldId id="869" r:id="rId31"/>
    <p:sldId id="870" r:id="rId32"/>
    <p:sldId id="871" r:id="rId33"/>
    <p:sldId id="872" r:id="rId34"/>
    <p:sldId id="873" r:id="rId35"/>
    <p:sldId id="874" r:id="rId36"/>
    <p:sldId id="875" r:id="rId37"/>
    <p:sldId id="876" r:id="rId38"/>
    <p:sldId id="825" r:id="rId39"/>
    <p:sldId id="827" r:id="rId40"/>
    <p:sldId id="826" r:id="rId41"/>
    <p:sldId id="878" r:id="rId42"/>
    <p:sldId id="828" r:id="rId43"/>
    <p:sldId id="879" r:id="rId44"/>
    <p:sldId id="882" r:id="rId45"/>
    <p:sldId id="835" r:id="rId46"/>
    <p:sldId id="880" r:id="rId47"/>
    <p:sldId id="830" r:id="rId48"/>
    <p:sldId id="831" r:id="rId49"/>
    <p:sldId id="884" r:id="rId50"/>
    <p:sldId id="885" r:id="rId51"/>
    <p:sldId id="833" r:id="rId52"/>
    <p:sldId id="843" r:id="rId53"/>
    <p:sldId id="840" r:id="rId54"/>
    <p:sldId id="842" r:id="rId55"/>
    <p:sldId id="844" r:id="rId56"/>
    <p:sldId id="881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50"/>
    <p:restoredTop sz="96405"/>
  </p:normalViewPr>
  <p:slideViewPr>
    <p:cSldViewPr snapToGrid="0" snapToObjects="1">
      <p:cViewPr varScale="1">
        <p:scale>
          <a:sx n="58" d="100"/>
          <a:sy n="58" d="100"/>
        </p:scale>
        <p:origin x="61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riptutorial.com/regex/example/15848/what-characters-need-to-be-escaped-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popov.com/2012/06/15/The-true-power-of-regular-expressions.html#matching-context-free-languages" TargetMode="External"/><Relationship Id="rId2" Type="http://schemas.openxmlformats.org/officeDocument/2006/relationships/hyperlink" Target="https://www.perlmonks.org/?node_id=809842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1732348/regex-match-open-tags-except-xhtml-self-contained-tags/1732454#1732454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ivanzuzak.info/noam/webapps/fsm_simulator/" TargetMode="External"/><Relationship Id="rId2" Type="http://schemas.openxmlformats.org/officeDocument/2006/relationships/hyperlink" Target="https://harrisongoldste.in/languages/2017/09/30/derivatives-of-regular-expressions.html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5987-81F9-C64A-BD1F-BC0CF5D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39" y="370459"/>
            <a:ext cx="10515600" cy="1553757"/>
          </a:xfrm>
        </p:spPr>
        <p:txBody>
          <a:bodyPr/>
          <a:lstStyle/>
          <a:p>
            <a:r>
              <a:rPr lang="en-US" sz="5000" b="1" dirty="0"/>
              <a:t>CSE110A: Compilers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6C47-D610-254E-AA36-5D7C3512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350" y="4040340"/>
            <a:ext cx="6901683" cy="240545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Topics</a:t>
            </a:r>
            <a:r>
              <a:rPr lang="en-US" dirty="0"/>
              <a:t>: </a:t>
            </a:r>
          </a:p>
          <a:p>
            <a:pPr lvl="1"/>
            <a:r>
              <a:rPr lang="en-US" i="1" dirty="0"/>
              <a:t>Lexical Analysis:</a:t>
            </a:r>
          </a:p>
          <a:p>
            <a:pPr lvl="2"/>
            <a:r>
              <a:rPr lang="en-US" dirty="0"/>
              <a:t>Short comings of naïve scanner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i="1" dirty="0"/>
              <a:t>Regular expressions</a:t>
            </a:r>
            <a:r>
              <a:rPr lang="en-US" i="1" dirty="0"/>
              <a:t>:</a:t>
            </a:r>
          </a:p>
          <a:p>
            <a:pPr lvl="2"/>
            <a:r>
              <a:rPr lang="en-US" dirty="0"/>
              <a:t>Recursive definition</a:t>
            </a:r>
          </a:p>
          <a:p>
            <a:pPr lvl="2"/>
            <a:r>
              <a:rPr lang="en-US" dirty="0"/>
              <a:t>Syntactic sugar</a:t>
            </a:r>
          </a:p>
          <a:p>
            <a:pPr lvl="2"/>
            <a:r>
              <a:rPr lang="en-US" dirty="0"/>
              <a:t>groups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i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1714B3-537B-5C42-AD19-F844B17759C3}"/>
              </a:ext>
            </a:extLst>
          </p:cNvPr>
          <p:cNvSpPr/>
          <p:nvPr/>
        </p:nvSpPr>
        <p:spPr>
          <a:xfrm>
            <a:off x="4649103" y="1924216"/>
            <a:ext cx="48690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dog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2"/>
                </a:solidFill>
              </a:rPr>
              <a:t>ran</a:t>
            </a:r>
            <a:r>
              <a:rPr lang="en-US" sz="3200" b="1" dirty="0"/>
              <a:t> across </a:t>
            </a:r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park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E891319-2C73-B54C-B35D-159A9AA498AF}"/>
              </a:ext>
            </a:extLst>
          </p:cNvPr>
          <p:cNvCxnSpPr>
            <a:cxnSpLocks/>
          </p:cNvCxnSpPr>
          <p:nvPr/>
        </p:nvCxnSpPr>
        <p:spPr>
          <a:xfrm flipH="1">
            <a:off x="4168273" y="2396041"/>
            <a:ext cx="883920" cy="594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C3EA9F5-08D1-284D-B035-0D8D50D39BA8}"/>
              </a:ext>
            </a:extLst>
          </p:cNvPr>
          <p:cNvCxnSpPr>
            <a:cxnSpLocks/>
          </p:cNvCxnSpPr>
          <p:nvPr/>
        </p:nvCxnSpPr>
        <p:spPr>
          <a:xfrm flipH="1">
            <a:off x="5245233" y="2396041"/>
            <a:ext cx="4775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465DA11-333F-0846-BFA3-5313C2D4AD6F}"/>
              </a:ext>
            </a:extLst>
          </p:cNvPr>
          <p:cNvCxnSpPr>
            <a:cxnSpLocks/>
          </p:cNvCxnSpPr>
          <p:nvPr/>
        </p:nvCxnSpPr>
        <p:spPr>
          <a:xfrm>
            <a:off x="6362833" y="2508991"/>
            <a:ext cx="0" cy="583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32F45E6-893A-E444-A5E7-C51559334FC6}"/>
              </a:ext>
            </a:extLst>
          </p:cNvPr>
          <p:cNvCxnSpPr>
            <a:cxnSpLocks/>
          </p:cNvCxnSpPr>
          <p:nvPr/>
        </p:nvCxnSpPr>
        <p:spPr>
          <a:xfrm>
            <a:off x="7328033" y="2396041"/>
            <a:ext cx="5283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1F50CC5-BFE2-F544-B8CB-F0D34782591E}"/>
              </a:ext>
            </a:extLst>
          </p:cNvPr>
          <p:cNvCxnSpPr>
            <a:cxnSpLocks/>
          </p:cNvCxnSpPr>
          <p:nvPr/>
        </p:nvCxnSpPr>
        <p:spPr>
          <a:xfrm>
            <a:off x="8191633" y="2396041"/>
            <a:ext cx="1534160" cy="6012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1236746-7C04-9240-BF01-282709C0DBD9}"/>
              </a:ext>
            </a:extLst>
          </p:cNvPr>
          <p:cNvCxnSpPr>
            <a:cxnSpLocks/>
          </p:cNvCxnSpPr>
          <p:nvPr/>
        </p:nvCxnSpPr>
        <p:spPr>
          <a:xfrm>
            <a:off x="9288913" y="2396041"/>
            <a:ext cx="1880383" cy="648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D871749-56FA-A64F-BE8B-A85DC581410C}"/>
              </a:ext>
            </a:extLst>
          </p:cNvPr>
          <p:cNvSpPr/>
          <p:nvPr/>
        </p:nvSpPr>
        <p:spPr>
          <a:xfrm>
            <a:off x="3369356" y="3011793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1EE2DC9-CB4F-FE45-9A12-53D1ACF8CE7E}"/>
              </a:ext>
            </a:extLst>
          </p:cNvPr>
          <p:cNvSpPr/>
          <p:nvPr/>
        </p:nvSpPr>
        <p:spPr>
          <a:xfrm>
            <a:off x="9126814" y="3015235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74B643-0EEA-FD4C-9AD7-B1668FA027B3}"/>
              </a:ext>
            </a:extLst>
          </p:cNvPr>
          <p:cNvSpPr/>
          <p:nvPr/>
        </p:nvSpPr>
        <p:spPr>
          <a:xfrm>
            <a:off x="4739792" y="3092001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DD3D7F-CEC2-934C-82BE-C20FADB762E6}"/>
              </a:ext>
            </a:extLst>
          </p:cNvPr>
          <p:cNvSpPr/>
          <p:nvPr/>
        </p:nvSpPr>
        <p:spPr>
          <a:xfrm>
            <a:off x="5895232" y="3075873"/>
            <a:ext cx="86433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VERB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C233AD-020A-E940-9574-ABCC9F87FD1A}"/>
              </a:ext>
            </a:extLst>
          </p:cNvPr>
          <p:cNvSpPr/>
          <p:nvPr/>
        </p:nvSpPr>
        <p:spPr>
          <a:xfrm>
            <a:off x="7020711" y="3092000"/>
            <a:ext cx="191590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/>
              <a:t>PREPOSITION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0D4542D-EF33-3F4D-BC9C-4EAB7ABF0FB9}"/>
              </a:ext>
            </a:extLst>
          </p:cNvPr>
          <p:cNvSpPr/>
          <p:nvPr/>
        </p:nvSpPr>
        <p:spPr>
          <a:xfrm>
            <a:off x="10730831" y="3047048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E699AB-DF88-83A7-CBB6-D57DEB85E491}"/>
              </a:ext>
            </a:extLst>
          </p:cNvPr>
          <p:cNvSpPr txBox="1"/>
          <p:nvPr/>
        </p:nvSpPr>
        <p:spPr>
          <a:xfrm>
            <a:off x="10377878" y="6445799"/>
            <a:ext cx="1703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04A-lexers-re(55) </a:t>
            </a:r>
          </a:p>
        </p:txBody>
      </p:sp>
    </p:spTree>
    <p:extLst>
      <p:ext uri="{BB962C8B-B14F-4D97-AF65-F5344CB8AC3E}">
        <p14:creationId xmlns:p14="http://schemas.microsoft.com/office/powerpoint/2010/main" val="3457430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972E8-C9AD-1A4A-9A09-E839BF4B1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42444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D6B6F-D0EB-1745-9891-35110C375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scanner that implements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7DB02-A4F6-7D45-B8F1-959DAF606F0D}"/>
              </a:ext>
            </a:extLst>
          </p:cNvPr>
          <p:cNvSpPr txBox="1"/>
          <p:nvPr/>
        </p:nvSpPr>
        <p:spPr>
          <a:xfrm>
            <a:off x="933652" y="2639919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[“ “]</a:t>
            </a:r>
          </a:p>
        </p:txBody>
      </p:sp>
    </p:spTree>
    <p:extLst>
      <p:ext uri="{BB962C8B-B14F-4D97-AF65-F5344CB8AC3E}">
        <p14:creationId xmlns:p14="http://schemas.microsoft.com/office/powerpoint/2010/main" val="2003787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06872-72E6-3C4A-9056-D8CB0C14410A}"/>
              </a:ext>
            </a:extLst>
          </p:cNvPr>
          <p:cNvSpPr txBox="1"/>
          <p:nvPr/>
        </p:nvSpPr>
        <p:spPr>
          <a:xfrm>
            <a:off x="838200" y="1690688"/>
            <a:ext cx="26244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Building block: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A42133-4EFD-8A45-87EE-9AB281D90C06}"/>
              </a:ext>
            </a:extLst>
          </p:cNvPr>
          <p:cNvSpPr/>
          <p:nvPr/>
        </p:nvSpPr>
        <p:spPr>
          <a:xfrm>
            <a:off x="5681366" y="1403213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StringStream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input_string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       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.string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input_string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is_empty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len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.string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 == 0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peek_char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dirty="0">
              <a:solidFill>
                <a:srgbClr val="400BD9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.is_empty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.string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[0]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C814C9"/>
                </a:solidFill>
                <a:latin typeface="Menlo" panose="020B0609030804020204" pitchFamily="49" charset="0"/>
              </a:rPr>
              <a:t>None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eat_char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.string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.string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[1:]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33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                Naïve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06872-72E6-3C4A-9056-D8CB0C14410A}"/>
              </a:ext>
            </a:extLst>
          </p:cNvPr>
          <p:cNvSpPr txBox="1"/>
          <p:nvPr/>
        </p:nvSpPr>
        <p:spPr>
          <a:xfrm>
            <a:off x="1011194" y="1325563"/>
            <a:ext cx="26244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Building block: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A42133-4EFD-8A45-87EE-9AB281D90C06}"/>
              </a:ext>
            </a:extLst>
          </p:cNvPr>
          <p:cNvSpPr/>
          <p:nvPr/>
        </p:nvSpPr>
        <p:spPr>
          <a:xfrm>
            <a:off x="5301690" y="1229896"/>
            <a:ext cx="661816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dirty="0" err="1">
                <a:solidFill>
                  <a:srgbClr val="2FB41D"/>
                </a:solidFill>
                <a:latin typeface="Menlo" panose="020B0609030804020204" pitchFamily="49" charset="0"/>
              </a:rPr>
              <a:t>StringStream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endParaRPr lang="en-US" sz="2400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sz="2400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sz="2400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input_string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       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.string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input_string</a:t>
            </a:r>
            <a:b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400BD9"/>
                </a:solidFill>
                <a:latin typeface="Menlo" panose="020B0609030804020204" pitchFamily="49" charset="0"/>
              </a:rPr>
              <a:t>is_empty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400BD9"/>
                </a:solidFill>
                <a:latin typeface="Menlo" panose="020B0609030804020204" pitchFamily="49" charset="0"/>
              </a:rPr>
              <a:t>len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.string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) == 0   # returns bool</a:t>
            </a:r>
            <a:b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400BD9"/>
                </a:solidFill>
                <a:latin typeface="Menlo" panose="020B0609030804020204" pitchFamily="49" charset="0"/>
              </a:rPr>
              <a:t>peek_char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sz="2400" dirty="0">
              <a:solidFill>
                <a:srgbClr val="400BD9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not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.is_empty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.string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[0]   # returns first char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dirty="0">
                <a:solidFill>
                  <a:srgbClr val="C814C9"/>
                </a:solidFill>
                <a:latin typeface="Menlo" panose="020B0609030804020204" pitchFamily="49" charset="0"/>
              </a:rPr>
              <a:t>None                     </a:t>
            </a:r>
            <a:r>
              <a:rPr lang="en-US" sz="2400" dirty="0">
                <a:latin typeface="Menlo" panose="020B0609030804020204" pitchFamily="49" charset="0"/>
              </a:rPr>
              <a:t># the string is empty</a:t>
            </a:r>
            <a:b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400BD9"/>
                </a:solidFill>
                <a:latin typeface="Menlo" panose="020B0609030804020204" pitchFamily="49" charset="0"/>
              </a:rPr>
              <a:t>eat_char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.string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.string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[1:]  # rest of string</a:t>
            </a:r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7299F-792D-BE52-139B-323C0BCF7C4B}"/>
              </a:ext>
            </a:extLst>
          </p:cNvPr>
          <p:cNvSpPr txBox="1"/>
          <p:nvPr/>
        </p:nvSpPr>
        <p:spPr>
          <a:xfrm>
            <a:off x="1235675" y="2158424"/>
            <a:ext cx="33270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class allows strings to be read as if we were doing I/O from a file.</a:t>
            </a:r>
          </a:p>
          <a:p>
            <a:endParaRPr lang="en-US" sz="2400" dirty="0"/>
          </a:p>
          <a:p>
            <a:r>
              <a:rPr lang="en-US" sz="2400" dirty="0"/>
              <a:t>So you are implementing with an abstraction that works both from a string or from a file.</a:t>
            </a:r>
          </a:p>
        </p:txBody>
      </p:sp>
    </p:spTree>
    <p:extLst>
      <p:ext uri="{BB962C8B-B14F-4D97-AF65-F5344CB8AC3E}">
        <p14:creationId xmlns:p14="http://schemas.microsoft.com/office/powerpoint/2010/main" val="2750654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06872-72E6-3C4A-9056-D8CB0C14410A}"/>
              </a:ext>
            </a:extLst>
          </p:cNvPr>
          <p:cNvSpPr txBox="1"/>
          <p:nvPr/>
        </p:nvSpPr>
        <p:spPr>
          <a:xfrm>
            <a:off x="838200" y="1690688"/>
            <a:ext cx="6572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First step in implementing the scanner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2C6E73-D7C3-D445-8DB7-120BF20D1C31}"/>
              </a:ext>
            </a:extLst>
          </p:cNvPr>
          <p:cNvSpPr/>
          <p:nvPr/>
        </p:nvSpPr>
        <p:spPr>
          <a:xfrm>
            <a:off x="709060" y="2878692"/>
            <a:ext cx="754941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NaiveScanner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input_string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StringStream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input_string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    # get a line of code to work on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token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     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IGNORE: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.ss.eat_char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     # ignore blanks 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        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.ss.is_empty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C814C9"/>
                </a:solidFill>
                <a:latin typeface="Menlo" panose="020B0609030804020204" pitchFamily="49" charset="0"/>
              </a:rPr>
              <a:t>None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E8FC04-CF68-E345-8D78-1A2CB2983DDB}"/>
              </a:ext>
            </a:extLst>
          </p:cNvPr>
          <p:cNvSpPr txBox="1"/>
          <p:nvPr/>
        </p:nvSpPr>
        <p:spPr>
          <a:xfrm>
            <a:off x="7846521" y="3601026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[“ “]</a:t>
            </a:r>
          </a:p>
        </p:txBody>
      </p:sp>
    </p:spTree>
    <p:extLst>
      <p:ext uri="{BB962C8B-B14F-4D97-AF65-F5344CB8AC3E}">
        <p14:creationId xmlns:p14="http://schemas.microsoft.com/office/powerpoint/2010/main" val="4230747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06872-72E6-3C4A-9056-D8CB0C14410A}"/>
              </a:ext>
            </a:extLst>
          </p:cNvPr>
          <p:cNvSpPr txBox="1"/>
          <p:nvPr/>
        </p:nvSpPr>
        <p:spPr>
          <a:xfrm>
            <a:off x="838200" y="1690688"/>
            <a:ext cx="6572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First step in implementing the scanner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2C6E73-D7C3-D445-8DB7-120BF20D1C31}"/>
              </a:ext>
            </a:extLst>
          </p:cNvPr>
          <p:cNvSpPr/>
          <p:nvPr/>
        </p:nvSpPr>
        <p:spPr>
          <a:xfrm>
            <a:off x="641683" y="2512932"/>
            <a:ext cx="754941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NaiveScanner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token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...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 ==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"+"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.ss.eat_char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"ADD"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 ==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"*"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.ss.eat_char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"MULT"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29F6BE-313B-A148-87EA-3AE21BB78EDC}"/>
              </a:ext>
            </a:extLst>
          </p:cNvPr>
          <p:cNvSpPr txBox="1"/>
          <p:nvPr/>
        </p:nvSpPr>
        <p:spPr>
          <a:xfrm>
            <a:off x="7297881" y="3601026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[“ “]</a:t>
            </a:r>
          </a:p>
        </p:txBody>
      </p:sp>
    </p:spTree>
    <p:extLst>
      <p:ext uri="{BB962C8B-B14F-4D97-AF65-F5344CB8AC3E}">
        <p14:creationId xmlns:p14="http://schemas.microsoft.com/office/powerpoint/2010/main" val="529963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06872-72E6-3C4A-9056-D8CB0C14410A}"/>
              </a:ext>
            </a:extLst>
          </p:cNvPr>
          <p:cNvSpPr txBox="1"/>
          <p:nvPr/>
        </p:nvSpPr>
        <p:spPr>
          <a:xfrm>
            <a:off x="838200" y="1690688"/>
            <a:ext cx="6572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First step in implementing the scanner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2C6E73-D7C3-D445-8DB7-120BF20D1C31}"/>
              </a:ext>
            </a:extLst>
          </p:cNvPr>
          <p:cNvSpPr/>
          <p:nvPr/>
        </p:nvSpPr>
        <p:spPr>
          <a:xfrm>
            <a:off x="641683" y="2512932"/>
            <a:ext cx="754941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NaiveScanner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token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...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NUMS: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    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""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NUMS: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+=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.ss.eat_char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"NUM"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29F6BE-313B-A148-87EA-3AE21BB78EDC}"/>
              </a:ext>
            </a:extLst>
          </p:cNvPr>
          <p:cNvSpPr txBox="1"/>
          <p:nvPr/>
        </p:nvSpPr>
        <p:spPr>
          <a:xfrm>
            <a:off x="7846521" y="3678028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[“ “]</a:t>
            </a:r>
          </a:p>
        </p:txBody>
      </p:sp>
    </p:spTree>
    <p:extLst>
      <p:ext uri="{BB962C8B-B14F-4D97-AF65-F5344CB8AC3E}">
        <p14:creationId xmlns:p14="http://schemas.microsoft.com/office/powerpoint/2010/main" val="1576761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95226-F63D-FB41-9D0A-0B84CAFD2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FC19B-2432-8540-88FE-7F59E2356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Naïve Parser:</a:t>
            </a:r>
          </a:p>
          <a:p>
            <a:pPr lvl="1"/>
            <a:r>
              <a:rPr lang="en-US" dirty="0"/>
              <a:t>Code demo and discussion</a:t>
            </a:r>
          </a:p>
          <a:p>
            <a:pPr lvl="1"/>
            <a:endParaRPr lang="en-US" dirty="0"/>
          </a:p>
          <a:p>
            <a:r>
              <a:rPr lang="en-US" dirty="0"/>
              <a:t>Regular expressions</a:t>
            </a:r>
          </a:p>
        </p:txBody>
      </p:sp>
    </p:spTree>
    <p:extLst>
      <p:ext uri="{BB962C8B-B14F-4D97-AF65-F5344CB8AC3E}">
        <p14:creationId xmlns:p14="http://schemas.microsoft.com/office/powerpoint/2010/main" val="2425816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Demo  </a:t>
            </a:r>
            <a:r>
              <a:rPr lang="en-US" sz="1600" dirty="0"/>
              <a:t>(demo1 part1)</a:t>
            </a:r>
          </a:p>
        </p:txBody>
      </p:sp>
    </p:spTree>
    <p:extLst>
      <p:ext uri="{BB962C8B-B14F-4D97-AF65-F5344CB8AC3E}">
        <p14:creationId xmlns:p14="http://schemas.microsoft.com/office/powerpoint/2010/main" val="2013593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Shortcomings of Naïve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2183B-14A5-3A43-BD2E-7E1B77519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Any thoughts?</a:t>
            </a:r>
          </a:p>
        </p:txBody>
      </p:sp>
    </p:spTree>
    <p:extLst>
      <p:ext uri="{BB962C8B-B14F-4D97-AF65-F5344CB8AC3E}">
        <p14:creationId xmlns:p14="http://schemas.microsoft.com/office/powerpoint/2010/main" val="1208855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Shortcomings of Naïve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2183B-14A5-3A43-BD2E-7E1B77519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IDs with numbers in them?</a:t>
            </a:r>
          </a:p>
          <a:p>
            <a:pPr lvl="1"/>
            <a:r>
              <a:rPr lang="en-US" dirty="0">
                <a:latin typeface="Courier" pitchFamily="2" charset="0"/>
              </a:rPr>
              <a:t>x1, y1, etc.</a:t>
            </a:r>
          </a:p>
          <a:p>
            <a:pPr lvl="1"/>
            <a:r>
              <a:rPr lang="en-US" dirty="0"/>
              <a:t>how would you solve?</a:t>
            </a:r>
          </a:p>
          <a:p>
            <a:pPr lvl="1"/>
            <a:endParaRPr lang="en-US" dirty="0">
              <a:latin typeface="Courier" pitchFamily="2" charset="0"/>
            </a:endParaRPr>
          </a:p>
          <a:p>
            <a:r>
              <a:rPr lang="en-US" dirty="0"/>
              <a:t>Numbers with a decimal point in them?</a:t>
            </a:r>
          </a:p>
          <a:p>
            <a:pPr lvl="1"/>
            <a:r>
              <a:rPr lang="en-US" dirty="0">
                <a:latin typeface="Courier" pitchFamily="2" charset="0"/>
              </a:rPr>
              <a:t>4.5, 9999.99998</a:t>
            </a:r>
          </a:p>
          <a:p>
            <a:pPr lvl="1"/>
            <a:r>
              <a:rPr lang="en-US" dirty="0"/>
              <a:t>how would you solve this?</a:t>
            </a:r>
          </a:p>
          <a:p>
            <a:pPr lvl="1"/>
            <a:endParaRPr lang="en-US" dirty="0">
              <a:latin typeface="Courier" pitchFamily="2" charset="0"/>
            </a:endParaRPr>
          </a:p>
          <a:p>
            <a:r>
              <a:rPr lang="en-US" dirty="0"/>
              <a:t>Two character operators:</a:t>
            </a:r>
          </a:p>
          <a:p>
            <a:pPr lvl="1"/>
            <a:r>
              <a:rPr lang="en-US" dirty="0">
                <a:latin typeface="Courier" pitchFamily="2" charset="0"/>
              </a:rPr>
              <a:t>++, +=</a:t>
            </a:r>
          </a:p>
          <a:p>
            <a:pPr lvl="1"/>
            <a:r>
              <a:rPr lang="en-US" dirty="0"/>
              <a:t>how would you solve this?</a:t>
            </a:r>
            <a:endParaRPr lang="en-US" dirty="0">
              <a:latin typeface="Courier" pitchFamily="2" charset="0"/>
            </a:endParaRPr>
          </a:p>
          <a:p>
            <a:pPr lvl="1"/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108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Shortcomings of Naïve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2183B-14A5-3A43-BD2E-7E1B77519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IDs with numbers in them?</a:t>
            </a:r>
          </a:p>
          <a:p>
            <a:pPr lvl="1"/>
            <a:r>
              <a:rPr lang="en-US" dirty="0">
                <a:latin typeface="Courier" pitchFamily="2" charset="0"/>
              </a:rPr>
              <a:t>x1, y1, etc.</a:t>
            </a:r>
          </a:p>
          <a:p>
            <a:pPr lvl="1"/>
            <a:r>
              <a:rPr lang="en-US" dirty="0"/>
              <a:t>how would you solve?</a:t>
            </a:r>
          </a:p>
          <a:p>
            <a:pPr lvl="1"/>
            <a:endParaRPr lang="en-US" dirty="0">
              <a:latin typeface="Courier" pitchFamily="2" charset="0"/>
            </a:endParaRPr>
          </a:p>
          <a:p>
            <a:r>
              <a:rPr lang="en-US" dirty="0"/>
              <a:t>Numbers with a decimal point in them?</a:t>
            </a:r>
          </a:p>
          <a:p>
            <a:pPr lvl="1"/>
            <a:r>
              <a:rPr lang="en-US" dirty="0">
                <a:latin typeface="Courier" pitchFamily="2" charset="0"/>
              </a:rPr>
              <a:t>4.5, 9999.99998</a:t>
            </a:r>
          </a:p>
          <a:p>
            <a:pPr lvl="1"/>
            <a:r>
              <a:rPr lang="en-US" dirty="0"/>
              <a:t>how would you solve this?</a:t>
            </a:r>
          </a:p>
          <a:p>
            <a:pPr lvl="1"/>
            <a:endParaRPr lang="en-US" dirty="0">
              <a:latin typeface="Courier" pitchFamily="2" charset="0"/>
            </a:endParaRPr>
          </a:p>
          <a:p>
            <a:r>
              <a:rPr lang="en-US" dirty="0"/>
              <a:t>Two character operators:</a:t>
            </a:r>
          </a:p>
          <a:p>
            <a:pPr lvl="1"/>
            <a:r>
              <a:rPr lang="en-US" dirty="0">
                <a:latin typeface="Courier" pitchFamily="2" charset="0"/>
              </a:rPr>
              <a:t>++, +=</a:t>
            </a:r>
          </a:p>
          <a:p>
            <a:pPr lvl="1"/>
            <a:r>
              <a:rPr lang="en-US" dirty="0"/>
              <a:t>how would you solve this?</a:t>
            </a:r>
            <a:endParaRPr lang="en-US" dirty="0">
              <a:latin typeface="Courier" pitchFamily="2" charset="0"/>
            </a:endParaRPr>
          </a:p>
          <a:p>
            <a:pPr lvl="1"/>
            <a:endParaRPr lang="en-US" dirty="0">
              <a:latin typeface="Courier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A0753-0B51-D74E-B266-2A2DE72667E4}"/>
              </a:ext>
            </a:extLst>
          </p:cNvPr>
          <p:cNvSpPr txBox="1"/>
          <p:nvPr/>
        </p:nvSpPr>
        <p:spPr>
          <a:xfrm>
            <a:off x="8908869" y="2847703"/>
            <a:ext cx="23008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Things get really hacky</a:t>
            </a:r>
            <a:br>
              <a:rPr lang="en-US" i="1" dirty="0"/>
            </a:br>
            <a:r>
              <a:rPr lang="en-US" i="1" dirty="0"/>
              <a:t>really quickly!</a:t>
            </a:r>
          </a:p>
          <a:p>
            <a:endParaRPr lang="en-US" i="1" dirty="0"/>
          </a:p>
          <a:p>
            <a:r>
              <a:rPr lang="en-US" i="1" dirty="0"/>
              <a:t>Creates</a:t>
            </a:r>
            <a:br>
              <a:rPr lang="en-US" i="1" dirty="0"/>
            </a:br>
            <a:r>
              <a:rPr lang="en-US" i="1" dirty="0"/>
              <a:t>a bad design that is </a:t>
            </a:r>
          </a:p>
          <a:p>
            <a:r>
              <a:rPr lang="en-US" i="1" dirty="0"/>
              <a:t>not easily extended</a:t>
            </a:r>
          </a:p>
          <a:p>
            <a:r>
              <a:rPr lang="en-US" i="1" dirty="0"/>
              <a:t>or maintained</a:t>
            </a:r>
          </a:p>
        </p:txBody>
      </p:sp>
    </p:spTree>
    <p:extLst>
      <p:ext uri="{BB962C8B-B14F-4D97-AF65-F5344CB8AC3E}">
        <p14:creationId xmlns:p14="http://schemas.microsoft.com/office/powerpoint/2010/main" val="3292700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solve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3D71F-4798-474B-95F5-AF833B347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884816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 new token definition language:</a:t>
            </a:r>
          </a:p>
          <a:p>
            <a:r>
              <a:rPr lang="en-US" b="1" dirty="0"/>
              <a:t>Regular Expressions (RE)</a:t>
            </a:r>
          </a:p>
          <a:p>
            <a:r>
              <a:rPr lang="en-US" dirty="0"/>
              <a:t>Tokens will be defined using regular expressions</a:t>
            </a:r>
          </a:p>
          <a:p>
            <a:r>
              <a:rPr lang="en-US" dirty="0"/>
              <a:t>Scanners can then utilize regular expression matchers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Benefits:</a:t>
            </a:r>
          </a:p>
          <a:p>
            <a:r>
              <a:rPr lang="en-US" dirty="0"/>
              <a:t>Extensible design </a:t>
            </a:r>
          </a:p>
          <a:p>
            <a:pPr lvl="1"/>
            <a:r>
              <a:rPr lang="en-US" dirty="0"/>
              <a:t>easy to add new tokens, modify existing definitions</a:t>
            </a:r>
          </a:p>
          <a:p>
            <a:r>
              <a:rPr lang="en-US" dirty="0"/>
              <a:t>Modular</a:t>
            </a:r>
          </a:p>
          <a:p>
            <a:pPr lvl="1"/>
            <a:r>
              <a:rPr lang="en-US" dirty="0"/>
              <a:t>Scanner can utilize common regex libraries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D0C08F-A301-A74B-990A-15F4DD0CD65B}"/>
              </a:ext>
            </a:extLst>
          </p:cNvPr>
          <p:cNvSpPr txBox="1">
            <a:spLocks/>
          </p:cNvSpPr>
          <p:nvPr/>
        </p:nvSpPr>
        <p:spPr>
          <a:xfrm>
            <a:off x="6999514" y="4443156"/>
            <a:ext cx="4687388" cy="220148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Cons:</a:t>
            </a:r>
          </a:p>
          <a:p>
            <a:r>
              <a:rPr lang="en-US" dirty="0">
                <a:solidFill>
                  <a:schemeClr val="bg1"/>
                </a:solidFill>
              </a:rPr>
              <a:t>Token definitions are restricted to regular languages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Potentially slower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Regular expression matchers are complicated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646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solve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3D71F-4798-474B-95F5-AF833B347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884816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 new token definition language:</a:t>
            </a:r>
          </a:p>
          <a:p>
            <a:r>
              <a:rPr lang="en-US" b="1" dirty="0"/>
              <a:t>Regular expressions</a:t>
            </a:r>
          </a:p>
          <a:p>
            <a:r>
              <a:rPr lang="en-US" dirty="0"/>
              <a:t>Tokens will be defined using regular expressions</a:t>
            </a:r>
          </a:p>
          <a:p>
            <a:r>
              <a:rPr lang="en-US" dirty="0"/>
              <a:t>Scanners can then utilize regular expression matchers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Benefits:</a:t>
            </a:r>
          </a:p>
          <a:p>
            <a:r>
              <a:rPr lang="en-US" dirty="0"/>
              <a:t>Extensible design </a:t>
            </a:r>
          </a:p>
          <a:p>
            <a:pPr lvl="1"/>
            <a:r>
              <a:rPr lang="en-US" dirty="0"/>
              <a:t>easy to add new tokens, modify existing definitions</a:t>
            </a:r>
          </a:p>
          <a:p>
            <a:r>
              <a:rPr lang="en-US" dirty="0"/>
              <a:t>Modular</a:t>
            </a:r>
          </a:p>
          <a:p>
            <a:pPr lvl="1"/>
            <a:r>
              <a:rPr lang="en-US" dirty="0"/>
              <a:t>Scanner can utilize common regex libraries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7112B-8016-0146-826E-0067A199EC5A}"/>
              </a:ext>
            </a:extLst>
          </p:cNvPr>
          <p:cNvSpPr txBox="1"/>
          <p:nvPr/>
        </p:nvSpPr>
        <p:spPr>
          <a:xfrm>
            <a:off x="9039497" y="42584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4C63F32-2329-B247-9F80-E4F238B5F46B}"/>
              </a:ext>
            </a:extLst>
          </p:cNvPr>
          <p:cNvSpPr txBox="1">
            <a:spLocks/>
          </p:cNvSpPr>
          <p:nvPr/>
        </p:nvSpPr>
        <p:spPr>
          <a:xfrm>
            <a:off x="6999514" y="4443156"/>
            <a:ext cx="4687388" cy="220148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Cons:</a:t>
            </a:r>
          </a:p>
          <a:p>
            <a:r>
              <a:rPr lang="en-US" dirty="0"/>
              <a:t>Token definitions are restricted to regular languages</a:t>
            </a:r>
            <a:endParaRPr lang="en-US" sz="1900" dirty="0"/>
          </a:p>
          <a:p>
            <a:r>
              <a:rPr lang="en-US" dirty="0"/>
              <a:t>Potentially slower</a:t>
            </a:r>
          </a:p>
          <a:p>
            <a:r>
              <a:rPr lang="en-US" dirty="0"/>
              <a:t>Regular expression matchers are complicated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268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43C0E-BC8C-6646-8485-493A3F8FC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Some theory: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Given a language </a:t>
            </a:r>
            <a:r>
              <a:rPr lang="en-US" i="1" dirty="0"/>
              <a:t>L</a:t>
            </a:r>
            <a:r>
              <a:rPr lang="en-US" dirty="0"/>
              <a:t>, a string </a:t>
            </a:r>
            <a:r>
              <a:rPr lang="en-US" i="1" dirty="0"/>
              <a:t>s</a:t>
            </a:r>
            <a:r>
              <a:rPr lang="en-US" dirty="0"/>
              <a:t> is either part of that language or not</a:t>
            </a:r>
          </a:p>
          <a:p>
            <a:pPr lvl="1"/>
            <a:r>
              <a:rPr lang="en-US" dirty="0"/>
              <a:t>Integers are a language: “5”, “6”, “-7” is in the language. “</a:t>
            </a:r>
            <a:r>
              <a:rPr lang="en-US" dirty="0" err="1"/>
              <a:t>abc</a:t>
            </a:r>
            <a:r>
              <a:rPr lang="en-US" dirty="0"/>
              <a:t>” is not.</a:t>
            </a:r>
          </a:p>
          <a:p>
            <a:pPr lvl="1"/>
            <a:endParaRPr lang="en-US" dirty="0"/>
          </a:p>
          <a:p>
            <a:r>
              <a:rPr lang="en-US" dirty="0"/>
              <a:t>Languages are grouped into families depending on how “hard” it is to determine if a string is part of that language.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222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D972A-82E3-4B40-A725-DCEECAB544D0}"/>
              </a:ext>
            </a:extLst>
          </p:cNvPr>
          <p:cNvSpPr txBox="1"/>
          <p:nvPr/>
        </p:nvSpPr>
        <p:spPr>
          <a:xfrm>
            <a:off x="172995" y="6308209"/>
            <a:ext cx="2444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source: </a:t>
            </a:r>
            <a:r>
              <a:rPr lang="en-US" dirty="0" err="1"/>
              <a:t>wikipedia</a:t>
            </a:r>
            <a:endParaRPr lang="en-US" dirty="0"/>
          </a:p>
        </p:txBody>
      </p:sp>
      <p:pic>
        <p:nvPicPr>
          <p:cNvPr id="7" name="Picture 6" descr="The Chomsky hierarchy">
            <a:extLst>
              <a:ext uri="{FF2B5EF4-FFF2-40B4-BE49-F238E27FC236}">
                <a16:creationId xmlns:a16="http://schemas.microsoft.com/office/drawing/2014/main" id="{A3A24705-34E0-FC4E-874C-7D782A59C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03" y="2155955"/>
            <a:ext cx="4376763" cy="3156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E29035-32FD-AA49-8F1B-F96F2A1DF6F8}"/>
              </a:ext>
            </a:extLst>
          </p:cNvPr>
          <p:cNvSpPr txBox="1"/>
          <p:nvPr/>
        </p:nvSpPr>
        <p:spPr>
          <a:xfrm>
            <a:off x="6662057" y="2551611"/>
            <a:ext cx="456163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simplest languages are regular. We will</a:t>
            </a:r>
            <a:br>
              <a:rPr lang="en-US" dirty="0"/>
            </a:br>
            <a:r>
              <a:rPr lang="en-US" dirty="0"/>
              <a:t>use regular languages as our token language.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will use the next level: context-free, as the </a:t>
            </a:r>
          </a:p>
          <a:p>
            <a:r>
              <a:rPr lang="en-US" dirty="0"/>
              <a:t>language for our parser.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Higher levels are interesting, but not as useful</a:t>
            </a:r>
          </a:p>
          <a:p>
            <a:r>
              <a:rPr lang="en-US" dirty="0"/>
              <a:t>in compilers. Why?</a:t>
            </a:r>
          </a:p>
        </p:txBody>
      </p:sp>
    </p:spTree>
    <p:extLst>
      <p:ext uri="{BB962C8B-B14F-4D97-AF65-F5344CB8AC3E}">
        <p14:creationId xmlns:p14="http://schemas.microsoft.com/office/powerpoint/2010/main" val="3698427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D972A-82E3-4B40-A725-DCEECAB544D0}"/>
              </a:ext>
            </a:extLst>
          </p:cNvPr>
          <p:cNvSpPr txBox="1"/>
          <p:nvPr/>
        </p:nvSpPr>
        <p:spPr>
          <a:xfrm>
            <a:off x="172995" y="6308209"/>
            <a:ext cx="2444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source: </a:t>
            </a:r>
            <a:r>
              <a:rPr lang="en-US" dirty="0" err="1"/>
              <a:t>wikipedia</a:t>
            </a:r>
            <a:endParaRPr lang="en-US" dirty="0"/>
          </a:p>
        </p:txBody>
      </p:sp>
      <p:pic>
        <p:nvPicPr>
          <p:cNvPr id="7" name="Picture 6" descr="The Chomsky hierarchy">
            <a:extLst>
              <a:ext uri="{FF2B5EF4-FFF2-40B4-BE49-F238E27FC236}">
                <a16:creationId xmlns:a16="http://schemas.microsoft.com/office/drawing/2014/main" id="{A3A24705-34E0-FC4E-874C-7D782A59C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03" y="2155955"/>
            <a:ext cx="4376763" cy="3156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E29035-32FD-AA49-8F1B-F96F2A1DF6F8}"/>
              </a:ext>
            </a:extLst>
          </p:cNvPr>
          <p:cNvSpPr txBox="1"/>
          <p:nvPr/>
        </p:nvSpPr>
        <p:spPr>
          <a:xfrm>
            <a:off x="6662057" y="2551611"/>
            <a:ext cx="456163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simplest languages are regular. We will</a:t>
            </a:r>
            <a:br>
              <a:rPr lang="en-US" dirty="0"/>
            </a:br>
            <a:r>
              <a:rPr lang="en-US" dirty="0"/>
              <a:t>use regular languages as our token language.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will use the next level: context-free, as the </a:t>
            </a:r>
          </a:p>
          <a:p>
            <a:r>
              <a:rPr lang="en-US" dirty="0"/>
              <a:t>language for our parser.  (e.g. ((( … )))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Higher levels are interesting, but not as useful</a:t>
            </a:r>
          </a:p>
          <a:p>
            <a:r>
              <a:rPr lang="en-US" dirty="0"/>
              <a:t>in compilers. Why?   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Because deciding if a string is in a recursively </a:t>
            </a:r>
            <a:br>
              <a:rPr lang="en-US" i="1" dirty="0"/>
            </a:br>
            <a:r>
              <a:rPr lang="en-US" i="1" dirty="0"/>
              <a:t>enumerable language is undecidable.</a:t>
            </a:r>
          </a:p>
        </p:txBody>
      </p:sp>
    </p:spTree>
    <p:extLst>
      <p:ext uri="{BB962C8B-B14F-4D97-AF65-F5344CB8AC3E}">
        <p14:creationId xmlns:p14="http://schemas.microsoft.com/office/powerpoint/2010/main" val="3752785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D972A-82E3-4B40-A725-DCEECAB544D0}"/>
              </a:ext>
            </a:extLst>
          </p:cNvPr>
          <p:cNvSpPr txBox="1"/>
          <p:nvPr/>
        </p:nvSpPr>
        <p:spPr>
          <a:xfrm>
            <a:off x="172995" y="6308209"/>
            <a:ext cx="2444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source: </a:t>
            </a:r>
            <a:r>
              <a:rPr lang="en-US" dirty="0" err="1"/>
              <a:t>wikipedia</a:t>
            </a:r>
            <a:endParaRPr lang="en-US" dirty="0"/>
          </a:p>
        </p:txBody>
      </p:sp>
      <p:pic>
        <p:nvPicPr>
          <p:cNvPr id="7" name="Picture 6" descr="The Chomsky hierarchy">
            <a:extLst>
              <a:ext uri="{FF2B5EF4-FFF2-40B4-BE49-F238E27FC236}">
                <a16:creationId xmlns:a16="http://schemas.microsoft.com/office/drawing/2014/main" id="{A3A24705-34E0-FC4E-874C-7D782A59C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03" y="2155955"/>
            <a:ext cx="4376763" cy="3156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E29035-32FD-AA49-8F1B-F96F2A1DF6F8}"/>
              </a:ext>
            </a:extLst>
          </p:cNvPr>
          <p:cNvSpPr txBox="1"/>
          <p:nvPr/>
        </p:nvSpPr>
        <p:spPr>
          <a:xfrm>
            <a:off x="6096000" y="2155955"/>
            <a:ext cx="2785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a regular language?</a:t>
            </a:r>
          </a:p>
          <a:p>
            <a:endParaRPr lang="en-US" i="1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301497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D972A-82E3-4B40-A725-DCEECAB544D0}"/>
              </a:ext>
            </a:extLst>
          </p:cNvPr>
          <p:cNvSpPr txBox="1"/>
          <p:nvPr/>
        </p:nvSpPr>
        <p:spPr>
          <a:xfrm>
            <a:off x="172995" y="6308209"/>
            <a:ext cx="2444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source: </a:t>
            </a:r>
            <a:r>
              <a:rPr lang="en-US" dirty="0" err="1"/>
              <a:t>wikipedia</a:t>
            </a:r>
            <a:endParaRPr lang="en-US" dirty="0"/>
          </a:p>
        </p:txBody>
      </p:sp>
      <p:pic>
        <p:nvPicPr>
          <p:cNvPr id="7" name="Picture 6" descr="The Chomsky hierarchy">
            <a:extLst>
              <a:ext uri="{FF2B5EF4-FFF2-40B4-BE49-F238E27FC236}">
                <a16:creationId xmlns:a16="http://schemas.microsoft.com/office/drawing/2014/main" id="{A3A24705-34E0-FC4E-874C-7D782A59C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03" y="2155955"/>
            <a:ext cx="4376763" cy="3156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E29035-32FD-AA49-8F1B-F96F2A1DF6F8}"/>
              </a:ext>
            </a:extLst>
          </p:cNvPr>
          <p:cNvSpPr txBox="1"/>
          <p:nvPr/>
        </p:nvSpPr>
        <p:spPr>
          <a:xfrm>
            <a:off x="6217920" y="2155955"/>
            <a:ext cx="457856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a regular language?</a:t>
            </a:r>
          </a:p>
          <a:p>
            <a:endParaRPr lang="en-US" dirty="0"/>
          </a:p>
          <a:p>
            <a:r>
              <a:rPr lang="en-US" dirty="0"/>
              <a:t>For this class: </a:t>
            </a:r>
            <a:r>
              <a:rPr lang="en-US" i="1" dirty="0"/>
              <a:t>A regular language is a language</a:t>
            </a:r>
            <a:br>
              <a:rPr lang="en-US" i="1" dirty="0"/>
            </a:br>
            <a:r>
              <a:rPr lang="en-US" i="1" dirty="0"/>
              <a:t>that can be expressed as a regular expression.</a:t>
            </a:r>
          </a:p>
          <a:p>
            <a:endParaRPr lang="en-US" i="1" dirty="0"/>
          </a:p>
          <a:p>
            <a:endParaRPr lang="en-US" dirty="0"/>
          </a:p>
          <a:p>
            <a:endParaRPr lang="en-US" i="1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518005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D972A-82E3-4B40-A725-DCEECAB544D0}"/>
              </a:ext>
            </a:extLst>
          </p:cNvPr>
          <p:cNvSpPr txBox="1"/>
          <p:nvPr/>
        </p:nvSpPr>
        <p:spPr>
          <a:xfrm>
            <a:off x="172995" y="6308209"/>
            <a:ext cx="2444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source: </a:t>
            </a:r>
            <a:r>
              <a:rPr lang="en-US" dirty="0" err="1"/>
              <a:t>wikipedia</a:t>
            </a:r>
            <a:endParaRPr lang="en-US" dirty="0"/>
          </a:p>
        </p:txBody>
      </p:sp>
      <p:pic>
        <p:nvPicPr>
          <p:cNvPr id="7" name="Picture 6" descr="The Chomsky hierarchy">
            <a:extLst>
              <a:ext uri="{FF2B5EF4-FFF2-40B4-BE49-F238E27FC236}">
                <a16:creationId xmlns:a16="http://schemas.microsoft.com/office/drawing/2014/main" id="{A3A24705-34E0-FC4E-874C-7D782A59C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03" y="2155955"/>
            <a:ext cx="4376763" cy="3156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E29035-32FD-AA49-8F1B-F96F2A1DF6F8}"/>
              </a:ext>
            </a:extLst>
          </p:cNvPr>
          <p:cNvSpPr txBox="1"/>
          <p:nvPr/>
        </p:nvSpPr>
        <p:spPr>
          <a:xfrm>
            <a:off x="6217920" y="2155955"/>
            <a:ext cx="457856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a regular language?</a:t>
            </a:r>
          </a:p>
          <a:p>
            <a:endParaRPr lang="en-US" dirty="0"/>
          </a:p>
          <a:p>
            <a:r>
              <a:rPr lang="en-US" dirty="0"/>
              <a:t>For this class: </a:t>
            </a:r>
            <a:r>
              <a:rPr lang="en-US" i="1" dirty="0"/>
              <a:t>A regular language is a language</a:t>
            </a:r>
            <a:br>
              <a:rPr lang="en-US" i="1" dirty="0"/>
            </a:br>
            <a:r>
              <a:rPr lang="en-US" i="1" dirty="0"/>
              <a:t>that can be expressed as a regular expression.</a:t>
            </a:r>
          </a:p>
          <a:p>
            <a:endParaRPr lang="en-US" i="1" dirty="0"/>
          </a:p>
          <a:p>
            <a:r>
              <a:rPr lang="en-US" dirty="0"/>
              <a:t>What is a regular expression?</a:t>
            </a:r>
          </a:p>
          <a:p>
            <a:endParaRPr lang="en-US" dirty="0"/>
          </a:p>
          <a:p>
            <a:endParaRPr lang="en-US" i="1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53099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define regular expressions (RE) recursively</a:t>
            </a:r>
          </a:p>
          <a:p>
            <a:endParaRPr lang="en-US" dirty="0"/>
          </a:p>
          <a:p>
            <a:r>
              <a:rPr lang="en-US" dirty="0"/>
              <a:t>We will show examples at each step.</a:t>
            </a:r>
          </a:p>
          <a:p>
            <a:endParaRPr lang="en-US" dirty="0"/>
          </a:p>
          <a:p>
            <a:r>
              <a:rPr lang="en-US" dirty="0"/>
              <a:t>And show to match them in Python</a:t>
            </a:r>
          </a:p>
          <a:p>
            <a:pPr lvl="1"/>
            <a:r>
              <a:rPr lang="en-US" i="1" dirty="0"/>
              <a:t>A string matches an RE if it belongs to the regular language defined by the RE</a:t>
            </a:r>
          </a:p>
          <a:p>
            <a:pPr lvl="1"/>
            <a:r>
              <a:rPr lang="en-US" dirty="0"/>
              <a:t>Python has a great RE matching library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495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6CD01-4DCC-394E-9103-54E1A6A89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361"/>
            <a:ext cx="10515600" cy="1325563"/>
          </a:xfrm>
        </p:spPr>
        <p:txBody>
          <a:bodyPr/>
          <a:lstStyle/>
          <a:p>
            <a:r>
              <a:rPr lang="en-US" dirty="0"/>
              <a:t>Regular expressions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13B7F-9C7B-A748-830B-695283AF1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  <a:latin typeface="Courier" pitchFamily="2" charset="0"/>
              </a:rPr>
              <a:t># import the library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import re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  <a:latin typeface="Courier" pitchFamily="2" charset="0"/>
              </a:rPr>
              <a:t># pattern is a string representing the RE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  <a:latin typeface="Courier" pitchFamily="2" charset="0"/>
              </a:rPr>
              <a:t># the function reports whether string matches RE </a:t>
            </a:r>
          </a:p>
          <a:p>
            <a:pPr marL="0" indent="0">
              <a:buNone/>
            </a:pPr>
            <a:r>
              <a:rPr lang="en-US" dirty="0" err="1">
                <a:latin typeface="Courier" pitchFamily="2" charset="0"/>
              </a:rPr>
              <a:t>re.fullmatch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i="1" dirty="0">
                <a:latin typeface="Courier" pitchFamily="2" charset="0"/>
              </a:rPr>
              <a:t>pattern</a:t>
            </a:r>
            <a:r>
              <a:rPr lang="en-US" dirty="0">
                <a:latin typeface="Courier" pitchFamily="2" charset="0"/>
              </a:rPr>
              <a:t>, </a:t>
            </a:r>
            <a:r>
              <a:rPr lang="en-US" i="1" dirty="0">
                <a:latin typeface="Courier" pitchFamily="2" charset="0"/>
              </a:rPr>
              <a:t>string</a:t>
            </a:r>
            <a:r>
              <a:rPr lang="en-US" dirty="0">
                <a:latin typeface="Courier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62058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25049"/>
          </a:xfrm>
        </p:spPr>
        <p:txBody>
          <a:bodyPr/>
          <a:lstStyle/>
          <a:p>
            <a:r>
              <a:rPr lang="en-US" b="1" dirty="0"/>
              <a:t>We will define regular expressions (RE) recursively</a:t>
            </a:r>
          </a:p>
          <a:p>
            <a:endParaRPr lang="en-US" b="1" dirty="0"/>
          </a:p>
          <a:p>
            <a:r>
              <a:rPr lang="en-US" dirty="0"/>
              <a:t>Like any recursive function, we can start with the base case: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a regular expression can be a single character or the empty string</a:t>
            </a: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87526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25049"/>
          </a:xfrm>
        </p:spPr>
        <p:txBody>
          <a:bodyPr/>
          <a:lstStyle/>
          <a:p>
            <a:r>
              <a:rPr lang="en-US" b="1" dirty="0"/>
              <a:t>We will define regular expressions (RE) recursively</a:t>
            </a:r>
          </a:p>
          <a:p>
            <a:endParaRPr lang="en-US" b="1" dirty="0"/>
          </a:p>
          <a:p>
            <a:r>
              <a:rPr lang="en-US" dirty="0"/>
              <a:t>Like any recursive function, we can start with the base case: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a regular expression can be a single character or the empty string</a:t>
            </a:r>
          </a:p>
          <a:p>
            <a:pPr lvl="1"/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75464-5ABE-BE4F-9D14-E04B8E24CF5D}"/>
              </a:ext>
            </a:extLst>
          </p:cNvPr>
          <p:cNvSpPr txBox="1"/>
          <p:nvPr/>
        </p:nvSpPr>
        <p:spPr>
          <a:xfrm>
            <a:off x="838200" y="4985611"/>
            <a:ext cx="18389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Example: </a:t>
            </a:r>
          </a:p>
          <a:p>
            <a:r>
              <a:rPr lang="en-US" dirty="0">
                <a:latin typeface="Courier" pitchFamily="2" charset="0"/>
              </a:rPr>
              <a:t>ASSIGN = “=“</a:t>
            </a:r>
          </a:p>
          <a:p>
            <a:r>
              <a:rPr lang="en-US" dirty="0">
                <a:latin typeface="Courier" pitchFamily="2" charset="0"/>
              </a:rPr>
              <a:t>PLUS   = ”+”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2AA0C-9BD9-1849-B741-14C63B0CF98B}"/>
              </a:ext>
            </a:extLst>
          </p:cNvPr>
          <p:cNvSpPr txBox="1"/>
          <p:nvPr/>
        </p:nvSpPr>
        <p:spPr>
          <a:xfrm>
            <a:off x="5092337" y="4964862"/>
            <a:ext cx="611257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Python: </a:t>
            </a:r>
          </a:p>
          <a:p>
            <a:r>
              <a:rPr lang="en-US" dirty="0">
                <a:latin typeface="Courier" pitchFamily="2" charset="0"/>
              </a:rPr>
              <a:t>import re</a:t>
            </a:r>
          </a:p>
          <a:p>
            <a:r>
              <a:rPr lang="en-US" dirty="0" err="1">
                <a:latin typeface="Courier" pitchFamily="2" charset="0"/>
              </a:rPr>
              <a:t>re.fullmatch</a:t>
            </a:r>
            <a:r>
              <a:rPr lang="en-US" dirty="0">
                <a:latin typeface="Courier" pitchFamily="2" charset="0"/>
              </a:rPr>
              <a:t>(“=“, “=“)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 err="1">
                <a:latin typeface="Courier" pitchFamily="2" charset="0"/>
              </a:rPr>
              <a:t>re.fullmatch</a:t>
            </a:r>
            <a:r>
              <a:rPr lang="en-US" dirty="0">
                <a:latin typeface="Courier" pitchFamily="2" charset="0"/>
              </a:rPr>
              <a:t>(“+”, “+”) </a:t>
            </a:r>
            <a:r>
              <a:rPr lang="en-US" dirty="0">
                <a:solidFill>
                  <a:schemeClr val="accent6"/>
                </a:solidFill>
                <a:latin typeface="Courier" pitchFamily="2" charset="0"/>
              </a:rPr>
              <a:t># what happens here?</a:t>
            </a:r>
          </a:p>
        </p:txBody>
      </p:sp>
    </p:spTree>
    <p:extLst>
      <p:ext uri="{BB962C8B-B14F-4D97-AF65-F5344CB8AC3E}">
        <p14:creationId xmlns:p14="http://schemas.microsoft.com/office/powerpoint/2010/main" val="3449375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35789" cy="4351338"/>
          </a:xfrm>
        </p:spPr>
        <p:txBody>
          <a:bodyPr>
            <a:normAutofit/>
          </a:bodyPr>
          <a:lstStyle/>
          <a:p>
            <a:r>
              <a:rPr lang="en-US" dirty="0"/>
              <a:t>When we define regular expressions, some characters are special.</a:t>
            </a:r>
          </a:p>
          <a:p>
            <a:pPr lvl="1"/>
            <a:r>
              <a:rPr lang="en-US" dirty="0"/>
              <a:t>They are operators in the regular expression language</a:t>
            </a:r>
          </a:p>
          <a:p>
            <a:pPr lvl="1"/>
            <a:r>
              <a:rPr lang="en-US" dirty="0"/>
              <a:t>If we want to use them as a character, then we need to ”escape them” with a \</a:t>
            </a:r>
          </a:p>
          <a:p>
            <a:pPr lvl="1"/>
            <a:r>
              <a:rPr lang="en-US" dirty="0"/>
              <a:t>“+” happens to be one of those characters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sz="2400" dirty="0">
                <a:hlinkClick r:id="rId2"/>
              </a:rPr>
              <a:t>https://riptutorial.com/regex/example/15848/what-characters-need-to-be-escaped-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AFA91-B0CA-C748-A395-6487FF3AFA1C}"/>
              </a:ext>
            </a:extLst>
          </p:cNvPr>
          <p:cNvSpPr txBox="1"/>
          <p:nvPr/>
        </p:nvSpPr>
        <p:spPr>
          <a:xfrm>
            <a:off x="920931" y="4742240"/>
            <a:ext cx="625042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Python: </a:t>
            </a:r>
          </a:p>
          <a:p>
            <a:r>
              <a:rPr lang="en-US" dirty="0">
                <a:latin typeface="Courier" pitchFamily="2" charset="0"/>
              </a:rPr>
              <a:t>import re</a:t>
            </a:r>
          </a:p>
          <a:p>
            <a:r>
              <a:rPr lang="en-US" dirty="0" err="1">
                <a:latin typeface="Courier" pitchFamily="2" charset="0"/>
              </a:rPr>
              <a:t>re.fullmatch</a:t>
            </a:r>
            <a:r>
              <a:rPr lang="en-US" dirty="0">
                <a:latin typeface="Courier" pitchFamily="2" charset="0"/>
              </a:rPr>
              <a:t>(“=“, “=“)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 err="1">
                <a:latin typeface="Courier" pitchFamily="2" charset="0"/>
              </a:rPr>
              <a:t>re.fullmatch</a:t>
            </a:r>
            <a:r>
              <a:rPr lang="en-US" dirty="0">
                <a:latin typeface="Courier" pitchFamily="2" charset="0"/>
              </a:rPr>
              <a:t>(“\+”, “+”) </a:t>
            </a:r>
            <a:r>
              <a:rPr lang="en-US" dirty="0">
                <a:solidFill>
                  <a:schemeClr val="accent6"/>
                </a:solidFill>
                <a:latin typeface="Courier" pitchFamily="2" charset="0"/>
              </a:rPr>
              <a:t># what happens here?</a:t>
            </a:r>
          </a:p>
        </p:txBody>
      </p:sp>
    </p:spTree>
    <p:extLst>
      <p:ext uri="{BB962C8B-B14F-4D97-AF65-F5344CB8AC3E}">
        <p14:creationId xmlns:p14="http://schemas.microsoft.com/office/powerpoint/2010/main" val="298307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25049"/>
          </a:xfrm>
        </p:spPr>
        <p:txBody>
          <a:bodyPr/>
          <a:lstStyle/>
          <a:p>
            <a:r>
              <a:rPr lang="en-US" b="1" dirty="0"/>
              <a:t>We will define regular expressions (RE) recursively</a:t>
            </a:r>
          </a:p>
          <a:p>
            <a:endParaRPr lang="en-US" b="1" dirty="0"/>
          </a:p>
          <a:p>
            <a:r>
              <a:rPr lang="en-US" dirty="0"/>
              <a:t>Like any recursive function, we can start with the base case: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    a regular expression can be a single character or the </a:t>
            </a:r>
            <a:r>
              <a:rPr lang="en-US" i="1" dirty="0">
                <a:highlight>
                  <a:srgbClr val="FFFF00"/>
                </a:highlight>
              </a:rPr>
              <a:t>empty string</a:t>
            </a:r>
          </a:p>
          <a:p>
            <a:pPr lvl="1"/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2AA0C-9BD9-1849-B741-14C63B0CF98B}"/>
              </a:ext>
            </a:extLst>
          </p:cNvPr>
          <p:cNvSpPr txBox="1"/>
          <p:nvPr/>
        </p:nvSpPr>
        <p:spPr>
          <a:xfrm>
            <a:off x="5092337" y="4964862"/>
            <a:ext cx="29418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Python: </a:t>
            </a:r>
          </a:p>
          <a:p>
            <a:r>
              <a:rPr lang="en-US" dirty="0">
                <a:latin typeface="Courier" pitchFamily="2" charset="0"/>
              </a:rPr>
              <a:t>import re</a:t>
            </a:r>
          </a:p>
          <a:p>
            <a:r>
              <a:rPr lang="en-US" dirty="0" err="1">
                <a:latin typeface="Courier" pitchFamily="2" charset="0"/>
              </a:rPr>
              <a:t>re.fullmatch</a:t>
            </a:r>
            <a:r>
              <a:rPr lang="en-US" dirty="0">
                <a:latin typeface="Courier" pitchFamily="2" charset="0"/>
              </a:rPr>
              <a:t>(““, ““)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4ECF94-C7FB-AE49-87E3-6F8CAFB4E1BB}"/>
              </a:ext>
            </a:extLst>
          </p:cNvPr>
          <p:cNvSpPr txBox="1"/>
          <p:nvPr/>
        </p:nvSpPr>
        <p:spPr>
          <a:xfrm>
            <a:off x="8969829" y="5390606"/>
            <a:ext cx="24904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Not super useful for us,</a:t>
            </a:r>
            <a:br>
              <a:rPr lang="en-US" i="1" dirty="0"/>
            </a:br>
            <a:r>
              <a:rPr lang="en-US" i="1" dirty="0"/>
              <a:t>but useful for the theory</a:t>
            </a:r>
          </a:p>
        </p:txBody>
      </p:sp>
    </p:spTree>
    <p:extLst>
      <p:ext uri="{BB962C8B-B14F-4D97-AF65-F5344CB8AC3E}">
        <p14:creationId xmlns:p14="http://schemas.microsoft.com/office/powerpoint/2010/main" val="1497944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recursive case: </a:t>
            </a:r>
            <a:r>
              <a:rPr lang="en-US" b="1" dirty="0"/>
              <a:t>concatenation</a:t>
            </a:r>
          </a:p>
          <a:p>
            <a:endParaRPr lang="en-US" dirty="0"/>
          </a:p>
          <a:p>
            <a:r>
              <a:rPr lang="en-US" dirty="0"/>
              <a:t>Two REs can be concatenated by simply writing them in sequence:</a:t>
            </a:r>
          </a:p>
          <a:p>
            <a:pPr lvl="1"/>
            <a:r>
              <a:rPr lang="en-US" dirty="0"/>
              <a:t>RE1 = ”a”, RE2 = “b”</a:t>
            </a:r>
          </a:p>
          <a:p>
            <a:pPr lvl="1"/>
            <a:r>
              <a:rPr lang="en-US" dirty="0"/>
              <a:t>concatenated it is: RE12 = “ab”</a:t>
            </a:r>
          </a:p>
          <a:p>
            <a:pPr lvl="1"/>
            <a:endParaRPr lang="en-US" dirty="0"/>
          </a:p>
          <a:p>
            <a:r>
              <a:rPr lang="en-US" dirty="0"/>
              <a:t>This allows us to build words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38174-D8B8-B54E-9049-CCAC23B2CFEF}"/>
              </a:ext>
            </a:extLst>
          </p:cNvPr>
          <p:cNvSpPr txBox="1"/>
          <p:nvPr/>
        </p:nvSpPr>
        <p:spPr>
          <a:xfrm>
            <a:off x="925286" y="5296237"/>
            <a:ext cx="22525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Example: </a:t>
            </a:r>
          </a:p>
          <a:p>
            <a:r>
              <a:rPr lang="en-US" dirty="0">
                <a:latin typeface="Courier" pitchFamily="2" charset="0"/>
              </a:rPr>
              <a:t>FOR   = “for“</a:t>
            </a:r>
          </a:p>
          <a:p>
            <a:r>
              <a:rPr lang="en-US" dirty="0">
                <a:latin typeface="Courier" pitchFamily="2" charset="0"/>
              </a:rPr>
              <a:t>WHILE = ”while”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3B1DF1-2A0E-1E4D-AEDF-5BF0CA1DF0B9}"/>
              </a:ext>
            </a:extLst>
          </p:cNvPr>
          <p:cNvSpPr txBox="1"/>
          <p:nvPr/>
        </p:nvSpPr>
        <p:spPr>
          <a:xfrm>
            <a:off x="5353594" y="5296237"/>
            <a:ext cx="6664004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Python: </a:t>
            </a:r>
          </a:p>
          <a:p>
            <a:r>
              <a:rPr lang="en-US" dirty="0">
                <a:latin typeface="Courier" pitchFamily="2" charset="0"/>
              </a:rPr>
              <a:t>import re</a:t>
            </a:r>
          </a:p>
          <a:p>
            <a:r>
              <a:rPr lang="en-US" dirty="0" err="1">
                <a:latin typeface="Courier" pitchFamily="2" charset="0"/>
              </a:rPr>
              <a:t>re.fullmatch</a:t>
            </a:r>
            <a:r>
              <a:rPr lang="en-US" dirty="0">
                <a:latin typeface="Courier" pitchFamily="2" charset="0"/>
              </a:rPr>
              <a:t>(“for“, “for“)</a:t>
            </a:r>
          </a:p>
          <a:p>
            <a:r>
              <a:rPr lang="en-US" dirty="0" err="1">
                <a:latin typeface="Courier" pitchFamily="2" charset="0"/>
              </a:rPr>
              <a:t>re.fullmatch</a:t>
            </a:r>
            <a:r>
              <a:rPr lang="en-US" dirty="0">
                <a:latin typeface="Courier" pitchFamily="2" charset="0"/>
              </a:rPr>
              <a:t>(“</a:t>
            </a:r>
            <a:r>
              <a:rPr lang="en-US" dirty="0" err="1">
                <a:latin typeface="Courier" pitchFamily="2" charset="0"/>
              </a:rPr>
              <a:t>a+b</a:t>
            </a:r>
            <a:r>
              <a:rPr lang="en-US" dirty="0">
                <a:latin typeface="Courier" pitchFamily="2" charset="0"/>
              </a:rPr>
              <a:t>”, “</a:t>
            </a:r>
            <a:r>
              <a:rPr lang="en-US" dirty="0" err="1">
                <a:latin typeface="Courier" pitchFamily="2" charset="0"/>
              </a:rPr>
              <a:t>a+b</a:t>
            </a:r>
            <a:r>
              <a:rPr lang="en-US" dirty="0">
                <a:latin typeface="Courier" pitchFamily="2" charset="0"/>
              </a:rPr>
              <a:t>”) </a:t>
            </a:r>
            <a:r>
              <a:rPr lang="en-US" dirty="0">
                <a:solidFill>
                  <a:schemeClr val="accent6"/>
                </a:solidFill>
                <a:latin typeface="Courier" pitchFamily="2" charset="0"/>
              </a:rPr>
              <a:t># what happens here?</a:t>
            </a:r>
          </a:p>
        </p:txBody>
      </p:sp>
    </p:spTree>
    <p:extLst>
      <p:ext uri="{BB962C8B-B14F-4D97-AF65-F5344CB8AC3E}">
        <p14:creationId xmlns:p14="http://schemas.microsoft.com/office/powerpoint/2010/main" val="29171051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E0EBAC-48FF-7746-8746-AF4922AD948E}"/>
              </a:ext>
            </a:extLst>
          </p:cNvPr>
          <p:cNvSpPr txBox="1">
            <a:spLocks/>
          </p:cNvSpPr>
          <p:nvPr/>
        </p:nvSpPr>
        <p:spPr>
          <a:xfrm>
            <a:off x="838200" y="3577882"/>
            <a:ext cx="10319951" cy="234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/>
                </a:solidFill>
              </a:rPr>
              <a:t>ARTICLE          =  {The, A, My, Your}</a:t>
            </a:r>
          </a:p>
          <a:p>
            <a:r>
              <a:rPr lang="en-US" dirty="0">
                <a:solidFill>
                  <a:schemeClr val="accent5"/>
                </a:solidFill>
              </a:rPr>
              <a:t>NOUN             =  {Dog, Car, Computer}</a:t>
            </a:r>
          </a:p>
          <a:p>
            <a:r>
              <a:rPr lang="en-US" dirty="0">
                <a:solidFill>
                  <a:schemeClr val="accent2"/>
                </a:solidFill>
              </a:rPr>
              <a:t>VERB               =  {Ran, Crashed, Accelerated}</a:t>
            </a:r>
          </a:p>
          <a:p>
            <a:r>
              <a:rPr lang="en-US" dirty="0"/>
              <a:t>ADJECTIVE      =  {Purple, Spotted, Old}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29CDA-E251-6B4C-9B36-26FDCE1D7AF3}"/>
              </a:ext>
            </a:extLst>
          </p:cNvPr>
          <p:cNvSpPr txBox="1"/>
          <p:nvPr/>
        </p:nvSpPr>
        <p:spPr>
          <a:xfrm>
            <a:off x="1241658" y="6150726"/>
            <a:ext cx="821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BAEDA7-C7A1-9045-AD0B-60FFA3113174}"/>
              </a:ext>
            </a:extLst>
          </p:cNvPr>
          <p:cNvSpPr/>
          <p:nvPr/>
        </p:nvSpPr>
        <p:spPr>
          <a:xfrm>
            <a:off x="741145" y="3442945"/>
            <a:ext cx="216568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B85B44-F4E9-844F-B5BB-65DEA47F8D9A}"/>
              </a:ext>
            </a:extLst>
          </p:cNvPr>
          <p:cNvSpPr/>
          <p:nvPr/>
        </p:nvSpPr>
        <p:spPr>
          <a:xfrm>
            <a:off x="3396114" y="3442945"/>
            <a:ext cx="420784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248E9-7178-E44A-A3DB-19C8162611C5}"/>
              </a:ext>
            </a:extLst>
          </p:cNvPr>
          <p:cNvSpPr txBox="1"/>
          <p:nvPr/>
        </p:nvSpPr>
        <p:spPr>
          <a:xfrm>
            <a:off x="4203687" y="6150726"/>
            <a:ext cx="1892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 Definitions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A24940-94FD-0E4C-8440-A69A7B4CC3AB}"/>
              </a:ext>
            </a:extLst>
          </p:cNvPr>
          <p:cNvSpPr txBox="1"/>
          <p:nvPr/>
        </p:nvSpPr>
        <p:spPr>
          <a:xfrm>
            <a:off x="1823987" y="2403566"/>
            <a:ext cx="421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define these tokens yet?</a:t>
            </a:r>
          </a:p>
        </p:txBody>
      </p:sp>
    </p:spTree>
    <p:extLst>
      <p:ext uri="{BB962C8B-B14F-4D97-AF65-F5344CB8AC3E}">
        <p14:creationId xmlns:p14="http://schemas.microsoft.com/office/powerpoint/2010/main" val="1653626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E0EBAC-48FF-7746-8746-AF4922AD948E}"/>
              </a:ext>
            </a:extLst>
          </p:cNvPr>
          <p:cNvSpPr txBox="1">
            <a:spLocks/>
          </p:cNvSpPr>
          <p:nvPr/>
        </p:nvSpPr>
        <p:spPr>
          <a:xfrm>
            <a:off x="838200" y="3577882"/>
            <a:ext cx="10319951" cy="234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/>
                </a:solidFill>
              </a:rPr>
              <a:t>ARTICLE          =  {The, A, My, Your}</a:t>
            </a:r>
          </a:p>
          <a:p>
            <a:r>
              <a:rPr lang="en-US" dirty="0">
                <a:solidFill>
                  <a:schemeClr val="accent5"/>
                </a:solidFill>
              </a:rPr>
              <a:t>NOUN             =  {Dog, Car, Computer}</a:t>
            </a:r>
          </a:p>
          <a:p>
            <a:r>
              <a:rPr lang="en-US" dirty="0">
                <a:solidFill>
                  <a:schemeClr val="accent2"/>
                </a:solidFill>
              </a:rPr>
              <a:t>VERB               =  {Ran, Crashed, Accelerated}</a:t>
            </a:r>
          </a:p>
          <a:p>
            <a:r>
              <a:rPr lang="en-US" dirty="0"/>
              <a:t>ADJECTIVE      =  {Purple, Spotted, Old}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29CDA-E251-6B4C-9B36-26FDCE1D7AF3}"/>
              </a:ext>
            </a:extLst>
          </p:cNvPr>
          <p:cNvSpPr txBox="1"/>
          <p:nvPr/>
        </p:nvSpPr>
        <p:spPr>
          <a:xfrm>
            <a:off x="1241658" y="6150726"/>
            <a:ext cx="821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BAEDA7-C7A1-9045-AD0B-60FFA3113174}"/>
              </a:ext>
            </a:extLst>
          </p:cNvPr>
          <p:cNvSpPr/>
          <p:nvPr/>
        </p:nvSpPr>
        <p:spPr>
          <a:xfrm>
            <a:off x="741145" y="3442945"/>
            <a:ext cx="216568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B85B44-F4E9-844F-B5BB-65DEA47F8D9A}"/>
              </a:ext>
            </a:extLst>
          </p:cNvPr>
          <p:cNvSpPr/>
          <p:nvPr/>
        </p:nvSpPr>
        <p:spPr>
          <a:xfrm>
            <a:off x="3396114" y="3442945"/>
            <a:ext cx="420784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248E9-7178-E44A-A3DB-19C8162611C5}"/>
              </a:ext>
            </a:extLst>
          </p:cNvPr>
          <p:cNvSpPr txBox="1"/>
          <p:nvPr/>
        </p:nvSpPr>
        <p:spPr>
          <a:xfrm>
            <a:off x="4203687" y="6150726"/>
            <a:ext cx="1892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 Definitions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A24940-94FD-0E4C-8440-A69A7B4CC3AB}"/>
              </a:ext>
            </a:extLst>
          </p:cNvPr>
          <p:cNvSpPr txBox="1"/>
          <p:nvPr/>
        </p:nvSpPr>
        <p:spPr>
          <a:xfrm>
            <a:off x="1823987" y="2403566"/>
            <a:ext cx="834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define these tokens yet?   No, we need one more operator</a:t>
            </a:r>
          </a:p>
        </p:txBody>
      </p:sp>
    </p:spTree>
    <p:extLst>
      <p:ext uri="{BB962C8B-B14F-4D97-AF65-F5344CB8AC3E}">
        <p14:creationId xmlns:p14="http://schemas.microsoft.com/office/powerpoint/2010/main" val="38811474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Second recursive operator: </a:t>
            </a:r>
            <a:r>
              <a:rPr lang="en-US" b="1" dirty="0"/>
              <a:t>choice</a:t>
            </a:r>
            <a:r>
              <a:rPr lang="en-US" dirty="0"/>
              <a:t> (sometimes called ”union”, or “or”)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Two REs can be </a:t>
            </a:r>
            <a:r>
              <a:rPr lang="en-US" dirty="0" err="1"/>
              <a:t>choiced</a:t>
            </a:r>
            <a:r>
              <a:rPr lang="en-US" dirty="0"/>
              <a:t> together using the “|” operator</a:t>
            </a:r>
          </a:p>
          <a:p>
            <a:pPr lvl="1"/>
            <a:r>
              <a:rPr lang="en-US" dirty="0"/>
              <a:t>RE1 = “a”, RE2 = “b”</a:t>
            </a:r>
          </a:p>
          <a:p>
            <a:pPr lvl="1"/>
            <a:r>
              <a:rPr lang="en-US" dirty="0"/>
              <a:t>The choice is: RE1|2 = “</a:t>
            </a:r>
            <a:r>
              <a:rPr lang="en-US" dirty="0" err="1"/>
              <a:t>a|b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Matches either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80DFDC-1A1B-084C-ADDA-551E8031FA37}"/>
              </a:ext>
            </a:extLst>
          </p:cNvPr>
          <p:cNvSpPr txBox="1"/>
          <p:nvPr/>
        </p:nvSpPr>
        <p:spPr>
          <a:xfrm>
            <a:off x="629194" y="5296237"/>
            <a:ext cx="26661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Example: </a:t>
            </a:r>
          </a:p>
          <a:p>
            <a:r>
              <a:rPr lang="en-US" dirty="0">
                <a:latin typeface="Courier" pitchFamily="2" charset="0"/>
              </a:rPr>
              <a:t>OP   = “*|+“</a:t>
            </a:r>
          </a:p>
          <a:p>
            <a:r>
              <a:rPr lang="en-US" dirty="0">
                <a:latin typeface="Courier" pitchFamily="2" charset="0"/>
              </a:rPr>
              <a:t>CMP  = “==|&lt;=|&gt;=”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7BD3F-A758-6D4F-8DD5-3762842DB03F}"/>
              </a:ext>
            </a:extLst>
          </p:cNvPr>
          <p:cNvSpPr txBox="1"/>
          <p:nvPr/>
        </p:nvSpPr>
        <p:spPr>
          <a:xfrm>
            <a:off x="4770120" y="5200213"/>
            <a:ext cx="4320413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Python: </a:t>
            </a:r>
          </a:p>
          <a:p>
            <a:r>
              <a:rPr lang="en-US" dirty="0">
                <a:latin typeface="Courier" pitchFamily="2" charset="0"/>
              </a:rPr>
              <a:t>import re</a:t>
            </a:r>
          </a:p>
          <a:p>
            <a:r>
              <a:rPr lang="en-US" dirty="0" err="1">
                <a:latin typeface="Courier" pitchFamily="2" charset="0"/>
              </a:rPr>
              <a:t>re.fullmatch</a:t>
            </a:r>
            <a:r>
              <a:rPr lang="en-US" dirty="0">
                <a:latin typeface="Courier" pitchFamily="2" charset="0"/>
              </a:rPr>
              <a:t>(“*|+“, “+“)</a:t>
            </a:r>
          </a:p>
          <a:p>
            <a:r>
              <a:rPr lang="en-US" dirty="0" err="1">
                <a:latin typeface="Courier" pitchFamily="2" charset="0"/>
              </a:rPr>
              <a:t>re.fullmatch</a:t>
            </a:r>
            <a:r>
              <a:rPr lang="en-US" dirty="0">
                <a:latin typeface="Courier" pitchFamily="2" charset="0"/>
              </a:rPr>
              <a:t>(“==|&lt;=|&gt;=”, “==”)</a:t>
            </a:r>
            <a:endParaRPr lang="en-US" dirty="0">
              <a:solidFill>
                <a:schemeClr val="accent6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9441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E0EBAC-48FF-7746-8746-AF4922AD948E}"/>
              </a:ext>
            </a:extLst>
          </p:cNvPr>
          <p:cNvSpPr txBox="1">
            <a:spLocks/>
          </p:cNvSpPr>
          <p:nvPr/>
        </p:nvSpPr>
        <p:spPr>
          <a:xfrm>
            <a:off x="838200" y="3577882"/>
            <a:ext cx="10319951" cy="234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/>
                </a:solidFill>
              </a:rPr>
              <a:t>ARTICLE          =  {The, A, My, Your}</a:t>
            </a:r>
          </a:p>
          <a:p>
            <a:r>
              <a:rPr lang="en-US" dirty="0">
                <a:solidFill>
                  <a:schemeClr val="accent5"/>
                </a:solidFill>
              </a:rPr>
              <a:t>NOUN             =  {Dog, Car, Computer}</a:t>
            </a:r>
          </a:p>
          <a:p>
            <a:r>
              <a:rPr lang="en-US" dirty="0">
                <a:solidFill>
                  <a:schemeClr val="accent2"/>
                </a:solidFill>
              </a:rPr>
              <a:t>VERB               =  {Ran, Crashed, Accelerated}</a:t>
            </a:r>
          </a:p>
          <a:p>
            <a:r>
              <a:rPr lang="en-US" dirty="0"/>
              <a:t>ADJECTIVE      =  {Purple, Spotted, Old}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29CDA-E251-6B4C-9B36-26FDCE1D7AF3}"/>
              </a:ext>
            </a:extLst>
          </p:cNvPr>
          <p:cNvSpPr txBox="1"/>
          <p:nvPr/>
        </p:nvSpPr>
        <p:spPr>
          <a:xfrm>
            <a:off x="1241658" y="6150726"/>
            <a:ext cx="821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BAEDA7-C7A1-9045-AD0B-60FFA3113174}"/>
              </a:ext>
            </a:extLst>
          </p:cNvPr>
          <p:cNvSpPr/>
          <p:nvPr/>
        </p:nvSpPr>
        <p:spPr>
          <a:xfrm>
            <a:off x="741145" y="3442945"/>
            <a:ext cx="216568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B85B44-F4E9-844F-B5BB-65DEA47F8D9A}"/>
              </a:ext>
            </a:extLst>
          </p:cNvPr>
          <p:cNvSpPr/>
          <p:nvPr/>
        </p:nvSpPr>
        <p:spPr>
          <a:xfrm>
            <a:off x="3396114" y="3442945"/>
            <a:ext cx="420784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248E9-7178-E44A-A3DB-19C8162611C5}"/>
              </a:ext>
            </a:extLst>
          </p:cNvPr>
          <p:cNvSpPr txBox="1"/>
          <p:nvPr/>
        </p:nvSpPr>
        <p:spPr>
          <a:xfrm>
            <a:off x="4203687" y="6150726"/>
            <a:ext cx="1892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 Definitions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A24940-94FD-0E4C-8440-A69A7B4CC3AB}"/>
              </a:ext>
            </a:extLst>
          </p:cNvPr>
          <p:cNvSpPr txBox="1"/>
          <p:nvPr/>
        </p:nvSpPr>
        <p:spPr>
          <a:xfrm>
            <a:off x="1823987" y="2403566"/>
            <a:ext cx="421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define these tokens yet?</a:t>
            </a:r>
          </a:p>
        </p:txBody>
      </p:sp>
    </p:spTree>
    <p:extLst>
      <p:ext uri="{BB962C8B-B14F-4D97-AF65-F5344CB8AC3E}">
        <p14:creationId xmlns:p14="http://schemas.microsoft.com/office/powerpoint/2010/main" val="33582869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E0EBAC-48FF-7746-8746-AF4922AD948E}"/>
              </a:ext>
            </a:extLst>
          </p:cNvPr>
          <p:cNvSpPr txBox="1">
            <a:spLocks/>
          </p:cNvSpPr>
          <p:nvPr/>
        </p:nvSpPr>
        <p:spPr>
          <a:xfrm>
            <a:off x="838200" y="3577882"/>
            <a:ext cx="10319951" cy="234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/>
                </a:solidFill>
              </a:rPr>
              <a:t>ARTICLE          =   “</a:t>
            </a:r>
            <a:r>
              <a:rPr lang="en-US" dirty="0" err="1">
                <a:solidFill>
                  <a:schemeClr val="accent6"/>
                </a:solidFill>
              </a:rPr>
              <a:t>The|A|Mine|Your</a:t>
            </a:r>
            <a:r>
              <a:rPr lang="en-US" dirty="0">
                <a:solidFill>
                  <a:schemeClr val="accent6"/>
                </a:solidFill>
              </a:rPr>
              <a:t>”</a:t>
            </a:r>
          </a:p>
          <a:p>
            <a:r>
              <a:rPr lang="en-US" dirty="0">
                <a:solidFill>
                  <a:schemeClr val="accent5"/>
                </a:solidFill>
              </a:rPr>
              <a:t>NOUN             =  “</a:t>
            </a:r>
            <a:r>
              <a:rPr lang="en-US" dirty="0" err="1">
                <a:solidFill>
                  <a:schemeClr val="accent5"/>
                </a:solidFill>
              </a:rPr>
              <a:t>Dog|Car|Computer</a:t>
            </a:r>
            <a:r>
              <a:rPr lang="en-US" dirty="0">
                <a:solidFill>
                  <a:schemeClr val="accent5"/>
                </a:solidFill>
              </a:rPr>
              <a:t>”</a:t>
            </a:r>
          </a:p>
          <a:p>
            <a:r>
              <a:rPr lang="en-US" dirty="0">
                <a:solidFill>
                  <a:schemeClr val="accent2"/>
                </a:solidFill>
              </a:rPr>
              <a:t>VERB               =   “</a:t>
            </a:r>
            <a:r>
              <a:rPr lang="en-US" dirty="0" err="1">
                <a:solidFill>
                  <a:schemeClr val="accent2"/>
                </a:solidFill>
              </a:rPr>
              <a:t>Ran|Crashed|Accelerated</a:t>
            </a:r>
            <a:r>
              <a:rPr lang="en-US" dirty="0">
                <a:solidFill>
                  <a:schemeClr val="accent2"/>
                </a:solidFill>
              </a:rPr>
              <a:t>”</a:t>
            </a:r>
          </a:p>
          <a:p>
            <a:r>
              <a:rPr lang="en-US" dirty="0"/>
              <a:t>ADJECTIVE      =  “</a:t>
            </a:r>
            <a:r>
              <a:rPr lang="en-US" dirty="0" err="1"/>
              <a:t>Purple|Spotted|Old</a:t>
            </a:r>
            <a:r>
              <a:rPr lang="en-US" dirty="0"/>
              <a:t>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29CDA-E251-6B4C-9B36-26FDCE1D7AF3}"/>
              </a:ext>
            </a:extLst>
          </p:cNvPr>
          <p:cNvSpPr txBox="1"/>
          <p:nvPr/>
        </p:nvSpPr>
        <p:spPr>
          <a:xfrm>
            <a:off x="1241658" y="6150726"/>
            <a:ext cx="821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BAEDA7-C7A1-9045-AD0B-60FFA3113174}"/>
              </a:ext>
            </a:extLst>
          </p:cNvPr>
          <p:cNvSpPr/>
          <p:nvPr/>
        </p:nvSpPr>
        <p:spPr>
          <a:xfrm>
            <a:off x="741145" y="3442945"/>
            <a:ext cx="216568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B85B44-F4E9-844F-B5BB-65DEA47F8D9A}"/>
              </a:ext>
            </a:extLst>
          </p:cNvPr>
          <p:cNvSpPr/>
          <p:nvPr/>
        </p:nvSpPr>
        <p:spPr>
          <a:xfrm>
            <a:off x="3396114" y="3442945"/>
            <a:ext cx="420784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248E9-7178-E44A-A3DB-19C8162611C5}"/>
              </a:ext>
            </a:extLst>
          </p:cNvPr>
          <p:cNvSpPr txBox="1"/>
          <p:nvPr/>
        </p:nvSpPr>
        <p:spPr>
          <a:xfrm>
            <a:off x="4203687" y="6150726"/>
            <a:ext cx="1892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 Definitions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A24940-94FD-0E4C-8440-A69A7B4CC3AB}"/>
              </a:ext>
            </a:extLst>
          </p:cNvPr>
          <p:cNvSpPr txBox="1"/>
          <p:nvPr/>
        </p:nvSpPr>
        <p:spPr>
          <a:xfrm>
            <a:off x="1823987" y="2403566"/>
            <a:ext cx="4736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define these tokens yet? Yes!</a:t>
            </a:r>
          </a:p>
        </p:txBody>
      </p:sp>
    </p:spTree>
    <p:extLst>
      <p:ext uri="{BB962C8B-B14F-4D97-AF65-F5344CB8AC3E}">
        <p14:creationId xmlns:p14="http://schemas.microsoft.com/office/powerpoint/2010/main" val="11165851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17DB02-A4F6-7D45-B8F1-959DAF606F0D}"/>
              </a:ext>
            </a:extLst>
          </p:cNvPr>
          <p:cNvSpPr txBox="1"/>
          <p:nvPr/>
        </p:nvSpPr>
        <p:spPr>
          <a:xfrm>
            <a:off x="3372052" y="3850410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[“ “]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6C4C36-8AE1-D040-9BE7-7DF920E42F6D}"/>
              </a:ext>
            </a:extLst>
          </p:cNvPr>
          <p:cNvSpPr txBox="1"/>
          <p:nvPr/>
        </p:nvSpPr>
        <p:spPr>
          <a:xfrm>
            <a:off x="3280649" y="3112093"/>
            <a:ext cx="4238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define these tokens yet?</a:t>
            </a:r>
          </a:p>
        </p:txBody>
      </p:sp>
    </p:spTree>
    <p:extLst>
      <p:ext uri="{BB962C8B-B14F-4D97-AF65-F5344CB8AC3E}">
        <p14:creationId xmlns:p14="http://schemas.microsoft.com/office/powerpoint/2010/main" val="19460405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17DB02-A4F6-7D45-B8F1-959DAF606F0D}"/>
              </a:ext>
            </a:extLst>
          </p:cNvPr>
          <p:cNvSpPr txBox="1"/>
          <p:nvPr/>
        </p:nvSpPr>
        <p:spPr>
          <a:xfrm>
            <a:off x="3372052" y="3850410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[“ “]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6C4C36-8AE1-D040-9BE7-7DF920E42F6D}"/>
              </a:ext>
            </a:extLst>
          </p:cNvPr>
          <p:cNvSpPr txBox="1"/>
          <p:nvPr/>
        </p:nvSpPr>
        <p:spPr>
          <a:xfrm>
            <a:off x="3280649" y="3112093"/>
            <a:ext cx="46971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define these tokens yet? No!</a:t>
            </a:r>
          </a:p>
        </p:txBody>
      </p:sp>
    </p:spTree>
    <p:extLst>
      <p:ext uri="{BB962C8B-B14F-4D97-AF65-F5344CB8AC3E}">
        <p14:creationId xmlns:p14="http://schemas.microsoft.com/office/powerpoint/2010/main" val="13209517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recursive operator: </a:t>
            </a:r>
            <a:r>
              <a:rPr lang="en-US" b="1" dirty="0"/>
              <a:t>Repeat</a:t>
            </a:r>
          </a:p>
          <a:p>
            <a:endParaRPr lang="en-US" dirty="0"/>
          </a:p>
          <a:p>
            <a:r>
              <a:rPr lang="en-US" dirty="0"/>
              <a:t>Unary operator: *</a:t>
            </a:r>
          </a:p>
          <a:p>
            <a:pPr lvl="1"/>
            <a:r>
              <a:rPr lang="en-US" dirty="0"/>
              <a:t>RE1 = “a”</a:t>
            </a:r>
          </a:p>
          <a:p>
            <a:pPr lvl="1"/>
            <a:r>
              <a:rPr lang="en-US" dirty="0"/>
              <a:t>Repeat RE1 zero or more times: ”a*”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D3E356-6238-9E4F-83BF-E7D43723CE5A}"/>
              </a:ext>
            </a:extLst>
          </p:cNvPr>
          <p:cNvSpPr txBox="1"/>
          <p:nvPr/>
        </p:nvSpPr>
        <p:spPr>
          <a:xfrm>
            <a:off x="629194" y="5296237"/>
            <a:ext cx="239039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Example: </a:t>
            </a:r>
          </a:p>
          <a:p>
            <a:r>
              <a:rPr lang="en-US" dirty="0">
                <a:latin typeface="Courier" pitchFamily="2" charset="0"/>
              </a:rPr>
              <a:t>RE1   = “a*“</a:t>
            </a:r>
          </a:p>
          <a:p>
            <a:r>
              <a:rPr lang="en-US" dirty="0">
                <a:latin typeface="Courier" pitchFamily="2" charset="0"/>
              </a:rPr>
              <a:t>RE2   = “a*|b*” </a:t>
            </a:r>
          </a:p>
          <a:p>
            <a:r>
              <a:rPr lang="en-US" dirty="0">
                <a:latin typeface="Courier" pitchFamily="2" charset="0"/>
              </a:rPr>
              <a:t>RE3   = ”</a:t>
            </a:r>
            <a:r>
              <a:rPr lang="en-US" dirty="0" err="1">
                <a:latin typeface="Courier" pitchFamily="2" charset="0"/>
              </a:rPr>
              <a:t>a|b</a:t>
            </a:r>
            <a:r>
              <a:rPr lang="en-US" dirty="0">
                <a:latin typeface="Courier" pitchFamily="2" charset="0"/>
              </a:rPr>
              <a:t>*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A9078-BC80-9541-9F65-09AB12F90A5D}"/>
              </a:ext>
            </a:extLst>
          </p:cNvPr>
          <p:cNvSpPr txBox="1"/>
          <p:nvPr/>
        </p:nvSpPr>
        <p:spPr>
          <a:xfrm>
            <a:off x="5344886" y="5309935"/>
            <a:ext cx="404469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Python: </a:t>
            </a:r>
          </a:p>
          <a:p>
            <a:r>
              <a:rPr lang="en-US" dirty="0">
                <a:latin typeface="Courier" pitchFamily="2" charset="0"/>
              </a:rPr>
              <a:t>import re</a:t>
            </a:r>
          </a:p>
          <a:p>
            <a:r>
              <a:rPr lang="en-US" dirty="0" err="1">
                <a:latin typeface="Courier" pitchFamily="2" charset="0"/>
              </a:rPr>
              <a:t>re.fullmatch</a:t>
            </a:r>
            <a:r>
              <a:rPr lang="en-US" dirty="0">
                <a:latin typeface="Courier" pitchFamily="2" charset="0"/>
              </a:rPr>
              <a:t>(“a*|b*“, “</a:t>
            </a:r>
            <a:r>
              <a:rPr lang="en-US" dirty="0" err="1">
                <a:latin typeface="Courier" pitchFamily="2" charset="0"/>
              </a:rPr>
              <a:t>aaa</a:t>
            </a:r>
            <a:r>
              <a:rPr lang="en-US" dirty="0">
                <a:latin typeface="Courier" pitchFamily="2" charset="0"/>
              </a:rPr>
              <a:t>“)</a:t>
            </a:r>
          </a:p>
          <a:p>
            <a:r>
              <a:rPr lang="en-US" dirty="0" err="1">
                <a:latin typeface="Courier" pitchFamily="2" charset="0"/>
              </a:rPr>
              <a:t>re.fullmatch</a:t>
            </a:r>
            <a:r>
              <a:rPr lang="en-US" dirty="0">
                <a:latin typeface="Courier" pitchFamily="2" charset="0"/>
              </a:rPr>
              <a:t>(“a*|b*”, “”)</a:t>
            </a:r>
            <a:endParaRPr lang="en-US" dirty="0">
              <a:solidFill>
                <a:schemeClr val="accent6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7697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recursive operator: </a:t>
            </a:r>
            <a:r>
              <a:rPr lang="en-US" b="1" dirty="0"/>
              <a:t>Repeat</a:t>
            </a:r>
          </a:p>
          <a:p>
            <a:endParaRPr lang="en-US" dirty="0"/>
          </a:p>
          <a:p>
            <a:r>
              <a:rPr lang="en-US" dirty="0"/>
              <a:t>Unary operator: *</a:t>
            </a:r>
          </a:p>
          <a:p>
            <a:pPr lvl="1"/>
            <a:r>
              <a:rPr lang="en-US" dirty="0"/>
              <a:t>RE1 = “a”</a:t>
            </a:r>
          </a:p>
          <a:p>
            <a:pPr lvl="1"/>
            <a:r>
              <a:rPr lang="en-US" dirty="0"/>
              <a:t>Repeat RE1 zero or more times: ”a*”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D3E356-6238-9E4F-83BF-E7D43723CE5A}"/>
              </a:ext>
            </a:extLst>
          </p:cNvPr>
          <p:cNvSpPr txBox="1"/>
          <p:nvPr/>
        </p:nvSpPr>
        <p:spPr>
          <a:xfrm>
            <a:off x="629194" y="5296237"/>
            <a:ext cx="239039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Example: </a:t>
            </a:r>
          </a:p>
          <a:p>
            <a:r>
              <a:rPr lang="en-US" dirty="0">
                <a:latin typeface="Courier" pitchFamily="2" charset="0"/>
              </a:rPr>
              <a:t>RE1   = “a*“</a:t>
            </a:r>
          </a:p>
          <a:p>
            <a:r>
              <a:rPr lang="en-US" dirty="0">
                <a:latin typeface="Courier" pitchFamily="2" charset="0"/>
              </a:rPr>
              <a:t>RE2   = “a*|b*” </a:t>
            </a:r>
          </a:p>
          <a:p>
            <a:r>
              <a:rPr lang="en-US" dirty="0">
                <a:latin typeface="Courier" pitchFamily="2" charset="0"/>
              </a:rPr>
              <a:t>RE3   = ”</a:t>
            </a:r>
            <a:r>
              <a:rPr lang="en-US" dirty="0" err="1">
                <a:latin typeface="Courier" pitchFamily="2" charset="0"/>
              </a:rPr>
              <a:t>a|b</a:t>
            </a:r>
            <a:r>
              <a:rPr lang="en-US" dirty="0">
                <a:latin typeface="Courier" pitchFamily="2" charset="0"/>
              </a:rPr>
              <a:t>*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A9078-BC80-9541-9F65-09AB12F90A5D}"/>
              </a:ext>
            </a:extLst>
          </p:cNvPr>
          <p:cNvSpPr txBox="1"/>
          <p:nvPr/>
        </p:nvSpPr>
        <p:spPr>
          <a:xfrm>
            <a:off x="5344886" y="5309935"/>
            <a:ext cx="404469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Python: </a:t>
            </a:r>
          </a:p>
          <a:p>
            <a:r>
              <a:rPr lang="en-US" dirty="0">
                <a:latin typeface="Courier" pitchFamily="2" charset="0"/>
              </a:rPr>
              <a:t>import re</a:t>
            </a:r>
          </a:p>
          <a:p>
            <a:r>
              <a:rPr lang="en-US" dirty="0" err="1">
                <a:latin typeface="Courier" pitchFamily="2" charset="0"/>
              </a:rPr>
              <a:t>re.fullmatch</a:t>
            </a:r>
            <a:r>
              <a:rPr lang="en-US" dirty="0">
                <a:latin typeface="Courier" pitchFamily="2" charset="0"/>
              </a:rPr>
              <a:t>(“a*|b*“, “</a:t>
            </a:r>
            <a:r>
              <a:rPr lang="en-US" dirty="0" err="1">
                <a:latin typeface="Courier" pitchFamily="2" charset="0"/>
              </a:rPr>
              <a:t>aaa</a:t>
            </a:r>
            <a:r>
              <a:rPr lang="en-US" dirty="0">
                <a:latin typeface="Courier" pitchFamily="2" charset="0"/>
              </a:rPr>
              <a:t>“)</a:t>
            </a:r>
          </a:p>
          <a:p>
            <a:r>
              <a:rPr lang="en-US" dirty="0" err="1">
                <a:latin typeface="Courier" pitchFamily="2" charset="0"/>
              </a:rPr>
              <a:t>re.fullmatch</a:t>
            </a:r>
            <a:r>
              <a:rPr lang="en-US" dirty="0">
                <a:latin typeface="Courier" pitchFamily="2" charset="0"/>
              </a:rPr>
              <a:t>(“a*|b*”, “”)</a:t>
            </a:r>
            <a:endParaRPr lang="en-US" dirty="0">
              <a:solidFill>
                <a:schemeClr val="accent6"/>
              </a:solidFill>
              <a:latin typeface="Courier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412A0-E20F-4E49-8277-12BAE9877134}"/>
              </a:ext>
            </a:extLst>
          </p:cNvPr>
          <p:cNvSpPr txBox="1"/>
          <p:nvPr/>
        </p:nvSpPr>
        <p:spPr>
          <a:xfrm>
            <a:off x="2622605" y="6417931"/>
            <a:ext cx="1411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Precedence? </a:t>
            </a:r>
          </a:p>
        </p:txBody>
      </p:sp>
    </p:spTree>
    <p:extLst>
      <p:ext uri="{BB962C8B-B14F-4D97-AF65-F5344CB8AC3E}">
        <p14:creationId xmlns:p14="http://schemas.microsoft.com/office/powerpoint/2010/main" val="2816661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These are the theoretical foundational operators. </a:t>
            </a:r>
          </a:p>
          <a:p>
            <a:endParaRPr lang="en-US" dirty="0"/>
          </a:p>
          <a:p>
            <a:r>
              <a:rPr lang="en-US" dirty="0"/>
              <a:t>Most languages give syntactic sugar to make common cases easier</a:t>
            </a:r>
          </a:p>
          <a:p>
            <a:endParaRPr lang="en-US" dirty="0"/>
          </a:p>
          <a:p>
            <a:r>
              <a:rPr lang="en-US" dirty="0"/>
              <a:t>Most languages also break the theory </a:t>
            </a:r>
          </a:p>
          <a:p>
            <a:pPr lvl="1"/>
            <a:r>
              <a:rPr lang="en-US" dirty="0"/>
              <a:t>Perl regexes are extremely complicated</a:t>
            </a:r>
          </a:p>
          <a:p>
            <a:pPr lvl="2"/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www.perlmonks.org</a:t>
            </a:r>
            <a:r>
              <a:rPr lang="en-US" dirty="0">
                <a:hlinkClick r:id="rId2"/>
              </a:rPr>
              <a:t>/?</a:t>
            </a:r>
            <a:r>
              <a:rPr lang="en-US" dirty="0" err="1">
                <a:hlinkClick r:id="rId2"/>
              </a:rPr>
              <a:t>node_id</a:t>
            </a:r>
            <a:r>
              <a:rPr lang="en-US" dirty="0">
                <a:hlinkClick r:id="rId2"/>
              </a:rPr>
              <a:t>=809842</a:t>
            </a:r>
            <a:endParaRPr lang="en-US" dirty="0"/>
          </a:p>
          <a:p>
            <a:pPr lvl="2"/>
            <a:endParaRPr lang="en-US" dirty="0"/>
          </a:p>
          <a:p>
            <a:pPr lvl="1"/>
            <a:r>
              <a:rPr lang="en-US" dirty="0"/>
              <a:t>Python regexes (with recursion)  can capture some context free languages</a:t>
            </a:r>
          </a:p>
          <a:p>
            <a:pPr lvl="2"/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www.npopov.com</a:t>
            </a:r>
            <a:r>
              <a:rPr lang="en-US" dirty="0">
                <a:hlinkClick r:id="rId3"/>
              </a:rPr>
              <a:t>/2012/06/15/The-true-power-of-regular-expressions.html#matching-context-free-languages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3874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strict repeat operator: +</a:t>
            </a:r>
          </a:p>
          <a:p>
            <a:endParaRPr lang="en-US" dirty="0"/>
          </a:p>
          <a:p>
            <a:r>
              <a:rPr lang="en-US" dirty="0"/>
              <a:t>one or more repeats (the * operator is 0 or more repeats)</a:t>
            </a:r>
          </a:p>
          <a:p>
            <a:endParaRPr lang="en-US" dirty="0"/>
          </a:p>
          <a:p>
            <a:r>
              <a:rPr lang="en-US" dirty="0"/>
              <a:t>derivation: “r+” = “</a:t>
            </a:r>
            <a:r>
              <a:rPr lang="en-US" dirty="0" err="1"/>
              <a:t>rr</a:t>
            </a:r>
            <a:r>
              <a:rPr lang="en-US" dirty="0"/>
              <a:t>*”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9685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Ranges:</a:t>
            </a:r>
          </a:p>
          <a:p>
            <a:pPr lvl="1"/>
            <a:r>
              <a:rPr lang="en-US" dirty="0"/>
              <a:t>digits [0-9]</a:t>
            </a:r>
          </a:p>
          <a:p>
            <a:pPr lvl="1"/>
            <a:r>
              <a:rPr lang="en-US" dirty="0"/>
              <a:t>alpha [a-z], [A-Z]</a:t>
            </a:r>
          </a:p>
          <a:p>
            <a:pPr lvl="1"/>
            <a:endParaRPr lang="en-US" dirty="0"/>
          </a:p>
          <a:p>
            <a:r>
              <a:rPr lang="en-US" dirty="0"/>
              <a:t>Derivation: [0-9] = ”1|2|3|4|5|6|7|8|9|0”</a:t>
            </a:r>
          </a:p>
          <a:p>
            <a:endParaRPr lang="en-US" dirty="0"/>
          </a:p>
          <a:p>
            <a:r>
              <a:rPr lang="en-US" dirty="0"/>
              <a:t>Lets try C style IDs: [a-</a:t>
            </a:r>
            <a:r>
              <a:rPr lang="en-US" dirty="0" err="1"/>
              <a:t>zA</a:t>
            </a:r>
            <a:r>
              <a:rPr lang="en-US" dirty="0"/>
              <a:t>-Z_][a-zA-Z_0-9]*</a:t>
            </a:r>
          </a:p>
          <a:p>
            <a:endParaRPr lang="en-US" dirty="0"/>
          </a:p>
          <a:p>
            <a:r>
              <a:rPr lang="en-US" dirty="0"/>
              <a:t>Hexadecimal numbers:</a:t>
            </a:r>
          </a:p>
        </p:txBody>
      </p:sp>
    </p:spTree>
    <p:extLst>
      <p:ext uri="{BB962C8B-B14F-4D97-AF65-F5344CB8AC3E}">
        <p14:creationId xmlns:p14="http://schemas.microsoft.com/office/powerpoint/2010/main" val="22500731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Ranges:</a:t>
            </a:r>
          </a:p>
          <a:p>
            <a:pPr lvl="1"/>
            <a:r>
              <a:rPr lang="en-US" dirty="0"/>
              <a:t>digits [0-9]</a:t>
            </a:r>
          </a:p>
          <a:p>
            <a:pPr lvl="1"/>
            <a:r>
              <a:rPr lang="en-US" dirty="0"/>
              <a:t>alpha [a-z], [A-Z]</a:t>
            </a:r>
          </a:p>
          <a:p>
            <a:pPr lvl="1"/>
            <a:endParaRPr lang="en-US" dirty="0"/>
          </a:p>
          <a:p>
            <a:r>
              <a:rPr lang="en-US" dirty="0"/>
              <a:t>Derivation: [0-9] = ”1|2|3|4|5|6|7|8|9”</a:t>
            </a:r>
          </a:p>
          <a:p>
            <a:endParaRPr lang="en-US" dirty="0"/>
          </a:p>
          <a:p>
            <a:r>
              <a:rPr lang="en-US" dirty="0"/>
              <a:t>Lets try C style IDs: “[a-</a:t>
            </a:r>
            <a:r>
              <a:rPr lang="en-US" dirty="0" err="1"/>
              <a:t>zA</a:t>
            </a:r>
            <a:r>
              <a:rPr lang="en-US" dirty="0"/>
              <a:t>-Z][0-9a-zA-Z]*”</a:t>
            </a:r>
          </a:p>
          <a:p>
            <a:endParaRPr lang="en-US" dirty="0"/>
          </a:p>
          <a:p>
            <a:r>
              <a:rPr lang="en-US" dirty="0"/>
              <a:t>Hexadecimal numbers: “0x[0-9a-fA-F]+”</a:t>
            </a:r>
          </a:p>
        </p:txBody>
      </p:sp>
    </p:spTree>
    <p:extLst>
      <p:ext uri="{BB962C8B-B14F-4D97-AF65-F5344CB8AC3E}">
        <p14:creationId xmlns:p14="http://schemas.microsoft.com/office/powerpoint/2010/main" val="2179695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optional operator ?</a:t>
            </a:r>
          </a:p>
          <a:p>
            <a:pPr lvl="1"/>
            <a:r>
              <a:rPr lang="en-US" dirty="0"/>
              <a:t>optional characters</a:t>
            </a:r>
          </a:p>
          <a:p>
            <a:endParaRPr lang="en-US" dirty="0"/>
          </a:p>
          <a:p>
            <a:r>
              <a:rPr lang="en-US" dirty="0"/>
              <a:t>“r?” = “|r”</a:t>
            </a:r>
          </a:p>
          <a:p>
            <a:endParaRPr lang="en-US" dirty="0"/>
          </a:p>
          <a:p>
            <a:r>
              <a:rPr lang="en-US" dirty="0"/>
              <a:t>Example: “ab?”</a:t>
            </a:r>
          </a:p>
        </p:txBody>
      </p:sp>
    </p:spTree>
    <p:extLst>
      <p:ext uri="{BB962C8B-B14F-4D97-AF65-F5344CB8AC3E}">
        <p14:creationId xmlns:p14="http://schemas.microsoft.com/office/powerpoint/2010/main" val="39414141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optional operator ?</a:t>
            </a:r>
          </a:p>
          <a:p>
            <a:pPr lvl="1"/>
            <a:r>
              <a:rPr lang="en-US" dirty="0"/>
              <a:t>optional characters</a:t>
            </a:r>
          </a:p>
          <a:p>
            <a:endParaRPr lang="en-US" dirty="0"/>
          </a:p>
          <a:p>
            <a:r>
              <a:rPr lang="en-US" dirty="0"/>
              <a:t>“r?” = “|r”</a:t>
            </a:r>
          </a:p>
          <a:p>
            <a:endParaRPr lang="en-US" dirty="0"/>
          </a:p>
          <a:p>
            <a:r>
              <a:rPr lang="en-US" dirty="0"/>
              <a:t>Example: “ab?”</a:t>
            </a:r>
          </a:p>
          <a:p>
            <a:endParaRPr lang="en-US" dirty="0"/>
          </a:p>
          <a:p>
            <a:r>
              <a:rPr lang="en-US" dirty="0"/>
              <a:t>Let’s do simple floating-point numbers:</a:t>
            </a:r>
          </a:p>
        </p:txBody>
      </p:sp>
    </p:spTree>
    <p:extLst>
      <p:ext uri="{BB962C8B-B14F-4D97-AF65-F5344CB8AC3E}">
        <p14:creationId xmlns:p14="http://schemas.microsoft.com/office/powerpoint/2010/main" val="8157035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optional operator ?</a:t>
            </a:r>
          </a:p>
          <a:p>
            <a:pPr lvl="1"/>
            <a:r>
              <a:rPr lang="en-US" dirty="0"/>
              <a:t>optional characters</a:t>
            </a:r>
          </a:p>
          <a:p>
            <a:endParaRPr lang="en-US" dirty="0"/>
          </a:p>
          <a:p>
            <a:r>
              <a:rPr lang="en-US" dirty="0"/>
              <a:t>“r?” = “|r”</a:t>
            </a:r>
          </a:p>
          <a:p>
            <a:endParaRPr lang="en-US" dirty="0"/>
          </a:p>
          <a:p>
            <a:r>
              <a:rPr lang="en-US" dirty="0"/>
              <a:t>Example: “ab?”</a:t>
            </a:r>
          </a:p>
          <a:p>
            <a:endParaRPr lang="en-US" dirty="0"/>
          </a:p>
          <a:p>
            <a:r>
              <a:rPr lang="en-US" dirty="0"/>
              <a:t>Let’s do simple floating-point numbers: “[0-9]+(\.[0-9]+)?”</a:t>
            </a:r>
          </a:p>
        </p:txBody>
      </p:sp>
    </p:spTree>
    <p:extLst>
      <p:ext uri="{BB962C8B-B14F-4D97-AF65-F5344CB8AC3E}">
        <p14:creationId xmlns:p14="http://schemas.microsoft.com/office/powerpoint/2010/main" val="28097510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character ‘.’</a:t>
            </a:r>
          </a:p>
          <a:p>
            <a:endParaRPr lang="en-US" dirty="0"/>
          </a:p>
          <a:p>
            <a:r>
              <a:rPr lang="en-US" dirty="0"/>
              <a:t>example using email (this is probably too general!)</a:t>
            </a:r>
          </a:p>
        </p:txBody>
      </p:sp>
    </p:spTree>
    <p:extLst>
      <p:ext uri="{BB962C8B-B14F-4D97-AF65-F5344CB8AC3E}">
        <p14:creationId xmlns:p14="http://schemas.microsoft.com/office/powerpoint/2010/main" val="37175711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character ‘.’</a:t>
            </a:r>
          </a:p>
          <a:p>
            <a:endParaRPr lang="en-US" dirty="0"/>
          </a:p>
          <a:p>
            <a:r>
              <a:rPr lang="en-US" dirty="0"/>
              <a:t>example using email (this is probably too general!)</a:t>
            </a:r>
          </a:p>
          <a:p>
            <a:endParaRPr lang="en-US" dirty="0"/>
          </a:p>
          <a:p>
            <a:r>
              <a:rPr lang="en-US" dirty="0"/>
              <a:t>”.*@.*\.com”</a:t>
            </a:r>
          </a:p>
        </p:txBody>
      </p:sp>
    </p:spTree>
    <p:extLst>
      <p:ext uri="{BB962C8B-B14F-4D97-AF65-F5344CB8AC3E}">
        <p14:creationId xmlns:p14="http://schemas.microsoft.com/office/powerpoint/2010/main" val="20064576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164" y="1825625"/>
            <a:ext cx="10919692" cy="4351338"/>
          </a:xfrm>
        </p:spPr>
        <p:txBody>
          <a:bodyPr>
            <a:normAutofit/>
          </a:bodyPr>
          <a:lstStyle/>
          <a:p>
            <a:r>
              <a:rPr lang="en-US" dirty="0"/>
              <a:t>What if we want to extract the domain or user name from the email?</a:t>
            </a:r>
          </a:p>
          <a:p>
            <a:endParaRPr lang="en-US" dirty="0"/>
          </a:p>
          <a:p>
            <a:r>
              <a:rPr lang="en-US" dirty="0"/>
              <a:t>We can use groups!</a:t>
            </a:r>
          </a:p>
          <a:p>
            <a:pPr lvl="1"/>
            <a:r>
              <a:rPr lang="en-US" dirty="0"/>
              <a:t>use ()s to delimitate groups</a:t>
            </a:r>
          </a:p>
          <a:p>
            <a:pPr lvl="1"/>
            <a:endParaRPr lang="en-US" dirty="0"/>
          </a:p>
          <a:p>
            <a:r>
              <a:rPr lang="en-US" dirty="0"/>
              <a:t>”(.*)@(.*\.com)”</a:t>
            </a:r>
          </a:p>
          <a:p>
            <a:endParaRPr lang="en-US" dirty="0"/>
          </a:p>
          <a:p>
            <a:r>
              <a:rPr lang="en-US" dirty="0"/>
              <a:t>Index the resulting object with [1] and [2] to get to the user name and domain respectively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7068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give groups id names rather than using indices</a:t>
            </a:r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dirty="0">
                <a:highlight>
                  <a:srgbClr val="FFFF00"/>
                </a:highlight>
              </a:rPr>
              <a:t>(?P&lt;name&gt;</a:t>
            </a:r>
            <a:r>
              <a:rPr lang="en-US" dirty="0"/>
              <a:t>.+)@</a:t>
            </a:r>
            <a:r>
              <a:rPr lang="en-US" dirty="0">
                <a:highlight>
                  <a:srgbClr val="FFFF00"/>
                </a:highlight>
              </a:rPr>
              <a:t>(?P&lt;domain&gt;</a:t>
            </a:r>
            <a:r>
              <a:rPr lang="en-US" dirty="0"/>
              <a:t>.+\.com)”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6291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26F44-851D-6F1D-72CC-254C9F370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41C8F-F151-7DE9-904B-34DBF11FF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072" y="18255"/>
            <a:ext cx="10515600" cy="1325563"/>
          </a:xfrm>
        </p:spPr>
        <p:txBody>
          <a:bodyPr/>
          <a:lstStyle/>
          <a:p>
            <a:r>
              <a:rPr lang="en-US" dirty="0"/>
              <a:t>Example Using RE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B33B9-53C0-BCB0-64C3-DA2BFED9C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588"/>
            <a:ext cx="10515600" cy="5069394"/>
          </a:xfrm>
        </p:spPr>
        <p:txBody>
          <a:bodyPr>
            <a:normAutofit/>
          </a:bodyPr>
          <a:lstStyle/>
          <a:p>
            <a:r>
              <a:rPr lang="en-US" dirty="0"/>
              <a:t>you can give groups id names rather than using indices</a:t>
            </a:r>
          </a:p>
          <a:p>
            <a:pPr marL="0" indent="0">
              <a:buNone/>
            </a:pPr>
            <a:r>
              <a:rPr lang="en-US" dirty="0"/>
              <a:t>   “</a:t>
            </a:r>
            <a:r>
              <a:rPr lang="en-US" dirty="0">
                <a:highlight>
                  <a:srgbClr val="FFFF00"/>
                </a:highlight>
              </a:rPr>
              <a:t>(?P&lt;name&gt;</a:t>
            </a:r>
            <a:r>
              <a:rPr lang="en-US" dirty="0"/>
              <a:t>.+)@</a:t>
            </a:r>
            <a:r>
              <a:rPr lang="en-US" dirty="0">
                <a:highlight>
                  <a:srgbClr val="FFFF00"/>
                </a:highlight>
              </a:rPr>
              <a:t>(?P&lt;domain&gt;</a:t>
            </a:r>
            <a:r>
              <a:rPr lang="en-US" dirty="0"/>
              <a:t>.+\.com)”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1A69C0-F1D4-2E99-6AB6-35C8EB72B3C8}"/>
              </a:ext>
            </a:extLst>
          </p:cNvPr>
          <p:cNvSpPr txBox="1"/>
          <p:nvPr/>
        </p:nvSpPr>
        <p:spPr>
          <a:xfrm>
            <a:off x="1025236" y="2695100"/>
            <a:ext cx="99752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import re</a:t>
            </a:r>
          </a:p>
          <a:p>
            <a:r>
              <a:rPr lang="en-US" sz="2400" dirty="0"/>
              <a:t>pattern = r"(?P&lt;name&gt;.+)@(?P&lt;domain&gt;.+\.com)"</a:t>
            </a:r>
          </a:p>
          <a:p>
            <a:r>
              <a:rPr lang="en-US" sz="2400" dirty="0"/>
              <a:t>email = "johndoe@example.com"</a:t>
            </a:r>
          </a:p>
          <a:p>
            <a:r>
              <a:rPr lang="en-US" sz="2400" dirty="0"/>
              <a:t>match = </a:t>
            </a:r>
            <a:r>
              <a:rPr lang="en-US" sz="2400" dirty="0" err="1"/>
              <a:t>re.match</a:t>
            </a:r>
            <a:r>
              <a:rPr lang="en-US" sz="2400" dirty="0"/>
              <a:t>(pattern, email) # apply pattern</a:t>
            </a:r>
          </a:p>
          <a:p>
            <a:r>
              <a:rPr lang="en-US" sz="2400" dirty="0"/>
              <a:t>if match:</a:t>
            </a:r>
          </a:p>
          <a:p>
            <a:r>
              <a:rPr lang="en-US" sz="2400" dirty="0"/>
              <a:t>    name = </a:t>
            </a:r>
            <a:r>
              <a:rPr lang="en-US" sz="2400" dirty="0" err="1"/>
              <a:t>match.group</a:t>
            </a:r>
            <a:r>
              <a:rPr lang="en-US" sz="2400" dirty="0"/>
              <a:t>("name") # extract user name</a:t>
            </a:r>
          </a:p>
          <a:p>
            <a:r>
              <a:rPr lang="en-US" sz="2400" dirty="0"/>
              <a:t>    domain = </a:t>
            </a:r>
            <a:r>
              <a:rPr lang="en-US" sz="2400" dirty="0" err="1"/>
              <a:t>match.group</a:t>
            </a:r>
            <a:r>
              <a:rPr lang="en-US" sz="2400" dirty="0"/>
              <a:t>("domain") # extract domain</a:t>
            </a:r>
          </a:p>
          <a:p>
            <a:r>
              <a:rPr lang="en-US" sz="2400" dirty="0"/>
              <a:t>    print(</a:t>
            </a:r>
            <a:r>
              <a:rPr lang="en-US" sz="2400" dirty="0" err="1"/>
              <a:t>f"Name</a:t>
            </a:r>
            <a:r>
              <a:rPr lang="en-US" sz="2400" dirty="0"/>
              <a:t>: {name}, Domain: {domain}")</a:t>
            </a:r>
          </a:p>
          <a:p>
            <a:r>
              <a:rPr lang="en-US" sz="2400" dirty="0"/>
              <a:t>else:</a:t>
            </a:r>
          </a:p>
          <a:p>
            <a:r>
              <a:rPr lang="en-US" sz="2400" dirty="0"/>
              <a:t>    print("No match found.")</a:t>
            </a:r>
          </a:p>
        </p:txBody>
      </p:sp>
    </p:spTree>
    <p:extLst>
      <p:ext uri="{BB962C8B-B14F-4D97-AF65-F5344CB8AC3E}">
        <p14:creationId xmlns:p14="http://schemas.microsoft.com/office/powerpoint/2010/main" val="24885904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2DBA2-C34E-E378-3F0F-A1BC344D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86EBC-BFE8-CF79-4A15-FCC6EF4B6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072" y="18255"/>
            <a:ext cx="10515600" cy="1325563"/>
          </a:xfrm>
        </p:spPr>
        <p:txBody>
          <a:bodyPr/>
          <a:lstStyle/>
          <a:p>
            <a:r>
              <a:rPr lang="en-US" b="1" dirty="0"/>
              <a:t>But what is the r prefix in r’…’ for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796543-9D02-D36F-B090-107C0EF03A36}"/>
              </a:ext>
            </a:extLst>
          </p:cNvPr>
          <p:cNvSpPr txBox="1"/>
          <p:nvPr/>
        </p:nvSpPr>
        <p:spPr>
          <a:xfrm>
            <a:off x="755072" y="1943986"/>
            <a:ext cx="9975272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pattern = r"(?P&lt;name&gt;.+)@(?P&lt;domain&gt;.+\.com)“</a:t>
            </a:r>
          </a:p>
          <a:p>
            <a:endParaRPr lang="en-US" sz="3200" dirty="0"/>
          </a:p>
          <a:p>
            <a:r>
              <a:rPr lang="en-US" sz="3200" dirty="0"/>
              <a:t>It stands for raw, and it indicates that \. Should not escape the .</a:t>
            </a:r>
          </a:p>
          <a:p>
            <a:r>
              <a:rPr lang="en-US" sz="3200" dirty="0"/>
              <a:t>But should correspond the two characters “\” and “.”</a:t>
            </a:r>
          </a:p>
          <a:p>
            <a:r>
              <a:rPr lang="en-US" sz="3200" dirty="0"/>
              <a:t>e.g. r’\n’ implies the two characters “\” and “\n” whereas</a:t>
            </a:r>
          </a:p>
          <a:p>
            <a:r>
              <a:rPr lang="en-US" sz="3200" dirty="0"/>
              <a:t>‘\n’ implies a line feed.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274379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 are good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Scanning large amounts of documents quickly, looking for:</a:t>
            </a:r>
          </a:p>
          <a:p>
            <a:pPr lvl="1"/>
            <a:r>
              <a:rPr lang="en-US" dirty="0"/>
              <a:t>Websites</a:t>
            </a:r>
          </a:p>
          <a:p>
            <a:pPr lvl="1"/>
            <a:r>
              <a:rPr lang="en-US" dirty="0"/>
              <a:t>Email</a:t>
            </a:r>
          </a:p>
          <a:p>
            <a:pPr lvl="1"/>
            <a:r>
              <a:rPr lang="en-US" dirty="0"/>
              <a:t>Profiling numbers</a:t>
            </a:r>
          </a:p>
          <a:p>
            <a:pPr lvl="1"/>
            <a:r>
              <a:rPr lang="en-US" dirty="0"/>
              <a:t>Variable usages</a:t>
            </a:r>
          </a:p>
          <a:p>
            <a:pPr lvl="1"/>
            <a:r>
              <a:rPr lang="en-US" b="1" dirty="0"/>
              <a:t>What else?</a:t>
            </a:r>
          </a:p>
        </p:txBody>
      </p:sp>
    </p:spTree>
    <p:extLst>
      <p:ext uri="{BB962C8B-B14F-4D97-AF65-F5344CB8AC3E}">
        <p14:creationId xmlns:p14="http://schemas.microsoft.com/office/powerpoint/2010/main" val="42625453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What can REs not do?</a:t>
            </a:r>
          </a:p>
          <a:p>
            <a:endParaRPr lang="en-US" dirty="0"/>
          </a:p>
          <a:p>
            <a:r>
              <a:rPr lang="en-US" dirty="0"/>
              <a:t>Nested structures, such as parenthesis matching:</a:t>
            </a:r>
          </a:p>
          <a:p>
            <a:pPr lvl="1"/>
            <a:r>
              <a:rPr lang="en-US" dirty="0"/>
              <a:t>Try doing arithmetic expressions</a:t>
            </a:r>
          </a:p>
          <a:p>
            <a:pPr lvl="1"/>
            <a:r>
              <a:rPr lang="en-US" dirty="0"/>
              <a:t>You will not be able to match ()s</a:t>
            </a:r>
          </a:p>
          <a:p>
            <a:endParaRPr lang="en-US" dirty="0"/>
          </a:p>
          <a:p>
            <a:r>
              <a:rPr lang="en-US" dirty="0"/>
              <a:t>Classical example: REs cannot capture same number of repeats:</a:t>
            </a:r>
          </a:p>
          <a:p>
            <a:pPr lvl="1"/>
            <a:r>
              <a:rPr lang="en-US" dirty="0"/>
              <a:t>A{N}B{N}</a:t>
            </a:r>
          </a:p>
          <a:p>
            <a:endParaRPr lang="en-US" dirty="0"/>
          </a:p>
          <a:p>
            <a:r>
              <a:rPr lang="en-US" dirty="0"/>
              <a:t>REs cannot parse HTML!!!</a:t>
            </a:r>
          </a:p>
          <a:p>
            <a:pPr lvl="1"/>
            <a:r>
              <a:rPr lang="en-US" dirty="0"/>
              <a:t>One of the most upvoted answers on </a:t>
            </a:r>
            <a:r>
              <a:rPr lang="en-US" dirty="0" err="1"/>
              <a:t>stackoverflow</a:t>
            </a:r>
            <a:r>
              <a:rPr lang="en-US" dirty="0"/>
              <a:t>!</a:t>
            </a:r>
          </a:p>
          <a:p>
            <a:pPr lvl="1"/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stackoverflow.com</a:t>
            </a:r>
            <a:r>
              <a:rPr lang="en-US" dirty="0">
                <a:hlinkClick r:id="rId2"/>
              </a:rPr>
              <a:t>/questions/1732348/regex-match-open-tags-except-</a:t>
            </a:r>
            <a:r>
              <a:rPr lang="en-US" dirty="0" err="1">
                <a:hlinkClick r:id="rId2"/>
              </a:rPr>
              <a:t>xhtml</a:t>
            </a:r>
            <a:r>
              <a:rPr lang="en-US" dirty="0">
                <a:hlinkClick r:id="rId2"/>
              </a:rPr>
              <a:t>-self-contained-tags/1732454#1732454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524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your 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D6B6F-D0EB-1745-9891-35110C375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You’ll need to write tokens for a simple programming language, including: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7DB02-A4F6-7D45-B8F1-959DAF606F0D}"/>
              </a:ext>
            </a:extLst>
          </p:cNvPr>
          <p:cNvSpPr txBox="1"/>
          <p:nvPr/>
        </p:nvSpPr>
        <p:spPr>
          <a:xfrm>
            <a:off x="924687" y="3052296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[“ “]</a:t>
            </a:r>
          </a:p>
        </p:txBody>
      </p:sp>
    </p:spTree>
    <p:extLst>
      <p:ext uri="{BB962C8B-B14F-4D97-AF65-F5344CB8AC3E}">
        <p14:creationId xmlns:p14="http://schemas.microsoft.com/office/powerpoint/2010/main" val="28616932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6622-C1A0-A343-ADA3-C977B6825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an RE matcher?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E812E-F93B-6644-AE14-D97D37EBE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Overview: first you have to parse the RE...</a:t>
            </a:r>
          </a:p>
          <a:p>
            <a:pPr lvl="1"/>
            <a:r>
              <a:rPr lang="en-US" dirty="0"/>
              <a:t>Chicken and egg problem </a:t>
            </a:r>
          </a:p>
          <a:p>
            <a:pPr lvl="1"/>
            <a:r>
              <a:rPr lang="en-US" dirty="0"/>
              <a:t>The language of REs is not a regular language. It is context sensitive (because it has ()s)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But once you can parse the RE, there are several options</a:t>
            </a:r>
          </a:p>
        </p:txBody>
      </p:sp>
    </p:spTree>
    <p:extLst>
      <p:ext uri="{BB962C8B-B14F-4D97-AF65-F5344CB8AC3E}">
        <p14:creationId xmlns:p14="http://schemas.microsoft.com/office/powerpoint/2010/main" val="9662466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6622-C1A0-A343-ADA3-C977B6825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an RE matcher?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E812E-F93B-6644-AE14-D97D37EBE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710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parsing with Brzozowski  derivatives</a:t>
            </a:r>
          </a:p>
          <a:p>
            <a:pPr lvl="1"/>
            <a:r>
              <a:rPr lang="en-US" dirty="0"/>
              <a:t>We discuss this in CSE211 (Graduate Compiler Course)</a:t>
            </a:r>
          </a:p>
          <a:p>
            <a:pPr lvl="1"/>
            <a:r>
              <a:rPr lang="en-US" dirty="0"/>
              <a:t>Elegant solution, but difficult to make fast</a:t>
            </a:r>
          </a:p>
          <a:p>
            <a:pPr lvl="1"/>
            <a:r>
              <a:rPr lang="en-US" dirty="0">
                <a:hlinkClick r:id="rId2"/>
              </a:rPr>
              <a:t>https://harrisongoldste.in/languages/2017/09/30/derivatives-of-regular-expressions.html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Convert to an automata</a:t>
            </a:r>
          </a:p>
          <a:p>
            <a:pPr lvl="1"/>
            <a:r>
              <a:rPr lang="en-US" dirty="0"/>
              <a:t>Learn more about this CSE103</a:t>
            </a:r>
          </a:p>
          <a:p>
            <a:pPr lvl="1"/>
            <a:r>
              <a:rPr lang="en-US" dirty="0"/>
              <a:t>A cool website about FSMs (Finite State Machines)</a:t>
            </a:r>
          </a:p>
          <a:p>
            <a:pPr lvl="1"/>
            <a:r>
              <a:rPr lang="en-US" dirty="0">
                <a:hlinkClick r:id="rId3"/>
              </a:rPr>
              <a:t>https://ivanzuzak.info/noam/webapps/fsm_simulator/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But we are not implementing an RE matcher, just using it.</a:t>
            </a:r>
          </a:p>
        </p:txBody>
      </p:sp>
    </p:spTree>
    <p:extLst>
      <p:ext uri="{BB962C8B-B14F-4D97-AF65-F5344CB8AC3E}">
        <p14:creationId xmlns:p14="http://schemas.microsoft.com/office/powerpoint/2010/main" val="36689916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REs in a scanner implementation?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6CE13-5E20-3C4F-97D5-4A2A43A55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11838"/>
          </a:xfrm>
        </p:spPr>
        <p:txBody>
          <a:bodyPr>
            <a:normAutofit/>
          </a:bodyPr>
          <a:lstStyle/>
          <a:p>
            <a:r>
              <a:rPr lang="en-US" sz="3200" dirty="0"/>
              <a:t>Will be the next topic </a:t>
            </a:r>
            <a:r>
              <a:rPr lang="en-US" sz="3200"/>
              <a:t>of discussion.</a:t>
            </a:r>
            <a:endParaRPr lang="en-US" sz="3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569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16553</TotalTime>
  <Words>2952</Words>
  <Application>Microsoft Office PowerPoint</Application>
  <PresentationFormat>Widescreen</PresentationFormat>
  <Paragraphs>530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Arial</vt:lpstr>
      <vt:lpstr>Calibri</vt:lpstr>
      <vt:lpstr>Calibri Light</vt:lpstr>
      <vt:lpstr>Courier</vt:lpstr>
      <vt:lpstr>Menlo</vt:lpstr>
      <vt:lpstr>Office Theme</vt:lpstr>
      <vt:lpstr>CSE110A: Compilers</vt:lpstr>
      <vt:lpstr>Review</vt:lpstr>
      <vt:lpstr>Naïve implementation</vt:lpstr>
      <vt:lpstr>Naïve implementation</vt:lpstr>
      <vt:lpstr>                Naïve implementation</vt:lpstr>
      <vt:lpstr>Naïve implementation</vt:lpstr>
      <vt:lpstr>Naïve implementation</vt:lpstr>
      <vt:lpstr>Naïve implementation</vt:lpstr>
      <vt:lpstr>Topics:</vt:lpstr>
      <vt:lpstr>Code Demo  (demo1 part1)</vt:lpstr>
      <vt:lpstr>Shortcomings of Naïve scanner</vt:lpstr>
      <vt:lpstr>Shortcomings of Naïve scanner</vt:lpstr>
      <vt:lpstr>Shortcomings of Naïve scanner</vt:lpstr>
      <vt:lpstr>How do we solve this?</vt:lpstr>
      <vt:lpstr>How do we solve this?</vt:lpstr>
      <vt:lpstr>Regular expressions</vt:lpstr>
      <vt:lpstr>Regular expressions</vt:lpstr>
      <vt:lpstr>Regular expressions</vt:lpstr>
      <vt:lpstr>Regular expressions</vt:lpstr>
      <vt:lpstr>Regular expressions</vt:lpstr>
      <vt:lpstr>Regular expressions</vt:lpstr>
      <vt:lpstr>Regular expressions</vt:lpstr>
      <vt:lpstr>Regular expressions in Python</vt:lpstr>
      <vt:lpstr>Regular expressions</vt:lpstr>
      <vt:lpstr>Regular expressions</vt:lpstr>
      <vt:lpstr>Regular expressions</vt:lpstr>
      <vt:lpstr>Regular expressions</vt:lpstr>
      <vt:lpstr>Regular expressions</vt:lpstr>
      <vt:lpstr>PowerPoint Presentation</vt:lpstr>
      <vt:lpstr>PowerPoint Presentation</vt:lpstr>
      <vt:lpstr>Regular expressions</vt:lpstr>
      <vt:lpstr>PowerPoint Presentation</vt:lpstr>
      <vt:lpstr>PowerPoint Presentation</vt:lpstr>
      <vt:lpstr>PowerPoint Presentation</vt:lpstr>
      <vt:lpstr>PowerPoint Presentation</vt:lpstr>
      <vt:lpstr>Regular expressions</vt:lpstr>
      <vt:lpstr>Regular expressions</vt:lpstr>
      <vt:lpstr>Regular expressions</vt:lpstr>
      <vt:lpstr>Regular expressions</vt:lpstr>
      <vt:lpstr>Regular expressions</vt:lpstr>
      <vt:lpstr>Regular expressions</vt:lpstr>
      <vt:lpstr>Regular expressions</vt:lpstr>
      <vt:lpstr>Regular expressions</vt:lpstr>
      <vt:lpstr>Regular expressions</vt:lpstr>
      <vt:lpstr>Regular expressions</vt:lpstr>
      <vt:lpstr>Regular expressions</vt:lpstr>
      <vt:lpstr>Using REs</vt:lpstr>
      <vt:lpstr>Using REs</vt:lpstr>
      <vt:lpstr>Example Using RE groups</vt:lpstr>
      <vt:lpstr>But what is the r prefix in r’…’ for</vt:lpstr>
      <vt:lpstr>REs are good for?</vt:lpstr>
      <vt:lpstr>RE examples</vt:lpstr>
      <vt:lpstr>For your homework</vt:lpstr>
      <vt:lpstr>How to implement an RE matcher?</vt:lpstr>
      <vt:lpstr>How to implement an RE matcher?</vt:lpstr>
      <vt:lpstr>How to use REs in a scanner implementation?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208</cp:revision>
  <dcterms:created xsi:type="dcterms:W3CDTF">2021-03-23T23:59:42Z</dcterms:created>
  <dcterms:modified xsi:type="dcterms:W3CDTF">2026-01-14T10:17:30Z</dcterms:modified>
</cp:coreProperties>
</file>