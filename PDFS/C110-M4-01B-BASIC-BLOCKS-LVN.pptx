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63" r:id="rId14"/>
    <p:sldId id="385" r:id="rId15"/>
    <p:sldId id="386" r:id="rId16"/>
    <p:sldId id="387" r:id="rId17"/>
    <p:sldId id="388" r:id="rId18"/>
    <p:sldId id="389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82" r:id="rId36"/>
    <p:sldId id="383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0" r:id="rId60"/>
    <p:sldId id="341" r:id="rId61"/>
    <p:sldId id="380" r:id="rId62"/>
    <p:sldId id="1961" r:id="rId63"/>
    <p:sldId id="1962" r:id="rId64"/>
    <p:sldId id="1963" r:id="rId65"/>
    <p:sldId id="1964" r:id="rId66"/>
    <p:sldId id="1965" r:id="rId67"/>
    <p:sldId id="1966" r:id="rId68"/>
    <p:sldId id="1967" r:id="rId69"/>
    <p:sldId id="1968" r:id="rId70"/>
    <p:sldId id="1969" r:id="rId71"/>
    <p:sldId id="1970" r:id="rId72"/>
    <p:sldId id="1975" r:id="rId73"/>
    <p:sldId id="1971" r:id="rId74"/>
    <p:sldId id="1976" r:id="rId75"/>
    <p:sldId id="1972" r:id="rId76"/>
    <p:sldId id="1973" r:id="rId77"/>
    <p:sldId id="1974" r:id="rId7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56" autoAdjust="0"/>
    <p:restoredTop sz="94660"/>
  </p:normalViewPr>
  <p:slideViewPr>
    <p:cSldViewPr>
      <p:cViewPr varScale="1">
        <p:scale>
          <a:sx n="72" d="100"/>
          <a:sy n="72" d="100"/>
        </p:scale>
        <p:origin x="60" y="4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452E-C9D5-45EC-84BE-FCE21801F43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0C241-0D3F-4349-BD67-2104325A0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0C241-0D3F-4349-BD67-2104325A0A2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8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9371"/>
            <a:ext cx="10358120" cy="129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1404"/>
            <a:ext cx="9189085" cy="270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79" y="464200"/>
            <a:ext cx="5670221" cy="7566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60"/>
              </a:lnSpc>
              <a:spcBef>
                <a:spcPts val="100"/>
              </a:spcBef>
            </a:pPr>
            <a:r>
              <a:rPr sz="4900" spc="130" dirty="0"/>
              <a:t>CSE110A:</a:t>
            </a:r>
            <a:r>
              <a:rPr sz="4900" spc="55" dirty="0"/>
              <a:t> </a:t>
            </a:r>
            <a:r>
              <a:rPr sz="4900" spc="120" dirty="0"/>
              <a:t>Compiler</a:t>
            </a:r>
            <a:r>
              <a:rPr lang="en-US" sz="4900" spc="120" dirty="0"/>
              <a:t>s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505090" y="2128012"/>
            <a:ext cx="8105510" cy="365035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b="1" spc="-40" dirty="0">
                <a:latin typeface="Calibri"/>
                <a:cs typeface="Calibri"/>
              </a:rPr>
              <a:t>Topics</a:t>
            </a:r>
            <a:r>
              <a:rPr sz="2800" spc="-4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latin typeface="Calibri"/>
                <a:cs typeface="Calibri"/>
              </a:rPr>
              <a:t>Start </a:t>
            </a:r>
            <a:r>
              <a:rPr sz="2800" i="1" dirty="0">
                <a:latin typeface="Calibri"/>
                <a:cs typeface="Calibri"/>
              </a:rPr>
              <a:t>of </a:t>
            </a:r>
            <a:r>
              <a:rPr sz="2800" i="1" spc="-5" dirty="0">
                <a:latin typeface="Calibri"/>
                <a:cs typeface="Calibri"/>
              </a:rPr>
              <a:t>Module </a:t>
            </a:r>
            <a:r>
              <a:rPr sz="2800" i="1" dirty="0">
                <a:latin typeface="Calibri"/>
                <a:cs typeface="Calibri"/>
              </a:rPr>
              <a:t>4 </a:t>
            </a:r>
            <a:r>
              <a:rPr lang="en-US" sz="2800" i="1" dirty="0">
                <a:latin typeface="Calibri"/>
                <a:cs typeface="Calibri"/>
              </a:rPr>
              <a:t>–</a:t>
            </a:r>
            <a:r>
              <a:rPr lang="en-US"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Optimizations</a:t>
            </a:r>
            <a:endParaRPr lang="en-US" sz="2800" i="1" spc="-10" dirty="0">
              <a:latin typeface="Calibri"/>
              <a:cs typeface="Calibri"/>
            </a:endParaRP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Overview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Basic Blocks (13)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Local Value Numbering (28)</a:t>
            </a:r>
          </a:p>
          <a:p>
            <a:pPr marL="698500" lvl="1" indent="-228600"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i="1" spc="-10" dirty="0">
                <a:latin typeface="Calibri"/>
                <a:cs typeface="Calibri"/>
              </a:rPr>
              <a:t>Stitching Optimized Code Back Together (62)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4004" y="2470198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89" h="1211579">
                <a:moveTo>
                  <a:pt x="0" y="0"/>
                </a:moveTo>
                <a:lnTo>
                  <a:pt x="1976845" y="0"/>
                </a:lnTo>
                <a:lnTo>
                  <a:pt x="1976845" y="1210961"/>
                </a:lnTo>
                <a:lnTo>
                  <a:pt x="0" y="12109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38981" y="2937018"/>
            <a:ext cx="128841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5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18015" y="2632889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6" y="0"/>
                </a:lnTo>
                <a:lnTo>
                  <a:pt x="1976846" y="1210961"/>
                </a:lnTo>
                <a:lnTo>
                  <a:pt x="0" y="12109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18015" y="2632889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6" y="0"/>
                </a:lnTo>
                <a:lnTo>
                  <a:pt x="1976846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62993" y="3098562"/>
            <a:ext cx="128841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5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71189" y="2840074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5" y="0"/>
                </a:lnTo>
                <a:lnTo>
                  <a:pt x="1976845" y="1210961"/>
                </a:lnTo>
                <a:lnTo>
                  <a:pt x="0" y="12109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1189" y="2840074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6" y="0"/>
                </a:lnTo>
                <a:lnTo>
                  <a:pt x="1976846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16167" y="3305826"/>
            <a:ext cx="128841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5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4081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Zooming </a:t>
            </a:r>
            <a:r>
              <a:rPr dirty="0"/>
              <a:t>out </a:t>
            </a:r>
            <a:r>
              <a:rPr spc="-15" dirty="0"/>
              <a:t>again: </a:t>
            </a:r>
            <a:r>
              <a:rPr spc="-5" dirty="0"/>
              <a:t>Compiler</a:t>
            </a:r>
            <a:r>
              <a:rPr spc="35" dirty="0"/>
              <a:t> </a:t>
            </a:r>
            <a:r>
              <a:rPr spc="-20" dirty="0"/>
              <a:t>Architecture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62734" y="3002234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Front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011" y="3015048"/>
            <a:ext cx="1405255" cy="1061085"/>
          </a:xfrm>
          <a:prstGeom prst="rect">
            <a:avLst/>
          </a:prstGeom>
          <a:ln w="12700">
            <a:solidFill>
              <a:srgbClr val="A5A5A5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175260" marR="167005" indent="200660">
              <a:lnSpc>
                <a:spcPct val="100800"/>
              </a:lnSpc>
              <a:spcBef>
                <a:spcPts val="1075"/>
              </a:spcBef>
            </a:pPr>
            <a:r>
              <a:rPr sz="2400" spc="-5" dirty="0">
                <a:latin typeface="Calibri"/>
                <a:cs typeface="Calibri"/>
              </a:rPr>
              <a:t>input  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56082" y="2974887"/>
            <a:ext cx="1405255" cy="1211580"/>
          </a:xfrm>
          <a:prstGeom prst="rect">
            <a:avLst/>
          </a:prstGeom>
          <a:ln w="12700">
            <a:solidFill>
              <a:srgbClr val="A5A5A5"/>
            </a:solidFill>
          </a:ln>
        </p:spPr>
        <p:txBody>
          <a:bodyPr vert="horz" wrap="square" lIns="0" tIns="210185" rIns="0" bIns="0" rtlCol="0">
            <a:spAutoFit/>
          </a:bodyPr>
          <a:lstStyle/>
          <a:p>
            <a:pPr marL="402590" marR="165100" indent="-231140">
              <a:lnSpc>
                <a:spcPct val="100800"/>
              </a:lnSpc>
              <a:spcBef>
                <a:spcPts val="1655"/>
              </a:spcBef>
            </a:pPr>
            <a:r>
              <a:rPr sz="2400" spc="-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ne 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43008" y="3428998"/>
            <a:ext cx="519430" cy="302895"/>
          </a:xfrm>
          <a:custGeom>
            <a:avLst/>
            <a:gdLst/>
            <a:ahLst/>
            <a:cxnLst/>
            <a:rect l="l" t="t" r="r" b="b"/>
            <a:pathLst>
              <a:path w="519430" h="302895">
                <a:moveTo>
                  <a:pt x="367614" y="0"/>
                </a:moveTo>
                <a:lnTo>
                  <a:pt x="367614" y="75685"/>
                </a:lnTo>
                <a:lnTo>
                  <a:pt x="0" y="75685"/>
                </a:lnTo>
                <a:lnTo>
                  <a:pt x="0" y="227055"/>
                </a:lnTo>
                <a:lnTo>
                  <a:pt x="367614" y="227055"/>
                </a:lnTo>
                <a:lnTo>
                  <a:pt x="367614" y="302741"/>
                </a:lnTo>
                <a:lnTo>
                  <a:pt x="518984" y="151370"/>
                </a:lnTo>
                <a:lnTo>
                  <a:pt x="3676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43008" y="3428998"/>
            <a:ext cx="519430" cy="302895"/>
          </a:xfrm>
          <a:custGeom>
            <a:avLst/>
            <a:gdLst/>
            <a:ahLst/>
            <a:cxnLst/>
            <a:rect l="l" t="t" r="r" b="b"/>
            <a:pathLst>
              <a:path w="519430" h="302895">
                <a:moveTo>
                  <a:pt x="0" y="75685"/>
                </a:moveTo>
                <a:lnTo>
                  <a:pt x="367613" y="75685"/>
                </a:lnTo>
                <a:lnTo>
                  <a:pt x="367613" y="0"/>
                </a:lnTo>
                <a:lnTo>
                  <a:pt x="518984" y="151370"/>
                </a:lnTo>
                <a:lnTo>
                  <a:pt x="367613" y="302741"/>
                </a:lnTo>
                <a:lnTo>
                  <a:pt x="36761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30007" y="3435472"/>
            <a:ext cx="519430" cy="302895"/>
          </a:xfrm>
          <a:custGeom>
            <a:avLst/>
            <a:gdLst/>
            <a:ahLst/>
            <a:cxnLst/>
            <a:rect l="l" t="t" r="r" b="b"/>
            <a:pathLst>
              <a:path w="519429" h="302895">
                <a:moveTo>
                  <a:pt x="367612" y="0"/>
                </a:moveTo>
                <a:lnTo>
                  <a:pt x="367612" y="75685"/>
                </a:lnTo>
                <a:lnTo>
                  <a:pt x="0" y="75685"/>
                </a:lnTo>
                <a:lnTo>
                  <a:pt x="0" y="227055"/>
                </a:lnTo>
                <a:lnTo>
                  <a:pt x="367612" y="227055"/>
                </a:lnTo>
                <a:lnTo>
                  <a:pt x="367612" y="302741"/>
                </a:lnTo>
                <a:lnTo>
                  <a:pt x="518984" y="151370"/>
                </a:lnTo>
                <a:lnTo>
                  <a:pt x="367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30007" y="3435472"/>
            <a:ext cx="519430" cy="302895"/>
          </a:xfrm>
          <a:custGeom>
            <a:avLst/>
            <a:gdLst/>
            <a:ahLst/>
            <a:cxnLst/>
            <a:rect l="l" t="t" r="r" b="b"/>
            <a:pathLst>
              <a:path w="519429" h="302895">
                <a:moveTo>
                  <a:pt x="0" y="75685"/>
                </a:moveTo>
                <a:lnTo>
                  <a:pt x="367613" y="75685"/>
                </a:lnTo>
                <a:lnTo>
                  <a:pt x="367613" y="0"/>
                </a:lnTo>
                <a:lnTo>
                  <a:pt x="518984" y="151370"/>
                </a:lnTo>
                <a:lnTo>
                  <a:pt x="367613" y="302741"/>
                </a:lnTo>
                <a:lnTo>
                  <a:pt x="36761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45671" y="3008698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L="436245" marR="388620" indent="-39370">
              <a:lnSpc>
                <a:spcPts val="209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ack  end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94217" y="3015048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6" y="0"/>
                </a:lnTo>
                <a:lnTo>
                  <a:pt x="1976846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94217" y="3015048"/>
            <a:ext cx="1977389" cy="1211580"/>
          </a:xfrm>
          <a:custGeom>
            <a:avLst/>
            <a:gdLst/>
            <a:ahLst/>
            <a:cxnLst/>
            <a:rect l="l" t="t" r="r" b="b"/>
            <a:pathLst>
              <a:path w="1977390" h="1211579">
                <a:moveTo>
                  <a:pt x="0" y="0"/>
                </a:moveTo>
                <a:lnTo>
                  <a:pt x="1976846" y="0"/>
                </a:lnTo>
                <a:lnTo>
                  <a:pt x="1976846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94004" y="3458971"/>
            <a:ext cx="237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485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Optimizations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91962" y="3435470"/>
            <a:ext cx="768350" cy="302895"/>
          </a:xfrm>
          <a:custGeom>
            <a:avLst/>
            <a:gdLst/>
            <a:ahLst/>
            <a:cxnLst/>
            <a:rect l="l" t="t" r="r" b="b"/>
            <a:pathLst>
              <a:path w="768350" h="302895">
                <a:moveTo>
                  <a:pt x="616807" y="0"/>
                </a:moveTo>
                <a:lnTo>
                  <a:pt x="616807" y="75685"/>
                </a:lnTo>
                <a:lnTo>
                  <a:pt x="0" y="75685"/>
                </a:lnTo>
                <a:lnTo>
                  <a:pt x="0" y="227055"/>
                </a:lnTo>
                <a:lnTo>
                  <a:pt x="616807" y="227055"/>
                </a:lnTo>
                <a:lnTo>
                  <a:pt x="616807" y="302741"/>
                </a:lnTo>
                <a:lnTo>
                  <a:pt x="768177" y="151371"/>
                </a:lnTo>
                <a:lnTo>
                  <a:pt x="616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91962" y="3435470"/>
            <a:ext cx="768350" cy="302895"/>
          </a:xfrm>
          <a:custGeom>
            <a:avLst/>
            <a:gdLst/>
            <a:ahLst/>
            <a:cxnLst/>
            <a:rect l="l" t="t" r="r" b="b"/>
            <a:pathLst>
              <a:path w="768350" h="302895">
                <a:moveTo>
                  <a:pt x="0" y="75685"/>
                </a:moveTo>
                <a:lnTo>
                  <a:pt x="616807" y="75685"/>
                </a:lnTo>
                <a:lnTo>
                  <a:pt x="616807" y="0"/>
                </a:lnTo>
                <a:lnTo>
                  <a:pt x="768177" y="151370"/>
                </a:lnTo>
                <a:lnTo>
                  <a:pt x="616807" y="302741"/>
                </a:lnTo>
                <a:lnTo>
                  <a:pt x="616807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96549" y="3462694"/>
            <a:ext cx="1019810" cy="302895"/>
          </a:xfrm>
          <a:custGeom>
            <a:avLst/>
            <a:gdLst/>
            <a:ahLst/>
            <a:cxnLst/>
            <a:rect l="l" t="t" r="r" b="b"/>
            <a:pathLst>
              <a:path w="1019809" h="302895">
                <a:moveTo>
                  <a:pt x="868003" y="0"/>
                </a:moveTo>
                <a:lnTo>
                  <a:pt x="868003" y="75684"/>
                </a:lnTo>
                <a:lnTo>
                  <a:pt x="0" y="75684"/>
                </a:lnTo>
                <a:lnTo>
                  <a:pt x="0" y="227055"/>
                </a:lnTo>
                <a:lnTo>
                  <a:pt x="868003" y="227055"/>
                </a:lnTo>
                <a:lnTo>
                  <a:pt x="868003" y="302740"/>
                </a:lnTo>
                <a:lnTo>
                  <a:pt x="1019373" y="151370"/>
                </a:lnTo>
                <a:lnTo>
                  <a:pt x="868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96549" y="3462694"/>
            <a:ext cx="1019810" cy="302895"/>
          </a:xfrm>
          <a:custGeom>
            <a:avLst/>
            <a:gdLst/>
            <a:ahLst/>
            <a:cxnLst/>
            <a:rect l="l" t="t" r="r" b="b"/>
            <a:pathLst>
              <a:path w="1019809" h="302895">
                <a:moveTo>
                  <a:pt x="0" y="75684"/>
                </a:moveTo>
                <a:lnTo>
                  <a:pt x="868003" y="75684"/>
                </a:lnTo>
                <a:lnTo>
                  <a:pt x="868003" y="0"/>
                </a:lnTo>
                <a:lnTo>
                  <a:pt x="1019373" y="151371"/>
                </a:lnTo>
                <a:lnTo>
                  <a:pt x="868003" y="302741"/>
                </a:lnTo>
                <a:lnTo>
                  <a:pt x="868003" y="227056"/>
                </a:lnTo>
                <a:lnTo>
                  <a:pt x="0" y="227056"/>
                </a:lnTo>
                <a:lnTo>
                  <a:pt x="0" y="756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9428" y="1837508"/>
            <a:ext cx="8107680" cy="3701415"/>
          </a:xfrm>
          <a:custGeom>
            <a:avLst/>
            <a:gdLst/>
            <a:ahLst/>
            <a:cxnLst/>
            <a:rect l="l" t="t" r="r" b="b"/>
            <a:pathLst>
              <a:path w="8107680" h="3701415">
                <a:moveTo>
                  <a:pt x="0" y="616871"/>
                </a:moveTo>
                <a:lnTo>
                  <a:pt x="1855" y="568663"/>
                </a:lnTo>
                <a:lnTo>
                  <a:pt x="7332" y="521470"/>
                </a:lnTo>
                <a:lnTo>
                  <a:pt x="16292" y="475428"/>
                </a:lnTo>
                <a:lnTo>
                  <a:pt x="28597" y="430676"/>
                </a:lnTo>
                <a:lnTo>
                  <a:pt x="44112" y="387350"/>
                </a:lnTo>
                <a:lnTo>
                  <a:pt x="62699" y="345587"/>
                </a:lnTo>
                <a:lnTo>
                  <a:pt x="84221" y="305524"/>
                </a:lnTo>
                <a:lnTo>
                  <a:pt x="108540" y="267299"/>
                </a:lnTo>
                <a:lnTo>
                  <a:pt x="135519" y="231049"/>
                </a:lnTo>
                <a:lnTo>
                  <a:pt x="165022" y="196911"/>
                </a:lnTo>
                <a:lnTo>
                  <a:pt x="196911" y="165022"/>
                </a:lnTo>
                <a:lnTo>
                  <a:pt x="231049" y="135519"/>
                </a:lnTo>
                <a:lnTo>
                  <a:pt x="267299" y="108540"/>
                </a:lnTo>
                <a:lnTo>
                  <a:pt x="305524" y="84221"/>
                </a:lnTo>
                <a:lnTo>
                  <a:pt x="345587" y="62699"/>
                </a:lnTo>
                <a:lnTo>
                  <a:pt x="387350" y="44112"/>
                </a:lnTo>
                <a:lnTo>
                  <a:pt x="430676" y="28597"/>
                </a:lnTo>
                <a:lnTo>
                  <a:pt x="475428" y="16292"/>
                </a:lnTo>
                <a:lnTo>
                  <a:pt x="521470" y="7332"/>
                </a:lnTo>
                <a:lnTo>
                  <a:pt x="568663" y="1855"/>
                </a:lnTo>
                <a:lnTo>
                  <a:pt x="616871" y="0"/>
                </a:lnTo>
                <a:lnTo>
                  <a:pt x="7490808" y="0"/>
                </a:lnTo>
                <a:lnTo>
                  <a:pt x="7539016" y="1855"/>
                </a:lnTo>
                <a:lnTo>
                  <a:pt x="7586209" y="7332"/>
                </a:lnTo>
                <a:lnTo>
                  <a:pt x="7632250" y="16292"/>
                </a:lnTo>
                <a:lnTo>
                  <a:pt x="7677003" y="28597"/>
                </a:lnTo>
                <a:lnTo>
                  <a:pt x="7720329" y="44112"/>
                </a:lnTo>
                <a:lnTo>
                  <a:pt x="7762092" y="62699"/>
                </a:lnTo>
                <a:lnTo>
                  <a:pt x="7802154" y="84221"/>
                </a:lnTo>
                <a:lnTo>
                  <a:pt x="7840379" y="108540"/>
                </a:lnTo>
                <a:lnTo>
                  <a:pt x="7876629" y="135519"/>
                </a:lnTo>
                <a:lnTo>
                  <a:pt x="7910767" y="165022"/>
                </a:lnTo>
                <a:lnTo>
                  <a:pt x="7942656" y="196911"/>
                </a:lnTo>
                <a:lnTo>
                  <a:pt x="7972159" y="231049"/>
                </a:lnTo>
                <a:lnTo>
                  <a:pt x="7999138" y="267299"/>
                </a:lnTo>
                <a:lnTo>
                  <a:pt x="8023458" y="305524"/>
                </a:lnTo>
                <a:lnTo>
                  <a:pt x="8044979" y="345587"/>
                </a:lnTo>
                <a:lnTo>
                  <a:pt x="8063566" y="387350"/>
                </a:lnTo>
                <a:lnTo>
                  <a:pt x="8079081" y="430676"/>
                </a:lnTo>
                <a:lnTo>
                  <a:pt x="8091387" y="475428"/>
                </a:lnTo>
                <a:lnTo>
                  <a:pt x="8100346" y="521470"/>
                </a:lnTo>
                <a:lnTo>
                  <a:pt x="8105823" y="568663"/>
                </a:lnTo>
                <a:lnTo>
                  <a:pt x="8107679" y="616871"/>
                </a:lnTo>
                <a:lnTo>
                  <a:pt x="8107679" y="3084270"/>
                </a:lnTo>
                <a:lnTo>
                  <a:pt x="8105823" y="3132478"/>
                </a:lnTo>
                <a:lnTo>
                  <a:pt x="8100346" y="3179671"/>
                </a:lnTo>
                <a:lnTo>
                  <a:pt x="8091387" y="3225713"/>
                </a:lnTo>
                <a:lnTo>
                  <a:pt x="8079081" y="3270465"/>
                </a:lnTo>
                <a:lnTo>
                  <a:pt x="8063566" y="3313791"/>
                </a:lnTo>
                <a:lnTo>
                  <a:pt x="8044979" y="3355554"/>
                </a:lnTo>
                <a:lnTo>
                  <a:pt x="8023458" y="3395617"/>
                </a:lnTo>
                <a:lnTo>
                  <a:pt x="7999138" y="3433841"/>
                </a:lnTo>
                <a:lnTo>
                  <a:pt x="7972159" y="3470092"/>
                </a:lnTo>
                <a:lnTo>
                  <a:pt x="7942656" y="3504230"/>
                </a:lnTo>
                <a:lnTo>
                  <a:pt x="7910767" y="3536119"/>
                </a:lnTo>
                <a:lnTo>
                  <a:pt x="7876629" y="3565622"/>
                </a:lnTo>
                <a:lnTo>
                  <a:pt x="7840379" y="3592601"/>
                </a:lnTo>
                <a:lnTo>
                  <a:pt x="7802154" y="3616920"/>
                </a:lnTo>
                <a:lnTo>
                  <a:pt x="7762092" y="3638442"/>
                </a:lnTo>
                <a:lnTo>
                  <a:pt x="7720329" y="3657029"/>
                </a:lnTo>
                <a:lnTo>
                  <a:pt x="7677003" y="3672544"/>
                </a:lnTo>
                <a:lnTo>
                  <a:pt x="7632250" y="3684850"/>
                </a:lnTo>
                <a:lnTo>
                  <a:pt x="7586209" y="3693809"/>
                </a:lnTo>
                <a:lnTo>
                  <a:pt x="7539016" y="3699286"/>
                </a:lnTo>
                <a:lnTo>
                  <a:pt x="7490808" y="3701142"/>
                </a:lnTo>
                <a:lnTo>
                  <a:pt x="616871" y="3701142"/>
                </a:lnTo>
                <a:lnTo>
                  <a:pt x="568663" y="3699286"/>
                </a:lnTo>
                <a:lnTo>
                  <a:pt x="521470" y="3693809"/>
                </a:lnTo>
                <a:lnTo>
                  <a:pt x="475428" y="3684850"/>
                </a:lnTo>
                <a:lnTo>
                  <a:pt x="430676" y="3672544"/>
                </a:lnTo>
                <a:lnTo>
                  <a:pt x="387350" y="3657029"/>
                </a:lnTo>
                <a:lnTo>
                  <a:pt x="345587" y="3638442"/>
                </a:lnTo>
                <a:lnTo>
                  <a:pt x="305524" y="3616920"/>
                </a:lnTo>
                <a:lnTo>
                  <a:pt x="267299" y="3592601"/>
                </a:lnTo>
                <a:lnTo>
                  <a:pt x="231049" y="3565622"/>
                </a:lnTo>
                <a:lnTo>
                  <a:pt x="196911" y="3536119"/>
                </a:lnTo>
                <a:lnTo>
                  <a:pt x="165022" y="3504230"/>
                </a:lnTo>
                <a:lnTo>
                  <a:pt x="135519" y="3470092"/>
                </a:lnTo>
                <a:lnTo>
                  <a:pt x="108540" y="3433841"/>
                </a:lnTo>
                <a:lnTo>
                  <a:pt x="84221" y="3395617"/>
                </a:lnTo>
                <a:lnTo>
                  <a:pt x="62699" y="3355554"/>
                </a:lnTo>
                <a:lnTo>
                  <a:pt x="44112" y="3313791"/>
                </a:lnTo>
                <a:lnTo>
                  <a:pt x="28597" y="3270465"/>
                </a:lnTo>
                <a:lnTo>
                  <a:pt x="16292" y="3225713"/>
                </a:lnTo>
                <a:lnTo>
                  <a:pt x="7332" y="3179671"/>
                </a:lnTo>
                <a:lnTo>
                  <a:pt x="1855" y="3132478"/>
                </a:lnTo>
                <a:lnTo>
                  <a:pt x="0" y="3084270"/>
                </a:lnTo>
                <a:lnTo>
                  <a:pt x="0" y="6168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19697" y="1880108"/>
            <a:ext cx="1114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pil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25848" y="4321555"/>
            <a:ext cx="701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parsing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20244" y="4245355"/>
            <a:ext cx="869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code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64018" y="4250170"/>
            <a:ext cx="905510" cy="665480"/>
          </a:xfrm>
          <a:custGeom>
            <a:avLst/>
            <a:gdLst/>
            <a:ahLst/>
            <a:cxnLst/>
            <a:rect l="l" t="t" r="r" b="b"/>
            <a:pathLst>
              <a:path w="905509" h="665479">
                <a:moveTo>
                  <a:pt x="46257" y="410171"/>
                </a:moveTo>
                <a:lnTo>
                  <a:pt x="0" y="619183"/>
                </a:lnTo>
                <a:lnTo>
                  <a:pt x="209012" y="665441"/>
                </a:lnTo>
                <a:lnTo>
                  <a:pt x="173005" y="608968"/>
                </a:lnTo>
                <a:lnTo>
                  <a:pt x="396228" y="466644"/>
                </a:lnTo>
                <a:lnTo>
                  <a:pt x="82262" y="466644"/>
                </a:lnTo>
                <a:lnTo>
                  <a:pt x="46257" y="410171"/>
                </a:lnTo>
                <a:close/>
              </a:path>
              <a:path w="905509" h="665479">
                <a:moveTo>
                  <a:pt x="814158" y="0"/>
                </a:moveTo>
                <a:lnTo>
                  <a:pt x="82262" y="466644"/>
                </a:lnTo>
                <a:lnTo>
                  <a:pt x="396228" y="466644"/>
                </a:lnTo>
                <a:lnTo>
                  <a:pt x="904901" y="142322"/>
                </a:lnTo>
                <a:lnTo>
                  <a:pt x="8141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64019" y="4250169"/>
            <a:ext cx="905510" cy="665480"/>
          </a:xfrm>
          <a:custGeom>
            <a:avLst/>
            <a:gdLst/>
            <a:ahLst/>
            <a:cxnLst/>
            <a:rect l="l" t="t" r="r" b="b"/>
            <a:pathLst>
              <a:path w="905509" h="665479">
                <a:moveTo>
                  <a:pt x="904902" y="142323"/>
                </a:moveTo>
                <a:lnTo>
                  <a:pt x="173006" y="608969"/>
                </a:lnTo>
                <a:lnTo>
                  <a:pt x="209012" y="665442"/>
                </a:lnTo>
                <a:lnTo>
                  <a:pt x="0" y="619184"/>
                </a:lnTo>
                <a:lnTo>
                  <a:pt x="46256" y="410172"/>
                </a:lnTo>
                <a:lnTo>
                  <a:pt x="82262" y="466645"/>
                </a:lnTo>
                <a:lnTo>
                  <a:pt x="814158" y="0"/>
                </a:lnTo>
                <a:lnTo>
                  <a:pt x="904902" y="142323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03416" y="4351042"/>
            <a:ext cx="909955" cy="659765"/>
          </a:xfrm>
          <a:custGeom>
            <a:avLst/>
            <a:gdLst/>
            <a:ahLst/>
            <a:cxnLst/>
            <a:rect l="l" t="t" r="r" b="b"/>
            <a:pathLst>
              <a:path w="909954" h="659764">
                <a:moveTo>
                  <a:pt x="402527" y="200008"/>
                </a:moveTo>
                <a:lnTo>
                  <a:pt x="83728" y="200008"/>
                </a:lnTo>
                <a:lnTo>
                  <a:pt x="820087" y="659579"/>
                </a:lnTo>
                <a:lnTo>
                  <a:pt x="909454" y="516388"/>
                </a:lnTo>
                <a:lnTo>
                  <a:pt x="402527" y="200008"/>
                </a:lnTo>
                <a:close/>
              </a:path>
              <a:path w="909954" h="659764">
                <a:moveTo>
                  <a:pt x="208556" y="0"/>
                </a:moveTo>
                <a:lnTo>
                  <a:pt x="0" y="48268"/>
                </a:lnTo>
                <a:lnTo>
                  <a:pt x="48267" y="256825"/>
                </a:lnTo>
                <a:lnTo>
                  <a:pt x="83728" y="200008"/>
                </a:lnTo>
                <a:lnTo>
                  <a:pt x="402527" y="200008"/>
                </a:lnTo>
                <a:lnTo>
                  <a:pt x="173095" y="56817"/>
                </a:lnTo>
                <a:lnTo>
                  <a:pt x="2085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103416" y="4351042"/>
            <a:ext cx="909955" cy="659765"/>
          </a:xfrm>
          <a:custGeom>
            <a:avLst/>
            <a:gdLst/>
            <a:ahLst/>
            <a:cxnLst/>
            <a:rect l="l" t="t" r="r" b="b"/>
            <a:pathLst>
              <a:path w="909954" h="659764">
                <a:moveTo>
                  <a:pt x="820086" y="659579"/>
                </a:moveTo>
                <a:lnTo>
                  <a:pt x="83728" y="200008"/>
                </a:lnTo>
                <a:lnTo>
                  <a:pt x="48267" y="256826"/>
                </a:lnTo>
                <a:lnTo>
                  <a:pt x="0" y="48268"/>
                </a:lnTo>
                <a:lnTo>
                  <a:pt x="208556" y="0"/>
                </a:lnTo>
                <a:lnTo>
                  <a:pt x="173096" y="56817"/>
                </a:lnTo>
                <a:lnTo>
                  <a:pt x="909454" y="516388"/>
                </a:lnTo>
                <a:lnTo>
                  <a:pt x="820086" y="659579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44651" y="4797044"/>
            <a:ext cx="184277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optimizations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build </a:t>
            </a:r>
            <a:r>
              <a:rPr sz="1800" dirty="0">
                <a:latin typeface="Calibri"/>
                <a:cs typeface="Calibri"/>
              </a:rPr>
              <a:t>on </a:t>
            </a: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other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32844" y="2315971"/>
            <a:ext cx="87249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5" dirty="0">
                <a:latin typeface="Calibri"/>
                <a:cs typeface="Calibri"/>
              </a:rPr>
              <a:t>creates  </a:t>
            </a: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tr</a:t>
            </a:r>
            <a:r>
              <a:rPr sz="1800" dirty="0">
                <a:latin typeface="Calibri"/>
                <a:cs typeface="Calibri"/>
              </a:rPr>
              <a:t>uc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6122" y="4358132"/>
            <a:ext cx="548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tri</a:t>
            </a:r>
            <a:r>
              <a:rPr sz="1800" dirty="0"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94662" y="2273300"/>
            <a:ext cx="153352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Calibri"/>
                <a:cs typeface="Calibri"/>
              </a:rPr>
              <a:t>produces  </a:t>
            </a:r>
            <a:r>
              <a:rPr sz="1800" spc="-15" dirty="0">
                <a:latin typeface="Calibri"/>
                <a:cs typeface="Calibri"/>
              </a:rPr>
              <a:t>executable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73148" y="6089396"/>
            <a:ext cx="801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IRs and type </a:t>
            </a:r>
            <a:r>
              <a:rPr sz="1800" i="1" spc="-10" dirty="0">
                <a:latin typeface="Calibri"/>
                <a:cs typeface="Calibri"/>
              </a:rPr>
              <a:t>inference </a:t>
            </a:r>
            <a:r>
              <a:rPr sz="1800" i="1" spc="-5" dirty="0">
                <a:latin typeface="Calibri"/>
                <a:cs typeface="Calibri"/>
              </a:rPr>
              <a:t>type </a:t>
            </a:r>
            <a:r>
              <a:rPr sz="1800" i="1" spc="-10" dirty="0">
                <a:latin typeface="Calibri"/>
                <a:cs typeface="Calibri"/>
              </a:rPr>
              <a:t>inference </a:t>
            </a:r>
            <a:r>
              <a:rPr sz="1800" i="1" spc="-5" dirty="0">
                <a:latin typeface="Calibri"/>
                <a:cs typeface="Calibri"/>
              </a:rPr>
              <a:t>are at the boundary </a:t>
            </a:r>
            <a:r>
              <a:rPr sz="1800" i="1" dirty="0">
                <a:latin typeface="Calibri"/>
                <a:cs typeface="Calibri"/>
              </a:rPr>
              <a:t>of </a:t>
            </a:r>
            <a:r>
              <a:rPr sz="1800" i="1" spc="-5" dirty="0">
                <a:latin typeface="Calibri"/>
                <a:cs typeface="Calibri"/>
              </a:rPr>
              <a:t>parsing and</a:t>
            </a:r>
            <a:r>
              <a:rPr sz="1800" i="1" spc="18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optimizations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6187" y="831547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300">
              <a:latin typeface="Times New Roman"/>
              <a:cs typeface="Times New Roman"/>
            </a:endParaRPr>
          </a:p>
          <a:p>
            <a:pPr marL="241300" marR="232410" indent="64769">
              <a:lnSpc>
                <a:spcPts val="211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Lexical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11" y="837897"/>
            <a:ext cx="1405255" cy="1061085"/>
          </a:xfrm>
          <a:prstGeom prst="rect">
            <a:avLst/>
          </a:prstGeom>
          <a:ln w="12700">
            <a:solidFill>
              <a:srgbClr val="A5A5A5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75260" marR="167005" indent="200660">
              <a:lnSpc>
                <a:spcPct val="100000"/>
              </a:lnSpc>
              <a:spcBef>
                <a:spcPts val="1105"/>
              </a:spcBef>
            </a:pPr>
            <a:r>
              <a:rPr sz="2400" spc="-5" dirty="0">
                <a:latin typeface="Calibri"/>
                <a:cs typeface="Calibri"/>
              </a:rPr>
              <a:t>input  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56910" y="5620832"/>
            <a:ext cx="1405255" cy="1211580"/>
          </a:xfrm>
          <a:custGeom>
            <a:avLst/>
            <a:gdLst/>
            <a:ahLst/>
            <a:cxnLst/>
            <a:rect l="l" t="t" r="r" b="b"/>
            <a:pathLst>
              <a:path w="1405254" h="1211579">
                <a:moveTo>
                  <a:pt x="0" y="0"/>
                </a:moveTo>
                <a:lnTo>
                  <a:pt x="1404904" y="0"/>
                </a:lnTo>
                <a:lnTo>
                  <a:pt x="1404904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16439" y="5821171"/>
            <a:ext cx="108521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4" marR="5080" indent="-231140">
              <a:lnSpc>
                <a:spcPct val="100800"/>
              </a:lnSpc>
              <a:spcBef>
                <a:spcPts val="75"/>
              </a:spcBef>
            </a:pPr>
            <a:r>
              <a:rPr sz="2400" spc="-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ne 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243245" y="0"/>
                </a:moveTo>
                <a:lnTo>
                  <a:pt x="243245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43245" y="227055"/>
                </a:lnTo>
                <a:lnTo>
                  <a:pt x="243245" y="302741"/>
                </a:lnTo>
                <a:lnTo>
                  <a:pt x="394616" y="151371"/>
                </a:lnTo>
                <a:lnTo>
                  <a:pt x="243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0" y="75685"/>
                </a:moveTo>
                <a:lnTo>
                  <a:pt x="243245" y="75685"/>
                </a:lnTo>
                <a:lnTo>
                  <a:pt x="243245" y="0"/>
                </a:lnTo>
                <a:lnTo>
                  <a:pt x="394616" y="151370"/>
                </a:lnTo>
                <a:lnTo>
                  <a:pt x="243245" y="302741"/>
                </a:lnTo>
                <a:lnTo>
                  <a:pt x="243245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5636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313690" marR="124460" indent="-182880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med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230074" y="0"/>
                </a:moveTo>
                <a:lnTo>
                  <a:pt x="230074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1"/>
                </a:lnTo>
                <a:lnTo>
                  <a:pt x="381444" y="151371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01539" y="837910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216535" marR="192405" indent="-17145">
              <a:lnSpc>
                <a:spcPts val="21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 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9308" y="246231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565150" marR="200025" indent="-358775">
              <a:lnSpc>
                <a:spcPts val="2110"/>
              </a:lnSpc>
              <a:spcBef>
                <a:spcPts val="5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9308" y="406452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07314" marR="99695" indent="99060">
              <a:lnSpc>
                <a:spcPts val="211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ptimi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230074" y="0"/>
                </a:moveTo>
                <a:lnTo>
                  <a:pt x="230074" y="75684"/>
                </a:lnTo>
                <a:lnTo>
                  <a:pt x="0" y="75684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0"/>
                </a:lnTo>
                <a:lnTo>
                  <a:pt x="381444" y="151370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4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01006" y="1276603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01006" y="4510532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8141" y="2142235"/>
            <a:ext cx="2974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z="1800" spc="-20" dirty="0">
                <a:latin typeface="Calibri"/>
                <a:cs typeface="Calibri"/>
              </a:rPr>
              <a:t>token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stream	</a:t>
            </a:r>
            <a:r>
              <a:rPr sz="1800" spc="-20" dirty="0">
                <a:latin typeface="Calibri"/>
                <a:cs typeface="Calibri"/>
              </a:rPr>
              <a:t>syntax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8138369" y="452667"/>
            <a:ext cx="1127125" cy="2794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1800" b="0" spc="-5" dirty="0">
                <a:latin typeface="Calibri"/>
                <a:cs typeface="Calibri"/>
              </a:rPr>
              <a:t>IR</a:t>
            </a:r>
            <a:r>
              <a:rPr sz="1800" b="0" spc="-7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programs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76223" y="1974596"/>
            <a:ext cx="118300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IR  </a:t>
            </a:r>
            <a:r>
              <a:rPr sz="1800" spc="-15" dirty="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1941955" y="0"/>
                </a:moveTo>
                <a:lnTo>
                  <a:pt x="1941955" y="75686"/>
                </a:lnTo>
                <a:lnTo>
                  <a:pt x="0" y="75686"/>
                </a:lnTo>
                <a:lnTo>
                  <a:pt x="0" y="227056"/>
                </a:lnTo>
                <a:lnTo>
                  <a:pt x="1941955" y="227056"/>
                </a:lnTo>
                <a:lnTo>
                  <a:pt x="1941955" y="302741"/>
                </a:lnTo>
                <a:lnTo>
                  <a:pt x="2093325" y="151371"/>
                </a:lnTo>
                <a:lnTo>
                  <a:pt x="1941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0" y="75686"/>
                </a:moveTo>
                <a:lnTo>
                  <a:pt x="1941957" y="75686"/>
                </a:lnTo>
                <a:lnTo>
                  <a:pt x="1941957" y="0"/>
                </a:lnTo>
                <a:lnTo>
                  <a:pt x="2093327" y="151370"/>
                </a:lnTo>
                <a:lnTo>
                  <a:pt x="1941957" y="302741"/>
                </a:lnTo>
                <a:lnTo>
                  <a:pt x="1941957" y="227056"/>
                </a:lnTo>
                <a:lnTo>
                  <a:pt x="0" y="227056"/>
                </a:lnTo>
                <a:lnTo>
                  <a:pt x="0" y="7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949308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36525" marR="130175" indent="64769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IR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Analysis/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740" y="2861564"/>
            <a:ext cx="3244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 IRs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15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6187" y="831547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300">
              <a:latin typeface="Times New Roman"/>
              <a:cs typeface="Times New Roman"/>
            </a:endParaRPr>
          </a:p>
          <a:p>
            <a:pPr marL="241300" marR="232410" indent="64769">
              <a:lnSpc>
                <a:spcPts val="211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Lexical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11" y="837897"/>
            <a:ext cx="1405255" cy="1061085"/>
          </a:xfrm>
          <a:prstGeom prst="rect">
            <a:avLst/>
          </a:prstGeom>
          <a:ln w="12700">
            <a:solidFill>
              <a:srgbClr val="A5A5A5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75260" marR="167005" indent="200660">
              <a:lnSpc>
                <a:spcPct val="100000"/>
              </a:lnSpc>
              <a:spcBef>
                <a:spcPts val="1105"/>
              </a:spcBef>
            </a:pPr>
            <a:r>
              <a:rPr sz="2400" spc="-5" dirty="0">
                <a:latin typeface="Calibri"/>
                <a:cs typeface="Calibri"/>
              </a:rPr>
              <a:t>input  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og</a:t>
            </a:r>
            <a:r>
              <a:rPr sz="2400" spc="-5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56910" y="5620832"/>
            <a:ext cx="1405255" cy="1211580"/>
          </a:xfrm>
          <a:custGeom>
            <a:avLst/>
            <a:gdLst/>
            <a:ahLst/>
            <a:cxnLst/>
            <a:rect l="l" t="t" r="r" b="b"/>
            <a:pathLst>
              <a:path w="1405254" h="1211579">
                <a:moveTo>
                  <a:pt x="0" y="0"/>
                </a:moveTo>
                <a:lnTo>
                  <a:pt x="1404904" y="0"/>
                </a:lnTo>
                <a:lnTo>
                  <a:pt x="1404904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16439" y="5821171"/>
            <a:ext cx="108521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4" marR="5080" indent="-231140">
              <a:lnSpc>
                <a:spcPct val="100800"/>
              </a:lnSpc>
              <a:spcBef>
                <a:spcPts val="75"/>
              </a:spcBef>
            </a:pPr>
            <a:r>
              <a:rPr sz="2400" spc="-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ne 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243245" y="0"/>
                </a:moveTo>
                <a:lnTo>
                  <a:pt x="243245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43245" y="227055"/>
                </a:lnTo>
                <a:lnTo>
                  <a:pt x="243245" y="302741"/>
                </a:lnTo>
                <a:lnTo>
                  <a:pt x="394616" y="151371"/>
                </a:lnTo>
                <a:lnTo>
                  <a:pt x="243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0" y="75685"/>
                </a:moveTo>
                <a:lnTo>
                  <a:pt x="243245" y="75685"/>
                </a:lnTo>
                <a:lnTo>
                  <a:pt x="243245" y="0"/>
                </a:lnTo>
                <a:lnTo>
                  <a:pt x="394616" y="151370"/>
                </a:lnTo>
                <a:lnTo>
                  <a:pt x="243245" y="302741"/>
                </a:lnTo>
                <a:lnTo>
                  <a:pt x="243245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5636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313690" marR="124460" indent="-182880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med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230074" y="0"/>
                </a:moveTo>
                <a:lnTo>
                  <a:pt x="230074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1"/>
                </a:lnTo>
                <a:lnTo>
                  <a:pt x="381444" y="151371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01539" y="837910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216535" marR="192405" indent="-17145">
              <a:lnSpc>
                <a:spcPts val="21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 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9308" y="246231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565150" marR="200025" indent="-358775">
              <a:lnSpc>
                <a:spcPts val="2110"/>
              </a:lnSpc>
              <a:spcBef>
                <a:spcPts val="5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9308" y="406452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07314" marR="99695" indent="99060">
              <a:lnSpc>
                <a:spcPts val="211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ptimi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230074" y="0"/>
                </a:moveTo>
                <a:lnTo>
                  <a:pt x="230074" y="75684"/>
                </a:lnTo>
                <a:lnTo>
                  <a:pt x="0" y="75684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0"/>
                </a:lnTo>
                <a:lnTo>
                  <a:pt x="381444" y="151370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4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01006" y="1276603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01006" y="4510532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8141" y="2142235"/>
            <a:ext cx="2974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z="1800" spc="-20" dirty="0">
                <a:latin typeface="Calibri"/>
                <a:cs typeface="Calibri"/>
              </a:rPr>
              <a:t>token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stream	</a:t>
            </a:r>
            <a:r>
              <a:rPr sz="1800" spc="-20" dirty="0">
                <a:latin typeface="Calibri"/>
                <a:cs typeface="Calibri"/>
              </a:rPr>
              <a:t>syntax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8138369" y="452667"/>
            <a:ext cx="1127125" cy="2794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1800" b="0" spc="-5" dirty="0">
                <a:latin typeface="Calibri"/>
                <a:cs typeface="Calibri"/>
              </a:rPr>
              <a:t>IR</a:t>
            </a:r>
            <a:r>
              <a:rPr sz="1800" b="0" spc="-7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programs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76223" y="1974596"/>
            <a:ext cx="118300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IR  </a:t>
            </a:r>
            <a:r>
              <a:rPr sz="1800" spc="-15" dirty="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1941955" y="0"/>
                </a:moveTo>
                <a:lnTo>
                  <a:pt x="1941955" y="75686"/>
                </a:lnTo>
                <a:lnTo>
                  <a:pt x="0" y="75686"/>
                </a:lnTo>
                <a:lnTo>
                  <a:pt x="0" y="227056"/>
                </a:lnTo>
                <a:lnTo>
                  <a:pt x="1941955" y="227056"/>
                </a:lnTo>
                <a:lnTo>
                  <a:pt x="1941955" y="302741"/>
                </a:lnTo>
                <a:lnTo>
                  <a:pt x="2093325" y="151371"/>
                </a:lnTo>
                <a:lnTo>
                  <a:pt x="1941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0" y="75686"/>
                </a:moveTo>
                <a:lnTo>
                  <a:pt x="1941957" y="75686"/>
                </a:lnTo>
                <a:lnTo>
                  <a:pt x="1941957" y="0"/>
                </a:lnTo>
                <a:lnTo>
                  <a:pt x="2093327" y="151370"/>
                </a:lnTo>
                <a:lnTo>
                  <a:pt x="1941957" y="302741"/>
                </a:lnTo>
                <a:lnTo>
                  <a:pt x="1941957" y="227056"/>
                </a:lnTo>
                <a:lnTo>
                  <a:pt x="0" y="227056"/>
                </a:lnTo>
                <a:lnTo>
                  <a:pt x="0" y="7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949308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36525" marR="130175" indent="64769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IR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Analysis/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740" y="2861564"/>
            <a:ext cx="3244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 IRs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15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4522" y="4399788"/>
            <a:ext cx="2472690" cy="13055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vr3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_new_name0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_new_name1</a:t>
            </a:r>
            <a:r>
              <a:rPr sz="1400" spc="-10" dirty="0">
                <a:latin typeface="DejaVu Sans Mono"/>
                <a:cs typeface="DejaVu Sans Mono"/>
              </a:rPr>
              <a:t>;  vr0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4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int2vr(5);</a:t>
            </a:r>
            <a:endParaRPr sz="1400">
              <a:latin typeface="DejaVu Sans Mono"/>
              <a:cs typeface="DejaVu Sans Mono"/>
            </a:endParaRPr>
          </a:p>
          <a:p>
            <a:pPr marL="12700" marR="643890">
              <a:lnSpc>
                <a:spcPts val="1610"/>
              </a:lnSpc>
              <a:spcBef>
                <a:spcPts val="140"/>
              </a:spcBef>
            </a:pPr>
            <a:r>
              <a:rPr sz="1400" spc="-10" dirty="0">
                <a:latin typeface="DejaVu Sans Mono"/>
                <a:cs typeface="DejaVu Sans Mono"/>
              </a:rPr>
              <a:t>_new_name0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11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vr0;  vr1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8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int2vr(6);</a:t>
            </a:r>
            <a:endParaRPr sz="1400">
              <a:latin typeface="DejaVu Sans Mono"/>
              <a:cs typeface="DejaVu Sans Mon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782" y="3856790"/>
            <a:ext cx="158877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6187" y="831547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300">
              <a:latin typeface="Times New Roman"/>
              <a:cs typeface="Times New Roman"/>
            </a:endParaRPr>
          </a:p>
          <a:p>
            <a:pPr marL="241300" marR="232410" indent="64769">
              <a:lnSpc>
                <a:spcPts val="211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Lexical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11" y="837897"/>
            <a:ext cx="1405255" cy="1061085"/>
          </a:xfrm>
          <a:prstGeom prst="rect">
            <a:avLst/>
          </a:prstGeom>
          <a:ln w="12700">
            <a:solidFill>
              <a:srgbClr val="A5A5A5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75260" marR="167005" indent="200660">
              <a:lnSpc>
                <a:spcPct val="100000"/>
              </a:lnSpc>
              <a:spcBef>
                <a:spcPts val="1105"/>
              </a:spcBef>
            </a:pPr>
            <a:r>
              <a:rPr sz="2400" b="0" spc="-5" dirty="0">
                <a:latin typeface="Calibri"/>
                <a:cs typeface="Calibri"/>
              </a:rPr>
              <a:t>input  </a:t>
            </a:r>
            <a:r>
              <a:rPr sz="2400" b="0" dirty="0">
                <a:latin typeface="Calibri"/>
                <a:cs typeface="Calibri"/>
              </a:rPr>
              <a:t>p</a:t>
            </a:r>
            <a:r>
              <a:rPr sz="2400" b="0" spc="-40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og</a:t>
            </a:r>
            <a:r>
              <a:rPr sz="2400" b="0" spc="-50" dirty="0">
                <a:latin typeface="Calibri"/>
                <a:cs typeface="Calibri"/>
              </a:rPr>
              <a:t>r</a:t>
            </a:r>
            <a:r>
              <a:rPr sz="2400" b="0" dirty="0">
                <a:latin typeface="Calibri"/>
                <a:cs typeface="Calibri"/>
              </a:rPr>
              <a:t>am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56910" y="5620832"/>
            <a:ext cx="1405255" cy="1211580"/>
          </a:xfrm>
          <a:custGeom>
            <a:avLst/>
            <a:gdLst/>
            <a:ahLst/>
            <a:cxnLst/>
            <a:rect l="l" t="t" r="r" b="b"/>
            <a:pathLst>
              <a:path w="1405254" h="1211579">
                <a:moveTo>
                  <a:pt x="0" y="0"/>
                </a:moveTo>
                <a:lnTo>
                  <a:pt x="1404904" y="0"/>
                </a:lnTo>
                <a:lnTo>
                  <a:pt x="1404904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16439" y="5821171"/>
            <a:ext cx="108521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4" marR="5080" indent="-231140">
              <a:lnSpc>
                <a:spcPct val="100800"/>
              </a:lnSpc>
              <a:spcBef>
                <a:spcPts val="75"/>
              </a:spcBef>
            </a:pPr>
            <a:r>
              <a:rPr sz="2400" spc="-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ne 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243245" y="0"/>
                </a:moveTo>
                <a:lnTo>
                  <a:pt x="243245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43245" y="227055"/>
                </a:lnTo>
                <a:lnTo>
                  <a:pt x="243245" y="302741"/>
                </a:lnTo>
                <a:lnTo>
                  <a:pt x="394616" y="151371"/>
                </a:lnTo>
                <a:lnTo>
                  <a:pt x="243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00855" y="1258319"/>
            <a:ext cx="394970" cy="302895"/>
          </a:xfrm>
          <a:custGeom>
            <a:avLst/>
            <a:gdLst/>
            <a:ahLst/>
            <a:cxnLst/>
            <a:rect l="l" t="t" r="r" b="b"/>
            <a:pathLst>
              <a:path w="394969" h="302894">
                <a:moveTo>
                  <a:pt x="0" y="75685"/>
                </a:moveTo>
                <a:lnTo>
                  <a:pt x="243245" y="75685"/>
                </a:lnTo>
                <a:lnTo>
                  <a:pt x="243245" y="0"/>
                </a:lnTo>
                <a:lnTo>
                  <a:pt x="394616" y="151370"/>
                </a:lnTo>
                <a:lnTo>
                  <a:pt x="243245" y="302741"/>
                </a:lnTo>
                <a:lnTo>
                  <a:pt x="243245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5636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313690" marR="124460" indent="-182880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med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230074" y="0"/>
                </a:moveTo>
                <a:lnTo>
                  <a:pt x="230074" y="75685"/>
                </a:lnTo>
                <a:lnTo>
                  <a:pt x="0" y="75685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1"/>
                </a:lnTo>
                <a:lnTo>
                  <a:pt x="381444" y="151371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68553" y="128850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5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01539" y="837910"/>
            <a:ext cx="122872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216535" marR="192405" indent="-17145">
              <a:lnSpc>
                <a:spcPts val="211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 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9308" y="246231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565150" marR="200025" indent="-358775">
              <a:lnSpc>
                <a:spcPts val="2110"/>
              </a:lnSpc>
              <a:spcBef>
                <a:spcPts val="5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9308" y="406452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07314" marR="99695" indent="99060">
              <a:lnSpc>
                <a:spcPts val="211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ptimi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230074" y="0"/>
                </a:moveTo>
                <a:lnTo>
                  <a:pt x="230074" y="75684"/>
                </a:lnTo>
                <a:lnTo>
                  <a:pt x="0" y="75684"/>
                </a:lnTo>
                <a:lnTo>
                  <a:pt x="0" y="227055"/>
                </a:lnTo>
                <a:lnTo>
                  <a:pt x="230074" y="227055"/>
                </a:lnTo>
                <a:lnTo>
                  <a:pt x="230074" y="302740"/>
                </a:lnTo>
                <a:lnTo>
                  <a:pt x="381444" y="151370"/>
                </a:lnTo>
                <a:lnTo>
                  <a:pt x="2300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4213" y="1251836"/>
            <a:ext cx="381635" cy="302895"/>
          </a:xfrm>
          <a:custGeom>
            <a:avLst/>
            <a:gdLst/>
            <a:ahLst/>
            <a:cxnLst/>
            <a:rect l="l" t="t" r="r" b="b"/>
            <a:pathLst>
              <a:path w="381634" h="302894">
                <a:moveTo>
                  <a:pt x="0" y="75685"/>
                </a:moveTo>
                <a:lnTo>
                  <a:pt x="230073" y="75685"/>
                </a:lnTo>
                <a:lnTo>
                  <a:pt x="230073" y="0"/>
                </a:lnTo>
                <a:lnTo>
                  <a:pt x="381444" y="151370"/>
                </a:lnTo>
                <a:lnTo>
                  <a:pt x="230073" y="302741"/>
                </a:lnTo>
                <a:lnTo>
                  <a:pt x="230073" y="227055"/>
                </a:lnTo>
                <a:lnTo>
                  <a:pt x="0" y="227055"/>
                </a:lnTo>
                <a:lnTo>
                  <a:pt x="0" y="7568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4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01006" y="1276603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01006" y="4510532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8141" y="2142235"/>
            <a:ext cx="2974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z="1800" spc="-20" dirty="0">
                <a:latin typeface="Calibri"/>
                <a:cs typeface="Calibri"/>
              </a:rPr>
              <a:t>token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stream	</a:t>
            </a:r>
            <a:r>
              <a:rPr sz="1800" spc="-20" dirty="0">
                <a:latin typeface="Calibri"/>
                <a:cs typeface="Calibri"/>
              </a:rPr>
              <a:t>syntax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38369" y="452667"/>
            <a:ext cx="1127125" cy="2794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sz="1800" spc="-5" dirty="0">
                <a:latin typeface="Calibri"/>
                <a:cs typeface="Calibri"/>
              </a:rPr>
              <a:t>IR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76223" y="1974596"/>
            <a:ext cx="118300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IR  </a:t>
            </a:r>
            <a:r>
              <a:rPr sz="1800" spc="-15" dirty="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1941955" y="0"/>
                </a:moveTo>
                <a:lnTo>
                  <a:pt x="1941955" y="75686"/>
                </a:lnTo>
                <a:lnTo>
                  <a:pt x="0" y="75686"/>
                </a:lnTo>
                <a:lnTo>
                  <a:pt x="0" y="227056"/>
                </a:lnTo>
                <a:lnTo>
                  <a:pt x="1941955" y="227056"/>
                </a:lnTo>
                <a:lnTo>
                  <a:pt x="1941955" y="302741"/>
                </a:lnTo>
                <a:lnTo>
                  <a:pt x="2093325" y="151371"/>
                </a:lnTo>
                <a:lnTo>
                  <a:pt x="1941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81566" y="1258319"/>
            <a:ext cx="2093595" cy="302895"/>
          </a:xfrm>
          <a:custGeom>
            <a:avLst/>
            <a:gdLst/>
            <a:ahLst/>
            <a:cxnLst/>
            <a:rect l="l" t="t" r="r" b="b"/>
            <a:pathLst>
              <a:path w="2093595" h="302894">
                <a:moveTo>
                  <a:pt x="0" y="75686"/>
                </a:moveTo>
                <a:lnTo>
                  <a:pt x="1941957" y="75686"/>
                </a:lnTo>
                <a:lnTo>
                  <a:pt x="1941957" y="0"/>
                </a:lnTo>
                <a:lnTo>
                  <a:pt x="2093327" y="151370"/>
                </a:lnTo>
                <a:lnTo>
                  <a:pt x="1941957" y="302741"/>
                </a:lnTo>
                <a:lnTo>
                  <a:pt x="1941957" y="227056"/>
                </a:lnTo>
                <a:lnTo>
                  <a:pt x="0" y="227056"/>
                </a:lnTo>
                <a:lnTo>
                  <a:pt x="0" y="7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949308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36525" marR="130175" indent="64769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IR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Analysis/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9740" y="2861564"/>
            <a:ext cx="3244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 IRs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15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4522" y="4399788"/>
            <a:ext cx="2472690" cy="13055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vr3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_new_name0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_new_name1</a:t>
            </a:r>
            <a:r>
              <a:rPr sz="1400" spc="-10" dirty="0">
                <a:latin typeface="DejaVu Sans Mono"/>
                <a:cs typeface="DejaVu Sans Mono"/>
              </a:rPr>
              <a:t>;  vr0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4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int2vr(5);</a:t>
            </a:r>
            <a:endParaRPr sz="1400">
              <a:latin typeface="DejaVu Sans Mono"/>
              <a:cs typeface="DejaVu Sans Mono"/>
            </a:endParaRPr>
          </a:p>
          <a:p>
            <a:pPr marL="12700" marR="643890">
              <a:lnSpc>
                <a:spcPts val="1610"/>
              </a:lnSpc>
              <a:spcBef>
                <a:spcPts val="140"/>
              </a:spcBef>
            </a:pPr>
            <a:r>
              <a:rPr sz="1400" spc="-10" dirty="0">
                <a:latin typeface="DejaVu Sans Mono"/>
                <a:cs typeface="DejaVu Sans Mono"/>
              </a:rPr>
              <a:t>_new_name0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11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vr0;  vr1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8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int2vr(6);</a:t>
            </a:r>
            <a:endParaRPr sz="1400">
              <a:latin typeface="DejaVu Sans Mono"/>
              <a:cs typeface="DejaVu Sans Mon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782" y="3856790"/>
            <a:ext cx="158877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44526" y="6199123"/>
            <a:ext cx="105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AST&lt;x,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86688" y="5403596"/>
            <a:ext cx="101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&lt;+,i</a:t>
            </a:r>
            <a:r>
              <a:rPr sz="1800" spc="-15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570091" y="5749023"/>
            <a:ext cx="1224915" cy="458470"/>
          </a:xfrm>
          <a:custGeom>
            <a:avLst/>
            <a:gdLst/>
            <a:ahLst/>
            <a:cxnLst/>
            <a:rect l="l" t="t" r="r" b="b"/>
            <a:pathLst>
              <a:path w="1224914" h="458470">
                <a:moveTo>
                  <a:pt x="1224374" y="0"/>
                </a:moveTo>
                <a:lnTo>
                  <a:pt x="0" y="45841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794464" y="5749023"/>
            <a:ext cx="1097280" cy="458470"/>
          </a:xfrm>
          <a:custGeom>
            <a:avLst/>
            <a:gdLst/>
            <a:ahLst/>
            <a:cxnLst/>
            <a:rect l="l" t="t" r="r" b="b"/>
            <a:pathLst>
              <a:path w="1097279" h="458470">
                <a:moveTo>
                  <a:pt x="0" y="0"/>
                </a:moveTo>
                <a:lnTo>
                  <a:pt x="1097159" y="45841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817370" y="6199123"/>
            <a:ext cx="1043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AST&lt;y,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27851" y="4507483"/>
            <a:ext cx="1198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&lt;+,f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75087" y="4857219"/>
            <a:ext cx="2159000" cy="527685"/>
          </a:xfrm>
          <a:custGeom>
            <a:avLst/>
            <a:gdLst/>
            <a:ahLst/>
            <a:cxnLst/>
            <a:rect l="l" t="t" r="r" b="b"/>
            <a:pathLst>
              <a:path w="2159000" h="527685">
                <a:moveTo>
                  <a:pt x="2158411" y="0"/>
                </a:moveTo>
                <a:lnTo>
                  <a:pt x="0" y="52710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33498" y="4857219"/>
            <a:ext cx="698500" cy="537210"/>
          </a:xfrm>
          <a:custGeom>
            <a:avLst/>
            <a:gdLst/>
            <a:ahLst/>
            <a:cxnLst/>
            <a:rect l="l" t="t" r="r" b="b"/>
            <a:pathLst>
              <a:path w="698500" h="537210">
                <a:moveTo>
                  <a:pt x="0" y="0"/>
                </a:moveTo>
                <a:lnTo>
                  <a:pt x="698396" y="53664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747821" y="5412740"/>
            <a:ext cx="142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AST&lt;5.5,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float&gt;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684403" y="3856790"/>
            <a:ext cx="53467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spc="-10" dirty="0">
                <a:latin typeface="Calibri"/>
                <a:cs typeface="Calibri"/>
              </a:rPr>
              <a:t>AST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56910" y="5620832"/>
            <a:ext cx="1405255" cy="1211580"/>
          </a:xfrm>
          <a:custGeom>
            <a:avLst/>
            <a:gdLst/>
            <a:ahLst/>
            <a:cxnLst/>
            <a:rect l="l" t="t" r="r" b="b"/>
            <a:pathLst>
              <a:path w="1405254" h="1211579">
                <a:moveTo>
                  <a:pt x="0" y="0"/>
                </a:moveTo>
                <a:lnTo>
                  <a:pt x="1404904" y="0"/>
                </a:lnTo>
                <a:lnTo>
                  <a:pt x="1404904" y="1210962"/>
                </a:lnTo>
                <a:lnTo>
                  <a:pt x="0" y="12109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16439" y="5821171"/>
            <a:ext cx="108521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4" marR="5080" indent="-231140">
              <a:lnSpc>
                <a:spcPct val="100800"/>
              </a:lnSpc>
              <a:spcBef>
                <a:spcPts val="75"/>
              </a:spcBef>
            </a:pPr>
            <a:r>
              <a:rPr sz="2400" spc="-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ne  </a:t>
            </a:r>
            <a:r>
              <a:rPr sz="2400" spc="-10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9308" y="246231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565150" marR="200025" indent="-358775">
              <a:lnSpc>
                <a:spcPts val="2110"/>
              </a:lnSpc>
              <a:spcBef>
                <a:spcPts val="5"/>
              </a:spcBef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gen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9308" y="4064524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00">
              <a:latin typeface="Times New Roman"/>
              <a:cs typeface="Times New Roman"/>
            </a:endParaRPr>
          </a:p>
          <a:p>
            <a:pPr marL="107314" marR="99695" indent="99060">
              <a:lnSpc>
                <a:spcPts val="2110"/>
              </a:lnSpc>
            </a:pP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target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code 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ptimi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34045" y="208722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3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00166" y="3696760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302741" y="230073"/>
                </a:moveTo>
                <a:lnTo>
                  <a:pt x="0" y="230073"/>
                </a:lnTo>
                <a:lnTo>
                  <a:pt x="151371" y="381444"/>
                </a:lnTo>
                <a:lnTo>
                  <a:pt x="302741" y="230073"/>
                </a:lnTo>
                <a:close/>
              </a:path>
              <a:path w="302895" h="381635">
                <a:moveTo>
                  <a:pt x="227056" y="0"/>
                </a:moveTo>
                <a:lnTo>
                  <a:pt x="75685" y="0"/>
                </a:lnTo>
                <a:lnTo>
                  <a:pt x="75685" y="230073"/>
                </a:lnTo>
                <a:lnTo>
                  <a:pt x="227056" y="230073"/>
                </a:lnTo>
                <a:lnTo>
                  <a:pt x="227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34045" y="5285614"/>
            <a:ext cx="302895" cy="381635"/>
          </a:xfrm>
          <a:custGeom>
            <a:avLst/>
            <a:gdLst/>
            <a:ahLst/>
            <a:cxnLst/>
            <a:rect l="l" t="t" r="r" b="b"/>
            <a:pathLst>
              <a:path w="302895" h="381635">
                <a:moveTo>
                  <a:pt x="227055" y="0"/>
                </a:moveTo>
                <a:lnTo>
                  <a:pt x="227055" y="230073"/>
                </a:lnTo>
                <a:lnTo>
                  <a:pt x="302741" y="230073"/>
                </a:lnTo>
                <a:lnTo>
                  <a:pt x="151370" y="381444"/>
                </a:lnTo>
                <a:lnTo>
                  <a:pt x="0" y="230073"/>
                </a:lnTo>
                <a:lnTo>
                  <a:pt x="75685" y="230073"/>
                </a:lnTo>
                <a:lnTo>
                  <a:pt x="75685" y="0"/>
                </a:lnTo>
                <a:lnTo>
                  <a:pt x="227055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601006" y="1276603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1006" y="4510532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l</a:t>
            </a:r>
            <a:r>
              <a:rPr sz="1800" i="1" dirty="0">
                <a:latin typeface="Calibri"/>
                <a:cs typeface="Calibri"/>
              </a:rPr>
              <a:t>oop!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27505" y="375081"/>
            <a:ext cx="1127125" cy="2794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1800" spc="-5" dirty="0">
                <a:latin typeface="Calibri"/>
                <a:cs typeface="Calibri"/>
              </a:rPr>
              <a:t>IR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76223" y="1974596"/>
            <a:ext cx="118300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-10" dirty="0">
                <a:latin typeface="Calibri"/>
                <a:cs typeface="Calibri"/>
              </a:rPr>
              <a:t>optimized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IR  </a:t>
            </a:r>
            <a:r>
              <a:rPr sz="1800" spc="-15" dirty="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49308" y="837910"/>
            <a:ext cx="1472565" cy="1224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36525" marR="130175" indent="64769">
              <a:lnSpc>
                <a:spcPts val="211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IR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Analysis/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Opt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3535" y="3050540"/>
            <a:ext cx="3244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 IRs </a:t>
            </a:r>
            <a:r>
              <a:rPr sz="1800" dirty="0">
                <a:latin typeface="Calibri"/>
                <a:cs typeface="Calibri"/>
              </a:rPr>
              <a:t>do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15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point?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4522" y="4399788"/>
            <a:ext cx="2472690" cy="13055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0"/>
              </a:spcBef>
            </a:pP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vr3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_new_name0</a:t>
            </a:r>
            <a:r>
              <a:rPr sz="1400" spc="-10" dirty="0">
                <a:latin typeface="DejaVu Sans Mono"/>
                <a:cs typeface="DejaVu Sans Mono"/>
              </a:rPr>
              <a:t>;  </a:t>
            </a:r>
            <a:r>
              <a:rPr sz="1400" spc="-10" dirty="0">
                <a:solidFill>
                  <a:srgbClr val="2FB41D"/>
                </a:solidFill>
                <a:latin typeface="DejaVu Sans Mono"/>
                <a:cs typeface="DejaVu Sans Mono"/>
              </a:rPr>
              <a:t>virtual_reg </a:t>
            </a:r>
            <a:r>
              <a:rPr sz="1400" spc="-10" dirty="0">
                <a:solidFill>
                  <a:srgbClr val="9FA01C"/>
                </a:solidFill>
                <a:latin typeface="DejaVu Sans Mono"/>
                <a:cs typeface="DejaVu Sans Mono"/>
              </a:rPr>
              <a:t>_new_name1</a:t>
            </a:r>
            <a:r>
              <a:rPr sz="1400" spc="-10" dirty="0">
                <a:latin typeface="DejaVu Sans Mono"/>
                <a:cs typeface="DejaVu Sans Mono"/>
              </a:rPr>
              <a:t>;  vr0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4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int2vr(5);</a:t>
            </a:r>
            <a:endParaRPr sz="1400">
              <a:latin typeface="DejaVu Sans Mono"/>
              <a:cs typeface="DejaVu Sans Mono"/>
            </a:endParaRPr>
          </a:p>
          <a:p>
            <a:pPr marL="12700" marR="643890">
              <a:lnSpc>
                <a:spcPts val="1610"/>
              </a:lnSpc>
              <a:spcBef>
                <a:spcPts val="140"/>
              </a:spcBef>
            </a:pPr>
            <a:r>
              <a:rPr sz="1400" spc="-10" dirty="0">
                <a:latin typeface="DejaVu Sans Mono"/>
                <a:cs typeface="DejaVu Sans Mono"/>
              </a:rPr>
              <a:t>_new_name0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11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vr0;  vr1 </a:t>
            </a:r>
            <a:r>
              <a:rPr sz="1400" dirty="0">
                <a:latin typeface="DejaVu Sans Mono"/>
                <a:cs typeface="DejaVu Sans Mono"/>
              </a:rPr>
              <a:t>=</a:t>
            </a:r>
            <a:r>
              <a:rPr sz="1400" spc="-80" dirty="0">
                <a:latin typeface="DejaVu Sans Mono"/>
                <a:cs typeface="DejaVu Sans Mono"/>
              </a:rPr>
              <a:t> </a:t>
            </a:r>
            <a:r>
              <a:rPr sz="1400" spc="-10" dirty="0">
                <a:latin typeface="DejaVu Sans Mono"/>
                <a:cs typeface="DejaVu Sans Mono"/>
              </a:rPr>
              <a:t>int2vr(6);</a:t>
            </a:r>
            <a:endParaRPr sz="1400">
              <a:latin typeface="DejaVu Sans Mono"/>
              <a:cs typeface="DejaVu Sans Mo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782" y="3856790"/>
            <a:ext cx="158877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Calibri"/>
                <a:cs typeface="Calibri"/>
              </a:rPr>
              <a:t>3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44526" y="6199123"/>
            <a:ext cx="105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AST&lt;x,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6688" y="5403596"/>
            <a:ext cx="101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&lt;+,i</a:t>
            </a:r>
            <a:r>
              <a:rPr sz="1800" spc="-15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70091" y="5749023"/>
            <a:ext cx="1224915" cy="458470"/>
          </a:xfrm>
          <a:custGeom>
            <a:avLst/>
            <a:gdLst/>
            <a:ahLst/>
            <a:cxnLst/>
            <a:rect l="l" t="t" r="r" b="b"/>
            <a:pathLst>
              <a:path w="1224914" h="458470">
                <a:moveTo>
                  <a:pt x="1224374" y="0"/>
                </a:moveTo>
                <a:lnTo>
                  <a:pt x="0" y="45841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94464" y="5749023"/>
            <a:ext cx="1097280" cy="458470"/>
          </a:xfrm>
          <a:custGeom>
            <a:avLst/>
            <a:gdLst/>
            <a:ahLst/>
            <a:cxnLst/>
            <a:rect l="l" t="t" r="r" b="b"/>
            <a:pathLst>
              <a:path w="1097279" h="458470">
                <a:moveTo>
                  <a:pt x="0" y="0"/>
                </a:moveTo>
                <a:lnTo>
                  <a:pt x="1097159" y="458418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17370" y="6199123"/>
            <a:ext cx="1043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AST&lt;y,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7851" y="4507483"/>
            <a:ext cx="1198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&lt;+,f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75087" y="4857219"/>
            <a:ext cx="2159000" cy="527685"/>
          </a:xfrm>
          <a:custGeom>
            <a:avLst/>
            <a:gdLst/>
            <a:ahLst/>
            <a:cxnLst/>
            <a:rect l="l" t="t" r="r" b="b"/>
            <a:pathLst>
              <a:path w="2159000" h="527685">
                <a:moveTo>
                  <a:pt x="2158411" y="0"/>
                </a:moveTo>
                <a:lnTo>
                  <a:pt x="0" y="527102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33498" y="4857219"/>
            <a:ext cx="698500" cy="537210"/>
          </a:xfrm>
          <a:custGeom>
            <a:avLst/>
            <a:gdLst/>
            <a:ahLst/>
            <a:cxnLst/>
            <a:rect l="l" t="t" r="r" b="b"/>
            <a:pathLst>
              <a:path w="698500" h="537210">
                <a:moveTo>
                  <a:pt x="0" y="0"/>
                </a:moveTo>
                <a:lnTo>
                  <a:pt x="698396" y="53664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747821" y="5412740"/>
            <a:ext cx="142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AST&lt;5.5,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float&gt;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84403" y="3856790"/>
            <a:ext cx="534670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spc="-10" dirty="0">
                <a:latin typeface="Calibri"/>
                <a:cs typeface="Calibri"/>
              </a:rPr>
              <a:t>AST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2179" y="580644"/>
            <a:ext cx="30035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if_else_statement := IF</a:t>
            </a:r>
            <a:r>
              <a:rPr sz="1400" spc="-9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LPAR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69391" y="606922"/>
            <a:ext cx="425450" cy="2159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5"/>
              </a:lnSpc>
            </a:pPr>
            <a:r>
              <a:rPr sz="1400" spc="-5" dirty="0">
                <a:latin typeface="Courier New"/>
                <a:cs typeface="Courier New"/>
              </a:rPr>
              <a:t>expr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88504" y="580644"/>
            <a:ext cx="450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RPAR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33016" y="606922"/>
            <a:ext cx="957580" cy="21590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5"/>
              </a:lnSpc>
            </a:pPr>
            <a:r>
              <a:rPr sz="1400" spc="-5" dirty="0">
                <a:latin typeface="Courier New"/>
                <a:cs typeface="Courier New"/>
              </a:rPr>
              <a:t>statement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83941" y="580644"/>
            <a:ext cx="450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8454" y="606922"/>
            <a:ext cx="957580" cy="2159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75"/>
              </a:lnSpc>
            </a:pPr>
            <a:r>
              <a:rPr sz="1400" spc="-5" dirty="0">
                <a:latin typeface="Courier New"/>
                <a:cs typeface="Courier New"/>
              </a:rPr>
              <a:t>statement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59953" y="1036309"/>
            <a:ext cx="850900" cy="190500"/>
          </a:xfrm>
          <a:custGeom>
            <a:avLst/>
            <a:gdLst/>
            <a:ahLst/>
            <a:cxnLst/>
            <a:rect l="l" t="t" r="r" b="b"/>
            <a:pathLst>
              <a:path w="850900" h="190500">
                <a:moveTo>
                  <a:pt x="0" y="190500"/>
                </a:moveTo>
                <a:lnTo>
                  <a:pt x="850900" y="190500"/>
                </a:lnTo>
                <a:lnTo>
                  <a:pt x="8509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47229" y="1252209"/>
            <a:ext cx="850900" cy="190500"/>
          </a:xfrm>
          <a:custGeom>
            <a:avLst/>
            <a:gdLst/>
            <a:ahLst/>
            <a:cxnLst/>
            <a:rect l="l" t="t" r="r" b="b"/>
            <a:pathLst>
              <a:path w="850900" h="190500">
                <a:moveTo>
                  <a:pt x="0" y="190500"/>
                </a:moveTo>
                <a:lnTo>
                  <a:pt x="850900" y="190500"/>
                </a:lnTo>
                <a:lnTo>
                  <a:pt x="8509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47229" y="1899909"/>
            <a:ext cx="850900" cy="190500"/>
          </a:xfrm>
          <a:custGeom>
            <a:avLst/>
            <a:gdLst/>
            <a:ahLst/>
            <a:cxnLst/>
            <a:rect l="l" t="t" r="r" b="b"/>
            <a:pathLst>
              <a:path w="850900" h="190500">
                <a:moveTo>
                  <a:pt x="0" y="190500"/>
                </a:moveTo>
                <a:lnTo>
                  <a:pt x="850900" y="190500"/>
                </a:lnTo>
                <a:lnTo>
                  <a:pt x="85090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21803" y="986027"/>
            <a:ext cx="1621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if (program0)</a:t>
            </a:r>
            <a:r>
              <a:rPr sz="1400" spc="-10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4529" y="1202435"/>
            <a:ext cx="876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program1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1803" y="1415796"/>
            <a:ext cx="1327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1803" y="1632203"/>
            <a:ext cx="664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r>
              <a:rPr sz="1400" spc="-9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4529" y="1848611"/>
            <a:ext cx="8763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ourier New"/>
                <a:cs typeface="Courier New"/>
              </a:rPr>
              <a:t>program2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1803" y="2052828"/>
            <a:ext cx="1327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543064" y="106889"/>
            <a:ext cx="1886585" cy="369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1800" b="0" spc="-5" dirty="0">
                <a:latin typeface="Calibri"/>
                <a:cs typeface="Calibri"/>
              </a:rPr>
              <a:t>Implicit </a:t>
            </a:r>
            <a:r>
              <a:rPr sz="1800" b="0" spc="-10" dirty="0">
                <a:latin typeface="Calibri"/>
                <a:cs typeface="Calibri"/>
              </a:rPr>
              <a:t>parse</a:t>
            </a:r>
            <a:r>
              <a:rPr sz="1800" b="0" spc="-2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tree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13186" y="1752091"/>
            <a:ext cx="3452495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b="1" i="1" spc="-35" dirty="0">
                <a:latin typeface="Calibri"/>
                <a:cs typeface="Calibri"/>
              </a:rPr>
              <a:t>We </a:t>
            </a:r>
            <a:r>
              <a:rPr sz="1800" b="1" i="1" dirty="0">
                <a:latin typeface="Calibri"/>
                <a:cs typeface="Calibri"/>
              </a:rPr>
              <a:t>have </a:t>
            </a:r>
            <a:r>
              <a:rPr sz="1800" b="1" i="1" spc="-5" dirty="0">
                <a:latin typeface="Calibri"/>
                <a:cs typeface="Calibri"/>
              </a:rPr>
              <a:t>several structures </a:t>
            </a:r>
            <a:r>
              <a:rPr sz="1800" b="1" i="1" spc="-10" dirty="0">
                <a:latin typeface="Calibri"/>
                <a:cs typeface="Calibri"/>
              </a:rPr>
              <a:t>to utilize  to analyze </a:t>
            </a:r>
            <a:r>
              <a:rPr sz="1800" b="1" i="1" spc="-5" dirty="0">
                <a:latin typeface="Calibri"/>
                <a:cs typeface="Calibri"/>
              </a:rPr>
              <a:t>and </a:t>
            </a:r>
            <a:r>
              <a:rPr sz="1800" b="1" i="1" spc="-10" dirty="0">
                <a:latin typeface="Calibri"/>
                <a:cs typeface="Calibri"/>
              </a:rPr>
              <a:t>optimize</a:t>
            </a:r>
            <a:r>
              <a:rPr sz="1800" b="1" i="1" spc="4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programs!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086340" cy="1228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Machine-independent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5" dirty="0">
                <a:latin typeface="Calibri"/>
                <a:cs typeface="Calibri"/>
              </a:rPr>
              <a:t>should </a:t>
            </a:r>
            <a:r>
              <a:rPr sz="2800" spc="-10" dirty="0">
                <a:latin typeface="Calibri"/>
                <a:cs typeface="Calibri"/>
              </a:rPr>
              <a:t>work well across 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258564"/>
            <a:ext cx="10078085" cy="1228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 </a:t>
            </a:r>
            <a:r>
              <a:rPr sz="2800" spc="-10" dirty="0">
                <a:latin typeface="Calibri"/>
                <a:cs typeface="Calibri"/>
              </a:rPr>
              <a:t>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start to optimize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code 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given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155"/>
            <a:ext cx="10086340" cy="4664097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ts val="271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Machine-independent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5" dirty="0">
                <a:latin typeface="Calibri"/>
                <a:cs typeface="Calibri"/>
              </a:rPr>
              <a:t>should </a:t>
            </a:r>
            <a:r>
              <a:rPr sz="2800" spc="-10" dirty="0">
                <a:latin typeface="Calibri"/>
                <a:cs typeface="Calibri"/>
              </a:rPr>
              <a:t>work well across 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marR="276225" lvl="1" indent="-228600">
              <a:lnSpc>
                <a:spcPts val="2300"/>
              </a:lnSpc>
              <a:spcBef>
                <a:spcPts val="5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All the </a:t>
            </a:r>
            <a:r>
              <a:rPr sz="2400" spc="-15" dirty="0">
                <a:latin typeface="Calibri"/>
                <a:cs typeface="Calibri"/>
              </a:rPr>
              <a:t>examples we </a:t>
            </a:r>
            <a:r>
              <a:rPr sz="2400" spc="-20" dirty="0">
                <a:latin typeface="Calibri"/>
                <a:cs typeface="Calibri"/>
              </a:rPr>
              <a:t>looked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seem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they will </a:t>
            </a:r>
            <a:r>
              <a:rPr sz="2400" dirty="0">
                <a:latin typeface="Calibri"/>
                <a:cs typeface="Calibri"/>
              </a:rPr>
              <a:t>help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spc="-15" dirty="0">
                <a:latin typeface="Calibri"/>
                <a:cs typeface="Calibri"/>
              </a:rPr>
              <a:t>many 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9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50" dirty="0">
              <a:latin typeface="Calibri"/>
              <a:cs typeface="Calibri"/>
            </a:endParaRPr>
          </a:p>
          <a:p>
            <a:pPr marL="241300" marR="13335" indent="-228600">
              <a:lnSpc>
                <a:spcPts val="271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Machine </a:t>
            </a:r>
            <a:r>
              <a:rPr sz="2800" spc="-10" dirty="0">
                <a:latin typeface="Calibri"/>
                <a:cs typeface="Calibri"/>
              </a:rPr>
              <a:t>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start to optimize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code 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given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79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loop chunking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cache </a:t>
            </a:r>
            <a:r>
              <a:rPr sz="2400" spc="-5" dirty="0">
                <a:latin typeface="Calibri"/>
                <a:cs typeface="Calibri"/>
              </a:rPr>
              <a:t>line </a:t>
            </a:r>
            <a:r>
              <a:rPr sz="2400" spc="-20" dirty="0">
                <a:latin typeface="Calibri"/>
                <a:cs typeface="Calibri"/>
              </a:rPr>
              <a:t>size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vectorization.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instruction re-orderings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30" dirty="0">
                <a:latin typeface="Calibri"/>
                <a:cs typeface="Calibri"/>
              </a:rPr>
              <a:t>take </a:t>
            </a:r>
            <a:r>
              <a:rPr sz="2400" spc="-15" dirty="0">
                <a:latin typeface="Calibri"/>
                <a:cs typeface="Calibri"/>
              </a:rPr>
              <a:t>advantage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processor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pipelines.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fused </a:t>
            </a:r>
            <a:r>
              <a:rPr sz="2400" spc="-10" dirty="0">
                <a:latin typeface="Calibri"/>
                <a:cs typeface="Calibri"/>
              </a:rPr>
              <a:t>multiply-and-add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lang="en-US" sz="2400" spc="-5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lang="en-US" sz="2400" spc="-5" dirty="0">
                <a:latin typeface="Calibri"/>
                <a:cs typeface="Calibri"/>
              </a:rPr>
              <a:t>vector processing (parallel computation)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53015" cy="399853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Machine-independent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5" dirty="0">
                <a:latin typeface="Calibri"/>
                <a:cs typeface="Calibri"/>
              </a:rPr>
              <a:t>should </a:t>
            </a:r>
            <a:r>
              <a:rPr sz="2800" spc="-10" dirty="0">
                <a:latin typeface="Calibri"/>
                <a:cs typeface="Calibri"/>
              </a:rPr>
              <a:t>work well across 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698500" marR="342900" lvl="1" indent="-228600">
              <a:lnSpc>
                <a:spcPts val="262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All the </a:t>
            </a:r>
            <a:r>
              <a:rPr sz="2400" spc="-15" dirty="0">
                <a:latin typeface="Calibri"/>
                <a:cs typeface="Calibri"/>
              </a:rPr>
              <a:t>examples we </a:t>
            </a:r>
            <a:r>
              <a:rPr sz="2400" spc="-20" dirty="0">
                <a:latin typeface="Calibri"/>
                <a:cs typeface="Calibri"/>
              </a:rPr>
              <a:t>looked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dirty="0">
                <a:latin typeface="Calibri"/>
                <a:cs typeface="Calibri"/>
              </a:rPr>
              <a:t>seem </a:t>
            </a:r>
            <a:r>
              <a:rPr sz="2400" spc="-25" dirty="0">
                <a:latin typeface="Calibri"/>
                <a:cs typeface="Calibri"/>
              </a:rPr>
              <a:t>like </a:t>
            </a:r>
            <a:r>
              <a:rPr sz="2400" spc="-5" dirty="0">
                <a:latin typeface="Calibri"/>
                <a:cs typeface="Calibri"/>
              </a:rPr>
              <a:t>they will </a:t>
            </a:r>
            <a:r>
              <a:rPr sz="2400" dirty="0">
                <a:latin typeface="Calibri"/>
                <a:cs typeface="Calibri"/>
              </a:rPr>
              <a:t>help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spc="-15" dirty="0">
                <a:latin typeface="Calibri"/>
                <a:cs typeface="Calibri"/>
              </a:rPr>
              <a:t>many 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</a:pPr>
            <a:endParaRPr sz="2950" dirty="0">
              <a:latin typeface="Calibri"/>
              <a:cs typeface="Calibri"/>
            </a:endParaRPr>
          </a:p>
          <a:p>
            <a:pPr marL="241300" marR="1527810" indent="-228600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this module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looking </a:t>
            </a:r>
            <a:r>
              <a:rPr sz="2800" spc="-20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machine-independent  </a:t>
            </a:r>
            <a:r>
              <a:rPr sz="2800" spc="-10" dirty="0">
                <a:latin typeface="Calibri"/>
                <a:cs typeface="Calibri"/>
              </a:rPr>
              <a:t>optimizations.</a:t>
            </a:r>
            <a:endParaRPr lang="en-US" sz="2800" spc="-10" dirty="0">
              <a:latin typeface="Calibri"/>
              <a:cs typeface="Calibri"/>
            </a:endParaRPr>
          </a:p>
          <a:p>
            <a:pPr marL="12700" marR="1527810">
              <a:lnSpc>
                <a:spcPts val="3000"/>
              </a:lnSpc>
              <a:tabLst>
                <a:tab pos="241300" algn="l"/>
              </a:tabLst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pros </a:t>
            </a:r>
            <a:r>
              <a:rPr sz="2800" spc="-5" dirty="0">
                <a:latin typeface="Calibri"/>
                <a:cs typeface="Calibri"/>
              </a:rPr>
              <a:t>of machine-independent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optimizations?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243185" cy="39300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43815">
              <a:lnSpc>
                <a:spcPts val="3000"/>
              </a:lnSpc>
              <a:spcBef>
                <a:spcPts val="500"/>
              </a:spcBef>
            </a:pPr>
            <a:r>
              <a:rPr sz="2800" spc="-10" dirty="0">
                <a:latin typeface="Calibri"/>
                <a:cs typeface="Calibri"/>
              </a:rPr>
              <a:t>Next </a:t>
            </a:r>
            <a:r>
              <a:rPr sz="2800" spc="-15" dirty="0">
                <a:latin typeface="Calibri"/>
                <a:cs typeface="Calibri"/>
              </a:rPr>
              <a:t>category level </a:t>
            </a:r>
            <a:r>
              <a:rPr sz="2800" spc="-5" dirty="0">
                <a:latin typeface="Calibri"/>
                <a:cs typeface="Calibri"/>
              </a:rPr>
              <a:t>is how </a:t>
            </a:r>
            <a:r>
              <a:rPr sz="2800" dirty="0">
                <a:latin typeface="Calibri"/>
                <a:cs typeface="Calibri"/>
              </a:rPr>
              <a:t>much </a:t>
            </a:r>
            <a:r>
              <a:rPr sz="2800" spc="-5" dirty="0">
                <a:latin typeface="Calibri"/>
                <a:cs typeface="Calibri"/>
              </a:rPr>
              <a:t>code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reason </a:t>
            </a:r>
            <a:r>
              <a:rPr sz="2800" dirty="0">
                <a:latin typeface="Calibri"/>
                <a:cs typeface="Calibri"/>
              </a:rPr>
              <a:t>about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the  </a:t>
            </a:r>
            <a:r>
              <a:rPr sz="2800" spc="-15" dirty="0">
                <a:latin typeface="Calibri"/>
                <a:cs typeface="Calibri"/>
              </a:rPr>
              <a:t>optimization.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Calibri"/>
              <a:cs typeface="Calibri"/>
            </a:endParaRPr>
          </a:p>
          <a:p>
            <a:pPr marL="241300" marR="575945" indent="-228600">
              <a:lnSpc>
                <a:spcPts val="3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Examples?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5779"/>
            <a:ext cx="10436861" cy="238270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634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lang="en-US" sz="28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IDFA Inter-Procedural Data Flow Analysis</a:t>
            </a:r>
            <a:r>
              <a:rPr lang="en-US" sz="2800" spc="-5" dirty="0">
                <a:latin typeface="Calibri"/>
                <a:cs typeface="Calibri"/>
              </a:rPr>
              <a:t> : Optimizes across functions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8007" y="4490211"/>
            <a:ext cx="7126393" cy="954106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2400" spc="-5" dirty="0">
                <a:latin typeface="Calibri"/>
                <a:cs typeface="Calibri"/>
              </a:rPr>
              <a:t>Discussion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spcBef>
                <a:spcPts val="1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What </a:t>
            </a:r>
            <a:r>
              <a:rPr sz="1800" spc="-15" dirty="0">
                <a:latin typeface="Calibri"/>
                <a:cs typeface="Calibri"/>
              </a:rPr>
              <a:t>are </a:t>
            </a: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pros </a:t>
            </a:r>
            <a:r>
              <a:rPr sz="1800" spc="-5" dirty="0">
                <a:latin typeface="Calibri"/>
                <a:cs typeface="Calibri"/>
              </a:rPr>
              <a:t>and cons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each?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lang="en-US" sz="1800" spc="-15" dirty="0">
                <a:latin typeface="Calibri"/>
                <a:cs typeface="Calibri"/>
              </a:rPr>
              <a:t>Going across functions is less common, why</a:t>
            </a:r>
            <a:r>
              <a:rPr sz="1800" spc="-5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340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40" dirty="0"/>
              <a:t> </a:t>
            </a:r>
            <a:r>
              <a:rPr spc="-20" dirty="0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176510" cy="1860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634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Calibri"/>
                <a:cs typeface="Calibri"/>
              </a:rPr>
              <a:t>L</a:t>
            </a:r>
            <a:r>
              <a:rPr sz="2800" b="1" spc="-5" dirty="0">
                <a:latin typeface="Calibri"/>
                <a:cs typeface="Calibri"/>
              </a:rPr>
              <a:t>ocal </a:t>
            </a:r>
            <a:r>
              <a:rPr sz="2800" b="1" spc="-10" dirty="0">
                <a:latin typeface="Calibri"/>
                <a:cs typeface="Calibri"/>
              </a:rPr>
              <a:t>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examine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”basic </a:t>
            </a:r>
            <a:r>
              <a:rPr sz="2800" spc="-40" dirty="0">
                <a:latin typeface="Calibri"/>
                <a:cs typeface="Calibri"/>
              </a:rPr>
              <a:t>block”, </a:t>
            </a:r>
            <a:r>
              <a:rPr sz="2800" spc="-5" dirty="0">
                <a:latin typeface="Calibri"/>
                <a:cs typeface="Calibri"/>
              </a:rPr>
              <a:t>i.e.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small </a:t>
            </a:r>
            <a:r>
              <a:rPr sz="2800" spc="-15" dirty="0">
                <a:latin typeface="Calibri"/>
                <a:cs typeface="Calibri"/>
              </a:rPr>
              <a:t>region </a:t>
            </a:r>
            <a:r>
              <a:rPr sz="2800" spc="-5" dirty="0">
                <a:latin typeface="Calibri"/>
                <a:cs typeface="Calibri"/>
              </a:rPr>
              <a:t>of  code with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15" dirty="0">
                <a:latin typeface="Calibri"/>
                <a:cs typeface="Calibri"/>
              </a:rPr>
              <a:t>control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flow.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 optimizations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simple </a:t>
            </a:r>
            <a:r>
              <a:rPr sz="2800" spc="-20" dirty="0">
                <a:latin typeface="Calibri"/>
                <a:cs typeface="Calibri"/>
              </a:rPr>
              <a:t>control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optimization: </a:t>
            </a:r>
            <a:r>
              <a:rPr sz="2800" spc="-15" dirty="0">
                <a:latin typeface="Calibri"/>
                <a:cs typeface="Calibri"/>
              </a:rPr>
              <a:t>optimizes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8007" y="4490211"/>
            <a:ext cx="5462905" cy="17957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this module:</a:t>
            </a:r>
            <a:endParaRPr sz="24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spcBef>
                <a:spcPts val="1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look </a:t>
            </a:r>
            <a:r>
              <a:rPr sz="1800" spc="-10" dirty="0">
                <a:latin typeface="Calibri"/>
                <a:cs typeface="Calibri"/>
              </a:rPr>
              <a:t>at two optimizations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detail: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local </a:t>
            </a:r>
            <a:r>
              <a:rPr sz="1800" spc="-10" dirty="0">
                <a:latin typeface="Calibri"/>
                <a:cs typeface="Calibri"/>
              </a:rPr>
              <a:t>optimization: </a:t>
            </a:r>
            <a:r>
              <a:rPr sz="1800" spc="-5" dirty="0">
                <a:latin typeface="Calibri"/>
                <a:cs typeface="Calibri"/>
              </a:rPr>
              <a:t>Local </a:t>
            </a:r>
            <a:r>
              <a:rPr sz="1800" spc="-10" dirty="0">
                <a:latin typeface="Calibri"/>
                <a:cs typeface="Calibri"/>
              </a:rPr>
              <a:t>value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numbering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25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regional </a:t>
            </a:r>
            <a:r>
              <a:rPr sz="1800" spc="-10" dirty="0">
                <a:latin typeface="Calibri"/>
                <a:cs typeface="Calibri"/>
              </a:rPr>
              <a:t>optimization: </a:t>
            </a:r>
            <a:r>
              <a:rPr sz="1800" dirty="0">
                <a:latin typeface="Calibri"/>
                <a:cs typeface="Calibri"/>
              </a:rPr>
              <a:t>Loop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unrolling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2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implement </a:t>
            </a:r>
            <a:r>
              <a:rPr sz="1800" dirty="0">
                <a:latin typeface="Calibri"/>
                <a:cs typeface="Calibri"/>
              </a:rPr>
              <a:t>both as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homework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5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will discuss </a:t>
            </a:r>
            <a:r>
              <a:rPr sz="1800" spc="-15" dirty="0">
                <a:latin typeface="Calibri"/>
                <a:cs typeface="Calibri"/>
              </a:rPr>
              <a:t>several </a:t>
            </a:r>
            <a:r>
              <a:rPr sz="1800" dirty="0">
                <a:latin typeface="Calibri"/>
                <a:cs typeface="Calibri"/>
              </a:rPr>
              <a:t>other </a:t>
            </a:r>
            <a:r>
              <a:rPr sz="1800" spc="-10" dirty="0">
                <a:latin typeface="Calibri"/>
                <a:cs typeface="Calibri"/>
              </a:rPr>
              <a:t>optimizations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2506098"/>
            <a:ext cx="49530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spc="-15" dirty="0"/>
              <a:t>BASIC BLOCKS</a:t>
            </a:r>
            <a:endParaRPr sz="6000" spc="-1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4070" y="4703572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D0CC34E-62A3-67E0-5ACB-A17D85B70CA5}"/>
              </a:ext>
            </a:extLst>
          </p:cNvPr>
          <p:cNvSpPr txBox="1"/>
          <p:nvPr/>
        </p:nvSpPr>
        <p:spPr>
          <a:xfrm>
            <a:off x="916939" y="1795779"/>
            <a:ext cx="7084061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here is </a:t>
            </a:r>
            <a:r>
              <a:rPr sz="3200" b="1" dirty="0">
                <a:latin typeface="Calibri"/>
                <a:cs typeface="Calibri"/>
              </a:rPr>
              <a:t>a </a:t>
            </a:r>
            <a:r>
              <a:rPr sz="3200" b="1" spc="-5" dirty="0">
                <a:latin typeface="Calibri"/>
                <a:cs typeface="Calibri"/>
              </a:rPr>
              <a:t>single </a:t>
            </a:r>
            <a:r>
              <a:rPr sz="3200" b="1" spc="-35" dirty="0">
                <a:latin typeface="Calibri"/>
                <a:cs typeface="Calibri"/>
              </a:rPr>
              <a:t>entry, </a:t>
            </a:r>
            <a:r>
              <a:rPr sz="3200" b="1" spc="-5" dirty="0">
                <a:latin typeface="Calibri"/>
                <a:cs typeface="Calibri"/>
              </a:rPr>
              <a:t>single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3A5236D-9F06-135D-CF83-7AC186A1725A}"/>
              </a:ext>
            </a:extLst>
          </p:cNvPr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4583" y="459739"/>
            <a:ext cx="340106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high-level language? What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some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alibri"/>
                <a:cs typeface="Calibri"/>
              </a:rPr>
              <a:t>examples?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AD1454F-00F1-0437-AC7A-17023E0D1AB8}"/>
              </a:ext>
            </a:extLst>
          </p:cNvPr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661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IR </a:t>
            </a:r>
            <a:r>
              <a:rPr spc="-35" dirty="0"/>
              <a:t>Program</a:t>
            </a:r>
            <a:r>
              <a:rPr spc="-80" dirty="0"/>
              <a:t> </a:t>
            </a:r>
            <a:r>
              <a:rPr spc="-15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5625" y="4341812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 marR="95250">
              <a:lnSpc>
                <a:spcPct val="100400"/>
              </a:lnSpc>
              <a:spcBef>
                <a:spcPts val="145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urier New"/>
              <a:cs typeface="Courier New"/>
            </a:endParaRPr>
          </a:p>
          <a:p>
            <a:pPr marL="91440" marR="95250">
              <a:lnSpc>
                <a:spcPct val="99400"/>
              </a:lnSpc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y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op4;  op5;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8864" y="4806283"/>
            <a:ext cx="1701164" cy="175450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508634">
              <a:lnSpc>
                <a:spcPct val="100000"/>
              </a:lnSpc>
              <a:spcBef>
                <a:spcPts val="170"/>
              </a:spcBef>
            </a:pPr>
            <a:r>
              <a:rPr sz="1800" i="1" spc="-10" dirty="0">
                <a:latin typeface="Courier New"/>
                <a:cs typeface="Courier New"/>
              </a:rPr>
              <a:t>Label_</a:t>
            </a:r>
            <a:r>
              <a:rPr sz="1800" i="1" spc="-5" dirty="0">
                <a:latin typeface="Courier New"/>
                <a:cs typeface="Courier New"/>
              </a:rPr>
              <a:t>x</a:t>
            </a:r>
            <a:r>
              <a:rPr sz="1800" i="1" dirty="0">
                <a:latin typeface="Courier New"/>
                <a:cs typeface="Courier New"/>
              </a:rPr>
              <a:t>:  </a:t>
            </a:r>
            <a:r>
              <a:rPr sz="1800" spc="-10" dirty="0">
                <a:latin typeface="Courier New"/>
                <a:cs typeface="Courier New"/>
              </a:rPr>
              <a:t>op1;  op2;  op3;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10"/>
              </a:lnSpc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label_z;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3333" y="1551305"/>
            <a:ext cx="1287780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1440">
              <a:lnSpc>
                <a:spcPts val="2125"/>
              </a:lnSpc>
              <a:spcBef>
                <a:spcPts val="16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spc="-5" dirty="0">
                <a:latin typeface="Courier New"/>
                <a:cs typeface="Courier New"/>
              </a:rPr>
              <a:t>if </a:t>
            </a:r>
            <a:r>
              <a:rPr sz="1800" spc="-10" dirty="0">
                <a:latin typeface="Courier New"/>
                <a:cs typeface="Courier New"/>
              </a:rPr>
              <a:t>(x)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2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spc="-10" dirty="0">
                <a:latin typeface="Courier New"/>
                <a:cs typeface="Courier New"/>
              </a:rPr>
              <a:t>else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64490">
              <a:lnSpc>
                <a:spcPts val="2125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2568" y="4403852"/>
            <a:ext cx="1652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Single Basic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25059" y="3974083"/>
            <a:ext cx="1570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10" dirty="0">
                <a:latin typeface="Calibri"/>
                <a:cs typeface="Calibri"/>
              </a:rPr>
              <a:t> Blocks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4583" y="459739"/>
            <a:ext cx="2822575" cy="1040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226695">
              <a:lnSpc>
                <a:spcPts val="2090"/>
              </a:lnSpc>
              <a:spcBef>
                <a:spcPts val="225"/>
              </a:spcBef>
            </a:pPr>
            <a:r>
              <a:rPr sz="1800" spc="-5" dirty="0">
                <a:latin typeface="Calibri"/>
                <a:cs typeface="Calibri"/>
              </a:rPr>
              <a:t>How might they </a:t>
            </a:r>
            <a:r>
              <a:rPr sz="1800" dirty="0">
                <a:latin typeface="Calibri"/>
                <a:cs typeface="Calibri"/>
              </a:rPr>
              <a:t>appear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latin typeface="Calibri"/>
                <a:cs typeface="Calibri"/>
              </a:rPr>
              <a:t>high-level language?</a:t>
            </a:r>
            <a:endParaRPr sz="1800">
              <a:latin typeface="Calibri"/>
              <a:cs typeface="Calibri"/>
            </a:endParaRPr>
          </a:p>
          <a:p>
            <a:pPr marL="559435">
              <a:lnSpc>
                <a:spcPct val="100000"/>
              </a:lnSpc>
              <a:spcBef>
                <a:spcPts val="1525"/>
              </a:spcBef>
            </a:pPr>
            <a:r>
              <a:rPr sz="1800" spc="-5" dirty="0">
                <a:latin typeface="Calibri"/>
                <a:cs typeface="Calibri"/>
              </a:rPr>
              <a:t>How </a:t>
            </a:r>
            <a:r>
              <a:rPr sz="1800" spc="-10" dirty="0">
                <a:latin typeface="Calibri"/>
                <a:cs typeface="Calibri"/>
              </a:rPr>
              <a:t>many </a:t>
            </a:r>
            <a:r>
              <a:rPr sz="1800" spc="-5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blocks?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4892547"/>
            <a:ext cx="52819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 algn="just">
              <a:lnSpc>
                <a:spcPct val="911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5" dirty="0">
                <a:latin typeface="Calibri"/>
                <a:cs typeface="Calibri"/>
              </a:rPr>
              <a:t>Important </a:t>
            </a:r>
            <a:r>
              <a:rPr sz="2800" i="1" spc="-5" dirty="0">
                <a:latin typeface="Calibri"/>
                <a:cs typeface="Calibri"/>
              </a:rPr>
              <a:t>property</a:t>
            </a:r>
            <a:r>
              <a:rPr sz="2800" spc="-5" dirty="0">
                <a:latin typeface="Calibri"/>
                <a:cs typeface="Calibri"/>
              </a:rPr>
              <a:t>: an </a:t>
            </a:r>
            <a:r>
              <a:rPr sz="2800" spc="-10" dirty="0">
                <a:latin typeface="Calibri"/>
                <a:cs typeface="Calibri"/>
              </a:rPr>
              <a:t>instruction 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basic block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assume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all  </a:t>
            </a:r>
            <a:r>
              <a:rPr sz="2800" spc="-10" dirty="0">
                <a:latin typeface="Calibri"/>
                <a:cs typeface="Calibri"/>
              </a:rPr>
              <a:t>preceding </a:t>
            </a:r>
            <a:r>
              <a:rPr sz="2800" spc="-5" dirty="0">
                <a:latin typeface="Calibri"/>
                <a:cs typeface="Calibri"/>
              </a:rPr>
              <a:t>instructions will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75D97F84-C975-034F-32F7-7F74889B75C8}"/>
              </a:ext>
            </a:extLst>
          </p:cNvPr>
          <p:cNvSpPr txBox="1"/>
          <p:nvPr/>
        </p:nvSpPr>
        <p:spPr>
          <a:xfrm>
            <a:off x="916939" y="1795779"/>
            <a:ext cx="652970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of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Programs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split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b="1" dirty="0">
                <a:latin typeface="Calibri"/>
                <a:cs typeface="Calibri"/>
              </a:rPr>
              <a:t>Basic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Blocks: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b="1" dirty="0">
                <a:latin typeface="Calibri"/>
                <a:cs typeface="Calibri"/>
              </a:rPr>
              <a:t>sequence </a:t>
            </a:r>
            <a:r>
              <a:rPr sz="2400" b="1" spc="-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3 </a:t>
            </a:r>
            <a:r>
              <a:rPr sz="2400" b="1" spc="-5" dirty="0">
                <a:latin typeface="Calibri"/>
                <a:cs typeface="Calibri"/>
              </a:rPr>
              <a:t>address instructions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that: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here is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single </a:t>
            </a:r>
            <a:r>
              <a:rPr sz="2400" b="1" spc="-35" dirty="0">
                <a:latin typeface="Calibri"/>
                <a:cs typeface="Calibri"/>
              </a:rPr>
              <a:t>entry, </a:t>
            </a:r>
            <a:r>
              <a:rPr sz="2400" b="1" spc="-5" dirty="0">
                <a:latin typeface="Calibri"/>
                <a:cs typeface="Calibri"/>
              </a:rPr>
              <a:t>single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exit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5446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Let’s </a:t>
            </a:r>
            <a:r>
              <a:rPr sz="2800" dirty="0">
                <a:latin typeface="Calibri"/>
                <a:cs typeface="Calibri"/>
              </a:rPr>
              <a:t>try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example: test </a:t>
            </a:r>
            <a:r>
              <a:rPr sz="2800" dirty="0">
                <a:latin typeface="Calibri"/>
                <a:cs typeface="Calibri"/>
              </a:rPr>
              <a:t>4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HW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4</a:t>
            </a:r>
            <a:r>
              <a:rPr sz="2800" dirty="0">
                <a:latin typeface="Calibri"/>
                <a:cs typeface="Calibri"/>
              </a:rPr>
              <a:t>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125710" cy="27749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Simple</a:t>
            </a:r>
            <a:r>
              <a:rPr sz="2800" spc="-10" dirty="0">
                <a:latin typeface="Calibri"/>
                <a:cs typeface="Calibri"/>
              </a:rPr>
              <a:t> algorithm: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keep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 basic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basic block 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7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Iterate </a:t>
            </a:r>
            <a:r>
              <a:rPr sz="2400" spc="-10" dirty="0">
                <a:latin typeface="Calibri"/>
                <a:cs typeface="Calibri"/>
              </a:rPr>
              <a:t>over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address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instructions</a:t>
            </a:r>
            <a:endParaRPr sz="2400">
              <a:latin typeface="Calibri"/>
              <a:cs typeface="Calibri"/>
            </a:endParaRPr>
          </a:p>
          <a:p>
            <a:pPr marL="698500" marR="5080" lvl="1" indent="-228600">
              <a:lnSpc>
                <a:spcPts val="2500"/>
              </a:lnSpc>
              <a:spcBef>
                <a:spcPts val="6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spc="-15" dirty="0">
                <a:latin typeface="Calibri"/>
                <a:cs typeface="Calibri"/>
              </a:rPr>
              <a:t>you </a:t>
            </a:r>
            <a:r>
              <a:rPr sz="2400" dirty="0">
                <a:latin typeface="Calibri"/>
                <a:cs typeface="Calibri"/>
              </a:rPr>
              <a:t>see a </a:t>
            </a:r>
            <a:r>
              <a:rPr sz="2400" spc="-10" dirty="0">
                <a:latin typeface="Calibri"/>
                <a:cs typeface="Calibri"/>
              </a:rPr>
              <a:t>branch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label, </a:t>
            </a:r>
            <a:r>
              <a:rPr sz="2400" spc="-10" dirty="0">
                <a:latin typeface="Calibri"/>
                <a:cs typeface="Calibri"/>
              </a:rPr>
              <a:t>finalize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spc="-5" dirty="0">
                <a:latin typeface="Calibri"/>
                <a:cs typeface="Calibri"/>
              </a:rPr>
              <a:t>basic block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start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new  </a:t>
            </a:r>
            <a:r>
              <a:rPr sz="2400" dirty="0">
                <a:latin typeface="Calibri"/>
                <a:cs typeface="Calibri"/>
              </a:rPr>
              <a:t>one.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6200"/>
            <a:ext cx="9754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Converting </a:t>
            </a:r>
            <a:r>
              <a:rPr dirty="0"/>
              <a:t>3 </a:t>
            </a:r>
            <a:r>
              <a:rPr spc="-15" dirty="0"/>
              <a:t>address </a:t>
            </a:r>
            <a:r>
              <a:rPr spc="-10" dirty="0"/>
              <a:t>code </a:t>
            </a:r>
            <a:r>
              <a:rPr spc="-20" dirty="0"/>
              <a:t>into </a:t>
            </a:r>
            <a:r>
              <a:rPr dirty="0"/>
              <a:t>basic</a:t>
            </a:r>
            <a:r>
              <a:rPr spc="60" dirty="0"/>
              <a:t> </a:t>
            </a:r>
            <a:r>
              <a:rPr spc="-10" dirty="0"/>
              <a:t>blocks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0AC08-A54E-C7F5-0312-34E69377EA8C}"/>
              </a:ext>
            </a:extLst>
          </p:cNvPr>
          <p:cNvSpPr txBox="1"/>
          <p:nvPr/>
        </p:nvSpPr>
        <p:spPr>
          <a:xfrm>
            <a:off x="1448117" y="990600"/>
            <a:ext cx="8534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basic_blocks</a:t>
            </a:r>
            <a:r>
              <a:rPr lang="en-US" dirty="0"/>
              <a:t> = []</a:t>
            </a:r>
          </a:p>
          <a:p>
            <a:r>
              <a:rPr lang="en-US" dirty="0"/>
              <a:t>bb = []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instr</a:t>
            </a:r>
            <a:r>
              <a:rPr lang="en-US" dirty="0"/>
              <a:t> in program:</a:t>
            </a:r>
          </a:p>
          <a:p>
            <a:r>
              <a:rPr lang="en-US" dirty="0"/>
              <a:t>    # If label starts a new block</a:t>
            </a:r>
          </a:p>
          <a:p>
            <a:r>
              <a:rPr lang="en-US" dirty="0"/>
              <a:t>    if </a:t>
            </a:r>
            <a:r>
              <a:rPr lang="en-US" dirty="0" err="1"/>
              <a:t>instr.type</a:t>
            </a:r>
            <a:r>
              <a:rPr lang="en-US" dirty="0"/>
              <a:t> == "label":</a:t>
            </a:r>
          </a:p>
          <a:p>
            <a:r>
              <a:rPr lang="en-US" dirty="0"/>
              <a:t>        if bb:                     # close previous block</a:t>
            </a:r>
          </a:p>
          <a:p>
            <a:r>
              <a:rPr lang="en-US" dirty="0"/>
              <a:t>        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  <a:p>
            <a:r>
              <a:rPr lang="en-US" dirty="0"/>
              <a:t>        bb = [</a:t>
            </a:r>
            <a:r>
              <a:rPr lang="en-US" dirty="0" err="1"/>
              <a:t>instr</a:t>
            </a:r>
            <a:r>
              <a:rPr lang="en-US" dirty="0"/>
              <a:t>]               # start new block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</a:t>
            </a:r>
            <a:r>
              <a:rPr lang="en-US" dirty="0" err="1"/>
              <a:t>bb.append</a:t>
            </a:r>
            <a:r>
              <a:rPr lang="en-US" dirty="0"/>
              <a:t>(</a:t>
            </a:r>
            <a:r>
              <a:rPr lang="en-US" dirty="0" err="1"/>
              <a:t>instr</a:t>
            </a:r>
            <a:r>
              <a:rPr lang="en-US" dirty="0"/>
              <a:t>)</a:t>
            </a:r>
          </a:p>
          <a:p>
            <a:r>
              <a:rPr lang="en-US" dirty="0"/>
              <a:t>        # If branch ends a block</a:t>
            </a:r>
          </a:p>
          <a:p>
            <a:r>
              <a:rPr lang="en-US" dirty="0"/>
              <a:t>        if </a:t>
            </a:r>
            <a:r>
              <a:rPr lang="en-US" dirty="0" err="1"/>
              <a:t>instr.type</a:t>
            </a:r>
            <a:r>
              <a:rPr lang="en-US" dirty="0"/>
              <a:t> == "branch":</a:t>
            </a:r>
          </a:p>
          <a:p>
            <a:r>
              <a:rPr lang="en-US" dirty="0"/>
              <a:t>        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  <a:p>
            <a:r>
              <a:rPr lang="en-US" dirty="0"/>
              <a:t>            bb = []</a:t>
            </a:r>
          </a:p>
          <a:p>
            <a:endParaRPr lang="en-US" dirty="0"/>
          </a:p>
          <a:p>
            <a:r>
              <a:rPr lang="en-US" dirty="0"/>
              <a:t># append final block if non-empty</a:t>
            </a:r>
          </a:p>
          <a:p>
            <a:r>
              <a:rPr lang="en-US" dirty="0"/>
              <a:t>if bb:</a:t>
            </a:r>
          </a:p>
          <a:p>
            <a:r>
              <a:rPr lang="en-US" dirty="0"/>
              <a:t>    </a:t>
            </a:r>
            <a:r>
              <a:rPr lang="en-US" dirty="0" err="1"/>
              <a:t>basic_blocks.append</a:t>
            </a:r>
            <a:r>
              <a:rPr lang="en-US" dirty="0"/>
              <a:t>(bb)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165090" cy="38658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165090" cy="386587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83448" y="1027906"/>
          <a:ext cx="1563369" cy="92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756">
                <a:tc gridSpan="5">
                  <a:txBody>
                    <a:bodyPr/>
                    <a:lstStyle/>
                    <a:p>
                      <a:pPr marL="90805">
                        <a:lnSpc>
                          <a:spcPts val="2125"/>
                        </a:lnSpc>
                        <a:spcBef>
                          <a:spcPts val="160"/>
                        </a:spcBef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Label_0: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x = a +</a:t>
                      </a:r>
                      <a:r>
                        <a:rPr sz="1800" spc="-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73">
                <a:tc>
                  <a:txBody>
                    <a:bodyPr/>
                    <a:lstStyle/>
                    <a:p>
                      <a:pPr marL="9080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5165090" cy="25704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4415155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352204"/>
            <a:ext cx="5165090" cy="12750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9798" y="2634827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ts val="2135"/>
              </a:lnSpc>
              <a:spcBef>
                <a:spcPts val="15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67800" y="3347929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5"/>
                </a:lnTo>
                <a:lnTo>
                  <a:pt x="813948" y="34925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5"/>
                </a:lnTo>
                <a:lnTo>
                  <a:pt x="813948" y="41275"/>
                </a:lnTo>
                <a:lnTo>
                  <a:pt x="871100" y="41273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3"/>
                </a:moveTo>
                <a:lnTo>
                  <a:pt x="0" y="41273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66027" y="2703067"/>
            <a:ext cx="109347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ts val="1390"/>
              </a:lnSpc>
              <a:spcBef>
                <a:spcPts val="16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2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0000"/>
                </a:solidFill>
                <a:latin typeface="Calibri"/>
                <a:cs typeface="Calibri"/>
              </a:rPr>
              <a:t>optimized  </a:t>
            </a:r>
            <a:r>
              <a:rPr sz="1200" i="1" spc="-2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86998" y="2590800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0805">
              <a:lnSpc>
                <a:spcPts val="2125"/>
              </a:lnSpc>
              <a:spcBef>
                <a:spcPts val="16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290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Optimization</a:t>
            </a:r>
            <a:r>
              <a:rPr spc="-55" dirty="0"/>
              <a:t> </a:t>
            </a:r>
            <a:r>
              <a:rPr spc="-15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5008880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Local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Optimizes </a:t>
            </a:r>
            <a:r>
              <a:rPr sz="2400" dirty="0">
                <a:latin typeface="Calibri"/>
                <a:cs typeface="Calibri"/>
              </a:rPr>
              <a:t>an individual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block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56804"/>
            <a:ext cx="4415155" cy="8820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Regional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Combines </a:t>
            </a:r>
            <a:r>
              <a:rPr sz="2400" spc="-15" dirty="0">
                <a:latin typeface="Calibri"/>
                <a:cs typeface="Calibri"/>
              </a:rPr>
              <a:t>several </a:t>
            </a:r>
            <a:r>
              <a:rPr sz="2400" spc="-5" dirty="0">
                <a:latin typeface="Calibri"/>
                <a:cs typeface="Calibri"/>
              </a:rPr>
              <a:t>basic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352204"/>
            <a:ext cx="5165090" cy="12750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5" dirty="0">
                <a:latin typeface="Calibri"/>
                <a:cs typeface="Calibri"/>
              </a:rPr>
              <a:t>Global </a:t>
            </a:r>
            <a:r>
              <a:rPr sz="2800" b="1" spc="-10" dirty="0">
                <a:latin typeface="Calibri"/>
                <a:cs typeface="Calibri"/>
              </a:rPr>
              <a:t>optimizations: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operates </a:t>
            </a:r>
            <a:r>
              <a:rPr sz="2400" spc="-10" dirty="0">
                <a:latin typeface="Calibri"/>
                <a:cs typeface="Calibri"/>
              </a:rPr>
              <a:t>across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entire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spc="-10" dirty="0">
                <a:latin typeface="Calibri"/>
                <a:cs typeface="Calibri"/>
              </a:rPr>
              <a:t>across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procedures?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89798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2216" y="2643419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ts val="2135"/>
              </a:lnSpc>
              <a:spcBef>
                <a:spcPts val="150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4222" y="1027906"/>
            <a:ext cx="1563370" cy="9239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99060">
              <a:lnSpc>
                <a:spcPct val="99400"/>
              </a:lnSpc>
              <a:spcBef>
                <a:spcPts val="175"/>
              </a:spcBef>
            </a:pPr>
            <a:r>
              <a:rPr sz="1800" i="1" spc="-10" dirty="0">
                <a:latin typeface="Courier New"/>
                <a:cs typeface="Courier New"/>
              </a:rPr>
              <a:t>Label_0:  </a:t>
            </a: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  </a:t>
            </a: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67800" y="1451471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0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13948" y="41275"/>
                </a:lnTo>
                <a:lnTo>
                  <a:pt x="813948" y="34925"/>
                </a:lnTo>
                <a:lnTo>
                  <a:pt x="871098" y="34925"/>
                </a:lnTo>
                <a:lnTo>
                  <a:pt x="801248" y="0"/>
                </a:lnTo>
                <a:close/>
              </a:path>
              <a:path w="877570" h="76200">
                <a:moveTo>
                  <a:pt x="801248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801248" y="41275"/>
                </a:lnTo>
                <a:lnTo>
                  <a:pt x="801248" y="34925"/>
                </a:lnTo>
                <a:close/>
              </a:path>
              <a:path w="877570" h="76200">
                <a:moveTo>
                  <a:pt x="871098" y="34925"/>
                </a:moveTo>
                <a:lnTo>
                  <a:pt x="813948" y="34925"/>
                </a:lnTo>
                <a:lnTo>
                  <a:pt x="813948" y="41275"/>
                </a:lnTo>
                <a:lnTo>
                  <a:pt x="871098" y="41275"/>
                </a:lnTo>
                <a:lnTo>
                  <a:pt x="877448" y="38100"/>
                </a:lnTo>
                <a:lnTo>
                  <a:pt x="871098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97009" y="1017523"/>
            <a:ext cx="631190" cy="4006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69240" marR="5080" indent="-257175">
              <a:lnSpc>
                <a:spcPct val="105000"/>
              </a:lnSpc>
              <a:spcBef>
                <a:spcPts val="25"/>
              </a:spcBef>
            </a:pPr>
            <a:r>
              <a:rPr sz="1200" i="1" spc="-5" dirty="0">
                <a:latin typeface="Calibri"/>
                <a:cs typeface="Calibri"/>
              </a:rPr>
              <a:t>o</a:t>
            </a:r>
            <a:r>
              <a:rPr sz="1200" i="1" spc="-15" dirty="0">
                <a:latin typeface="Calibri"/>
                <a:cs typeface="Calibri"/>
              </a:rPr>
              <a:t>p</a:t>
            </a:r>
            <a:r>
              <a:rPr sz="1200" i="1" spc="-5" dirty="0">
                <a:latin typeface="Calibri"/>
                <a:cs typeface="Calibri"/>
              </a:rPr>
              <a:t>ti</a:t>
            </a:r>
            <a:r>
              <a:rPr sz="1200" i="1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i</a:t>
            </a:r>
            <a:r>
              <a:rPr sz="1200" i="1" spc="-20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ed  </a:t>
            </a:r>
            <a:r>
              <a:rPr sz="1200" i="1" spc="-20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92676" y="3436970"/>
            <a:ext cx="1152693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200"/>
                </a:lnTo>
                <a:lnTo>
                  <a:pt x="871098" y="41275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5"/>
                </a:lnTo>
                <a:lnTo>
                  <a:pt x="813948" y="34925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5"/>
                </a:lnTo>
                <a:lnTo>
                  <a:pt x="813948" y="41275"/>
                </a:lnTo>
                <a:lnTo>
                  <a:pt x="871100" y="41273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3"/>
                </a:moveTo>
                <a:lnTo>
                  <a:pt x="0" y="41273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27419" y="2934556"/>
            <a:ext cx="1436281" cy="4026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ts val="1390"/>
              </a:lnSpc>
              <a:spcBef>
                <a:spcPts val="160"/>
              </a:spcBef>
            </a:pPr>
            <a:r>
              <a:rPr sz="1200" i="1" spc="-5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12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0000"/>
                </a:solidFill>
                <a:latin typeface="Calibri"/>
                <a:cs typeface="Calibri"/>
              </a:rPr>
              <a:t>optimized  </a:t>
            </a:r>
            <a:r>
              <a:rPr sz="1200" i="1" spc="-2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85533" y="2598407"/>
            <a:ext cx="1563370" cy="147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0805">
              <a:lnSpc>
                <a:spcPts val="2125"/>
              </a:lnSpc>
              <a:spcBef>
                <a:spcPts val="165"/>
              </a:spcBef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0805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34645" y="4456138"/>
            <a:ext cx="1701164" cy="20313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1800" spc="-5" dirty="0">
                <a:latin typeface="Courier New"/>
                <a:cs typeface="Courier New"/>
              </a:rPr>
              <a:t>br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Label_1;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</a:pPr>
            <a:r>
              <a:rPr sz="1800" i="1" spc="-10" dirty="0">
                <a:latin typeface="Courier New"/>
                <a:cs typeface="Courier New"/>
              </a:rPr>
              <a:t>Label_0: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x = a +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  <a:spcBef>
                <a:spcPts val="5"/>
              </a:spcBef>
            </a:pPr>
            <a:r>
              <a:rPr sz="1800" i="1" spc="-10" dirty="0">
                <a:latin typeface="Courier New"/>
                <a:cs typeface="Courier New"/>
              </a:rPr>
              <a:t>Label_1: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ts val="2135"/>
              </a:lnSpc>
            </a:pPr>
            <a:r>
              <a:rPr sz="1800" dirty="0">
                <a:latin typeface="Courier New"/>
                <a:cs typeface="Courier New"/>
              </a:rPr>
              <a:t>y = a +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1800" y="4906170"/>
            <a:ext cx="2011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marR="5080" indent="-160655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code could skip Label_0,  leaving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600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undefined!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955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Regional</a:t>
            </a:r>
            <a:r>
              <a:rPr spc="-35" dirty="0"/>
              <a:t> </a:t>
            </a:r>
            <a:r>
              <a:rPr spc="-15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4326" y="1488155"/>
            <a:ext cx="1666239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ts val="1910"/>
              </a:lnSpc>
              <a:spcBef>
                <a:spcPts val="1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if (x)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57834">
              <a:lnSpc>
                <a:spcPts val="1910"/>
              </a:lnSpc>
              <a:spcBef>
                <a:spcPts val="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8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6399" y="2164588"/>
            <a:ext cx="1587500" cy="10071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1600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replace: 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y = a +</a:t>
            </a:r>
            <a:r>
              <a:rPr sz="1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b.</a:t>
            </a:r>
            <a:endParaRPr sz="1600">
              <a:latin typeface="Calibri"/>
              <a:cs typeface="Calibri"/>
            </a:endParaRPr>
          </a:p>
          <a:p>
            <a:pPr marL="580390" marR="572770" indent="-46990" algn="ctr">
              <a:lnSpc>
                <a:spcPts val="1900"/>
              </a:lnSpc>
              <a:spcBef>
                <a:spcPts val="11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with  y =</a:t>
            </a:r>
            <a:r>
              <a:rPr sz="1600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x;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967486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Regional</a:t>
            </a:r>
            <a:r>
              <a:rPr spc="-35" dirty="0"/>
              <a:t> </a:t>
            </a:r>
            <a:r>
              <a:rPr spc="-15" dirty="0"/>
              <a:t>Optimization</a:t>
            </a:r>
            <a:r>
              <a:rPr lang="en-US" spc="-15" dirty="0"/>
              <a:t>: Data Flow Analysis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5064326" y="1488155"/>
            <a:ext cx="1666239" cy="2308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ts val="1910"/>
              </a:lnSpc>
              <a:spcBef>
                <a:spcPts val="1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if (x)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57834">
              <a:lnSpc>
                <a:spcPts val="1910"/>
              </a:lnSpc>
              <a:spcBef>
                <a:spcPts val="70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3528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8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6399" y="2164588"/>
            <a:ext cx="1587500" cy="10071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cannot</a:t>
            </a:r>
            <a:r>
              <a:rPr sz="1600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replace: 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y = a +</a:t>
            </a:r>
            <a:r>
              <a:rPr sz="16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b.</a:t>
            </a:r>
            <a:endParaRPr sz="1600">
              <a:latin typeface="Calibri"/>
              <a:cs typeface="Calibri"/>
            </a:endParaRPr>
          </a:p>
          <a:p>
            <a:pPr marL="580390" marR="572770" indent="-46990" algn="ctr">
              <a:lnSpc>
                <a:spcPts val="1900"/>
              </a:lnSpc>
              <a:spcBef>
                <a:spcPts val="110"/>
              </a:spcBef>
            </a:pPr>
            <a:r>
              <a:rPr sz="1600" i="1" dirty="0">
                <a:solidFill>
                  <a:srgbClr val="FF0000"/>
                </a:solidFill>
                <a:latin typeface="Calibri"/>
                <a:cs typeface="Calibri"/>
              </a:rPr>
              <a:t>with  y =</a:t>
            </a:r>
            <a:r>
              <a:rPr sz="1600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FF0000"/>
                </a:solidFill>
                <a:latin typeface="Calibri"/>
                <a:cs typeface="Calibri"/>
              </a:rPr>
              <a:t>x;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64326" y="4293503"/>
            <a:ext cx="1419225" cy="2308860"/>
          </a:xfrm>
          <a:custGeom>
            <a:avLst/>
            <a:gdLst/>
            <a:ahLst/>
            <a:cxnLst/>
            <a:rect l="l" t="t" r="r" b="b"/>
            <a:pathLst>
              <a:path w="1419225" h="2308859">
                <a:moveTo>
                  <a:pt x="0" y="0"/>
                </a:moveTo>
                <a:lnTo>
                  <a:pt x="1418978" y="0"/>
                </a:lnTo>
                <a:lnTo>
                  <a:pt x="1418978" y="2308324"/>
                </a:lnTo>
                <a:lnTo>
                  <a:pt x="0" y="2308324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43067" y="4301235"/>
            <a:ext cx="1247775" cy="22263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dirty="0">
                <a:latin typeface="Courier New"/>
                <a:cs typeface="Courier New"/>
              </a:rPr>
              <a:t>x = a +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  if (x)</a:t>
            </a:r>
            <a:r>
              <a:rPr sz="1600" spc="-5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else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7175">
              <a:lnSpc>
                <a:spcPts val="1895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600" dirty="0">
                <a:latin typeface="Courier New"/>
                <a:cs typeface="Courier New"/>
              </a:rPr>
              <a:t>y = a +</a:t>
            </a:r>
            <a:r>
              <a:rPr sz="1600" spc="-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0790" y="4718811"/>
            <a:ext cx="2752090" cy="126701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900"/>
              </a:lnSpc>
              <a:spcBef>
                <a:spcPts val="180"/>
              </a:spcBef>
            </a:pPr>
            <a:r>
              <a:rPr lang="en-US" sz="1600" i="1" dirty="0">
                <a:latin typeface="Calibri"/>
                <a:cs typeface="Calibri"/>
              </a:rPr>
              <a:t>In that</a:t>
            </a:r>
            <a:r>
              <a:rPr sz="1600" i="1" spc="-5" dirty="0">
                <a:latin typeface="Calibri"/>
                <a:cs typeface="Calibri"/>
              </a:rPr>
              <a:t> case, </a:t>
            </a:r>
            <a:r>
              <a:rPr sz="1600" i="1" dirty="0">
                <a:latin typeface="Calibri"/>
                <a:cs typeface="Calibri"/>
              </a:rPr>
              <a:t>we </a:t>
            </a:r>
            <a:r>
              <a:rPr sz="1600" i="1" spc="-5" dirty="0">
                <a:latin typeface="Calibri"/>
                <a:cs typeface="Calibri"/>
              </a:rPr>
              <a:t>can check if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  and b are not </a:t>
            </a:r>
            <a:r>
              <a:rPr sz="1600" i="1" spc="-5" dirty="0">
                <a:latin typeface="Calibri"/>
                <a:cs typeface="Calibri"/>
              </a:rPr>
              <a:t>redefined,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then</a:t>
            </a:r>
            <a:endParaRPr sz="1600" dirty="0">
              <a:latin typeface="Calibri"/>
              <a:cs typeface="Calibri"/>
            </a:endParaRPr>
          </a:p>
          <a:p>
            <a:pPr algn="ctr">
              <a:lnSpc>
                <a:spcPts val="1855"/>
              </a:lnSpc>
            </a:pPr>
            <a:r>
              <a:rPr sz="1600" i="1" dirty="0">
                <a:latin typeface="Calibri"/>
                <a:cs typeface="Calibri"/>
              </a:rPr>
              <a:t>y = a +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b;</a:t>
            </a:r>
            <a:endParaRPr sz="1600" dirty="0">
              <a:latin typeface="Calibri"/>
              <a:cs typeface="Calibri"/>
            </a:endParaRPr>
          </a:p>
          <a:p>
            <a:pPr marL="523240" marR="515620" algn="ctr">
              <a:lnSpc>
                <a:spcPts val="1900"/>
              </a:lnSpc>
              <a:spcBef>
                <a:spcPts val="150"/>
              </a:spcBef>
            </a:pPr>
            <a:r>
              <a:rPr sz="1600" i="1" spc="-5" dirty="0">
                <a:latin typeface="Calibri"/>
                <a:cs typeface="Calibri"/>
              </a:rPr>
              <a:t>can </a:t>
            </a:r>
            <a:r>
              <a:rPr sz="1600" i="1" dirty="0">
                <a:latin typeface="Calibri"/>
                <a:cs typeface="Calibri"/>
              </a:rPr>
              <a:t>be </a:t>
            </a:r>
            <a:r>
              <a:rPr sz="1600" i="1" spc="-5" dirty="0">
                <a:latin typeface="Calibri"/>
                <a:cs typeface="Calibri"/>
              </a:rPr>
              <a:t>replaced</a:t>
            </a:r>
            <a:r>
              <a:rPr sz="1600" i="1" spc="-8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with  y =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x;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5586" y="6238747"/>
            <a:ext cx="451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Calibri"/>
                <a:cs typeface="Calibri"/>
              </a:rPr>
              <a:t>This requires regional analysis and</a:t>
            </a:r>
            <a:r>
              <a:rPr sz="1800" i="1" spc="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optimizations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CF611-53B4-CAFD-0F01-7AE91C8F0BD9}"/>
              </a:ext>
            </a:extLst>
          </p:cNvPr>
          <p:cNvSpPr txBox="1"/>
          <p:nvPr/>
        </p:nvSpPr>
        <p:spPr>
          <a:xfrm>
            <a:off x="7026399" y="3889574"/>
            <a:ext cx="289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x = a + b    be hoisted out of the if then else?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06885"/>
              </p:ext>
            </p:extLst>
          </p:nvPr>
        </p:nvGraphicFramePr>
        <p:xfrm>
          <a:off x="1524000" y="5046550"/>
          <a:ext cx="1563369" cy="1200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059"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59690" algn="r">
                        <a:lnSpc>
                          <a:spcPts val="189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9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1">
                <a:tc>
                  <a:txBody>
                    <a:bodyPr/>
                    <a:lstStyle/>
                    <a:p>
                      <a:pPr marR="59690" algn="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057">
                <a:tc>
                  <a:txBody>
                    <a:bodyPr/>
                    <a:lstStyle/>
                    <a:p>
                      <a:pPr marR="59690" algn="r">
                        <a:lnSpc>
                          <a:spcPts val="193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3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B97DA1-D524-7193-6EC6-B18E45C27477}"/>
              </a:ext>
            </a:extLst>
          </p:cNvPr>
          <p:cNvSpPr txBox="1"/>
          <p:nvPr/>
        </p:nvSpPr>
        <p:spPr>
          <a:xfrm>
            <a:off x="3853459" y="5323547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going to use notation similar to Class IR</a:t>
            </a:r>
          </a:p>
          <a:p>
            <a:r>
              <a:rPr lang="en-US" dirty="0"/>
              <a:t>   applicable to any Intermediate representation.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8439" y="5139738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29879" y="5744258"/>
            <a:ext cx="1365250" cy="266700"/>
          </a:xfrm>
          <a:custGeom>
            <a:avLst/>
            <a:gdLst/>
            <a:ahLst/>
            <a:cxnLst/>
            <a:rect l="l" t="t" r="r" b="b"/>
            <a:pathLst>
              <a:path w="1365250" h="266700">
                <a:moveTo>
                  <a:pt x="0" y="266699"/>
                </a:moveTo>
                <a:lnTo>
                  <a:pt x="1365250" y="266699"/>
                </a:lnTo>
                <a:lnTo>
                  <a:pt x="13652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17179" y="5148358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a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  </a:t>
            </a:r>
            <a:r>
              <a:rPr sz="1800" dirty="0">
                <a:latin typeface="Courier New"/>
                <a:cs typeface="Courier New"/>
              </a:rPr>
              <a:t>b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7179" y="5693949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7179" y="5974366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04663" y="5139738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6102" y="5744258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0" y="266699"/>
                </a:moveTo>
                <a:lnTo>
                  <a:pt x="819150" y="266699"/>
                </a:lnTo>
                <a:lnTo>
                  <a:pt x="8191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83402" y="5148358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a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  </a:t>
            </a:r>
            <a:r>
              <a:rPr sz="1800" dirty="0">
                <a:latin typeface="Courier New"/>
                <a:cs typeface="Courier New"/>
              </a:rPr>
              <a:t>b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83402" y="5693949"/>
            <a:ext cx="844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3402" y="5974366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76537" y="5796984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61781" y="5420646"/>
            <a:ext cx="51180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Calibri"/>
                <a:cs typeface="Calibri"/>
              </a:rPr>
              <a:t>v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10" dirty="0">
                <a:latin typeface="Calibri"/>
                <a:cs typeface="Calibri"/>
              </a:rPr>
              <a:t>li</a:t>
            </a:r>
            <a:r>
              <a:rPr sz="1600" i="1" dirty="0">
                <a:latin typeface="Calibri"/>
                <a:cs typeface="Calibri"/>
              </a:rPr>
              <a:t>d?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7000" y="5431286"/>
            <a:ext cx="247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No! </a:t>
            </a:r>
            <a:r>
              <a:rPr sz="1800" i="1" spc="-5" dirty="0">
                <a:latin typeface="Calibri"/>
                <a:cs typeface="Calibri"/>
              </a:rPr>
              <a:t>Because </a:t>
            </a:r>
            <a:r>
              <a:rPr sz="1800" i="1" dirty="0">
                <a:latin typeface="Calibri"/>
                <a:cs typeface="Calibri"/>
              </a:rPr>
              <a:t>b </a:t>
            </a:r>
            <a:r>
              <a:rPr sz="1800" i="1" spc="-5" dirty="0">
                <a:latin typeface="Calibri"/>
                <a:cs typeface="Calibri"/>
              </a:rPr>
              <a:t>is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redefined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2DEA8EF6-8F7E-6D05-0D25-3303044EB889}"/>
              </a:ext>
            </a:extLst>
          </p:cNvPr>
          <p:cNvSpPr/>
          <p:nvPr/>
        </p:nvSpPr>
        <p:spPr>
          <a:xfrm>
            <a:off x="1538439" y="5139738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AC001D1-D20C-FA12-CB3E-CF1203091B13}"/>
              </a:ext>
            </a:extLst>
          </p:cNvPr>
          <p:cNvSpPr/>
          <p:nvPr/>
        </p:nvSpPr>
        <p:spPr>
          <a:xfrm>
            <a:off x="1629879" y="5744258"/>
            <a:ext cx="1365250" cy="266700"/>
          </a:xfrm>
          <a:custGeom>
            <a:avLst/>
            <a:gdLst/>
            <a:ahLst/>
            <a:cxnLst/>
            <a:rect l="l" t="t" r="r" b="b"/>
            <a:pathLst>
              <a:path w="1365250" h="266700">
                <a:moveTo>
                  <a:pt x="0" y="266699"/>
                </a:moveTo>
                <a:lnTo>
                  <a:pt x="1365250" y="266699"/>
                </a:lnTo>
                <a:lnTo>
                  <a:pt x="13652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52822465-F77C-652E-CC1C-C9EC9615C419}"/>
              </a:ext>
            </a:extLst>
          </p:cNvPr>
          <p:cNvSpPr txBox="1"/>
          <p:nvPr/>
        </p:nvSpPr>
        <p:spPr>
          <a:xfrm>
            <a:off x="1617179" y="5148358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dirty="0">
                <a:latin typeface="Courier New"/>
                <a:cs typeface="Courier New"/>
              </a:rPr>
              <a:t>a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  </a:t>
            </a:r>
            <a:r>
              <a:rPr sz="1800" dirty="0">
                <a:latin typeface="Courier New"/>
                <a:cs typeface="Courier New"/>
              </a:rPr>
              <a:t>b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6697A905-6707-A5CC-CD0D-AC3A0684BCC5}"/>
              </a:ext>
            </a:extLst>
          </p:cNvPr>
          <p:cNvSpPr txBox="1"/>
          <p:nvPr/>
        </p:nvSpPr>
        <p:spPr>
          <a:xfrm>
            <a:off x="1617179" y="5693949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 b +</a:t>
            </a:r>
            <a:r>
              <a:rPr sz="1800" spc="-1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843D1992-113F-CBE3-65E3-7742EA045B1B}"/>
              </a:ext>
            </a:extLst>
          </p:cNvPr>
          <p:cNvSpPr txBox="1"/>
          <p:nvPr/>
        </p:nvSpPr>
        <p:spPr>
          <a:xfrm>
            <a:off x="1617179" y="5974366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6F60F26-D7F9-8CE0-BD57-E4357E7B1D74}"/>
              </a:ext>
            </a:extLst>
          </p:cNvPr>
          <p:cNvSpPr/>
          <p:nvPr/>
        </p:nvSpPr>
        <p:spPr>
          <a:xfrm>
            <a:off x="4404663" y="5139738"/>
            <a:ext cx="1563370" cy="1200785"/>
          </a:xfrm>
          <a:custGeom>
            <a:avLst/>
            <a:gdLst/>
            <a:ahLst/>
            <a:cxnLst/>
            <a:rect l="l" t="t" r="r" b="b"/>
            <a:pathLst>
              <a:path w="1563370" h="1200784">
                <a:moveTo>
                  <a:pt x="0" y="0"/>
                </a:moveTo>
                <a:lnTo>
                  <a:pt x="1563248" y="0"/>
                </a:lnTo>
                <a:lnTo>
                  <a:pt x="1563248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BA2E0AE4-AAD9-F9E9-E332-5FCA5941FE4F}"/>
              </a:ext>
            </a:extLst>
          </p:cNvPr>
          <p:cNvSpPr/>
          <p:nvPr/>
        </p:nvSpPr>
        <p:spPr>
          <a:xfrm>
            <a:off x="4496102" y="5744258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0" y="266699"/>
                </a:moveTo>
                <a:lnTo>
                  <a:pt x="819150" y="266699"/>
                </a:lnTo>
                <a:lnTo>
                  <a:pt x="819150" y="0"/>
                </a:lnTo>
                <a:lnTo>
                  <a:pt x="0" y="0"/>
                </a:lnTo>
                <a:lnTo>
                  <a:pt x="0" y="2666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B7FAF3CE-B68F-AD16-7D88-F5949E69EDB8}"/>
              </a:ext>
            </a:extLst>
          </p:cNvPr>
          <p:cNvSpPr txBox="1"/>
          <p:nvPr/>
        </p:nvSpPr>
        <p:spPr>
          <a:xfrm>
            <a:off x="4483402" y="5148358"/>
            <a:ext cx="139065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dirty="0">
                <a:highlight>
                  <a:srgbClr val="FF00FF"/>
                </a:highlight>
                <a:latin typeface="Courier New"/>
                <a:cs typeface="Courier New"/>
              </a:rPr>
              <a:t>a = b +</a:t>
            </a:r>
            <a:r>
              <a:rPr sz="1800" b="1" spc="-160" dirty="0">
                <a:highlight>
                  <a:srgbClr val="FF00FF"/>
                </a:highlight>
                <a:latin typeface="Courier New"/>
                <a:cs typeface="Courier New"/>
              </a:rPr>
              <a:t> </a:t>
            </a:r>
            <a:r>
              <a:rPr sz="1800" b="1" spc="-10" dirty="0">
                <a:highlight>
                  <a:srgbClr val="FF00FF"/>
                </a:highlight>
                <a:latin typeface="Courier New"/>
                <a:cs typeface="Courier New"/>
              </a:rPr>
              <a:t>c;</a:t>
            </a:r>
            <a:r>
              <a:rPr sz="1800" b="1" spc="-10" dirty="0">
                <a:latin typeface="Courier New"/>
                <a:cs typeface="Courier New"/>
              </a:rPr>
              <a:t>  </a:t>
            </a:r>
            <a:r>
              <a:rPr sz="1800" b="1" dirty="0">
                <a:highlight>
                  <a:srgbClr val="FF00FF"/>
                </a:highlight>
                <a:latin typeface="Courier New"/>
                <a:cs typeface="Courier New"/>
              </a:rPr>
              <a:t>b = a -</a:t>
            </a:r>
            <a:r>
              <a:rPr sz="1800" spc="-155" dirty="0">
                <a:highlight>
                  <a:srgbClr val="FF00FF"/>
                </a:highlight>
                <a:latin typeface="Courier New"/>
                <a:cs typeface="Courier New"/>
              </a:rPr>
              <a:t> </a:t>
            </a:r>
            <a:r>
              <a:rPr sz="1800" spc="-10" dirty="0">
                <a:highlight>
                  <a:srgbClr val="FF00FF"/>
                </a:highlight>
                <a:latin typeface="Courier New"/>
                <a:cs typeface="Courier New"/>
              </a:rPr>
              <a:t>d;</a:t>
            </a:r>
            <a:endParaRPr sz="1800" dirty="0">
              <a:highlight>
                <a:srgbClr val="FF00FF"/>
              </a:highlight>
              <a:latin typeface="Courier New"/>
              <a:cs typeface="Courier New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2BDB623E-435A-A472-3F7E-A0B846ECE8B8}"/>
              </a:ext>
            </a:extLst>
          </p:cNvPr>
          <p:cNvSpPr txBox="1"/>
          <p:nvPr/>
        </p:nvSpPr>
        <p:spPr>
          <a:xfrm>
            <a:off x="4483402" y="5693949"/>
            <a:ext cx="844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 =</a:t>
            </a:r>
            <a:r>
              <a:rPr sz="1800" spc="-1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F4A7CBD0-0116-A6B2-F1E2-ED0327666EBF}"/>
              </a:ext>
            </a:extLst>
          </p:cNvPr>
          <p:cNvSpPr txBox="1"/>
          <p:nvPr/>
        </p:nvSpPr>
        <p:spPr>
          <a:xfrm>
            <a:off x="4483402" y="5974366"/>
            <a:ext cx="139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d = a -</a:t>
            </a:r>
            <a:r>
              <a:rPr sz="1800" spc="-1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1682A35F-5627-8877-FAAC-AAA026AF65E0}"/>
              </a:ext>
            </a:extLst>
          </p:cNvPr>
          <p:cNvSpPr/>
          <p:nvPr/>
        </p:nvSpPr>
        <p:spPr>
          <a:xfrm>
            <a:off x="3276537" y="5796984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1C893112-D2A9-A1D3-539C-3A7D3195A9A3}"/>
              </a:ext>
            </a:extLst>
          </p:cNvPr>
          <p:cNvSpPr txBox="1"/>
          <p:nvPr/>
        </p:nvSpPr>
        <p:spPr>
          <a:xfrm>
            <a:off x="3461781" y="5420646"/>
            <a:ext cx="51180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5" dirty="0">
                <a:latin typeface="Calibri"/>
                <a:cs typeface="Calibri"/>
              </a:rPr>
              <a:t>v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10" dirty="0">
                <a:latin typeface="Calibri"/>
                <a:cs typeface="Calibri"/>
              </a:rPr>
              <a:t>li</a:t>
            </a:r>
            <a:r>
              <a:rPr sz="1600" i="1" dirty="0">
                <a:latin typeface="Calibri"/>
                <a:cs typeface="Calibri"/>
              </a:rPr>
              <a:t>d?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6392" y="5796984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844102"/>
              </p:ext>
            </p:extLst>
          </p:nvPr>
        </p:nvGraphicFramePr>
        <p:xfrm>
          <a:off x="1551944" y="5139738"/>
          <a:ext cx="4439280" cy="1200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9446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  b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Calibri"/>
                          <a:cs typeface="Calibri"/>
                        </a:rPr>
                        <a:t>valid?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 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 marR="317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523095" cy="287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optimization over </a:t>
            </a:r>
            <a:r>
              <a:rPr sz="2800" dirty="0">
                <a:latin typeface="Calibri"/>
                <a:cs typeface="Calibri"/>
              </a:rPr>
              <a:t>3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Attempts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replace arithmetic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10" dirty="0">
                <a:latin typeface="Calibri"/>
                <a:cs typeface="Calibri"/>
              </a:rPr>
              <a:t>(expensive)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copy  </a:t>
            </a:r>
            <a:r>
              <a:rPr sz="2800" spc="-5" dirty="0">
                <a:latin typeface="Calibri"/>
                <a:cs typeface="Calibri"/>
              </a:rPr>
              <a:t>instructions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(cheap)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extended 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15" dirty="0">
                <a:latin typeface="Calibri"/>
                <a:cs typeface="Calibri"/>
              </a:rPr>
              <a:t>optimization </a:t>
            </a:r>
            <a:r>
              <a:rPr sz="2800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flow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6392" y="5836740"/>
            <a:ext cx="877569" cy="76200"/>
          </a:xfrm>
          <a:custGeom>
            <a:avLst/>
            <a:gdLst/>
            <a:ahLst/>
            <a:cxnLst/>
            <a:rect l="l" t="t" r="r" b="b"/>
            <a:pathLst>
              <a:path w="877570" h="76200">
                <a:moveTo>
                  <a:pt x="801248" y="41274"/>
                </a:moveTo>
                <a:lnTo>
                  <a:pt x="801248" y="76199"/>
                </a:lnTo>
                <a:lnTo>
                  <a:pt x="871098" y="41274"/>
                </a:lnTo>
                <a:lnTo>
                  <a:pt x="801248" y="41274"/>
                </a:lnTo>
                <a:close/>
              </a:path>
              <a:path w="877570" h="76200">
                <a:moveTo>
                  <a:pt x="801248" y="34924"/>
                </a:moveTo>
                <a:lnTo>
                  <a:pt x="801248" y="41274"/>
                </a:lnTo>
                <a:lnTo>
                  <a:pt x="813948" y="41274"/>
                </a:lnTo>
                <a:lnTo>
                  <a:pt x="813948" y="34924"/>
                </a:lnTo>
                <a:lnTo>
                  <a:pt x="801248" y="34924"/>
                </a:lnTo>
                <a:close/>
              </a:path>
              <a:path w="877570" h="76200">
                <a:moveTo>
                  <a:pt x="801248" y="0"/>
                </a:moveTo>
                <a:lnTo>
                  <a:pt x="801248" y="34924"/>
                </a:lnTo>
                <a:lnTo>
                  <a:pt x="813948" y="34924"/>
                </a:lnTo>
                <a:lnTo>
                  <a:pt x="813948" y="41274"/>
                </a:lnTo>
                <a:lnTo>
                  <a:pt x="871100" y="41274"/>
                </a:lnTo>
                <a:lnTo>
                  <a:pt x="877448" y="38100"/>
                </a:lnTo>
                <a:lnTo>
                  <a:pt x="801248" y="0"/>
                </a:lnTo>
                <a:close/>
              </a:path>
              <a:path w="877570" h="76200">
                <a:moveTo>
                  <a:pt x="0" y="34924"/>
                </a:moveTo>
                <a:lnTo>
                  <a:pt x="0" y="41274"/>
                </a:lnTo>
                <a:lnTo>
                  <a:pt x="801248" y="41274"/>
                </a:lnTo>
                <a:lnTo>
                  <a:pt x="801248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4621"/>
              </p:ext>
            </p:extLst>
          </p:nvPr>
        </p:nvGraphicFramePr>
        <p:xfrm>
          <a:off x="1551944" y="5126486"/>
          <a:ext cx="4439280" cy="11994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268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  b =</a:t>
                      </a:r>
                      <a:r>
                        <a:rPr sz="18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sz="1600" i="1" spc="-5" dirty="0">
                          <a:latin typeface="Calibri"/>
                          <a:cs typeface="Calibri"/>
                        </a:rPr>
                        <a:t>valid?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>
                        <a:lnSpc>
                          <a:spcPts val="209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a  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 marR="3175"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12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25"/>
                        </a:lnSpc>
                        <a:spcBef>
                          <a:spcPts val="165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945">
                        <a:lnSpc>
                          <a:spcPts val="212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9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317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 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87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7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518291" y="5776378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47446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  <a:r>
              <a:rPr lang="en-US" spc="-5" dirty="0"/>
              <a:t> (LVN)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US" sz="2800" spc="-5" dirty="0">
                <a:latin typeface="Calibri"/>
                <a:cs typeface="Calibri"/>
              </a:rPr>
              <a:t>LVN </a:t>
            </a:r>
            <a:r>
              <a:rPr sz="2800" spc="-5" dirty="0">
                <a:latin typeface="Calibri"/>
                <a:cs typeface="Calibri"/>
              </a:rPr>
              <a:t>Algorithm: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036928"/>
              </p:ext>
            </p:extLst>
          </p:nvPr>
        </p:nvGraphicFramePr>
        <p:xfrm>
          <a:off x="4800600" y="4953000"/>
          <a:ext cx="202818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153400" y="4979504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4B5-4F2B-45D4-CC0B-FAFEF9ED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DC35B0-7448-735B-5B7C-7683D3BAA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447DE7-FFB8-BB1C-DFEC-C48E01A9B1CB}"/>
              </a:ext>
            </a:extLst>
          </p:cNvPr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80CB76C-48EC-1E06-4153-27246BC0A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45404"/>
              </p:ext>
            </p:extLst>
          </p:nvPr>
        </p:nvGraphicFramePr>
        <p:xfrm>
          <a:off x="4771259" y="4930171"/>
          <a:ext cx="243992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9FC7D13A-9898-CB21-1888-82E61727C232}"/>
              </a:ext>
            </a:extLst>
          </p:cNvPr>
          <p:cNvSpPr txBox="1"/>
          <p:nvPr/>
        </p:nvSpPr>
        <p:spPr>
          <a:xfrm>
            <a:off x="8153400" y="4930171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lang="en-US" spc="-75" dirty="0"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9BFB7-BAA6-13B3-9AEE-462865BC0286}"/>
              </a:ext>
            </a:extLst>
          </p:cNvPr>
          <p:cNvSpPr txBox="1"/>
          <p:nvPr/>
        </p:nvSpPr>
        <p:spPr>
          <a:xfrm>
            <a:off x="8077200" y="55626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and c have not been seen, give them a number</a:t>
            </a:r>
          </a:p>
        </p:txBody>
      </p:sp>
    </p:spTree>
    <p:extLst>
      <p:ext uri="{BB962C8B-B14F-4D97-AF65-F5344CB8AC3E}">
        <p14:creationId xmlns:p14="http://schemas.microsoft.com/office/powerpoint/2010/main" val="2630388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680E-903D-7713-DAE7-937CCD38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734025-BFCA-2CC4-DA29-B0A5AD0BEF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7F02AAD-A491-8721-DE93-51BF8CED0CD5}"/>
              </a:ext>
            </a:extLst>
          </p:cNvPr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4AADBB5B-4727-2A7F-D766-B689D40B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821810"/>
              </p:ext>
            </p:extLst>
          </p:nvPr>
        </p:nvGraphicFramePr>
        <p:xfrm>
          <a:off x="4771259" y="4953000"/>
          <a:ext cx="243992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0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2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lang="en-US" sz="2400" spc="-5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160B84F0-C4EF-EAB6-6DF5-5844544CE40A}"/>
              </a:ext>
            </a:extLst>
          </p:cNvPr>
          <p:cNvSpPr txBox="1"/>
          <p:nvPr/>
        </p:nvSpPr>
        <p:spPr>
          <a:xfrm>
            <a:off x="8185665" y="4956313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lang="en-US" spc="-75" dirty="0"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E579F-9D67-BE88-2F49-241E1615F6CD}"/>
              </a:ext>
            </a:extLst>
          </p:cNvPr>
          <p:cNvSpPr txBox="1"/>
          <p:nvPr/>
        </p:nvSpPr>
        <p:spPr>
          <a:xfrm>
            <a:off x="8496815" y="5621867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 have been updated use the last defined number. </a:t>
            </a:r>
          </a:p>
          <a:p>
            <a:r>
              <a:rPr lang="en-US" dirty="0"/>
              <a:t>i.e. a on RHS,  becomes a2</a:t>
            </a:r>
          </a:p>
          <a:p>
            <a:r>
              <a:rPr lang="en-US" dirty="0"/>
              <a:t>and so on.</a:t>
            </a:r>
          </a:p>
        </p:txBody>
      </p:sp>
    </p:spTree>
    <p:extLst>
      <p:ext uri="{BB962C8B-B14F-4D97-AF65-F5344CB8AC3E}">
        <p14:creationId xmlns:p14="http://schemas.microsoft.com/office/powerpoint/2010/main" val="3645006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4522"/>
              </p:ext>
            </p:extLst>
          </p:nvPr>
        </p:nvGraphicFramePr>
        <p:xfrm>
          <a:off x="4804410" y="5009263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214967" y="4999324"/>
            <a:ext cx="179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Global_counter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16532"/>
            <a:ext cx="10296525" cy="232092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number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variable. </a:t>
            </a:r>
            <a:r>
              <a:rPr sz="2800" spc="-15" dirty="0">
                <a:latin typeface="Calibri"/>
                <a:cs typeface="Calibri"/>
              </a:rPr>
              <a:t>Update </a:t>
            </a:r>
            <a:r>
              <a:rPr sz="2800" spc="-5" dirty="0">
                <a:latin typeface="Calibri"/>
                <a:cs typeface="Calibri"/>
              </a:rPr>
              <a:t>the number each time the  </a:t>
            </a:r>
            <a:r>
              <a:rPr sz="2800" spc="-10" dirty="0">
                <a:latin typeface="Calibri"/>
                <a:cs typeface="Calibri"/>
              </a:rPr>
              <a:t>variable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</a:t>
            </a:r>
            <a:r>
              <a:rPr lang="en-US" sz="2800" spc="-10" dirty="0">
                <a:latin typeface="Calibri"/>
                <a:cs typeface="Calibri"/>
              </a:rPr>
              <a:t> (assigned to)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global </a:t>
            </a:r>
            <a:r>
              <a:rPr sz="2800" spc="-15" dirty="0">
                <a:latin typeface="Calibri"/>
                <a:cs typeface="Calibri"/>
              </a:rPr>
              <a:t>counter; </a:t>
            </a:r>
            <a:r>
              <a:rPr sz="2800" spc="-10" dirty="0">
                <a:latin typeface="Calibri"/>
                <a:cs typeface="Calibri"/>
              </a:rPr>
              <a:t>increment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new variables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assignments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FE213-9CF2-F1D6-F2AD-629256F982CF}"/>
              </a:ext>
            </a:extLst>
          </p:cNvPr>
          <p:cNvSpPr txBox="1"/>
          <p:nvPr/>
        </p:nvSpPr>
        <p:spPr>
          <a:xfrm>
            <a:off x="8382000" y="5470924"/>
            <a:ext cx="3352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</a:t>
            </a:r>
            <a:r>
              <a:rPr lang="en-US" dirty="0">
                <a:highlight>
                  <a:srgbClr val="FFFF00"/>
                </a:highlight>
              </a:rPr>
              <a:t>… </a:t>
            </a:r>
            <a:r>
              <a:rPr lang="en-US" sz="1600" dirty="0">
                <a:highlight>
                  <a:srgbClr val="FFFF00"/>
                </a:highlight>
              </a:rPr>
              <a:t>for LHS variable always increment with updated number, for right hand side use, always appended last number version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99072" y="5121275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6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0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AC6417-A76E-298D-436D-D12229FB830D}"/>
              </a:ext>
            </a:extLst>
          </p:cNvPr>
          <p:cNvSpPr txBox="1"/>
          <p:nvPr/>
        </p:nvSpPr>
        <p:spPr>
          <a:xfrm>
            <a:off x="8077200" y="5121275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remember to declare every one of these variable names, the IR is still valid !!!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52563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0"/>
                </a:moveTo>
                <a:lnTo>
                  <a:pt x="355967" y="76200"/>
                </a:lnTo>
                <a:lnTo>
                  <a:pt x="42581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425817" y="34924"/>
                </a:lnTo>
                <a:lnTo>
                  <a:pt x="355967" y="0"/>
                </a:lnTo>
                <a:close/>
              </a:path>
              <a:path w="432434" h="76200">
                <a:moveTo>
                  <a:pt x="355967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close/>
              </a:path>
              <a:path w="432434" h="76200">
                <a:moveTo>
                  <a:pt x="425817" y="34924"/>
                </a:moveTo>
                <a:lnTo>
                  <a:pt x="368667" y="34924"/>
                </a:lnTo>
                <a:lnTo>
                  <a:pt x="368667" y="41274"/>
                </a:lnTo>
                <a:lnTo>
                  <a:pt x="425817" y="41274"/>
                </a:lnTo>
                <a:lnTo>
                  <a:pt x="432167" y="38099"/>
                </a:lnTo>
                <a:lnTo>
                  <a:pt x="425817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69912" y="552563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0"/>
                </a:moveTo>
                <a:lnTo>
                  <a:pt x="355967" y="76200"/>
                </a:lnTo>
                <a:lnTo>
                  <a:pt x="42581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425817" y="34924"/>
                </a:lnTo>
                <a:lnTo>
                  <a:pt x="355967" y="0"/>
                </a:lnTo>
                <a:close/>
              </a:path>
              <a:path w="432434" h="76200">
                <a:moveTo>
                  <a:pt x="355967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close/>
              </a:path>
              <a:path w="432434" h="76200">
                <a:moveTo>
                  <a:pt x="425817" y="34924"/>
                </a:moveTo>
                <a:lnTo>
                  <a:pt x="368667" y="34924"/>
                </a:lnTo>
                <a:lnTo>
                  <a:pt x="368667" y="41274"/>
                </a:lnTo>
                <a:lnTo>
                  <a:pt x="425817" y="41274"/>
                </a:lnTo>
                <a:lnTo>
                  <a:pt x="432167" y="38099"/>
                </a:lnTo>
                <a:lnTo>
                  <a:pt x="425817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b="1" spc="-20" dirty="0">
                <a:latin typeface="Calibri"/>
                <a:cs typeface="Calibri"/>
              </a:rPr>
              <a:t>Keep </a:t>
            </a:r>
            <a:r>
              <a:rPr sz="2800" b="1" dirty="0">
                <a:latin typeface="Calibri"/>
                <a:cs typeface="Calibri"/>
              </a:rPr>
              <a:t>a hash </a:t>
            </a:r>
            <a:r>
              <a:rPr sz="2800" b="1" spc="-10" dirty="0">
                <a:latin typeface="Calibri"/>
                <a:cs typeface="Calibri"/>
              </a:rPr>
              <a:t>table </a:t>
            </a:r>
            <a:r>
              <a:rPr sz="2800" b="1" spc="-5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the rhs  </a:t>
            </a:r>
            <a:r>
              <a:rPr sz="2800" b="1" spc="-10" dirty="0">
                <a:latin typeface="Calibri"/>
                <a:cs typeface="Calibri"/>
              </a:rPr>
              <a:t>(numbered variables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5" dirty="0">
                <a:latin typeface="Calibri"/>
                <a:cs typeface="Calibri"/>
              </a:rPr>
              <a:t>operation) </a:t>
            </a:r>
            <a:r>
              <a:rPr sz="2800" b="1" spc="-5" dirty="0">
                <a:latin typeface="Calibri"/>
                <a:cs typeface="Calibri"/>
              </a:rPr>
              <a:t>mapped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their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lhs.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4830" y="5189765"/>
            <a:ext cx="1228725" cy="266700"/>
          </a:xfrm>
          <a:custGeom>
            <a:avLst/>
            <a:gdLst/>
            <a:ahLst/>
            <a:cxnLst/>
            <a:rect l="l" t="t" r="r" b="b"/>
            <a:pathLst>
              <a:path w="1228725" h="266700">
                <a:moveTo>
                  <a:pt x="0" y="266700"/>
                </a:moveTo>
                <a:lnTo>
                  <a:pt x="1228724" y="266700"/>
                </a:lnTo>
                <a:lnTo>
                  <a:pt x="1228724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2130" y="5138420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2130" y="5418835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2979" y="569925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53600" y="4858704"/>
            <a:ext cx="2215774" cy="147604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2000" b="1" i="1" spc="-5" dirty="0">
                <a:latin typeface="Calibri"/>
                <a:cs typeface="Calibri"/>
              </a:rPr>
              <a:t>mismatch due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15" dirty="0">
                <a:latin typeface="Calibri"/>
                <a:cs typeface="Calibri"/>
              </a:rPr>
              <a:t>to </a:t>
            </a:r>
            <a:endParaRPr lang="en-US" sz="2000" b="1" i="1" spc="-15" dirty="0">
              <a:latin typeface="Calibri"/>
              <a:cs typeface="Calibri"/>
            </a:endParaRP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lang="en-US" sz="2000" b="1" i="1" spc="-15" dirty="0">
                <a:latin typeface="Calibri"/>
                <a:cs typeface="Calibri"/>
              </a:rPr>
              <a:t>re-num</a:t>
            </a:r>
            <a:r>
              <a:rPr sz="2000" b="1" i="1" spc="-5" dirty="0">
                <a:latin typeface="Calibri"/>
                <a:cs typeface="Calibri"/>
              </a:rPr>
              <a:t>bering!</a:t>
            </a:r>
            <a:r>
              <a:rPr lang="en-US" sz="2000" b="1" i="1" spc="-5" dirty="0">
                <a:latin typeface="Calibri"/>
                <a:cs typeface="Calibri"/>
              </a:rPr>
              <a:t>!!</a:t>
            </a: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endParaRPr lang="en-US" i="1" spc="-5" dirty="0">
              <a:latin typeface="Calibri"/>
              <a:cs typeface="Calibri"/>
            </a:endParaRP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lang="en-US" sz="1800" i="1" spc="-5" dirty="0">
                <a:latin typeface="Calibri"/>
                <a:cs typeface="Calibri"/>
              </a:rPr>
              <a:t>i.e. it is no longer  just </a:t>
            </a:r>
          </a:p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lang="en-US" i="1" spc="-5" dirty="0">
                <a:latin typeface="Calibri"/>
                <a:cs typeface="Calibri"/>
              </a:rPr>
              <a:t>         c =  </a:t>
            </a:r>
            <a:r>
              <a:rPr lang="en-US" sz="1800" i="1" spc="-5" dirty="0">
                <a:latin typeface="Calibri"/>
                <a:cs typeface="Calibri"/>
              </a:rPr>
              <a:t>b + c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1679460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59752" y="5911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63080" y="5189406"/>
          <a:ext cx="2382520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F8FA7-4742-8978-CF0E-BC0139DFDD41}"/>
              </a:ext>
            </a:extLst>
          </p:cNvPr>
          <p:cNvSpPr txBox="1"/>
          <p:nvPr/>
        </p:nvSpPr>
        <p:spPr>
          <a:xfrm>
            <a:off x="9753600" y="5749317"/>
            <a:ext cx="221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new entry in</a:t>
            </a:r>
          </a:p>
          <a:p>
            <a:r>
              <a:rPr lang="en-US" dirty="0"/>
              <a:t>Hash table with new </a:t>
            </a:r>
          </a:p>
          <a:p>
            <a:r>
              <a:rPr lang="en-US" dirty="0"/>
              <a:t>Numbering.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64073"/>
              </p:ext>
            </p:extLst>
          </p:nvPr>
        </p:nvGraphicFramePr>
        <p:xfrm>
          <a:off x="1558032" y="4964489"/>
          <a:ext cx="2583179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a2</a:t>
                      </a:r>
                      <a:endParaRPr sz="24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d3;</a:t>
                      </a:r>
                      <a:endParaRPr sz="24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39432" y="6303873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5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5"/>
                </a:lnTo>
                <a:close/>
              </a:path>
              <a:path w="432434" h="76200">
                <a:moveTo>
                  <a:pt x="355967" y="34925"/>
                </a:moveTo>
                <a:lnTo>
                  <a:pt x="355967" y="41275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5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5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5"/>
                </a:lnTo>
                <a:lnTo>
                  <a:pt x="355967" y="34925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395676"/>
              </p:ext>
            </p:extLst>
          </p:nvPr>
        </p:nvGraphicFramePr>
        <p:xfrm>
          <a:off x="6863080" y="5189406"/>
          <a:ext cx="2382520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“a2</a:t>
                      </a:r>
                      <a:endParaRPr sz="1800" dirty="0">
                        <a:highlight>
                          <a:srgbClr val="FFFF00"/>
                        </a:highlight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spc="-1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7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: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“b4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89F04-3898-0461-6618-27FB1DBC02F2}"/>
              </a:ext>
            </a:extLst>
          </p:cNvPr>
          <p:cNvSpPr txBox="1"/>
          <p:nvPr/>
        </p:nvSpPr>
        <p:spPr>
          <a:xfrm>
            <a:off x="9601200" y="56388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 a look up and 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074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Local </a:t>
            </a:r>
            <a:r>
              <a:rPr spc="-15" dirty="0"/>
              <a:t>value</a:t>
            </a:r>
            <a:r>
              <a:rPr spc="-35" dirty="0"/>
              <a:t> </a:t>
            </a:r>
            <a:r>
              <a:rPr spc="-5" dirty="0"/>
              <a:t>numbering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06056"/>
              </p:ext>
            </p:extLst>
          </p:nvPr>
        </p:nvGraphicFramePr>
        <p:xfrm>
          <a:off x="1558032" y="4964489"/>
          <a:ext cx="259397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spc="-5" dirty="0">
                          <a:highlight>
                            <a:srgbClr val="FFFF00"/>
                          </a:highlight>
                          <a:latin typeface="Courier New"/>
                          <a:cs typeface="Courier New"/>
                        </a:rPr>
                        <a:t>b4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939432" y="6303873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5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5"/>
                </a:lnTo>
                <a:close/>
              </a:path>
              <a:path w="432434" h="76200">
                <a:moveTo>
                  <a:pt x="355967" y="34925"/>
                </a:moveTo>
                <a:lnTo>
                  <a:pt x="355967" y="41275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5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5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5"/>
                </a:lnTo>
                <a:lnTo>
                  <a:pt x="355967" y="34925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283068" y="5769355"/>
            <a:ext cx="129933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Calibri"/>
                <a:cs typeface="Calibri"/>
              </a:rPr>
              <a:t>…</a:t>
            </a:r>
            <a:r>
              <a:rPr sz="2400" b="1" spc="-5" dirty="0">
                <a:latin typeface="Calibri"/>
                <a:cs typeface="Calibri"/>
              </a:rPr>
              <a:t>m</a:t>
            </a:r>
            <a:r>
              <a:rPr sz="2400" b="1" spc="-20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t</a:t>
            </a:r>
            <a:r>
              <a:rPr sz="2400" b="1" dirty="0">
                <a:latin typeface="Calibri"/>
                <a:cs typeface="Calibri"/>
              </a:rPr>
              <a:t>ch</a:t>
            </a:r>
            <a:r>
              <a:rPr sz="1800" dirty="0">
                <a:latin typeface="Calibri"/>
                <a:cs typeface="Calibri"/>
              </a:rPr>
              <a:t>!</a:t>
            </a:r>
          </a:p>
        </p:txBody>
      </p:sp>
      <p:sp>
        <p:nvSpPr>
          <p:cNvPr id="6" name="object 6"/>
          <p:cNvSpPr/>
          <p:nvPr/>
        </p:nvSpPr>
        <p:spPr>
          <a:xfrm>
            <a:off x="7031355" y="5469165"/>
            <a:ext cx="409575" cy="266700"/>
          </a:xfrm>
          <a:custGeom>
            <a:avLst/>
            <a:gdLst/>
            <a:ahLst/>
            <a:cxnLst/>
            <a:rect l="l" t="t" r="r" b="b"/>
            <a:pathLst>
              <a:path w="409575" h="266700">
                <a:moveTo>
                  <a:pt x="0" y="266700"/>
                </a:moveTo>
                <a:lnTo>
                  <a:pt x="409575" y="266700"/>
                </a:lnTo>
                <a:lnTo>
                  <a:pt x="4095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0930" y="5469165"/>
            <a:ext cx="136525" cy="266700"/>
          </a:xfrm>
          <a:custGeom>
            <a:avLst/>
            <a:gdLst/>
            <a:ahLst/>
            <a:cxnLst/>
            <a:rect l="l" t="t" r="r" b="b"/>
            <a:pathLst>
              <a:path w="136525" h="266700">
                <a:moveTo>
                  <a:pt x="0" y="266700"/>
                </a:moveTo>
                <a:lnTo>
                  <a:pt x="136525" y="266700"/>
                </a:lnTo>
                <a:lnTo>
                  <a:pt x="13652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77455" y="5469165"/>
            <a:ext cx="136525" cy="266700"/>
          </a:xfrm>
          <a:custGeom>
            <a:avLst/>
            <a:gdLst/>
            <a:ahLst/>
            <a:cxnLst/>
            <a:rect l="l" t="t" r="r" b="b"/>
            <a:pathLst>
              <a:path w="136525" h="266700">
                <a:moveTo>
                  <a:pt x="0" y="266700"/>
                </a:moveTo>
                <a:lnTo>
                  <a:pt x="136525" y="266700"/>
                </a:lnTo>
                <a:lnTo>
                  <a:pt x="13652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3980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“b0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“a2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”b4”,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2130" y="5699252"/>
            <a:ext cx="234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“b4 </a:t>
            </a:r>
            <a:r>
              <a:rPr sz="1800" dirty="0">
                <a:latin typeface="Courier New"/>
                <a:cs typeface="Courier New"/>
              </a:rPr>
              <a:t>+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“c5”,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1716532"/>
            <a:ext cx="10234295" cy="2448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 dirty="0">
                <a:latin typeface="Calibri"/>
                <a:cs typeface="Calibri"/>
              </a:rPr>
              <a:t>Algorithm: Now </a:t>
            </a:r>
            <a:r>
              <a:rPr sz="2800" spc="-10" dirty="0">
                <a:latin typeface="Calibri"/>
                <a:cs typeface="Calibri"/>
              </a:rPr>
              <a:t>that variables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Iterate </a:t>
            </a:r>
            <a:r>
              <a:rPr sz="2800" spc="-5" dirty="0">
                <a:latin typeface="Calibri"/>
                <a:cs typeface="Calibri"/>
              </a:rPr>
              <a:t>sequentially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spc="-5" dirty="0">
                <a:latin typeface="Calibri"/>
                <a:cs typeface="Calibri"/>
              </a:rPr>
              <a:t>instructions.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dirty="0">
                <a:latin typeface="Calibri"/>
                <a:cs typeface="Calibri"/>
              </a:rPr>
              <a:t>a hash </a:t>
            </a:r>
            <a:r>
              <a:rPr sz="2800" spc="-10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 rhs  </a:t>
            </a:r>
            <a:r>
              <a:rPr sz="2800" spc="-10" dirty="0">
                <a:latin typeface="Calibri"/>
                <a:cs typeface="Calibri"/>
              </a:rPr>
              <a:t>(numbered variables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operation) </a:t>
            </a:r>
            <a:r>
              <a:rPr sz="2800" spc="-5" dirty="0">
                <a:latin typeface="Calibri"/>
                <a:cs typeface="Calibri"/>
              </a:rPr>
              <a:t>mapped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lhs.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step, </a:t>
            </a:r>
            <a:r>
              <a:rPr sz="2800" spc="-5" dirty="0">
                <a:latin typeface="Calibri"/>
                <a:cs typeface="Calibri"/>
              </a:rPr>
              <a:t>check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see if the </a:t>
            </a:r>
            <a:r>
              <a:rPr sz="2800" dirty="0">
                <a:latin typeface="Calibri"/>
                <a:cs typeface="Calibri"/>
              </a:rPr>
              <a:t>rhs </a:t>
            </a:r>
            <a:r>
              <a:rPr sz="2800" spc="-5" dirty="0">
                <a:latin typeface="Calibri"/>
                <a:cs typeface="Calibri"/>
              </a:rPr>
              <a:t>has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942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What </a:t>
            </a:r>
            <a:r>
              <a:rPr spc="-5" dirty="0"/>
              <a:t>else </a:t>
            </a:r>
            <a:r>
              <a:rPr spc="-15" dirty="0"/>
              <a:t>can </a:t>
            </a:r>
            <a:r>
              <a:rPr spc="-25" dirty="0"/>
              <a:t>we</a:t>
            </a:r>
            <a:r>
              <a:rPr spc="5" dirty="0"/>
              <a:t> </a:t>
            </a:r>
            <a:r>
              <a:rPr dirty="0"/>
              <a:t>do?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942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What </a:t>
            </a:r>
            <a:r>
              <a:rPr spc="-5" dirty="0"/>
              <a:t>else </a:t>
            </a:r>
            <a:r>
              <a:rPr spc="-15" dirty="0"/>
              <a:t>can </a:t>
            </a:r>
            <a:r>
              <a:rPr spc="-25" dirty="0"/>
              <a:t>we</a:t>
            </a:r>
            <a:r>
              <a:rPr spc="5" dirty="0"/>
              <a:t> </a:t>
            </a:r>
            <a:r>
              <a:rPr dirty="0"/>
              <a:t>do?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79052" y="3320515"/>
          <a:ext cx="2582544" cy="15696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762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762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762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762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74"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256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644288" y="2657347"/>
            <a:ext cx="20408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Consider 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snippet: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5581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5" dirty="0">
                <a:latin typeface="Calibri Light"/>
                <a:cs typeface="Calibri Light"/>
              </a:rPr>
              <a:t>Commutative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spc="-15" dirty="0">
                <a:latin typeface="Calibri Light"/>
                <a:cs typeface="Calibri Light"/>
              </a:rPr>
              <a:t>operations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5676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definition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commutative?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5810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Commutative</a:t>
            </a:r>
            <a:r>
              <a:rPr spc="-55" dirty="0"/>
              <a:t> </a:t>
            </a:r>
            <a:r>
              <a:rPr spc="-1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8044815" cy="2669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10" dirty="0">
                <a:latin typeface="Calibri"/>
                <a:cs typeface="Calibri"/>
              </a:rPr>
              <a:t>definition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commutative?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800" dirty="0">
                <a:latin typeface="Courier New"/>
                <a:cs typeface="Courier New"/>
              </a:rPr>
              <a:t>		</a:t>
            </a:r>
            <a:r>
              <a:rPr sz="3600" dirty="0">
                <a:latin typeface="Courier New"/>
                <a:cs typeface="Courier New"/>
              </a:rPr>
              <a:t>x </a:t>
            </a:r>
            <a:r>
              <a:rPr sz="3600" spc="-5" dirty="0">
                <a:latin typeface="Courier New"/>
                <a:cs typeface="Courier New"/>
              </a:rPr>
              <a:t>OP </a:t>
            </a:r>
            <a:r>
              <a:rPr sz="3600" dirty="0">
                <a:latin typeface="Courier New"/>
                <a:cs typeface="Courier New"/>
              </a:rPr>
              <a:t>y </a:t>
            </a:r>
            <a:r>
              <a:rPr sz="3600" spc="-5" dirty="0">
                <a:latin typeface="Courier New"/>
                <a:cs typeface="Courier New"/>
              </a:rPr>
              <a:t>== </a:t>
            </a:r>
            <a:r>
              <a:rPr sz="3600" dirty="0">
                <a:latin typeface="Courier New"/>
                <a:cs typeface="Courier New"/>
              </a:rPr>
              <a:t>y </a:t>
            </a:r>
            <a:r>
              <a:rPr sz="3600" spc="-5" dirty="0">
                <a:latin typeface="Courier New"/>
                <a:cs typeface="Courier New"/>
              </a:rPr>
              <a:t>OP</a:t>
            </a:r>
            <a:r>
              <a:rPr sz="3600" spc="-105" dirty="0">
                <a:latin typeface="Courier New"/>
                <a:cs typeface="Courier New"/>
              </a:rPr>
              <a:t> </a:t>
            </a:r>
            <a:r>
              <a:rPr sz="3600" dirty="0">
                <a:latin typeface="Courier New"/>
                <a:cs typeface="Courier New"/>
              </a:rPr>
              <a:t>x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25" dirty="0">
                <a:latin typeface="Calibri"/>
                <a:cs typeface="Calibri"/>
              </a:rPr>
              <a:t>operators </a:t>
            </a:r>
            <a:r>
              <a:rPr sz="2800" spc="-15" dirty="0">
                <a:latin typeface="Calibri"/>
                <a:cs typeface="Calibri"/>
              </a:rPr>
              <a:t>are commutative? </a:t>
            </a:r>
            <a:r>
              <a:rPr sz="2800" spc="-5" dirty="0">
                <a:latin typeface="Calibri"/>
                <a:cs typeface="Calibri"/>
              </a:rPr>
              <a:t>Which ones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not?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5" dirty="0"/>
              <a:t>Adding </a:t>
            </a:r>
            <a:r>
              <a:rPr spc="-15" dirty="0"/>
              <a:t>commutativity </a:t>
            </a:r>
            <a:r>
              <a:rPr spc="-25" dirty="0"/>
              <a:t>to </a:t>
            </a:r>
            <a:r>
              <a:rPr spc="-10" dirty="0"/>
              <a:t>local </a:t>
            </a:r>
            <a:r>
              <a:rPr spc="-15" dirty="0"/>
              <a:t>value  </a:t>
            </a:r>
            <a:r>
              <a:rPr spc="-5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301747"/>
            <a:ext cx="10000615" cy="1863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 commutative </a:t>
            </a:r>
            <a:r>
              <a:rPr sz="2800" spc="-25" dirty="0">
                <a:latin typeface="Calibri"/>
                <a:cs typeface="Calibri"/>
              </a:rPr>
              <a:t>operators </a:t>
            </a:r>
            <a:r>
              <a:rPr sz="2800" dirty="0">
                <a:latin typeface="Calibri"/>
                <a:cs typeface="Calibri"/>
              </a:rPr>
              <a:t>(e.g. + *),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analysis </a:t>
            </a:r>
            <a:r>
              <a:rPr sz="2800" spc="-5" dirty="0">
                <a:latin typeface="Calibri"/>
                <a:cs typeface="Calibri"/>
              </a:rPr>
              <a:t>should consider </a:t>
            </a:r>
            <a:r>
              <a:rPr sz="2800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deterministic </a:t>
            </a:r>
            <a:r>
              <a:rPr sz="2800" spc="-15" dirty="0">
                <a:latin typeface="Calibri"/>
                <a:cs typeface="Calibri"/>
              </a:rPr>
              <a:t>order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operands.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dirty="0">
                <a:latin typeface="Calibri"/>
                <a:cs typeface="Calibri"/>
              </a:rPr>
              <a:t>use </a:t>
            </a:r>
            <a:r>
              <a:rPr sz="2800" spc="-10" dirty="0">
                <a:latin typeface="Calibri"/>
                <a:cs typeface="Calibri"/>
              </a:rPr>
              <a:t>variable numbers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lexigraphical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873244"/>
            <a:ext cx="708660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9912" y="514971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224020"/>
            <a:ext cx="5427345" cy="149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cannot </a:t>
            </a:r>
            <a:r>
              <a:rPr sz="1800" spc="-10" dirty="0">
                <a:latin typeface="Calibri"/>
                <a:cs typeface="Calibri"/>
              </a:rPr>
              <a:t>re-order </a:t>
            </a:r>
            <a:r>
              <a:rPr sz="1800" spc="-5" dirty="0">
                <a:latin typeface="Calibri"/>
                <a:cs typeface="Calibri"/>
              </a:rPr>
              <a:t>because </a:t>
            </a:r>
            <a:r>
              <a:rPr sz="1800" dirty="0">
                <a:latin typeface="Calibri"/>
                <a:cs typeface="Calibri"/>
              </a:rPr>
              <a:t>-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commutative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509634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3165475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509634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200"/>
                </a:lnTo>
                <a:lnTo>
                  <a:pt x="425817" y="41275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5"/>
                </a:lnTo>
                <a:lnTo>
                  <a:pt x="368667" y="34925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5"/>
                </a:lnTo>
                <a:lnTo>
                  <a:pt x="368667" y="41275"/>
                </a:lnTo>
                <a:lnTo>
                  <a:pt x="425819" y="41273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3"/>
                </a:moveTo>
                <a:lnTo>
                  <a:pt x="0" y="41273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31355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3980" y="5469165"/>
            <a:ext cx="273050" cy="266700"/>
          </a:xfrm>
          <a:custGeom>
            <a:avLst/>
            <a:gdLst/>
            <a:ahLst/>
            <a:cxnLst/>
            <a:rect l="l" t="t" r="r" b="b"/>
            <a:pathLst>
              <a:path w="273050" h="266700">
                <a:moveTo>
                  <a:pt x="0" y="266700"/>
                </a:moveTo>
                <a:lnTo>
                  <a:pt x="273050" y="266700"/>
                </a:lnTo>
                <a:lnTo>
                  <a:pt x="273050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2979" y="4056379"/>
            <a:ext cx="5012055" cy="194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7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re-ordered </a:t>
            </a:r>
            <a:r>
              <a:rPr sz="1800" spc="-5" dirty="0">
                <a:latin typeface="Calibri"/>
                <a:cs typeface="Calibri"/>
              </a:rPr>
              <a:t>because a2 </a:t>
            </a:r>
            <a:r>
              <a:rPr sz="1800" dirty="0">
                <a:latin typeface="Calibri"/>
                <a:cs typeface="Calibri"/>
              </a:rPr>
              <a:t>&lt; d3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lexigraphically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  <a:spcBef>
                <a:spcPts val="1585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908468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199"/>
                </a:lnTo>
                <a:lnTo>
                  <a:pt x="425817" y="41274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4"/>
                </a:lnTo>
                <a:lnTo>
                  <a:pt x="368667" y="41274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316547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10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096" y="5908468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7" y="41274"/>
                </a:moveTo>
                <a:lnTo>
                  <a:pt x="355967" y="76199"/>
                </a:lnTo>
                <a:lnTo>
                  <a:pt x="425817" y="41274"/>
                </a:lnTo>
                <a:lnTo>
                  <a:pt x="355967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7" y="41274"/>
                </a:lnTo>
                <a:lnTo>
                  <a:pt x="368667" y="41274"/>
                </a:lnTo>
                <a:lnTo>
                  <a:pt x="368667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7" y="34924"/>
                </a:lnTo>
                <a:lnTo>
                  <a:pt x="368667" y="41274"/>
                </a:lnTo>
                <a:lnTo>
                  <a:pt x="425819" y="41274"/>
                </a:lnTo>
                <a:lnTo>
                  <a:pt x="432167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7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63080" y="5189406"/>
          <a:ext cx="2383789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b0”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*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“f4”,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62979" y="4873244"/>
            <a:ext cx="708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1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63080" y="5189406"/>
          <a:ext cx="2383789" cy="8197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b0”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“a2”,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”a2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*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d3”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“f4”,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688">
                <a:tc>
                  <a:txBody>
                    <a:bodyPr/>
                    <a:lstStyle/>
                    <a:p>
                      <a:pPr marR="2857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”b0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4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-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c1”</a:t>
                      </a:r>
                      <a:r>
                        <a:rPr sz="18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: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ts val="194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“c5”,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062979" y="596442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82544" cy="1569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807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53"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d3;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278" y="622948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4" h="76200">
                <a:moveTo>
                  <a:pt x="355966" y="41274"/>
                </a:moveTo>
                <a:lnTo>
                  <a:pt x="355966" y="76199"/>
                </a:lnTo>
                <a:lnTo>
                  <a:pt x="425816" y="41274"/>
                </a:lnTo>
                <a:lnTo>
                  <a:pt x="355966" y="41274"/>
                </a:lnTo>
                <a:close/>
              </a:path>
              <a:path w="432434" h="76200">
                <a:moveTo>
                  <a:pt x="355967" y="34924"/>
                </a:moveTo>
                <a:lnTo>
                  <a:pt x="355966" y="41274"/>
                </a:lnTo>
                <a:lnTo>
                  <a:pt x="368666" y="41274"/>
                </a:lnTo>
                <a:lnTo>
                  <a:pt x="368666" y="34924"/>
                </a:lnTo>
                <a:lnTo>
                  <a:pt x="355967" y="34924"/>
                </a:lnTo>
                <a:close/>
              </a:path>
              <a:path w="432434" h="76200">
                <a:moveTo>
                  <a:pt x="355967" y="0"/>
                </a:moveTo>
                <a:lnTo>
                  <a:pt x="355967" y="34924"/>
                </a:lnTo>
                <a:lnTo>
                  <a:pt x="368666" y="34924"/>
                </a:lnTo>
                <a:lnTo>
                  <a:pt x="368666" y="41274"/>
                </a:lnTo>
                <a:lnTo>
                  <a:pt x="425818" y="41274"/>
                </a:lnTo>
                <a:lnTo>
                  <a:pt x="432166" y="38100"/>
                </a:lnTo>
                <a:lnTo>
                  <a:pt x="355967" y="0"/>
                </a:lnTo>
                <a:close/>
              </a:path>
              <a:path w="432434" h="76200">
                <a:moveTo>
                  <a:pt x="0" y="34924"/>
                </a:moveTo>
                <a:lnTo>
                  <a:pt x="0" y="41274"/>
                </a:lnTo>
                <a:lnTo>
                  <a:pt x="355966" y="41274"/>
                </a:lnTo>
                <a:lnTo>
                  <a:pt x="355967" y="34924"/>
                </a:lnTo>
                <a:lnTo>
                  <a:pt x="0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31355" y="5469165"/>
            <a:ext cx="955675" cy="266700"/>
          </a:xfrm>
          <a:custGeom>
            <a:avLst/>
            <a:gdLst/>
            <a:ahLst/>
            <a:cxnLst/>
            <a:rect l="l" t="t" r="r" b="b"/>
            <a:pathLst>
              <a:path w="955675" h="266700">
                <a:moveTo>
                  <a:pt x="0" y="266700"/>
                </a:moveTo>
                <a:lnTo>
                  <a:pt x="955675" y="266700"/>
                </a:lnTo>
                <a:lnTo>
                  <a:pt x="955675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62979" y="4873244"/>
            <a:ext cx="316547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H 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</a:pPr>
            <a:r>
              <a:rPr sz="1800" spc="-10" dirty="0">
                <a:latin typeface="Courier New"/>
                <a:cs typeface="Courier New"/>
              </a:rPr>
              <a:t>“c1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b0”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“a2”,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latin typeface="Courier New"/>
                <a:cs typeface="Courier New"/>
              </a:rPr>
              <a:t>”a2 </a:t>
            </a:r>
            <a:r>
              <a:rPr sz="1800" dirty="0">
                <a:latin typeface="Courier New"/>
                <a:cs typeface="Courier New"/>
              </a:rPr>
              <a:t>* </a:t>
            </a:r>
            <a:r>
              <a:rPr sz="1800" spc="-5" dirty="0">
                <a:latin typeface="Courier New"/>
                <a:cs typeface="Courier New"/>
              </a:rPr>
              <a:t>d3”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“f4”,</a:t>
            </a:r>
            <a:endParaRPr sz="1800">
              <a:latin typeface="Courier New"/>
              <a:cs typeface="Courier New"/>
            </a:endParaRPr>
          </a:p>
          <a:p>
            <a:pPr marL="831850">
              <a:lnSpc>
                <a:spcPts val="2125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”b0 </a:t>
            </a:r>
            <a:r>
              <a:rPr sz="1800" dirty="0">
                <a:latin typeface="Courier New"/>
                <a:cs typeface="Courier New"/>
              </a:rPr>
              <a:t>- </a:t>
            </a:r>
            <a:r>
              <a:rPr sz="1800" spc="-10" dirty="0">
                <a:latin typeface="Courier New"/>
                <a:cs typeface="Courier New"/>
              </a:rPr>
              <a:t>c1” </a:t>
            </a:r>
            <a:r>
              <a:rPr sz="1800" dirty="0">
                <a:latin typeface="Courier New"/>
                <a:cs typeface="Courier New"/>
              </a:rPr>
              <a:t>: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“c5”,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8634" y="6127810"/>
            <a:ext cx="365125" cy="355600"/>
          </a:xfrm>
          <a:custGeom>
            <a:avLst/>
            <a:gdLst/>
            <a:ahLst/>
            <a:cxnLst/>
            <a:rect l="l" t="t" r="r" b="b"/>
            <a:pathLst>
              <a:path w="365125" h="355600">
                <a:moveTo>
                  <a:pt x="0" y="355600"/>
                </a:moveTo>
                <a:lnTo>
                  <a:pt x="365125" y="355600"/>
                </a:lnTo>
                <a:lnTo>
                  <a:pt x="365125" y="0"/>
                </a:lnTo>
                <a:lnTo>
                  <a:pt x="0" y="0"/>
                </a:lnTo>
                <a:lnTo>
                  <a:pt x="0" y="3556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8032" y="4964489"/>
          <a:ext cx="2591434" cy="1569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3320">
                <a:tc>
                  <a:txBody>
                    <a:bodyPr/>
                    <a:lstStyle/>
                    <a:p>
                      <a:pPr marL="91440" marR="83185" algn="just">
                        <a:lnSpc>
                          <a:spcPct val="100800"/>
                        </a:lnSpc>
                        <a:spcBef>
                          <a:spcPts val="3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a2  f4  c5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0" algn="just">
                        <a:lnSpc>
                          <a:spcPct val="100800"/>
                        </a:lnSpc>
                        <a:spcBef>
                          <a:spcPts val="30"/>
                        </a:spcBef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c1  d3  b0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381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b0;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4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c1;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d6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485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f4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pc="-10" dirty="0"/>
              <a:t>Local </a:t>
            </a:r>
            <a:r>
              <a:rPr spc="-15" dirty="0"/>
              <a:t>value </a:t>
            </a:r>
            <a:r>
              <a:rPr spc="-5" dirty="0"/>
              <a:t>numbering: </a:t>
            </a:r>
            <a:r>
              <a:rPr spc="-20" dirty="0"/>
              <a:t>commutative  </a:t>
            </a:r>
            <a:r>
              <a:rPr spc="-15" dirty="0"/>
              <a:t>operations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48534" y="1716532"/>
            <a:ext cx="9959975" cy="1418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optimization: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commutative operations, re-order </a:t>
            </a:r>
            <a:r>
              <a:rPr sz="2800" spc="-10" dirty="0">
                <a:latin typeface="Calibri"/>
                <a:cs typeface="Calibri"/>
              </a:rPr>
              <a:t>operands </a:t>
            </a:r>
            <a:r>
              <a:rPr sz="2800" spc="-15" dirty="0">
                <a:latin typeface="Calibri"/>
                <a:cs typeface="Calibri"/>
              </a:rPr>
              <a:t>into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deterministic  </a:t>
            </a:r>
            <a:r>
              <a:rPr sz="2800" spc="-15" dirty="0">
                <a:latin typeface="Calibri"/>
                <a:cs typeface="Calibri"/>
              </a:rPr>
              <a:t>order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BE0AA-B427-E9C0-4294-30F860EF9262}"/>
              </a:ext>
            </a:extLst>
          </p:cNvPr>
          <p:cNvSpPr txBox="1"/>
          <p:nvPr/>
        </p:nvSpPr>
        <p:spPr>
          <a:xfrm>
            <a:off x="5943600" y="3581400"/>
            <a:ext cx="533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achieves more optimization opportunities 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456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Optimizing </a:t>
            </a:r>
            <a:r>
              <a:rPr spc="-20" dirty="0"/>
              <a:t>over </a:t>
            </a:r>
            <a:r>
              <a:rPr dirty="0"/>
              <a:t>wider</a:t>
            </a:r>
            <a:r>
              <a:rPr spc="-10" dirty="0"/>
              <a:t> </a:t>
            </a:r>
            <a:r>
              <a:rPr spc="-15" dirty="0"/>
              <a:t>regions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425305" cy="327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spc="-15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numbering </a:t>
            </a:r>
            <a:r>
              <a:rPr sz="2800" spc="-20" dirty="0">
                <a:latin typeface="Calibri"/>
                <a:cs typeface="Calibri"/>
              </a:rPr>
              <a:t>operate</a:t>
            </a:r>
            <a:r>
              <a:rPr lang="en-US" sz="2800" spc="-20" dirty="0">
                <a:latin typeface="Calibri"/>
                <a:cs typeface="Calibri"/>
              </a:rPr>
              <a:t>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over </a:t>
            </a:r>
            <a:r>
              <a:rPr sz="2800" spc="-10" dirty="0">
                <a:latin typeface="Calibri"/>
                <a:cs typeface="Calibri"/>
              </a:rPr>
              <a:t>just </a:t>
            </a:r>
            <a:r>
              <a:rPr sz="2800" spc="-5" dirty="0">
                <a:latin typeface="Calibri"/>
                <a:cs typeface="Calibri"/>
              </a:rPr>
              <a:t>one basic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block.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4050" dirty="0">
              <a:latin typeface="Calibri"/>
              <a:cs typeface="Calibri"/>
            </a:endParaRPr>
          </a:p>
          <a:p>
            <a:pPr marL="241300" marR="5080" indent="-228600">
              <a:lnSpc>
                <a:spcPts val="31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5" dirty="0">
                <a:latin typeface="Calibri"/>
                <a:cs typeface="Calibri"/>
              </a:rPr>
              <a:t>We </a:t>
            </a:r>
            <a:r>
              <a:rPr sz="2800" spc="-20" dirty="0">
                <a:latin typeface="Calibri"/>
                <a:cs typeface="Calibri"/>
              </a:rPr>
              <a:t>want </a:t>
            </a:r>
            <a:r>
              <a:rPr sz="2800" spc="-15" dirty="0">
                <a:latin typeface="Calibri"/>
                <a:cs typeface="Calibri"/>
              </a:rPr>
              <a:t>optimizations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20" dirty="0">
                <a:latin typeface="Calibri"/>
                <a:cs typeface="Calibri"/>
              </a:rPr>
              <a:t>operate </a:t>
            </a:r>
            <a:r>
              <a:rPr sz="2800" spc="-15" dirty="0">
                <a:latin typeface="Calibri"/>
                <a:cs typeface="Calibri"/>
              </a:rPr>
              <a:t>over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5" dirty="0">
                <a:latin typeface="Calibri"/>
                <a:cs typeface="Calibri"/>
              </a:rPr>
              <a:t>basic </a:t>
            </a:r>
            <a:r>
              <a:rPr sz="2800" spc="-10" dirty="0">
                <a:latin typeface="Calibri"/>
                <a:cs typeface="Calibri"/>
              </a:rPr>
              <a:t>blocks </a:t>
            </a:r>
            <a:r>
              <a:rPr sz="2800" dirty="0">
                <a:latin typeface="Calibri"/>
                <a:cs typeface="Calibri"/>
              </a:rPr>
              <a:t>(a  </a:t>
            </a:r>
            <a:r>
              <a:rPr sz="2800" spc="-10" dirty="0">
                <a:latin typeface="Calibri"/>
                <a:cs typeface="Calibri"/>
              </a:rPr>
              <a:t>region),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across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entire procedure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(global)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7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this, </a:t>
            </a:r>
            <a:r>
              <a:rPr sz="2800" spc="-15" dirty="0">
                <a:latin typeface="Calibri"/>
                <a:cs typeface="Calibri"/>
              </a:rPr>
              <a:t>we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Flow </a:t>
            </a:r>
            <a:r>
              <a:rPr sz="2800" spc="-15" dirty="0">
                <a:latin typeface="Calibri"/>
                <a:cs typeface="Calibri"/>
              </a:rPr>
              <a:t>Graphs </a:t>
            </a:r>
            <a:r>
              <a:rPr sz="2800" spc="-5" dirty="0">
                <a:latin typeface="Calibri"/>
                <a:cs typeface="Calibri"/>
              </a:rPr>
              <a:t>and Flow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Analysis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20" dirty="0">
                <a:latin typeface="Calibri"/>
                <a:cs typeface="Calibri"/>
              </a:rPr>
              <a:t>may have </a:t>
            </a:r>
            <a:r>
              <a:rPr sz="2400" spc="-5" dirty="0">
                <a:latin typeface="Calibri"/>
                <a:cs typeface="Calibri"/>
              </a:rPr>
              <a:t>time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discuss this </a:t>
            </a:r>
            <a:r>
              <a:rPr sz="2400" spc="-15" dirty="0">
                <a:latin typeface="Calibri"/>
                <a:cs typeface="Calibri"/>
              </a:rPr>
              <a:t>later </a:t>
            </a:r>
            <a:r>
              <a:rPr sz="2400" spc="-5" dirty="0">
                <a:latin typeface="Calibri"/>
                <a:cs typeface="Calibri"/>
              </a:rPr>
              <a:t>in the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module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5EA9-0280-2B54-DE53-F3AD1E05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751892"/>
            <a:ext cx="10358120" cy="677108"/>
          </a:xfrm>
        </p:spPr>
        <p:txBody>
          <a:bodyPr/>
          <a:lstStyle/>
          <a:p>
            <a:r>
              <a:rPr lang="en-US" dirty="0"/>
              <a:t>Stitching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203052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5EA9-0280-2B54-DE53-F3AD1E05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B240E-E4BE-F5D2-8346-05ADAF7F0362}"/>
              </a:ext>
            </a:extLst>
          </p:cNvPr>
          <p:cNvSpPr txBox="1"/>
          <p:nvPr/>
        </p:nvSpPr>
        <p:spPr>
          <a:xfrm>
            <a:off x="542109" y="2569695"/>
            <a:ext cx="2540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</p:spTree>
    <p:extLst>
      <p:ext uri="{BB962C8B-B14F-4D97-AF65-F5344CB8AC3E}">
        <p14:creationId xmlns:p14="http://schemas.microsoft.com/office/powerpoint/2010/main" val="8389976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B240E-E4BE-F5D2-8346-05ADAF7F0362}"/>
              </a:ext>
            </a:extLst>
          </p:cNvPr>
          <p:cNvSpPr txBox="1"/>
          <p:nvPr/>
        </p:nvSpPr>
        <p:spPr>
          <a:xfrm>
            <a:off x="542109" y="2569695"/>
            <a:ext cx="2540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295C1-02FC-14D0-1A63-490CED36088A}"/>
              </a:ext>
            </a:extLst>
          </p:cNvPr>
          <p:cNvSpPr txBox="1"/>
          <p:nvPr/>
        </p:nvSpPr>
        <p:spPr>
          <a:xfrm>
            <a:off x="3720738" y="2574486"/>
            <a:ext cx="254072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88EC8-1BD4-F661-9C1C-CE0215846787}"/>
              </a:ext>
            </a:extLst>
          </p:cNvPr>
          <p:cNvSpPr txBox="1"/>
          <p:nvPr/>
        </p:nvSpPr>
        <p:spPr>
          <a:xfrm>
            <a:off x="3720738" y="4047022"/>
            <a:ext cx="254072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C09D5-5A30-6058-C1AA-779DAC361D66}"/>
              </a:ext>
            </a:extLst>
          </p:cNvPr>
          <p:cNvSpPr txBox="1"/>
          <p:nvPr/>
        </p:nvSpPr>
        <p:spPr>
          <a:xfrm>
            <a:off x="2317180" y="1725854"/>
            <a:ext cx="2807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split into basic blocks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79ACE5-49AA-64EC-2D04-2AC51BA9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34991696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B240E-E4BE-F5D2-8346-05ADAF7F0362}"/>
              </a:ext>
            </a:extLst>
          </p:cNvPr>
          <p:cNvSpPr txBox="1"/>
          <p:nvPr/>
        </p:nvSpPr>
        <p:spPr>
          <a:xfrm>
            <a:off x="542109" y="2569695"/>
            <a:ext cx="2540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295C1-02FC-14D0-1A63-490CED36088A}"/>
              </a:ext>
            </a:extLst>
          </p:cNvPr>
          <p:cNvSpPr txBox="1"/>
          <p:nvPr/>
        </p:nvSpPr>
        <p:spPr>
          <a:xfrm>
            <a:off x="3720738" y="2574486"/>
            <a:ext cx="254072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88EC8-1BD4-F661-9C1C-CE0215846787}"/>
              </a:ext>
            </a:extLst>
          </p:cNvPr>
          <p:cNvSpPr txBox="1"/>
          <p:nvPr/>
        </p:nvSpPr>
        <p:spPr>
          <a:xfrm>
            <a:off x="3720738" y="4047022"/>
            <a:ext cx="254072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6651173" y="2574486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6651173" y="4047022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92067-9317-D0EB-D2B6-56EBA2F3BC30}"/>
              </a:ext>
            </a:extLst>
          </p:cNvPr>
          <p:cNvSpPr txBox="1"/>
          <p:nvPr/>
        </p:nvSpPr>
        <p:spPr>
          <a:xfrm>
            <a:off x="5590535" y="1840614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Number the names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9E4BF8D-6031-5F91-DD5D-E24DD929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31080972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6CBA3-BAA0-E6B6-0231-B0FFF833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E11B2-5283-BF1B-20AF-2E2416901016}"/>
              </a:ext>
            </a:extLst>
          </p:cNvPr>
          <p:cNvSpPr txBox="1"/>
          <p:nvPr/>
        </p:nvSpPr>
        <p:spPr>
          <a:xfrm>
            <a:off x="711928" y="1778110"/>
            <a:ext cx="346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moved numbered code</a:t>
            </a:r>
          </a:p>
          <a:p>
            <a:r>
              <a:rPr lang="en-US" dirty="0"/>
              <a:t>to left on slide to make some room</a:t>
            </a:r>
          </a:p>
        </p:txBody>
      </p:sp>
    </p:spTree>
    <p:extLst>
      <p:ext uri="{BB962C8B-B14F-4D97-AF65-F5344CB8AC3E}">
        <p14:creationId xmlns:p14="http://schemas.microsoft.com/office/powerpoint/2010/main" val="15693283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528AE-0354-E37C-2C32-894AE6F1EAFF}"/>
              </a:ext>
            </a:extLst>
          </p:cNvPr>
          <p:cNvSpPr txBox="1"/>
          <p:nvPr/>
        </p:nvSpPr>
        <p:spPr>
          <a:xfrm>
            <a:off x="4669263" y="1994134"/>
            <a:ext cx="1426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optimized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CD5E-5FB5-0CC1-3F1B-246001F14669}"/>
              </a:ext>
            </a:extLst>
          </p:cNvPr>
          <p:cNvSpPr txBox="1"/>
          <p:nvPr/>
        </p:nvSpPr>
        <p:spPr>
          <a:xfrm>
            <a:off x="4199711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1AE5-7ABC-1372-38A7-4FC2D64D51F0}"/>
              </a:ext>
            </a:extLst>
          </p:cNvPr>
          <p:cNvSpPr txBox="1"/>
          <p:nvPr/>
        </p:nvSpPr>
        <p:spPr>
          <a:xfrm>
            <a:off x="4199711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2750B8-1B8C-4650-C3F1-200CEE24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31328185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CD5E-5FB5-0CC1-3F1B-246001F14669}"/>
              </a:ext>
            </a:extLst>
          </p:cNvPr>
          <p:cNvSpPr txBox="1"/>
          <p:nvPr/>
        </p:nvSpPr>
        <p:spPr>
          <a:xfrm>
            <a:off x="4199711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</a:t>
            </a:r>
            <a:r>
              <a:rPr lang="en-US" sz="2400" dirty="0">
                <a:highlight>
                  <a:srgbClr val="C0C0C0"/>
                </a:highlight>
                <a:latin typeface="Courier" pitchFamily="2" charset="0"/>
              </a:rPr>
              <a:t>a2</a:t>
            </a:r>
            <a:r>
              <a:rPr lang="en-US" sz="2400" dirty="0">
                <a:latin typeface="Courier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1AE5-7ABC-1372-38A7-4FC2D64D51F0}"/>
              </a:ext>
            </a:extLst>
          </p:cNvPr>
          <p:cNvSpPr txBox="1"/>
          <p:nvPr/>
        </p:nvSpPr>
        <p:spPr>
          <a:xfrm>
            <a:off x="4199711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</a:t>
            </a:r>
            <a:r>
              <a:rPr lang="en-US" sz="2400" dirty="0">
                <a:highlight>
                  <a:srgbClr val="C0C0C0"/>
                </a:highlight>
                <a:latin typeface="Courier" pitchFamily="2" charset="0"/>
              </a:rPr>
              <a:t>h2</a:t>
            </a:r>
            <a:r>
              <a:rPr lang="en-US" sz="2400" dirty="0">
                <a:latin typeface="Courier" pitchFamily="2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8D522-48AA-CEED-C807-53131F17CAA4}"/>
              </a:ext>
            </a:extLst>
          </p:cNvPr>
          <p:cNvSpPr txBox="1"/>
          <p:nvPr/>
        </p:nvSpPr>
        <p:spPr>
          <a:xfrm>
            <a:off x="8023862" y="2587112"/>
            <a:ext cx="3076301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961721-4CE8-954C-1DBE-43C37845A3DD}"/>
              </a:ext>
            </a:extLst>
          </p:cNvPr>
          <p:cNvSpPr txBox="1"/>
          <p:nvPr/>
        </p:nvSpPr>
        <p:spPr>
          <a:xfrm>
            <a:off x="6069874" y="5604695"/>
            <a:ext cx="3948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are the resulting issues?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C9BB19-9014-EF9C-F41A-5F10436B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BF7E3-DFD4-024E-FC10-0365FF1C0C24}"/>
              </a:ext>
            </a:extLst>
          </p:cNvPr>
          <p:cNvSpPr txBox="1"/>
          <p:nvPr/>
        </p:nvSpPr>
        <p:spPr>
          <a:xfrm>
            <a:off x="4669263" y="1994134"/>
            <a:ext cx="1426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optimized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A3BE7-CAF3-88D6-1B93-2300ADB0A2B6}"/>
              </a:ext>
            </a:extLst>
          </p:cNvPr>
          <p:cNvSpPr txBox="1"/>
          <p:nvPr/>
        </p:nvSpPr>
        <p:spPr>
          <a:xfrm>
            <a:off x="8023862" y="1955483"/>
            <a:ext cx="307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it be put together?</a:t>
            </a:r>
          </a:p>
        </p:txBody>
      </p:sp>
    </p:spTree>
    <p:extLst>
      <p:ext uri="{BB962C8B-B14F-4D97-AF65-F5344CB8AC3E}">
        <p14:creationId xmlns:p14="http://schemas.microsoft.com/office/powerpoint/2010/main" val="22024864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CD5E-5FB5-0CC1-3F1B-246001F14669}"/>
              </a:ext>
            </a:extLst>
          </p:cNvPr>
          <p:cNvSpPr txBox="1"/>
          <p:nvPr/>
        </p:nvSpPr>
        <p:spPr>
          <a:xfrm>
            <a:off x="4199711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1AE5-7ABC-1372-38A7-4FC2D64D51F0}"/>
              </a:ext>
            </a:extLst>
          </p:cNvPr>
          <p:cNvSpPr txBox="1"/>
          <p:nvPr/>
        </p:nvSpPr>
        <p:spPr>
          <a:xfrm>
            <a:off x="4199711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5B03C-989E-635F-9327-B5BEBDE2C76D}"/>
              </a:ext>
            </a:extLst>
          </p:cNvPr>
          <p:cNvSpPr txBox="1"/>
          <p:nvPr/>
        </p:nvSpPr>
        <p:spPr>
          <a:xfrm>
            <a:off x="8023862" y="1955483"/>
            <a:ext cx="3072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it be put together?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8D522-48AA-CEED-C807-53131F17CAA4}"/>
              </a:ext>
            </a:extLst>
          </p:cNvPr>
          <p:cNvSpPr txBox="1"/>
          <p:nvPr/>
        </p:nvSpPr>
        <p:spPr>
          <a:xfrm>
            <a:off x="8023862" y="2587112"/>
            <a:ext cx="3076301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a2</a:t>
            </a:r>
            <a:r>
              <a:rPr lang="en-US" sz="2400" dirty="0">
                <a:latin typeface="Courier" pitchFamily="2" charset="0"/>
              </a:rPr>
              <a:t>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g6</a:t>
            </a:r>
            <a:r>
              <a:rPr lang="en-US" sz="2400" dirty="0">
                <a:latin typeface="Courier" pitchFamily="2" charset="0"/>
              </a:rPr>
              <a:t> = a2;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C0C0C0"/>
                </a:highlight>
                <a:latin typeface="Courier" pitchFamily="2" charset="0"/>
              </a:rPr>
              <a:t>g0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C0C0C0"/>
                </a:highlight>
                <a:latin typeface="Courier" pitchFamily="2" charset="0"/>
              </a:rPr>
              <a:t>a1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492C3-8A2C-5D61-23C3-7D5C0F2605DC}"/>
              </a:ext>
            </a:extLst>
          </p:cNvPr>
          <p:cNvSpPr txBox="1"/>
          <p:nvPr/>
        </p:nvSpPr>
        <p:spPr>
          <a:xfrm>
            <a:off x="10134600" y="5580746"/>
            <a:ext cx="1565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</a:rPr>
              <a:t>undefined!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93E32A8-5D70-F1C1-381D-26D4ABDC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E2BDA-239D-F615-7474-43D903F77D3E}"/>
              </a:ext>
            </a:extLst>
          </p:cNvPr>
          <p:cNvSpPr txBox="1"/>
          <p:nvPr/>
        </p:nvSpPr>
        <p:spPr>
          <a:xfrm>
            <a:off x="6069874" y="5604695"/>
            <a:ext cx="3948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are the resulting issues?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B2EE6F-2AD2-0267-7B4D-6FE3481E26A7}"/>
              </a:ext>
            </a:extLst>
          </p:cNvPr>
          <p:cNvSpPr txBox="1"/>
          <p:nvPr/>
        </p:nvSpPr>
        <p:spPr>
          <a:xfrm>
            <a:off x="4669263" y="1994134"/>
            <a:ext cx="1426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optimized</a:t>
            </a:r>
          </a:p>
        </p:txBody>
      </p:sp>
    </p:spTree>
    <p:extLst>
      <p:ext uri="{BB962C8B-B14F-4D97-AF65-F5344CB8AC3E}">
        <p14:creationId xmlns:p14="http://schemas.microsoft.com/office/powerpoint/2010/main" val="25435506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F444D-CCEB-E677-5A2E-8691F9B6ADC8}"/>
              </a:ext>
            </a:extLst>
          </p:cNvPr>
          <p:cNvSpPr txBox="1"/>
          <p:nvPr/>
        </p:nvSpPr>
        <p:spPr>
          <a:xfrm>
            <a:off x="711928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b0 + c1;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006E7-A551-3CA1-9C76-3B8E689784AA}"/>
              </a:ext>
            </a:extLst>
          </p:cNvPr>
          <p:cNvSpPr txBox="1"/>
          <p:nvPr/>
        </p:nvSpPr>
        <p:spPr>
          <a:xfrm>
            <a:off x="711928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a1 + g0;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8CD5E-5FB5-0CC1-3F1B-246001F14669}"/>
              </a:ext>
            </a:extLst>
          </p:cNvPr>
          <p:cNvSpPr txBox="1"/>
          <p:nvPr/>
        </p:nvSpPr>
        <p:spPr>
          <a:xfrm>
            <a:off x="4199711" y="2591903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1AE5-7ABC-1372-38A7-4FC2D64D51F0}"/>
              </a:ext>
            </a:extLst>
          </p:cNvPr>
          <p:cNvSpPr txBox="1"/>
          <p:nvPr/>
        </p:nvSpPr>
        <p:spPr>
          <a:xfrm>
            <a:off x="4199711" y="4064439"/>
            <a:ext cx="307630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10DEC-FB9F-FB73-4298-4ED146215653}"/>
              </a:ext>
            </a:extLst>
          </p:cNvPr>
          <p:cNvSpPr txBox="1"/>
          <p:nvPr/>
        </p:nvSpPr>
        <p:spPr>
          <a:xfrm>
            <a:off x="3669575" y="1180923"/>
            <a:ext cx="46902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stitch part 1: </a:t>
            </a:r>
            <a:r>
              <a:rPr lang="en-US" sz="2400" b="1" i="1" dirty="0"/>
              <a:t>assign original </a:t>
            </a:r>
            <a:br>
              <a:rPr lang="en-US" sz="2400" b="1" i="1" dirty="0"/>
            </a:br>
            <a:r>
              <a:rPr lang="en-US" sz="2400" b="1" i="1" dirty="0"/>
              <a:t>      unnumbered variables their</a:t>
            </a:r>
          </a:p>
          <a:p>
            <a:r>
              <a:rPr lang="en-US" sz="2400" b="1" i="1" dirty="0"/>
              <a:t>      latest values in each basic block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8688981" y="1390557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8614985" y="4221193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458540-5B4E-1114-55DB-B1F95B45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F84F6-37AB-1C27-D4A4-D10F6122D9DD}"/>
              </a:ext>
            </a:extLst>
          </p:cNvPr>
          <p:cNvSpPr txBox="1"/>
          <p:nvPr/>
        </p:nvSpPr>
        <p:spPr>
          <a:xfrm>
            <a:off x="593728" y="1236525"/>
            <a:ext cx="294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Let’s fix it</a:t>
            </a:r>
          </a:p>
        </p:txBody>
      </p:sp>
    </p:spTree>
    <p:extLst>
      <p:ext uri="{BB962C8B-B14F-4D97-AF65-F5344CB8AC3E}">
        <p14:creationId xmlns:p14="http://schemas.microsoft.com/office/powerpoint/2010/main" val="7512349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D2497-06F4-29D4-C5CD-2A8F77ACA51F}"/>
              </a:ext>
            </a:extLst>
          </p:cNvPr>
          <p:cNvSpPr txBox="1"/>
          <p:nvPr/>
        </p:nvSpPr>
        <p:spPr>
          <a:xfrm>
            <a:off x="5105400" y="2884009"/>
            <a:ext cx="56366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But what else needs to be done?</a:t>
            </a:r>
          </a:p>
          <a:p>
            <a:r>
              <a:rPr lang="en-US" sz="3200" dirty="0"/>
              <a:t>We have a problem 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929CC0-820D-6DC1-112B-668986A3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F4CF9-82DC-9D70-68CB-FE022160CD01}"/>
              </a:ext>
            </a:extLst>
          </p:cNvPr>
          <p:cNvSpPr txBox="1"/>
          <p:nvPr/>
        </p:nvSpPr>
        <p:spPr>
          <a:xfrm>
            <a:off x="433945" y="1378376"/>
            <a:ext cx="3968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moved modified basic blocks  </a:t>
            </a:r>
          </a:p>
          <a:p>
            <a:r>
              <a:rPr lang="en-US" dirty="0"/>
              <a:t>to left on slide to make some room</a:t>
            </a:r>
          </a:p>
        </p:txBody>
      </p:sp>
    </p:spTree>
    <p:extLst>
      <p:ext uri="{BB962C8B-B14F-4D97-AF65-F5344CB8AC3E}">
        <p14:creationId xmlns:p14="http://schemas.microsoft.com/office/powerpoint/2010/main" val="17105615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8843-042B-3680-EBAA-663DD8D3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DBAFF17-B612-CCAF-7FFF-CAD0407122DD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EC0DB-0E4D-9581-86C2-050AE5A3E1A6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4A40-75C2-799D-D7F1-607FBF75C386}"/>
              </a:ext>
            </a:extLst>
          </p:cNvPr>
          <p:cNvSpPr txBox="1"/>
          <p:nvPr/>
        </p:nvSpPr>
        <p:spPr>
          <a:xfrm>
            <a:off x="4343400" y="2971800"/>
            <a:ext cx="693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need to get the input variables used by the basic blocks, to have their unnumbered values:   2 ways to do it  …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3A84CA-5064-6D7D-A211-2899AA77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75C9CA-1B49-F375-0EF5-6392BD6A87E0}"/>
              </a:ext>
            </a:extLst>
          </p:cNvPr>
          <p:cNvSpPr txBox="1"/>
          <p:nvPr/>
        </p:nvSpPr>
        <p:spPr>
          <a:xfrm>
            <a:off x="433945" y="1378376"/>
            <a:ext cx="3968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moved modified basic blocks  </a:t>
            </a:r>
          </a:p>
          <a:p>
            <a:r>
              <a:rPr lang="en-US" dirty="0"/>
              <a:t>to left on slide to make some room</a:t>
            </a:r>
          </a:p>
        </p:txBody>
      </p:sp>
    </p:spTree>
    <p:extLst>
      <p:ext uri="{BB962C8B-B14F-4D97-AF65-F5344CB8AC3E}">
        <p14:creationId xmlns:p14="http://schemas.microsoft.com/office/powerpoint/2010/main" val="18655242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433253" y="2118252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413375" y="4607745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80283-EBEE-016B-21F5-6EA6EE4339FC}"/>
              </a:ext>
            </a:extLst>
          </p:cNvPr>
          <p:cNvSpPr txBox="1"/>
          <p:nvPr/>
        </p:nvSpPr>
        <p:spPr>
          <a:xfrm>
            <a:off x="7131152" y="1549093"/>
            <a:ext cx="49973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stitch part 2: </a:t>
            </a:r>
          </a:p>
          <a:p>
            <a:r>
              <a:rPr lang="en-US" sz="2800" b="1" dirty="0"/>
              <a:t>   Copy unnumbered inputs </a:t>
            </a:r>
          </a:p>
          <a:p>
            <a:r>
              <a:rPr lang="en-US" sz="2800" b="1" dirty="0"/>
              <a:t>   to initial RHS numbered inputs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7C476-1592-AF2C-D54E-4A3F3B0D8E07}"/>
              </a:ext>
            </a:extLst>
          </p:cNvPr>
          <p:cNvSpPr txBox="1"/>
          <p:nvPr/>
        </p:nvSpPr>
        <p:spPr>
          <a:xfrm>
            <a:off x="3968912" y="1041262"/>
            <a:ext cx="3076301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b0 = b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c1 = c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e3 = e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f4 = f</a:t>
            </a:r>
          </a:p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b0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c1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e3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f4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6D756-83FC-87CA-F93D-1AD6B8247598}"/>
              </a:ext>
            </a:extLst>
          </p:cNvPr>
          <p:cNvSpPr txBox="1"/>
          <p:nvPr/>
        </p:nvSpPr>
        <p:spPr>
          <a:xfrm>
            <a:off x="7395715" y="3923912"/>
            <a:ext cx="3076301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g0 = g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a1 = a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g0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a1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66D63-E895-3361-B51F-51375AE5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023D3-BEB4-CC29-4671-8FB03E863C99}"/>
              </a:ext>
            </a:extLst>
          </p:cNvPr>
          <p:cNvSpPr txBox="1"/>
          <p:nvPr/>
        </p:nvSpPr>
        <p:spPr>
          <a:xfrm>
            <a:off x="542109" y="1184630"/>
            <a:ext cx="2734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 1</a:t>
            </a:r>
            <a:r>
              <a:rPr lang="en-US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404D6-A9AD-D370-93BF-4326BDD3437F}"/>
              </a:ext>
            </a:extLst>
          </p:cNvPr>
          <p:cNvSpPr txBox="1"/>
          <p:nvPr/>
        </p:nvSpPr>
        <p:spPr>
          <a:xfrm>
            <a:off x="4191000" y="4867574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onto label_0</a:t>
            </a:r>
          </a:p>
          <a:p>
            <a:r>
              <a:rPr lang="en-US" dirty="0"/>
              <a:t>of other basic block</a:t>
            </a:r>
          </a:p>
        </p:txBody>
      </p:sp>
    </p:spTree>
    <p:extLst>
      <p:ext uri="{BB962C8B-B14F-4D97-AF65-F5344CB8AC3E}">
        <p14:creationId xmlns:p14="http://schemas.microsoft.com/office/powerpoint/2010/main" val="12976973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22A6-A191-F794-2A18-0618979A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69AC85-EE36-3D75-9531-668BCE97194A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5B9D2-6099-E2B1-8C84-4816C06E8C96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32073-7420-FF79-B98B-F7C78480BE14}"/>
              </a:ext>
            </a:extLst>
          </p:cNvPr>
          <p:cNvSpPr txBox="1"/>
          <p:nvPr/>
        </p:nvSpPr>
        <p:spPr>
          <a:xfrm>
            <a:off x="2812757" y="1151500"/>
            <a:ext cx="8773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stitch part 2: </a:t>
            </a:r>
            <a:r>
              <a:rPr lang="en-US" sz="2800" b="1" dirty="0"/>
              <a:t>drop numbers from first use of RHS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E05A2-967B-4F31-CB11-2AB1EDB2ADDA}"/>
              </a:ext>
            </a:extLst>
          </p:cNvPr>
          <p:cNvSpPr txBox="1"/>
          <p:nvPr/>
        </p:nvSpPr>
        <p:spPr>
          <a:xfrm>
            <a:off x="4094605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955FE-1602-0ED3-7E62-A62A6702A216}"/>
              </a:ext>
            </a:extLst>
          </p:cNvPr>
          <p:cNvSpPr txBox="1"/>
          <p:nvPr/>
        </p:nvSpPr>
        <p:spPr>
          <a:xfrm>
            <a:off x="4029318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1ED61E-CB80-9260-9B81-B778795A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2F4C1E-FA9C-C779-F715-B7E63B94A6DD}"/>
              </a:ext>
            </a:extLst>
          </p:cNvPr>
          <p:cNvSpPr txBox="1"/>
          <p:nvPr/>
        </p:nvSpPr>
        <p:spPr>
          <a:xfrm>
            <a:off x="457136" y="1151500"/>
            <a:ext cx="250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Method 2:</a:t>
            </a:r>
          </a:p>
        </p:txBody>
      </p:sp>
    </p:spTree>
    <p:extLst>
      <p:ext uri="{BB962C8B-B14F-4D97-AF65-F5344CB8AC3E}">
        <p14:creationId xmlns:p14="http://schemas.microsoft.com/office/powerpoint/2010/main" val="40951266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E897D5-58D3-1501-EDDD-07332F35BC81}"/>
              </a:ext>
            </a:extLst>
          </p:cNvPr>
          <p:cNvSpPr txBox="1"/>
          <p:nvPr/>
        </p:nvSpPr>
        <p:spPr>
          <a:xfrm>
            <a:off x="529049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b0 + c1;</a:t>
            </a:r>
          </a:p>
          <a:p>
            <a:r>
              <a:rPr lang="en-US" sz="2400" dirty="0">
                <a:latin typeface="Courier" pitchFamily="2" charset="0"/>
              </a:rPr>
              <a:t>d5 = e3 + f4;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 = g6;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d = d5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 = a2;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4BA22-D0FA-FD54-2F96-F5306FBF5703}"/>
              </a:ext>
            </a:extLst>
          </p:cNvPr>
          <p:cNvSpPr txBox="1"/>
          <p:nvPr/>
        </p:nvSpPr>
        <p:spPr>
          <a:xfrm>
            <a:off x="463762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g0 + a1;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h = h2;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k = k3;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80283-EBEE-016B-21F5-6EA6EE4339FC}"/>
              </a:ext>
            </a:extLst>
          </p:cNvPr>
          <p:cNvSpPr txBox="1"/>
          <p:nvPr/>
        </p:nvSpPr>
        <p:spPr>
          <a:xfrm>
            <a:off x="4190109" y="1256683"/>
            <a:ext cx="6473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Now the Basic Blocks can be re-combined!!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7C476-1592-AF2C-D54E-4A3F3B0D8E07}"/>
              </a:ext>
            </a:extLst>
          </p:cNvPr>
          <p:cNvSpPr txBox="1"/>
          <p:nvPr/>
        </p:nvSpPr>
        <p:spPr>
          <a:xfrm>
            <a:off x="4094605" y="2105584"/>
            <a:ext cx="307630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b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d5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e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6D756-83FC-87CA-F93D-1AD6B8247598}"/>
              </a:ext>
            </a:extLst>
          </p:cNvPr>
          <p:cNvSpPr txBox="1"/>
          <p:nvPr/>
        </p:nvSpPr>
        <p:spPr>
          <a:xfrm>
            <a:off x="4029318" y="4752416"/>
            <a:ext cx="30763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g</a:t>
            </a:r>
            <a:r>
              <a:rPr lang="en-US" sz="2400" dirty="0">
                <a:latin typeface="Courier" pitchFamily="2" charset="0"/>
              </a:rPr>
              <a:t> +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16917-04F8-648B-95DE-4936EEF25B28}"/>
              </a:ext>
            </a:extLst>
          </p:cNvPr>
          <p:cNvSpPr txBox="1"/>
          <p:nvPr/>
        </p:nvSpPr>
        <p:spPr>
          <a:xfrm>
            <a:off x="8067567" y="2105584"/>
            <a:ext cx="3076301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 + c;</a:t>
            </a:r>
          </a:p>
          <a:p>
            <a:r>
              <a:rPr lang="en-US" sz="2400" dirty="0">
                <a:latin typeface="Courier" pitchFamily="2" charset="0"/>
              </a:rPr>
              <a:t>d5 = e + f;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 + a;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6ED37F-86E8-521E-AFC2-484DD10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37850885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F16917-04F8-648B-95DE-4936EEF25B28}"/>
              </a:ext>
            </a:extLst>
          </p:cNvPr>
          <p:cNvSpPr txBox="1"/>
          <p:nvPr/>
        </p:nvSpPr>
        <p:spPr>
          <a:xfrm>
            <a:off x="3567995" y="2337891"/>
            <a:ext cx="3076301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 + c;</a:t>
            </a:r>
          </a:p>
          <a:p>
            <a:r>
              <a:rPr lang="en-US" sz="2400" dirty="0">
                <a:latin typeface="Courier" pitchFamily="2" charset="0"/>
              </a:rPr>
              <a:t>d5 = e + f;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d5;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 + a;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36F7C-0B5F-88C4-A411-1C76CAAC6E06}"/>
              </a:ext>
            </a:extLst>
          </p:cNvPr>
          <p:cNvSpPr txBox="1"/>
          <p:nvPr/>
        </p:nvSpPr>
        <p:spPr>
          <a:xfrm>
            <a:off x="442522" y="3389062"/>
            <a:ext cx="2540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7ECC2-97CD-6885-EB61-0CCC2470B3F3}"/>
              </a:ext>
            </a:extLst>
          </p:cNvPr>
          <p:cNvSpPr txBox="1"/>
          <p:nvPr/>
        </p:nvSpPr>
        <p:spPr>
          <a:xfrm>
            <a:off x="394809" y="275915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3D64C-64D4-2824-249E-01D68BB15CB3}"/>
              </a:ext>
            </a:extLst>
          </p:cNvPr>
          <p:cNvSpPr txBox="1"/>
          <p:nvPr/>
        </p:nvSpPr>
        <p:spPr>
          <a:xfrm>
            <a:off x="3493128" y="1767072"/>
            <a:ext cx="58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3B6D5-965E-9623-9307-A49564ADBB10}"/>
              </a:ext>
            </a:extLst>
          </p:cNvPr>
          <p:cNvSpPr txBox="1"/>
          <p:nvPr/>
        </p:nvSpPr>
        <p:spPr>
          <a:xfrm>
            <a:off x="7467600" y="2136404"/>
            <a:ext cx="38312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But is it really optimized?</a:t>
            </a:r>
          </a:p>
          <a:p>
            <a:endParaRPr lang="en-US" sz="2800" i="1" dirty="0"/>
          </a:p>
          <a:p>
            <a:r>
              <a:rPr lang="en-US" sz="2800" i="1" dirty="0"/>
              <a:t>It looks a lot longer...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EB308D-B5CE-C79E-8064-34558511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29681046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F16917-04F8-648B-95DE-4936EEF25B28}"/>
              </a:ext>
            </a:extLst>
          </p:cNvPr>
          <p:cNvSpPr txBox="1"/>
          <p:nvPr/>
        </p:nvSpPr>
        <p:spPr>
          <a:xfrm>
            <a:off x="3567995" y="2337891"/>
            <a:ext cx="3076301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a2 = b + c;</a:t>
            </a:r>
          </a:p>
          <a:p>
            <a:r>
              <a:rPr lang="en-US" sz="2400" dirty="0">
                <a:latin typeface="Courier" pitchFamily="2" charset="0"/>
              </a:rPr>
              <a:t>d5 = e + f;</a:t>
            </a:r>
          </a:p>
          <a:p>
            <a:r>
              <a:rPr lang="en-US" sz="2400" dirty="0">
                <a:latin typeface="Courier" pitchFamily="2" charset="0"/>
              </a:rPr>
              <a:t>g6 = a2;</a:t>
            </a:r>
          </a:p>
          <a:p>
            <a:r>
              <a:rPr lang="en-US" sz="2400" dirty="0">
                <a:latin typeface="Courier" pitchFamily="2" charset="0"/>
              </a:rPr>
              <a:t>g = g6;</a:t>
            </a:r>
          </a:p>
          <a:p>
            <a:r>
              <a:rPr lang="en-US" sz="2400" dirty="0">
                <a:latin typeface="Courier" pitchFamily="2" charset="0"/>
              </a:rPr>
              <a:t>d = d5</a:t>
            </a:r>
          </a:p>
          <a:p>
            <a:r>
              <a:rPr lang="en-US" sz="2400" dirty="0">
                <a:latin typeface="Courier" pitchFamily="2" charset="0"/>
              </a:rPr>
              <a:t>a = a2;</a:t>
            </a: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h2 = g + a;</a:t>
            </a:r>
          </a:p>
          <a:p>
            <a:r>
              <a:rPr lang="en-US" sz="2400" dirty="0">
                <a:latin typeface="Courier" pitchFamily="2" charset="0"/>
              </a:rPr>
              <a:t>k3 = h2;</a:t>
            </a:r>
          </a:p>
          <a:p>
            <a:r>
              <a:rPr lang="en-US" sz="2400" dirty="0">
                <a:latin typeface="Courier" pitchFamily="2" charset="0"/>
              </a:rPr>
              <a:t>h = h2;</a:t>
            </a:r>
          </a:p>
          <a:p>
            <a:r>
              <a:rPr lang="en-US" sz="2400" dirty="0">
                <a:latin typeface="Courier" pitchFamily="2" charset="0"/>
              </a:rPr>
              <a:t>k = k3;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36F7C-0B5F-88C4-A411-1C76CAAC6E06}"/>
              </a:ext>
            </a:extLst>
          </p:cNvPr>
          <p:cNvSpPr txBox="1"/>
          <p:nvPr/>
        </p:nvSpPr>
        <p:spPr>
          <a:xfrm>
            <a:off x="442522" y="3389062"/>
            <a:ext cx="254072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b + c;</a:t>
            </a:r>
          </a:p>
          <a:p>
            <a:r>
              <a:rPr lang="en-US" sz="2400" dirty="0">
                <a:latin typeface="Courier" pitchFamily="2" charset="0"/>
              </a:rPr>
              <a:t>d = e + f;</a:t>
            </a:r>
          </a:p>
          <a:p>
            <a:r>
              <a:rPr lang="en-US" sz="2400" dirty="0">
                <a:latin typeface="Courier" pitchFamily="2" charset="0"/>
              </a:rPr>
              <a:t>g = b + c;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label_0:</a:t>
            </a:r>
          </a:p>
          <a:p>
            <a:r>
              <a:rPr lang="en-US" sz="2400" dirty="0">
                <a:latin typeface="Courier" pitchFamily="2" charset="0"/>
              </a:rPr>
              <a:t>h = g + a;</a:t>
            </a:r>
          </a:p>
          <a:p>
            <a:r>
              <a:rPr lang="en-US" sz="2400" dirty="0">
                <a:latin typeface="Courier" pitchFamily="2" charset="0"/>
              </a:rPr>
              <a:t>k = a + g;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7ECC2-97CD-6885-EB61-0CCC2470B3F3}"/>
              </a:ext>
            </a:extLst>
          </p:cNvPr>
          <p:cNvSpPr txBox="1"/>
          <p:nvPr/>
        </p:nvSpPr>
        <p:spPr>
          <a:xfrm>
            <a:off x="394809" y="275915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3D64C-64D4-2824-249E-01D68BB15CB3}"/>
              </a:ext>
            </a:extLst>
          </p:cNvPr>
          <p:cNvSpPr txBox="1"/>
          <p:nvPr/>
        </p:nvSpPr>
        <p:spPr>
          <a:xfrm>
            <a:off x="3493128" y="1767072"/>
            <a:ext cx="58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3B6D5-965E-9623-9307-A49564ADBB10}"/>
              </a:ext>
            </a:extLst>
          </p:cNvPr>
          <p:cNvSpPr txBox="1"/>
          <p:nvPr/>
        </p:nvSpPr>
        <p:spPr>
          <a:xfrm>
            <a:off x="7456658" y="1804083"/>
            <a:ext cx="445179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But is it really optimized?</a:t>
            </a:r>
          </a:p>
          <a:p>
            <a:endParaRPr lang="en-US" sz="2400" i="1" dirty="0"/>
          </a:p>
          <a:p>
            <a:r>
              <a:rPr lang="en-US" sz="2400" i="1" dirty="0"/>
              <a:t>Common pattern is for code to get</a:t>
            </a:r>
          </a:p>
          <a:p>
            <a:r>
              <a:rPr lang="en-US" sz="2400" i="1" dirty="0"/>
              <a:t>larger, but it will contain patterns</a:t>
            </a:r>
          </a:p>
          <a:p>
            <a:r>
              <a:rPr lang="en-US" sz="2400" i="1" dirty="0"/>
              <a:t>that are easier to optimize away</a:t>
            </a:r>
          </a:p>
          <a:p>
            <a:endParaRPr lang="en-US" sz="2400" i="1" dirty="0"/>
          </a:p>
          <a:p>
            <a:r>
              <a:rPr lang="en-US" sz="2400" i="1" dirty="0"/>
              <a:t>later passes will minimize copies</a:t>
            </a:r>
          </a:p>
          <a:p>
            <a:endParaRPr lang="en-US" sz="2400" i="1" dirty="0"/>
          </a:p>
          <a:p>
            <a:r>
              <a:rPr lang="en-US" sz="2400" i="1" dirty="0"/>
              <a:t>e.g. copy propagation future pass</a:t>
            </a:r>
          </a:p>
          <a:p>
            <a:r>
              <a:rPr lang="en-US" sz="2400" i="1"/>
              <a:t>  eliminates</a:t>
            </a:r>
            <a:r>
              <a:rPr lang="en-US" sz="2400" i="1" dirty="0"/>
              <a:t> </a:t>
            </a:r>
            <a:r>
              <a:rPr lang="en-US" sz="2400" i="1"/>
              <a:t>repeats </a:t>
            </a:r>
            <a:r>
              <a:rPr lang="en-US" sz="2400" i="1" dirty="0"/>
              <a:t>of variables.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3B2174-78CB-B19A-CBF9-E3A9F435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9" y="256432"/>
            <a:ext cx="10894061" cy="1354217"/>
          </a:xfrm>
        </p:spPr>
        <p:txBody>
          <a:bodyPr/>
          <a:lstStyle/>
          <a:p>
            <a:r>
              <a:rPr lang="en-US" dirty="0"/>
              <a:t>How to stitch optimized code back into program</a:t>
            </a:r>
          </a:p>
        </p:txBody>
      </p:sp>
    </p:spTree>
    <p:extLst>
      <p:ext uri="{BB962C8B-B14F-4D97-AF65-F5344CB8AC3E}">
        <p14:creationId xmlns:p14="http://schemas.microsoft.com/office/powerpoint/2010/main" val="293847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</TotalTime>
  <Words>5988</Words>
  <Application>Microsoft Office PowerPoint</Application>
  <PresentationFormat>Widescreen</PresentationFormat>
  <Paragraphs>1494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Aptos</vt:lpstr>
      <vt:lpstr>Arial</vt:lpstr>
      <vt:lpstr>Calibri</vt:lpstr>
      <vt:lpstr>Calibri Light</vt:lpstr>
      <vt:lpstr>Courier</vt:lpstr>
      <vt:lpstr>Courier New</vt:lpstr>
      <vt:lpstr>DejaVu Sans Mono</vt:lpstr>
      <vt:lpstr>Times New Roman</vt:lpstr>
      <vt:lpstr>Office Theme</vt:lpstr>
      <vt:lpstr>CSE110A: Compilers</vt:lpstr>
      <vt:lpstr>Zooming out again: Compiler Architecture</vt:lpstr>
      <vt:lpstr>IR programs</vt:lpstr>
      <vt:lpstr>IR programs</vt:lpstr>
      <vt:lpstr>input  program</vt:lpstr>
      <vt:lpstr>Implicit parse tree</vt:lpstr>
      <vt:lpstr>Optimization categories</vt:lpstr>
      <vt:lpstr>Optimization categories</vt:lpstr>
      <vt:lpstr>Optimization categories</vt:lpstr>
      <vt:lpstr>Optimization categories</vt:lpstr>
      <vt:lpstr>Optimization categories</vt:lpstr>
      <vt:lpstr>Optimization categories</vt:lpstr>
      <vt:lpstr>BASIC BLOCKS</vt:lpstr>
      <vt:lpstr>IR Program structure</vt:lpstr>
      <vt:lpstr>IR Program structure</vt:lpstr>
      <vt:lpstr>IR Program structure</vt:lpstr>
      <vt:lpstr>IR Program structure</vt:lpstr>
      <vt:lpstr>Converting 3 address code into basic blocks</vt:lpstr>
      <vt:lpstr>Converting 3 address code into basic blocks</vt:lpstr>
      <vt:lpstr>Converting 3 address code into basic blocks</vt:lpstr>
      <vt:lpstr>Optimization levels</vt:lpstr>
      <vt:lpstr>Optimization levels</vt:lpstr>
      <vt:lpstr>Optimization levels</vt:lpstr>
      <vt:lpstr>Optimization levels</vt:lpstr>
      <vt:lpstr>Optimization levels</vt:lpstr>
      <vt:lpstr>Regional Optimization</vt:lpstr>
      <vt:lpstr>Regional Optimization: Data Flow Analysis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 (LVN)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Local value numbering</vt:lpstr>
      <vt:lpstr>What else can we do?</vt:lpstr>
      <vt:lpstr>What else can we do?</vt:lpstr>
      <vt:lpstr>PowerPoint Presentation</vt:lpstr>
      <vt:lpstr>Commutative operations</vt:lpstr>
      <vt:lpstr>Adding commutativity to local value  numbering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Local value numbering: commutative  operations</vt:lpstr>
      <vt:lpstr>Optimizing over wider regions</vt:lpstr>
      <vt:lpstr>Stitching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  <vt:lpstr>How to stitch optimized code back into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Siero</cp:lastModifiedBy>
  <cp:revision>16</cp:revision>
  <dcterms:created xsi:type="dcterms:W3CDTF">2025-05-18T02:21:44Z</dcterms:created>
  <dcterms:modified xsi:type="dcterms:W3CDTF">2026-03-03T10:02:29Z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2024-05-20T00:00:00Z</vt:filetime>
  </property>
  <property fmtid="{D5CDD505-2E9C-101B-9397-08002B2CF9AE}" pid="3" name="LastSaved">
    <vt:filetime>2025-05-18T00:00:00Z</vt:filetime>
  </property>
</Properties>
</file>