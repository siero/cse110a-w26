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6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85" y="1208606"/>
            <a:ext cx="4252666" cy="56105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ts val="4320"/>
              </a:lnSpc>
              <a:spcBef>
                <a:spcPts val="75"/>
              </a:spcBef>
            </a:pPr>
            <a:r>
              <a:rPr sz="3675" spc="98" dirty="0"/>
              <a:t>CSE110A:</a:t>
            </a:r>
            <a:r>
              <a:rPr sz="3675" spc="41" dirty="0"/>
              <a:t> </a:t>
            </a:r>
            <a:r>
              <a:rPr sz="3675" spc="90" dirty="0"/>
              <a:t>Compiler</a:t>
            </a:r>
            <a:r>
              <a:rPr lang="en-US" sz="3675" spc="90" dirty="0"/>
              <a:t>s</a:t>
            </a:r>
            <a:endParaRPr sz="3675" dirty="0"/>
          </a:p>
        </p:txBody>
      </p:sp>
      <p:sp>
        <p:nvSpPr>
          <p:cNvPr id="3" name="object 3"/>
          <p:cNvSpPr txBox="1"/>
          <p:nvPr/>
        </p:nvSpPr>
        <p:spPr>
          <a:xfrm>
            <a:off x="378817" y="2453259"/>
            <a:ext cx="6079133" cy="2313293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9525">
              <a:spcBef>
                <a:spcPts val="559"/>
              </a:spcBef>
            </a:pPr>
            <a:r>
              <a:rPr sz="2100" b="1" spc="-30" dirty="0">
                <a:latin typeface="Calibri"/>
                <a:cs typeface="Calibri"/>
              </a:rPr>
              <a:t>Topics</a:t>
            </a:r>
            <a:r>
              <a:rPr sz="2100" spc="-30" dirty="0">
                <a:latin typeface="Calibri"/>
                <a:cs typeface="Calibri"/>
              </a:rPr>
              <a:t>:</a:t>
            </a:r>
            <a:endParaRPr sz="2100" dirty="0">
              <a:latin typeface="Calibri"/>
              <a:cs typeface="Calibri"/>
            </a:endParaRPr>
          </a:p>
          <a:p>
            <a:pPr marL="180975" indent="-171450">
              <a:spcBef>
                <a:spcPts val="488"/>
              </a:spcBef>
              <a:buFont typeface="Arial"/>
              <a:buChar char="•"/>
              <a:tabLst>
                <a:tab pos="180975" algn="l"/>
              </a:tabLst>
            </a:pPr>
            <a:r>
              <a:rPr sz="2100" i="1" spc="-4" dirty="0">
                <a:latin typeface="Calibri"/>
                <a:cs typeface="Calibri"/>
              </a:rPr>
              <a:t>Module </a:t>
            </a:r>
            <a:r>
              <a:rPr sz="2100" i="1" dirty="0">
                <a:latin typeface="Calibri"/>
                <a:cs typeface="Calibri"/>
              </a:rPr>
              <a:t>4 </a:t>
            </a:r>
            <a:r>
              <a:rPr lang="en-US" sz="2100" i="1" dirty="0">
                <a:latin typeface="Calibri"/>
                <a:cs typeface="Calibri"/>
              </a:rPr>
              <a:t>–</a:t>
            </a:r>
            <a:r>
              <a:rPr lang="en-US" sz="2100" i="1" spc="-41" dirty="0">
                <a:latin typeface="Calibri"/>
                <a:cs typeface="Calibri"/>
              </a:rPr>
              <a:t> </a:t>
            </a:r>
            <a:r>
              <a:rPr lang="en-US" sz="2400" dirty="0"/>
              <a:t>Optimizing Code: CFGs, LVN, and SSA</a:t>
            </a:r>
            <a:endParaRPr lang="en-US" sz="2100" i="1" spc="-8" dirty="0">
              <a:latin typeface="Calibri"/>
              <a:cs typeface="Calibri"/>
            </a:endParaRPr>
          </a:p>
          <a:p>
            <a:pPr marL="523875" lvl="1" indent="-171450">
              <a:spcBef>
                <a:spcPts val="488"/>
              </a:spcBef>
              <a:buFont typeface="Arial"/>
              <a:buChar char="•"/>
              <a:tabLst>
                <a:tab pos="180975" algn="l"/>
              </a:tabLst>
            </a:pPr>
            <a:r>
              <a:rPr lang="en-US" sz="2100" i="1" spc="-8" dirty="0">
                <a:latin typeface="Calibri"/>
                <a:cs typeface="Calibri"/>
              </a:rPr>
              <a:t>Control Flow Graphs</a:t>
            </a:r>
          </a:p>
          <a:p>
            <a:pPr marL="523875" lvl="1" indent="-171450">
              <a:spcBef>
                <a:spcPts val="488"/>
              </a:spcBef>
              <a:buFont typeface="Arial"/>
              <a:buChar char="•"/>
              <a:tabLst>
                <a:tab pos="180975" algn="l"/>
              </a:tabLst>
            </a:pPr>
            <a:r>
              <a:rPr lang="en-US" sz="2100" i="1" spc="-8" dirty="0">
                <a:latin typeface="Calibri"/>
                <a:cs typeface="Calibri"/>
              </a:rPr>
              <a:t>SSA : Single Static Assignment (An optimization technique extensively used in LLVM)</a:t>
            </a:r>
          </a:p>
          <a:p>
            <a:pPr marL="523875" lvl="1" indent="-171450">
              <a:spcBef>
                <a:spcPts val="488"/>
              </a:spcBef>
              <a:buFont typeface="Arial"/>
              <a:buChar char="•"/>
              <a:tabLst>
                <a:tab pos="180975" algn="l"/>
              </a:tabLst>
            </a:pPr>
            <a:r>
              <a:rPr lang="en-US" sz="2100" i="1" spc="-8" dirty="0">
                <a:latin typeface="Calibri"/>
                <a:cs typeface="Calibri"/>
              </a:rPr>
              <a:t>SSA as LVN across Basic Blocks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Optimizing Code: CFGs, LVN, and SSA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the interplay in compiler optimizations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7267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CFG (Control Flow Graph): </a:t>
            </a:r>
            <a:endParaRPr lang="en-US" dirty="0"/>
          </a:p>
          <a:p>
            <a:pPr lvl="1"/>
            <a:r>
              <a:rPr dirty="0"/>
              <a:t>Representation of program paths</a:t>
            </a:r>
          </a:p>
          <a:p>
            <a:r>
              <a:rPr dirty="0"/>
              <a:t>LVN (Local Value Numbering): </a:t>
            </a:r>
            <a:endParaRPr lang="en-US" dirty="0"/>
          </a:p>
          <a:p>
            <a:pPr lvl="1"/>
            <a:r>
              <a:rPr dirty="0"/>
              <a:t>Detects equivalent computations in basic blocks</a:t>
            </a:r>
          </a:p>
          <a:p>
            <a:pPr lvl="1"/>
            <a:r>
              <a:rPr dirty="0"/>
              <a:t>SSA (Static Single Assignment): Each variable assigned exactly once, simplifies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Graphs (CFGs)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Nodes = Basic blocks, Edges = Control flow</a:t>
            </a:r>
          </a:p>
          <a:p>
            <a:r>
              <a:rPr dirty="0"/>
              <a:t>- Purpose: Identify paths, loops, optimize across blocks</a:t>
            </a:r>
          </a:p>
          <a:p>
            <a:r>
              <a:rPr dirty="0"/>
              <a:t>- Example textual diagram:</a:t>
            </a:r>
          </a:p>
          <a:p>
            <a:pPr marL="0" indent="0">
              <a:buNone/>
            </a:pPr>
            <a:r>
              <a:rPr dirty="0"/>
              <a:t>   [B1] -&gt; [B2] -&gt; [B4]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     \             </a:t>
            </a:r>
            <a:r>
              <a:rPr lang="en-US" dirty="0"/>
              <a:t>     </a:t>
            </a:r>
            <a:r>
              <a:rPr dirty="0"/>
              <a:t>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      </a:t>
            </a:r>
            <a:r>
              <a:rPr lang="en-US" dirty="0"/>
              <a:t> </a:t>
            </a:r>
            <a:r>
              <a:rPr dirty="0"/>
              <a:t>-&gt; [B3] 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Sequence of instructions with single entry and exit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Characteristics: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No internal jumps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 - First instruction is a leader</a:t>
            </a:r>
          </a:p>
          <a:p>
            <a:r>
              <a:rPr dirty="0"/>
              <a:t> Role in optimizations: LVN operates within a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Value Numbering (LVN)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Goal: Detect redundant computations in a basic block</a:t>
            </a:r>
          </a:p>
          <a:p>
            <a:r>
              <a:rPr dirty="0"/>
              <a:t>Process: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 1. Assign a value number to each computation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2. If an expression has been computed before, </a:t>
            </a:r>
            <a:br>
              <a:rPr lang="en-US" dirty="0"/>
            </a:br>
            <a:r>
              <a:rPr lang="en-US" dirty="0"/>
              <a:t>          </a:t>
            </a:r>
            <a:r>
              <a:rPr dirty="0"/>
              <a:t>reuse the number</a:t>
            </a:r>
          </a:p>
          <a:p>
            <a:r>
              <a:rPr dirty="0"/>
              <a:t> Limitation: LVN is local, does</a:t>
            </a:r>
            <a:r>
              <a:rPr lang="en-US" dirty="0"/>
              <a:t> </a:t>
            </a:r>
            <a:r>
              <a:rPr dirty="0"/>
              <a:t>n</a:t>
            </a:r>
            <a:r>
              <a:rPr lang="en-US" dirty="0"/>
              <a:t>o</a:t>
            </a:r>
            <a:r>
              <a:rPr dirty="0"/>
              <a:t>t cross basic blocks</a:t>
            </a:r>
          </a:p>
          <a:p>
            <a:pPr lvl="1"/>
            <a:r>
              <a:rPr dirty="0"/>
              <a:t>Example: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dirty="0"/>
              <a:t>a = b + c   # v1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dirty="0"/>
              <a:t>x = b + c   # reuse v1</a:t>
            </a:r>
            <a:r>
              <a:rPr lang="en-US" dirty="0"/>
              <a:t>  as:  x = v1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Extending LVN Across Basic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Challenge: Reuse computations across blocks</a:t>
            </a:r>
          </a:p>
          <a:p>
            <a:r>
              <a:rPr dirty="0"/>
              <a:t>Techniques: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Use Available Expressions Analysis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Integrate with CFG to propagate known</a:t>
            </a:r>
            <a:br>
              <a:rPr lang="en-US" dirty="0"/>
            </a:br>
            <a:r>
              <a:rPr lang="en-US" dirty="0"/>
              <a:t>       </a:t>
            </a:r>
            <a:r>
              <a:rPr dirty="0"/>
              <a:t> values</a:t>
            </a:r>
          </a:p>
          <a:p>
            <a:r>
              <a:rPr dirty="0"/>
              <a:t> Example: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dirty="0"/>
              <a:t>[B1]: a = b + c </a:t>
            </a:r>
            <a:r>
              <a:rPr lang="en-US" dirty="0"/>
              <a:t>    </a:t>
            </a:r>
            <a:r>
              <a:rPr dirty="0"/>
              <a:t>(v1)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dirty="0"/>
              <a:t>[B2]: x = b + c </a:t>
            </a:r>
            <a:r>
              <a:rPr lang="en-US" dirty="0"/>
              <a:t>   </a:t>
            </a:r>
            <a:r>
              <a:rPr dirty="0"/>
              <a:t> reuse v1 if B1 dominates B2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Single Assignment (SSA)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Each variable assigned once</a:t>
            </a:r>
            <a:r>
              <a:rPr lang="en-US" dirty="0"/>
              <a:t> (unique Virtual Reg)</a:t>
            </a:r>
            <a:endParaRPr dirty="0"/>
          </a:p>
          <a:p>
            <a:r>
              <a:rPr dirty="0"/>
              <a:t>Introduces φ-functions at merge points to unify multiple definitions</a:t>
            </a:r>
          </a:p>
          <a:p>
            <a:r>
              <a:rPr dirty="0"/>
              <a:t>Benefits:</a:t>
            </a:r>
          </a:p>
          <a:p>
            <a:r>
              <a:rPr dirty="0"/>
              <a:t>Makes LVN across blocks easier</a:t>
            </a:r>
          </a:p>
          <a:p>
            <a:pPr lvl="1"/>
            <a:r>
              <a:rPr dirty="0"/>
              <a:t>Simplifies data-flow analyses</a:t>
            </a:r>
          </a:p>
          <a:p>
            <a:r>
              <a:rPr dirty="0"/>
              <a:t>- Example:</a:t>
            </a:r>
          </a:p>
          <a:p>
            <a:r>
              <a:rPr dirty="0"/>
              <a:t>[B2]: a2 = φ(a1, a0)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SSA + LVN</a:t>
            </a:r>
            <a:r>
              <a:rPr lang="en-US" dirty="0"/>
              <a:t> General Idea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555" y="1166018"/>
            <a:ext cx="8494889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Combining SSA with LVN:</a:t>
            </a:r>
          </a:p>
          <a:p>
            <a:pPr lvl="1"/>
            <a:r>
              <a:rPr lang="el-GR" dirty="0"/>
              <a:t>φ-</a:t>
            </a:r>
            <a:r>
              <a:rPr lang="en-US" dirty="0"/>
              <a:t>functions clarify variable definitions</a:t>
            </a:r>
          </a:p>
          <a:p>
            <a:pPr lvl="1"/>
            <a:r>
              <a:rPr lang="en-US" dirty="0"/>
              <a:t>LVN can now operate globally without ambiguity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[B1]: t1 = b + c    # First computation of b + c</a:t>
            </a:r>
          </a:p>
          <a:p>
            <a:r>
              <a:rPr lang="en-US" dirty="0"/>
              <a:t>[B2]: t3 = e + f    # Another computation along a different path</a:t>
            </a:r>
          </a:p>
          <a:p>
            <a:r>
              <a:rPr lang="en-US" dirty="0"/>
              <a:t>t2 = </a:t>
            </a:r>
            <a:r>
              <a:rPr lang="el-GR" dirty="0"/>
              <a:t>φ(</a:t>
            </a:r>
            <a:r>
              <a:rPr lang="en-US" dirty="0"/>
              <a:t>t1, t3)      # t2 takes t1 if path from B1, t3 if path from B2</a:t>
            </a:r>
          </a:p>
          <a:p>
            <a:r>
              <a:rPr lang="en-US" dirty="0"/>
              <a:t>[B3]: x = t2 + d   # LVN can reuse t1 or t3 depending on path taken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Notes:</a:t>
            </a:r>
          </a:p>
          <a:p>
            <a:pPr lvl="1"/>
            <a:r>
              <a:rPr lang="el-GR" dirty="0"/>
              <a:t>φ-</a:t>
            </a:r>
            <a:r>
              <a:rPr lang="en-US" dirty="0"/>
              <a:t>function merges values from different control paths</a:t>
            </a:r>
          </a:p>
          <a:p>
            <a:pPr lvl="1"/>
            <a:r>
              <a:rPr lang="en-US" dirty="0"/>
              <a:t>Each variable still assigned once, SSA guarantees clarity</a:t>
            </a:r>
          </a:p>
          <a:p>
            <a:pPr lvl="1"/>
            <a:r>
              <a:rPr lang="en-US" dirty="0"/>
              <a:t>LVN can detect redundancy even across blocks using SSA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 /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r>
              <a:rPr dirty="0"/>
              <a:t>CFG provides structural framework</a:t>
            </a:r>
          </a:p>
          <a:p>
            <a:r>
              <a:rPr dirty="0"/>
              <a:t>LVN detects redundant computations locally</a:t>
            </a:r>
          </a:p>
          <a:p>
            <a:r>
              <a:rPr dirty="0"/>
              <a:t>SSA allows LVN to scale globally across blocks</a:t>
            </a:r>
          </a:p>
          <a:p>
            <a:r>
              <a:rPr dirty="0"/>
              <a:t>Together: powerful optimization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/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Aho, Lam, Sethi, Ullman, Compilers: Principles, Techniques, and Tools</a:t>
            </a:r>
          </a:p>
          <a:p>
            <a:r>
              <a:rPr dirty="0"/>
              <a:t>Online tutorials on SSA, LVN, and CFG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553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CSE110A: Compilers</vt:lpstr>
      <vt:lpstr>Optimizing Code: CFGs, LVN, and SSA</vt:lpstr>
      <vt:lpstr>Introduction</vt:lpstr>
      <vt:lpstr>Control Flow Graphs (CFGs)</vt:lpstr>
      <vt:lpstr>Basic Blocks</vt:lpstr>
      <vt:lpstr>Local Value Numbering (LVN)</vt:lpstr>
      <vt:lpstr>Extending LVN Across Basic Blocks</vt:lpstr>
      <vt:lpstr>Static Single Assignment (SSA)</vt:lpstr>
      <vt:lpstr>SSA + LVN General Idea</vt:lpstr>
      <vt:lpstr>Summary / Takeaways</vt:lpstr>
      <vt:lpstr>References / Further Reading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Marcelo Siero</cp:lastModifiedBy>
  <cp:revision>3</cp:revision>
  <dcterms:created xsi:type="dcterms:W3CDTF">2013-01-27T09:14:16Z</dcterms:created>
  <dcterms:modified xsi:type="dcterms:W3CDTF">2026-03-18T00:21:23Z</dcterms:modified>
  <cp:category/>
</cp:coreProperties>
</file>