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2" r:id="rId20"/>
    <p:sldId id="283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56" autoAdjust="0"/>
    <p:restoredTop sz="94660"/>
  </p:normalViewPr>
  <p:slideViewPr>
    <p:cSldViewPr>
      <p:cViewPr varScale="1">
        <p:scale>
          <a:sx n="73" d="100"/>
          <a:sy n="73" d="100"/>
        </p:scale>
        <p:origin x="72" y="4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452E-C9D5-45EC-84BE-FCE21801F438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C241-0D3F-4349-BD67-2104325A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129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1404"/>
            <a:ext cx="9189085" cy="270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g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79" y="464200"/>
            <a:ext cx="5670221" cy="756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60"/>
              </a:lnSpc>
              <a:spcBef>
                <a:spcPts val="100"/>
              </a:spcBef>
            </a:pPr>
            <a:r>
              <a:rPr sz="4900" spc="130" dirty="0"/>
              <a:t>CSE110A:</a:t>
            </a:r>
            <a:r>
              <a:rPr sz="4900" spc="55" dirty="0"/>
              <a:t> </a:t>
            </a:r>
            <a:r>
              <a:rPr sz="4900" spc="120" dirty="0"/>
              <a:t>Compiler</a:t>
            </a:r>
            <a:r>
              <a:rPr lang="en-US" sz="4900" spc="120" dirty="0"/>
              <a:t>s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505090" y="2128012"/>
            <a:ext cx="5670220" cy="260904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b="1" spc="-40" dirty="0">
                <a:latin typeface="Calibri"/>
                <a:cs typeface="Calibri"/>
              </a:rPr>
              <a:t>Topics</a:t>
            </a:r>
            <a:r>
              <a:rPr sz="2800" spc="-4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latin typeface="Calibri"/>
                <a:cs typeface="Calibri"/>
              </a:rPr>
              <a:t>Start </a:t>
            </a:r>
            <a:r>
              <a:rPr sz="2800" i="1" dirty="0">
                <a:latin typeface="Calibri"/>
                <a:cs typeface="Calibri"/>
              </a:rPr>
              <a:t>of </a:t>
            </a:r>
            <a:r>
              <a:rPr sz="2800" i="1" spc="-5" dirty="0">
                <a:latin typeface="Calibri"/>
                <a:cs typeface="Calibri"/>
              </a:rPr>
              <a:t>Module </a:t>
            </a:r>
            <a:r>
              <a:rPr sz="2800" i="1" dirty="0">
                <a:latin typeface="Calibri"/>
                <a:cs typeface="Calibri"/>
              </a:rPr>
              <a:t>4 </a:t>
            </a:r>
            <a:r>
              <a:rPr lang="en-US" sz="2800" i="1" dirty="0">
                <a:latin typeface="Calibri"/>
                <a:cs typeface="Calibri"/>
              </a:rPr>
              <a:t>–</a:t>
            </a:r>
            <a:r>
              <a:rPr lang="en-US"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Optimizations</a:t>
            </a:r>
            <a:endParaRPr lang="en-US" sz="2800" i="1" spc="-10" dirty="0">
              <a:latin typeface="Calibri"/>
              <a:cs typeface="Calibri"/>
            </a:endParaRP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Introduction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endParaRPr lang="en-US" sz="2800" i="1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492846"/>
            <a:ext cx="822706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spc="-15" dirty="0"/>
              <a:t>M</a:t>
            </a:r>
            <a:r>
              <a:rPr sz="6000" spc="-5" dirty="0"/>
              <a:t>odule 4:</a:t>
            </a:r>
            <a:r>
              <a:rPr sz="6000" spc="25" dirty="0"/>
              <a:t> </a:t>
            </a:r>
            <a:r>
              <a:rPr lang="en-US" sz="6000" spc="-15" dirty="0"/>
              <a:t>O</a:t>
            </a:r>
            <a:r>
              <a:rPr sz="6000" spc="-15" dirty="0"/>
              <a:t>ptimizations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6224270" cy="146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compiler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optimizations?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Why </a:t>
            </a:r>
            <a:r>
              <a:rPr sz="2800" dirty="0">
                <a:latin typeface="Calibri"/>
                <a:cs typeface="Calibri"/>
              </a:rPr>
              <a:t>do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20" dirty="0">
                <a:latin typeface="Calibri"/>
                <a:cs typeface="Calibri"/>
              </a:rPr>
              <a:t>want </a:t>
            </a:r>
            <a:r>
              <a:rPr sz="2800" spc="-10" dirty="0">
                <a:latin typeface="Calibri"/>
                <a:cs typeface="Calibri"/>
              </a:rPr>
              <a:t>compiler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9728200" cy="41827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compiler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optimizations?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automated </a:t>
            </a:r>
            <a:r>
              <a:rPr sz="2400" spc="-15" dirty="0">
                <a:latin typeface="Calibri"/>
                <a:cs typeface="Calibri"/>
              </a:rPr>
              <a:t>program transforms </a:t>
            </a:r>
            <a:r>
              <a:rPr sz="2400" spc="-5" dirty="0">
                <a:latin typeface="Calibri"/>
                <a:cs typeface="Calibri"/>
              </a:rPr>
              <a:t>designed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5" dirty="0">
                <a:latin typeface="Calibri"/>
                <a:cs typeface="Calibri"/>
              </a:rPr>
              <a:t>make </a:t>
            </a:r>
            <a:r>
              <a:rPr sz="2400" spc="-10" dirty="0">
                <a:latin typeface="Calibri"/>
                <a:cs typeface="Calibri"/>
              </a:rPr>
              <a:t>code </a:t>
            </a:r>
            <a:r>
              <a:rPr sz="2400" spc="-15" dirty="0">
                <a:latin typeface="Calibri"/>
                <a:cs typeface="Calibri"/>
              </a:rPr>
              <a:t>more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optimal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optimal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mean </a:t>
            </a:r>
            <a:r>
              <a:rPr sz="2400" spc="-15" dirty="0">
                <a:latin typeface="Calibri"/>
                <a:cs typeface="Calibri"/>
              </a:rPr>
              <a:t>different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things</a:t>
            </a:r>
            <a:endParaRPr sz="2400">
              <a:latin typeface="Calibri"/>
              <a:cs typeface="Calibri"/>
            </a:endParaRPr>
          </a:p>
          <a:p>
            <a:pPr marL="1155065" marR="5080" lvl="2" indent="-228600">
              <a:lnSpc>
                <a:spcPts val="2180"/>
              </a:lnSpc>
              <a:spcBef>
                <a:spcPts val="49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latin typeface="Calibri"/>
                <a:cs typeface="Calibri"/>
              </a:rPr>
              <a:t>code optimized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20" dirty="0">
                <a:latin typeface="Calibri"/>
                <a:cs typeface="Calibri"/>
              </a:rPr>
              <a:t>system </a:t>
            </a:r>
            <a:r>
              <a:rPr sz="2000" spc="-5" dirty="0">
                <a:latin typeface="Calibri"/>
                <a:cs typeface="Calibri"/>
              </a:rPr>
              <a:t>might be </a:t>
            </a:r>
            <a:r>
              <a:rPr sz="2000" spc="-15" dirty="0">
                <a:latin typeface="Calibri"/>
                <a:cs typeface="Calibri"/>
              </a:rPr>
              <a:t>different for </a:t>
            </a:r>
            <a:r>
              <a:rPr sz="2000" spc="-10" dirty="0">
                <a:latin typeface="Calibri"/>
                <a:cs typeface="Calibri"/>
              </a:rPr>
              <a:t>code optimized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different  </a:t>
            </a:r>
            <a:r>
              <a:rPr sz="2000" spc="-2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15" dirty="0">
                <a:latin typeface="Calibri"/>
                <a:cs typeface="Calibri"/>
              </a:rPr>
              <a:t>we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spc="-10" dirty="0">
                <a:latin typeface="Calibri"/>
                <a:cs typeface="Calibri"/>
              </a:rPr>
              <a:t>optimize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speed,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energy </a:t>
            </a:r>
            <a:r>
              <a:rPr sz="2000" spc="-20" dirty="0">
                <a:latin typeface="Calibri"/>
                <a:cs typeface="Calibri"/>
              </a:rPr>
              <a:t>efficiency, </a:t>
            </a:r>
            <a:r>
              <a:rPr sz="2000" spc="-5" dirty="0">
                <a:latin typeface="Calibri"/>
                <a:cs typeface="Calibri"/>
              </a:rPr>
              <a:t>or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code size. What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else?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Why </a:t>
            </a:r>
            <a:r>
              <a:rPr sz="2800" dirty="0">
                <a:latin typeface="Calibri"/>
                <a:cs typeface="Calibri"/>
              </a:rPr>
              <a:t>do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20" dirty="0">
                <a:latin typeface="Calibri"/>
                <a:cs typeface="Calibri"/>
              </a:rPr>
              <a:t>want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help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optimize?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So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write </a:t>
            </a:r>
            <a:r>
              <a:rPr sz="2400" spc="-15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maintainable/portable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698500" marR="337820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So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don’t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worry about learning </a:t>
            </a:r>
            <a:r>
              <a:rPr sz="2400" dirty="0">
                <a:latin typeface="Calibri"/>
                <a:cs typeface="Calibri"/>
              </a:rPr>
              <a:t>nuanced </a:t>
            </a:r>
            <a:r>
              <a:rPr sz="2400" spc="-10" dirty="0">
                <a:latin typeface="Calibri"/>
                <a:cs typeface="Calibri"/>
              </a:rPr>
              <a:t>details </a:t>
            </a:r>
            <a:r>
              <a:rPr sz="2400" spc="-5" dirty="0">
                <a:latin typeface="Calibri"/>
                <a:cs typeface="Calibri"/>
              </a:rPr>
              <a:t>about every  possible </a:t>
            </a:r>
            <a:r>
              <a:rPr sz="2400" spc="-25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416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416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98303"/>
              </p:ext>
            </p:extLst>
          </p:nvPr>
        </p:nvGraphicFramePr>
        <p:xfrm>
          <a:off x="891935" y="2925001"/>
          <a:ext cx="4219573" cy="3078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9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7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330">
                <a:tc>
                  <a:txBody>
                    <a:bodyPr/>
                    <a:lstStyle/>
                    <a:p>
                      <a:pPr marL="342265" marR="54610" indent="-250825">
                        <a:lnSpc>
                          <a:spcPct val="102200"/>
                        </a:lnSpc>
                        <a:spcBef>
                          <a:spcPts val="200"/>
                        </a:spcBef>
                      </a:pPr>
                      <a:r>
                        <a:rPr sz="18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9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=  x = x +</a:t>
                      </a:r>
                      <a:r>
                        <a:rPr sz="1800" spc="-1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ts val="211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i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i++)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800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loop unrolling</a:t>
                      </a:r>
                      <a:endParaRPr sz="180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6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for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8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i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i++)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95">
                <a:tc>
                  <a:txBody>
                    <a:bodyPr/>
                    <a:lstStyle/>
                    <a:p>
                      <a:pPr marL="342265">
                        <a:lnSpc>
                          <a:spcPts val="19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x = x +</a:t>
                      </a:r>
                      <a:r>
                        <a:rPr sz="1800" spc="-11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solidFill>
                            <a:srgbClr val="09865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857">
                <a:tc gridSpan="7">
                  <a:txBody>
                    <a:bodyPr/>
                    <a:lstStyle/>
                    <a:p>
                      <a:pPr marL="342265">
                        <a:lnSpc>
                          <a:spcPts val="1839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i++;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ts val="2125"/>
                        </a:lnSpc>
                        <a:spcBef>
                          <a:spcPts val="45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x = x +</a:t>
                      </a:r>
                      <a:r>
                        <a:rPr sz="18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1;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ts val="212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}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416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697" y="2925001"/>
            <a:ext cx="42164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1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697" y="4526465"/>
            <a:ext cx="4216400" cy="14776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1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090"/>
              </a:lnSpc>
            </a:pPr>
            <a:r>
              <a:rPr sz="1800" spc="-5" dirty="0">
                <a:latin typeface="Consolas"/>
                <a:cs typeface="Consolas"/>
              </a:rPr>
              <a:t>i++;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nsolas"/>
                <a:cs typeface="Consolas"/>
              </a:rPr>
              <a:t>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437" y="4022852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highlight>
                  <a:srgbClr val="FFFF00"/>
                </a:highlight>
                <a:latin typeface="Calibri"/>
                <a:cs typeface="Calibri"/>
              </a:rPr>
              <a:t>loop</a:t>
            </a:r>
            <a:r>
              <a:rPr sz="18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800" spc="-5" dirty="0">
                <a:highlight>
                  <a:srgbClr val="FFFF00"/>
                </a:highlight>
                <a:latin typeface="Calibri"/>
                <a:cs typeface="Calibri"/>
              </a:rPr>
              <a:t>unrolling</a:t>
            </a:r>
            <a:endParaRPr sz="1800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7000" y="2619200"/>
            <a:ext cx="4394200" cy="203136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foo()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2789555">
              <a:lnSpc>
                <a:spcPts val="2090"/>
              </a:lnSpc>
              <a:spcBef>
                <a:spcPts val="17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i,j,k;  </a:t>
            </a:r>
            <a:r>
              <a:rPr sz="1800" dirty="0">
                <a:latin typeface="Consolas"/>
                <a:cs typeface="Consolas"/>
              </a:rPr>
              <a:t>i =</a:t>
            </a:r>
            <a:r>
              <a:rPr sz="1800" spc="-5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 marR="3291204">
              <a:lnSpc>
                <a:spcPts val="2090"/>
              </a:lnSpc>
              <a:spcBef>
                <a:spcPts val="114"/>
              </a:spcBef>
            </a:pPr>
            <a:r>
              <a:rPr sz="1800" dirty="0">
                <a:latin typeface="Consolas"/>
                <a:cs typeface="Consolas"/>
              </a:rPr>
              <a:t>j =</a:t>
            </a:r>
            <a:r>
              <a:rPr sz="1800" spc="-10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i;  </a:t>
            </a:r>
            <a:r>
              <a:rPr sz="1800" dirty="0">
                <a:latin typeface="Consolas"/>
                <a:cs typeface="Consolas"/>
              </a:rPr>
              <a:t>k =</a:t>
            </a:r>
            <a:r>
              <a:rPr sz="1800" spc="-11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j;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150"/>
              </a:lnSpc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k;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7000" y="5265130"/>
            <a:ext cx="4394200" cy="12007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foo()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2789555">
              <a:lnSpc>
                <a:spcPts val="2090"/>
              </a:lnSpc>
              <a:spcBef>
                <a:spcPts val="17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i,j,k;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10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10;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5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5740" y="4793995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highlight>
                  <a:srgbClr val="FFFF00"/>
                </a:highlight>
                <a:latin typeface="Calibri"/>
                <a:cs typeface="Calibri"/>
              </a:rPr>
              <a:t>constant</a:t>
            </a:r>
            <a:r>
              <a:rPr sz="1800" spc="-6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800" spc="-10" dirty="0">
                <a:highlight>
                  <a:srgbClr val="FFFF00"/>
                </a:highlight>
                <a:latin typeface="Calibri"/>
                <a:cs typeface="Calibri"/>
              </a:rPr>
              <a:t>propagation</a:t>
            </a:r>
            <a:endParaRPr sz="1800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416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539" y="6299708"/>
            <a:ext cx="2247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What does this save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us?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BA9C880B-4231-4ECD-03C3-875A5851B769}"/>
              </a:ext>
            </a:extLst>
          </p:cNvPr>
          <p:cNvSpPr txBox="1"/>
          <p:nvPr/>
        </p:nvSpPr>
        <p:spPr>
          <a:xfrm>
            <a:off x="896697" y="2925001"/>
            <a:ext cx="42164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1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FC24D62-4D54-DA72-288E-0F0343A90C22}"/>
              </a:ext>
            </a:extLst>
          </p:cNvPr>
          <p:cNvSpPr txBox="1"/>
          <p:nvPr/>
        </p:nvSpPr>
        <p:spPr>
          <a:xfrm>
            <a:off x="896697" y="4526465"/>
            <a:ext cx="4216400" cy="14776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1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090"/>
              </a:lnSpc>
            </a:pPr>
            <a:r>
              <a:rPr sz="1800" spc="-5" dirty="0">
                <a:latin typeface="Consolas"/>
                <a:cs typeface="Consolas"/>
              </a:rPr>
              <a:t>i++;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nsolas"/>
                <a:cs typeface="Consolas"/>
              </a:rPr>
              <a:t>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7660006-D4D4-CB75-C9D6-B45BC5D7107F}"/>
              </a:ext>
            </a:extLst>
          </p:cNvPr>
          <p:cNvSpPr txBox="1"/>
          <p:nvPr/>
        </p:nvSpPr>
        <p:spPr>
          <a:xfrm>
            <a:off x="975437" y="4022852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loop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unrolling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416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697" y="2925001"/>
            <a:ext cx="42164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0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1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697" y="4526465"/>
            <a:ext cx="4216400" cy="14776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342265" marR="354330" indent="-250825">
              <a:lnSpc>
                <a:spcPct val="102200"/>
              </a:lnSpc>
              <a:spcBef>
                <a:spcPts val="21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i++)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090"/>
              </a:lnSpc>
            </a:pPr>
            <a:r>
              <a:rPr sz="1800" spc="-5" dirty="0">
                <a:latin typeface="Consolas"/>
                <a:cs typeface="Consolas"/>
              </a:rPr>
              <a:t>i++;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nsolas"/>
                <a:cs typeface="Consolas"/>
              </a:rPr>
              <a:t>x = x +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437" y="4022852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loop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unrolling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1539" y="6299708"/>
            <a:ext cx="2247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What does this save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us?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7247" y="3221228"/>
            <a:ext cx="483743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spc="-10" dirty="0">
                <a:latin typeface="Calibri"/>
                <a:cs typeface="Calibri"/>
              </a:rPr>
              <a:t>optimizations at </a:t>
            </a:r>
            <a:r>
              <a:rPr sz="1800" dirty="0">
                <a:latin typeface="Calibri"/>
                <a:cs typeface="Calibri"/>
              </a:rPr>
              <a:t>one </a:t>
            </a:r>
            <a:r>
              <a:rPr sz="1800" spc="-15" dirty="0">
                <a:latin typeface="Calibri"/>
                <a:cs typeface="Calibri"/>
              </a:rPr>
              <a:t>stage </a:t>
            </a:r>
            <a:r>
              <a:rPr sz="1800" spc="-10" dirty="0">
                <a:latin typeface="Calibri"/>
                <a:cs typeface="Calibri"/>
              </a:rPr>
              <a:t>can </a:t>
            </a:r>
            <a:r>
              <a:rPr sz="1800" spc="-5" dirty="0">
                <a:latin typeface="Calibri"/>
                <a:cs typeface="Calibri"/>
              </a:rPr>
              <a:t>enable </a:t>
            </a:r>
            <a:r>
              <a:rPr sz="1800" spc="-10" dirty="0">
                <a:latin typeface="Calibri"/>
                <a:cs typeface="Calibri"/>
              </a:rPr>
              <a:t>optimizations  at </a:t>
            </a:r>
            <a:r>
              <a:rPr sz="1800" spc="-5" dirty="0">
                <a:latin typeface="Calibri"/>
                <a:cs typeface="Calibri"/>
              </a:rPr>
              <a:t>another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stage: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1167" y="5141285"/>
            <a:ext cx="1266825" cy="2667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0"/>
              </a:lnSpc>
            </a:pPr>
            <a:r>
              <a:rPr sz="1800" dirty="0">
                <a:latin typeface="Consolas"/>
                <a:cs typeface="Consolas"/>
              </a:rPr>
              <a:t>x = x +</a:t>
            </a:r>
            <a:r>
              <a:rPr sz="1800" spc="-120" dirty="0"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2</a:t>
            </a:r>
            <a:r>
              <a:rPr sz="1800" spc="-5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8901" y="4803464"/>
            <a:ext cx="42164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dirty="0">
                <a:latin typeface="Consolas"/>
                <a:cs typeface="Consolas"/>
              </a:rPr>
              <a:t>i =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0</a:t>
            </a:r>
            <a:r>
              <a:rPr sz="1800" spc="-5" dirty="0">
                <a:latin typeface="Consolas"/>
                <a:cs typeface="Consolas"/>
              </a:rPr>
              <a:t>; </a:t>
            </a:r>
            <a:r>
              <a:rPr sz="1800" dirty="0">
                <a:latin typeface="Consolas"/>
                <a:cs typeface="Consolas"/>
              </a:rPr>
              <a:t>i &lt; </a:t>
            </a:r>
            <a:r>
              <a:rPr sz="1800" spc="-5" dirty="0">
                <a:solidFill>
                  <a:srgbClr val="098658"/>
                </a:solidFill>
                <a:latin typeface="Consolas"/>
                <a:cs typeface="Consolas"/>
              </a:rPr>
              <a:t>10</a:t>
            </a:r>
            <a:r>
              <a:rPr sz="1800" spc="-5" dirty="0">
                <a:latin typeface="Consolas"/>
                <a:cs typeface="Consolas"/>
              </a:rPr>
              <a:t>; i+=2)</a:t>
            </a:r>
            <a:r>
              <a:rPr sz="1800" spc="-9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5340" y="6144259"/>
            <a:ext cx="399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provides </a:t>
            </a:r>
            <a:r>
              <a:rPr sz="1800" i="1" dirty="0">
                <a:latin typeface="Calibri"/>
                <a:cs typeface="Calibri"/>
              </a:rPr>
              <a:t>a </a:t>
            </a:r>
            <a:r>
              <a:rPr sz="1800" i="1" spc="-5" dirty="0">
                <a:latin typeface="Calibri"/>
                <a:cs typeface="Calibri"/>
              </a:rPr>
              <a:t>bigger window </a:t>
            </a:r>
            <a:r>
              <a:rPr sz="1800" i="1" spc="-10" dirty="0">
                <a:latin typeface="Calibri"/>
                <a:cs typeface="Calibri"/>
              </a:rPr>
              <a:t>for </a:t>
            </a:r>
            <a:r>
              <a:rPr sz="1800" i="1" spc="-5" dirty="0">
                <a:latin typeface="Calibri"/>
                <a:cs typeface="Calibri"/>
              </a:rPr>
              <a:t>local</a:t>
            </a:r>
            <a:r>
              <a:rPr sz="1800" i="1" spc="-10" dirty="0">
                <a:latin typeface="Calibri"/>
                <a:cs typeface="Calibri"/>
              </a:rPr>
              <a:t> analysis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3676648"/>
            <a:ext cx="4445000" cy="203136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342265" marR="1460500" indent="-250825">
              <a:lnSpc>
                <a:spcPct val="102200"/>
              </a:lnSpc>
              <a:spcBef>
                <a:spcPts val="210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add(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x,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y)</a:t>
            </a:r>
            <a:r>
              <a:rPr sz="1800" spc="-8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return </a:t>
            </a:r>
            <a:r>
              <a:rPr sz="1800" dirty="0">
                <a:latin typeface="Consolas"/>
                <a:cs typeface="Consolas"/>
              </a:rPr>
              <a:t>x +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y;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09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Consolas"/>
              <a:cs typeface="Consolas"/>
            </a:endParaRPr>
          </a:p>
          <a:p>
            <a:pPr marL="342265" marR="582930" indent="-250825">
              <a:lnSpc>
                <a:spcPct val="102200"/>
              </a:lnSpc>
              <a:spcBef>
                <a:spcPts val="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foo(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x,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y,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z)</a:t>
            </a:r>
            <a:r>
              <a:rPr sz="1800" spc="-7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add(x,y);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0" y="4230645"/>
            <a:ext cx="44450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342265" marR="582930" indent="-250825">
              <a:lnSpc>
                <a:spcPct val="102200"/>
              </a:lnSpc>
              <a:spcBef>
                <a:spcPts val="215"/>
              </a:spcBef>
            </a:pP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foo(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x,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y,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latin typeface="Consolas"/>
                <a:cs typeface="Consolas"/>
              </a:rPr>
              <a:t>z)</a:t>
            </a:r>
            <a:r>
              <a:rPr sz="1800" spc="-7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0000FF"/>
                </a:solidFill>
                <a:latin typeface="Consolas"/>
                <a:cs typeface="Consolas"/>
              </a:rPr>
              <a:t>return </a:t>
            </a:r>
            <a:r>
              <a:rPr sz="1800" dirty="0">
                <a:latin typeface="Consolas"/>
                <a:cs typeface="Consolas"/>
              </a:rPr>
              <a:t>x +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y;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ts val="2090"/>
              </a:lnSpc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95779"/>
            <a:ext cx="841629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70"/>
              </a:spcBef>
            </a:pPr>
            <a:r>
              <a:rPr sz="1800" spc="-15" dirty="0">
                <a:latin typeface="Calibri"/>
                <a:cs typeface="Calibri"/>
              </a:rPr>
              <a:t>let’s </a:t>
            </a:r>
            <a:r>
              <a:rPr sz="1800" dirty="0">
                <a:latin typeface="Calibri"/>
                <a:cs typeface="Calibri"/>
              </a:rPr>
              <a:t>do a </a:t>
            </a:r>
            <a:r>
              <a:rPr sz="1800" spc="-20" dirty="0">
                <a:latin typeface="Calibri"/>
                <a:cs typeface="Calibri"/>
              </a:rPr>
              <a:t>few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endParaRPr sz="1800" dirty="0">
              <a:latin typeface="Calibri"/>
              <a:cs typeface="Calibri"/>
            </a:endParaRPr>
          </a:p>
          <a:p>
            <a:pPr marL="4660265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highlight>
                  <a:srgbClr val="FFFF00"/>
                </a:highlight>
                <a:latin typeface="Calibri"/>
                <a:cs typeface="Calibri"/>
              </a:rPr>
              <a:t>Function</a:t>
            </a:r>
            <a:r>
              <a:rPr sz="18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800" spc="-5" dirty="0">
                <a:highlight>
                  <a:srgbClr val="FFFF00"/>
                </a:highlight>
                <a:latin typeface="Calibri"/>
                <a:cs typeface="Calibri"/>
              </a:rPr>
              <a:t>inlining</a:t>
            </a:r>
            <a:endParaRPr sz="1800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4814" y="6052820"/>
            <a:ext cx="664019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dirty="0">
                <a:latin typeface="Calibri"/>
                <a:cs typeface="Calibri"/>
              </a:rPr>
              <a:t>does </a:t>
            </a: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spc="-15" dirty="0">
                <a:latin typeface="Calibri"/>
                <a:cs typeface="Calibri"/>
              </a:rPr>
              <a:t>save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spc="-5" dirty="0">
                <a:latin typeface="Calibri"/>
                <a:cs typeface="Calibri"/>
              </a:rPr>
              <a:t>code </a:t>
            </a:r>
            <a:r>
              <a:rPr sz="1800" spc="-10" dirty="0">
                <a:latin typeface="Calibri"/>
                <a:cs typeface="Calibri"/>
              </a:rPr>
              <a:t>size? </a:t>
            </a:r>
            <a:r>
              <a:rPr sz="1800" dirty="0">
                <a:latin typeface="Calibri"/>
                <a:cs typeface="Calibri"/>
              </a:rPr>
              <a:t>speed? the </a:t>
            </a:r>
            <a:r>
              <a:rPr sz="1800" spc="-5" dirty="0">
                <a:latin typeface="Calibri"/>
                <a:cs typeface="Calibri"/>
              </a:rPr>
              <a:t>ability </a:t>
            </a:r>
            <a:r>
              <a:rPr sz="1800" spc="-1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debug? </a:t>
            </a:r>
            <a:r>
              <a:rPr sz="1800" spc="-5" dirty="0">
                <a:latin typeface="Calibri"/>
                <a:cs typeface="Calibri"/>
              </a:rPr>
              <a:t>local regions </a:t>
            </a:r>
            <a:r>
              <a:rPr sz="1800" spc="-1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optimize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600200"/>
            <a:ext cx="10609580" cy="146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you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5" dirty="0">
                <a:latin typeface="Calibri"/>
                <a:cs typeface="Calibri"/>
              </a:rPr>
              <a:t>There are many more! </a:t>
            </a:r>
            <a:r>
              <a:rPr sz="2800" spc="-5" dirty="0">
                <a:latin typeface="Calibri"/>
                <a:cs typeface="Calibri"/>
              </a:rPr>
              <a:t>This is an </a:t>
            </a:r>
            <a:r>
              <a:rPr sz="2800" spc="-10" dirty="0">
                <a:latin typeface="Calibri"/>
                <a:cs typeface="Calibri"/>
              </a:rPr>
              <a:t>active </a:t>
            </a:r>
            <a:r>
              <a:rPr sz="2800" spc="-15" dirty="0">
                <a:latin typeface="Calibri"/>
                <a:cs typeface="Calibri"/>
              </a:rPr>
              <a:t>area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research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development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3360801"/>
            <a:ext cx="9611995" cy="3183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rough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metric: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git effort </a:t>
            </a:r>
            <a:r>
              <a:rPr sz="1800" spc="-10" dirty="0">
                <a:latin typeface="Calibri"/>
                <a:cs typeface="Calibri"/>
              </a:rPr>
              <a:t>shows </a:t>
            </a:r>
            <a:r>
              <a:rPr sz="1800" spc="-5" dirty="0">
                <a:latin typeface="Calibri"/>
                <a:cs typeface="Calibri"/>
              </a:rPr>
              <a:t>activities </a:t>
            </a:r>
            <a:r>
              <a:rPr sz="1800" dirty="0">
                <a:latin typeface="Calibri"/>
                <a:cs typeface="Calibri"/>
              </a:rPr>
              <a:t>on </a:t>
            </a:r>
            <a:r>
              <a:rPr sz="1800" spc="-15" dirty="0">
                <a:latin typeface="Calibri"/>
                <a:cs typeface="Calibri"/>
              </a:rPr>
              <a:t>different </a:t>
            </a:r>
            <a:r>
              <a:rPr sz="1800" spc="-5" dirty="0">
                <a:latin typeface="Calibri"/>
                <a:cs typeface="Calibri"/>
              </a:rPr>
              <a:t>files and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directories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6473825">
              <a:lnSpc>
                <a:spcPct val="101099"/>
              </a:lnSpc>
            </a:pPr>
            <a:r>
              <a:rPr sz="1800" i="1" spc="-5" dirty="0">
                <a:latin typeface="Calibri"/>
                <a:cs typeface="Calibri"/>
              </a:rPr>
              <a:t>clang </a:t>
            </a:r>
            <a:r>
              <a:rPr sz="1800" i="1" dirty="0">
                <a:latin typeface="Calibri"/>
                <a:cs typeface="Calibri"/>
              </a:rPr>
              <a:t>C++/C </a:t>
            </a:r>
            <a:r>
              <a:rPr sz="1800" i="1" spc="-5" dirty="0">
                <a:latin typeface="Calibri"/>
                <a:cs typeface="Calibri"/>
              </a:rPr>
              <a:t>parser: 3.5K commits  clang </a:t>
            </a:r>
            <a:r>
              <a:rPr sz="1800" i="1" spc="-35" dirty="0">
                <a:latin typeface="Calibri"/>
                <a:cs typeface="Calibri"/>
              </a:rPr>
              <a:t>AST: </a:t>
            </a:r>
            <a:r>
              <a:rPr sz="1800" i="1" spc="-5" dirty="0">
                <a:latin typeface="Calibri"/>
                <a:cs typeface="Calibri"/>
              </a:rPr>
              <a:t>8.7K</a:t>
            </a:r>
            <a:r>
              <a:rPr sz="1800" i="1" spc="5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commits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10"/>
              </a:lnSpc>
            </a:pPr>
            <a:r>
              <a:rPr sz="1800" i="1" spc="-30" dirty="0">
                <a:latin typeface="Calibri"/>
                <a:cs typeface="Calibri"/>
              </a:rPr>
              <a:t>LLVM </a:t>
            </a:r>
            <a:r>
              <a:rPr sz="1800" i="1" spc="-10" dirty="0">
                <a:latin typeface="Calibri"/>
                <a:cs typeface="Calibri"/>
              </a:rPr>
              <a:t>transforms/optimizations: </a:t>
            </a:r>
            <a:r>
              <a:rPr sz="1800" i="1" spc="-5" dirty="0">
                <a:latin typeface="Calibri"/>
                <a:cs typeface="Calibri"/>
              </a:rPr>
              <a:t>30K</a:t>
            </a:r>
            <a:r>
              <a:rPr sz="1800" i="1" spc="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commits</a:t>
            </a:r>
            <a:endParaRPr lang="en-US" sz="1800" i="1" spc="-5" dirty="0">
              <a:latin typeface="Calibri"/>
              <a:cs typeface="Calibri"/>
            </a:endParaRPr>
          </a:p>
          <a:p>
            <a:pPr marL="12700">
              <a:lnSpc>
                <a:spcPts val="2110"/>
              </a:lnSpc>
            </a:pPr>
            <a:endParaRPr lang="en-US" dirty="0"/>
          </a:p>
          <a:p>
            <a:pPr marL="12700">
              <a:lnSpc>
                <a:spcPts val="2110"/>
              </a:lnSpc>
            </a:pPr>
            <a:r>
              <a:rPr lang="en-US" dirty="0"/>
              <a:t>The LLVM project has been under active development since </a:t>
            </a:r>
            <a:r>
              <a:rPr lang="en-US" b="1" dirty="0"/>
              <a:t>2000</a:t>
            </a:r>
            <a:r>
              <a:rPr lang="en-US" dirty="0"/>
              <a:t>, and Clang since about </a:t>
            </a:r>
            <a:r>
              <a:rPr lang="en-US" b="1" dirty="0"/>
              <a:t>2007–2008</a:t>
            </a:r>
            <a:r>
              <a:rPr lang="en-US" dirty="0"/>
              <a:t>.</a:t>
            </a:r>
            <a:endParaRPr sz="1800" dirty="0">
              <a:latin typeface="Calibri"/>
              <a:cs typeface="Calibri"/>
            </a:endParaRPr>
          </a:p>
          <a:p>
            <a:pPr marL="5773420" marR="5080">
              <a:lnSpc>
                <a:spcPts val="2110"/>
              </a:lnSpc>
              <a:spcBef>
                <a:spcPts val="1385"/>
              </a:spcBef>
            </a:pP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transformation </a:t>
            </a:r>
            <a:r>
              <a:rPr sz="1800" spc="-5" dirty="0">
                <a:latin typeface="Calibri"/>
                <a:cs typeface="Calibri"/>
              </a:rPr>
              <a:t>part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the code base  has the </a:t>
            </a:r>
            <a:r>
              <a:rPr sz="1800" spc="-10" dirty="0">
                <a:latin typeface="Calibri"/>
                <a:cs typeface="Calibri"/>
              </a:rPr>
              <a:t>most </a:t>
            </a:r>
            <a:r>
              <a:rPr sz="1800" spc="-5" dirty="0">
                <a:latin typeface="Calibri"/>
                <a:cs typeface="Calibri"/>
              </a:rPr>
              <a:t>activity by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far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6592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How </a:t>
            </a:r>
            <a:r>
              <a:rPr sz="2800" dirty="0">
                <a:latin typeface="Calibri"/>
                <a:cs typeface="Calibri"/>
              </a:rPr>
              <a:t>do </a:t>
            </a:r>
            <a:r>
              <a:rPr sz="2800" spc="-15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enable </a:t>
            </a:r>
            <a:r>
              <a:rPr sz="2800" spc="-10" dirty="0">
                <a:latin typeface="Calibri"/>
                <a:cs typeface="Calibri"/>
              </a:rPr>
              <a:t>compiler optimizations?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6592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How </a:t>
            </a:r>
            <a:r>
              <a:rPr sz="2800" dirty="0">
                <a:latin typeface="Calibri"/>
                <a:cs typeface="Calibri"/>
              </a:rPr>
              <a:t>do </a:t>
            </a:r>
            <a:r>
              <a:rPr sz="2800" spc="-15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enable </a:t>
            </a:r>
            <a:r>
              <a:rPr sz="2800" spc="-10" dirty="0">
                <a:latin typeface="Calibri"/>
                <a:cs typeface="Calibri"/>
              </a:rPr>
              <a:t>compiler optimizations?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8" y="2697987"/>
            <a:ext cx="3731262" cy="1461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18415" indent="-228600" algn="r">
              <a:lnSpc>
                <a:spcPts val="3320"/>
              </a:lnSpc>
              <a:spcBef>
                <a:spcPts val="100"/>
              </a:spcBef>
              <a:buFont typeface="Arial"/>
              <a:buChar char="•"/>
              <a:tabLst>
                <a:tab pos="228600" algn="l"/>
              </a:tabLst>
            </a:pPr>
            <a:r>
              <a:rPr sz="2800" spc="-10" dirty="0">
                <a:latin typeface="Calibri"/>
                <a:cs typeface="Calibri"/>
              </a:rPr>
              <a:t>most </a:t>
            </a:r>
            <a:r>
              <a:rPr sz="2800" spc="5" dirty="0">
                <a:latin typeface="Calibri"/>
                <a:cs typeface="Calibri"/>
              </a:rPr>
              <a:t>C/++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compilers</a:t>
            </a:r>
            <a:endParaRPr sz="2800" dirty="0">
              <a:latin typeface="Calibri"/>
              <a:cs typeface="Calibri"/>
            </a:endParaRPr>
          </a:p>
          <a:p>
            <a:pPr marL="228600" marR="5080" lvl="1" indent="-228600" algn="r">
              <a:lnSpc>
                <a:spcPts val="2840"/>
              </a:lnSpc>
              <a:buFont typeface="Arial"/>
              <a:buChar char="•"/>
              <a:tabLst>
                <a:tab pos="228600" algn="l"/>
              </a:tabLst>
            </a:pPr>
            <a:r>
              <a:rPr sz="2400" spc="-5" dirty="0">
                <a:latin typeface="Calibri"/>
                <a:cs typeface="Calibri"/>
              </a:rPr>
              <a:t>optimizing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speed</a:t>
            </a:r>
          </a:p>
          <a:p>
            <a:pPr marL="1155700" lvl="2" indent="-22923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-O0, -O1, -O2,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-O3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optimizing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17" y="4159926"/>
            <a:ext cx="8228965" cy="2166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0210" indent="-229235">
              <a:lnSpc>
                <a:spcPts val="2355"/>
              </a:lnSpc>
              <a:spcBef>
                <a:spcPts val="100"/>
              </a:spcBef>
              <a:buFont typeface="Arial"/>
              <a:buChar char="•"/>
              <a:tabLst>
                <a:tab pos="1680210" algn="l"/>
                <a:tab pos="1680845" algn="l"/>
              </a:tabLst>
            </a:pPr>
            <a:r>
              <a:rPr sz="2000" dirty="0">
                <a:latin typeface="Calibri"/>
                <a:cs typeface="Calibri"/>
              </a:rPr>
              <a:t>-Os,</a:t>
            </a:r>
            <a:r>
              <a:rPr sz="2000" spc="-10" dirty="0">
                <a:latin typeface="Calibri"/>
                <a:cs typeface="Calibri"/>
              </a:rPr>
              <a:t> -Oz</a:t>
            </a:r>
            <a:endParaRPr sz="2000" dirty="0">
              <a:latin typeface="Calibri"/>
              <a:cs typeface="Calibri"/>
            </a:endParaRPr>
          </a:p>
          <a:p>
            <a:pPr marL="1223010" indent="-229235">
              <a:lnSpc>
                <a:spcPts val="2835"/>
              </a:lnSpc>
              <a:buFont typeface="Arial"/>
              <a:buChar char="•"/>
              <a:tabLst>
                <a:tab pos="1223645" algn="l"/>
              </a:tabLst>
            </a:pPr>
            <a:r>
              <a:rPr sz="2400" spc="-15" dirty="0">
                <a:latin typeface="Calibri"/>
                <a:cs typeface="Calibri"/>
              </a:rPr>
              <a:t>relax </a:t>
            </a: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spc="-15" dirty="0">
                <a:latin typeface="Calibri"/>
                <a:cs typeface="Calibri"/>
              </a:rPr>
              <a:t>constraints </a:t>
            </a:r>
            <a:r>
              <a:rPr sz="2400" spc="-5" dirty="0">
                <a:latin typeface="Calibri"/>
                <a:cs typeface="Calibri"/>
              </a:rPr>
              <a:t>(especially </a:t>
            </a:r>
            <a:r>
              <a:rPr sz="2400" spc="-10" dirty="0">
                <a:latin typeface="Calibri"/>
                <a:cs typeface="Calibri"/>
              </a:rPr>
              <a:t>around </a:t>
            </a:r>
            <a:r>
              <a:rPr sz="2400" spc="-5" dirty="0">
                <a:latin typeface="Calibri"/>
                <a:cs typeface="Calibri"/>
              </a:rPr>
              <a:t>floating </a:t>
            </a:r>
            <a:r>
              <a:rPr sz="2400" spc="-10" dirty="0">
                <a:latin typeface="Calibri"/>
                <a:cs typeface="Calibri"/>
              </a:rPr>
              <a:t>point):</a:t>
            </a:r>
            <a:endParaRPr sz="2400" dirty="0">
              <a:latin typeface="Calibri"/>
              <a:cs typeface="Calibri"/>
            </a:endParaRPr>
          </a:p>
          <a:p>
            <a:pPr marL="1680210" lvl="1" indent="-2292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680210" algn="l"/>
                <a:tab pos="1680845" algn="l"/>
              </a:tabLst>
            </a:pPr>
            <a:r>
              <a:rPr sz="2000" spc="-10" dirty="0">
                <a:latin typeface="Calibri"/>
                <a:cs typeface="Calibri"/>
              </a:rPr>
              <a:t>-Ofast</a:t>
            </a:r>
            <a:endParaRPr sz="2000" dirty="0">
              <a:latin typeface="Calibri"/>
              <a:cs typeface="Calibri"/>
            </a:endParaRPr>
          </a:p>
          <a:p>
            <a:pPr marL="1680210" lvl="1" indent="-229235">
              <a:lnSpc>
                <a:spcPct val="100000"/>
              </a:lnSpc>
              <a:buFont typeface="Arial"/>
              <a:buChar char="•"/>
              <a:tabLst>
                <a:tab pos="1680210" algn="l"/>
                <a:tab pos="1680845" algn="l"/>
              </a:tabLst>
            </a:pPr>
            <a:r>
              <a:rPr lang="en-US" sz="2000" spc="-5" dirty="0">
                <a:latin typeface="Calibri"/>
                <a:cs typeface="Calibri"/>
              </a:rPr>
              <a:t>We can use </a:t>
            </a:r>
            <a:r>
              <a:rPr sz="2000" spc="-5" dirty="0">
                <a:latin typeface="Calibri"/>
                <a:cs typeface="Calibri"/>
              </a:rPr>
              <a:t>Godbolt </a:t>
            </a:r>
            <a:r>
              <a:rPr lang="en-US" sz="2000" spc="-15" dirty="0">
                <a:latin typeface="Calibri"/>
                <a:cs typeface="Calibri"/>
              </a:rPr>
              <a:t>to test various optimizations.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800" u="sng" spc="-10" dirty="0">
                <a:solidFill>
                  <a:srgbClr val="4472C4"/>
                </a:solidFill>
                <a:uFill>
                  <a:solidFill>
                    <a:srgbClr val="4472C4"/>
                  </a:solidFill>
                </a:uFill>
                <a:latin typeface="Calibri"/>
                <a:cs typeface="Calibri"/>
              </a:rPr>
              <a:t>https://stackoverflow.com/questions/15548023/clang-optimization-levels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/>
          <p:nvPr/>
        </p:nvSpPr>
        <p:spPr>
          <a:xfrm>
            <a:off x="1203960" y="832103"/>
            <a:ext cx="10253472" cy="4486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98978" y="2007600"/>
            <a:ext cx="305435" cy="2917825"/>
          </a:xfrm>
          <a:custGeom>
            <a:avLst/>
            <a:gdLst/>
            <a:ahLst/>
            <a:cxnLst/>
            <a:rect l="l" t="t" r="r" b="b"/>
            <a:pathLst>
              <a:path w="305435" h="2917825">
                <a:moveTo>
                  <a:pt x="305410" y="0"/>
                </a:moveTo>
                <a:lnTo>
                  <a:pt x="0" y="0"/>
                </a:lnTo>
                <a:lnTo>
                  <a:pt x="305410" y="2917757"/>
                </a:lnTo>
                <a:lnTo>
                  <a:pt x="30541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98978" y="1027906"/>
            <a:ext cx="9664975" cy="3897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58544" y="1027917"/>
            <a:ext cx="305435" cy="2917825"/>
          </a:xfrm>
          <a:custGeom>
            <a:avLst/>
            <a:gdLst/>
            <a:ahLst/>
            <a:cxnLst/>
            <a:rect l="l" t="t" r="r" b="b"/>
            <a:pathLst>
              <a:path w="305434" h="2917825">
                <a:moveTo>
                  <a:pt x="0" y="0"/>
                </a:moveTo>
                <a:lnTo>
                  <a:pt x="0" y="2917746"/>
                </a:lnTo>
                <a:lnTo>
                  <a:pt x="305409" y="2917746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0205" y="4431283"/>
            <a:ext cx="7476490" cy="1720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2013 </a:t>
            </a:r>
            <a:r>
              <a:rPr sz="1800" i="1" spc="-5" dirty="0">
                <a:latin typeface="Calibri"/>
                <a:cs typeface="Calibri"/>
              </a:rPr>
              <a:t>research</a:t>
            </a:r>
            <a:r>
              <a:rPr sz="1800" i="1" spc="-7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paper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 marL="12700" marR="2131060" algn="just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urier New"/>
                <a:cs typeface="Courier New"/>
              </a:rPr>
              <a:t>“the performance impact </a:t>
            </a:r>
            <a:r>
              <a:rPr sz="1800" spc="-5" dirty="0">
                <a:latin typeface="Courier New"/>
                <a:cs typeface="Courier New"/>
              </a:rPr>
              <a:t>of </a:t>
            </a:r>
            <a:r>
              <a:rPr sz="1800" spc="-10" dirty="0">
                <a:latin typeface="Courier New"/>
                <a:cs typeface="Courier New"/>
              </a:rPr>
              <a:t>-O3 over -O2  optimizations </a:t>
            </a:r>
            <a:r>
              <a:rPr sz="1800" spc="-5" dirty="0">
                <a:latin typeface="Courier New"/>
                <a:cs typeface="Courier New"/>
              </a:rPr>
              <a:t>is </a:t>
            </a:r>
            <a:r>
              <a:rPr sz="1800" spc="-10" dirty="0">
                <a:latin typeface="Courier New"/>
                <a:cs typeface="Courier New"/>
              </a:rPr>
              <a:t>indistinguishable from  random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noise.”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250045" cy="8331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biggest </a:t>
            </a:r>
            <a:r>
              <a:rPr sz="2800" spc="-15" dirty="0">
                <a:latin typeface="Calibri"/>
                <a:cs typeface="Calibri"/>
              </a:rPr>
              <a:t>improvements </a:t>
            </a:r>
            <a:r>
              <a:rPr sz="2800" spc="-20" dirty="0">
                <a:latin typeface="Calibri"/>
                <a:cs typeface="Calibri"/>
              </a:rPr>
              <a:t>you’ve </a:t>
            </a:r>
            <a:r>
              <a:rPr sz="2800" spc="-5" dirty="0">
                <a:latin typeface="Calibri"/>
                <a:cs typeface="Calibri"/>
              </a:rPr>
              <a:t>seen </a:t>
            </a:r>
            <a:r>
              <a:rPr sz="2800" spc="-15" dirty="0">
                <a:latin typeface="Calibri"/>
                <a:cs typeface="Calibri"/>
              </a:rPr>
              <a:t>from  </a:t>
            </a:r>
            <a:r>
              <a:rPr sz="2800" spc="-5" dirty="0">
                <a:latin typeface="Calibri"/>
                <a:cs typeface="Calibri"/>
              </a:rPr>
              <a:t>compiler </a:t>
            </a:r>
            <a:r>
              <a:rPr sz="2800" spc="-10" dirty="0">
                <a:latin typeface="Calibri"/>
                <a:cs typeface="Calibri"/>
              </a:rPr>
              <a:t>optimizations?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264775" cy="28187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101917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some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biggest </a:t>
            </a:r>
            <a:r>
              <a:rPr sz="2800" spc="-15" dirty="0">
                <a:latin typeface="Calibri"/>
                <a:cs typeface="Calibri"/>
              </a:rPr>
              <a:t>improvements </a:t>
            </a:r>
            <a:r>
              <a:rPr sz="2800" spc="-20" dirty="0">
                <a:latin typeface="Calibri"/>
                <a:cs typeface="Calibri"/>
              </a:rPr>
              <a:t>you’ve </a:t>
            </a:r>
            <a:r>
              <a:rPr sz="2800" spc="-5" dirty="0">
                <a:latin typeface="Calibri"/>
                <a:cs typeface="Calibri"/>
              </a:rPr>
              <a:t>seen </a:t>
            </a:r>
            <a:r>
              <a:rPr sz="2800" spc="-15" dirty="0">
                <a:latin typeface="Calibri"/>
                <a:cs typeface="Calibri"/>
              </a:rPr>
              <a:t>from  </a:t>
            </a:r>
            <a:r>
              <a:rPr sz="2800" spc="-5" dirty="0">
                <a:latin typeface="Calibri"/>
                <a:cs typeface="Calibri"/>
              </a:rPr>
              <a:t>compiler </a:t>
            </a:r>
            <a:r>
              <a:rPr sz="2800" spc="-10" dirty="0">
                <a:latin typeface="Calibri"/>
                <a:cs typeface="Calibri"/>
              </a:rPr>
              <a:t>optimizations?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415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compiler </a:t>
            </a:r>
            <a:r>
              <a:rPr sz="2800" spc="-15" dirty="0">
                <a:latin typeface="Calibri"/>
                <a:cs typeface="Calibri"/>
              </a:rPr>
              <a:t>optimizations are </a:t>
            </a:r>
            <a:r>
              <a:rPr sz="2800" spc="-20" dirty="0">
                <a:latin typeface="Calibri"/>
                <a:cs typeface="Calibri"/>
              </a:rPr>
              <a:t>great at </a:t>
            </a:r>
            <a:r>
              <a:rPr sz="2800" spc="-10" dirty="0">
                <a:latin typeface="Calibri"/>
                <a:cs typeface="Calibri"/>
              </a:rPr>
              <a:t>well-structured, regular </a:t>
            </a:r>
            <a:r>
              <a:rPr sz="2800" spc="-5" dirty="0">
                <a:latin typeface="Calibri"/>
                <a:cs typeface="Calibri"/>
              </a:rPr>
              <a:t>loops and  </a:t>
            </a:r>
            <a:r>
              <a:rPr sz="2800" spc="-30" dirty="0">
                <a:latin typeface="Calibri"/>
                <a:cs typeface="Calibri"/>
              </a:rPr>
              <a:t>arrays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62540" cy="10336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kind of </a:t>
            </a:r>
            <a:r>
              <a:rPr sz="2800" spc="-20" dirty="0">
                <a:latin typeface="Calibri"/>
                <a:cs typeface="Calibri"/>
              </a:rPr>
              <a:t>transforms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5" dirty="0">
                <a:latin typeface="Calibri"/>
                <a:cs typeface="Calibri"/>
              </a:rPr>
              <a:t>your </a:t>
            </a:r>
            <a:r>
              <a:rPr sz="2800" spc="-10" dirty="0">
                <a:latin typeface="Calibri"/>
                <a:cs typeface="Calibri"/>
              </a:rPr>
              <a:t>code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compiler allowed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62540" cy="277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kind of </a:t>
            </a:r>
            <a:r>
              <a:rPr sz="2800" spc="-20" dirty="0">
                <a:latin typeface="Calibri"/>
                <a:cs typeface="Calibri"/>
              </a:rPr>
              <a:t>transforms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5" dirty="0">
                <a:latin typeface="Calibri"/>
                <a:cs typeface="Calibri"/>
              </a:rPr>
              <a:t>your </a:t>
            </a:r>
            <a:r>
              <a:rPr sz="2800" spc="-10" dirty="0">
                <a:latin typeface="Calibri"/>
                <a:cs typeface="Calibri"/>
              </a:rPr>
              <a:t>code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compiler allowed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do?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41300" algn="l"/>
              </a:tabLst>
            </a:pPr>
            <a:endParaRPr lang="en-US"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Matrix-add 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M</a:t>
            </a:r>
            <a:r>
              <a:rPr sz="2800" spc="-10" dirty="0">
                <a:latin typeface="Calibri"/>
                <a:cs typeface="Calibri"/>
              </a:rPr>
              <a:t>any</a:t>
            </a:r>
            <a:r>
              <a:rPr lang="en-US" sz="2800" spc="-10" dirty="0">
                <a:latin typeface="Calibri"/>
                <a:cs typeface="Calibri"/>
              </a:rPr>
              <a:t>-</a:t>
            </a:r>
            <a:r>
              <a:rPr sz="2800" spc="-10" dirty="0">
                <a:latin typeface="Calibri"/>
                <a:cs typeface="Calibri"/>
              </a:rPr>
              <a:t>add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Why </a:t>
            </a:r>
            <a:r>
              <a:rPr sz="2800" spc="-5" dirty="0">
                <a:latin typeface="Calibri"/>
                <a:cs typeface="Calibri"/>
              </a:rPr>
              <a:t>did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20" dirty="0">
                <a:latin typeface="Calibri"/>
                <a:cs typeface="Calibri"/>
              </a:rPr>
              <a:t>get </a:t>
            </a:r>
            <a:r>
              <a:rPr sz="2800" dirty="0">
                <a:latin typeface="Calibri"/>
                <a:cs typeface="Calibri"/>
              </a:rPr>
              <a:t>such a </a:t>
            </a:r>
            <a:r>
              <a:rPr sz="2800" spc="-15" dirty="0">
                <a:latin typeface="Calibri"/>
                <a:cs typeface="Calibri"/>
              </a:rPr>
              <a:t>dramatic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increase?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7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1019"/>
            <a:ext cx="2754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Extreme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17596"/>
            <a:ext cx="504253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void foo(int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*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arr, int</a:t>
            </a:r>
            <a:r>
              <a:rPr sz="1800" spc="-4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n)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  <a:spcBef>
                <a:spcPts val="45"/>
              </a:spcBef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ts val="2135"/>
              </a:lnSpc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int i,</a:t>
            </a:r>
            <a:r>
              <a:rPr sz="1800" spc="-1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j;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ts val="2135"/>
              </a:lnSpc>
              <a:spcBef>
                <a:spcPts val="25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for (i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0;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i &lt; n -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1;</a:t>
            </a:r>
            <a:r>
              <a:rPr sz="1800" spc="-7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i++)</a:t>
            </a:r>
            <a:endParaRPr sz="1800">
              <a:latin typeface="Consolas"/>
              <a:cs typeface="Consolas"/>
            </a:endParaRPr>
          </a:p>
          <a:p>
            <a:pPr marL="1517015" marR="5080" indent="-376555">
              <a:lnSpc>
                <a:spcPts val="2180"/>
              </a:lnSpc>
              <a:spcBef>
                <a:spcPts val="30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for (j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0;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j &lt; n - i -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1;</a:t>
            </a:r>
            <a:r>
              <a:rPr sz="1800" spc="-1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j++)  if (arr[j]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&gt;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1])</a:t>
            </a:r>
            <a:r>
              <a:rPr sz="1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019300">
              <a:lnSpc>
                <a:spcPts val="2110"/>
              </a:lnSpc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tmp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arr[j];</a:t>
            </a:r>
            <a:endParaRPr sz="1800">
              <a:latin typeface="Consolas"/>
              <a:cs typeface="Consolas"/>
            </a:endParaRPr>
          </a:p>
          <a:p>
            <a:pPr marL="2019300" marR="381000">
              <a:lnSpc>
                <a:spcPts val="2180"/>
              </a:lnSpc>
              <a:spcBef>
                <a:spcPts val="35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</a:t>
            </a:r>
            <a:r>
              <a:rPr sz="1800" spc="-10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1]);  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1800" spc="-6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tmp;</a:t>
            </a:r>
            <a:endParaRPr sz="1800">
              <a:latin typeface="Consolas"/>
              <a:cs typeface="Consolas"/>
            </a:endParaRPr>
          </a:p>
          <a:p>
            <a:pPr marL="1517015">
              <a:lnSpc>
                <a:spcPts val="2039"/>
              </a:lnSpc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4938" y="315467"/>
            <a:ext cx="2026285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25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p(int arr[], int start, int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25"/>
              </a:lnSpc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7188" y="672083"/>
            <a:ext cx="13036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pivot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800" spc="-9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arr[start];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7188" y="925067"/>
            <a:ext cx="224853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25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count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0;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25"/>
              </a:lnSpc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for (int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&lt;= end; i++)</a:t>
            </a:r>
            <a:r>
              <a:rPr sz="800" spc="-10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  <a:p>
            <a:pPr marL="457200" marR="894080" indent="-222250">
              <a:lnSpc>
                <a:spcPts val="910"/>
              </a:lnSpc>
              <a:spcBef>
                <a:spcPts val="12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(arr[i] &lt;=</a:t>
            </a:r>
            <a:r>
              <a:rPr sz="800" spc="-9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pivot)  count++;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7188" y="1647444"/>
            <a:ext cx="1915160" cy="275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pivotIndex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count;  swap(arr[pivotIndex],</a:t>
            </a:r>
            <a:r>
              <a:rPr sz="800" spc="-8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arr[start]);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7188" y="2016252"/>
            <a:ext cx="2359660" cy="27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=</a:t>
            </a:r>
            <a:r>
              <a:rPr sz="800" spc="-4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(i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&lt;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 &amp;&amp;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pivotIndex)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9438" y="2385059"/>
            <a:ext cx="1415415" cy="3886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34950" marR="5080" indent="-222250">
              <a:lnSpc>
                <a:spcPts val="910"/>
              </a:lnSpc>
              <a:spcBef>
                <a:spcPts val="17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(arr[i] &lt;= pivot)</a:t>
            </a:r>
            <a:r>
              <a:rPr sz="800" spc="-8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i++;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9438" y="2866644"/>
            <a:ext cx="1359535" cy="3911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34950" marR="5080" indent="-222250">
              <a:lnSpc>
                <a:spcPct val="105000"/>
              </a:lnSpc>
              <a:spcBef>
                <a:spcPts val="5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(arr[j]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pivot)</a:t>
            </a:r>
            <a:r>
              <a:rPr sz="800" spc="-9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j--;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10"/>
              </a:lnSpc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9438" y="3363467"/>
            <a:ext cx="2192655" cy="38862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34950" marR="5080" indent="-222250">
              <a:lnSpc>
                <a:spcPts val="890"/>
              </a:lnSpc>
              <a:spcBef>
                <a:spcPts val="185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(i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&lt;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 &amp;&amp;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pivotIndex)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swap(arr[i++],</a:t>
            </a:r>
            <a:r>
              <a:rPr sz="800" spc="-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arr[j--]);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97188" y="3720084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97188" y="3973067"/>
            <a:ext cx="10261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return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4938" y="4085844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4938" y="4329684"/>
            <a:ext cx="1414780" cy="27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void foo(int *arr, int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n)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97188" y="4689347"/>
            <a:ext cx="970280" cy="28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250">
              <a:lnSpc>
                <a:spcPct val="105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(start &gt;=</a:t>
            </a:r>
            <a:r>
              <a:rPr sz="800" spc="-9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  return;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7188" y="5064252"/>
            <a:ext cx="1192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p(arr, m,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n);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7188" y="5305044"/>
            <a:ext cx="13036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foo(arr, start,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-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7188" y="5548884"/>
            <a:ext cx="1192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foo(arr,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1,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4938" y="5673852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9592" y="6269228"/>
            <a:ext cx="213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is this transform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legal?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39" y="6510019"/>
            <a:ext cx="405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code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https://</a:t>
            </a:r>
            <a:r>
              <a:rPr sz="1800" spc="-10" dirty="0">
                <a:latin typeface="Calibri"/>
                <a:cs typeface="Calibri"/>
                <a:hlinkClick r:id="rId2"/>
              </a:rPr>
              <a:t>www.geeksforgeeks.org/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2754630" cy="165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" dirty="0">
                <a:latin typeface="Calibri Light"/>
                <a:cs typeface="Calibri Light"/>
              </a:rPr>
              <a:t>Discussion</a:t>
            </a:r>
            <a:endParaRPr sz="4400">
              <a:latin typeface="Calibri Light"/>
              <a:cs typeface="Calibri Light"/>
            </a:endParaRPr>
          </a:p>
          <a:p>
            <a:pPr marL="241300" indent="-228600">
              <a:lnSpc>
                <a:spcPct val="100000"/>
              </a:lnSpc>
              <a:spcBef>
                <a:spcPts val="41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Extreme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117596"/>
            <a:ext cx="504253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void foo(int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*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arr, int</a:t>
            </a:r>
            <a:r>
              <a:rPr sz="1800" spc="-4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n)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  <a:spcBef>
                <a:spcPts val="45"/>
              </a:spcBef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ts val="2135"/>
              </a:lnSpc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int i,</a:t>
            </a:r>
            <a:r>
              <a:rPr sz="1800" spc="-1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j;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ts val="2135"/>
              </a:lnSpc>
              <a:spcBef>
                <a:spcPts val="25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for (i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0;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i &lt; n -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1;</a:t>
            </a:r>
            <a:r>
              <a:rPr sz="1800" spc="-7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i++)</a:t>
            </a:r>
            <a:endParaRPr sz="1800">
              <a:latin typeface="Consolas"/>
              <a:cs typeface="Consolas"/>
            </a:endParaRPr>
          </a:p>
          <a:p>
            <a:pPr marL="1517015" marR="5080" indent="-376555">
              <a:lnSpc>
                <a:spcPts val="2180"/>
              </a:lnSpc>
              <a:spcBef>
                <a:spcPts val="30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for (j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0;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j &lt; n - i -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1;</a:t>
            </a:r>
            <a:r>
              <a:rPr sz="1800" spc="-1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j++)  if (arr[j]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&gt;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1])</a:t>
            </a:r>
            <a:r>
              <a:rPr sz="1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019300">
              <a:lnSpc>
                <a:spcPts val="2110"/>
              </a:lnSpc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tmp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arr[j];</a:t>
            </a:r>
            <a:endParaRPr sz="1800">
              <a:latin typeface="Consolas"/>
              <a:cs typeface="Consolas"/>
            </a:endParaRPr>
          </a:p>
          <a:p>
            <a:pPr marL="2019300" marR="381000">
              <a:lnSpc>
                <a:spcPts val="2180"/>
              </a:lnSpc>
              <a:spcBef>
                <a:spcPts val="35"/>
              </a:spcBef>
            </a:pP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</a:t>
            </a:r>
            <a:r>
              <a:rPr sz="1800" spc="-10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1]);  arr[j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1] </a:t>
            </a: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1800" spc="-6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273239"/>
                </a:solidFill>
                <a:latin typeface="Consolas"/>
                <a:cs typeface="Consolas"/>
              </a:rPr>
              <a:t>tmp;</a:t>
            </a:r>
            <a:endParaRPr sz="1800">
              <a:latin typeface="Consolas"/>
              <a:cs typeface="Consolas"/>
            </a:endParaRPr>
          </a:p>
          <a:p>
            <a:pPr marL="1517015">
              <a:lnSpc>
                <a:spcPts val="2039"/>
              </a:lnSpc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4938" y="315467"/>
            <a:ext cx="2026285" cy="26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25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p(int arr[], int start, int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25"/>
              </a:lnSpc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7188" y="672083"/>
            <a:ext cx="13036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pivot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800" spc="-9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arr[start];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7188" y="925067"/>
            <a:ext cx="224853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25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count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0;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25"/>
              </a:lnSpc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for (int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&lt;= end; i++)</a:t>
            </a:r>
            <a:r>
              <a:rPr sz="800" spc="-10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  <a:p>
            <a:pPr marL="457200" marR="894080" indent="-222250">
              <a:lnSpc>
                <a:spcPts val="910"/>
              </a:lnSpc>
              <a:spcBef>
                <a:spcPts val="12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(arr[i] &lt;=</a:t>
            </a:r>
            <a:r>
              <a:rPr sz="800" spc="-9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pivot)  count++;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7188" y="1647444"/>
            <a:ext cx="1915160" cy="275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pivotIndex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count;  swap(arr[pivotIndex],</a:t>
            </a:r>
            <a:r>
              <a:rPr sz="800" spc="-8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arr[start]);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7188" y="2016252"/>
            <a:ext cx="2359660" cy="27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i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start,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=</a:t>
            </a:r>
            <a:r>
              <a:rPr sz="800" spc="-4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(i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&lt;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 &amp;&amp;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pivotIndex)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9438" y="2385059"/>
            <a:ext cx="1415415" cy="38862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34950" marR="5080" indent="-222250">
              <a:lnSpc>
                <a:spcPts val="910"/>
              </a:lnSpc>
              <a:spcBef>
                <a:spcPts val="17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(arr[i] &lt;= pivot)</a:t>
            </a:r>
            <a:r>
              <a:rPr sz="800" spc="-8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i++;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9438" y="2866644"/>
            <a:ext cx="1359535" cy="3911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34950" marR="5080" indent="-222250">
              <a:lnSpc>
                <a:spcPct val="105000"/>
              </a:lnSpc>
              <a:spcBef>
                <a:spcPts val="5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while (arr[j]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pivot)</a:t>
            </a:r>
            <a:r>
              <a:rPr sz="800" spc="-95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j--;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ts val="910"/>
              </a:lnSpc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9438" y="3363467"/>
            <a:ext cx="2192655" cy="38862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34950" marR="5080" indent="-222250">
              <a:lnSpc>
                <a:spcPts val="890"/>
              </a:lnSpc>
              <a:spcBef>
                <a:spcPts val="185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(i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&lt;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 &amp;&amp;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j &gt;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pivotIndex)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 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swap(arr[i++],</a:t>
            </a:r>
            <a:r>
              <a:rPr sz="800" spc="-2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arr[j--]);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97188" y="3720084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97188" y="3973067"/>
            <a:ext cx="10261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return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pivotIndex;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4938" y="4085844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4938" y="4329684"/>
            <a:ext cx="1414780" cy="27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void foo(int *arr, int</a:t>
            </a:r>
            <a:r>
              <a:rPr sz="800" spc="-8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n)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{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97188" y="4689347"/>
            <a:ext cx="970280" cy="28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250">
              <a:lnSpc>
                <a:spcPct val="105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if (start &gt;=</a:t>
            </a:r>
            <a:r>
              <a:rPr sz="800" spc="-9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  return;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97188" y="5064252"/>
            <a:ext cx="1192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int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=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p(arr, m,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n);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7188" y="5305044"/>
            <a:ext cx="13036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foo(arr, start,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-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7188" y="5548884"/>
            <a:ext cx="1192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foo(arr, </a:t>
            </a: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p +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1,</a:t>
            </a:r>
            <a:r>
              <a:rPr sz="800" spc="-100" dirty="0">
                <a:solidFill>
                  <a:srgbClr val="273239"/>
                </a:solidFill>
                <a:latin typeface="Consolas"/>
                <a:cs typeface="Consolas"/>
              </a:rPr>
              <a:t> </a:t>
            </a:r>
            <a:r>
              <a:rPr sz="800" spc="-5" dirty="0">
                <a:solidFill>
                  <a:srgbClr val="273239"/>
                </a:solidFill>
                <a:latin typeface="Consolas"/>
                <a:cs typeface="Consolas"/>
              </a:rPr>
              <a:t>end);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74938" y="5673852"/>
            <a:ext cx="812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73239"/>
                </a:solidFill>
                <a:latin typeface="Consolas"/>
                <a:cs typeface="Consolas"/>
              </a:rPr>
              <a:t>}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39592" y="6269228"/>
            <a:ext cx="213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is this transform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legal?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739" y="6510019"/>
            <a:ext cx="405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code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https://</a:t>
            </a:r>
            <a:r>
              <a:rPr sz="1800" spc="-10" dirty="0">
                <a:latin typeface="Calibri"/>
                <a:cs typeface="Calibri"/>
                <a:hlinkClick r:id="rId2"/>
              </a:rPr>
              <a:t>www.geeksforgeeks.org/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8066" y="2625054"/>
            <a:ext cx="126238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Calibri"/>
                <a:cs typeface="Calibri"/>
              </a:rPr>
              <a:t>bubble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22933" y="5984285"/>
            <a:ext cx="11049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Calibri"/>
                <a:cs typeface="Calibri"/>
              </a:rPr>
              <a:t>quick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11675" y="359155"/>
            <a:ext cx="1682114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spc="-45" dirty="0">
                <a:latin typeface="Calibri"/>
                <a:cs typeface="Calibri"/>
              </a:rPr>
              <a:t>Yes </a:t>
            </a: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spc="-15" dirty="0">
                <a:latin typeface="Calibri"/>
                <a:cs typeface="Calibri"/>
              </a:rPr>
              <a:t>transform  </a:t>
            </a:r>
            <a:r>
              <a:rPr sz="1800" spc="-5" dirty="0">
                <a:latin typeface="Calibri"/>
                <a:cs typeface="Calibri"/>
              </a:rPr>
              <a:t>would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legal!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11675" y="1182115"/>
            <a:ext cx="306387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5" dirty="0">
                <a:latin typeface="Calibri"/>
                <a:cs typeface="Calibri"/>
              </a:rPr>
              <a:t>Could </a:t>
            </a:r>
            <a:r>
              <a:rPr sz="1800" spc="-15" dirty="0">
                <a:latin typeface="Calibri"/>
                <a:cs typeface="Calibri"/>
              </a:rPr>
              <a:t>any </a:t>
            </a:r>
            <a:r>
              <a:rPr sz="1800" spc="-5" dirty="0">
                <a:latin typeface="Calibri"/>
                <a:cs typeface="Calibri"/>
              </a:rPr>
              <a:t>compiler </a:t>
            </a:r>
            <a:r>
              <a:rPr sz="1800" spc="-10" dirty="0">
                <a:latin typeface="Calibri"/>
                <a:cs typeface="Calibri"/>
              </a:rPr>
              <a:t>figure </a:t>
            </a:r>
            <a:r>
              <a:rPr sz="1800" spc="-5" dirty="0">
                <a:latin typeface="Calibri"/>
                <a:cs typeface="Calibri"/>
              </a:rPr>
              <a:t>it out?  </a:t>
            </a:r>
            <a:r>
              <a:rPr sz="1800" spc="-10" dirty="0">
                <a:latin typeface="Calibri"/>
                <a:cs typeface="Calibri"/>
              </a:rPr>
              <a:t>currently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unlikely..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11675" y="1995932"/>
            <a:ext cx="2935605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sz="1800" spc="-5" dirty="0">
                <a:latin typeface="Calibri"/>
                <a:cs typeface="Calibri"/>
              </a:rPr>
              <a:t>This is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technique called  </a:t>
            </a:r>
            <a:r>
              <a:rPr sz="1800" spc="-10" dirty="0">
                <a:latin typeface="Calibri"/>
                <a:cs typeface="Calibri"/>
              </a:rPr>
              <a:t>“super </a:t>
            </a:r>
            <a:r>
              <a:rPr sz="1800" spc="5" dirty="0">
                <a:latin typeface="Calibri"/>
                <a:cs typeface="Calibri"/>
              </a:rPr>
              <a:t>optimizing” </a:t>
            </a:r>
            <a:r>
              <a:rPr sz="1800" dirty="0">
                <a:latin typeface="Calibri"/>
                <a:cs typeface="Calibri"/>
              </a:rPr>
              <a:t>and it is  </a:t>
            </a:r>
            <a:r>
              <a:rPr sz="1800" spc="-10" dirty="0">
                <a:latin typeface="Calibri"/>
                <a:cs typeface="Calibri"/>
              </a:rPr>
              <a:t>getting more </a:t>
            </a:r>
            <a:r>
              <a:rPr sz="1800" spc="-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interest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</TotalTime>
  <Words>1473</Words>
  <Application>Microsoft Office PowerPoint</Application>
  <PresentationFormat>Widescreen</PresentationFormat>
  <Paragraphs>229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Consolas</vt:lpstr>
      <vt:lpstr>Courier New</vt:lpstr>
      <vt:lpstr>Times New Roman</vt:lpstr>
      <vt:lpstr>Office Theme</vt:lpstr>
      <vt:lpstr>CSE110A: Compilers</vt:lpstr>
      <vt:lpstr>Module 4: Optimizations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Siero</cp:lastModifiedBy>
  <cp:revision>12</cp:revision>
  <dcterms:created xsi:type="dcterms:W3CDTF">2025-05-18T02:21:44Z</dcterms:created>
  <dcterms:modified xsi:type="dcterms:W3CDTF">2026-03-03T07:00:47Z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2024-05-20T00:00:00Z</vt:filetime>
  </property>
  <property fmtid="{D5CDD505-2E9C-101B-9397-08002B2CF9AE}" pid="3" name="LastSaved">
    <vt:filetime>2025-05-18T00:00:00Z</vt:filetime>
  </property>
</Properties>
</file>