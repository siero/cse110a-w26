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91" r:id="rId3"/>
    <p:sldId id="292" r:id="rId4"/>
    <p:sldId id="293" r:id="rId5"/>
    <p:sldId id="294" r:id="rId6"/>
    <p:sldId id="295" r:id="rId7"/>
    <p:sldId id="263" r:id="rId8"/>
    <p:sldId id="385" r:id="rId9"/>
    <p:sldId id="386" r:id="rId10"/>
    <p:sldId id="387" r:id="rId11"/>
    <p:sldId id="388" r:id="rId12"/>
    <p:sldId id="389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80" r:id="rId23"/>
    <p:sldId id="390" r:id="rId24"/>
    <p:sldId id="257" r:id="rId25"/>
    <p:sldId id="258" r:id="rId26"/>
    <p:sldId id="259" r:id="rId27"/>
    <p:sldId id="266" r:id="rId28"/>
    <p:sldId id="268" r:id="rId29"/>
    <p:sldId id="261" r:id="rId30"/>
    <p:sldId id="262" r:id="rId31"/>
    <p:sldId id="391" r:id="rId3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56" autoAdjust="0"/>
    <p:restoredTop sz="94660"/>
  </p:normalViewPr>
  <p:slideViewPr>
    <p:cSldViewPr>
      <p:cViewPr varScale="1">
        <p:scale>
          <a:sx n="72" d="100"/>
          <a:sy n="72" d="100"/>
        </p:scale>
        <p:origin x="60" y="5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4452E-C9D5-45EC-84BE-FCE21801F4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0C241-0D3F-4349-BD67-2104325A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0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11124"/>
            <a:ext cx="103581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677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4308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7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9371"/>
            <a:ext cx="10358120" cy="1293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61404"/>
            <a:ext cx="9189085" cy="2701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579" y="464200"/>
            <a:ext cx="5670221" cy="7566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760"/>
              </a:lnSpc>
              <a:spcBef>
                <a:spcPts val="100"/>
              </a:spcBef>
            </a:pPr>
            <a:r>
              <a:rPr sz="4900" spc="130" dirty="0"/>
              <a:t>CSE110A:</a:t>
            </a:r>
            <a:r>
              <a:rPr sz="4900" spc="55" dirty="0"/>
              <a:t> </a:t>
            </a:r>
            <a:r>
              <a:rPr sz="4900" spc="120" dirty="0"/>
              <a:t>Compiler</a:t>
            </a:r>
            <a:r>
              <a:rPr lang="en-US" sz="4900" spc="120" dirty="0"/>
              <a:t>s</a:t>
            </a:r>
            <a:endParaRPr sz="4900" dirty="0"/>
          </a:p>
        </p:txBody>
      </p:sp>
      <p:sp>
        <p:nvSpPr>
          <p:cNvPr id="3" name="object 3"/>
          <p:cNvSpPr txBox="1"/>
          <p:nvPr/>
        </p:nvSpPr>
        <p:spPr>
          <a:xfrm>
            <a:off x="505090" y="2128012"/>
            <a:ext cx="8105510" cy="2088392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b="1" spc="-40" dirty="0">
                <a:latin typeface="Calibri"/>
                <a:cs typeface="Calibri"/>
              </a:rPr>
              <a:t>Topics</a:t>
            </a:r>
            <a:r>
              <a:rPr sz="2800" spc="-4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>
                <a:latin typeface="Calibri"/>
                <a:cs typeface="Calibri"/>
              </a:rPr>
              <a:t>Module </a:t>
            </a:r>
            <a:r>
              <a:rPr sz="2800" i="1" dirty="0">
                <a:latin typeface="Calibri"/>
                <a:cs typeface="Calibri"/>
              </a:rPr>
              <a:t>4 </a:t>
            </a:r>
            <a:r>
              <a:rPr lang="en-US" sz="2800" i="1" dirty="0">
                <a:latin typeface="Calibri"/>
                <a:cs typeface="Calibri"/>
              </a:rPr>
              <a:t>–</a:t>
            </a:r>
            <a:r>
              <a:rPr lang="en-US" sz="2800" i="1" spc="-55" dirty="0">
                <a:latin typeface="Calibri"/>
                <a:cs typeface="Calibri"/>
              </a:rPr>
              <a:t> </a:t>
            </a:r>
            <a:r>
              <a:rPr lang="en-US" sz="2800" i="1" spc="-10" dirty="0">
                <a:latin typeface="Calibri"/>
                <a:cs typeface="Calibri"/>
              </a:rPr>
              <a:t>BASIC BLOCKS and CFGS</a:t>
            </a:r>
          </a:p>
          <a:p>
            <a:pPr marL="698500" lvl="1" indent="-228600"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i="1" spc="-10" dirty="0">
                <a:latin typeface="Calibri"/>
                <a:cs typeface="Calibri"/>
              </a:rPr>
              <a:t>Basic Blocks</a:t>
            </a:r>
          </a:p>
          <a:p>
            <a:pPr marL="698500" lvl="1" indent="-228600"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i="1" spc="-10" dirty="0">
                <a:latin typeface="Calibri"/>
                <a:cs typeface="Calibri"/>
              </a:rPr>
              <a:t>Control Flow Graphs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0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40" dirty="0"/>
              <a:t> </a:t>
            </a:r>
            <a:r>
              <a:rPr spc="-2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10086340" cy="4664097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080" indent="-228600">
              <a:lnSpc>
                <a:spcPts val="2710"/>
              </a:lnSpc>
              <a:spcBef>
                <a:spcPts val="7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Machine-independent </a:t>
            </a:r>
            <a:r>
              <a:rPr sz="2800" dirty="0">
                <a:latin typeface="Calibri"/>
                <a:cs typeface="Calibri"/>
              </a:rPr>
              <a:t>- </a:t>
            </a:r>
            <a:r>
              <a:rPr sz="2800" spc="-5" dirty="0">
                <a:latin typeface="Calibri"/>
                <a:cs typeface="Calibri"/>
              </a:rPr>
              <a:t>these </a:t>
            </a:r>
            <a:r>
              <a:rPr sz="2800" spc="-15" dirty="0">
                <a:latin typeface="Calibri"/>
                <a:cs typeface="Calibri"/>
              </a:rPr>
              <a:t>optimizations </a:t>
            </a:r>
            <a:r>
              <a:rPr sz="2800" spc="-5" dirty="0">
                <a:latin typeface="Calibri"/>
                <a:cs typeface="Calibri"/>
              </a:rPr>
              <a:t>should </a:t>
            </a:r>
            <a:r>
              <a:rPr sz="2800" spc="-10" dirty="0">
                <a:latin typeface="Calibri"/>
                <a:cs typeface="Calibri"/>
              </a:rPr>
              <a:t>work well across  </a:t>
            </a:r>
            <a:r>
              <a:rPr sz="2800" spc="-15" dirty="0">
                <a:latin typeface="Calibri"/>
                <a:cs typeface="Calibri"/>
              </a:rPr>
              <a:t>many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9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 dirty="0">
              <a:latin typeface="Calibri"/>
              <a:cs typeface="Calibri"/>
            </a:endParaRPr>
          </a:p>
          <a:p>
            <a:pPr marL="698500" marR="276225" lvl="1" indent="-228600">
              <a:lnSpc>
                <a:spcPts val="2300"/>
              </a:lnSpc>
              <a:spcBef>
                <a:spcPts val="5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All the </a:t>
            </a:r>
            <a:r>
              <a:rPr sz="2400" spc="-15" dirty="0">
                <a:latin typeface="Calibri"/>
                <a:cs typeface="Calibri"/>
              </a:rPr>
              <a:t>examples we </a:t>
            </a:r>
            <a:r>
              <a:rPr sz="2400" spc="-20" dirty="0">
                <a:latin typeface="Calibri"/>
                <a:cs typeface="Calibri"/>
              </a:rPr>
              <a:t>looked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20" dirty="0">
                <a:latin typeface="Calibri"/>
                <a:cs typeface="Calibri"/>
              </a:rPr>
              <a:t>before </a:t>
            </a:r>
            <a:r>
              <a:rPr sz="2400" dirty="0">
                <a:latin typeface="Calibri"/>
                <a:cs typeface="Calibri"/>
              </a:rPr>
              <a:t>seem </a:t>
            </a:r>
            <a:r>
              <a:rPr sz="2400" spc="-25" dirty="0">
                <a:latin typeface="Calibri"/>
                <a:cs typeface="Calibri"/>
              </a:rPr>
              <a:t>like </a:t>
            </a:r>
            <a:r>
              <a:rPr sz="2400" spc="-5" dirty="0">
                <a:latin typeface="Calibri"/>
                <a:cs typeface="Calibri"/>
              </a:rPr>
              <a:t>they will </a:t>
            </a:r>
            <a:r>
              <a:rPr sz="2400" dirty="0">
                <a:latin typeface="Calibri"/>
                <a:cs typeface="Calibri"/>
              </a:rPr>
              <a:t>help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spc="-15" dirty="0">
                <a:latin typeface="Calibri"/>
                <a:cs typeface="Calibri"/>
              </a:rPr>
              <a:t>many  </a:t>
            </a:r>
            <a:r>
              <a:rPr sz="2400" spc="-20" dirty="0">
                <a:latin typeface="Calibri"/>
                <a:cs typeface="Calibri"/>
              </a:rPr>
              <a:t>systems</a:t>
            </a:r>
            <a:endParaRPr sz="29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450" dirty="0">
              <a:latin typeface="Calibri"/>
              <a:cs typeface="Calibri"/>
            </a:endParaRPr>
          </a:p>
          <a:p>
            <a:pPr marL="241300" marR="13335" indent="-228600">
              <a:lnSpc>
                <a:spcPts val="271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Machine </a:t>
            </a:r>
            <a:r>
              <a:rPr sz="2800" spc="-10" dirty="0">
                <a:latin typeface="Calibri"/>
                <a:cs typeface="Calibri"/>
              </a:rPr>
              <a:t>dependent </a:t>
            </a:r>
            <a:r>
              <a:rPr sz="2800" dirty="0">
                <a:latin typeface="Calibri"/>
                <a:cs typeface="Calibri"/>
              </a:rPr>
              <a:t>- </a:t>
            </a:r>
            <a:r>
              <a:rPr sz="2800" spc="-5" dirty="0">
                <a:latin typeface="Calibri"/>
                <a:cs typeface="Calibri"/>
              </a:rPr>
              <a:t>these </a:t>
            </a:r>
            <a:r>
              <a:rPr sz="2800" spc="-15" dirty="0">
                <a:latin typeface="Calibri"/>
                <a:cs typeface="Calibri"/>
              </a:rPr>
              <a:t>optimizations start to optimize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code 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given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9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79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loop chunking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cache </a:t>
            </a:r>
            <a:r>
              <a:rPr sz="2400" spc="-5" dirty="0">
                <a:latin typeface="Calibri"/>
                <a:cs typeface="Calibri"/>
              </a:rPr>
              <a:t>line </a:t>
            </a:r>
            <a:r>
              <a:rPr sz="2400" spc="-20" dirty="0">
                <a:latin typeface="Calibri"/>
                <a:cs typeface="Calibri"/>
              </a:rPr>
              <a:t>size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vectorization.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81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instruction re-orderings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30" dirty="0">
                <a:latin typeface="Calibri"/>
                <a:cs typeface="Calibri"/>
              </a:rPr>
              <a:t>take </a:t>
            </a:r>
            <a:r>
              <a:rPr sz="2400" spc="-15" dirty="0">
                <a:latin typeface="Calibri"/>
                <a:cs typeface="Calibri"/>
              </a:rPr>
              <a:t>advantage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processor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pipelines.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845"/>
              </a:lnSpc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fused </a:t>
            </a:r>
            <a:r>
              <a:rPr sz="2400" spc="-10" dirty="0">
                <a:latin typeface="Calibri"/>
                <a:cs typeface="Calibri"/>
              </a:rPr>
              <a:t>multiply-and-add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instructions</a:t>
            </a:r>
            <a:endParaRPr lang="en-US" sz="2400" spc="-5" dirty="0">
              <a:latin typeface="Calibri"/>
              <a:cs typeface="Calibri"/>
            </a:endParaRPr>
          </a:p>
          <a:p>
            <a:pPr marL="698500" lvl="1" indent="-228600">
              <a:lnSpc>
                <a:spcPts val="2845"/>
              </a:lnSpc>
              <a:buFont typeface="Arial"/>
              <a:buChar char="•"/>
              <a:tabLst>
                <a:tab pos="698500" algn="l"/>
              </a:tabLst>
            </a:pPr>
            <a:r>
              <a:rPr lang="en-US" sz="2400" spc="-5" dirty="0">
                <a:latin typeface="Calibri"/>
                <a:cs typeface="Calibri"/>
              </a:rPr>
              <a:t>vector processing (parallel computation)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0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40" dirty="0"/>
              <a:t> </a:t>
            </a:r>
            <a:r>
              <a:rPr spc="-2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153015" cy="3998531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Machine-independent </a:t>
            </a:r>
            <a:r>
              <a:rPr sz="2800" dirty="0">
                <a:latin typeface="Calibri"/>
                <a:cs typeface="Calibri"/>
              </a:rPr>
              <a:t>- </a:t>
            </a:r>
            <a:r>
              <a:rPr sz="2800" spc="-5" dirty="0">
                <a:latin typeface="Calibri"/>
                <a:cs typeface="Calibri"/>
              </a:rPr>
              <a:t>these </a:t>
            </a:r>
            <a:r>
              <a:rPr sz="2800" spc="-15" dirty="0">
                <a:latin typeface="Calibri"/>
                <a:cs typeface="Calibri"/>
              </a:rPr>
              <a:t>optimizations </a:t>
            </a:r>
            <a:r>
              <a:rPr sz="2800" spc="-5" dirty="0">
                <a:latin typeface="Calibri"/>
                <a:cs typeface="Calibri"/>
              </a:rPr>
              <a:t>should </a:t>
            </a:r>
            <a:r>
              <a:rPr sz="2800" spc="-10" dirty="0">
                <a:latin typeface="Calibri"/>
                <a:cs typeface="Calibri"/>
              </a:rPr>
              <a:t>work well across  </a:t>
            </a:r>
            <a:r>
              <a:rPr sz="2800" spc="-15" dirty="0">
                <a:latin typeface="Calibri"/>
                <a:cs typeface="Calibri"/>
              </a:rPr>
              <a:t>many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 dirty="0">
              <a:latin typeface="Calibri"/>
              <a:cs typeface="Calibri"/>
            </a:endParaRPr>
          </a:p>
          <a:p>
            <a:pPr marL="698500" marR="342900" lvl="1" indent="-228600">
              <a:lnSpc>
                <a:spcPts val="262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All the </a:t>
            </a:r>
            <a:r>
              <a:rPr sz="2400" spc="-15" dirty="0">
                <a:latin typeface="Calibri"/>
                <a:cs typeface="Calibri"/>
              </a:rPr>
              <a:t>examples we </a:t>
            </a:r>
            <a:r>
              <a:rPr sz="2400" spc="-20" dirty="0">
                <a:latin typeface="Calibri"/>
                <a:cs typeface="Calibri"/>
              </a:rPr>
              <a:t>looked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20" dirty="0">
                <a:latin typeface="Calibri"/>
                <a:cs typeface="Calibri"/>
              </a:rPr>
              <a:t>before </a:t>
            </a:r>
            <a:r>
              <a:rPr sz="2400" dirty="0">
                <a:latin typeface="Calibri"/>
                <a:cs typeface="Calibri"/>
              </a:rPr>
              <a:t>seem </a:t>
            </a:r>
            <a:r>
              <a:rPr sz="2400" spc="-25" dirty="0">
                <a:latin typeface="Calibri"/>
                <a:cs typeface="Calibri"/>
              </a:rPr>
              <a:t>like </a:t>
            </a:r>
            <a:r>
              <a:rPr sz="2400" spc="-5" dirty="0">
                <a:latin typeface="Calibri"/>
                <a:cs typeface="Calibri"/>
              </a:rPr>
              <a:t>they will </a:t>
            </a:r>
            <a:r>
              <a:rPr sz="2400" dirty="0">
                <a:latin typeface="Calibri"/>
                <a:cs typeface="Calibri"/>
              </a:rPr>
              <a:t>help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spc="-15" dirty="0">
                <a:latin typeface="Calibri"/>
                <a:cs typeface="Calibri"/>
              </a:rPr>
              <a:t>many  </a:t>
            </a:r>
            <a:r>
              <a:rPr sz="2400" spc="-20" dirty="0">
                <a:latin typeface="Calibri"/>
                <a:cs typeface="Calibri"/>
              </a:rPr>
              <a:t>systems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</a:pPr>
            <a:endParaRPr sz="2950" dirty="0">
              <a:latin typeface="Calibri"/>
              <a:cs typeface="Calibri"/>
            </a:endParaRPr>
          </a:p>
          <a:p>
            <a:pPr marL="241300" marR="1527810" indent="-228600">
              <a:lnSpc>
                <a:spcPts val="3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 this module </a:t>
            </a:r>
            <a:r>
              <a:rPr sz="2800" spc="-15" dirty="0">
                <a:latin typeface="Calibri"/>
                <a:cs typeface="Calibri"/>
              </a:rPr>
              <a:t>we </a:t>
            </a:r>
            <a:r>
              <a:rPr sz="2800" spc="-5" dirty="0">
                <a:latin typeface="Calibri"/>
                <a:cs typeface="Calibri"/>
              </a:rPr>
              <a:t>will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looking </a:t>
            </a:r>
            <a:r>
              <a:rPr sz="2800" spc="-20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machine-independent  </a:t>
            </a:r>
            <a:r>
              <a:rPr sz="2800" spc="-10" dirty="0">
                <a:latin typeface="Calibri"/>
                <a:cs typeface="Calibri"/>
              </a:rPr>
              <a:t>optimizations.</a:t>
            </a:r>
            <a:endParaRPr lang="en-US" sz="2800" spc="-10" dirty="0">
              <a:latin typeface="Calibri"/>
              <a:cs typeface="Calibri"/>
            </a:endParaRPr>
          </a:p>
          <a:p>
            <a:pPr marL="12700" marR="1527810">
              <a:lnSpc>
                <a:spcPts val="3000"/>
              </a:lnSpc>
              <a:tabLst>
                <a:tab pos="241300" algn="l"/>
              </a:tabLst>
            </a:pP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pros </a:t>
            </a:r>
            <a:r>
              <a:rPr sz="2800" spc="-5" dirty="0">
                <a:latin typeface="Calibri"/>
                <a:cs typeface="Calibri"/>
              </a:rPr>
              <a:t>of machine-independent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optimizations?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0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40" dirty="0"/>
              <a:t> </a:t>
            </a:r>
            <a:r>
              <a:rPr spc="-2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243185" cy="39300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43815">
              <a:lnSpc>
                <a:spcPts val="3000"/>
              </a:lnSpc>
              <a:spcBef>
                <a:spcPts val="500"/>
              </a:spcBef>
            </a:pPr>
            <a:r>
              <a:rPr sz="2800" spc="-10" dirty="0">
                <a:latin typeface="Calibri"/>
                <a:cs typeface="Calibri"/>
              </a:rPr>
              <a:t>Next </a:t>
            </a:r>
            <a:r>
              <a:rPr sz="2800" spc="-15" dirty="0">
                <a:latin typeface="Calibri"/>
                <a:cs typeface="Calibri"/>
              </a:rPr>
              <a:t>category level </a:t>
            </a:r>
            <a:r>
              <a:rPr sz="2800" spc="-5" dirty="0">
                <a:latin typeface="Calibri"/>
                <a:cs typeface="Calibri"/>
              </a:rPr>
              <a:t>is how </a:t>
            </a:r>
            <a:r>
              <a:rPr sz="2800" dirty="0">
                <a:latin typeface="Calibri"/>
                <a:cs typeface="Calibri"/>
              </a:rPr>
              <a:t>much </a:t>
            </a:r>
            <a:r>
              <a:rPr sz="2800" spc="-5" dirty="0">
                <a:latin typeface="Calibri"/>
                <a:cs typeface="Calibri"/>
              </a:rPr>
              <a:t>code </a:t>
            </a:r>
            <a:r>
              <a:rPr sz="2800" spc="-15" dirty="0">
                <a:latin typeface="Calibri"/>
                <a:cs typeface="Calibri"/>
              </a:rPr>
              <a:t>we </a:t>
            </a:r>
            <a:r>
              <a:rPr sz="2800" spc="-5" dirty="0">
                <a:latin typeface="Calibri"/>
                <a:cs typeface="Calibri"/>
              </a:rPr>
              <a:t>need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reason </a:t>
            </a:r>
            <a:r>
              <a:rPr sz="2800" dirty="0">
                <a:latin typeface="Calibri"/>
                <a:cs typeface="Calibri"/>
              </a:rPr>
              <a:t>about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the  </a:t>
            </a:r>
            <a:r>
              <a:rPr sz="2800" spc="-15" dirty="0">
                <a:latin typeface="Calibri"/>
                <a:cs typeface="Calibri"/>
              </a:rPr>
              <a:t>optimization.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 dirty="0">
              <a:latin typeface="Calibri"/>
              <a:cs typeface="Calibri"/>
            </a:endParaRPr>
          </a:p>
          <a:p>
            <a:pPr marL="241300" marR="575945" indent="-228600">
              <a:lnSpc>
                <a:spcPts val="3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b="1" spc="-5" dirty="0">
                <a:latin typeface="Calibri"/>
                <a:cs typeface="Calibri"/>
              </a:rPr>
              <a:t>L</a:t>
            </a:r>
            <a:r>
              <a:rPr sz="2800" b="1" spc="-5" dirty="0">
                <a:latin typeface="Calibri"/>
                <a:cs typeface="Calibri"/>
              </a:rPr>
              <a:t>ocal </a:t>
            </a:r>
            <a:r>
              <a:rPr sz="2800" b="1" spc="-10" dirty="0">
                <a:latin typeface="Calibri"/>
                <a:cs typeface="Calibri"/>
              </a:rPr>
              <a:t>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examine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”basic </a:t>
            </a:r>
            <a:r>
              <a:rPr sz="2800" spc="-40" dirty="0">
                <a:latin typeface="Calibri"/>
                <a:cs typeface="Calibri"/>
              </a:rPr>
              <a:t>block”, </a:t>
            </a:r>
            <a:r>
              <a:rPr sz="2800" spc="-5" dirty="0">
                <a:latin typeface="Calibri"/>
                <a:cs typeface="Calibri"/>
              </a:rPr>
              <a:t>i.e.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small </a:t>
            </a:r>
            <a:r>
              <a:rPr sz="2800" spc="-15" dirty="0">
                <a:latin typeface="Calibri"/>
                <a:cs typeface="Calibri"/>
              </a:rPr>
              <a:t>region </a:t>
            </a:r>
            <a:r>
              <a:rPr sz="2800" spc="-5" dirty="0">
                <a:latin typeface="Calibri"/>
                <a:cs typeface="Calibri"/>
              </a:rPr>
              <a:t>of  code with </a:t>
            </a:r>
            <a:r>
              <a:rPr sz="2800" dirty="0">
                <a:latin typeface="Calibri"/>
                <a:cs typeface="Calibri"/>
              </a:rPr>
              <a:t>no </a:t>
            </a:r>
            <a:r>
              <a:rPr sz="2800" spc="-15" dirty="0">
                <a:latin typeface="Calibri"/>
                <a:cs typeface="Calibri"/>
              </a:rPr>
              <a:t>control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flow.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 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several </a:t>
            </a:r>
            <a:r>
              <a:rPr sz="2800" spc="-5" dirty="0">
                <a:latin typeface="Calibri"/>
                <a:cs typeface="Calibri"/>
              </a:rPr>
              <a:t>basic </a:t>
            </a:r>
            <a:r>
              <a:rPr sz="2800" spc="-10" dirty="0">
                <a:latin typeface="Calibri"/>
                <a:cs typeface="Calibri"/>
              </a:rPr>
              <a:t>blocks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simple </a:t>
            </a:r>
            <a:r>
              <a:rPr sz="2800" spc="-20" dirty="0">
                <a:latin typeface="Calibri"/>
                <a:cs typeface="Calibri"/>
              </a:rPr>
              <a:t>control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flow.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optimization: </a:t>
            </a:r>
            <a:r>
              <a:rPr sz="2800" spc="-15" dirty="0">
                <a:latin typeface="Calibri"/>
                <a:cs typeface="Calibri"/>
              </a:rPr>
              <a:t>optimizes </a:t>
            </a:r>
            <a:r>
              <a:rPr sz="2800" spc="-10" dirty="0">
                <a:latin typeface="Calibri"/>
                <a:cs typeface="Calibri"/>
              </a:rPr>
              <a:t>across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entire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0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40" dirty="0"/>
              <a:t> </a:t>
            </a:r>
            <a:r>
              <a:rPr spc="-2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95779"/>
            <a:ext cx="10436861" cy="238270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634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b="1" spc="-5" dirty="0">
                <a:latin typeface="Calibri"/>
                <a:cs typeface="Calibri"/>
              </a:rPr>
              <a:t>L</a:t>
            </a:r>
            <a:r>
              <a:rPr sz="2800" b="1" spc="-5" dirty="0">
                <a:latin typeface="Calibri"/>
                <a:cs typeface="Calibri"/>
              </a:rPr>
              <a:t>ocal </a:t>
            </a:r>
            <a:r>
              <a:rPr sz="2800" b="1" spc="-10" dirty="0">
                <a:latin typeface="Calibri"/>
                <a:cs typeface="Calibri"/>
              </a:rPr>
              <a:t>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examine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”basic </a:t>
            </a:r>
            <a:r>
              <a:rPr sz="2800" spc="-40" dirty="0">
                <a:latin typeface="Calibri"/>
                <a:cs typeface="Calibri"/>
              </a:rPr>
              <a:t>block”, </a:t>
            </a:r>
            <a:r>
              <a:rPr sz="2800" spc="-5" dirty="0">
                <a:latin typeface="Calibri"/>
                <a:cs typeface="Calibri"/>
              </a:rPr>
              <a:t>i.e.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small </a:t>
            </a:r>
            <a:r>
              <a:rPr sz="2800" spc="-15" dirty="0">
                <a:latin typeface="Calibri"/>
                <a:cs typeface="Calibri"/>
              </a:rPr>
              <a:t>region </a:t>
            </a:r>
            <a:r>
              <a:rPr sz="2800" spc="-5" dirty="0">
                <a:latin typeface="Calibri"/>
                <a:cs typeface="Calibri"/>
              </a:rPr>
              <a:t>of  code with </a:t>
            </a:r>
            <a:r>
              <a:rPr sz="2800" dirty="0">
                <a:latin typeface="Calibri"/>
                <a:cs typeface="Calibri"/>
              </a:rPr>
              <a:t>no </a:t>
            </a:r>
            <a:r>
              <a:rPr sz="2800" spc="-15" dirty="0">
                <a:latin typeface="Calibri"/>
                <a:cs typeface="Calibri"/>
              </a:rPr>
              <a:t>control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flow.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 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several </a:t>
            </a:r>
            <a:r>
              <a:rPr sz="2800" spc="-5" dirty="0">
                <a:latin typeface="Calibri"/>
                <a:cs typeface="Calibri"/>
              </a:rPr>
              <a:t>basic </a:t>
            </a:r>
            <a:r>
              <a:rPr sz="2800" spc="-10" dirty="0">
                <a:latin typeface="Calibri"/>
                <a:cs typeface="Calibri"/>
              </a:rPr>
              <a:t>blocks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simple </a:t>
            </a:r>
            <a:r>
              <a:rPr sz="2800" spc="-20" dirty="0">
                <a:latin typeface="Calibri"/>
                <a:cs typeface="Calibri"/>
              </a:rPr>
              <a:t>control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flow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optimization: </a:t>
            </a:r>
            <a:r>
              <a:rPr sz="2800" spc="-15" dirty="0">
                <a:latin typeface="Calibri"/>
                <a:cs typeface="Calibri"/>
              </a:rPr>
              <a:t>optimizes </a:t>
            </a:r>
            <a:r>
              <a:rPr sz="2800" spc="-10" dirty="0">
                <a:latin typeface="Calibri"/>
                <a:cs typeface="Calibri"/>
              </a:rPr>
              <a:t>across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entire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</a:t>
            </a:r>
            <a:endParaRPr lang="en-US" sz="2800" spc="-5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b="1" spc="-5" dirty="0">
                <a:latin typeface="Calibri"/>
                <a:cs typeface="Calibri"/>
              </a:rPr>
              <a:t>IDFA Inter-Procedural Data Flow Analysis</a:t>
            </a:r>
            <a:r>
              <a:rPr lang="en-US" sz="2800" spc="-5" dirty="0">
                <a:latin typeface="Calibri"/>
                <a:cs typeface="Calibri"/>
              </a:rPr>
              <a:t> : Optimizes across functions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8007" y="4490211"/>
            <a:ext cx="7126393" cy="954106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2400" spc="-5" dirty="0">
                <a:latin typeface="Calibri"/>
                <a:cs typeface="Calibri"/>
              </a:rPr>
              <a:t>Discussion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spcBef>
                <a:spcPts val="1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What </a:t>
            </a:r>
            <a:r>
              <a:rPr sz="1800" spc="-15" dirty="0">
                <a:latin typeface="Calibri"/>
                <a:cs typeface="Calibri"/>
              </a:rPr>
              <a:t>are </a:t>
            </a: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pros </a:t>
            </a:r>
            <a:r>
              <a:rPr sz="1800" spc="-5" dirty="0">
                <a:latin typeface="Calibri"/>
                <a:cs typeface="Calibri"/>
              </a:rPr>
              <a:t>and cons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each?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lang="en-US" sz="1800" spc="-15" dirty="0">
                <a:latin typeface="Calibri"/>
                <a:cs typeface="Calibri"/>
              </a:rPr>
              <a:t>Going across functions is less common, why</a:t>
            </a:r>
            <a:r>
              <a:rPr sz="1800" spc="-5" dirty="0">
                <a:latin typeface="Calibri"/>
                <a:cs typeface="Calibri"/>
              </a:rPr>
              <a:t>?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0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40" dirty="0"/>
              <a:t> </a:t>
            </a:r>
            <a:r>
              <a:rPr spc="-2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176510" cy="18605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634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b="1" spc="-5" dirty="0">
                <a:latin typeface="Calibri"/>
                <a:cs typeface="Calibri"/>
              </a:rPr>
              <a:t>L</a:t>
            </a:r>
            <a:r>
              <a:rPr sz="2800" b="1" spc="-5" dirty="0">
                <a:latin typeface="Calibri"/>
                <a:cs typeface="Calibri"/>
              </a:rPr>
              <a:t>ocal </a:t>
            </a:r>
            <a:r>
              <a:rPr sz="2800" b="1" spc="-10" dirty="0">
                <a:latin typeface="Calibri"/>
                <a:cs typeface="Calibri"/>
              </a:rPr>
              <a:t>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examine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”basic </a:t>
            </a:r>
            <a:r>
              <a:rPr sz="2800" spc="-40" dirty="0">
                <a:latin typeface="Calibri"/>
                <a:cs typeface="Calibri"/>
              </a:rPr>
              <a:t>block”, </a:t>
            </a:r>
            <a:r>
              <a:rPr sz="2800" spc="-5" dirty="0">
                <a:latin typeface="Calibri"/>
                <a:cs typeface="Calibri"/>
              </a:rPr>
              <a:t>i.e.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small </a:t>
            </a:r>
            <a:r>
              <a:rPr sz="2800" spc="-15" dirty="0">
                <a:latin typeface="Calibri"/>
                <a:cs typeface="Calibri"/>
              </a:rPr>
              <a:t>region </a:t>
            </a:r>
            <a:r>
              <a:rPr sz="2800" spc="-5" dirty="0">
                <a:latin typeface="Calibri"/>
                <a:cs typeface="Calibri"/>
              </a:rPr>
              <a:t>of  code with </a:t>
            </a:r>
            <a:r>
              <a:rPr sz="2800" dirty="0">
                <a:latin typeface="Calibri"/>
                <a:cs typeface="Calibri"/>
              </a:rPr>
              <a:t>no </a:t>
            </a:r>
            <a:r>
              <a:rPr sz="2800" spc="-15" dirty="0">
                <a:latin typeface="Calibri"/>
                <a:cs typeface="Calibri"/>
              </a:rPr>
              <a:t>control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flow.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 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several </a:t>
            </a:r>
            <a:r>
              <a:rPr sz="2800" spc="-5" dirty="0">
                <a:latin typeface="Calibri"/>
                <a:cs typeface="Calibri"/>
              </a:rPr>
              <a:t>basic </a:t>
            </a:r>
            <a:r>
              <a:rPr sz="2800" spc="-10" dirty="0">
                <a:latin typeface="Calibri"/>
                <a:cs typeface="Calibri"/>
              </a:rPr>
              <a:t>blocks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simple </a:t>
            </a:r>
            <a:r>
              <a:rPr sz="2800" spc="-20" dirty="0">
                <a:latin typeface="Calibri"/>
                <a:cs typeface="Calibri"/>
              </a:rPr>
              <a:t>control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flow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optimization: </a:t>
            </a:r>
            <a:r>
              <a:rPr sz="2800" spc="-15" dirty="0">
                <a:latin typeface="Calibri"/>
                <a:cs typeface="Calibri"/>
              </a:rPr>
              <a:t>optimizes </a:t>
            </a:r>
            <a:r>
              <a:rPr sz="2800" spc="-10" dirty="0">
                <a:latin typeface="Calibri"/>
                <a:cs typeface="Calibri"/>
              </a:rPr>
              <a:t>across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entire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8007" y="4490211"/>
            <a:ext cx="5462905" cy="17957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this module:</a:t>
            </a:r>
            <a:endParaRPr sz="240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spcBef>
                <a:spcPts val="1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35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will look </a:t>
            </a:r>
            <a:r>
              <a:rPr sz="1800" spc="-10" dirty="0">
                <a:latin typeface="Calibri"/>
                <a:cs typeface="Calibri"/>
              </a:rPr>
              <a:t>at two optimizations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detail: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local </a:t>
            </a:r>
            <a:r>
              <a:rPr sz="1800" spc="-10" dirty="0">
                <a:latin typeface="Calibri"/>
                <a:cs typeface="Calibri"/>
              </a:rPr>
              <a:t>optimization: </a:t>
            </a:r>
            <a:r>
              <a:rPr sz="1800" spc="-5" dirty="0">
                <a:latin typeface="Calibri"/>
                <a:cs typeface="Calibri"/>
              </a:rPr>
              <a:t>Local </a:t>
            </a:r>
            <a:r>
              <a:rPr sz="1800" spc="-10" dirty="0">
                <a:latin typeface="Calibri"/>
                <a:cs typeface="Calibri"/>
              </a:rPr>
              <a:t>value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numbering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25"/>
              </a:lnSpc>
              <a:spcBef>
                <a:spcPts val="4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regional </a:t>
            </a:r>
            <a:r>
              <a:rPr sz="1800" spc="-10" dirty="0">
                <a:latin typeface="Calibri"/>
                <a:cs typeface="Calibri"/>
              </a:rPr>
              <a:t>optimization: </a:t>
            </a:r>
            <a:r>
              <a:rPr sz="1800" dirty="0">
                <a:latin typeface="Calibri"/>
                <a:cs typeface="Calibri"/>
              </a:rPr>
              <a:t>Loop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unrolling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25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35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will implement </a:t>
            </a:r>
            <a:r>
              <a:rPr sz="1800" dirty="0">
                <a:latin typeface="Calibri"/>
                <a:cs typeface="Calibri"/>
              </a:rPr>
              <a:t>both as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homework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35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will discuss </a:t>
            </a:r>
            <a:r>
              <a:rPr sz="1800" spc="-15" dirty="0">
                <a:latin typeface="Calibri"/>
                <a:cs typeface="Calibri"/>
              </a:rPr>
              <a:t>several </a:t>
            </a:r>
            <a:r>
              <a:rPr sz="1800" dirty="0">
                <a:latin typeface="Calibri"/>
                <a:cs typeface="Calibri"/>
              </a:rPr>
              <a:t>other </a:t>
            </a:r>
            <a:r>
              <a:rPr sz="1800" spc="-10" dirty="0">
                <a:latin typeface="Calibri"/>
                <a:cs typeface="Calibri"/>
              </a:rPr>
              <a:t>optimizations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2506098"/>
            <a:ext cx="49530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0" spc="-15" dirty="0"/>
              <a:t>BASIC BLOCKS</a:t>
            </a:r>
            <a:endParaRPr sz="6000" spc="-1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661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IR </a:t>
            </a:r>
            <a:r>
              <a:rPr spc="-35" dirty="0"/>
              <a:t>Program</a:t>
            </a:r>
            <a:r>
              <a:rPr spc="-80" dirty="0"/>
              <a:t> </a:t>
            </a:r>
            <a:r>
              <a:rPr spc="-15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4070" y="4703572"/>
            <a:ext cx="5281930" cy="12293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marR="5080" indent="-228600" algn="just">
              <a:lnSpc>
                <a:spcPct val="91100"/>
              </a:lnSpc>
              <a:spcBef>
                <a:spcPts val="4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5" dirty="0">
                <a:latin typeface="Calibri"/>
                <a:cs typeface="Calibri"/>
              </a:rPr>
              <a:t>Important </a:t>
            </a:r>
            <a:r>
              <a:rPr sz="2800" i="1" spc="-5" dirty="0">
                <a:latin typeface="Calibri"/>
                <a:cs typeface="Calibri"/>
              </a:rPr>
              <a:t>property</a:t>
            </a:r>
            <a:r>
              <a:rPr sz="2800" spc="-5" dirty="0">
                <a:latin typeface="Calibri"/>
                <a:cs typeface="Calibri"/>
              </a:rPr>
              <a:t>: an </a:t>
            </a:r>
            <a:r>
              <a:rPr sz="2800" spc="-10" dirty="0">
                <a:latin typeface="Calibri"/>
                <a:cs typeface="Calibri"/>
              </a:rPr>
              <a:t>instruction 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basic block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assume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all  </a:t>
            </a:r>
            <a:r>
              <a:rPr sz="2800" spc="-10" dirty="0">
                <a:latin typeface="Calibri"/>
                <a:cs typeface="Calibri"/>
              </a:rPr>
              <a:t>preceding </a:t>
            </a:r>
            <a:r>
              <a:rPr sz="2800" spc="-5" dirty="0">
                <a:latin typeface="Calibri"/>
                <a:cs typeface="Calibri"/>
              </a:rPr>
              <a:t>instructions will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8864" y="4806283"/>
            <a:ext cx="1701164" cy="175450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508634">
              <a:lnSpc>
                <a:spcPct val="100000"/>
              </a:lnSpc>
              <a:spcBef>
                <a:spcPts val="170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10"/>
              </a:lnSpc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label_z;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D0CC34E-62A3-67E0-5ACB-A17D85B70CA5}"/>
              </a:ext>
            </a:extLst>
          </p:cNvPr>
          <p:cNvSpPr txBox="1"/>
          <p:nvPr/>
        </p:nvSpPr>
        <p:spPr>
          <a:xfrm>
            <a:off x="916939" y="1795779"/>
            <a:ext cx="7084061" cy="23519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sequence of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Programs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split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b="1" dirty="0">
                <a:latin typeface="Calibri"/>
                <a:cs typeface="Calibri"/>
              </a:rPr>
              <a:t>Basic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Blocks: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b="1" dirty="0">
                <a:latin typeface="Calibri"/>
                <a:cs typeface="Calibri"/>
              </a:rPr>
              <a:t>sequence </a:t>
            </a:r>
            <a:r>
              <a:rPr sz="2400" b="1" spc="-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3 </a:t>
            </a:r>
            <a:r>
              <a:rPr sz="2400" b="1" spc="-5" dirty="0">
                <a:latin typeface="Calibri"/>
                <a:cs typeface="Calibri"/>
              </a:rPr>
              <a:t>address instructions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that: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3200" spc="-5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here is </a:t>
            </a:r>
            <a:r>
              <a:rPr sz="3200" b="1" dirty="0">
                <a:latin typeface="Calibri"/>
                <a:cs typeface="Calibri"/>
              </a:rPr>
              <a:t>a </a:t>
            </a:r>
            <a:r>
              <a:rPr sz="3200" b="1" spc="-5" dirty="0">
                <a:latin typeface="Calibri"/>
                <a:cs typeface="Calibri"/>
              </a:rPr>
              <a:t>single </a:t>
            </a:r>
            <a:r>
              <a:rPr sz="3200" b="1" spc="-35" dirty="0">
                <a:latin typeface="Calibri"/>
                <a:cs typeface="Calibri"/>
              </a:rPr>
              <a:t>entry, </a:t>
            </a:r>
            <a:r>
              <a:rPr sz="3200" b="1" spc="-5" dirty="0">
                <a:latin typeface="Calibri"/>
                <a:cs typeface="Calibri"/>
              </a:rPr>
              <a:t>single</a:t>
            </a:r>
            <a:r>
              <a:rPr sz="3200" b="1" spc="20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exit</a:t>
            </a:r>
            <a:endParaRPr sz="2400" b="1" dirty="0">
              <a:latin typeface="Calibri"/>
              <a:cs typeface="Calibri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A3A5236D-9F06-135D-CF83-7AC186A1725A}"/>
              </a:ext>
            </a:extLst>
          </p:cNvPr>
          <p:cNvSpPr txBox="1"/>
          <p:nvPr/>
        </p:nvSpPr>
        <p:spPr>
          <a:xfrm>
            <a:off x="7752568" y="4403852"/>
            <a:ext cx="165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Single Basic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661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IR </a:t>
            </a:r>
            <a:r>
              <a:rPr spc="-35" dirty="0"/>
              <a:t>Program</a:t>
            </a:r>
            <a:r>
              <a:rPr spc="-80" dirty="0"/>
              <a:t> </a:t>
            </a:r>
            <a:r>
              <a:rPr spc="-15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98864" y="4806283"/>
            <a:ext cx="1701164" cy="175450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508634">
              <a:lnSpc>
                <a:spcPct val="100000"/>
              </a:lnSpc>
              <a:spcBef>
                <a:spcPts val="170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10"/>
              </a:lnSpc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label_z;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52568" y="4403852"/>
            <a:ext cx="165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Single Basic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25059" y="3974083"/>
            <a:ext cx="157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10" dirty="0">
                <a:latin typeface="Calibri"/>
                <a:cs typeface="Calibri"/>
              </a:rPr>
              <a:t> Blocks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15625" y="4341812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 marR="95250">
              <a:lnSpc>
                <a:spcPct val="100400"/>
              </a:lnSpc>
              <a:spcBef>
                <a:spcPts val="145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ourier New"/>
              <a:cs typeface="Courier New"/>
            </a:endParaRPr>
          </a:p>
          <a:p>
            <a:pPr marL="91440" marR="95250">
              <a:lnSpc>
                <a:spcPct val="99400"/>
              </a:lnSpc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y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op4;  op5;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795779"/>
            <a:ext cx="652970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sequence of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Programs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split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b="1" dirty="0">
                <a:latin typeface="Calibri"/>
                <a:cs typeface="Calibri"/>
              </a:rPr>
              <a:t>Basic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Blocks: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b="1" dirty="0">
                <a:latin typeface="Calibri"/>
                <a:cs typeface="Calibri"/>
              </a:rPr>
              <a:t>sequence </a:t>
            </a:r>
            <a:r>
              <a:rPr sz="2400" b="1" spc="-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3 </a:t>
            </a:r>
            <a:r>
              <a:rPr sz="2400" b="1" spc="-5" dirty="0">
                <a:latin typeface="Calibri"/>
                <a:cs typeface="Calibri"/>
              </a:rPr>
              <a:t>address instructions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that: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here is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single </a:t>
            </a:r>
            <a:r>
              <a:rPr sz="2400" b="1" spc="-35" dirty="0">
                <a:latin typeface="Calibri"/>
                <a:cs typeface="Calibri"/>
              </a:rPr>
              <a:t>entry, </a:t>
            </a:r>
            <a:r>
              <a:rPr sz="2400" b="1" spc="-5" dirty="0">
                <a:latin typeface="Calibri"/>
                <a:cs typeface="Calibri"/>
              </a:rPr>
              <a:t>single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exit</a:t>
            </a:r>
            <a:endParaRPr sz="2400" b="1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4892547"/>
            <a:ext cx="5281930" cy="12293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marR="5080" indent="-228600" algn="just">
              <a:lnSpc>
                <a:spcPct val="91100"/>
              </a:lnSpc>
              <a:spcBef>
                <a:spcPts val="4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5" dirty="0">
                <a:latin typeface="Calibri"/>
                <a:cs typeface="Calibri"/>
              </a:rPr>
              <a:t>Important </a:t>
            </a:r>
            <a:r>
              <a:rPr sz="2800" i="1" spc="-5" dirty="0">
                <a:latin typeface="Calibri"/>
                <a:cs typeface="Calibri"/>
              </a:rPr>
              <a:t>property</a:t>
            </a:r>
            <a:r>
              <a:rPr sz="2800" spc="-5" dirty="0">
                <a:latin typeface="Calibri"/>
                <a:cs typeface="Calibri"/>
              </a:rPr>
              <a:t>: an </a:t>
            </a:r>
            <a:r>
              <a:rPr sz="2800" spc="-10" dirty="0">
                <a:latin typeface="Calibri"/>
                <a:cs typeface="Calibri"/>
              </a:rPr>
              <a:t>instruction 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basic block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assume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all  </a:t>
            </a:r>
            <a:r>
              <a:rPr sz="2800" spc="-10" dirty="0">
                <a:latin typeface="Calibri"/>
                <a:cs typeface="Calibri"/>
              </a:rPr>
              <a:t>preceding </a:t>
            </a:r>
            <a:r>
              <a:rPr sz="2800" spc="-5" dirty="0">
                <a:latin typeface="Calibri"/>
                <a:cs typeface="Calibri"/>
              </a:rPr>
              <a:t>instructions will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661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IR </a:t>
            </a:r>
            <a:r>
              <a:rPr spc="-35" dirty="0"/>
              <a:t>Program</a:t>
            </a:r>
            <a:r>
              <a:rPr spc="-80" dirty="0"/>
              <a:t> </a:t>
            </a:r>
            <a:r>
              <a:rPr spc="-15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5625" y="4341812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 marR="95250">
              <a:lnSpc>
                <a:spcPct val="100400"/>
              </a:lnSpc>
              <a:spcBef>
                <a:spcPts val="145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ourier New"/>
              <a:cs typeface="Courier New"/>
            </a:endParaRPr>
          </a:p>
          <a:p>
            <a:pPr marL="91440" marR="95250">
              <a:lnSpc>
                <a:spcPct val="99400"/>
              </a:lnSpc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y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op4;  op5;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8864" y="4806283"/>
            <a:ext cx="1701164" cy="175450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508634">
              <a:lnSpc>
                <a:spcPct val="100000"/>
              </a:lnSpc>
              <a:spcBef>
                <a:spcPts val="170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10"/>
              </a:lnSpc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label_z;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94583" y="459739"/>
            <a:ext cx="3401060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How might they </a:t>
            </a:r>
            <a:r>
              <a:rPr sz="1800" dirty="0">
                <a:latin typeface="Calibri"/>
                <a:cs typeface="Calibri"/>
              </a:rPr>
              <a:t>appear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high-level language? What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some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alibri"/>
                <a:cs typeface="Calibri"/>
              </a:rPr>
              <a:t>examples?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2568" y="4403852"/>
            <a:ext cx="165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Single Basic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25059" y="3974083"/>
            <a:ext cx="157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10" dirty="0">
                <a:latin typeface="Calibri"/>
                <a:cs typeface="Calibri"/>
              </a:rPr>
              <a:t> Blocks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4892547"/>
            <a:ext cx="5281930" cy="12293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marR="5080" indent="-228600" algn="just">
              <a:lnSpc>
                <a:spcPct val="91100"/>
              </a:lnSpc>
              <a:spcBef>
                <a:spcPts val="4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5" dirty="0">
                <a:latin typeface="Calibri"/>
                <a:cs typeface="Calibri"/>
              </a:rPr>
              <a:t>Important </a:t>
            </a:r>
            <a:r>
              <a:rPr sz="2800" i="1" spc="-5" dirty="0">
                <a:latin typeface="Calibri"/>
                <a:cs typeface="Calibri"/>
              </a:rPr>
              <a:t>property</a:t>
            </a:r>
            <a:r>
              <a:rPr sz="2800" spc="-5" dirty="0">
                <a:latin typeface="Calibri"/>
                <a:cs typeface="Calibri"/>
              </a:rPr>
              <a:t>: an </a:t>
            </a:r>
            <a:r>
              <a:rPr sz="2800" spc="-10" dirty="0">
                <a:latin typeface="Calibri"/>
                <a:cs typeface="Calibri"/>
              </a:rPr>
              <a:t>instruction 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basic block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assume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all  </a:t>
            </a:r>
            <a:r>
              <a:rPr sz="2800" spc="-10" dirty="0">
                <a:latin typeface="Calibri"/>
                <a:cs typeface="Calibri"/>
              </a:rPr>
              <a:t>preceding </a:t>
            </a:r>
            <a:r>
              <a:rPr sz="2800" spc="-5" dirty="0">
                <a:latin typeface="Calibri"/>
                <a:cs typeface="Calibri"/>
              </a:rPr>
              <a:t>instructions will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7AD1454F-00F1-0437-AC7A-17023E0D1AB8}"/>
              </a:ext>
            </a:extLst>
          </p:cNvPr>
          <p:cNvSpPr txBox="1"/>
          <p:nvPr/>
        </p:nvSpPr>
        <p:spPr>
          <a:xfrm>
            <a:off x="916939" y="1795779"/>
            <a:ext cx="652970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sequence of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Programs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split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b="1" dirty="0">
                <a:latin typeface="Calibri"/>
                <a:cs typeface="Calibri"/>
              </a:rPr>
              <a:t>Basic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Blocks: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b="1" dirty="0">
                <a:latin typeface="Calibri"/>
                <a:cs typeface="Calibri"/>
              </a:rPr>
              <a:t>sequence </a:t>
            </a:r>
            <a:r>
              <a:rPr sz="2400" b="1" spc="-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3 </a:t>
            </a:r>
            <a:r>
              <a:rPr sz="2400" b="1" spc="-5" dirty="0">
                <a:latin typeface="Calibri"/>
                <a:cs typeface="Calibri"/>
              </a:rPr>
              <a:t>address instructions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that: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here is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single </a:t>
            </a:r>
            <a:r>
              <a:rPr sz="2400" b="1" spc="-35" dirty="0">
                <a:latin typeface="Calibri"/>
                <a:cs typeface="Calibri"/>
              </a:rPr>
              <a:t>entry, </a:t>
            </a:r>
            <a:r>
              <a:rPr sz="2400" b="1" spc="-5" dirty="0">
                <a:latin typeface="Calibri"/>
                <a:cs typeface="Calibri"/>
              </a:rPr>
              <a:t>single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exit</a:t>
            </a:r>
            <a:endParaRPr sz="2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661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IR </a:t>
            </a:r>
            <a:r>
              <a:rPr spc="-35" dirty="0"/>
              <a:t>Program</a:t>
            </a:r>
            <a:r>
              <a:rPr spc="-80" dirty="0"/>
              <a:t> </a:t>
            </a:r>
            <a:r>
              <a:rPr spc="-15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5625" y="4341812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 marR="95250">
              <a:lnSpc>
                <a:spcPct val="100400"/>
              </a:lnSpc>
              <a:spcBef>
                <a:spcPts val="145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ourier New"/>
              <a:cs typeface="Courier New"/>
            </a:endParaRPr>
          </a:p>
          <a:p>
            <a:pPr marL="91440" marR="95250">
              <a:lnSpc>
                <a:spcPct val="99400"/>
              </a:lnSpc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y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op4;  op5;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8864" y="4806283"/>
            <a:ext cx="1701164" cy="175450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508634">
              <a:lnSpc>
                <a:spcPct val="100000"/>
              </a:lnSpc>
              <a:spcBef>
                <a:spcPts val="170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10"/>
              </a:lnSpc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label_z;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3333" y="1551305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91440">
              <a:lnSpc>
                <a:spcPts val="2125"/>
              </a:lnSpc>
              <a:spcBef>
                <a:spcPts val="165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25"/>
              </a:lnSpc>
            </a:pPr>
            <a:r>
              <a:rPr sz="1800" spc="-5" dirty="0">
                <a:latin typeface="Courier New"/>
                <a:cs typeface="Courier New"/>
              </a:rPr>
              <a:t>if </a:t>
            </a:r>
            <a:r>
              <a:rPr sz="1800" spc="-10" dirty="0">
                <a:latin typeface="Courier New"/>
                <a:cs typeface="Courier New"/>
              </a:rPr>
              <a:t>(x)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01015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  <a:spcBef>
                <a:spcPts val="2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</a:pPr>
            <a:r>
              <a:rPr sz="1800" spc="-10" dirty="0">
                <a:latin typeface="Courier New"/>
                <a:cs typeface="Courier New"/>
              </a:rPr>
              <a:t>else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364490">
              <a:lnSpc>
                <a:spcPts val="2125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2568" y="4403852"/>
            <a:ext cx="165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Single Basic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25059" y="3974083"/>
            <a:ext cx="157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10" dirty="0">
                <a:latin typeface="Calibri"/>
                <a:cs typeface="Calibri"/>
              </a:rPr>
              <a:t> Blocks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4583" y="459739"/>
            <a:ext cx="2822575" cy="10407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226695">
              <a:lnSpc>
                <a:spcPts val="2090"/>
              </a:lnSpc>
              <a:spcBef>
                <a:spcPts val="225"/>
              </a:spcBef>
            </a:pPr>
            <a:r>
              <a:rPr sz="1800" spc="-5" dirty="0">
                <a:latin typeface="Calibri"/>
                <a:cs typeface="Calibri"/>
              </a:rPr>
              <a:t>How might they </a:t>
            </a:r>
            <a:r>
              <a:rPr sz="1800" dirty="0">
                <a:latin typeface="Calibri"/>
                <a:cs typeface="Calibri"/>
              </a:rPr>
              <a:t>appear </a:t>
            </a:r>
            <a:r>
              <a:rPr sz="1800" spc="-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a  </a:t>
            </a:r>
            <a:r>
              <a:rPr sz="1800" spc="-5" dirty="0">
                <a:latin typeface="Calibri"/>
                <a:cs typeface="Calibri"/>
              </a:rPr>
              <a:t>high-level language?</a:t>
            </a:r>
            <a:endParaRPr sz="1800">
              <a:latin typeface="Calibri"/>
              <a:cs typeface="Calibri"/>
            </a:endParaRPr>
          </a:p>
          <a:p>
            <a:pPr marL="559435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latin typeface="Calibri"/>
                <a:cs typeface="Calibri"/>
              </a:rPr>
              <a:t>How </a:t>
            </a:r>
            <a:r>
              <a:rPr sz="1800" spc="-10" dirty="0">
                <a:latin typeface="Calibri"/>
                <a:cs typeface="Calibri"/>
              </a:rPr>
              <a:t>many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4892547"/>
            <a:ext cx="5281930" cy="12293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marR="5080" indent="-228600" algn="just">
              <a:lnSpc>
                <a:spcPct val="91100"/>
              </a:lnSpc>
              <a:spcBef>
                <a:spcPts val="4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5" dirty="0">
                <a:latin typeface="Calibri"/>
                <a:cs typeface="Calibri"/>
              </a:rPr>
              <a:t>Important </a:t>
            </a:r>
            <a:r>
              <a:rPr sz="2800" i="1" spc="-5" dirty="0">
                <a:latin typeface="Calibri"/>
                <a:cs typeface="Calibri"/>
              </a:rPr>
              <a:t>property</a:t>
            </a:r>
            <a:r>
              <a:rPr sz="2800" spc="-5" dirty="0">
                <a:latin typeface="Calibri"/>
                <a:cs typeface="Calibri"/>
              </a:rPr>
              <a:t>: an </a:t>
            </a:r>
            <a:r>
              <a:rPr sz="2800" spc="-10" dirty="0">
                <a:latin typeface="Calibri"/>
                <a:cs typeface="Calibri"/>
              </a:rPr>
              <a:t>instruction 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basic block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assume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all  </a:t>
            </a:r>
            <a:r>
              <a:rPr sz="2800" spc="-10" dirty="0">
                <a:latin typeface="Calibri"/>
                <a:cs typeface="Calibri"/>
              </a:rPr>
              <a:t>preceding </a:t>
            </a:r>
            <a:r>
              <a:rPr sz="2800" spc="-5" dirty="0">
                <a:latin typeface="Calibri"/>
                <a:cs typeface="Calibri"/>
              </a:rPr>
              <a:t>instructions will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75D97F84-C975-034F-32F7-7F74889B75C8}"/>
              </a:ext>
            </a:extLst>
          </p:cNvPr>
          <p:cNvSpPr txBox="1"/>
          <p:nvPr/>
        </p:nvSpPr>
        <p:spPr>
          <a:xfrm>
            <a:off x="916939" y="1795779"/>
            <a:ext cx="652970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sequence of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Programs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split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b="1" dirty="0">
                <a:latin typeface="Calibri"/>
                <a:cs typeface="Calibri"/>
              </a:rPr>
              <a:t>Basic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Blocks: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b="1" dirty="0">
                <a:latin typeface="Calibri"/>
                <a:cs typeface="Calibri"/>
              </a:rPr>
              <a:t>sequence </a:t>
            </a:r>
            <a:r>
              <a:rPr sz="2400" b="1" spc="-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3 </a:t>
            </a:r>
            <a:r>
              <a:rPr sz="2400" b="1" spc="-5" dirty="0">
                <a:latin typeface="Calibri"/>
                <a:cs typeface="Calibri"/>
              </a:rPr>
              <a:t>address instructions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that: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here is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single </a:t>
            </a:r>
            <a:r>
              <a:rPr sz="2400" b="1" spc="-35" dirty="0">
                <a:latin typeface="Calibri"/>
                <a:cs typeface="Calibri"/>
              </a:rPr>
              <a:t>entry, </a:t>
            </a:r>
            <a:r>
              <a:rPr sz="2400" b="1" spc="-5" dirty="0">
                <a:latin typeface="Calibri"/>
                <a:cs typeface="Calibri"/>
              </a:rPr>
              <a:t>single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exit</a:t>
            </a:r>
            <a:endParaRPr sz="2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97542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Converting </a:t>
            </a:r>
            <a:r>
              <a:rPr dirty="0"/>
              <a:t>3 </a:t>
            </a:r>
            <a:r>
              <a:rPr spc="-15" dirty="0"/>
              <a:t>address </a:t>
            </a:r>
            <a:r>
              <a:rPr spc="-10" dirty="0"/>
              <a:t>code </a:t>
            </a:r>
            <a:r>
              <a:rPr spc="-20" dirty="0"/>
              <a:t>into </a:t>
            </a:r>
            <a:r>
              <a:rPr dirty="0"/>
              <a:t>basic</a:t>
            </a:r>
            <a:r>
              <a:rPr spc="60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5446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Let’s </a:t>
            </a:r>
            <a:r>
              <a:rPr sz="2800" dirty="0">
                <a:latin typeface="Calibri"/>
                <a:cs typeface="Calibri"/>
              </a:rPr>
              <a:t>try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20" dirty="0">
                <a:latin typeface="Calibri"/>
                <a:cs typeface="Calibri"/>
              </a:rPr>
              <a:t>example: test </a:t>
            </a:r>
            <a:r>
              <a:rPr sz="2800" dirty="0">
                <a:latin typeface="Calibri"/>
                <a:cs typeface="Calibri"/>
              </a:rPr>
              <a:t>4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HW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97542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Converting </a:t>
            </a:r>
            <a:r>
              <a:rPr dirty="0"/>
              <a:t>3 </a:t>
            </a:r>
            <a:r>
              <a:rPr spc="-15" dirty="0"/>
              <a:t>address </a:t>
            </a:r>
            <a:r>
              <a:rPr spc="-10" dirty="0"/>
              <a:t>code </a:t>
            </a:r>
            <a:r>
              <a:rPr spc="-20" dirty="0"/>
              <a:t>into </a:t>
            </a:r>
            <a:r>
              <a:rPr dirty="0"/>
              <a:t>basic</a:t>
            </a:r>
            <a:r>
              <a:rPr spc="60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10125710" cy="27749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Simple</a:t>
            </a:r>
            <a:r>
              <a:rPr sz="2800" spc="-10" dirty="0">
                <a:latin typeface="Calibri"/>
                <a:cs typeface="Calibri"/>
              </a:rPr>
              <a:t> algorithm: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libri"/>
                <a:cs typeface="Calibri"/>
              </a:rPr>
              <a:t>keep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spc="-5" dirty="0">
                <a:latin typeface="Calibri"/>
                <a:cs typeface="Calibri"/>
              </a:rPr>
              <a:t>of basic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basic block is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instructions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7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libri"/>
                <a:cs typeface="Calibri"/>
              </a:rPr>
              <a:t>Iterate </a:t>
            </a:r>
            <a:r>
              <a:rPr sz="2400" spc="-10" dirty="0">
                <a:latin typeface="Calibri"/>
                <a:cs typeface="Calibri"/>
              </a:rPr>
              <a:t>over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3 </a:t>
            </a:r>
            <a:r>
              <a:rPr sz="2400" spc="-5" dirty="0">
                <a:latin typeface="Calibri"/>
                <a:cs typeface="Calibri"/>
              </a:rPr>
              <a:t>address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instructions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500"/>
              </a:lnSpc>
              <a:spcBef>
                <a:spcPts val="6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if </a:t>
            </a:r>
            <a:r>
              <a:rPr sz="2400" spc="-15" dirty="0">
                <a:latin typeface="Calibri"/>
                <a:cs typeface="Calibri"/>
              </a:rPr>
              <a:t>you </a:t>
            </a:r>
            <a:r>
              <a:rPr sz="2400" dirty="0">
                <a:latin typeface="Calibri"/>
                <a:cs typeface="Calibri"/>
              </a:rPr>
              <a:t>see a </a:t>
            </a:r>
            <a:r>
              <a:rPr sz="2400" spc="-10" dirty="0">
                <a:latin typeface="Calibri"/>
                <a:cs typeface="Calibri"/>
              </a:rPr>
              <a:t>branch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label, </a:t>
            </a:r>
            <a:r>
              <a:rPr sz="2400" spc="-10" dirty="0">
                <a:latin typeface="Calibri"/>
                <a:cs typeface="Calibri"/>
              </a:rPr>
              <a:t>finalize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current </a:t>
            </a:r>
            <a:r>
              <a:rPr sz="2400" spc="-5" dirty="0">
                <a:latin typeface="Calibri"/>
                <a:cs typeface="Calibri"/>
              </a:rPr>
              <a:t>basic block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start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new  </a:t>
            </a:r>
            <a:r>
              <a:rPr sz="2400" dirty="0">
                <a:latin typeface="Calibri"/>
                <a:cs typeface="Calibri"/>
              </a:rPr>
              <a:t>one.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6200"/>
            <a:ext cx="97542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Converting </a:t>
            </a:r>
            <a:r>
              <a:rPr dirty="0"/>
              <a:t>3 </a:t>
            </a:r>
            <a:r>
              <a:rPr spc="-15" dirty="0"/>
              <a:t>address </a:t>
            </a:r>
            <a:r>
              <a:rPr spc="-10" dirty="0"/>
              <a:t>code </a:t>
            </a:r>
            <a:r>
              <a:rPr spc="-20" dirty="0"/>
              <a:t>into </a:t>
            </a:r>
            <a:r>
              <a:rPr dirty="0"/>
              <a:t>basic</a:t>
            </a:r>
            <a:r>
              <a:rPr spc="60" dirty="0"/>
              <a:t> </a:t>
            </a:r>
            <a:r>
              <a:rPr spc="-10" dirty="0"/>
              <a:t>blocks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0AC08-A54E-C7F5-0312-34E69377EA8C}"/>
              </a:ext>
            </a:extLst>
          </p:cNvPr>
          <p:cNvSpPr txBox="1"/>
          <p:nvPr/>
        </p:nvSpPr>
        <p:spPr>
          <a:xfrm>
            <a:off x="1448117" y="990600"/>
            <a:ext cx="8534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basic_blocks</a:t>
            </a:r>
            <a:r>
              <a:rPr lang="en-US" dirty="0"/>
              <a:t> = []</a:t>
            </a:r>
          </a:p>
          <a:p>
            <a:r>
              <a:rPr lang="en-US" dirty="0"/>
              <a:t>bb = []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instr</a:t>
            </a:r>
            <a:r>
              <a:rPr lang="en-US" dirty="0"/>
              <a:t> in program:</a:t>
            </a:r>
          </a:p>
          <a:p>
            <a:r>
              <a:rPr lang="en-US" dirty="0"/>
              <a:t>    # If label starts a new block</a:t>
            </a:r>
          </a:p>
          <a:p>
            <a:r>
              <a:rPr lang="en-US" dirty="0"/>
              <a:t>    if </a:t>
            </a:r>
            <a:r>
              <a:rPr lang="en-US" dirty="0" err="1"/>
              <a:t>instr.type</a:t>
            </a:r>
            <a:r>
              <a:rPr lang="en-US" dirty="0"/>
              <a:t> == "label":</a:t>
            </a:r>
          </a:p>
          <a:p>
            <a:r>
              <a:rPr lang="en-US" dirty="0"/>
              <a:t>        if bb:                     # close previous block</a:t>
            </a:r>
          </a:p>
          <a:p>
            <a:r>
              <a:rPr lang="en-US" dirty="0"/>
              <a:t>            </a:t>
            </a:r>
            <a:r>
              <a:rPr lang="en-US" dirty="0" err="1"/>
              <a:t>basic_blocks.append</a:t>
            </a:r>
            <a:r>
              <a:rPr lang="en-US" dirty="0"/>
              <a:t>(bb)</a:t>
            </a:r>
          </a:p>
          <a:p>
            <a:r>
              <a:rPr lang="en-US" dirty="0"/>
              <a:t>        bb = [</a:t>
            </a:r>
            <a:r>
              <a:rPr lang="en-US" dirty="0" err="1"/>
              <a:t>instr</a:t>
            </a:r>
            <a:r>
              <a:rPr lang="en-US" dirty="0"/>
              <a:t>]               # start new block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</a:t>
            </a:r>
            <a:r>
              <a:rPr lang="en-US" dirty="0" err="1"/>
              <a:t>bb.append</a:t>
            </a:r>
            <a:r>
              <a:rPr lang="en-US" dirty="0"/>
              <a:t>(</a:t>
            </a:r>
            <a:r>
              <a:rPr lang="en-US" dirty="0" err="1"/>
              <a:t>instr</a:t>
            </a:r>
            <a:r>
              <a:rPr lang="en-US" dirty="0"/>
              <a:t>)</a:t>
            </a:r>
          </a:p>
          <a:p>
            <a:r>
              <a:rPr lang="en-US" dirty="0"/>
              <a:t>        # If branch ends a block</a:t>
            </a:r>
          </a:p>
          <a:p>
            <a:r>
              <a:rPr lang="en-US" dirty="0"/>
              <a:t>        if </a:t>
            </a:r>
            <a:r>
              <a:rPr lang="en-US" dirty="0" err="1"/>
              <a:t>instr.type</a:t>
            </a:r>
            <a:r>
              <a:rPr lang="en-US" dirty="0"/>
              <a:t> == "branch":</a:t>
            </a:r>
          </a:p>
          <a:p>
            <a:r>
              <a:rPr lang="en-US" dirty="0"/>
              <a:t>            </a:t>
            </a:r>
            <a:r>
              <a:rPr lang="en-US" dirty="0" err="1"/>
              <a:t>basic_blocks.append</a:t>
            </a:r>
            <a:r>
              <a:rPr lang="en-US" dirty="0"/>
              <a:t>(bb)</a:t>
            </a:r>
          </a:p>
          <a:p>
            <a:r>
              <a:rPr lang="en-US" dirty="0"/>
              <a:t>            bb = []</a:t>
            </a:r>
          </a:p>
          <a:p>
            <a:endParaRPr lang="en-US" dirty="0"/>
          </a:p>
          <a:p>
            <a:r>
              <a:rPr lang="en-US" dirty="0"/>
              <a:t># append final block if non-empty</a:t>
            </a:r>
          </a:p>
          <a:p>
            <a:r>
              <a:rPr lang="en-US" dirty="0"/>
              <a:t>if bb:</a:t>
            </a:r>
          </a:p>
          <a:p>
            <a:r>
              <a:rPr lang="en-US" dirty="0"/>
              <a:t>    </a:t>
            </a:r>
            <a:r>
              <a:rPr lang="en-US" dirty="0" err="1"/>
              <a:t>basic_blocks.append</a:t>
            </a:r>
            <a:r>
              <a:rPr lang="en-US" dirty="0"/>
              <a:t>(bb)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90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55" dirty="0"/>
              <a:t> </a:t>
            </a:r>
            <a:r>
              <a:rPr spc="-15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5165090" cy="386587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Local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Optimizes </a:t>
            </a:r>
            <a:r>
              <a:rPr sz="2400" dirty="0">
                <a:latin typeface="Calibri"/>
                <a:cs typeface="Calibri"/>
              </a:rPr>
              <a:t>an individual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Combines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operates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0" dirty="0">
                <a:latin typeface="Calibri"/>
                <a:cs typeface="Calibri"/>
              </a:rPr>
              <a:t>across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90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55" dirty="0"/>
              <a:t> </a:t>
            </a:r>
            <a:r>
              <a:rPr spc="-15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5165090" cy="386587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Local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Optimizes </a:t>
            </a:r>
            <a:r>
              <a:rPr sz="2400" dirty="0">
                <a:latin typeface="Calibri"/>
                <a:cs typeface="Calibri"/>
              </a:rPr>
              <a:t>an individual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Combines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operates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0" dirty="0">
                <a:latin typeface="Calibri"/>
                <a:cs typeface="Calibri"/>
              </a:rPr>
              <a:t>across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procedures?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83448" y="1027906"/>
          <a:ext cx="1563369" cy="923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3756">
                <a:tc gridSpan="5">
                  <a:txBody>
                    <a:bodyPr/>
                    <a:lstStyle/>
                    <a:p>
                      <a:pPr marL="90805">
                        <a:lnSpc>
                          <a:spcPts val="2125"/>
                        </a:lnSpc>
                        <a:spcBef>
                          <a:spcPts val="160"/>
                        </a:spcBef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Label_0: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x = a +</a:t>
                      </a:r>
                      <a:r>
                        <a:rPr sz="1800" spc="-1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b;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73">
                <a:tc>
                  <a:txBody>
                    <a:bodyPr/>
                    <a:lstStyle/>
                    <a:p>
                      <a:pPr marL="9080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b;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90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55" dirty="0"/>
              <a:t> </a:t>
            </a:r>
            <a:r>
              <a:rPr spc="-15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5008880" cy="8820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Local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Optimizes </a:t>
            </a:r>
            <a:r>
              <a:rPr sz="2400" dirty="0">
                <a:latin typeface="Calibri"/>
                <a:cs typeface="Calibri"/>
              </a:rPr>
              <a:t>an individual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056804"/>
            <a:ext cx="5165090" cy="25704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Combines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operates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0" dirty="0">
                <a:latin typeface="Calibri"/>
                <a:cs typeface="Calibri"/>
              </a:rPr>
              <a:t>across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89798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54222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67800" y="1451471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0"/>
                </a:moveTo>
                <a:lnTo>
                  <a:pt x="801248" y="76200"/>
                </a:lnTo>
                <a:lnTo>
                  <a:pt x="871098" y="41275"/>
                </a:lnTo>
                <a:lnTo>
                  <a:pt x="813948" y="41275"/>
                </a:lnTo>
                <a:lnTo>
                  <a:pt x="813948" y="34925"/>
                </a:lnTo>
                <a:lnTo>
                  <a:pt x="871098" y="34925"/>
                </a:lnTo>
                <a:lnTo>
                  <a:pt x="801248" y="0"/>
                </a:lnTo>
                <a:close/>
              </a:path>
              <a:path w="877570" h="76200">
                <a:moveTo>
                  <a:pt x="801248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801248" y="41275"/>
                </a:lnTo>
                <a:lnTo>
                  <a:pt x="801248" y="34925"/>
                </a:lnTo>
                <a:close/>
              </a:path>
              <a:path w="877570" h="76200">
                <a:moveTo>
                  <a:pt x="871098" y="34925"/>
                </a:moveTo>
                <a:lnTo>
                  <a:pt x="813948" y="34925"/>
                </a:lnTo>
                <a:lnTo>
                  <a:pt x="813948" y="41275"/>
                </a:lnTo>
                <a:lnTo>
                  <a:pt x="871098" y="41275"/>
                </a:lnTo>
                <a:lnTo>
                  <a:pt x="877448" y="38100"/>
                </a:lnTo>
                <a:lnTo>
                  <a:pt x="871098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97009" y="1017523"/>
            <a:ext cx="631190" cy="4006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69240" marR="5080" indent="-257175">
              <a:lnSpc>
                <a:spcPct val="105000"/>
              </a:lnSpc>
              <a:spcBef>
                <a:spcPts val="25"/>
              </a:spcBef>
            </a:pPr>
            <a:r>
              <a:rPr sz="1200" i="1" spc="-5" dirty="0">
                <a:latin typeface="Calibri"/>
                <a:cs typeface="Calibri"/>
              </a:rPr>
              <a:t>o</a:t>
            </a:r>
            <a:r>
              <a:rPr sz="1200" i="1" spc="-15" dirty="0">
                <a:latin typeface="Calibri"/>
                <a:cs typeface="Calibri"/>
              </a:rPr>
              <a:t>p</a:t>
            </a:r>
            <a:r>
              <a:rPr sz="1200" i="1" spc="-5" dirty="0">
                <a:latin typeface="Calibri"/>
                <a:cs typeface="Calibri"/>
              </a:rPr>
              <a:t>ti</a:t>
            </a:r>
            <a:r>
              <a:rPr sz="1200" i="1" dirty="0">
                <a:latin typeface="Calibri"/>
                <a:cs typeface="Calibri"/>
              </a:rPr>
              <a:t>m</a:t>
            </a:r>
            <a:r>
              <a:rPr sz="1200" i="1" spc="-5" dirty="0">
                <a:latin typeface="Calibri"/>
                <a:cs typeface="Calibri"/>
              </a:rPr>
              <a:t>i</a:t>
            </a:r>
            <a:r>
              <a:rPr sz="1200" i="1" spc="-20" dirty="0">
                <a:latin typeface="Calibri"/>
                <a:cs typeface="Calibri"/>
              </a:rPr>
              <a:t>z</a:t>
            </a:r>
            <a:r>
              <a:rPr sz="1200" i="1" dirty="0">
                <a:latin typeface="Calibri"/>
                <a:cs typeface="Calibri"/>
              </a:rPr>
              <a:t>ed  </a:t>
            </a:r>
            <a:r>
              <a:rPr sz="1200" i="1" spc="-20" dirty="0"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90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55" dirty="0"/>
              <a:t> </a:t>
            </a:r>
            <a:r>
              <a:rPr spc="-15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5008880" cy="8820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Local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Optimizes </a:t>
            </a:r>
            <a:r>
              <a:rPr sz="2400" dirty="0">
                <a:latin typeface="Calibri"/>
                <a:cs typeface="Calibri"/>
              </a:rPr>
              <a:t>an individual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056804"/>
            <a:ext cx="4415155" cy="8820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Combines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4352204"/>
            <a:ext cx="5165090" cy="12750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operates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0" dirty="0">
                <a:latin typeface="Calibri"/>
                <a:cs typeface="Calibri"/>
              </a:rPr>
              <a:t>across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89798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89798" y="2634827"/>
            <a:ext cx="1563370" cy="14776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ts val="2135"/>
              </a:lnSpc>
              <a:spcBef>
                <a:spcPts val="155"/>
              </a:spcBef>
            </a:pPr>
            <a:r>
              <a:rPr sz="1800" i="1" spc="-10" dirty="0">
                <a:latin typeface="Courier New"/>
                <a:cs typeface="Courier New"/>
              </a:rPr>
              <a:t>Label_0: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Courier New"/>
              <a:cs typeface="Courier New"/>
            </a:endParaRPr>
          </a:p>
          <a:p>
            <a:pPr marL="90805">
              <a:lnSpc>
                <a:spcPts val="2125"/>
              </a:lnSpc>
            </a:pPr>
            <a:r>
              <a:rPr sz="1800" i="1" spc="-10" dirty="0">
                <a:latin typeface="Courier New"/>
                <a:cs typeface="Courier New"/>
              </a:rPr>
              <a:t>Label_1: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4222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067800" y="1451471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0"/>
                </a:moveTo>
                <a:lnTo>
                  <a:pt x="801248" y="76200"/>
                </a:lnTo>
                <a:lnTo>
                  <a:pt x="871098" y="41275"/>
                </a:lnTo>
                <a:lnTo>
                  <a:pt x="813948" y="41275"/>
                </a:lnTo>
                <a:lnTo>
                  <a:pt x="813948" y="34925"/>
                </a:lnTo>
                <a:lnTo>
                  <a:pt x="871098" y="34925"/>
                </a:lnTo>
                <a:lnTo>
                  <a:pt x="801248" y="0"/>
                </a:lnTo>
                <a:close/>
              </a:path>
              <a:path w="877570" h="76200">
                <a:moveTo>
                  <a:pt x="801248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801248" y="41275"/>
                </a:lnTo>
                <a:lnTo>
                  <a:pt x="801248" y="34925"/>
                </a:lnTo>
                <a:close/>
              </a:path>
              <a:path w="877570" h="76200">
                <a:moveTo>
                  <a:pt x="871098" y="34925"/>
                </a:moveTo>
                <a:lnTo>
                  <a:pt x="813948" y="34925"/>
                </a:lnTo>
                <a:lnTo>
                  <a:pt x="813948" y="41275"/>
                </a:lnTo>
                <a:lnTo>
                  <a:pt x="871098" y="41275"/>
                </a:lnTo>
                <a:lnTo>
                  <a:pt x="877448" y="38100"/>
                </a:lnTo>
                <a:lnTo>
                  <a:pt x="871098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97009" y="1017523"/>
            <a:ext cx="631190" cy="4006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69240" marR="5080" indent="-257175">
              <a:lnSpc>
                <a:spcPct val="105000"/>
              </a:lnSpc>
              <a:spcBef>
                <a:spcPts val="25"/>
              </a:spcBef>
            </a:pPr>
            <a:r>
              <a:rPr sz="1200" i="1" spc="-5" dirty="0">
                <a:latin typeface="Calibri"/>
                <a:cs typeface="Calibri"/>
              </a:rPr>
              <a:t>o</a:t>
            </a:r>
            <a:r>
              <a:rPr sz="1200" i="1" spc="-15" dirty="0">
                <a:latin typeface="Calibri"/>
                <a:cs typeface="Calibri"/>
              </a:rPr>
              <a:t>p</a:t>
            </a:r>
            <a:r>
              <a:rPr sz="1200" i="1" spc="-5" dirty="0">
                <a:latin typeface="Calibri"/>
                <a:cs typeface="Calibri"/>
              </a:rPr>
              <a:t>ti</a:t>
            </a:r>
            <a:r>
              <a:rPr sz="1200" i="1" dirty="0">
                <a:latin typeface="Calibri"/>
                <a:cs typeface="Calibri"/>
              </a:rPr>
              <a:t>m</a:t>
            </a:r>
            <a:r>
              <a:rPr sz="1200" i="1" spc="-5" dirty="0">
                <a:latin typeface="Calibri"/>
                <a:cs typeface="Calibri"/>
              </a:rPr>
              <a:t>i</a:t>
            </a:r>
            <a:r>
              <a:rPr sz="1200" i="1" spc="-20" dirty="0">
                <a:latin typeface="Calibri"/>
                <a:cs typeface="Calibri"/>
              </a:rPr>
              <a:t>z</a:t>
            </a:r>
            <a:r>
              <a:rPr sz="1200" i="1" dirty="0">
                <a:latin typeface="Calibri"/>
                <a:cs typeface="Calibri"/>
              </a:rPr>
              <a:t>ed  </a:t>
            </a:r>
            <a:r>
              <a:rPr sz="1200" i="1" spc="-20" dirty="0"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67800" y="3347929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200"/>
                </a:lnTo>
                <a:lnTo>
                  <a:pt x="871098" y="41275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5"/>
                </a:lnTo>
                <a:lnTo>
                  <a:pt x="813948" y="34925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5"/>
                </a:lnTo>
                <a:lnTo>
                  <a:pt x="813948" y="41275"/>
                </a:lnTo>
                <a:lnTo>
                  <a:pt x="871100" y="41273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3"/>
                </a:moveTo>
                <a:lnTo>
                  <a:pt x="0" y="41273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66027" y="2703067"/>
            <a:ext cx="1093470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endParaRPr sz="1200">
              <a:latin typeface="Calibri"/>
              <a:cs typeface="Calibri"/>
            </a:endParaRPr>
          </a:p>
          <a:p>
            <a:pPr marL="12700" marR="5080" algn="ctr">
              <a:lnSpc>
                <a:spcPts val="1390"/>
              </a:lnSpc>
              <a:spcBef>
                <a:spcPts val="160"/>
              </a:spcBef>
            </a:pPr>
            <a:r>
              <a:rPr sz="1200" i="1" spc="-5" dirty="0">
                <a:solidFill>
                  <a:srgbClr val="FF0000"/>
                </a:solidFill>
                <a:latin typeface="Calibri"/>
                <a:cs typeface="Calibri"/>
              </a:rPr>
              <a:t>always</a:t>
            </a:r>
            <a:r>
              <a:rPr sz="12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FF0000"/>
                </a:solidFill>
                <a:latin typeface="Calibri"/>
                <a:cs typeface="Calibri"/>
              </a:rPr>
              <a:t>optimized  </a:t>
            </a:r>
            <a:r>
              <a:rPr sz="1200" i="1" spc="-2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86998" y="2590800"/>
            <a:ext cx="1563370" cy="14776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90805">
              <a:lnSpc>
                <a:spcPts val="2125"/>
              </a:lnSpc>
              <a:spcBef>
                <a:spcPts val="165"/>
              </a:spcBef>
            </a:pPr>
            <a:r>
              <a:rPr sz="1800" i="1" spc="-10" dirty="0">
                <a:latin typeface="Courier New"/>
                <a:cs typeface="Courier New"/>
              </a:rPr>
              <a:t>Label_0: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i="1" spc="-10" dirty="0">
                <a:latin typeface="Courier New"/>
                <a:cs typeface="Courier New"/>
              </a:rPr>
              <a:t>Label_1: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y 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90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55" dirty="0"/>
              <a:t> </a:t>
            </a:r>
            <a:r>
              <a:rPr spc="-15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5008880" cy="8820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Local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Optimizes </a:t>
            </a:r>
            <a:r>
              <a:rPr sz="2400" dirty="0">
                <a:latin typeface="Calibri"/>
                <a:cs typeface="Calibri"/>
              </a:rPr>
              <a:t>an individual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056804"/>
            <a:ext cx="4415155" cy="8820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Combines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4352204"/>
            <a:ext cx="5165090" cy="12750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operates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0" dirty="0">
                <a:latin typeface="Calibri"/>
                <a:cs typeface="Calibri"/>
              </a:rPr>
              <a:t>across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89798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42216" y="2643419"/>
            <a:ext cx="1563370" cy="14776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0805">
              <a:lnSpc>
                <a:spcPts val="2135"/>
              </a:lnSpc>
              <a:spcBef>
                <a:spcPts val="150"/>
              </a:spcBef>
            </a:pPr>
            <a:r>
              <a:rPr sz="1800" i="1" spc="-10" dirty="0">
                <a:latin typeface="Courier New"/>
                <a:cs typeface="Courier New"/>
              </a:rPr>
              <a:t>Label_0: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i="1" spc="-10" dirty="0">
                <a:latin typeface="Courier New"/>
                <a:cs typeface="Courier New"/>
              </a:rPr>
              <a:t>Label_1: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4222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067800" y="1451471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0"/>
                </a:moveTo>
                <a:lnTo>
                  <a:pt x="801248" y="76200"/>
                </a:lnTo>
                <a:lnTo>
                  <a:pt x="871098" y="41275"/>
                </a:lnTo>
                <a:lnTo>
                  <a:pt x="813948" y="41275"/>
                </a:lnTo>
                <a:lnTo>
                  <a:pt x="813948" y="34925"/>
                </a:lnTo>
                <a:lnTo>
                  <a:pt x="871098" y="34925"/>
                </a:lnTo>
                <a:lnTo>
                  <a:pt x="801248" y="0"/>
                </a:lnTo>
                <a:close/>
              </a:path>
              <a:path w="877570" h="76200">
                <a:moveTo>
                  <a:pt x="801248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801248" y="41275"/>
                </a:lnTo>
                <a:lnTo>
                  <a:pt x="801248" y="34925"/>
                </a:lnTo>
                <a:close/>
              </a:path>
              <a:path w="877570" h="76200">
                <a:moveTo>
                  <a:pt x="871098" y="34925"/>
                </a:moveTo>
                <a:lnTo>
                  <a:pt x="813948" y="34925"/>
                </a:lnTo>
                <a:lnTo>
                  <a:pt x="813948" y="41275"/>
                </a:lnTo>
                <a:lnTo>
                  <a:pt x="871098" y="41275"/>
                </a:lnTo>
                <a:lnTo>
                  <a:pt x="877448" y="38100"/>
                </a:lnTo>
                <a:lnTo>
                  <a:pt x="871098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97009" y="1017523"/>
            <a:ext cx="631190" cy="4006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69240" marR="5080" indent="-257175">
              <a:lnSpc>
                <a:spcPct val="105000"/>
              </a:lnSpc>
              <a:spcBef>
                <a:spcPts val="25"/>
              </a:spcBef>
            </a:pPr>
            <a:r>
              <a:rPr sz="1200" i="1" spc="-5" dirty="0">
                <a:latin typeface="Calibri"/>
                <a:cs typeface="Calibri"/>
              </a:rPr>
              <a:t>o</a:t>
            </a:r>
            <a:r>
              <a:rPr sz="1200" i="1" spc="-15" dirty="0">
                <a:latin typeface="Calibri"/>
                <a:cs typeface="Calibri"/>
              </a:rPr>
              <a:t>p</a:t>
            </a:r>
            <a:r>
              <a:rPr sz="1200" i="1" spc="-5" dirty="0">
                <a:latin typeface="Calibri"/>
                <a:cs typeface="Calibri"/>
              </a:rPr>
              <a:t>ti</a:t>
            </a:r>
            <a:r>
              <a:rPr sz="1200" i="1" dirty="0">
                <a:latin typeface="Calibri"/>
                <a:cs typeface="Calibri"/>
              </a:rPr>
              <a:t>m</a:t>
            </a:r>
            <a:r>
              <a:rPr sz="1200" i="1" spc="-5" dirty="0">
                <a:latin typeface="Calibri"/>
                <a:cs typeface="Calibri"/>
              </a:rPr>
              <a:t>i</a:t>
            </a:r>
            <a:r>
              <a:rPr sz="1200" i="1" spc="-20" dirty="0">
                <a:latin typeface="Calibri"/>
                <a:cs typeface="Calibri"/>
              </a:rPr>
              <a:t>z</a:t>
            </a:r>
            <a:r>
              <a:rPr sz="1200" i="1" dirty="0">
                <a:latin typeface="Calibri"/>
                <a:cs typeface="Calibri"/>
              </a:rPr>
              <a:t>ed  </a:t>
            </a:r>
            <a:r>
              <a:rPr sz="1200" i="1" spc="-20" dirty="0"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92676" y="3436970"/>
            <a:ext cx="1152693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200"/>
                </a:lnTo>
                <a:lnTo>
                  <a:pt x="871098" y="41275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5"/>
                </a:lnTo>
                <a:lnTo>
                  <a:pt x="813948" y="34925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5"/>
                </a:lnTo>
                <a:lnTo>
                  <a:pt x="813948" y="41275"/>
                </a:lnTo>
                <a:lnTo>
                  <a:pt x="871100" y="41273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3"/>
                </a:moveTo>
                <a:lnTo>
                  <a:pt x="0" y="41273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27419" y="2934556"/>
            <a:ext cx="1436281" cy="4026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endParaRPr sz="1200">
              <a:latin typeface="Calibri"/>
              <a:cs typeface="Calibri"/>
            </a:endParaRPr>
          </a:p>
          <a:p>
            <a:pPr marL="12700" marR="5080" algn="ctr">
              <a:lnSpc>
                <a:spcPts val="1390"/>
              </a:lnSpc>
              <a:spcBef>
                <a:spcPts val="160"/>
              </a:spcBef>
            </a:pPr>
            <a:r>
              <a:rPr sz="1200" i="1" spc="-5" dirty="0">
                <a:solidFill>
                  <a:srgbClr val="FF0000"/>
                </a:solidFill>
                <a:latin typeface="Calibri"/>
                <a:cs typeface="Calibri"/>
              </a:rPr>
              <a:t>always</a:t>
            </a:r>
            <a:r>
              <a:rPr sz="12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FF0000"/>
                </a:solidFill>
                <a:latin typeface="Calibri"/>
                <a:cs typeface="Calibri"/>
              </a:rPr>
              <a:t>optimized  </a:t>
            </a:r>
            <a:r>
              <a:rPr sz="1200" i="1" spc="-2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85533" y="2598407"/>
            <a:ext cx="1563370" cy="14776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90805">
              <a:lnSpc>
                <a:spcPts val="2125"/>
              </a:lnSpc>
              <a:spcBef>
                <a:spcPts val="165"/>
              </a:spcBef>
            </a:pPr>
            <a:r>
              <a:rPr sz="1800" i="1" spc="-10" dirty="0">
                <a:latin typeface="Courier New"/>
                <a:cs typeface="Courier New"/>
              </a:rPr>
              <a:t>Label_0: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i="1" spc="-10" dirty="0">
                <a:latin typeface="Courier New"/>
                <a:cs typeface="Courier New"/>
              </a:rPr>
              <a:t>Label_1: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y 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34645" y="4456138"/>
            <a:ext cx="1701164" cy="203136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Label_1;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1800" i="1" spc="-10" dirty="0">
                <a:latin typeface="Courier New"/>
                <a:cs typeface="Courier New"/>
              </a:rPr>
              <a:t>Label_0: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  <a:spcBef>
                <a:spcPts val="5"/>
              </a:spcBef>
            </a:pPr>
            <a:r>
              <a:rPr sz="1800" i="1" spc="-10" dirty="0">
                <a:latin typeface="Courier New"/>
                <a:cs typeface="Courier New"/>
              </a:rPr>
              <a:t>Label_1: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81800" y="4906170"/>
            <a:ext cx="20110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" marR="5080" indent="-160655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code could skip Label_0,  leaving </a:t>
            </a: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6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undefined!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9555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Regional</a:t>
            </a:r>
            <a:r>
              <a:rPr spc="-35" dirty="0"/>
              <a:t> </a:t>
            </a:r>
            <a:r>
              <a:rPr spc="-15" dirty="0"/>
              <a:t>Optimization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4326" y="1488155"/>
            <a:ext cx="1666239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0805">
              <a:lnSpc>
                <a:spcPts val="1910"/>
              </a:lnSpc>
              <a:spcBef>
                <a:spcPts val="170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if (x)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457834">
              <a:lnSpc>
                <a:spcPts val="1910"/>
              </a:lnSpc>
              <a:spcBef>
                <a:spcPts val="70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895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else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35280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x = a +</a:t>
            </a:r>
            <a:r>
              <a:rPr sz="1600" spc="-8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  <a:spcBef>
                <a:spcPts val="75"/>
              </a:spcBef>
            </a:pPr>
            <a:r>
              <a:rPr sz="1600" dirty="0">
                <a:latin typeface="Courier New"/>
                <a:cs typeface="Courier New"/>
              </a:rPr>
              <a:t>y = a +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6399" y="2164588"/>
            <a:ext cx="1587500" cy="10071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900"/>
              </a:lnSpc>
              <a:spcBef>
                <a:spcPts val="180"/>
              </a:spcBef>
            </a:pP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r>
              <a:rPr sz="1600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replace:  </a:t>
            </a: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y = a +</a:t>
            </a:r>
            <a:r>
              <a:rPr sz="16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b.</a:t>
            </a:r>
            <a:endParaRPr sz="1600">
              <a:latin typeface="Calibri"/>
              <a:cs typeface="Calibri"/>
            </a:endParaRPr>
          </a:p>
          <a:p>
            <a:pPr marL="580390" marR="572770" indent="-46990" algn="ctr">
              <a:lnSpc>
                <a:spcPts val="1900"/>
              </a:lnSpc>
              <a:spcBef>
                <a:spcPts val="110"/>
              </a:spcBef>
            </a:pP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with  y =</a:t>
            </a:r>
            <a:r>
              <a:rPr sz="1600" i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x;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967486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Regional</a:t>
            </a:r>
            <a:r>
              <a:rPr spc="-35" dirty="0"/>
              <a:t> </a:t>
            </a:r>
            <a:r>
              <a:rPr spc="-15" dirty="0"/>
              <a:t>Optimization</a:t>
            </a:r>
            <a:r>
              <a:rPr lang="en-US" spc="-15" dirty="0"/>
              <a:t>: Data Flow Analysis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5064326" y="1488155"/>
            <a:ext cx="1666239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0805">
              <a:lnSpc>
                <a:spcPts val="1910"/>
              </a:lnSpc>
              <a:spcBef>
                <a:spcPts val="170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if (x)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457834">
              <a:lnSpc>
                <a:spcPts val="1910"/>
              </a:lnSpc>
              <a:spcBef>
                <a:spcPts val="70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895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else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35280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x = a +</a:t>
            </a:r>
            <a:r>
              <a:rPr sz="1600" spc="-8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  <a:spcBef>
                <a:spcPts val="75"/>
              </a:spcBef>
            </a:pPr>
            <a:r>
              <a:rPr sz="1600" dirty="0">
                <a:latin typeface="Courier New"/>
                <a:cs typeface="Courier New"/>
              </a:rPr>
              <a:t>y = a +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6399" y="2164588"/>
            <a:ext cx="1587500" cy="10071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900"/>
              </a:lnSpc>
              <a:spcBef>
                <a:spcPts val="180"/>
              </a:spcBef>
            </a:pP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r>
              <a:rPr sz="1600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replace:  </a:t>
            </a: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y = a +</a:t>
            </a:r>
            <a:r>
              <a:rPr sz="16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b.</a:t>
            </a:r>
            <a:endParaRPr sz="1600">
              <a:latin typeface="Calibri"/>
              <a:cs typeface="Calibri"/>
            </a:endParaRPr>
          </a:p>
          <a:p>
            <a:pPr marL="580390" marR="572770" indent="-46990" algn="ctr">
              <a:lnSpc>
                <a:spcPts val="1900"/>
              </a:lnSpc>
              <a:spcBef>
                <a:spcPts val="110"/>
              </a:spcBef>
            </a:pP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with  y =</a:t>
            </a:r>
            <a:r>
              <a:rPr sz="1600" i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x;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64326" y="4293503"/>
            <a:ext cx="1419225" cy="2308860"/>
          </a:xfrm>
          <a:custGeom>
            <a:avLst/>
            <a:gdLst/>
            <a:ahLst/>
            <a:cxnLst/>
            <a:rect l="l" t="t" r="r" b="b"/>
            <a:pathLst>
              <a:path w="1419225" h="2308859">
                <a:moveTo>
                  <a:pt x="0" y="0"/>
                </a:moveTo>
                <a:lnTo>
                  <a:pt x="1418978" y="0"/>
                </a:lnTo>
                <a:lnTo>
                  <a:pt x="1418978" y="2308324"/>
                </a:lnTo>
                <a:lnTo>
                  <a:pt x="0" y="2308324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43067" y="4301235"/>
            <a:ext cx="1247775" cy="22263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x = a +</a:t>
            </a:r>
            <a:r>
              <a:rPr sz="1600" spc="-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  if (x)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7909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895"/>
              </a:lnSpc>
            </a:pPr>
            <a:r>
              <a:rPr sz="1600" dirty="0">
                <a:latin typeface="Courier New"/>
                <a:cs typeface="Courier New"/>
              </a:rPr>
              <a:t>else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57175">
              <a:lnSpc>
                <a:spcPts val="1895"/>
              </a:lnSpc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600" dirty="0">
                <a:latin typeface="Courier New"/>
                <a:cs typeface="Courier New"/>
              </a:rPr>
              <a:t>y = a +</a:t>
            </a:r>
            <a:r>
              <a:rPr sz="1600" spc="-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0790" y="4718811"/>
            <a:ext cx="2752090" cy="1267014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900"/>
              </a:lnSpc>
              <a:spcBef>
                <a:spcPts val="180"/>
              </a:spcBef>
            </a:pPr>
            <a:r>
              <a:rPr lang="en-US" sz="1600" i="1" dirty="0">
                <a:latin typeface="Calibri"/>
                <a:cs typeface="Calibri"/>
              </a:rPr>
              <a:t>In that</a:t>
            </a:r>
            <a:r>
              <a:rPr sz="1600" i="1" spc="-5" dirty="0">
                <a:latin typeface="Calibri"/>
                <a:cs typeface="Calibri"/>
              </a:rPr>
              <a:t> case, </a:t>
            </a:r>
            <a:r>
              <a:rPr sz="1600" i="1" dirty="0">
                <a:latin typeface="Calibri"/>
                <a:cs typeface="Calibri"/>
              </a:rPr>
              <a:t>we </a:t>
            </a:r>
            <a:r>
              <a:rPr sz="1600" i="1" spc="-5" dirty="0">
                <a:latin typeface="Calibri"/>
                <a:cs typeface="Calibri"/>
              </a:rPr>
              <a:t>can check if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  and b are not </a:t>
            </a:r>
            <a:r>
              <a:rPr sz="1600" i="1" spc="-5" dirty="0">
                <a:latin typeface="Calibri"/>
                <a:cs typeface="Calibri"/>
              </a:rPr>
              <a:t>redefined,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then</a:t>
            </a:r>
            <a:endParaRPr sz="1600" dirty="0">
              <a:latin typeface="Calibri"/>
              <a:cs typeface="Calibri"/>
            </a:endParaRPr>
          </a:p>
          <a:p>
            <a:pPr algn="ctr">
              <a:lnSpc>
                <a:spcPts val="1855"/>
              </a:lnSpc>
            </a:pPr>
            <a:r>
              <a:rPr sz="1600" i="1" dirty="0">
                <a:latin typeface="Calibri"/>
                <a:cs typeface="Calibri"/>
              </a:rPr>
              <a:t>y = a +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b;</a:t>
            </a:r>
            <a:endParaRPr sz="1600" dirty="0">
              <a:latin typeface="Calibri"/>
              <a:cs typeface="Calibri"/>
            </a:endParaRPr>
          </a:p>
          <a:p>
            <a:pPr marL="523240" marR="515620" algn="ctr">
              <a:lnSpc>
                <a:spcPts val="1900"/>
              </a:lnSpc>
              <a:spcBef>
                <a:spcPts val="150"/>
              </a:spcBef>
            </a:pPr>
            <a:r>
              <a:rPr sz="1600" i="1" spc="-5" dirty="0">
                <a:latin typeface="Calibri"/>
                <a:cs typeface="Calibri"/>
              </a:rPr>
              <a:t>can </a:t>
            </a:r>
            <a:r>
              <a:rPr sz="1600" i="1" dirty="0">
                <a:latin typeface="Calibri"/>
                <a:cs typeface="Calibri"/>
              </a:rPr>
              <a:t>be </a:t>
            </a:r>
            <a:r>
              <a:rPr sz="1600" i="1" spc="-5" dirty="0">
                <a:latin typeface="Calibri"/>
                <a:cs typeface="Calibri"/>
              </a:rPr>
              <a:t>replaced</a:t>
            </a:r>
            <a:r>
              <a:rPr sz="1600" i="1" spc="-8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with  y =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x;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5586" y="6238747"/>
            <a:ext cx="4512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This requires regional analysis and</a:t>
            </a:r>
            <a:r>
              <a:rPr sz="1800" i="1" spc="3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optimizations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CF611-53B4-CAFD-0F01-7AE91C8F0BD9}"/>
              </a:ext>
            </a:extLst>
          </p:cNvPr>
          <p:cNvSpPr txBox="1"/>
          <p:nvPr/>
        </p:nvSpPr>
        <p:spPr>
          <a:xfrm>
            <a:off x="7026399" y="3889574"/>
            <a:ext cx="289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x = a + b    be hoisted out of the if then else?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7456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Optimizing </a:t>
            </a:r>
            <a:r>
              <a:rPr spc="-20" dirty="0"/>
              <a:t>over </a:t>
            </a:r>
            <a:r>
              <a:rPr dirty="0"/>
              <a:t>wider</a:t>
            </a:r>
            <a:r>
              <a:rPr spc="-10" dirty="0"/>
              <a:t> </a:t>
            </a:r>
            <a:r>
              <a:rPr spc="-15" dirty="0"/>
              <a:t>regions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425305" cy="327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value </a:t>
            </a:r>
            <a:r>
              <a:rPr sz="2800" spc="-5" dirty="0">
                <a:latin typeface="Calibri"/>
                <a:cs typeface="Calibri"/>
              </a:rPr>
              <a:t>numbering </a:t>
            </a:r>
            <a:r>
              <a:rPr sz="2800" spc="-20" dirty="0">
                <a:latin typeface="Calibri"/>
                <a:cs typeface="Calibri"/>
              </a:rPr>
              <a:t>operate</a:t>
            </a:r>
            <a:r>
              <a:rPr lang="en-US" sz="2800" spc="-20" dirty="0">
                <a:latin typeface="Calibri"/>
                <a:cs typeface="Calibri"/>
              </a:rPr>
              <a:t>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over </a:t>
            </a:r>
            <a:r>
              <a:rPr sz="2800" spc="-10" dirty="0">
                <a:latin typeface="Calibri"/>
                <a:cs typeface="Calibri"/>
              </a:rPr>
              <a:t>just </a:t>
            </a:r>
            <a:r>
              <a:rPr sz="2800" spc="-5" dirty="0">
                <a:latin typeface="Calibri"/>
                <a:cs typeface="Calibri"/>
              </a:rPr>
              <a:t>one basic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block.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 dirty="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5" dirty="0">
                <a:latin typeface="Calibri"/>
                <a:cs typeface="Calibri"/>
              </a:rPr>
              <a:t>We </a:t>
            </a:r>
            <a:r>
              <a:rPr sz="2800" spc="-20" dirty="0">
                <a:latin typeface="Calibri"/>
                <a:cs typeface="Calibri"/>
              </a:rPr>
              <a:t>want </a:t>
            </a:r>
            <a:r>
              <a:rPr sz="2800" spc="-15" dirty="0">
                <a:latin typeface="Calibri"/>
                <a:cs typeface="Calibri"/>
              </a:rPr>
              <a:t>optimizations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20" dirty="0">
                <a:latin typeface="Calibri"/>
                <a:cs typeface="Calibri"/>
              </a:rPr>
              <a:t>operate </a:t>
            </a:r>
            <a:r>
              <a:rPr sz="2800" spc="-15" dirty="0">
                <a:latin typeface="Calibri"/>
                <a:cs typeface="Calibri"/>
              </a:rPr>
              <a:t>over </a:t>
            </a:r>
            <a:r>
              <a:rPr sz="2800" spc="-20" dirty="0">
                <a:latin typeface="Calibri"/>
                <a:cs typeface="Calibri"/>
              </a:rPr>
              <a:t>several </a:t>
            </a:r>
            <a:r>
              <a:rPr sz="2800" spc="-5" dirty="0">
                <a:latin typeface="Calibri"/>
                <a:cs typeface="Calibri"/>
              </a:rPr>
              <a:t>basic </a:t>
            </a:r>
            <a:r>
              <a:rPr sz="2800" spc="-10" dirty="0">
                <a:latin typeface="Calibri"/>
                <a:cs typeface="Calibri"/>
              </a:rPr>
              <a:t>blocks </a:t>
            </a:r>
            <a:r>
              <a:rPr sz="2800" dirty="0">
                <a:latin typeface="Calibri"/>
                <a:cs typeface="Calibri"/>
              </a:rPr>
              <a:t>(a  </a:t>
            </a:r>
            <a:r>
              <a:rPr sz="2800" spc="-10" dirty="0">
                <a:latin typeface="Calibri"/>
                <a:cs typeface="Calibri"/>
              </a:rPr>
              <a:t>region),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0" dirty="0">
                <a:latin typeface="Calibri"/>
                <a:cs typeface="Calibri"/>
              </a:rPr>
              <a:t>across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entire procedure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(global)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this, </a:t>
            </a:r>
            <a:r>
              <a:rPr sz="2800" spc="-15" dirty="0">
                <a:latin typeface="Calibri"/>
                <a:cs typeface="Calibri"/>
              </a:rPr>
              <a:t>we </a:t>
            </a:r>
            <a:r>
              <a:rPr sz="2800" spc="-5" dirty="0">
                <a:latin typeface="Calibri"/>
                <a:cs typeface="Calibri"/>
              </a:rPr>
              <a:t>need </a:t>
            </a:r>
            <a:r>
              <a:rPr sz="2800" spc="-15" dirty="0">
                <a:latin typeface="Calibri"/>
                <a:cs typeface="Calibri"/>
              </a:rPr>
              <a:t>Control </a:t>
            </a:r>
            <a:r>
              <a:rPr sz="2800" spc="-5" dirty="0">
                <a:latin typeface="Calibri"/>
                <a:cs typeface="Calibri"/>
              </a:rPr>
              <a:t>Flow </a:t>
            </a:r>
            <a:r>
              <a:rPr sz="2800" spc="-15" dirty="0">
                <a:latin typeface="Calibri"/>
                <a:cs typeface="Calibri"/>
              </a:rPr>
              <a:t>Graphs </a:t>
            </a:r>
            <a:r>
              <a:rPr sz="2800" spc="-5" dirty="0">
                <a:latin typeface="Calibri"/>
                <a:cs typeface="Calibri"/>
              </a:rPr>
              <a:t>and Flow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Analysis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45" dirty="0">
                <a:latin typeface="Calibri"/>
                <a:cs typeface="Calibri"/>
              </a:rPr>
              <a:t>We </a:t>
            </a:r>
            <a:r>
              <a:rPr sz="2400" spc="-20" dirty="0">
                <a:latin typeface="Calibri"/>
                <a:cs typeface="Calibri"/>
              </a:rPr>
              <a:t>may have </a:t>
            </a:r>
            <a:r>
              <a:rPr sz="2400" spc="-5" dirty="0">
                <a:latin typeface="Calibri"/>
                <a:cs typeface="Calibri"/>
              </a:rPr>
              <a:t>time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discuss this </a:t>
            </a:r>
            <a:r>
              <a:rPr sz="2400" spc="-15" dirty="0">
                <a:latin typeface="Calibri"/>
                <a:cs typeface="Calibri"/>
              </a:rPr>
              <a:t>later </a:t>
            </a:r>
            <a:r>
              <a:rPr sz="2400" spc="-5" dirty="0">
                <a:latin typeface="Calibri"/>
                <a:cs typeface="Calibri"/>
              </a:rPr>
              <a:t>in the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module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Control Flow Graphs (CFG)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Program Execution Flow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309371"/>
            <a:ext cx="10358120" cy="677108"/>
          </a:xfrm>
        </p:spPr>
        <p:txBody>
          <a:bodyPr/>
          <a:lstStyle/>
          <a:p>
            <a:r>
              <a:rPr dirty="0"/>
              <a:t>What is a CFG?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981200"/>
            <a:ext cx="9189085" cy="3447098"/>
          </a:xfrm>
        </p:spPr>
        <p:txBody>
          <a:bodyPr/>
          <a:lstStyle/>
          <a:p>
            <a:r>
              <a:rPr dirty="0"/>
              <a:t>- A Control Flow Graph (CFG) is a representation of all paths that might be traversed through a program during its execution.</a:t>
            </a:r>
          </a:p>
          <a:p>
            <a:r>
              <a:rPr dirty="0"/>
              <a:t>- Nodes → represent basic blocks (a sequence of instructions with no branches except at the end).</a:t>
            </a:r>
          </a:p>
          <a:p>
            <a:r>
              <a:rPr dirty="0"/>
              <a:t>- Edges → represent control flow between these blocks.</a:t>
            </a:r>
          </a:p>
          <a:p>
            <a:r>
              <a:rPr dirty="0"/>
              <a:t>- Purpose: Helps in compiler optimizations, program analysis, and detecting unreachable code.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309371"/>
            <a:ext cx="10358120" cy="677108"/>
          </a:xfrm>
        </p:spPr>
        <p:txBody>
          <a:bodyPr/>
          <a:lstStyle/>
          <a:p>
            <a:r>
              <a:t>Components of a 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1456" y="1828800"/>
            <a:ext cx="9189085" cy="2154436"/>
          </a:xfrm>
        </p:spPr>
        <p:txBody>
          <a:bodyPr/>
          <a:lstStyle/>
          <a:p>
            <a:r>
              <a:rPr dirty="0"/>
              <a:t>1. Basic Block: Sequence of statements with a single entry and exit point.</a:t>
            </a:r>
          </a:p>
          <a:p>
            <a:r>
              <a:rPr dirty="0"/>
              <a:t>2. Nodes: Represent basic blocks.</a:t>
            </a:r>
          </a:p>
          <a:p>
            <a:r>
              <a:rPr dirty="0"/>
              <a:t>3. Edges: Show the flow of control between blocks.</a:t>
            </a:r>
          </a:p>
          <a:p>
            <a:r>
              <a:rPr dirty="0"/>
              <a:t>4. Entry/Exit Nodes: Designate the start and end of the CFG.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45733"/>
            <a:ext cx="10358120" cy="830997"/>
          </a:xfrm>
        </p:spPr>
        <p:txBody>
          <a:bodyPr/>
          <a:lstStyle/>
          <a:p>
            <a:r>
              <a:rPr sz="5400" b="1" dirty="0"/>
              <a:t>Example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525B6-3104-B159-5313-14456B9A61FB}"/>
              </a:ext>
            </a:extLst>
          </p:cNvPr>
          <p:cNvSpPr txBox="1"/>
          <p:nvPr/>
        </p:nvSpPr>
        <p:spPr>
          <a:xfrm>
            <a:off x="2667000" y="1604137"/>
            <a:ext cx="4191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int main() {</a:t>
            </a:r>
          </a:p>
          <a:p>
            <a:r>
              <a:rPr lang="en-US" sz="3600" dirty="0"/>
              <a:t>    int x = 0;</a:t>
            </a:r>
          </a:p>
          <a:p>
            <a:r>
              <a:rPr lang="en-US" sz="3600" dirty="0"/>
              <a:t>    if (x &gt; 0) {</a:t>
            </a:r>
          </a:p>
          <a:p>
            <a:r>
              <a:rPr lang="en-US" sz="3600" dirty="0"/>
              <a:t>         x = x + 1;</a:t>
            </a:r>
          </a:p>
          <a:p>
            <a:r>
              <a:rPr lang="en-US" sz="3600" dirty="0"/>
              <a:t>    } else {</a:t>
            </a:r>
          </a:p>
          <a:p>
            <a:r>
              <a:rPr lang="en-US" sz="3600" dirty="0"/>
              <a:t>         x = x – 1;</a:t>
            </a:r>
          </a:p>
          <a:p>
            <a:r>
              <a:rPr lang="en-US" sz="3600" dirty="0"/>
              <a:t>    }</a:t>
            </a:r>
          </a:p>
          <a:p>
            <a:r>
              <a:rPr lang="en-US" sz="3600" dirty="0"/>
              <a:t>    return x;</a:t>
            </a:r>
          </a:p>
          <a:p>
            <a:r>
              <a:rPr lang="en-US" sz="3600" dirty="0"/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746C4-132C-2C0E-03F4-37795C07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DC85-9C25-B2FF-C8F6-04E6FB2EF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583677"/>
          </a:xfrm>
        </p:spPr>
        <p:txBody>
          <a:bodyPr>
            <a:normAutofit/>
          </a:bodyPr>
          <a:lstStyle/>
          <a:p>
            <a:r>
              <a:rPr sz="3600" b="1" dirty="0"/>
              <a:t>Example Program</a:t>
            </a:r>
            <a:r>
              <a:rPr lang="en-US" sz="3600" b="1" dirty="0"/>
              <a:t> as 3-address code</a:t>
            </a:r>
            <a:endParaRPr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D3EAF-E96F-0EAE-39FA-C4E775D8B98D}"/>
              </a:ext>
            </a:extLst>
          </p:cNvPr>
          <p:cNvSpPr txBox="1"/>
          <p:nvPr/>
        </p:nvSpPr>
        <p:spPr>
          <a:xfrm>
            <a:off x="2532998" y="1143001"/>
            <a:ext cx="49289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L0:                      // Main entry point</a:t>
            </a:r>
          </a:p>
          <a:p>
            <a:r>
              <a:rPr lang="en-US" dirty="0"/>
              <a:t>t1 = 0                  // x = 0</a:t>
            </a:r>
          </a:p>
          <a:p>
            <a:r>
              <a:rPr lang="en-US" dirty="0"/>
              <a:t>x = t1</a:t>
            </a:r>
          </a:p>
          <a:p>
            <a:r>
              <a:rPr lang="en-US" dirty="0"/>
              <a:t>if x &gt; 0 </a:t>
            </a:r>
          </a:p>
          <a:p>
            <a:r>
              <a:rPr lang="en-US" dirty="0"/>
              <a:t>     </a:t>
            </a:r>
            <a:r>
              <a:rPr lang="en-US" dirty="0" err="1"/>
              <a:t>goto</a:t>
            </a:r>
            <a:r>
              <a:rPr lang="en-US" dirty="0"/>
              <a:t> L1         // then branch</a:t>
            </a:r>
          </a:p>
          <a:p>
            <a:r>
              <a:rPr lang="en-US" dirty="0"/>
              <a:t>else 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 err="1"/>
              <a:t>goto</a:t>
            </a:r>
            <a:r>
              <a:rPr lang="en-US" dirty="0"/>
              <a:t> L2         // else branch</a:t>
            </a:r>
          </a:p>
          <a:p>
            <a:r>
              <a:rPr lang="en-US" dirty="0"/>
              <a:t>L1:                      // then block</a:t>
            </a:r>
          </a:p>
          <a:p>
            <a:r>
              <a:rPr lang="en-US" dirty="0"/>
              <a:t>    t2 = x + 1</a:t>
            </a:r>
          </a:p>
          <a:p>
            <a:r>
              <a:rPr lang="en-US" dirty="0"/>
              <a:t>    x = t2</a:t>
            </a:r>
          </a:p>
          <a:p>
            <a:r>
              <a:rPr lang="en-US" dirty="0"/>
              <a:t>    </a:t>
            </a:r>
            <a:r>
              <a:rPr lang="en-US" dirty="0" err="1"/>
              <a:t>goto</a:t>
            </a:r>
            <a:r>
              <a:rPr lang="en-US" dirty="0"/>
              <a:t> L3          // </a:t>
            </a:r>
            <a:r>
              <a:rPr lang="en-US" dirty="0" err="1"/>
              <a:t>goto</a:t>
            </a:r>
            <a:r>
              <a:rPr lang="en-US" dirty="0"/>
              <a:t> end of if-else statement</a:t>
            </a:r>
          </a:p>
          <a:p>
            <a:r>
              <a:rPr lang="en-US" dirty="0"/>
              <a:t>L2:                      // else block</a:t>
            </a:r>
          </a:p>
          <a:p>
            <a:r>
              <a:rPr lang="en-US" dirty="0"/>
              <a:t>    t3 = x - 1</a:t>
            </a:r>
          </a:p>
          <a:p>
            <a:r>
              <a:rPr lang="en-US" dirty="0"/>
              <a:t>    x = t3</a:t>
            </a:r>
          </a:p>
          <a:p>
            <a:r>
              <a:rPr lang="en-US" dirty="0"/>
              <a:t>    </a:t>
            </a:r>
            <a:r>
              <a:rPr lang="en-US" dirty="0" err="1"/>
              <a:t>goto</a:t>
            </a:r>
            <a:r>
              <a:rPr lang="en-US" dirty="0"/>
              <a:t> L3           // </a:t>
            </a:r>
            <a:r>
              <a:rPr lang="en-US" dirty="0" err="1"/>
              <a:t>goto</a:t>
            </a:r>
            <a:r>
              <a:rPr lang="en-US" dirty="0"/>
              <a:t> end of if-else statement</a:t>
            </a:r>
          </a:p>
          <a:p>
            <a:endParaRPr lang="en-US" dirty="0"/>
          </a:p>
          <a:p>
            <a:r>
              <a:rPr lang="en-US" dirty="0"/>
              <a:t>L3:                      // after if-else</a:t>
            </a:r>
          </a:p>
          <a:p>
            <a:r>
              <a:rPr lang="en-US" dirty="0"/>
              <a:t>    return 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CAB8B-98BB-C8F5-131E-DCDF20C83A01}"/>
              </a:ext>
            </a:extLst>
          </p:cNvPr>
          <p:cNvSpPr txBox="1"/>
          <p:nvPr/>
        </p:nvSpPr>
        <p:spPr>
          <a:xfrm>
            <a:off x="7461956" y="1878885"/>
            <a:ext cx="24948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Each label here </a:t>
            </a:r>
          </a:p>
          <a:p>
            <a:r>
              <a:rPr lang="en-US" sz="2800" b="1" dirty="0"/>
              <a:t>represents</a:t>
            </a:r>
            <a:br>
              <a:rPr lang="en-US" sz="2800" b="1" dirty="0"/>
            </a:br>
            <a:r>
              <a:rPr lang="en-US" sz="2800" b="1" dirty="0"/>
              <a:t>a basic block</a:t>
            </a:r>
          </a:p>
        </p:txBody>
      </p:sp>
    </p:spTree>
    <p:extLst>
      <p:ext uri="{BB962C8B-B14F-4D97-AF65-F5344CB8AC3E}">
        <p14:creationId xmlns:p14="http://schemas.microsoft.com/office/powerpoint/2010/main" val="1689040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DF24-9116-90DE-520B-F3E596E8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85719C-EFA3-1E33-6EB4-C26D40391A3A}"/>
              </a:ext>
            </a:extLst>
          </p:cNvPr>
          <p:cNvSpPr txBox="1"/>
          <p:nvPr/>
        </p:nvSpPr>
        <p:spPr>
          <a:xfrm>
            <a:off x="3262489" y="1843951"/>
            <a:ext cx="500097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</a:t>
            </a:r>
            <a:r>
              <a:rPr lang="en-US" sz="4000" dirty="0"/>
              <a:t>Entry (L0)</a:t>
            </a:r>
          </a:p>
          <a:p>
            <a:r>
              <a:rPr lang="en-US" sz="4000" dirty="0"/>
              <a:t>               /    \</a:t>
            </a:r>
          </a:p>
          <a:p>
            <a:r>
              <a:rPr lang="en-US" sz="4000" dirty="0"/>
              <a:t>(then) L1      L2 (else)</a:t>
            </a:r>
          </a:p>
          <a:p>
            <a:r>
              <a:rPr lang="en-US" sz="4000" dirty="0"/>
              <a:t>            \      /</a:t>
            </a:r>
          </a:p>
          <a:p>
            <a:r>
              <a:rPr lang="en-US" sz="4000" dirty="0"/>
              <a:t>           L3 (Exit)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C2B77A-97E7-7B8C-80A9-A2E859E8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583677"/>
          </a:xfrm>
        </p:spPr>
        <p:txBody>
          <a:bodyPr>
            <a:normAutofit/>
          </a:bodyPr>
          <a:lstStyle/>
          <a:p>
            <a:r>
              <a:rPr sz="3600" b="1" dirty="0"/>
              <a:t>Example Program</a:t>
            </a:r>
            <a:r>
              <a:rPr lang="en-US" sz="3600" b="1" dirty="0"/>
              <a:t> as 3-address code</a:t>
            </a:r>
            <a:endParaRPr sz="3600" b="1" dirty="0"/>
          </a:p>
        </p:txBody>
      </p:sp>
    </p:spTree>
    <p:extLst>
      <p:ext uri="{BB962C8B-B14F-4D97-AF65-F5344CB8AC3E}">
        <p14:creationId xmlns:p14="http://schemas.microsoft.com/office/powerpoint/2010/main" val="3337224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309371"/>
            <a:ext cx="10358120" cy="677108"/>
          </a:xfrm>
        </p:spPr>
        <p:txBody>
          <a:bodyPr/>
          <a:lstStyle/>
          <a:p>
            <a:r>
              <a:t>Why CFG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939" y="1761404"/>
            <a:ext cx="9189085" cy="2585323"/>
          </a:xfrm>
        </p:spPr>
        <p:txBody>
          <a:bodyPr/>
          <a:lstStyle/>
          <a:p>
            <a:r>
              <a:rPr dirty="0"/>
              <a:t>Compiler Optimizations: Dead code elimination, loop optimization, instruction scheduling.</a:t>
            </a:r>
          </a:p>
          <a:p>
            <a:r>
              <a:rPr dirty="0"/>
              <a:t>Program Analysis: Detect unreachable code, infinite loops, or security vulnerabilities.</a:t>
            </a:r>
          </a:p>
          <a:p>
            <a:r>
              <a:rPr dirty="0"/>
              <a:t>Testing &amp; Verification: Path coverage for testing and formal verification.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309371"/>
            <a:ext cx="10358120" cy="677108"/>
          </a:xfrm>
        </p:spPr>
        <p:txBody>
          <a:bodyPr/>
          <a:lstStyle/>
          <a:p>
            <a:r>
              <a:t>Types of CFG Edges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939" y="1761404"/>
            <a:ext cx="9189085" cy="3447098"/>
          </a:xfrm>
        </p:spPr>
        <p:txBody>
          <a:bodyPr/>
          <a:lstStyle/>
          <a:p>
            <a:r>
              <a:rPr dirty="0"/>
              <a:t>Conditional Edges: </a:t>
            </a:r>
            <a:endParaRPr lang="en-US" dirty="0"/>
          </a:p>
          <a:p>
            <a:r>
              <a:rPr lang="en-US" dirty="0"/>
              <a:t>      </a:t>
            </a:r>
            <a:r>
              <a:rPr dirty="0"/>
              <a:t>Result from if/else statements or loops.</a:t>
            </a:r>
          </a:p>
          <a:p>
            <a:endParaRPr lang="en-US" dirty="0"/>
          </a:p>
          <a:p>
            <a:r>
              <a:rPr dirty="0"/>
              <a:t>Unconditional Edges: </a:t>
            </a:r>
            <a:endParaRPr lang="en-US" dirty="0"/>
          </a:p>
          <a:p>
            <a:r>
              <a:rPr lang="en-US" dirty="0"/>
              <a:t>      </a:t>
            </a:r>
            <a:r>
              <a:rPr dirty="0"/>
              <a:t>Straight-line flow between sequential blocks.</a:t>
            </a:r>
            <a:endParaRPr lang="en-US" dirty="0"/>
          </a:p>
          <a:p>
            <a:endParaRPr dirty="0"/>
          </a:p>
          <a:p>
            <a:r>
              <a:rPr dirty="0"/>
              <a:t>Back Edges: </a:t>
            </a:r>
            <a:endParaRPr lang="en-US" dirty="0"/>
          </a:p>
          <a:p>
            <a:r>
              <a:rPr lang="en-US" dirty="0"/>
              <a:t>     </a:t>
            </a:r>
            <a:r>
              <a:rPr dirty="0"/>
              <a:t>Point back to earlier blocks (used in loops).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0" y="228600"/>
            <a:ext cx="3502661" cy="738664"/>
          </a:xfrm>
        </p:spPr>
        <p:txBody>
          <a:bodyPr/>
          <a:lstStyle/>
          <a:p>
            <a:r>
              <a:rPr sz="4800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939" y="1761404"/>
            <a:ext cx="10358120" cy="3939540"/>
          </a:xfrm>
        </p:spPr>
        <p:txBody>
          <a:bodyPr/>
          <a:lstStyle/>
          <a:p>
            <a:r>
              <a:rPr sz="3200" dirty="0"/>
              <a:t>CFG is a graph-based representation of program execution.</a:t>
            </a:r>
            <a:endParaRPr lang="en-US" sz="3200" dirty="0"/>
          </a:p>
          <a:p>
            <a:endParaRPr sz="3200" dirty="0"/>
          </a:p>
          <a:p>
            <a:r>
              <a:rPr sz="3200" dirty="0"/>
              <a:t>Nodes = basic blocks; Edges = control flow.</a:t>
            </a:r>
            <a:endParaRPr lang="en-US" sz="3200" dirty="0"/>
          </a:p>
          <a:p>
            <a:endParaRPr sz="3200" dirty="0"/>
          </a:p>
          <a:p>
            <a:r>
              <a:rPr sz="3200" dirty="0"/>
              <a:t>Useful in compiler design, testing, </a:t>
            </a:r>
            <a:r>
              <a:rPr lang="en-US" sz="3200" dirty="0"/>
              <a:t>optimizations </a:t>
            </a:r>
          </a:p>
          <a:p>
            <a:r>
              <a:rPr lang="en-US" sz="3200" dirty="0"/>
              <a:t>      </a:t>
            </a:r>
            <a:r>
              <a:rPr sz="3200" dirty="0"/>
              <a:t>and program analysis.</a:t>
            </a:r>
            <a:endParaRPr lang="en-US" sz="3200" dirty="0"/>
          </a:p>
          <a:p>
            <a:endParaRPr sz="3200" dirty="0"/>
          </a:p>
          <a:p>
            <a:r>
              <a:rPr sz="3200" dirty="0"/>
              <a:t>Enables better understanding of complex program structures.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841</TotalTime>
  <Words>1981</Words>
  <Application>Microsoft Office PowerPoint</Application>
  <PresentationFormat>Widescreen</PresentationFormat>
  <Paragraphs>348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Courier New</vt:lpstr>
      <vt:lpstr>Office Theme</vt:lpstr>
      <vt:lpstr>CSE110A: Compilers</vt:lpstr>
      <vt:lpstr>Optimization categories</vt:lpstr>
      <vt:lpstr>Optimization categories</vt:lpstr>
      <vt:lpstr>Optimization categories</vt:lpstr>
      <vt:lpstr>Optimization categories</vt:lpstr>
      <vt:lpstr>Optimization categories</vt:lpstr>
      <vt:lpstr>BASIC BLOCKS</vt:lpstr>
      <vt:lpstr>IR Program structure</vt:lpstr>
      <vt:lpstr>IR Program structure</vt:lpstr>
      <vt:lpstr>IR Program structure</vt:lpstr>
      <vt:lpstr>IR Program structure</vt:lpstr>
      <vt:lpstr>Converting 3 address code into basic blocks</vt:lpstr>
      <vt:lpstr>Converting 3 address code into basic blocks</vt:lpstr>
      <vt:lpstr>Converting 3 address code into basic blocks</vt:lpstr>
      <vt:lpstr>Optimization levels</vt:lpstr>
      <vt:lpstr>Optimization levels</vt:lpstr>
      <vt:lpstr>Optimization levels</vt:lpstr>
      <vt:lpstr>Optimization levels</vt:lpstr>
      <vt:lpstr>Optimization levels</vt:lpstr>
      <vt:lpstr>Regional Optimization</vt:lpstr>
      <vt:lpstr>Regional Optimization: Data Flow Analysis</vt:lpstr>
      <vt:lpstr>Optimizing over wider regions</vt:lpstr>
      <vt:lpstr>Control Flow Graphs (CFG)</vt:lpstr>
      <vt:lpstr>What is a CFG?</vt:lpstr>
      <vt:lpstr>Components of a CFG</vt:lpstr>
      <vt:lpstr>Example Program</vt:lpstr>
      <vt:lpstr>Example Program as 3-address code</vt:lpstr>
      <vt:lpstr>Example Program as 3-address code</vt:lpstr>
      <vt:lpstr>Why CFG is Important</vt:lpstr>
      <vt:lpstr>Types of CFG Edges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Marcelo Siero</cp:lastModifiedBy>
  <cp:revision>18</cp:revision>
  <dcterms:created xsi:type="dcterms:W3CDTF">2025-05-18T02:21:44Z</dcterms:created>
  <dcterms:modified xsi:type="dcterms:W3CDTF">2026-03-17T23:40:03Z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2024-05-20T00:00:00Z</vt:filetime>
  </property>
  <property fmtid="{D5CDD505-2E9C-101B-9397-08002B2CF9AE}" pid="3" name="LastSaved">
    <vt:filetime>2025-05-18T00:00:00Z</vt:filetime>
  </property>
</Properties>
</file>