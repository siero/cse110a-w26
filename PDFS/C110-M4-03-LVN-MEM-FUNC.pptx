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7" r:id="rId2"/>
    <p:sldId id="1952" r:id="rId3"/>
    <p:sldId id="1949" r:id="rId4"/>
    <p:sldId id="641" r:id="rId5"/>
    <p:sldId id="1950" r:id="rId6"/>
    <p:sldId id="642" r:id="rId7"/>
    <p:sldId id="643" r:id="rId8"/>
    <p:sldId id="2000" r:id="rId9"/>
    <p:sldId id="1951" r:id="rId10"/>
    <p:sldId id="2001" r:id="rId11"/>
    <p:sldId id="644" r:id="rId12"/>
    <p:sldId id="645" r:id="rId13"/>
    <p:sldId id="646" r:id="rId14"/>
    <p:sldId id="647" r:id="rId15"/>
    <p:sldId id="648" r:id="rId16"/>
    <p:sldId id="2003" r:id="rId17"/>
    <p:sldId id="1953" r:id="rId18"/>
    <p:sldId id="1954" r:id="rId19"/>
    <p:sldId id="1955" r:id="rId20"/>
    <p:sldId id="1956" r:id="rId21"/>
    <p:sldId id="1957" r:id="rId22"/>
    <p:sldId id="1958" r:id="rId23"/>
    <p:sldId id="1959" r:id="rId24"/>
    <p:sldId id="196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41"/>
    <p:restoredTop sz="96405"/>
  </p:normalViewPr>
  <p:slideViewPr>
    <p:cSldViewPr snapToGrid="0" snapToObjects="1">
      <p:cViewPr varScale="1">
        <p:scale>
          <a:sx n="72" d="100"/>
          <a:sy n="72" d="100"/>
        </p:scale>
        <p:origin x="60" y="6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6A6930-6FE4-5249-A389-5C34F8D02512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7B7F8-0CD4-BB49-9045-2C974462FF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789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43C2-07A5-BB44-9F43-B20E7E531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41C6CB-5CAA-DD48-BDA4-0592D5FF8B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62CB0-8583-4540-BE1C-F84CB375F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B2658-7209-954E-8DDF-07C641D90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4973-44DE-7342-BA01-547EED31C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8217-0850-FA42-8B72-F673F24DE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12092-A792-584F-8A1C-32C031603F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86E26-FE36-7B4D-AAF5-904CF3BBD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D109-2568-4B4F-B7F4-2C7AD017C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AD3A7-3697-7C4A-A781-66DD5DCCA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1996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C555C-64CB-F548-ABB6-4B463934B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C269A-28B6-FB43-BB47-BA94CF3328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521C4-BC30-3646-824D-F119E616E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D182C-D8EA-B948-8737-5A6BD5B4D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787B1-6592-9044-9667-44816CAAB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8500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A981-5F59-8940-A2F7-8CE7EAE3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DAABA-0EEF-254E-B417-1B2EB27435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96200-086D-EA44-85BA-8D8F7BA4D8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D651E-2A31-AF4F-8A27-A2301E38A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1ED8DF-7DBC-294E-82B1-18236111A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DE2C9E-91E9-FD42-9F13-932CADEBD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75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92995-0013-6F49-9741-2EA0BF408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6D280-4929-384B-8615-167612096F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029458-FF2B-1440-8335-632CAA842D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9CA800-81C1-B646-A953-E8DBE47BC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CEC6B-205E-0B45-A0F3-6C8FCEE9A1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1920B-F361-C64F-BB0E-35F2D2CB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D44ECE-207A-FA4C-9475-C03DC72DF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C1820C-AD96-D443-8AA8-5641E038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3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F0FFF-6ED0-6243-A2AE-B253809A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091E3-DFC5-0540-9C75-225956946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BC49A3-0384-754C-BED0-DC0D47B42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2BA99-1D12-C64F-996A-85628BB3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8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36606B-79E4-A34B-BE97-997D9D758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9557CB-8103-3B41-A940-4FD4799A3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919D0-3FCE-CF4E-9D34-9E0CD3DF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983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B636-4EDD-7341-9B7D-17AAD47C6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F0136-D7DD-1044-B848-27E313D5A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7DAE57-151C-234A-AA03-81AA7510B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5ED6AC-BAC0-EB4C-9277-A63F66607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45925-827B-DA4D-8CDF-AC1503BA2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854FF9-5EE1-A94C-9742-0AC2B9C34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53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B654-18D6-F84E-B59E-E18CBEE4C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6D7EFC-4004-0145-A2F9-E508D0958C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815D9-4FFF-1643-9F8A-2708D6AAA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662FC-F0E3-2D4D-B116-98471B67E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612221-F75B-BA43-B4BA-28655085A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FC9E1C-49AC-D74C-B71C-A5DC2EB02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07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7DDD4-B6A1-124E-97F1-BA8418676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FEE7DE-9595-5745-A856-48AB8F5B52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F81CC-8DBA-1342-88D3-380AA2B30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FA341-EA27-6943-B20F-AFA538A66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3FE79-E424-E945-ADDC-83D446C5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236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8F054-886E-8B44-8EBE-87FBB61503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A284C-386A-6C4E-9A40-04DA68EFB5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98CBE6-4A2A-6549-898B-B2545B837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ED32C-794E-1143-802D-3AD6C9B71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FF59B-F6CF-464E-93D4-AA7B3EE8C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127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F7A43-3B09-424D-B3CE-5FDEDAF2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A7AA5-45BE-FB42-A660-04610BF855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A802-9596-D94B-AF54-17577EF83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CE19A-8503-7843-8A88-9F39D8324431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50162-12AB-E644-9FE6-953D58433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B02E1-3BE0-DA47-8CDF-D1AE848A25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60BDC8-442D-FF45-BCA9-EECAFF0BA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7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839" y="2324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80" y="2111639"/>
            <a:ext cx="6901683" cy="42035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</a:t>
            </a:r>
          </a:p>
          <a:p>
            <a:r>
              <a:rPr lang="en-US" i="1" dirty="0"/>
              <a:t>LVN Memory </a:t>
            </a:r>
          </a:p>
          <a:p>
            <a:r>
              <a:rPr lang="en-US" i="1" dirty="0"/>
              <a:t>LVN Functions</a:t>
            </a:r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126" y="2766218"/>
            <a:ext cx="7987748" cy="1325563"/>
          </a:xfrm>
        </p:spPr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277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877-B826-E14D-8BCE-AB091F8D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7340"/>
          </a:xfrm>
        </p:spPr>
        <p:txBody>
          <a:bodyPr/>
          <a:lstStyle/>
          <a:p>
            <a:r>
              <a:rPr lang="en-US" dirty="0"/>
              <a:t>Consider a 3 address code that allows memory accesses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294827" y="2886362"/>
            <a:ext cx="508071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0EA39-5007-9A4F-B3F8-CC61336396F7}"/>
              </a:ext>
            </a:extLst>
          </p:cNvPr>
          <p:cNvSpPr txBox="1"/>
          <p:nvPr/>
        </p:nvSpPr>
        <p:spPr>
          <a:xfrm>
            <a:off x="838199" y="5279597"/>
            <a:ext cx="399396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8145E-ECC1-3640-AD97-EDDB4FF67DC4}"/>
              </a:ext>
            </a:extLst>
          </p:cNvPr>
          <p:cNvSpPr txBox="1"/>
          <p:nvPr/>
        </p:nvSpPr>
        <p:spPr>
          <a:xfrm>
            <a:off x="2835182" y="4597650"/>
            <a:ext cx="3083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transformation allowed?</a:t>
            </a:r>
            <a:br>
              <a:rPr lang="en-US" i="1" dirty="0"/>
            </a:br>
            <a:endParaRPr lang="en-US" i="1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1F6227-8A42-E04B-8E5D-E2CA82D8842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835183" y="3717359"/>
            <a:ext cx="0" cy="1562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471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877-B826-E14D-8BCE-AB091F8D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7340"/>
          </a:xfrm>
        </p:spPr>
        <p:txBody>
          <a:bodyPr/>
          <a:lstStyle/>
          <a:p>
            <a:r>
              <a:rPr lang="en-US" dirty="0"/>
              <a:t>Consider a 3 address code that allows memory accesses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294827" y="2886362"/>
            <a:ext cx="508071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0EA39-5007-9A4F-B3F8-CC61336396F7}"/>
              </a:ext>
            </a:extLst>
          </p:cNvPr>
          <p:cNvSpPr txBox="1"/>
          <p:nvPr/>
        </p:nvSpPr>
        <p:spPr>
          <a:xfrm>
            <a:off x="838199" y="5279597"/>
            <a:ext cx="399396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A8145E-ECC1-3640-AD97-EDDB4FF67DC4}"/>
              </a:ext>
            </a:extLst>
          </p:cNvPr>
          <p:cNvSpPr txBox="1"/>
          <p:nvPr/>
        </p:nvSpPr>
        <p:spPr>
          <a:xfrm>
            <a:off x="2835182" y="4597650"/>
            <a:ext cx="3083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is this transformation allowed?</a:t>
            </a:r>
            <a:br>
              <a:rPr lang="en-US" i="1" dirty="0"/>
            </a:br>
            <a:r>
              <a:rPr lang="en-US" i="1" dirty="0"/>
              <a:t>No!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1F6227-8A42-E04B-8E5D-E2CA82D8842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835183" y="3717359"/>
            <a:ext cx="0" cy="1562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406C24-E40F-E94D-8E93-6A8913D3758F}"/>
              </a:ext>
            </a:extLst>
          </p:cNvPr>
          <p:cNvSpPr txBox="1"/>
          <p:nvPr/>
        </p:nvSpPr>
        <p:spPr>
          <a:xfrm>
            <a:off x="6186791" y="4597650"/>
            <a:ext cx="57052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only if the compiler can prove that </a:t>
            </a:r>
            <a:r>
              <a:rPr lang="en-US" dirty="0">
                <a:latin typeface="Courier" pitchFamily="2" charset="0"/>
              </a:rPr>
              <a:t>a</a:t>
            </a:r>
            <a:r>
              <a:rPr lang="en-US" dirty="0"/>
              <a:t> does not alias </a:t>
            </a:r>
            <a:r>
              <a:rPr lang="en-US" dirty="0">
                <a:latin typeface="Courier" pitchFamily="2" charset="0"/>
              </a:rPr>
              <a:t>x</a:t>
            </a:r>
            <a:r>
              <a:rPr lang="en-US" dirty="0"/>
              <a:t> and </a:t>
            </a:r>
            <a:r>
              <a:rPr lang="en-US" dirty="0">
                <a:latin typeface="Courier" pitchFamily="2" charset="0"/>
              </a:rPr>
              <a:t>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2AD57D-3E00-1540-9097-9F4DC0CEF07A}"/>
              </a:ext>
            </a:extLst>
          </p:cNvPr>
          <p:cNvSpPr txBox="1"/>
          <p:nvPr/>
        </p:nvSpPr>
        <p:spPr>
          <a:xfrm>
            <a:off x="6079787" y="5642043"/>
            <a:ext cx="578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worst case, every time a memory location is updated,</a:t>
            </a:r>
            <a:br>
              <a:rPr lang="en-US" dirty="0"/>
            </a:br>
            <a:r>
              <a:rPr lang="en-US" dirty="0"/>
              <a:t>the compiler must update the value for all pointers.</a:t>
            </a:r>
          </a:p>
        </p:txBody>
      </p:sp>
    </p:spTree>
    <p:extLst>
      <p:ext uri="{BB962C8B-B14F-4D97-AF65-F5344CB8AC3E}">
        <p14:creationId xmlns:p14="http://schemas.microsoft.com/office/powerpoint/2010/main" val="11894010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877-B826-E14D-8BCE-AB091F8D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7340"/>
          </a:xfrm>
        </p:spPr>
        <p:txBody>
          <a:bodyPr/>
          <a:lstStyle/>
          <a:p>
            <a:r>
              <a:rPr lang="en-US" dirty="0"/>
              <a:t>Consider a 3 address code that allows memory accesses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294827" y="2886362"/>
            <a:ext cx="508071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60EA39-5007-9A4F-B3F8-CC61336396F7}"/>
              </a:ext>
            </a:extLst>
          </p:cNvPr>
          <p:cNvSpPr txBox="1"/>
          <p:nvPr/>
        </p:nvSpPr>
        <p:spPr>
          <a:xfrm>
            <a:off x="838199" y="5279597"/>
            <a:ext cx="399396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];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81F6227-8A42-E04B-8E5D-E2CA82D88420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2835183" y="3717359"/>
            <a:ext cx="0" cy="15622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B978118-63DA-EF36-62AD-94668D05F83B}"/>
              </a:ext>
            </a:extLst>
          </p:cNvPr>
          <p:cNvSpPr txBox="1"/>
          <p:nvPr/>
        </p:nvSpPr>
        <p:spPr>
          <a:xfrm>
            <a:off x="8003263" y="3014803"/>
            <a:ext cx="340567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Example, initially: </a:t>
            </a:r>
          </a:p>
          <a:p>
            <a:endParaRPr lang="en-US" dirty="0"/>
          </a:p>
          <a:p>
            <a:r>
              <a:rPr lang="en-US" dirty="0" err="1">
                <a:latin typeface="Courier" pitchFamily="2" charset="0"/>
              </a:rPr>
              <a:t>i</a:t>
            </a:r>
            <a:r>
              <a:rPr lang="en-US" dirty="0">
                <a:latin typeface="Courier" pitchFamily="2" charset="0"/>
              </a:rPr>
              <a:t> = j</a:t>
            </a:r>
          </a:p>
          <a:p>
            <a:r>
              <a:rPr lang="en-US" dirty="0">
                <a:latin typeface="Courier" pitchFamily="2" charset="0"/>
              </a:rPr>
              <a:t>a = x</a:t>
            </a:r>
          </a:p>
          <a:p>
            <a:r>
              <a:rPr lang="en-US" dirty="0">
                <a:latin typeface="Courier" pitchFamily="2" charset="0"/>
              </a:rPr>
              <a:t>y[k] = 1</a:t>
            </a:r>
          </a:p>
          <a:p>
            <a:r>
              <a:rPr lang="en-US" dirty="0">
                <a:latin typeface="Courier" pitchFamily="2" charset="0"/>
              </a:rPr>
              <a:t>x[j] = 1</a:t>
            </a:r>
          </a:p>
          <a:p>
            <a:endParaRPr lang="en-US" dirty="0"/>
          </a:p>
          <a:p>
            <a:r>
              <a:rPr lang="en-US" dirty="0"/>
              <a:t>What does b[</a:t>
            </a:r>
            <a:r>
              <a:rPr lang="en-US" dirty="0" err="1"/>
              <a:t>i</a:t>
            </a:r>
            <a:r>
              <a:rPr lang="en-US" dirty="0"/>
              <a:t>] equal at the end of</a:t>
            </a:r>
          </a:p>
          <a:p>
            <a:r>
              <a:rPr lang="en-US" dirty="0"/>
              <a:t>each computation?</a:t>
            </a:r>
          </a:p>
        </p:txBody>
      </p:sp>
    </p:spTree>
    <p:extLst>
      <p:ext uri="{BB962C8B-B14F-4D97-AF65-F5344CB8AC3E}">
        <p14:creationId xmlns:p14="http://schemas.microsoft.com/office/powerpoint/2010/main" val="2412413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F8877-B826-E14D-8BCE-AB091F8D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60766"/>
          </a:xfrm>
        </p:spPr>
        <p:txBody>
          <a:bodyPr>
            <a:normAutofit/>
          </a:bodyPr>
          <a:lstStyle/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611631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 = x[j] + y[k];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b = x[j] + y[k];</a:t>
            </a:r>
          </a:p>
        </p:txBody>
      </p:sp>
    </p:spTree>
    <p:extLst>
      <p:ext uri="{BB962C8B-B14F-4D97-AF65-F5344CB8AC3E}">
        <p14:creationId xmlns:p14="http://schemas.microsoft.com/office/powerpoint/2010/main" val="2896008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(b,6) = (x[j],?) + (y[k],?);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</p:spTree>
    <p:extLst>
      <p:ext uri="{BB962C8B-B14F-4D97-AF65-F5344CB8AC3E}">
        <p14:creationId xmlns:p14="http://schemas.microsoft.com/office/powerpoint/2010/main" val="39794647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(b,6) = (x[j],4) + (y[k],5);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FF577-D417-2922-F282-CD02C8FD1550}"/>
              </a:ext>
            </a:extLst>
          </p:cNvPr>
          <p:cNvSpPr txBox="1"/>
          <p:nvPr/>
        </p:nvSpPr>
        <p:spPr>
          <a:xfrm>
            <a:off x="8238653" y="4671588"/>
            <a:ext cx="21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help at all?</a:t>
            </a:r>
          </a:p>
        </p:txBody>
      </p:sp>
    </p:spTree>
    <p:extLst>
      <p:ext uri="{BB962C8B-B14F-4D97-AF65-F5344CB8AC3E}">
        <p14:creationId xmlns:p14="http://schemas.microsoft.com/office/powerpoint/2010/main" val="2329316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(b,6) = (x[j],4) + (y[k],5);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(c,7) = (x[j],4) + (y[k],5);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FF577-D417-2922-F282-CD02C8FD1550}"/>
              </a:ext>
            </a:extLst>
          </p:cNvPr>
          <p:cNvSpPr txBox="1"/>
          <p:nvPr/>
        </p:nvSpPr>
        <p:spPr>
          <a:xfrm>
            <a:off x="8238653" y="4671588"/>
            <a:ext cx="21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help at all?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B36AB-3E9B-49ED-C69C-14A0EAF29D63}"/>
              </a:ext>
            </a:extLst>
          </p:cNvPr>
          <p:cNvSpPr txBox="1"/>
          <p:nvPr/>
        </p:nvSpPr>
        <p:spPr>
          <a:xfrm>
            <a:off x="5350599" y="5861478"/>
            <a:ext cx="6340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there is no memory writes between an assignment to a variable</a:t>
            </a:r>
          </a:p>
          <a:p>
            <a:r>
              <a:rPr lang="en-US" dirty="0"/>
              <a:t>then we can do a replacement</a:t>
            </a:r>
          </a:p>
        </p:txBody>
      </p:sp>
    </p:spTree>
    <p:extLst>
      <p:ext uri="{BB962C8B-B14F-4D97-AF65-F5344CB8AC3E}">
        <p14:creationId xmlns:p14="http://schemas.microsoft.com/office/powerpoint/2010/main" val="4065590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(b,6) = (x[j],4) + (y[k],5);</a:t>
            </a:r>
          </a:p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(c,7) = (b,6);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8AFF577-D417-2922-F282-CD02C8FD1550}"/>
              </a:ext>
            </a:extLst>
          </p:cNvPr>
          <p:cNvSpPr txBox="1"/>
          <p:nvPr/>
        </p:nvSpPr>
        <p:spPr>
          <a:xfrm>
            <a:off x="8238653" y="4671588"/>
            <a:ext cx="21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Does this help at all?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4B36AB-3E9B-49ED-C69C-14A0EAF29D63}"/>
              </a:ext>
            </a:extLst>
          </p:cNvPr>
          <p:cNvSpPr txBox="1"/>
          <p:nvPr/>
        </p:nvSpPr>
        <p:spPr>
          <a:xfrm>
            <a:off x="5350599" y="5861478"/>
            <a:ext cx="63408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there is no memory writes between an assignment to a variable</a:t>
            </a:r>
          </a:p>
          <a:p>
            <a:r>
              <a:rPr lang="en-US" dirty="0"/>
              <a:t>then we can do a replacement</a:t>
            </a:r>
          </a:p>
        </p:txBody>
      </p:sp>
    </p:spTree>
    <p:extLst>
      <p:ext uri="{BB962C8B-B14F-4D97-AF65-F5344CB8AC3E}">
        <p14:creationId xmlns:p14="http://schemas.microsoft.com/office/powerpoint/2010/main" val="277799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],6) = (x[j],4) + (y[k],5);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51B54-B664-D046-85EB-8C93784D518E}"/>
              </a:ext>
            </a:extLst>
          </p:cNvPr>
          <p:cNvSpPr txBox="1"/>
          <p:nvPr/>
        </p:nvSpPr>
        <p:spPr>
          <a:xfrm>
            <a:off x="8310118" y="3797458"/>
            <a:ext cx="33520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compiler analysis might try</a:t>
            </a:r>
            <a:br>
              <a:rPr lang="en-US" dirty="0"/>
            </a:br>
            <a:r>
              <a:rPr lang="en-US" dirty="0"/>
              <a:t>to determine that addresses can’t</a:t>
            </a:r>
            <a:br>
              <a:rPr lang="en-US" dirty="0"/>
            </a:br>
            <a:r>
              <a:rPr lang="en-US" dirty="0"/>
              <a:t>alias </a:t>
            </a:r>
          </a:p>
          <a:p>
            <a:endParaRPr lang="en-US" dirty="0"/>
          </a:p>
          <a:p>
            <a:r>
              <a:rPr lang="en-US" dirty="0"/>
              <a:t>can we trace </a:t>
            </a:r>
            <a:r>
              <a:rPr lang="en-US" dirty="0" err="1">
                <a:latin typeface="Courier" pitchFamily="2" charset="0"/>
              </a:rPr>
              <a:t>a,x,y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>
                <a:latin typeface="Courier" pitchFamily="2" charset="0"/>
              </a:rPr>
              <a:t>a = malloc(…);</a:t>
            </a:r>
          </a:p>
          <a:p>
            <a:r>
              <a:rPr lang="en-US" dirty="0">
                <a:latin typeface="Courier" pitchFamily="2" charset="0"/>
              </a:rPr>
              <a:t>x = malloc(…);</a:t>
            </a:r>
          </a:p>
          <a:p>
            <a:r>
              <a:rPr lang="en-US" dirty="0">
                <a:latin typeface="Courier" pitchFamily="2" charset="0"/>
              </a:rPr>
              <a:t>y = malloc(…);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>
                <a:latin typeface="Courier" pitchFamily="2" charset="0"/>
              </a:rPr>
              <a:t>a,x,y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are never overwritten</a:t>
            </a:r>
          </a:p>
        </p:txBody>
      </p:sp>
    </p:spTree>
    <p:extLst>
      <p:ext uri="{BB962C8B-B14F-4D97-AF65-F5344CB8AC3E}">
        <p14:creationId xmlns:p14="http://schemas.microsoft.com/office/powerpoint/2010/main" val="336365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],6)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(x[j],1) + (y[k],2);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F75DE7-8951-C84A-B984-6D20F215AA9B}"/>
              </a:ext>
            </a:extLst>
          </p:cNvPr>
          <p:cNvSpPr txBox="1"/>
          <p:nvPr/>
        </p:nvSpPr>
        <p:spPr>
          <a:xfrm>
            <a:off x="2519464" y="5307480"/>
            <a:ext cx="485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case we do not have to update the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417898-8D22-E3CB-36A8-6BD5CF8D73BD}"/>
              </a:ext>
            </a:extLst>
          </p:cNvPr>
          <p:cNvSpPr txBox="1"/>
          <p:nvPr/>
        </p:nvSpPr>
        <p:spPr>
          <a:xfrm>
            <a:off x="8310118" y="3797458"/>
            <a:ext cx="335200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compiler analysis might try</a:t>
            </a:r>
            <a:br>
              <a:rPr lang="en-US" dirty="0"/>
            </a:br>
            <a:r>
              <a:rPr lang="en-US" dirty="0"/>
              <a:t>to determine that addresses can’t</a:t>
            </a:r>
            <a:br>
              <a:rPr lang="en-US" dirty="0"/>
            </a:br>
            <a:r>
              <a:rPr lang="en-US" dirty="0"/>
              <a:t>alias </a:t>
            </a:r>
          </a:p>
          <a:p>
            <a:endParaRPr lang="en-US" dirty="0"/>
          </a:p>
          <a:p>
            <a:r>
              <a:rPr lang="en-US" dirty="0"/>
              <a:t>can we trace </a:t>
            </a:r>
            <a:r>
              <a:rPr lang="en-US" dirty="0" err="1">
                <a:latin typeface="Courier" pitchFamily="2" charset="0"/>
              </a:rPr>
              <a:t>a,x,y</a:t>
            </a:r>
            <a:r>
              <a:rPr lang="en-US" dirty="0"/>
              <a:t> to </a:t>
            </a:r>
            <a:br>
              <a:rPr lang="en-US" dirty="0"/>
            </a:br>
            <a:r>
              <a:rPr lang="en-US" dirty="0">
                <a:latin typeface="Courier" pitchFamily="2" charset="0"/>
              </a:rPr>
              <a:t>a = malloc(…);</a:t>
            </a:r>
          </a:p>
          <a:p>
            <a:r>
              <a:rPr lang="en-US" dirty="0">
                <a:latin typeface="Courier" pitchFamily="2" charset="0"/>
              </a:rPr>
              <a:t>x = malloc(…);</a:t>
            </a:r>
          </a:p>
          <a:p>
            <a:r>
              <a:rPr lang="en-US" dirty="0">
                <a:latin typeface="Courier" pitchFamily="2" charset="0"/>
              </a:rPr>
              <a:t>y = malloc(…);</a:t>
            </a:r>
          </a:p>
          <a:p>
            <a:endParaRPr lang="en-US" dirty="0"/>
          </a:p>
          <a:p>
            <a:r>
              <a:rPr lang="en-US" dirty="0"/>
              <a:t>// </a:t>
            </a:r>
            <a:r>
              <a:rPr lang="en-US" dirty="0" err="1">
                <a:latin typeface="Courier" pitchFamily="2" charset="0"/>
              </a:rPr>
              <a:t>a,x,y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are never overwritten</a:t>
            </a:r>
          </a:p>
        </p:txBody>
      </p:sp>
    </p:spTree>
    <p:extLst>
      <p:ext uri="{BB962C8B-B14F-4D97-AF65-F5344CB8AC3E}">
        <p14:creationId xmlns:p14="http://schemas.microsoft.com/office/powerpoint/2010/main" val="12379756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],6) = (x[j],4) + (y[k],5);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F3034-AF87-804B-AAB8-C7FEAD50A984}"/>
              </a:ext>
            </a:extLst>
          </p:cNvPr>
          <p:cNvSpPr txBox="1"/>
          <p:nvPr/>
        </p:nvSpPr>
        <p:spPr>
          <a:xfrm>
            <a:off x="7733489" y="4813120"/>
            <a:ext cx="3959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programmer annotations can also tell the compiler that no other pointer</a:t>
            </a:r>
            <a:br>
              <a:rPr lang="en-US" dirty="0"/>
            </a:br>
            <a:r>
              <a:rPr lang="en-US" dirty="0"/>
              <a:t>can access the memory pointed to by a</a:t>
            </a:r>
          </a:p>
        </p:txBody>
      </p:sp>
    </p:spTree>
    <p:extLst>
      <p:ext uri="{BB962C8B-B14F-4D97-AF65-F5344CB8AC3E}">
        <p14:creationId xmlns:p14="http://schemas.microsoft.com/office/powerpoint/2010/main" val="743931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],6)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(x[j],4) + (y[k],5);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4B823F-0092-A54B-8815-E9B7FFD26D27}"/>
              </a:ext>
            </a:extLst>
          </p:cNvPr>
          <p:cNvSpPr txBox="1"/>
          <p:nvPr/>
        </p:nvSpPr>
        <p:spPr>
          <a:xfrm>
            <a:off x="7733489" y="4377447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restrict 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F3034-AF87-804B-AAB8-C7FEAD50A984}"/>
              </a:ext>
            </a:extLst>
          </p:cNvPr>
          <p:cNvSpPr txBox="1"/>
          <p:nvPr/>
        </p:nvSpPr>
        <p:spPr>
          <a:xfrm>
            <a:off x="7733489" y="4813120"/>
            <a:ext cx="3959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programmer annotations can also tell the compiler that no other pointer</a:t>
            </a:r>
            <a:br>
              <a:rPr lang="en-US" dirty="0"/>
            </a:br>
            <a:r>
              <a:rPr lang="en-US" dirty="0"/>
              <a:t>can access the memory pointed to by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3578D1-D64F-9B46-92DD-92FCAB82FA8C}"/>
              </a:ext>
            </a:extLst>
          </p:cNvPr>
          <p:cNvSpPr txBox="1"/>
          <p:nvPr/>
        </p:nvSpPr>
        <p:spPr>
          <a:xfrm>
            <a:off x="2519464" y="5307480"/>
            <a:ext cx="4850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case we do not have to update the number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14742A-26E4-363B-24B0-4C4551DFB0B3}"/>
              </a:ext>
            </a:extLst>
          </p:cNvPr>
          <p:cNvSpPr txBox="1"/>
          <p:nvPr/>
        </p:nvSpPr>
        <p:spPr>
          <a:xfrm>
            <a:off x="7659232" y="6065822"/>
            <a:ext cx="39273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0000"/>
                </a:highlight>
              </a:rPr>
              <a:t>Warning</a:t>
            </a:r>
            <a:r>
              <a:rPr lang="en-US" dirty="0"/>
              <a:t>: the compiler does not enforce</a:t>
            </a:r>
            <a:br>
              <a:rPr lang="en-US" dirty="0"/>
            </a:br>
            <a:r>
              <a:rPr lang="en-US" dirty="0"/>
              <a:t>this!</a:t>
            </a:r>
          </a:p>
        </p:txBody>
      </p:sp>
    </p:spTree>
    <p:extLst>
      <p:ext uri="{BB962C8B-B14F-4D97-AF65-F5344CB8AC3E}">
        <p14:creationId xmlns:p14="http://schemas.microsoft.com/office/powerpoint/2010/main" val="17781754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Memory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4397622"/>
            <a:ext cx="6447817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 = (x[j],1) + (y[k],2);</a:t>
            </a:r>
            <a:br>
              <a:rPr lang="en-US" sz="2400" dirty="0">
                <a:latin typeface="Courier" pitchFamily="2" charset="0"/>
              </a:rPr>
            </a:br>
            <a:r>
              <a:rPr lang="en-US" sz="2400" dirty="0">
                <a:latin typeface="Courier" pitchFamily="2" charset="0"/>
              </a:rPr>
              <a:t>(b[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],6) = (a[</a:t>
            </a:r>
            <a:r>
              <a:rPr lang="en-US" sz="2400" dirty="0" err="1">
                <a:latin typeface="Courier" pitchFamily="2" charset="0"/>
              </a:rPr>
              <a:t>i</a:t>
            </a:r>
            <a:r>
              <a:rPr lang="en-US" sz="2400" dirty="0">
                <a:latin typeface="Courier" pitchFamily="2" charset="0"/>
              </a:rPr>
              <a:t>],3);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to number: </a:t>
            </a:r>
          </a:p>
          <a:p>
            <a:pPr lvl="1"/>
            <a:r>
              <a:rPr lang="en-US" dirty="0"/>
              <a:t>Number each pointer/index pair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Any pointer/index pair that might alias must be incremented at each instruction</a:t>
            </a:r>
          </a:p>
        </p:txBody>
      </p:sp>
    </p:spTree>
    <p:extLst>
      <p:ext uri="{BB962C8B-B14F-4D97-AF65-F5344CB8AC3E}">
        <p14:creationId xmlns:p14="http://schemas.microsoft.com/office/powerpoint/2010/main" val="2185236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66A40-D5CB-2119-68A8-9A03CADCF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F6E1C-DD6B-AB48-370B-B2BD68174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126" y="2766218"/>
            <a:ext cx="7987748" cy="1325563"/>
          </a:xfrm>
        </p:spPr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530258B-91D4-7713-2465-7F63D98CC1E0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4569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x = b;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</p:spTree>
    <p:extLst>
      <p:ext uri="{BB962C8B-B14F-4D97-AF65-F5344CB8AC3E}">
        <p14:creationId xmlns:p14="http://schemas.microsoft.com/office/powerpoint/2010/main" val="4232135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x = b;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3130136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foo(x0);</a:t>
            </a:r>
          </a:p>
          <a:p>
            <a:r>
              <a:rPr lang="en-US" sz="2400" dirty="0">
                <a:latin typeface="Courier" pitchFamily="2" charset="0"/>
              </a:rPr>
              <a:t>x3 = b2;</a:t>
            </a:r>
          </a:p>
          <a:p>
            <a:r>
              <a:rPr lang="en-US" sz="2400" dirty="0">
                <a:latin typeface="Courier" pitchFamily="2" charset="0"/>
              </a:rPr>
              <a:t>c4 = foo(x3);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ADD-125A-4C8C-4026-F0C7CFEA74EE}"/>
              </a:ext>
            </a:extLst>
          </p:cNvPr>
          <p:cNvSpPr txBox="1"/>
          <p:nvPr/>
        </p:nvSpPr>
        <p:spPr>
          <a:xfrm>
            <a:off x="5459839" y="2247047"/>
            <a:ext cx="1905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12EEA-4CEA-4A95-E381-ABD98D336C70}"/>
              </a:ext>
            </a:extLst>
          </p:cNvPr>
          <p:cNvSpPr txBox="1"/>
          <p:nvPr/>
        </p:nvSpPr>
        <p:spPr>
          <a:xfrm>
            <a:off x="9705315" y="3123446"/>
            <a:ext cx="20776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you had</a:t>
            </a:r>
          </a:p>
          <a:p>
            <a:r>
              <a:rPr lang="en-US" dirty="0"/>
              <a:t>first class functions?</a:t>
            </a:r>
          </a:p>
        </p:txBody>
      </p:sp>
    </p:spTree>
    <p:extLst>
      <p:ext uri="{BB962C8B-B14F-4D97-AF65-F5344CB8AC3E}">
        <p14:creationId xmlns:p14="http://schemas.microsoft.com/office/powerpoint/2010/main" val="3259901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x = b;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3130136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foo(x0);</a:t>
            </a:r>
          </a:p>
          <a:p>
            <a:r>
              <a:rPr lang="en-US" sz="2400" dirty="0">
                <a:latin typeface="Courier" pitchFamily="2" charset="0"/>
              </a:rPr>
              <a:t>x3 = b2;</a:t>
            </a:r>
          </a:p>
          <a:p>
            <a:r>
              <a:rPr lang="en-US" sz="2400" dirty="0">
                <a:latin typeface="Courier" pitchFamily="2" charset="0"/>
              </a:rPr>
              <a:t>c4 =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foo(x3);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ADD-125A-4C8C-4026-F0C7CFEA74EE}"/>
              </a:ext>
            </a:extLst>
          </p:cNvPr>
          <p:cNvSpPr txBox="1"/>
          <p:nvPr/>
        </p:nvSpPr>
        <p:spPr>
          <a:xfrm>
            <a:off x="5459839" y="2247047"/>
            <a:ext cx="1905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911B1-89BD-0CEC-21F2-BC49E9A1D15B}"/>
              </a:ext>
            </a:extLst>
          </p:cNvPr>
          <p:cNvSpPr txBox="1"/>
          <p:nvPr/>
        </p:nvSpPr>
        <p:spPr>
          <a:xfrm>
            <a:off x="8573632" y="3567065"/>
            <a:ext cx="1723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replace?</a:t>
            </a:r>
          </a:p>
        </p:txBody>
      </p:sp>
    </p:spTree>
    <p:extLst>
      <p:ext uri="{BB962C8B-B14F-4D97-AF65-F5344CB8AC3E}">
        <p14:creationId xmlns:p14="http://schemas.microsoft.com/office/powerpoint/2010/main" val="23374441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3130136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foo(x0);</a:t>
            </a:r>
          </a:p>
          <a:p>
            <a:r>
              <a:rPr lang="en-US" sz="2400" dirty="0">
                <a:latin typeface="Courier" pitchFamily="2" charset="0"/>
              </a:rPr>
              <a:t>c2 = foo(x0);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ADD-125A-4C8C-4026-F0C7CFEA74EE}"/>
              </a:ext>
            </a:extLst>
          </p:cNvPr>
          <p:cNvSpPr txBox="1"/>
          <p:nvPr/>
        </p:nvSpPr>
        <p:spPr>
          <a:xfrm>
            <a:off x="5459839" y="2247047"/>
            <a:ext cx="1905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3C48-5B6C-8275-FFFC-4077F449BFD9}"/>
              </a:ext>
            </a:extLst>
          </p:cNvPr>
          <p:cNvSpPr txBox="1"/>
          <p:nvPr/>
        </p:nvSpPr>
        <p:spPr>
          <a:xfrm>
            <a:off x="9017251" y="3304515"/>
            <a:ext cx="178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now?</a:t>
            </a:r>
          </a:p>
        </p:txBody>
      </p:sp>
    </p:spTree>
    <p:extLst>
      <p:ext uri="{BB962C8B-B14F-4D97-AF65-F5344CB8AC3E}">
        <p14:creationId xmlns:p14="http://schemas.microsoft.com/office/powerpoint/2010/main" val="30685671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3130136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foo(x0);</a:t>
            </a:r>
          </a:p>
          <a:p>
            <a:r>
              <a:rPr lang="en-US" sz="2400" dirty="0">
                <a:latin typeface="Courier" pitchFamily="2" charset="0"/>
              </a:rPr>
              <a:t>c2 = foo(x0);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ADD-125A-4C8C-4026-F0C7CFEA74EE}"/>
              </a:ext>
            </a:extLst>
          </p:cNvPr>
          <p:cNvSpPr txBox="1"/>
          <p:nvPr/>
        </p:nvSpPr>
        <p:spPr>
          <a:xfrm>
            <a:off x="5459839" y="2247047"/>
            <a:ext cx="1905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3C48-5B6C-8275-FFFC-4077F449BFD9}"/>
              </a:ext>
            </a:extLst>
          </p:cNvPr>
          <p:cNvSpPr txBox="1"/>
          <p:nvPr/>
        </p:nvSpPr>
        <p:spPr>
          <a:xfrm>
            <a:off x="9017251" y="3304515"/>
            <a:ext cx="178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now?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DEDE2-5758-0C7D-3F0B-B5AA01686131}"/>
              </a:ext>
            </a:extLst>
          </p:cNvPr>
          <p:cNvSpPr txBox="1"/>
          <p:nvPr/>
        </p:nvSpPr>
        <p:spPr>
          <a:xfrm>
            <a:off x="5118980" y="4703929"/>
            <a:ext cx="430266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int count = 0;</a:t>
            </a:r>
          </a:p>
          <a:p>
            <a:r>
              <a:rPr lang="en-US" sz="2400" dirty="0">
                <a:latin typeface="Courier" pitchFamily="2" charset="0"/>
              </a:rPr>
              <a:t>int foo(int x) {</a:t>
            </a:r>
          </a:p>
          <a:p>
            <a:r>
              <a:rPr lang="en-US" sz="2400" dirty="0">
                <a:latin typeface="Courier" pitchFamily="2" charset="0"/>
              </a:rPr>
              <a:t>  count += 1;</a:t>
            </a:r>
          </a:p>
          <a:p>
            <a:r>
              <a:rPr lang="en-US" sz="2400" dirty="0">
                <a:latin typeface="Courier" pitchFamily="2" charset="0"/>
              </a:rPr>
              <a:t>  return 0;</a:t>
            </a:r>
          </a:p>
          <a:p>
            <a:r>
              <a:rPr lang="en-US" sz="2400" dirty="0">
                <a:latin typeface="Courier" pitchFamily="2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10D61-3998-77A2-9ADB-55378507B144}"/>
              </a:ext>
            </a:extLst>
          </p:cNvPr>
          <p:cNvSpPr txBox="1"/>
          <p:nvPr/>
        </p:nvSpPr>
        <p:spPr>
          <a:xfrm>
            <a:off x="9795850" y="5232903"/>
            <a:ext cx="2189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foo had</a:t>
            </a:r>
            <a:br>
              <a:rPr lang="en-US" dirty="0"/>
            </a:br>
            <a:r>
              <a:rPr lang="en-US" dirty="0"/>
              <a:t>this implementation?</a:t>
            </a:r>
          </a:p>
        </p:txBody>
      </p:sp>
    </p:spTree>
    <p:extLst>
      <p:ext uri="{BB962C8B-B14F-4D97-AF65-F5344CB8AC3E}">
        <p14:creationId xmlns:p14="http://schemas.microsoft.com/office/powerpoint/2010/main" val="962682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3130137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52EF44-F4FA-6EB4-35D8-065133F88E54}"/>
              </a:ext>
            </a:extLst>
          </p:cNvPr>
          <p:cNvSpPr txBox="1"/>
          <p:nvPr/>
        </p:nvSpPr>
        <p:spPr>
          <a:xfrm>
            <a:off x="1179059" y="2247048"/>
            <a:ext cx="2291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How to number?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3130136"/>
            <a:ext cx="297330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foo(x0);</a:t>
            </a:r>
          </a:p>
          <a:p>
            <a:r>
              <a:rPr lang="en-US" sz="2400" dirty="0">
                <a:latin typeface="Courier" pitchFamily="2" charset="0"/>
              </a:rPr>
              <a:t>c2 = foo(x0);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A1ADD-125A-4C8C-4026-F0C7CFEA74EE}"/>
              </a:ext>
            </a:extLst>
          </p:cNvPr>
          <p:cNvSpPr txBox="1"/>
          <p:nvPr/>
        </p:nvSpPr>
        <p:spPr>
          <a:xfrm>
            <a:off x="5459839" y="2247047"/>
            <a:ext cx="19051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same way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3C48-5B6C-8275-FFFC-4077F449BFD9}"/>
              </a:ext>
            </a:extLst>
          </p:cNvPr>
          <p:cNvSpPr txBox="1"/>
          <p:nvPr/>
        </p:nvSpPr>
        <p:spPr>
          <a:xfrm>
            <a:off x="9017251" y="3304515"/>
            <a:ext cx="178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about now?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DEDE2-5758-0C7D-3F0B-B5AA01686131}"/>
              </a:ext>
            </a:extLst>
          </p:cNvPr>
          <p:cNvSpPr txBox="1"/>
          <p:nvPr/>
        </p:nvSpPr>
        <p:spPr>
          <a:xfrm>
            <a:off x="5118980" y="4703929"/>
            <a:ext cx="430266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int count = 0;</a:t>
            </a:r>
          </a:p>
          <a:p>
            <a:r>
              <a:rPr lang="en-US" sz="2400" dirty="0">
                <a:latin typeface="Courier" pitchFamily="2" charset="0"/>
              </a:rPr>
              <a:t>int foo(int x) {</a:t>
            </a:r>
          </a:p>
          <a:p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count += 1;</a:t>
            </a:r>
          </a:p>
          <a:p>
            <a:r>
              <a:rPr lang="en-US" sz="2400" dirty="0">
                <a:latin typeface="Courier" pitchFamily="2" charset="0"/>
              </a:rPr>
              <a:t>  return 0;</a:t>
            </a:r>
          </a:p>
          <a:p>
            <a:r>
              <a:rPr lang="en-US" sz="2400" dirty="0">
                <a:latin typeface="Courier" pitchFamily="2" charset="0"/>
              </a:rPr>
              <a:t>};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510D61-3998-77A2-9ADB-55378507B144}"/>
              </a:ext>
            </a:extLst>
          </p:cNvPr>
          <p:cNvSpPr txBox="1"/>
          <p:nvPr/>
        </p:nvSpPr>
        <p:spPr>
          <a:xfrm>
            <a:off x="9795850" y="5232903"/>
            <a:ext cx="2189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if foo had</a:t>
            </a:r>
            <a:br>
              <a:rPr lang="en-US" dirty="0"/>
            </a:br>
            <a:r>
              <a:rPr lang="en-US" dirty="0"/>
              <a:t>this implementation?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236FA2-F923-7914-B811-A59558A880EA}"/>
              </a:ext>
            </a:extLst>
          </p:cNvPr>
          <p:cNvSpPr txBox="1"/>
          <p:nvPr/>
        </p:nvSpPr>
        <p:spPr>
          <a:xfrm>
            <a:off x="3675707" y="4943192"/>
            <a:ext cx="131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side effects!</a:t>
            </a:r>
          </a:p>
        </p:txBody>
      </p:sp>
    </p:spTree>
    <p:extLst>
      <p:ext uri="{BB962C8B-B14F-4D97-AF65-F5344CB8AC3E}">
        <p14:creationId xmlns:p14="http://schemas.microsoft.com/office/powerpoint/2010/main" val="30652787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F87E0-C5CF-C84A-8E01-CA75B1A78737}"/>
              </a:ext>
            </a:extLst>
          </p:cNvPr>
          <p:cNvSpPr txBox="1"/>
          <p:nvPr/>
        </p:nvSpPr>
        <p:spPr>
          <a:xfrm>
            <a:off x="838200" y="2099433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 = foo(x);</a:t>
            </a:r>
          </a:p>
          <a:p>
            <a:r>
              <a:rPr lang="en-US" sz="2400" dirty="0">
                <a:latin typeface="Courier" pitchFamily="2" charset="0"/>
              </a:rPr>
              <a:t>c = foo(x);</a:t>
            </a:r>
          </a:p>
          <a:p>
            <a:r>
              <a:rPr lang="en-US" sz="2400" dirty="0">
                <a:latin typeface="Courier" pitchFamily="2" charset="0"/>
              </a:rPr>
              <a:t>print(count);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384B11-9DB6-8C6C-AB2D-28FE2C3FB54C}"/>
              </a:ext>
            </a:extLst>
          </p:cNvPr>
          <p:cNvSpPr txBox="1"/>
          <p:nvPr/>
        </p:nvSpPr>
        <p:spPr>
          <a:xfrm>
            <a:off x="5118980" y="2142337"/>
            <a:ext cx="2973309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a1 = foo(x0);</a:t>
            </a:r>
          </a:p>
          <a:p>
            <a:r>
              <a:rPr lang="en-US" sz="2400" dirty="0">
                <a:latin typeface="Courier" pitchFamily="2" charset="0"/>
              </a:rPr>
              <a:t>c2 = a1;</a:t>
            </a:r>
          </a:p>
          <a:p>
            <a:r>
              <a:rPr lang="en-US" sz="2400" dirty="0">
                <a:latin typeface="Courier" pitchFamily="2" charset="0"/>
              </a:rPr>
              <a:t>print(count);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C3C48-5B6C-8275-FFFC-4077F449BFD9}"/>
              </a:ext>
            </a:extLst>
          </p:cNvPr>
          <p:cNvSpPr txBox="1"/>
          <p:nvPr/>
        </p:nvSpPr>
        <p:spPr>
          <a:xfrm>
            <a:off x="3161230" y="3659379"/>
            <a:ext cx="344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 these two programs the same?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8DEDE2-5758-0C7D-3F0B-B5AA01686131}"/>
              </a:ext>
            </a:extLst>
          </p:cNvPr>
          <p:cNvSpPr txBox="1"/>
          <p:nvPr/>
        </p:nvSpPr>
        <p:spPr>
          <a:xfrm>
            <a:off x="5118980" y="4703929"/>
            <a:ext cx="4302660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int count = 0;</a:t>
            </a:r>
          </a:p>
          <a:p>
            <a:r>
              <a:rPr lang="en-US" sz="2400" dirty="0">
                <a:latin typeface="Courier" pitchFamily="2" charset="0"/>
              </a:rPr>
              <a:t>int foo(int x) {</a:t>
            </a:r>
          </a:p>
          <a:p>
            <a:r>
              <a:rPr lang="en-US" sz="2400" dirty="0">
                <a:latin typeface="Courier" pitchFamily="2" charset="0"/>
              </a:rPr>
              <a:t>  </a:t>
            </a:r>
            <a:r>
              <a:rPr lang="en-US" sz="2400" dirty="0">
                <a:highlight>
                  <a:srgbClr val="FFFF00"/>
                </a:highlight>
                <a:latin typeface="Courier" pitchFamily="2" charset="0"/>
              </a:rPr>
              <a:t>count += 1;</a:t>
            </a:r>
          </a:p>
          <a:p>
            <a:r>
              <a:rPr lang="en-US" sz="2400" dirty="0">
                <a:latin typeface="Courier" pitchFamily="2" charset="0"/>
              </a:rPr>
              <a:t>  return 0;</a:t>
            </a:r>
          </a:p>
          <a:p>
            <a:r>
              <a:rPr lang="en-US" sz="2400" dirty="0">
                <a:latin typeface="Courier" pitchFamily="2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914594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77EB7-58EC-374B-8DEE-02359EE03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value numbering: functions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2749A38-7035-9B4A-A98F-C9F997FC8AAC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600" cy="2123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8FA2E2F-91FD-76C0-6B71-69FF6DBFE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In C/++, functions are assumed to have side effects</a:t>
            </a:r>
          </a:p>
          <a:p>
            <a:endParaRPr lang="en-US" dirty="0"/>
          </a:p>
          <a:p>
            <a:r>
              <a:rPr lang="en-US" dirty="0"/>
              <a:t>A function that does not have side effects is called “pure”</a:t>
            </a:r>
          </a:p>
          <a:p>
            <a:pPr lvl="1"/>
            <a:r>
              <a:rPr lang="en-US" dirty="0"/>
              <a:t>You can annotate a function as pure</a:t>
            </a:r>
          </a:p>
          <a:p>
            <a:pPr lvl="1"/>
            <a:r>
              <a:rPr lang="en-US" dirty="0">
                <a:latin typeface="Courier" pitchFamily="2" charset="0"/>
              </a:rPr>
              <a:t>__attribute__((pure))</a:t>
            </a:r>
          </a:p>
          <a:p>
            <a:pPr lvl="1"/>
            <a:r>
              <a:rPr lang="en-US" dirty="0">
                <a:highlight>
                  <a:srgbClr val="FF0000"/>
                </a:highlight>
              </a:rPr>
              <a:t>warning</a:t>
            </a:r>
            <a:r>
              <a:rPr lang="en-US" dirty="0"/>
              <a:t>: compiler does not check this and you can introduce subtle bugs</a:t>
            </a:r>
          </a:p>
          <a:p>
            <a:pPr lvl="1"/>
            <a:endParaRPr lang="en-US" dirty="0"/>
          </a:p>
          <a:p>
            <a:r>
              <a:rPr lang="en-US" dirty="0"/>
              <a:t>Functional languages tend to have a pure-by-default design. Allows more compiler optimizations, but less control to the programmer.</a:t>
            </a:r>
          </a:p>
          <a:p>
            <a:pPr marL="457200" lvl="1" indent="0">
              <a:buNone/>
            </a:pPr>
            <a:endParaRPr lang="en-US" dirty="0">
              <a:latin typeface="Courier" pitchFamily="2" charset="0"/>
            </a:endParaRPr>
          </a:p>
          <a:p>
            <a:pPr marL="457200" lvl="1" indent="0">
              <a:buNone/>
            </a:pPr>
            <a:endParaRPr 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626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74929</TotalTime>
  <Words>1716</Words>
  <Application>Microsoft Office PowerPoint</Application>
  <PresentationFormat>Widescreen</PresentationFormat>
  <Paragraphs>194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Courier</vt:lpstr>
      <vt:lpstr>Office Theme</vt:lpstr>
      <vt:lpstr>CSE110A: Compilers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Memory</vt:lpstr>
      <vt:lpstr>Local Value Numbering: Functions</vt:lpstr>
      <vt:lpstr>Local value numbering: functions</vt:lpstr>
      <vt:lpstr>Local value numbering: functions</vt:lpstr>
      <vt:lpstr>Local value numbering: functions</vt:lpstr>
      <vt:lpstr>Local value numbering: functions</vt:lpstr>
      <vt:lpstr>Local value numbering: functions</vt:lpstr>
      <vt:lpstr>Local value numbering: functions</vt:lpstr>
      <vt:lpstr>Local value numbering: functions</vt:lpstr>
      <vt:lpstr>Local value numbering: functions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Tyler Sorensen</dc:creator>
  <cp:lastModifiedBy>Marcelo Siero</cp:lastModifiedBy>
  <cp:revision>1134</cp:revision>
  <dcterms:created xsi:type="dcterms:W3CDTF">2021-03-23T23:59:42Z</dcterms:created>
  <dcterms:modified xsi:type="dcterms:W3CDTF">2026-03-05T23:45:54Z</dcterms:modified>
</cp:coreProperties>
</file>