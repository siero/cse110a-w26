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7" r:id="rId2"/>
    <p:sldId id="1339" r:id="rId3"/>
    <p:sldId id="449" r:id="rId4"/>
    <p:sldId id="461" r:id="rId5"/>
    <p:sldId id="450" r:id="rId6"/>
    <p:sldId id="459" r:id="rId7"/>
    <p:sldId id="456" r:id="rId8"/>
    <p:sldId id="460" r:id="rId9"/>
    <p:sldId id="451" r:id="rId10"/>
    <p:sldId id="452" r:id="rId11"/>
    <p:sldId id="455" r:id="rId12"/>
    <p:sldId id="1351" r:id="rId13"/>
    <p:sldId id="465" r:id="rId14"/>
    <p:sldId id="1352" r:id="rId15"/>
    <p:sldId id="482" r:id="rId16"/>
    <p:sldId id="483" r:id="rId17"/>
    <p:sldId id="457" r:id="rId18"/>
    <p:sldId id="471" r:id="rId19"/>
    <p:sldId id="1354" r:id="rId20"/>
    <p:sldId id="472" r:id="rId21"/>
    <p:sldId id="473" r:id="rId22"/>
    <p:sldId id="478" r:id="rId23"/>
    <p:sldId id="479" r:id="rId24"/>
    <p:sldId id="475" r:id="rId25"/>
    <p:sldId id="476" r:id="rId26"/>
    <p:sldId id="477" r:id="rId27"/>
    <p:sldId id="474" r:id="rId28"/>
    <p:sldId id="480" r:id="rId29"/>
    <p:sldId id="481" r:id="rId30"/>
    <p:sldId id="1357" r:id="rId31"/>
    <p:sldId id="1358" r:id="rId32"/>
    <p:sldId id="1359" r:id="rId33"/>
    <p:sldId id="1355" r:id="rId34"/>
    <p:sldId id="1356" r:id="rId35"/>
    <p:sldId id="135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900"/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16"/>
    <p:restoredTop sz="96405"/>
  </p:normalViewPr>
  <p:slideViewPr>
    <p:cSldViewPr snapToGrid="0" snapToObjects="1">
      <p:cViewPr varScale="1">
        <p:scale>
          <a:sx n="88" d="100"/>
          <a:sy n="88" d="100"/>
        </p:scale>
        <p:origin x="58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chatgpt.com/share/680aba20-26d8-8002-9ee8-a803e694c0d2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97" y="0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50" y="2242268"/>
            <a:ext cx="6901683" cy="4203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Topics</a:t>
            </a:r>
            <a:r>
              <a:rPr lang="en-US" dirty="0"/>
              <a:t>: </a:t>
            </a:r>
          </a:p>
          <a:p>
            <a:pPr lvl="1"/>
            <a:r>
              <a:rPr lang="en-US" sz="4400" i="1" dirty="0"/>
              <a:t>Scope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BF4810-9B5C-0A4D-B2CE-2BC37B86A354}"/>
              </a:ext>
            </a:extLst>
          </p:cNvPr>
          <p:cNvSpPr/>
          <p:nvPr/>
        </p:nvSpPr>
        <p:spPr>
          <a:xfrm>
            <a:off x="10097167" y="2090808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286D8F-6730-F04B-9B5A-A73EFAB4D4E7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10119752" y="2402657"/>
            <a:ext cx="351930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12D8AA-0409-864E-9890-3FFB88503A5E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0471682" y="2402657"/>
            <a:ext cx="277238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95DC5A4-90C6-B14B-A382-11D393C99C64}"/>
              </a:ext>
            </a:extLst>
          </p:cNvPr>
          <p:cNvSpPr/>
          <p:nvPr/>
        </p:nvSpPr>
        <p:spPr>
          <a:xfrm>
            <a:off x="9722652" y="2720674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B8E1B2B-5DF2-E645-BAE4-3348D9F473F8}"/>
              </a:ext>
            </a:extLst>
          </p:cNvPr>
          <p:cNvSpPr/>
          <p:nvPr/>
        </p:nvSpPr>
        <p:spPr>
          <a:xfrm>
            <a:off x="10512211" y="2727971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2426A8-2722-164F-9E46-19F9E98727B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971844" y="3050112"/>
            <a:ext cx="328310" cy="311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C218C-0E06-3C47-904B-D63E5F792510}"/>
              </a:ext>
            </a:extLst>
          </p:cNvPr>
          <p:cNvCxnSpPr>
            <a:cxnSpLocks/>
            <a:stCxn id="21" idx="4"/>
            <a:endCxn id="38" idx="0"/>
          </p:cNvCxnSpPr>
          <p:nvPr/>
        </p:nvCxnSpPr>
        <p:spPr>
          <a:xfrm flipH="1">
            <a:off x="10367706" y="3039820"/>
            <a:ext cx="519020" cy="31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D89F16C-A8D3-904A-8BD9-E3C751C9AD48}"/>
              </a:ext>
            </a:extLst>
          </p:cNvPr>
          <p:cNvSpPr/>
          <p:nvPr/>
        </p:nvSpPr>
        <p:spPr>
          <a:xfrm>
            <a:off x="10925639" y="3361398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5099B9-D9EF-0A4E-8009-19E283A17159}"/>
              </a:ext>
            </a:extLst>
          </p:cNvPr>
          <p:cNvSpPr/>
          <p:nvPr/>
        </p:nvSpPr>
        <p:spPr>
          <a:xfrm>
            <a:off x="9993191" y="335166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9" name="Snip Single Corner Rectangle 38">
            <a:extLst>
              <a:ext uri="{FF2B5EF4-FFF2-40B4-BE49-F238E27FC236}">
                <a16:creationId xmlns:a16="http://schemas.microsoft.com/office/drawing/2014/main" id="{F7AACD00-7B7A-7E4A-8E82-E00367CBE379}"/>
              </a:ext>
            </a:extLst>
          </p:cNvPr>
          <p:cNvSpPr/>
          <p:nvPr/>
        </p:nvSpPr>
        <p:spPr>
          <a:xfrm>
            <a:off x="7026095" y="2373274"/>
            <a:ext cx="1594022" cy="1235676"/>
          </a:xfrm>
          <a:prstGeom prst="snip1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int main() {</a:t>
            </a:r>
            <a:br>
              <a:rPr lang="en-US" sz="14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" pitchFamily="2" charset="0"/>
              </a:rPr>
              <a:t>printf</a:t>
            </a: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(““);</a:t>
            </a:r>
          </a:p>
          <a:p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 return 0;</a:t>
            </a:r>
            <a:br>
              <a:rPr lang="en-US" sz="14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}</a:t>
            </a: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D5C64FAD-A257-F54D-A462-4BA9F13CC36D}"/>
              </a:ext>
            </a:extLst>
          </p:cNvPr>
          <p:cNvSpPr/>
          <p:nvPr/>
        </p:nvSpPr>
        <p:spPr>
          <a:xfrm flipV="1">
            <a:off x="8796082" y="2700225"/>
            <a:ext cx="951875" cy="35445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A8-183D-2444-997B-196A6C6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questions?</a:t>
            </a:r>
          </a:p>
        </p:txBody>
      </p:sp>
    </p:spTree>
    <p:extLst>
      <p:ext uri="{BB962C8B-B14F-4D97-AF65-F5344CB8AC3E}">
        <p14:creationId xmlns:p14="http://schemas.microsoft.com/office/powerpoint/2010/main" val="178498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FD68E-9E82-AE46-82DB-287C39608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0DB54-5A68-7A4F-B564-82AE0FB6C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What is scope?</a:t>
            </a:r>
          </a:p>
          <a:p>
            <a:endParaRPr lang="en-US" dirty="0"/>
          </a:p>
          <a:p>
            <a:r>
              <a:rPr lang="en-US" dirty="0"/>
              <a:t>Can it be determined at compile time? Can it be determined at runtime?</a:t>
            </a:r>
          </a:p>
          <a:p>
            <a:endParaRPr lang="en-US" dirty="0"/>
          </a:p>
          <a:p>
            <a:r>
              <a:rPr lang="en-US" dirty="0"/>
              <a:t>C vs. Python                             </a:t>
            </a:r>
            <a:r>
              <a:rPr lang="en-US" sz="1400" dirty="0"/>
              <a:t>(demo)</a:t>
            </a:r>
          </a:p>
          <a:p>
            <a:endParaRPr lang="en-US" dirty="0"/>
          </a:p>
          <a:p>
            <a:r>
              <a:rPr lang="en-US" dirty="0"/>
              <a:t>Anyone have any interesting scoping rules they know of?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409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FD68E-9E82-AE46-82DB-287C3960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consideration: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0DB54-5A68-7A4F-B564-82AE0FB6C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86586"/>
          </a:xfrm>
        </p:spPr>
        <p:txBody>
          <a:bodyPr/>
          <a:lstStyle/>
          <a:p>
            <a:r>
              <a:rPr lang="en-US" dirty="0"/>
              <a:t>Lexical scope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4DCF9F-7BD2-F74F-AA41-E7FD1E54DFBF}"/>
              </a:ext>
            </a:extLst>
          </p:cNvPr>
          <p:cNvSpPr/>
          <p:nvPr/>
        </p:nvSpPr>
        <p:spPr>
          <a:xfrm>
            <a:off x="977660" y="3429000"/>
            <a:ext cx="228312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int x = 0;</a:t>
            </a:r>
          </a:p>
          <a:p>
            <a:r>
              <a:rPr lang="en-US" dirty="0">
                <a:latin typeface="Courier" pitchFamily="2" charset="0"/>
              </a:rPr>
              <a:t>int y = 0;</a:t>
            </a:r>
          </a:p>
          <a:p>
            <a:r>
              <a:rPr lang="en-US" dirty="0">
                <a:latin typeface="Courier" pitchFamily="2" charset="0"/>
              </a:rPr>
              <a:t>{</a:t>
            </a:r>
          </a:p>
          <a:p>
            <a:r>
              <a:rPr lang="en-US" dirty="0">
                <a:latin typeface="Courier" pitchFamily="2" charset="0"/>
              </a:rPr>
              <a:t>  int y = 0;</a:t>
            </a:r>
          </a:p>
          <a:p>
            <a:r>
              <a:rPr lang="en-US" dirty="0">
                <a:latin typeface="Courier" pitchFamily="2" charset="0"/>
              </a:rPr>
              <a:t>  x+=1;</a:t>
            </a:r>
          </a:p>
          <a:p>
            <a:r>
              <a:rPr lang="en-US" dirty="0">
                <a:latin typeface="Courier" pitchFamily="2" charset="0"/>
              </a:rPr>
              <a:t>  y+=1;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  <a:p>
            <a:r>
              <a:rPr lang="en-US" dirty="0">
                <a:latin typeface="Courier" pitchFamily="2" charset="0"/>
              </a:rPr>
              <a:t>x+=1;</a:t>
            </a:r>
          </a:p>
          <a:p>
            <a:r>
              <a:rPr lang="en-US" dirty="0">
                <a:latin typeface="Courier" pitchFamily="2" charset="0"/>
              </a:rPr>
              <a:t>y+=1;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4E907-F0E4-D44E-B792-FA8DDA2D99A9}"/>
              </a:ext>
            </a:extLst>
          </p:cNvPr>
          <p:cNvSpPr txBox="1"/>
          <p:nvPr/>
        </p:nvSpPr>
        <p:spPr>
          <a:xfrm>
            <a:off x="3847381" y="5486400"/>
            <a:ext cx="35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the final values in x and y?</a:t>
            </a:r>
          </a:p>
        </p:txBody>
      </p:sp>
    </p:spTree>
    <p:extLst>
      <p:ext uri="{BB962C8B-B14F-4D97-AF65-F5344CB8AC3E}">
        <p14:creationId xmlns:p14="http://schemas.microsoft.com/office/powerpoint/2010/main" val="95338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track scope?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1E3D-D70C-934E-B36F-94EA76B7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79952"/>
          </a:xfrm>
        </p:spPr>
        <p:txBody>
          <a:bodyPr>
            <a:normAutofit/>
          </a:bodyPr>
          <a:lstStyle/>
          <a:p>
            <a:r>
              <a:rPr lang="en-US" dirty="0"/>
              <a:t>Symbol table object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Two methods:</a:t>
            </a:r>
          </a:p>
          <a:p>
            <a:pPr lvl="1"/>
            <a:r>
              <a:rPr lang="en-US" b="1" dirty="0">
                <a:latin typeface="Courier" pitchFamily="2" charset="0"/>
              </a:rPr>
              <a:t>lookup(id) </a:t>
            </a:r>
            <a:r>
              <a:rPr lang="en-US" dirty="0">
                <a:latin typeface="Courier" pitchFamily="2" charset="0"/>
              </a:rPr>
              <a:t>: lookup an id in the symbol table. Returns None if the id is not in the symbol table.</a:t>
            </a:r>
            <a:br>
              <a:rPr lang="en-US" dirty="0">
                <a:latin typeface="Courier" pitchFamily="2" charset="0"/>
              </a:rPr>
            </a:br>
            <a:endParaRPr lang="en-US" dirty="0">
              <a:latin typeface="Courier" pitchFamily="2" charset="0"/>
            </a:endParaRPr>
          </a:p>
          <a:p>
            <a:pPr lvl="1"/>
            <a:r>
              <a:rPr lang="en-US" b="1" dirty="0">
                <a:latin typeface="Courier" pitchFamily="2" charset="0"/>
              </a:rPr>
              <a:t>insert(</a:t>
            </a:r>
            <a:r>
              <a:rPr lang="en-US" b="1" dirty="0" err="1">
                <a:latin typeface="Courier" pitchFamily="2" charset="0"/>
              </a:rPr>
              <a:t>id,info</a:t>
            </a:r>
            <a:r>
              <a:rPr lang="en-US" b="1" dirty="0">
                <a:latin typeface="Courier" pitchFamily="2" charset="0"/>
              </a:rPr>
              <a:t>) </a:t>
            </a:r>
            <a:r>
              <a:rPr lang="en-US" dirty="0">
                <a:latin typeface="Courier" pitchFamily="2" charset="0"/>
              </a:rPr>
              <a:t>: insert a new id (or overwrite an existing id) into the symbol table along with a set of information about the id.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C62BFF-D72A-BB42-AA45-43DB37C7F1E6}"/>
              </a:ext>
            </a:extLst>
          </p:cNvPr>
          <p:cNvSpPr txBox="1"/>
          <p:nvPr/>
        </p:nvSpPr>
        <p:spPr>
          <a:xfrm>
            <a:off x="1121434" y="6159260"/>
            <a:ext cx="4540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information might we store about an id?</a:t>
            </a:r>
          </a:p>
        </p:txBody>
      </p:sp>
    </p:spTree>
    <p:extLst>
      <p:ext uri="{BB962C8B-B14F-4D97-AF65-F5344CB8AC3E}">
        <p14:creationId xmlns:p14="http://schemas.microsoft.com/office/powerpoint/2010/main" val="3218779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4904-26A2-D74C-ADED-1FDE4320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simple programming language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8E49F-1C9B-1C49-B371-5B3E13844265}"/>
              </a:ext>
            </a:extLst>
          </p:cNvPr>
          <p:cNvSpPr/>
          <p:nvPr/>
        </p:nvSpPr>
        <p:spPr>
          <a:xfrm>
            <a:off x="9410623" y="1825625"/>
            <a:ext cx="150674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int x;</a:t>
            </a:r>
          </a:p>
          <a:p>
            <a:r>
              <a:rPr lang="en-US" sz="2400" dirty="0">
                <a:latin typeface="Courier" pitchFamily="2" charset="0"/>
              </a:rPr>
              <a:t>x++;</a:t>
            </a:r>
          </a:p>
          <a:p>
            <a:r>
              <a:rPr lang="en-US" sz="2400" dirty="0">
                <a:latin typeface="Courier" pitchFamily="2" charset="0"/>
              </a:rPr>
              <a:t>int y;</a:t>
            </a:r>
          </a:p>
          <a:p>
            <a:r>
              <a:rPr lang="en-US" sz="2400" dirty="0">
                <a:latin typeface="Courier" pitchFamily="2" charset="0"/>
              </a:rPr>
              <a:t>y++;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B47610-82B0-3C47-8446-DD8B3933BEF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808151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ID = [a-z]+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INCREMENT = “\+\+”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TYPE = “int”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LBRAC = “{“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RBRAC = “}”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SEMI = “;”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statements are either a declaration or an increment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049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4904-26A2-D74C-ADED-1FDE4320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simple programming language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8E49F-1C9B-1C49-B371-5B3E13844265}"/>
              </a:ext>
            </a:extLst>
          </p:cNvPr>
          <p:cNvSpPr/>
          <p:nvPr/>
        </p:nvSpPr>
        <p:spPr>
          <a:xfrm>
            <a:off x="9065628" y="1825625"/>
            <a:ext cx="210411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int x;</a:t>
            </a:r>
          </a:p>
          <a:p>
            <a:r>
              <a:rPr lang="en-US" sz="2400" dirty="0">
                <a:latin typeface="Courier" pitchFamily="2" charset="0"/>
              </a:rPr>
              <a:t>{</a:t>
            </a:r>
          </a:p>
          <a:p>
            <a:r>
              <a:rPr lang="en-US" sz="2400" dirty="0">
                <a:latin typeface="Courier" pitchFamily="2" charset="0"/>
              </a:rPr>
              <a:t>  int y;</a:t>
            </a:r>
          </a:p>
          <a:p>
            <a:r>
              <a:rPr lang="en-US" sz="2400" dirty="0">
                <a:latin typeface="Courier" pitchFamily="2" charset="0"/>
              </a:rPr>
              <a:t>  x++;</a:t>
            </a:r>
          </a:p>
          <a:p>
            <a:r>
              <a:rPr lang="en-US" sz="2400" dirty="0">
                <a:latin typeface="Courier" pitchFamily="2" charset="0"/>
              </a:rPr>
              <a:t>  y++;</a:t>
            </a:r>
          </a:p>
          <a:p>
            <a:r>
              <a:rPr lang="en-US" sz="2400" dirty="0">
                <a:latin typeface="Courier" pitchFamily="2" charset="0"/>
              </a:rPr>
              <a:t>}</a:t>
            </a:r>
          </a:p>
          <a:p>
            <a:r>
              <a:rPr lang="en-US" sz="2400" dirty="0">
                <a:latin typeface="Courier" pitchFamily="2" charset="0"/>
              </a:rPr>
              <a:t>y++;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C9C335-EF6A-6747-B3BA-4044A0E1049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808151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ID = [a-z]+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INCREMENT = “\+\+”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TYPE = “int”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LBRAC = “{“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RBRAC = “}”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SEMI = “;”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statements are either a declaration or an increment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65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4904-26A2-D74C-ADED-1FDE4320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simple 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D6D98-EA31-E24D-94B3-BED0E5046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8151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ID = [a-z]+</a:t>
            </a:r>
          </a:p>
          <a:p>
            <a:pPr marL="0" indent="0">
              <a:buNone/>
            </a:pPr>
            <a:r>
              <a:rPr lang="en-US" dirty="0"/>
              <a:t>INCREMENT = “\+\+”</a:t>
            </a:r>
          </a:p>
          <a:p>
            <a:pPr marL="0" indent="0">
              <a:buNone/>
            </a:pPr>
            <a:r>
              <a:rPr lang="en-US" dirty="0"/>
              <a:t>TYPE = “int”</a:t>
            </a:r>
          </a:p>
          <a:p>
            <a:pPr marL="0" indent="0">
              <a:buNone/>
            </a:pPr>
            <a:r>
              <a:rPr lang="en-US" dirty="0"/>
              <a:t>LBRAC = “{“</a:t>
            </a:r>
          </a:p>
          <a:p>
            <a:pPr marL="0" indent="0">
              <a:buNone/>
            </a:pPr>
            <a:r>
              <a:rPr lang="en-US" dirty="0"/>
              <a:t>RBRAC = “}”</a:t>
            </a:r>
          </a:p>
          <a:p>
            <a:pPr marL="0" indent="0">
              <a:buNone/>
            </a:pPr>
            <a:r>
              <a:rPr lang="en-US" dirty="0"/>
              <a:t>SEMI = “;”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statements are either a declaration or an increment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8E49F-1C9B-1C49-B371-5B3E13844265}"/>
              </a:ext>
            </a:extLst>
          </p:cNvPr>
          <p:cNvSpPr/>
          <p:nvPr/>
        </p:nvSpPr>
        <p:spPr>
          <a:xfrm>
            <a:off x="8988358" y="1825625"/>
            <a:ext cx="189983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int x;</a:t>
            </a:r>
          </a:p>
          <a:p>
            <a:r>
              <a:rPr lang="en-US" sz="2400" dirty="0">
                <a:latin typeface="Courier" pitchFamily="2" charset="0"/>
              </a:rPr>
              <a:t>{</a:t>
            </a:r>
          </a:p>
          <a:p>
            <a:r>
              <a:rPr lang="en-US" sz="2400" dirty="0">
                <a:latin typeface="Courier" pitchFamily="2" charset="0"/>
              </a:rPr>
              <a:t>  int y;</a:t>
            </a:r>
          </a:p>
          <a:p>
            <a:r>
              <a:rPr lang="en-US" sz="2400" dirty="0">
                <a:latin typeface="Courier" pitchFamily="2" charset="0"/>
              </a:rPr>
              <a:t>  </a:t>
            </a:r>
            <a:r>
              <a:rPr lang="en-US" sz="2400" dirty="0">
                <a:highlight>
                  <a:srgbClr val="00FF00"/>
                </a:highlight>
                <a:latin typeface="Courier" pitchFamily="2" charset="0"/>
              </a:rPr>
              <a:t>x++;</a:t>
            </a:r>
          </a:p>
          <a:p>
            <a:r>
              <a:rPr lang="en-US" sz="2400" dirty="0">
                <a:latin typeface="Courier" pitchFamily="2" charset="0"/>
              </a:rPr>
              <a:t>  y++;</a:t>
            </a:r>
          </a:p>
          <a:p>
            <a:r>
              <a:rPr lang="en-US" sz="2400" dirty="0">
                <a:latin typeface="Courier" pitchFamily="2" charset="0"/>
              </a:rPr>
              <a:t>}</a:t>
            </a:r>
          </a:p>
          <a:p>
            <a:r>
              <a:rPr lang="en-US" sz="2400" dirty="0">
                <a:highlight>
                  <a:srgbClr val="FF0000"/>
                </a:highlight>
                <a:latin typeface="Courier" pitchFamily="2" charset="0"/>
              </a:rPr>
              <a:t>y++;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752A9-9DE8-1B4B-BAB7-DC3CB7136AC2}"/>
              </a:ext>
            </a:extLst>
          </p:cNvPr>
          <p:cNvSpPr txBox="1"/>
          <p:nvPr/>
        </p:nvSpPr>
        <p:spPr>
          <a:xfrm>
            <a:off x="9685866" y="4638218"/>
            <a:ext cx="733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error!</a:t>
            </a:r>
          </a:p>
        </p:txBody>
      </p:sp>
    </p:spTree>
    <p:extLst>
      <p:ext uri="{BB962C8B-B14F-4D97-AF65-F5344CB8AC3E}">
        <p14:creationId xmlns:p14="http://schemas.microsoft.com/office/powerpoint/2010/main" val="608155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track scope?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1E3D-D70C-934E-B36F-94EA76B7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79952"/>
          </a:xfrm>
        </p:spPr>
        <p:txBody>
          <a:bodyPr/>
          <a:lstStyle/>
          <a:p>
            <a:r>
              <a:rPr lang="en-US" dirty="0" err="1">
                <a:latin typeface="Courier" pitchFamily="2" charset="0"/>
              </a:rPr>
              <a:t>SymbolTable</a:t>
            </a:r>
            <a:r>
              <a:rPr lang="en-US" dirty="0">
                <a:latin typeface="Courier" pitchFamily="2" charset="0"/>
              </a:rPr>
              <a:t> ST;</a:t>
            </a:r>
          </a:p>
          <a:p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/>
              <a:t>declare_statement</a:t>
            </a:r>
            <a:r>
              <a:rPr lang="en-US" dirty="0"/>
              <a:t> ::= TYPE ID SEMI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{}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5FB34-5EF6-F34B-85C3-261AB2E9072E}"/>
              </a:ext>
            </a:extLst>
          </p:cNvPr>
          <p:cNvSpPr txBox="1"/>
          <p:nvPr/>
        </p:nvSpPr>
        <p:spPr>
          <a:xfrm>
            <a:off x="6368690" y="1563817"/>
            <a:ext cx="412388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Say we matched the statement:</a:t>
            </a:r>
            <a:br>
              <a:rPr lang="en-US" sz="2400" dirty="0"/>
            </a:br>
            <a:r>
              <a:rPr lang="en-US" sz="2400" dirty="0">
                <a:latin typeface="Courier" pitchFamily="2" charset="0"/>
              </a:rPr>
              <a:t>int x;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7CEC4D-A4F8-3248-8664-1C5693551E8D}"/>
              </a:ext>
            </a:extLst>
          </p:cNvPr>
          <p:cNvSpPr/>
          <p:nvPr/>
        </p:nvSpPr>
        <p:spPr>
          <a:xfrm>
            <a:off x="327886" y="4463186"/>
            <a:ext cx="99639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b="1" dirty="0">
                <a:latin typeface="Courier" pitchFamily="2" charset="0"/>
              </a:rPr>
              <a:t>lookup(id) </a:t>
            </a:r>
            <a:r>
              <a:rPr lang="en-US" dirty="0">
                <a:latin typeface="Courier" pitchFamily="2" charset="0"/>
              </a:rPr>
              <a:t>: lookup an id in the symbol table. Returns None if the id is not in the symbol table.</a:t>
            </a:r>
            <a:br>
              <a:rPr lang="en-US" dirty="0">
                <a:latin typeface="Courier" pitchFamily="2" charset="0"/>
              </a:rPr>
            </a:br>
            <a:endParaRPr lang="en-US" dirty="0">
              <a:latin typeface="Courier" pitchFamily="2" charset="0"/>
            </a:endParaRPr>
          </a:p>
          <a:p>
            <a:pPr lvl="1"/>
            <a:r>
              <a:rPr lang="en-US" b="1" dirty="0">
                <a:latin typeface="Courier" pitchFamily="2" charset="0"/>
              </a:rPr>
              <a:t>insert(</a:t>
            </a:r>
            <a:r>
              <a:rPr lang="en-US" b="1" dirty="0" err="1">
                <a:latin typeface="Courier" pitchFamily="2" charset="0"/>
              </a:rPr>
              <a:t>id,info</a:t>
            </a:r>
            <a:r>
              <a:rPr lang="en-US" b="1" dirty="0">
                <a:latin typeface="Courier" pitchFamily="2" charset="0"/>
              </a:rPr>
              <a:t>) </a:t>
            </a:r>
            <a:r>
              <a:rPr lang="en-US" dirty="0">
                <a:latin typeface="Courier" pitchFamily="2" charset="0"/>
              </a:rPr>
              <a:t>: insert a new id (or overwrite an existing id) into the symbol table along with a set of information about the id.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100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track scope?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1E3D-D70C-934E-B36F-94EA76B7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30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latin typeface="Courier" pitchFamily="2" charset="0"/>
              </a:rPr>
              <a:t>SymbolTable</a:t>
            </a:r>
            <a:r>
              <a:rPr lang="en-US" dirty="0">
                <a:latin typeface="Courier" pitchFamily="2" charset="0"/>
              </a:rPr>
              <a:t> ST;</a:t>
            </a:r>
          </a:p>
          <a:p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/>
              <a:t>declare_statement</a:t>
            </a:r>
            <a:r>
              <a:rPr lang="en-US" dirty="0"/>
              <a:t> ::= TYPE ID SEMI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self.eat</a:t>
            </a:r>
            <a:r>
              <a:rPr lang="en-US" dirty="0">
                <a:latin typeface="Courier" pitchFamily="2" charset="0"/>
              </a:rPr>
              <a:t>(TYPE)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variable_name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self.to_match</a:t>
            </a:r>
            <a:r>
              <a:rPr lang="en-US" dirty="0">
                <a:latin typeface="Courier" pitchFamily="2" charset="0"/>
              </a:rPr>
              <a:t>[1] # lexeme value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self.eat</a:t>
            </a:r>
            <a:r>
              <a:rPr lang="en-US" dirty="0">
                <a:latin typeface="Courier" pitchFamily="2" charset="0"/>
              </a:rPr>
              <a:t>(ID)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ST.insert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variable_name,None</a:t>
            </a:r>
            <a:r>
              <a:rPr lang="en-US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self.eat</a:t>
            </a:r>
            <a:r>
              <a:rPr lang="en-US" dirty="0">
                <a:latin typeface="Courier" pitchFamily="2" charset="0"/>
              </a:rPr>
              <a:t>(SEMI)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70213-59E7-9B4F-B56F-59A8A7151E35}"/>
              </a:ext>
            </a:extLst>
          </p:cNvPr>
          <p:cNvSpPr txBox="1"/>
          <p:nvPr/>
        </p:nvSpPr>
        <p:spPr>
          <a:xfrm>
            <a:off x="6368690" y="1563817"/>
            <a:ext cx="412388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Say we matched the statement:</a:t>
            </a:r>
            <a:br>
              <a:rPr lang="en-US" sz="2400" dirty="0"/>
            </a:br>
            <a:r>
              <a:rPr lang="en-US" sz="2400" dirty="0">
                <a:latin typeface="Courier" pitchFamily="2" charset="0"/>
              </a:rPr>
              <a:t>int x;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11578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How to track scope?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1E3D-D70C-934E-B36F-94EA76B7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79952"/>
          </a:xfrm>
        </p:spPr>
        <p:txBody>
          <a:bodyPr/>
          <a:lstStyle/>
          <a:p>
            <a:r>
              <a:rPr lang="en-US" dirty="0" err="1">
                <a:latin typeface="Courier" pitchFamily="2" charset="0"/>
              </a:rPr>
              <a:t>SymbolTable</a:t>
            </a:r>
            <a:r>
              <a:rPr lang="en-US" dirty="0">
                <a:latin typeface="Courier" pitchFamily="2" charset="0"/>
              </a:rPr>
              <a:t> ST;</a:t>
            </a:r>
          </a:p>
          <a:p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/>
              <a:t>inc_statement</a:t>
            </a:r>
            <a:r>
              <a:rPr lang="en-US" dirty="0"/>
              <a:t> ::= ID INCREMENT SEMI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{}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CE85A-EE89-FC48-BF54-F121B73BB184}"/>
              </a:ext>
            </a:extLst>
          </p:cNvPr>
          <p:cNvSpPr txBox="1"/>
          <p:nvPr/>
        </p:nvSpPr>
        <p:spPr>
          <a:xfrm>
            <a:off x="8540151" y="1570008"/>
            <a:ext cx="31348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Say we matched string:</a:t>
            </a:r>
            <a:br>
              <a:rPr lang="en-US" sz="2400" dirty="0"/>
            </a:br>
            <a:r>
              <a:rPr lang="en-US" sz="2400" dirty="0">
                <a:latin typeface="Courier" pitchFamily="2" charset="0"/>
              </a:rPr>
              <a:t>x++;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3D3755-053A-DE4F-B385-B8149438F615}"/>
              </a:ext>
            </a:extLst>
          </p:cNvPr>
          <p:cNvSpPr/>
          <p:nvPr/>
        </p:nvSpPr>
        <p:spPr>
          <a:xfrm>
            <a:off x="327886" y="4463186"/>
            <a:ext cx="99639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b="1" dirty="0">
                <a:latin typeface="Courier" pitchFamily="2" charset="0"/>
              </a:rPr>
              <a:t>lookup(id) </a:t>
            </a:r>
            <a:r>
              <a:rPr lang="en-US" dirty="0">
                <a:latin typeface="Courier" pitchFamily="2" charset="0"/>
              </a:rPr>
              <a:t>: lookup an id in the symbol table. Returns None if the id is not in the symbol table.</a:t>
            </a:r>
            <a:br>
              <a:rPr lang="en-US" dirty="0">
                <a:latin typeface="Courier" pitchFamily="2" charset="0"/>
              </a:rPr>
            </a:br>
            <a:endParaRPr lang="en-US" dirty="0">
              <a:latin typeface="Courier" pitchFamily="2" charset="0"/>
            </a:endParaRPr>
          </a:p>
          <a:p>
            <a:pPr lvl="1"/>
            <a:r>
              <a:rPr lang="en-US" b="1" dirty="0">
                <a:latin typeface="Courier" pitchFamily="2" charset="0"/>
              </a:rPr>
              <a:t>insert(</a:t>
            </a:r>
            <a:r>
              <a:rPr lang="en-US" b="1" dirty="0" err="1">
                <a:latin typeface="Courier" pitchFamily="2" charset="0"/>
              </a:rPr>
              <a:t>id,info</a:t>
            </a:r>
            <a:r>
              <a:rPr lang="en-US" b="1" dirty="0">
                <a:latin typeface="Courier" pitchFamily="2" charset="0"/>
              </a:rPr>
              <a:t>) </a:t>
            </a:r>
            <a:r>
              <a:rPr lang="en-US" dirty="0">
                <a:latin typeface="Courier" pitchFamily="2" charset="0"/>
              </a:rPr>
              <a:t>: insert a new id (or overwrite an existing id) into the symbol table along with a set of information about the id.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188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How to track scope?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1E3D-D70C-934E-B36F-94EA76B7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061"/>
            <a:ext cx="11241574" cy="4803775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" pitchFamily="2" charset="0"/>
              </a:rPr>
              <a:t>SymbolTable</a:t>
            </a:r>
            <a:r>
              <a:rPr lang="en-US" dirty="0">
                <a:latin typeface="Courier" pitchFamily="2" charset="0"/>
              </a:rPr>
              <a:t> ST;</a:t>
            </a:r>
          </a:p>
          <a:p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/>
              <a:t>inc_statement</a:t>
            </a:r>
            <a:r>
              <a:rPr lang="en-US" dirty="0"/>
              <a:t> ::= ID INCREMENT SEMI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variable_name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self.to_match</a:t>
            </a:r>
            <a:r>
              <a:rPr lang="en-US" dirty="0">
                <a:latin typeface="Courier" pitchFamily="2" charset="0"/>
              </a:rPr>
              <a:t>[1] # lexeme value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if </a:t>
            </a:r>
            <a:r>
              <a:rPr lang="en-US" dirty="0" err="1">
                <a:latin typeface="Courier" pitchFamily="2" charset="0"/>
              </a:rPr>
              <a:t>ST.lookup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variable_name</a:t>
            </a:r>
            <a:r>
              <a:rPr lang="en-US" dirty="0">
                <a:latin typeface="Courier" pitchFamily="2" charset="0"/>
              </a:rPr>
              <a:t>) is None: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 raise </a:t>
            </a:r>
            <a:r>
              <a:rPr lang="en-US" dirty="0" err="1">
                <a:latin typeface="Courier" pitchFamily="2" charset="0"/>
              </a:rPr>
              <a:t>SymbolTableException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variable_name</a:t>
            </a:r>
            <a:r>
              <a:rPr lang="en-US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self.eat</a:t>
            </a:r>
            <a:r>
              <a:rPr lang="en-US" dirty="0">
                <a:latin typeface="Courier" pitchFamily="2" charset="0"/>
              </a:rPr>
              <a:t>(ID)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self.eat</a:t>
            </a:r>
            <a:r>
              <a:rPr lang="en-US" dirty="0">
                <a:latin typeface="Courier" pitchFamily="2" charset="0"/>
              </a:rPr>
              <a:t>(INCREMENT)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self.eat</a:t>
            </a:r>
            <a:r>
              <a:rPr lang="en-US" dirty="0">
                <a:latin typeface="Courier" pitchFamily="2" charset="0"/>
              </a:rPr>
              <a:t>(SEMI)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CE85A-EE89-FC48-BF54-F121B73BB184}"/>
              </a:ext>
            </a:extLst>
          </p:cNvPr>
          <p:cNvSpPr txBox="1"/>
          <p:nvPr/>
        </p:nvSpPr>
        <p:spPr>
          <a:xfrm>
            <a:off x="8322437" y="1019814"/>
            <a:ext cx="31348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Say we matched string:</a:t>
            </a:r>
            <a:br>
              <a:rPr lang="en-US" sz="2400" dirty="0"/>
            </a:br>
            <a:r>
              <a:rPr lang="en-US" sz="2400" dirty="0">
                <a:latin typeface="Courier" pitchFamily="2" charset="0"/>
              </a:rPr>
              <a:t>x++;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03363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track scope?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1E3D-D70C-934E-B36F-94EA76B7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561441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ourier" pitchFamily="2" charset="0"/>
              </a:rPr>
              <a:t>SymbolTable</a:t>
            </a:r>
            <a:r>
              <a:rPr lang="en-US" dirty="0">
                <a:latin typeface="Courier" pitchFamily="2" charset="0"/>
              </a:rPr>
              <a:t> ST;</a:t>
            </a:r>
          </a:p>
          <a:p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/>
              <a:t>statement : </a:t>
            </a:r>
            <a:r>
              <a:rPr lang="en-US" dirty="0">
                <a:highlight>
                  <a:srgbClr val="00FF00"/>
                </a:highlight>
              </a:rPr>
              <a:t>LBRAC</a:t>
            </a:r>
            <a:r>
              <a:rPr lang="en-US" dirty="0"/>
              <a:t> </a:t>
            </a:r>
            <a:r>
              <a:rPr lang="en-US" dirty="0" err="1"/>
              <a:t>statement_list</a:t>
            </a:r>
            <a:r>
              <a:rPr lang="en-US" dirty="0"/>
              <a:t> </a:t>
            </a:r>
            <a:r>
              <a:rPr lang="en-US" dirty="0">
                <a:highlight>
                  <a:srgbClr val="00FF00"/>
                </a:highlight>
              </a:rPr>
              <a:t>RBRAC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 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C757F4-42C5-8D4A-9164-8158049EC90F}"/>
              </a:ext>
            </a:extLst>
          </p:cNvPr>
          <p:cNvSpPr/>
          <p:nvPr/>
        </p:nvSpPr>
        <p:spPr>
          <a:xfrm>
            <a:off x="8988358" y="1825625"/>
            <a:ext cx="189983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int x;</a:t>
            </a:r>
          </a:p>
          <a:p>
            <a:r>
              <a:rPr lang="en-US" sz="2400" dirty="0">
                <a:latin typeface="Courier" pitchFamily="2" charset="0"/>
              </a:rPr>
              <a:t>{</a:t>
            </a:r>
          </a:p>
          <a:p>
            <a:r>
              <a:rPr lang="en-US" sz="2400" dirty="0">
                <a:latin typeface="Courier" pitchFamily="2" charset="0"/>
              </a:rPr>
              <a:t>  int y;</a:t>
            </a:r>
          </a:p>
          <a:p>
            <a:r>
              <a:rPr lang="en-US" sz="2400" dirty="0">
                <a:latin typeface="Courier" pitchFamily="2" charset="0"/>
              </a:rPr>
              <a:t>  </a:t>
            </a:r>
            <a:r>
              <a:rPr lang="en-US" sz="2400" dirty="0">
                <a:highlight>
                  <a:srgbClr val="00FF00"/>
                </a:highlight>
                <a:latin typeface="Courier" pitchFamily="2" charset="0"/>
              </a:rPr>
              <a:t>x++;</a:t>
            </a:r>
          </a:p>
          <a:p>
            <a:r>
              <a:rPr lang="en-US" sz="2400" dirty="0">
                <a:latin typeface="Courier" pitchFamily="2" charset="0"/>
              </a:rPr>
              <a:t>  y++;</a:t>
            </a:r>
          </a:p>
          <a:p>
            <a:r>
              <a:rPr lang="en-US" sz="2400" dirty="0">
                <a:latin typeface="Courier" pitchFamily="2" charset="0"/>
              </a:rPr>
              <a:t>}</a:t>
            </a:r>
          </a:p>
          <a:p>
            <a:r>
              <a:rPr lang="en-US" sz="2400" dirty="0">
                <a:highlight>
                  <a:srgbClr val="FF0000"/>
                </a:highlight>
                <a:latin typeface="Courier" pitchFamily="2" charset="0"/>
              </a:rPr>
              <a:t>y++;</a:t>
            </a:r>
          </a:p>
        </p:txBody>
      </p:sp>
    </p:spTree>
    <p:extLst>
      <p:ext uri="{BB962C8B-B14F-4D97-AF65-F5344CB8AC3E}">
        <p14:creationId xmlns:p14="http://schemas.microsoft.com/office/powerpoint/2010/main" val="2690601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track scope?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1E3D-D70C-934E-B36F-94EA76B7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561441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ourier" pitchFamily="2" charset="0"/>
              </a:rPr>
              <a:t>SymbolTable</a:t>
            </a:r>
            <a:r>
              <a:rPr lang="en-US" dirty="0">
                <a:latin typeface="Courier" pitchFamily="2" charset="0"/>
              </a:rPr>
              <a:t> ST;</a:t>
            </a:r>
          </a:p>
          <a:p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/>
              <a:t>statement : </a:t>
            </a:r>
            <a:r>
              <a:rPr lang="en-US" dirty="0">
                <a:highlight>
                  <a:srgbClr val="00FF00"/>
                </a:highlight>
              </a:rPr>
              <a:t>LBRAC</a:t>
            </a:r>
            <a:r>
              <a:rPr lang="en-US" dirty="0"/>
              <a:t> </a:t>
            </a:r>
            <a:r>
              <a:rPr lang="en-US" dirty="0" err="1"/>
              <a:t>statement_list</a:t>
            </a:r>
            <a:r>
              <a:rPr lang="en-US" dirty="0"/>
              <a:t> </a:t>
            </a:r>
            <a:r>
              <a:rPr lang="en-US" dirty="0">
                <a:highlight>
                  <a:srgbClr val="00FF00"/>
                </a:highlight>
              </a:rPr>
              <a:t>RBRAC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 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6BA9F8-B5BA-1649-9C81-705B419CB52D}"/>
              </a:ext>
            </a:extLst>
          </p:cNvPr>
          <p:cNvSpPr txBox="1"/>
          <p:nvPr/>
        </p:nvSpPr>
        <p:spPr>
          <a:xfrm>
            <a:off x="1890445" y="4664467"/>
            <a:ext cx="1987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 a new scope 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4B185-69B7-B445-9002-497AB2210028}"/>
              </a:ext>
            </a:extLst>
          </p:cNvPr>
          <p:cNvSpPr txBox="1"/>
          <p:nvPr/>
        </p:nvSpPr>
        <p:spPr>
          <a:xfrm>
            <a:off x="5578867" y="4664467"/>
            <a:ext cx="2076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remove the scope 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B1FA70-B8DD-724E-AABA-9FDEC1AB1822}"/>
              </a:ext>
            </a:extLst>
          </p:cNvPr>
          <p:cNvSpPr/>
          <p:nvPr/>
        </p:nvSpPr>
        <p:spPr>
          <a:xfrm>
            <a:off x="8988358" y="1825625"/>
            <a:ext cx="189983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int x;</a:t>
            </a:r>
          </a:p>
          <a:p>
            <a:r>
              <a:rPr lang="en-US" sz="2400" dirty="0">
                <a:latin typeface="Courier" pitchFamily="2" charset="0"/>
              </a:rPr>
              <a:t>{</a:t>
            </a:r>
          </a:p>
          <a:p>
            <a:r>
              <a:rPr lang="en-US" sz="2400" dirty="0">
                <a:latin typeface="Courier" pitchFamily="2" charset="0"/>
              </a:rPr>
              <a:t>  int y;</a:t>
            </a:r>
          </a:p>
          <a:p>
            <a:r>
              <a:rPr lang="en-US" sz="2400" dirty="0">
                <a:latin typeface="Courier" pitchFamily="2" charset="0"/>
              </a:rPr>
              <a:t>  </a:t>
            </a:r>
            <a:r>
              <a:rPr lang="en-US" sz="2400" dirty="0">
                <a:highlight>
                  <a:srgbClr val="00FF00"/>
                </a:highlight>
                <a:latin typeface="Courier" pitchFamily="2" charset="0"/>
              </a:rPr>
              <a:t>x++;</a:t>
            </a:r>
          </a:p>
          <a:p>
            <a:r>
              <a:rPr lang="en-US" sz="2400" dirty="0">
                <a:latin typeface="Courier" pitchFamily="2" charset="0"/>
              </a:rPr>
              <a:t>  y++;</a:t>
            </a:r>
          </a:p>
          <a:p>
            <a:r>
              <a:rPr lang="en-US" sz="2400" dirty="0">
                <a:latin typeface="Courier" pitchFamily="2" charset="0"/>
              </a:rPr>
              <a:t>}</a:t>
            </a:r>
          </a:p>
          <a:p>
            <a:r>
              <a:rPr lang="en-US" sz="2400" dirty="0">
                <a:highlight>
                  <a:srgbClr val="FF0000"/>
                </a:highlight>
                <a:latin typeface="Courier" pitchFamily="2" charset="0"/>
              </a:rPr>
              <a:t>y++;</a:t>
            </a:r>
          </a:p>
        </p:txBody>
      </p:sp>
    </p:spTree>
    <p:extLst>
      <p:ext uri="{BB962C8B-B14F-4D97-AF65-F5344CB8AC3E}">
        <p14:creationId xmlns:p14="http://schemas.microsoft.com/office/powerpoint/2010/main" val="3879762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track scope?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1E3D-D70C-934E-B36F-94EA76B7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799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Symbol table</a:t>
            </a:r>
          </a:p>
          <a:p>
            <a:r>
              <a:rPr lang="en-US" dirty="0">
                <a:highlight>
                  <a:srgbClr val="00FF00"/>
                </a:highlight>
              </a:rPr>
              <a:t>four</a:t>
            </a:r>
            <a:r>
              <a:rPr lang="en-US" dirty="0"/>
              <a:t> methods:</a:t>
            </a:r>
          </a:p>
          <a:p>
            <a:pPr lvl="1"/>
            <a:r>
              <a:rPr lang="en-US" b="1" dirty="0">
                <a:latin typeface="Courier" pitchFamily="2" charset="0"/>
              </a:rPr>
              <a:t>lookup(id) </a:t>
            </a:r>
            <a:r>
              <a:rPr lang="en-US" dirty="0">
                <a:latin typeface="Courier" pitchFamily="2" charset="0"/>
              </a:rPr>
              <a:t>: lookup an id in the symbol table. Returns None if the id is not in the symbol table.</a:t>
            </a:r>
            <a:br>
              <a:rPr lang="en-US" dirty="0">
                <a:latin typeface="Courier" pitchFamily="2" charset="0"/>
              </a:rPr>
            </a:br>
            <a:endParaRPr lang="en-US" dirty="0">
              <a:latin typeface="Courier" pitchFamily="2" charset="0"/>
            </a:endParaRPr>
          </a:p>
          <a:p>
            <a:pPr lvl="1"/>
            <a:r>
              <a:rPr lang="en-US" b="1" dirty="0">
                <a:latin typeface="Courier" pitchFamily="2" charset="0"/>
              </a:rPr>
              <a:t>insert(</a:t>
            </a:r>
            <a:r>
              <a:rPr lang="en-US" b="1" dirty="0" err="1">
                <a:latin typeface="Courier" pitchFamily="2" charset="0"/>
              </a:rPr>
              <a:t>id,info</a:t>
            </a:r>
            <a:r>
              <a:rPr lang="en-US" b="1" dirty="0">
                <a:latin typeface="Courier" pitchFamily="2" charset="0"/>
              </a:rPr>
              <a:t>) </a:t>
            </a:r>
            <a:r>
              <a:rPr lang="en-US" dirty="0">
                <a:latin typeface="Courier" pitchFamily="2" charset="0"/>
              </a:rPr>
              <a:t>: insert a new id into the symbol table along with a set of information about the id.</a:t>
            </a:r>
          </a:p>
          <a:p>
            <a:pPr lvl="1"/>
            <a:endParaRPr lang="en-US" dirty="0">
              <a:latin typeface="Courier" pitchFamily="2" charset="0"/>
            </a:endParaRPr>
          </a:p>
          <a:p>
            <a:pPr lvl="1"/>
            <a:r>
              <a:rPr lang="en-US" b="1" dirty="0" err="1">
                <a:latin typeface="Courier" pitchFamily="2" charset="0"/>
              </a:rPr>
              <a:t>push_scope</a:t>
            </a:r>
            <a:r>
              <a:rPr lang="en-US" b="1" dirty="0">
                <a:latin typeface="Courier" pitchFamily="2" charset="0"/>
              </a:rPr>
              <a:t>() </a:t>
            </a:r>
            <a:r>
              <a:rPr lang="en-US" dirty="0">
                <a:latin typeface="Courier" pitchFamily="2" charset="0"/>
              </a:rPr>
              <a:t>: push a new scope to the symbol table</a:t>
            </a:r>
          </a:p>
          <a:p>
            <a:pPr lvl="1"/>
            <a:endParaRPr lang="en-US" dirty="0">
              <a:latin typeface="Courier" pitchFamily="2" charset="0"/>
            </a:endParaRPr>
          </a:p>
          <a:p>
            <a:pPr lvl="1"/>
            <a:r>
              <a:rPr lang="en-US" b="1" dirty="0" err="1">
                <a:latin typeface="Courier" pitchFamily="2" charset="0"/>
              </a:rPr>
              <a:t>pop_scope</a:t>
            </a:r>
            <a:r>
              <a:rPr lang="en-US" b="1" dirty="0">
                <a:latin typeface="Courier" pitchFamily="2" charset="0"/>
              </a:rPr>
              <a:t>() : </a:t>
            </a:r>
            <a:r>
              <a:rPr lang="en-US" dirty="0">
                <a:latin typeface="Courier" pitchFamily="2" charset="0"/>
              </a:rPr>
              <a:t>pop a scope from the symbol table</a:t>
            </a:r>
          </a:p>
        </p:txBody>
      </p:sp>
    </p:spTree>
    <p:extLst>
      <p:ext uri="{BB962C8B-B14F-4D97-AF65-F5344CB8AC3E}">
        <p14:creationId xmlns:p14="http://schemas.microsoft.com/office/powerpoint/2010/main" val="206721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track scope?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1E3D-D70C-934E-B36F-94EA76B7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561441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ourier" pitchFamily="2" charset="0"/>
              </a:rPr>
              <a:t>SymbolTable</a:t>
            </a:r>
            <a:r>
              <a:rPr lang="en-US" dirty="0">
                <a:latin typeface="Courier" pitchFamily="2" charset="0"/>
              </a:rPr>
              <a:t> ST;</a:t>
            </a:r>
          </a:p>
          <a:p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/>
              <a:t>statement : </a:t>
            </a:r>
            <a:r>
              <a:rPr lang="en-US" dirty="0">
                <a:highlight>
                  <a:srgbClr val="00FF00"/>
                </a:highlight>
              </a:rPr>
              <a:t>LBRAC</a:t>
            </a:r>
            <a:r>
              <a:rPr lang="en-US" dirty="0"/>
              <a:t> </a:t>
            </a:r>
            <a:r>
              <a:rPr lang="en-US" dirty="0" err="1"/>
              <a:t>statement_list</a:t>
            </a:r>
            <a:r>
              <a:rPr lang="en-US" dirty="0"/>
              <a:t> </a:t>
            </a:r>
            <a:r>
              <a:rPr lang="en-US" dirty="0">
                <a:highlight>
                  <a:srgbClr val="00FF00"/>
                </a:highlight>
              </a:rPr>
              <a:t>RBRAC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 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6BA9F8-B5BA-1649-9C81-705B419CB52D}"/>
              </a:ext>
            </a:extLst>
          </p:cNvPr>
          <p:cNvSpPr txBox="1"/>
          <p:nvPr/>
        </p:nvSpPr>
        <p:spPr>
          <a:xfrm>
            <a:off x="1297472" y="4522001"/>
            <a:ext cx="721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You will be adding the functions to push and pop scopes in your homework</a:t>
            </a:r>
          </a:p>
        </p:txBody>
      </p:sp>
    </p:spTree>
    <p:extLst>
      <p:ext uri="{BB962C8B-B14F-4D97-AF65-F5344CB8AC3E}">
        <p14:creationId xmlns:p14="http://schemas.microsoft.com/office/powerpoint/2010/main" val="350129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9C5E-AADA-7449-8B50-9D8E40DE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18255"/>
            <a:ext cx="10515600" cy="1325563"/>
          </a:xfrm>
        </p:spPr>
        <p:txBody>
          <a:bodyPr/>
          <a:lstStyle/>
          <a:p>
            <a:r>
              <a:rPr lang="en-US" dirty="0"/>
              <a:t>How to implement a symbol 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33BB9-8E0D-2D49-B4E8-FB70A0848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28"/>
            <a:ext cx="10515600" cy="553782"/>
          </a:xfrm>
        </p:spPr>
        <p:txBody>
          <a:bodyPr/>
          <a:lstStyle/>
          <a:p>
            <a:r>
              <a:rPr lang="en-US" dirty="0"/>
              <a:t>Thoughts? What data structures are good at mapping strings?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FB5AF34-69E8-5846-A50F-646CD02A23E0}"/>
              </a:ext>
            </a:extLst>
          </p:cNvPr>
          <p:cNvSpPr txBox="1">
            <a:spLocks/>
          </p:cNvSpPr>
          <p:nvPr/>
        </p:nvSpPr>
        <p:spPr>
          <a:xfrm>
            <a:off x="838200" y="2273860"/>
            <a:ext cx="10515600" cy="39799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Symbol table</a:t>
            </a:r>
          </a:p>
          <a:p>
            <a:r>
              <a:rPr lang="en-US" dirty="0">
                <a:highlight>
                  <a:srgbClr val="00FF00"/>
                </a:highlight>
              </a:rPr>
              <a:t>four</a:t>
            </a:r>
            <a:r>
              <a:rPr lang="en-US" dirty="0"/>
              <a:t> methods:</a:t>
            </a:r>
          </a:p>
          <a:p>
            <a:pPr lvl="1"/>
            <a:r>
              <a:rPr lang="en-US" b="1" dirty="0">
                <a:latin typeface="Courier" pitchFamily="2" charset="0"/>
              </a:rPr>
              <a:t>lookup(id) </a:t>
            </a:r>
            <a:r>
              <a:rPr lang="en-US" dirty="0">
                <a:latin typeface="Courier" pitchFamily="2" charset="0"/>
              </a:rPr>
              <a:t>: lookup an id in the symbol table. Returns None if the id is not in the symbol table.</a:t>
            </a:r>
            <a:br>
              <a:rPr lang="en-US" dirty="0">
                <a:latin typeface="Courier" pitchFamily="2" charset="0"/>
              </a:rPr>
            </a:br>
            <a:endParaRPr lang="en-US" dirty="0">
              <a:latin typeface="Courier" pitchFamily="2" charset="0"/>
            </a:endParaRPr>
          </a:p>
          <a:p>
            <a:pPr lvl="1"/>
            <a:r>
              <a:rPr lang="en-US" b="1" dirty="0">
                <a:latin typeface="Courier" pitchFamily="2" charset="0"/>
              </a:rPr>
              <a:t>insert(</a:t>
            </a:r>
            <a:r>
              <a:rPr lang="en-US" b="1" dirty="0" err="1">
                <a:latin typeface="Courier" pitchFamily="2" charset="0"/>
              </a:rPr>
              <a:t>id,info</a:t>
            </a:r>
            <a:r>
              <a:rPr lang="en-US" b="1" dirty="0">
                <a:latin typeface="Courier" pitchFamily="2" charset="0"/>
              </a:rPr>
              <a:t>) </a:t>
            </a:r>
            <a:r>
              <a:rPr lang="en-US" dirty="0">
                <a:latin typeface="Courier" pitchFamily="2" charset="0"/>
              </a:rPr>
              <a:t>: insert a new id into the symbol table along with a set of information about the id.</a:t>
            </a:r>
          </a:p>
          <a:p>
            <a:pPr lvl="1"/>
            <a:endParaRPr lang="en-US" dirty="0">
              <a:latin typeface="Courier" pitchFamily="2" charset="0"/>
            </a:endParaRPr>
          </a:p>
          <a:p>
            <a:pPr lvl="1"/>
            <a:r>
              <a:rPr lang="en-US" b="1" dirty="0" err="1">
                <a:latin typeface="Courier" pitchFamily="2" charset="0"/>
              </a:rPr>
              <a:t>push_scope</a:t>
            </a:r>
            <a:r>
              <a:rPr lang="en-US" b="1" dirty="0">
                <a:latin typeface="Courier" pitchFamily="2" charset="0"/>
              </a:rPr>
              <a:t>() </a:t>
            </a:r>
            <a:r>
              <a:rPr lang="en-US" dirty="0">
                <a:latin typeface="Courier" pitchFamily="2" charset="0"/>
              </a:rPr>
              <a:t>: push a new scope to the symbol table</a:t>
            </a:r>
          </a:p>
          <a:p>
            <a:pPr lvl="1"/>
            <a:endParaRPr lang="en-US" dirty="0">
              <a:latin typeface="Courier" pitchFamily="2" charset="0"/>
            </a:endParaRPr>
          </a:p>
          <a:p>
            <a:pPr lvl="1"/>
            <a:r>
              <a:rPr lang="en-US" b="1" dirty="0" err="1">
                <a:latin typeface="Courier" pitchFamily="2" charset="0"/>
              </a:rPr>
              <a:t>pop_scope</a:t>
            </a:r>
            <a:r>
              <a:rPr lang="en-US" b="1" dirty="0">
                <a:latin typeface="Courier" pitchFamily="2" charset="0"/>
              </a:rPr>
              <a:t>() : </a:t>
            </a:r>
            <a:r>
              <a:rPr lang="en-US" dirty="0">
                <a:latin typeface="Courier" pitchFamily="2" charset="0"/>
              </a:rPr>
              <a:t>pop a scope from the symbol table</a:t>
            </a:r>
          </a:p>
        </p:txBody>
      </p:sp>
    </p:spTree>
    <p:extLst>
      <p:ext uri="{BB962C8B-B14F-4D97-AF65-F5344CB8AC3E}">
        <p14:creationId xmlns:p14="http://schemas.microsoft.com/office/powerpoint/2010/main" val="821892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9C5E-AADA-7449-8B50-9D8E40DE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symbol 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33BB9-8E0D-2D49-B4E8-FB70A0848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4519" cy="4351338"/>
          </a:xfrm>
        </p:spPr>
        <p:txBody>
          <a:bodyPr/>
          <a:lstStyle/>
          <a:p>
            <a:r>
              <a:rPr lang="en-US" dirty="0"/>
              <a:t>Many ways to implement:</a:t>
            </a:r>
          </a:p>
          <a:p>
            <a:endParaRPr lang="en-US" dirty="0"/>
          </a:p>
          <a:p>
            <a:r>
              <a:rPr lang="en-US" dirty="0"/>
              <a:t>A good way is a stack of hash tables: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3B147-D35B-B644-8745-4E467C99E24A}"/>
              </a:ext>
            </a:extLst>
          </p:cNvPr>
          <p:cNvSpPr txBox="1"/>
          <p:nvPr/>
        </p:nvSpPr>
        <p:spPr>
          <a:xfrm>
            <a:off x="9451770" y="5992297"/>
            <a:ext cx="203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0EAF1-F6F1-6B4F-B6EC-B40441CA1E6B}"/>
              </a:ext>
            </a:extLst>
          </p:cNvPr>
          <p:cNvSpPr/>
          <p:nvPr/>
        </p:nvSpPr>
        <p:spPr>
          <a:xfrm>
            <a:off x="9586645" y="4952144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1B91-0C88-7945-B022-9658A45E81D7}"/>
              </a:ext>
            </a:extLst>
          </p:cNvPr>
          <p:cNvSpPr txBox="1"/>
          <p:nvPr/>
        </p:nvSpPr>
        <p:spPr>
          <a:xfrm>
            <a:off x="8151779" y="5245226"/>
            <a:ext cx="121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scope</a:t>
            </a:r>
          </a:p>
        </p:txBody>
      </p:sp>
    </p:spTree>
    <p:extLst>
      <p:ext uri="{BB962C8B-B14F-4D97-AF65-F5344CB8AC3E}">
        <p14:creationId xmlns:p14="http://schemas.microsoft.com/office/powerpoint/2010/main" val="3124280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8FE89-80EC-87CF-EF21-7CC999972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9CFE3-DA40-0609-0655-7932BAEBA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Hash 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2AB99-7DD7-3EE5-2851-89131844A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601"/>
            <a:ext cx="5634519" cy="4351338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A HASH Table starts with a hashing function that maps a string (key) to an index.</a:t>
            </a:r>
          </a:p>
          <a:p>
            <a:r>
              <a:rPr lang="en-US" dirty="0"/>
              <a:t>The Index goes into a  table of buckets.  The more indexes (bucket lists) the less likelihood of a collision.</a:t>
            </a:r>
          </a:p>
          <a:p>
            <a:r>
              <a:rPr lang="en-US" dirty="0"/>
              <a:t>Bucket lists entries store each key, value pair.</a:t>
            </a:r>
          </a:p>
          <a:p>
            <a:r>
              <a:rPr lang="en-US" dirty="0" err="1"/>
              <a:t>Dicts</a:t>
            </a:r>
            <a:r>
              <a:rPr lang="en-US" dirty="0"/>
              <a:t> in Python are implemented using hash tables.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F0B9C5-3CC7-4B51-64AE-9F1246BF4824}"/>
              </a:ext>
            </a:extLst>
          </p:cNvPr>
          <p:cNvSpPr/>
          <p:nvPr/>
        </p:nvSpPr>
        <p:spPr>
          <a:xfrm>
            <a:off x="8462773" y="5184192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1F2E3E-FEB3-314A-E3CD-3C3EBD1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577" y="718312"/>
            <a:ext cx="4545011" cy="43117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A11BD2-9D8D-1E7D-40D0-8B0E3546B0DF}"/>
              </a:ext>
            </a:extLst>
          </p:cNvPr>
          <p:cNvSpPr txBox="1"/>
          <p:nvPr/>
        </p:nvSpPr>
        <p:spPr>
          <a:xfrm>
            <a:off x="7638621" y="5477274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B4AEBA-7D4D-9BFA-641A-19D5ECC403C0}"/>
              </a:ext>
            </a:extLst>
          </p:cNvPr>
          <p:cNvCxnSpPr>
            <a:cxnSpLocks/>
          </p:cNvCxnSpPr>
          <p:nvPr/>
        </p:nvCxnSpPr>
        <p:spPr>
          <a:xfrm>
            <a:off x="8146621" y="5661940"/>
            <a:ext cx="341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D1ACD0-ECE2-A140-B3B9-97442D63CF5E}"/>
              </a:ext>
            </a:extLst>
          </p:cNvPr>
          <p:cNvCxnSpPr>
            <a:cxnSpLocks/>
          </p:cNvCxnSpPr>
          <p:nvPr/>
        </p:nvCxnSpPr>
        <p:spPr>
          <a:xfrm>
            <a:off x="10229928" y="5661940"/>
            <a:ext cx="341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D25E950-BFCE-6DC8-672D-D3A7DAFF144D}"/>
              </a:ext>
            </a:extLst>
          </p:cNvPr>
          <p:cNvSpPr txBox="1"/>
          <p:nvPr/>
        </p:nvSpPr>
        <p:spPr>
          <a:xfrm>
            <a:off x="10561320" y="5477274"/>
            <a:ext cx="79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D3DCD1-2661-B9AF-5671-77707183D0F9}"/>
              </a:ext>
            </a:extLst>
          </p:cNvPr>
          <p:cNvSpPr txBox="1"/>
          <p:nvPr/>
        </p:nvSpPr>
        <p:spPr>
          <a:xfrm>
            <a:off x="989056" y="6398348"/>
            <a:ext cx="10440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Src</a:t>
            </a:r>
            <a:r>
              <a:rPr lang="en-US" dirty="0"/>
              <a:t>: https://www.hackerearth.com/practice/data-structures/hash-tables/basics-of-hash-tables/tutorial/</a:t>
            </a:r>
          </a:p>
        </p:txBody>
      </p:sp>
    </p:spTree>
    <p:extLst>
      <p:ext uri="{BB962C8B-B14F-4D97-AF65-F5344CB8AC3E}">
        <p14:creationId xmlns:p14="http://schemas.microsoft.com/office/powerpoint/2010/main" val="1795173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9C5E-AADA-7449-8B50-9D8E40DE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symbol table?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0EAF1-F6F1-6B4F-B6EC-B40441CA1E6B}"/>
              </a:ext>
            </a:extLst>
          </p:cNvPr>
          <p:cNvSpPr/>
          <p:nvPr/>
        </p:nvSpPr>
        <p:spPr>
          <a:xfrm>
            <a:off x="9586645" y="4952144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6BB221-2DEE-4E45-A704-507A91854C05}"/>
              </a:ext>
            </a:extLst>
          </p:cNvPr>
          <p:cNvSpPr/>
          <p:nvPr/>
        </p:nvSpPr>
        <p:spPr>
          <a:xfrm>
            <a:off x="7102487" y="5245226"/>
            <a:ext cx="1976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Courier" pitchFamily="2" charset="0"/>
              </a:rPr>
              <a:t>push_scope</a:t>
            </a:r>
            <a:r>
              <a:rPr lang="en-US" b="1" dirty="0">
                <a:latin typeface="Courier" pitchFamily="2" charset="0"/>
              </a:rPr>
              <a:t>() 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C0A352-3EE5-8343-AF6E-7F9E6901E56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6345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Many ways to implement:</a:t>
            </a:r>
          </a:p>
          <a:p>
            <a:endParaRPr lang="en-US"/>
          </a:p>
          <a:p>
            <a:r>
              <a:rPr lang="en-US"/>
              <a:t>A good way is a stack of hash tables: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EAF420-B501-0C42-AC57-B440D546F967}"/>
              </a:ext>
            </a:extLst>
          </p:cNvPr>
          <p:cNvSpPr txBox="1"/>
          <p:nvPr/>
        </p:nvSpPr>
        <p:spPr>
          <a:xfrm>
            <a:off x="9451770" y="5992297"/>
            <a:ext cx="203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</p:txBody>
      </p:sp>
    </p:spTree>
    <p:extLst>
      <p:ext uri="{BB962C8B-B14F-4D97-AF65-F5344CB8AC3E}">
        <p14:creationId xmlns:p14="http://schemas.microsoft.com/office/powerpoint/2010/main" val="1121655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9C5E-AADA-7449-8B50-9D8E40DE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symbol table?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0EAF1-F6F1-6B4F-B6EC-B40441CA1E6B}"/>
              </a:ext>
            </a:extLst>
          </p:cNvPr>
          <p:cNvSpPr/>
          <p:nvPr/>
        </p:nvSpPr>
        <p:spPr>
          <a:xfrm>
            <a:off x="9586645" y="4952144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C7C2F0-1153-CE48-AA44-01204EA79B21}"/>
              </a:ext>
            </a:extLst>
          </p:cNvPr>
          <p:cNvSpPr/>
          <p:nvPr/>
        </p:nvSpPr>
        <p:spPr>
          <a:xfrm>
            <a:off x="9586645" y="3842535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E5047D-BAF5-D943-A175-C150602EF898}"/>
              </a:ext>
            </a:extLst>
          </p:cNvPr>
          <p:cNvSpPr/>
          <p:nvPr/>
        </p:nvSpPr>
        <p:spPr>
          <a:xfrm>
            <a:off x="7102487" y="5245226"/>
            <a:ext cx="1976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Courier" pitchFamily="2" charset="0"/>
              </a:rPr>
              <a:t>push_scope</a:t>
            </a:r>
            <a:r>
              <a:rPr lang="en-US" b="1" dirty="0">
                <a:latin typeface="Courier" pitchFamily="2" charset="0"/>
              </a:rPr>
              <a:t>()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6BE18-3567-794D-AC8D-CFF6B94AE38B}"/>
              </a:ext>
            </a:extLst>
          </p:cNvPr>
          <p:cNvSpPr txBox="1"/>
          <p:nvPr/>
        </p:nvSpPr>
        <p:spPr>
          <a:xfrm>
            <a:off x="7256834" y="3842535"/>
            <a:ext cx="22586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adds a new </a:t>
            </a:r>
            <a:br>
              <a:rPr lang="en-US" i="1" dirty="0"/>
            </a:br>
            <a:r>
              <a:rPr lang="en-US" i="1" dirty="0"/>
              <a:t>Hash Table</a:t>
            </a:r>
            <a:br>
              <a:rPr lang="en-US" i="1" dirty="0"/>
            </a:br>
            <a:r>
              <a:rPr lang="en-US" i="1" dirty="0"/>
              <a:t>to the top of the stack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EB4C34F-5B89-E647-8AFE-6E2A02EDB1A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6345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Many ways to implement:</a:t>
            </a:r>
          </a:p>
          <a:p>
            <a:endParaRPr lang="en-US"/>
          </a:p>
          <a:p>
            <a:r>
              <a:rPr lang="en-US"/>
              <a:t>A good way is a stack of hash tables: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E94538-676C-B147-8C02-A3A7A4711A22}"/>
              </a:ext>
            </a:extLst>
          </p:cNvPr>
          <p:cNvSpPr txBox="1"/>
          <p:nvPr/>
        </p:nvSpPr>
        <p:spPr>
          <a:xfrm>
            <a:off x="9451770" y="5992297"/>
            <a:ext cx="203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</p:txBody>
      </p:sp>
    </p:spTree>
    <p:extLst>
      <p:ext uri="{BB962C8B-B14F-4D97-AF65-F5344CB8AC3E}">
        <p14:creationId xmlns:p14="http://schemas.microsoft.com/office/powerpoint/2010/main" val="2565771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9C5E-AADA-7449-8B50-9D8E40DE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symbol table?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0EAF1-F6F1-6B4F-B6EC-B40441CA1E6B}"/>
              </a:ext>
            </a:extLst>
          </p:cNvPr>
          <p:cNvSpPr/>
          <p:nvPr/>
        </p:nvSpPr>
        <p:spPr>
          <a:xfrm>
            <a:off x="9586645" y="4952144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C7C2F0-1153-CE48-AA44-01204EA79B21}"/>
              </a:ext>
            </a:extLst>
          </p:cNvPr>
          <p:cNvSpPr/>
          <p:nvPr/>
        </p:nvSpPr>
        <p:spPr>
          <a:xfrm>
            <a:off x="9586645" y="3842535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1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9B570D-D459-E844-B75F-29E7CC452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4519" cy="4351338"/>
          </a:xfrm>
        </p:spPr>
        <p:txBody>
          <a:bodyPr/>
          <a:lstStyle/>
          <a:p>
            <a:r>
              <a:rPr lang="en-US" dirty="0"/>
              <a:t>Many ways to implement:</a:t>
            </a:r>
          </a:p>
          <a:p>
            <a:endParaRPr lang="en-US" dirty="0"/>
          </a:p>
          <a:p>
            <a:r>
              <a:rPr lang="en-US" dirty="0"/>
              <a:t>A good way is a stack of hash tables: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B1446-421B-D543-B993-2AA606FE431F}"/>
              </a:ext>
            </a:extLst>
          </p:cNvPr>
          <p:cNvSpPr txBox="1"/>
          <p:nvPr/>
        </p:nvSpPr>
        <p:spPr>
          <a:xfrm>
            <a:off x="9451770" y="5992297"/>
            <a:ext cx="203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6B1A7C-1616-8C0A-12A5-32E419A6FE7E}"/>
              </a:ext>
            </a:extLst>
          </p:cNvPr>
          <p:cNvSpPr/>
          <p:nvPr/>
        </p:nvSpPr>
        <p:spPr>
          <a:xfrm>
            <a:off x="5717555" y="4305813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" pitchFamily="2" charset="0"/>
              </a:rPr>
              <a:t>insert(</a:t>
            </a:r>
            <a:r>
              <a:rPr lang="en-US" b="1" dirty="0" err="1">
                <a:latin typeface="Courier" pitchFamily="2" charset="0"/>
              </a:rPr>
              <a:t>id,data</a:t>
            </a:r>
            <a:r>
              <a:rPr lang="en-US" b="1" dirty="0">
                <a:latin typeface="Courier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9904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9C5E-AADA-7449-8B50-9D8E40DE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symbol table?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0EAF1-F6F1-6B4F-B6EC-B40441CA1E6B}"/>
              </a:ext>
            </a:extLst>
          </p:cNvPr>
          <p:cNvSpPr/>
          <p:nvPr/>
        </p:nvSpPr>
        <p:spPr>
          <a:xfrm>
            <a:off x="9586645" y="4952144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C7C2F0-1153-CE48-AA44-01204EA79B21}"/>
              </a:ext>
            </a:extLst>
          </p:cNvPr>
          <p:cNvSpPr/>
          <p:nvPr/>
        </p:nvSpPr>
        <p:spPr>
          <a:xfrm>
            <a:off x="9586645" y="3842535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4C41F5-B7AA-8140-A54D-E1972422CB8F}"/>
              </a:ext>
            </a:extLst>
          </p:cNvPr>
          <p:cNvSpPr txBox="1"/>
          <p:nvPr/>
        </p:nvSpPr>
        <p:spPr>
          <a:xfrm>
            <a:off x="9136619" y="3105834"/>
            <a:ext cx="24817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</a:t>
            </a:r>
            <a:r>
              <a:rPr lang="en-US" dirty="0">
                <a:latin typeface="Courier" pitchFamily="2" charset="0"/>
              </a:rPr>
              <a:t>(id -&gt; data)</a:t>
            </a:r>
            <a:r>
              <a:rPr lang="en-US" dirty="0"/>
              <a:t> </a:t>
            </a:r>
          </a:p>
          <a:p>
            <a:r>
              <a:rPr lang="en-US" b="1" dirty="0"/>
              <a:t>At the top hash table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053634-A073-6B44-81CA-2D6C74D260B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6345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Many ways to implement:</a:t>
            </a:r>
          </a:p>
          <a:p>
            <a:endParaRPr lang="en-US"/>
          </a:p>
          <a:p>
            <a:r>
              <a:rPr lang="en-US"/>
              <a:t>A good way is a stack of hash tables: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AA22A7-38DD-0F4F-A340-26C87E6B29CF}"/>
              </a:ext>
            </a:extLst>
          </p:cNvPr>
          <p:cNvSpPr txBox="1"/>
          <p:nvPr/>
        </p:nvSpPr>
        <p:spPr>
          <a:xfrm>
            <a:off x="9451770" y="5992297"/>
            <a:ext cx="203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B5DF23-919B-C537-425D-716696ABDA76}"/>
              </a:ext>
            </a:extLst>
          </p:cNvPr>
          <p:cNvSpPr/>
          <p:nvPr/>
        </p:nvSpPr>
        <p:spPr>
          <a:xfrm>
            <a:off x="5717555" y="4305813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" pitchFamily="2" charset="0"/>
              </a:rPr>
              <a:t>insert(</a:t>
            </a:r>
            <a:r>
              <a:rPr lang="en-US" b="1" dirty="0" err="1">
                <a:latin typeface="Courier" pitchFamily="2" charset="0"/>
              </a:rPr>
              <a:t>id,data</a:t>
            </a:r>
            <a:r>
              <a:rPr lang="en-US" b="1" dirty="0">
                <a:latin typeface="Courier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4822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9C5E-AADA-7449-8B50-9D8E40DE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symbol table?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0EAF1-F6F1-6B4F-B6EC-B40441CA1E6B}"/>
              </a:ext>
            </a:extLst>
          </p:cNvPr>
          <p:cNvSpPr/>
          <p:nvPr/>
        </p:nvSpPr>
        <p:spPr>
          <a:xfrm>
            <a:off x="9586645" y="4952144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C7C2F0-1153-CE48-AA44-01204EA79B21}"/>
              </a:ext>
            </a:extLst>
          </p:cNvPr>
          <p:cNvSpPr/>
          <p:nvPr/>
        </p:nvSpPr>
        <p:spPr>
          <a:xfrm>
            <a:off x="9586645" y="3842535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2B126A-9D0F-D544-BF62-FCCE4C6DDD6B}"/>
              </a:ext>
            </a:extLst>
          </p:cNvPr>
          <p:cNvSpPr/>
          <p:nvPr/>
        </p:nvSpPr>
        <p:spPr>
          <a:xfrm>
            <a:off x="5838765" y="5245226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" pitchFamily="2" charset="0"/>
              </a:rPr>
              <a:t>lookup(id) 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84075E7-0805-C240-AC82-C84351653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4519" cy="4351338"/>
          </a:xfrm>
        </p:spPr>
        <p:txBody>
          <a:bodyPr/>
          <a:lstStyle/>
          <a:p>
            <a:r>
              <a:rPr lang="en-US" dirty="0"/>
              <a:t>Many ways to implement:</a:t>
            </a:r>
          </a:p>
          <a:p>
            <a:endParaRPr lang="en-US" dirty="0"/>
          </a:p>
          <a:p>
            <a:r>
              <a:rPr lang="en-US" dirty="0"/>
              <a:t>A good way is a stack of hash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193F01-ACBE-0941-BB9B-C0944B9A84E2}"/>
              </a:ext>
            </a:extLst>
          </p:cNvPr>
          <p:cNvSpPr txBox="1"/>
          <p:nvPr/>
        </p:nvSpPr>
        <p:spPr>
          <a:xfrm>
            <a:off x="9451770" y="5992297"/>
            <a:ext cx="203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</p:txBody>
      </p:sp>
    </p:spTree>
    <p:extLst>
      <p:ext uri="{BB962C8B-B14F-4D97-AF65-F5344CB8AC3E}">
        <p14:creationId xmlns:p14="http://schemas.microsoft.com/office/powerpoint/2010/main" val="400832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9C5E-AADA-7449-8B50-9D8E40DE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symbol table?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0EAF1-F6F1-6B4F-B6EC-B40441CA1E6B}"/>
              </a:ext>
            </a:extLst>
          </p:cNvPr>
          <p:cNvSpPr/>
          <p:nvPr/>
        </p:nvSpPr>
        <p:spPr>
          <a:xfrm>
            <a:off x="9586645" y="4952144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C7C2F0-1153-CE48-AA44-01204EA79B21}"/>
              </a:ext>
            </a:extLst>
          </p:cNvPr>
          <p:cNvSpPr/>
          <p:nvPr/>
        </p:nvSpPr>
        <p:spPr>
          <a:xfrm>
            <a:off x="9586645" y="3842535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2B126A-9D0F-D544-BF62-FCCE4C6DDD6B}"/>
              </a:ext>
            </a:extLst>
          </p:cNvPr>
          <p:cNvSpPr/>
          <p:nvPr/>
        </p:nvSpPr>
        <p:spPr>
          <a:xfrm>
            <a:off x="5838765" y="5245226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" pitchFamily="2" charset="0"/>
              </a:rPr>
              <a:t>lookup(id)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256120-08E6-1342-9017-AA64020A4AF2}"/>
              </a:ext>
            </a:extLst>
          </p:cNvPr>
          <p:cNvSpPr txBox="1"/>
          <p:nvPr/>
        </p:nvSpPr>
        <p:spPr>
          <a:xfrm>
            <a:off x="8096036" y="4001294"/>
            <a:ext cx="1204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check here</a:t>
            </a:r>
            <a:br>
              <a:rPr lang="en-US" dirty="0"/>
            </a:br>
            <a:r>
              <a:rPr lang="en-US" dirty="0"/>
              <a:t>first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49D71BD-26A3-A042-A705-DCF2D2BDA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4519" cy="4351338"/>
          </a:xfrm>
        </p:spPr>
        <p:txBody>
          <a:bodyPr/>
          <a:lstStyle/>
          <a:p>
            <a:r>
              <a:rPr lang="en-US" dirty="0"/>
              <a:t>Many ways to implement:</a:t>
            </a:r>
          </a:p>
          <a:p>
            <a:endParaRPr lang="en-US" dirty="0"/>
          </a:p>
          <a:p>
            <a:r>
              <a:rPr lang="en-US" dirty="0"/>
              <a:t>A good way is a stack of hash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2C2F01-962C-CC42-B989-D624183345EB}"/>
              </a:ext>
            </a:extLst>
          </p:cNvPr>
          <p:cNvSpPr txBox="1"/>
          <p:nvPr/>
        </p:nvSpPr>
        <p:spPr>
          <a:xfrm>
            <a:off x="9451770" y="5992297"/>
            <a:ext cx="203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</p:txBody>
      </p:sp>
    </p:spTree>
    <p:extLst>
      <p:ext uri="{BB962C8B-B14F-4D97-AF65-F5344CB8AC3E}">
        <p14:creationId xmlns:p14="http://schemas.microsoft.com/office/powerpoint/2010/main" val="1406310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9C5E-AADA-7449-8B50-9D8E40DE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symbol table?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0EAF1-F6F1-6B4F-B6EC-B40441CA1E6B}"/>
              </a:ext>
            </a:extLst>
          </p:cNvPr>
          <p:cNvSpPr/>
          <p:nvPr/>
        </p:nvSpPr>
        <p:spPr>
          <a:xfrm>
            <a:off x="9586645" y="4952144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C7C2F0-1153-CE48-AA44-01204EA79B21}"/>
              </a:ext>
            </a:extLst>
          </p:cNvPr>
          <p:cNvSpPr/>
          <p:nvPr/>
        </p:nvSpPr>
        <p:spPr>
          <a:xfrm>
            <a:off x="9586645" y="3842535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2B126A-9D0F-D544-BF62-FCCE4C6DDD6B}"/>
              </a:ext>
            </a:extLst>
          </p:cNvPr>
          <p:cNvSpPr/>
          <p:nvPr/>
        </p:nvSpPr>
        <p:spPr>
          <a:xfrm>
            <a:off x="5838765" y="5245226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" pitchFamily="2" charset="0"/>
              </a:rPr>
              <a:t>lookup(id)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256120-08E6-1342-9017-AA64020A4AF2}"/>
              </a:ext>
            </a:extLst>
          </p:cNvPr>
          <p:cNvSpPr txBox="1"/>
          <p:nvPr/>
        </p:nvSpPr>
        <p:spPr>
          <a:xfrm>
            <a:off x="8123751" y="5106726"/>
            <a:ext cx="1210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then check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91787D9-41F9-6F41-9505-E34814E07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4519" cy="4351338"/>
          </a:xfrm>
        </p:spPr>
        <p:txBody>
          <a:bodyPr/>
          <a:lstStyle/>
          <a:p>
            <a:r>
              <a:rPr lang="en-US" dirty="0"/>
              <a:t>Many ways to implement:</a:t>
            </a:r>
          </a:p>
          <a:p>
            <a:endParaRPr lang="en-US" dirty="0"/>
          </a:p>
          <a:p>
            <a:r>
              <a:rPr lang="en-US" dirty="0"/>
              <a:t>A good way is a stack of hash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99CC51-CA56-DB47-8727-96460C5F2F40}"/>
              </a:ext>
            </a:extLst>
          </p:cNvPr>
          <p:cNvSpPr txBox="1"/>
          <p:nvPr/>
        </p:nvSpPr>
        <p:spPr>
          <a:xfrm>
            <a:off x="9451770" y="5992297"/>
            <a:ext cx="203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</p:txBody>
      </p:sp>
    </p:spTree>
    <p:extLst>
      <p:ext uri="{BB962C8B-B14F-4D97-AF65-F5344CB8AC3E}">
        <p14:creationId xmlns:p14="http://schemas.microsoft.com/office/powerpoint/2010/main" val="3610665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9C5E-AADA-7449-8B50-9D8E40DE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symbol table?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0EAF1-F6F1-6B4F-B6EC-B40441CA1E6B}"/>
              </a:ext>
            </a:extLst>
          </p:cNvPr>
          <p:cNvSpPr/>
          <p:nvPr/>
        </p:nvSpPr>
        <p:spPr>
          <a:xfrm>
            <a:off x="9586645" y="4952144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C7C2F0-1153-CE48-AA44-01204EA79B21}"/>
              </a:ext>
            </a:extLst>
          </p:cNvPr>
          <p:cNvSpPr/>
          <p:nvPr/>
        </p:nvSpPr>
        <p:spPr>
          <a:xfrm>
            <a:off x="9586645" y="3842535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17403E-F336-5046-A205-FA3FEB347621}"/>
              </a:ext>
            </a:extLst>
          </p:cNvPr>
          <p:cNvSpPr/>
          <p:nvPr/>
        </p:nvSpPr>
        <p:spPr>
          <a:xfrm>
            <a:off x="7102487" y="5245226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Courier" pitchFamily="2" charset="0"/>
              </a:rPr>
              <a:t>pop_scope</a:t>
            </a:r>
            <a:r>
              <a:rPr lang="en-US" b="1" dirty="0">
                <a:latin typeface="Courier" pitchFamily="2" charset="0"/>
              </a:rPr>
              <a:t>() 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43765EF-EF4D-AC46-B0B9-0A7A8E830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4519" cy="4351338"/>
          </a:xfrm>
        </p:spPr>
        <p:txBody>
          <a:bodyPr/>
          <a:lstStyle/>
          <a:p>
            <a:r>
              <a:rPr lang="en-US" dirty="0"/>
              <a:t>Many ways to implement:</a:t>
            </a:r>
          </a:p>
          <a:p>
            <a:endParaRPr lang="en-US" dirty="0"/>
          </a:p>
          <a:p>
            <a:r>
              <a:rPr lang="en-US" dirty="0"/>
              <a:t>A good way is a stack of hash tables: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97416F-9FEB-904C-9931-1E427C69EA86}"/>
              </a:ext>
            </a:extLst>
          </p:cNvPr>
          <p:cNvSpPr txBox="1"/>
          <p:nvPr/>
        </p:nvSpPr>
        <p:spPr>
          <a:xfrm>
            <a:off x="9451770" y="5992297"/>
            <a:ext cx="203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</p:txBody>
      </p:sp>
    </p:spTree>
    <p:extLst>
      <p:ext uri="{BB962C8B-B14F-4D97-AF65-F5344CB8AC3E}">
        <p14:creationId xmlns:p14="http://schemas.microsoft.com/office/powerpoint/2010/main" val="32567020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9C5E-AADA-7449-8B50-9D8E40DE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symbol table?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0EAF1-F6F1-6B4F-B6EC-B40441CA1E6B}"/>
              </a:ext>
            </a:extLst>
          </p:cNvPr>
          <p:cNvSpPr/>
          <p:nvPr/>
        </p:nvSpPr>
        <p:spPr>
          <a:xfrm>
            <a:off x="9586645" y="4952144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E3156FD-D309-264E-97A9-3294F8ADF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4519" cy="4351338"/>
          </a:xfrm>
        </p:spPr>
        <p:txBody>
          <a:bodyPr/>
          <a:lstStyle/>
          <a:p>
            <a:r>
              <a:rPr lang="en-US" dirty="0"/>
              <a:t>Many ways to implement:</a:t>
            </a:r>
          </a:p>
          <a:p>
            <a:endParaRPr lang="en-US" dirty="0"/>
          </a:p>
          <a:p>
            <a:r>
              <a:rPr lang="en-US" dirty="0"/>
              <a:t>A good way is a stack of hash tables: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993229-5D3A-DF4F-A7DE-9795D9894D55}"/>
              </a:ext>
            </a:extLst>
          </p:cNvPr>
          <p:cNvSpPr txBox="1"/>
          <p:nvPr/>
        </p:nvSpPr>
        <p:spPr>
          <a:xfrm>
            <a:off x="9451770" y="5992297"/>
            <a:ext cx="203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401D8B-3CC5-836D-5C7C-36C487CB9191}"/>
              </a:ext>
            </a:extLst>
          </p:cNvPr>
          <p:cNvSpPr txBox="1"/>
          <p:nvPr/>
        </p:nvSpPr>
        <p:spPr>
          <a:xfrm>
            <a:off x="2536371" y="4191000"/>
            <a:ext cx="505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to the symbols in the HT 1?</a:t>
            </a:r>
          </a:p>
        </p:txBody>
      </p:sp>
    </p:spTree>
    <p:extLst>
      <p:ext uri="{BB962C8B-B14F-4D97-AF65-F5344CB8AC3E}">
        <p14:creationId xmlns:p14="http://schemas.microsoft.com/office/powerpoint/2010/main" val="10842298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9C5E-AADA-7449-8B50-9D8E40DE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symbol 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33BB9-8E0D-2D49-B4E8-FB70A0848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4519" cy="435133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0EAF1-F6F1-6B4F-B6EC-B40441CA1E6B}"/>
              </a:ext>
            </a:extLst>
          </p:cNvPr>
          <p:cNvSpPr/>
          <p:nvPr/>
        </p:nvSpPr>
        <p:spPr>
          <a:xfrm>
            <a:off x="9586645" y="4952144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2BD510-7170-9741-88EA-F65D66194A69}"/>
              </a:ext>
            </a:extLst>
          </p:cNvPr>
          <p:cNvSpPr/>
          <p:nvPr/>
        </p:nvSpPr>
        <p:spPr>
          <a:xfrm>
            <a:off x="2425108" y="2708632"/>
            <a:ext cx="228312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int x = 0;</a:t>
            </a:r>
          </a:p>
          <a:p>
            <a:r>
              <a:rPr lang="en-US" dirty="0">
                <a:latin typeface="Courier" pitchFamily="2" charset="0"/>
              </a:rPr>
              <a:t>int y = 0;</a:t>
            </a:r>
          </a:p>
          <a:p>
            <a:r>
              <a:rPr lang="en-US" dirty="0">
                <a:latin typeface="Courier" pitchFamily="2" charset="0"/>
              </a:rPr>
              <a:t>{</a:t>
            </a:r>
          </a:p>
          <a:p>
            <a:r>
              <a:rPr lang="en-US" dirty="0">
                <a:latin typeface="Courier" pitchFamily="2" charset="0"/>
              </a:rPr>
              <a:t>  int y = 0;</a:t>
            </a:r>
          </a:p>
          <a:p>
            <a:r>
              <a:rPr lang="en-US" dirty="0">
                <a:latin typeface="Courier" pitchFamily="2" charset="0"/>
              </a:rPr>
              <a:t>  x++;</a:t>
            </a:r>
          </a:p>
          <a:p>
            <a:r>
              <a:rPr lang="en-US" dirty="0">
                <a:latin typeface="Courier" pitchFamily="2" charset="0"/>
              </a:rPr>
              <a:t>  y++;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  <a:p>
            <a:r>
              <a:rPr lang="en-US" dirty="0">
                <a:latin typeface="Courier" pitchFamily="2" charset="0"/>
              </a:rPr>
              <a:t>x++;</a:t>
            </a:r>
          </a:p>
          <a:p>
            <a:r>
              <a:rPr lang="en-US" dirty="0">
                <a:latin typeface="Courier" pitchFamily="2" charset="0"/>
              </a:rPr>
              <a:t>y++;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166D9E-6A4A-4648-A21F-E904A4DD4613}"/>
              </a:ext>
            </a:extLst>
          </p:cNvPr>
          <p:cNvSpPr txBox="1"/>
          <p:nvPr/>
        </p:nvSpPr>
        <p:spPr>
          <a:xfrm>
            <a:off x="9451770" y="5992297"/>
            <a:ext cx="203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</p:txBody>
      </p:sp>
    </p:spTree>
    <p:extLst>
      <p:ext uri="{BB962C8B-B14F-4D97-AF65-F5344CB8AC3E}">
        <p14:creationId xmlns:p14="http://schemas.microsoft.com/office/powerpoint/2010/main" val="2301459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5BF3A-2F7D-BBC1-BF8D-586112EF9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14E7F-0E2C-043E-1129-A545C871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symbol 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F8D6A-416F-2068-1B66-F5A7EE865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4519" cy="435133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286DB-2E9D-C8D5-7CB8-6307613D039F}"/>
              </a:ext>
            </a:extLst>
          </p:cNvPr>
          <p:cNvSpPr/>
          <p:nvPr/>
        </p:nvSpPr>
        <p:spPr>
          <a:xfrm>
            <a:off x="9586645" y="4952144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6DE7ED-C68E-537B-9AB6-C797DB99B13D}"/>
              </a:ext>
            </a:extLst>
          </p:cNvPr>
          <p:cNvSpPr/>
          <p:nvPr/>
        </p:nvSpPr>
        <p:spPr>
          <a:xfrm>
            <a:off x="2425108" y="2708632"/>
            <a:ext cx="228312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int x = 0;</a:t>
            </a:r>
          </a:p>
          <a:p>
            <a:r>
              <a:rPr lang="en-US" dirty="0">
                <a:latin typeface="Courier" pitchFamily="2" charset="0"/>
              </a:rPr>
              <a:t>int y = 0;</a:t>
            </a:r>
          </a:p>
          <a:p>
            <a:r>
              <a:rPr lang="en-US" dirty="0">
                <a:latin typeface="Courier" pitchFamily="2" charset="0"/>
              </a:rPr>
              <a:t>{</a:t>
            </a:r>
          </a:p>
          <a:p>
            <a:r>
              <a:rPr lang="en-US" dirty="0">
                <a:latin typeface="Courier" pitchFamily="2" charset="0"/>
              </a:rPr>
              <a:t>  int y = 0;</a:t>
            </a:r>
          </a:p>
          <a:p>
            <a:r>
              <a:rPr lang="en-US" dirty="0">
                <a:latin typeface="Courier" pitchFamily="2" charset="0"/>
              </a:rPr>
              <a:t>  x++;</a:t>
            </a:r>
          </a:p>
          <a:p>
            <a:r>
              <a:rPr lang="en-US" dirty="0">
                <a:latin typeface="Courier" pitchFamily="2" charset="0"/>
              </a:rPr>
              <a:t>  y++;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  <a:p>
            <a:r>
              <a:rPr lang="en-US" dirty="0">
                <a:latin typeface="Courier" pitchFamily="2" charset="0"/>
              </a:rPr>
              <a:t>x++;</a:t>
            </a:r>
          </a:p>
          <a:p>
            <a:r>
              <a:rPr lang="en-US" dirty="0">
                <a:latin typeface="Courier" pitchFamily="2" charset="0"/>
              </a:rPr>
              <a:t>y++;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44EB54-5245-A1B5-9AC7-0E1DED997458}"/>
              </a:ext>
            </a:extLst>
          </p:cNvPr>
          <p:cNvSpPr txBox="1"/>
          <p:nvPr/>
        </p:nvSpPr>
        <p:spPr>
          <a:xfrm>
            <a:off x="9451770" y="5992297"/>
            <a:ext cx="203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EE7D2-A3EC-CF3D-E8F2-76D58BA18C2C}"/>
              </a:ext>
            </a:extLst>
          </p:cNvPr>
          <p:cNvSpPr txBox="1"/>
          <p:nvPr/>
        </p:nvSpPr>
        <p:spPr>
          <a:xfrm>
            <a:off x="8711542" y="5106726"/>
            <a:ext cx="740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(x,0)</a:t>
            </a:r>
          </a:p>
          <a:p>
            <a:r>
              <a:rPr lang="en-US" dirty="0"/>
              <a:t>(y,0)</a:t>
            </a:r>
          </a:p>
        </p:txBody>
      </p:sp>
    </p:spTree>
    <p:extLst>
      <p:ext uri="{BB962C8B-B14F-4D97-AF65-F5344CB8AC3E}">
        <p14:creationId xmlns:p14="http://schemas.microsoft.com/office/powerpoint/2010/main" val="38194119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A77AE-3CB1-CC19-160E-FB39E360D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F604-AE22-1B11-D317-090B82572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symbol 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C329F-7EE1-DAF3-767C-F47B440ED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4519" cy="435133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88978E-2BEF-0111-53C5-4B24A929AAF5}"/>
              </a:ext>
            </a:extLst>
          </p:cNvPr>
          <p:cNvSpPr/>
          <p:nvPr/>
        </p:nvSpPr>
        <p:spPr>
          <a:xfrm>
            <a:off x="9586645" y="4952144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3849CE-EB35-D782-4627-E1C8374DC4F4}"/>
              </a:ext>
            </a:extLst>
          </p:cNvPr>
          <p:cNvSpPr/>
          <p:nvPr/>
        </p:nvSpPr>
        <p:spPr>
          <a:xfrm>
            <a:off x="2425108" y="2708632"/>
            <a:ext cx="228312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int x = 0;</a:t>
            </a:r>
          </a:p>
          <a:p>
            <a:r>
              <a:rPr lang="en-US" dirty="0">
                <a:latin typeface="Courier" pitchFamily="2" charset="0"/>
              </a:rPr>
              <a:t>int y = 0;</a:t>
            </a:r>
          </a:p>
          <a:p>
            <a:r>
              <a:rPr lang="en-US" dirty="0">
                <a:latin typeface="Courier" pitchFamily="2" charset="0"/>
              </a:rPr>
              <a:t>{</a:t>
            </a:r>
          </a:p>
          <a:p>
            <a:r>
              <a:rPr lang="en-US" dirty="0">
                <a:latin typeface="Courier" pitchFamily="2" charset="0"/>
              </a:rPr>
              <a:t>  int y = 0;</a:t>
            </a:r>
          </a:p>
          <a:p>
            <a:r>
              <a:rPr lang="en-US" dirty="0">
                <a:latin typeface="Courier" pitchFamily="2" charset="0"/>
              </a:rPr>
              <a:t>  x++;</a:t>
            </a:r>
          </a:p>
          <a:p>
            <a:r>
              <a:rPr lang="en-US" dirty="0">
                <a:latin typeface="Courier" pitchFamily="2" charset="0"/>
              </a:rPr>
              <a:t>  y++;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  <a:p>
            <a:r>
              <a:rPr lang="en-US" dirty="0">
                <a:latin typeface="Courier" pitchFamily="2" charset="0"/>
              </a:rPr>
              <a:t>x++;</a:t>
            </a:r>
          </a:p>
          <a:p>
            <a:r>
              <a:rPr lang="en-US" dirty="0">
                <a:latin typeface="Courier" pitchFamily="2" charset="0"/>
              </a:rPr>
              <a:t>y++;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FC9AEA-65C8-F2B6-D3C7-73D018D1597F}"/>
              </a:ext>
            </a:extLst>
          </p:cNvPr>
          <p:cNvSpPr txBox="1"/>
          <p:nvPr/>
        </p:nvSpPr>
        <p:spPr>
          <a:xfrm>
            <a:off x="9451770" y="5992297"/>
            <a:ext cx="203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59123-D28D-B4F9-5949-6DD86C0BB624}"/>
              </a:ext>
            </a:extLst>
          </p:cNvPr>
          <p:cNvSpPr txBox="1"/>
          <p:nvPr/>
        </p:nvSpPr>
        <p:spPr>
          <a:xfrm>
            <a:off x="8167738" y="5106726"/>
            <a:ext cx="1323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(x,0)-&gt;(x,1)</a:t>
            </a:r>
          </a:p>
          <a:p>
            <a:r>
              <a:rPr lang="en-US" dirty="0"/>
              <a:t>(y,0)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20CAAB-89A6-0C24-8942-75A5C4FBD1B8}"/>
              </a:ext>
            </a:extLst>
          </p:cNvPr>
          <p:cNvSpPr/>
          <p:nvPr/>
        </p:nvSpPr>
        <p:spPr>
          <a:xfrm>
            <a:off x="9586645" y="3877028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E70892-FFFC-D34A-6AA6-BBEBDA558CAD}"/>
              </a:ext>
            </a:extLst>
          </p:cNvPr>
          <p:cNvSpPr txBox="1"/>
          <p:nvPr/>
        </p:nvSpPr>
        <p:spPr>
          <a:xfrm>
            <a:off x="8167738" y="4017610"/>
            <a:ext cx="1323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(y,0) -&gt; (y,1)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D577EB-E1E8-5CF5-A632-FE4F52481895}"/>
              </a:ext>
            </a:extLst>
          </p:cNvPr>
          <p:cNvSpPr txBox="1"/>
          <p:nvPr/>
        </p:nvSpPr>
        <p:spPr>
          <a:xfrm>
            <a:off x="9586645" y="3230697"/>
            <a:ext cx="1767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a local name space</a:t>
            </a:r>
          </a:p>
        </p:txBody>
      </p:sp>
    </p:spTree>
    <p:extLst>
      <p:ext uri="{BB962C8B-B14F-4D97-AF65-F5344CB8AC3E}">
        <p14:creationId xmlns:p14="http://schemas.microsoft.com/office/powerpoint/2010/main" val="31720218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F376B-6609-5246-949C-AF5C7A79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6DA89-76BA-E332-3B53-D558FEBA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symbol 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15B2E-FE49-BA58-37CA-86D2490F9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4519" cy="435133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926709-0980-9230-8787-47482FBFCE64}"/>
              </a:ext>
            </a:extLst>
          </p:cNvPr>
          <p:cNvSpPr/>
          <p:nvPr/>
        </p:nvSpPr>
        <p:spPr>
          <a:xfrm>
            <a:off x="9586645" y="4952144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8451EF-D4A1-7ECC-1FB7-07007370697C}"/>
              </a:ext>
            </a:extLst>
          </p:cNvPr>
          <p:cNvSpPr/>
          <p:nvPr/>
        </p:nvSpPr>
        <p:spPr>
          <a:xfrm>
            <a:off x="2425108" y="2708632"/>
            <a:ext cx="228312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int x = 0;</a:t>
            </a:r>
          </a:p>
          <a:p>
            <a:r>
              <a:rPr lang="en-US" dirty="0">
                <a:latin typeface="Courier" pitchFamily="2" charset="0"/>
              </a:rPr>
              <a:t>int y = 0;</a:t>
            </a:r>
          </a:p>
          <a:p>
            <a:r>
              <a:rPr lang="en-US" dirty="0">
                <a:latin typeface="Courier" pitchFamily="2" charset="0"/>
              </a:rPr>
              <a:t>{</a:t>
            </a:r>
          </a:p>
          <a:p>
            <a:r>
              <a:rPr lang="en-US" dirty="0">
                <a:latin typeface="Courier" pitchFamily="2" charset="0"/>
              </a:rPr>
              <a:t>  int y = 0;</a:t>
            </a:r>
          </a:p>
          <a:p>
            <a:r>
              <a:rPr lang="en-US" dirty="0">
                <a:latin typeface="Courier" pitchFamily="2" charset="0"/>
              </a:rPr>
              <a:t>  x++;</a:t>
            </a:r>
          </a:p>
          <a:p>
            <a:r>
              <a:rPr lang="en-US" dirty="0">
                <a:latin typeface="Courier" pitchFamily="2" charset="0"/>
              </a:rPr>
              <a:t>  y++;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  <a:p>
            <a:r>
              <a:rPr lang="en-US" dirty="0">
                <a:latin typeface="Courier" pitchFamily="2" charset="0"/>
              </a:rPr>
              <a:t>x++;</a:t>
            </a:r>
          </a:p>
          <a:p>
            <a:r>
              <a:rPr lang="en-US" dirty="0">
                <a:latin typeface="Courier" pitchFamily="2" charset="0"/>
              </a:rPr>
              <a:t>y++;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35C8B-5D62-BDC0-DB72-BD31BF0630E8}"/>
              </a:ext>
            </a:extLst>
          </p:cNvPr>
          <p:cNvSpPr txBox="1"/>
          <p:nvPr/>
        </p:nvSpPr>
        <p:spPr>
          <a:xfrm>
            <a:off x="9451770" y="5992297"/>
            <a:ext cx="203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DB009-6722-9E8C-D7A5-6D0644EA8AD7}"/>
              </a:ext>
            </a:extLst>
          </p:cNvPr>
          <p:cNvSpPr txBox="1"/>
          <p:nvPr/>
        </p:nvSpPr>
        <p:spPr>
          <a:xfrm>
            <a:off x="8711542" y="5106726"/>
            <a:ext cx="740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(x,1)</a:t>
            </a:r>
          </a:p>
          <a:p>
            <a:r>
              <a:rPr lang="en-US" dirty="0"/>
              <a:t>(y,0)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04DA2-3BFB-3DE4-A9FD-EEE7B1798517}"/>
              </a:ext>
            </a:extLst>
          </p:cNvPr>
          <p:cNvSpPr txBox="1"/>
          <p:nvPr/>
        </p:nvSpPr>
        <p:spPr>
          <a:xfrm>
            <a:off x="9586645" y="3944157"/>
            <a:ext cx="2036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 a local name space, leaving global name space</a:t>
            </a:r>
          </a:p>
        </p:txBody>
      </p:sp>
    </p:spTree>
    <p:extLst>
      <p:ext uri="{BB962C8B-B14F-4D97-AF65-F5344CB8AC3E}">
        <p14:creationId xmlns:p14="http://schemas.microsoft.com/office/powerpoint/2010/main" val="2190102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3757A-EDBA-4187-0765-A54F214C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891C4-5E3C-A396-9C97-FEA4C35DD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480" y="122833"/>
            <a:ext cx="6873240" cy="884555"/>
          </a:xfrm>
        </p:spPr>
        <p:txBody>
          <a:bodyPr/>
          <a:lstStyle/>
          <a:p>
            <a:r>
              <a:rPr lang="en-US" dirty="0"/>
              <a:t>WHAT ELSE?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14AAD-5671-F669-12CA-9A8D8FD5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141" y="2416057"/>
            <a:ext cx="7702715" cy="2298183"/>
          </a:xfrm>
        </p:spPr>
        <p:txBody>
          <a:bodyPr>
            <a:normAutofit fontScale="85000" lnSpcReduction="10000"/>
          </a:bodyPr>
          <a:lstStyle/>
          <a:p>
            <a:r>
              <a:rPr lang="en-US" sz="4400" dirty="0"/>
              <a:t>GLOBAL VARIABLES  (Top Of Stack ST)</a:t>
            </a:r>
          </a:p>
          <a:p>
            <a:r>
              <a:rPr lang="en-US" sz="4400" dirty="0"/>
              <a:t>NAMED SPACES</a:t>
            </a:r>
          </a:p>
          <a:p>
            <a:r>
              <a:rPr lang="en-US" sz="4400" dirty="0"/>
              <a:t>DYNAMIC SCOPES</a:t>
            </a:r>
          </a:p>
          <a:p>
            <a:r>
              <a:rPr lang="en-US" sz="4400" dirty="0"/>
              <a:t>STATIC LOCAL (C, or Algol “Own”)</a:t>
            </a:r>
          </a:p>
        </p:txBody>
      </p:sp>
    </p:spTree>
    <p:extLst>
      <p:ext uri="{BB962C8B-B14F-4D97-AF65-F5344CB8AC3E}">
        <p14:creationId xmlns:p14="http://schemas.microsoft.com/office/powerpoint/2010/main" val="17376529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A6010-DA62-8010-5B04-23FAB816D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F7464-9AF2-0E25-DFDB-170885B05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480" y="122833"/>
            <a:ext cx="6873240" cy="884555"/>
          </a:xfrm>
        </p:spPr>
        <p:txBody>
          <a:bodyPr/>
          <a:lstStyle/>
          <a:p>
            <a:r>
              <a:rPr lang="en-US" dirty="0"/>
              <a:t>What about Dynamic Scope?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01A52-9D5A-7C1A-059B-647DBE28A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662" y="1037868"/>
            <a:ext cx="3804178" cy="4724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Example from Perl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6F6970-D6D9-FBD4-FBDA-EA73A37BAC82}"/>
              </a:ext>
            </a:extLst>
          </p:cNvPr>
          <p:cNvSpPr/>
          <p:nvPr/>
        </p:nvSpPr>
        <p:spPr>
          <a:xfrm>
            <a:off x="9586643" y="4641446"/>
            <a:ext cx="1767155" cy="955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1948A1-CE37-89B3-9FDF-1CB55F6C014B}"/>
              </a:ext>
            </a:extLst>
          </p:cNvPr>
          <p:cNvSpPr txBox="1"/>
          <p:nvPr/>
        </p:nvSpPr>
        <p:spPr>
          <a:xfrm>
            <a:off x="9451769" y="5732557"/>
            <a:ext cx="25857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hash tables</a:t>
            </a:r>
          </a:p>
          <a:p>
            <a:r>
              <a:rPr lang="en-US" dirty="0"/>
              <a:t>gets dynamically chained </a:t>
            </a:r>
          </a:p>
          <a:p>
            <a:r>
              <a:rPr lang="en-US" dirty="0"/>
              <a:t>based on the call stack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46577D-2E98-875D-DE82-BF3FEF2183B8}"/>
              </a:ext>
            </a:extLst>
          </p:cNvPr>
          <p:cNvSpPr txBox="1"/>
          <p:nvPr/>
        </p:nvSpPr>
        <p:spPr>
          <a:xfrm>
            <a:off x="1063516" y="1526164"/>
            <a:ext cx="4431559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use strict;</a:t>
            </a:r>
          </a:p>
          <a:p>
            <a:r>
              <a:rPr lang="en-US" sz="1600" dirty="0"/>
              <a:t>use warnings;</a:t>
            </a:r>
          </a:p>
          <a:p>
            <a:r>
              <a:rPr lang="en-US" sz="1600" dirty="0"/>
              <a:t>our $x = "global";  # Global variable</a:t>
            </a:r>
          </a:p>
          <a:p>
            <a:endParaRPr lang="en-US" sz="1600" dirty="0"/>
          </a:p>
          <a:p>
            <a:r>
              <a:rPr lang="en-US" sz="1600" dirty="0"/>
              <a:t>sub a {</a:t>
            </a:r>
          </a:p>
          <a:p>
            <a:r>
              <a:rPr lang="en-US" sz="1600" dirty="0"/>
              <a:t>    print "In a: x = $x\n";</a:t>
            </a:r>
          </a:p>
          <a:p>
            <a:r>
              <a:rPr lang="en-US" sz="1600" dirty="0"/>
              <a:t>    b();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sub b {</a:t>
            </a:r>
          </a:p>
          <a:p>
            <a:r>
              <a:rPr lang="en-US" sz="1600" dirty="0"/>
              <a:t>    print "In b: x = $x\n";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sub foo {</a:t>
            </a:r>
          </a:p>
          <a:p>
            <a:r>
              <a:rPr lang="en-US" sz="1600" dirty="0"/>
              <a:t>    local $x = "local in main";  # Temporarily override   </a:t>
            </a:r>
          </a:p>
          <a:p>
            <a:r>
              <a:rPr lang="en-US" sz="1600" dirty="0"/>
              <a:t>                                                   # $x for dynamic scope</a:t>
            </a:r>
          </a:p>
          <a:p>
            <a:r>
              <a:rPr lang="en-US" sz="1600" dirty="0"/>
              <a:t>    print "In foo: x = $x\n";</a:t>
            </a:r>
          </a:p>
          <a:p>
            <a:r>
              <a:rPr lang="en-US" sz="1600" dirty="0"/>
              <a:t>    a();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main();</a:t>
            </a:r>
          </a:p>
          <a:p>
            <a:r>
              <a:rPr lang="en-US" sz="1600" dirty="0"/>
              <a:t>print "After foo: x = $x\n";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520E48-9F65-1B6C-7B68-32AA185F449F}"/>
              </a:ext>
            </a:extLst>
          </p:cNvPr>
          <p:cNvSpPr txBox="1"/>
          <p:nvPr/>
        </p:nvSpPr>
        <p:spPr>
          <a:xfrm>
            <a:off x="6400799" y="2533508"/>
            <a:ext cx="49529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example x is a global variable  (our $x)</a:t>
            </a:r>
          </a:p>
          <a:p>
            <a:r>
              <a:rPr lang="en-US" dirty="0"/>
              <a:t>and a dynamic variable in foo (local x)</a:t>
            </a:r>
          </a:p>
          <a:p>
            <a:r>
              <a:rPr lang="en-US" dirty="0"/>
              <a:t>  when foo calls a() it masks out the global variable x and passes down the local variable to be used in function a and b.  x in those functions is derived from the call chain on the stack.  This is </a:t>
            </a:r>
            <a:r>
              <a:rPr lang="en-US" b="1" dirty="0"/>
              <a:t>not lexical scope, it is dynamic scope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E055BB-C85C-AEBB-9BA0-4AC3661DE934}"/>
              </a:ext>
            </a:extLst>
          </p:cNvPr>
          <p:cNvSpPr txBox="1"/>
          <p:nvPr/>
        </p:nvSpPr>
        <p:spPr>
          <a:xfrm>
            <a:off x="6177280" y="1274068"/>
            <a:ext cx="5039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languages support dynamic scope, e.g. Perl and Lisp.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A5D9F3-72CE-71B3-862B-0D93E39F0D85}"/>
              </a:ext>
            </a:extLst>
          </p:cNvPr>
          <p:cNvSpPr txBox="1"/>
          <p:nvPr/>
        </p:nvSpPr>
        <p:spPr>
          <a:xfrm>
            <a:off x="6381346" y="4937602"/>
            <a:ext cx="23451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Try it, play with 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D9878-1694-2B00-7EAC-14CE6D08C902}"/>
              </a:ext>
            </a:extLst>
          </p:cNvPr>
          <p:cNvSpPr txBox="1"/>
          <p:nvPr/>
        </p:nvSpPr>
        <p:spPr>
          <a:xfrm>
            <a:off x="3859002" y="6269296"/>
            <a:ext cx="4228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Learn more click </a:t>
            </a:r>
            <a:r>
              <a:rPr lang="en-US" dirty="0">
                <a:hlinkClick r:id="rId2"/>
              </a:rPr>
              <a:t>HERE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604294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D30E-54DF-234F-9A21-736C14A7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Topic: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81311-B889-A849-A60B-D405E3C50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3218" y="1690688"/>
            <a:ext cx="8056418" cy="4351338"/>
          </a:xfrm>
        </p:spPr>
        <p:txBody>
          <a:bodyPr/>
          <a:lstStyle/>
          <a:p>
            <a:r>
              <a:rPr lang="en-US" dirty="0"/>
              <a:t>We will discuss parser generators</a:t>
            </a:r>
          </a:p>
        </p:txBody>
      </p:sp>
    </p:spTree>
    <p:extLst>
      <p:ext uri="{BB962C8B-B14F-4D97-AF65-F5344CB8AC3E}">
        <p14:creationId xmlns:p14="http://schemas.microsoft.com/office/powerpoint/2010/main" val="1425181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35066</TotalTime>
  <Words>1916</Words>
  <Application>Microsoft Office PowerPoint</Application>
  <PresentationFormat>Widescreen</PresentationFormat>
  <Paragraphs>368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Courier</vt:lpstr>
      <vt:lpstr>Office Theme</vt:lpstr>
      <vt:lpstr>CSE110A: Compilers</vt:lpstr>
      <vt:lpstr>Homework questions?</vt:lpstr>
      <vt:lpstr>Scope</vt:lpstr>
      <vt:lpstr>One consideration: Scope</vt:lpstr>
      <vt:lpstr>How to track scope?</vt:lpstr>
      <vt:lpstr>a very simple programming language</vt:lpstr>
      <vt:lpstr>a very simple programming language</vt:lpstr>
      <vt:lpstr>a very simple programming language</vt:lpstr>
      <vt:lpstr>How to track scope?</vt:lpstr>
      <vt:lpstr>How to track scope?</vt:lpstr>
      <vt:lpstr>How to track scope?</vt:lpstr>
      <vt:lpstr>How to track scope?</vt:lpstr>
      <vt:lpstr>How to track scope?</vt:lpstr>
      <vt:lpstr>How to track scope?</vt:lpstr>
      <vt:lpstr>How to track scope?</vt:lpstr>
      <vt:lpstr>How to track scope?</vt:lpstr>
      <vt:lpstr>How to implement a symbol table?</vt:lpstr>
      <vt:lpstr>How to implement a symbol table?</vt:lpstr>
      <vt:lpstr>What is a Hash Table?</vt:lpstr>
      <vt:lpstr>How to implement a symbol table? </vt:lpstr>
      <vt:lpstr>How to implement a symbol table?</vt:lpstr>
      <vt:lpstr>How to implement a symbol table?</vt:lpstr>
      <vt:lpstr>How to implement a symbol table?</vt:lpstr>
      <vt:lpstr>How to implement a symbol table?</vt:lpstr>
      <vt:lpstr>How to implement a symbol table?</vt:lpstr>
      <vt:lpstr>How to implement a symbol table?</vt:lpstr>
      <vt:lpstr>How to implement a symbol table?</vt:lpstr>
      <vt:lpstr>How to implement a symbol table?</vt:lpstr>
      <vt:lpstr>How to implement a symbol table?</vt:lpstr>
      <vt:lpstr>How to implement a symbol table?</vt:lpstr>
      <vt:lpstr>How to implement a symbol table?</vt:lpstr>
      <vt:lpstr>How to implement a symbol table?</vt:lpstr>
      <vt:lpstr>WHAT ELSE?</vt:lpstr>
      <vt:lpstr>What about Dynamic Scope?</vt:lpstr>
      <vt:lpstr>Next Topic: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620</cp:revision>
  <dcterms:created xsi:type="dcterms:W3CDTF">2021-03-23T23:59:42Z</dcterms:created>
  <dcterms:modified xsi:type="dcterms:W3CDTF">2026-02-03T23:34:24Z</dcterms:modified>
</cp:coreProperties>
</file>