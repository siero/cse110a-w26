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7" r:id="rId2"/>
    <p:sldId id="1060" r:id="rId3"/>
    <p:sldId id="1115" r:id="rId4"/>
    <p:sldId id="1116" r:id="rId5"/>
    <p:sldId id="1117" r:id="rId6"/>
    <p:sldId id="1114" r:id="rId7"/>
    <p:sldId id="1126" r:id="rId8"/>
    <p:sldId id="1061" r:id="rId9"/>
    <p:sldId id="1118" r:id="rId10"/>
    <p:sldId id="1119" r:id="rId11"/>
    <p:sldId id="1120" r:id="rId12"/>
    <p:sldId id="1155" r:id="rId13"/>
    <p:sldId id="1156" r:id="rId14"/>
    <p:sldId id="1157" r:id="rId15"/>
    <p:sldId id="423" r:id="rId16"/>
    <p:sldId id="429" r:id="rId17"/>
    <p:sldId id="377" r:id="rId18"/>
    <p:sldId id="342" r:id="rId19"/>
    <p:sldId id="378" r:id="rId20"/>
    <p:sldId id="379" r:id="rId21"/>
    <p:sldId id="380" r:id="rId22"/>
    <p:sldId id="381" r:id="rId23"/>
    <p:sldId id="382" r:id="rId24"/>
    <p:sldId id="383" r:id="rId25"/>
    <p:sldId id="343" r:id="rId26"/>
    <p:sldId id="384" r:id="rId27"/>
    <p:sldId id="385" r:id="rId28"/>
    <p:sldId id="386" r:id="rId29"/>
    <p:sldId id="387" r:id="rId30"/>
    <p:sldId id="388" r:id="rId31"/>
    <p:sldId id="389" r:id="rId32"/>
    <p:sldId id="390" r:id="rId33"/>
    <p:sldId id="345" r:id="rId34"/>
    <p:sldId id="391" r:id="rId35"/>
    <p:sldId id="392" r:id="rId36"/>
    <p:sldId id="1171" r:id="rId37"/>
    <p:sldId id="348" r:id="rId38"/>
    <p:sldId id="350" r:id="rId39"/>
    <p:sldId id="398" r:id="rId40"/>
    <p:sldId id="352" r:id="rId41"/>
    <p:sldId id="400" r:id="rId42"/>
    <p:sldId id="401" r:id="rId43"/>
    <p:sldId id="402" r:id="rId44"/>
    <p:sldId id="403" r:id="rId45"/>
    <p:sldId id="404" r:id="rId46"/>
    <p:sldId id="405" r:id="rId47"/>
    <p:sldId id="434" r:id="rId48"/>
    <p:sldId id="1172" r:id="rId49"/>
    <p:sldId id="1162" r:id="rId50"/>
    <p:sldId id="1163" r:id="rId51"/>
    <p:sldId id="406" r:id="rId52"/>
    <p:sldId id="1164" r:id="rId53"/>
    <p:sldId id="1144" r:id="rId54"/>
    <p:sldId id="354" r:id="rId55"/>
    <p:sldId id="407" r:id="rId56"/>
    <p:sldId id="408" r:id="rId57"/>
    <p:sldId id="427" r:id="rId58"/>
    <p:sldId id="409" r:id="rId59"/>
    <p:sldId id="1167" r:id="rId60"/>
    <p:sldId id="1165" r:id="rId61"/>
    <p:sldId id="428" r:id="rId62"/>
    <p:sldId id="1168" r:id="rId63"/>
    <p:sldId id="431" r:id="rId64"/>
    <p:sldId id="432" r:id="rId65"/>
    <p:sldId id="433" r:id="rId66"/>
    <p:sldId id="1166" r:id="rId67"/>
    <p:sldId id="435" r:id="rId68"/>
    <p:sldId id="436" r:id="rId69"/>
    <p:sldId id="437" r:id="rId70"/>
    <p:sldId id="438" r:id="rId71"/>
    <p:sldId id="439" r:id="rId72"/>
    <p:sldId id="440" r:id="rId73"/>
    <p:sldId id="1169" r:id="rId74"/>
    <p:sldId id="1170" r:id="rId75"/>
    <p:sldId id="787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7" autoAdjust="0"/>
    <p:restoredTop sz="96405"/>
  </p:normalViewPr>
  <p:slideViewPr>
    <p:cSldViewPr snapToGrid="0" snapToObjects="1">
      <p:cViewPr varScale="1">
        <p:scale>
          <a:sx n="103" d="100"/>
          <a:sy n="103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94289-6C26-F046-8A9C-B611FE64EF1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77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94289-6C26-F046-8A9C-B611FE64EF1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6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/language/operator_precedence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/language/operator_precedence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21" y="14199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2242268"/>
            <a:ext cx="6901683" cy="4203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r>
              <a:rPr lang="en-US" i="1" dirty="0"/>
              <a:t>Syntactic Analysis continued</a:t>
            </a:r>
          </a:p>
          <a:p>
            <a:pPr lvl="1"/>
            <a:r>
              <a:rPr lang="en-US" i="1" dirty="0"/>
              <a:t>Derivations</a:t>
            </a:r>
          </a:p>
          <a:p>
            <a:pPr lvl="1"/>
            <a:r>
              <a:rPr lang="en-US" i="1" dirty="0"/>
              <a:t>Parse trees</a:t>
            </a:r>
          </a:p>
          <a:p>
            <a:pPr lvl="1"/>
            <a:r>
              <a:rPr lang="en-US" i="1" dirty="0"/>
              <a:t>Precedence and associativity</a:t>
            </a:r>
            <a:endParaRPr lang="en-US" dirty="0"/>
          </a:p>
          <a:p>
            <a:pPr marL="457200" lvl="1" indent="0">
              <a:buNone/>
            </a:pPr>
            <a:endParaRPr lang="en-US" i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10097167" y="209080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10119752" y="2402657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471682" y="2402657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722652" y="2720674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512211" y="2727971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971844" y="3050112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367706" y="3039820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925639" y="336139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993191" y="335166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9" name="Snip Single Corner Rectangle 38">
            <a:extLst>
              <a:ext uri="{FF2B5EF4-FFF2-40B4-BE49-F238E27FC236}">
                <a16:creationId xmlns:a16="http://schemas.microsoft.com/office/drawing/2014/main" id="{F7AACD00-7B7A-7E4A-8E82-E00367CBE379}"/>
              </a:ext>
            </a:extLst>
          </p:cNvPr>
          <p:cNvSpPr/>
          <p:nvPr/>
        </p:nvSpPr>
        <p:spPr>
          <a:xfrm>
            <a:off x="7026095" y="2373274"/>
            <a:ext cx="1594022" cy="1235676"/>
          </a:xfrm>
          <a:prstGeom prst="snip1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int main() {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" pitchFamily="2" charset="0"/>
              </a:rPr>
              <a:t>printf</a:t>
            </a: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(““);</a:t>
            </a:r>
          </a:p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return 0;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D5C64FAD-A257-F54D-A462-4BA9F13CC36D}"/>
              </a:ext>
            </a:extLst>
          </p:cNvPr>
          <p:cNvSpPr/>
          <p:nvPr/>
        </p:nvSpPr>
        <p:spPr>
          <a:xfrm flipV="1">
            <a:off x="8796082" y="2700225"/>
            <a:ext cx="951875" cy="35445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0594"/>
          </a:xfrm>
        </p:spPr>
        <p:txBody>
          <a:bodyPr>
            <a:normAutofit/>
          </a:bodyPr>
          <a:lstStyle/>
          <a:p>
            <a:r>
              <a:rPr lang="en-US" dirty="0"/>
              <a:t>What happens when different derivations have different parse trees?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2566219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F6AB7-59B6-2D49-8916-A9763C18A618}"/>
              </a:ext>
            </a:extLst>
          </p:cNvPr>
          <p:cNvSpPr txBox="1"/>
          <p:nvPr/>
        </p:nvSpPr>
        <p:spPr>
          <a:xfrm>
            <a:off x="3677264" y="4322476"/>
            <a:ext cx="2567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this string?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40FCA-756E-9744-9D4F-2998AD18650C}"/>
              </a:ext>
            </a:extLst>
          </p:cNvPr>
          <p:cNvSpPr txBox="1"/>
          <p:nvPr/>
        </p:nvSpPr>
        <p:spPr>
          <a:xfrm>
            <a:off x="320040" y="6254496"/>
            <a:ext cx="537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Next few figures taken from the EAC book (Chapter 3.1)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74D19-CDF7-0041-AB04-53ECA72AE6DE}"/>
              </a:ext>
            </a:extLst>
          </p:cNvPr>
          <p:cNvSpPr txBox="1"/>
          <p:nvPr/>
        </p:nvSpPr>
        <p:spPr>
          <a:xfrm>
            <a:off x="1621671" y="5054167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92337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4C7899-8E10-AB48-A698-616B11AFE2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61579"/>
          <a:stretch/>
        </p:blipFill>
        <p:spPr>
          <a:xfrm>
            <a:off x="142915" y="3987974"/>
            <a:ext cx="5484399" cy="8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8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031D4-A54A-1248-A500-F444FEB13D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805E9-DA17-C644-97EF-452AA9E4FED0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</p:spTree>
    <p:extLst>
      <p:ext uri="{BB962C8B-B14F-4D97-AF65-F5344CB8AC3E}">
        <p14:creationId xmlns:p14="http://schemas.microsoft.com/office/powerpoint/2010/main" val="407367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031D4-A54A-1248-A500-F444FEB13D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805E9-DA17-C644-97EF-452AA9E4FED0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7C60B2-F2B8-664E-A0AD-2F89A5B2BB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19" t="6406" r="4479" b="57543"/>
          <a:stretch/>
        </p:blipFill>
        <p:spPr>
          <a:xfrm>
            <a:off x="6327648" y="3987975"/>
            <a:ext cx="5665466" cy="93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25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B98D52-B42C-E049-AF3E-9FC8C81EFF3C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64E4E2-E31D-1F4B-BDF6-7861CAE5C010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E2A85-D1AC-6DAE-1D5A-179EE566FC9E}"/>
              </a:ext>
            </a:extLst>
          </p:cNvPr>
          <p:cNvSpPr txBox="1"/>
          <p:nvPr/>
        </p:nvSpPr>
        <p:spPr>
          <a:xfrm>
            <a:off x="7558486" y="6289759"/>
            <a:ext cx="290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And another valid derivation</a:t>
            </a:r>
          </a:p>
        </p:txBody>
      </p:sp>
    </p:spTree>
    <p:extLst>
      <p:ext uri="{BB962C8B-B14F-4D97-AF65-F5344CB8AC3E}">
        <p14:creationId xmlns:p14="http://schemas.microsoft.com/office/powerpoint/2010/main" val="2071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1C74C-7CC7-A344-9B20-E535D9497129}"/>
              </a:ext>
            </a:extLst>
          </p:cNvPr>
          <p:cNvSpPr txBox="1"/>
          <p:nvPr/>
        </p:nvSpPr>
        <p:spPr>
          <a:xfrm>
            <a:off x="7558486" y="6308209"/>
            <a:ext cx="290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And another valid derivation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1C6949-1EC6-7A43-BE4A-25A3D52F8645}"/>
              </a:ext>
            </a:extLst>
          </p:cNvPr>
          <p:cNvSpPr txBox="1"/>
          <p:nvPr/>
        </p:nvSpPr>
        <p:spPr>
          <a:xfrm>
            <a:off x="3300984" y="2284142"/>
            <a:ext cx="668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 this an issue? Don’t we only care if a grammar can derive a string?</a:t>
            </a:r>
          </a:p>
        </p:txBody>
      </p:sp>
    </p:spTree>
    <p:extLst>
      <p:ext uri="{BB962C8B-B14F-4D97-AF65-F5344CB8AC3E}">
        <p14:creationId xmlns:p14="http://schemas.microsoft.com/office/powerpoint/2010/main" val="2622537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into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68167"/>
          </a:xfrm>
        </p:spPr>
        <p:txBody>
          <a:bodyPr>
            <a:normAutofit/>
          </a:bodyPr>
          <a:lstStyle/>
          <a:p>
            <a:r>
              <a:rPr lang="en-US" dirty="0"/>
              <a:t>We want to start encoding meaning into the parse structure. We will want as much structure as possible as we continue through the compiler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structure is that we want evaluation of program to correspond to a post order traversal of the parse tree (also called the natural traversal)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7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5E697B-32DE-874A-8FF9-50BC1AE5F75D}"/>
              </a:ext>
            </a:extLst>
          </p:cNvPr>
          <p:cNvSpPr txBox="1"/>
          <p:nvPr/>
        </p:nvSpPr>
        <p:spPr>
          <a:xfrm>
            <a:off x="8311896" y="3090672"/>
            <a:ext cx="29125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visiting for for different types</a:t>
            </a:r>
          </a:p>
          <a:p>
            <a:r>
              <a:rPr lang="en-US" dirty="0"/>
              <a:t>of traversals:</a:t>
            </a:r>
          </a:p>
          <a:p>
            <a:endParaRPr lang="en-US" dirty="0"/>
          </a:p>
          <a:p>
            <a:r>
              <a:rPr lang="en-US" dirty="0"/>
              <a:t>pre order?</a:t>
            </a:r>
          </a:p>
          <a:p>
            <a:r>
              <a:rPr lang="en-US" dirty="0"/>
              <a:t>in order?</a:t>
            </a:r>
          </a:p>
          <a:p>
            <a:r>
              <a:rPr lang="en-US" dirty="0"/>
              <a:t>post order?</a:t>
            </a:r>
          </a:p>
        </p:txBody>
      </p:sp>
    </p:spTree>
    <p:extLst>
      <p:ext uri="{BB962C8B-B14F-4D97-AF65-F5344CB8AC3E}">
        <p14:creationId xmlns:p14="http://schemas.microsoft.com/office/powerpoint/2010/main" val="81012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5E697B-32DE-874A-8FF9-50BC1AE5F75D}"/>
              </a:ext>
            </a:extLst>
          </p:cNvPr>
          <p:cNvSpPr txBox="1"/>
          <p:nvPr/>
        </p:nvSpPr>
        <p:spPr>
          <a:xfrm>
            <a:off x="8311896" y="3090672"/>
            <a:ext cx="29125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visiting for for different types</a:t>
            </a:r>
          </a:p>
          <a:p>
            <a:r>
              <a:rPr lang="en-US" dirty="0"/>
              <a:t>of traversals: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post order</a:t>
            </a:r>
          </a:p>
        </p:txBody>
      </p:sp>
    </p:spTree>
    <p:extLst>
      <p:ext uri="{BB962C8B-B14F-4D97-AF65-F5344CB8AC3E}">
        <p14:creationId xmlns:p14="http://schemas.microsoft.com/office/powerpoint/2010/main" val="157856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1C74C-7CC7-A344-9B20-E535D9497129}"/>
              </a:ext>
            </a:extLst>
          </p:cNvPr>
          <p:cNvSpPr txBox="1"/>
          <p:nvPr/>
        </p:nvSpPr>
        <p:spPr>
          <a:xfrm>
            <a:off x="8298648" y="6308209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Also a valid derivation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1C6949-1EC6-7A43-BE4A-25A3D52F8645}"/>
              </a:ext>
            </a:extLst>
          </p:cNvPr>
          <p:cNvSpPr txBox="1"/>
          <p:nvPr/>
        </p:nvSpPr>
        <p:spPr>
          <a:xfrm>
            <a:off x="381070" y="2037218"/>
            <a:ext cx="10528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Encoding meaning into structure can result in very different programs</a:t>
            </a:r>
          </a:p>
        </p:txBody>
      </p:sp>
    </p:spTree>
    <p:extLst>
      <p:ext uri="{BB962C8B-B14F-4D97-AF65-F5344CB8AC3E}">
        <p14:creationId xmlns:p14="http://schemas.microsoft.com/office/powerpoint/2010/main" val="2348603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A923-0834-AA46-AC5E-5E0B2AA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CE95CD-ACA3-9740-B0FD-FDCCEACF65BF}"/>
              </a:ext>
            </a:extLst>
          </p:cNvPr>
          <p:cNvSpPr/>
          <p:nvPr/>
        </p:nvSpPr>
        <p:spPr>
          <a:xfrm>
            <a:off x="3404616" y="179667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1; //true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0; //false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0;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pass();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check0 = 1;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D824B-10BA-964B-88A6-3B8FD74D22C9}"/>
              </a:ext>
            </a:extLst>
          </p:cNvPr>
          <p:cNvSpPr txBox="1"/>
          <p:nvPr/>
        </p:nvSpPr>
        <p:spPr>
          <a:xfrm>
            <a:off x="2468880" y="5202936"/>
            <a:ext cx="4772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 quiz: what is the value of check0 at the end?</a:t>
            </a:r>
          </a:p>
        </p:txBody>
      </p:sp>
    </p:spTree>
    <p:extLst>
      <p:ext uri="{BB962C8B-B14F-4D97-AF65-F5344CB8AC3E}">
        <p14:creationId xmlns:p14="http://schemas.microsoft.com/office/powerpoint/2010/main" val="1070040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A923-0834-AA46-AC5E-5E0B2AA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structure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D824B-10BA-964B-88A6-3B8FD74D22C9}"/>
              </a:ext>
            </a:extLst>
          </p:cNvPr>
          <p:cNvSpPr txBox="1"/>
          <p:nvPr/>
        </p:nvSpPr>
        <p:spPr>
          <a:xfrm>
            <a:off x="1054007" y="6308208"/>
            <a:ext cx="3036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does Python handle this?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8DD96-650D-EC41-93DE-9A61F7F69E37}"/>
              </a:ext>
            </a:extLst>
          </p:cNvPr>
          <p:cNvSpPr/>
          <p:nvPr/>
        </p:nvSpPr>
        <p:spPr>
          <a:xfrm>
            <a:off x="1042416" y="189323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(check0)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057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A923-0834-AA46-AC5E-5E0B2AA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structure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D824B-10BA-964B-88A6-3B8FD74D22C9}"/>
              </a:ext>
            </a:extLst>
          </p:cNvPr>
          <p:cNvSpPr txBox="1"/>
          <p:nvPr/>
        </p:nvSpPr>
        <p:spPr>
          <a:xfrm>
            <a:off x="1054007" y="6308208"/>
            <a:ext cx="3036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does Python handle this?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8DD96-650D-EC41-93DE-9A61F7F69E37}"/>
              </a:ext>
            </a:extLst>
          </p:cNvPr>
          <p:cNvSpPr/>
          <p:nvPr/>
        </p:nvSpPr>
        <p:spPr>
          <a:xfrm>
            <a:off x="1042416" y="189323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(check0)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386D56-B8B8-6B45-94E8-293913FAA331}"/>
              </a:ext>
            </a:extLst>
          </p:cNvPr>
          <p:cNvSpPr/>
          <p:nvPr/>
        </p:nvSpPr>
        <p:spPr>
          <a:xfrm>
            <a:off x="7693152" y="1708548"/>
            <a:ext cx="318820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(check0)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F078F-629C-FF42-B3A6-E9DCAE24B57E}"/>
              </a:ext>
            </a:extLst>
          </p:cNvPr>
          <p:cNvSpPr txBox="1"/>
          <p:nvPr/>
        </p:nvSpPr>
        <p:spPr>
          <a:xfrm>
            <a:off x="6866543" y="5985042"/>
            <a:ext cx="4657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Invalid syntax, you need to indent, which makes</a:t>
            </a:r>
            <a:br>
              <a:rPr lang="en-US" dirty="0"/>
            </a:br>
            <a:r>
              <a:rPr lang="en-US" dirty="0"/>
              <a:t>it clear</a:t>
            </a:r>
          </a:p>
        </p:txBody>
      </p:sp>
    </p:spTree>
    <p:extLst>
      <p:ext uri="{BB962C8B-B14F-4D97-AF65-F5344CB8AC3E}">
        <p14:creationId xmlns:p14="http://schemas.microsoft.com/office/powerpoint/2010/main" val="2921293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74" y="0"/>
            <a:ext cx="10515600" cy="1325563"/>
          </a:xfrm>
        </p:spPr>
        <p:txBody>
          <a:bodyPr/>
          <a:lstStyle/>
          <a:p>
            <a:r>
              <a:rPr lang="en-US" dirty="0"/>
              <a:t>Ambiguous expressions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FB140A-8CB5-D443-A901-D8A848887F1A}"/>
              </a:ext>
            </a:extLst>
          </p:cNvPr>
          <p:cNvSpPr txBox="1">
            <a:spLocks/>
          </p:cNvSpPr>
          <p:nvPr/>
        </p:nvSpPr>
        <p:spPr>
          <a:xfrm>
            <a:off x="812074" y="1530555"/>
            <a:ext cx="10515600" cy="50246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let’s define tokens:</a:t>
            </a:r>
            <a:br>
              <a:rPr lang="en-US" dirty="0"/>
            </a:br>
            <a:r>
              <a:rPr lang="en-US" sz="900" dirty="0"/>
              <a:t> </a:t>
            </a:r>
            <a:endParaRPr lang="en-US" sz="1000" dirty="0"/>
          </a:p>
          <a:p>
            <a:pPr lvl="1"/>
            <a:r>
              <a:rPr lang="en-US" dirty="0">
                <a:latin typeface="Courier" pitchFamily="2" charset="0"/>
              </a:rPr>
              <a:t>NUM   = ”[0-9]+”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 = ‘\+’</a:t>
            </a:r>
          </a:p>
          <a:p>
            <a:pPr lvl="1"/>
            <a:r>
              <a:rPr lang="en-US" dirty="0">
                <a:latin typeface="Courier" pitchFamily="2" charset="0"/>
              </a:rPr>
              <a:t>TIMES = ‘\*’</a:t>
            </a:r>
          </a:p>
          <a:p>
            <a:pPr lvl="1"/>
            <a:r>
              <a:rPr lang="en-US" dirty="0">
                <a:latin typeface="Courier" pitchFamily="2" charset="0"/>
              </a:rPr>
              <a:t>LP    = ‘\(’</a:t>
            </a:r>
          </a:p>
          <a:p>
            <a:pPr lvl="1"/>
            <a:r>
              <a:rPr lang="en-US" dirty="0">
                <a:latin typeface="Courier" pitchFamily="2" charset="0"/>
              </a:rPr>
              <a:t>RP    = ‘\)’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Expr :== NUM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| LP Expr RP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EA4C9-C9BB-6A49-9EA1-8035844B2E65}"/>
              </a:ext>
            </a:extLst>
          </p:cNvPr>
          <p:cNvSpPr txBox="1"/>
          <p:nvPr/>
        </p:nvSpPr>
        <p:spPr>
          <a:xfrm>
            <a:off x="6069874" y="1968137"/>
            <a:ext cx="4053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define a simple expression language</a:t>
            </a:r>
          </a:p>
        </p:txBody>
      </p:sp>
    </p:spTree>
    <p:extLst>
      <p:ext uri="{BB962C8B-B14F-4D97-AF65-F5344CB8AC3E}">
        <p14:creationId xmlns:p14="http://schemas.microsoft.com/office/powerpoint/2010/main" val="3732999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6153F6-347B-B24A-947D-5538BFBD9E75}"/>
              </a:ext>
            </a:extLst>
          </p:cNvPr>
          <p:cNvSpPr txBox="1"/>
          <p:nvPr/>
        </p:nvSpPr>
        <p:spPr>
          <a:xfrm>
            <a:off x="7982465" y="299003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1081947-D9AE-8547-82EB-3025A774AF02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753869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</p:cNvCxnSpPr>
          <p:nvPr/>
        </p:nvCxnSpPr>
        <p:spPr>
          <a:xfrm>
            <a:off x="8611267" y="4213808"/>
            <a:ext cx="0" cy="641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CA9870-EADA-E843-AAA1-5944386C1583}"/>
              </a:ext>
            </a:extLst>
          </p:cNvPr>
          <p:cNvSpPr txBox="1"/>
          <p:nvPr/>
        </p:nvSpPr>
        <p:spPr>
          <a:xfrm>
            <a:off x="8042842" y="486582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153F6-347B-B24A-947D-5538BFBD9E75}"/>
              </a:ext>
            </a:extLst>
          </p:cNvPr>
          <p:cNvSpPr txBox="1"/>
          <p:nvPr/>
        </p:nvSpPr>
        <p:spPr>
          <a:xfrm>
            <a:off x="7982465" y="299003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0CF4B98-C770-0B41-9B89-C082E082D43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02443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733FBD-D5E6-C944-BEC7-8D0594914478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303511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D0CAFE-3EA8-AF4B-93F5-BF4677AEF00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646459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9A73C6B-B655-6643-A3CA-7ED809B8A8A0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779057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CA9870-EADA-E843-AAA1-5944386C1583}"/>
              </a:ext>
            </a:extLst>
          </p:cNvPr>
          <p:cNvSpPr txBox="1"/>
          <p:nvPr/>
        </p:nvSpPr>
        <p:spPr>
          <a:xfrm>
            <a:off x="6808839" y="552766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58087E-A6F1-B240-B47D-E17FCAEF59C0}"/>
              </a:ext>
            </a:extLst>
          </p:cNvPr>
          <p:cNvSpPr txBox="1"/>
          <p:nvPr/>
        </p:nvSpPr>
        <p:spPr>
          <a:xfrm>
            <a:off x="9159846" y="552666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623837-D8C3-2641-82CB-E92A04939DA5}"/>
              </a:ext>
            </a:extLst>
          </p:cNvPr>
          <p:cNvCxnSpPr>
            <a:cxnSpLocks/>
          </p:cNvCxnSpPr>
          <p:nvPr/>
        </p:nvCxnSpPr>
        <p:spPr>
          <a:xfrm>
            <a:off x="7377264" y="504155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3429BD-BA29-2246-82F8-D2BA8FCE0FA5}"/>
              </a:ext>
            </a:extLst>
          </p:cNvPr>
          <p:cNvCxnSpPr>
            <a:cxnSpLocks/>
          </p:cNvCxnSpPr>
          <p:nvPr/>
        </p:nvCxnSpPr>
        <p:spPr>
          <a:xfrm>
            <a:off x="9708426" y="505826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8512133-7B6F-0644-B9F8-6AA33EB569C3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095581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5**6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8B602-BDE3-F94D-A428-492444E578F2}"/>
              </a:ext>
            </a:extLst>
          </p:cNvPr>
          <p:cNvSpPr txBox="1"/>
          <p:nvPr/>
        </p:nvSpPr>
        <p:spPr>
          <a:xfrm>
            <a:off x="10206681" y="3336324"/>
            <a:ext cx="1553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</a:t>
            </a:r>
            <a:br>
              <a:rPr lang="en-US" dirty="0"/>
            </a:br>
            <a:r>
              <a:rPr lang="en-US" dirty="0"/>
              <a:t>in an error?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E3E2233-085D-3C47-9EDD-D6602A0D7BBB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745280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FA7A3-8CB7-124A-92C9-1172E76F1DF5}"/>
              </a:ext>
            </a:extLst>
          </p:cNvPr>
          <p:cNvSpPr txBox="1"/>
          <p:nvPr/>
        </p:nvSpPr>
        <p:spPr>
          <a:xfrm>
            <a:off x="10206681" y="3336324"/>
            <a:ext cx="1553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</a:t>
            </a:r>
            <a:br>
              <a:rPr lang="en-US" dirty="0"/>
            </a:br>
            <a:r>
              <a:rPr lang="en-US" dirty="0"/>
              <a:t>in an error?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A761EB1-49D6-7C41-8B40-09621FB535B8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458774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CA9870-EADA-E843-AAA1-5944386C1583}"/>
              </a:ext>
            </a:extLst>
          </p:cNvPr>
          <p:cNvSpPr txBox="1"/>
          <p:nvPr/>
        </p:nvSpPr>
        <p:spPr>
          <a:xfrm>
            <a:off x="7079078" y="5527888"/>
            <a:ext cx="1011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&lt;TIMES&gt;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58087E-A6F1-B240-B47D-E17FCAEF59C0}"/>
              </a:ext>
            </a:extLst>
          </p:cNvPr>
          <p:cNvSpPr txBox="1"/>
          <p:nvPr/>
        </p:nvSpPr>
        <p:spPr>
          <a:xfrm>
            <a:off x="9159846" y="552666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623837-D8C3-2641-82CB-E92A04939DA5}"/>
              </a:ext>
            </a:extLst>
          </p:cNvPr>
          <p:cNvCxnSpPr>
            <a:cxnSpLocks/>
          </p:cNvCxnSpPr>
          <p:nvPr/>
        </p:nvCxnSpPr>
        <p:spPr>
          <a:xfrm>
            <a:off x="7377264" y="5041558"/>
            <a:ext cx="166403" cy="3583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3429BD-BA29-2246-82F8-D2BA8FCE0FA5}"/>
              </a:ext>
            </a:extLst>
          </p:cNvPr>
          <p:cNvCxnSpPr>
            <a:cxnSpLocks/>
          </p:cNvCxnSpPr>
          <p:nvPr/>
        </p:nvCxnSpPr>
        <p:spPr>
          <a:xfrm>
            <a:off x="9708426" y="505826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F83BBB-D175-B141-8465-F6BC64916652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711389" y="5041558"/>
            <a:ext cx="675505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D82C45F-E3A7-6743-8269-97A48E47547F}"/>
              </a:ext>
            </a:extLst>
          </p:cNvPr>
          <p:cNvSpPr txBox="1"/>
          <p:nvPr/>
        </p:nvSpPr>
        <p:spPr>
          <a:xfrm>
            <a:off x="5996660" y="552666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1FEB3-D759-E34E-8F9F-CC94B8486E0E}"/>
              </a:ext>
            </a:extLst>
          </p:cNvPr>
          <p:cNvSpPr txBox="1"/>
          <p:nvPr/>
        </p:nvSpPr>
        <p:spPr>
          <a:xfrm>
            <a:off x="7327557" y="6203092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possible!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39D555-A499-C24B-960E-256BF89118A1}"/>
              </a:ext>
            </a:extLst>
          </p:cNvPr>
          <p:cNvSpPr txBox="1"/>
          <p:nvPr/>
        </p:nvSpPr>
        <p:spPr>
          <a:xfrm>
            <a:off x="10206681" y="3336324"/>
            <a:ext cx="1553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</a:t>
            </a:r>
            <a:br>
              <a:rPr lang="en-US" dirty="0"/>
            </a:br>
            <a:r>
              <a:rPr lang="en-US" dirty="0"/>
              <a:t>in an error?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E54E0EE-4065-164C-A908-8A2D737A4044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1462221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9D3F17-5BD9-C249-AB31-B4186A52A3E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100871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08B4CE-2C22-9145-850C-94D35749C6DE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1989738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6ED57-413F-C643-8247-291A5F45E4A9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625224" y="398463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B81EE5-1C22-3B47-9ED9-AFDED17F1F33}"/>
              </a:ext>
            </a:extLst>
          </p:cNvPr>
          <p:cNvSpPr txBox="1"/>
          <p:nvPr/>
        </p:nvSpPr>
        <p:spPr>
          <a:xfrm>
            <a:off x="7326232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C68B29-7B4A-0C4A-B5EB-BBD392AEA931}"/>
              </a:ext>
            </a:extLst>
          </p:cNvPr>
          <p:cNvCxnSpPr>
            <a:cxnSpLocks/>
          </p:cNvCxnSpPr>
          <p:nvPr/>
        </p:nvCxnSpPr>
        <p:spPr>
          <a:xfrm>
            <a:off x="8849597" y="398463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EC6BD-BDD7-7044-8D7A-10A5BAE9E6E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49597" y="398463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9F12CD-CB05-974C-898D-D404B91E700C}"/>
              </a:ext>
            </a:extLst>
          </p:cNvPr>
          <p:cNvSpPr txBox="1"/>
          <p:nvPr/>
        </p:nvSpPr>
        <p:spPr>
          <a:xfrm>
            <a:off x="8350422" y="449366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D7CC-EB91-C34E-A696-DE13C7D5E3F4}"/>
              </a:ext>
            </a:extLst>
          </p:cNvPr>
          <p:cNvSpPr txBox="1"/>
          <p:nvPr/>
        </p:nvSpPr>
        <p:spPr>
          <a:xfrm>
            <a:off x="9647764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948A115-2612-144C-B97A-0413F239A853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297596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6ED57-413F-C643-8247-291A5F45E4A9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625224" y="398463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B81EE5-1C22-3B47-9ED9-AFDED17F1F33}"/>
              </a:ext>
            </a:extLst>
          </p:cNvPr>
          <p:cNvSpPr txBox="1"/>
          <p:nvPr/>
        </p:nvSpPr>
        <p:spPr>
          <a:xfrm>
            <a:off x="7326232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C68B29-7B4A-0C4A-B5EB-BBD392AEA931}"/>
              </a:ext>
            </a:extLst>
          </p:cNvPr>
          <p:cNvCxnSpPr>
            <a:cxnSpLocks/>
          </p:cNvCxnSpPr>
          <p:nvPr/>
        </p:nvCxnSpPr>
        <p:spPr>
          <a:xfrm>
            <a:off x="8849597" y="398463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EC6BD-BDD7-7044-8D7A-10A5BAE9E6E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49597" y="398463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9F12CD-CB05-974C-898D-D404B91E700C}"/>
              </a:ext>
            </a:extLst>
          </p:cNvPr>
          <p:cNvSpPr txBox="1"/>
          <p:nvPr/>
        </p:nvSpPr>
        <p:spPr>
          <a:xfrm>
            <a:off x="8350422" y="449366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D7CC-EB91-C34E-A696-DE13C7D5E3F4}"/>
              </a:ext>
            </a:extLst>
          </p:cNvPr>
          <p:cNvSpPr txBox="1"/>
          <p:nvPr/>
        </p:nvSpPr>
        <p:spPr>
          <a:xfrm>
            <a:off x="9647764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56AC1-B684-7448-B2B3-8760BDCAB790}"/>
              </a:ext>
            </a:extLst>
          </p:cNvPr>
          <p:cNvSpPr txBox="1"/>
          <p:nvPr/>
        </p:nvSpPr>
        <p:spPr>
          <a:xfrm>
            <a:off x="9378331" y="527080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666FC4-ECD5-EF42-9F14-320643B07C75}"/>
              </a:ext>
            </a:extLst>
          </p:cNvPr>
          <p:cNvCxnSpPr>
            <a:cxnSpLocks/>
          </p:cNvCxnSpPr>
          <p:nvPr/>
        </p:nvCxnSpPr>
        <p:spPr>
          <a:xfrm>
            <a:off x="9926911" y="480239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54CCB14-F5C4-1445-AFCE-747F7C3E92E6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391074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6ED57-413F-C643-8247-291A5F45E4A9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625224" y="398463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B81EE5-1C22-3B47-9ED9-AFDED17F1F33}"/>
              </a:ext>
            </a:extLst>
          </p:cNvPr>
          <p:cNvSpPr txBox="1"/>
          <p:nvPr/>
        </p:nvSpPr>
        <p:spPr>
          <a:xfrm>
            <a:off x="7326232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C68B29-7B4A-0C4A-B5EB-BBD392AEA931}"/>
              </a:ext>
            </a:extLst>
          </p:cNvPr>
          <p:cNvCxnSpPr>
            <a:cxnSpLocks/>
          </p:cNvCxnSpPr>
          <p:nvPr/>
        </p:nvCxnSpPr>
        <p:spPr>
          <a:xfrm>
            <a:off x="8849597" y="398463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EC6BD-BDD7-7044-8D7A-10A5BAE9E6E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49597" y="398463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9F12CD-CB05-974C-898D-D404B91E700C}"/>
              </a:ext>
            </a:extLst>
          </p:cNvPr>
          <p:cNvSpPr txBox="1"/>
          <p:nvPr/>
        </p:nvSpPr>
        <p:spPr>
          <a:xfrm>
            <a:off x="8350422" y="449366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D7CC-EB91-C34E-A696-DE13C7D5E3F4}"/>
              </a:ext>
            </a:extLst>
          </p:cNvPr>
          <p:cNvSpPr txBox="1"/>
          <p:nvPr/>
        </p:nvSpPr>
        <p:spPr>
          <a:xfrm>
            <a:off x="9647764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56AC1-B684-7448-B2B3-8760BDCAB790}"/>
              </a:ext>
            </a:extLst>
          </p:cNvPr>
          <p:cNvSpPr txBox="1"/>
          <p:nvPr/>
        </p:nvSpPr>
        <p:spPr>
          <a:xfrm>
            <a:off x="9378331" y="527080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666FC4-ECD5-EF42-9F14-320643B07C75}"/>
              </a:ext>
            </a:extLst>
          </p:cNvPr>
          <p:cNvCxnSpPr>
            <a:cxnSpLocks/>
          </p:cNvCxnSpPr>
          <p:nvPr/>
        </p:nvCxnSpPr>
        <p:spPr>
          <a:xfrm>
            <a:off x="9926911" y="480239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C061F5-5125-3E47-B36E-D8BC92F3DE47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flipH="1">
            <a:off x="6590729" y="4812387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E70F75-4D14-6449-9405-F6B8EDDD7D4A}"/>
              </a:ext>
            </a:extLst>
          </p:cNvPr>
          <p:cNvSpPr txBox="1"/>
          <p:nvPr/>
        </p:nvSpPr>
        <p:spPr>
          <a:xfrm>
            <a:off x="6023586" y="5203264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FE9DAB-2019-3143-A649-4B69451F966A}"/>
              </a:ext>
            </a:extLst>
          </p:cNvPr>
          <p:cNvSpPr txBox="1"/>
          <p:nvPr/>
        </p:nvSpPr>
        <p:spPr>
          <a:xfrm>
            <a:off x="7969836" y="5203264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00D8DF-8651-3C41-B87F-DE09AC932F8E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>
            <a:off x="7625224" y="4812387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53EB43-4EA6-5D49-A1B8-04AFDA0EC4E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625224" y="4812387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B11B93-7072-8B4F-92A3-2CD936B51387}"/>
              </a:ext>
            </a:extLst>
          </p:cNvPr>
          <p:cNvSpPr txBox="1"/>
          <p:nvPr/>
        </p:nvSpPr>
        <p:spPr>
          <a:xfrm>
            <a:off x="7326231" y="521539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7373EB-9A2E-8B44-A41D-EF526024CBD6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608434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6ED57-413F-C643-8247-291A5F45E4A9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625224" y="398463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B81EE5-1C22-3B47-9ED9-AFDED17F1F33}"/>
              </a:ext>
            </a:extLst>
          </p:cNvPr>
          <p:cNvSpPr txBox="1"/>
          <p:nvPr/>
        </p:nvSpPr>
        <p:spPr>
          <a:xfrm>
            <a:off x="7326232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C68B29-7B4A-0C4A-B5EB-BBD392AEA931}"/>
              </a:ext>
            </a:extLst>
          </p:cNvPr>
          <p:cNvCxnSpPr>
            <a:cxnSpLocks/>
          </p:cNvCxnSpPr>
          <p:nvPr/>
        </p:nvCxnSpPr>
        <p:spPr>
          <a:xfrm>
            <a:off x="8849597" y="398463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EC6BD-BDD7-7044-8D7A-10A5BAE9E6E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49597" y="398463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9F12CD-CB05-974C-898D-D404B91E700C}"/>
              </a:ext>
            </a:extLst>
          </p:cNvPr>
          <p:cNvSpPr txBox="1"/>
          <p:nvPr/>
        </p:nvSpPr>
        <p:spPr>
          <a:xfrm>
            <a:off x="8350422" y="449366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D7CC-EB91-C34E-A696-DE13C7D5E3F4}"/>
              </a:ext>
            </a:extLst>
          </p:cNvPr>
          <p:cNvSpPr txBox="1"/>
          <p:nvPr/>
        </p:nvSpPr>
        <p:spPr>
          <a:xfrm>
            <a:off x="9647764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56AC1-B684-7448-B2B3-8760BDCAB790}"/>
              </a:ext>
            </a:extLst>
          </p:cNvPr>
          <p:cNvSpPr txBox="1"/>
          <p:nvPr/>
        </p:nvSpPr>
        <p:spPr>
          <a:xfrm>
            <a:off x="9378331" y="527080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666FC4-ECD5-EF42-9F14-320643B07C75}"/>
              </a:ext>
            </a:extLst>
          </p:cNvPr>
          <p:cNvCxnSpPr>
            <a:cxnSpLocks/>
          </p:cNvCxnSpPr>
          <p:nvPr/>
        </p:nvCxnSpPr>
        <p:spPr>
          <a:xfrm>
            <a:off x="9926911" y="480239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C061F5-5125-3E47-B36E-D8BC92F3DE47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flipH="1">
            <a:off x="6590729" y="4812387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E70F75-4D14-6449-9405-F6B8EDDD7D4A}"/>
              </a:ext>
            </a:extLst>
          </p:cNvPr>
          <p:cNvSpPr txBox="1"/>
          <p:nvPr/>
        </p:nvSpPr>
        <p:spPr>
          <a:xfrm>
            <a:off x="6023586" y="5203264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FE9DAB-2019-3143-A649-4B69451F966A}"/>
              </a:ext>
            </a:extLst>
          </p:cNvPr>
          <p:cNvSpPr txBox="1"/>
          <p:nvPr/>
        </p:nvSpPr>
        <p:spPr>
          <a:xfrm>
            <a:off x="7969836" y="5203264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00D8DF-8651-3C41-B87F-DE09AC932F8E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>
            <a:off x="7625224" y="4812387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53EB43-4EA6-5D49-A1B8-04AFDA0EC4E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625224" y="4812387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B11B93-7072-8B4F-92A3-2CD936B51387}"/>
              </a:ext>
            </a:extLst>
          </p:cNvPr>
          <p:cNvSpPr txBox="1"/>
          <p:nvPr/>
        </p:nvSpPr>
        <p:spPr>
          <a:xfrm>
            <a:off x="7326231" y="521539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269D6CE-9C33-2D4F-A545-D586A0B3CB48}"/>
              </a:ext>
            </a:extLst>
          </p:cNvPr>
          <p:cNvCxnSpPr>
            <a:cxnSpLocks/>
          </p:cNvCxnSpPr>
          <p:nvPr/>
        </p:nvCxnSpPr>
        <p:spPr>
          <a:xfrm flipH="1">
            <a:off x="6400851" y="55812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E51BEE-DCB7-5F4F-A7B5-6A6AE16A643A}"/>
              </a:ext>
            </a:extLst>
          </p:cNvPr>
          <p:cNvCxnSpPr>
            <a:cxnSpLocks/>
          </p:cNvCxnSpPr>
          <p:nvPr/>
        </p:nvCxnSpPr>
        <p:spPr>
          <a:xfrm>
            <a:off x="7625224" y="558128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BC4FE3-A121-2643-96B0-A1904DAAD31F}"/>
              </a:ext>
            </a:extLst>
          </p:cNvPr>
          <p:cNvCxnSpPr>
            <a:cxnSpLocks/>
          </p:cNvCxnSpPr>
          <p:nvPr/>
        </p:nvCxnSpPr>
        <p:spPr>
          <a:xfrm>
            <a:off x="7625224" y="55812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288074-6935-8843-B5E5-F5F477954FC7}"/>
              </a:ext>
            </a:extLst>
          </p:cNvPr>
          <p:cNvSpPr txBox="1"/>
          <p:nvPr/>
        </p:nvSpPr>
        <p:spPr>
          <a:xfrm>
            <a:off x="7167651" y="604838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4711D6-23AB-FF41-89F0-70EDB3EEAE2E}"/>
              </a:ext>
            </a:extLst>
          </p:cNvPr>
          <p:cNvSpPr txBox="1"/>
          <p:nvPr/>
        </p:nvSpPr>
        <p:spPr>
          <a:xfrm>
            <a:off x="6101859" y="601698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C4D564-4F2D-AA42-9408-7131461242E7}"/>
              </a:ext>
            </a:extLst>
          </p:cNvPr>
          <p:cNvSpPr txBox="1"/>
          <p:nvPr/>
        </p:nvSpPr>
        <p:spPr>
          <a:xfrm>
            <a:off x="8423391" y="601698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F73B1BB-821A-C04B-B705-E2BE15EE6EAD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436390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9C829-2E70-B347-B9F2-DE423B129922}"/>
              </a:ext>
            </a:extLst>
          </p:cNvPr>
          <p:cNvSpPr txBox="1"/>
          <p:nvPr/>
        </p:nvSpPr>
        <p:spPr>
          <a:xfrm>
            <a:off x="7832075" y="2720465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7EA6-E712-EA4C-AC9A-2B85E491F6F4}"/>
              </a:ext>
            </a:extLst>
          </p:cNvPr>
          <p:cNvSpPr txBox="1"/>
          <p:nvPr/>
        </p:nvSpPr>
        <p:spPr>
          <a:xfrm>
            <a:off x="8590423" y="35370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6ED57-413F-C643-8247-291A5F45E4A9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625224" y="398463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B81EE5-1C22-3B47-9ED9-AFDED17F1F33}"/>
              </a:ext>
            </a:extLst>
          </p:cNvPr>
          <p:cNvSpPr txBox="1"/>
          <p:nvPr/>
        </p:nvSpPr>
        <p:spPr>
          <a:xfrm>
            <a:off x="7326232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C68B29-7B4A-0C4A-B5EB-BBD392AEA931}"/>
              </a:ext>
            </a:extLst>
          </p:cNvPr>
          <p:cNvCxnSpPr>
            <a:cxnSpLocks/>
          </p:cNvCxnSpPr>
          <p:nvPr/>
        </p:nvCxnSpPr>
        <p:spPr>
          <a:xfrm>
            <a:off x="8849597" y="398463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DEC6BD-BDD7-7044-8D7A-10A5BAE9E6E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49597" y="398463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9F12CD-CB05-974C-898D-D404B91E700C}"/>
              </a:ext>
            </a:extLst>
          </p:cNvPr>
          <p:cNvSpPr txBox="1"/>
          <p:nvPr/>
        </p:nvSpPr>
        <p:spPr>
          <a:xfrm>
            <a:off x="8350422" y="449366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D7CC-EB91-C34E-A696-DE13C7D5E3F4}"/>
              </a:ext>
            </a:extLst>
          </p:cNvPr>
          <p:cNvSpPr txBox="1"/>
          <p:nvPr/>
        </p:nvSpPr>
        <p:spPr>
          <a:xfrm>
            <a:off x="9647764" y="444305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56AC1-B684-7448-B2B3-8760BDCAB790}"/>
              </a:ext>
            </a:extLst>
          </p:cNvPr>
          <p:cNvSpPr txBox="1"/>
          <p:nvPr/>
        </p:nvSpPr>
        <p:spPr>
          <a:xfrm>
            <a:off x="9378331" y="527080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666FC4-ECD5-EF42-9F14-320643B07C75}"/>
              </a:ext>
            </a:extLst>
          </p:cNvPr>
          <p:cNvCxnSpPr>
            <a:cxnSpLocks/>
          </p:cNvCxnSpPr>
          <p:nvPr/>
        </p:nvCxnSpPr>
        <p:spPr>
          <a:xfrm>
            <a:off x="9926911" y="480239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C061F5-5125-3E47-B36E-D8BC92F3DE47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 flipH="1">
            <a:off x="6590729" y="4812387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E70F75-4D14-6449-9405-F6B8EDDD7D4A}"/>
              </a:ext>
            </a:extLst>
          </p:cNvPr>
          <p:cNvSpPr txBox="1"/>
          <p:nvPr/>
        </p:nvSpPr>
        <p:spPr>
          <a:xfrm>
            <a:off x="6023586" y="5203264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FE9DAB-2019-3143-A649-4B69451F966A}"/>
              </a:ext>
            </a:extLst>
          </p:cNvPr>
          <p:cNvSpPr txBox="1"/>
          <p:nvPr/>
        </p:nvSpPr>
        <p:spPr>
          <a:xfrm>
            <a:off x="7969836" y="5203264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00D8DF-8651-3C41-B87F-DE09AC932F8E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>
            <a:off x="7625224" y="4812387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53EB43-4EA6-5D49-A1B8-04AFDA0EC4E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625224" y="4812387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B11B93-7072-8B4F-92A3-2CD936B51387}"/>
              </a:ext>
            </a:extLst>
          </p:cNvPr>
          <p:cNvSpPr txBox="1"/>
          <p:nvPr/>
        </p:nvSpPr>
        <p:spPr>
          <a:xfrm>
            <a:off x="7326231" y="521539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269D6CE-9C33-2D4F-A545-D586A0B3CB48}"/>
              </a:ext>
            </a:extLst>
          </p:cNvPr>
          <p:cNvCxnSpPr>
            <a:cxnSpLocks/>
          </p:cNvCxnSpPr>
          <p:nvPr/>
        </p:nvCxnSpPr>
        <p:spPr>
          <a:xfrm flipH="1">
            <a:off x="6400851" y="55812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E51BEE-DCB7-5F4F-A7B5-6A6AE16A643A}"/>
              </a:ext>
            </a:extLst>
          </p:cNvPr>
          <p:cNvCxnSpPr>
            <a:cxnSpLocks/>
          </p:cNvCxnSpPr>
          <p:nvPr/>
        </p:nvCxnSpPr>
        <p:spPr>
          <a:xfrm>
            <a:off x="7625224" y="558128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BC4FE3-A121-2643-96B0-A1904DAAD31F}"/>
              </a:ext>
            </a:extLst>
          </p:cNvPr>
          <p:cNvCxnSpPr>
            <a:cxnSpLocks/>
          </p:cNvCxnSpPr>
          <p:nvPr/>
        </p:nvCxnSpPr>
        <p:spPr>
          <a:xfrm>
            <a:off x="7625224" y="55812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288074-6935-8843-B5E5-F5F477954FC7}"/>
              </a:ext>
            </a:extLst>
          </p:cNvPr>
          <p:cNvSpPr txBox="1"/>
          <p:nvPr/>
        </p:nvSpPr>
        <p:spPr>
          <a:xfrm>
            <a:off x="7167651" y="604838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4711D6-23AB-FF41-89F0-70EDB3EEAE2E}"/>
              </a:ext>
            </a:extLst>
          </p:cNvPr>
          <p:cNvSpPr txBox="1"/>
          <p:nvPr/>
        </p:nvSpPr>
        <p:spPr>
          <a:xfrm>
            <a:off x="6101859" y="601698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C4D564-4F2D-AA42-9408-7131461242E7}"/>
              </a:ext>
            </a:extLst>
          </p:cNvPr>
          <p:cNvSpPr txBox="1"/>
          <p:nvPr/>
        </p:nvSpPr>
        <p:spPr>
          <a:xfrm>
            <a:off x="8423391" y="601698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A8400F-E6CF-AA42-B58D-9B2CD0FACD6B}"/>
              </a:ext>
            </a:extLst>
          </p:cNvPr>
          <p:cNvSpPr txBox="1"/>
          <p:nvPr/>
        </p:nvSpPr>
        <p:spPr>
          <a:xfrm>
            <a:off x="8153958" y="649287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D555EB-67E1-A540-A985-9152D72C2E19}"/>
              </a:ext>
            </a:extLst>
          </p:cNvPr>
          <p:cNvSpPr txBox="1"/>
          <p:nvPr/>
        </p:nvSpPr>
        <p:spPr>
          <a:xfrm>
            <a:off x="5832426" y="6524425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3A6D2F2-C7CD-AB4C-80DE-4A9AF487B6BF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>
            <a:off x="6400851" y="6386321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14834F9-80AD-D148-A70D-444B13039E54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8722383" y="6386321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A29EEF26-741A-A141-A489-4417A9CA9D55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785177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1DC9CA-2422-EF4C-AF57-B8AADF8BD23F}"/>
              </a:ext>
            </a:extLst>
          </p:cNvPr>
          <p:cNvSpPr txBox="1"/>
          <p:nvPr/>
        </p:nvSpPr>
        <p:spPr>
          <a:xfrm>
            <a:off x="8856156" y="297556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73358B-D60C-E042-A770-AF4234600EBD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890957" y="3423119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CB2C732-482C-D342-AF7A-B7608421BFE3}"/>
              </a:ext>
            </a:extLst>
          </p:cNvPr>
          <p:cNvSpPr txBox="1"/>
          <p:nvPr/>
        </p:nvSpPr>
        <p:spPr>
          <a:xfrm>
            <a:off x="7591965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B24FAD-26E2-5745-A4AC-597D66091DE6}"/>
              </a:ext>
            </a:extLst>
          </p:cNvPr>
          <p:cNvCxnSpPr>
            <a:cxnSpLocks/>
          </p:cNvCxnSpPr>
          <p:nvPr/>
        </p:nvCxnSpPr>
        <p:spPr>
          <a:xfrm>
            <a:off x="9115330" y="3423119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D0CB7FC-681E-3642-995C-071EB6C66E6C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115330" y="3423119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9ED968C-B7FB-5341-9BED-542F047BF681}"/>
              </a:ext>
            </a:extLst>
          </p:cNvPr>
          <p:cNvSpPr txBox="1"/>
          <p:nvPr/>
        </p:nvSpPr>
        <p:spPr>
          <a:xfrm>
            <a:off x="8616155" y="3932145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9D9066-0F81-FE4F-8036-A213B76838BA}"/>
              </a:ext>
            </a:extLst>
          </p:cNvPr>
          <p:cNvSpPr txBox="1"/>
          <p:nvPr/>
        </p:nvSpPr>
        <p:spPr>
          <a:xfrm>
            <a:off x="9913497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1106D3-E901-8640-BEF7-671D82FEE976}"/>
              </a:ext>
            </a:extLst>
          </p:cNvPr>
          <p:cNvSpPr txBox="1"/>
          <p:nvPr/>
        </p:nvSpPr>
        <p:spPr>
          <a:xfrm>
            <a:off x="9644064" y="470928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25A1102-528C-1043-B074-6E362791570F}"/>
              </a:ext>
            </a:extLst>
          </p:cNvPr>
          <p:cNvCxnSpPr>
            <a:cxnSpLocks/>
          </p:cNvCxnSpPr>
          <p:nvPr/>
        </p:nvCxnSpPr>
        <p:spPr>
          <a:xfrm>
            <a:off x="10192644" y="424087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C20E5F-AB7C-5D48-8BD2-2EE4F61F248D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6856462" y="4250869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4E46DA5-A676-514A-91C6-A06863496B59}"/>
              </a:ext>
            </a:extLst>
          </p:cNvPr>
          <p:cNvSpPr txBox="1"/>
          <p:nvPr/>
        </p:nvSpPr>
        <p:spPr>
          <a:xfrm>
            <a:off x="6289319" y="4641746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544211-1DAA-7641-93FF-8390B34769A7}"/>
              </a:ext>
            </a:extLst>
          </p:cNvPr>
          <p:cNvSpPr txBox="1"/>
          <p:nvPr/>
        </p:nvSpPr>
        <p:spPr>
          <a:xfrm>
            <a:off x="8235569" y="4641746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F969272-8A33-654D-A4DF-E56DF393F163}"/>
              </a:ext>
            </a:extLst>
          </p:cNvPr>
          <p:cNvCxnSpPr>
            <a:cxnSpLocks/>
            <a:stCxn id="25" idx="2"/>
            <a:endCxn id="34" idx="0"/>
          </p:cNvCxnSpPr>
          <p:nvPr/>
        </p:nvCxnSpPr>
        <p:spPr>
          <a:xfrm>
            <a:off x="7890957" y="4250869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71D92B8-E32E-A345-95A3-E5A9DE9AC34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7890957" y="4250869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6AB8A3C-24F1-6148-9C5B-85FAE2FE1418}"/>
              </a:ext>
            </a:extLst>
          </p:cNvPr>
          <p:cNvSpPr txBox="1"/>
          <p:nvPr/>
        </p:nvSpPr>
        <p:spPr>
          <a:xfrm>
            <a:off x="7591964" y="46538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23013A4-E71E-484A-A884-357C97323A08}"/>
              </a:ext>
            </a:extLst>
          </p:cNvPr>
          <p:cNvCxnSpPr>
            <a:cxnSpLocks/>
          </p:cNvCxnSpPr>
          <p:nvPr/>
        </p:nvCxnSpPr>
        <p:spPr>
          <a:xfrm flipH="1">
            <a:off x="6666584" y="5019762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5A99874-9875-0849-ABE4-941435ED30BE}"/>
              </a:ext>
            </a:extLst>
          </p:cNvPr>
          <p:cNvCxnSpPr>
            <a:cxnSpLocks/>
          </p:cNvCxnSpPr>
          <p:nvPr/>
        </p:nvCxnSpPr>
        <p:spPr>
          <a:xfrm>
            <a:off x="7890957" y="5019762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3DBD44-73AA-AF46-B0D9-C3F642048065}"/>
              </a:ext>
            </a:extLst>
          </p:cNvPr>
          <p:cNvCxnSpPr>
            <a:cxnSpLocks/>
          </p:cNvCxnSpPr>
          <p:nvPr/>
        </p:nvCxnSpPr>
        <p:spPr>
          <a:xfrm>
            <a:off x="7890957" y="5019762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3B475AE-AE3F-744D-B0BD-161AD7051C0A}"/>
              </a:ext>
            </a:extLst>
          </p:cNvPr>
          <p:cNvSpPr txBox="1"/>
          <p:nvPr/>
        </p:nvSpPr>
        <p:spPr>
          <a:xfrm>
            <a:off x="7433384" y="5486864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01CD8A-5780-7840-8DD6-E4B0CC8C77EB}"/>
              </a:ext>
            </a:extLst>
          </p:cNvPr>
          <p:cNvSpPr txBox="1"/>
          <p:nvPr/>
        </p:nvSpPr>
        <p:spPr>
          <a:xfrm>
            <a:off x="6367592" y="54554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127B8D-03A3-C24C-BFE0-88A3B56E69F8}"/>
              </a:ext>
            </a:extLst>
          </p:cNvPr>
          <p:cNvSpPr txBox="1"/>
          <p:nvPr/>
        </p:nvSpPr>
        <p:spPr>
          <a:xfrm>
            <a:off x="8689124" y="54554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F4827D-0B38-7D4A-B88C-8C3374A56FFE}"/>
              </a:ext>
            </a:extLst>
          </p:cNvPr>
          <p:cNvSpPr txBox="1"/>
          <p:nvPr/>
        </p:nvSpPr>
        <p:spPr>
          <a:xfrm>
            <a:off x="8419691" y="593135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AFB504-8501-9748-A882-2A11B92CB62F}"/>
              </a:ext>
            </a:extLst>
          </p:cNvPr>
          <p:cNvSpPr txBox="1"/>
          <p:nvPr/>
        </p:nvSpPr>
        <p:spPr>
          <a:xfrm>
            <a:off x="6098159" y="59629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0A1301B-268E-3945-9888-E1D750CB5454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>
            <a:off x="6666584" y="5824803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C8478B9-428E-E14C-8630-18E26AA57923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8988116" y="5824803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CFE0085-6087-D74B-B38D-7D27F14BA7B0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353D1C-F602-4648-A0FE-9BCC3E647C06}"/>
              </a:ext>
            </a:extLst>
          </p:cNvPr>
          <p:cNvSpPr txBox="1"/>
          <p:nvPr/>
        </p:nvSpPr>
        <p:spPr>
          <a:xfrm>
            <a:off x="7930775" y="219235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43E08-1F55-9646-B224-2BE364E0B1F0}"/>
              </a:ext>
            </a:extLst>
          </p:cNvPr>
          <p:cNvSpPr txBox="1"/>
          <p:nvPr/>
        </p:nvSpPr>
        <p:spPr>
          <a:xfrm>
            <a:off x="5666482" y="1626717"/>
            <a:ext cx="514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Does this parse tree capture the structure we want?</a:t>
            </a:r>
          </a:p>
        </p:txBody>
      </p:sp>
    </p:spTree>
    <p:extLst>
      <p:ext uri="{BB962C8B-B14F-4D97-AF65-F5344CB8AC3E}">
        <p14:creationId xmlns:p14="http://schemas.microsoft.com/office/powerpoint/2010/main" val="2659730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5"/>
            <a:ext cx="10515600" cy="1325563"/>
          </a:xfrm>
        </p:spPr>
        <p:txBody>
          <a:bodyPr/>
          <a:lstStyle/>
          <a:p>
            <a:r>
              <a:rPr lang="en-US" dirty="0"/>
              <a:t>Parse trees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23A4BA-C634-A849-93D7-126BB853A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4137"/>
          </a:xfrm>
        </p:spPr>
        <p:txBody>
          <a:bodyPr/>
          <a:lstStyle/>
          <a:p>
            <a:r>
              <a:rPr lang="en-US" dirty="0"/>
              <a:t>How about</a:t>
            </a:r>
            <a:r>
              <a:rPr lang="en-US" dirty="0">
                <a:latin typeface="Courier" pitchFamily="2" charset="0"/>
              </a:rPr>
              <a:t>:</a:t>
            </a:r>
            <a:r>
              <a:rPr lang="en-US" dirty="0"/>
              <a:t> </a:t>
            </a:r>
            <a:r>
              <a:rPr lang="en-US" dirty="0">
                <a:latin typeface="Courier" pitchFamily="2" charset="0"/>
              </a:rPr>
              <a:t>1 + 5 * 6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6026E5-E34D-F348-B2E7-42FBFB52781E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071677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031" y="-36582"/>
            <a:ext cx="3140034" cy="1325563"/>
          </a:xfrm>
        </p:spPr>
        <p:txBody>
          <a:bodyPr>
            <a:normAutofit/>
          </a:bodyPr>
          <a:lstStyle/>
          <a:p>
            <a:r>
              <a:rPr lang="en-US" b="1" dirty="0"/>
              <a:t>Parse trees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23A4BA-C634-A849-93D7-126BB853A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4137"/>
          </a:xfrm>
        </p:spPr>
        <p:txBody>
          <a:bodyPr/>
          <a:lstStyle/>
          <a:p>
            <a:r>
              <a:rPr lang="en-US" dirty="0"/>
              <a:t>How about</a:t>
            </a:r>
            <a:r>
              <a:rPr lang="en-US" dirty="0">
                <a:latin typeface="Courier" pitchFamily="2" charset="0"/>
              </a:rPr>
              <a:t>:</a:t>
            </a:r>
            <a:r>
              <a:rPr lang="en-US" dirty="0"/>
              <a:t> </a:t>
            </a:r>
            <a:r>
              <a:rPr lang="en-US" dirty="0">
                <a:latin typeface="Courier" pitchFamily="2" charset="0"/>
              </a:rPr>
              <a:t>1 + 5 * 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AB397C-4DD1-8B46-B3F4-3E1A4905847E}"/>
              </a:ext>
            </a:extLst>
          </p:cNvPr>
          <p:cNvSpPr txBox="1"/>
          <p:nvPr/>
        </p:nvSpPr>
        <p:spPr>
          <a:xfrm>
            <a:off x="8763418" y="267043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C41512-1E5F-4948-9492-4C9A5B98B16D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7798219" y="311798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7D8324F-C9A8-9F43-96CF-A625D0B92C97}"/>
              </a:ext>
            </a:extLst>
          </p:cNvPr>
          <p:cNvSpPr txBox="1"/>
          <p:nvPr/>
        </p:nvSpPr>
        <p:spPr>
          <a:xfrm>
            <a:off x="7499227" y="35764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346DE8-92F7-2749-98C4-2BC66EF2BBBA}"/>
              </a:ext>
            </a:extLst>
          </p:cNvPr>
          <p:cNvCxnSpPr>
            <a:cxnSpLocks/>
          </p:cNvCxnSpPr>
          <p:nvPr/>
        </p:nvCxnSpPr>
        <p:spPr>
          <a:xfrm>
            <a:off x="9022592" y="311798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0E77B2D-939A-9941-9A4C-51F60AD87F7C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9022592" y="311798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C3CBAB6-22E4-FC48-B889-3BBE917D871F}"/>
              </a:ext>
            </a:extLst>
          </p:cNvPr>
          <p:cNvSpPr txBox="1"/>
          <p:nvPr/>
        </p:nvSpPr>
        <p:spPr>
          <a:xfrm>
            <a:off x="8523417" y="362701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581A83-4BDE-F54B-B280-EE9B483BE66C}"/>
              </a:ext>
            </a:extLst>
          </p:cNvPr>
          <p:cNvSpPr txBox="1"/>
          <p:nvPr/>
        </p:nvSpPr>
        <p:spPr>
          <a:xfrm>
            <a:off x="9820759" y="35764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97E9A7-67D7-7C44-A05F-AC648AD361EA}"/>
              </a:ext>
            </a:extLst>
          </p:cNvPr>
          <p:cNvSpPr txBox="1"/>
          <p:nvPr/>
        </p:nvSpPr>
        <p:spPr>
          <a:xfrm>
            <a:off x="9551326" y="440415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61461F4-37C2-C149-8B86-03F949535150}"/>
              </a:ext>
            </a:extLst>
          </p:cNvPr>
          <p:cNvCxnSpPr>
            <a:cxnSpLocks/>
          </p:cNvCxnSpPr>
          <p:nvPr/>
        </p:nvCxnSpPr>
        <p:spPr>
          <a:xfrm>
            <a:off x="10099906" y="393574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9A193A-5443-E244-83BC-6F2A4A315339}"/>
              </a:ext>
            </a:extLst>
          </p:cNvPr>
          <p:cNvCxnSpPr>
            <a:cxnSpLocks/>
          </p:cNvCxnSpPr>
          <p:nvPr/>
        </p:nvCxnSpPr>
        <p:spPr>
          <a:xfrm flipH="1">
            <a:off x="6527438" y="393574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EDBA310-73DA-924C-9548-3E606F5F17F2}"/>
              </a:ext>
            </a:extLst>
          </p:cNvPr>
          <p:cNvCxnSpPr>
            <a:cxnSpLocks/>
          </p:cNvCxnSpPr>
          <p:nvPr/>
        </p:nvCxnSpPr>
        <p:spPr>
          <a:xfrm>
            <a:off x="7751811" y="393574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0974E2A-CF09-EE4B-B04D-DDE700B68E2C}"/>
              </a:ext>
            </a:extLst>
          </p:cNvPr>
          <p:cNvCxnSpPr>
            <a:cxnSpLocks/>
          </p:cNvCxnSpPr>
          <p:nvPr/>
        </p:nvCxnSpPr>
        <p:spPr>
          <a:xfrm>
            <a:off x="7751811" y="393574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AD31818-A8C8-244A-A91A-3777DFF42227}"/>
              </a:ext>
            </a:extLst>
          </p:cNvPr>
          <p:cNvSpPr txBox="1"/>
          <p:nvPr/>
        </p:nvSpPr>
        <p:spPr>
          <a:xfrm>
            <a:off x="7294238" y="4402849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0E1976-1BD7-B34F-B255-8C795BA58A09}"/>
              </a:ext>
            </a:extLst>
          </p:cNvPr>
          <p:cNvSpPr txBox="1"/>
          <p:nvPr/>
        </p:nvSpPr>
        <p:spPr>
          <a:xfrm>
            <a:off x="6228446" y="437145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0E395D-C229-4F42-A2BD-DB888642D9F4}"/>
              </a:ext>
            </a:extLst>
          </p:cNvPr>
          <p:cNvSpPr txBox="1"/>
          <p:nvPr/>
        </p:nvSpPr>
        <p:spPr>
          <a:xfrm>
            <a:off x="8549978" y="437145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E0BF98-F7C9-FE4C-AF4B-4A4A2A2EBABB}"/>
              </a:ext>
            </a:extLst>
          </p:cNvPr>
          <p:cNvSpPr txBox="1"/>
          <p:nvPr/>
        </p:nvSpPr>
        <p:spPr>
          <a:xfrm>
            <a:off x="8280545" y="484734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C1CB5A-1F10-FE4B-982C-6CC011D10D47}"/>
              </a:ext>
            </a:extLst>
          </p:cNvPr>
          <p:cNvSpPr txBox="1"/>
          <p:nvPr/>
        </p:nvSpPr>
        <p:spPr>
          <a:xfrm>
            <a:off x="5959013" y="487889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CD352DF-EED9-8849-BBF1-CB90364123EF}"/>
              </a:ext>
            </a:extLst>
          </p:cNvPr>
          <p:cNvCxnSpPr>
            <a:cxnSpLocks/>
            <a:stCxn id="55" idx="2"/>
            <a:endCxn id="58" idx="0"/>
          </p:cNvCxnSpPr>
          <p:nvPr/>
        </p:nvCxnSpPr>
        <p:spPr>
          <a:xfrm>
            <a:off x="6527438" y="4740788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AF55C9E-7BB7-0A47-904B-09B82506A2EF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>
            <a:off x="8848970" y="4740788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4AEC985-DABB-C140-B1E4-D94FD329C3B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4062487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A8A75-0947-5349-B74C-1E1CFC55D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776" y="2079363"/>
            <a:ext cx="3911930" cy="576069"/>
          </a:xfrm>
        </p:spPr>
        <p:txBody>
          <a:bodyPr/>
          <a:lstStyle/>
          <a:p>
            <a:r>
              <a:rPr lang="en-US" dirty="0">
                <a:latin typeface="Courier" pitchFamily="2" charset="0"/>
              </a:rPr>
              <a:t>input: 1 + 5 *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68BBF-72D1-C942-A23C-05D446E914FE}"/>
              </a:ext>
            </a:extLst>
          </p:cNvPr>
          <p:cNvSpPr txBox="1"/>
          <p:nvPr/>
        </p:nvSpPr>
        <p:spPr>
          <a:xfrm>
            <a:off x="3239948" y="37341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361AA3-995B-B14B-B160-8FB9C9CD4818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274749" y="418166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34B6E4-6F20-344D-8519-C401DEC7D86C}"/>
              </a:ext>
            </a:extLst>
          </p:cNvPr>
          <p:cNvSpPr txBox="1"/>
          <p:nvPr/>
        </p:nvSpPr>
        <p:spPr>
          <a:xfrm>
            <a:off x="1975757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CC53EA-3A7E-2A46-B638-61EFD0987A47}"/>
              </a:ext>
            </a:extLst>
          </p:cNvPr>
          <p:cNvCxnSpPr>
            <a:cxnSpLocks/>
          </p:cNvCxnSpPr>
          <p:nvPr/>
        </p:nvCxnSpPr>
        <p:spPr>
          <a:xfrm>
            <a:off x="3499122" y="418166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DCCB52-A633-524E-9223-25CDAEBEDDC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499122" y="418166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2D1699-947E-FB40-84D8-4DC970ADF2C2}"/>
              </a:ext>
            </a:extLst>
          </p:cNvPr>
          <p:cNvSpPr txBox="1"/>
          <p:nvPr/>
        </p:nvSpPr>
        <p:spPr>
          <a:xfrm>
            <a:off x="2999947" y="46906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63DEE2-6482-4145-9E0E-CEAC819F69A4}"/>
              </a:ext>
            </a:extLst>
          </p:cNvPr>
          <p:cNvSpPr txBox="1"/>
          <p:nvPr/>
        </p:nvSpPr>
        <p:spPr>
          <a:xfrm>
            <a:off x="4297289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33C5C-5116-CF4E-BDE4-041EE8B68947}"/>
              </a:ext>
            </a:extLst>
          </p:cNvPr>
          <p:cNvSpPr txBox="1"/>
          <p:nvPr/>
        </p:nvSpPr>
        <p:spPr>
          <a:xfrm>
            <a:off x="4027856" y="546783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C49E33-FEA7-474C-B5FD-65D9B2D17F0C}"/>
              </a:ext>
            </a:extLst>
          </p:cNvPr>
          <p:cNvCxnSpPr>
            <a:cxnSpLocks/>
          </p:cNvCxnSpPr>
          <p:nvPr/>
        </p:nvCxnSpPr>
        <p:spPr>
          <a:xfrm>
            <a:off x="4576436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096E1A-92E3-F543-AE82-F83E64D4767A}"/>
              </a:ext>
            </a:extLst>
          </p:cNvPr>
          <p:cNvCxnSpPr>
            <a:cxnSpLocks/>
          </p:cNvCxnSpPr>
          <p:nvPr/>
        </p:nvCxnSpPr>
        <p:spPr>
          <a:xfrm flipH="1">
            <a:off x="1003968" y="4999423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80C731-C2B1-F147-AD80-21AE50F180C9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EEBFB7-B649-8C45-A4D9-A6A3E2716E8B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B0E84E-AA23-3741-8FC6-5967FD361D8D}"/>
              </a:ext>
            </a:extLst>
          </p:cNvPr>
          <p:cNvSpPr txBox="1"/>
          <p:nvPr/>
        </p:nvSpPr>
        <p:spPr>
          <a:xfrm>
            <a:off x="1770768" y="5466525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FA4E57-3800-9A41-84C1-3487CFE1B43B}"/>
              </a:ext>
            </a:extLst>
          </p:cNvPr>
          <p:cNvSpPr txBox="1"/>
          <p:nvPr/>
        </p:nvSpPr>
        <p:spPr>
          <a:xfrm>
            <a:off x="704976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D426D8-C447-C642-859D-706A726FD75F}"/>
              </a:ext>
            </a:extLst>
          </p:cNvPr>
          <p:cNvSpPr txBox="1"/>
          <p:nvPr/>
        </p:nvSpPr>
        <p:spPr>
          <a:xfrm>
            <a:off x="3026508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E33E75-44A2-F64D-B68D-8F3B337FC012}"/>
              </a:ext>
            </a:extLst>
          </p:cNvPr>
          <p:cNvSpPr txBox="1"/>
          <p:nvPr/>
        </p:nvSpPr>
        <p:spPr>
          <a:xfrm>
            <a:off x="2757075" y="591101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71E864-22B5-094C-801E-86FEE9D9E25D}"/>
              </a:ext>
            </a:extLst>
          </p:cNvPr>
          <p:cNvSpPr txBox="1"/>
          <p:nvPr/>
        </p:nvSpPr>
        <p:spPr>
          <a:xfrm>
            <a:off x="435543" y="59425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B64D96-7DBD-DB40-853F-60DB16DAE97F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1003968" y="5804464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81D737-746B-4740-9924-08AC9DFCD0E8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3325500" y="5804464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EFBBB9C6-D6F4-834B-A4E7-0BEF5ADBE87C}"/>
              </a:ext>
            </a:extLst>
          </p:cNvPr>
          <p:cNvSpPr txBox="1">
            <a:spLocks/>
          </p:cNvSpPr>
          <p:nvPr/>
        </p:nvSpPr>
        <p:spPr>
          <a:xfrm>
            <a:off x="7300055" y="1793961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1B57E8A-CCE5-F557-58BE-8B9901E5A6E9}"/>
              </a:ext>
            </a:extLst>
          </p:cNvPr>
          <p:cNvSpPr txBox="1">
            <a:spLocks/>
          </p:cNvSpPr>
          <p:nvPr/>
        </p:nvSpPr>
        <p:spPr>
          <a:xfrm>
            <a:off x="838200" y="7270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Ambiguous Grammars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957777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8560-0CF7-B45A-F6A9-7CA00883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17580-3AAB-906C-EA13-E7DDF313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1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Ambiguous Grammars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9123-59B9-DF47-09B1-358A603A7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776" y="2079363"/>
            <a:ext cx="3911930" cy="576069"/>
          </a:xfrm>
        </p:spPr>
        <p:txBody>
          <a:bodyPr/>
          <a:lstStyle/>
          <a:p>
            <a:r>
              <a:rPr lang="en-US" dirty="0">
                <a:latin typeface="Courier" pitchFamily="2" charset="0"/>
              </a:rPr>
              <a:t>input: 1 + 5 *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60D83-8CE0-95EC-4D9B-768FE3380CAF}"/>
              </a:ext>
            </a:extLst>
          </p:cNvPr>
          <p:cNvSpPr txBox="1"/>
          <p:nvPr/>
        </p:nvSpPr>
        <p:spPr>
          <a:xfrm>
            <a:off x="3239948" y="37341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DE3EF4-F7D9-8A9F-8CD9-F169EFCD0EAC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274749" y="418166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178F4D0-AC0A-C65D-20F8-701E59ABA445}"/>
              </a:ext>
            </a:extLst>
          </p:cNvPr>
          <p:cNvSpPr txBox="1"/>
          <p:nvPr/>
        </p:nvSpPr>
        <p:spPr>
          <a:xfrm>
            <a:off x="1975757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4CB33D-D41E-69DA-E67F-020482A87770}"/>
              </a:ext>
            </a:extLst>
          </p:cNvPr>
          <p:cNvCxnSpPr>
            <a:cxnSpLocks/>
          </p:cNvCxnSpPr>
          <p:nvPr/>
        </p:nvCxnSpPr>
        <p:spPr>
          <a:xfrm>
            <a:off x="3499122" y="418166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CDB136-6AA6-C2EB-7158-E1DE899C69F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499122" y="418166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336DE9-0ED8-0AF9-F7F0-9B21F5C9FDFA}"/>
              </a:ext>
            </a:extLst>
          </p:cNvPr>
          <p:cNvSpPr txBox="1"/>
          <p:nvPr/>
        </p:nvSpPr>
        <p:spPr>
          <a:xfrm>
            <a:off x="2999947" y="46906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2FD63-8BD3-7DD6-2986-BA65AA221CE6}"/>
              </a:ext>
            </a:extLst>
          </p:cNvPr>
          <p:cNvSpPr txBox="1"/>
          <p:nvPr/>
        </p:nvSpPr>
        <p:spPr>
          <a:xfrm>
            <a:off x="4297289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64F791-1183-D56A-F5EC-8716C5BBA500}"/>
              </a:ext>
            </a:extLst>
          </p:cNvPr>
          <p:cNvSpPr txBox="1"/>
          <p:nvPr/>
        </p:nvSpPr>
        <p:spPr>
          <a:xfrm>
            <a:off x="4027856" y="546783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69BBDE-6C41-CA93-DAD2-6A58CDCBF31C}"/>
              </a:ext>
            </a:extLst>
          </p:cNvPr>
          <p:cNvCxnSpPr>
            <a:cxnSpLocks/>
          </p:cNvCxnSpPr>
          <p:nvPr/>
        </p:nvCxnSpPr>
        <p:spPr>
          <a:xfrm>
            <a:off x="4576436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B5C6A6-B37D-8A54-8BCB-BBF94DE46BFE}"/>
              </a:ext>
            </a:extLst>
          </p:cNvPr>
          <p:cNvCxnSpPr>
            <a:cxnSpLocks/>
          </p:cNvCxnSpPr>
          <p:nvPr/>
        </p:nvCxnSpPr>
        <p:spPr>
          <a:xfrm flipH="1">
            <a:off x="1003968" y="4999423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D94FD8-C206-D213-DCA4-64708A76FC8E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8BD4DCC-4449-D9F7-18C3-F866A235AEA9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ED21F5-B8F2-6629-71E3-468A9C22392A}"/>
              </a:ext>
            </a:extLst>
          </p:cNvPr>
          <p:cNvSpPr txBox="1"/>
          <p:nvPr/>
        </p:nvSpPr>
        <p:spPr>
          <a:xfrm>
            <a:off x="1770768" y="5466525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3E1487-FDF0-C9EB-1E78-D6917D8337B1}"/>
              </a:ext>
            </a:extLst>
          </p:cNvPr>
          <p:cNvSpPr txBox="1"/>
          <p:nvPr/>
        </p:nvSpPr>
        <p:spPr>
          <a:xfrm>
            <a:off x="704976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C114B4-4F33-5386-9842-8D64F0FBD614}"/>
              </a:ext>
            </a:extLst>
          </p:cNvPr>
          <p:cNvSpPr txBox="1"/>
          <p:nvPr/>
        </p:nvSpPr>
        <p:spPr>
          <a:xfrm>
            <a:off x="3026508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C1E316-CEFF-CC43-92F6-31002324DBC1}"/>
              </a:ext>
            </a:extLst>
          </p:cNvPr>
          <p:cNvSpPr txBox="1"/>
          <p:nvPr/>
        </p:nvSpPr>
        <p:spPr>
          <a:xfrm>
            <a:off x="2757075" y="591101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187B57-DBA3-BFB1-D53F-2E7D6A4EDE80}"/>
              </a:ext>
            </a:extLst>
          </p:cNvPr>
          <p:cNvSpPr txBox="1"/>
          <p:nvPr/>
        </p:nvSpPr>
        <p:spPr>
          <a:xfrm>
            <a:off x="435543" y="59425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ADC667-D4FD-8A82-9610-829BDD85ECE6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1003968" y="5804464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FFC3C24-ACC1-DD86-3D41-B14EADF2BFEA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3325500" y="5804464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5E1561C-3D7D-4914-C803-9ED5C962E1D2}"/>
              </a:ext>
            </a:extLst>
          </p:cNvPr>
          <p:cNvSpPr txBox="1"/>
          <p:nvPr/>
        </p:nvSpPr>
        <p:spPr>
          <a:xfrm>
            <a:off x="8721899" y="359916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596C4AF-B76E-CACB-BE4C-D0790F24F975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7756700" y="404672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8DBD055-71E0-97C1-4203-40070E401041}"/>
              </a:ext>
            </a:extLst>
          </p:cNvPr>
          <p:cNvSpPr txBox="1"/>
          <p:nvPr/>
        </p:nvSpPr>
        <p:spPr>
          <a:xfrm>
            <a:off x="7457708" y="450514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74E720-C266-DFBE-F312-F49713C89D87}"/>
              </a:ext>
            </a:extLst>
          </p:cNvPr>
          <p:cNvCxnSpPr>
            <a:cxnSpLocks/>
          </p:cNvCxnSpPr>
          <p:nvPr/>
        </p:nvCxnSpPr>
        <p:spPr>
          <a:xfrm>
            <a:off x="8981073" y="404672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E1A080-C2C9-42B3-627B-E56C8D3A5225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8981073" y="404672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1483FDC-2D2C-2585-406C-5DC663CAB8B7}"/>
              </a:ext>
            </a:extLst>
          </p:cNvPr>
          <p:cNvSpPr txBox="1"/>
          <p:nvPr/>
        </p:nvSpPr>
        <p:spPr>
          <a:xfrm>
            <a:off x="8481898" y="4555753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ACC52C-B5F2-46F6-BE93-452780031C97}"/>
              </a:ext>
            </a:extLst>
          </p:cNvPr>
          <p:cNvSpPr txBox="1"/>
          <p:nvPr/>
        </p:nvSpPr>
        <p:spPr>
          <a:xfrm>
            <a:off x="9779240" y="450514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3F2823-4CC5-28A2-EE8C-3105A40437FB}"/>
              </a:ext>
            </a:extLst>
          </p:cNvPr>
          <p:cNvSpPr txBox="1"/>
          <p:nvPr/>
        </p:nvSpPr>
        <p:spPr>
          <a:xfrm>
            <a:off x="7172331" y="531243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6E81EE-8D68-1153-8837-160F0A5F3131}"/>
              </a:ext>
            </a:extLst>
          </p:cNvPr>
          <p:cNvCxnSpPr>
            <a:cxnSpLocks/>
          </p:cNvCxnSpPr>
          <p:nvPr/>
        </p:nvCxnSpPr>
        <p:spPr>
          <a:xfrm>
            <a:off x="7720911" y="484403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61287B-7D31-0170-21DD-CF1C260F5C8B}"/>
              </a:ext>
            </a:extLst>
          </p:cNvPr>
          <p:cNvCxnSpPr>
            <a:cxnSpLocks/>
          </p:cNvCxnSpPr>
          <p:nvPr/>
        </p:nvCxnSpPr>
        <p:spPr>
          <a:xfrm flipH="1">
            <a:off x="8886498" y="4905611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E993118-8D80-55BF-3F61-AA5221705AA2}"/>
              </a:ext>
            </a:extLst>
          </p:cNvPr>
          <p:cNvCxnSpPr>
            <a:cxnSpLocks/>
          </p:cNvCxnSpPr>
          <p:nvPr/>
        </p:nvCxnSpPr>
        <p:spPr>
          <a:xfrm>
            <a:off x="10110871" y="4905611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63C90E-2BFB-8F80-A1C7-F0AA824F4F38}"/>
              </a:ext>
            </a:extLst>
          </p:cNvPr>
          <p:cNvCxnSpPr>
            <a:cxnSpLocks/>
          </p:cNvCxnSpPr>
          <p:nvPr/>
        </p:nvCxnSpPr>
        <p:spPr>
          <a:xfrm>
            <a:off x="10110871" y="4905611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388CF79-517E-CC90-E18E-E49874DCDAF1}"/>
              </a:ext>
            </a:extLst>
          </p:cNvPr>
          <p:cNvSpPr txBox="1"/>
          <p:nvPr/>
        </p:nvSpPr>
        <p:spPr>
          <a:xfrm>
            <a:off x="9653298" y="537271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AB9E7B-C605-382A-5E35-8C7ADD18AB78}"/>
              </a:ext>
            </a:extLst>
          </p:cNvPr>
          <p:cNvSpPr txBox="1"/>
          <p:nvPr/>
        </p:nvSpPr>
        <p:spPr>
          <a:xfrm>
            <a:off x="8587506" y="534132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7C1317-5ABD-3C13-C7B3-DBD67E5F4787}"/>
              </a:ext>
            </a:extLst>
          </p:cNvPr>
          <p:cNvSpPr txBox="1"/>
          <p:nvPr/>
        </p:nvSpPr>
        <p:spPr>
          <a:xfrm>
            <a:off x="10909038" y="534132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7AE34C-336A-0EC8-10E9-4CEC2451B832}"/>
              </a:ext>
            </a:extLst>
          </p:cNvPr>
          <p:cNvSpPr txBox="1"/>
          <p:nvPr/>
        </p:nvSpPr>
        <p:spPr>
          <a:xfrm>
            <a:off x="10639605" y="581720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727650-124F-440B-4344-26FF84F8CD03}"/>
              </a:ext>
            </a:extLst>
          </p:cNvPr>
          <p:cNvSpPr txBox="1"/>
          <p:nvPr/>
        </p:nvSpPr>
        <p:spPr>
          <a:xfrm>
            <a:off x="8318073" y="584875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0B44DE7-E8E7-5820-9679-97FCA7FA644F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>
            <a:off x="8886498" y="5710652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2BFCD65-630B-B21F-C70D-3A4370232050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11208030" y="5710652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9174A5D0-B9FF-065F-8822-C9105E5FC1CC}"/>
              </a:ext>
            </a:extLst>
          </p:cNvPr>
          <p:cNvSpPr txBox="1">
            <a:spLocks/>
          </p:cNvSpPr>
          <p:nvPr/>
        </p:nvSpPr>
        <p:spPr>
          <a:xfrm>
            <a:off x="7300055" y="1793961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207954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38A7-9CB6-8B41-8EEB-A7321D31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Avoiding 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3D10-9A3F-E04B-9E4B-FAF634B6B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3086"/>
            <a:ext cx="10515600" cy="4123913"/>
          </a:xfrm>
        </p:spPr>
        <p:txBody>
          <a:bodyPr>
            <a:normAutofit fontScale="92500" lnSpcReduction="10000"/>
          </a:bodyPr>
          <a:lstStyle/>
          <a:p>
            <a:r>
              <a:rPr lang="en-US" sz="4400" dirty="0"/>
              <a:t>How to avoid ambiguity related to precedence?</a:t>
            </a:r>
          </a:p>
          <a:p>
            <a:r>
              <a:rPr lang="en-US" sz="4400" dirty="0"/>
              <a:t>Define precedence into the grammar:</a:t>
            </a:r>
          </a:p>
          <a:p>
            <a:pPr lvl="1"/>
            <a:r>
              <a:rPr lang="en-US" sz="4000" dirty="0"/>
              <a:t> Ambiguity comes from conflicts. Explicitly define how to deal with conflicts by indicating that: </a:t>
            </a:r>
          </a:p>
          <a:p>
            <a:pPr marL="0" indent="0">
              <a:buNone/>
            </a:pPr>
            <a:r>
              <a:rPr lang="en-US" sz="4400" dirty="0"/>
              <a:t>           * has higher precedence than +</a:t>
            </a:r>
          </a:p>
          <a:p>
            <a:r>
              <a:rPr lang="en-US" sz="4400" dirty="0"/>
              <a:t>Some parser generators support this, </a:t>
            </a:r>
          </a:p>
          <a:p>
            <a:pPr lvl="1"/>
            <a:r>
              <a:rPr lang="en-US" sz="4000" dirty="0"/>
              <a:t>e.g. YACC(C), Bison (C), </a:t>
            </a:r>
            <a:r>
              <a:rPr lang="en-US" sz="4000" dirty="0" err="1"/>
              <a:t>Antlr</a:t>
            </a:r>
            <a:r>
              <a:rPr lang="en-US" sz="4000" dirty="0"/>
              <a:t> (Java), PLY(Python)</a:t>
            </a:r>
          </a:p>
        </p:txBody>
      </p:sp>
    </p:spTree>
    <p:extLst>
      <p:ext uri="{BB962C8B-B14F-4D97-AF65-F5344CB8AC3E}">
        <p14:creationId xmlns:p14="http://schemas.microsoft.com/office/powerpoint/2010/main" val="40477040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38A7-9CB6-8B41-8EEB-A7321D31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5"/>
            <a:ext cx="10515600" cy="1325563"/>
          </a:xfrm>
        </p:spPr>
        <p:txBody>
          <a:bodyPr/>
          <a:lstStyle/>
          <a:p>
            <a:r>
              <a:rPr lang="en-US" dirty="0"/>
              <a:t>Avoiding Ambiguity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C6EBDA-2909-0F4C-8DDA-3EAE95C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3704"/>
            <a:ext cx="10253353" cy="466725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How to avoid ambiguity related to precedence?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b="1" dirty="0"/>
              <a:t>Second way</a:t>
            </a:r>
            <a:r>
              <a:rPr lang="en-US" sz="3600" dirty="0"/>
              <a:t>: add new production rules</a:t>
            </a:r>
          </a:p>
          <a:p>
            <a:pPr lvl="1"/>
            <a:r>
              <a:rPr lang="en-US" sz="3200" dirty="0"/>
              <a:t>One non-terminal for each level of precedence</a:t>
            </a:r>
          </a:p>
          <a:p>
            <a:pPr lvl="1"/>
            <a:r>
              <a:rPr lang="en-US" sz="3200" dirty="0"/>
              <a:t>lowest precedence at the top</a:t>
            </a:r>
          </a:p>
          <a:p>
            <a:pPr lvl="1"/>
            <a:r>
              <a:rPr lang="en-US" sz="3200" dirty="0"/>
              <a:t>highest precedence at the bottom</a:t>
            </a:r>
          </a:p>
          <a:p>
            <a:pPr lvl="1"/>
            <a:endParaRPr lang="en-US" sz="3200" dirty="0"/>
          </a:p>
          <a:p>
            <a:r>
              <a:rPr lang="en-US" sz="3600" dirty="0"/>
              <a:t>Lets try with expressions and the following:</a:t>
            </a:r>
          </a:p>
          <a:p>
            <a:pPr marL="457200" lvl="1" indent="0">
              <a:buNone/>
            </a:pPr>
            <a:r>
              <a:rPr lang="en-US" sz="3200" dirty="0"/>
              <a:t>              +  *  ()</a:t>
            </a:r>
          </a:p>
        </p:txBody>
      </p:sp>
    </p:spTree>
    <p:extLst>
      <p:ext uri="{BB962C8B-B14F-4D97-AF65-F5344CB8AC3E}">
        <p14:creationId xmlns:p14="http://schemas.microsoft.com/office/powerpoint/2010/main" val="3505474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38A7-9CB6-8B41-8EEB-A7321D31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0"/>
            <a:ext cx="10515600" cy="1325563"/>
          </a:xfrm>
        </p:spPr>
        <p:txBody>
          <a:bodyPr/>
          <a:lstStyle/>
          <a:p>
            <a:r>
              <a:rPr lang="en-US" dirty="0"/>
              <a:t>Avoiding Ambiguity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E783D612-69BC-4C49-9D8D-25981E72E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692518"/>
              </p:ext>
            </p:extLst>
          </p:nvPr>
        </p:nvGraphicFramePr>
        <p:xfrm>
          <a:off x="2817341" y="3069365"/>
          <a:ext cx="5671751" cy="32572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1324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086036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02439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814323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814323"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2000" dirty="0">
                          <a:latin typeface="Courier" pitchFamily="2" charset="0"/>
                        </a:rPr>
                      </a:br>
                      <a:r>
                        <a:rPr lang="en-US" sz="20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814323">
                <a:tc>
                  <a:txBody>
                    <a:bodyPr/>
                    <a:lstStyle/>
                    <a:p>
                      <a:r>
                        <a:rPr lang="en-US" sz="28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2000" dirty="0">
                          <a:latin typeface="Courier" pitchFamily="2" charset="0"/>
                        </a:rPr>
                      </a:br>
                      <a:r>
                        <a:rPr lang="en-US" sz="20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814323">
                <a:tc>
                  <a:txBody>
                    <a:bodyPr/>
                    <a:lstStyle/>
                    <a:p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800" dirty="0">
                          <a:latin typeface="Courier" pitchFamily="2" charset="0"/>
                        </a:rPr>
                      </a:br>
                      <a:r>
                        <a:rPr lang="en-US" sz="18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Down Arrow 6">
            <a:extLst>
              <a:ext uri="{FF2B5EF4-FFF2-40B4-BE49-F238E27FC236}">
                <a16:creationId xmlns:a16="http://schemas.microsoft.com/office/drawing/2014/main" id="{71D1710D-D0C7-1141-9E1A-8BB20BBA4101}"/>
              </a:ext>
            </a:extLst>
          </p:cNvPr>
          <p:cNvSpPr/>
          <p:nvPr/>
        </p:nvSpPr>
        <p:spPr>
          <a:xfrm>
            <a:off x="8872151" y="4003589"/>
            <a:ext cx="333633" cy="214509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F6C5A-303D-9F4B-ACBC-3800557D9C90}"/>
              </a:ext>
            </a:extLst>
          </p:cNvPr>
          <p:cNvSpPr txBox="1"/>
          <p:nvPr/>
        </p:nvSpPr>
        <p:spPr>
          <a:xfrm>
            <a:off x="8692793" y="3060222"/>
            <a:ext cx="2203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Precedence</a:t>
            </a:r>
          </a:p>
          <a:p>
            <a:pPr algn="ctr"/>
            <a:r>
              <a:rPr lang="en-US" dirty="0"/>
              <a:t>increases going down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1126F44-3264-1345-A8E5-85FF2EEF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0608"/>
            <a:ext cx="7243120" cy="2635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Second way</a:t>
            </a:r>
            <a:r>
              <a:rPr lang="en-US" dirty="0"/>
              <a:t>: new production rules</a:t>
            </a:r>
          </a:p>
          <a:p>
            <a:pPr lvl="1"/>
            <a:r>
              <a:rPr lang="en-US" dirty="0"/>
              <a:t>One non-terminal for each level of precedence</a:t>
            </a:r>
          </a:p>
          <a:p>
            <a:pPr lvl="1"/>
            <a:r>
              <a:rPr lang="en-US" dirty="0"/>
              <a:t>lowest precedence at the top</a:t>
            </a:r>
          </a:p>
          <a:p>
            <a:pPr lvl="1"/>
            <a:r>
              <a:rPr lang="en-US" dirty="0"/>
              <a:t>highest precedence at the bottom</a:t>
            </a:r>
          </a:p>
        </p:txBody>
      </p:sp>
    </p:spTree>
    <p:extLst>
      <p:ext uri="{BB962C8B-B14F-4D97-AF65-F5344CB8AC3E}">
        <p14:creationId xmlns:p14="http://schemas.microsoft.com/office/powerpoint/2010/main" val="16155546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4ECED81-C6BB-DE45-8F17-9D3438A16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673410"/>
              </p:ext>
            </p:extLst>
          </p:nvPr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196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FF0AB19E-EC8F-2041-AC57-84ED24A25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996741"/>
              </p:ext>
            </p:extLst>
          </p:nvPr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147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D0AAFE8F-B9DD-9F41-BB48-9D7B5EB97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70487"/>
              </p:ext>
            </p:extLst>
          </p:nvPr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0028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2B2C4BD-8B65-634A-863A-7A8CC1418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70487"/>
              </p:ext>
            </p:extLst>
          </p:nvPr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2101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 flipH="1">
            <a:off x="9987303" y="3457265"/>
            <a:ext cx="4432" cy="312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667792" y="3770068"/>
            <a:ext cx="63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graphicFrame>
        <p:nvGraphicFramePr>
          <p:cNvPr id="21" name="Table 5">
            <a:extLst>
              <a:ext uri="{FF2B5EF4-FFF2-40B4-BE49-F238E27FC236}">
                <a16:creationId xmlns:a16="http://schemas.microsoft.com/office/drawing/2014/main" id="{A9DD465B-FA28-3843-8460-6FACCA02B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70487"/>
              </p:ext>
            </p:extLst>
          </p:nvPr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5076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523A5C-5656-2C48-9561-C5E06431FF8C}"/>
              </a:ext>
            </a:extLst>
          </p:cNvPr>
          <p:cNvCxnSpPr>
            <a:cxnSpLocks/>
          </p:cNvCxnSpPr>
          <p:nvPr/>
        </p:nvCxnSpPr>
        <p:spPr>
          <a:xfrm flipH="1">
            <a:off x="8758711" y="413940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827981-7496-3044-A580-D70075F49F40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73D50F-AD23-2A43-8FB5-2E5521EA1252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A10946-EFD4-7E40-AB1D-DC861347C615}"/>
              </a:ext>
            </a:extLst>
          </p:cNvPr>
          <p:cNvSpPr txBox="1"/>
          <p:nvPr/>
        </p:nvSpPr>
        <p:spPr>
          <a:xfrm>
            <a:off x="9525511" y="4606502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E779DE-0E1B-6646-BA9B-D3741DDAFA77}"/>
              </a:ext>
            </a:extLst>
          </p:cNvPr>
          <p:cNvSpPr txBox="1"/>
          <p:nvPr/>
        </p:nvSpPr>
        <p:spPr>
          <a:xfrm>
            <a:off x="8459719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208D9-8CA8-8545-A65C-A98896AB66F9}"/>
              </a:ext>
            </a:extLst>
          </p:cNvPr>
          <p:cNvSpPr txBox="1"/>
          <p:nvPr/>
        </p:nvSpPr>
        <p:spPr>
          <a:xfrm>
            <a:off x="10781251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 flipH="1">
            <a:off x="9987303" y="3457265"/>
            <a:ext cx="4432" cy="312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667792" y="3770068"/>
            <a:ext cx="63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0A04DC6E-8754-C14F-8293-90EC3D5A0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70487"/>
              </p:ext>
            </p:extLst>
          </p:nvPr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9010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523A5C-5656-2C48-9561-C5E06431FF8C}"/>
              </a:ext>
            </a:extLst>
          </p:cNvPr>
          <p:cNvCxnSpPr>
            <a:cxnSpLocks/>
          </p:cNvCxnSpPr>
          <p:nvPr/>
        </p:nvCxnSpPr>
        <p:spPr>
          <a:xfrm flipH="1">
            <a:off x="8758711" y="413940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827981-7496-3044-A580-D70075F49F40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73D50F-AD23-2A43-8FB5-2E5521EA1252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A10946-EFD4-7E40-AB1D-DC861347C615}"/>
              </a:ext>
            </a:extLst>
          </p:cNvPr>
          <p:cNvSpPr txBox="1"/>
          <p:nvPr/>
        </p:nvSpPr>
        <p:spPr>
          <a:xfrm>
            <a:off x="9525511" y="4606502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E779DE-0E1B-6646-BA9B-D3741DDAFA77}"/>
              </a:ext>
            </a:extLst>
          </p:cNvPr>
          <p:cNvSpPr txBox="1"/>
          <p:nvPr/>
        </p:nvSpPr>
        <p:spPr>
          <a:xfrm>
            <a:off x="8459719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208D9-8CA8-8545-A65C-A98896AB66F9}"/>
              </a:ext>
            </a:extLst>
          </p:cNvPr>
          <p:cNvSpPr txBox="1"/>
          <p:nvPr/>
        </p:nvSpPr>
        <p:spPr>
          <a:xfrm>
            <a:off x="10781251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 flipH="1">
            <a:off x="9987303" y="3457265"/>
            <a:ext cx="4432" cy="312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667792" y="3770068"/>
            <a:ext cx="63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540521-17C6-EC43-BC96-BB34123D64CE}"/>
              </a:ext>
            </a:extLst>
          </p:cNvPr>
          <p:cNvSpPr txBox="1"/>
          <p:nvPr/>
        </p:nvSpPr>
        <p:spPr>
          <a:xfrm>
            <a:off x="8223152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C8F0CC-8EE2-F145-9D4D-E31B4417315B}"/>
              </a:ext>
            </a:extLst>
          </p:cNvPr>
          <p:cNvSpPr txBox="1"/>
          <p:nvPr/>
        </p:nvSpPr>
        <p:spPr>
          <a:xfrm>
            <a:off x="8429296" y="527483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C7DED96-B025-904A-A333-37DE1FE9A7F1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 flipH="1">
            <a:off x="8791577" y="5644169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1EE8A74-38A2-CD4C-9B1F-B1674EDD25B9}"/>
              </a:ext>
            </a:extLst>
          </p:cNvPr>
          <p:cNvCxnSpPr>
            <a:cxnSpLocks/>
          </p:cNvCxnSpPr>
          <p:nvPr/>
        </p:nvCxnSpPr>
        <p:spPr>
          <a:xfrm flipH="1">
            <a:off x="8773620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FF7024A-16C9-E64F-8C94-B05E0079A3E1}"/>
              </a:ext>
            </a:extLst>
          </p:cNvPr>
          <p:cNvSpPr txBox="1"/>
          <p:nvPr/>
        </p:nvSpPr>
        <p:spPr>
          <a:xfrm>
            <a:off x="10546607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30AFD8-7831-4340-B3B1-D26D06FFC84A}"/>
              </a:ext>
            </a:extLst>
          </p:cNvPr>
          <p:cNvSpPr txBox="1"/>
          <p:nvPr/>
        </p:nvSpPr>
        <p:spPr>
          <a:xfrm>
            <a:off x="10752751" y="527483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4A8729-D901-5145-8399-EBECB27338FB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 flipH="1">
            <a:off x="11115032" y="5644169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9889343-814F-AC47-BCAA-253276D34071}"/>
              </a:ext>
            </a:extLst>
          </p:cNvPr>
          <p:cNvCxnSpPr>
            <a:cxnSpLocks/>
          </p:cNvCxnSpPr>
          <p:nvPr/>
        </p:nvCxnSpPr>
        <p:spPr>
          <a:xfrm flipH="1">
            <a:off x="11097075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5">
            <a:extLst>
              <a:ext uri="{FF2B5EF4-FFF2-40B4-BE49-F238E27FC236}">
                <a16:creationId xmlns:a16="http://schemas.microsoft.com/office/drawing/2014/main" id="{EAE5DCAE-5344-7E4A-8E00-CD15BC32A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70487"/>
              </p:ext>
            </p:extLst>
          </p:nvPr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1027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B04B-79DD-054E-9290-EC07D4E2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FA2C50D-9623-3241-8FDF-13DC5AB96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074647"/>
              </p:ext>
            </p:extLst>
          </p:nvPr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380726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160750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(LHS)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 (RHS)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" pitchFamily="2" charset="0"/>
                      </a:endParaRPr>
                    </a:p>
                    <a:p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39FDEE-6056-BA6E-D7D0-D5FC556ECD6D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03FBC-1C27-6699-433C-B0D7BE47ED1F}"/>
              </a:ext>
            </a:extLst>
          </p:cNvPr>
          <p:cNvSpPr txBox="1"/>
          <p:nvPr/>
        </p:nvSpPr>
        <p:spPr>
          <a:xfrm>
            <a:off x="7287704" y="857250"/>
            <a:ext cx="44810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Tokens (Terminals)</a:t>
            </a:r>
          </a:p>
          <a:p>
            <a:r>
              <a:rPr lang="en-US" dirty="0"/>
              <a:t>    PIPE = “|”</a:t>
            </a:r>
          </a:p>
          <a:p>
            <a:r>
              <a:rPr lang="en-US" dirty="0"/>
              <a:t>    DOT = “.”</a:t>
            </a:r>
          </a:p>
          <a:p>
            <a:r>
              <a:rPr lang="en-US" dirty="0"/>
              <a:t>    STAR = “*”</a:t>
            </a:r>
          </a:p>
          <a:p>
            <a:r>
              <a:rPr lang="en-US" dirty="0"/>
              <a:t>    LPAR = “\(“</a:t>
            </a:r>
          </a:p>
          <a:p>
            <a:r>
              <a:rPr lang="en-US" dirty="0"/>
              <a:t>    RPAR = “\)”</a:t>
            </a:r>
          </a:p>
          <a:p>
            <a:r>
              <a:rPr lang="en-US" dirty="0"/>
              <a:t>    CHAR = “[^a-</a:t>
            </a:r>
            <a:r>
              <a:rPr lang="en-US" dirty="0" err="1"/>
              <a:t>zA</a:t>
            </a:r>
            <a:r>
              <a:rPr lang="en-US" dirty="0"/>
              <a:t>-Z]”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2F7BB-8C94-7A43-4F43-117D3E022B7A}"/>
              </a:ext>
            </a:extLst>
          </p:cNvPr>
          <p:cNvSpPr txBox="1"/>
          <p:nvPr/>
        </p:nvSpPr>
        <p:spPr>
          <a:xfrm>
            <a:off x="7287704" y="3581400"/>
            <a:ext cx="32507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Possible names for</a:t>
            </a:r>
          </a:p>
          <a:p>
            <a:r>
              <a:rPr lang="en-US" b="1" dirty="0"/>
              <a:t>  NT (Non-Terminals):</a:t>
            </a:r>
          </a:p>
          <a:p>
            <a:r>
              <a:rPr lang="en-US" dirty="0"/>
              <a:t>      choice</a:t>
            </a:r>
          </a:p>
          <a:p>
            <a:r>
              <a:rPr lang="en-US" dirty="0"/>
              <a:t>      </a:t>
            </a:r>
            <a:r>
              <a:rPr lang="en-US" dirty="0" err="1"/>
              <a:t>concat</a:t>
            </a:r>
            <a:endParaRPr lang="en-US" dirty="0"/>
          </a:p>
          <a:p>
            <a:r>
              <a:rPr lang="en-US" dirty="0"/>
              <a:t>      starred</a:t>
            </a:r>
          </a:p>
          <a:p>
            <a:r>
              <a:rPr lang="en-US" dirty="0"/>
              <a:t>      unit</a:t>
            </a:r>
          </a:p>
        </p:txBody>
      </p:sp>
    </p:spTree>
    <p:extLst>
      <p:ext uri="{BB962C8B-B14F-4D97-AF65-F5344CB8AC3E}">
        <p14:creationId xmlns:p14="http://schemas.microsoft.com/office/powerpoint/2010/main" val="34434628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0391-D98E-DFC5-373D-D7FA475F2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F7D3-5FD0-6818-457A-31A7E6EFB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A94A787C-DC43-59FF-8BDA-5632A4A5B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822314"/>
              </p:ext>
            </p:extLst>
          </p:nvPr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387257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15421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(LHS)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 (RHS)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star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LPAR choice RPAR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2F50027-7219-D966-9DDF-8EC48F5C6EBA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14417363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D8BF28-0940-BB41-8B83-4E5F8F8EE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03475"/>
              </p:ext>
            </p:extLst>
          </p:nvPr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186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35961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starred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starred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LPAREN choice RPAREN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D307D94F-632F-B20D-DDB1-41198D97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FB234C-7331-7565-8836-FEB00EFE813A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17300348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C9E642-CCFC-BD44-B0F5-9C04422BE9C5}"/>
              </a:ext>
            </a:extLst>
          </p:cNvPr>
          <p:cNvSpPr txBox="1"/>
          <p:nvPr/>
        </p:nvSpPr>
        <p:spPr>
          <a:xfrm>
            <a:off x="7512876" y="1655344"/>
            <a:ext cx="3887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</a:t>
            </a:r>
            <a:r>
              <a:rPr lang="en-US" sz="3200" dirty="0" err="1">
                <a:latin typeface="Courier" pitchFamily="2" charset="0"/>
              </a:rPr>
              <a:t>a.b</a:t>
            </a:r>
            <a:r>
              <a:rPr lang="en-US" sz="3200" dirty="0">
                <a:latin typeface="Courier" pitchFamily="2" charset="0"/>
              </a:rPr>
              <a:t> | c*</a:t>
            </a: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A45D88A6-2785-A242-B11A-D5139ECA264A}"/>
              </a:ext>
            </a:extLst>
          </p:cNvPr>
          <p:cNvGraphicFramePr>
            <a:graphicFrameLocks noGrp="1"/>
          </p:cNvGraphicFramePr>
          <p:nvPr/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186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35961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starred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starred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LPAREN choice RPAREN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A03C10B2-2FAE-C53E-5D39-B10B0EAD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94887-F6FD-439B-0BB3-ABFBBD3E5C93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22078714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C9E642-CCFC-BD44-B0F5-9C04422BE9C5}"/>
              </a:ext>
            </a:extLst>
          </p:cNvPr>
          <p:cNvSpPr txBox="1"/>
          <p:nvPr/>
        </p:nvSpPr>
        <p:spPr>
          <a:xfrm>
            <a:off x="7512876" y="1655344"/>
            <a:ext cx="3887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</a:t>
            </a:r>
            <a:r>
              <a:rPr lang="en-US" sz="3200" dirty="0" err="1">
                <a:latin typeface="Courier" pitchFamily="2" charset="0"/>
              </a:rPr>
              <a:t>a.b</a:t>
            </a:r>
            <a:r>
              <a:rPr lang="en-US" sz="3200" dirty="0">
                <a:latin typeface="Courier" pitchFamily="2" charset="0"/>
              </a:rPr>
              <a:t> | c*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7664C-D91B-8440-AA20-AFDFCF36154B}"/>
              </a:ext>
            </a:extLst>
          </p:cNvPr>
          <p:cNvSpPr txBox="1"/>
          <p:nvPr/>
        </p:nvSpPr>
        <p:spPr>
          <a:xfrm>
            <a:off x="9339737" y="2409397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choice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DF472A-6C36-FF42-A3A4-79D9080D1181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8162729" y="2778729"/>
            <a:ext cx="1573111" cy="3142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507DF4-F531-E447-B4ED-2E3DBF242ADB}"/>
              </a:ext>
            </a:extLst>
          </p:cNvPr>
          <p:cNvSpPr txBox="1"/>
          <p:nvPr/>
        </p:nvSpPr>
        <p:spPr>
          <a:xfrm>
            <a:off x="7766626" y="3092947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choice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AF8137-27D4-9040-94A2-2B20CBAFEAE5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flipH="1">
            <a:off x="9694039" y="2778729"/>
            <a:ext cx="41801" cy="3324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E4D0A9-B304-1A41-8D13-92EAA4696DB1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>
            <a:off x="9735840" y="2778729"/>
            <a:ext cx="1119126" cy="3142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FD291F-00F2-7C47-94D4-C48CC1483061}"/>
              </a:ext>
            </a:extLst>
          </p:cNvPr>
          <p:cNvSpPr txBox="1"/>
          <p:nvPr/>
        </p:nvSpPr>
        <p:spPr>
          <a:xfrm>
            <a:off x="9433390" y="31111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&lt;|&gt;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410753-0EB0-C04F-AA31-D7D6B5716466}"/>
              </a:ext>
            </a:extLst>
          </p:cNvPr>
          <p:cNvSpPr txBox="1"/>
          <p:nvPr/>
        </p:nvSpPr>
        <p:spPr>
          <a:xfrm>
            <a:off x="10458863" y="3092947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choice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9414BE-318D-AA40-8BA0-7C6C1A337064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8129065" y="3462279"/>
            <a:ext cx="33664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C77B0E-B55C-E445-8840-3A873E58B6B0}"/>
              </a:ext>
            </a:extLst>
          </p:cNvPr>
          <p:cNvCxnSpPr>
            <a:cxnSpLocks/>
          </p:cNvCxnSpPr>
          <p:nvPr/>
        </p:nvCxnSpPr>
        <p:spPr>
          <a:xfrm>
            <a:off x="10798632" y="4193842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3470439-291C-EB48-9C65-CD010CB06FEC}"/>
              </a:ext>
            </a:extLst>
          </p:cNvPr>
          <p:cNvSpPr txBox="1"/>
          <p:nvPr/>
        </p:nvSpPr>
        <p:spPr>
          <a:xfrm>
            <a:off x="10373067" y="4671386"/>
            <a:ext cx="85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starred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87C754-E04A-D446-8D6D-AD8F54AB7008}"/>
              </a:ext>
            </a:extLst>
          </p:cNvPr>
          <p:cNvSpPr txBox="1"/>
          <p:nvPr/>
        </p:nvSpPr>
        <p:spPr>
          <a:xfrm>
            <a:off x="7695682" y="3762340"/>
            <a:ext cx="8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AB7DC7-A806-2F42-983B-6269BA61C35D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 flipH="1">
            <a:off x="7333670" y="4131672"/>
            <a:ext cx="76475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7EDCEB3-45C7-CC43-AD67-8C8A8AF1F8B8}"/>
              </a:ext>
            </a:extLst>
          </p:cNvPr>
          <p:cNvSpPr txBox="1"/>
          <p:nvPr/>
        </p:nvSpPr>
        <p:spPr>
          <a:xfrm>
            <a:off x="6930931" y="4431733"/>
            <a:ext cx="8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B04F1A-E37D-9F4E-9C01-99F9539771B3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333670" y="4801065"/>
            <a:ext cx="0" cy="402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990EE9-CA8B-A342-B77B-B0BB9DF2B937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10821302" y="3462279"/>
            <a:ext cx="33664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50D0E49-1903-E146-88AE-8CC3EC6FC2FF}"/>
              </a:ext>
            </a:extLst>
          </p:cNvPr>
          <p:cNvSpPr txBox="1"/>
          <p:nvPr/>
        </p:nvSpPr>
        <p:spPr>
          <a:xfrm>
            <a:off x="10409766" y="3762340"/>
            <a:ext cx="856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3A245A-7C88-BC4E-ABDB-3EB7D5CA3082}"/>
              </a:ext>
            </a:extLst>
          </p:cNvPr>
          <p:cNvSpPr txBox="1"/>
          <p:nvPr/>
        </p:nvSpPr>
        <p:spPr>
          <a:xfrm>
            <a:off x="9798230" y="608009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&lt;CHAR, c&gt;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FC0300-B87D-5A4E-8468-9F191AC895BB}"/>
              </a:ext>
            </a:extLst>
          </p:cNvPr>
          <p:cNvSpPr txBox="1"/>
          <p:nvPr/>
        </p:nvSpPr>
        <p:spPr>
          <a:xfrm>
            <a:off x="10109750" y="539350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95C601-C313-4A49-948E-C83C11D5DA52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10379159" y="5762837"/>
            <a:ext cx="9674" cy="283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1E55B2F-406B-5644-9706-F1B30139727A}"/>
              </a:ext>
            </a:extLst>
          </p:cNvPr>
          <p:cNvCxnSpPr>
            <a:cxnSpLocks/>
            <a:stCxn id="21" idx="2"/>
            <a:endCxn id="31" idx="0"/>
          </p:cNvCxnSpPr>
          <p:nvPr/>
        </p:nvCxnSpPr>
        <p:spPr>
          <a:xfrm flipH="1">
            <a:off x="10388833" y="5040718"/>
            <a:ext cx="409799" cy="3527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228FA1B-FCF7-B043-8D66-37DCBFB0C26A}"/>
              </a:ext>
            </a:extLst>
          </p:cNvPr>
          <p:cNvSpPr txBox="1"/>
          <p:nvPr/>
        </p:nvSpPr>
        <p:spPr>
          <a:xfrm>
            <a:off x="11518871" y="550227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&lt;*&gt;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3AD153E-C059-3046-81C2-F10A98FB45D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0798632" y="5040718"/>
            <a:ext cx="1064564" cy="443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5B3A1FD-76E5-F54E-AF66-FD77A986F062}"/>
              </a:ext>
            </a:extLst>
          </p:cNvPr>
          <p:cNvCxnSpPr>
            <a:cxnSpLocks/>
            <a:stCxn id="24" idx="2"/>
            <a:endCxn id="47" idx="0"/>
          </p:cNvCxnSpPr>
          <p:nvPr/>
        </p:nvCxnSpPr>
        <p:spPr>
          <a:xfrm>
            <a:off x="8098421" y="4131672"/>
            <a:ext cx="787389" cy="3159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4B8F012-ED5B-E94E-9B55-C3619C381A62}"/>
              </a:ext>
            </a:extLst>
          </p:cNvPr>
          <p:cNvSpPr txBox="1"/>
          <p:nvPr/>
        </p:nvSpPr>
        <p:spPr>
          <a:xfrm>
            <a:off x="8483071" y="4447642"/>
            <a:ext cx="8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AFA77C-7C1F-EF4B-A204-93772A2A6BBA}"/>
              </a:ext>
            </a:extLst>
          </p:cNvPr>
          <p:cNvSpPr txBox="1"/>
          <p:nvPr/>
        </p:nvSpPr>
        <p:spPr>
          <a:xfrm>
            <a:off x="6942978" y="5196771"/>
            <a:ext cx="85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starred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08F0BE-7C98-EB42-96B4-A033F10408BE}"/>
              </a:ext>
            </a:extLst>
          </p:cNvPr>
          <p:cNvSpPr txBox="1"/>
          <p:nvPr/>
        </p:nvSpPr>
        <p:spPr>
          <a:xfrm>
            <a:off x="7018221" y="580884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9005D3-CA59-4A4D-9D51-D49B4324CF6C}"/>
              </a:ext>
            </a:extLst>
          </p:cNvPr>
          <p:cNvSpPr txBox="1"/>
          <p:nvPr/>
        </p:nvSpPr>
        <p:spPr>
          <a:xfrm>
            <a:off x="6812980" y="6433483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&lt;CHAR, a&gt;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3ECD31-2362-A94F-89D4-8A18609934BE}"/>
              </a:ext>
            </a:extLst>
          </p:cNvPr>
          <p:cNvCxnSpPr>
            <a:cxnSpLocks/>
          </p:cNvCxnSpPr>
          <p:nvPr/>
        </p:nvCxnSpPr>
        <p:spPr>
          <a:xfrm>
            <a:off x="7304852" y="5578171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AB3F7DE-5EE8-C44B-BCEB-689A0A195ACC}"/>
              </a:ext>
            </a:extLst>
          </p:cNvPr>
          <p:cNvCxnSpPr>
            <a:cxnSpLocks/>
          </p:cNvCxnSpPr>
          <p:nvPr/>
        </p:nvCxnSpPr>
        <p:spPr>
          <a:xfrm>
            <a:off x="7309115" y="6217137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0F903EE-1FDE-504D-A10D-71E2C079EAD5}"/>
              </a:ext>
            </a:extLst>
          </p:cNvPr>
          <p:cNvCxnSpPr>
            <a:cxnSpLocks/>
          </p:cNvCxnSpPr>
          <p:nvPr/>
        </p:nvCxnSpPr>
        <p:spPr>
          <a:xfrm>
            <a:off x="8954857" y="4756879"/>
            <a:ext cx="0" cy="402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685E38A-CCEF-364F-8E08-287DED16437B}"/>
              </a:ext>
            </a:extLst>
          </p:cNvPr>
          <p:cNvSpPr txBox="1"/>
          <p:nvPr/>
        </p:nvSpPr>
        <p:spPr>
          <a:xfrm>
            <a:off x="8564165" y="5152585"/>
            <a:ext cx="85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starred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99FFD7-AA47-604F-B74A-7860C9198879}"/>
              </a:ext>
            </a:extLst>
          </p:cNvPr>
          <p:cNvSpPr txBox="1"/>
          <p:nvPr/>
        </p:nvSpPr>
        <p:spPr>
          <a:xfrm>
            <a:off x="8639408" y="576465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8B9DD2-2604-FF42-B02A-8FF6DD389A5B}"/>
              </a:ext>
            </a:extLst>
          </p:cNvPr>
          <p:cNvSpPr txBox="1"/>
          <p:nvPr/>
        </p:nvSpPr>
        <p:spPr>
          <a:xfrm>
            <a:off x="8434167" y="6389297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&lt;CHAR ,b&gt;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7EED48C-61BC-2543-8E9D-1DB26FAD4905}"/>
              </a:ext>
            </a:extLst>
          </p:cNvPr>
          <p:cNvCxnSpPr>
            <a:cxnSpLocks/>
          </p:cNvCxnSpPr>
          <p:nvPr/>
        </p:nvCxnSpPr>
        <p:spPr>
          <a:xfrm>
            <a:off x="8926039" y="5533985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6E3C19C-FE02-4B4B-BD66-D4C4FC15F977}"/>
              </a:ext>
            </a:extLst>
          </p:cNvPr>
          <p:cNvCxnSpPr>
            <a:cxnSpLocks/>
          </p:cNvCxnSpPr>
          <p:nvPr/>
        </p:nvCxnSpPr>
        <p:spPr>
          <a:xfrm>
            <a:off x="8930302" y="6172951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18D11A8-C394-2F42-B3DE-2F6E7117CAF6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8067489" y="4154309"/>
            <a:ext cx="32184" cy="3324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5495334-5D51-214D-A228-99E152F04649}"/>
              </a:ext>
            </a:extLst>
          </p:cNvPr>
          <p:cNvSpPr txBox="1"/>
          <p:nvPr/>
        </p:nvSpPr>
        <p:spPr>
          <a:xfrm>
            <a:off x="7830886" y="4486720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&lt;.&gt;</a:t>
            </a: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A45D88A6-2785-A242-B11A-D5139ECA2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22435"/>
              </p:ext>
            </p:extLst>
          </p:nvPr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186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35961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starred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starred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LPAREN choice RPAREN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C183C8EF-AB3B-867F-BB74-A41BF9F2E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58D8A6-54C4-9740-7659-00E8C52D8577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33953378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D426-5B98-3043-B47A-01716CED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levels of precedence does C have?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3CE1-4AA0-044C-8498-42909888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en.cppreference.com</a:t>
            </a:r>
            <a:r>
              <a:rPr lang="en-US" dirty="0">
                <a:hlinkClick r:id="rId2"/>
              </a:rPr>
              <a:t>/w/c/language/</a:t>
            </a:r>
            <a:r>
              <a:rPr lang="en-US" dirty="0" err="1">
                <a:hlinkClick r:id="rId2"/>
              </a:rPr>
              <a:t>operator_precedence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4583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20D9-5CE8-9F49-AAF2-72EA9F58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we removed all ambiguity? </a:t>
            </a:r>
          </a:p>
        </p:txBody>
      </p:sp>
    </p:spTree>
    <p:extLst>
      <p:ext uri="{BB962C8B-B14F-4D97-AF65-F5344CB8AC3E}">
        <p14:creationId xmlns:p14="http://schemas.microsoft.com/office/powerpoint/2010/main" val="9118608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some more parse trees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B01C2B5-6176-E646-9408-24C01A44F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657329"/>
              </p:ext>
            </p:extLst>
          </p:nvPr>
        </p:nvGraphicFramePr>
        <p:xfrm>
          <a:off x="838200" y="3042735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 expr RP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587188" y="207432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</p:spTree>
    <p:extLst>
      <p:ext uri="{BB962C8B-B14F-4D97-AF65-F5344CB8AC3E}">
        <p14:creationId xmlns:p14="http://schemas.microsoft.com/office/powerpoint/2010/main" val="29431576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some more parse 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0F22D-AA26-544C-B3FB-EB58E530F8E9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E26D-CFCD-7842-844D-2332B62F3137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8C9B83-2BD3-C744-9567-52F09F34C6F7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B9A3F-318E-0040-A924-E193F09EE8DE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16642F-41D5-F343-A36D-24DE9D3CB35C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1F94DC-58FE-B04D-B14A-8CA17296C99A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BBE614-E430-4A46-86B3-376DB9B607AA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C3E34-1CAB-EC47-B569-47D39EF96033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89A96-E585-1549-9F7A-CADA0521130D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AAF6AA-406B-8444-A52A-B256BBB750E3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420309-88ED-AC4D-956B-3E8B55F1191E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A95AD2-F461-6844-9F0C-86880D7CD487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1C11EA-526F-6443-AFB5-37E265060F55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347C45-A95B-F444-B986-AE0F5592ABD6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9C136C-22CF-174D-AE18-4E202FF5A8FD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F15B5E7-9544-B142-A8D3-A6FF5E80C700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8820E0-1B62-324E-AD21-D3B403496411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C64BEC-172B-3D48-BE52-BF0D260C80E1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5053A2-E6EA-124F-9AAB-8C89D6069DDD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A6E64C-4EDC-B84C-B159-D51FF14C965A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89BC56-99CD-7947-BE89-6BFF1ECD8106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145A14B-0D63-484A-AC7D-82C10731D9D9}"/>
              </a:ext>
            </a:extLst>
          </p:cNvPr>
          <p:cNvCxnSpPr>
            <a:cxnSpLocks/>
            <a:stCxn id="26" idx="2"/>
            <a:endCxn id="34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D5B4B5E-A6AC-D14D-B0B9-116E2C2D68F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E4457AE-3246-EB4B-9BEA-FA938851C90B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D2D3C25-D252-7A4E-A759-0A30FCD6776B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7BB95AAA-ED28-B64C-9868-C288D734D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190961"/>
              </p:ext>
            </p:extLst>
          </p:nvPr>
        </p:nvGraphicFramePr>
        <p:xfrm>
          <a:off x="838200" y="3042735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 expr RP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5302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ambiguous, is it an issue?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243806" y="168809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3636696" y="2311063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196575" y="286590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8303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for a different operator?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979585" y="1566151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</p:spTree>
    <p:extLst>
      <p:ext uri="{BB962C8B-B14F-4D97-AF65-F5344CB8AC3E}">
        <p14:creationId xmlns:p14="http://schemas.microsoft.com/office/powerpoint/2010/main" val="40115114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for a different operator?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979585" y="1566151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2795" cy="545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00824" y="3096661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 flipH="1">
            <a:off x="3622484" y="2311063"/>
            <a:ext cx="14212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086119" y="2847707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8502AC-FF46-EB41-BAC1-FC148BE1697D}"/>
              </a:ext>
            </a:extLst>
          </p:cNvPr>
          <p:cNvSpPr txBox="1"/>
          <p:nvPr/>
        </p:nvSpPr>
        <p:spPr>
          <a:xfrm>
            <a:off x="5046453" y="6280030"/>
            <a:ext cx="19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Which one is right?</a:t>
            </a:r>
          </a:p>
        </p:txBody>
      </p:sp>
    </p:spTree>
    <p:extLst>
      <p:ext uri="{BB962C8B-B14F-4D97-AF65-F5344CB8AC3E}">
        <p14:creationId xmlns:p14="http://schemas.microsoft.com/office/powerpoint/2010/main" val="28801172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5789-BDEB-A84C-8FC4-E22C0E93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E6FD-8867-CA4B-8D0A-66BEE4B87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Describes the order in which apply the same operator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Sometimes it doesn’t matter:</a:t>
            </a:r>
          </a:p>
          <a:p>
            <a:r>
              <a:rPr lang="en-US" dirty="0"/>
              <a:t>When?</a:t>
            </a:r>
          </a:p>
        </p:txBody>
      </p:sp>
    </p:spTree>
    <p:extLst>
      <p:ext uri="{BB962C8B-B14F-4D97-AF65-F5344CB8AC3E}">
        <p14:creationId xmlns:p14="http://schemas.microsoft.com/office/powerpoint/2010/main" val="39698562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5789-BDEB-A84C-8FC4-E22C0E93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E6FD-8867-CA4B-8D0A-66BEE4B87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0339"/>
            <a:ext cx="10515600" cy="4932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Describes the order in which apply the same operator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Sometimes it doesn’t matter:</a:t>
            </a:r>
          </a:p>
          <a:p>
            <a:r>
              <a:rPr lang="en-US" dirty="0"/>
              <a:t>Integer arithmetic</a:t>
            </a:r>
          </a:p>
          <a:p>
            <a:r>
              <a:rPr lang="en-US" dirty="0"/>
              <a:t>Integer multiplication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Good test:</a:t>
            </a:r>
          </a:p>
          <a:p>
            <a:r>
              <a:rPr lang="en-US" dirty="0"/>
              <a:t>((a OP b) OP c) == (a OP (b OP c))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about floating-point arithmetic?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C0766-3637-0E4E-9697-FC5D5F2E6FE9}"/>
              </a:ext>
            </a:extLst>
          </p:cNvPr>
          <p:cNvSpPr txBox="1"/>
          <p:nvPr/>
        </p:nvSpPr>
        <p:spPr>
          <a:xfrm>
            <a:off x="5451565" y="3105834"/>
            <a:ext cx="25266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These operators</a:t>
            </a:r>
          </a:p>
          <a:p>
            <a:r>
              <a:rPr lang="en-US" i="1" dirty="0"/>
              <a:t>are said to be associative</a:t>
            </a:r>
          </a:p>
        </p:txBody>
      </p:sp>
    </p:spTree>
    <p:extLst>
      <p:ext uri="{BB962C8B-B14F-4D97-AF65-F5344CB8AC3E}">
        <p14:creationId xmlns:p14="http://schemas.microsoft.com/office/powerpoint/2010/main" val="38615235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5789-BDEB-A84C-8FC4-E22C0E93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51815" cy="1325563"/>
          </a:xfrm>
        </p:spPr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E6FD-8867-CA4B-8D0A-66BEE4B87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an operator is not associative then we define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left to right (left-associative)</a:t>
            </a:r>
          </a:p>
          <a:p>
            <a:pPr lvl="1"/>
            <a:r>
              <a:rPr lang="en-US" dirty="0">
                <a:latin typeface="Courier" pitchFamily="2" charset="0"/>
              </a:rPr>
              <a:t>2-3-4 </a:t>
            </a:r>
            <a:r>
              <a:rPr lang="en-US" dirty="0"/>
              <a:t>is evaluated as ((2-3) - 4)</a:t>
            </a:r>
          </a:p>
          <a:p>
            <a:pPr lvl="1"/>
            <a:r>
              <a:rPr lang="en-US" dirty="0"/>
              <a:t>What other operators are left-associative</a:t>
            </a:r>
          </a:p>
          <a:p>
            <a:endParaRPr lang="en-US" dirty="0"/>
          </a:p>
          <a:p>
            <a:r>
              <a:rPr lang="en-US" dirty="0"/>
              <a:t>right-to-left (right-associative)</a:t>
            </a:r>
          </a:p>
          <a:p>
            <a:pPr lvl="1"/>
            <a:r>
              <a:rPr lang="en-US" dirty="0"/>
              <a:t>Any operators you can think of?</a:t>
            </a:r>
          </a:p>
        </p:txBody>
      </p:sp>
    </p:spTree>
    <p:extLst>
      <p:ext uri="{BB962C8B-B14F-4D97-AF65-F5344CB8AC3E}">
        <p14:creationId xmlns:p14="http://schemas.microsoft.com/office/powerpoint/2010/main" val="42335413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5789-BDEB-A84C-8FC4-E22C0E93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E6FD-8867-CA4B-8D0A-66BEE4B87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an operator is not associative then we define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left to right (left-associative)</a:t>
            </a:r>
          </a:p>
          <a:p>
            <a:pPr lvl="1"/>
            <a:r>
              <a:rPr lang="en-US" dirty="0">
                <a:latin typeface="Courier" pitchFamily="2" charset="0"/>
              </a:rPr>
              <a:t>2-3-4 </a:t>
            </a:r>
            <a:r>
              <a:rPr lang="en-US" dirty="0"/>
              <a:t>is evaluated as ((2-3) - 4)</a:t>
            </a:r>
          </a:p>
          <a:p>
            <a:pPr lvl="1"/>
            <a:r>
              <a:rPr lang="en-US" dirty="0"/>
              <a:t>What other operators are left-associative</a:t>
            </a:r>
          </a:p>
          <a:p>
            <a:endParaRPr lang="en-US" dirty="0"/>
          </a:p>
          <a:p>
            <a:r>
              <a:rPr lang="en-US" dirty="0"/>
              <a:t>right-to-left (right-associative)</a:t>
            </a:r>
          </a:p>
          <a:p>
            <a:pPr lvl="1"/>
            <a:r>
              <a:rPr lang="en-US" dirty="0"/>
              <a:t>Assignment, power operator</a:t>
            </a:r>
          </a:p>
        </p:txBody>
      </p:sp>
    </p:spTree>
    <p:extLst>
      <p:ext uri="{BB962C8B-B14F-4D97-AF65-F5344CB8AC3E}">
        <p14:creationId xmlns:p14="http://schemas.microsoft.com/office/powerpoint/2010/main" val="5118687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67E1-5607-3343-903A-9477D4E8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encode associativity?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684E6-A199-0A46-B1CB-580073C18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precedence, some tools (e.g. YACC) allow associativity specification through keywords:</a:t>
            </a:r>
          </a:p>
          <a:p>
            <a:pPr lvl="1"/>
            <a:r>
              <a:rPr lang="en-US" dirty="0"/>
              <a:t>“+”: left, “^”: right</a:t>
            </a:r>
          </a:p>
          <a:p>
            <a:pPr lvl="1"/>
            <a:endParaRPr lang="en-US" dirty="0"/>
          </a:p>
          <a:p>
            <a:r>
              <a:rPr lang="en-US" dirty="0"/>
              <a:t>Like precedence, we can also encode it into the production rules</a:t>
            </a:r>
          </a:p>
        </p:txBody>
      </p:sp>
    </p:spTree>
    <p:extLst>
      <p:ext uri="{BB962C8B-B14F-4D97-AF65-F5344CB8AC3E}">
        <p14:creationId xmlns:p14="http://schemas.microsoft.com/office/powerpoint/2010/main" val="36088788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0F22D-AA26-544C-B3FB-EB58E530F8E9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E26D-CFCD-7842-844D-2332B62F3137}"/>
              </a:ext>
            </a:extLst>
          </p:cNvPr>
          <p:cNvSpPr txBox="1"/>
          <p:nvPr/>
        </p:nvSpPr>
        <p:spPr>
          <a:xfrm>
            <a:off x="6732371" y="394354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8C9B83-2BD3-C744-9567-52F09F34C6F7}"/>
              </a:ext>
            </a:extLst>
          </p:cNvPr>
          <p:cNvCxnSpPr>
            <a:cxnSpLocks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B9A3F-318E-0040-A924-E193F09EE8DE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16642F-41D5-F343-A36D-24DE9D3CB35C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1F94DC-58FE-B04D-B14A-8CA17296C99A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BBE614-E430-4A46-86B3-376DB9B607AA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C3E34-1CAB-EC47-B569-47D39EF96033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89A96-E585-1549-9F7A-CADA0521130D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347C45-A95B-F444-B986-AE0F5592ABD6}"/>
              </a:ext>
            </a:extLst>
          </p:cNvPr>
          <p:cNvSpPr txBox="1"/>
          <p:nvPr/>
        </p:nvSpPr>
        <p:spPr>
          <a:xfrm>
            <a:off x="8206141" y="45474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8820E0-1B62-324E-AD21-D3B403496411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C64BEC-172B-3D48-BE52-BF0D260C80E1}"/>
              </a:ext>
            </a:extLst>
          </p:cNvPr>
          <p:cNvSpPr txBox="1"/>
          <p:nvPr/>
        </p:nvSpPr>
        <p:spPr>
          <a:xfrm>
            <a:off x="10528650" y="45888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89BC56-99CD-7947-BE89-6BFF1ECD8106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DACB1283-3538-414F-8244-2A03F2510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595155"/>
              </p:ext>
            </p:extLst>
          </p:nvPr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1306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0F22D-AA26-544C-B3FB-EB58E530F8E9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E26D-CFCD-7842-844D-2332B62F3137}"/>
              </a:ext>
            </a:extLst>
          </p:cNvPr>
          <p:cNvSpPr txBox="1"/>
          <p:nvPr/>
        </p:nvSpPr>
        <p:spPr>
          <a:xfrm>
            <a:off x="6732371" y="394354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8C9B83-2BD3-C744-9567-52F09F34C6F7}"/>
              </a:ext>
            </a:extLst>
          </p:cNvPr>
          <p:cNvCxnSpPr>
            <a:cxnSpLocks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B9A3F-318E-0040-A924-E193F09EE8DE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16642F-41D5-F343-A36D-24DE9D3CB35C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1F94DC-58FE-B04D-B14A-8CA17296C99A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BBE614-E430-4A46-86B3-376DB9B607AA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C3E34-1CAB-EC47-B569-47D39EF96033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89A96-E585-1549-9F7A-CADA0521130D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347C45-A95B-F444-B986-AE0F5592ABD6}"/>
              </a:ext>
            </a:extLst>
          </p:cNvPr>
          <p:cNvSpPr txBox="1"/>
          <p:nvPr/>
        </p:nvSpPr>
        <p:spPr>
          <a:xfrm>
            <a:off x="8206141" y="45474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8820E0-1B62-324E-AD21-D3B403496411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C64BEC-172B-3D48-BE52-BF0D260C80E1}"/>
              </a:ext>
            </a:extLst>
          </p:cNvPr>
          <p:cNvSpPr txBox="1"/>
          <p:nvPr/>
        </p:nvSpPr>
        <p:spPr>
          <a:xfrm>
            <a:off x="10528650" y="45888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89BC56-99CD-7947-BE89-6BFF1ECD8106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EE65D4E-3467-424A-A30E-17F0A813E8DA}"/>
              </a:ext>
            </a:extLst>
          </p:cNvPr>
          <p:cNvSpPr txBox="1"/>
          <p:nvPr/>
        </p:nvSpPr>
        <p:spPr>
          <a:xfrm>
            <a:off x="7988060" y="5529532"/>
            <a:ext cx="1898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 longer allowed</a:t>
            </a:r>
          </a:p>
        </p:txBody>
      </p:sp>
      <p:graphicFrame>
        <p:nvGraphicFramePr>
          <p:cNvPr id="26" name="Table 5">
            <a:extLst>
              <a:ext uri="{FF2B5EF4-FFF2-40B4-BE49-F238E27FC236}">
                <a16:creationId xmlns:a16="http://schemas.microsoft.com/office/drawing/2014/main" id="{4231F5F5-9F65-BA4C-A5AC-25EBF69D1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280481"/>
              </p:ext>
            </p:extLst>
          </p:nvPr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8848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&lt;NUM,?&gt;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EBE7E-1A6E-3E45-8476-11624B376034}"/>
              </a:ext>
            </a:extLst>
          </p:cNvPr>
          <p:cNvSpPr txBox="1"/>
          <p:nvPr/>
        </p:nvSpPr>
        <p:spPr>
          <a:xfrm>
            <a:off x="8117457" y="4960189"/>
            <a:ext cx="1516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Lets start over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45547E6C-B688-D147-89EB-60B9050A5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654197"/>
              </p:ext>
            </p:extLst>
          </p:nvPr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2823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EBA2E05B-38C9-4F45-B077-FACE37EC2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389302"/>
              </p:ext>
            </p:extLst>
          </p:nvPr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363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96C263-B7AB-EF44-8171-C2B69C5C1AA5}"/>
              </a:ext>
            </a:extLst>
          </p:cNvPr>
          <p:cNvSpPr txBox="1"/>
          <p:nvPr/>
        </p:nvSpPr>
        <p:spPr>
          <a:xfrm>
            <a:off x="7881326" y="400024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&lt;NUM,3&gt;</a:t>
            </a:r>
          </a:p>
        </p:txBody>
      </p:sp>
      <p:graphicFrame>
        <p:nvGraphicFramePr>
          <p:cNvPr id="18" name="Table 5">
            <a:extLst>
              <a:ext uri="{FF2B5EF4-FFF2-40B4-BE49-F238E27FC236}">
                <a16:creationId xmlns:a16="http://schemas.microsoft.com/office/drawing/2014/main" id="{B2058F98-5630-CA47-96BA-905C50FE7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40013"/>
              </p:ext>
            </p:extLst>
          </p:nvPr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1277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CDA4B-42EF-B64E-B7A6-C7516E74D336}"/>
              </a:ext>
            </a:extLst>
          </p:cNvPr>
          <p:cNvSpPr txBox="1"/>
          <p:nvPr/>
        </p:nvSpPr>
        <p:spPr>
          <a:xfrm>
            <a:off x="5473371" y="456085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BC52A7-43FA-5C4F-9DD2-C9FCE41F5C3D}"/>
              </a:ext>
            </a:extLst>
          </p:cNvPr>
          <p:cNvCxnSpPr>
            <a:cxnSpLocks/>
          </p:cNvCxnSpPr>
          <p:nvPr/>
        </p:nvCxnSpPr>
        <p:spPr>
          <a:xfrm flipH="1">
            <a:off x="6040850" y="429021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8403D4-24A4-564F-98BD-61348436B384}"/>
              </a:ext>
            </a:extLst>
          </p:cNvPr>
          <p:cNvSpPr txBox="1"/>
          <p:nvPr/>
        </p:nvSpPr>
        <p:spPr>
          <a:xfrm>
            <a:off x="7881326" y="397512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68686450-3526-1A42-A928-04980313B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876931"/>
              </p:ext>
            </p:extLst>
          </p:nvPr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3BCBEFA-BD4C-CD2E-838A-3DE3862B8B56}"/>
              </a:ext>
            </a:extLst>
          </p:cNvPr>
          <p:cNvSpPr txBox="1"/>
          <p:nvPr/>
        </p:nvSpPr>
        <p:spPr>
          <a:xfrm>
            <a:off x="7534656" y="5468112"/>
            <a:ext cx="2292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associative: </a:t>
            </a:r>
          </a:p>
          <a:p>
            <a:r>
              <a:rPr lang="en-US" dirty="0"/>
              <a:t>No longer ambiguous</a:t>
            </a:r>
          </a:p>
        </p:txBody>
      </p:sp>
    </p:spTree>
    <p:extLst>
      <p:ext uri="{BB962C8B-B14F-4D97-AF65-F5344CB8AC3E}">
        <p14:creationId xmlns:p14="http://schemas.microsoft.com/office/powerpoint/2010/main" val="17346682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Should you have associativity when its not required?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3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8932730" y="2551289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492609" y="309994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CDA4B-42EF-B64E-B7A6-C7516E74D336}"/>
              </a:ext>
            </a:extLst>
          </p:cNvPr>
          <p:cNvSpPr txBox="1"/>
          <p:nvPr/>
        </p:nvSpPr>
        <p:spPr>
          <a:xfrm>
            <a:off x="5473371" y="456085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BC52A7-43FA-5C4F-9DD2-C9FCE41F5C3D}"/>
              </a:ext>
            </a:extLst>
          </p:cNvPr>
          <p:cNvCxnSpPr>
            <a:cxnSpLocks/>
          </p:cNvCxnSpPr>
          <p:nvPr/>
        </p:nvCxnSpPr>
        <p:spPr>
          <a:xfrm flipH="1">
            <a:off x="6040850" y="429021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8403D4-24A4-564F-98BD-61348436B384}"/>
              </a:ext>
            </a:extLst>
          </p:cNvPr>
          <p:cNvSpPr txBox="1"/>
          <p:nvPr/>
        </p:nvSpPr>
        <p:spPr>
          <a:xfrm>
            <a:off x="7794903" y="400024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EE8E6-FEF1-594E-9766-D26C66616B2C}"/>
              </a:ext>
            </a:extLst>
          </p:cNvPr>
          <p:cNvSpPr txBox="1"/>
          <p:nvPr/>
        </p:nvSpPr>
        <p:spPr>
          <a:xfrm>
            <a:off x="1099379" y="1895651"/>
            <a:ext cx="130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Benefits?</a:t>
            </a:r>
          </a:p>
          <a:p>
            <a:r>
              <a:rPr lang="en-US" dirty="0"/>
              <a:t>Drawbacks?</a:t>
            </a:r>
          </a:p>
        </p:txBody>
      </p:sp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9DA52E6B-661B-164E-BA68-BECD4E7F2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502978"/>
              </p:ext>
            </p:extLst>
          </p:nvPr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9498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Should you have associativity when its not required?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3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8932730" y="2551289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492609" y="309994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CDA4B-42EF-B64E-B7A6-C7516E74D336}"/>
              </a:ext>
            </a:extLst>
          </p:cNvPr>
          <p:cNvSpPr txBox="1"/>
          <p:nvPr/>
        </p:nvSpPr>
        <p:spPr>
          <a:xfrm>
            <a:off x="5473371" y="456085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BC52A7-43FA-5C4F-9DD2-C9FCE41F5C3D}"/>
              </a:ext>
            </a:extLst>
          </p:cNvPr>
          <p:cNvCxnSpPr>
            <a:cxnSpLocks/>
          </p:cNvCxnSpPr>
          <p:nvPr/>
        </p:nvCxnSpPr>
        <p:spPr>
          <a:xfrm flipH="1">
            <a:off x="6040850" y="429021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8403D4-24A4-564F-98BD-61348436B384}"/>
              </a:ext>
            </a:extLst>
          </p:cNvPr>
          <p:cNvSpPr txBox="1"/>
          <p:nvPr/>
        </p:nvSpPr>
        <p:spPr>
          <a:xfrm>
            <a:off x="7794903" y="397024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EE8E6-FEF1-594E-9766-D26C66616B2C}"/>
              </a:ext>
            </a:extLst>
          </p:cNvPr>
          <p:cNvSpPr txBox="1"/>
          <p:nvPr/>
        </p:nvSpPr>
        <p:spPr>
          <a:xfrm>
            <a:off x="1099379" y="1895651"/>
            <a:ext cx="130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Benefits?</a:t>
            </a:r>
          </a:p>
          <a:p>
            <a:r>
              <a:rPr lang="en-US" dirty="0"/>
              <a:t>Drawbacks?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31E3A-C392-804E-A1BF-B26FC278E44E}"/>
              </a:ext>
            </a:extLst>
          </p:cNvPr>
          <p:cNvSpPr txBox="1"/>
          <p:nvPr/>
        </p:nvSpPr>
        <p:spPr>
          <a:xfrm>
            <a:off x="379563" y="4971616"/>
            <a:ext cx="517551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Good design principle to avoid ambiguous grammars,</a:t>
            </a:r>
          </a:p>
          <a:p>
            <a:r>
              <a:rPr lang="en-US" dirty="0"/>
              <a:t>even when strictly not required too.</a:t>
            </a:r>
          </a:p>
          <a:p>
            <a:endParaRPr lang="en-US" dirty="0"/>
          </a:p>
          <a:p>
            <a:r>
              <a:rPr lang="en-US" dirty="0"/>
              <a:t>Helps with debugging, etc. etc. </a:t>
            </a:r>
          </a:p>
          <a:p>
            <a:endParaRPr lang="en-US" dirty="0"/>
          </a:p>
          <a:p>
            <a:r>
              <a:rPr lang="en-US" dirty="0"/>
              <a:t>Many tools will warn if it detects ambiguity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0ACC2E9F-E6A1-1B42-B98A-B0BF4EB53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317087"/>
              </p:ext>
            </p:extLst>
          </p:nvPr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9164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7807-B712-4841-B38C-AA3AB761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a richer expression grammar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555BFBB7-BD21-BD4E-A7C1-22A55B94F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27317"/>
              </p:ext>
            </p:extLst>
          </p:nvPr>
        </p:nvGraphicFramePr>
        <p:xfrm>
          <a:off x="1012544" y="2867685"/>
          <a:ext cx="4944119" cy="28692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0381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045206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278532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70653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642D2B4-D83F-6A9E-59D0-C5E792C2DA66}"/>
              </a:ext>
            </a:extLst>
          </p:cNvPr>
          <p:cNvSpPr/>
          <p:nvPr/>
        </p:nvSpPr>
        <p:spPr>
          <a:xfrm>
            <a:off x="6337258" y="3924457"/>
            <a:ext cx="30256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</a:rPr>
              <a:t>Tokens:</a:t>
            </a:r>
          </a:p>
          <a:p>
            <a:pPr lvl="1"/>
            <a:r>
              <a:rPr lang="en-US" dirty="0">
                <a:latin typeface="Courier" pitchFamily="2" charset="0"/>
              </a:rPr>
              <a:t>NUM    = “[0-9]+”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  = ‘\+’</a:t>
            </a:r>
          </a:p>
          <a:p>
            <a:pPr lvl="1"/>
            <a:r>
              <a:rPr lang="en-US" dirty="0">
                <a:latin typeface="Courier" pitchFamily="2" charset="0"/>
              </a:rPr>
              <a:t>TIMES  = ’\*’</a:t>
            </a:r>
          </a:p>
          <a:p>
            <a:pPr lvl="1"/>
            <a:r>
              <a:rPr lang="en-US" dirty="0">
                <a:latin typeface="Courier" pitchFamily="2" charset="0"/>
              </a:rPr>
              <a:t>LP     = ‘\(’</a:t>
            </a:r>
          </a:p>
          <a:p>
            <a:pPr lvl="1"/>
            <a:r>
              <a:rPr lang="en-US" dirty="0">
                <a:latin typeface="Courier" pitchFamily="2" charset="0"/>
              </a:rPr>
              <a:t>RP     = \)’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MINUS  = ‘-’</a:t>
            </a:r>
          </a:p>
          <a:p>
            <a:pPr lvl="1"/>
            <a:r>
              <a:rPr lang="en-US" dirty="0">
                <a:latin typeface="Courier" pitchFamily="2" charset="0"/>
              </a:rPr>
              <a:t>DIV    = ‘/’</a:t>
            </a:r>
          </a:p>
          <a:p>
            <a:pPr lvl="1"/>
            <a:r>
              <a:rPr lang="en-US" dirty="0">
                <a:latin typeface="Courier" pitchFamily="2" charset="0"/>
              </a:rPr>
              <a:t>CARROT =’ \^’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47AEA-6DAC-42F2-A657-FA3919D258DF}"/>
              </a:ext>
            </a:extLst>
          </p:cNvPr>
          <p:cNvSpPr txBox="1"/>
          <p:nvPr/>
        </p:nvSpPr>
        <p:spPr>
          <a:xfrm>
            <a:off x="6436723" y="2098766"/>
            <a:ext cx="425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Let’s do operators </a:t>
            </a:r>
            <a:r>
              <a:rPr lang="en-US" i="1" dirty="0">
                <a:latin typeface="Courier" pitchFamily="2" charset="0"/>
              </a:rPr>
              <a:t>[+,*,-,/,^]</a:t>
            </a:r>
            <a:r>
              <a:rPr lang="en-US" i="1" dirty="0"/>
              <a:t> and</a:t>
            </a:r>
            <a:r>
              <a:rPr lang="en-US" i="1" dirty="0">
                <a:latin typeface="Courier" pitchFamily="2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A8597-2EE3-BA73-CB85-28E3594C55C9}"/>
              </a:ext>
            </a:extLst>
          </p:cNvPr>
          <p:cNvSpPr txBox="1"/>
          <p:nvPr/>
        </p:nvSpPr>
        <p:spPr>
          <a:xfrm>
            <a:off x="9710989" y="3947317"/>
            <a:ext cx="22850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Possible names for</a:t>
            </a:r>
          </a:p>
          <a:p>
            <a:r>
              <a:rPr lang="en-US" b="1" dirty="0"/>
              <a:t>  NT (non-terminals):</a:t>
            </a:r>
          </a:p>
          <a:p>
            <a:r>
              <a:rPr lang="en-US" dirty="0"/>
              <a:t>    expr</a:t>
            </a:r>
          </a:p>
          <a:p>
            <a:r>
              <a:rPr lang="en-US" dirty="0"/>
              <a:t>    term</a:t>
            </a:r>
          </a:p>
          <a:p>
            <a:r>
              <a:rPr lang="en-US" dirty="0"/>
              <a:t>    pow</a:t>
            </a:r>
          </a:p>
          <a:p>
            <a:r>
              <a:rPr lang="en-US" dirty="0"/>
              <a:t>    factor</a:t>
            </a:r>
          </a:p>
        </p:txBody>
      </p:sp>
    </p:spTree>
    <p:extLst>
      <p:ext uri="{BB962C8B-B14F-4D97-AF65-F5344CB8AC3E}">
        <p14:creationId xmlns:p14="http://schemas.microsoft.com/office/powerpoint/2010/main" val="26675545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7807-B712-4841-B38C-AA3AB761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a richer expression grammar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555BFBB7-BD21-BD4E-A7C1-22A55B94F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029008"/>
              </p:ext>
            </p:extLst>
          </p:nvPr>
        </p:nvGraphicFramePr>
        <p:xfrm>
          <a:off x="1125755" y="1930864"/>
          <a:ext cx="4970245" cy="31845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8944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05072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290572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+,-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expr MINUS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*,/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pow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term DIV pow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pow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pow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factor CARROT pow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70653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852ADBF-91C9-3944-A83E-C428EFED6E0A}"/>
              </a:ext>
            </a:extLst>
          </p:cNvPr>
          <p:cNvSpPr/>
          <p:nvPr/>
        </p:nvSpPr>
        <p:spPr>
          <a:xfrm>
            <a:off x="6337258" y="3924457"/>
            <a:ext cx="30256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</a:rPr>
              <a:t>Tokens:</a:t>
            </a:r>
          </a:p>
          <a:p>
            <a:pPr lvl="1"/>
            <a:r>
              <a:rPr lang="en-US" dirty="0">
                <a:latin typeface="Courier" pitchFamily="2" charset="0"/>
              </a:rPr>
              <a:t>NUM    = “[0-9]+”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  = ‘\+’</a:t>
            </a:r>
          </a:p>
          <a:p>
            <a:pPr lvl="1"/>
            <a:r>
              <a:rPr lang="en-US" dirty="0">
                <a:latin typeface="Courier" pitchFamily="2" charset="0"/>
              </a:rPr>
              <a:t>TIMES  = ’\*’</a:t>
            </a:r>
          </a:p>
          <a:p>
            <a:pPr lvl="1"/>
            <a:r>
              <a:rPr lang="en-US" dirty="0">
                <a:latin typeface="Courier" pitchFamily="2" charset="0"/>
              </a:rPr>
              <a:t>LP     = ‘\(’</a:t>
            </a:r>
          </a:p>
          <a:p>
            <a:pPr lvl="1"/>
            <a:r>
              <a:rPr lang="en-US" dirty="0">
                <a:latin typeface="Courier" pitchFamily="2" charset="0"/>
              </a:rPr>
              <a:t>RP     = \)’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MINUS  = ‘-’</a:t>
            </a:r>
          </a:p>
          <a:p>
            <a:pPr lvl="1"/>
            <a:r>
              <a:rPr lang="en-US" dirty="0">
                <a:latin typeface="Courier" pitchFamily="2" charset="0"/>
              </a:rPr>
              <a:t>DIV    = ‘/’</a:t>
            </a:r>
          </a:p>
          <a:p>
            <a:pPr lvl="1"/>
            <a:r>
              <a:rPr lang="en-US" dirty="0">
                <a:latin typeface="Courier" pitchFamily="2" charset="0"/>
              </a:rPr>
              <a:t>CARROT =’ \^’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53672-0548-D941-9533-503EF3DAD92F}"/>
              </a:ext>
            </a:extLst>
          </p:cNvPr>
          <p:cNvSpPr txBox="1"/>
          <p:nvPr/>
        </p:nvSpPr>
        <p:spPr>
          <a:xfrm>
            <a:off x="6436723" y="2098766"/>
            <a:ext cx="425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Let’s do operators </a:t>
            </a:r>
            <a:r>
              <a:rPr lang="en-US" i="1" dirty="0">
                <a:latin typeface="Courier" pitchFamily="2" charset="0"/>
              </a:rPr>
              <a:t>[+,*,-,/,^]</a:t>
            </a:r>
            <a:r>
              <a:rPr lang="en-US" i="1" dirty="0"/>
              <a:t> and</a:t>
            </a:r>
            <a:r>
              <a:rPr lang="en-US" i="1" dirty="0">
                <a:latin typeface="Courier" pitchFamily="2" charset="0"/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736568-A251-64D0-CE75-9ED7DFB5F711}"/>
              </a:ext>
            </a:extLst>
          </p:cNvPr>
          <p:cNvSpPr txBox="1"/>
          <p:nvPr/>
        </p:nvSpPr>
        <p:spPr>
          <a:xfrm>
            <a:off x="1082561" y="5355618"/>
            <a:ext cx="5056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 the recursion from pow makes raising to a </a:t>
            </a:r>
            <a:br>
              <a:rPr lang="en-US" b="1" dirty="0"/>
            </a:br>
            <a:r>
              <a:rPr lang="en-US" b="1" dirty="0"/>
              <a:t>power right to left associative, </a:t>
            </a:r>
          </a:p>
          <a:p>
            <a:r>
              <a:rPr lang="en-US" b="1" dirty="0"/>
              <a:t>As opposed to PLUS, MINUS, TIMES DIV</a:t>
            </a:r>
          </a:p>
          <a:p>
            <a:r>
              <a:rPr lang="en-US" b="1" dirty="0"/>
              <a:t>Which are left-to-right associative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16837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D426-5B98-3043-B47A-01716CED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dirty="0" err="1"/>
              <a:t>associativities</a:t>
            </a:r>
            <a:r>
              <a:rPr lang="en-US" dirty="0"/>
              <a:t> does C have?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3CE1-4AA0-044C-8498-42909888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en.cppreference.com</a:t>
            </a:r>
            <a:r>
              <a:rPr lang="en-US" dirty="0">
                <a:hlinkClick r:id="rId2"/>
              </a:rPr>
              <a:t>/w/c/language/</a:t>
            </a:r>
            <a:r>
              <a:rPr lang="en-US" dirty="0" err="1">
                <a:hlinkClick r:id="rId2"/>
              </a:rPr>
              <a:t>operator_precedence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6979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time: algorithms for syntactic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CE13-5E20-3C4F-97D5-4A2A43A5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23708"/>
          </a:xfrm>
        </p:spPr>
        <p:txBody>
          <a:bodyPr>
            <a:normAutofit/>
          </a:bodyPr>
          <a:lstStyle/>
          <a:p>
            <a:r>
              <a:rPr lang="en-US" dirty="0"/>
              <a:t>Top down parsing</a:t>
            </a:r>
          </a:p>
          <a:p>
            <a:pPr lvl="1"/>
            <a:r>
              <a:rPr lang="en-US" dirty="0"/>
              <a:t>oracle parsing</a:t>
            </a:r>
          </a:p>
          <a:p>
            <a:pPr lvl="1"/>
            <a:r>
              <a:rPr lang="en-US" dirty="0"/>
              <a:t>removing left recursion</a:t>
            </a:r>
          </a:p>
          <a:p>
            <a:pPr lvl="1"/>
            <a:r>
              <a:rPr lang="en-US" dirty="0"/>
              <a:t>constructing lookahead sets</a:t>
            </a:r>
          </a:p>
        </p:txBody>
      </p:sp>
    </p:spTree>
    <p:extLst>
      <p:ext uri="{BB962C8B-B14F-4D97-AF65-F5344CB8AC3E}">
        <p14:creationId xmlns:p14="http://schemas.microsoft.com/office/powerpoint/2010/main" val="252404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33893</TotalTime>
  <Words>3565</Words>
  <Application>Microsoft Office PowerPoint</Application>
  <PresentationFormat>Widescreen</PresentationFormat>
  <Paragraphs>1043</Paragraphs>
  <Slides>75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Arial</vt:lpstr>
      <vt:lpstr>Calibri</vt:lpstr>
      <vt:lpstr>Calibri Light</vt:lpstr>
      <vt:lpstr>Courier</vt:lpstr>
      <vt:lpstr>Menlo</vt:lpstr>
      <vt:lpstr>Office Theme</vt:lpstr>
      <vt:lpstr>CSE110A: Compilers</vt:lpstr>
      <vt:lpstr>Ambiguous grammars</vt:lpstr>
      <vt:lpstr>Ambiguous grammars</vt:lpstr>
      <vt:lpstr>Ambiguous grammars</vt:lpstr>
      <vt:lpstr>Ambiguous grammars</vt:lpstr>
      <vt:lpstr>Ambiguous grammars</vt:lpstr>
      <vt:lpstr>Ambiguous grammars</vt:lpstr>
      <vt:lpstr>Meaning into structure</vt:lpstr>
      <vt:lpstr>Post order traversal</vt:lpstr>
      <vt:lpstr>Post order traversal</vt:lpstr>
      <vt:lpstr>Ambiguous grammars</vt:lpstr>
      <vt:lpstr>Programming language structure</vt:lpstr>
      <vt:lpstr>Programming language structure</vt:lpstr>
      <vt:lpstr>Programming language structure</vt:lpstr>
      <vt:lpstr>Ambiguous expressions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</vt:lpstr>
      <vt:lpstr>Parse trees</vt:lpstr>
      <vt:lpstr>PowerPoint Presentation</vt:lpstr>
      <vt:lpstr>Ambiguous Grammars</vt:lpstr>
      <vt:lpstr>Avoiding Ambiguity</vt:lpstr>
      <vt:lpstr>Avoiding Ambiguity</vt:lpstr>
      <vt:lpstr>Avoiding Ambiguity</vt:lpstr>
      <vt:lpstr>Now lets create a parse tree</vt:lpstr>
      <vt:lpstr>Now lets create a parse tree</vt:lpstr>
      <vt:lpstr>Now lets create a parse tree</vt:lpstr>
      <vt:lpstr>Now lets create a parse tree</vt:lpstr>
      <vt:lpstr>Now lets create a parse tree</vt:lpstr>
      <vt:lpstr>Now lets create a parse tree</vt:lpstr>
      <vt:lpstr>Now lets create a parse tree</vt:lpstr>
      <vt:lpstr>Parsing Regular Expressions (and considering precedence)</vt:lpstr>
      <vt:lpstr>Parsing Regular Expressions (and considering precedence)</vt:lpstr>
      <vt:lpstr>Parsing Regular Expressions (and considering precedence)</vt:lpstr>
      <vt:lpstr>Parsing Regular Expressions (and considering precedence)</vt:lpstr>
      <vt:lpstr>Parsing Regular Expressions (and considering precedence)</vt:lpstr>
      <vt:lpstr>How many levels of precedence does C have?</vt:lpstr>
      <vt:lpstr>Have we removed all ambiguity? </vt:lpstr>
      <vt:lpstr>Let’s make some more parse trees</vt:lpstr>
      <vt:lpstr>Let’s make some more parse trees</vt:lpstr>
      <vt:lpstr>This is ambiguous, is it an issue?</vt:lpstr>
      <vt:lpstr>What about for a different operator?</vt:lpstr>
      <vt:lpstr>What about for a different operator?</vt:lpstr>
      <vt:lpstr>Associativity</vt:lpstr>
      <vt:lpstr>Associativity</vt:lpstr>
      <vt:lpstr>Associativity</vt:lpstr>
      <vt:lpstr>Associativity</vt:lpstr>
      <vt:lpstr>How to encode associativity?</vt:lpstr>
      <vt:lpstr>Ambiguous associativity for a single operator</vt:lpstr>
      <vt:lpstr>Associativity for a single operator</vt:lpstr>
      <vt:lpstr>Associativity for a single operator</vt:lpstr>
      <vt:lpstr>Associativity for a single operator</vt:lpstr>
      <vt:lpstr>Associativity for a single operator</vt:lpstr>
      <vt:lpstr>Associativity for a single operator</vt:lpstr>
      <vt:lpstr>Should you have associativity when its not required?</vt:lpstr>
      <vt:lpstr>Should you have associativity when its not required?</vt:lpstr>
      <vt:lpstr>Let’s make a richer expression grammar</vt:lpstr>
      <vt:lpstr>Let’s make a richer expression grammar</vt:lpstr>
      <vt:lpstr>What associativities does C have?</vt:lpstr>
      <vt:lpstr>Next time: algorithms for syntactic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506</cp:revision>
  <dcterms:created xsi:type="dcterms:W3CDTF">2021-03-23T23:59:42Z</dcterms:created>
  <dcterms:modified xsi:type="dcterms:W3CDTF">2026-01-23T04:59:15Z</dcterms:modified>
</cp:coreProperties>
</file>