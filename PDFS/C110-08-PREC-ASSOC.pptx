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7"/>
  </p:notesMasterIdLst>
  <p:sldIdLst>
    <p:sldId id="257" r:id="rId2"/>
    <p:sldId id="1060" r:id="rId3"/>
    <p:sldId id="1115" r:id="rId4"/>
    <p:sldId id="1116" r:id="rId5"/>
    <p:sldId id="1117" r:id="rId6"/>
    <p:sldId id="1114" r:id="rId7"/>
    <p:sldId id="1126" r:id="rId8"/>
    <p:sldId id="1061" r:id="rId9"/>
    <p:sldId id="1118" r:id="rId10"/>
    <p:sldId id="1119" r:id="rId11"/>
    <p:sldId id="1120" r:id="rId12"/>
    <p:sldId id="1155" r:id="rId13"/>
    <p:sldId id="1156" r:id="rId14"/>
    <p:sldId id="1157" r:id="rId15"/>
    <p:sldId id="423" r:id="rId16"/>
    <p:sldId id="429" r:id="rId17"/>
    <p:sldId id="377" r:id="rId18"/>
    <p:sldId id="342" r:id="rId19"/>
    <p:sldId id="378" r:id="rId20"/>
    <p:sldId id="379" r:id="rId21"/>
    <p:sldId id="380" r:id="rId22"/>
    <p:sldId id="381" r:id="rId23"/>
    <p:sldId id="382" r:id="rId24"/>
    <p:sldId id="383" r:id="rId25"/>
    <p:sldId id="343" r:id="rId26"/>
    <p:sldId id="384" r:id="rId27"/>
    <p:sldId id="385" r:id="rId28"/>
    <p:sldId id="386" r:id="rId29"/>
    <p:sldId id="387" r:id="rId30"/>
    <p:sldId id="388" r:id="rId31"/>
    <p:sldId id="389" r:id="rId32"/>
    <p:sldId id="390" r:id="rId33"/>
    <p:sldId id="345" r:id="rId34"/>
    <p:sldId id="391" r:id="rId35"/>
    <p:sldId id="392" r:id="rId36"/>
    <p:sldId id="1171" r:id="rId37"/>
    <p:sldId id="348" r:id="rId38"/>
    <p:sldId id="350" r:id="rId39"/>
    <p:sldId id="398" r:id="rId40"/>
    <p:sldId id="352" r:id="rId41"/>
    <p:sldId id="400" r:id="rId42"/>
    <p:sldId id="401" r:id="rId43"/>
    <p:sldId id="402" r:id="rId44"/>
    <p:sldId id="403" r:id="rId45"/>
    <p:sldId id="404" r:id="rId46"/>
    <p:sldId id="405" r:id="rId47"/>
    <p:sldId id="434" r:id="rId48"/>
    <p:sldId id="1172" r:id="rId49"/>
    <p:sldId id="1162" r:id="rId50"/>
    <p:sldId id="1163" r:id="rId51"/>
    <p:sldId id="406" r:id="rId52"/>
    <p:sldId id="1164" r:id="rId53"/>
    <p:sldId id="1144" r:id="rId54"/>
    <p:sldId id="354" r:id="rId55"/>
    <p:sldId id="407" r:id="rId56"/>
    <p:sldId id="408" r:id="rId57"/>
    <p:sldId id="427" r:id="rId58"/>
    <p:sldId id="409" r:id="rId59"/>
    <p:sldId id="1167" r:id="rId60"/>
    <p:sldId id="1165" r:id="rId61"/>
    <p:sldId id="428" r:id="rId62"/>
    <p:sldId id="1168" r:id="rId63"/>
    <p:sldId id="431" r:id="rId64"/>
    <p:sldId id="432" r:id="rId65"/>
    <p:sldId id="433" r:id="rId66"/>
    <p:sldId id="1166" r:id="rId67"/>
    <p:sldId id="435" r:id="rId68"/>
    <p:sldId id="436" r:id="rId69"/>
    <p:sldId id="437" r:id="rId70"/>
    <p:sldId id="438" r:id="rId71"/>
    <p:sldId id="439" r:id="rId72"/>
    <p:sldId id="1173" r:id="rId73"/>
    <p:sldId id="1175" r:id="rId74"/>
    <p:sldId id="1170" r:id="rId75"/>
    <p:sldId id="787" r:id="rId7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67" autoAdjust="0"/>
    <p:restoredTop sz="96405"/>
  </p:normalViewPr>
  <p:slideViewPr>
    <p:cSldViewPr snapToGrid="0" snapToObjects="1">
      <p:cViewPr varScale="1">
        <p:scale>
          <a:sx n="88" d="100"/>
          <a:sy n="88" d="100"/>
        </p:scale>
        <p:origin x="11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6A6930-6FE4-5249-A389-5C34F8D02512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7B7F8-0CD4-BB49-9045-2C974462FF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1789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D94289-6C26-F046-8A9C-B611FE64EF1F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2771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D94289-6C26-F046-8A9C-B611FE64EF1F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0638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A43C2-07A5-BB44-9F43-B20E7E5312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41C6CB-5CAA-DD48-BDA4-0592D5FF8B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662CB0-8583-4540-BE1C-F84CB375F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9B2658-7209-954E-8DDF-07C641D90C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AD4973-44DE-7342-BA01-547EED31C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447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78217-0850-FA42-8B72-F673F24DE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F12092-A792-584F-8A1C-32C031603F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F86E26-FE36-7B4D-AAF5-904CF3BBD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E9D109-2568-4B4F-B7F4-2C7AD017C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8AD3A7-3697-7C4A-A781-66DD5DCCA3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1996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C555C-64CB-F548-ABB6-4B463934B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9C269A-28B6-FB43-BB47-BA94CF3328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D521C4-BC30-3646-824D-F119E616E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CD182C-D8EA-B948-8737-5A6BD5B4D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0787B1-6592-9044-9667-44816CAAB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8500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5A981-5F59-8940-A2F7-8CE7EAE34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ADAABA-0EEF-254E-B417-1B2EB27435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196200-086D-EA44-85BA-8D8F7BA4D8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8D651E-2A31-AF4F-8A27-A2301E38AD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1ED8DF-7DBC-294E-82B1-18236111A1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DE2C9E-91E9-FD42-9F13-932CADEBD2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17561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592995-0013-6F49-9741-2EA0BF4080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B6D280-4929-384B-8615-167612096F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029458-FF2B-1440-8335-632CAA842D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9CA800-81C1-B646-A953-E8DBE47BC9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CCEC6B-205E-0B45-A0F3-6C8FCEE9A1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71920B-F361-C64F-BB0E-35F2D2CBB4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9D44ECE-207A-FA4C-9475-C03DC72DF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CC1820C-AD96-D443-8AA8-5641E0380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531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9F0FFF-6ED0-6243-A2AE-B253809A0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F091E3-DFC5-0540-9C75-225956946F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BC49A3-0384-754C-BED0-DC0D47B425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F2BA99-1D12-C64F-996A-85628BB3E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75831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36606B-79E4-A34B-BE97-997D9D758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B9557CB-8103-3B41-A940-4FD4799A3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4919D0-3FCE-CF4E-9D34-9E0CD3DF71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983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4B636-4EDD-7341-9B7D-17AAD47C62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1F0136-D7DD-1044-B848-27E313D5AB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7DAE57-151C-234A-AA03-81AA7510BB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5ED6AC-BAC0-EB4C-9277-A63F66607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D45925-827B-DA4D-8CDF-AC1503BA2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854FF9-5EE1-A94C-9742-0AC2B9C345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5753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42B654-18D6-F84E-B59E-E18CBEE4CA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16D7EFC-4004-0145-A2F9-E508D0958C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5815D9-4FFF-1643-9F8A-2708D6AAAC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5662FC-F0E3-2D4D-B116-98471B67E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612221-F75B-BA43-B4BA-28655085A8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FC9E1C-49AC-D74C-B71C-A5DC2EB02A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90752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87DDD4-B6A1-124E-97F1-BA8418676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FEE7DE-9595-5745-A856-48AB8F5B52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9F81CC-8DBA-1342-88D3-380AA2B30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1FA341-EA27-6943-B20F-AFA538A66D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63FE79-E424-E945-ADDC-83D446C52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42366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848F054-886E-8B44-8EBE-87FBB615030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BA284C-386A-6C4E-9A40-04DA68EFB5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98CBE6-4A2A-6549-898B-B2545B837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9ED32C-794E-1143-802D-3AD6C9B715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6FF59B-F6CF-464E-93D4-AA7B3EE8C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1274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E6F7A43-3B09-424D-B3CE-5FDEDAF2A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7A7AA5-45BE-FB42-A660-04610BF855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7CA802-9596-D94B-AF54-17577EF831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4CE19A-8503-7843-8A88-9F39D8324431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550162-12AB-E644-9FE6-953D584338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DB02E1-3BE0-DA47-8CDF-D1AE848A25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07788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hyperlink" Target="https://en.cppreference.com/w/c/language/operator_precedence" TargetMode="Externa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hyperlink" Target="https://en.cppreference.com/w/c/language/operator_precedence" TargetMode="Externa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D55987-81F9-C64A-BD1F-BC0CF5D7C4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6621" y="14199"/>
            <a:ext cx="10515600" cy="1553757"/>
          </a:xfrm>
        </p:spPr>
        <p:txBody>
          <a:bodyPr/>
          <a:lstStyle/>
          <a:p>
            <a:r>
              <a:rPr lang="en-US" sz="5000" b="1" dirty="0"/>
              <a:t>CSE110A: Compilers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E56C47-D610-254E-AA36-5D7C351273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6350" y="2242268"/>
            <a:ext cx="6901683" cy="420353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Topics</a:t>
            </a:r>
            <a:r>
              <a:rPr lang="en-US" dirty="0"/>
              <a:t>: </a:t>
            </a:r>
          </a:p>
          <a:p>
            <a:r>
              <a:rPr lang="en-US" i="1" dirty="0"/>
              <a:t>Syntactic Analysis continued</a:t>
            </a:r>
          </a:p>
          <a:p>
            <a:pPr lvl="1"/>
            <a:r>
              <a:rPr lang="en-US" i="1" dirty="0"/>
              <a:t>Derivations</a:t>
            </a:r>
          </a:p>
          <a:p>
            <a:pPr lvl="1"/>
            <a:r>
              <a:rPr lang="en-US" i="1" dirty="0"/>
              <a:t>Parse trees</a:t>
            </a:r>
          </a:p>
          <a:p>
            <a:pPr lvl="1"/>
            <a:r>
              <a:rPr lang="en-US" i="1" dirty="0"/>
              <a:t>Precedence and associativity</a:t>
            </a:r>
            <a:endParaRPr lang="en-US" dirty="0"/>
          </a:p>
          <a:p>
            <a:pPr marL="457200" lvl="1" indent="0">
              <a:buNone/>
            </a:pPr>
            <a:endParaRPr lang="en-US" i="1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D5BF4810-9B5C-0A4D-B2CE-2BC37B86A354}"/>
              </a:ext>
            </a:extLst>
          </p:cNvPr>
          <p:cNvSpPr/>
          <p:nvPr/>
        </p:nvSpPr>
        <p:spPr>
          <a:xfrm>
            <a:off x="10097167" y="2090808"/>
            <a:ext cx="749030" cy="31184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..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A286D8F-6730-F04B-9B5A-A73EFAB4D4E7}"/>
              </a:ext>
            </a:extLst>
          </p:cNvPr>
          <p:cNvCxnSpPr>
            <a:cxnSpLocks/>
            <a:stCxn id="17" idx="4"/>
          </p:cNvCxnSpPr>
          <p:nvPr/>
        </p:nvCxnSpPr>
        <p:spPr>
          <a:xfrm flipH="1">
            <a:off x="10119752" y="2402657"/>
            <a:ext cx="351930" cy="291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B12D8AA-0409-864E-9890-3FFB88503A5E}"/>
              </a:ext>
            </a:extLst>
          </p:cNvPr>
          <p:cNvCxnSpPr>
            <a:cxnSpLocks/>
            <a:stCxn id="17" idx="4"/>
          </p:cNvCxnSpPr>
          <p:nvPr/>
        </p:nvCxnSpPr>
        <p:spPr>
          <a:xfrm>
            <a:off x="10471682" y="2402657"/>
            <a:ext cx="277238" cy="291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595DC5A4-90C6-B14B-A382-11D393C99C64}"/>
              </a:ext>
            </a:extLst>
          </p:cNvPr>
          <p:cNvSpPr/>
          <p:nvPr/>
        </p:nvSpPr>
        <p:spPr>
          <a:xfrm>
            <a:off x="9722652" y="2720674"/>
            <a:ext cx="749030" cy="31184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..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B8E1B2B-5DF2-E645-BAE4-3348D9F473F8}"/>
              </a:ext>
            </a:extLst>
          </p:cNvPr>
          <p:cNvSpPr/>
          <p:nvPr/>
        </p:nvSpPr>
        <p:spPr>
          <a:xfrm>
            <a:off x="10512211" y="2727971"/>
            <a:ext cx="749030" cy="31184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..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F2426A8-2722-164F-9E46-19F9E98727B2}"/>
              </a:ext>
            </a:extLst>
          </p:cNvPr>
          <p:cNvCxnSpPr>
            <a:cxnSpLocks/>
            <a:endCxn id="24" idx="0"/>
          </p:cNvCxnSpPr>
          <p:nvPr/>
        </p:nvCxnSpPr>
        <p:spPr>
          <a:xfrm>
            <a:off x="10971844" y="3050112"/>
            <a:ext cx="328310" cy="3112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9AC218C-0E06-3C47-904B-D63E5F792510}"/>
              </a:ext>
            </a:extLst>
          </p:cNvPr>
          <p:cNvCxnSpPr>
            <a:cxnSpLocks/>
            <a:stCxn id="21" idx="4"/>
            <a:endCxn id="38" idx="0"/>
          </p:cNvCxnSpPr>
          <p:nvPr/>
        </p:nvCxnSpPr>
        <p:spPr>
          <a:xfrm flipH="1">
            <a:off x="10367706" y="3039820"/>
            <a:ext cx="519020" cy="3118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FD89F16C-A8D3-904A-8BD9-E3C751C9AD48}"/>
              </a:ext>
            </a:extLst>
          </p:cNvPr>
          <p:cNvSpPr/>
          <p:nvPr/>
        </p:nvSpPr>
        <p:spPr>
          <a:xfrm>
            <a:off x="10925639" y="3361398"/>
            <a:ext cx="749030" cy="31184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..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AD5099B9-D9EF-0A4E-8009-19E283A17159}"/>
              </a:ext>
            </a:extLst>
          </p:cNvPr>
          <p:cNvSpPr/>
          <p:nvPr/>
        </p:nvSpPr>
        <p:spPr>
          <a:xfrm>
            <a:off x="9993191" y="3351669"/>
            <a:ext cx="749030" cy="31184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..</a:t>
            </a:r>
          </a:p>
        </p:txBody>
      </p:sp>
      <p:sp>
        <p:nvSpPr>
          <p:cNvPr id="39" name="Snip Single Corner Rectangle 38">
            <a:extLst>
              <a:ext uri="{FF2B5EF4-FFF2-40B4-BE49-F238E27FC236}">
                <a16:creationId xmlns:a16="http://schemas.microsoft.com/office/drawing/2014/main" id="{F7AACD00-7B7A-7E4A-8E82-E00367CBE379}"/>
              </a:ext>
            </a:extLst>
          </p:cNvPr>
          <p:cNvSpPr/>
          <p:nvPr/>
        </p:nvSpPr>
        <p:spPr>
          <a:xfrm>
            <a:off x="7026095" y="2373274"/>
            <a:ext cx="1594022" cy="1235676"/>
          </a:xfrm>
          <a:prstGeom prst="snip1Rec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Courier" pitchFamily="2" charset="0"/>
              </a:rPr>
              <a:t>int main() {</a:t>
            </a:r>
            <a:br>
              <a:rPr lang="en-US" sz="14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en-US" sz="1400" dirty="0">
                <a:solidFill>
                  <a:schemeClr val="tx1"/>
                </a:solidFill>
                <a:latin typeface="Courier" pitchFamily="2" charset="0"/>
              </a:rPr>
              <a:t> </a:t>
            </a:r>
            <a:r>
              <a:rPr lang="en-US" sz="1400" dirty="0" err="1">
                <a:solidFill>
                  <a:schemeClr val="tx1"/>
                </a:solidFill>
                <a:latin typeface="Courier" pitchFamily="2" charset="0"/>
              </a:rPr>
              <a:t>printf</a:t>
            </a:r>
            <a:r>
              <a:rPr lang="en-US" sz="1400" dirty="0">
                <a:solidFill>
                  <a:schemeClr val="tx1"/>
                </a:solidFill>
                <a:latin typeface="Courier" pitchFamily="2" charset="0"/>
              </a:rPr>
              <a:t>(““);</a:t>
            </a:r>
          </a:p>
          <a:p>
            <a:r>
              <a:rPr lang="en-US" sz="1400" dirty="0">
                <a:solidFill>
                  <a:schemeClr val="tx1"/>
                </a:solidFill>
                <a:latin typeface="Courier" pitchFamily="2" charset="0"/>
              </a:rPr>
              <a:t> return 0;</a:t>
            </a:r>
            <a:br>
              <a:rPr lang="en-US" sz="14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en-US" sz="1400" dirty="0">
                <a:solidFill>
                  <a:schemeClr val="tx1"/>
                </a:solidFill>
                <a:latin typeface="Courier" pitchFamily="2" charset="0"/>
              </a:rPr>
              <a:t>}</a:t>
            </a:r>
          </a:p>
        </p:txBody>
      </p:sp>
      <p:sp>
        <p:nvSpPr>
          <p:cNvPr id="40" name="Right Arrow 39">
            <a:extLst>
              <a:ext uri="{FF2B5EF4-FFF2-40B4-BE49-F238E27FC236}">
                <a16:creationId xmlns:a16="http://schemas.microsoft.com/office/drawing/2014/main" id="{D5C64FAD-A257-F54D-A462-4BA9F13CC36D}"/>
              </a:ext>
            </a:extLst>
          </p:cNvPr>
          <p:cNvSpPr/>
          <p:nvPr/>
        </p:nvSpPr>
        <p:spPr>
          <a:xfrm flipV="1">
            <a:off x="8796082" y="2700225"/>
            <a:ext cx="951875" cy="354453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01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22A2A-82F3-DE48-BEF3-F2BC60743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Ambiguous grammars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5C6140-750A-C341-A851-96CD68C9E8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40594"/>
          </a:xfrm>
        </p:spPr>
        <p:txBody>
          <a:bodyPr>
            <a:normAutofit/>
          </a:bodyPr>
          <a:lstStyle/>
          <a:p>
            <a:r>
              <a:rPr lang="en-US" dirty="0"/>
              <a:t>What happens when different derivations have different parse trees?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0E2E80-777D-EB49-9D24-DF1DB32EE4E4}"/>
              </a:ext>
            </a:extLst>
          </p:cNvPr>
          <p:cNvSpPr txBox="1"/>
          <p:nvPr/>
        </p:nvSpPr>
        <p:spPr>
          <a:xfrm>
            <a:off x="1535136" y="2566219"/>
            <a:ext cx="845616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1: Statement ::= ”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” Expr “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” Statement “</a:t>
            </a:r>
            <a:r>
              <a:rPr lang="en-US" b="1" dirty="0">
                <a:solidFill>
                  <a:schemeClr val="accent2"/>
                </a:solidFill>
                <a:latin typeface="Courier" pitchFamily="2" charset="0"/>
              </a:rPr>
              <a:t>else</a:t>
            </a:r>
            <a:r>
              <a:rPr lang="en-US" dirty="0">
                <a:latin typeface="Courier" pitchFamily="2" charset="0"/>
              </a:rPr>
              <a:t>” Statement</a:t>
            </a:r>
          </a:p>
          <a:p>
            <a:r>
              <a:rPr lang="en-US" dirty="0">
                <a:latin typeface="Courier" pitchFamily="2" charset="0"/>
              </a:rPr>
              <a:t>2:           |   ”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” Expr “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” Statement </a:t>
            </a:r>
          </a:p>
          <a:p>
            <a:r>
              <a:rPr lang="en-US" dirty="0">
                <a:latin typeface="Courier" pitchFamily="2" charset="0"/>
              </a:rPr>
              <a:t>3:           |    Assignment</a:t>
            </a:r>
          </a:p>
          <a:p>
            <a:r>
              <a:rPr lang="en-US" dirty="0">
                <a:latin typeface="Courier" pitchFamily="2" charset="0"/>
              </a:rPr>
              <a:t>4:           |    ....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7F6AB7-59B6-2D49-8916-A9763C18A618}"/>
              </a:ext>
            </a:extLst>
          </p:cNvPr>
          <p:cNvSpPr txBox="1"/>
          <p:nvPr/>
        </p:nvSpPr>
        <p:spPr>
          <a:xfrm>
            <a:off x="3677264" y="4322476"/>
            <a:ext cx="25675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can we derive this string?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F40FCA-756E-9744-9D4F-2998AD18650C}"/>
              </a:ext>
            </a:extLst>
          </p:cNvPr>
          <p:cNvSpPr txBox="1"/>
          <p:nvPr/>
        </p:nvSpPr>
        <p:spPr>
          <a:xfrm>
            <a:off x="320040" y="6254496"/>
            <a:ext cx="53792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Next few figures taken from the EAC book (Chapter 3.1)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F74D19-CDF7-0041-AB04-53ECA72AE6DE}"/>
              </a:ext>
            </a:extLst>
          </p:cNvPr>
          <p:cNvSpPr txBox="1"/>
          <p:nvPr/>
        </p:nvSpPr>
        <p:spPr>
          <a:xfrm>
            <a:off x="1621671" y="5054167"/>
            <a:ext cx="772519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Expr</a:t>
            </a:r>
            <a:r>
              <a:rPr lang="en-US" i="1" baseline="-25000" dirty="0">
                <a:latin typeface="Courier" pitchFamily="2" charset="0"/>
              </a:rPr>
              <a:t>1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Expr</a:t>
            </a:r>
            <a:r>
              <a:rPr lang="en-US" i="1" baseline="-25000" dirty="0">
                <a:latin typeface="Courier" pitchFamily="2" charset="0"/>
              </a:rPr>
              <a:t>2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Assignment</a:t>
            </a:r>
            <a:r>
              <a:rPr lang="en-US" i="1" baseline="-25000" dirty="0">
                <a:latin typeface="Courier" pitchFamily="2" charset="0"/>
              </a:rPr>
              <a:t>1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2"/>
                </a:solidFill>
                <a:latin typeface="Courier" pitchFamily="2" charset="0"/>
              </a:rPr>
              <a:t>else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Assignment</a:t>
            </a:r>
            <a:r>
              <a:rPr lang="en-US" i="1" baseline="-25000" dirty="0">
                <a:latin typeface="Courier" pitchFamily="2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6923372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22A2A-82F3-DE48-BEF3-F2BC60743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Ambiguous grammars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0E2E80-777D-EB49-9D24-DF1DB32EE4E4}"/>
              </a:ext>
            </a:extLst>
          </p:cNvPr>
          <p:cNvSpPr txBox="1"/>
          <p:nvPr/>
        </p:nvSpPr>
        <p:spPr>
          <a:xfrm>
            <a:off x="1535136" y="1576385"/>
            <a:ext cx="845616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1: Statement ::= ”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” Expr “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” Statement “</a:t>
            </a:r>
            <a:r>
              <a:rPr lang="en-US" b="1" dirty="0">
                <a:solidFill>
                  <a:schemeClr val="accent2"/>
                </a:solidFill>
                <a:latin typeface="Courier" pitchFamily="2" charset="0"/>
              </a:rPr>
              <a:t>else</a:t>
            </a:r>
            <a:r>
              <a:rPr lang="en-US" dirty="0">
                <a:latin typeface="Courier" pitchFamily="2" charset="0"/>
              </a:rPr>
              <a:t>” Statement</a:t>
            </a:r>
          </a:p>
          <a:p>
            <a:r>
              <a:rPr lang="en-US" dirty="0">
                <a:latin typeface="Courier" pitchFamily="2" charset="0"/>
              </a:rPr>
              <a:t>2:           |   ”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” Expr “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” Statement </a:t>
            </a:r>
          </a:p>
          <a:p>
            <a:r>
              <a:rPr lang="en-US" dirty="0">
                <a:latin typeface="Courier" pitchFamily="2" charset="0"/>
              </a:rPr>
              <a:t>3:           |    Assignment</a:t>
            </a:r>
          </a:p>
          <a:p>
            <a:r>
              <a:rPr lang="en-US" dirty="0">
                <a:latin typeface="Courier" pitchFamily="2" charset="0"/>
              </a:rPr>
              <a:t>4:           |    ....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F44F2D-8AC9-8342-8940-15FFCC792056}"/>
              </a:ext>
            </a:extLst>
          </p:cNvPr>
          <p:cNvSpPr txBox="1"/>
          <p:nvPr/>
        </p:nvSpPr>
        <p:spPr>
          <a:xfrm>
            <a:off x="2266105" y="3059668"/>
            <a:ext cx="772519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Expr</a:t>
            </a:r>
            <a:r>
              <a:rPr lang="en-US" i="1" baseline="-25000" dirty="0">
                <a:latin typeface="Courier" pitchFamily="2" charset="0"/>
              </a:rPr>
              <a:t>1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Expr</a:t>
            </a:r>
            <a:r>
              <a:rPr lang="en-US" i="1" baseline="-25000" dirty="0">
                <a:latin typeface="Courier" pitchFamily="2" charset="0"/>
              </a:rPr>
              <a:t>2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Assignment</a:t>
            </a:r>
            <a:r>
              <a:rPr lang="en-US" i="1" baseline="-25000" dirty="0">
                <a:latin typeface="Courier" pitchFamily="2" charset="0"/>
              </a:rPr>
              <a:t>1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2"/>
                </a:solidFill>
                <a:latin typeface="Courier" pitchFamily="2" charset="0"/>
              </a:rPr>
              <a:t>else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Assignment</a:t>
            </a:r>
            <a:r>
              <a:rPr lang="en-US" i="1" baseline="-25000" dirty="0">
                <a:latin typeface="Courier" pitchFamily="2" charset="0"/>
              </a:rPr>
              <a:t>2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94C7899-8E10-AB48-A698-616B11AFE23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284" t="6406" r="5462" b="61579"/>
          <a:stretch/>
        </p:blipFill>
        <p:spPr>
          <a:xfrm>
            <a:off x="142915" y="3987974"/>
            <a:ext cx="5484399" cy="876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60283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22A2A-82F3-DE48-BEF3-F2BC60743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Ambiguous grammars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0E2E80-777D-EB49-9D24-DF1DB32EE4E4}"/>
              </a:ext>
            </a:extLst>
          </p:cNvPr>
          <p:cNvSpPr txBox="1"/>
          <p:nvPr/>
        </p:nvSpPr>
        <p:spPr>
          <a:xfrm>
            <a:off x="1535136" y="1576385"/>
            <a:ext cx="845616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1: Statement ::= ”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” Expr “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” Statement “</a:t>
            </a:r>
            <a:r>
              <a:rPr lang="en-US" b="1" dirty="0">
                <a:solidFill>
                  <a:schemeClr val="accent2"/>
                </a:solidFill>
                <a:latin typeface="Courier" pitchFamily="2" charset="0"/>
              </a:rPr>
              <a:t>else</a:t>
            </a:r>
            <a:r>
              <a:rPr lang="en-US" dirty="0">
                <a:latin typeface="Courier" pitchFamily="2" charset="0"/>
              </a:rPr>
              <a:t>” Statement</a:t>
            </a:r>
          </a:p>
          <a:p>
            <a:r>
              <a:rPr lang="en-US" dirty="0">
                <a:latin typeface="Courier" pitchFamily="2" charset="0"/>
              </a:rPr>
              <a:t>2:           |   ”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” Expr “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” Statement </a:t>
            </a:r>
          </a:p>
          <a:p>
            <a:r>
              <a:rPr lang="en-US" dirty="0">
                <a:latin typeface="Courier" pitchFamily="2" charset="0"/>
              </a:rPr>
              <a:t>3:           |    Assignment</a:t>
            </a:r>
          </a:p>
          <a:p>
            <a:r>
              <a:rPr lang="en-US" dirty="0">
                <a:latin typeface="Courier" pitchFamily="2" charset="0"/>
              </a:rPr>
              <a:t>4:           |    ....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F44F2D-8AC9-8342-8940-15FFCC792056}"/>
              </a:ext>
            </a:extLst>
          </p:cNvPr>
          <p:cNvSpPr txBox="1"/>
          <p:nvPr/>
        </p:nvSpPr>
        <p:spPr>
          <a:xfrm>
            <a:off x="2266105" y="3059668"/>
            <a:ext cx="772519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Expr</a:t>
            </a:r>
            <a:r>
              <a:rPr lang="en-US" i="1" baseline="-25000" dirty="0">
                <a:latin typeface="Courier" pitchFamily="2" charset="0"/>
              </a:rPr>
              <a:t>1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Expr</a:t>
            </a:r>
            <a:r>
              <a:rPr lang="en-US" i="1" baseline="-25000" dirty="0">
                <a:latin typeface="Courier" pitchFamily="2" charset="0"/>
              </a:rPr>
              <a:t>2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Assignment</a:t>
            </a:r>
            <a:r>
              <a:rPr lang="en-US" i="1" baseline="-25000" dirty="0">
                <a:latin typeface="Courier" pitchFamily="2" charset="0"/>
              </a:rPr>
              <a:t>1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2"/>
                </a:solidFill>
                <a:latin typeface="Courier" pitchFamily="2" charset="0"/>
              </a:rPr>
              <a:t>else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Assignment</a:t>
            </a:r>
            <a:r>
              <a:rPr lang="en-US" i="1" baseline="-25000" dirty="0">
                <a:latin typeface="Courier" pitchFamily="2" charset="0"/>
              </a:rPr>
              <a:t>2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EC031D4-A54A-1248-A500-F444FEB13D1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284" t="6406" r="5462" b="13156"/>
          <a:stretch/>
        </p:blipFill>
        <p:spPr>
          <a:xfrm>
            <a:off x="142915" y="3987974"/>
            <a:ext cx="5484399" cy="220251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5D805E9-DA17-C644-97EF-452AA9E4FED0}"/>
              </a:ext>
            </a:extLst>
          </p:cNvPr>
          <p:cNvSpPr txBox="1"/>
          <p:nvPr/>
        </p:nvSpPr>
        <p:spPr>
          <a:xfrm>
            <a:off x="1535136" y="6308209"/>
            <a:ext cx="1647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Valid derivation</a:t>
            </a:r>
          </a:p>
        </p:txBody>
      </p:sp>
    </p:spTree>
    <p:extLst>
      <p:ext uri="{BB962C8B-B14F-4D97-AF65-F5344CB8AC3E}">
        <p14:creationId xmlns:p14="http://schemas.microsoft.com/office/powerpoint/2010/main" val="40736761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22A2A-82F3-DE48-BEF3-F2BC60743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Ambiguous grammars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0E2E80-777D-EB49-9D24-DF1DB32EE4E4}"/>
              </a:ext>
            </a:extLst>
          </p:cNvPr>
          <p:cNvSpPr txBox="1"/>
          <p:nvPr/>
        </p:nvSpPr>
        <p:spPr>
          <a:xfrm>
            <a:off x="1535136" y="1576385"/>
            <a:ext cx="845616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1: Statement ::= ”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” Expr “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” Statement “</a:t>
            </a:r>
            <a:r>
              <a:rPr lang="en-US" b="1" dirty="0">
                <a:solidFill>
                  <a:schemeClr val="accent2"/>
                </a:solidFill>
                <a:latin typeface="Courier" pitchFamily="2" charset="0"/>
              </a:rPr>
              <a:t>else</a:t>
            </a:r>
            <a:r>
              <a:rPr lang="en-US" dirty="0">
                <a:latin typeface="Courier" pitchFamily="2" charset="0"/>
              </a:rPr>
              <a:t>” Statement</a:t>
            </a:r>
          </a:p>
          <a:p>
            <a:r>
              <a:rPr lang="en-US" dirty="0">
                <a:latin typeface="Courier" pitchFamily="2" charset="0"/>
              </a:rPr>
              <a:t>2:           |   ”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” Expr “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” Statement </a:t>
            </a:r>
          </a:p>
          <a:p>
            <a:r>
              <a:rPr lang="en-US" dirty="0">
                <a:latin typeface="Courier" pitchFamily="2" charset="0"/>
              </a:rPr>
              <a:t>3:           |    Assignment</a:t>
            </a:r>
          </a:p>
          <a:p>
            <a:r>
              <a:rPr lang="en-US" dirty="0">
                <a:latin typeface="Courier" pitchFamily="2" charset="0"/>
              </a:rPr>
              <a:t>4:           |    ....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F44F2D-8AC9-8342-8940-15FFCC792056}"/>
              </a:ext>
            </a:extLst>
          </p:cNvPr>
          <p:cNvSpPr txBox="1"/>
          <p:nvPr/>
        </p:nvSpPr>
        <p:spPr>
          <a:xfrm>
            <a:off x="2266105" y="3059668"/>
            <a:ext cx="772519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Expr</a:t>
            </a:r>
            <a:r>
              <a:rPr lang="en-US" i="1" baseline="-25000" dirty="0">
                <a:latin typeface="Courier" pitchFamily="2" charset="0"/>
              </a:rPr>
              <a:t>1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Expr</a:t>
            </a:r>
            <a:r>
              <a:rPr lang="en-US" i="1" baseline="-25000" dirty="0">
                <a:latin typeface="Courier" pitchFamily="2" charset="0"/>
              </a:rPr>
              <a:t>2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Assignment</a:t>
            </a:r>
            <a:r>
              <a:rPr lang="en-US" i="1" baseline="-25000" dirty="0">
                <a:latin typeface="Courier" pitchFamily="2" charset="0"/>
              </a:rPr>
              <a:t>1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2"/>
                </a:solidFill>
                <a:latin typeface="Courier" pitchFamily="2" charset="0"/>
              </a:rPr>
              <a:t>else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Assignment</a:t>
            </a:r>
            <a:r>
              <a:rPr lang="en-US" i="1" baseline="-25000" dirty="0">
                <a:latin typeface="Courier" pitchFamily="2" charset="0"/>
              </a:rPr>
              <a:t>2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EC031D4-A54A-1248-A500-F444FEB13D1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284" t="6406" r="5462" b="13156"/>
          <a:stretch/>
        </p:blipFill>
        <p:spPr>
          <a:xfrm>
            <a:off x="142915" y="3987974"/>
            <a:ext cx="5484399" cy="220251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5D805E9-DA17-C644-97EF-452AA9E4FED0}"/>
              </a:ext>
            </a:extLst>
          </p:cNvPr>
          <p:cNvSpPr txBox="1"/>
          <p:nvPr/>
        </p:nvSpPr>
        <p:spPr>
          <a:xfrm>
            <a:off x="1535136" y="6308209"/>
            <a:ext cx="1647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Valid derivation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C7C60B2-F2B8-664E-A0AD-2F89A5B2BB5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619" t="6406" r="4479" b="57543"/>
          <a:stretch/>
        </p:blipFill>
        <p:spPr>
          <a:xfrm>
            <a:off x="6327648" y="3987975"/>
            <a:ext cx="5665466" cy="931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39252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22A2A-82F3-DE48-BEF3-F2BC60743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Ambiguous grammars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FF8BC30-E355-994F-9124-9AABF2C5331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19" t="6406" r="4479" b="8352"/>
          <a:stretch/>
        </p:blipFill>
        <p:spPr>
          <a:xfrm>
            <a:off x="6327648" y="3987975"/>
            <a:ext cx="5665466" cy="220251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7126ADA-331A-7A44-9C52-9B5C4D1EB50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7284" t="6406" r="5462" b="13156"/>
          <a:stretch/>
        </p:blipFill>
        <p:spPr>
          <a:xfrm>
            <a:off x="142915" y="3987974"/>
            <a:ext cx="5484399" cy="220251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183DBDE0-AF1F-7F46-9DD7-98AA6D57EE3C}"/>
              </a:ext>
            </a:extLst>
          </p:cNvPr>
          <p:cNvSpPr txBox="1"/>
          <p:nvPr/>
        </p:nvSpPr>
        <p:spPr>
          <a:xfrm>
            <a:off x="1535136" y="6308209"/>
            <a:ext cx="1647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Valid derivation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3B98D52-B42C-E049-AF3E-9FC8C81EFF3C}"/>
              </a:ext>
            </a:extLst>
          </p:cNvPr>
          <p:cNvSpPr txBox="1"/>
          <p:nvPr/>
        </p:nvSpPr>
        <p:spPr>
          <a:xfrm>
            <a:off x="1535136" y="1576385"/>
            <a:ext cx="845616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1: Statement ::= ”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” Expr “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” Statement “</a:t>
            </a:r>
            <a:r>
              <a:rPr lang="en-US" b="1" dirty="0">
                <a:solidFill>
                  <a:schemeClr val="accent2"/>
                </a:solidFill>
                <a:latin typeface="Courier" pitchFamily="2" charset="0"/>
              </a:rPr>
              <a:t>else</a:t>
            </a:r>
            <a:r>
              <a:rPr lang="en-US" dirty="0">
                <a:latin typeface="Courier" pitchFamily="2" charset="0"/>
              </a:rPr>
              <a:t>” Statement</a:t>
            </a:r>
          </a:p>
          <a:p>
            <a:r>
              <a:rPr lang="en-US" dirty="0">
                <a:latin typeface="Courier" pitchFamily="2" charset="0"/>
              </a:rPr>
              <a:t>2:           |   ”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” Expr “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” Statement </a:t>
            </a:r>
          </a:p>
          <a:p>
            <a:r>
              <a:rPr lang="en-US" dirty="0">
                <a:latin typeface="Courier" pitchFamily="2" charset="0"/>
              </a:rPr>
              <a:t>3:           |    Assignment</a:t>
            </a:r>
          </a:p>
          <a:p>
            <a:r>
              <a:rPr lang="en-US" dirty="0">
                <a:latin typeface="Courier" pitchFamily="2" charset="0"/>
              </a:rPr>
              <a:t>4:           |    ....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164E4E2-E31D-1F4B-BDF6-7861CAE5C010}"/>
              </a:ext>
            </a:extLst>
          </p:cNvPr>
          <p:cNvSpPr txBox="1"/>
          <p:nvPr/>
        </p:nvSpPr>
        <p:spPr>
          <a:xfrm>
            <a:off x="2266105" y="3059668"/>
            <a:ext cx="772519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Expr</a:t>
            </a:r>
            <a:r>
              <a:rPr lang="en-US" i="1" baseline="-25000" dirty="0">
                <a:latin typeface="Courier" pitchFamily="2" charset="0"/>
              </a:rPr>
              <a:t>1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Expr</a:t>
            </a:r>
            <a:r>
              <a:rPr lang="en-US" i="1" baseline="-25000" dirty="0">
                <a:latin typeface="Courier" pitchFamily="2" charset="0"/>
              </a:rPr>
              <a:t>2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Assignment</a:t>
            </a:r>
            <a:r>
              <a:rPr lang="en-US" i="1" baseline="-25000" dirty="0">
                <a:latin typeface="Courier" pitchFamily="2" charset="0"/>
              </a:rPr>
              <a:t>1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2"/>
                </a:solidFill>
                <a:latin typeface="Courier" pitchFamily="2" charset="0"/>
              </a:rPr>
              <a:t>else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Assignment</a:t>
            </a:r>
            <a:r>
              <a:rPr lang="en-US" i="1" baseline="-25000" dirty="0">
                <a:latin typeface="Courier" pitchFamily="2" charset="0"/>
              </a:rPr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FE2A85-D1AC-6DAE-1D5A-179EE566FC9E}"/>
              </a:ext>
            </a:extLst>
          </p:cNvPr>
          <p:cNvSpPr txBox="1"/>
          <p:nvPr/>
        </p:nvSpPr>
        <p:spPr>
          <a:xfrm>
            <a:off x="7558486" y="6289759"/>
            <a:ext cx="29017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And another valid derivation</a:t>
            </a:r>
          </a:p>
        </p:txBody>
      </p:sp>
    </p:spTree>
    <p:extLst>
      <p:ext uri="{BB962C8B-B14F-4D97-AF65-F5344CB8AC3E}">
        <p14:creationId xmlns:p14="http://schemas.microsoft.com/office/powerpoint/2010/main" val="207152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22A2A-82F3-DE48-BEF3-F2BC60743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Ambiguous grammars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FF8BC30-E355-994F-9124-9AABF2C5331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19" t="6406" r="4479" b="8352"/>
          <a:stretch/>
        </p:blipFill>
        <p:spPr>
          <a:xfrm>
            <a:off x="6327648" y="3987975"/>
            <a:ext cx="5665466" cy="220251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7126ADA-331A-7A44-9C52-9B5C4D1EB50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7284" t="6406" r="5462" b="13156"/>
          <a:stretch/>
        </p:blipFill>
        <p:spPr>
          <a:xfrm>
            <a:off x="142915" y="3987974"/>
            <a:ext cx="5484399" cy="220251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183DBDE0-AF1F-7F46-9DD7-98AA6D57EE3C}"/>
              </a:ext>
            </a:extLst>
          </p:cNvPr>
          <p:cNvSpPr txBox="1"/>
          <p:nvPr/>
        </p:nvSpPr>
        <p:spPr>
          <a:xfrm>
            <a:off x="1535136" y="6308209"/>
            <a:ext cx="1647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Valid derivation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181C74C-7CC7-A344-9B20-E535D9497129}"/>
              </a:ext>
            </a:extLst>
          </p:cNvPr>
          <p:cNvSpPr txBox="1"/>
          <p:nvPr/>
        </p:nvSpPr>
        <p:spPr>
          <a:xfrm>
            <a:off x="7558486" y="6308209"/>
            <a:ext cx="29017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And another valid derivation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21C6949-1EC6-7A43-BE4A-25A3D52F8645}"/>
              </a:ext>
            </a:extLst>
          </p:cNvPr>
          <p:cNvSpPr txBox="1"/>
          <p:nvPr/>
        </p:nvSpPr>
        <p:spPr>
          <a:xfrm>
            <a:off x="3300984" y="2284142"/>
            <a:ext cx="66888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Is this an issue? Don’t we only care if a grammar can derive a string?</a:t>
            </a:r>
          </a:p>
        </p:txBody>
      </p:sp>
    </p:spTree>
    <p:extLst>
      <p:ext uri="{BB962C8B-B14F-4D97-AF65-F5344CB8AC3E}">
        <p14:creationId xmlns:p14="http://schemas.microsoft.com/office/powerpoint/2010/main" val="26225378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22A2A-82F3-DE48-BEF3-F2BC60743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Meaning into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5C6140-750A-C341-A851-96CD68C9E8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368167"/>
          </a:xfrm>
        </p:spPr>
        <p:txBody>
          <a:bodyPr>
            <a:normAutofit/>
          </a:bodyPr>
          <a:lstStyle/>
          <a:p>
            <a:r>
              <a:rPr lang="en-US" dirty="0"/>
              <a:t>We want to start encoding meaning into the parse structure. We will want as much structure as possible as we continue through the compiler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The structure is that we want evaluation of program to correspond to a post order traversal of the parse tree (also called the natural traversal)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77758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22A2A-82F3-DE48-BEF3-F2BC60743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Post order traversal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18E3F6C-A743-8A4D-9EE8-2834469CE690}"/>
              </a:ext>
            </a:extLst>
          </p:cNvPr>
          <p:cNvSpPr/>
          <p:nvPr/>
        </p:nvSpPr>
        <p:spPr>
          <a:xfrm>
            <a:off x="3348228" y="2697480"/>
            <a:ext cx="777240" cy="777240"/>
          </a:xfrm>
          <a:prstGeom prst="ellips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52AEBBA-F12C-B341-98FC-EBB4B11DB1CE}"/>
              </a:ext>
            </a:extLst>
          </p:cNvPr>
          <p:cNvSpPr/>
          <p:nvPr/>
        </p:nvSpPr>
        <p:spPr>
          <a:xfrm>
            <a:off x="1441704" y="4028884"/>
            <a:ext cx="777240" cy="777240"/>
          </a:xfrm>
          <a:prstGeom prst="ellips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6D936F8-A834-0B42-95CA-6AE1E67B666F}"/>
              </a:ext>
            </a:extLst>
          </p:cNvPr>
          <p:cNvSpPr/>
          <p:nvPr/>
        </p:nvSpPr>
        <p:spPr>
          <a:xfrm>
            <a:off x="4920996" y="4028884"/>
            <a:ext cx="777240" cy="777240"/>
          </a:xfrm>
          <a:prstGeom prst="ellips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4821868-82EE-504D-8067-1F861B330C2F}"/>
              </a:ext>
            </a:extLst>
          </p:cNvPr>
          <p:cNvCxnSpPr>
            <a:stCxn id="4" idx="3"/>
            <a:endCxn id="5" idx="7"/>
          </p:cNvCxnSpPr>
          <p:nvPr/>
        </p:nvCxnSpPr>
        <p:spPr>
          <a:xfrm flipH="1">
            <a:off x="2105120" y="3360896"/>
            <a:ext cx="1356932" cy="78181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62C2FBC-B548-654A-8FF6-7EED20BB66CD}"/>
              </a:ext>
            </a:extLst>
          </p:cNvPr>
          <p:cNvCxnSpPr>
            <a:cxnSpLocks/>
            <a:stCxn id="4" idx="5"/>
            <a:endCxn id="7" idx="0"/>
          </p:cNvCxnSpPr>
          <p:nvPr/>
        </p:nvCxnSpPr>
        <p:spPr>
          <a:xfrm>
            <a:off x="4011644" y="3360896"/>
            <a:ext cx="1297972" cy="66798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17227F8-0456-9348-811A-BBD396F72331}"/>
              </a:ext>
            </a:extLst>
          </p:cNvPr>
          <p:cNvCxnSpPr>
            <a:cxnSpLocks/>
          </p:cNvCxnSpPr>
          <p:nvPr/>
        </p:nvCxnSpPr>
        <p:spPr>
          <a:xfrm flipH="1">
            <a:off x="3748278" y="2127314"/>
            <a:ext cx="24384" cy="55416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B49E9CF-B3CA-2747-B757-7A400D2D845C}"/>
              </a:ext>
            </a:extLst>
          </p:cNvPr>
          <p:cNvCxnSpPr>
            <a:cxnSpLocks/>
          </p:cNvCxnSpPr>
          <p:nvPr/>
        </p:nvCxnSpPr>
        <p:spPr>
          <a:xfrm flipH="1">
            <a:off x="1724406" y="4806124"/>
            <a:ext cx="24384" cy="55416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0171047-9828-0449-B921-DB0859E7B6BD}"/>
              </a:ext>
            </a:extLst>
          </p:cNvPr>
          <p:cNvCxnSpPr>
            <a:cxnSpLocks/>
          </p:cNvCxnSpPr>
          <p:nvPr/>
        </p:nvCxnSpPr>
        <p:spPr>
          <a:xfrm flipH="1">
            <a:off x="5309616" y="4806124"/>
            <a:ext cx="24384" cy="55416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7D5E697B-32DE-874A-8FF9-50BC1AE5F75D}"/>
              </a:ext>
            </a:extLst>
          </p:cNvPr>
          <p:cNvSpPr txBox="1"/>
          <p:nvPr/>
        </p:nvSpPr>
        <p:spPr>
          <a:xfrm>
            <a:off x="8311896" y="3090672"/>
            <a:ext cx="2912529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visiting for for different types</a:t>
            </a:r>
          </a:p>
          <a:p>
            <a:r>
              <a:rPr lang="en-US" dirty="0"/>
              <a:t>of traversals:</a:t>
            </a:r>
          </a:p>
          <a:p>
            <a:endParaRPr lang="en-US" dirty="0"/>
          </a:p>
          <a:p>
            <a:r>
              <a:rPr lang="en-US" dirty="0"/>
              <a:t>pre order?</a:t>
            </a:r>
          </a:p>
          <a:p>
            <a:r>
              <a:rPr lang="en-US" dirty="0"/>
              <a:t>in order?</a:t>
            </a:r>
          </a:p>
          <a:p>
            <a:r>
              <a:rPr lang="en-US" dirty="0"/>
              <a:t>post order?</a:t>
            </a:r>
          </a:p>
        </p:txBody>
      </p:sp>
    </p:spTree>
    <p:extLst>
      <p:ext uri="{BB962C8B-B14F-4D97-AF65-F5344CB8AC3E}">
        <p14:creationId xmlns:p14="http://schemas.microsoft.com/office/powerpoint/2010/main" val="8101234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22A2A-82F3-DE48-BEF3-F2BC60743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Post order traversal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18E3F6C-A743-8A4D-9EE8-2834469CE690}"/>
              </a:ext>
            </a:extLst>
          </p:cNvPr>
          <p:cNvSpPr/>
          <p:nvPr/>
        </p:nvSpPr>
        <p:spPr>
          <a:xfrm>
            <a:off x="3348228" y="2697480"/>
            <a:ext cx="777240" cy="777240"/>
          </a:xfrm>
          <a:prstGeom prst="ellips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52AEBBA-F12C-B341-98FC-EBB4B11DB1CE}"/>
              </a:ext>
            </a:extLst>
          </p:cNvPr>
          <p:cNvSpPr/>
          <p:nvPr/>
        </p:nvSpPr>
        <p:spPr>
          <a:xfrm>
            <a:off x="1441704" y="4028884"/>
            <a:ext cx="777240" cy="777240"/>
          </a:xfrm>
          <a:prstGeom prst="ellips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6D936F8-A834-0B42-95CA-6AE1E67B666F}"/>
              </a:ext>
            </a:extLst>
          </p:cNvPr>
          <p:cNvSpPr/>
          <p:nvPr/>
        </p:nvSpPr>
        <p:spPr>
          <a:xfrm>
            <a:off x="4920996" y="4028884"/>
            <a:ext cx="777240" cy="777240"/>
          </a:xfrm>
          <a:prstGeom prst="ellips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4821868-82EE-504D-8067-1F861B330C2F}"/>
              </a:ext>
            </a:extLst>
          </p:cNvPr>
          <p:cNvCxnSpPr>
            <a:stCxn id="4" idx="3"/>
            <a:endCxn id="5" idx="7"/>
          </p:cNvCxnSpPr>
          <p:nvPr/>
        </p:nvCxnSpPr>
        <p:spPr>
          <a:xfrm flipH="1">
            <a:off x="2105120" y="3360896"/>
            <a:ext cx="1356932" cy="78181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62C2FBC-B548-654A-8FF6-7EED20BB66CD}"/>
              </a:ext>
            </a:extLst>
          </p:cNvPr>
          <p:cNvCxnSpPr>
            <a:cxnSpLocks/>
            <a:stCxn id="4" idx="5"/>
            <a:endCxn id="7" idx="0"/>
          </p:cNvCxnSpPr>
          <p:nvPr/>
        </p:nvCxnSpPr>
        <p:spPr>
          <a:xfrm>
            <a:off x="4011644" y="3360896"/>
            <a:ext cx="1297972" cy="66798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17227F8-0456-9348-811A-BBD396F72331}"/>
              </a:ext>
            </a:extLst>
          </p:cNvPr>
          <p:cNvCxnSpPr>
            <a:cxnSpLocks/>
          </p:cNvCxnSpPr>
          <p:nvPr/>
        </p:nvCxnSpPr>
        <p:spPr>
          <a:xfrm flipH="1">
            <a:off x="3748278" y="2127314"/>
            <a:ext cx="24384" cy="55416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B49E9CF-B3CA-2747-B757-7A400D2D845C}"/>
              </a:ext>
            </a:extLst>
          </p:cNvPr>
          <p:cNvCxnSpPr>
            <a:cxnSpLocks/>
          </p:cNvCxnSpPr>
          <p:nvPr/>
        </p:nvCxnSpPr>
        <p:spPr>
          <a:xfrm flipH="1">
            <a:off x="1724406" y="4806124"/>
            <a:ext cx="24384" cy="55416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0171047-9828-0449-B921-DB0859E7B6BD}"/>
              </a:ext>
            </a:extLst>
          </p:cNvPr>
          <p:cNvCxnSpPr>
            <a:cxnSpLocks/>
          </p:cNvCxnSpPr>
          <p:nvPr/>
        </p:nvCxnSpPr>
        <p:spPr>
          <a:xfrm flipH="1">
            <a:off x="5309616" y="4806124"/>
            <a:ext cx="24384" cy="55416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7D5E697B-32DE-874A-8FF9-50BC1AE5F75D}"/>
              </a:ext>
            </a:extLst>
          </p:cNvPr>
          <p:cNvSpPr txBox="1"/>
          <p:nvPr/>
        </p:nvSpPr>
        <p:spPr>
          <a:xfrm>
            <a:off x="8311896" y="3090672"/>
            <a:ext cx="291252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visiting for for different types</a:t>
            </a:r>
          </a:p>
          <a:p>
            <a:r>
              <a:rPr lang="en-US" dirty="0"/>
              <a:t>of traversals:</a:t>
            </a:r>
          </a:p>
          <a:p>
            <a:endParaRPr lang="en-US" dirty="0"/>
          </a:p>
          <a:p>
            <a:r>
              <a:rPr lang="en-US" dirty="0">
                <a:highlight>
                  <a:srgbClr val="FFFF00"/>
                </a:highlight>
              </a:rPr>
              <a:t>post order</a:t>
            </a:r>
          </a:p>
        </p:txBody>
      </p:sp>
    </p:spTree>
    <p:extLst>
      <p:ext uri="{BB962C8B-B14F-4D97-AF65-F5344CB8AC3E}">
        <p14:creationId xmlns:p14="http://schemas.microsoft.com/office/powerpoint/2010/main" val="1578560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22A2A-82F3-DE48-BEF3-F2BC60743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Ambiguous grammars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FF8BC30-E355-994F-9124-9AABF2C5331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19" t="6406" r="4479" b="8352"/>
          <a:stretch/>
        </p:blipFill>
        <p:spPr>
          <a:xfrm>
            <a:off x="6327648" y="3987975"/>
            <a:ext cx="5665466" cy="220251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7126ADA-331A-7A44-9C52-9B5C4D1EB50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7284" t="6406" r="5462" b="13156"/>
          <a:stretch/>
        </p:blipFill>
        <p:spPr>
          <a:xfrm>
            <a:off x="142915" y="3987974"/>
            <a:ext cx="5484399" cy="220251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183DBDE0-AF1F-7F46-9DD7-98AA6D57EE3C}"/>
              </a:ext>
            </a:extLst>
          </p:cNvPr>
          <p:cNvSpPr txBox="1"/>
          <p:nvPr/>
        </p:nvSpPr>
        <p:spPr>
          <a:xfrm>
            <a:off x="1535136" y="6308209"/>
            <a:ext cx="1647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Valid derivation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181C74C-7CC7-A344-9B20-E535D9497129}"/>
              </a:ext>
            </a:extLst>
          </p:cNvPr>
          <p:cNvSpPr txBox="1"/>
          <p:nvPr/>
        </p:nvSpPr>
        <p:spPr>
          <a:xfrm>
            <a:off x="8298648" y="6308209"/>
            <a:ext cx="2250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Also a valid derivation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21C6949-1EC6-7A43-BE4A-25A3D52F8645}"/>
              </a:ext>
            </a:extLst>
          </p:cNvPr>
          <p:cNvSpPr txBox="1"/>
          <p:nvPr/>
        </p:nvSpPr>
        <p:spPr>
          <a:xfrm>
            <a:off x="381070" y="2037218"/>
            <a:ext cx="105280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Encoding meaning into structure can result in very different programs</a:t>
            </a:r>
          </a:p>
        </p:txBody>
      </p:sp>
    </p:spTree>
    <p:extLst>
      <p:ext uri="{BB962C8B-B14F-4D97-AF65-F5344CB8AC3E}">
        <p14:creationId xmlns:p14="http://schemas.microsoft.com/office/powerpoint/2010/main" val="23486034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B7A923-0834-AA46-AC5E-5E0B2AA38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language structure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9CE95CD-ACA3-9740-B0FD-FDCCEACF65BF}"/>
              </a:ext>
            </a:extLst>
          </p:cNvPr>
          <p:cNvSpPr/>
          <p:nvPr/>
        </p:nvSpPr>
        <p:spPr>
          <a:xfrm>
            <a:off x="3404616" y="1796671"/>
            <a:ext cx="6096000" cy="2862322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x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= 1; //true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y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= 0; //false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check0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= 0;</a:t>
            </a:r>
          </a:p>
          <a:p>
            <a:b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</a:br>
            <a:endParaRPr lang="en-US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(x)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(y)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pass();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else</a:t>
            </a:r>
            <a:endParaRPr lang="en-US" dirty="0">
              <a:solidFill>
                <a:srgbClr val="2EAEBB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check0 = 1;</a:t>
            </a:r>
            <a:endParaRPr lang="en-US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D1D824B-10BA-964B-88A6-3B8FD74D22C9}"/>
              </a:ext>
            </a:extLst>
          </p:cNvPr>
          <p:cNvSpPr txBox="1"/>
          <p:nvPr/>
        </p:nvSpPr>
        <p:spPr>
          <a:xfrm>
            <a:off x="2468880" y="5202936"/>
            <a:ext cx="4772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pop quiz: what is the value of check0 at the end?</a:t>
            </a:r>
          </a:p>
        </p:txBody>
      </p:sp>
    </p:spTree>
    <p:extLst>
      <p:ext uri="{BB962C8B-B14F-4D97-AF65-F5344CB8AC3E}">
        <p14:creationId xmlns:p14="http://schemas.microsoft.com/office/powerpoint/2010/main" val="10700405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B7A923-0834-AA46-AC5E-5E0B2AA38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language structure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D1D824B-10BA-964B-88A6-3B8FD74D22C9}"/>
              </a:ext>
            </a:extLst>
          </p:cNvPr>
          <p:cNvSpPr txBox="1"/>
          <p:nvPr/>
        </p:nvSpPr>
        <p:spPr>
          <a:xfrm>
            <a:off x="1054007" y="6308208"/>
            <a:ext cx="30364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How does Python handle this?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348DD96-650D-EC41-93DE-9A61F7F69E37}"/>
              </a:ext>
            </a:extLst>
          </p:cNvPr>
          <p:cNvSpPr/>
          <p:nvPr/>
        </p:nvSpPr>
        <p:spPr>
          <a:xfrm>
            <a:off x="1042416" y="1893236"/>
            <a:ext cx="6096000" cy="369331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x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= 1</a:t>
            </a:r>
          </a:p>
          <a:p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y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= 0</a:t>
            </a:r>
          </a:p>
          <a:p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check0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= 0</a:t>
            </a:r>
            <a:endParaRPr lang="en-US" dirty="0">
              <a:solidFill>
                <a:srgbClr val="9FA01C"/>
              </a:solidFill>
              <a:latin typeface="Menlo" panose="020B0609030804020204" pitchFamily="49" charset="0"/>
            </a:endParaRPr>
          </a:p>
          <a:p>
            <a:b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</a:br>
            <a:endParaRPr lang="en-US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(x):</a:t>
            </a:r>
          </a:p>
          <a:p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(y):</a:t>
            </a:r>
          </a:p>
          <a:p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pass</a:t>
            </a:r>
            <a:endParaRPr lang="en-US" dirty="0">
              <a:solidFill>
                <a:srgbClr val="2EAEBB"/>
              </a:solidFill>
              <a:latin typeface="Menlo" panose="020B0609030804020204" pitchFamily="49" charset="0"/>
            </a:endParaRPr>
          </a:p>
          <a:p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else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:</a:t>
            </a:r>
            <a:endParaRPr lang="en-US" dirty="0">
              <a:solidFill>
                <a:srgbClr val="2EAEBB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check0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= 1</a:t>
            </a:r>
            <a:endParaRPr lang="en-US" dirty="0">
              <a:solidFill>
                <a:srgbClr val="9FA01C"/>
              </a:solidFill>
              <a:latin typeface="Menlo" panose="020B0609030804020204" pitchFamily="49" charset="0"/>
            </a:endParaRPr>
          </a:p>
          <a:p>
            <a:b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</a:br>
            <a:endParaRPr lang="en-US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print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(check0)</a:t>
            </a:r>
            <a:endParaRPr lang="en-US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00575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B7A923-0834-AA46-AC5E-5E0B2AA38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language structure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D1D824B-10BA-964B-88A6-3B8FD74D22C9}"/>
              </a:ext>
            </a:extLst>
          </p:cNvPr>
          <p:cNvSpPr txBox="1"/>
          <p:nvPr/>
        </p:nvSpPr>
        <p:spPr>
          <a:xfrm>
            <a:off x="1054007" y="6308208"/>
            <a:ext cx="30364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How does Python handle this?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348DD96-650D-EC41-93DE-9A61F7F69E37}"/>
              </a:ext>
            </a:extLst>
          </p:cNvPr>
          <p:cNvSpPr/>
          <p:nvPr/>
        </p:nvSpPr>
        <p:spPr>
          <a:xfrm>
            <a:off x="1042416" y="1893236"/>
            <a:ext cx="6096000" cy="369331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x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= 1</a:t>
            </a:r>
          </a:p>
          <a:p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y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= 0</a:t>
            </a:r>
          </a:p>
          <a:p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check0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= 0</a:t>
            </a:r>
            <a:endParaRPr lang="en-US" dirty="0">
              <a:solidFill>
                <a:srgbClr val="9FA01C"/>
              </a:solidFill>
              <a:latin typeface="Menlo" panose="020B0609030804020204" pitchFamily="49" charset="0"/>
            </a:endParaRPr>
          </a:p>
          <a:p>
            <a:b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</a:br>
            <a:endParaRPr lang="en-US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(x):</a:t>
            </a:r>
          </a:p>
          <a:p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(y):</a:t>
            </a:r>
          </a:p>
          <a:p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pass</a:t>
            </a:r>
            <a:endParaRPr lang="en-US" dirty="0">
              <a:solidFill>
                <a:srgbClr val="2EAEBB"/>
              </a:solidFill>
              <a:latin typeface="Menlo" panose="020B0609030804020204" pitchFamily="49" charset="0"/>
            </a:endParaRPr>
          </a:p>
          <a:p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else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:</a:t>
            </a:r>
            <a:endParaRPr lang="en-US" dirty="0">
              <a:solidFill>
                <a:srgbClr val="2EAEBB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check0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= 1</a:t>
            </a:r>
            <a:endParaRPr lang="en-US" dirty="0">
              <a:solidFill>
                <a:srgbClr val="9FA01C"/>
              </a:solidFill>
              <a:latin typeface="Menlo" panose="020B0609030804020204" pitchFamily="49" charset="0"/>
            </a:endParaRPr>
          </a:p>
          <a:p>
            <a:b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</a:br>
            <a:endParaRPr lang="en-US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print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(check0)</a:t>
            </a:r>
            <a:endParaRPr lang="en-US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A386D56-B8B8-6B45-94E8-293913FAA331}"/>
              </a:ext>
            </a:extLst>
          </p:cNvPr>
          <p:cNvSpPr/>
          <p:nvPr/>
        </p:nvSpPr>
        <p:spPr>
          <a:xfrm>
            <a:off x="7693152" y="1708548"/>
            <a:ext cx="3188208" cy="36933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x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= 1</a:t>
            </a:r>
          </a:p>
          <a:p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y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= 0</a:t>
            </a:r>
          </a:p>
          <a:p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check0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= 0</a:t>
            </a:r>
            <a:endParaRPr lang="en-US" dirty="0">
              <a:solidFill>
                <a:srgbClr val="9FA01C"/>
              </a:solidFill>
              <a:latin typeface="Menlo" panose="020B0609030804020204" pitchFamily="49" charset="0"/>
            </a:endParaRPr>
          </a:p>
          <a:p>
            <a:b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</a:br>
            <a:endParaRPr lang="en-US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(x):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  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(y):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pass</a:t>
            </a:r>
            <a:endParaRPr lang="en-US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  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else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: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     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check0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= 1</a:t>
            </a:r>
          </a:p>
          <a:p>
            <a:b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</a:br>
            <a:endParaRPr lang="en-US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print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(check0)</a:t>
            </a:r>
            <a:endParaRPr lang="en-US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BF078F-629C-FF42-B3A6-E9DCAE24B57E}"/>
              </a:ext>
            </a:extLst>
          </p:cNvPr>
          <p:cNvSpPr txBox="1"/>
          <p:nvPr/>
        </p:nvSpPr>
        <p:spPr>
          <a:xfrm>
            <a:off x="6866543" y="5985042"/>
            <a:ext cx="46577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Invalid syntax, you need to indent, which makes</a:t>
            </a:r>
            <a:br>
              <a:rPr lang="en-US" dirty="0"/>
            </a:br>
            <a:r>
              <a:rPr lang="en-US" dirty="0"/>
              <a:t>it clear</a:t>
            </a:r>
          </a:p>
        </p:txBody>
      </p:sp>
    </p:spTree>
    <p:extLst>
      <p:ext uri="{BB962C8B-B14F-4D97-AF65-F5344CB8AC3E}">
        <p14:creationId xmlns:p14="http://schemas.microsoft.com/office/powerpoint/2010/main" val="29212935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9A5DD-BB93-8649-A51B-001B1D0610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074" y="0"/>
            <a:ext cx="10515600" cy="1325563"/>
          </a:xfrm>
        </p:spPr>
        <p:txBody>
          <a:bodyPr/>
          <a:lstStyle/>
          <a:p>
            <a:r>
              <a:rPr lang="en-US" dirty="0"/>
              <a:t>Ambiguous expressions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5FB140A-8CB5-D443-A901-D8A848887F1A}"/>
              </a:ext>
            </a:extLst>
          </p:cNvPr>
          <p:cNvSpPr txBox="1">
            <a:spLocks/>
          </p:cNvSpPr>
          <p:nvPr/>
        </p:nvSpPr>
        <p:spPr>
          <a:xfrm>
            <a:off x="812074" y="1530555"/>
            <a:ext cx="10515600" cy="5024624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First let’s define tokens:</a:t>
            </a:r>
            <a:br>
              <a:rPr lang="en-US" dirty="0"/>
            </a:br>
            <a:r>
              <a:rPr lang="en-US" sz="900" dirty="0"/>
              <a:t> </a:t>
            </a:r>
            <a:endParaRPr lang="en-US" sz="1000" dirty="0"/>
          </a:p>
          <a:p>
            <a:pPr lvl="1"/>
            <a:r>
              <a:rPr lang="en-US" dirty="0">
                <a:latin typeface="Courier" pitchFamily="2" charset="0"/>
              </a:rPr>
              <a:t>NUM   = ”[0-9]+”</a:t>
            </a:r>
          </a:p>
          <a:p>
            <a:pPr lvl="1"/>
            <a:r>
              <a:rPr lang="en-US" dirty="0">
                <a:latin typeface="Courier" pitchFamily="2" charset="0"/>
              </a:rPr>
              <a:t>PLUS  = ‘\+’</a:t>
            </a:r>
          </a:p>
          <a:p>
            <a:pPr lvl="1"/>
            <a:r>
              <a:rPr lang="en-US" dirty="0">
                <a:latin typeface="Courier" pitchFamily="2" charset="0"/>
              </a:rPr>
              <a:t>TIMES = ‘\*’</a:t>
            </a:r>
          </a:p>
          <a:p>
            <a:pPr lvl="1"/>
            <a:r>
              <a:rPr lang="en-US" dirty="0">
                <a:latin typeface="Courier" pitchFamily="2" charset="0"/>
              </a:rPr>
              <a:t>LP    = ‘\(’</a:t>
            </a:r>
          </a:p>
          <a:p>
            <a:pPr lvl="1"/>
            <a:r>
              <a:rPr lang="en-US" dirty="0">
                <a:latin typeface="Courier" pitchFamily="2" charset="0"/>
              </a:rPr>
              <a:t>RP    = ‘\)’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Courier" pitchFamily="2" charset="0"/>
              </a:rPr>
              <a:t>Expr :== NUM </a:t>
            </a:r>
          </a:p>
          <a:p>
            <a:pPr marL="0" indent="0">
              <a:buNone/>
            </a:pPr>
            <a:r>
              <a:rPr lang="en-US" dirty="0">
                <a:latin typeface="Courier" pitchFamily="2" charset="0"/>
              </a:rPr>
              <a:t>     | Expr PLUS Expr</a:t>
            </a:r>
          </a:p>
          <a:p>
            <a:pPr marL="0" indent="0">
              <a:buNone/>
            </a:pPr>
            <a:r>
              <a:rPr lang="en-US" dirty="0">
                <a:latin typeface="Courier" pitchFamily="2" charset="0"/>
              </a:rPr>
              <a:t>     | Expr TIMES Expr</a:t>
            </a:r>
          </a:p>
          <a:p>
            <a:pPr marL="0" indent="0">
              <a:buNone/>
            </a:pPr>
            <a:r>
              <a:rPr lang="en-US" dirty="0">
                <a:latin typeface="Courier" pitchFamily="2" charset="0"/>
              </a:rPr>
              <a:t>     | LP Expr RP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6EA4C9-C9BB-6A49-9EA1-8035844B2E65}"/>
              </a:ext>
            </a:extLst>
          </p:cNvPr>
          <p:cNvSpPr txBox="1"/>
          <p:nvPr/>
        </p:nvSpPr>
        <p:spPr>
          <a:xfrm>
            <a:off x="6069874" y="1968137"/>
            <a:ext cx="4053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Let’s define a simple expression language</a:t>
            </a:r>
          </a:p>
        </p:txBody>
      </p:sp>
    </p:spTree>
    <p:extLst>
      <p:ext uri="{BB962C8B-B14F-4D97-AF65-F5344CB8AC3E}">
        <p14:creationId xmlns:p14="http://schemas.microsoft.com/office/powerpoint/2010/main" val="37329997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9A5DD-BB93-8649-A51B-001B1D061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Parse trees examples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365F6B-8F17-EB43-9516-24BC20625703}"/>
              </a:ext>
            </a:extLst>
          </p:cNvPr>
          <p:cNvSpPr txBox="1"/>
          <p:nvPr/>
        </p:nvSpPr>
        <p:spPr>
          <a:xfrm>
            <a:off x="8312275" y="3844476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336DFAF-C4E9-9B4C-A61A-9D887C7CFE72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8611267" y="4213808"/>
            <a:ext cx="0" cy="0"/>
          </a:xfrm>
          <a:prstGeom prst="line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536153F6-347B-B24A-947D-5538BFBD9E75}"/>
              </a:ext>
            </a:extLst>
          </p:cNvPr>
          <p:cNvSpPr txBox="1"/>
          <p:nvPr/>
        </p:nvSpPr>
        <p:spPr>
          <a:xfrm>
            <a:off x="7982465" y="2990033"/>
            <a:ext cx="1287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input: 5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31081947-D9AE-8547-82EB-3025A774AF02}"/>
              </a:ext>
            </a:extLst>
          </p:cNvPr>
          <p:cNvSpPr txBox="1">
            <a:spLocks/>
          </p:cNvSpPr>
          <p:nvPr/>
        </p:nvSpPr>
        <p:spPr>
          <a:xfrm>
            <a:off x="838200" y="3537079"/>
            <a:ext cx="3770870" cy="15786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" pitchFamily="2" charset="0"/>
              </a:rPr>
              <a:t>expr ::= NUM 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PLUS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TIMES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LPAREN expr RPAREN</a:t>
            </a:r>
          </a:p>
        </p:txBody>
      </p:sp>
    </p:spTree>
    <p:extLst>
      <p:ext uri="{BB962C8B-B14F-4D97-AF65-F5344CB8AC3E}">
        <p14:creationId xmlns:p14="http://schemas.microsoft.com/office/powerpoint/2010/main" val="37538696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9A5DD-BB93-8649-A51B-001B1D061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Parse trees examples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365F6B-8F17-EB43-9516-24BC20625703}"/>
              </a:ext>
            </a:extLst>
          </p:cNvPr>
          <p:cNvSpPr txBox="1"/>
          <p:nvPr/>
        </p:nvSpPr>
        <p:spPr>
          <a:xfrm>
            <a:off x="8312275" y="3844476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336DFAF-C4E9-9B4C-A61A-9D887C7CFE72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8611267" y="4213808"/>
            <a:ext cx="0" cy="0"/>
          </a:xfrm>
          <a:prstGeom prst="line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10315AA-FF5F-034F-9F25-0BF885E8F3F3}"/>
              </a:ext>
            </a:extLst>
          </p:cNvPr>
          <p:cNvCxnSpPr>
            <a:cxnSpLocks/>
          </p:cNvCxnSpPr>
          <p:nvPr/>
        </p:nvCxnSpPr>
        <p:spPr>
          <a:xfrm>
            <a:off x="8611267" y="4213808"/>
            <a:ext cx="0" cy="64102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1CA9870-EADA-E843-AAA1-5944386C1583}"/>
              </a:ext>
            </a:extLst>
          </p:cNvPr>
          <p:cNvSpPr txBox="1"/>
          <p:nvPr/>
        </p:nvSpPr>
        <p:spPr>
          <a:xfrm>
            <a:off x="8042842" y="4865823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5&gt;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6153F6-347B-B24A-947D-5538BFBD9E75}"/>
              </a:ext>
            </a:extLst>
          </p:cNvPr>
          <p:cNvSpPr txBox="1"/>
          <p:nvPr/>
        </p:nvSpPr>
        <p:spPr>
          <a:xfrm>
            <a:off x="7982465" y="2990033"/>
            <a:ext cx="1287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input: 5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40CF4B98-C770-0B41-9B89-C082E082D431}"/>
              </a:ext>
            </a:extLst>
          </p:cNvPr>
          <p:cNvSpPr txBox="1">
            <a:spLocks/>
          </p:cNvSpPr>
          <p:nvPr/>
        </p:nvSpPr>
        <p:spPr>
          <a:xfrm>
            <a:off x="838200" y="3537079"/>
            <a:ext cx="3770870" cy="15786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" pitchFamily="2" charset="0"/>
              </a:rPr>
              <a:t>expr ::= NUM 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PLUS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TIMES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LPAREN expr RPAREN</a:t>
            </a:r>
          </a:p>
        </p:txBody>
      </p:sp>
    </p:spTree>
    <p:extLst>
      <p:ext uri="{BB962C8B-B14F-4D97-AF65-F5344CB8AC3E}">
        <p14:creationId xmlns:p14="http://schemas.microsoft.com/office/powerpoint/2010/main" val="20244336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9A5DD-BB93-8649-A51B-001B1D061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Parse trees examples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9A2BFC8-D2BB-A84A-A04F-72F52DFC8C10}"/>
              </a:ext>
            </a:extLst>
          </p:cNvPr>
          <p:cNvSpPr txBox="1"/>
          <p:nvPr/>
        </p:nvSpPr>
        <p:spPr>
          <a:xfrm>
            <a:off x="7982465" y="2990033"/>
            <a:ext cx="1563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input: 5*6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C733FBD-D5E6-C944-BEC7-8D0594914478}"/>
              </a:ext>
            </a:extLst>
          </p:cNvPr>
          <p:cNvSpPr txBox="1">
            <a:spLocks/>
          </p:cNvSpPr>
          <p:nvPr/>
        </p:nvSpPr>
        <p:spPr>
          <a:xfrm>
            <a:off x="838200" y="3537079"/>
            <a:ext cx="3770870" cy="15786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" pitchFamily="2" charset="0"/>
              </a:rPr>
              <a:t>expr ::= NUM 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PLUS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TIMES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LPAREN expr RPAREN</a:t>
            </a:r>
          </a:p>
        </p:txBody>
      </p:sp>
    </p:spTree>
    <p:extLst>
      <p:ext uri="{BB962C8B-B14F-4D97-AF65-F5344CB8AC3E}">
        <p14:creationId xmlns:p14="http://schemas.microsoft.com/office/powerpoint/2010/main" val="23035116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9A5DD-BB93-8649-A51B-001B1D061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Parse trees examples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365F6B-8F17-EB43-9516-24BC20625703}"/>
              </a:ext>
            </a:extLst>
          </p:cNvPr>
          <p:cNvSpPr txBox="1"/>
          <p:nvPr/>
        </p:nvSpPr>
        <p:spPr>
          <a:xfrm>
            <a:off x="8312275" y="3844476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9A2BFC8-D2BB-A84A-A04F-72F52DFC8C10}"/>
              </a:ext>
            </a:extLst>
          </p:cNvPr>
          <p:cNvSpPr txBox="1"/>
          <p:nvPr/>
        </p:nvSpPr>
        <p:spPr>
          <a:xfrm>
            <a:off x="7982465" y="2990033"/>
            <a:ext cx="1563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input: 5*6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CD0CAFE-3EA8-AF4B-93F5-BF4677AEF001}"/>
              </a:ext>
            </a:extLst>
          </p:cNvPr>
          <p:cNvSpPr txBox="1">
            <a:spLocks/>
          </p:cNvSpPr>
          <p:nvPr/>
        </p:nvSpPr>
        <p:spPr>
          <a:xfrm>
            <a:off x="838200" y="3537079"/>
            <a:ext cx="3770870" cy="15786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" pitchFamily="2" charset="0"/>
              </a:rPr>
              <a:t>expr ::= NUM 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PLUS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TIMES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LPAREN expr RPAREN</a:t>
            </a:r>
          </a:p>
        </p:txBody>
      </p:sp>
    </p:spTree>
    <p:extLst>
      <p:ext uri="{BB962C8B-B14F-4D97-AF65-F5344CB8AC3E}">
        <p14:creationId xmlns:p14="http://schemas.microsoft.com/office/powerpoint/2010/main" val="26464594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9A5DD-BB93-8649-A51B-001B1D061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Parse trees examples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365F6B-8F17-EB43-9516-24BC20625703}"/>
              </a:ext>
            </a:extLst>
          </p:cNvPr>
          <p:cNvSpPr txBox="1"/>
          <p:nvPr/>
        </p:nvSpPr>
        <p:spPr>
          <a:xfrm>
            <a:off x="8312275" y="3844476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336DFAF-C4E9-9B4C-A61A-9D887C7CFE72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8611267" y="4213808"/>
            <a:ext cx="0" cy="0"/>
          </a:xfrm>
          <a:prstGeom prst="line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10315AA-FF5F-034F-9F25-0BF885E8F3F3}"/>
              </a:ext>
            </a:extLst>
          </p:cNvPr>
          <p:cNvCxnSpPr>
            <a:cxnSpLocks/>
            <a:endCxn id="10" idx="0"/>
          </p:cNvCxnSpPr>
          <p:nvPr/>
        </p:nvCxnSpPr>
        <p:spPr>
          <a:xfrm flipH="1">
            <a:off x="7386894" y="4213808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10D8A41-2245-E242-8D41-9562DD928834}"/>
              </a:ext>
            </a:extLst>
          </p:cNvPr>
          <p:cNvSpPr txBox="1"/>
          <p:nvPr/>
        </p:nvSpPr>
        <p:spPr>
          <a:xfrm>
            <a:off x="7087902" y="4672226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3C0127C-A983-F04C-9C46-031555DF1C77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8611267" y="4213808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EE46C89-9597-A14F-B77F-A58DFB112A10}"/>
              </a:ext>
            </a:extLst>
          </p:cNvPr>
          <p:cNvCxnSpPr>
            <a:cxnSpLocks/>
            <a:stCxn id="6" idx="2"/>
            <a:endCxn id="23" idx="0"/>
          </p:cNvCxnSpPr>
          <p:nvPr/>
        </p:nvCxnSpPr>
        <p:spPr>
          <a:xfrm>
            <a:off x="8611267" y="4213808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925C4C8F-0207-D442-BE44-1EED2F41E3B7}"/>
              </a:ext>
            </a:extLst>
          </p:cNvPr>
          <p:cNvSpPr txBox="1"/>
          <p:nvPr/>
        </p:nvSpPr>
        <p:spPr>
          <a:xfrm>
            <a:off x="8112092" y="4722834"/>
            <a:ext cx="9983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&lt;TIMES&gt;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9A2BFC8-D2BB-A84A-A04F-72F52DFC8C10}"/>
              </a:ext>
            </a:extLst>
          </p:cNvPr>
          <p:cNvSpPr txBox="1"/>
          <p:nvPr/>
        </p:nvSpPr>
        <p:spPr>
          <a:xfrm>
            <a:off x="7982465" y="2990033"/>
            <a:ext cx="1563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input: 5*6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8186A24-AEE9-804E-B514-7522889CE1C6}"/>
              </a:ext>
            </a:extLst>
          </p:cNvPr>
          <p:cNvSpPr txBox="1"/>
          <p:nvPr/>
        </p:nvSpPr>
        <p:spPr>
          <a:xfrm>
            <a:off x="9409434" y="4672226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29A73C6B-B655-6643-A3CA-7ED809B8A8A0}"/>
              </a:ext>
            </a:extLst>
          </p:cNvPr>
          <p:cNvSpPr txBox="1">
            <a:spLocks/>
          </p:cNvSpPr>
          <p:nvPr/>
        </p:nvSpPr>
        <p:spPr>
          <a:xfrm>
            <a:off x="838200" y="3537079"/>
            <a:ext cx="3770870" cy="15786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" pitchFamily="2" charset="0"/>
              </a:rPr>
              <a:t>expr ::= NUM 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PLUS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TIMES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LPAREN expr RPAREN</a:t>
            </a:r>
          </a:p>
        </p:txBody>
      </p:sp>
    </p:spTree>
    <p:extLst>
      <p:ext uri="{BB962C8B-B14F-4D97-AF65-F5344CB8AC3E}">
        <p14:creationId xmlns:p14="http://schemas.microsoft.com/office/powerpoint/2010/main" val="37790576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9A5DD-BB93-8649-A51B-001B1D061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Parse trees examples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365F6B-8F17-EB43-9516-24BC20625703}"/>
              </a:ext>
            </a:extLst>
          </p:cNvPr>
          <p:cNvSpPr txBox="1"/>
          <p:nvPr/>
        </p:nvSpPr>
        <p:spPr>
          <a:xfrm>
            <a:off x="8312275" y="3844476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336DFAF-C4E9-9B4C-A61A-9D887C7CFE72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8611267" y="4213808"/>
            <a:ext cx="0" cy="0"/>
          </a:xfrm>
          <a:prstGeom prst="line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10315AA-FF5F-034F-9F25-0BF885E8F3F3}"/>
              </a:ext>
            </a:extLst>
          </p:cNvPr>
          <p:cNvCxnSpPr>
            <a:cxnSpLocks/>
            <a:endCxn id="10" idx="0"/>
          </p:cNvCxnSpPr>
          <p:nvPr/>
        </p:nvCxnSpPr>
        <p:spPr>
          <a:xfrm flipH="1">
            <a:off x="7386894" y="4213808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1CA9870-EADA-E843-AAA1-5944386C1583}"/>
              </a:ext>
            </a:extLst>
          </p:cNvPr>
          <p:cNvSpPr txBox="1"/>
          <p:nvPr/>
        </p:nvSpPr>
        <p:spPr>
          <a:xfrm>
            <a:off x="6808839" y="5527663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5&gt;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0D8A41-2245-E242-8D41-9562DD928834}"/>
              </a:ext>
            </a:extLst>
          </p:cNvPr>
          <p:cNvSpPr txBox="1"/>
          <p:nvPr/>
        </p:nvSpPr>
        <p:spPr>
          <a:xfrm>
            <a:off x="7087902" y="4672226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3C0127C-A983-F04C-9C46-031555DF1C77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8611267" y="4213808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EE46C89-9597-A14F-B77F-A58DFB112A10}"/>
              </a:ext>
            </a:extLst>
          </p:cNvPr>
          <p:cNvCxnSpPr>
            <a:cxnSpLocks/>
            <a:stCxn id="6" idx="2"/>
            <a:endCxn id="23" idx="0"/>
          </p:cNvCxnSpPr>
          <p:nvPr/>
        </p:nvCxnSpPr>
        <p:spPr>
          <a:xfrm>
            <a:off x="8611267" y="4213808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D058087E-A6F1-B240-B47D-E17FCAEF59C0}"/>
              </a:ext>
            </a:extLst>
          </p:cNvPr>
          <p:cNvSpPr txBox="1"/>
          <p:nvPr/>
        </p:nvSpPr>
        <p:spPr>
          <a:xfrm>
            <a:off x="9159846" y="5526669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6&gt;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25C4C8F-0207-D442-BE44-1EED2F41E3B7}"/>
              </a:ext>
            </a:extLst>
          </p:cNvPr>
          <p:cNvSpPr txBox="1"/>
          <p:nvPr/>
        </p:nvSpPr>
        <p:spPr>
          <a:xfrm>
            <a:off x="8112092" y="4722834"/>
            <a:ext cx="9983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&lt;TIMES&gt;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9A2BFC8-D2BB-A84A-A04F-72F52DFC8C10}"/>
              </a:ext>
            </a:extLst>
          </p:cNvPr>
          <p:cNvSpPr txBox="1"/>
          <p:nvPr/>
        </p:nvSpPr>
        <p:spPr>
          <a:xfrm>
            <a:off x="7982465" y="2990033"/>
            <a:ext cx="1563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input: 5*6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8186A24-AEE9-804E-B514-7522889CE1C6}"/>
              </a:ext>
            </a:extLst>
          </p:cNvPr>
          <p:cNvSpPr txBox="1"/>
          <p:nvPr/>
        </p:nvSpPr>
        <p:spPr>
          <a:xfrm>
            <a:off x="9409434" y="4672226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C623837-D8C3-2641-82CB-E92A04939DA5}"/>
              </a:ext>
            </a:extLst>
          </p:cNvPr>
          <p:cNvCxnSpPr>
            <a:cxnSpLocks/>
          </p:cNvCxnSpPr>
          <p:nvPr/>
        </p:nvCxnSpPr>
        <p:spPr>
          <a:xfrm>
            <a:off x="7377264" y="5041558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43429BD-BA29-2246-82F8-D2BA8FCE0FA5}"/>
              </a:ext>
            </a:extLst>
          </p:cNvPr>
          <p:cNvCxnSpPr>
            <a:cxnSpLocks/>
          </p:cNvCxnSpPr>
          <p:nvPr/>
        </p:nvCxnSpPr>
        <p:spPr>
          <a:xfrm>
            <a:off x="9708426" y="5058260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58512133-7B6F-0644-B9F8-6AA33EB569C3}"/>
              </a:ext>
            </a:extLst>
          </p:cNvPr>
          <p:cNvSpPr txBox="1">
            <a:spLocks/>
          </p:cNvSpPr>
          <p:nvPr/>
        </p:nvSpPr>
        <p:spPr>
          <a:xfrm>
            <a:off x="838200" y="3537079"/>
            <a:ext cx="3770870" cy="15786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" pitchFamily="2" charset="0"/>
              </a:rPr>
              <a:t>expr ::= NUM 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PLUS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TIMES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LPAREN expr RPAREN</a:t>
            </a:r>
          </a:p>
        </p:txBody>
      </p:sp>
    </p:spTree>
    <p:extLst>
      <p:ext uri="{BB962C8B-B14F-4D97-AF65-F5344CB8AC3E}">
        <p14:creationId xmlns:p14="http://schemas.microsoft.com/office/powerpoint/2010/main" val="20955811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9A5DD-BB93-8649-A51B-001B1D061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Parse trees examples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365F6B-8F17-EB43-9516-24BC20625703}"/>
              </a:ext>
            </a:extLst>
          </p:cNvPr>
          <p:cNvSpPr txBox="1"/>
          <p:nvPr/>
        </p:nvSpPr>
        <p:spPr>
          <a:xfrm>
            <a:off x="8312275" y="3844476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336DFAF-C4E9-9B4C-A61A-9D887C7CFE72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8611267" y="4213808"/>
            <a:ext cx="0" cy="0"/>
          </a:xfrm>
          <a:prstGeom prst="line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69A2BFC8-D2BB-A84A-A04F-72F52DFC8C10}"/>
              </a:ext>
            </a:extLst>
          </p:cNvPr>
          <p:cNvSpPr txBox="1"/>
          <p:nvPr/>
        </p:nvSpPr>
        <p:spPr>
          <a:xfrm>
            <a:off x="7982465" y="2990033"/>
            <a:ext cx="1701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input: 5**6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B8B602-BDE3-F94D-A428-492444E578F2}"/>
              </a:ext>
            </a:extLst>
          </p:cNvPr>
          <p:cNvSpPr txBox="1"/>
          <p:nvPr/>
        </p:nvSpPr>
        <p:spPr>
          <a:xfrm>
            <a:off x="10206681" y="3336324"/>
            <a:ext cx="15531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What happens</a:t>
            </a:r>
            <a:br>
              <a:rPr lang="en-US" dirty="0"/>
            </a:br>
            <a:r>
              <a:rPr lang="en-US" dirty="0"/>
              <a:t>in an error?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E3E2233-085D-3C47-9EDD-D6602A0D7BBB}"/>
              </a:ext>
            </a:extLst>
          </p:cNvPr>
          <p:cNvSpPr txBox="1">
            <a:spLocks/>
          </p:cNvSpPr>
          <p:nvPr/>
        </p:nvSpPr>
        <p:spPr>
          <a:xfrm>
            <a:off x="838200" y="3537079"/>
            <a:ext cx="3770870" cy="15786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" pitchFamily="2" charset="0"/>
              </a:rPr>
              <a:t>expr ::= NUM 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PLUS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TIMES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LPAREN expr RPAREN</a:t>
            </a:r>
          </a:p>
        </p:txBody>
      </p:sp>
    </p:spTree>
    <p:extLst>
      <p:ext uri="{BB962C8B-B14F-4D97-AF65-F5344CB8AC3E}">
        <p14:creationId xmlns:p14="http://schemas.microsoft.com/office/powerpoint/2010/main" val="27452801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9A5DD-BB93-8649-A51B-001B1D061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Parse trees examples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365F6B-8F17-EB43-9516-24BC20625703}"/>
              </a:ext>
            </a:extLst>
          </p:cNvPr>
          <p:cNvSpPr txBox="1"/>
          <p:nvPr/>
        </p:nvSpPr>
        <p:spPr>
          <a:xfrm>
            <a:off x="8312275" y="3844476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336DFAF-C4E9-9B4C-A61A-9D887C7CFE72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8611267" y="4213808"/>
            <a:ext cx="0" cy="0"/>
          </a:xfrm>
          <a:prstGeom prst="line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10315AA-FF5F-034F-9F25-0BF885E8F3F3}"/>
              </a:ext>
            </a:extLst>
          </p:cNvPr>
          <p:cNvCxnSpPr>
            <a:cxnSpLocks/>
            <a:endCxn id="10" idx="0"/>
          </p:cNvCxnSpPr>
          <p:nvPr/>
        </p:nvCxnSpPr>
        <p:spPr>
          <a:xfrm flipH="1">
            <a:off x="7386894" y="4213808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10D8A41-2245-E242-8D41-9562DD928834}"/>
              </a:ext>
            </a:extLst>
          </p:cNvPr>
          <p:cNvSpPr txBox="1"/>
          <p:nvPr/>
        </p:nvSpPr>
        <p:spPr>
          <a:xfrm>
            <a:off x="7087902" y="4672226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3C0127C-A983-F04C-9C46-031555DF1C77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8611267" y="4213808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EE46C89-9597-A14F-B77F-A58DFB112A10}"/>
              </a:ext>
            </a:extLst>
          </p:cNvPr>
          <p:cNvCxnSpPr>
            <a:cxnSpLocks/>
            <a:stCxn id="6" idx="2"/>
            <a:endCxn id="23" idx="0"/>
          </p:cNvCxnSpPr>
          <p:nvPr/>
        </p:nvCxnSpPr>
        <p:spPr>
          <a:xfrm>
            <a:off x="8611267" y="4213808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925C4C8F-0207-D442-BE44-1EED2F41E3B7}"/>
              </a:ext>
            </a:extLst>
          </p:cNvPr>
          <p:cNvSpPr txBox="1"/>
          <p:nvPr/>
        </p:nvSpPr>
        <p:spPr>
          <a:xfrm>
            <a:off x="8112092" y="4722834"/>
            <a:ext cx="9983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&lt;TIMES&gt;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9A2BFC8-D2BB-A84A-A04F-72F52DFC8C10}"/>
              </a:ext>
            </a:extLst>
          </p:cNvPr>
          <p:cNvSpPr txBox="1"/>
          <p:nvPr/>
        </p:nvSpPr>
        <p:spPr>
          <a:xfrm>
            <a:off x="7982465" y="2990033"/>
            <a:ext cx="1701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input: 5**6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8186A24-AEE9-804E-B514-7522889CE1C6}"/>
              </a:ext>
            </a:extLst>
          </p:cNvPr>
          <p:cNvSpPr txBox="1"/>
          <p:nvPr/>
        </p:nvSpPr>
        <p:spPr>
          <a:xfrm>
            <a:off x="9409434" y="4672226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8FA7A3-8CB7-124A-92C9-1172E76F1DF5}"/>
              </a:ext>
            </a:extLst>
          </p:cNvPr>
          <p:cNvSpPr txBox="1"/>
          <p:nvPr/>
        </p:nvSpPr>
        <p:spPr>
          <a:xfrm>
            <a:off x="10206681" y="3336324"/>
            <a:ext cx="15531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What happens</a:t>
            </a:r>
            <a:br>
              <a:rPr lang="en-US" dirty="0"/>
            </a:br>
            <a:r>
              <a:rPr lang="en-US" dirty="0"/>
              <a:t>in an error?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2A761EB1-49D6-7C41-8B40-09621FB535B8}"/>
              </a:ext>
            </a:extLst>
          </p:cNvPr>
          <p:cNvSpPr txBox="1">
            <a:spLocks/>
          </p:cNvSpPr>
          <p:nvPr/>
        </p:nvSpPr>
        <p:spPr>
          <a:xfrm>
            <a:off x="838200" y="3537079"/>
            <a:ext cx="3770870" cy="15786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" pitchFamily="2" charset="0"/>
              </a:rPr>
              <a:t>expr ::= NUM 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PLUS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TIMES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LPAREN expr RPAREN</a:t>
            </a:r>
          </a:p>
        </p:txBody>
      </p:sp>
    </p:spTree>
    <p:extLst>
      <p:ext uri="{BB962C8B-B14F-4D97-AF65-F5344CB8AC3E}">
        <p14:creationId xmlns:p14="http://schemas.microsoft.com/office/powerpoint/2010/main" val="24587744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9A5DD-BB93-8649-A51B-001B1D061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Parse trees examples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365F6B-8F17-EB43-9516-24BC20625703}"/>
              </a:ext>
            </a:extLst>
          </p:cNvPr>
          <p:cNvSpPr txBox="1"/>
          <p:nvPr/>
        </p:nvSpPr>
        <p:spPr>
          <a:xfrm>
            <a:off x="8312275" y="3844476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336DFAF-C4E9-9B4C-A61A-9D887C7CFE72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8611267" y="4213808"/>
            <a:ext cx="0" cy="0"/>
          </a:xfrm>
          <a:prstGeom prst="line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10315AA-FF5F-034F-9F25-0BF885E8F3F3}"/>
              </a:ext>
            </a:extLst>
          </p:cNvPr>
          <p:cNvCxnSpPr>
            <a:cxnSpLocks/>
            <a:endCxn id="10" idx="0"/>
          </p:cNvCxnSpPr>
          <p:nvPr/>
        </p:nvCxnSpPr>
        <p:spPr>
          <a:xfrm flipH="1">
            <a:off x="7386894" y="4213808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1CA9870-EADA-E843-AAA1-5944386C1583}"/>
              </a:ext>
            </a:extLst>
          </p:cNvPr>
          <p:cNvSpPr txBox="1"/>
          <p:nvPr/>
        </p:nvSpPr>
        <p:spPr>
          <a:xfrm>
            <a:off x="7079078" y="5527888"/>
            <a:ext cx="10111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&lt;TIMES&gt;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0D8A41-2245-E242-8D41-9562DD928834}"/>
              </a:ext>
            </a:extLst>
          </p:cNvPr>
          <p:cNvSpPr txBox="1"/>
          <p:nvPr/>
        </p:nvSpPr>
        <p:spPr>
          <a:xfrm>
            <a:off x="7087902" y="4672226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3C0127C-A983-F04C-9C46-031555DF1C77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8611267" y="4213808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EE46C89-9597-A14F-B77F-A58DFB112A10}"/>
              </a:ext>
            </a:extLst>
          </p:cNvPr>
          <p:cNvCxnSpPr>
            <a:cxnSpLocks/>
            <a:stCxn id="6" idx="2"/>
            <a:endCxn id="23" idx="0"/>
          </p:cNvCxnSpPr>
          <p:nvPr/>
        </p:nvCxnSpPr>
        <p:spPr>
          <a:xfrm>
            <a:off x="8611267" y="4213808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D058087E-A6F1-B240-B47D-E17FCAEF59C0}"/>
              </a:ext>
            </a:extLst>
          </p:cNvPr>
          <p:cNvSpPr txBox="1"/>
          <p:nvPr/>
        </p:nvSpPr>
        <p:spPr>
          <a:xfrm>
            <a:off x="9159846" y="5526669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6&gt;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25C4C8F-0207-D442-BE44-1EED2F41E3B7}"/>
              </a:ext>
            </a:extLst>
          </p:cNvPr>
          <p:cNvSpPr txBox="1"/>
          <p:nvPr/>
        </p:nvSpPr>
        <p:spPr>
          <a:xfrm>
            <a:off x="8112092" y="4722834"/>
            <a:ext cx="9983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&lt;TIMES&gt;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9A2BFC8-D2BB-A84A-A04F-72F52DFC8C10}"/>
              </a:ext>
            </a:extLst>
          </p:cNvPr>
          <p:cNvSpPr txBox="1"/>
          <p:nvPr/>
        </p:nvSpPr>
        <p:spPr>
          <a:xfrm>
            <a:off x="7982465" y="2990033"/>
            <a:ext cx="1701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input: 5**6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8186A24-AEE9-804E-B514-7522889CE1C6}"/>
              </a:ext>
            </a:extLst>
          </p:cNvPr>
          <p:cNvSpPr txBox="1"/>
          <p:nvPr/>
        </p:nvSpPr>
        <p:spPr>
          <a:xfrm>
            <a:off x="9409434" y="4672226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C623837-D8C3-2641-82CB-E92A04939DA5}"/>
              </a:ext>
            </a:extLst>
          </p:cNvPr>
          <p:cNvCxnSpPr>
            <a:cxnSpLocks/>
          </p:cNvCxnSpPr>
          <p:nvPr/>
        </p:nvCxnSpPr>
        <p:spPr>
          <a:xfrm>
            <a:off x="7377264" y="5041558"/>
            <a:ext cx="166403" cy="35834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43429BD-BA29-2246-82F8-D2BA8FCE0FA5}"/>
              </a:ext>
            </a:extLst>
          </p:cNvPr>
          <p:cNvCxnSpPr>
            <a:cxnSpLocks/>
          </p:cNvCxnSpPr>
          <p:nvPr/>
        </p:nvCxnSpPr>
        <p:spPr>
          <a:xfrm>
            <a:off x="9708426" y="5058260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2F83BBB-D175-B141-8465-F6BC64916652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6711389" y="5041558"/>
            <a:ext cx="675505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D82C45F-E3A7-6743-8269-97A48E47547F}"/>
              </a:ext>
            </a:extLst>
          </p:cNvPr>
          <p:cNvSpPr txBox="1"/>
          <p:nvPr/>
        </p:nvSpPr>
        <p:spPr>
          <a:xfrm>
            <a:off x="5996660" y="5526669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5&gt;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31FEB3-D759-E34E-8F9F-CC94B8486E0E}"/>
              </a:ext>
            </a:extLst>
          </p:cNvPr>
          <p:cNvSpPr txBox="1"/>
          <p:nvPr/>
        </p:nvSpPr>
        <p:spPr>
          <a:xfrm>
            <a:off x="7327557" y="6203092"/>
            <a:ext cx="1426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 possible!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A39D555-A499-C24B-960E-256BF89118A1}"/>
              </a:ext>
            </a:extLst>
          </p:cNvPr>
          <p:cNvSpPr txBox="1"/>
          <p:nvPr/>
        </p:nvSpPr>
        <p:spPr>
          <a:xfrm>
            <a:off x="10206681" y="3336324"/>
            <a:ext cx="15531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What happens</a:t>
            </a:r>
            <a:br>
              <a:rPr lang="en-US" dirty="0"/>
            </a:br>
            <a:r>
              <a:rPr lang="en-US" dirty="0"/>
              <a:t>in an error?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EE54E0EE-4065-164C-A908-8A2D737A4044}"/>
              </a:ext>
            </a:extLst>
          </p:cNvPr>
          <p:cNvSpPr txBox="1">
            <a:spLocks/>
          </p:cNvSpPr>
          <p:nvPr/>
        </p:nvSpPr>
        <p:spPr>
          <a:xfrm>
            <a:off x="838200" y="3537079"/>
            <a:ext cx="3770870" cy="15786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" pitchFamily="2" charset="0"/>
              </a:rPr>
              <a:t>expr ::= NUM 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PLUS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TIMES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LPAREN expr RPAREN</a:t>
            </a:r>
          </a:p>
        </p:txBody>
      </p:sp>
    </p:spTree>
    <p:extLst>
      <p:ext uri="{BB962C8B-B14F-4D97-AF65-F5344CB8AC3E}">
        <p14:creationId xmlns:p14="http://schemas.microsoft.com/office/powerpoint/2010/main" val="14622218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9A5DD-BB93-8649-A51B-001B1D061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Parse trees examples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969C829-2E70-B347-B9F2-DE423B129922}"/>
              </a:ext>
            </a:extLst>
          </p:cNvPr>
          <p:cNvSpPr txBox="1"/>
          <p:nvPr/>
        </p:nvSpPr>
        <p:spPr>
          <a:xfrm>
            <a:off x="7832075" y="2720465"/>
            <a:ext cx="2114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input: (1+5)*6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F9D3F17-5BD9-C249-AB31-B4186A52A3E1}"/>
              </a:ext>
            </a:extLst>
          </p:cNvPr>
          <p:cNvSpPr txBox="1">
            <a:spLocks/>
          </p:cNvSpPr>
          <p:nvPr/>
        </p:nvSpPr>
        <p:spPr>
          <a:xfrm>
            <a:off x="838200" y="3537079"/>
            <a:ext cx="3770870" cy="15786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" pitchFamily="2" charset="0"/>
              </a:rPr>
              <a:t>expr ::= NUM 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PLUS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TIMES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LPAREN expr RPAREN</a:t>
            </a:r>
          </a:p>
        </p:txBody>
      </p:sp>
    </p:spTree>
    <p:extLst>
      <p:ext uri="{BB962C8B-B14F-4D97-AF65-F5344CB8AC3E}">
        <p14:creationId xmlns:p14="http://schemas.microsoft.com/office/powerpoint/2010/main" val="31008713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9A5DD-BB93-8649-A51B-001B1D061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Parse trees examples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969C829-2E70-B347-B9F2-DE423B129922}"/>
              </a:ext>
            </a:extLst>
          </p:cNvPr>
          <p:cNvSpPr txBox="1"/>
          <p:nvPr/>
        </p:nvSpPr>
        <p:spPr>
          <a:xfrm>
            <a:off x="7832075" y="2720465"/>
            <a:ext cx="2114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input: (1+5)*6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997EA6-E712-EA4C-AC9A-2B85E491F6F4}"/>
              </a:ext>
            </a:extLst>
          </p:cNvPr>
          <p:cNvSpPr txBox="1"/>
          <p:nvPr/>
        </p:nvSpPr>
        <p:spPr>
          <a:xfrm>
            <a:off x="8590423" y="3537079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008B4CE-2C22-9145-850C-94D35749C6DE}"/>
              </a:ext>
            </a:extLst>
          </p:cNvPr>
          <p:cNvSpPr txBox="1">
            <a:spLocks/>
          </p:cNvSpPr>
          <p:nvPr/>
        </p:nvSpPr>
        <p:spPr>
          <a:xfrm>
            <a:off x="838200" y="3537079"/>
            <a:ext cx="3770870" cy="15786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" pitchFamily="2" charset="0"/>
              </a:rPr>
              <a:t>expr ::= NUM 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PLUS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TIMES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LPAREN expr RPAREN</a:t>
            </a:r>
          </a:p>
        </p:txBody>
      </p:sp>
    </p:spTree>
    <p:extLst>
      <p:ext uri="{BB962C8B-B14F-4D97-AF65-F5344CB8AC3E}">
        <p14:creationId xmlns:p14="http://schemas.microsoft.com/office/powerpoint/2010/main" val="19897384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9A5DD-BB93-8649-A51B-001B1D061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Parse trees examples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969C829-2E70-B347-B9F2-DE423B129922}"/>
              </a:ext>
            </a:extLst>
          </p:cNvPr>
          <p:cNvSpPr txBox="1"/>
          <p:nvPr/>
        </p:nvSpPr>
        <p:spPr>
          <a:xfrm>
            <a:off x="7832075" y="2720465"/>
            <a:ext cx="2114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input: (1+5)*6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997EA6-E712-EA4C-AC9A-2B85E491F6F4}"/>
              </a:ext>
            </a:extLst>
          </p:cNvPr>
          <p:cNvSpPr txBox="1"/>
          <p:nvPr/>
        </p:nvSpPr>
        <p:spPr>
          <a:xfrm>
            <a:off x="8590423" y="3537079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FC6ED57-413F-C643-8247-291A5F45E4A9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7625224" y="3984637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7B81EE5-1C22-3B47-9ED9-AFDED17F1F33}"/>
              </a:ext>
            </a:extLst>
          </p:cNvPr>
          <p:cNvSpPr txBox="1"/>
          <p:nvPr/>
        </p:nvSpPr>
        <p:spPr>
          <a:xfrm>
            <a:off x="7326232" y="4443055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8C68B29-7B4A-0C4A-B5EB-BBD392AEA931}"/>
              </a:ext>
            </a:extLst>
          </p:cNvPr>
          <p:cNvCxnSpPr>
            <a:cxnSpLocks/>
          </p:cNvCxnSpPr>
          <p:nvPr/>
        </p:nvCxnSpPr>
        <p:spPr>
          <a:xfrm>
            <a:off x="8849597" y="3984637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BDEC6BD-BDD7-7044-8D7A-10A5BAE9E6EA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8849597" y="3984637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19F12CD-CB05-974C-898D-D404B91E700C}"/>
              </a:ext>
            </a:extLst>
          </p:cNvPr>
          <p:cNvSpPr txBox="1"/>
          <p:nvPr/>
        </p:nvSpPr>
        <p:spPr>
          <a:xfrm>
            <a:off x="8350422" y="4493663"/>
            <a:ext cx="9983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&lt;TIMES&gt;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E7D7CC-EB91-C34E-A696-DE13C7D5E3F4}"/>
              </a:ext>
            </a:extLst>
          </p:cNvPr>
          <p:cNvSpPr txBox="1"/>
          <p:nvPr/>
        </p:nvSpPr>
        <p:spPr>
          <a:xfrm>
            <a:off x="9647764" y="4443055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9948A115-2612-144C-B97A-0413F239A853}"/>
              </a:ext>
            </a:extLst>
          </p:cNvPr>
          <p:cNvSpPr txBox="1">
            <a:spLocks/>
          </p:cNvSpPr>
          <p:nvPr/>
        </p:nvSpPr>
        <p:spPr>
          <a:xfrm>
            <a:off x="838200" y="3537079"/>
            <a:ext cx="3770870" cy="15786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" pitchFamily="2" charset="0"/>
              </a:rPr>
              <a:t>expr ::= NUM 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PLUS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TIMES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LPAREN expr RPAREN</a:t>
            </a:r>
          </a:p>
        </p:txBody>
      </p:sp>
    </p:spTree>
    <p:extLst>
      <p:ext uri="{BB962C8B-B14F-4D97-AF65-F5344CB8AC3E}">
        <p14:creationId xmlns:p14="http://schemas.microsoft.com/office/powerpoint/2010/main" val="22975960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9A5DD-BB93-8649-A51B-001B1D061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Parse trees examples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969C829-2E70-B347-B9F2-DE423B129922}"/>
              </a:ext>
            </a:extLst>
          </p:cNvPr>
          <p:cNvSpPr txBox="1"/>
          <p:nvPr/>
        </p:nvSpPr>
        <p:spPr>
          <a:xfrm>
            <a:off x="7832075" y="2720465"/>
            <a:ext cx="2114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input: (1+5)*6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997EA6-E712-EA4C-AC9A-2B85E491F6F4}"/>
              </a:ext>
            </a:extLst>
          </p:cNvPr>
          <p:cNvSpPr txBox="1"/>
          <p:nvPr/>
        </p:nvSpPr>
        <p:spPr>
          <a:xfrm>
            <a:off x="8590423" y="3537079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FC6ED57-413F-C643-8247-291A5F45E4A9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7625224" y="3984637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7B81EE5-1C22-3B47-9ED9-AFDED17F1F33}"/>
              </a:ext>
            </a:extLst>
          </p:cNvPr>
          <p:cNvSpPr txBox="1"/>
          <p:nvPr/>
        </p:nvSpPr>
        <p:spPr>
          <a:xfrm>
            <a:off x="7326232" y="4443055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8C68B29-7B4A-0C4A-B5EB-BBD392AEA931}"/>
              </a:ext>
            </a:extLst>
          </p:cNvPr>
          <p:cNvCxnSpPr>
            <a:cxnSpLocks/>
          </p:cNvCxnSpPr>
          <p:nvPr/>
        </p:nvCxnSpPr>
        <p:spPr>
          <a:xfrm>
            <a:off x="8849597" y="3984637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BDEC6BD-BDD7-7044-8D7A-10A5BAE9E6EA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8849597" y="3984637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19F12CD-CB05-974C-898D-D404B91E700C}"/>
              </a:ext>
            </a:extLst>
          </p:cNvPr>
          <p:cNvSpPr txBox="1"/>
          <p:nvPr/>
        </p:nvSpPr>
        <p:spPr>
          <a:xfrm>
            <a:off x="8350422" y="4493663"/>
            <a:ext cx="9983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&lt;TIMES&gt;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E7D7CC-EB91-C34E-A696-DE13C7D5E3F4}"/>
              </a:ext>
            </a:extLst>
          </p:cNvPr>
          <p:cNvSpPr txBox="1"/>
          <p:nvPr/>
        </p:nvSpPr>
        <p:spPr>
          <a:xfrm>
            <a:off x="9647764" y="4443055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156AC1-B684-7448-B2B3-8760BDCAB790}"/>
              </a:ext>
            </a:extLst>
          </p:cNvPr>
          <p:cNvSpPr txBox="1"/>
          <p:nvPr/>
        </p:nvSpPr>
        <p:spPr>
          <a:xfrm>
            <a:off x="9378331" y="5270805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6&gt;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2666FC4-ECD5-EF42-9F14-320643B07C75}"/>
              </a:ext>
            </a:extLst>
          </p:cNvPr>
          <p:cNvCxnSpPr>
            <a:cxnSpLocks/>
          </p:cNvCxnSpPr>
          <p:nvPr/>
        </p:nvCxnSpPr>
        <p:spPr>
          <a:xfrm>
            <a:off x="9926911" y="4802396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754CCB14-F5C4-1445-AFCE-747F7C3E92E6}"/>
              </a:ext>
            </a:extLst>
          </p:cNvPr>
          <p:cNvSpPr txBox="1">
            <a:spLocks/>
          </p:cNvSpPr>
          <p:nvPr/>
        </p:nvSpPr>
        <p:spPr>
          <a:xfrm>
            <a:off x="838200" y="3537079"/>
            <a:ext cx="3770870" cy="15786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" pitchFamily="2" charset="0"/>
              </a:rPr>
              <a:t>expr ::= NUM 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PLUS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TIMES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LPAREN expr RPAREN</a:t>
            </a:r>
          </a:p>
        </p:txBody>
      </p:sp>
    </p:spTree>
    <p:extLst>
      <p:ext uri="{BB962C8B-B14F-4D97-AF65-F5344CB8AC3E}">
        <p14:creationId xmlns:p14="http://schemas.microsoft.com/office/powerpoint/2010/main" val="33910744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9A5DD-BB93-8649-A51B-001B1D061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Parse trees examples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969C829-2E70-B347-B9F2-DE423B129922}"/>
              </a:ext>
            </a:extLst>
          </p:cNvPr>
          <p:cNvSpPr txBox="1"/>
          <p:nvPr/>
        </p:nvSpPr>
        <p:spPr>
          <a:xfrm>
            <a:off x="7832075" y="2720465"/>
            <a:ext cx="2114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input: (1+5)*6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997EA6-E712-EA4C-AC9A-2B85E491F6F4}"/>
              </a:ext>
            </a:extLst>
          </p:cNvPr>
          <p:cNvSpPr txBox="1"/>
          <p:nvPr/>
        </p:nvSpPr>
        <p:spPr>
          <a:xfrm>
            <a:off x="8590423" y="3537079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FC6ED57-413F-C643-8247-291A5F45E4A9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7625224" y="3984637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7B81EE5-1C22-3B47-9ED9-AFDED17F1F33}"/>
              </a:ext>
            </a:extLst>
          </p:cNvPr>
          <p:cNvSpPr txBox="1"/>
          <p:nvPr/>
        </p:nvSpPr>
        <p:spPr>
          <a:xfrm>
            <a:off x="7326232" y="4443055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8C68B29-7B4A-0C4A-B5EB-BBD392AEA931}"/>
              </a:ext>
            </a:extLst>
          </p:cNvPr>
          <p:cNvCxnSpPr>
            <a:cxnSpLocks/>
          </p:cNvCxnSpPr>
          <p:nvPr/>
        </p:nvCxnSpPr>
        <p:spPr>
          <a:xfrm>
            <a:off x="8849597" y="3984637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BDEC6BD-BDD7-7044-8D7A-10A5BAE9E6EA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8849597" y="3984637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19F12CD-CB05-974C-898D-D404B91E700C}"/>
              </a:ext>
            </a:extLst>
          </p:cNvPr>
          <p:cNvSpPr txBox="1"/>
          <p:nvPr/>
        </p:nvSpPr>
        <p:spPr>
          <a:xfrm>
            <a:off x="8350422" y="4493663"/>
            <a:ext cx="9983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&lt;TIMES&gt;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E7D7CC-EB91-C34E-A696-DE13C7D5E3F4}"/>
              </a:ext>
            </a:extLst>
          </p:cNvPr>
          <p:cNvSpPr txBox="1"/>
          <p:nvPr/>
        </p:nvSpPr>
        <p:spPr>
          <a:xfrm>
            <a:off x="9647764" y="4443055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156AC1-B684-7448-B2B3-8760BDCAB790}"/>
              </a:ext>
            </a:extLst>
          </p:cNvPr>
          <p:cNvSpPr txBox="1"/>
          <p:nvPr/>
        </p:nvSpPr>
        <p:spPr>
          <a:xfrm>
            <a:off x="9378331" y="5270805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6&gt;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2666FC4-ECD5-EF42-9F14-320643B07C75}"/>
              </a:ext>
            </a:extLst>
          </p:cNvPr>
          <p:cNvCxnSpPr>
            <a:cxnSpLocks/>
          </p:cNvCxnSpPr>
          <p:nvPr/>
        </p:nvCxnSpPr>
        <p:spPr>
          <a:xfrm>
            <a:off x="9926911" y="4802396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9C061F5-5125-3E47-B36E-D8BC92F3DE47}"/>
              </a:ext>
            </a:extLst>
          </p:cNvPr>
          <p:cNvCxnSpPr>
            <a:cxnSpLocks/>
            <a:stCxn id="8" idx="2"/>
            <a:endCxn id="17" idx="0"/>
          </p:cNvCxnSpPr>
          <p:nvPr/>
        </p:nvCxnSpPr>
        <p:spPr>
          <a:xfrm flipH="1">
            <a:off x="6590729" y="4812387"/>
            <a:ext cx="1034495" cy="39087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5E70F75-4D14-6449-9405-F6B8EDDD7D4A}"/>
              </a:ext>
            </a:extLst>
          </p:cNvPr>
          <p:cNvSpPr txBox="1"/>
          <p:nvPr/>
        </p:nvSpPr>
        <p:spPr>
          <a:xfrm>
            <a:off x="6023586" y="5203264"/>
            <a:ext cx="11342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&lt;LPAREN&gt;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2FE9DAB-2019-3143-A649-4B69451F966A}"/>
              </a:ext>
            </a:extLst>
          </p:cNvPr>
          <p:cNvSpPr txBox="1"/>
          <p:nvPr/>
        </p:nvSpPr>
        <p:spPr>
          <a:xfrm>
            <a:off x="7969836" y="5203264"/>
            <a:ext cx="1161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&lt;RPAREN&gt;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D00D8DF-8651-3C41-B87F-DE09AC932F8E}"/>
              </a:ext>
            </a:extLst>
          </p:cNvPr>
          <p:cNvCxnSpPr>
            <a:cxnSpLocks/>
            <a:stCxn id="8" idx="2"/>
            <a:endCxn id="18" idx="0"/>
          </p:cNvCxnSpPr>
          <p:nvPr/>
        </p:nvCxnSpPr>
        <p:spPr>
          <a:xfrm>
            <a:off x="7625224" y="4812387"/>
            <a:ext cx="925380" cy="39087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953EB43-4EA6-5D49-A1B8-04AFDA0EC4E3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7625224" y="4812387"/>
            <a:ext cx="0" cy="39087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0EB11B93-7072-8B4F-92A3-2CD936B51387}"/>
              </a:ext>
            </a:extLst>
          </p:cNvPr>
          <p:cNvSpPr txBox="1"/>
          <p:nvPr/>
        </p:nvSpPr>
        <p:spPr>
          <a:xfrm>
            <a:off x="7326231" y="521539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337373EB-9A2E-8B44-A41D-EF526024CBD6}"/>
              </a:ext>
            </a:extLst>
          </p:cNvPr>
          <p:cNvSpPr txBox="1">
            <a:spLocks/>
          </p:cNvSpPr>
          <p:nvPr/>
        </p:nvSpPr>
        <p:spPr>
          <a:xfrm>
            <a:off x="838200" y="3537079"/>
            <a:ext cx="3770870" cy="15786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" pitchFamily="2" charset="0"/>
              </a:rPr>
              <a:t>expr ::= NUM 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PLUS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TIMES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LPAREN expr RPAREN</a:t>
            </a:r>
          </a:p>
        </p:txBody>
      </p:sp>
    </p:spTree>
    <p:extLst>
      <p:ext uri="{BB962C8B-B14F-4D97-AF65-F5344CB8AC3E}">
        <p14:creationId xmlns:p14="http://schemas.microsoft.com/office/powerpoint/2010/main" val="6084347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9A5DD-BB93-8649-A51B-001B1D061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Parse trees examples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969C829-2E70-B347-B9F2-DE423B129922}"/>
              </a:ext>
            </a:extLst>
          </p:cNvPr>
          <p:cNvSpPr txBox="1"/>
          <p:nvPr/>
        </p:nvSpPr>
        <p:spPr>
          <a:xfrm>
            <a:off x="7832075" y="2720465"/>
            <a:ext cx="2114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input: (1+5)*6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997EA6-E712-EA4C-AC9A-2B85E491F6F4}"/>
              </a:ext>
            </a:extLst>
          </p:cNvPr>
          <p:cNvSpPr txBox="1"/>
          <p:nvPr/>
        </p:nvSpPr>
        <p:spPr>
          <a:xfrm>
            <a:off x="8590423" y="3537079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FC6ED57-413F-C643-8247-291A5F45E4A9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7625224" y="3984637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7B81EE5-1C22-3B47-9ED9-AFDED17F1F33}"/>
              </a:ext>
            </a:extLst>
          </p:cNvPr>
          <p:cNvSpPr txBox="1"/>
          <p:nvPr/>
        </p:nvSpPr>
        <p:spPr>
          <a:xfrm>
            <a:off x="7326232" y="4443055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8C68B29-7B4A-0C4A-B5EB-BBD392AEA931}"/>
              </a:ext>
            </a:extLst>
          </p:cNvPr>
          <p:cNvCxnSpPr>
            <a:cxnSpLocks/>
          </p:cNvCxnSpPr>
          <p:nvPr/>
        </p:nvCxnSpPr>
        <p:spPr>
          <a:xfrm>
            <a:off x="8849597" y="3984637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BDEC6BD-BDD7-7044-8D7A-10A5BAE9E6EA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8849597" y="3984637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19F12CD-CB05-974C-898D-D404B91E700C}"/>
              </a:ext>
            </a:extLst>
          </p:cNvPr>
          <p:cNvSpPr txBox="1"/>
          <p:nvPr/>
        </p:nvSpPr>
        <p:spPr>
          <a:xfrm>
            <a:off x="8350422" y="4493663"/>
            <a:ext cx="9983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&lt;TIMES&gt;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E7D7CC-EB91-C34E-A696-DE13C7D5E3F4}"/>
              </a:ext>
            </a:extLst>
          </p:cNvPr>
          <p:cNvSpPr txBox="1"/>
          <p:nvPr/>
        </p:nvSpPr>
        <p:spPr>
          <a:xfrm>
            <a:off x="9647764" y="4443055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156AC1-B684-7448-B2B3-8760BDCAB790}"/>
              </a:ext>
            </a:extLst>
          </p:cNvPr>
          <p:cNvSpPr txBox="1"/>
          <p:nvPr/>
        </p:nvSpPr>
        <p:spPr>
          <a:xfrm>
            <a:off x="9378331" y="5270805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6&gt;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2666FC4-ECD5-EF42-9F14-320643B07C75}"/>
              </a:ext>
            </a:extLst>
          </p:cNvPr>
          <p:cNvCxnSpPr>
            <a:cxnSpLocks/>
          </p:cNvCxnSpPr>
          <p:nvPr/>
        </p:nvCxnSpPr>
        <p:spPr>
          <a:xfrm>
            <a:off x="9926911" y="4802396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9C061F5-5125-3E47-B36E-D8BC92F3DE47}"/>
              </a:ext>
            </a:extLst>
          </p:cNvPr>
          <p:cNvCxnSpPr>
            <a:cxnSpLocks/>
            <a:stCxn id="8" idx="2"/>
            <a:endCxn id="17" idx="0"/>
          </p:cNvCxnSpPr>
          <p:nvPr/>
        </p:nvCxnSpPr>
        <p:spPr>
          <a:xfrm flipH="1">
            <a:off x="6590729" y="4812387"/>
            <a:ext cx="1034495" cy="39087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5E70F75-4D14-6449-9405-F6B8EDDD7D4A}"/>
              </a:ext>
            </a:extLst>
          </p:cNvPr>
          <p:cNvSpPr txBox="1"/>
          <p:nvPr/>
        </p:nvSpPr>
        <p:spPr>
          <a:xfrm>
            <a:off x="6023586" y="5203264"/>
            <a:ext cx="11342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&lt;LPAREN&gt;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2FE9DAB-2019-3143-A649-4B69451F966A}"/>
              </a:ext>
            </a:extLst>
          </p:cNvPr>
          <p:cNvSpPr txBox="1"/>
          <p:nvPr/>
        </p:nvSpPr>
        <p:spPr>
          <a:xfrm>
            <a:off x="7969836" y="5203264"/>
            <a:ext cx="1161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&lt;RPAREN&gt;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D00D8DF-8651-3C41-B87F-DE09AC932F8E}"/>
              </a:ext>
            </a:extLst>
          </p:cNvPr>
          <p:cNvCxnSpPr>
            <a:cxnSpLocks/>
            <a:stCxn id="8" idx="2"/>
            <a:endCxn id="18" idx="0"/>
          </p:cNvCxnSpPr>
          <p:nvPr/>
        </p:nvCxnSpPr>
        <p:spPr>
          <a:xfrm>
            <a:off x="7625224" y="4812387"/>
            <a:ext cx="925380" cy="39087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953EB43-4EA6-5D49-A1B8-04AFDA0EC4E3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7625224" y="4812387"/>
            <a:ext cx="0" cy="39087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0EB11B93-7072-8B4F-92A3-2CD936B51387}"/>
              </a:ext>
            </a:extLst>
          </p:cNvPr>
          <p:cNvSpPr txBox="1"/>
          <p:nvPr/>
        </p:nvSpPr>
        <p:spPr>
          <a:xfrm>
            <a:off x="7326231" y="521539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269D6CE-9C33-2D4F-A545-D586A0B3CB48}"/>
              </a:ext>
            </a:extLst>
          </p:cNvPr>
          <p:cNvCxnSpPr>
            <a:cxnSpLocks/>
          </p:cNvCxnSpPr>
          <p:nvPr/>
        </p:nvCxnSpPr>
        <p:spPr>
          <a:xfrm flipH="1">
            <a:off x="6400851" y="5581280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5E51BEE-DCB7-5F4F-A7B5-6A6AE16A643A}"/>
              </a:ext>
            </a:extLst>
          </p:cNvPr>
          <p:cNvCxnSpPr>
            <a:cxnSpLocks/>
          </p:cNvCxnSpPr>
          <p:nvPr/>
        </p:nvCxnSpPr>
        <p:spPr>
          <a:xfrm>
            <a:off x="7625224" y="5581280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FBC4FE3-A121-2643-96B0-A1904DAAD31F}"/>
              </a:ext>
            </a:extLst>
          </p:cNvPr>
          <p:cNvCxnSpPr>
            <a:cxnSpLocks/>
          </p:cNvCxnSpPr>
          <p:nvPr/>
        </p:nvCxnSpPr>
        <p:spPr>
          <a:xfrm>
            <a:off x="7625224" y="5581280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9288074-6935-8843-B5E5-F5F477954FC7}"/>
              </a:ext>
            </a:extLst>
          </p:cNvPr>
          <p:cNvSpPr txBox="1"/>
          <p:nvPr/>
        </p:nvSpPr>
        <p:spPr>
          <a:xfrm>
            <a:off x="7167651" y="6048382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F4711D6-23AB-FF41-89F0-70EDB3EEAE2E}"/>
              </a:ext>
            </a:extLst>
          </p:cNvPr>
          <p:cNvSpPr txBox="1"/>
          <p:nvPr/>
        </p:nvSpPr>
        <p:spPr>
          <a:xfrm>
            <a:off x="6101859" y="6016989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CC4D564-4F2D-AA42-9408-7131461242E7}"/>
              </a:ext>
            </a:extLst>
          </p:cNvPr>
          <p:cNvSpPr txBox="1"/>
          <p:nvPr/>
        </p:nvSpPr>
        <p:spPr>
          <a:xfrm>
            <a:off x="8423391" y="6016989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EF73B1BB-821A-C04B-B705-E2BE15EE6EAD}"/>
              </a:ext>
            </a:extLst>
          </p:cNvPr>
          <p:cNvSpPr txBox="1">
            <a:spLocks/>
          </p:cNvSpPr>
          <p:nvPr/>
        </p:nvSpPr>
        <p:spPr>
          <a:xfrm>
            <a:off x="838200" y="3537079"/>
            <a:ext cx="3770870" cy="15786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" pitchFamily="2" charset="0"/>
              </a:rPr>
              <a:t>expr ::= NUM 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PLUS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TIMES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LPAREN expr RPAREN</a:t>
            </a:r>
          </a:p>
        </p:txBody>
      </p:sp>
    </p:spTree>
    <p:extLst>
      <p:ext uri="{BB962C8B-B14F-4D97-AF65-F5344CB8AC3E}">
        <p14:creationId xmlns:p14="http://schemas.microsoft.com/office/powerpoint/2010/main" val="34363901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9A5DD-BB93-8649-A51B-001B1D061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Parse trees examples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969C829-2E70-B347-B9F2-DE423B129922}"/>
              </a:ext>
            </a:extLst>
          </p:cNvPr>
          <p:cNvSpPr txBox="1"/>
          <p:nvPr/>
        </p:nvSpPr>
        <p:spPr>
          <a:xfrm>
            <a:off x="7832075" y="2720465"/>
            <a:ext cx="2114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input: (1+5)*6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997EA6-E712-EA4C-AC9A-2B85E491F6F4}"/>
              </a:ext>
            </a:extLst>
          </p:cNvPr>
          <p:cNvSpPr txBox="1"/>
          <p:nvPr/>
        </p:nvSpPr>
        <p:spPr>
          <a:xfrm>
            <a:off x="8590423" y="3537079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FC6ED57-413F-C643-8247-291A5F45E4A9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7625224" y="3984637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7B81EE5-1C22-3B47-9ED9-AFDED17F1F33}"/>
              </a:ext>
            </a:extLst>
          </p:cNvPr>
          <p:cNvSpPr txBox="1"/>
          <p:nvPr/>
        </p:nvSpPr>
        <p:spPr>
          <a:xfrm>
            <a:off x="7326232" y="4443055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8C68B29-7B4A-0C4A-B5EB-BBD392AEA931}"/>
              </a:ext>
            </a:extLst>
          </p:cNvPr>
          <p:cNvCxnSpPr>
            <a:cxnSpLocks/>
          </p:cNvCxnSpPr>
          <p:nvPr/>
        </p:nvCxnSpPr>
        <p:spPr>
          <a:xfrm>
            <a:off x="8849597" y="3984637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BDEC6BD-BDD7-7044-8D7A-10A5BAE9E6EA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8849597" y="3984637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19F12CD-CB05-974C-898D-D404B91E700C}"/>
              </a:ext>
            </a:extLst>
          </p:cNvPr>
          <p:cNvSpPr txBox="1"/>
          <p:nvPr/>
        </p:nvSpPr>
        <p:spPr>
          <a:xfrm>
            <a:off x="8350422" y="4493663"/>
            <a:ext cx="9983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&lt;TIMES&gt;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E7D7CC-EB91-C34E-A696-DE13C7D5E3F4}"/>
              </a:ext>
            </a:extLst>
          </p:cNvPr>
          <p:cNvSpPr txBox="1"/>
          <p:nvPr/>
        </p:nvSpPr>
        <p:spPr>
          <a:xfrm>
            <a:off x="9647764" y="4443055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156AC1-B684-7448-B2B3-8760BDCAB790}"/>
              </a:ext>
            </a:extLst>
          </p:cNvPr>
          <p:cNvSpPr txBox="1"/>
          <p:nvPr/>
        </p:nvSpPr>
        <p:spPr>
          <a:xfrm>
            <a:off x="9378331" y="5270805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6&gt;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2666FC4-ECD5-EF42-9F14-320643B07C75}"/>
              </a:ext>
            </a:extLst>
          </p:cNvPr>
          <p:cNvCxnSpPr>
            <a:cxnSpLocks/>
          </p:cNvCxnSpPr>
          <p:nvPr/>
        </p:nvCxnSpPr>
        <p:spPr>
          <a:xfrm>
            <a:off x="9926911" y="4802396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9C061F5-5125-3E47-B36E-D8BC92F3DE47}"/>
              </a:ext>
            </a:extLst>
          </p:cNvPr>
          <p:cNvCxnSpPr>
            <a:cxnSpLocks/>
            <a:stCxn id="8" idx="2"/>
            <a:endCxn id="17" idx="0"/>
          </p:cNvCxnSpPr>
          <p:nvPr/>
        </p:nvCxnSpPr>
        <p:spPr>
          <a:xfrm flipH="1">
            <a:off x="6590729" y="4812387"/>
            <a:ext cx="1034495" cy="39087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5E70F75-4D14-6449-9405-F6B8EDDD7D4A}"/>
              </a:ext>
            </a:extLst>
          </p:cNvPr>
          <p:cNvSpPr txBox="1"/>
          <p:nvPr/>
        </p:nvSpPr>
        <p:spPr>
          <a:xfrm>
            <a:off x="6023586" y="5203264"/>
            <a:ext cx="11342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&lt;LPAREN&gt;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2FE9DAB-2019-3143-A649-4B69451F966A}"/>
              </a:ext>
            </a:extLst>
          </p:cNvPr>
          <p:cNvSpPr txBox="1"/>
          <p:nvPr/>
        </p:nvSpPr>
        <p:spPr>
          <a:xfrm>
            <a:off x="7969836" y="5203264"/>
            <a:ext cx="1161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&lt;RPAREN&gt;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D00D8DF-8651-3C41-B87F-DE09AC932F8E}"/>
              </a:ext>
            </a:extLst>
          </p:cNvPr>
          <p:cNvCxnSpPr>
            <a:cxnSpLocks/>
            <a:stCxn id="8" idx="2"/>
            <a:endCxn id="18" idx="0"/>
          </p:cNvCxnSpPr>
          <p:nvPr/>
        </p:nvCxnSpPr>
        <p:spPr>
          <a:xfrm>
            <a:off x="7625224" y="4812387"/>
            <a:ext cx="925380" cy="39087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953EB43-4EA6-5D49-A1B8-04AFDA0EC4E3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7625224" y="4812387"/>
            <a:ext cx="0" cy="39087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0EB11B93-7072-8B4F-92A3-2CD936B51387}"/>
              </a:ext>
            </a:extLst>
          </p:cNvPr>
          <p:cNvSpPr txBox="1"/>
          <p:nvPr/>
        </p:nvSpPr>
        <p:spPr>
          <a:xfrm>
            <a:off x="7326231" y="521539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269D6CE-9C33-2D4F-A545-D586A0B3CB48}"/>
              </a:ext>
            </a:extLst>
          </p:cNvPr>
          <p:cNvCxnSpPr>
            <a:cxnSpLocks/>
          </p:cNvCxnSpPr>
          <p:nvPr/>
        </p:nvCxnSpPr>
        <p:spPr>
          <a:xfrm flipH="1">
            <a:off x="6400851" y="5581280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5E51BEE-DCB7-5F4F-A7B5-6A6AE16A643A}"/>
              </a:ext>
            </a:extLst>
          </p:cNvPr>
          <p:cNvCxnSpPr>
            <a:cxnSpLocks/>
          </p:cNvCxnSpPr>
          <p:nvPr/>
        </p:nvCxnSpPr>
        <p:spPr>
          <a:xfrm>
            <a:off x="7625224" y="5581280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FBC4FE3-A121-2643-96B0-A1904DAAD31F}"/>
              </a:ext>
            </a:extLst>
          </p:cNvPr>
          <p:cNvCxnSpPr>
            <a:cxnSpLocks/>
          </p:cNvCxnSpPr>
          <p:nvPr/>
        </p:nvCxnSpPr>
        <p:spPr>
          <a:xfrm>
            <a:off x="7625224" y="5581280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9288074-6935-8843-B5E5-F5F477954FC7}"/>
              </a:ext>
            </a:extLst>
          </p:cNvPr>
          <p:cNvSpPr txBox="1"/>
          <p:nvPr/>
        </p:nvSpPr>
        <p:spPr>
          <a:xfrm>
            <a:off x="7167651" y="6048382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F4711D6-23AB-FF41-89F0-70EDB3EEAE2E}"/>
              </a:ext>
            </a:extLst>
          </p:cNvPr>
          <p:cNvSpPr txBox="1"/>
          <p:nvPr/>
        </p:nvSpPr>
        <p:spPr>
          <a:xfrm>
            <a:off x="6101859" y="6016989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CC4D564-4F2D-AA42-9408-7131461242E7}"/>
              </a:ext>
            </a:extLst>
          </p:cNvPr>
          <p:cNvSpPr txBox="1"/>
          <p:nvPr/>
        </p:nvSpPr>
        <p:spPr>
          <a:xfrm>
            <a:off x="8423391" y="6016989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7A8400F-E6CF-AA42-B58D-9B2CD0FACD6B}"/>
              </a:ext>
            </a:extLst>
          </p:cNvPr>
          <p:cNvSpPr txBox="1"/>
          <p:nvPr/>
        </p:nvSpPr>
        <p:spPr>
          <a:xfrm>
            <a:off x="8153958" y="6492875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5&gt;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AD555EB-67E1-A540-A985-9152D72C2E19}"/>
              </a:ext>
            </a:extLst>
          </p:cNvPr>
          <p:cNvSpPr txBox="1"/>
          <p:nvPr/>
        </p:nvSpPr>
        <p:spPr>
          <a:xfrm>
            <a:off x="5832426" y="6524425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1&gt;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3A6D2F2-C7CD-AB4C-80DE-4A9AF487B6BF}"/>
              </a:ext>
            </a:extLst>
          </p:cNvPr>
          <p:cNvCxnSpPr>
            <a:cxnSpLocks/>
            <a:stCxn id="35" idx="2"/>
            <a:endCxn id="38" idx="0"/>
          </p:cNvCxnSpPr>
          <p:nvPr/>
        </p:nvCxnSpPr>
        <p:spPr>
          <a:xfrm>
            <a:off x="6400851" y="6386321"/>
            <a:ext cx="0" cy="13810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14834F9-80AD-D148-A70D-444B13039E54}"/>
              </a:ext>
            </a:extLst>
          </p:cNvPr>
          <p:cNvCxnSpPr>
            <a:cxnSpLocks/>
            <a:stCxn id="36" idx="2"/>
            <a:endCxn id="37" idx="0"/>
          </p:cNvCxnSpPr>
          <p:nvPr/>
        </p:nvCxnSpPr>
        <p:spPr>
          <a:xfrm>
            <a:off x="8722383" y="6386321"/>
            <a:ext cx="0" cy="10655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A29EEF26-741A-A141-A489-4417A9CA9D55}"/>
              </a:ext>
            </a:extLst>
          </p:cNvPr>
          <p:cNvSpPr txBox="1">
            <a:spLocks/>
          </p:cNvSpPr>
          <p:nvPr/>
        </p:nvSpPr>
        <p:spPr>
          <a:xfrm>
            <a:off x="838200" y="3537079"/>
            <a:ext cx="3770870" cy="15786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" pitchFamily="2" charset="0"/>
              </a:rPr>
              <a:t>expr ::= NUM 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PLUS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TIMES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LPAREN expr RPAREN</a:t>
            </a:r>
          </a:p>
        </p:txBody>
      </p:sp>
    </p:spTree>
    <p:extLst>
      <p:ext uri="{BB962C8B-B14F-4D97-AF65-F5344CB8AC3E}">
        <p14:creationId xmlns:p14="http://schemas.microsoft.com/office/powerpoint/2010/main" val="278517755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9A5DD-BB93-8649-A51B-001B1D061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Parse trees examples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E1DC9CA-2422-EF4C-AF57-B8AADF8BD23F}"/>
              </a:ext>
            </a:extLst>
          </p:cNvPr>
          <p:cNvSpPr txBox="1"/>
          <p:nvPr/>
        </p:nvSpPr>
        <p:spPr>
          <a:xfrm>
            <a:off x="8856156" y="2975561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373358B-D60C-E042-A770-AF4234600EBD}"/>
              </a:ext>
            </a:extLst>
          </p:cNvPr>
          <p:cNvCxnSpPr>
            <a:cxnSpLocks/>
            <a:endCxn id="25" idx="0"/>
          </p:cNvCxnSpPr>
          <p:nvPr/>
        </p:nvCxnSpPr>
        <p:spPr>
          <a:xfrm flipH="1">
            <a:off x="7890957" y="3423119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7CB2C732-482C-D342-AF7A-B7608421BFE3}"/>
              </a:ext>
            </a:extLst>
          </p:cNvPr>
          <p:cNvSpPr txBox="1"/>
          <p:nvPr/>
        </p:nvSpPr>
        <p:spPr>
          <a:xfrm>
            <a:off x="7591965" y="388153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1B24FAD-26E2-5745-A4AC-597D66091DE6}"/>
              </a:ext>
            </a:extLst>
          </p:cNvPr>
          <p:cNvCxnSpPr>
            <a:cxnSpLocks/>
          </p:cNvCxnSpPr>
          <p:nvPr/>
        </p:nvCxnSpPr>
        <p:spPr>
          <a:xfrm>
            <a:off x="9115330" y="3423119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D0CB7FC-681E-3642-995C-071EB6C66E6C}"/>
              </a:ext>
            </a:extLst>
          </p:cNvPr>
          <p:cNvCxnSpPr>
            <a:cxnSpLocks/>
            <a:endCxn id="29" idx="0"/>
          </p:cNvCxnSpPr>
          <p:nvPr/>
        </p:nvCxnSpPr>
        <p:spPr>
          <a:xfrm>
            <a:off x="9115330" y="3423119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69ED968C-B7FB-5341-9BED-542F047BF681}"/>
              </a:ext>
            </a:extLst>
          </p:cNvPr>
          <p:cNvSpPr txBox="1"/>
          <p:nvPr/>
        </p:nvSpPr>
        <p:spPr>
          <a:xfrm>
            <a:off x="8616155" y="3932145"/>
            <a:ext cx="9983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&lt;TIMES&gt;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79D9066-0F81-FE4F-8036-A213B76838BA}"/>
              </a:ext>
            </a:extLst>
          </p:cNvPr>
          <p:cNvSpPr txBox="1"/>
          <p:nvPr/>
        </p:nvSpPr>
        <p:spPr>
          <a:xfrm>
            <a:off x="9913497" y="388153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21106D3-E901-8640-BEF7-671D82FEE976}"/>
              </a:ext>
            </a:extLst>
          </p:cNvPr>
          <p:cNvSpPr txBox="1"/>
          <p:nvPr/>
        </p:nvSpPr>
        <p:spPr>
          <a:xfrm>
            <a:off x="9644064" y="4709287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6&gt;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325A1102-528C-1043-B074-6E362791570F}"/>
              </a:ext>
            </a:extLst>
          </p:cNvPr>
          <p:cNvCxnSpPr>
            <a:cxnSpLocks/>
          </p:cNvCxnSpPr>
          <p:nvPr/>
        </p:nvCxnSpPr>
        <p:spPr>
          <a:xfrm>
            <a:off x="10192644" y="4240878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3C20E5F-AB7C-5D48-8BD2-2EE4F61F248D}"/>
              </a:ext>
            </a:extLst>
          </p:cNvPr>
          <p:cNvCxnSpPr>
            <a:cxnSpLocks/>
            <a:stCxn id="25" idx="2"/>
            <a:endCxn id="33" idx="0"/>
          </p:cNvCxnSpPr>
          <p:nvPr/>
        </p:nvCxnSpPr>
        <p:spPr>
          <a:xfrm flipH="1">
            <a:off x="6856462" y="4250869"/>
            <a:ext cx="1034495" cy="39087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84E46DA5-A676-514A-91C6-A06863496B59}"/>
              </a:ext>
            </a:extLst>
          </p:cNvPr>
          <p:cNvSpPr txBox="1"/>
          <p:nvPr/>
        </p:nvSpPr>
        <p:spPr>
          <a:xfrm>
            <a:off x="6289319" y="4641746"/>
            <a:ext cx="11342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&lt;LPAREN&gt;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4544211-1DAA-7641-93FF-8390B34769A7}"/>
              </a:ext>
            </a:extLst>
          </p:cNvPr>
          <p:cNvSpPr txBox="1"/>
          <p:nvPr/>
        </p:nvSpPr>
        <p:spPr>
          <a:xfrm>
            <a:off x="8235569" y="4641746"/>
            <a:ext cx="1161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&lt;RPAREN&gt;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F969272-8A33-654D-A4DF-E56DF393F163}"/>
              </a:ext>
            </a:extLst>
          </p:cNvPr>
          <p:cNvCxnSpPr>
            <a:cxnSpLocks/>
            <a:stCxn id="25" idx="2"/>
            <a:endCxn id="34" idx="0"/>
          </p:cNvCxnSpPr>
          <p:nvPr/>
        </p:nvCxnSpPr>
        <p:spPr>
          <a:xfrm>
            <a:off x="7890957" y="4250869"/>
            <a:ext cx="925380" cy="39087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471D92B8-E32E-A345-95A3-E5A9DE9AC34B}"/>
              </a:ext>
            </a:extLst>
          </p:cNvPr>
          <p:cNvCxnSpPr>
            <a:cxnSpLocks/>
            <a:stCxn id="25" idx="2"/>
          </p:cNvCxnSpPr>
          <p:nvPr/>
        </p:nvCxnSpPr>
        <p:spPr>
          <a:xfrm>
            <a:off x="7890957" y="4250869"/>
            <a:ext cx="0" cy="39087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76AB8A3C-24F1-6148-9C5B-85FAE2FE1418}"/>
              </a:ext>
            </a:extLst>
          </p:cNvPr>
          <p:cNvSpPr txBox="1"/>
          <p:nvPr/>
        </p:nvSpPr>
        <p:spPr>
          <a:xfrm>
            <a:off x="7591964" y="4653879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23013A4-E71E-484A-A884-357C97323A08}"/>
              </a:ext>
            </a:extLst>
          </p:cNvPr>
          <p:cNvCxnSpPr>
            <a:cxnSpLocks/>
          </p:cNvCxnSpPr>
          <p:nvPr/>
        </p:nvCxnSpPr>
        <p:spPr>
          <a:xfrm flipH="1">
            <a:off x="6666584" y="5019762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A5A99874-9875-0849-ABE4-941435ED30BE}"/>
              </a:ext>
            </a:extLst>
          </p:cNvPr>
          <p:cNvCxnSpPr>
            <a:cxnSpLocks/>
          </p:cNvCxnSpPr>
          <p:nvPr/>
        </p:nvCxnSpPr>
        <p:spPr>
          <a:xfrm>
            <a:off x="7890957" y="5019762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43DBD44-73AA-AF46-B0D9-C3F642048065}"/>
              </a:ext>
            </a:extLst>
          </p:cNvPr>
          <p:cNvCxnSpPr>
            <a:cxnSpLocks/>
          </p:cNvCxnSpPr>
          <p:nvPr/>
        </p:nvCxnSpPr>
        <p:spPr>
          <a:xfrm>
            <a:off x="7890957" y="5019762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83B475AE-AE3F-744D-B0BD-161AD7051C0A}"/>
              </a:ext>
            </a:extLst>
          </p:cNvPr>
          <p:cNvSpPr txBox="1"/>
          <p:nvPr/>
        </p:nvSpPr>
        <p:spPr>
          <a:xfrm>
            <a:off x="7433384" y="5486864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201CD8A-5780-7840-8DD6-E4B0CC8C77EB}"/>
              </a:ext>
            </a:extLst>
          </p:cNvPr>
          <p:cNvSpPr txBox="1"/>
          <p:nvPr/>
        </p:nvSpPr>
        <p:spPr>
          <a:xfrm>
            <a:off x="6367592" y="5455471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4127B8D-03A3-C24C-BFE0-88A3B56E69F8}"/>
              </a:ext>
            </a:extLst>
          </p:cNvPr>
          <p:cNvSpPr txBox="1"/>
          <p:nvPr/>
        </p:nvSpPr>
        <p:spPr>
          <a:xfrm>
            <a:off x="8689124" y="5455471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EF4827D-0B38-7D4A-B88C-8C3374A56FFE}"/>
              </a:ext>
            </a:extLst>
          </p:cNvPr>
          <p:cNvSpPr txBox="1"/>
          <p:nvPr/>
        </p:nvSpPr>
        <p:spPr>
          <a:xfrm>
            <a:off x="8419691" y="5931357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5&gt;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BAFB504-8501-9748-A882-2A11B92CB62F}"/>
              </a:ext>
            </a:extLst>
          </p:cNvPr>
          <p:cNvSpPr txBox="1"/>
          <p:nvPr/>
        </p:nvSpPr>
        <p:spPr>
          <a:xfrm>
            <a:off x="6098159" y="5962907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1&gt;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20A1301B-268E-3945-9888-E1D750CB5454}"/>
              </a:ext>
            </a:extLst>
          </p:cNvPr>
          <p:cNvCxnSpPr>
            <a:cxnSpLocks/>
            <a:stCxn id="42" idx="2"/>
            <a:endCxn id="45" idx="0"/>
          </p:cNvCxnSpPr>
          <p:nvPr/>
        </p:nvCxnSpPr>
        <p:spPr>
          <a:xfrm>
            <a:off x="6666584" y="5824803"/>
            <a:ext cx="0" cy="13810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6C8478B9-428E-E14C-8630-18E26AA57923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>
            <a:off x="8988116" y="5824803"/>
            <a:ext cx="0" cy="10655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FCFE0085-6087-D74B-B38D-7D27F14BA7B0}"/>
              </a:ext>
            </a:extLst>
          </p:cNvPr>
          <p:cNvSpPr txBox="1">
            <a:spLocks/>
          </p:cNvSpPr>
          <p:nvPr/>
        </p:nvSpPr>
        <p:spPr>
          <a:xfrm>
            <a:off x="838200" y="3537079"/>
            <a:ext cx="3770870" cy="15786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" pitchFamily="2" charset="0"/>
              </a:rPr>
              <a:t>expr ::= NUM 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PLUS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TIMES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LPAREN expr RPAREN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A353D1C-F602-4648-A0FE-9BCC3E647C06}"/>
              </a:ext>
            </a:extLst>
          </p:cNvPr>
          <p:cNvSpPr txBox="1"/>
          <p:nvPr/>
        </p:nvSpPr>
        <p:spPr>
          <a:xfrm>
            <a:off x="7930775" y="2192354"/>
            <a:ext cx="2114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input: (1+5)*6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C43E08-1F55-9646-B224-2BE364E0B1F0}"/>
              </a:ext>
            </a:extLst>
          </p:cNvPr>
          <p:cNvSpPr txBox="1"/>
          <p:nvPr/>
        </p:nvSpPr>
        <p:spPr>
          <a:xfrm>
            <a:off x="5666482" y="1626717"/>
            <a:ext cx="51418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Does this parse tree capture the structure we want?</a:t>
            </a:r>
          </a:p>
        </p:txBody>
      </p:sp>
    </p:spTree>
    <p:extLst>
      <p:ext uri="{BB962C8B-B14F-4D97-AF65-F5344CB8AC3E}">
        <p14:creationId xmlns:p14="http://schemas.microsoft.com/office/powerpoint/2010/main" val="265973078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9A5DD-BB93-8649-A51B-001B1D0610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45"/>
            <a:ext cx="10515600" cy="1325563"/>
          </a:xfrm>
        </p:spPr>
        <p:txBody>
          <a:bodyPr/>
          <a:lstStyle/>
          <a:p>
            <a:r>
              <a:rPr lang="en-US" dirty="0"/>
              <a:t>Parse trees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023A4BA-C634-A849-93D7-126BB853A9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14137"/>
          </a:xfrm>
        </p:spPr>
        <p:txBody>
          <a:bodyPr/>
          <a:lstStyle/>
          <a:p>
            <a:r>
              <a:rPr lang="en-US" dirty="0"/>
              <a:t>How about</a:t>
            </a:r>
            <a:r>
              <a:rPr lang="en-US" dirty="0">
                <a:latin typeface="Courier" pitchFamily="2" charset="0"/>
              </a:rPr>
              <a:t>:</a:t>
            </a:r>
            <a:r>
              <a:rPr lang="en-US" dirty="0"/>
              <a:t> </a:t>
            </a:r>
            <a:r>
              <a:rPr lang="en-US" dirty="0">
                <a:latin typeface="Courier" pitchFamily="2" charset="0"/>
              </a:rPr>
              <a:t>1 + 5 * 6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E6026E5-E34D-F348-B2E7-42FBFB52781E}"/>
              </a:ext>
            </a:extLst>
          </p:cNvPr>
          <p:cNvSpPr txBox="1">
            <a:spLocks/>
          </p:cNvSpPr>
          <p:nvPr/>
        </p:nvSpPr>
        <p:spPr>
          <a:xfrm>
            <a:off x="838200" y="3537079"/>
            <a:ext cx="3770870" cy="15786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" pitchFamily="2" charset="0"/>
              </a:rPr>
              <a:t>expr ::= NUM 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PLUS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TIMES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LPAREN expr RPAREN</a:t>
            </a:r>
          </a:p>
        </p:txBody>
      </p:sp>
    </p:spTree>
    <p:extLst>
      <p:ext uri="{BB962C8B-B14F-4D97-AF65-F5344CB8AC3E}">
        <p14:creationId xmlns:p14="http://schemas.microsoft.com/office/powerpoint/2010/main" val="307167720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9A5DD-BB93-8649-A51B-001B1D0610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5031" y="-36582"/>
            <a:ext cx="3140034" cy="1325563"/>
          </a:xfrm>
        </p:spPr>
        <p:txBody>
          <a:bodyPr>
            <a:normAutofit/>
          </a:bodyPr>
          <a:lstStyle/>
          <a:p>
            <a:r>
              <a:rPr lang="en-US" b="1" dirty="0"/>
              <a:t>Parse trees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023A4BA-C634-A849-93D7-126BB853A9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14137"/>
          </a:xfrm>
        </p:spPr>
        <p:txBody>
          <a:bodyPr/>
          <a:lstStyle/>
          <a:p>
            <a:r>
              <a:rPr lang="en-US" dirty="0"/>
              <a:t>How about</a:t>
            </a:r>
            <a:r>
              <a:rPr lang="en-US" dirty="0">
                <a:latin typeface="Courier" pitchFamily="2" charset="0"/>
              </a:rPr>
              <a:t>:</a:t>
            </a:r>
            <a:r>
              <a:rPr lang="en-US" dirty="0"/>
              <a:t> </a:t>
            </a:r>
            <a:r>
              <a:rPr lang="en-US" dirty="0">
                <a:latin typeface="Courier" pitchFamily="2" charset="0"/>
              </a:rPr>
              <a:t>1 + 5 * 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3AB397C-4DD1-8B46-B3F4-3E1A4905847E}"/>
              </a:ext>
            </a:extLst>
          </p:cNvPr>
          <p:cNvSpPr txBox="1"/>
          <p:nvPr/>
        </p:nvSpPr>
        <p:spPr>
          <a:xfrm>
            <a:off x="8763418" y="2670430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0C41512-1E5F-4948-9492-4C9A5B98B16D}"/>
              </a:ext>
            </a:extLst>
          </p:cNvPr>
          <p:cNvCxnSpPr>
            <a:cxnSpLocks/>
            <a:endCxn id="38" idx="0"/>
          </p:cNvCxnSpPr>
          <p:nvPr/>
        </p:nvCxnSpPr>
        <p:spPr>
          <a:xfrm flipH="1">
            <a:off x="7798219" y="3117988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7D8324F-C9A8-9F43-96CF-A625D0B92C97}"/>
              </a:ext>
            </a:extLst>
          </p:cNvPr>
          <p:cNvSpPr txBox="1"/>
          <p:nvPr/>
        </p:nvSpPr>
        <p:spPr>
          <a:xfrm>
            <a:off x="7499227" y="3576406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7346DE8-92F7-2749-98C4-2BC66EF2BBBA}"/>
              </a:ext>
            </a:extLst>
          </p:cNvPr>
          <p:cNvCxnSpPr>
            <a:cxnSpLocks/>
          </p:cNvCxnSpPr>
          <p:nvPr/>
        </p:nvCxnSpPr>
        <p:spPr>
          <a:xfrm>
            <a:off x="9022592" y="3117988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0E77B2D-939A-9941-9A4C-51F60AD87F7C}"/>
              </a:ext>
            </a:extLst>
          </p:cNvPr>
          <p:cNvCxnSpPr>
            <a:cxnSpLocks/>
            <a:endCxn id="42" idx="0"/>
          </p:cNvCxnSpPr>
          <p:nvPr/>
        </p:nvCxnSpPr>
        <p:spPr>
          <a:xfrm>
            <a:off x="9022592" y="3117988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4C3CBAB6-22E4-FC48-B889-3BBE917D871F}"/>
              </a:ext>
            </a:extLst>
          </p:cNvPr>
          <p:cNvSpPr txBox="1"/>
          <p:nvPr/>
        </p:nvSpPr>
        <p:spPr>
          <a:xfrm>
            <a:off x="8523417" y="3627014"/>
            <a:ext cx="9983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&lt;TIMES&gt;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5581A83-4BDE-F54B-B280-EE9B483BE66C}"/>
              </a:ext>
            </a:extLst>
          </p:cNvPr>
          <p:cNvSpPr txBox="1"/>
          <p:nvPr/>
        </p:nvSpPr>
        <p:spPr>
          <a:xfrm>
            <a:off x="9820759" y="3576406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397E9A7-67D7-7C44-A05F-AC648AD361EA}"/>
              </a:ext>
            </a:extLst>
          </p:cNvPr>
          <p:cNvSpPr txBox="1"/>
          <p:nvPr/>
        </p:nvSpPr>
        <p:spPr>
          <a:xfrm>
            <a:off x="9551326" y="4404156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6&gt;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61461F4-37C2-C149-8B86-03F949535150}"/>
              </a:ext>
            </a:extLst>
          </p:cNvPr>
          <p:cNvCxnSpPr>
            <a:cxnSpLocks/>
          </p:cNvCxnSpPr>
          <p:nvPr/>
        </p:nvCxnSpPr>
        <p:spPr>
          <a:xfrm>
            <a:off x="10099906" y="3935747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09A193A-5443-E244-83BC-6F2A4A315339}"/>
              </a:ext>
            </a:extLst>
          </p:cNvPr>
          <p:cNvCxnSpPr>
            <a:cxnSpLocks/>
          </p:cNvCxnSpPr>
          <p:nvPr/>
        </p:nvCxnSpPr>
        <p:spPr>
          <a:xfrm flipH="1">
            <a:off x="6527438" y="3935747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4EDBA310-73DA-924C-9548-3E606F5F17F2}"/>
              </a:ext>
            </a:extLst>
          </p:cNvPr>
          <p:cNvCxnSpPr>
            <a:cxnSpLocks/>
          </p:cNvCxnSpPr>
          <p:nvPr/>
        </p:nvCxnSpPr>
        <p:spPr>
          <a:xfrm>
            <a:off x="7751811" y="3935747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0974E2A-CF09-EE4B-B04D-DDE700B68E2C}"/>
              </a:ext>
            </a:extLst>
          </p:cNvPr>
          <p:cNvCxnSpPr>
            <a:cxnSpLocks/>
          </p:cNvCxnSpPr>
          <p:nvPr/>
        </p:nvCxnSpPr>
        <p:spPr>
          <a:xfrm>
            <a:off x="7751811" y="3935747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8AD31818-A8C8-244A-A91A-3777DFF42227}"/>
              </a:ext>
            </a:extLst>
          </p:cNvPr>
          <p:cNvSpPr txBox="1"/>
          <p:nvPr/>
        </p:nvSpPr>
        <p:spPr>
          <a:xfrm>
            <a:off x="7294238" y="4402849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D0E1976-1BD7-B34F-B255-8C795BA58A09}"/>
              </a:ext>
            </a:extLst>
          </p:cNvPr>
          <p:cNvSpPr txBox="1"/>
          <p:nvPr/>
        </p:nvSpPr>
        <p:spPr>
          <a:xfrm>
            <a:off x="6228446" y="4371456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50E395D-C229-4F42-A2BD-DB888642D9F4}"/>
              </a:ext>
            </a:extLst>
          </p:cNvPr>
          <p:cNvSpPr txBox="1"/>
          <p:nvPr/>
        </p:nvSpPr>
        <p:spPr>
          <a:xfrm>
            <a:off x="8549978" y="4371456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CE0BF98-F7C9-FE4C-AF4B-4A4A2A2EBABB}"/>
              </a:ext>
            </a:extLst>
          </p:cNvPr>
          <p:cNvSpPr txBox="1"/>
          <p:nvPr/>
        </p:nvSpPr>
        <p:spPr>
          <a:xfrm>
            <a:off x="8280545" y="4847342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5&gt;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5C1CB5A-1F10-FE4B-982C-6CC011D10D47}"/>
              </a:ext>
            </a:extLst>
          </p:cNvPr>
          <p:cNvSpPr txBox="1"/>
          <p:nvPr/>
        </p:nvSpPr>
        <p:spPr>
          <a:xfrm>
            <a:off x="5959013" y="4878892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1&gt;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ACD352DF-EED9-8849-BBF1-CB90364123EF}"/>
              </a:ext>
            </a:extLst>
          </p:cNvPr>
          <p:cNvCxnSpPr>
            <a:cxnSpLocks/>
            <a:stCxn id="55" idx="2"/>
            <a:endCxn id="58" idx="0"/>
          </p:cNvCxnSpPr>
          <p:nvPr/>
        </p:nvCxnSpPr>
        <p:spPr>
          <a:xfrm>
            <a:off x="6527438" y="4740788"/>
            <a:ext cx="0" cy="13810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8AF55C9E-7BB7-0A47-904B-09B82506A2EF}"/>
              </a:ext>
            </a:extLst>
          </p:cNvPr>
          <p:cNvCxnSpPr>
            <a:cxnSpLocks/>
            <a:stCxn id="56" idx="2"/>
            <a:endCxn id="57" idx="0"/>
          </p:cNvCxnSpPr>
          <p:nvPr/>
        </p:nvCxnSpPr>
        <p:spPr>
          <a:xfrm>
            <a:off x="8848970" y="4740788"/>
            <a:ext cx="0" cy="10655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A4AEC985-DABB-C140-B1E4-D94FD329C3B1}"/>
              </a:ext>
            </a:extLst>
          </p:cNvPr>
          <p:cNvSpPr txBox="1">
            <a:spLocks/>
          </p:cNvSpPr>
          <p:nvPr/>
        </p:nvSpPr>
        <p:spPr>
          <a:xfrm>
            <a:off x="838200" y="3537079"/>
            <a:ext cx="3770870" cy="15786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" pitchFamily="2" charset="0"/>
              </a:rPr>
              <a:t>expr ::= NUM 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PLUS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TIMES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LPAREN expr RPAREN</a:t>
            </a:r>
          </a:p>
        </p:txBody>
      </p:sp>
    </p:spTree>
    <p:extLst>
      <p:ext uri="{BB962C8B-B14F-4D97-AF65-F5344CB8AC3E}">
        <p14:creationId xmlns:p14="http://schemas.microsoft.com/office/powerpoint/2010/main" val="406248735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3A8A75-0947-5349-B74C-1E1CFC55DF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2776" y="2079363"/>
            <a:ext cx="3911930" cy="576069"/>
          </a:xfrm>
        </p:spPr>
        <p:txBody>
          <a:bodyPr/>
          <a:lstStyle/>
          <a:p>
            <a:r>
              <a:rPr lang="en-US" dirty="0">
                <a:latin typeface="Courier" pitchFamily="2" charset="0"/>
              </a:rPr>
              <a:t>input: 1 + 5 * 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DA68BBF-72D1-C942-A23C-05D446E914FE}"/>
              </a:ext>
            </a:extLst>
          </p:cNvPr>
          <p:cNvSpPr txBox="1"/>
          <p:nvPr/>
        </p:nvSpPr>
        <p:spPr>
          <a:xfrm>
            <a:off x="3239948" y="3734106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A361AA3-995B-B14B-B160-8FB9C9CD4818}"/>
              </a:ext>
            </a:extLst>
          </p:cNvPr>
          <p:cNvCxnSpPr>
            <a:cxnSpLocks/>
            <a:endCxn id="15" idx="0"/>
          </p:cNvCxnSpPr>
          <p:nvPr/>
        </p:nvCxnSpPr>
        <p:spPr>
          <a:xfrm flipH="1">
            <a:off x="2274749" y="4181664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634B6E4-6F20-344D-8519-C401DEC7D86C}"/>
              </a:ext>
            </a:extLst>
          </p:cNvPr>
          <p:cNvSpPr txBox="1"/>
          <p:nvPr/>
        </p:nvSpPr>
        <p:spPr>
          <a:xfrm>
            <a:off x="1975757" y="4640082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FCC53EA-3A7E-2A46-B638-61EFD0987A47}"/>
              </a:ext>
            </a:extLst>
          </p:cNvPr>
          <p:cNvCxnSpPr>
            <a:cxnSpLocks/>
          </p:cNvCxnSpPr>
          <p:nvPr/>
        </p:nvCxnSpPr>
        <p:spPr>
          <a:xfrm>
            <a:off x="3499122" y="4181664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DDCCB52-A633-524E-9223-25CDAEBEDDC8}"/>
              </a:ext>
            </a:extLst>
          </p:cNvPr>
          <p:cNvCxnSpPr>
            <a:cxnSpLocks/>
            <a:endCxn id="19" idx="0"/>
          </p:cNvCxnSpPr>
          <p:nvPr/>
        </p:nvCxnSpPr>
        <p:spPr>
          <a:xfrm>
            <a:off x="3499122" y="4181664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432D1699-947E-FB40-84D8-4DC970ADF2C2}"/>
              </a:ext>
            </a:extLst>
          </p:cNvPr>
          <p:cNvSpPr txBox="1"/>
          <p:nvPr/>
        </p:nvSpPr>
        <p:spPr>
          <a:xfrm>
            <a:off x="2999947" y="4690690"/>
            <a:ext cx="9983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&lt;TIMES&gt;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463DEE2-6482-4145-9E0E-CEAC819F69A4}"/>
              </a:ext>
            </a:extLst>
          </p:cNvPr>
          <p:cNvSpPr txBox="1"/>
          <p:nvPr/>
        </p:nvSpPr>
        <p:spPr>
          <a:xfrm>
            <a:off x="4297289" y="4640082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5333C5C-5116-CF4E-BDE4-041EE8B68947}"/>
              </a:ext>
            </a:extLst>
          </p:cNvPr>
          <p:cNvSpPr txBox="1"/>
          <p:nvPr/>
        </p:nvSpPr>
        <p:spPr>
          <a:xfrm>
            <a:off x="4027856" y="5467832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6&gt;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BC49E33-FEA7-474C-B5FD-65D9B2D17F0C}"/>
              </a:ext>
            </a:extLst>
          </p:cNvPr>
          <p:cNvCxnSpPr>
            <a:cxnSpLocks/>
          </p:cNvCxnSpPr>
          <p:nvPr/>
        </p:nvCxnSpPr>
        <p:spPr>
          <a:xfrm>
            <a:off x="4576436" y="4999423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1096E1A-92E3-F543-AE82-F83E64D4767A}"/>
              </a:ext>
            </a:extLst>
          </p:cNvPr>
          <p:cNvCxnSpPr>
            <a:cxnSpLocks/>
          </p:cNvCxnSpPr>
          <p:nvPr/>
        </p:nvCxnSpPr>
        <p:spPr>
          <a:xfrm flipH="1">
            <a:off x="1003968" y="4999423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F80C731-C2B1-F147-AD80-21AE50F180C9}"/>
              </a:ext>
            </a:extLst>
          </p:cNvPr>
          <p:cNvCxnSpPr>
            <a:cxnSpLocks/>
          </p:cNvCxnSpPr>
          <p:nvPr/>
        </p:nvCxnSpPr>
        <p:spPr>
          <a:xfrm>
            <a:off x="2228341" y="4999423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37EEBFB7-B649-8C45-A4D9-A6A3E2716E8B}"/>
              </a:ext>
            </a:extLst>
          </p:cNvPr>
          <p:cNvCxnSpPr>
            <a:cxnSpLocks/>
          </p:cNvCxnSpPr>
          <p:nvPr/>
        </p:nvCxnSpPr>
        <p:spPr>
          <a:xfrm>
            <a:off x="2228341" y="4999423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B8B0E84E-AA23-3741-8FC6-5967FD361D8D}"/>
              </a:ext>
            </a:extLst>
          </p:cNvPr>
          <p:cNvSpPr txBox="1"/>
          <p:nvPr/>
        </p:nvSpPr>
        <p:spPr>
          <a:xfrm>
            <a:off x="1770768" y="5466525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4FA4E57-3800-9A41-84C1-3487CFE1B43B}"/>
              </a:ext>
            </a:extLst>
          </p:cNvPr>
          <p:cNvSpPr txBox="1"/>
          <p:nvPr/>
        </p:nvSpPr>
        <p:spPr>
          <a:xfrm>
            <a:off x="704976" y="5435132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0D426D8-C447-C642-859D-706A726FD75F}"/>
              </a:ext>
            </a:extLst>
          </p:cNvPr>
          <p:cNvSpPr txBox="1"/>
          <p:nvPr/>
        </p:nvSpPr>
        <p:spPr>
          <a:xfrm>
            <a:off x="3026508" y="5435132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CE33E75-44A2-F64D-B68D-8F3B337FC012}"/>
              </a:ext>
            </a:extLst>
          </p:cNvPr>
          <p:cNvSpPr txBox="1"/>
          <p:nvPr/>
        </p:nvSpPr>
        <p:spPr>
          <a:xfrm>
            <a:off x="2757075" y="5911018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5&gt;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071E864-22B5-094C-801E-86FEE9D9E25D}"/>
              </a:ext>
            </a:extLst>
          </p:cNvPr>
          <p:cNvSpPr txBox="1"/>
          <p:nvPr/>
        </p:nvSpPr>
        <p:spPr>
          <a:xfrm>
            <a:off x="435543" y="5942568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1&gt;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C5B64D96-7DBD-DB40-853F-60DB16DAE97F}"/>
              </a:ext>
            </a:extLst>
          </p:cNvPr>
          <p:cNvCxnSpPr>
            <a:cxnSpLocks/>
            <a:stCxn id="26" idx="2"/>
            <a:endCxn id="29" idx="0"/>
          </p:cNvCxnSpPr>
          <p:nvPr/>
        </p:nvCxnSpPr>
        <p:spPr>
          <a:xfrm>
            <a:off x="1003968" y="5804464"/>
            <a:ext cx="0" cy="13810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481D737-746B-4740-9924-08AC9DFCD0E8}"/>
              </a:ext>
            </a:extLst>
          </p:cNvPr>
          <p:cNvCxnSpPr>
            <a:cxnSpLocks/>
            <a:stCxn id="27" idx="2"/>
            <a:endCxn id="28" idx="0"/>
          </p:cNvCxnSpPr>
          <p:nvPr/>
        </p:nvCxnSpPr>
        <p:spPr>
          <a:xfrm>
            <a:off x="3325500" y="5804464"/>
            <a:ext cx="0" cy="10655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Content Placeholder 2">
            <a:extLst>
              <a:ext uri="{FF2B5EF4-FFF2-40B4-BE49-F238E27FC236}">
                <a16:creationId xmlns:a16="http://schemas.microsoft.com/office/drawing/2014/main" id="{EFBBB9C6-D6F4-834B-A4E7-0BEF5ADBE87C}"/>
              </a:ext>
            </a:extLst>
          </p:cNvPr>
          <p:cNvSpPr txBox="1">
            <a:spLocks/>
          </p:cNvSpPr>
          <p:nvPr/>
        </p:nvSpPr>
        <p:spPr>
          <a:xfrm>
            <a:off x="7300055" y="1793961"/>
            <a:ext cx="3770870" cy="15786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" pitchFamily="2" charset="0"/>
              </a:rPr>
              <a:t>expr ::= NUM 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PLUS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TIMES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LPAREN expr RPAREN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1B57E8A-CCE5-F557-58BE-8B9901E5A6E9}"/>
              </a:ext>
            </a:extLst>
          </p:cNvPr>
          <p:cNvSpPr txBox="1">
            <a:spLocks/>
          </p:cNvSpPr>
          <p:nvPr/>
        </p:nvSpPr>
        <p:spPr>
          <a:xfrm>
            <a:off x="838200" y="7270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/>
              <a:t>Ambiguous Grammars</a:t>
            </a:r>
            <a:endParaRPr lang="en-US" sz="4800" b="1" dirty="0"/>
          </a:p>
        </p:txBody>
      </p:sp>
    </p:spTree>
    <p:extLst>
      <p:ext uri="{BB962C8B-B14F-4D97-AF65-F5344CB8AC3E}">
        <p14:creationId xmlns:p14="http://schemas.microsoft.com/office/powerpoint/2010/main" val="79577772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18560-0CF7-B45A-F6A9-7CA008830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17580-3AAB-906C-EA13-E7DDF3138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612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b="1" dirty="0"/>
              <a:t>Ambiguous Grammars</a:t>
            </a:r>
            <a:endParaRPr lang="en-US" sz="48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9B9123-59B9-DF47-09B1-358A603A79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2776" y="2079363"/>
            <a:ext cx="3911930" cy="576069"/>
          </a:xfrm>
        </p:spPr>
        <p:txBody>
          <a:bodyPr/>
          <a:lstStyle/>
          <a:p>
            <a:r>
              <a:rPr lang="en-US" dirty="0">
                <a:latin typeface="Courier" pitchFamily="2" charset="0"/>
              </a:rPr>
              <a:t>input: 1 + 5 * 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3360D83-8CE0-95EC-4D9B-768FE3380CAF}"/>
              </a:ext>
            </a:extLst>
          </p:cNvPr>
          <p:cNvSpPr txBox="1"/>
          <p:nvPr/>
        </p:nvSpPr>
        <p:spPr>
          <a:xfrm>
            <a:off x="3239948" y="3734106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9DE3EF4-F7D9-8A9F-8CD9-F169EFCD0EAC}"/>
              </a:ext>
            </a:extLst>
          </p:cNvPr>
          <p:cNvCxnSpPr>
            <a:cxnSpLocks/>
            <a:endCxn id="15" idx="0"/>
          </p:cNvCxnSpPr>
          <p:nvPr/>
        </p:nvCxnSpPr>
        <p:spPr>
          <a:xfrm flipH="1">
            <a:off x="2274749" y="4181664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E178F4D0-AC0A-C65D-20F8-701E59ABA445}"/>
              </a:ext>
            </a:extLst>
          </p:cNvPr>
          <p:cNvSpPr txBox="1"/>
          <p:nvPr/>
        </p:nvSpPr>
        <p:spPr>
          <a:xfrm>
            <a:off x="1975757" y="4640082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E4CB33D-D41E-69DA-E67F-020482A87770}"/>
              </a:ext>
            </a:extLst>
          </p:cNvPr>
          <p:cNvCxnSpPr>
            <a:cxnSpLocks/>
          </p:cNvCxnSpPr>
          <p:nvPr/>
        </p:nvCxnSpPr>
        <p:spPr>
          <a:xfrm>
            <a:off x="3499122" y="4181664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ECDB136-6AA6-C2EB-7158-E1DE899C69F9}"/>
              </a:ext>
            </a:extLst>
          </p:cNvPr>
          <p:cNvCxnSpPr>
            <a:cxnSpLocks/>
            <a:endCxn id="19" idx="0"/>
          </p:cNvCxnSpPr>
          <p:nvPr/>
        </p:nvCxnSpPr>
        <p:spPr>
          <a:xfrm>
            <a:off x="3499122" y="4181664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0336DE9-0ED8-0AF9-F7F0-9B21F5C9FDFA}"/>
              </a:ext>
            </a:extLst>
          </p:cNvPr>
          <p:cNvSpPr txBox="1"/>
          <p:nvPr/>
        </p:nvSpPr>
        <p:spPr>
          <a:xfrm>
            <a:off x="2999947" y="4690690"/>
            <a:ext cx="9983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&lt;TIMES&gt;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82FD63-8BD3-7DD6-2986-BA65AA221CE6}"/>
              </a:ext>
            </a:extLst>
          </p:cNvPr>
          <p:cNvSpPr txBox="1"/>
          <p:nvPr/>
        </p:nvSpPr>
        <p:spPr>
          <a:xfrm>
            <a:off x="4297289" y="4640082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A64F791-1183-D56A-F5EC-8716C5BBA500}"/>
              </a:ext>
            </a:extLst>
          </p:cNvPr>
          <p:cNvSpPr txBox="1"/>
          <p:nvPr/>
        </p:nvSpPr>
        <p:spPr>
          <a:xfrm>
            <a:off x="4027856" y="5467832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6&gt;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B69BBDE-6C41-CA93-DAD2-6A58CDCBF31C}"/>
              </a:ext>
            </a:extLst>
          </p:cNvPr>
          <p:cNvCxnSpPr>
            <a:cxnSpLocks/>
          </p:cNvCxnSpPr>
          <p:nvPr/>
        </p:nvCxnSpPr>
        <p:spPr>
          <a:xfrm>
            <a:off x="4576436" y="4999423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EB5C6A6-B37D-8A54-8BCB-BBF94DE46BFE}"/>
              </a:ext>
            </a:extLst>
          </p:cNvPr>
          <p:cNvCxnSpPr>
            <a:cxnSpLocks/>
          </p:cNvCxnSpPr>
          <p:nvPr/>
        </p:nvCxnSpPr>
        <p:spPr>
          <a:xfrm flipH="1">
            <a:off x="1003968" y="4999423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FD94FD8-C206-D213-DCA4-64708A76FC8E}"/>
              </a:ext>
            </a:extLst>
          </p:cNvPr>
          <p:cNvCxnSpPr>
            <a:cxnSpLocks/>
          </p:cNvCxnSpPr>
          <p:nvPr/>
        </p:nvCxnSpPr>
        <p:spPr>
          <a:xfrm>
            <a:off x="2228341" y="4999423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8BD4DCC-4449-D9F7-18C3-F866A235AEA9}"/>
              </a:ext>
            </a:extLst>
          </p:cNvPr>
          <p:cNvCxnSpPr>
            <a:cxnSpLocks/>
          </p:cNvCxnSpPr>
          <p:nvPr/>
        </p:nvCxnSpPr>
        <p:spPr>
          <a:xfrm>
            <a:off x="2228341" y="4999423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0ED21F5-B8F2-6629-71E3-468A9C22392A}"/>
              </a:ext>
            </a:extLst>
          </p:cNvPr>
          <p:cNvSpPr txBox="1"/>
          <p:nvPr/>
        </p:nvSpPr>
        <p:spPr>
          <a:xfrm>
            <a:off x="1770768" y="5466525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B3E1487-FDF0-C9EB-1E78-D6917D8337B1}"/>
              </a:ext>
            </a:extLst>
          </p:cNvPr>
          <p:cNvSpPr txBox="1"/>
          <p:nvPr/>
        </p:nvSpPr>
        <p:spPr>
          <a:xfrm>
            <a:off x="704976" y="5435132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1C114B4-4F33-5386-9842-8D64F0FBD614}"/>
              </a:ext>
            </a:extLst>
          </p:cNvPr>
          <p:cNvSpPr txBox="1"/>
          <p:nvPr/>
        </p:nvSpPr>
        <p:spPr>
          <a:xfrm>
            <a:off x="3026508" y="5435132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FC1E316-CEFF-CC43-92F6-31002324DBC1}"/>
              </a:ext>
            </a:extLst>
          </p:cNvPr>
          <p:cNvSpPr txBox="1"/>
          <p:nvPr/>
        </p:nvSpPr>
        <p:spPr>
          <a:xfrm>
            <a:off x="2757075" y="5911018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5&gt;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4187B57-DBA3-BFB1-D53F-2E7D6A4EDE80}"/>
              </a:ext>
            </a:extLst>
          </p:cNvPr>
          <p:cNvSpPr txBox="1"/>
          <p:nvPr/>
        </p:nvSpPr>
        <p:spPr>
          <a:xfrm>
            <a:off x="435543" y="5942568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1&gt;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FADC667-D4FD-8A82-9610-829BDD85ECE6}"/>
              </a:ext>
            </a:extLst>
          </p:cNvPr>
          <p:cNvCxnSpPr>
            <a:cxnSpLocks/>
            <a:stCxn id="26" idx="2"/>
            <a:endCxn id="29" idx="0"/>
          </p:cNvCxnSpPr>
          <p:nvPr/>
        </p:nvCxnSpPr>
        <p:spPr>
          <a:xfrm>
            <a:off x="1003968" y="5804464"/>
            <a:ext cx="0" cy="13810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FFC3C24-ACC1-DD86-3D41-B14EADF2BFEA}"/>
              </a:ext>
            </a:extLst>
          </p:cNvPr>
          <p:cNvCxnSpPr>
            <a:cxnSpLocks/>
            <a:stCxn id="27" idx="2"/>
            <a:endCxn id="28" idx="0"/>
          </p:cNvCxnSpPr>
          <p:nvPr/>
        </p:nvCxnSpPr>
        <p:spPr>
          <a:xfrm>
            <a:off x="3325500" y="5804464"/>
            <a:ext cx="0" cy="10655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D5E1561C-3D7D-4914-C803-9ED5C962E1D2}"/>
              </a:ext>
            </a:extLst>
          </p:cNvPr>
          <p:cNvSpPr txBox="1"/>
          <p:nvPr/>
        </p:nvSpPr>
        <p:spPr>
          <a:xfrm>
            <a:off x="8721899" y="3599169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8596C4AF-B76E-CACB-BE4C-D0790F24F975}"/>
              </a:ext>
            </a:extLst>
          </p:cNvPr>
          <p:cNvCxnSpPr>
            <a:cxnSpLocks/>
            <a:endCxn id="34" idx="0"/>
          </p:cNvCxnSpPr>
          <p:nvPr/>
        </p:nvCxnSpPr>
        <p:spPr>
          <a:xfrm flipH="1">
            <a:off x="7756700" y="4046727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08DBD055-71E0-97C1-4203-40070E401041}"/>
              </a:ext>
            </a:extLst>
          </p:cNvPr>
          <p:cNvSpPr txBox="1"/>
          <p:nvPr/>
        </p:nvSpPr>
        <p:spPr>
          <a:xfrm>
            <a:off x="7457708" y="4505145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874E720-C266-DFBE-F312-F49713C89D87}"/>
              </a:ext>
            </a:extLst>
          </p:cNvPr>
          <p:cNvCxnSpPr>
            <a:cxnSpLocks/>
          </p:cNvCxnSpPr>
          <p:nvPr/>
        </p:nvCxnSpPr>
        <p:spPr>
          <a:xfrm>
            <a:off x="8981073" y="4046727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BE1A080-C2C9-42B3-627B-E56C8D3A5225}"/>
              </a:ext>
            </a:extLst>
          </p:cNvPr>
          <p:cNvCxnSpPr>
            <a:cxnSpLocks/>
            <a:endCxn id="38" idx="0"/>
          </p:cNvCxnSpPr>
          <p:nvPr/>
        </p:nvCxnSpPr>
        <p:spPr>
          <a:xfrm>
            <a:off x="8981073" y="4046727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01483FDC-2D2C-2585-406C-5DC663CAB8B7}"/>
              </a:ext>
            </a:extLst>
          </p:cNvPr>
          <p:cNvSpPr txBox="1"/>
          <p:nvPr/>
        </p:nvSpPr>
        <p:spPr>
          <a:xfrm>
            <a:off x="8481898" y="4555753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6ACC52C-B5F2-46F6-BE93-452780031C97}"/>
              </a:ext>
            </a:extLst>
          </p:cNvPr>
          <p:cNvSpPr txBox="1"/>
          <p:nvPr/>
        </p:nvSpPr>
        <p:spPr>
          <a:xfrm>
            <a:off x="9779240" y="4505145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F3F2823-4CC5-28A2-EE8C-3105A40437FB}"/>
              </a:ext>
            </a:extLst>
          </p:cNvPr>
          <p:cNvSpPr txBox="1"/>
          <p:nvPr/>
        </p:nvSpPr>
        <p:spPr>
          <a:xfrm>
            <a:off x="7172331" y="5312439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1&gt;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6E81EE-8D68-1153-8837-160F0A5F3131}"/>
              </a:ext>
            </a:extLst>
          </p:cNvPr>
          <p:cNvCxnSpPr>
            <a:cxnSpLocks/>
          </p:cNvCxnSpPr>
          <p:nvPr/>
        </p:nvCxnSpPr>
        <p:spPr>
          <a:xfrm>
            <a:off x="7720911" y="4844030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BE61287B-7D31-0170-21DD-CF1C260F5C8B}"/>
              </a:ext>
            </a:extLst>
          </p:cNvPr>
          <p:cNvCxnSpPr>
            <a:cxnSpLocks/>
          </p:cNvCxnSpPr>
          <p:nvPr/>
        </p:nvCxnSpPr>
        <p:spPr>
          <a:xfrm flipH="1">
            <a:off x="8886498" y="4905611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E993118-8D80-55BF-3F61-AA5221705AA2}"/>
              </a:ext>
            </a:extLst>
          </p:cNvPr>
          <p:cNvCxnSpPr>
            <a:cxnSpLocks/>
          </p:cNvCxnSpPr>
          <p:nvPr/>
        </p:nvCxnSpPr>
        <p:spPr>
          <a:xfrm>
            <a:off x="10110871" y="4905611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AF63C90E-2BFB-8F80-A1C7-F0AA824F4F38}"/>
              </a:ext>
            </a:extLst>
          </p:cNvPr>
          <p:cNvCxnSpPr>
            <a:cxnSpLocks/>
          </p:cNvCxnSpPr>
          <p:nvPr/>
        </p:nvCxnSpPr>
        <p:spPr>
          <a:xfrm>
            <a:off x="10110871" y="4905611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3388CF79-517E-CC90-E18E-E49874DCDAF1}"/>
              </a:ext>
            </a:extLst>
          </p:cNvPr>
          <p:cNvSpPr txBox="1"/>
          <p:nvPr/>
        </p:nvSpPr>
        <p:spPr>
          <a:xfrm>
            <a:off x="9653298" y="5372713"/>
            <a:ext cx="9983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&lt;TIMES&gt;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CAB9E7B-C605-382A-5E35-8C7ADD18AB78}"/>
              </a:ext>
            </a:extLst>
          </p:cNvPr>
          <p:cNvSpPr txBox="1"/>
          <p:nvPr/>
        </p:nvSpPr>
        <p:spPr>
          <a:xfrm>
            <a:off x="8587506" y="5341320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07C1317-5ABD-3C13-C7B3-DBD67E5F4787}"/>
              </a:ext>
            </a:extLst>
          </p:cNvPr>
          <p:cNvSpPr txBox="1"/>
          <p:nvPr/>
        </p:nvSpPr>
        <p:spPr>
          <a:xfrm>
            <a:off x="10909038" y="5341320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A7AE34C-336A-0EC8-10E9-4CEC2451B832}"/>
              </a:ext>
            </a:extLst>
          </p:cNvPr>
          <p:cNvSpPr txBox="1"/>
          <p:nvPr/>
        </p:nvSpPr>
        <p:spPr>
          <a:xfrm>
            <a:off x="10639605" y="5817206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6&gt;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F727650-124F-440B-4344-26FF84F8CD03}"/>
              </a:ext>
            </a:extLst>
          </p:cNvPr>
          <p:cNvSpPr txBox="1"/>
          <p:nvPr/>
        </p:nvSpPr>
        <p:spPr>
          <a:xfrm>
            <a:off x="8318073" y="5848756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5&gt;</a:t>
            </a: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0B44DE7-E8E7-5820-9679-97FCA7FA644F}"/>
              </a:ext>
            </a:extLst>
          </p:cNvPr>
          <p:cNvCxnSpPr>
            <a:cxnSpLocks/>
            <a:stCxn id="45" idx="2"/>
            <a:endCxn id="48" idx="0"/>
          </p:cNvCxnSpPr>
          <p:nvPr/>
        </p:nvCxnSpPr>
        <p:spPr>
          <a:xfrm>
            <a:off x="8886498" y="5710652"/>
            <a:ext cx="0" cy="13810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42BFCD65-630B-B21F-C70D-3A4370232050}"/>
              </a:ext>
            </a:extLst>
          </p:cNvPr>
          <p:cNvCxnSpPr>
            <a:cxnSpLocks/>
            <a:stCxn id="46" idx="2"/>
            <a:endCxn id="47" idx="0"/>
          </p:cNvCxnSpPr>
          <p:nvPr/>
        </p:nvCxnSpPr>
        <p:spPr>
          <a:xfrm>
            <a:off x="11208030" y="5710652"/>
            <a:ext cx="0" cy="10655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Content Placeholder 2">
            <a:extLst>
              <a:ext uri="{FF2B5EF4-FFF2-40B4-BE49-F238E27FC236}">
                <a16:creationId xmlns:a16="http://schemas.microsoft.com/office/drawing/2014/main" id="{9174A5D0-B9FF-065F-8822-C9105E5FC1CC}"/>
              </a:ext>
            </a:extLst>
          </p:cNvPr>
          <p:cNvSpPr txBox="1">
            <a:spLocks/>
          </p:cNvSpPr>
          <p:nvPr/>
        </p:nvSpPr>
        <p:spPr>
          <a:xfrm>
            <a:off x="7300055" y="1793961"/>
            <a:ext cx="3770870" cy="15786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latin typeface="Courier" pitchFamily="2" charset="0"/>
              </a:rPr>
              <a:t>expr ::= NUM 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PLUS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expr TIMES expr</a:t>
            </a:r>
          </a:p>
          <a:p>
            <a:pPr marL="0" indent="0">
              <a:buNone/>
            </a:pPr>
            <a:r>
              <a:rPr lang="en-US" sz="1600" dirty="0">
                <a:latin typeface="Courier" pitchFamily="2" charset="0"/>
              </a:rPr>
              <a:t>     | LPAREN expr RPAREN</a:t>
            </a:r>
          </a:p>
        </p:txBody>
      </p:sp>
    </p:spTree>
    <p:extLst>
      <p:ext uri="{BB962C8B-B14F-4D97-AF65-F5344CB8AC3E}">
        <p14:creationId xmlns:p14="http://schemas.microsoft.com/office/powerpoint/2010/main" val="220795471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C38A7-9CB6-8B41-8EEB-A7321D3184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779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Avoiding Ambiguity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C13D10-9A3F-E04B-9E4B-FAF634B6B1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83086"/>
            <a:ext cx="10515600" cy="4123913"/>
          </a:xfrm>
        </p:spPr>
        <p:txBody>
          <a:bodyPr>
            <a:normAutofit fontScale="92500" lnSpcReduction="10000"/>
          </a:bodyPr>
          <a:lstStyle/>
          <a:p>
            <a:r>
              <a:rPr lang="en-US" sz="4400" dirty="0"/>
              <a:t>How to avoid ambiguity related to precedence?</a:t>
            </a:r>
          </a:p>
          <a:p>
            <a:r>
              <a:rPr lang="en-US" sz="4400" dirty="0"/>
              <a:t>Define precedence into the grammar:</a:t>
            </a:r>
          </a:p>
          <a:p>
            <a:pPr lvl="1"/>
            <a:r>
              <a:rPr lang="en-US" sz="4000" dirty="0"/>
              <a:t> Ambiguity comes from conflicts. Explicitly define how to deal with conflicts by indicating that: </a:t>
            </a:r>
          </a:p>
          <a:p>
            <a:pPr marL="0" indent="0">
              <a:buNone/>
            </a:pPr>
            <a:r>
              <a:rPr lang="en-US" sz="4400" dirty="0"/>
              <a:t>           * has higher precedence than +</a:t>
            </a:r>
          </a:p>
          <a:p>
            <a:r>
              <a:rPr lang="en-US" sz="4400" dirty="0"/>
              <a:t>Some parser generators support this, </a:t>
            </a:r>
          </a:p>
          <a:p>
            <a:pPr lvl="1"/>
            <a:r>
              <a:rPr lang="en-US" sz="4000" dirty="0"/>
              <a:t>e.g. YACC(C), Bison (C), </a:t>
            </a:r>
            <a:r>
              <a:rPr lang="en-US" sz="4000" dirty="0" err="1"/>
              <a:t>Antlr</a:t>
            </a:r>
            <a:r>
              <a:rPr lang="en-US" sz="4000" dirty="0"/>
              <a:t> (Java), PLY(Python)</a:t>
            </a:r>
          </a:p>
        </p:txBody>
      </p:sp>
    </p:spTree>
    <p:extLst>
      <p:ext uri="{BB962C8B-B14F-4D97-AF65-F5344CB8AC3E}">
        <p14:creationId xmlns:p14="http://schemas.microsoft.com/office/powerpoint/2010/main" val="404770401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C38A7-9CB6-8B41-8EEB-A7321D3184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865"/>
            <a:ext cx="10515600" cy="1325563"/>
          </a:xfrm>
        </p:spPr>
        <p:txBody>
          <a:bodyPr/>
          <a:lstStyle/>
          <a:p>
            <a:r>
              <a:rPr lang="en-US" dirty="0"/>
              <a:t>Avoiding Ambiguity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9C6EBDA-2909-0F4C-8DDA-3EAE95C387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63704"/>
            <a:ext cx="10253353" cy="4667250"/>
          </a:xfrm>
        </p:spPr>
        <p:txBody>
          <a:bodyPr>
            <a:normAutofit lnSpcReduction="10000"/>
          </a:bodyPr>
          <a:lstStyle/>
          <a:p>
            <a:r>
              <a:rPr lang="en-US" sz="3600" dirty="0"/>
              <a:t>How to avoid ambiguity related to precedence?</a:t>
            </a:r>
          </a:p>
          <a:p>
            <a:pPr marL="0" indent="0">
              <a:buNone/>
            </a:pPr>
            <a:endParaRPr lang="en-US" sz="3600" dirty="0"/>
          </a:p>
          <a:p>
            <a:r>
              <a:rPr lang="en-US" sz="3600" b="1" dirty="0"/>
              <a:t>Second way</a:t>
            </a:r>
            <a:r>
              <a:rPr lang="en-US" sz="3600" dirty="0"/>
              <a:t>: add new production rules</a:t>
            </a:r>
          </a:p>
          <a:p>
            <a:pPr lvl="1"/>
            <a:r>
              <a:rPr lang="en-US" sz="3200" dirty="0"/>
              <a:t>One non-terminal for each level of precedence</a:t>
            </a:r>
          </a:p>
          <a:p>
            <a:pPr lvl="1"/>
            <a:r>
              <a:rPr lang="en-US" sz="3200" dirty="0"/>
              <a:t>lowest precedence at the top</a:t>
            </a:r>
          </a:p>
          <a:p>
            <a:pPr lvl="1"/>
            <a:r>
              <a:rPr lang="en-US" sz="3200" dirty="0"/>
              <a:t>highest precedence at the bottom</a:t>
            </a:r>
          </a:p>
          <a:p>
            <a:pPr lvl="1"/>
            <a:endParaRPr lang="en-US" sz="3200" dirty="0"/>
          </a:p>
          <a:p>
            <a:r>
              <a:rPr lang="en-US" sz="3600" dirty="0"/>
              <a:t>Lets try with expressions and the following:</a:t>
            </a:r>
          </a:p>
          <a:p>
            <a:pPr marL="457200" lvl="1" indent="0">
              <a:buNone/>
            </a:pPr>
            <a:r>
              <a:rPr lang="en-US" sz="3200" dirty="0"/>
              <a:t>              +  *  ()</a:t>
            </a:r>
          </a:p>
        </p:txBody>
      </p:sp>
    </p:spTree>
    <p:extLst>
      <p:ext uri="{BB962C8B-B14F-4D97-AF65-F5344CB8AC3E}">
        <p14:creationId xmlns:p14="http://schemas.microsoft.com/office/powerpoint/2010/main" val="350547453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C38A7-9CB6-8B41-8EEB-A7321D3184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0"/>
            <a:ext cx="10515600" cy="1325563"/>
          </a:xfrm>
        </p:spPr>
        <p:txBody>
          <a:bodyPr/>
          <a:lstStyle/>
          <a:p>
            <a:r>
              <a:rPr lang="en-US" dirty="0"/>
              <a:t>Avoiding Ambiguity</a:t>
            </a: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E783D612-69BC-4C49-9D8D-25981E72E3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9692518"/>
              </p:ext>
            </p:extLst>
          </p:nvPr>
        </p:nvGraphicFramePr>
        <p:xfrm>
          <a:off x="2817341" y="3069365"/>
          <a:ext cx="5671751" cy="32572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561324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1086036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3024391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814323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814323">
                <a:tc>
                  <a:txBody>
                    <a:bodyPr/>
                    <a:lstStyle/>
                    <a:p>
                      <a:r>
                        <a:rPr lang="en-US" sz="2800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Courier" pitchFamily="2" charset="0"/>
                        </a:rPr>
                        <a:t>expr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Courier" pitchFamily="2" charset="0"/>
                        </a:rPr>
                        <a:t>: expr PLUS expr</a:t>
                      </a:r>
                      <a:br>
                        <a:rPr lang="en-US" sz="2000" dirty="0">
                          <a:latin typeface="Courier" pitchFamily="2" charset="0"/>
                        </a:rPr>
                      </a:br>
                      <a:r>
                        <a:rPr lang="en-US" sz="2000" dirty="0">
                          <a:latin typeface="Courier" pitchFamily="2" charset="0"/>
                        </a:rPr>
                        <a:t>| term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  <a:tr h="814323">
                <a:tc>
                  <a:txBody>
                    <a:bodyPr/>
                    <a:lstStyle/>
                    <a:p>
                      <a:r>
                        <a:rPr lang="en-US" sz="2800" dirty="0"/>
                        <a:t>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Courier" pitchFamily="2" charset="0"/>
                        </a:rPr>
                        <a:t>term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Courier" pitchFamily="2" charset="0"/>
                        </a:rPr>
                        <a:t>: term TIMES term</a:t>
                      </a:r>
                      <a:br>
                        <a:rPr lang="en-US" sz="2000" dirty="0">
                          <a:latin typeface="Courier" pitchFamily="2" charset="0"/>
                        </a:rPr>
                      </a:br>
                      <a:r>
                        <a:rPr lang="en-US" sz="2000" dirty="0">
                          <a:latin typeface="Courier" pitchFamily="2" charset="0"/>
                        </a:rPr>
                        <a:t>| factor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6889359"/>
                  </a:ext>
                </a:extLst>
              </a:tr>
              <a:tr h="814323">
                <a:tc>
                  <a:txBody>
                    <a:bodyPr/>
                    <a:lstStyle/>
                    <a:p>
                      <a:r>
                        <a:rPr lang="en-US" sz="2400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Courier" pitchFamily="2" charset="0"/>
                        </a:rPr>
                        <a:t>factor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Courier" pitchFamily="2" charset="0"/>
                        </a:rPr>
                        <a:t>: LPAREN expr RPAREN</a:t>
                      </a:r>
                      <a:br>
                        <a:rPr lang="en-US" sz="1800" dirty="0">
                          <a:latin typeface="Courier" pitchFamily="2" charset="0"/>
                        </a:rPr>
                      </a:br>
                      <a:r>
                        <a:rPr lang="en-US" sz="1800" dirty="0">
                          <a:latin typeface="Courier" pitchFamily="2" charset="0"/>
                        </a:rPr>
                        <a:t>| NUM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1644708"/>
                  </a:ext>
                </a:extLst>
              </a:tr>
            </a:tbl>
          </a:graphicData>
        </a:graphic>
      </p:graphicFrame>
      <p:sp>
        <p:nvSpPr>
          <p:cNvPr id="7" name="Down Arrow 6">
            <a:extLst>
              <a:ext uri="{FF2B5EF4-FFF2-40B4-BE49-F238E27FC236}">
                <a16:creationId xmlns:a16="http://schemas.microsoft.com/office/drawing/2014/main" id="{71D1710D-D0C7-1141-9E1A-8BB20BBA4101}"/>
              </a:ext>
            </a:extLst>
          </p:cNvPr>
          <p:cNvSpPr/>
          <p:nvPr/>
        </p:nvSpPr>
        <p:spPr>
          <a:xfrm>
            <a:off x="8872151" y="4003589"/>
            <a:ext cx="333633" cy="2145099"/>
          </a:xfrm>
          <a:prstGeom prst="down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8F6C5A-303D-9F4B-ACBC-3800557D9C90}"/>
              </a:ext>
            </a:extLst>
          </p:cNvPr>
          <p:cNvSpPr txBox="1"/>
          <p:nvPr/>
        </p:nvSpPr>
        <p:spPr>
          <a:xfrm>
            <a:off x="8692793" y="3060222"/>
            <a:ext cx="22037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Precedence</a:t>
            </a:r>
          </a:p>
          <a:p>
            <a:pPr algn="ctr"/>
            <a:r>
              <a:rPr lang="en-US" dirty="0"/>
              <a:t>increases going down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91126F44-3264-1345-A8E5-85FF2EEFEC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090608"/>
            <a:ext cx="7243120" cy="263516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Second way</a:t>
            </a:r>
            <a:r>
              <a:rPr lang="en-US" dirty="0"/>
              <a:t>: new production rules</a:t>
            </a:r>
          </a:p>
          <a:p>
            <a:pPr lvl="1"/>
            <a:r>
              <a:rPr lang="en-US" dirty="0"/>
              <a:t>One non-terminal for each level of precedence</a:t>
            </a:r>
          </a:p>
          <a:p>
            <a:pPr lvl="1"/>
            <a:r>
              <a:rPr lang="en-US" dirty="0"/>
              <a:t>lowest precedence at the top</a:t>
            </a:r>
          </a:p>
          <a:p>
            <a:pPr lvl="1"/>
            <a:r>
              <a:rPr lang="en-US" dirty="0"/>
              <a:t>highest precedence at the bottom</a:t>
            </a:r>
          </a:p>
        </p:txBody>
      </p:sp>
    </p:spTree>
    <p:extLst>
      <p:ext uri="{BB962C8B-B14F-4D97-AF65-F5344CB8AC3E}">
        <p14:creationId xmlns:p14="http://schemas.microsoft.com/office/powerpoint/2010/main" val="161555466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62162-6C16-C84F-9702-17E49E554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Now lets create a parse tree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AC937BE-D3B1-D44D-9937-F6A99D119B0E}"/>
              </a:ext>
            </a:extLst>
          </p:cNvPr>
          <p:cNvSpPr txBox="1"/>
          <p:nvPr/>
        </p:nvSpPr>
        <p:spPr>
          <a:xfrm>
            <a:off x="7525232" y="1274144"/>
            <a:ext cx="3147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1+5*6</a:t>
            </a: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84ECED81-C6BB-DE45-8F17-9D3438A169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8673410"/>
              </p:ext>
            </p:extLst>
          </p:nvPr>
        </p:nvGraphicFramePr>
        <p:xfrm>
          <a:off x="680382" y="2517382"/>
          <a:ext cx="4480008" cy="229538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33260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857839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2388909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expr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expr PLUS expr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term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term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term TIMES term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factor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6889359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factor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LPAREN expr RPAREN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NUM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16447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7519698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62162-6C16-C84F-9702-17E49E554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Now lets create a parse tree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84A87-825D-444D-BB7B-C3FAA3E9B7FE}"/>
              </a:ext>
            </a:extLst>
          </p:cNvPr>
          <p:cNvSpPr txBox="1"/>
          <p:nvPr/>
        </p:nvSpPr>
        <p:spPr>
          <a:xfrm>
            <a:off x="8635402" y="218195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AC937BE-D3B1-D44D-9937-F6A99D119B0E}"/>
              </a:ext>
            </a:extLst>
          </p:cNvPr>
          <p:cNvSpPr txBox="1"/>
          <p:nvPr/>
        </p:nvSpPr>
        <p:spPr>
          <a:xfrm>
            <a:off x="7525232" y="1274144"/>
            <a:ext cx="3147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1+5*6</a:t>
            </a:r>
          </a:p>
        </p:txBody>
      </p:sp>
      <p:graphicFrame>
        <p:nvGraphicFramePr>
          <p:cNvPr id="8" name="Table 5">
            <a:extLst>
              <a:ext uri="{FF2B5EF4-FFF2-40B4-BE49-F238E27FC236}">
                <a16:creationId xmlns:a16="http://schemas.microsoft.com/office/drawing/2014/main" id="{FF0AB19E-EC8F-2041-AC57-84ED24A25F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4996741"/>
              </p:ext>
            </p:extLst>
          </p:nvPr>
        </p:nvGraphicFramePr>
        <p:xfrm>
          <a:off x="680382" y="2517382"/>
          <a:ext cx="4480008" cy="229538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33260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857839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2388909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expr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expr PLUS expr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term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term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term TIMES term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factor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6889359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factor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LPAREN expr RPAREN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NUM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16447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6014748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62162-6C16-C84F-9702-17E49E554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Now lets create a parse tree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84A87-825D-444D-BB7B-C3FAA3E9B7FE}"/>
              </a:ext>
            </a:extLst>
          </p:cNvPr>
          <p:cNvSpPr txBox="1"/>
          <p:nvPr/>
        </p:nvSpPr>
        <p:spPr>
          <a:xfrm>
            <a:off x="8635402" y="218195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80AF64F-C051-BC45-8F55-C339505C9041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 flipH="1">
            <a:off x="7299498" y="2551289"/>
            <a:ext cx="1634896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037C40A-B1C7-B24E-AAED-53661DA8AD97}"/>
              </a:ext>
            </a:extLst>
          </p:cNvPr>
          <p:cNvSpPr txBox="1"/>
          <p:nvPr/>
        </p:nvSpPr>
        <p:spPr>
          <a:xfrm>
            <a:off x="7000506" y="308793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16F5EC7-5BB5-C44D-9139-74B5B3A0EA1C}"/>
              </a:ext>
            </a:extLst>
          </p:cNvPr>
          <p:cNvCxnSpPr>
            <a:cxnSpLocks/>
            <a:stCxn id="6" idx="2"/>
            <a:endCxn id="11" idx="0"/>
          </p:cNvCxnSpPr>
          <p:nvPr/>
        </p:nvCxnSpPr>
        <p:spPr>
          <a:xfrm>
            <a:off x="8934394" y="2551289"/>
            <a:ext cx="0" cy="55483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24FA233-A2CA-7644-9D29-ABBBFDDE51C4}"/>
              </a:ext>
            </a:extLst>
          </p:cNvPr>
          <p:cNvCxnSpPr>
            <a:cxnSpLocks/>
            <a:stCxn id="6" idx="2"/>
            <a:endCxn id="12" idx="0"/>
          </p:cNvCxnSpPr>
          <p:nvPr/>
        </p:nvCxnSpPr>
        <p:spPr>
          <a:xfrm>
            <a:off x="8934394" y="2551289"/>
            <a:ext cx="1057341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C879086-9CF3-C944-B592-9E6A7804E052}"/>
              </a:ext>
            </a:extLst>
          </p:cNvPr>
          <p:cNvSpPr txBox="1"/>
          <p:nvPr/>
        </p:nvSpPr>
        <p:spPr>
          <a:xfrm>
            <a:off x="8494273" y="3106126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0F2C3AB-C2B2-F242-974D-F95CE403B6CB}"/>
              </a:ext>
            </a:extLst>
          </p:cNvPr>
          <p:cNvSpPr txBox="1"/>
          <p:nvPr/>
        </p:nvSpPr>
        <p:spPr>
          <a:xfrm>
            <a:off x="9692743" y="308793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AC937BE-D3B1-D44D-9937-F6A99D119B0E}"/>
              </a:ext>
            </a:extLst>
          </p:cNvPr>
          <p:cNvSpPr txBox="1"/>
          <p:nvPr/>
        </p:nvSpPr>
        <p:spPr>
          <a:xfrm>
            <a:off x="7525232" y="1274144"/>
            <a:ext cx="3147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1+5*6</a:t>
            </a:r>
          </a:p>
        </p:txBody>
      </p:sp>
      <p:graphicFrame>
        <p:nvGraphicFramePr>
          <p:cNvPr id="14" name="Table 5">
            <a:extLst>
              <a:ext uri="{FF2B5EF4-FFF2-40B4-BE49-F238E27FC236}">
                <a16:creationId xmlns:a16="http://schemas.microsoft.com/office/drawing/2014/main" id="{D0AAFE8F-B9DD-9F41-BB48-9D7B5EB976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270487"/>
              </p:ext>
            </p:extLst>
          </p:nvPr>
        </p:nvGraphicFramePr>
        <p:xfrm>
          <a:off x="680382" y="2517382"/>
          <a:ext cx="4480008" cy="229538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33260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857839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2388909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expr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expr PLUS expr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term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term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term TIMES term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factor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6889359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factor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LPAREN expr RPAREN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NUM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16447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6200282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62162-6C16-C84F-9702-17E49E554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Now lets create a parse tree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84A87-825D-444D-BB7B-C3FAA3E9B7FE}"/>
              </a:ext>
            </a:extLst>
          </p:cNvPr>
          <p:cNvSpPr txBox="1"/>
          <p:nvPr/>
        </p:nvSpPr>
        <p:spPr>
          <a:xfrm>
            <a:off x="8635402" y="218195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80AF64F-C051-BC45-8F55-C339505C9041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 flipH="1">
            <a:off x="7299498" y="2551289"/>
            <a:ext cx="1634896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037C40A-B1C7-B24E-AAED-53661DA8AD97}"/>
              </a:ext>
            </a:extLst>
          </p:cNvPr>
          <p:cNvSpPr txBox="1"/>
          <p:nvPr/>
        </p:nvSpPr>
        <p:spPr>
          <a:xfrm>
            <a:off x="7000506" y="308793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16F5EC7-5BB5-C44D-9139-74B5B3A0EA1C}"/>
              </a:ext>
            </a:extLst>
          </p:cNvPr>
          <p:cNvCxnSpPr>
            <a:cxnSpLocks/>
            <a:stCxn id="6" idx="2"/>
            <a:endCxn id="11" idx="0"/>
          </p:cNvCxnSpPr>
          <p:nvPr/>
        </p:nvCxnSpPr>
        <p:spPr>
          <a:xfrm>
            <a:off x="8934394" y="2551289"/>
            <a:ext cx="0" cy="55483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24FA233-A2CA-7644-9D29-ABBBFDDE51C4}"/>
              </a:ext>
            </a:extLst>
          </p:cNvPr>
          <p:cNvCxnSpPr>
            <a:cxnSpLocks/>
            <a:stCxn id="6" idx="2"/>
            <a:endCxn id="12" idx="0"/>
          </p:cNvCxnSpPr>
          <p:nvPr/>
        </p:nvCxnSpPr>
        <p:spPr>
          <a:xfrm>
            <a:off x="8934394" y="2551289"/>
            <a:ext cx="1057341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C879086-9CF3-C944-B592-9E6A7804E052}"/>
              </a:ext>
            </a:extLst>
          </p:cNvPr>
          <p:cNvSpPr txBox="1"/>
          <p:nvPr/>
        </p:nvSpPr>
        <p:spPr>
          <a:xfrm>
            <a:off x="8494273" y="3106126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0F2C3AB-C2B2-F242-974D-F95CE403B6CB}"/>
              </a:ext>
            </a:extLst>
          </p:cNvPr>
          <p:cNvSpPr txBox="1"/>
          <p:nvPr/>
        </p:nvSpPr>
        <p:spPr>
          <a:xfrm>
            <a:off x="9692743" y="308793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E188A97-8BB9-E34A-9A6F-2FA6143478F0}"/>
              </a:ext>
            </a:extLst>
          </p:cNvPr>
          <p:cNvSpPr txBox="1"/>
          <p:nvPr/>
        </p:nvSpPr>
        <p:spPr>
          <a:xfrm>
            <a:off x="6724021" y="5469967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1&gt;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B289100-EE7C-6B44-B446-620A383C0434}"/>
              </a:ext>
            </a:extLst>
          </p:cNvPr>
          <p:cNvCxnSpPr>
            <a:cxnSpLocks/>
            <a:endCxn id="25" idx="0"/>
          </p:cNvCxnSpPr>
          <p:nvPr/>
        </p:nvCxnSpPr>
        <p:spPr>
          <a:xfrm flipH="1">
            <a:off x="7298056" y="3477414"/>
            <a:ext cx="1442" cy="46457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9B708125-208C-FB44-BFCB-1411EB5B9B3C}"/>
              </a:ext>
            </a:extLst>
          </p:cNvPr>
          <p:cNvSpPr txBox="1"/>
          <p:nvPr/>
        </p:nvSpPr>
        <p:spPr>
          <a:xfrm>
            <a:off x="6978545" y="3941992"/>
            <a:ext cx="639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term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5C9CA3C-1798-5D4F-B4D8-21BE902532E2}"/>
              </a:ext>
            </a:extLst>
          </p:cNvPr>
          <p:cNvCxnSpPr>
            <a:cxnSpLocks/>
            <a:stCxn id="25" idx="2"/>
            <a:endCxn id="27" idx="0"/>
          </p:cNvCxnSpPr>
          <p:nvPr/>
        </p:nvCxnSpPr>
        <p:spPr>
          <a:xfrm flipH="1">
            <a:off x="7298055" y="4311324"/>
            <a:ext cx="1" cy="48925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B133E5FB-1176-2F49-8AB1-1062B1ED1DC5}"/>
              </a:ext>
            </a:extLst>
          </p:cNvPr>
          <p:cNvSpPr txBox="1"/>
          <p:nvPr/>
        </p:nvSpPr>
        <p:spPr>
          <a:xfrm>
            <a:off x="6930165" y="4800574"/>
            <a:ext cx="735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factor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51E8634-37CD-4B4A-A4CD-F0390385398C}"/>
              </a:ext>
            </a:extLst>
          </p:cNvPr>
          <p:cNvCxnSpPr>
            <a:cxnSpLocks/>
            <a:stCxn id="27" idx="2"/>
            <a:endCxn id="13" idx="0"/>
          </p:cNvCxnSpPr>
          <p:nvPr/>
        </p:nvCxnSpPr>
        <p:spPr>
          <a:xfrm flipH="1">
            <a:off x="7292446" y="5169906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8AC937BE-D3B1-D44D-9937-F6A99D119B0E}"/>
              </a:ext>
            </a:extLst>
          </p:cNvPr>
          <p:cNvSpPr txBox="1"/>
          <p:nvPr/>
        </p:nvSpPr>
        <p:spPr>
          <a:xfrm>
            <a:off x="7525232" y="1274144"/>
            <a:ext cx="3147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1+5*6</a:t>
            </a:r>
          </a:p>
        </p:txBody>
      </p:sp>
      <p:graphicFrame>
        <p:nvGraphicFramePr>
          <p:cNvPr id="19" name="Table 5">
            <a:extLst>
              <a:ext uri="{FF2B5EF4-FFF2-40B4-BE49-F238E27FC236}">
                <a16:creationId xmlns:a16="http://schemas.microsoft.com/office/drawing/2014/main" id="{F2B2C4BD-8B65-634A-863A-7A8CC1418E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270487"/>
              </p:ext>
            </p:extLst>
          </p:nvPr>
        </p:nvGraphicFramePr>
        <p:xfrm>
          <a:off x="680382" y="2517382"/>
          <a:ext cx="4480008" cy="229538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33260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857839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2388909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expr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expr PLUS expr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term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term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term TIMES term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factor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6889359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factor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LPAREN expr RPAREN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NUM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16447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5021018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62162-6C16-C84F-9702-17E49E554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Now lets create a parse tree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84A87-825D-444D-BB7B-C3FAA3E9B7FE}"/>
              </a:ext>
            </a:extLst>
          </p:cNvPr>
          <p:cNvSpPr txBox="1"/>
          <p:nvPr/>
        </p:nvSpPr>
        <p:spPr>
          <a:xfrm>
            <a:off x="8635402" y="218195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80AF64F-C051-BC45-8F55-C339505C9041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 flipH="1">
            <a:off x="7299498" y="2551289"/>
            <a:ext cx="1634896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037C40A-B1C7-B24E-AAED-53661DA8AD97}"/>
              </a:ext>
            </a:extLst>
          </p:cNvPr>
          <p:cNvSpPr txBox="1"/>
          <p:nvPr/>
        </p:nvSpPr>
        <p:spPr>
          <a:xfrm>
            <a:off x="7000506" y="308793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16F5EC7-5BB5-C44D-9139-74B5B3A0EA1C}"/>
              </a:ext>
            </a:extLst>
          </p:cNvPr>
          <p:cNvCxnSpPr>
            <a:cxnSpLocks/>
            <a:stCxn id="6" idx="2"/>
            <a:endCxn id="11" idx="0"/>
          </p:cNvCxnSpPr>
          <p:nvPr/>
        </p:nvCxnSpPr>
        <p:spPr>
          <a:xfrm>
            <a:off x="8934394" y="2551289"/>
            <a:ext cx="0" cy="55483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24FA233-A2CA-7644-9D29-ABBBFDDE51C4}"/>
              </a:ext>
            </a:extLst>
          </p:cNvPr>
          <p:cNvCxnSpPr>
            <a:cxnSpLocks/>
            <a:stCxn id="6" idx="2"/>
            <a:endCxn id="12" idx="0"/>
          </p:cNvCxnSpPr>
          <p:nvPr/>
        </p:nvCxnSpPr>
        <p:spPr>
          <a:xfrm>
            <a:off x="8934394" y="2551289"/>
            <a:ext cx="1057341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C879086-9CF3-C944-B592-9E6A7804E052}"/>
              </a:ext>
            </a:extLst>
          </p:cNvPr>
          <p:cNvSpPr txBox="1"/>
          <p:nvPr/>
        </p:nvSpPr>
        <p:spPr>
          <a:xfrm>
            <a:off x="8494273" y="3106126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0F2C3AB-C2B2-F242-974D-F95CE403B6CB}"/>
              </a:ext>
            </a:extLst>
          </p:cNvPr>
          <p:cNvSpPr txBox="1"/>
          <p:nvPr/>
        </p:nvSpPr>
        <p:spPr>
          <a:xfrm>
            <a:off x="9692743" y="308793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E188A97-8BB9-E34A-9A6F-2FA6143478F0}"/>
              </a:ext>
            </a:extLst>
          </p:cNvPr>
          <p:cNvSpPr txBox="1"/>
          <p:nvPr/>
        </p:nvSpPr>
        <p:spPr>
          <a:xfrm>
            <a:off x="6724021" y="5469967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1&gt;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B289100-EE7C-6B44-B446-620A383C0434}"/>
              </a:ext>
            </a:extLst>
          </p:cNvPr>
          <p:cNvCxnSpPr>
            <a:cxnSpLocks/>
            <a:endCxn id="25" idx="0"/>
          </p:cNvCxnSpPr>
          <p:nvPr/>
        </p:nvCxnSpPr>
        <p:spPr>
          <a:xfrm flipH="1">
            <a:off x="7298056" y="3477414"/>
            <a:ext cx="1442" cy="46457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9B708125-208C-FB44-BFCB-1411EB5B9B3C}"/>
              </a:ext>
            </a:extLst>
          </p:cNvPr>
          <p:cNvSpPr txBox="1"/>
          <p:nvPr/>
        </p:nvSpPr>
        <p:spPr>
          <a:xfrm>
            <a:off x="6978545" y="3941992"/>
            <a:ext cx="639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term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5C9CA3C-1798-5D4F-B4D8-21BE902532E2}"/>
              </a:ext>
            </a:extLst>
          </p:cNvPr>
          <p:cNvCxnSpPr>
            <a:cxnSpLocks/>
            <a:stCxn id="25" idx="2"/>
            <a:endCxn id="27" idx="0"/>
          </p:cNvCxnSpPr>
          <p:nvPr/>
        </p:nvCxnSpPr>
        <p:spPr>
          <a:xfrm flipH="1">
            <a:off x="7298055" y="4311324"/>
            <a:ext cx="1" cy="48925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B133E5FB-1176-2F49-8AB1-1062B1ED1DC5}"/>
              </a:ext>
            </a:extLst>
          </p:cNvPr>
          <p:cNvSpPr txBox="1"/>
          <p:nvPr/>
        </p:nvSpPr>
        <p:spPr>
          <a:xfrm>
            <a:off x="6930165" y="4800574"/>
            <a:ext cx="735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factor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51E8634-37CD-4B4A-A4CD-F0390385398C}"/>
              </a:ext>
            </a:extLst>
          </p:cNvPr>
          <p:cNvCxnSpPr>
            <a:cxnSpLocks/>
            <a:stCxn id="27" idx="2"/>
            <a:endCxn id="13" idx="0"/>
          </p:cNvCxnSpPr>
          <p:nvPr/>
        </p:nvCxnSpPr>
        <p:spPr>
          <a:xfrm flipH="1">
            <a:off x="7292446" y="5169906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8AC937BE-D3B1-D44D-9937-F6A99D119B0E}"/>
              </a:ext>
            </a:extLst>
          </p:cNvPr>
          <p:cNvSpPr txBox="1"/>
          <p:nvPr/>
        </p:nvSpPr>
        <p:spPr>
          <a:xfrm>
            <a:off x="7525232" y="1274144"/>
            <a:ext cx="3147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1+5*6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EAB152D-9A26-9B43-A7B1-29D9BE13117F}"/>
              </a:ext>
            </a:extLst>
          </p:cNvPr>
          <p:cNvCxnSpPr>
            <a:cxnSpLocks/>
            <a:stCxn id="12" idx="2"/>
            <a:endCxn id="43" idx="0"/>
          </p:cNvCxnSpPr>
          <p:nvPr/>
        </p:nvCxnSpPr>
        <p:spPr>
          <a:xfrm flipH="1">
            <a:off x="9987303" y="3457265"/>
            <a:ext cx="4432" cy="3128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D646E12C-C254-B54E-96B1-3BAC1435E7C3}"/>
              </a:ext>
            </a:extLst>
          </p:cNvPr>
          <p:cNvSpPr txBox="1"/>
          <p:nvPr/>
        </p:nvSpPr>
        <p:spPr>
          <a:xfrm>
            <a:off x="9667792" y="3770068"/>
            <a:ext cx="639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term</a:t>
            </a:r>
          </a:p>
        </p:txBody>
      </p:sp>
      <p:graphicFrame>
        <p:nvGraphicFramePr>
          <p:cNvPr id="21" name="Table 5">
            <a:extLst>
              <a:ext uri="{FF2B5EF4-FFF2-40B4-BE49-F238E27FC236}">
                <a16:creationId xmlns:a16="http://schemas.microsoft.com/office/drawing/2014/main" id="{A9DD465B-FA28-3843-8460-6FACCA02BE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270487"/>
              </p:ext>
            </p:extLst>
          </p:nvPr>
        </p:nvGraphicFramePr>
        <p:xfrm>
          <a:off x="680382" y="2517382"/>
          <a:ext cx="4480008" cy="229538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33260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857839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2388909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expr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expr PLUS expr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term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term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term TIMES term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factor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6889359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factor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LPAREN expr RPAREN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NUM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16447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1950761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62162-6C16-C84F-9702-17E49E554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Now lets create a parse tree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84A87-825D-444D-BB7B-C3FAA3E9B7FE}"/>
              </a:ext>
            </a:extLst>
          </p:cNvPr>
          <p:cNvSpPr txBox="1"/>
          <p:nvPr/>
        </p:nvSpPr>
        <p:spPr>
          <a:xfrm>
            <a:off x="8635402" y="218195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80AF64F-C051-BC45-8F55-C339505C9041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 flipH="1">
            <a:off x="7299498" y="2551289"/>
            <a:ext cx="1634896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037C40A-B1C7-B24E-AAED-53661DA8AD97}"/>
              </a:ext>
            </a:extLst>
          </p:cNvPr>
          <p:cNvSpPr txBox="1"/>
          <p:nvPr/>
        </p:nvSpPr>
        <p:spPr>
          <a:xfrm>
            <a:off x="7000506" y="308793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16F5EC7-5BB5-C44D-9139-74B5B3A0EA1C}"/>
              </a:ext>
            </a:extLst>
          </p:cNvPr>
          <p:cNvCxnSpPr>
            <a:cxnSpLocks/>
            <a:stCxn id="6" idx="2"/>
            <a:endCxn id="11" idx="0"/>
          </p:cNvCxnSpPr>
          <p:nvPr/>
        </p:nvCxnSpPr>
        <p:spPr>
          <a:xfrm>
            <a:off x="8934394" y="2551289"/>
            <a:ext cx="0" cy="55483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24FA233-A2CA-7644-9D29-ABBBFDDE51C4}"/>
              </a:ext>
            </a:extLst>
          </p:cNvPr>
          <p:cNvCxnSpPr>
            <a:cxnSpLocks/>
            <a:stCxn id="6" idx="2"/>
            <a:endCxn id="12" idx="0"/>
          </p:cNvCxnSpPr>
          <p:nvPr/>
        </p:nvCxnSpPr>
        <p:spPr>
          <a:xfrm>
            <a:off x="8934394" y="2551289"/>
            <a:ext cx="1057341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C879086-9CF3-C944-B592-9E6A7804E052}"/>
              </a:ext>
            </a:extLst>
          </p:cNvPr>
          <p:cNvSpPr txBox="1"/>
          <p:nvPr/>
        </p:nvSpPr>
        <p:spPr>
          <a:xfrm>
            <a:off x="8494273" y="3106126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0F2C3AB-C2B2-F242-974D-F95CE403B6CB}"/>
              </a:ext>
            </a:extLst>
          </p:cNvPr>
          <p:cNvSpPr txBox="1"/>
          <p:nvPr/>
        </p:nvSpPr>
        <p:spPr>
          <a:xfrm>
            <a:off x="9692743" y="308793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E188A97-8BB9-E34A-9A6F-2FA6143478F0}"/>
              </a:ext>
            </a:extLst>
          </p:cNvPr>
          <p:cNvSpPr txBox="1"/>
          <p:nvPr/>
        </p:nvSpPr>
        <p:spPr>
          <a:xfrm>
            <a:off x="6724021" y="5469967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1&gt;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B289100-EE7C-6B44-B446-620A383C0434}"/>
              </a:ext>
            </a:extLst>
          </p:cNvPr>
          <p:cNvCxnSpPr>
            <a:cxnSpLocks/>
            <a:endCxn id="25" idx="0"/>
          </p:cNvCxnSpPr>
          <p:nvPr/>
        </p:nvCxnSpPr>
        <p:spPr>
          <a:xfrm flipH="1">
            <a:off x="7298056" y="3477414"/>
            <a:ext cx="1442" cy="46457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9523A5C-5656-2C48-9561-C5E06431FF8C}"/>
              </a:ext>
            </a:extLst>
          </p:cNvPr>
          <p:cNvCxnSpPr>
            <a:cxnSpLocks/>
          </p:cNvCxnSpPr>
          <p:nvPr/>
        </p:nvCxnSpPr>
        <p:spPr>
          <a:xfrm flipH="1">
            <a:off x="8758711" y="4139400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2827981-7496-3044-A580-D70075F49F40}"/>
              </a:ext>
            </a:extLst>
          </p:cNvPr>
          <p:cNvCxnSpPr>
            <a:cxnSpLocks/>
          </p:cNvCxnSpPr>
          <p:nvPr/>
        </p:nvCxnSpPr>
        <p:spPr>
          <a:xfrm>
            <a:off x="9983084" y="4139400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D73D50F-AD23-2A43-8FB5-2E5521EA1252}"/>
              </a:ext>
            </a:extLst>
          </p:cNvPr>
          <p:cNvCxnSpPr>
            <a:cxnSpLocks/>
          </p:cNvCxnSpPr>
          <p:nvPr/>
        </p:nvCxnSpPr>
        <p:spPr>
          <a:xfrm>
            <a:off x="9983084" y="4139400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3A10946-EFD4-7E40-AB1D-DC861347C615}"/>
              </a:ext>
            </a:extLst>
          </p:cNvPr>
          <p:cNvSpPr txBox="1"/>
          <p:nvPr/>
        </p:nvSpPr>
        <p:spPr>
          <a:xfrm>
            <a:off x="9525511" y="4606502"/>
            <a:ext cx="9983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&lt;TIMES&gt;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9E779DE-0E1B-6646-BA9B-D3741DDAFA77}"/>
              </a:ext>
            </a:extLst>
          </p:cNvPr>
          <p:cNvSpPr txBox="1"/>
          <p:nvPr/>
        </p:nvSpPr>
        <p:spPr>
          <a:xfrm>
            <a:off x="8459719" y="4575109"/>
            <a:ext cx="639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term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E3208D9-8CA8-8545-A65C-A98896AB66F9}"/>
              </a:ext>
            </a:extLst>
          </p:cNvPr>
          <p:cNvSpPr txBox="1"/>
          <p:nvPr/>
        </p:nvSpPr>
        <p:spPr>
          <a:xfrm>
            <a:off x="10781251" y="4575109"/>
            <a:ext cx="639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term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B708125-208C-FB44-BFCB-1411EB5B9B3C}"/>
              </a:ext>
            </a:extLst>
          </p:cNvPr>
          <p:cNvSpPr txBox="1"/>
          <p:nvPr/>
        </p:nvSpPr>
        <p:spPr>
          <a:xfrm>
            <a:off x="6978545" y="3941992"/>
            <a:ext cx="639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term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5C9CA3C-1798-5D4F-B4D8-21BE902532E2}"/>
              </a:ext>
            </a:extLst>
          </p:cNvPr>
          <p:cNvCxnSpPr>
            <a:cxnSpLocks/>
            <a:stCxn id="25" idx="2"/>
            <a:endCxn id="27" idx="0"/>
          </p:cNvCxnSpPr>
          <p:nvPr/>
        </p:nvCxnSpPr>
        <p:spPr>
          <a:xfrm flipH="1">
            <a:off x="7298055" y="4311324"/>
            <a:ext cx="1" cy="48925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B133E5FB-1176-2F49-8AB1-1062B1ED1DC5}"/>
              </a:ext>
            </a:extLst>
          </p:cNvPr>
          <p:cNvSpPr txBox="1"/>
          <p:nvPr/>
        </p:nvSpPr>
        <p:spPr>
          <a:xfrm>
            <a:off x="6930165" y="4800574"/>
            <a:ext cx="735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factor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51E8634-37CD-4B4A-A4CD-F0390385398C}"/>
              </a:ext>
            </a:extLst>
          </p:cNvPr>
          <p:cNvCxnSpPr>
            <a:cxnSpLocks/>
            <a:stCxn id="27" idx="2"/>
            <a:endCxn id="13" idx="0"/>
          </p:cNvCxnSpPr>
          <p:nvPr/>
        </p:nvCxnSpPr>
        <p:spPr>
          <a:xfrm flipH="1">
            <a:off x="7292446" y="5169906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8AC937BE-D3B1-D44D-9937-F6A99D119B0E}"/>
              </a:ext>
            </a:extLst>
          </p:cNvPr>
          <p:cNvSpPr txBox="1"/>
          <p:nvPr/>
        </p:nvSpPr>
        <p:spPr>
          <a:xfrm>
            <a:off x="7525232" y="1274144"/>
            <a:ext cx="3147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1+5*6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EAB152D-9A26-9B43-A7B1-29D9BE13117F}"/>
              </a:ext>
            </a:extLst>
          </p:cNvPr>
          <p:cNvCxnSpPr>
            <a:cxnSpLocks/>
            <a:stCxn id="12" idx="2"/>
            <a:endCxn id="43" idx="0"/>
          </p:cNvCxnSpPr>
          <p:nvPr/>
        </p:nvCxnSpPr>
        <p:spPr>
          <a:xfrm flipH="1">
            <a:off x="9987303" y="3457265"/>
            <a:ext cx="4432" cy="3128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D646E12C-C254-B54E-96B1-3BAC1435E7C3}"/>
              </a:ext>
            </a:extLst>
          </p:cNvPr>
          <p:cNvSpPr txBox="1"/>
          <p:nvPr/>
        </p:nvSpPr>
        <p:spPr>
          <a:xfrm>
            <a:off x="9667792" y="3770068"/>
            <a:ext cx="639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term</a:t>
            </a:r>
          </a:p>
        </p:txBody>
      </p:sp>
      <p:graphicFrame>
        <p:nvGraphicFramePr>
          <p:cNvPr id="29" name="Table 5">
            <a:extLst>
              <a:ext uri="{FF2B5EF4-FFF2-40B4-BE49-F238E27FC236}">
                <a16:creationId xmlns:a16="http://schemas.microsoft.com/office/drawing/2014/main" id="{0A04DC6E-8754-C14F-8293-90EC3D5A02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270487"/>
              </p:ext>
            </p:extLst>
          </p:nvPr>
        </p:nvGraphicFramePr>
        <p:xfrm>
          <a:off x="680382" y="2517382"/>
          <a:ext cx="4480008" cy="229538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33260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857839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2388909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expr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expr PLUS expr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term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term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term TIMES term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factor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6889359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factor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LPAREN expr RPAREN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NUM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16447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4790101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62162-6C16-C84F-9702-17E49E554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Now lets create a parse tree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84A87-825D-444D-BB7B-C3FAA3E9B7FE}"/>
              </a:ext>
            </a:extLst>
          </p:cNvPr>
          <p:cNvSpPr txBox="1"/>
          <p:nvPr/>
        </p:nvSpPr>
        <p:spPr>
          <a:xfrm>
            <a:off x="8635402" y="218195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80AF64F-C051-BC45-8F55-C339505C9041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 flipH="1">
            <a:off x="7299498" y="2551289"/>
            <a:ext cx="1634896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037C40A-B1C7-B24E-AAED-53661DA8AD97}"/>
              </a:ext>
            </a:extLst>
          </p:cNvPr>
          <p:cNvSpPr txBox="1"/>
          <p:nvPr/>
        </p:nvSpPr>
        <p:spPr>
          <a:xfrm>
            <a:off x="7000506" y="308793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16F5EC7-5BB5-C44D-9139-74B5B3A0EA1C}"/>
              </a:ext>
            </a:extLst>
          </p:cNvPr>
          <p:cNvCxnSpPr>
            <a:cxnSpLocks/>
            <a:stCxn id="6" idx="2"/>
            <a:endCxn id="11" idx="0"/>
          </p:cNvCxnSpPr>
          <p:nvPr/>
        </p:nvCxnSpPr>
        <p:spPr>
          <a:xfrm>
            <a:off x="8934394" y="2551289"/>
            <a:ext cx="0" cy="55483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24FA233-A2CA-7644-9D29-ABBBFDDE51C4}"/>
              </a:ext>
            </a:extLst>
          </p:cNvPr>
          <p:cNvCxnSpPr>
            <a:cxnSpLocks/>
            <a:stCxn id="6" idx="2"/>
            <a:endCxn id="12" idx="0"/>
          </p:cNvCxnSpPr>
          <p:nvPr/>
        </p:nvCxnSpPr>
        <p:spPr>
          <a:xfrm>
            <a:off x="8934394" y="2551289"/>
            <a:ext cx="1057341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C879086-9CF3-C944-B592-9E6A7804E052}"/>
              </a:ext>
            </a:extLst>
          </p:cNvPr>
          <p:cNvSpPr txBox="1"/>
          <p:nvPr/>
        </p:nvSpPr>
        <p:spPr>
          <a:xfrm>
            <a:off x="8494273" y="3106126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0F2C3AB-C2B2-F242-974D-F95CE403B6CB}"/>
              </a:ext>
            </a:extLst>
          </p:cNvPr>
          <p:cNvSpPr txBox="1"/>
          <p:nvPr/>
        </p:nvSpPr>
        <p:spPr>
          <a:xfrm>
            <a:off x="9692743" y="308793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E188A97-8BB9-E34A-9A6F-2FA6143478F0}"/>
              </a:ext>
            </a:extLst>
          </p:cNvPr>
          <p:cNvSpPr txBox="1"/>
          <p:nvPr/>
        </p:nvSpPr>
        <p:spPr>
          <a:xfrm>
            <a:off x="6724021" y="5469967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1&gt;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B289100-EE7C-6B44-B446-620A383C0434}"/>
              </a:ext>
            </a:extLst>
          </p:cNvPr>
          <p:cNvCxnSpPr>
            <a:cxnSpLocks/>
            <a:endCxn id="25" idx="0"/>
          </p:cNvCxnSpPr>
          <p:nvPr/>
        </p:nvCxnSpPr>
        <p:spPr>
          <a:xfrm flipH="1">
            <a:off x="7298056" y="3477414"/>
            <a:ext cx="1442" cy="46457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9523A5C-5656-2C48-9561-C5E06431FF8C}"/>
              </a:ext>
            </a:extLst>
          </p:cNvPr>
          <p:cNvCxnSpPr>
            <a:cxnSpLocks/>
          </p:cNvCxnSpPr>
          <p:nvPr/>
        </p:nvCxnSpPr>
        <p:spPr>
          <a:xfrm flipH="1">
            <a:off x="8758711" y="4139400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2827981-7496-3044-A580-D70075F49F40}"/>
              </a:ext>
            </a:extLst>
          </p:cNvPr>
          <p:cNvCxnSpPr>
            <a:cxnSpLocks/>
          </p:cNvCxnSpPr>
          <p:nvPr/>
        </p:nvCxnSpPr>
        <p:spPr>
          <a:xfrm>
            <a:off x="9983084" y="4139400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D73D50F-AD23-2A43-8FB5-2E5521EA1252}"/>
              </a:ext>
            </a:extLst>
          </p:cNvPr>
          <p:cNvCxnSpPr>
            <a:cxnSpLocks/>
          </p:cNvCxnSpPr>
          <p:nvPr/>
        </p:nvCxnSpPr>
        <p:spPr>
          <a:xfrm>
            <a:off x="9983084" y="4139400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3A10946-EFD4-7E40-AB1D-DC861347C615}"/>
              </a:ext>
            </a:extLst>
          </p:cNvPr>
          <p:cNvSpPr txBox="1"/>
          <p:nvPr/>
        </p:nvSpPr>
        <p:spPr>
          <a:xfrm>
            <a:off x="9525511" y="4606502"/>
            <a:ext cx="9983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&lt;TIMES&gt;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9E779DE-0E1B-6646-BA9B-D3741DDAFA77}"/>
              </a:ext>
            </a:extLst>
          </p:cNvPr>
          <p:cNvSpPr txBox="1"/>
          <p:nvPr/>
        </p:nvSpPr>
        <p:spPr>
          <a:xfrm>
            <a:off x="8459719" y="4575109"/>
            <a:ext cx="639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term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E3208D9-8CA8-8545-A65C-A98896AB66F9}"/>
              </a:ext>
            </a:extLst>
          </p:cNvPr>
          <p:cNvSpPr txBox="1"/>
          <p:nvPr/>
        </p:nvSpPr>
        <p:spPr>
          <a:xfrm>
            <a:off x="10781251" y="4575109"/>
            <a:ext cx="639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term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B708125-208C-FB44-BFCB-1411EB5B9B3C}"/>
              </a:ext>
            </a:extLst>
          </p:cNvPr>
          <p:cNvSpPr txBox="1"/>
          <p:nvPr/>
        </p:nvSpPr>
        <p:spPr>
          <a:xfrm>
            <a:off x="6978545" y="3941992"/>
            <a:ext cx="639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term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5C9CA3C-1798-5D4F-B4D8-21BE902532E2}"/>
              </a:ext>
            </a:extLst>
          </p:cNvPr>
          <p:cNvCxnSpPr>
            <a:cxnSpLocks/>
            <a:stCxn id="25" idx="2"/>
            <a:endCxn id="27" idx="0"/>
          </p:cNvCxnSpPr>
          <p:nvPr/>
        </p:nvCxnSpPr>
        <p:spPr>
          <a:xfrm flipH="1">
            <a:off x="7298055" y="4311324"/>
            <a:ext cx="1" cy="48925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B133E5FB-1176-2F49-8AB1-1062B1ED1DC5}"/>
              </a:ext>
            </a:extLst>
          </p:cNvPr>
          <p:cNvSpPr txBox="1"/>
          <p:nvPr/>
        </p:nvSpPr>
        <p:spPr>
          <a:xfrm>
            <a:off x="6930165" y="4800574"/>
            <a:ext cx="735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factor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51E8634-37CD-4B4A-A4CD-F0390385398C}"/>
              </a:ext>
            </a:extLst>
          </p:cNvPr>
          <p:cNvCxnSpPr>
            <a:cxnSpLocks/>
            <a:stCxn id="27" idx="2"/>
            <a:endCxn id="13" idx="0"/>
          </p:cNvCxnSpPr>
          <p:nvPr/>
        </p:nvCxnSpPr>
        <p:spPr>
          <a:xfrm flipH="1">
            <a:off x="7292446" y="5169906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8AC937BE-D3B1-D44D-9937-F6A99D119B0E}"/>
              </a:ext>
            </a:extLst>
          </p:cNvPr>
          <p:cNvSpPr txBox="1"/>
          <p:nvPr/>
        </p:nvSpPr>
        <p:spPr>
          <a:xfrm>
            <a:off x="7525232" y="1274144"/>
            <a:ext cx="3147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1+5*6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EAB152D-9A26-9B43-A7B1-29D9BE13117F}"/>
              </a:ext>
            </a:extLst>
          </p:cNvPr>
          <p:cNvCxnSpPr>
            <a:cxnSpLocks/>
            <a:stCxn id="12" idx="2"/>
            <a:endCxn id="43" idx="0"/>
          </p:cNvCxnSpPr>
          <p:nvPr/>
        </p:nvCxnSpPr>
        <p:spPr>
          <a:xfrm flipH="1">
            <a:off x="9987303" y="3457265"/>
            <a:ext cx="4432" cy="3128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D646E12C-C254-B54E-96B1-3BAC1435E7C3}"/>
              </a:ext>
            </a:extLst>
          </p:cNvPr>
          <p:cNvSpPr txBox="1"/>
          <p:nvPr/>
        </p:nvSpPr>
        <p:spPr>
          <a:xfrm>
            <a:off x="9667792" y="3770068"/>
            <a:ext cx="639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term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3540521-17C6-EC43-BC96-BB34123D64CE}"/>
              </a:ext>
            </a:extLst>
          </p:cNvPr>
          <p:cNvSpPr txBox="1"/>
          <p:nvPr/>
        </p:nvSpPr>
        <p:spPr>
          <a:xfrm>
            <a:off x="8223152" y="5944230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5&gt;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AC8F0CC-8EE2-F145-9D4D-E31B4417315B}"/>
              </a:ext>
            </a:extLst>
          </p:cNvPr>
          <p:cNvSpPr txBox="1"/>
          <p:nvPr/>
        </p:nvSpPr>
        <p:spPr>
          <a:xfrm>
            <a:off x="8429296" y="5274837"/>
            <a:ext cx="735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factor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EC7DED96-B025-904A-A333-37DE1FE9A7F1}"/>
              </a:ext>
            </a:extLst>
          </p:cNvPr>
          <p:cNvCxnSpPr>
            <a:cxnSpLocks/>
            <a:stCxn id="55" idx="2"/>
            <a:endCxn id="54" idx="0"/>
          </p:cNvCxnSpPr>
          <p:nvPr/>
        </p:nvCxnSpPr>
        <p:spPr>
          <a:xfrm flipH="1">
            <a:off x="8791577" y="5644169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B1EE8A74-38A2-CD4C-9B1F-B1674EDD25B9}"/>
              </a:ext>
            </a:extLst>
          </p:cNvPr>
          <p:cNvCxnSpPr>
            <a:cxnSpLocks/>
          </p:cNvCxnSpPr>
          <p:nvPr/>
        </p:nvCxnSpPr>
        <p:spPr>
          <a:xfrm flipH="1">
            <a:off x="8773620" y="4956450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CFF7024A-16C9-E64F-8C94-B05E0079A3E1}"/>
              </a:ext>
            </a:extLst>
          </p:cNvPr>
          <p:cNvSpPr txBox="1"/>
          <p:nvPr/>
        </p:nvSpPr>
        <p:spPr>
          <a:xfrm>
            <a:off x="10546607" y="5944230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6&gt;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130AFD8-7831-4340-B3B1-D26D06FFC84A}"/>
              </a:ext>
            </a:extLst>
          </p:cNvPr>
          <p:cNvSpPr txBox="1"/>
          <p:nvPr/>
        </p:nvSpPr>
        <p:spPr>
          <a:xfrm>
            <a:off x="10752751" y="5274837"/>
            <a:ext cx="735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factor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904A8729-D901-5145-8399-EBECB27338FB}"/>
              </a:ext>
            </a:extLst>
          </p:cNvPr>
          <p:cNvCxnSpPr>
            <a:cxnSpLocks/>
            <a:stCxn id="59" idx="2"/>
            <a:endCxn id="58" idx="0"/>
          </p:cNvCxnSpPr>
          <p:nvPr/>
        </p:nvCxnSpPr>
        <p:spPr>
          <a:xfrm flipH="1">
            <a:off x="11115032" y="5644169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09889343-814F-AC47-BCAA-253276D34071}"/>
              </a:ext>
            </a:extLst>
          </p:cNvPr>
          <p:cNvCxnSpPr>
            <a:cxnSpLocks/>
          </p:cNvCxnSpPr>
          <p:nvPr/>
        </p:nvCxnSpPr>
        <p:spPr>
          <a:xfrm flipH="1">
            <a:off x="11097075" y="4956450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5" name="Table 5">
            <a:extLst>
              <a:ext uri="{FF2B5EF4-FFF2-40B4-BE49-F238E27FC236}">
                <a16:creationId xmlns:a16="http://schemas.microsoft.com/office/drawing/2014/main" id="{EAE5DCAE-5344-7E4A-8E00-CD15BC32AB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270487"/>
              </p:ext>
            </p:extLst>
          </p:nvPr>
        </p:nvGraphicFramePr>
        <p:xfrm>
          <a:off x="680382" y="2517382"/>
          <a:ext cx="4480008" cy="229538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33260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857839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2388909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expr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expr PLUS expr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term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term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term TIMES term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factor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6889359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factor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LPAREN expr RPAREN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NUM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16447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110271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3B04B-79DD-054E-9290-EC07D4E2B0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168" y="28500"/>
            <a:ext cx="10515600" cy="1325563"/>
          </a:xfrm>
        </p:spPr>
        <p:txBody>
          <a:bodyPr/>
          <a:lstStyle/>
          <a:p>
            <a:r>
              <a:rPr lang="en-US" dirty="0"/>
              <a:t>Parsing Regular Expressions</a:t>
            </a:r>
            <a:br>
              <a:rPr lang="en-US" dirty="0"/>
            </a:br>
            <a:r>
              <a:rPr lang="en-US" sz="2400" dirty="0"/>
              <a:t>(and considering precedence)</a:t>
            </a:r>
            <a:endParaRPr lang="en-US" dirty="0"/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7FA2C50D-9623-3241-8FDF-13DC5AB960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4778640"/>
              </p:ext>
            </p:extLst>
          </p:nvPr>
        </p:nvGraphicFramePr>
        <p:xfrm>
          <a:off x="458380" y="3180219"/>
          <a:ext cx="5804799" cy="3106735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63323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1380726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3160750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621347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 (LHS)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 (RHS)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621347">
                <a:tc>
                  <a:txBody>
                    <a:bodyPr/>
                    <a:lstStyle/>
                    <a:p>
                      <a:r>
                        <a:rPr lang="en-US" dirty="0"/>
                        <a:t>PIPE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choice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choice PIPE choice</a:t>
                      </a:r>
                    </a:p>
                    <a:p>
                      <a:r>
                        <a:rPr lang="en-US" sz="1600" dirty="0" err="1">
                          <a:latin typeface="Courier" pitchFamily="2" charset="0"/>
                        </a:rPr>
                        <a:t>concat</a:t>
                      </a:r>
                      <a:endParaRPr lang="en-US" sz="1600" dirty="0">
                        <a:latin typeface="Courier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  <a:tr h="621347">
                <a:tc>
                  <a:txBody>
                    <a:bodyPr/>
                    <a:lstStyle/>
                    <a:p>
                      <a:r>
                        <a:rPr lang="en-US" dirty="0"/>
                        <a:t>DOT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>
                          <a:latin typeface="Courier" pitchFamily="2" charset="0"/>
                        </a:rPr>
                        <a:t>concat</a:t>
                      </a:r>
                      <a:endParaRPr lang="en-US" sz="1600" dirty="0">
                        <a:latin typeface="Courier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>
                          <a:latin typeface="Courier" pitchFamily="2" charset="0"/>
                        </a:rPr>
                        <a:t>Concat</a:t>
                      </a:r>
                      <a:r>
                        <a:rPr lang="en-US" sz="1600" dirty="0">
                          <a:latin typeface="Courier" pitchFamily="2" charset="0"/>
                        </a:rPr>
                        <a:t> DOT </a:t>
                      </a:r>
                      <a:r>
                        <a:rPr lang="en-US" sz="1600" dirty="0" err="1">
                          <a:latin typeface="Courier" pitchFamily="2" charset="0"/>
                        </a:rPr>
                        <a:t>concat</a:t>
                      </a:r>
                      <a:endParaRPr lang="en-US" sz="1600" dirty="0">
                        <a:latin typeface="Courier" pitchFamily="2" charset="0"/>
                      </a:endParaRPr>
                    </a:p>
                    <a:p>
                      <a:r>
                        <a:rPr lang="en-US" sz="1600" dirty="0">
                          <a:latin typeface="Courier" pitchFamily="2" charset="0"/>
                        </a:rPr>
                        <a:t>starred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6889359"/>
                  </a:ext>
                </a:extLst>
              </a:tr>
              <a:tr h="621347">
                <a:tc>
                  <a:txBody>
                    <a:bodyPr/>
                    <a:lstStyle/>
                    <a:p>
                      <a:r>
                        <a:rPr lang="en-US" dirty="0"/>
                        <a:t>STAR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starred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Starred STAR</a:t>
                      </a:r>
                    </a:p>
                    <a:p>
                      <a:r>
                        <a:rPr lang="en-US" sz="1600" dirty="0">
                          <a:latin typeface="Courier" pitchFamily="2" charset="0"/>
                        </a:rPr>
                        <a:t>unit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42968"/>
                  </a:ext>
                </a:extLst>
              </a:tr>
              <a:tr h="62134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unit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LPAR choice RPAR</a:t>
                      </a:r>
                    </a:p>
                    <a:p>
                      <a:r>
                        <a:rPr lang="en-US" sz="1600" dirty="0">
                          <a:latin typeface="Courier" pitchFamily="2" charset="0"/>
                        </a:rPr>
                        <a:t>CHAR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164470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539FDEE-6056-BA6E-D7D0-D5FC556ECD6D}"/>
              </a:ext>
            </a:extLst>
          </p:cNvPr>
          <p:cNvSpPr txBox="1"/>
          <p:nvPr/>
        </p:nvSpPr>
        <p:spPr>
          <a:xfrm>
            <a:off x="450237" y="1528288"/>
            <a:ext cx="514198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Let’s try it for an RE language, {| . * ()}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Assume . is a concatenation operator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Terminals are in upper-case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103FBC-1C27-6699-433C-B0D7BE47ED1F}"/>
              </a:ext>
            </a:extLst>
          </p:cNvPr>
          <p:cNvSpPr txBox="1"/>
          <p:nvPr/>
        </p:nvSpPr>
        <p:spPr>
          <a:xfrm>
            <a:off x="7287704" y="857250"/>
            <a:ext cx="448102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Tokens (Terminals)</a:t>
            </a:r>
          </a:p>
          <a:p>
            <a:r>
              <a:rPr lang="en-US" dirty="0"/>
              <a:t>    PIPE = “|”</a:t>
            </a:r>
          </a:p>
          <a:p>
            <a:r>
              <a:rPr lang="en-US" dirty="0"/>
              <a:t>    DOT = “.”</a:t>
            </a:r>
          </a:p>
          <a:p>
            <a:r>
              <a:rPr lang="en-US" dirty="0"/>
              <a:t>    STAR = “*”</a:t>
            </a:r>
          </a:p>
          <a:p>
            <a:r>
              <a:rPr lang="en-US" dirty="0"/>
              <a:t>    LPAR = “\(“</a:t>
            </a:r>
          </a:p>
          <a:p>
            <a:r>
              <a:rPr lang="en-US" dirty="0"/>
              <a:t>    RPAR = “\)”</a:t>
            </a:r>
          </a:p>
          <a:p>
            <a:r>
              <a:rPr lang="en-US" dirty="0"/>
              <a:t>    CHAR = “[^a-</a:t>
            </a:r>
            <a:r>
              <a:rPr lang="en-US" dirty="0" err="1"/>
              <a:t>zA</a:t>
            </a:r>
            <a:r>
              <a:rPr lang="en-US" dirty="0"/>
              <a:t>-Z]”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42F7BB-8C94-7A43-4F43-117D3E022B7A}"/>
              </a:ext>
            </a:extLst>
          </p:cNvPr>
          <p:cNvSpPr txBox="1"/>
          <p:nvPr/>
        </p:nvSpPr>
        <p:spPr>
          <a:xfrm>
            <a:off x="7287704" y="3581400"/>
            <a:ext cx="325075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Possible names for</a:t>
            </a:r>
          </a:p>
          <a:p>
            <a:r>
              <a:rPr lang="en-US" b="1" dirty="0"/>
              <a:t>  NT (Non-Terminals):</a:t>
            </a:r>
          </a:p>
          <a:p>
            <a:r>
              <a:rPr lang="en-US" dirty="0"/>
              <a:t>      choice</a:t>
            </a:r>
          </a:p>
          <a:p>
            <a:r>
              <a:rPr lang="en-US" dirty="0"/>
              <a:t>      </a:t>
            </a:r>
            <a:r>
              <a:rPr lang="en-US" dirty="0" err="1"/>
              <a:t>concat</a:t>
            </a:r>
            <a:endParaRPr lang="en-US" dirty="0"/>
          </a:p>
          <a:p>
            <a:r>
              <a:rPr lang="en-US" dirty="0"/>
              <a:t>      starred</a:t>
            </a:r>
          </a:p>
          <a:p>
            <a:r>
              <a:rPr lang="en-US" dirty="0"/>
              <a:t>      unit</a:t>
            </a:r>
          </a:p>
        </p:txBody>
      </p:sp>
    </p:spTree>
    <p:extLst>
      <p:ext uri="{BB962C8B-B14F-4D97-AF65-F5344CB8AC3E}">
        <p14:creationId xmlns:p14="http://schemas.microsoft.com/office/powerpoint/2010/main" val="344346285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C0391-D98E-DFC5-373D-D7FA475F2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FF7D3-5FD0-6818-457A-31A7E6EFB0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168" y="28500"/>
            <a:ext cx="10515600" cy="1325563"/>
          </a:xfrm>
        </p:spPr>
        <p:txBody>
          <a:bodyPr/>
          <a:lstStyle/>
          <a:p>
            <a:r>
              <a:rPr lang="en-US" dirty="0"/>
              <a:t>Parsing Regular Expressions</a:t>
            </a:r>
            <a:br>
              <a:rPr lang="en-US" dirty="0"/>
            </a:br>
            <a:r>
              <a:rPr lang="en-US" sz="2400" dirty="0"/>
              <a:t>(and considering precedence)</a:t>
            </a:r>
            <a:endParaRPr lang="en-US" dirty="0"/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A94A787C-DC43-59FF-8BDA-5632A4A5B8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8822314"/>
              </p:ext>
            </p:extLst>
          </p:nvPr>
        </p:nvGraphicFramePr>
        <p:xfrm>
          <a:off x="458380" y="3180219"/>
          <a:ext cx="5804799" cy="3106735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63323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1387257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3154219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621347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 (LHS)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 (RHS)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621347">
                <a:tc>
                  <a:txBody>
                    <a:bodyPr/>
                    <a:lstStyle/>
                    <a:p>
                      <a:r>
                        <a:rPr lang="en-US" dirty="0"/>
                        <a:t>|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choice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choice PIPE choice</a:t>
                      </a:r>
                      <a:br>
                        <a:rPr lang="en-US" sz="1600" dirty="0">
                          <a:latin typeface="Courier" pitchFamily="2" charset="0"/>
                        </a:rPr>
                      </a:br>
                      <a:r>
                        <a:rPr lang="en-US" sz="1600" dirty="0" err="1">
                          <a:latin typeface="Courier" pitchFamily="2" charset="0"/>
                        </a:rPr>
                        <a:t>concat</a:t>
                      </a:r>
                      <a:endParaRPr lang="en-US" sz="1600" dirty="0">
                        <a:latin typeface="Courier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  <a:tr h="621347">
                <a:tc>
                  <a:txBody>
                    <a:bodyPr/>
                    <a:lstStyle/>
                    <a:p>
                      <a:r>
                        <a:rPr lang="en-US" dirty="0"/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>
                          <a:latin typeface="Courier" pitchFamily="2" charset="0"/>
                        </a:rPr>
                        <a:t>concat</a:t>
                      </a:r>
                      <a:endParaRPr lang="en-US" sz="1600" dirty="0">
                        <a:latin typeface="Courier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>
                          <a:latin typeface="Courier" pitchFamily="2" charset="0"/>
                        </a:rPr>
                        <a:t>concat</a:t>
                      </a:r>
                      <a:r>
                        <a:rPr lang="en-US" sz="1600" dirty="0">
                          <a:latin typeface="Courier" pitchFamily="2" charset="0"/>
                        </a:rPr>
                        <a:t> DOT </a:t>
                      </a:r>
                      <a:r>
                        <a:rPr lang="en-US" sz="1600" dirty="0" err="1">
                          <a:latin typeface="Courier" pitchFamily="2" charset="0"/>
                        </a:rPr>
                        <a:t>concat</a:t>
                      </a:r>
                      <a:br>
                        <a:rPr lang="en-US" sz="1600" dirty="0">
                          <a:latin typeface="Courier" pitchFamily="2" charset="0"/>
                        </a:rPr>
                      </a:br>
                      <a:r>
                        <a:rPr lang="en-US" sz="1600" dirty="0">
                          <a:latin typeface="Courier" pitchFamily="2" charset="0"/>
                        </a:rPr>
                        <a:t>star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6889359"/>
                  </a:ext>
                </a:extLst>
              </a:tr>
              <a:tr h="621347">
                <a:tc>
                  <a:txBody>
                    <a:bodyPr/>
                    <a:lstStyle/>
                    <a:p>
                      <a:r>
                        <a:rPr lang="en-US" dirty="0"/>
                        <a:t>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starred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starred STAR</a:t>
                      </a:r>
                      <a:br>
                        <a:rPr lang="en-US" sz="1600" dirty="0">
                          <a:latin typeface="Courier" pitchFamily="2" charset="0"/>
                        </a:rPr>
                      </a:br>
                      <a:r>
                        <a:rPr lang="en-US" sz="1600" dirty="0">
                          <a:latin typeface="Courier" pitchFamily="2" charset="0"/>
                        </a:rPr>
                        <a:t>unit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42968"/>
                  </a:ext>
                </a:extLst>
              </a:tr>
              <a:tr h="621347">
                <a:tc>
                  <a:txBody>
                    <a:bodyPr/>
                    <a:lstStyle/>
                    <a:p>
                      <a:r>
                        <a:rPr lang="en-US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unit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LPAR choice RPAR</a:t>
                      </a:r>
                      <a:br>
                        <a:rPr lang="en-US" sz="1600" dirty="0">
                          <a:latin typeface="Courier" pitchFamily="2" charset="0"/>
                        </a:rPr>
                      </a:br>
                      <a:r>
                        <a:rPr lang="en-US" sz="1600" dirty="0">
                          <a:latin typeface="Courier" pitchFamily="2" charset="0"/>
                        </a:rPr>
                        <a:t>CHAR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164470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2F50027-7219-D966-9DDF-8EC48F5C6EBA}"/>
              </a:ext>
            </a:extLst>
          </p:cNvPr>
          <p:cNvSpPr txBox="1"/>
          <p:nvPr/>
        </p:nvSpPr>
        <p:spPr>
          <a:xfrm>
            <a:off x="450237" y="1528288"/>
            <a:ext cx="514198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Let’s try it for an RE language, {| . * ()}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Assume . is a concatenation operator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Terminals are in upper-case</a:t>
            </a:r>
          </a:p>
        </p:txBody>
      </p:sp>
    </p:spTree>
    <p:extLst>
      <p:ext uri="{BB962C8B-B14F-4D97-AF65-F5344CB8AC3E}">
        <p14:creationId xmlns:p14="http://schemas.microsoft.com/office/powerpoint/2010/main" val="144173630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0D8BF28-0940-BB41-8B83-4E5F8F8EE8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403475"/>
              </p:ext>
            </p:extLst>
          </p:nvPr>
        </p:nvGraphicFramePr>
        <p:xfrm>
          <a:off x="458380" y="3180219"/>
          <a:ext cx="5804799" cy="3106735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63323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1181865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3359611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621347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621347">
                <a:tc>
                  <a:txBody>
                    <a:bodyPr/>
                    <a:lstStyle/>
                    <a:p>
                      <a:r>
                        <a:rPr lang="en-US" dirty="0"/>
                        <a:t>|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choice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: choice PIPE choice</a:t>
                      </a:r>
                      <a:br>
                        <a:rPr lang="en-US" sz="1600" dirty="0">
                          <a:latin typeface="Courier" pitchFamily="2" charset="0"/>
                        </a:rPr>
                      </a:br>
                      <a:r>
                        <a:rPr lang="en-US" sz="1600" dirty="0">
                          <a:latin typeface="Courier" pitchFamily="2" charset="0"/>
                        </a:rPr>
                        <a:t>| </a:t>
                      </a:r>
                      <a:r>
                        <a:rPr lang="en-US" sz="1600" dirty="0" err="1">
                          <a:latin typeface="Courier" pitchFamily="2" charset="0"/>
                        </a:rPr>
                        <a:t>concat</a:t>
                      </a:r>
                      <a:endParaRPr lang="en-US" sz="1600" dirty="0">
                        <a:latin typeface="Courier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  <a:tr h="621347">
                <a:tc>
                  <a:txBody>
                    <a:bodyPr/>
                    <a:lstStyle/>
                    <a:p>
                      <a:r>
                        <a:rPr lang="en-US" dirty="0"/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>
                          <a:latin typeface="Courier" pitchFamily="2" charset="0"/>
                        </a:rPr>
                        <a:t>concat</a:t>
                      </a:r>
                      <a:endParaRPr lang="en-US" sz="1600" dirty="0">
                        <a:latin typeface="Courier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: </a:t>
                      </a:r>
                      <a:r>
                        <a:rPr lang="en-US" sz="1600" dirty="0" err="1">
                          <a:latin typeface="Courier" pitchFamily="2" charset="0"/>
                        </a:rPr>
                        <a:t>concat</a:t>
                      </a:r>
                      <a:r>
                        <a:rPr lang="en-US" sz="1600" dirty="0">
                          <a:latin typeface="Courier" pitchFamily="2" charset="0"/>
                        </a:rPr>
                        <a:t> DOT </a:t>
                      </a:r>
                      <a:r>
                        <a:rPr lang="en-US" sz="1600" dirty="0" err="1">
                          <a:latin typeface="Courier" pitchFamily="2" charset="0"/>
                        </a:rPr>
                        <a:t>concat</a:t>
                      </a:r>
                      <a:br>
                        <a:rPr lang="en-US" sz="1600" dirty="0">
                          <a:latin typeface="Courier" pitchFamily="2" charset="0"/>
                        </a:rPr>
                      </a:br>
                      <a:r>
                        <a:rPr lang="en-US" sz="1600" dirty="0">
                          <a:latin typeface="Courier" pitchFamily="2" charset="0"/>
                        </a:rPr>
                        <a:t>| starred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6889359"/>
                  </a:ext>
                </a:extLst>
              </a:tr>
              <a:tr h="621347">
                <a:tc>
                  <a:txBody>
                    <a:bodyPr/>
                    <a:lstStyle/>
                    <a:p>
                      <a:r>
                        <a:rPr lang="en-US" dirty="0"/>
                        <a:t>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starred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: starred STAR</a:t>
                      </a:r>
                      <a:br>
                        <a:rPr lang="en-US" sz="1600" dirty="0">
                          <a:latin typeface="Courier" pitchFamily="2" charset="0"/>
                        </a:rPr>
                      </a:br>
                      <a:r>
                        <a:rPr lang="en-US" sz="1600" dirty="0">
                          <a:latin typeface="Courier" pitchFamily="2" charset="0"/>
                        </a:rPr>
                        <a:t>| unit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42968"/>
                  </a:ext>
                </a:extLst>
              </a:tr>
              <a:tr h="621347">
                <a:tc>
                  <a:txBody>
                    <a:bodyPr/>
                    <a:lstStyle/>
                    <a:p>
                      <a:r>
                        <a:rPr lang="en-US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unit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: LPAREN choice RPAREN</a:t>
                      </a:r>
                      <a:br>
                        <a:rPr lang="en-US" sz="1600" dirty="0">
                          <a:latin typeface="Courier" pitchFamily="2" charset="0"/>
                        </a:rPr>
                      </a:br>
                      <a:r>
                        <a:rPr lang="en-US" sz="1600" dirty="0">
                          <a:latin typeface="Courier" pitchFamily="2" charset="0"/>
                        </a:rPr>
                        <a:t>| CHAR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1644708"/>
                  </a:ext>
                </a:extLst>
              </a:tr>
            </a:tbl>
          </a:graphicData>
        </a:graphic>
      </p:graphicFrame>
      <p:sp>
        <p:nvSpPr>
          <p:cNvPr id="11" name="Title 1">
            <a:extLst>
              <a:ext uri="{FF2B5EF4-FFF2-40B4-BE49-F238E27FC236}">
                <a16:creationId xmlns:a16="http://schemas.microsoft.com/office/drawing/2014/main" id="{D307D94F-632F-B20D-DDB1-41198D972D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168" y="28500"/>
            <a:ext cx="10515600" cy="1325563"/>
          </a:xfrm>
        </p:spPr>
        <p:txBody>
          <a:bodyPr/>
          <a:lstStyle/>
          <a:p>
            <a:r>
              <a:rPr lang="en-US" dirty="0"/>
              <a:t>Parsing Regular Expressions</a:t>
            </a:r>
            <a:br>
              <a:rPr lang="en-US" dirty="0"/>
            </a:br>
            <a:r>
              <a:rPr lang="en-US" sz="2400" dirty="0"/>
              <a:t>(and considering precedence)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6FB234C-7331-7565-8836-FEB00EFE813A}"/>
              </a:ext>
            </a:extLst>
          </p:cNvPr>
          <p:cNvSpPr txBox="1"/>
          <p:nvPr/>
        </p:nvSpPr>
        <p:spPr>
          <a:xfrm>
            <a:off x="450237" y="1528288"/>
            <a:ext cx="514198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Let’s try it for an RE language, {| . * ()}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Assume . is a concatenation operator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Terminals are in upper-case</a:t>
            </a:r>
          </a:p>
        </p:txBody>
      </p:sp>
    </p:spTree>
    <p:extLst>
      <p:ext uri="{BB962C8B-B14F-4D97-AF65-F5344CB8AC3E}">
        <p14:creationId xmlns:p14="http://schemas.microsoft.com/office/powerpoint/2010/main" val="173003483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FCC9E642-CCFC-BD44-B0F5-9C04422BE9C5}"/>
              </a:ext>
            </a:extLst>
          </p:cNvPr>
          <p:cNvSpPr txBox="1"/>
          <p:nvPr/>
        </p:nvSpPr>
        <p:spPr>
          <a:xfrm>
            <a:off x="7512876" y="1655344"/>
            <a:ext cx="38876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</a:t>
            </a:r>
            <a:r>
              <a:rPr lang="en-US" sz="3200" dirty="0" err="1">
                <a:latin typeface="Courier" pitchFamily="2" charset="0"/>
              </a:rPr>
              <a:t>a.b</a:t>
            </a:r>
            <a:r>
              <a:rPr lang="en-US" sz="3200" dirty="0">
                <a:latin typeface="Courier" pitchFamily="2" charset="0"/>
              </a:rPr>
              <a:t> | c*</a:t>
            </a:r>
          </a:p>
        </p:txBody>
      </p:sp>
      <p:graphicFrame>
        <p:nvGraphicFramePr>
          <p:cNvPr id="44" name="Table 5">
            <a:extLst>
              <a:ext uri="{FF2B5EF4-FFF2-40B4-BE49-F238E27FC236}">
                <a16:creationId xmlns:a16="http://schemas.microsoft.com/office/drawing/2014/main" id="{A45D88A6-2785-A242-B11A-D5139ECA264A}"/>
              </a:ext>
            </a:extLst>
          </p:cNvPr>
          <p:cNvGraphicFramePr>
            <a:graphicFrameLocks noGrp="1"/>
          </p:cNvGraphicFramePr>
          <p:nvPr/>
        </p:nvGraphicFramePr>
        <p:xfrm>
          <a:off x="458380" y="3180219"/>
          <a:ext cx="5804799" cy="3106735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63323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1181865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3359611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621347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621347">
                <a:tc>
                  <a:txBody>
                    <a:bodyPr/>
                    <a:lstStyle/>
                    <a:p>
                      <a:r>
                        <a:rPr lang="en-US" dirty="0"/>
                        <a:t>|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choice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: choice PIPE choice</a:t>
                      </a:r>
                      <a:br>
                        <a:rPr lang="en-US" sz="1600" dirty="0">
                          <a:latin typeface="Courier" pitchFamily="2" charset="0"/>
                        </a:rPr>
                      </a:br>
                      <a:r>
                        <a:rPr lang="en-US" sz="1600" dirty="0">
                          <a:latin typeface="Courier" pitchFamily="2" charset="0"/>
                        </a:rPr>
                        <a:t>| </a:t>
                      </a:r>
                      <a:r>
                        <a:rPr lang="en-US" sz="1600" dirty="0" err="1">
                          <a:latin typeface="Courier" pitchFamily="2" charset="0"/>
                        </a:rPr>
                        <a:t>concat</a:t>
                      </a:r>
                      <a:endParaRPr lang="en-US" sz="1600" dirty="0">
                        <a:latin typeface="Courier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  <a:tr h="621347">
                <a:tc>
                  <a:txBody>
                    <a:bodyPr/>
                    <a:lstStyle/>
                    <a:p>
                      <a:r>
                        <a:rPr lang="en-US" dirty="0"/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>
                          <a:latin typeface="Courier" pitchFamily="2" charset="0"/>
                        </a:rPr>
                        <a:t>concat</a:t>
                      </a:r>
                      <a:endParaRPr lang="en-US" sz="1600" dirty="0">
                        <a:latin typeface="Courier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: </a:t>
                      </a:r>
                      <a:r>
                        <a:rPr lang="en-US" sz="1600" dirty="0" err="1">
                          <a:latin typeface="Courier" pitchFamily="2" charset="0"/>
                        </a:rPr>
                        <a:t>concat</a:t>
                      </a:r>
                      <a:r>
                        <a:rPr lang="en-US" sz="1600" dirty="0">
                          <a:latin typeface="Courier" pitchFamily="2" charset="0"/>
                        </a:rPr>
                        <a:t> DOT </a:t>
                      </a:r>
                      <a:r>
                        <a:rPr lang="en-US" sz="1600" dirty="0" err="1">
                          <a:latin typeface="Courier" pitchFamily="2" charset="0"/>
                        </a:rPr>
                        <a:t>concat</a:t>
                      </a:r>
                      <a:br>
                        <a:rPr lang="en-US" sz="1600" dirty="0">
                          <a:latin typeface="Courier" pitchFamily="2" charset="0"/>
                        </a:rPr>
                      </a:br>
                      <a:r>
                        <a:rPr lang="en-US" sz="1600" dirty="0">
                          <a:latin typeface="Courier" pitchFamily="2" charset="0"/>
                        </a:rPr>
                        <a:t>| starred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6889359"/>
                  </a:ext>
                </a:extLst>
              </a:tr>
              <a:tr h="621347">
                <a:tc>
                  <a:txBody>
                    <a:bodyPr/>
                    <a:lstStyle/>
                    <a:p>
                      <a:r>
                        <a:rPr lang="en-US" dirty="0"/>
                        <a:t>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starred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: starred STAR</a:t>
                      </a:r>
                      <a:br>
                        <a:rPr lang="en-US" sz="1600" dirty="0">
                          <a:latin typeface="Courier" pitchFamily="2" charset="0"/>
                        </a:rPr>
                      </a:br>
                      <a:r>
                        <a:rPr lang="en-US" sz="1600" dirty="0">
                          <a:latin typeface="Courier" pitchFamily="2" charset="0"/>
                        </a:rPr>
                        <a:t>| unit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42968"/>
                  </a:ext>
                </a:extLst>
              </a:tr>
              <a:tr h="621347">
                <a:tc>
                  <a:txBody>
                    <a:bodyPr/>
                    <a:lstStyle/>
                    <a:p>
                      <a:r>
                        <a:rPr lang="en-US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unit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: LPAREN choice RPAREN</a:t>
                      </a:r>
                      <a:br>
                        <a:rPr lang="en-US" sz="1600" dirty="0">
                          <a:latin typeface="Courier" pitchFamily="2" charset="0"/>
                        </a:rPr>
                      </a:br>
                      <a:r>
                        <a:rPr lang="en-US" sz="1600" dirty="0">
                          <a:latin typeface="Courier" pitchFamily="2" charset="0"/>
                        </a:rPr>
                        <a:t>| CHAR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1644708"/>
                  </a:ext>
                </a:extLst>
              </a:tr>
            </a:tbl>
          </a:graphicData>
        </a:graphic>
      </p:graphicFrame>
      <p:sp>
        <p:nvSpPr>
          <p:cNvPr id="11" name="Title 1">
            <a:extLst>
              <a:ext uri="{FF2B5EF4-FFF2-40B4-BE49-F238E27FC236}">
                <a16:creationId xmlns:a16="http://schemas.microsoft.com/office/drawing/2014/main" id="{A03C10B2-2FAE-C53E-5D39-B10B0EADA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168" y="28500"/>
            <a:ext cx="10515600" cy="1325563"/>
          </a:xfrm>
        </p:spPr>
        <p:txBody>
          <a:bodyPr/>
          <a:lstStyle/>
          <a:p>
            <a:r>
              <a:rPr lang="en-US" dirty="0"/>
              <a:t>Parsing Regular Expressions</a:t>
            </a:r>
            <a:br>
              <a:rPr lang="en-US" dirty="0"/>
            </a:br>
            <a:r>
              <a:rPr lang="en-US" sz="2400" dirty="0"/>
              <a:t>(and considering precedence)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C594887-F6FD-439B-0BB3-ABFBBD3E5C93}"/>
              </a:ext>
            </a:extLst>
          </p:cNvPr>
          <p:cNvSpPr txBox="1"/>
          <p:nvPr/>
        </p:nvSpPr>
        <p:spPr>
          <a:xfrm>
            <a:off x="450237" y="1528288"/>
            <a:ext cx="514198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Let’s try it for an RE language, {| . * ()}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Assume . is a concatenation operator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Terminals are in upper-case</a:t>
            </a:r>
          </a:p>
        </p:txBody>
      </p:sp>
    </p:spTree>
    <p:extLst>
      <p:ext uri="{BB962C8B-B14F-4D97-AF65-F5344CB8AC3E}">
        <p14:creationId xmlns:p14="http://schemas.microsoft.com/office/powerpoint/2010/main" val="220787141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FCC9E642-CCFC-BD44-B0F5-9C04422BE9C5}"/>
              </a:ext>
            </a:extLst>
          </p:cNvPr>
          <p:cNvSpPr txBox="1"/>
          <p:nvPr/>
        </p:nvSpPr>
        <p:spPr>
          <a:xfrm>
            <a:off x="7512876" y="1655344"/>
            <a:ext cx="38876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</a:t>
            </a:r>
            <a:r>
              <a:rPr lang="en-US" sz="3200" dirty="0" err="1">
                <a:latin typeface="Courier" pitchFamily="2" charset="0"/>
              </a:rPr>
              <a:t>a.b</a:t>
            </a:r>
            <a:r>
              <a:rPr lang="en-US" sz="3200" dirty="0">
                <a:latin typeface="Courier" pitchFamily="2" charset="0"/>
              </a:rPr>
              <a:t> | c*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47664C-D91B-8440-AA20-AFDFCF36154B}"/>
              </a:ext>
            </a:extLst>
          </p:cNvPr>
          <p:cNvSpPr txBox="1"/>
          <p:nvPr/>
        </p:nvSpPr>
        <p:spPr>
          <a:xfrm>
            <a:off x="9339737" y="2409397"/>
            <a:ext cx="7922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choice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FDF472A-6C36-FF42-A3A4-79D9080D1181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 flipH="1">
            <a:off x="8162729" y="2778729"/>
            <a:ext cx="1573111" cy="3142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8507DF4-F531-E447-B4ED-2E3DBF242ADB}"/>
              </a:ext>
            </a:extLst>
          </p:cNvPr>
          <p:cNvSpPr txBox="1"/>
          <p:nvPr/>
        </p:nvSpPr>
        <p:spPr>
          <a:xfrm>
            <a:off x="7766626" y="3092947"/>
            <a:ext cx="7922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choice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4AF8137-27D4-9040-94A2-2B20CBAFEAE5}"/>
              </a:ext>
            </a:extLst>
          </p:cNvPr>
          <p:cNvCxnSpPr>
            <a:cxnSpLocks/>
            <a:stCxn id="9" idx="2"/>
            <a:endCxn id="14" idx="0"/>
          </p:cNvCxnSpPr>
          <p:nvPr/>
        </p:nvCxnSpPr>
        <p:spPr>
          <a:xfrm flipH="1">
            <a:off x="9694039" y="2778729"/>
            <a:ext cx="41801" cy="33241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AE4D0A9-B304-1A41-8D13-92EAA4696DB1}"/>
              </a:ext>
            </a:extLst>
          </p:cNvPr>
          <p:cNvCxnSpPr>
            <a:cxnSpLocks/>
            <a:stCxn id="9" idx="2"/>
            <a:endCxn id="15" idx="0"/>
          </p:cNvCxnSpPr>
          <p:nvPr/>
        </p:nvCxnSpPr>
        <p:spPr>
          <a:xfrm>
            <a:off x="9735840" y="2778729"/>
            <a:ext cx="1119126" cy="3142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2FD291F-00F2-7C47-94D4-C48CC1483061}"/>
              </a:ext>
            </a:extLst>
          </p:cNvPr>
          <p:cNvSpPr txBox="1"/>
          <p:nvPr/>
        </p:nvSpPr>
        <p:spPr>
          <a:xfrm>
            <a:off x="9433390" y="3111140"/>
            <a:ext cx="521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&lt;|&gt;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410753-0EB0-C04F-AA31-D7D6B5716466}"/>
              </a:ext>
            </a:extLst>
          </p:cNvPr>
          <p:cNvSpPr txBox="1"/>
          <p:nvPr/>
        </p:nvSpPr>
        <p:spPr>
          <a:xfrm>
            <a:off x="10458863" y="3092947"/>
            <a:ext cx="7922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choice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F9414BE-318D-AA40-8BA0-7C6C1A337064}"/>
              </a:ext>
            </a:extLst>
          </p:cNvPr>
          <p:cNvCxnSpPr>
            <a:cxnSpLocks/>
            <a:stCxn id="11" idx="2"/>
          </p:cNvCxnSpPr>
          <p:nvPr/>
        </p:nvCxnSpPr>
        <p:spPr>
          <a:xfrm flipH="1">
            <a:off x="8129065" y="3462279"/>
            <a:ext cx="33664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4C77B0E-B55C-E445-8840-3A873E58B6B0}"/>
              </a:ext>
            </a:extLst>
          </p:cNvPr>
          <p:cNvCxnSpPr>
            <a:cxnSpLocks/>
          </p:cNvCxnSpPr>
          <p:nvPr/>
        </p:nvCxnSpPr>
        <p:spPr>
          <a:xfrm>
            <a:off x="10798632" y="4193842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F3470439-291C-EB48-9C65-CD010CB06FEC}"/>
              </a:ext>
            </a:extLst>
          </p:cNvPr>
          <p:cNvSpPr txBox="1"/>
          <p:nvPr/>
        </p:nvSpPr>
        <p:spPr>
          <a:xfrm>
            <a:off x="10373067" y="4671386"/>
            <a:ext cx="851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starred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087C754-E04A-D446-8D6D-AD8F54AB7008}"/>
              </a:ext>
            </a:extLst>
          </p:cNvPr>
          <p:cNvSpPr txBox="1"/>
          <p:nvPr/>
        </p:nvSpPr>
        <p:spPr>
          <a:xfrm>
            <a:off x="7695682" y="3762340"/>
            <a:ext cx="805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concat</a:t>
            </a:r>
            <a:endParaRPr lang="en-US" dirty="0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1AB7DC7-A806-2F42-983B-6269BA61C35D}"/>
              </a:ext>
            </a:extLst>
          </p:cNvPr>
          <p:cNvCxnSpPr>
            <a:cxnSpLocks/>
            <a:stCxn id="24" idx="2"/>
            <a:endCxn id="26" idx="0"/>
          </p:cNvCxnSpPr>
          <p:nvPr/>
        </p:nvCxnSpPr>
        <p:spPr>
          <a:xfrm flipH="1">
            <a:off x="7333670" y="4131672"/>
            <a:ext cx="764751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07EDCEB3-45C7-CC43-AD67-8C8A8AF1F8B8}"/>
              </a:ext>
            </a:extLst>
          </p:cNvPr>
          <p:cNvSpPr txBox="1"/>
          <p:nvPr/>
        </p:nvSpPr>
        <p:spPr>
          <a:xfrm>
            <a:off x="6930931" y="4431733"/>
            <a:ext cx="805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concat</a:t>
            </a:r>
            <a:endParaRPr lang="en-US" dirty="0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EB04F1A-E37D-9F4E-9C01-99F9539771B3}"/>
              </a:ext>
            </a:extLst>
          </p:cNvPr>
          <p:cNvCxnSpPr>
            <a:cxnSpLocks/>
            <a:stCxn id="26" idx="2"/>
          </p:cNvCxnSpPr>
          <p:nvPr/>
        </p:nvCxnSpPr>
        <p:spPr>
          <a:xfrm>
            <a:off x="7333670" y="4801065"/>
            <a:ext cx="0" cy="40220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7990EE9-CA8B-A342-B77B-B0BB9DF2B937}"/>
              </a:ext>
            </a:extLst>
          </p:cNvPr>
          <p:cNvCxnSpPr>
            <a:cxnSpLocks/>
            <a:stCxn id="15" idx="2"/>
          </p:cNvCxnSpPr>
          <p:nvPr/>
        </p:nvCxnSpPr>
        <p:spPr>
          <a:xfrm flipH="1">
            <a:off x="10821302" y="3462279"/>
            <a:ext cx="33664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C50D0E49-1903-E146-88AE-8CC3EC6FC2FF}"/>
              </a:ext>
            </a:extLst>
          </p:cNvPr>
          <p:cNvSpPr txBox="1"/>
          <p:nvPr/>
        </p:nvSpPr>
        <p:spPr>
          <a:xfrm>
            <a:off x="10409766" y="3762340"/>
            <a:ext cx="8560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concat</a:t>
            </a:r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63A245A-7C88-BC4E-ABDB-3EB7D5CA3082}"/>
              </a:ext>
            </a:extLst>
          </p:cNvPr>
          <p:cNvSpPr txBox="1"/>
          <p:nvPr/>
        </p:nvSpPr>
        <p:spPr>
          <a:xfrm>
            <a:off x="9798230" y="6080090"/>
            <a:ext cx="11496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&lt;CHAR, c&gt;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4FC0300-B87D-5A4E-8468-9F191AC895BB}"/>
              </a:ext>
            </a:extLst>
          </p:cNvPr>
          <p:cNvSpPr txBox="1"/>
          <p:nvPr/>
        </p:nvSpPr>
        <p:spPr>
          <a:xfrm>
            <a:off x="10109750" y="5393505"/>
            <a:ext cx="558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unit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195C601-C313-4A49-948E-C83C11D5DA52}"/>
              </a:ext>
            </a:extLst>
          </p:cNvPr>
          <p:cNvCxnSpPr>
            <a:cxnSpLocks/>
            <a:stCxn id="31" idx="2"/>
          </p:cNvCxnSpPr>
          <p:nvPr/>
        </p:nvCxnSpPr>
        <p:spPr>
          <a:xfrm flipH="1">
            <a:off x="10379159" y="5762837"/>
            <a:ext cx="9674" cy="2833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E1E55B2F-406B-5644-9706-F1B30139727A}"/>
              </a:ext>
            </a:extLst>
          </p:cNvPr>
          <p:cNvCxnSpPr>
            <a:cxnSpLocks/>
            <a:stCxn id="21" idx="2"/>
            <a:endCxn id="31" idx="0"/>
          </p:cNvCxnSpPr>
          <p:nvPr/>
        </p:nvCxnSpPr>
        <p:spPr>
          <a:xfrm flipH="1">
            <a:off x="10388833" y="5040718"/>
            <a:ext cx="409799" cy="35278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F228FA1B-FCF7-B043-8D66-37DCBFB0C26A}"/>
              </a:ext>
            </a:extLst>
          </p:cNvPr>
          <p:cNvSpPr txBox="1"/>
          <p:nvPr/>
        </p:nvSpPr>
        <p:spPr>
          <a:xfrm>
            <a:off x="11518871" y="5502277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&lt;*&gt;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3AD153E-C059-3046-81C2-F10A98FB45D7}"/>
              </a:ext>
            </a:extLst>
          </p:cNvPr>
          <p:cNvCxnSpPr>
            <a:cxnSpLocks/>
            <a:stCxn id="21" idx="2"/>
          </p:cNvCxnSpPr>
          <p:nvPr/>
        </p:nvCxnSpPr>
        <p:spPr>
          <a:xfrm>
            <a:off x="10798632" y="5040718"/>
            <a:ext cx="1064564" cy="44323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45B3A1FD-76E5-F54E-AF66-FD77A986F062}"/>
              </a:ext>
            </a:extLst>
          </p:cNvPr>
          <p:cNvCxnSpPr>
            <a:cxnSpLocks/>
            <a:stCxn id="24" idx="2"/>
            <a:endCxn id="47" idx="0"/>
          </p:cNvCxnSpPr>
          <p:nvPr/>
        </p:nvCxnSpPr>
        <p:spPr>
          <a:xfrm>
            <a:off x="8098421" y="4131672"/>
            <a:ext cx="787389" cy="31597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4B8F012-ED5B-E94E-9B55-C3619C381A62}"/>
              </a:ext>
            </a:extLst>
          </p:cNvPr>
          <p:cNvSpPr txBox="1"/>
          <p:nvPr/>
        </p:nvSpPr>
        <p:spPr>
          <a:xfrm>
            <a:off x="8483071" y="4447642"/>
            <a:ext cx="805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concat</a:t>
            </a:r>
            <a:endParaRPr lang="en-US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5AFA77C-7C1F-EF4B-A204-93772A2A6BBA}"/>
              </a:ext>
            </a:extLst>
          </p:cNvPr>
          <p:cNvSpPr txBox="1"/>
          <p:nvPr/>
        </p:nvSpPr>
        <p:spPr>
          <a:xfrm>
            <a:off x="6942978" y="5196771"/>
            <a:ext cx="851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starred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808F0BE-7C98-EB42-96B4-A033F10408BE}"/>
              </a:ext>
            </a:extLst>
          </p:cNvPr>
          <p:cNvSpPr txBox="1"/>
          <p:nvPr/>
        </p:nvSpPr>
        <p:spPr>
          <a:xfrm>
            <a:off x="7018221" y="5808841"/>
            <a:ext cx="558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unit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C9005D3-CA59-4A4D-9D51-D49B4324CF6C}"/>
              </a:ext>
            </a:extLst>
          </p:cNvPr>
          <p:cNvSpPr txBox="1"/>
          <p:nvPr/>
        </p:nvSpPr>
        <p:spPr>
          <a:xfrm>
            <a:off x="6812980" y="6433483"/>
            <a:ext cx="1162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&lt;CHAR, a&gt;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CA3ECD31-2362-A94F-89D4-8A18609934BE}"/>
              </a:ext>
            </a:extLst>
          </p:cNvPr>
          <p:cNvCxnSpPr>
            <a:cxnSpLocks/>
          </p:cNvCxnSpPr>
          <p:nvPr/>
        </p:nvCxnSpPr>
        <p:spPr>
          <a:xfrm>
            <a:off x="7304852" y="5578171"/>
            <a:ext cx="2126" cy="22800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3AB3F7DE-5EE8-C44B-BCEB-689A0A195ACC}"/>
              </a:ext>
            </a:extLst>
          </p:cNvPr>
          <p:cNvCxnSpPr>
            <a:cxnSpLocks/>
          </p:cNvCxnSpPr>
          <p:nvPr/>
        </p:nvCxnSpPr>
        <p:spPr>
          <a:xfrm>
            <a:off x="7309115" y="6217137"/>
            <a:ext cx="2126" cy="22800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70F903EE-1FDE-504D-A10D-71E2C079EAD5}"/>
              </a:ext>
            </a:extLst>
          </p:cNvPr>
          <p:cNvCxnSpPr>
            <a:cxnSpLocks/>
          </p:cNvCxnSpPr>
          <p:nvPr/>
        </p:nvCxnSpPr>
        <p:spPr>
          <a:xfrm>
            <a:off x="8954857" y="4756879"/>
            <a:ext cx="0" cy="40220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F685E38A-CCEF-364F-8E08-287DED16437B}"/>
              </a:ext>
            </a:extLst>
          </p:cNvPr>
          <p:cNvSpPr txBox="1"/>
          <p:nvPr/>
        </p:nvSpPr>
        <p:spPr>
          <a:xfrm>
            <a:off x="8564165" y="5152585"/>
            <a:ext cx="851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starred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599FFD7-AA47-604F-B74A-7860C9198879}"/>
              </a:ext>
            </a:extLst>
          </p:cNvPr>
          <p:cNvSpPr txBox="1"/>
          <p:nvPr/>
        </p:nvSpPr>
        <p:spPr>
          <a:xfrm>
            <a:off x="8639408" y="5764655"/>
            <a:ext cx="558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unit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F8B9DD2-2604-FF42-B02A-8FF6DD389A5B}"/>
              </a:ext>
            </a:extLst>
          </p:cNvPr>
          <p:cNvSpPr txBox="1"/>
          <p:nvPr/>
        </p:nvSpPr>
        <p:spPr>
          <a:xfrm>
            <a:off x="8434167" y="6389297"/>
            <a:ext cx="11737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&lt;CHAR ,b&gt;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57EED48C-61BC-2543-8E9D-1DB26FAD4905}"/>
              </a:ext>
            </a:extLst>
          </p:cNvPr>
          <p:cNvCxnSpPr>
            <a:cxnSpLocks/>
          </p:cNvCxnSpPr>
          <p:nvPr/>
        </p:nvCxnSpPr>
        <p:spPr>
          <a:xfrm>
            <a:off x="8926039" y="5533985"/>
            <a:ext cx="2126" cy="22800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D6E3C19C-FE02-4B4B-BD66-D4C4FC15F977}"/>
              </a:ext>
            </a:extLst>
          </p:cNvPr>
          <p:cNvCxnSpPr>
            <a:cxnSpLocks/>
          </p:cNvCxnSpPr>
          <p:nvPr/>
        </p:nvCxnSpPr>
        <p:spPr>
          <a:xfrm>
            <a:off x="8930302" y="6172951"/>
            <a:ext cx="2126" cy="22800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F18D11A8-C394-2F42-B3DE-2F6E7117CAF6}"/>
              </a:ext>
            </a:extLst>
          </p:cNvPr>
          <p:cNvCxnSpPr>
            <a:cxnSpLocks/>
            <a:endCxn id="68" idx="0"/>
          </p:cNvCxnSpPr>
          <p:nvPr/>
        </p:nvCxnSpPr>
        <p:spPr>
          <a:xfrm flipH="1">
            <a:off x="8067489" y="4154309"/>
            <a:ext cx="32184" cy="33241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35495334-5D51-214D-A228-99E152F04649}"/>
              </a:ext>
            </a:extLst>
          </p:cNvPr>
          <p:cNvSpPr txBox="1"/>
          <p:nvPr/>
        </p:nvSpPr>
        <p:spPr>
          <a:xfrm>
            <a:off x="7830886" y="4486720"/>
            <a:ext cx="473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&lt;.&gt;</a:t>
            </a:r>
          </a:p>
        </p:txBody>
      </p:sp>
      <p:graphicFrame>
        <p:nvGraphicFramePr>
          <p:cNvPr id="44" name="Table 5">
            <a:extLst>
              <a:ext uri="{FF2B5EF4-FFF2-40B4-BE49-F238E27FC236}">
                <a16:creationId xmlns:a16="http://schemas.microsoft.com/office/drawing/2014/main" id="{A45D88A6-2785-A242-B11A-D5139ECA26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0322435"/>
              </p:ext>
            </p:extLst>
          </p:nvPr>
        </p:nvGraphicFramePr>
        <p:xfrm>
          <a:off x="458380" y="3180219"/>
          <a:ext cx="5804799" cy="3106735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63323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1181865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3359611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621347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621347">
                <a:tc>
                  <a:txBody>
                    <a:bodyPr/>
                    <a:lstStyle/>
                    <a:p>
                      <a:r>
                        <a:rPr lang="en-US" dirty="0"/>
                        <a:t>|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choice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: choice PIPE choice</a:t>
                      </a:r>
                      <a:br>
                        <a:rPr lang="en-US" sz="1600" dirty="0">
                          <a:latin typeface="Courier" pitchFamily="2" charset="0"/>
                        </a:rPr>
                      </a:br>
                      <a:r>
                        <a:rPr lang="en-US" sz="1600" dirty="0">
                          <a:latin typeface="Courier" pitchFamily="2" charset="0"/>
                        </a:rPr>
                        <a:t>| </a:t>
                      </a:r>
                      <a:r>
                        <a:rPr lang="en-US" sz="1600" dirty="0" err="1">
                          <a:latin typeface="Courier" pitchFamily="2" charset="0"/>
                        </a:rPr>
                        <a:t>concat</a:t>
                      </a:r>
                      <a:endParaRPr lang="en-US" sz="1600" dirty="0">
                        <a:latin typeface="Courier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  <a:tr h="621347">
                <a:tc>
                  <a:txBody>
                    <a:bodyPr/>
                    <a:lstStyle/>
                    <a:p>
                      <a:r>
                        <a:rPr lang="en-US" dirty="0"/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>
                          <a:latin typeface="Courier" pitchFamily="2" charset="0"/>
                        </a:rPr>
                        <a:t>concat</a:t>
                      </a:r>
                      <a:endParaRPr lang="en-US" sz="1600" dirty="0">
                        <a:latin typeface="Courier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: </a:t>
                      </a:r>
                      <a:r>
                        <a:rPr lang="en-US" sz="1600" dirty="0" err="1">
                          <a:latin typeface="Courier" pitchFamily="2" charset="0"/>
                        </a:rPr>
                        <a:t>concat</a:t>
                      </a:r>
                      <a:r>
                        <a:rPr lang="en-US" sz="1600" dirty="0">
                          <a:latin typeface="Courier" pitchFamily="2" charset="0"/>
                        </a:rPr>
                        <a:t> DOT </a:t>
                      </a:r>
                      <a:r>
                        <a:rPr lang="en-US" sz="1600" dirty="0" err="1">
                          <a:latin typeface="Courier" pitchFamily="2" charset="0"/>
                        </a:rPr>
                        <a:t>concat</a:t>
                      </a:r>
                      <a:br>
                        <a:rPr lang="en-US" sz="1600" dirty="0">
                          <a:latin typeface="Courier" pitchFamily="2" charset="0"/>
                        </a:rPr>
                      </a:br>
                      <a:r>
                        <a:rPr lang="en-US" sz="1600" dirty="0">
                          <a:latin typeface="Courier" pitchFamily="2" charset="0"/>
                        </a:rPr>
                        <a:t>| starred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6889359"/>
                  </a:ext>
                </a:extLst>
              </a:tr>
              <a:tr h="621347">
                <a:tc>
                  <a:txBody>
                    <a:bodyPr/>
                    <a:lstStyle/>
                    <a:p>
                      <a:r>
                        <a:rPr lang="en-US" dirty="0"/>
                        <a:t>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starred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: starred STAR</a:t>
                      </a:r>
                      <a:br>
                        <a:rPr lang="en-US" sz="1600" dirty="0">
                          <a:latin typeface="Courier" pitchFamily="2" charset="0"/>
                        </a:rPr>
                      </a:br>
                      <a:r>
                        <a:rPr lang="en-US" sz="1600" dirty="0">
                          <a:latin typeface="Courier" pitchFamily="2" charset="0"/>
                        </a:rPr>
                        <a:t>| unit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42968"/>
                  </a:ext>
                </a:extLst>
              </a:tr>
              <a:tr h="621347">
                <a:tc>
                  <a:txBody>
                    <a:bodyPr/>
                    <a:lstStyle/>
                    <a:p>
                      <a:r>
                        <a:rPr lang="en-US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unit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urier" pitchFamily="2" charset="0"/>
                        </a:rPr>
                        <a:t>: LPAREN choice RPAREN</a:t>
                      </a:r>
                      <a:br>
                        <a:rPr lang="en-US" sz="1600" dirty="0">
                          <a:latin typeface="Courier" pitchFamily="2" charset="0"/>
                        </a:rPr>
                      </a:br>
                      <a:r>
                        <a:rPr lang="en-US" sz="1600" dirty="0">
                          <a:latin typeface="Courier" pitchFamily="2" charset="0"/>
                        </a:rPr>
                        <a:t>| CHAR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1644708"/>
                  </a:ext>
                </a:extLst>
              </a:tr>
            </a:tbl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C183C8EF-AB3B-867F-BB74-A41BF9F2E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168" y="28500"/>
            <a:ext cx="10515600" cy="1325563"/>
          </a:xfrm>
        </p:spPr>
        <p:txBody>
          <a:bodyPr/>
          <a:lstStyle/>
          <a:p>
            <a:r>
              <a:rPr lang="en-US" dirty="0"/>
              <a:t>Parsing Regular Expressions</a:t>
            </a:r>
            <a:br>
              <a:rPr lang="en-US" dirty="0"/>
            </a:br>
            <a:r>
              <a:rPr lang="en-US" sz="2400" dirty="0"/>
              <a:t>(and considering precedence)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58D8A6-54C4-9740-7659-00E8C52D8577}"/>
              </a:ext>
            </a:extLst>
          </p:cNvPr>
          <p:cNvSpPr txBox="1"/>
          <p:nvPr/>
        </p:nvSpPr>
        <p:spPr>
          <a:xfrm>
            <a:off x="450237" y="1528288"/>
            <a:ext cx="514198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Let’s try it for an RE language, {| . * ()}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Assume . is a concatenation operator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Terminals are in upper-case</a:t>
            </a:r>
          </a:p>
        </p:txBody>
      </p:sp>
    </p:spTree>
    <p:extLst>
      <p:ext uri="{BB962C8B-B14F-4D97-AF65-F5344CB8AC3E}">
        <p14:creationId xmlns:p14="http://schemas.microsoft.com/office/powerpoint/2010/main" val="339533789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AFD426-5B98-3043-B47A-01716CED50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many levels of precedence does C have?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E33CE1-4AA0-044C-8498-42909888CC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</a:t>
            </a:r>
            <a:r>
              <a:rPr lang="en-US" dirty="0" err="1">
                <a:hlinkClick r:id="rId2"/>
              </a:rPr>
              <a:t>en.cppreference.com</a:t>
            </a:r>
            <a:r>
              <a:rPr lang="en-US" dirty="0">
                <a:hlinkClick r:id="rId2"/>
              </a:rPr>
              <a:t>/w/c/language/</a:t>
            </a:r>
            <a:r>
              <a:rPr lang="en-US" dirty="0" err="1">
                <a:hlinkClick r:id="rId2"/>
              </a:rPr>
              <a:t>operator_precedence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645838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C620D9-5CE8-9F49-AAF2-72EA9F584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Have we removed all ambiguity? </a:t>
            </a:r>
          </a:p>
        </p:txBody>
      </p:sp>
    </p:spTree>
    <p:extLst>
      <p:ext uri="{BB962C8B-B14F-4D97-AF65-F5344CB8AC3E}">
        <p14:creationId xmlns:p14="http://schemas.microsoft.com/office/powerpoint/2010/main" val="9118608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4A8C7-5939-4547-A4F8-5A4782C5D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make some more parse trees</a:t>
            </a: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6B01C2B5-6176-E646-9408-24C01A44FD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1657329"/>
              </p:ext>
            </p:extLst>
          </p:nvPr>
        </p:nvGraphicFramePr>
        <p:xfrm>
          <a:off x="838200" y="3042735"/>
          <a:ext cx="4480008" cy="229538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43519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1186775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2049714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expr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expr PLUS expr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term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term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term TIMES term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factor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6889359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factor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LP expr RP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NUM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16447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1581C384-93DB-0D44-BE61-8197A0709109}"/>
              </a:ext>
            </a:extLst>
          </p:cNvPr>
          <p:cNvSpPr txBox="1"/>
          <p:nvPr/>
        </p:nvSpPr>
        <p:spPr>
          <a:xfrm>
            <a:off x="7587188" y="2074324"/>
            <a:ext cx="3147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2+3+4</a:t>
            </a:r>
          </a:p>
        </p:txBody>
      </p:sp>
    </p:spTree>
    <p:extLst>
      <p:ext uri="{BB962C8B-B14F-4D97-AF65-F5344CB8AC3E}">
        <p14:creationId xmlns:p14="http://schemas.microsoft.com/office/powerpoint/2010/main" val="294315764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4A8C7-5939-4547-A4F8-5A4782C5D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make some more parse trees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81C384-93DB-0D44-BE61-8197A0709109}"/>
              </a:ext>
            </a:extLst>
          </p:cNvPr>
          <p:cNvSpPr txBox="1"/>
          <p:nvPr/>
        </p:nvSpPr>
        <p:spPr>
          <a:xfrm>
            <a:off x="7292446" y="1559173"/>
            <a:ext cx="3147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2+3+4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5E929B-64E8-044A-85BA-E2A05762BEDE}"/>
              </a:ext>
            </a:extLst>
          </p:cNvPr>
          <p:cNvSpPr txBox="1"/>
          <p:nvPr/>
        </p:nvSpPr>
        <p:spPr>
          <a:xfrm>
            <a:off x="8635402" y="218195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B787D9A-3D52-DD40-A88E-B12C480A13B4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 flipH="1">
            <a:off x="7299498" y="2551289"/>
            <a:ext cx="1634896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BD8CC90-1189-CC47-92C0-7050C009DE16}"/>
              </a:ext>
            </a:extLst>
          </p:cNvPr>
          <p:cNvSpPr txBox="1"/>
          <p:nvPr/>
        </p:nvSpPr>
        <p:spPr>
          <a:xfrm>
            <a:off x="7000506" y="308793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E18E5FE-9410-684A-A4C9-EA5A61D0939B}"/>
              </a:ext>
            </a:extLst>
          </p:cNvPr>
          <p:cNvCxnSpPr>
            <a:cxnSpLocks/>
            <a:stCxn id="5" idx="2"/>
            <a:endCxn id="11" idx="0"/>
          </p:cNvCxnSpPr>
          <p:nvPr/>
        </p:nvCxnSpPr>
        <p:spPr>
          <a:xfrm>
            <a:off x="8934394" y="2551289"/>
            <a:ext cx="0" cy="55483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D86E168-28F6-9840-A978-1FFC7CEF67EE}"/>
              </a:ext>
            </a:extLst>
          </p:cNvPr>
          <p:cNvCxnSpPr>
            <a:cxnSpLocks/>
            <a:stCxn id="5" idx="2"/>
            <a:endCxn id="12" idx="0"/>
          </p:cNvCxnSpPr>
          <p:nvPr/>
        </p:nvCxnSpPr>
        <p:spPr>
          <a:xfrm>
            <a:off x="8934394" y="2551289"/>
            <a:ext cx="1057341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8CB2006-86DA-624E-819E-67C30BAE27FC}"/>
              </a:ext>
            </a:extLst>
          </p:cNvPr>
          <p:cNvSpPr txBox="1"/>
          <p:nvPr/>
        </p:nvSpPr>
        <p:spPr>
          <a:xfrm>
            <a:off x="8494273" y="3106126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30F22D-AA26-544C-B3FB-EB58E530F8E9}"/>
              </a:ext>
            </a:extLst>
          </p:cNvPr>
          <p:cNvSpPr txBox="1"/>
          <p:nvPr/>
        </p:nvSpPr>
        <p:spPr>
          <a:xfrm>
            <a:off x="9692743" y="308793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A7E26D-CFCD-7842-844D-2332B62F3137}"/>
              </a:ext>
            </a:extLst>
          </p:cNvPr>
          <p:cNvSpPr txBox="1"/>
          <p:nvPr/>
        </p:nvSpPr>
        <p:spPr>
          <a:xfrm>
            <a:off x="6724021" y="5469967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2&gt;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D8C9B83-2BD3-C744-9567-52F09F34C6F7}"/>
              </a:ext>
            </a:extLst>
          </p:cNvPr>
          <p:cNvCxnSpPr>
            <a:cxnSpLocks/>
            <a:endCxn id="21" idx="0"/>
          </p:cNvCxnSpPr>
          <p:nvPr/>
        </p:nvCxnSpPr>
        <p:spPr>
          <a:xfrm flipH="1">
            <a:off x="7298056" y="3477414"/>
            <a:ext cx="1442" cy="46457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13B9A3F-318E-0040-A924-E193F09EE8DE}"/>
              </a:ext>
            </a:extLst>
          </p:cNvPr>
          <p:cNvCxnSpPr>
            <a:cxnSpLocks/>
          </p:cNvCxnSpPr>
          <p:nvPr/>
        </p:nvCxnSpPr>
        <p:spPr>
          <a:xfrm flipH="1">
            <a:off x="8758711" y="3459774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E16642F-41D5-F343-A36D-24DE9D3CB35C}"/>
              </a:ext>
            </a:extLst>
          </p:cNvPr>
          <p:cNvCxnSpPr>
            <a:cxnSpLocks/>
          </p:cNvCxnSpPr>
          <p:nvPr/>
        </p:nvCxnSpPr>
        <p:spPr>
          <a:xfrm>
            <a:off x="9983084" y="3459774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61F94DC-58FE-B04D-B14A-8CA17296C99A}"/>
              </a:ext>
            </a:extLst>
          </p:cNvPr>
          <p:cNvCxnSpPr>
            <a:cxnSpLocks/>
          </p:cNvCxnSpPr>
          <p:nvPr/>
        </p:nvCxnSpPr>
        <p:spPr>
          <a:xfrm>
            <a:off x="9983084" y="3459774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4BBBE614-E430-4A46-86B3-376DB9B607AA}"/>
              </a:ext>
            </a:extLst>
          </p:cNvPr>
          <p:cNvSpPr txBox="1"/>
          <p:nvPr/>
        </p:nvSpPr>
        <p:spPr>
          <a:xfrm>
            <a:off x="9525511" y="3926876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C4C3E34-1CAB-EC47-B569-47D39EF96033}"/>
              </a:ext>
            </a:extLst>
          </p:cNvPr>
          <p:cNvSpPr txBox="1"/>
          <p:nvPr/>
        </p:nvSpPr>
        <p:spPr>
          <a:xfrm>
            <a:off x="8459719" y="389548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3989A96-E585-1549-9F7A-CADA0521130D}"/>
              </a:ext>
            </a:extLst>
          </p:cNvPr>
          <p:cNvSpPr txBox="1"/>
          <p:nvPr/>
        </p:nvSpPr>
        <p:spPr>
          <a:xfrm>
            <a:off x="10781251" y="389548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FAAF6AA-406B-8444-A52A-B256BBB750E3}"/>
              </a:ext>
            </a:extLst>
          </p:cNvPr>
          <p:cNvSpPr txBox="1"/>
          <p:nvPr/>
        </p:nvSpPr>
        <p:spPr>
          <a:xfrm>
            <a:off x="6978545" y="3941992"/>
            <a:ext cx="639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term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B420309-88ED-AC4D-956B-3E8B55F1191E}"/>
              </a:ext>
            </a:extLst>
          </p:cNvPr>
          <p:cNvCxnSpPr>
            <a:cxnSpLocks/>
            <a:stCxn id="21" idx="2"/>
            <a:endCxn id="23" idx="0"/>
          </p:cNvCxnSpPr>
          <p:nvPr/>
        </p:nvCxnSpPr>
        <p:spPr>
          <a:xfrm flipH="1">
            <a:off x="7298055" y="4311324"/>
            <a:ext cx="1" cy="48925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AA95AD2-F461-6844-9F0C-86880D7CD487}"/>
              </a:ext>
            </a:extLst>
          </p:cNvPr>
          <p:cNvSpPr txBox="1"/>
          <p:nvPr/>
        </p:nvSpPr>
        <p:spPr>
          <a:xfrm>
            <a:off x="6930165" y="4800574"/>
            <a:ext cx="735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factor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C1C11EA-526F-6443-AFB5-37E265060F55}"/>
              </a:ext>
            </a:extLst>
          </p:cNvPr>
          <p:cNvCxnSpPr>
            <a:cxnSpLocks/>
            <a:stCxn id="23" idx="2"/>
            <a:endCxn id="13" idx="0"/>
          </p:cNvCxnSpPr>
          <p:nvPr/>
        </p:nvCxnSpPr>
        <p:spPr>
          <a:xfrm flipH="1">
            <a:off x="7292446" y="5169906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45347C45-A95B-F444-B986-AE0F5592ABD6}"/>
              </a:ext>
            </a:extLst>
          </p:cNvPr>
          <p:cNvSpPr txBox="1"/>
          <p:nvPr/>
        </p:nvSpPr>
        <p:spPr>
          <a:xfrm>
            <a:off x="8223152" y="5907160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3&gt;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79C136C-22CF-174D-AE18-4E202FF5A8FD}"/>
              </a:ext>
            </a:extLst>
          </p:cNvPr>
          <p:cNvSpPr txBox="1"/>
          <p:nvPr/>
        </p:nvSpPr>
        <p:spPr>
          <a:xfrm>
            <a:off x="8429296" y="4595211"/>
            <a:ext cx="639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term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F15B5E7-9544-B142-A8D3-A6FF5E80C700}"/>
              </a:ext>
            </a:extLst>
          </p:cNvPr>
          <p:cNvCxnSpPr>
            <a:cxnSpLocks/>
            <a:endCxn id="25" idx="0"/>
          </p:cNvCxnSpPr>
          <p:nvPr/>
        </p:nvCxnSpPr>
        <p:spPr>
          <a:xfrm>
            <a:off x="8791577" y="5598467"/>
            <a:ext cx="0" cy="3086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C8820E0-1B62-324E-AD21-D3B403496411}"/>
              </a:ext>
            </a:extLst>
          </p:cNvPr>
          <p:cNvCxnSpPr>
            <a:cxnSpLocks/>
          </p:cNvCxnSpPr>
          <p:nvPr/>
        </p:nvCxnSpPr>
        <p:spPr>
          <a:xfrm flipH="1">
            <a:off x="8773620" y="4276824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E4C64BEC-172B-3D48-BE52-BF0D260C80E1}"/>
              </a:ext>
            </a:extLst>
          </p:cNvPr>
          <p:cNvSpPr txBox="1"/>
          <p:nvPr/>
        </p:nvSpPr>
        <p:spPr>
          <a:xfrm>
            <a:off x="10546607" y="5907160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4&gt;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F5053A2-E6EA-124F-9AAB-8C89D6069DDD}"/>
              </a:ext>
            </a:extLst>
          </p:cNvPr>
          <p:cNvSpPr txBox="1"/>
          <p:nvPr/>
        </p:nvSpPr>
        <p:spPr>
          <a:xfrm>
            <a:off x="10752751" y="4595211"/>
            <a:ext cx="639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term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8A6E64C-4EDC-B84C-B159-D51FF14C965A}"/>
              </a:ext>
            </a:extLst>
          </p:cNvPr>
          <p:cNvCxnSpPr>
            <a:cxnSpLocks/>
            <a:endCxn id="29" idx="0"/>
          </p:cNvCxnSpPr>
          <p:nvPr/>
        </p:nvCxnSpPr>
        <p:spPr>
          <a:xfrm>
            <a:off x="11115032" y="5642964"/>
            <a:ext cx="0" cy="2641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189BC56-99CD-7947-BE89-6BFF1ECD8106}"/>
              </a:ext>
            </a:extLst>
          </p:cNvPr>
          <p:cNvCxnSpPr>
            <a:cxnSpLocks/>
          </p:cNvCxnSpPr>
          <p:nvPr/>
        </p:nvCxnSpPr>
        <p:spPr>
          <a:xfrm flipH="1">
            <a:off x="11097075" y="4276824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145A14B-0D63-484A-AC7D-82C10731D9D9}"/>
              </a:ext>
            </a:extLst>
          </p:cNvPr>
          <p:cNvCxnSpPr>
            <a:cxnSpLocks/>
            <a:stCxn id="26" idx="2"/>
            <a:endCxn id="34" idx="0"/>
          </p:cNvCxnSpPr>
          <p:nvPr/>
        </p:nvCxnSpPr>
        <p:spPr>
          <a:xfrm>
            <a:off x="8748807" y="4964543"/>
            <a:ext cx="9904" cy="24288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4D5B4B5E-A6AC-D14D-B0B9-116E2C2D68FD}"/>
              </a:ext>
            </a:extLst>
          </p:cNvPr>
          <p:cNvSpPr txBox="1"/>
          <p:nvPr/>
        </p:nvSpPr>
        <p:spPr>
          <a:xfrm>
            <a:off x="8390821" y="5207432"/>
            <a:ext cx="735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factor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E4457AE-3246-EB4B-9BEA-FA938851C90B}"/>
              </a:ext>
            </a:extLst>
          </p:cNvPr>
          <p:cNvCxnSpPr>
            <a:cxnSpLocks/>
            <a:endCxn id="36" idx="0"/>
          </p:cNvCxnSpPr>
          <p:nvPr/>
        </p:nvCxnSpPr>
        <p:spPr>
          <a:xfrm>
            <a:off x="11070339" y="4886852"/>
            <a:ext cx="9904" cy="24288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5D2D3C25-D252-7A4E-A759-0A30FCD6776B}"/>
              </a:ext>
            </a:extLst>
          </p:cNvPr>
          <p:cNvSpPr txBox="1"/>
          <p:nvPr/>
        </p:nvSpPr>
        <p:spPr>
          <a:xfrm>
            <a:off x="10712353" y="5129741"/>
            <a:ext cx="735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factor</a:t>
            </a:r>
          </a:p>
        </p:txBody>
      </p:sp>
      <p:graphicFrame>
        <p:nvGraphicFramePr>
          <p:cNvPr id="38" name="Table 5">
            <a:extLst>
              <a:ext uri="{FF2B5EF4-FFF2-40B4-BE49-F238E27FC236}">
                <a16:creationId xmlns:a16="http://schemas.microsoft.com/office/drawing/2014/main" id="{7BB95AAA-ED28-B64C-9868-C288D734D2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3190961"/>
              </p:ext>
            </p:extLst>
          </p:nvPr>
        </p:nvGraphicFramePr>
        <p:xfrm>
          <a:off x="838200" y="3042735"/>
          <a:ext cx="4480008" cy="229538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43519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1186775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2049714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expr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expr PLUS expr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term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term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term TIMES term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factor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6889359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factor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LP expr RP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NUM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16447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153029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4A8C7-5939-4547-A4F8-5A4782C5D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is ambiguous, is it an issue?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81C384-93DB-0D44-BE61-8197A0709109}"/>
              </a:ext>
            </a:extLst>
          </p:cNvPr>
          <p:cNvSpPr txBox="1"/>
          <p:nvPr/>
        </p:nvSpPr>
        <p:spPr>
          <a:xfrm>
            <a:off x="5243806" y="1688094"/>
            <a:ext cx="3147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2+3+4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F4FC3F-B8F7-EF4A-8F6B-AAFA31AB4690}"/>
              </a:ext>
            </a:extLst>
          </p:cNvPr>
          <p:cNvSpPr txBox="1"/>
          <p:nvPr/>
        </p:nvSpPr>
        <p:spPr>
          <a:xfrm>
            <a:off x="8635402" y="218195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0141CE8-2344-0948-9E95-8E3D11DE2430}"/>
              </a:ext>
            </a:extLst>
          </p:cNvPr>
          <p:cNvCxnSpPr>
            <a:cxnSpLocks/>
            <a:stCxn id="7" idx="2"/>
            <a:endCxn id="9" idx="0"/>
          </p:cNvCxnSpPr>
          <p:nvPr/>
        </p:nvCxnSpPr>
        <p:spPr>
          <a:xfrm flipH="1">
            <a:off x="7299498" y="2551289"/>
            <a:ext cx="1634896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6D905BC-8176-5C4B-8283-5453872C6006}"/>
              </a:ext>
            </a:extLst>
          </p:cNvPr>
          <p:cNvSpPr txBox="1"/>
          <p:nvPr/>
        </p:nvSpPr>
        <p:spPr>
          <a:xfrm>
            <a:off x="7000506" y="308793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686B2F0-A92C-9842-99A5-BB5F68B3CB0F}"/>
              </a:ext>
            </a:extLst>
          </p:cNvPr>
          <p:cNvCxnSpPr>
            <a:cxnSpLocks/>
            <a:stCxn id="7" idx="2"/>
            <a:endCxn id="12" idx="0"/>
          </p:cNvCxnSpPr>
          <p:nvPr/>
        </p:nvCxnSpPr>
        <p:spPr>
          <a:xfrm>
            <a:off x="8934394" y="2551289"/>
            <a:ext cx="0" cy="55483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B373421-B101-4546-B128-9E43278BD634}"/>
              </a:ext>
            </a:extLst>
          </p:cNvPr>
          <p:cNvCxnSpPr>
            <a:cxnSpLocks/>
            <a:stCxn id="7" idx="2"/>
            <a:endCxn id="13" idx="0"/>
          </p:cNvCxnSpPr>
          <p:nvPr/>
        </p:nvCxnSpPr>
        <p:spPr>
          <a:xfrm>
            <a:off x="8934394" y="2551289"/>
            <a:ext cx="1057341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0AF16AA-22CD-FA4F-9F55-FCC38AD1D4BA}"/>
              </a:ext>
            </a:extLst>
          </p:cNvPr>
          <p:cNvSpPr txBox="1"/>
          <p:nvPr/>
        </p:nvSpPr>
        <p:spPr>
          <a:xfrm>
            <a:off x="8494273" y="3106126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6A98FD-3CE1-2241-952E-12AD71379DB0}"/>
              </a:ext>
            </a:extLst>
          </p:cNvPr>
          <p:cNvSpPr txBox="1"/>
          <p:nvPr/>
        </p:nvSpPr>
        <p:spPr>
          <a:xfrm>
            <a:off x="9692743" y="308793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D518E2-D041-B54A-BAFD-9F3EB0B79156}"/>
              </a:ext>
            </a:extLst>
          </p:cNvPr>
          <p:cNvSpPr txBox="1"/>
          <p:nvPr/>
        </p:nvSpPr>
        <p:spPr>
          <a:xfrm>
            <a:off x="6724021" y="5469967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2&gt;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BE47221-BFFC-0243-AFE9-5C53FC906A1B}"/>
              </a:ext>
            </a:extLst>
          </p:cNvPr>
          <p:cNvCxnSpPr>
            <a:cxnSpLocks/>
            <a:endCxn id="22" idx="0"/>
          </p:cNvCxnSpPr>
          <p:nvPr/>
        </p:nvCxnSpPr>
        <p:spPr>
          <a:xfrm flipH="1">
            <a:off x="7298056" y="3477414"/>
            <a:ext cx="1442" cy="46457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9807E1A-CE97-FF41-A2A5-7C3CB46AC284}"/>
              </a:ext>
            </a:extLst>
          </p:cNvPr>
          <p:cNvCxnSpPr>
            <a:cxnSpLocks/>
          </p:cNvCxnSpPr>
          <p:nvPr/>
        </p:nvCxnSpPr>
        <p:spPr>
          <a:xfrm flipH="1">
            <a:off x="8758711" y="3459774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DAF383E-DF34-F944-BC7F-24A207C0E665}"/>
              </a:ext>
            </a:extLst>
          </p:cNvPr>
          <p:cNvCxnSpPr>
            <a:cxnSpLocks/>
          </p:cNvCxnSpPr>
          <p:nvPr/>
        </p:nvCxnSpPr>
        <p:spPr>
          <a:xfrm>
            <a:off x="9983084" y="3459774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CA92CF3-16B2-3A46-9746-FE978094BA1D}"/>
              </a:ext>
            </a:extLst>
          </p:cNvPr>
          <p:cNvCxnSpPr>
            <a:cxnSpLocks/>
          </p:cNvCxnSpPr>
          <p:nvPr/>
        </p:nvCxnSpPr>
        <p:spPr>
          <a:xfrm>
            <a:off x="9983084" y="3459774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173FE82-5C9F-3B48-8EAE-3B7CB4B7E7F6}"/>
              </a:ext>
            </a:extLst>
          </p:cNvPr>
          <p:cNvSpPr txBox="1"/>
          <p:nvPr/>
        </p:nvSpPr>
        <p:spPr>
          <a:xfrm>
            <a:off x="9525511" y="3926876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F067DEE-CDD4-7E46-9949-17B518AA1F04}"/>
              </a:ext>
            </a:extLst>
          </p:cNvPr>
          <p:cNvSpPr txBox="1"/>
          <p:nvPr/>
        </p:nvSpPr>
        <p:spPr>
          <a:xfrm>
            <a:off x="8459719" y="389548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CCBC7C3-3B2D-8846-922F-FFE276D95ACE}"/>
              </a:ext>
            </a:extLst>
          </p:cNvPr>
          <p:cNvSpPr txBox="1"/>
          <p:nvPr/>
        </p:nvSpPr>
        <p:spPr>
          <a:xfrm>
            <a:off x="10781251" y="389548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3078ED-048C-F640-ACD0-3E3AAD13C997}"/>
              </a:ext>
            </a:extLst>
          </p:cNvPr>
          <p:cNvSpPr txBox="1"/>
          <p:nvPr/>
        </p:nvSpPr>
        <p:spPr>
          <a:xfrm>
            <a:off x="6978545" y="3941992"/>
            <a:ext cx="639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term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D31FE39-303E-6A49-A3C2-0B76C241499E}"/>
              </a:ext>
            </a:extLst>
          </p:cNvPr>
          <p:cNvCxnSpPr>
            <a:cxnSpLocks/>
            <a:stCxn id="22" idx="2"/>
            <a:endCxn id="24" idx="0"/>
          </p:cNvCxnSpPr>
          <p:nvPr/>
        </p:nvCxnSpPr>
        <p:spPr>
          <a:xfrm flipH="1">
            <a:off x="7298055" y="4311324"/>
            <a:ext cx="1" cy="48925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085D5B41-A14A-6947-AF22-039FD4CC5D3A}"/>
              </a:ext>
            </a:extLst>
          </p:cNvPr>
          <p:cNvSpPr txBox="1"/>
          <p:nvPr/>
        </p:nvSpPr>
        <p:spPr>
          <a:xfrm>
            <a:off x="6930165" y="4800574"/>
            <a:ext cx="735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factor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24A46DA-5EEF-E14F-98AC-75E996BC5908}"/>
              </a:ext>
            </a:extLst>
          </p:cNvPr>
          <p:cNvCxnSpPr>
            <a:cxnSpLocks/>
            <a:stCxn id="24" idx="2"/>
            <a:endCxn id="14" idx="0"/>
          </p:cNvCxnSpPr>
          <p:nvPr/>
        </p:nvCxnSpPr>
        <p:spPr>
          <a:xfrm flipH="1">
            <a:off x="7292446" y="5169906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3922C26-78A1-2B41-8636-490EF1E8297B}"/>
              </a:ext>
            </a:extLst>
          </p:cNvPr>
          <p:cNvSpPr txBox="1"/>
          <p:nvPr/>
        </p:nvSpPr>
        <p:spPr>
          <a:xfrm>
            <a:off x="8223152" y="5907160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3&gt;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7B625C-0EB6-C44A-B7B1-59D7A6B79F63}"/>
              </a:ext>
            </a:extLst>
          </p:cNvPr>
          <p:cNvSpPr txBox="1"/>
          <p:nvPr/>
        </p:nvSpPr>
        <p:spPr>
          <a:xfrm>
            <a:off x="8429296" y="4595211"/>
            <a:ext cx="639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term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FCE927F-6F2D-7C4E-A51D-683038842E00}"/>
              </a:ext>
            </a:extLst>
          </p:cNvPr>
          <p:cNvCxnSpPr>
            <a:cxnSpLocks/>
            <a:endCxn id="28" idx="0"/>
          </p:cNvCxnSpPr>
          <p:nvPr/>
        </p:nvCxnSpPr>
        <p:spPr>
          <a:xfrm>
            <a:off x="8791577" y="5598467"/>
            <a:ext cx="0" cy="3086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3EF182C6-3A3A-5340-AECF-F5309B097F1B}"/>
              </a:ext>
            </a:extLst>
          </p:cNvPr>
          <p:cNvCxnSpPr>
            <a:cxnSpLocks/>
          </p:cNvCxnSpPr>
          <p:nvPr/>
        </p:nvCxnSpPr>
        <p:spPr>
          <a:xfrm flipH="1">
            <a:off x="8773620" y="4276824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13C08319-763D-EC4A-85E5-A88DF4758EAC}"/>
              </a:ext>
            </a:extLst>
          </p:cNvPr>
          <p:cNvSpPr txBox="1"/>
          <p:nvPr/>
        </p:nvSpPr>
        <p:spPr>
          <a:xfrm>
            <a:off x="10546607" y="5907160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4&gt;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F2F9A8A-EA8C-4840-9B67-4CF2EB90B9E3}"/>
              </a:ext>
            </a:extLst>
          </p:cNvPr>
          <p:cNvSpPr txBox="1"/>
          <p:nvPr/>
        </p:nvSpPr>
        <p:spPr>
          <a:xfrm>
            <a:off x="10752751" y="4595211"/>
            <a:ext cx="639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term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94B5E655-A336-324F-8040-8067BBACD221}"/>
              </a:ext>
            </a:extLst>
          </p:cNvPr>
          <p:cNvCxnSpPr>
            <a:cxnSpLocks/>
            <a:endCxn id="32" idx="0"/>
          </p:cNvCxnSpPr>
          <p:nvPr/>
        </p:nvCxnSpPr>
        <p:spPr>
          <a:xfrm>
            <a:off x="11115032" y="5642964"/>
            <a:ext cx="0" cy="2641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E7FBE64F-48C5-3445-A705-3585FFC27A81}"/>
              </a:ext>
            </a:extLst>
          </p:cNvPr>
          <p:cNvCxnSpPr>
            <a:cxnSpLocks/>
          </p:cNvCxnSpPr>
          <p:nvPr/>
        </p:nvCxnSpPr>
        <p:spPr>
          <a:xfrm flipH="1">
            <a:off x="11097075" y="4276824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0E9BEB0F-F6AB-D14C-AA7C-F8C362827398}"/>
              </a:ext>
            </a:extLst>
          </p:cNvPr>
          <p:cNvCxnSpPr>
            <a:cxnSpLocks/>
            <a:stCxn id="29" idx="2"/>
            <a:endCxn id="42" idx="0"/>
          </p:cNvCxnSpPr>
          <p:nvPr/>
        </p:nvCxnSpPr>
        <p:spPr>
          <a:xfrm>
            <a:off x="8748807" y="4964543"/>
            <a:ext cx="9904" cy="24288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D5E41403-C4A0-4D4C-8612-2848F97625CD}"/>
              </a:ext>
            </a:extLst>
          </p:cNvPr>
          <p:cNvSpPr txBox="1"/>
          <p:nvPr/>
        </p:nvSpPr>
        <p:spPr>
          <a:xfrm>
            <a:off x="8390821" y="5207432"/>
            <a:ext cx="735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factor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614A3599-6266-194B-A062-C993C27C06A8}"/>
              </a:ext>
            </a:extLst>
          </p:cNvPr>
          <p:cNvCxnSpPr>
            <a:cxnSpLocks/>
            <a:endCxn id="47" idx="0"/>
          </p:cNvCxnSpPr>
          <p:nvPr/>
        </p:nvCxnSpPr>
        <p:spPr>
          <a:xfrm>
            <a:off x="11070339" y="4886852"/>
            <a:ext cx="9904" cy="24288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F1C7E270-ED72-8040-87BF-6441A4678689}"/>
              </a:ext>
            </a:extLst>
          </p:cNvPr>
          <p:cNvSpPr txBox="1"/>
          <p:nvPr/>
        </p:nvSpPr>
        <p:spPr>
          <a:xfrm>
            <a:off x="10712353" y="5129741"/>
            <a:ext cx="735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factor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EC1923B-CC00-F54F-B58B-2CBADA324DE1}"/>
              </a:ext>
            </a:extLst>
          </p:cNvPr>
          <p:cNvSpPr txBox="1"/>
          <p:nvPr/>
        </p:nvSpPr>
        <p:spPr>
          <a:xfrm>
            <a:off x="3337704" y="1941731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BEC7F16-A435-7C43-9D5A-1A75CBD13DBE}"/>
              </a:ext>
            </a:extLst>
          </p:cNvPr>
          <p:cNvCxnSpPr>
            <a:cxnSpLocks/>
            <a:stCxn id="36" idx="2"/>
            <a:endCxn id="38" idx="0"/>
          </p:cNvCxnSpPr>
          <p:nvPr/>
        </p:nvCxnSpPr>
        <p:spPr>
          <a:xfrm flipH="1">
            <a:off x="2001800" y="2311063"/>
            <a:ext cx="1634896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38EE1F56-B098-B34B-BF7A-EF753C1D22C6}"/>
              </a:ext>
            </a:extLst>
          </p:cNvPr>
          <p:cNvSpPr txBox="1"/>
          <p:nvPr/>
        </p:nvSpPr>
        <p:spPr>
          <a:xfrm>
            <a:off x="1702808" y="284770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130EC886-051B-1248-823D-2EB736133459}"/>
              </a:ext>
            </a:extLst>
          </p:cNvPr>
          <p:cNvCxnSpPr>
            <a:cxnSpLocks/>
            <a:stCxn id="36" idx="2"/>
            <a:endCxn id="43" idx="0"/>
          </p:cNvCxnSpPr>
          <p:nvPr/>
        </p:nvCxnSpPr>
        <p:spPr>
          <a:xfrm>
            <a:off x="3636696" y="2311063"/>
            <a:ext cx="0" cy="55483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4952DEB2-6A92-8541-ACE1-DDEDA7B9D118}"/>
              </a:ext>
            </a:extLst>
          </p:cNvPr>
          <p:cNvCxnSpPr>
            <a:cxnSpLocks/>
            <a:stCxn id="36" idx="2"/>
            <a:endCxn id="44" idx="0"/>
          </p:cNvCxnSpPr>
          <p:nvPr/>
        </p:nvCxnSpPr>
        <p:spPr>
          <a:xfrm>
            <a:off x="3636696" y="2311063"/>
            <a:ext cx="1057341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1A9C10E0-8E1E-5748-91F2-5B29E549D1D6}"/>
              </a:ext>
            </a:extLst>
          </p:cNvPr>
          <p:cNvSpPr txBox="1"/>
          <p:nvPr/>
        </p:nvSpPr>
        <p:spPr>
          <a:xfrm>
            <a:off x="3196575" y="2865900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7CA5CA2-4EA4-3B4E-9A91-6DDCD6F71A20}"/>
              </a:ext>
            </a:extLst>
          </p:cNvPr>
          <p:cNvSpPr txBox="1"/>
          <p:nvPr/>
        </p:nvSpPr>
        <p:spPr>
          <a:xfrm>
            <a:off x="4395045" y="284770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2737F467-DD3B-464D-AB7C-48ADAE9C7A75}"/>
              </a:ext>
            </a:extLst>
          </p:cNvPr>
          <p:cNvCxnSpPr>
            <a:cxnSpLocks/>
          </p:cNvCxnSpPr>
          <p:nvPr/>
        </p:nvCxnSpPr>
        <p:spPr>
          <a:xfrm flipH="1">
            <a:off x="704643" y="3275108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B3C027E-6CAD-874A-BA4C-D4BDE373AB42}"/>
              </a:ext>
            </a:extLst>
          </p:cNvPr>
          <p:cNvCxnSpPr>
            <a:cxnSpLocks/>
          </p:cNvCxnSpPr>
          <p:nvPr/>
        </p:nvCxnSpPr>
        <p:spPr>
          <a:xfrm>
            <a:off x="1929016" y="3275108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1ED3D8CF-46C2-074A-B667-A1B26D7A6839}"/>
              </a:ext>
            </a:extLst>
          </p:cNvPr>
          <p:cNvCxnSpPr>
            <a:cxnSpLocks/>
          </p:cNvCxnSpPr>
          <p:nvPr/>
        </p:nvCxnSpPr>
        <p:spPr>
          <a:xfrm>
            <a:off x="1929016" y="3275108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41C57070-1823-F445-9473-2FC7F87656AF}"/>
              </a:ext>
            </a:extLst>
          </p:cNvPr>
          <p:cNvSpPr txBox="1"/>
          <p:nvPr/>
        </p:nvSpPr>
        <p:spPr>
          <a:xfrm>
            <a:off x="1471443" y="3742210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6253B0E-0EC6-3148-A7AA-7554864A0EED}"/>
              </a:ext>
            </a:extLst>
          </p:cNvPr>
          <p:cNvSpPr txBox="1"/>
          <p:nvPr/>
        </p:nvSpPr>
        <p:spPr>
          <a:xfrm>
            <a:off x="405651" y="371081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8D89358-50D5-5149-9D7E-12BE25096FA6}"/>
              </a:ext>
            </a:extLst>
          </p:cNvPr>
          <p:cNvSpPr txBox="1"/>
          <p:nvPr/>
        </p:nvSpPr>
        <p:spPr>
          <a:xfrm>
            <a:off x="2727183" y="371081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BB51672-AA26-1342-9E90-03C0F97FFA09}"/>
              </a:ext>
            </a:extLst>
          </p:cNvPr>
          <p:cNvSpPr txBox="1"/>
          <p:nvPr/>
        </p:nvSpPr>
        <p:spPr>
          <a:xfrm>
            <a:off x="169084" y="5722494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2&gt;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1BB3498-EE54-8746-A272-5AD0BED142DC}"/>
              </a:ext>
            </a:extLst>
          </p:cNvPr>
          <p:cNvSpPr txBox="1"/>
          <p:nvPr/>
        </p:nvSpPr>
        <p:spPr>
          <a:xfrm>
            <a:off x="375228" y="4410545"/>
            <a:ext cx="639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term</a:t>
            </a:r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FD6F8D07-D95A-5448-B1DF-6BD3C103C7EB}"/>
              </a:ext>
            </a:extLst>
          </p:cNvPr>
          <p:cNvCxnSpPr>
            <a:cxnSpLocks/>
            <a:endCxn id="59" idx="0"/>
          </p:cNvCxnSpPr>
          <p:nvPr/>
        </p:nvCxnSpPr>
        <p:spPr>
          <a:xfrm flipH="1">
            <a:off x="737509" y="5413801"/>
            <a:ext cx="1" cy="3086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A86DCAF7-69E6-834A-AE6E-0FE38CEA85BA}"/>
              </a:ext>
            </a:extLst>
          </p:cNvPr>
          <p:cNvCxnSpPr>
            <a:cxnSpLocks/>
          </p:cNvCxnSpPr>
          <p:nvPr/>
        </p:nvCxnSpPr>
        <p:spPr>
          <a:xfrm flipH="1">
            <a:off x="719552" y="4092158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BD57399C-B201-B746-8DE0-BCBE79A9AA7E}"/>
              </a:ext>
            </a:extLst>
          </p:cNvPr>
          <p:cNvSpPr txBox="1"/>
          <p:nvPr/>
        </p:nvSpPr>
        <p:spPr>
          <a:xfrm>
            <a:off x="2492539" y="5722494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3&gt;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026449A-B7B4-B146-92E2-AEC4902CF791}"/>
              </a:ext>
            </a:extLst>
          </p:cNvPr>
          <p:cNvSpPr txBox="1"/>
          <p:nvPr/>
        </p:nvSpPr>
        <p:spPr>
          <a:xfrm>
            <a:off x="2698683" y="4410545"/>
            <a:ext cx="639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term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8C04012A-4FA5-6B44-80E4-9A7BFA02A83B}"/>
              </a:ext>
            </a:extLst>
          </p:cNvPr>
          <p:cNvCxnSpPr>
            <a:cxnSpLocks/>
            <a:endCxn id="63" idx="0"/>
          </p:cNvCxnSpPr>
          <p:nvPr/>
        </p:nvCxnSpPr>
        <p:spPr>
          <a:xfrm flipH="1">
            <a:off x="3060964" y="5458298"/>
            <a:ext cx="1" cy="2641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A93561DF-98DF-A440-B8EE-AB89FE1FA19E}"/>
              </a:ext>
            </a:extLst>
          </p:cNvPr>
          <p:cNvCxnSpPr>
            <a:cxnSpLocks/>
          </p:cNvCxnSpPr>
          <p:nvPr/>
        </p:nvCxnSpPr>
        <p:spPr>
          <a:xfrm flipH="1">
            <a:off x="3043007" y="4092158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8AC93A18-FD63-3C49-B627-4ED0A6C07807}"/>
              </a:ext>
            </a:extLst>
          </p:cNvPr>
          <p:cNvCxnSpPr>
            <a:cxnSpLocks/>
            <a:stCxn id="60" idx="2"/>
            <a:endCxn id="68" idx="0"/>
          </p:cNvCxnSpPr>
          <p:nvPr/>
        </p:nvCxnSpPr>
        <p:spPr>
          <a:xfrm>
            <a:off x="694739" y="4779877"/>
            <a:ext cx="9904" cy="24288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BACA7DC-06DF-1F42-9362-D172C7991887}"/>
              </a:ext>
            </a:extLst>
          </p:cNvPr>
          <p:cNvSpPr txBox="1"/>
          <p:nvPr/>
        </p:nvSpPr>
        <p:spPr>
          <a:xfrm>
            <a:off x="336753" y="5022766"/>
            <a:ext cx="735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factor</a:t>
            </a:r>
          </a:p>
        </p:txBody>
      </p: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03147EF5-1094-DF40-B87D-B68D07211B82}"/>
              </a:ext>
            </a:extLst>
          </p:cNvPr>
          <p:cNvCxnSpPr>
            <a:cxnSpLocks/>
            <a:endCxn id="70" idx="0"/>
          </p:cNvCxnSpPr>
          <p:nvPr/>
        </p:nvCxnSpPr>
        <p:spPr>
          <a:xfrm>
            <a:off x="3016271" y="4702186"/>
            <a:ext cx="9904" cy="24288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3A4C9DB-E5C4-EE4E-B341-8806AFC0BC1A}"/>
              </a:ext>
            </a:extLst>
          </p:cNvPr>
          <p:cNvSpPr txBox="1"/>
          <p:nvPr/>
        </p:nvSpPr>
        <p:spPr>
          <a:xfrm>
            <a:off x="2658285" y="4945075"/>
            <a:ext cx="735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factor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E863AD3-AF58-9343-8A51-6AC7DA42C02D}"/>
              </a:ext>
            </a:extLst>
          </p:cNvPr>
          <p:cNvSpPr txBox="1"/>
          <p:nvPr/>
        </p:nvSpPr>
        <p:spPr>
          <a:xfrm>
            <a:off x="4108799" y="5194151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4&gt;</a:t>
            </a: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1FB1C20C-FC64-DC4C-9330-6351C4E9B540}"/>
              </a:ext>
            </a:extLst>
          </p:cNvPr>
          <p:cNvCxnSpPr>
            <a:cxnSpLocks/>
            <a:endCxn id="73" idx="0"/>
          </p:cNvCxnSpPr>
          <p:nvPr/>
        </p:nvCxnSpPr>
        <p:spPr>
          <a:xfrm flipH="1">
            <a:off x="4682834" y="3201598"/>
            <a:ext cx="1442" cy="46457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A5E35CF3-8A64-944D-AA44-CCB594F0C936}"/>
              </a:ext>
            </a:extLst>
          </p:cNvPr>
          <p:cNvSpPr txBox="1"/>
          <p:nvPr/>
        </p:nvSpPr>
        <p:spPr>
          <a:xfrm>
            <a:off x="4363323" y="3666176"/>
            <a:ext cx="639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term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81C3E4BA-997F-AA4A-BB0F-E26D41A1AC4D}"/>
              </a:ext>
            </a:extLst>
          </p:cNvPr>
          <p:cNvCxnSpPr>
            <a:cxnSpLocks/>
            <a:stCxn id="73" idx="2"/>
            <a:endCxn id="75" idx="0"/>
          </p:cNvCxnSpPr>
          <p:nvPr/>
        </p:nvCxnSpPr>
        <p:spPr>
          <a:xfrm flipH="1">
            <a:off x="4682833" y="4035508"/>
            <a:ext cx="1" cy="48925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3AECA206-BD9C-0C4C-ACFA-6ED75A7F6D50}"/>
              </a:ext>
            </a:extLst>
          </p:cNvPr>
          <p:cNvSpPr txBox="1"/>
          <p:nvPr/>
        </p:nvSpPr>
        <p:spPr>
          <a:xfrm>
            <a:off x="4314943" y="4524758"/>
            <a:ext cx="735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factor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0ECCCB75-1593-BA4C-988E-981C8B8AF8D5}"/>
              </a:ext>
            </a:extLst>
          </p:cNvPr>
          <p:cNvCxnSpPr>
            <a:cxnSpLocks/>
            <a:stCxn id="75" idx="2"/>
            <a:endCxn id="71" idx="0"/>
          </p:cNvCxnSpPr>
          <p:nvPr/>
        </p:nvCxnSpPr>
        <p:spPr>
          <a:xfrm flipH="1">
            <a:off x="4677224" y="4894090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383030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4A8C7-5939-4547-A4F8-5A4782C5D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about for a different operator?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81C384-93DB-0D44-BE61-8197A0709109}"/>
              </a:ext>
            </a:extLst>
          </p:cNvPr>
          <p:cNvSpPr txBox="1"/>
          <p:nvPr/>
        </p:nvSpPr>
        <p:spPr>
          <a:xfrm>
            <a:off x="5979585" y="1566151"/>
            <a:ext cx="3147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2-3-4</a:t>
            </a:r>
          </a:p>
        </p:txBody>
      </p:sp>
    </p:spTree>
    <p:extLst>
      <p:ext uri="{BB962C8B-B14F-4D97-AF65-F5344CB8AC3E}">
        <p14:creationId xmlns:p14="http://schemas.microsoft.com/office/powerpoint/2010/main" val="401151141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4A8C7-5939-4547-A4F8-5A4782C5D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about for a different operator?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81C384-93DB-0D44-BE61-8197A0709109}"/>
              </a:ext>
            </a:extLst>
          </p:cNvPr>
          <p:cNvSpPr txBox="1"/>
          <p:nvPr/>
        </p:nvSpPr>
        <p:spPr>
          <a:xfrm>
            <a:off x="5979585" y="1566151"/>
            <a:ext cx="3147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2-3-4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F4FC3F-B8F7-EF4A-8F6B-AAFA31AB4690}"/>
              </a:ext>
            </a:extLst>
          </p:cNvPr>
          <p:cNvSpPr txBox="1"/>
          <p:nvPr/>
        </p:nvSpPr>
        <p:spPr>
          <a:xfrm>
            <a:off x="8635402" y="218195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0141CE8-2344-0948-9E95-8E3D11DE2430}"/>
              </a:ext>
            </a:extLst>
          </p:cNvPr>
          <p:cNvCxnSpPr>
            <a:cxnSpLocks/>
            <a:stCxn id="7" idx="2"/>
            <a:endCxn id="9" idx="0"/>
          </p:cNvCxnSpPr>
          <p:nvPr/>
        </p:nvCxnSpPr>
        <p:spPr>
          <a:xfrm flipH="1">
            <a:off x="7299498" y="2551289"/>
            <a:ext cx="1634896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6D905BC-8176-5C4B-8283-5453872C6006}"/>
              </a:ext>
            </a:extLst>
          </p:cNvPr>
          <p:cNvSpPr txBox="1"/>
          <p:nvPr/>
        </p:nvSpPr>
        <p:spPr>
          <a:xfrm>
            <a:off x="7000506" y="308793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686B2F0-A92C-9842-99A5-BB5F68B3CB0F}"/>
              </a:ext>
            </a:extLst>
          </p:cNvPr>
          <p:cNvCxnSpPr>
            <a:cxnSpLocks/>
            <a:stCxn id="7" idx="2"/>
            <a:endCxn id="12" idx="0"/>
          </p:cNvCxnSpPr>
          <p:nvPr/>
        </p:nvCxnSpPr>
        <p:spPr>
          <a:xfrm>
            <a:off x="8934394" y="2551289"/>
            <a:ext cx="2795" cy="5453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B373421-B101-4546-B128-9E43278BD634}"/>
              </a:ext>
            </a:extLst>
          </p:cNvPr>
          <p:cNvCxnSpPr>
            <a:cxnSpLocks/>
            <a:stCxn id="7" idx="2"/>
            <a:endCxn id="13" idx="0"/>
          </p:cNvCxnSpPr>
          <p:nvPr/>
        </p:nvCxnSpPr>
        <p:spPr>
          <a:xfrm>
            <a:off x="8934394" y="2551289"/>
            <a:ext cx="1057341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0AF16AA-22CD-FA4F-9F55-FCC38AD1D4BA}"/>
              </a:ext>
            </a:extLst>
          </p:cNvPr>
          <p:cNvSpPr txBox="1"/>
          <p:nvPr/>
        </p:nvSpPr>
        <p:spPr>
          <a:xfrm>
            <a:off x="8400824" y="3096661"/>
            <a:ext cx="1072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&lt;MINUS&gt;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6A98FD-3CE1-2241-952E-12AD71379DB0}"/>
              </a:ext>
            </a:extLst>
          </p:cNvPr>
          <p:cNvSpPr txBox="1"/>
          <p:nvPr/>
        </p:nvSpPr>
        <p:spPr>
          <a:xfrm>
            <a:off x="9692743" y="308793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D518E2-D041-B54A-BAFD-9F3EB0B79156}"/>
              </a:ext>
            </a:extLst>
          </p:cNvPr>
          <p:cNvSpPr txBox="1"/>
          <p:nvPr/>
        </p:nvSpPr>
        <p:spPr>
          <a:xfrm>
            <a:off x="6724021" y="5469967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2&gt;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BE47221-BFFC-0243-AFE9-5C53FC906A1B}"/>
              </a:ext>
            </a:extLst>
          </p:cNvPr>
          <p:cNvCxnSpPr>
            <a:cxnSpLocks/>
            <a:endCxn id="22" idx="0"/>
          </p:cNvCxnSpPr>
          <p:nvPr/>
        </p:nvCxnSpPr>
        <p:spPr>
          <a:xfrm flipH="1">
            <a:off x="7298056" y="3477414"/>
            <a:ext cx="1442" cy="46457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9807E1A-CE97-FF41-A2A5-7C3CB46AC284}"/>
              </a:ext>
            </a:extLst>
          </p:cNvPr>
          <p:cNvCxnSpPr>
            <a:cxnSpLocks/>
          </p:cNvCxnSpPr>
          <p:nvPr/>
        </p:nvCxnSpPr>
        <p:spPr>
          <a:xfrm flipH="1">
            <a:off x="8758711" y="3459774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DAF383E-DF34-F944-BC7F-24A207C0E665}"/>
              </a:ext>
            </a:extLst>
          </p:cNvPr>
          <p:cNvCxnSpPr>
            <a:cxnSpLocks/>
          </p:cNvCxnSpPr>
          <p:nvPr/>
        </p:nvCxnSpPr>
        <p:spPr>
          <a:xfrm>
            <a:off x="9983084" y="3459774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CA92CF3-16B2-3A46-9746-FE978094BA1D}"/>
              </a:ext>
            </a:extLst>
          </p:cNvPr>
          <p:cNvCxnSpPr>
            <a:cxnSpLocks/>
          </p:cNvCxnSpPr>
          <p:nvPr/>
        </p:nvCxnSpPr>
        <p:spPr>
          <a:xfrm>
            <a:off x="9983084" y="3459774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173FE82-5C9F-3B48-8EAE-3B7CB4B7E7F6}"/>
              </a:ext>
            </a:extLst>
          </p:cNvPr>
          <p:cNvSpPr txBox="1"/>
          <p:nvPr/>
        </p:nvSpPr>
        <p:spPr>
          <a:xfrm>
            <a:off x="9525511" y="3926876"/>
            <a:ext cx="1072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&lt;MINUS&gt;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F067DEE-CDD4-7E46-9949-17B518AA1F04}"/>
              </a:ext>
            </a:extLst>
          </p:cNvPr>
          <p:cNvSpPr txBox="1"/>
          <p:nvPr/>
        </p:nvSpPr>
        <p:spPr>
          <a:xfrm>
            <a:off x="8459719" y="389548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CCBC7C3-3B2D-8846-922F-FFE276D95ACE}"/>
              </a:ext>
            </a:extLst>
          </p:cNvPr>
          <p:cNvSpPr txBox="1"/>
          <p:nvPr/>
        </p:nvSpPr>
        <p:spPr>
          <a:xfrm>
            <a:off x="10781251" y="389548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3078ED-048C-F640-ACD0-3E3AAD13C997}"/>
              </a:ext>
            </a:extLst>
          </p:cNvPr>
          <p:cNvSpPr txBox="1"/>
          <p:nvPr/>
        </p:nvSpPr>
        <p:spPr>
          <a:xfrm>
            <a:off x="6978545" y="3941992"/>
            <a:ext cx="639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term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D31FE39-303E-6A49-A3C2-0B76C241499E}"/>
              </a:ext>
            </a:extLst>
          </p:cNvPr>
          <p:cNvCxnSpPr>
            <a:cxnSpLocks/>
            <a:stCxn id="22" idx="2"/>
            <a:endCxn id="24" idx="0"/>
          </p:cNvCxnSpPr>
          <p:nvPr/>
        </p:nvCxnSpPr>
        <p:spPr>
          <a:xfrm flipH="1">
            <a:off x="7298055" y="4311324"/>
            <a:ext cx="1" cy="48925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085D5B41-A14A-6947-AF22-039FD4CC5D3A}"/>
              </a:ext>
            </a:extLst>
          </p:cNvPr>
          <p:cNvSpPr txBox="1"/>
          <p:nvPr/>
        </p:nvSpPr>
        <p:spPr>
          <a:xfrm>
            <a:off x="6930165" y="4800574"/>
            <a:ext cx="735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factor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24A46DA-5EEF-E14F-98AC-75E996BC5908}"/>
              </a:ext>
            </a:extLst>
          </p:cNvPr>
          <p:cNvCxnSpPr>
            <a:cxnSpLocks/>
            <a:stCxn id="24" idx="2"/>
            <a:endCxn id="14" idx="0"/>
          </p:cNvCxnSpPr>
          <p:nvPr/>
        </p:nvCxnSpPr>
        <p:spPr>
          <a:xfrm flipH="1">
            <a:off x="7292446" y="5169906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3922C26-78A1-2B41-8636-490EF1E8297B}"/>
              </a:ext>
            </a:extLst>
          </p:cNvPr>
          <p:cNvSpPr txBox="1"/>
          <p:nvPr/>
        </p:nvSpPr>
        <p:spPr>
          <a:xfrm>
            <a:off x="8223152" y="5907160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3&gt;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7B625C-0EB6-C44A-B7B1-59D7A6B79F63}"/>
              </a:ext>
            </a:extLst>
          </p:cNvPr>
          <p:cNvSpPr txBox="1"/>
          <p:nvPr/>
        </p:nvSpPr>
        <p:spPr>
          <a:xfrm>
            <a:off x="8429296" y="4595211"/>
            <a:ext cx="639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term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FCE927F-6F2D-7C4E-A51D-683038842E00}"/>
              </a:ext>
            </a:extLst>
          </p:cNvPr>
          <p:cNvCxnSpPr>
            <a:cxnSpLocks/>
            <a:endCxn id="28" idx="0"/>
          </p:cNvCxnSpPr>
          <p:nvPr/>
        </p:nvCxnSpPr>
        <p:spPr>
          <a:xfrm>
            <a:off x="8791577" y="5598467"/>
            <a:ext cx="0" cy="3086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3EF182C6-3A3A-5340-AECF-F5309B097F1B}"/>
              </a:ext>
            </a:extLst>
          </p:cNvPr>
          <p:cNvCxnSpPr>
            <a:cxnSpLocks/>
          </p:cNvCxnSpPr>
          <p:nvPr/>
        </p:nvCxnSpPr>
        <p:spPr>
          <a:xfrm flipH="1">
            <a:off x="8773620" y="4276824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13C08319-763D-EC4A-85E5-A88DF4758EAC}"/>
              </a:ext>
            </a:extLst>
          </p:cNvPr>
          <p:cNvSpPr txBox="1"/>
          <p:nvPr/>
        </p:nvSpPr>
        <p:spPr>
          <a:xfrm>
            <a:off x="10546607" y="5907160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4&gt;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F2F9A8A-EA8C-4840-9B67-4CF2EB90B9E3}"/>
              </a:ext>
            </a:extLst>
          </p:cNvPr>
          <p:cNvSpPr txBox="1"/>
          <p:nvPr/>
        </p:nvSpPr>
        <p:spPr>
          <a:xfrm>
            <a:off x="10752751" y="4595211"/>
            <a:ext cx="639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term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94B5E655-A336-324F-8040-8067BBACD221}"/>
              </a:ext>
            </a:extLst>
          </p:cNvPr>
          <p:cNvCxnSpPr>
            <a:cxnSpLocks/>
            <a:endCxn id="32" idx="0"/>
          </p:cNvCxnSpPr>
          <p:nvPr/>
        </p:nvCxnSpPr>
        <p:spPr>
          <a:xfrm>
            <a:off x="11115032" y="5642964"/>
            <a:ext cx="0" cy="2641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E7FBE64F-48C5-3445-A705-3585FFC27A81}"/>
              </a:ext>
            </a:extLst>
          </p:cNvPr>
          <p:cNvCxnSpPr>
            <a:cxnSpLocks/>
          </p:cNvCxnSpPr>
          <p:nvPr/>
        </p:nvCxnSpPr>
        <p:spPr>
          <a:xfrm flipH="1">
            <a:off x="11097075" y="4276824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0E9BEB0F-F6AB-D14C-AA7C-F8C362827398}"/>
              </a:ext>
            </a:extLst>
          </p:cNvPr>
          <p:cNvCxnSpPr>
            <a:cxnSpLocks/>
            <a:stCxn id="29" idx="2"/>
            <a:endCxn id="42" idx="0"/>
          </p:cNvCxnSpPr>
          <p:nvPr/>
        </p:nvCxnSpPr>
        <p:spPr>
          <a:xfrm>
            <a:off x="8748807" y="4964543"/>
            <a:ext cx="9904" cy="24288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D5E41403-C4A0-4D4C-8612-2848F97625CD}"/>
              </a:ext>
            </a:extLst>
          </p:cNvPr>
          <p:cNvSpPr txBox="1"/>
          <p:nvPr/>
        </p:nvSpPr>
        <p:spPr>
          <a:xfrm>
            <a:off x="8390821" y="5207432"/>
            <a:ext cx="735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factor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614A3599-6266-194B-A062-C993C27C06A8}"/>
              </a:ext>
            </a:extLst>
          </p:cNvPr>
          <p:cNvCxnSpPr>
            <a:cxnSpLocks/>
            <a:endCxn id="47" idx="0"/>
          </p:cNvCxnSpPr>
          <p:nvPr/>
        </p:nvCxnSpPr>
        <p:spPr>
          <a:xfrm>
            <a:off x="11070339" y="4886852"/>
            <a:ext cx="9904" cy="24288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F1C7E270-ED72-8040-87BF-6441A4678689}"/>
              </a:ext>
            </a:extLst>
          </p:cNvPr>
          <p:cNvSpPr txBox="1"/>
          <p:nvPr/>
        </p:nvSpPr>
        <p:spPr>
          <a:xfrm>
            <a:off x="10712353" y="5129741"/>
            <a:ext cx="735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factor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EC1923B-CC00-F54F-B58B-2CBADA324DE1}"/>
              </a:ext>
            </a:extLst>
          </p:cNvPr>
          <p:cNvSpPr txBox="1"/>
          <p:nvPr/>
        </p:nvSpPr>
        <p:spPr>
          <a:xfrm>
            <a:off x="3337704" y="1941731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BEC7F16-A435-7C43-9D5A-1A75CBD13DBE}"/>
              </a:ext>
            </a:extLst>
          </p:cNvPr>
          <p:cNvCxnSpPr>
            <a:cxnSpLocks/>
            <a:stCxn id="36" idx="2"/>
            <a:endCxn id="38" idx="0"/>
          </p:cNvCxnSpPr>
          <p:nvPr/>
        </p:nvCxnSpPr>
        <p:spPr>
          <a:xfrm flipH="1">
            <a:off x="2001800" y="2311063"/>
            <a:ext cx="1634896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38EE1F56-B098-B34B-BF7A-EF753C1D22C6}"/>
              </a:ext>
            </a:extLst>
          </p:cNvPr>
          <p:cNvSpPr txBox="1"/>
          <p:nvPr/>
        </p:nvSpPr>
        <p:spPr>
          <a:xfrm>
            <a:off x="1702808" y="284770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130EC886-051B-1248-823D-2EB736133459}"/>
              </a:ext>
            </a:extLst>
          </p:cNvPr>
          <p:cNvCxnSpPr>
            <a:cxnSpLocks/>
            <a:stCxn id="36" idx="2"/>
            <a:endCxn id="43" idx="0"/>
          </p:cNvCxnSpPr>
          <p:nvPr/>
        </p:nvCxnSpPr>
        <p:spPr>
          <a:xfrm flipH="1">
            <a:off x="3622484" y="2311063"/>
            <a:ext cx="14212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4952DEB2-6A92-8541-ACE1-DDEDA7B9D118}"/>
              </a:ext>
            </a:extLst>
          </p:cNvPr>
          <p:cNvCxnSpPr>
            <a:cxnSpLocks/>
            <a:stCxn id="36" idx="2"/>
            <a:endCxn id="44" idx="0"/>
          </p:cNvCxnSpPr>
          <p:nvPr/>
        </p:nvCxnSpPr>
        <p:spPr>
          <a:xfrm>
            <a:off x="3636696" y="2311063"/>
            <a:ext cx="1057341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1A9C10E0-8E1E-5748-91F2-5B29E549D1D6}"/>
              </a:ext>
            </a:extLst>
          </p:cNvPr>
          <p:cNvSpPr txBox="1"/>
          <p:nvPr/>
        </p:nvSpPr>
        <p:spPr>
          <a:xfrm>
            <a:off x="3086119" y="2847707"/>
            <a:ext cx="1072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&lt;MINUS&gt;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7CA5CA2-4EA4-3B4E-9A91-6DDCD6F71A20}"/>
              </a:ext>
            </a:extLst>
          </p:cNvPr>
          <p:cNvSpPr txBox="1"/>
          <p:nvPr/>
        </p:nvSpPr>
        <p:spPr>
          <a:xfrm>
            <a:off x="4395045" y="284770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2737F467-DD3B-464D-AB7C-48ADAE9C7A75}"/>
              </a:ext>
            </a:extLst>
          </p:cNvPr>
          <p:cNvCxnSpPr>
            <a:cxnSpLocks/>
          </p:cNvCxnSpPr>
          <p:nvPr/>
        </p:nvCxnSpPr>
        <p:spPr>
          <a:xfrm flipH="1">
            <a:off x="704643" y="3275108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B3C027E-6CAD-874A-BA4C-D4BDE373AB42}"/>
              </a:ext>
            </a:extLst>
          </p:cNvPr>
          <p:cNvCxnSpPr>
            <a:cxnSpLocks/>
          </p:cNvCxnSpPr>
          <p:nvPr/>
        </p:nvCxnSpPr>
        <p:spPr>
          <a:xfrm>
            <a:off x="1929016" y="3275108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1ED3D8CF-46C2-074A-B667-A1B26D7A6839}"/>
              </a:ext>
            </a:extLst>
          </p:cNvPr>
          <p:cNvCxnSpPr>
            <a:cxnSpLocks/>
          </p:cNvCxnSpPr>
          <p:nvPr/>
        </p:nvCxnSpPr>
        <p:spPr>
          <a:xfrm>
            <a:off x="1929016" y="3275108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41C57070-1823-F445-9473-2FC7F87656AF}"/>
              </a:ext>
            </a:extLst>
          </p:cNvPr>
          <p:cNvSpPr txBox="1"/>
          <p:nvPr/>
        </p:nvSpPr>
        <p:spPr>
          <a:xfrm>
            <a:off x="1471443" y="3742210"/>
            <a:ext cx="1072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&lt;MINUS&gt;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6253B0E-0EC6-3148-A7AA-7554864A0EED}"/>
              </a:ext>
            </a:extLst>
          </p:cNvPr>
          <p:cNvSpPr txBox="1"/>
          <p:nvPr/>
        </p:nvSpPr>
        <p:spPr>
          <a:xfrm>
            <a:off x="405651" y="371081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8D89358-50D5-5149-9D7E-12BE25096FA6}"/>
              </a:ext>
            </a:extLst>
          </p:cNvPr>
          <p:cNvSpPr txBox="1"/>
          <p:nvPr/>
        </p:nvSpPr>
        <p:spPr>
          <a:xfrm>
            <a:off x="2727183" y="371081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BB51672-AA26-1342-9E90-03C0F97FFA09}"/>
              </a:ext>
            </a:extLst>
          </p:cNvPr>
          <p:cNvSpPr txBox="1"/>
          <p:nvPr/>
        </p:nvSpPr>
        <p:spPr>
          <a:xfrm>
            <a:off x="169084" y="5722494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2&gt;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1BB3498-EE54-8746-A272-5AD0BED142DC}"/>
              </a:ext>
            </a:extLst>
          </p:cNvPr>
          <p:cNvSpPr txBox="1"/>
          <p:nvPr/>
        </p:nvSpPr>
        <p:spPr>
          <a:xfrm>
            <a:off x="375228" y="4410545"/>
            <a:ext cx="639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term</a:t>
            </a:r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FD6F8D07-D95A-5448-B1DF-6BD3C103C7EB}"/>
              </a:ext>
            </a:extLst>
          </p:cNvPr>
          <p:cNvCxnSpPr>
            <a:cxnSpLocks/>
            <a:endCxn id="59" idx="0"/>
          </p:cNvCxnSpPr>
          <p:nvPr/>
        </p:nvCxnSpPr>
        <p:spPr>
          <a:xfrm flipH="1">
            <a:off x="737509" y="5413801"/>
            <a:ext cx="1" cy="3086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A86DCAF7-69E6-834A-AE6E-0FE38CEA85BA}"/>
              </a:ext>
            </a:extLst>
          </p:cNvPr>
          <p:cNvCxnSpPr>
            <a:cxnSpLocks/>
          </p:cNvCxnSpPr>
          <p:nvPr/>
        </p:nvCxnSpPr>
        <p:spPr>
          <a:xfrm flipH="1">
            <a:off x="719552" y="4092158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BD57399C-B201-B746-8DE0-BCBE79A9AA7E}"/>
              </a:ext>
            </a:extLst>
          </p:cNvPr>
          <p:cNvSpPr txBox="1"/>
          <p:nvPr/>
        </p:nvSpPr>
        <p:spPr>
          <a:xfrm>
            <a:off x="2492539" y="5722494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3&gt;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026449A-B7B4-B146-92E2-AEC4902CF791}"/>
              </a:ext>
            </a:extLst>
          </p:cNvPr>
          <p:cNvSpPr txBox="1"/>
          <p:nvPr/>
        </p:nvSpPr>
        <p:spPr>
          <a:xfrm>
            <a:off x="2698683" y="4410545"/>
            <a:ext cx="639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term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8C04012A-4FA5-6B44-80E4-9A7BFA02A83B}"/>
              </a:ext>
            </a:extLst>
          </p:cNvPr>
          <p:cNvCxnSpPr>
            <a:cxnSpLocks/>
            <a:endCxn id="63" idx="0"/>
          </p:cNvCxnSpPr>
          <p:nvPr/>
        </p:nvCxnSpPr>
        <p:spPr>
          <a:xfrm flipH="1">
            <a:off x="3060964" y="5458298"/>
            <a:ext cx="1" cy="2641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A93561DF-98DF-A440-B8EE-AB89FE1FA19E}"/>
              </a:ext>
            </a:extLst>
          </p:cNvPr>
          <p:cNvCxnSpPr>
            <a:cxnSpLocks/>
          </p:cNvCxnSpPr>
          <p:nvPr/>
        </p:nvCxnSpPr>
        <p:spPr>
          <a:xfrm flipH="1">
            <a:off x="3043007" y="4092158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8AC93A18-FD63-3C49-B627-4ED0A6C07807}"/>
              </a:ext>
            </a:extLst>
          </p:cNvPr>
          <p:cNvCxnSpPr>
            <a:cxnSpLocks/>
            <a:stCxn id="60" idx="2"/>
            <a:endCxn id="68" idx="0"/>
          </p:cNvCxnSpPr>
          <p:nvPr/>
        </p:nvCxnSpPr>
        <p:spPr>
          <a:xfrm>
            <a:off x="694739" y="4779877"/>
            <a:ext cx="9904" cy="24288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BACA7DC-06DF-1F42-9362-D172C7991887}"/>
              </a:ext>
            </a:extLst>
          </p:cNvPr>
          <p:cNvSpPr txBox="1"/>
          <p:nvPr/>
        </p:nvSpPr>
        <p:spPr>
          <a:xfrm>
            <a:off x="336753" y="5022766"/>
            <a:ext cx="735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factor</a:t>
            </a:r>
          </a:p>
        </p:txBody>
      </p: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03147EF5-1094-DF40-B87D-B68D07211B82}"/>
              </a:ext>
            </a:extLst>
          </p:cNvPr>
          <p:cNvCxnSpPr>
            <a:cxnSpLocks/>
            <a:endCxn id="70" idx="0"/>
          </p:cNvCxnSpPr>
          <p:nvPr/>
        </p:nvCxnSpPr>
        <p:spPr>
          <a:xfrm>
            <a:off x="3016271" y="4702186"/>
            <a:ext cx="9904" cy="24288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3A4C9DB-E5C4-EE4E-B341-8806AFC0BC1A}"/>
              </a:ext>
            </a:extLst>
          </p:cNvPr>
          <p:cNvSpPr txBox="1"/>
          <p:nvPr/>
        </p:nvSpPr>
        <p:spPr>
          <a:xfrm>
            <a:off x="2658285" y="4945075"/>
            <a:ext cx="735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factor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E863AD3-AF58-9343-8A51-6AC7DA42C02D}"/>
              </a:ext>
            </a:extLst>
          </p:cNvPr>
          <p:cNvSpPr txBox="1"/>
          <p:nvPr/>
        </p:nvSpPr>
        <p:spPr>
          <a:xfrm>
            <a:off x="4108799" y="5194151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4&gt;</a:t>
            </a: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1FB1C20C-FC64-DC4C-9330-6351C4E9B540}"/>
              </a:ext>
            </a:extLst>
          </p:cNvPr>
          <p:cNvCxnSpPr>
            <a:cxnSpLocks/>
            <a:endCxn id="73" idx="0"/>
          </p:cNvCxnSpPr>
          <p:nvPr/>
        </p:nvCxnSpPr>
        <p:spPr>
          <a:xfrm flipH="1">
            <a:off x="4682834" y="3201598"/>
            <a:ext cx="1442" cy="46457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A5E35CF3-8A64-944D-AA44-CCB594F0C936}"/>
              </a:ext>
            </a:extLst>
          </p:cNvPr>
          <p:cNvSpPr txBox="1"/>
          <p:nvPr/>
        </p:nvSpPr>
        <p:spPr>
          <a:xfrm>
            <a:off x="4363323" y="3666176"/>
            <a:ext cx="639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term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81C3E4BA-997F-AA4A-BB0F-E26D41A1AC4D}"/>
              </a:ext>
            </a:extLst>
          </p:cNvPr>
          <p:cNvCxnSpPr>
            <a:cxnSpLocks/>
            <a:stCxn id="73" idx="2"/>
            <a:endCxn id="75" idx="0"/>
          </p:cNvCxnSpPr>
          <p:nvPr/>
        </p:nvCxnSpPr>
        <p:spPr>
          <a:xfrm flipH="1">
            <a:off x="4682833" y="4035508"/>
            <a:ext cx="1" cy="48925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3AECA206-BD9C-0C4C-ACFA-6ED75A7F6D50}"/>
              </a:ext>
            </a:extLst>
          </p:cNvPr>
          <p:cNvSpPr txBox="1"/>
          <p:nvPr/>
        </p:nvSpPr>
        <p:spPr>
          <a:xfrm>
            <a:off x="4314943" y="4524758"/>
            <a:ext cx="735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factor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0ECCCB75-1593-BA4C-988E-981C8B8AF8D5}"/>
              </a:ext>
            </a:extLst>
          </p:cNvPr>
          <p:cNvCxnSpPr>
            <a:cxnSpLocks/>
            <a:stCxn id="75" idx="2"/>
            <a:endCxn id="71" idx="0"/>
          </p:cNvCxnSpPr>
          <p:nvPr/>
        </p:nvCxnSpPr>
        <p:spPr>
          <a:xfrm flipH="1">
            <a:off x="4677224" y="4894090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78502AC-FF46-EB41-BAC1-FC148BE1697D}"/>
              </a:ext>
            </a:extLst>
          </p:cNvPr>
          <p:cNvSpPr txBox="1"/>
          <p:nvPr/>
        </p:nvSpPr>
        <p:spPr>
          <a:xfrm>
            <a:off x="5046453" y="6280030"/>
            <a:ext cx="1990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Which one is right?</a:t>
            </a:r>
          </a:p>
        </p:txBody>
      </p:sp>
    </p:spTree>
    <p:extLst>
      <p:ext uri="{BB962C8B-B14F-4D97-AF65-F5344CB8AC3E}">
        <p14:creationId xmlns:p14="http://schemas.microsoft.com/office/powerpoint/2010/main" val="288011724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E5789-BDEB-A84C-8FC4-E22C0E93F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Associativity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D5E6FD-8867-CA4B-8D0A-66BEE4B87E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Describes the order in which we apply the same operator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Sometimes it doesn’t matter:</a:t>
            </a:r>
          </a:p>
          <a:p>
            <a:r>
              <a:rPr lang="en-US" dirty="0"/>
              <a:t>When?</a:t>
            </a:r>
          </a:p>
        </p:txBody>
      </p:sp>
    </p:spTree>
    <p:extLst>
      <p:ext uri="{BB962C8B-B14F-4D97-AF65-F5344CB8AC3E}">
        <p14:creationId xmlns:p14="http://schemas.microsoft.com/office/powerpoint/2010/main" val="396985625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E5789-BDEB-A84C-8FC4-E22C0E93F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Associativity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D5E6FD-8867-CA4B-8D0A-66BEE4B87E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50339"/>
            <a:ext cx="10515600" cy="493222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Describes the order in which we apply the same operator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Sometimes it doesn’t matter:</a:t>
            </a:r>
          </a:p>
          <a:p>
            <a:r>
              <a:rPr lang="en-US" dirty="0"/>
              <a:t>Integer addition</a:t>
            </a:r>
          </a:p>
          <a:p>
            <a:r>
              <a:rPr lang="en-US" dirty="0"/>
              <a:t>Integer multiplication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Good test:</a:t>
            </a:r>
          </a:p>
          <a:p>
            <a:r>
              <a:rPr lang="en-US" dirty="0"/>
              <a:t>((a OP b) OP c) == (a OP (b OP c)) 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What about floating-point arithmetic?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FC0766-3637-0E4E-9697-FC5D5F2E6FE9}"/>
              </a:ext>
            </a:extLst>
          </p:cNvPr>
          <p:cNvSpPr txBox="1"/>
          <p:nvPr/>
        </p:nvSpPr>
        <p:spPr>
          <a:xfrm>
            <a:off x="5451565" y="3105834"/>
            <a:ext cx="25266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These operators</a:t>
            </a:r>
          </a:p>
          <a:p>
            <a:r>
              <a:rPr lang="en-US" i="1" dirty="0"/>
              <a:t>are said to be associative</a:t>
            </a:r>
          </a:p>
        </p:txBody>
      </p:sp>
    </p:spTree>
    <p:extLst>
      <p:ext uri="{BB962C8B-B14F-4D97-AF65-F5344CB8AC3E}">
        <p14:creationId xmlns:p14="http://schemas.microsoft.com/office/powerpoint/2010/main" val="386152354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E5789-BDEB-A84C-8FC4-E22C0E93F1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551815" cy="1325563"/>
          </a:xfrm>
        </p:spPr>
        <p:txBody>
          <a:bodyPr/>
          <a:lstStyle/>
          <a:p>
            <a:r>
              <a:rPr lang="en-US" dirty="0"/>
              <a:t>Associativity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D5E6FD-8867-CA4B-8D0A-66BEE4B87E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If an operator is not associative then we define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left to right (left-associative)</a:t>
            </a:r>
          </a:p>
          <a:p>
            <a:pPr lvl="1"/>
            <a:r>
              <a:rPr lang="en-US" dirty="0">
                <a:latin typeface="Courier" pitchFamily="2" charset="0"/>
              </a:rPr>
              <a:t>2-3-4 </a:t>
            </a:r>
            <a:r>
              <a:rPr lang="en-US" dirty="0"/>
              <a:t>is evaluated as ((2-3) - 4)</a:t>
            </a:r>
          </a:p>
          <a:p>
            <a:pPr lvl="1"/>
            <a:r>
              <a:rPr lang="en-US" dirty="0"/>
              <a:t>What other operators are left-associative</a:t>
            </a:r>
          </a:p>
          <a:p>
            <a:endParaRPr lang="en-US" dirty="0"/>
          </a:p>
          <a:p>
            <a:r>
              <a:rPr lang="en-US" dirty="0"/>
              <a:t>right-to-left (right-associative)</a:t>
            </a:r>
          </a:p>
          <a:p>
            <a:pPr lvl="1"/>
            <a:r>
              <a:rPr lang="en-US" dirty="0"/>
              <a:t>Any operators you can think of?</a:t>
            </a:r>
          </a:p>
        </p:txBody>
      </p:sp>
    </p:spTree>
    <p:extLst>
      <p:ext uri="{BB962C8B-B14F-4D97-AF65-F5344CB8AC3E}">
        <p14:creationId xmlns:p14="http://schemas.microsoft.com/office/powerpoint/2010/main" val="423354131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E5789-BDEB-A84C-8FC4-E22C0E93F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Associativity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D5E6FD-8867-CA4B-8D0A-66BEE4B87E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3600" dirty="0"/>
              <a:t>If an operator is not associative then we define</a:t>
            </a:r>
          </a:p>
          <a:p>
            <a:pPr marL="0" indent="0">
              <a:buNone/>
            </a:pPr>
            <a:endParaRPr lang="en-US" sz="3600" dirty="0"/>
          </a:p>
          <a:p>
            <a:r>
              <a:rPr lang="en-US" sz="3600" dirty="0"/>
              <a:t>left to right (left-associative)</a:t>
            </a:r>
          </a:p>
          <a:p>
            <a:pPr lvl="1"/>
            <a:r>
              <a:rPr lang="en-US" sz="3200" dirty="0">
                <a:latin typeface="Courier" pitchFamily="2" charset="0"/>
              </a:rPr>
              <a:t>2-3-4 </a:t>
            </a:r>
            <a:r>
              <a:rPr lang="en-US" sz="3200" dirty="0"/>
              <a:t>is evaluated as ((2-3) - 4)</a:t>
            </a:r>
          </a:p>
          <a:p>
            <a:pPr lvl="1"/>
            <a:r>
              <a:rPr lang="en-US" sz="3200" dirty="0"/>
              <a:t>What other operators are left-associative</a:t>
            </a:r>
          </a:p>
          <a:p>
            <a:endParaRPr lang="en-US" sz="3600" dirty="0"/>
          </a:p>
          <a:p>
            <a:r>
              <a:rPr lang="en-US" sz="3600" dirty="0"/>
              <a:t>right-to-left (right-associative)</a:t>
            </a:r>
          </a:p>
          <a:p>
            <a:pPr lvl="1"/>
            <a:r>
              <a:rPr lang="en-US" sz="3200" dirty="0"/>
              <a:t>Assignment, </a:t>
            </a:r>
          </a:p>
          <a:p>
            <a:pPr lvl="1"/>
            <a:r>
              <a:rPr lang="en-US" sz="3200" dirty="0"/>
              <a:t>power operator</a:t>
            </a:r>
          </a:p>
        </p:txBody>
      </p:sp>
    </p:spTree>
    <p:extLst>
      <p:ext uri="{BB962C8B-B14F-4D97-AF65-F5344CB8AC3E}">
        <p14:creationId xmlns:p14="http://schemas.microsoft.com/office/powerpoint/2010/main" val="51186876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667E1-5607-3343-903A-9477D4E8F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encode associativity?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C684E6-A199-0A46-B1CB-580073C187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Like precedence, some tools (e.g. YACC) allow associativity specification through keywords:</a:t>
            </a:r>
          </a:p>
          <a:p>
            <a:pPr lvl="1"/>
            <a:r>
              <a:rPr lang="en-US" sz="3200" dirty="0"/>
              <a:t>“+”: left, “^”: right</a:t>
            </a:r>
          </a:p>
          <a:p>
            <a:pPr lvl="1"/>
            <a:endParaRPr lang="en-US" sz="3200" dirty="0"/>
          </a:p>
          <a:p>
            <a:r>
              <a:rPr lang="en-US" sz="3600" dirty="0"/>
              <a:t>Like precedence, we can also encode it into the production rules</a:t>
            </a:r>
          </a:p>
        </p:txBody>
      </p:sp>
    </p:spTree>
    <p:extLst>
      <p:ext uri="{BB962C8B-B14F-4D97-AF65-F5344CB8AC3E}">
        <p14:creationId xmlns:p14="http://schemas.microsoft.com/office/powerpoint/2010/main" val="360887881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4A8C7-5939-4547-A4F8-5A4782C5D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Ambiguous associativity for a single operator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81C384-93DB-0D44-BE61-8197A0709109}"/>
              </a:ext>
            </a:extLst>
          </p:cNvPr>
          <p:cNvSpPr txBox="1"/>
          <p:nvPr/>
        </p:nvSpPr>
        <p:spPr>
          <a:xfrm>
            <a:off x="7292446" y="1559173"/>
            <a:ext cx="3147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2-3-4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5E929B-64E8-044A-85BA-E2A05762BEDE}"/>
              </a:ext>
            </a:extLst>
          </p:cNvPr>
          <p:cNvSpPr txBox="1"/>
          <p:nvPr/>
        </p:nvSpPr>
        <p:spPr>
          <a:xfrm>
            <a:off x="8635402" y="218195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B787D9A-3D52-DD40-A88E-B12C480A13B4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 flipH="1">
            <a:off x="7299498" y="2551289"/>
            <a:ext cx="1634896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BD8CC90-1189-CC47-92C0-7050C009DE16}"/>
              </a:ext>
            </a:extLst>
          </p:cNvPr>
          <p:cNvSpPr txBox="1"/>
          <p:nvPr/>
        </p:nvSpPr>
        <p:spPr>
          <a:xfrm>
            <a:off x="7000506" y="308793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E18E5FE-9410-684A-A4C9-EA5A61D0939B}"/>
              </a:ext>
            </a:extLst>
          </p:cNvPr>
          <p:cNvCxnSpPr>
            <a:cxnSpLocks/>
            <a:stCxn id="5" idx="2"/>
            <a:endCxn id="11" idx="0"/>
          </p:cNvCxnSpPr>
          <p:nvPr/>
        </p:nvCxnSpPr>
        <p:spPr>
          <a:xfrm>
            <a:off x="8934394" y="2551289"/>
            <a:ext cx="0" cy="55483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D86E168-28F6-9840-A978-1FFC7CEF67EE}"/>
              </a:ext>
            </a:extLst>
          </p:cNvPr>
          <p:cNvCxnSpPr>
            <a:cxnSpLocks/>
            <a:stCxn id="5" idx="2"/>
            <a:endCxn id="12" idx="0"/>
          </p:cNvCxnSpPr>
          <p:nvPr/>
        </p:nvCxnSpPr>
        <p:spPr>
          <a:xfrm>
            <a:off x="8934394" y="2551289"/>
            <a:ext cx="1057341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8CB2006-86DA-624E-819E-67C30BAE27FC}"/>
              </a:ext>
            </a:extLst>
          </p:cNvPr>
          <p:cNvSpPr txBox="1"/>
          <p:nvPr/>
        </p:nvSpPr>
        <p:spPr>
          <a:xfrm>
            <a:off x="8398029" y="3106126"/>
            <a:ext cx="1072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&lt;MINUS&gt;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30F22D-AA26-544C-B3FB-EB58E530F8E9}"/>
              </a:ext>
            </a:extLst>
          </p:cNvPr>
          <p:cNvSpPr txBox="1"/>
          <p:nvPr/>
        </p:nvSpPr>
        <p:spPr>
          <a:xfrm>
            <a:off x="9692743" y="308793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A7E26D-CFCD-7842-844D-2332B62F3137}"/>
              </a:ext>
            </a:extLst>
          </p:cNvPr>
          <p:cNvSpPr txBox="1"/>
          <p:nvPr/>
        </p:nvSpPr>
        <p:spPr>
          <a:xfrm>
            <a:off x="6732371" y="3943548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2&gt;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D8C9B83-2BD3-C744-9567-52F09F34C6F7}"/>
              </a:ext>
            </a:extLst>
          </p:cNvPr>
          <p:cNvCxnSpPr>
            <a:cxnSpLocks/>
          </p:cNvCxnSpPr>
          <p:nvPr/>
        </p:nvCxnSpPr>
        <p:spPr>
          <a:xfrm flipH="1">
            <a:off x="7298056" y="3477414"/>
            <a:ext cx="1442" cy="46457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13B9A3F-318E-0040-A924-E193F09EE8DE}"/>
              </a:ext>
            </a:extLst>
          </p:cNvPr>
          <p:cNvCxnSpPr>
            <a:cxnSpLocks/>
          </p:cNvCxnSpPr>
          <p:nvPr/>
        </p:nvCxnSpPr>
        <p:spPr>
          <a:xfrm flipH="1">
            <a:off x="8758711" y="3459774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E16642F-41D5-F343-A36D-24DE9D3CB35C}"/>
              </a:ext>
            </a:extLst>
          </p:cNvPr>
          <p:cNvCxnSpPr>
            <a:cxnSpLocks/>
          </p:cNvCxnSpPr>
          <p:nvPr/>
        </p:nvCxnSpPr>
        <p:spPr>
          <a:xfrm>
            <a:off x="9983084" y="3459774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61F94DC-58FE-B04D-B14A-8CA17296C99A}"/>
              </a:ext>
            </a:extLst>
          </p:cNvPr>
          <p:cNvCxnSpPr>
            <a:cxnSpLocks/>
          </p:cNvCxnSpPr>
          <p:nvPr/>
        </p:nvCxnSpPr>
        <p:spPr>
          <a:xfrm>
            <a:off x="9983084" y="3459774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4BBBE614-E430-4A46-86B3-376DB9B607AA}"/>
              </a:ext>
            </a:extLst>
          </p:cNvPr>
          <p:cNvSpPr txBox="1"/>
          <p:nvPr/>
        </p:nvSpPr>
        <p:spPr>
          <a:xfrm>
            <a:off x="9525511" y="3926876"/>
            <a:ext cx="1072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&lt;MINUS&gt;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C4C3E34-1CAB-EC47-B569-47D39EF96033}"/>
              </a:ext>
            </a:extLst>
          </p:cNvPr>
          <p:cNvSpPr txBox="1"/>
          <p:nvPr/>
        </p:nvSpPr>
        <p:spPr>
          <a:xfrm>
            <a:off x="8459719" y="389548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3989A96-E585-1549-9F7A-CADA0521130D}"/>
              </a:ext>
            </a:extLst>
          </p:cNvPr>
          <p:cNvSpPr txBox="1"/>
          <p:nvPr/>
        </p:nvSpPr>
        <p:spPr>
          <a:xfrm>
            <a:off x="10781251" y="389548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5347C45-A95B-F444-B986-AE0F5592ABD6}"/>
              </a:ext>
            </a:extLst>
          </p:cNvPr>
          <p:cNvSpPr txBox="1"/>
          <p:nvPr/>
        </p:nvSpPr>
        <p:spPr>
          <a:xfrm>
            <a:off x="8206141" y="4547468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3&gt;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C8820E0-1B62-324E-AD21-D3B403496411}"/>
              </a:ext>
            </a:extLst>
          </p:cNvPr>
          <p:cNvCxnSpPr>
            <a:cxnSpLocks/>
          </p:cNvCxnSpPr>
          <p:nvPr/>
        </p:nvCxnSpPr>
        <p:spPr>
          <a:xfrm flipH="1">
            <a:off x="8773620" y="4276824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E4C64BEC-172B-3D48-BE52-BF0D260C80E1}"/>
              </a:ext>
            </a:extLst>
          </p:cNvPr>
          <p:cNvSpPr txBox="1"/>
          <p:nvPr/>
        </p:nvSpPr>
        <p:spPr>
          <a:xfrm>
            <a:off x="10528650" y="4588894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4&gt;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189BC56-99CD-7947-BE89-6BFF1ECD8106}"/>
              </a:ext>
            </a:extLst>
          </p:cNvPr>
          <p:cNvCxnSpPr>
            <a:cxnSpLocks/>
          </p:cNvCxnSpPr>
          <p:nvPr/>
        </p:nvCxnSpPr>
        <p:spPr>
          <a:xfrm flipH="1">
            <a:off x="11097075" y="4276824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7" name="Table 5">
            <a:extLst>
              <a:ext uri="{FF2B5EF4-FFF2-40B4-BE49-F238E27FC236}">
                <a16:creationId xmlns:a16="http://schemas.microsoft.com/office/drawing/2014/main" id="{DACB1283-3538-414F-8244-2A03F25102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4595155"/>
              </p:ext>
            </p:extLst>
          </p:nvPr>
        </p:nvGraphicFramePr>
        <p:xfrm>
          <a:off x="445824" y="3393277"/>
          <a:ext cx="4480008" cy="11476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43519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1186775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2049714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expr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expr MINUS expr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NUM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313068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4A8C7-5939-4547-A4F8-5A4782C5D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Associativity for a single operator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81C384-93DB-0D44-BE61-8197A0709109}"/>
              </a:ext>
            </a:extLst>
          </p:cNvPr>
          <p:cNvSpPr txBox="1"/>
          <p:nvPr/>
        </p:nvSpPr>
        <p:spPr>
          <a:xfrm>
            <a:off x="7292446" y="1559173"/>
            <a:ext cx="3147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2-3-4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5E929B-64E8-044A-85BA-E2A05762BEDE}"/>
              </a:ext>
            </a:extLst>
          </p:cNvPr>
          <p:cNvSpPr txBox="1"/>
          <p:nvPr/>
        </p:nvSpPr>
        <p:spPr>
          <a:xfrm>
            <a:off x="8635402" y="218195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B787D9A-3D52-DD40-A88E-B12C480A13B4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 flipH="1">
            <a:off x="7299498" y="2551289"/>
            <a:ext cx="1634896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BD8CC90-1189-CC47-92C0-7050C009DE16}"/>
              </a:ext>
            </a:extLst>
          </p:cNvPr>
          <p:cNvSpPr txBox="1"/>
          <p:nvPr/>
        </p:nvSpPr>
        <p:spPr>
          <a:xfrm>
            <a:off x="7000506" y="308793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E18E5FE-9410-684A-A4C9-EA5A61D0939B}"/>
              </a:ext>
            </a:extLst>
          </p:cNvPr>
          <p:cNvCxnSpPr>
            <a:cxnSpLocks/>
            <a:stCxn id="5" idx="2"/>
            <a:endCxn id="11" idx="0"/>
          </p:cNvCxnSpPr>
          <p:nvPr/>
        </p:nvCxnSpPr>
        <p:spPr>
          <a:xfrm>
            <a:off x="8934394" y="2551289"/>
            <a:ext cx="0" cy="55483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D86E168-28F6-9840-A978-1FFC7CEF67EE}"/>
              </a:ext>
            </a:extLst>
          </p:cNvPr>
          <p:cNvCxnSpPr>
            <a:cxnSpLocks/>
            <a:stCxn id="5" idx="2"/>
            <a:endCxn id="12" idx="0"/>
          </p:cNvCxnSpPr>
          <p:nvPr/>
        </p:nvCxnSpPr>
        <p:spPr>
          <a:xfrm>
            <a:off x="8934394" y="2551289"/>
            <a:ext cx="1057341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8CB2006-86DA-624E-819E-67C30BAE27FC}"/>
              </a:ext>
            </a:extLst>
          </p:cNvPr>
          <p:cNvSpPr txBox="1"/>
          <p:nvPr/>
        </p:nvSpPr>
        <p:spPr>
          <a:xfrm>
            <a:off x="8398029" y="3106126"/>
            <a:ext cx="1072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&lt;MINUS&gt;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30F22D-AA26-544C-B3FB-EB58E530F8E9}"/>
              </a:ext>
            </a:extLst>
          </p:cNvPr>
          <p:cNvSpPr txBox="1"/>
          <p:nvPr/>
        </p:nvSpPr>
        <p:spPr>
          <a:xfrm>
            <a:off x="9692743" y="308793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A7E26D-CFCD-7842-844D-2332B62F3137}"/>
              </a:ext>
            </a:extLst>
          </p:cNvPr>
          <p:cNvSpPr txBox="1"/>
          <p:nvPr/>
        </p:nvSpPr>
        <p:spPr>
          <a:xfrm>
            <a:off x="6732371" y="3943548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2&gt;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D8C9B83-2BD3-C744-9567-52F09F34C6F7}"/>
              </a:ext>
            </a:extLst>
          </p:cNvPr>
          <p:cNvCxnSpPr>
            <a:cxnSpLocks/>
          </p:cNvCxnSpPr>
          <p:nvPr/>
        </p:nvCxnSpPr>
        <p:spPr>
          <a:xfrm flipH="1">
            <a:off x="7298056" y="3477414"/>
            <a:ext cx="1442" cy="46457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13B9A3F-318E-0040-A924-E193F09EE8DE}"/>
              </a:ext>
            </a:extLst>
          </p:cNvPr>
          <p:cNvCxnSpPr>
            <a:cxnSpLocks/>
          </p:cNvCxnSpPr>
          <p:nvPr/>
        </p:nvCxnSpPr>
        <p:spPr>
          <a:xfrm flipH="1">
            <a:off x="8758711" y="3459774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E16642F-41D5-F343-A36D-24DE9D3CB35C}"/>
              </a:ext>
            </a:extLst>
          </p:cNvPr>
          <p:cNvCxnSpPr>
            <a:cxnSpLocks/>
          </p:cNvCxnSpPr>
          <p:nvPr/>
        </p:nvCxnSpPr>
        <p:spPr>
          <a:xfrm>
            <a:off x="9983084" y="3459774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61F94DC-58FE-B04D-B14A-8CA17296C99A}"/>
              </a:ext>
            </a:extLst>
          </p:cNvPr>
          <p:cNvCxnSpPr>
            <a:cxnSpLocks/>
          </p:cNvCxnSpPr>
          <p:nvPr/>
        </p:nvCxnSpPr>
        <p:spPr>
          <a:xfrm>
            <a:off x="9983084" y="3459774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4BBBE614-E430-4A46-86B3-376DB9B607AA}"/>
              </a:ext>
            </a:extLst>
          </p:cNvPr>
          <p:cNvSpPr txBox="1"/>
          <p:nvPr/>
        </p:nvSpPr>
        <p:spPr>
          <a:xfrm>
            <a:off x="9525511" y="3926876"/>
            <a:ext cx="1072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&lt;MINUS&gt;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C4C3E34-1CAB-EC47-B569-47D39EF96033}"/>
              </a:ext>
            </a:extLst>
          </p:cNvPr>
          <p:cNvSpPr txBox="1"/>
          <p:nvPr/>
        </p:nvSpPr>
        <p:spPr>
          <a:xfrm>
            <a:off x="8459719" y="389548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3989A96-E585-1549-9F7A-CADA0521130D}"/>
              </a:ext>
            </a:extLst>
          </p:cNvPr>
          <p:cNvSpPr txBox="1"/>
          <p:nvPr/>
        </p:nvSpPr>
        <p:spPr>
          <a:xfrm>
            <a:off x="10781251" y="389548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5347C45-A95B-F444-B986-AE0F5592ABD6}"/>
              </a:ext>
            </a:extLst>
          </p:cNvPr>
          <p:cNvSpPr txBox="1"/>
          <p:nvPr/>
        </p:nvSpPr>
        <p:spPr>
          <a:xfrm>
            <a:off x="8206141" y="4547468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3&gt;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C8820E0-1B62-324E-AD21-D3B403496411}"/>
              </a:ext>
            </a:extLst>
          </p:cNvPr>
          <p:cNvCxnSpPr>
            <a:cxnSpLocks/>
          </p:cNvCxnSpPr>
          <p:nvPr/>
        </p:nvCxnSpPr>
        <p:spPr>
          <a:xfrm flipH="1">
            <a:off x="8773620" y="4276824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E4C64BEC-172B-3D48-BE52-BF0D260C80E1}"/>
              </a:ext>
            </a:extLst>
          </p:cNvPr>
          <p:cNvSpPr txBox="1"/>
          <p:nvPr/>
        </p:nvSpPr>
        <p:spPr>
          <a:xfrm>
            <a:off x="10528650" y="4588894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4&gt;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189BC56-99CD-7947-BE89-6BFF1ECD8106}"/>
              </a:ext>
            </a:extLst>
          </p:cNvPr>
          <p:cNvCxnSpPr>
            <a:cxnSpLocks/>
          </p:cNvCxnSpPr>
          <p:nvPr/>
        </p:nvCxnSpPr>
        <p:spPr>
          <a:xfrm flipH="1">
            <a:off x="11097075" y="4276824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5EE65D4E-3467-424A-A30E-17F0A813E8DA}"/>
              </a:ext>
            </a:extLst>
          </p:cNvPr>
          <p:cNvSpPr txBox="1"/>
          <p:nvPr/>
        </p:nvSpPr>
        <p:spPr>
          <a:xfrm>
            <a:off x="7988060" y="5529532"/>
            <a:ext cx="18982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No longer allowed</a:t>
            </a:r>
          </a:p>
        </p:txBody>
      </p:sp>
      <p:graphicFrame>
        <p:nvGraphicFramePr>
          <p:cNvPr id="26" name="Table 5">
            <a:extLst>
              <a:ext uri="{FF2B5EF4-FFF2-40B4-BE49-F238E27FC236}">
                <a16:creationId xmlns:a16="http://schemas.microsoft.com/office/drawing/2014/main" id="{4231F5F5-9F65-BA4C-A5AC-25EBF69D13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5280481"/>
              </p:ext>
            </p:extLst>
          </p:nvPr>
        </p:nvGraphicFramePr>
        <p:xfrm>
          <a:off x="445824" y="3393277"/>
          <a:ext cx="4480008" cy="11476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43519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1186775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2049714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expr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expr MINUS NUM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NUM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4747FED-F887-1B41-D848-CBA57C7CCCBE}"/>
              </a:ext>
            </a:extLst>
          </p:cNvPr>
          <p:cNvSpPr txBox="1"/>
          <p:nvPr/>
        </p:nvSpPr>
        <p:spPr>
          <a:xfrm>
            <a:off x="445825" y="5141626"/>
            <a:ext cx="565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Note that with recursion on the left derivations can only happen from left to right.</a:t>
            </a:r>
          </a:p>
        </p:txBody>
      </p:sp>
    </p:spTree>
    <p:extLst>
      <p:ext uri="{BB962C8B-B14F-4D97-AF65-F5344CB8AC3E}">
        <p14:creationId xmlns:p14="http://schemas.microsoft.com/office/powerpoint/2010/main" val="362388482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4A8C7-5939-4547-A4F8-5A4782C5D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Associativity for a single operator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81C384-93DB-0D44-BE61-8197A0709109}"/>
              </a:ext>
            </a:extLst>
          </p:cNvPr>
          <p:cNvSpPr txBox="1"/>
          <p:nvPr/>
        </p:nvSpPr>
        <p:spPr>
          <a:xfrm>
            <a:off x="7292446" y="1559173"/>
            <a:ext cx="3147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2-3-4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5E929B-64E8-044A-85BA-E2A05762BEDE}"/>
              </a:ext>
            </a:extLst>
          </p:cNvPr>
          <p:cNvSpPr txBox="1"/>
          <p:nvPr/>
        </p:nvSpPr>
        <p:spPr>
          <a:xfrm>
            <a:off x="8635402" y="218195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B787D9A-3D52-DD40-A88E-B12C480A13B4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 flipH="1">
            <a:off x="7299498" y="2551289"/>
            <a:ext cx="1634896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BD8CC90-1189-CC47-92C0-7050C009DE16}"/>
              </a:ext>
            </a:extLst>
          </p:cNvPr>
          <p:cNvSpPr txBox="1"/>
          <p:nvPr/>
        </p:nvSpPr>
        <p:spPr>
          <a:xfrm>
            <a:off x="7000506" y="308793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E18E5FE-9410-684A-A4C9-EA5A61D0939B}"/>
              </a:ext>
            </a:extLst>
          </p:cNvPr>
          <p:cNvCxnSpPr>
            <a:cxnSpLocks/>
            <a:stCxn id="5" idx="2"/>
            <a:endCxn id="11" idx="0"/>
          </p:cNvCxnSpPr>
          <p:nvPr/>
        </p:nvCxnSpPr>
        <p:spPr>
          <a:xfrm>
            <a:off x="8934394" y="2551289"/>
            <a:ext cx="0" cy="55483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D86E168-28F6-9840-A978-1FFC7CEF67EE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8934394" y="2551289"/>
            <a:ext cx="1057341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8CB2006-86DA-624E-819E-67C30BAE27FC}"/>
              </a:ext>
            </a:extLst>
          </p:cNvPr>
          <p:cNvSpPr txBox="1"/>
          <p:nvPr/>
        </p:nvSpPr>
        <p:spPr>
          <a:xfrm>
            <a:off x="8398029" y="3106126"/>
            <a:ext cx="1072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&lt;MINUS&gt;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A24D09-FBE6-4845-A29A-5750B5282A91}"/>
              </a:ext>
            </a:extLst>
          </p:cNvPr>
          <p:cNvSpPr txBox="1"/>
          <p:nvPr/>
        </p:nvSpPr>
        <p:spPr>
          <a:xfrm>
            <a:off x="9761070" y="3125942"/>
            <a:ext cx="10743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&lt;NUM,?&gt;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4EBE7E-1A6E-3E45-8476-11624B376034}"/>
              </a:ext>
            </a:extLst>
          </p:cNvPr>
          <p:cNvSpPr txBox="1"/>
          <p:nvPr/>
        </p:nvSpPr>
        <p:spPr>
          <a:xfrm>
            <a:off x="8117457" y="4960189"/>
            <a:ext cx="15165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Lets start over</a:t>
            </a:r>
          </a:p>
        </p:txBody>
      </p:sp>
      <p:graphicFrame>
        <p:nvGraphicFramePr>
          <p:cNvPr id="13" name="Table 5">
            <a:extLst>
              <a:ext uri="{FF2B5EF4-FFF2-40B4-BE49-F238E27FC236}">
                <a16:creationId xmlns:a16="http://schemas.microsoft.com/office/drawing/2014/main" id="{45547E6C-B688-D147-89EB-60B9050A58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5654197"/>
              </p:ext>
            </p:extLst>
          </p:nvPr>
        </p:nvGraphicFramePr>
        <p:xfrm>
          <a:off x="445824" y="3393277"/>
          <a:ext cx="4480008" cy="11476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43519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1186775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2049714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expr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expr MINUS NUM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NUM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0428232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4A8C7-5939-4547-A4F8-5A4782C5D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Associativity for a single operator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81C384-93DB-0D44-BE61-8197A0709109}"/>
              </a:ext>
            </a:extLst>
          </p:cNvPr>
          <p:cNvSpPr txBox="1"/>
          <p:nvPr/>
        </p:nvSpPr>
        <p:spPr>
          <a:xfrm>
            <a:off x="7292446" y="1559173"/>
            <a:ext cx="3147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2-3-4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5E929B-64E8-044A-85BA-E2A05762BEDE}"/>
              </a:ext>
            </a:extLst>
          </p:cNvPr>
          <p:cNvSpPr txBox="1"/>
          <p:nvPr/>
        </p:nvSpPr>
        <p:spPr>
          <a:xfrm>
            <a:off x="8635402" y="218195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B787D9A-3D52-DD40-A88E-B12C480A13B4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 flipH="1">
            <a:off x="7299498" y="2551289"/>
            <a:ext cx="1634896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BD8CC90-1189-CC47-92C0-7050C009DE16}"/>
              </a:ext>
            </a:extLst>
          </p:cNvPr>
          <p:cNvSpPr txBox="1"/>
          <p:nvPr/>
        </p:nvSpPr>
        <p:spPr>
          <a:xfrm>
            <a:off x="7000506" y="308793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E18E5FE-9410-684A-A4C9-EA5A61D0939B}"/>
              </a:ext>
            </a:extLst>
          </p:cNvPr>
          <p:cNvCxnSpPr>
            <a:cxnSpLocks/>
            <a:stCxn id="5" idx="2"/>
            <a:endCxn id="11" idx="0"/>
          </p:cNvCxnSpPr>
          <p:nvPr/>
        </p:nvCxnSpPr>
        <p:spPr>
          <a:xfrm>
            <a:off x="8934394" y="2551289"/>
            <a:ext cx="0" cy="55483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D86E168-28F6-9840-A978-1FFC7CEF67EE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8934394" y="2551289"/>
            <a:ext cx="1057341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8CB2006-86DA-624E-819E-67C30BAE27FC}"/>
              </a:ext>
            </a:extLst>
          </p:cNvPr>
          <p:cNvSpPr txBox="1"/>
          <p:nvPr/>
        </p:nvSpPr>
        <p:spPr>
          <a:xfrm>
            <a:off x="8398029" y="3106126"/>
            <a:ext cx="1072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&lt;MINUS&gt;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A24D09-FBE6-4845-A29A-5750B5282A91}"/>
              </a:ext>
            </a:extLst>
          </p:cNvPr>
          <p:cNvSpPr txBox="1"/>
          <p:nvPr/>
        </p:nvSpPr>
        <p:spPr>
          <a:xfrm>
            <a:off x="9761070" y="3125942"/>
            <a:ext cx="10839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&lt;NUM,4&gt;</a:t>
            </a:r>
          </a:p>
        </p:txBody>
      </p:sp>
      <p:graphicFrame>
        <p:nvGraphicFramePr>
          <p:cNvPr id="12" name="Table 5">
            <a:extLst>
              <a:ext uri="{FF2B5EF4-FFF2-40B4-BE49-F238E27FC236}">
                <a16:creationId xmlns:a16="http://schemas.microsoft.com/office/drawing/2014/main" id="{EBA2E05B-38C9-4F45-B077-FACE37EC28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6389302"/>
              </p:ext>
            </p:extLst>
          </p:nvPr>
        </p:nvGraphicFramePr>
        <p:xfrm>
          <a:off x="445824" y="3393277"/>
          <a:ext cx="4480008" cy="11476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43519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1186775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2049714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expr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expr MINUS NUM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NUM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4833638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4A8C7-5939-4547-A4F8-5A4782C5D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Associativity for a single operator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81C384-93DB-0D44-BE61-8197A0709109}"/>
              </a:ext>
            </a:extLst>
          </p:cNvPr>
          <p:cNvSpPr txBox="1"/>
          <p:nvPr/>
        </p:nvSpPr>
        <p:spPr>
          <a:xfrm>
            <a:off x="7292446" y="1559173"/>
            <a:ext cx="3147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2-3-4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5E929B-64E8-044A-85BA-E2A05762BEDE}"/>
              </a:ext>
            </a:extLst>
          </p:cNvPr>
          <p:cNvSpPr txBox="1"/>
          <p:nvPr/>
        </p:nvSpPr>
        <p:spPr>
          <a:xfrm>
            <a:off x="8635402" y="218195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B787D9A-3D52-DD40-A88E-B12C480A13B4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 flipH="1">
            <a:off x="7299498" y="2551289"/>
            <a:ext cx="1634896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BD8CC90-1189-CC47-92C0-7050C009DE16}"/>
              </a:ext>
            </a:extLst>
          </p:cNvPr>
          <p:cNvSpPr txBox="1"/>
          <p:nvPr/>
        </p:nvSpPr>
        <p:spPr>
          <a:xfrm>
            <a:off x="7000506" y="308793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E18E5FE-9410-684A-A4C9-EA5A61D0939B}"/>
              </a:ext>
            </a:extLst>
          </p:cNvPr>
          <p:cNvCxnSpPr>
            <a:cxnSpLocks/>
            <a:stCxn id="5" idx="2"/>
            <a:endCxn id="11" idx="0"/>
          </p:cNvCxnSpPr>
          <p:nvPr/>
        </p:nvCxnSpPr>
        <p:spPr>
          <a:xfrm>
            <a:off x="8934394" y="2551289"/>
            <a:ext cx="0" cy="55483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D86E168-28F6-9840-A978-1FFC7CEF67EE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8934394" y="2551289"/>
            <a:ext cx="1057341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8CB2006-86DA-624E-819E-67C30BAE27FC}"/>
              </a:ext>
            </a:extLst>
          </p:cNvPr>
          <p:cNvSpPr txBox="1"/>
          <p:nvPr/>
        </p:nvSpPr>
        <p:spPr>
          <a:xfrm>
            <a:off x="8398029" y="3106126"/>
            <a:ext cx="1072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&lt;MINUS&gt;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A24D09-FBE6-4845-A29A-5750B5282A91}"/>
              </a:ext>
            </a:extLst>
          </p:cNvPr>
          <p:cNvSpPr txBox="1"/>
          <p:nvPr/>
        </p:nvSpPr>
        <p:spPr>
          <a:xfrm>
            <a:off x="9761070" y="3125942"/>
            <a:ext cx="10839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&lt;NUM,4&gt;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3312E04-ADA6-5342-81EB-6AA7F52872C4}"/>
              </a:ext>
            </a:extLst>
          </p:cNvPr>
          <p:cNvCxnSpPr>
            <a:cxnSpLocks/>
          </p:cNvCxnSpPr>
          <p:nvPr/>
        </p:nvCxnSpPr>
        <p:spPr>
          <a:xfrm flipH="1">
            <a:off x="6041796" y="3490116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0AB4960-E97C-E647-A144-AFE1E4ECFC6F}"/>
              </a:ext>
            </a:extLst>
          </p:cNvPr>
          <p:cNvCxnSpPr>
            <a:cxnSpLocks/>
          </p:cNvCxnSpPr>
          <p:nvPr/>
        </p:nvCxnSpPr>
        <p:spPr>
          <a:xfrm>
            <a:off x="7266169" y="3490116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55BDBE9-A62C-E845-95A7-824487D0EB14}"/>
              </a:ext>
            </a:extLst>
          </p:cNvPr>
          <p:cNvCxnSpPr>
            <a:cxnSpLocks/>
          </p:cNvCxnSpPr>
          <p:nvPr/>
        </p:nvCxnSpPr>
        <p:spPr>
          <a:xfrm>
            <a:off x="7266169" y="3490116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DB5867A5-145C-D648-9255-0FEE7ACAE57D}"/>
              </a:ext>
            </a:extLst>
          </p:cNvPr>
          <p:cNvSpPr txBox="1"/>
          <p:nvPr/>
        </p:nvSpPr>
        <p:spPr>
          <a:xfrm>
            <a:off x="6808596" y="3957218"/>
            <a:ext cx="1072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&lt;MINUS&gt;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EF7551D-8133-1F43-AE4E-F03359D57985}"/>
              </a:ext>
            </a:extLst>
          </p:cNvPr>
          <p:cNvSpPr txBox="1"/>
          <p:nvPr/>
        </p:nvSpPr>
        <p:spPr>
          <a:xfrm>
            <a:off x="5742804" y="3925825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096C263-B7AB-EF44-8171-C2B69C5C1AA5}"/>
              </a:ext>
            </a:extLst>
          </p:cNvPr>
          <p:cNvSpPr txBox="1"/>
          <p:nvPr/>
        </p:nvSpPr>
        <p:spPr>
          <a:xfrm>
            <a:off x="7881326" y="4000240"/>
            <a:ext cx="10839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&lt;NUM,3&gt;</a:t>
            </a:r>
          </a:p>
        </p:txBody>
      </p:sp>
      <p:graphicFrame>
        <p:nvGraphicFramePr>
          <p:cNvPr id="18" name="Table 5">
            <a:extLst>
              <a:ext uri="{FF2B5EF4-FFF2-40B4-BE49-F238E27FC236}">
                <a16:creationId xmlns:a16="http://schemas.microsoft.com/office/drawing/2014/main" id="{B2058F98-5630-CA47-96BA-905C50FE7F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940013"/>
              </p:ext>
            </p:extLst>
          </p:nvPr>
        </p:nvGraphicFramePr>
        <p:xfrm>
          <a:off x="445824" y="3393277"/>
          <a:ext cx="4480008" cy="11476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43519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1186775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2049714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expr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expr MINUS NUM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NUM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0812776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4A8C7-5939-4547-A4F8-5A4782C5D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Associativity for a single operator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81C384-93DB-0D44-BE61-8197A0709109}"/>
              </a:ext>
            </a:extLst>
          </p:cNvPr>
          <p:cNvSpPr txBox="1"/>
          <p:nvPr/>
        </p:nvSpPr>
        <p:spPr>
          <a:xfrm>
            <a:off x="7292446" y="1559173"/>
            <a:ext cx="3147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2-3-4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5E929B-64E8-044A-85BA-E2A05762BEDE}"/>
              </a:ext>
            </a:extLst>
          </p:cNvPr>
          <p:cNvSpPr txBox="1"/>
          <p:nvPr/>
        </p:nvSpPr>
        <p:spPr>
          <a:xfrm>
            <a:off x="8635402" y="218195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B787D9A-3D52-DD40-A88E-B12C480A13B4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 flipH="1">
            <a:off x="7299498" y="2551289"/>
            <a:ext cx="1634896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BD8CC90-1189-CC47-92C0-7050C009DE16}"/>
              </a:ext>
            </a:extLst>
          </p:cNvPr>
          <p:cNvSpPr txBox="1"/>
          <p:nvPr/>
        </p:nvSpPr>
        <p:spPr>
          <a:xfrm>
            <a:off x="7000506" y="308793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E18E5FE-9410-684A-A4C9-EA5A61D0939B}"/>
              </a:ext>
            </a:extLst>
          </p:cNvPr>
          <p:cNvCxnSpPr>
            <a:cxnSpLocks/>
            <a:stCxn id="5" idx="2"/>
            <a:endCxn id="11" idx="0"/>
          </p:cNvCxnSpPr>
          <p:nvPr/>
        </p:nvCxnSpPr>
        <p:spPr>
          <a:xfrm>
            <a:off x="8934394" y="2551289"/>
            <a:ext cx="0" cy="55483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D86E168-28F6-9840-A978-1FFC7CEF67EE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8934394" y="2551289"/>
            <a:ext cx="1057341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8CB2006-86DA-624E-819E-67C30BAE27FC}"/>
              </a:ext>
            </a:extLst>
          </p:cNvPr>
          <p:cNvSpPr txBox="1"/>
          <p:nvPr/>
        </p:nvSpPr>
        <p:spPr>
          <a:xfrm>
            <a:off x="8398029" y="3106126"/>
            <a:ext cx="1072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&lt;MINUS&gt;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A24D09-FBE6-4845-A29A-5750B5282A91}"/>
              </a:ext>
            </a:extLst>
          </p:cNvPr>
          <p:cNvSpPr txBox="1"/>
          <p:nvPr/>
        </p:nvSpPr>
        <p:spPr>
          <a:xfrm>
            <a:off x="9761070" y="3125942"/>
            <a:ext cx="10839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&lt;NUM,4&gt;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3312E04-ADA6-5342-81EB-6AA7F52872C4}"/>
              </a:ext>
            </a:extLst>
          </p:cNvPr>
          <p:cNvCxnSpPr>
            <a:cxnSpLocks/>
          </p:cNvCxnSpPr>
          <p:nvPr/>
        </p:nvCxnSpPr>
        <p:spPr>
          <a:xfrm flipH="1">
            <a:off x="6041796" y="3490116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0AB4960-E97C-E647-A144-AFE1E4ECFC6F}"/>
              </a:ext>
            </a:extLst>
          </p:cNvPr>
          <p:cNvCxnSpPr>
            <a:cxnSpLocks/>
          </p:cNvCxnSpPr>
          <p:nvPr/>
        </p:nvCxnSpPr>
        <p:spPr>
          <a:xfrm>
            <a:off x="7266169" y="3490116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55BDBE9-A62C-E845-95A7-824487D0EB14}"/>
              </a:ext>
            </a:extLst>
          </p:cNvPr>
          <p:cNvCxnSpPr>
            <a:cxnSpLocks/>
          </p:cNvCxnSpPr>
          <p:nvPr/>
        </p:nvCxnSpPr>
        <p:spPr>
          <a:xfrm>
            <a:off x="7266169" y="3490116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DB5867A5-145C-D648-9255-0FEE7ACAE57D}"/>
              </a:ext>
            </a:extLst>
          </p:cNvPr>
          <p:cNvSpPr txBox="1"/>
          <p:nvPr/>
        </p:nvSpPr>
        <p:spPr>
          <a:xfrm>
            <a:off x="6808596" y="3957218"/>
            <a:ext cx="1072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&lt;MINUS&gt;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EF7551D-8133-1F43-AE4E-F03359D57985}"/>
              </a:ext>
            </a:extLst>
          </p:cNvPr>
          <p:cNvSpPr txBox="1"/>
          <p:nvPr/>
        </p:nvSpPr>
        <p:spPr>
          <a:xfrm>
            <a:off x="5742804" y="3925825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EECDA4B-42EF-B64E-B7A6-C7516E74D336}"/>
              </a:ext>
            </a:extLst>
          </p:cNvPr>
          <p:cNvSpPr txBox="1"/>
          <p:nvPr/>
        </p:nvSpPr>
        <p:spPr>
          <a:xfrm>
            <a:off x="5473371" y="4560858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2&gt;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7BC52A7-43FA-5C4F-9DD2-C9FCE41F5C3D}"/>
              </a:ext>
            </a:extLst>
          </p:cNvPr>
          <p:cNvCxnSpPr>
            <a:cxnSpLocks/>
          </p:cNvCxnSpPr>
          <p:nvPr/>
        </p:nvCxnSpPr>
        <p:spPr>
          <a:xfrm flipH="1">
            <a:off x="6040850" y="4290214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F8403D4-24A4-564F-98BD-61348436B384}"/>
              </a:ext>
            </a:extLst>
          </p:cNvPr>
          <p:cNvSpPr txBox="1"/>
          <p:nvPr/>
        </p:nvSpPr>
        <p:spPr>
          <a:xfrm>
            <a:off x="7881326" y="3975124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3&gt;</a:t>
            </a:r>
          </a:p>
        </p:txBody>
      </p:sp>
      <p:graphicFrame>
        <p:nvGraphicFramePr>
          <p:cNvPr id="22" name="Table 5">
            <a:extLst>
              <a:ext uri="{FF2B5EF4-FFF2-40B4-BE49-F238E27FC236}">
                <a16:creationId xmlns:a16="http://schemas.microsoft.com/office/drawing/2014/main" id="{68686450-3526-1A42-A928-04980313BD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5876931"/>
              </p:ext>
            </p:extLst>
          </p:nvPr>
        </p:nvGraphicFramePr>
        <p:xfrm>
          <a:off x="445824" y="3393277"/>
          <a:ext cx="4480008" cy="11476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43519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1186775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2049714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expr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expr MINUS NUM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NUM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3BCBEFA-BD4C-CD2E-838A-3DE3862B8B56}"/>
              </a:ext>
            </a:extLst>
          </p:cNvPr>
          <p:cNvSpPr txBox="1"/>
          <p:nvPr/>
        </p:nvSpPr>
        <p:spPr>
          <a:xfrm>
            <a:off x="7534656" y="5468112"/>
            <a:ext cx="22927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Left associative: </a:t>
            </a:r>
          </a:p>
          <a:p>
            <a:r>
              <a:rPr lang="en-US" dirty="0"/>
              <a:t>No longer ambiguous</a:t>
            </a:r>
          </a:p>
        </p:txBody>
      </p:sp>
    </p:spTree>
    <p:extLst>
      <p:ext uri="{BB962C8B-B14F-4D97-AF65-F5344CB8AC3E}">
        <p14:creationId xmlns:p14="http://schemas.microsoft.com/office/powerpoint/2010/main" val="173466826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4A8C7-5939-4547-A4F8-5A4782C5D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Should you have associativity when its not required?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81C384-93DB-0D44-BE61-8197A0709109}"/>
              </a:ext>
            </a:extLst>
          </p:cNvPr>
          <p:cNvSpPr txBox="1"/>
          <p:nvPr/>
        </p:nvSpPr>
        <p:spPr>
          <a:xfrm>
            <a:off x="7292446" y="1559173"/>
            <a:ext cx="3147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2</a:t>
            </a:r>
            <a:r>
              <a:rPr lang="en-US" sz="3200" dirty="0">
                <a:highlight>
                  <a:srgbClr val="FFFF00"/>
                </a:highlight>
                <a:latin typeface="Courier" pitchFamily="2" charset="0"/>
              </a:rPr>
              <a:t>+</a:t>
            </a:r>
            <a:r>
              <a:rPr lang="en-US" sz="3200" dirty="0">
                <a:latin typeface="Courier" pitchFamily="2" charset="0"/>
              </a:rPr>
              <a:t>3</a:t>
            </a:r>
            <a:r>
              <a:rPr lang="en-US" sz="3200" dirty="0">
                <a:highlight>
                  <a:srgbClr val="FFFF00"/>
                </a:highlight>
                <a:latin typeface="Courier" pitchFamily="2" charset="0"/>
              </a:rPr>
              <a:t>+</a:t>
            </a:r>
            <a:r>
              <a:rPr lang="en-US" sz="3200" dirty="0">
                <a:latin typeface="Courier" pitchFamily="2" charset="0"/>
              </a:rPr>
              <a:t>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5E929B-64E8-044A-85BA-E2A05762BEDE}"/>
              </a:ext>
            </a:extLst>
          </p:cNvPr>
          <p:cNvSpPr txBox="1"/>
          <p:nvPr/>
        </p:nvSpPr>
        <p:spPr>
          <a:xfrm>
            <a:off x="8635402" y="218195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B787D9A-3D52-DD40-A88E-B12C480A13B4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 flipH="1">
            <a:off x="7299498" y="2551289"/>
            <a:ext cx="1634896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BD8CC90-1189-CC47-92C0-7050C009DE16}"/>
              </a:ext>
            </a:extLst>
          </p:cNvPr>
          <p:cNvSpPr txBox="1"/>
          <p:nvPr/>
        </p:nvSpPr>
        <p:spPr>
          <a:xfrm>
            <a:off x="7000506" y="308793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E18E5FE-9410-684A-A4C9-EA5A61D0939B}"/>
              </a:ext>
            </a:extLst>
          </p:cNvPr>
          <p:cNvCxnSpPr>
            <a:cxnSpLocks/>
            <a:stCxn id="5" idx="2"/>
            <a:endCxn id="11" idx="0"/>
          </p:cNvCxnSpPr>
          <p:nvPr/>
        </p:nvCxnSpPr>
        <p:spPr>
          <a:xfrm flipH="1">
            <a:off x="8932730" y="2551289"/>
            <a:ext cx="1664" cy="54865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D86E168-28F6-9840-A978-1FFC7CEF67EE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8934394" y="2551289"/>
            <a:ext cx="1057341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8CB2006-86DA-624E-819E-67C30BAE27FC}"/>
              </a:ext>
            </a:extLst>
          </p:cNvPr>
          <p:cNvSpPr txBox="1"/>
          <p:nvPr/>
        </p:nvSpPr>
        <p:spPr>
          <a:xfrm>
            <a:off x="8492609" y="3099942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A24D09-FBE6-4845-A29A-5750B5282A91}"/>
              </a:ext>
            </a:extLst>
          </p:cNvPr>
          <p:cNvSpPr txBox="1"/>
          <p:nvPr/>
        </p:nvSpPr>
        <p:spPr>
          <a:xfrm>
            <a:off x="9761070" y="3125942"/>
            <a:ext cx="10839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&lt;NUM,4&gt;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3312E04-ADA6-5342-81EB-6AA7F52872C4}"/>
              </a:ext>
            </a:extLst>
          </p:cNvPr>
          <p:cNvCxnSpPr>
            <a:cxnSpLocks/>
          </p:cNvCxnSpPr>
          <p:nvPr/>
        </p:nvCxnSpPr>
        <p:spPr>
          <a:xfrm flipH="1">
            <a:off x="6041796" y="3490116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0AB4960-E97C-E647-A144-AFE1E4ECFC6F}"/>
              </a:ext>
            </a:extLst>
          </p:cNvPr>
          <p:cNvCxnSpPr>
            <a:cxnSpLocks/>
          </p:cNvCxnSpPr>
          <p:nvPr/>
        </p:nvCxnSpPr>
        <p:spPr>
          <a:xfrm>
            <a:off x="7266169" y="3490116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55BDBE9-A62C-E845-95A7-824487D0EB14}"/>
              </a:ext>
            </a:extLst>
          </p:cNvPr>
          <p:cNvCxnSpPr>
            <a:cxnSpLocks/>
          </p:cNvCxnSpPr>
          <p:nvPr/>
        </p:nvCxnSpPr>
        <p:spPr>
          <a:xfrm>
            <a:off x="7266169" y="3490116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DB5867A5-145C-D648-9255-0FEE7ACAE57D}"/>
              </a:ext>
            </a:extLst>
          </p:cNvPr>
          <p:cNvSpPr txBox="1"/>
          <p:nvPr/>
        </p:nvSpPr>
        <p:spPr>
          <a:xfrm>
            <a:off x="6808596" y="3957218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EF7551D-8133-1F43-AE4E-F03359D57985}"/>
              </a:ext>
            </a:extLst>
          </p:cNvPr>
          <p:cNvSpPr txBox="1"/>
          <p:nvPr/>
        </p:nvSpPr>
        <p:spPr>
          <a:xfrm>
            <a:off x="5742804" y="3925825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EECDA4B-42EF-B64E-B7A6-C7516E74D336}"/>
              </a:ext>
            </a:extLst>
          </p:cNvPr>
          <p:cNvSpPr txBox="1"/>
          <p:nvPr/>
        </p:nvSpPr>
        <p:spPr>
          <a:xfrm>
            <a:off x="5473371" y="4560858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2&gt;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7BC52A7-43FA-5C4F-9DD2-C9FCE41F5C3D}"/>
              </a:ext>
            </a:extLst>
          </p:cNvPr>
          <p:cNvCxnSpPr>
            <a:cxnSpLocks/>
          </p:cNvCxnSpPr>
          <p:nvPr/>
        </p:nvCxnSpPr>
        <p:spPr>
          <a:xfrm flipH="1">
            <a:off x="6040850" y="4290214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F8403D4-24A4-564F-98BD-61348436B384}"/>
              </a:ext>
            </a:extLst>
          </p:cNvPr>
          <p:cNvSpPr txBox="1"/>
          <p:nvPr/>
        </p:nvSpPr>
        <p:spPr>
          <a:xfrm>
            <a:off x="7794903" y="4000240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3&gt;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AEE8E6-FEF1-594E-9766-D26C66616B2C}"/>
              </a:ext>
            </a:extLst>
          </p:cNvPr>
          <p:cNvSpPr txBox="1"/>
          <p:nvPr/>
        </p:nvSpPr>
        <p:spPr>
          <a:xfrm>
            <a:off x="1099379" y="1895651"/>
            <a:ext cx="13063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Benefits?</a:t>
            </a:r>
          </a:p>
          <a:p>
            <a:r>
              <a:rPr lang="en-US" dirty="0"/>
              <a:t>Drawbacks?</a:t>
            </a:r>
          </a:p>
        </p:txBody>
      </p:sp>
      <p:graphicFrame>
        <p:nvGraphicFramePr>
          <p:cNvPr id="23" name="Table 5">
            <a:extLst>
              <a:ext uri="{FF2B5EF4-FFF2-40B4-BE49-F238E27FC236}">
                <a16:creationId xmlns:a16="http://schemas.microsoft.com/office/drawing/2014/main" id="{9DA52E6B-661B-164E-BA68-BECD4E7F2A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6502978"/>
              </p:ext>
            </p:extLst>
          </p:nvPr>
        </p:nvGraphicFramePr>
        <p:xfrm>
          <a:off x="445824" y="3393277"/>
          <a:ext cx="4480008" cy="11476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43519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1186775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2049714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expr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expr PLUS NUM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NUM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6394986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4A8C7-5939-4547-A4F8-5A4782C5D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Should you have associativity when its not required?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81C384-93DB-0D44-BE61-8197A0709109}"/>
              </a:ext>
            </a:extLst>
          </p:cNvPr>
          <p:cNvSpPr txBox="1"/>
          <p:nvPr/>
        </p:nvSpPr>
        <p:spPr>
          <a:xfrm>
            <a:off x="7292446" y="1559173"/>
            <a:ext cx="3147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2</a:t>
            </a:r>
            <a:r>
              <a:rPr lang="en-US" sz="3200" dirty="0">
                <a:highlight>
                  <a:srgbClr val="FFFF00"/>
                </a:highlight>
                <a:latin typeface="Courier" pitchFamily="2" charset="0"/>
              </a:rPr>
              <a:t>+</a:t>
            </a:r>
            <a:r>
              <a:rPr lang="en-US" sz="3200" dirty="0">
                <a:latin typeface="Courier" pitchFamily="2" charset="0"/>
              </a:rPr>
              <a:t>3</a:t>
            </a:r>
            <a:r>
              <a:rPr lang="en-US" sz="3200" dirty="0">
                <a:highlight>
                  <a:srgbClr val="FFFF00"/>
                </a:highlight>
                <a:latin typeface="Courier" pitchFamily="2" charset="0"/>
              </a:rPr>
              <a:t>+</a:t>
            </a:r>
            <a:r>
              <a:rPr lang="en-US" sz="3200" dirty="0">
                <a:latin typeface="Courier" pitchFamily="2" charset="0"/>
              </a:rPr>
              <a:t>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5E929B-64E8-044A-85BA-E2A05762BEDE}"/>
              </a:ext>
            </a:extLst>
          </p:cNvPr>
          <p:cNvSpPr txBox="1"/>
          <p:nvPr/>
        </p:nvSpPr>
        <p:spPr>
          <a:xfrm>
            <a:off x="8635402" y="218195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B787D9A-3D52-DD40-A88E-B12C480A13B4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 flipH="1">
            <a:off x="7299498" y="2551289"/>
            <a:ext cx="1634896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BD8CC90-1189-CC47-92C0-7050C009DE16}"/>
              </a:ext>
            </a:extLst>
          </p:cNvPr>
          <p:cNvSpPr txBox="1"/>
          <p:nvPr/>
        </p:nvSpPr>
        <p:spPr>
          <a:xfrm>
            <a:off x="7000506" y="3087933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E18E5FE-9410-684A-A4C9-EA5A61D0939B}"/>
              </a:ext>
            </a:extLst>
          </p:cNvPr>
          <p:cNvCxnSpPr>
            <a:cxnSpLocks/>
            <a:stCxn id="5" idx="2"/>
            <a:endCxn id="11" idx="0"/>
          </p:cNvCxnSpPr>
          <p:nvPr/>
        </p:nvCxnSpPr>
        <p:spPr>
          <a:xfrm flipH="1">
            <a:off x="8932730" y="2551289"/>
            <a:ext cx="1664" cy="54865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D86E168-28F6-9840-A978-1FFC7CEF67EE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8934394" y="2551289"/>
            <a:ext cx="1057341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8CB2006-86DA-624E-819E-67C30BAE27FC}"/>
              </a:ext>
            </a:extLst>
          </p:cNvPr>
          <p:cNvSpPr txBox="1"/>
          <p:nvPr/>
        </p:nvSpPr>
        <p:spPr>
          <a:xfrm>
            <a:off x="8492609" y="3099942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A24D09-FBE6-4845-A29A-5750B5282A91}"/>
              </a:ext>
            </a:extLst>
          </p:cNvPr>
          <p:cNvSpPr txBox="1"/>
          <p:nvPr/>
        </p:nvSpPr>
        <p:spPr>
          <a:xfrm>
            <a:off x="9761070" y="3125942"/>
            <a:ext cx="10839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&lt;NUM,4&gt;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3312E04-ADA6-5342-81EB-6AA7F52872C4}"/>
              </a:ext>
            </a:extLst>
          </p:cNvPr>
          <p:cNvCxnSpPr>
            <a:cxnSpLocks/>
          </p:cNvCxnSpPr>
          <p:nvPr/>
        </p:nvCxnSpPr>
        <p:spPr>
          <a:xfrm flipH="1">
            <a:off x="6041796" y="3490116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0AB4960-E97C-E647-A144-AFE1E4ECFC6F}"/>
              </a:ext>
            </a:extLst>
          </p:cNvPr>
          <p:cNvCxnSpPr>
            <a:cxnSpLocks/>
          </p:cNvCxnSpPr>
          <p:nvPr/>
        </p:nvCxnSpPr>
        <p:spPr>
          <a:xfrm>
            <a:off x="7266169" y="3490116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55BDBE9-A62C-E845-95A7-824487D0EB14}"/>
              </a:ext>
            </a:extLst>
          </p:cNvPr>
          <p:cNvCxnSpPr>
            <a:cxnSpLocks/>
          </p:cNvCxnSpPr>
          <p:nvPr/>
        </p:nvCxnSpPr>
        <p:spPr>
          <a:xfrm>
            <a:off x="7266169" y="3490116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DB5867A5-145C-D648-9255-0FEE7ACAE57D}"/>
              </a:ext>
            </a:extLst>
          </p:cNvPr>
          <p:cNvSpPr txBox="1"/>
          <p:nvPr/>
        </p:nvSpPr>
        <p:spPr>
          <a:xfrm>
            <a:off x="6808596" y="3957218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EF7551D-8133-1F43-AE4E-F03359D57985}"/>
              </a:ext>
            </a:extLst>
          </p:cNvPr>
          <p:cNvSpPr txBox="1"/>
          <p:nvPr/>
        </p:nvSpPr>
        <p:spPr>
          <a:xfrm>
            <a:off x="5742804" y="3925825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EECDA4B-42EF-B64E-B7A6-C7516E74D336}"/>
              </a:ext>
            </a:extLst>
          </p:cNvPr>
          <p:cNvSpPr txBox="1"/>
          <p:nvPr/>
        </p:nvSpPr>
        <p:spPr>
          <a:xfrm>
            <a:off x="5473371" y="4560858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2&gt;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7BC52A7-43FA-5C4F-9DD2-C9FCE41F5C3D}"/>
              </a:ext>
            </a:extLst>
          </p:cNvPr>
          <p:cNvCxnSpPr>
            <a:cxnSpLocks/>
          </p:cNvCxnSpPr>
          <p:nvPr/>
        </p:nvCxnSpPr>
        <p:spPr>
          <a:xfrm flipH="1">
            <a:off x="6040850" y="4290214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F8403D4-24A4-564F-98BD-61348436B384}"/>
              </a:ext>
            </a:extLst>
          </p:cNvPr>
          <p:cNvSpPr txBox="1"/>
          <p:nvPr/>
        </p:nvSpPr>
        <p:spPr>
          <a:xfrm>
            <a:off x="7794903" y="3970243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3&gt;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AEE8E6-FEF1-594E-9766-D26C66616B2C}"/>
              </a:ext>
            </a:extLst>
          </p:cNvPr>
          <p:cNvSpPr txBox="1"/>
          <p:nvPr/>
        </p:nvSpPr>
        <p:spPr>
          <a:xfrm>
            <a:off x="1099379" y="1895651"/>
            <a:ext cx="13063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Benefits?</a:t>
            </a:r>
          </a:p>
          <a:p>
            <a:r>
              <a:rPr lang="en-US" dirty="0"/>
              <a:t>Drawbacks?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F31E3A-C392-804E-A1BF-B26FC278E44E}"/>
              </a:ext>
            </a:extLst>
          </p:cNvPr>
          <p:cNvSpPr txBox="1"/>
          <p:nvPr/>
        </p:nvSpPr>
        <p:spPr>
          <a:xfrm>
            <a:off x="379563" y="4971616"/>
            <a:ext cx="5175519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Good design principle to avoid ambiguous grammars,</a:t>
            </a:r>
          </a:p>
          <a:p>
            <a:r>
              <a:rPr lang="en-US" dirty="0"/>
              <a:t>even when strictly not required too.</a:t>
            </a:r>
          </a:p>
          <a:p>
            <a:endParaRPr lang="en-US" dirty="0"/>
          </a:p>
          <a:p>
            <a:r>
              <a:rPr lang="en-US" dirty="0"/>
              <a:t>Helps with debugging, etc. etc. </a:t>
            </a:r>
          </a:p>
          <a:p>
            <a:endParaRPr lang="en-US" dirty="0"/>
          </a:p>
          <a:p>
            <a:r>
              <a:rPr lang="en-US" dirty="0"/>
              <a:t>Many tools will warn if it detects ambiguity</a:t>
            </a:r>
          </a:p>
        </p:txBody>
      </p:sp>
      <p:graphicFrame>
        <p:nvGraphicFramePr>
          <p:cNvPr id="22" name="Table 5">
            <a:extLst>
              <a:ext uri="{FF2B5EF4-FFF2-40B4-BE49-F238E27FC236}">
                <a16:creationId xmlns:a16="http://schemas.microsoft.com/office/drawing/2014/main" id="{0ACC2E9F-E6A1-1B42-B98A-B0BF4EB535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9317087"/>
              </p:ext>
            </p:extLst>
          </p:nvPr>
        </p:nvGraphicFramePr>
        <p:xfrm>
          <a:off x="445824" y="3393277"/>
          <a:ext cx="4480008" cy="11476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43519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1186775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2049714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expr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expr PLUS NUM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NUM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3591641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D7F5C-D52B-FA56-39C5-6D3B0923D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8683B7-4FDD-067A-8B10-849538D0F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1870"/>
            <a:ext cx="10515600" cy="1325563"/>
          </a:xfrm>
        </p:spPr>
        <p:txBody>
          <a:bodyPr/>
          <a:lstStyle/>
          <a:p>
            <a:r>
              <a:rPr lang="en-US" dirty="0"/>
              <a:t>Let’s make a richer expression grammar</a:t>
            </a: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FEF283D2-140C-125B-5885-9DFA9AFBAE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3537453"/>
              </p:ext>
            </p:extLst>
          </p:nvPr>
        </p:nvGraphicFramePr>
        <p:xfrm>
          <a:off x="661060" y="1416197"/>
          <a:ext cx="4970245" cy="286923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28944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1050729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2290572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latin typeface="Courier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latin typeface="Courier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latin typeface="Courier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latin typeface="Courier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6889359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latin typeface="Courier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latin typeface="Courier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670653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latin typeface="Courier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latin typeface="Courier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1644708"/>
                  </a:ext>
                </a:extLst>
              </a:tr>
            </a:tbl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661E5546-89FE-3707-DDD4-4DCFE8F71AA2}"/>
              </a:ext>
            </a:extLst>
          </p:cNvPr>
          <p:cNvSpPr/>
          <p:nvPr/>
        </p:nvSpPr>
        <p:spPr>
          <a:xfrm>
            <a:off x="6337258" y="2770214"/>
            <a:ext cx="3025628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Courier" pitchFamily="2" charset="0"/>
              </a:rPr>
              <a:t>Tokens:</a:t>
            </a:r>
          </a:p>
          <a:p>
            <a:pPr lvl="1"/>
            <a:r>
              <a:rPr lang="en-US" dirty="0">
                <a:latin typeface="Courier" pitchFamily="2" charset="0"/>
              </a:rPr>
              <a:t>NUM    = “[0-9]+”</a:t>
            </a:r>
          </a:p>
          <a:p>
            <a:pPr lvl="1"/>
            <a:r>
              <a:rPr lang="en-US" dirty="0">
                <a:latin typeface="Courier" pitchFamily="2" charset="0"/>
              </a:rPr>
              <a:t>PLUS   = ‘\+’</a:t>
            </a:r>
          </a:p>
          <a:p>
            <a:pPr lvl="1"/>
            <a:r>
              <a:rPr lang="en-US" dirty="0">
                <a:latin typeface="Courier" pitchFamily="2" charset="0"/>
              </a:rPr>
              <a:t>TIMES  = ’\*’</a:t>
            </a:r>
          </a:p>
          <a:p>
            <a:pPr lvl="1"/>
            <a:r>
              <a:rPr lang="en-US" dirty="0">
                <a:latin typeface="Courier" pitchFamily="2" charset="0"/>
              </a:rPr>
              <a:t>LP     = ‘\(’</a:t>
            </a:r>
          </a:p>
          <a:p>
            <a:pPr lvl="1"/>
            <a:r>
              <a:rPr lang="en-US" dirty="0">
                <a:latin typeface="Courier" pitchFamily="2" charset="0"/>
              </a:rPr>
              <a:t>RP     = \)’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MINUS  = ‘-’</a:t>
            </a:r>
          </a:p>
          <a:p>
            <a:pPr lvl="1"/>
            <a:r>
              <a:rPr lang="en-US" dirty="0">
                <a:latin typeface="Courier" pitchFamily="2" charset="0"/>
              </a:rPr>
              <a:t>DIV    = ‘/’</a:t>
            </a:r>
          </a:p>
          <a:p>
            <a:pPr lvl="1"/>
            <a:r>
              <a:rPr lang="en-US" dirty="0">
                <a:latin typeface="Courier" pitchFamily="2" charset="0"/>
              </a:rPr>
              <a:t>CARROT =’ \^’</a:t>
            </a:r>
          </a:p>
          <a:p>
            <a:endParaRPr lang="en-US" dirty="0">
              <a:latin typeface="Courier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DD50F5-B700-DFD9-EB52-D1FB640799F3}"/>
              </a:ext>
            </a:extLst>
          </p:cNvPr>
          <p:cNvSpPr txBox="1"/>
          <p:nvPr/>
        </p:nvSpPr>
        <p:spPr>
          <a:xfrm>
            <a:off x="6337258" y="1914100"/>
            <a:ext cx="45524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 dirty="0"/>
              <a:t>Let’s do operators </a:t>
            </a:r>
            <a:r>
              <a:rPr lang="en-US" sz="2000" i="1" dirty="0">
                <a:latin typeface="Courier" pitchFamily="2" charset="0"/>
              </a:rPr>
              <a:t>[</a:t>
            </a:r>
            <a:r>
              <a:rPr lang="en-US" sz="2000" b="1" i="1" dirty="0">
                <a:latin typeface="Courier" pitchFamily="2" charset="0"/>
              </a:rPr>
              <a:t>+,*,-,/,^</a:t>
            </a:r>
            <a:r>
              <a:rPr lang="en-US" sz="2000" i="1" dirty="0">
                <a:latin typeface="Courier" pitchFamily="2" charset="0"/>
              </a:rPr>
              <a:t>]</a:t>
            </a:r>
            <a:r>
              <a:rPr lang="en-US" sz="2000" i="1" dirty="0"/>
              <a:t> and</a:t>
            </a:r>
            <a:r>
              <a:rPr lang="en-US" sz="2000" b="1" i="1" dirty="0">
                <a:latin typeface="Courier" pitchFamily="2" charset="0"/>
              </a:rPr>
              <a:t>()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115341-5B23-5605-3B7D-08302F9FC72F}"/>
              </a:ext>
            </a:extLst>
          </p:cNvPr>
          <p:cNvSpPr txBox="1"/>
          <p:nvPr/>
        </p:nvSpPr>
        <p:spPr>
          <a:xfrm>
            <a:off x="617866" y="5185169"/>
            <a:ext cx="50566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Note the recursion from pow makes raising to a </a:t>
            </a:r>
            <a:br>
              <a:rPr lang="en-US" b="1" dirty="0"/>
            </a:br>
            <a:r>
              <a:rPr lang="en-US" b="1" dirty="0"/>
              <a:t>power right to left associative, </a:t>
            </a:r>
          </a:p>
          <a:p>
            <a:r>
              <a:rPr lang="en-US" b="1" dirty="0"/>
              <a:t>As opposed to PLUS, MINUS, TIMES DIV</a:t>
            </a:r>
          </a:p>
          <a:p>
            <a:r>
              <a:rPr lang="en-US" b="1" dirty="0"/>
              <a:t>Which are left-to-right associative</a:t>
            </a:r>
            <a:r>
              <a:rPr lang="en-US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33C9A2-0D5B-2857-A0AB-3A0A9D716ED1}"/>
              </a:ext>
            </a:extLst>
          </p:cNvPr>
          <p:cNvSpPr txBox="1"/>
          <p:nvPr/>
        </p:nvSpPr>
        <p:spPr>
          <a:xfrm>
            <a:off x="9773587" y="2770214"/>
            <a:ext cx="191874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Assume Non-Term names:</a:t>
            </a:r>
          </a:p>
          <a:p>
            <a:r>
              <a:rPr lang="en-US" dirty="0"/>
              <a:t>    expr</a:t>
            </a:r>
          </a:p>
          <a:p>
            <a:r>
              <a:rPr lang="en-US" dirty="0"/>
              <a:t>    term</a:t>
            </a:r>
          </a:p>
          <a:p>
            <a:r>
              <a:rPr lang="en-US" dirty="0"/>
              <a:t>    pow</a:t>
            </a:r>
          </a:p>
          <a:p>
            <a:r>
              <a:rPr lang="en-US" dirty="0"/>
              <a:t>    factor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AF510C-D98D-A89A-2749-73FE6071B5F1}"/>
              </a:ext>
            </a:extLst>
          </p:cNvPr>
          <p:cNvSpPr txBox="1"/>
          <p:nvPr/>
        </p:nvSpPr>
        <p:spPr>
          <a:xfrm>
            <a:off x="5704352" y="5687321"/>
            <a:ext cx="56494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First consider precedence, then associativity</a:t>
            </a:r>
          </a:p>
        </p:txBody>
      </p:sp>
    </p:spTree>
    <p:extLst>
      <p:ext uri="{BB962C8B-B14F-4D97-AF65-F5344CB8AC3E}">
        <p14:creationId xmlns:p14="http://schemas.microsoft.com/office/powerpoint/2010/main" val="195674232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4C9BB1-A4F8-C449-73D4-94B63AFB3A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24F14F-49E3-EA83-1193-B87E75A4D0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1870"/>
            <a:ext cx="10515600" cy="1325563"/>
          </a:xfrm>
        </p:spPr>
        <p:txBody>
          <a:bodyPr/>
          <a:lstStyle/>
          <a:p>
            <a:r>
              <a:rPr lang="en-US" dirty="0"/>
              <a:t>Let’s make a richer expression grammar</a:t>
            </a: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80422B64-58E0-A985-2E73-E42FF0116549}"/>
              </a:ext>
            </a:extLst>
          </p:cNvPr>
          <p:cNvGraphicFramePr>
            <a:graphicFrameLocks noGrp="1"/>
          </p:cNvGraphicFramePr>
          <p:nvPr/>
        </p:nvGraphicFramePr>
        <p:xfrm>
          <a:off x="661060" y="1672831"/>
          <a:ext cx="4970245" cy="3184578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28944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1050729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2290572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+,-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expr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expr PLUS term</a:t>
                      </a:r>
                    </a:p>
                    <a:p>
                      <a:r>
                        <a:rPr lang="en-US" sz="1400" dirty="0">
                          <a:latin typeface="Courier" pitchFamily="2" charset="0"/>
                        </a:rPr>
                        <a:t>| expr MINUS term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term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*,/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term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term TIMES pow</a:t>
                      </a:r>
                    </a:p>
                    <a:p>
                      <a:r>
                        <a:rPr lang="en-US" sz="1400" dirty="0">
                          <a:latin typeface="Courier" pitchFamily="2" charset="0"/>
                        </a:rPr>
                        <a:t>| term DIV pow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pow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6889359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^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pow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factor CARROT pow</a:t>
                      </a:r>
                    </a:p>
                    <a:p>
                      <a:r>
                        <a:rPr lang="en-US" sz="1400" dirty="0">
                          <a:latin typeface="Courier" pitchFamily="2" charset="0"/>
                        </a:rPr>
                        <a:t>| factor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670653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factor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LPAR expr RPAR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NUM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1644708"/>
                  </a:ext>
                </a:extLst>
              </a:tr>
            </a:tbl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870E3264-23C0-AC64-6E7C-6FC6B1117084}"/>
              </a:ext>
            </a:extLst>
          </p:cNvPr>
          <p:cNvSpPr/>
          <p:nvPr/>
        </p:nvSpPr>
        <p:spPr>
          <a:xfrm>
            <a:off x="6337258" y="2770214"/>
            <a:ext cx="3025628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Courier" pitchFamily="2" charset="0"/>
              </a:rPr>
              <a:t>Tokens:</a:t>
            </a:r>
          </a:p>
          <a:p>
            <a:pPr lvl="1"/>
            <a:r>
              <a:rPr lang="en-US" dirty="0">
                <a:latin typeface="Courier" pitchFamily="2" charset="0"/>
              </a:rPr>
              <a:t>NUM    = “[0-9]+”</a:t>
            </a:r>
          </a:p>
          <a:p>
            <a:pPr lvl="1"/>
            <a:r>
              <a:rPr lang="en-US" dirty="0">
                <a:latin typeface="Courier" pitchFamily="2" charset="0"/>
              </a:rPr>
              <a:t>PLUS   = ‘\+’</a:t>
            </a:r>
          </a:p>
          <a:p>
            <a:pPr lvl="1"/>
            <a:r>
              <a:rPr lang="en-US" dirty="0">
                <a:latin typeface="Courier" pitchFamily="2" charset="0"/>
              </a:rPr>
              <a:t>TIMES  = ’\*’</a:t>
            </a:r>
          </a:p>
          <a:p>
            <a:pPr lvl="1"/>
            <a:r>
              <a:rPr lang="en-US" dirty="0">
                <a:latin typeface="Courier" pitchFamily="2" charset="0"/>
              </a:rPr>
              <a:t>LP     = ‘\(’</a:t>
            </a:r>
          </a:p>
          <a:p>
            <a:pPr lvl="1"/>
            <a:r>
              <a:rPr lang="en-US" dirty="0">
                <a:latin typeface="Courier" pitchFamily="2" charset="0"/>
              </a:rPr>
              <a:t>RP     = \)’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MINUS  = ‘-’</a:t>
            </a:r>
          </a:p>
          <a:p>
            <a:pPr lvl="1"/>
            <a:r>
              <a:rPr lang="en-US" dirty="0">
                <a:latin typeface="Courier" pitchFamily="2" charset="0"/>
              </a:rPr>
              <a:t>DIV    = ‘/’</a:t>
            </a:r>
          </a:p>
          <a:p>
            <a:pPr lvl="1"/>
            <a:r>
              <a:rPr lang="en-US" dirty="0">
                <a:latin typeface="Courier" pitchFamily="2" charset="0"/>
              </a:rPr>
              <a:t>CARROT =’ \^’</a:t>
            </a:r>
          </a:p>
          <a:p>
            <a:endParaRPr lang="en-US" dirty="0">
              <a:latin typeface="Courier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1A8646-2CF9-10BB-CF30-ECF5D9182338}"/>
              </a:ext>
            </a:extLst>
          </p:cNvPr>
          <p:cNvSpPr txBox="1"/>
          <p:nvPr/>
        </p:nvSpPr>
        <p:spPr>
          <a:xfrm>
            <a:off x="6337258" y="1914100"/>
            <a:ext cx="45524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 dirty="0"/>
              <a:t>Let’s do operators </a:t>
            </a:r>
            <a:r>
              <a:rPr lang="en-US" sz="2000" i="1" dirty="0">
                <a:latin typeface="Courier" pitchFamily="2" charset="0"/>
              </a:rPr>
              <a:t>[+,*,-,/,^]</a:t>
            </a:r>
            <a:r>
              <a:rPr lang="en-US" sz="2000" i="1" dirty="0"/>
              <a:t> and</a:t>
            </a:r>
            <a:r>
              <a:rPr lang="en-US" sz="2000" i="1" dirty="0">
                <a:latin typeface="Courier" pitchFamily="2" charset="0"/>
              </a:rPr>
              <a:t>()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AC2796-78A8-5037-0E10-C293E002EBEC}"/>
              </a:ext>
            </a:extLst>
          </p:cNvPr>
          <p:cNvSpPr txBox="1"/>
          <p:nvPr/>
        </p:nvSpPr>
        <p:spPr>
          <a:xfrm>
            <a:off x="617866" y="5185169"/>
            <a:ext cx="50566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Note the recursion from pow makes raising to a </a:t>
            </a:r>
            <a:br>
              <a:rPr lang="en-US" b="1" dirty="0"/>
            </a:br>
            <a:r>
              <a:rPr lang="en-US" b="1" dirty="0"/>
              <a:t>power right to left associative, </a:t>
            </a:r>
          </a:p>
          <a:p>
            <a:r>
              <a:rPr lang="en-US" b="1" dirty="0"/>
              <a:t>As opposed to PLUS, MINUS, TIMES DIV</a:t>
            </a:r>
          </a:p>
          <a:p>
            <a:r>
              <a:rPr lang="en-US" b="1" dirty="0"/>
              <a:t>Which are left-to-right associative</a:t>
            </a:r>
            <a:r>
              <a:rPr lang="en-US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708AFC-0B36-5352-6D0D-FF9C5D74A554}"/>
              </a:ext>
            </a:extLst>
          </p:cNvPr>
          <p:cNvSpPr txBox="1"/>
          <p:nvPr/>
        </p:nvSpPr>
        <p:spPr>
          <a:xfrm>
            <a:off x="9773587" y="2770214"/>
            <a:ext cx="191874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Assume Non-Term names:</a:t>
            </a:r>
          </a:p>
          <a:p>
            <a:r>
              <a:rPr lang="en-US" dirty="0"/>
              <a:t>    expr</a:t>
            </a:r>
          </a:p>
          <a:p>
            <a:r>
              <a:rPr lang="en-US" dirty="0"/>
              <a:t>    term</a:t>
            </a:r>
          </a:p>
          <a:p>
            <a:r>
              <a:rPr lang="en-US" dirty="0"/>
              <a:t>    pow</a:t>
            </a:r>
          </a:p>
          <a:p>
            <a:r>
              <a:rPr lang="en-US" dirty="0"/>
              <a:t>    factor</a:t>
            </a:r>
          </a:p>
        </p:txBody>
      </p:sp>
    </p:spTree>
    <p:extLst>
      <p:ext uri="{BB962C8B-B14F-4D97-AF65-F5344CB8AC3E}">
        <p14:creationId xmlns:p14="http://schemas.microsoft.com/office/powerpoint/2010/main" val="149840045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AFD426-5B98-3043-B47A-01716CED50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</a:t>
            </a:r>
            <a:r>
              <a:rPr lang="en-US" dirty="0" err="1"/>
              <a:t>associativities</a:t>
            </a:r>
            <a:r>
              <a:rPr lang="en-US" dirty="0"/>
              <a:t> does C have?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E33CE1-4AA0-044C-8498-42909888CC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</a:t>
            </a:r>
            <a:r>
              <a:rPr lang="en-US" dirty="0" err="1">
                <a:hlinkClick r:id="rId2"/>
              </a:rPr>
              <a:t>en.cppreference.com</a:t>
            </a:r>
            <a:r>
              <a:rPr lang="en-US" dirty="0">
                <a:hlinkClick r:id="rId2"/>
              </a:rPr>
              <a:t>/w/c/language/</a:t>
            </a:r>
            <a:r>
              <a:rPr lang="en-US" dirty="0" err="1">
                <a:hlinkClick r:id="rId2"/>
              </a:rPr>
              <a:t>operator_precedence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969799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2CCD-B8BC-B843-B90E-FF764E69C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topic: algorithms for syntactic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06CE13-5E20-3C4F-97D5-4A2A43A558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423708"/>
          </a:xfrm>
        </p:spPr>
        <p:txBody>
          <a:bodyPr>
            <a:normAutofit/>
          </a:bodyPr>
          <a:lstStyle/>
          <a:p>
            <a:r>
              <a:rPr lang="en-US" dirty="0"/>
              <a:t>Top down parsing</a:t>
            </a:r>
          </a:p>
          <a:p>
            <a:pPr lvl="1"/>
            <a:r>
              <a:rPr lang="en-US" dirty="0"/>
              <a:t>oracle parsing</a:t>
            </a:r>
          </a:p>
          <a:p>
            <a:pPr lvl="1"/>
            <a:r>
              <a:rPr lang="en-US" dirty="0"/>
              <a:t>removing left recursion</a:t>
            </a:r>
          </a:p>
          <a:p>
            <a:pPr lvl="1"/>
            <a:r>
              <a:rPr lang="en-US" dirty="0"/>
              <a:t>constructing lookahead sets</a:t>
            </a:r>
          </a:p>
        </p:txBody>
      </p:sp>
    </p:spTree>
    <p:extLst>
      <p:ext uri="{BB962C8B-B14F-4D97-AF65-F5344CB8AC3E}">
        <p14:creationId xmlns:p14="http://schemas.microsoft.com/office/powerpoint/2010/main" val="25240483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35517</TotalTime>
  <Words>3649</Words>
  <Application>Microsoft Office PowerPoint</Application>
  <PresentationFormat>Widescreen</PresentationFormat>
  <Paragraphs>1068</Paragraphs>
  <Slides>75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81" baseType="lpstr">
      <vt:lpstr>Arial</vt:lpstr>
      <vt:lpstr>Calibri</vt:lpstr>
      <vt:lpstr>Calibri Light</vt:lpstr>
      <vt:lpstr>Courier</vt:lpstr>
      <vt:lpstr>Menlo</vt:lpstr>
      <vt:lpstr>Office Theme</vt:lpstr>
      <vt:lpstr>CSE110A: Compilers</vt:lpstr>
      <vt:lpstr>Ambiguous grammars</vt:lpstr>
      <vt:lpstr>Ambiguous grammars</vt:lpstr>
      <vt:lpstr>Ambiguous grammars</vt:lpstr>
      <vt:lpstr>Ambiguous grammars</vt:lpstr>
      <vt:lpstr>Ambiguous grammars</vt:lpstr>
      <vt:lpstr>Ambiguous grammars</vt:lpstr>
      <vt:lpstr>Meaning into structure</vt:lpstr>
      <vt:lpstr>Post order traversal</vt:lpstr>
      <vt:lpstr>Post order traversal</vt:lpstr>
      <vt:lpstr>Ambiguous grammars</vt:lpstr>
      <vt:lpstr>Programming language structure</vt:lpstr>
      <vt:lpstr>Programming language structure</vt:lpstr>
      <vt:lpstr>Programming language structure</vt:lpstr>
      <vt:lpstr>Ambiguous expressions</vt:lpstr>
      <vt:lpstr>Parse trees examples</vt:lpstr>
      <vt:lpstr>Parse trees examples</vt:lpstr>
      <vt:lpstr>Parse trees examples</vt:lpstr>
      <vt:lpstr>Parse trees examples</vt:lpstr>
      <vt:lpstr>Parse trees examples</vt:lpstr>
      <vt:lpstr>Parse trees examples</vt:lpstr>
      <vt:lpstr>Parse trees examples</vt:lpstr>
      <vt:lpstr>Parse trees examples</vt:lpstr>
      <vt:lpstr>Parse trees examples</vt:lpstr>
      <vt:lpstr>Parse trees examples</vt:lpstr>
      <vt:lpstr>Parse trees examples</vt:lpstr>
      <vt:lpstr>Parse trees examples</vt:lpstr>
      <vt:lpstr>Parse trees examples</vt:lpstr>
      <vt:lpstr>Parse trees examples</vt:lpstr>
      <vt:lpstr>Parse trees examples</vt:lpstr>
      <vt:lpstr>Parse trees examples</vt:lpstr>
      <vt:lpstr>Parse trees examples</vt:lpstr>
      <vt:lpstr>Parse trees</vt:lpstr>
      <vt:lpstr>Parse trees</vt:lpstr>
      <vt:lpstr>PowerPoint Presentation</vt:lpstr>
      <vt:lpstr>Ambiguous Grammars</vt:lpstr>
      <vt:lpstr>Avoiding Ambiguity</vt:lpstr>
      <vt:lpstr>Avoiding Ambiguity</vt:lpstr>
      <vt:lpstr>Avoiding Ambiguity</vt:lpstr>
      <vt:lpstr>Now lets create a parse tree</vt:lpstr>
      <vt:lpstr>Now lets create a parse tree</vt:lpstr>
      <vt:lpstr>Now lets create a parse tree</vt:lpstr>
      <vt:lpstr>Now lets create a parse tree</vt:lpstr>
      <vt:lpstr>Now lets create a parse tree</vt:lpstr>
      <vt:lpstr>Now lets create a parse tree</vt:lpstr>
      <vt:lpstr>Now lets create a parse tree</vt:lpstr>
      <vt:lpstr>Parsing Regular Expressions (and considering precedence)</vt:lpstr>
      <vt:lpstr>Parsing Regular Expressions (and considering precedence)</vt:lpstr>
      <vt:lpstr>Parsing Regular Expressions (and considering precedence)</vt:lpstr>
      <vt:lpstr>Parsing Regular Expressions (and considering precedence)</vt:lpstr>
      <vt:lpstr>Parsing Regular Expressions (and considering precedence)</vt:lpstr>
      <vt:lpstr>How many levels of precedence does C have?</vt:lpstr>
      <vt:lpstr>Have we removed all ambiguity? </vt:lpstr>
      <vt:lpstr>Let’s make some more parse trees</vt:lpstr>
      <vt:lpstr>Let’s make some more parse trees</vt:lpstr>
      <vt:lpstr>This is ambiguous, is it an issue?</vt:lpstr>
      <vt:lpstr>What about for a different operator?</vt:lpstr>
      <vt:lpstr>What about for a different operator?</vt:lpstr>
      <vt:lpstr>Associativity</vt:lpstr>
      <vt:lpstr>Associativity</vt:lpstr>
      <vt:lpstr>Associativity</vt:lpstr>
      <vt:lpstr>Associativity</vt:lpstr>
      <vt:lpstr>How to encode associativity?</vt:lpstr>
      <vt:lpstr>Ambiguous associativity for a single operator</vt:lpstr>
      <vt:lpstr>Associativity for a single operator</vt:lpstr>
      <vt:lpstr>Associativity for a single operator</vt:lpstr>
      <vt:lpstr>Associativity for a single operator</vt:lpstr>
      <vt:lpstr>Associativity for a single operator</vt:lpstr>
      <vt:lpstr>Associativity for a single operator</vt:lpstr>
      <vt:lpstr>Should you have associativity when its not required?</vt:lpstr>
      <vt:lpstr>Should you have associativity when its not required?</vt:lpstr>
      <vt:lpstr>Let’s make a richer expression grammar</vt:lpstr>
      <vt:lpstr>Let’s make a richer expression grammar</vt:lpstr>
      <vt:lpstr>What associativities does C have?</vt:lpstr>
      <vt:lpstr>Next topic: algorithms for syntactic analysis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Tyler Sorensen</dc:creator>
  <cp:lastModifiedBy>Marcelo Siero</cp:lastModifiedBy>
  <cp:revision>511</cp:revision>
  <dcterms:created xsi:type="dcterms:W3CDTF">2021-03-23T23:59:42Z</dcterms:created>
  <dcterms:modified xsi:type="dcterms:W3CDTF">2026-01-29T13:13:40Z</dcterms:modified>
</cp:coreProperties>
</file>