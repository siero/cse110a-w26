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1039" r:id="rId3"/>
    <p:sldId id="1150" r:id="rId4"/>
    <p:sldId id="1149" r:id="rId5"/>
    <p:sldId id="1151" r:id="rId6"/>
    <p:sldId id="1152" r:id="rId7"/>
    <p:sldId id="1153" r:id="rId8"/>
    <p:sldId id="1128" r:id="rId9"/>
    <p:sldId id="1098" r:id="rId10"/>
    <p:sldId id="1129" r:id="rId11"/>
    <p:sldId id="1130" r:id="rId12"/>
    <p:sldId id="1154" r:id="rId13"/>
    <p:sldId id="1155" r:id="rId14"/>
    <p:sldId id="1172" r:id="rId15"/>
    <p:sldId id="1177" r:id="rId16"/>
    <p:sldId id="1246" r:id="rId17"/>
    <p:sldId id="1179" r:id="rId18"/>
    <p:sldId id="1247" r:id="rId19"/>
    <p:sldId id="1181" r:id="rId20"/>
    <p:sldId id="1248" r:id="rId21"/>
    <p:sldId id="1183" r:id="rId22"/>
    <p:sldId id="1249" r:id="rId23"/>
    <p:sldId id="1173" r:id="rId24"/>
    <p:sldId id="1250" r:id="rId25"/>
    <p:sldId id="1187" r:id="rId26"/>
    <p:sldId id="1188" r:id="rId27"/>
    <p:sldId id="1251" r:id="rId28"/>
    <p:sldId id="1191" r:id="rId29"/>
    <p:sldId id="1190" r:id="rId30"/>
    <p:sldId id="1192" r:id="rId31"/>
    <p:sldId id="1193" r:id="rId32"/>
    <p:sldId id="1174" r:id="rId33"/>
    <p:sldId id="1195" r:id="rId34"/>
    <p:sldId id="1196" r:id="rId35"/>
    <p:sldId id="1197" r:id="rId36"/>
    <p:sldId id="1198" r:id="rId37"/>
    <p:sldId id="1199" r:id="rId38"/>
    <p:sldId id="1200" r:id="rId39"/>
    <p:sldId id="1202" r:id="rId40"/>
    <p:sldId id="1176" r:id="rId41"/>
    <p:sldId id="1201" r:id="rId42"/>
    <p:sldId id="1203"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44" d="100"/>
          <a:sy n="44" d="100"/>
        </p:scale>
        <p:origin x="1376" y="2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A2633-5DAA-8CE9-5DC7-810F66D53F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B091DC-9255-08E6-97EE-D5489DDF6B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E506CF-5850-63B9-F569-2D172D6BCD98}"/>
              </a:ext>
            </a:extLst>
          </p:cNvPr>
          <p:cNvSpPr>
            <a:spLocks noGrp="1"/>
          </p:cNvSpPr>
          <p:nvPr>
            <p:ph type="dt" sz="half" idx="10"/>
          </p:nvPr>
        </p:nvSpPr>
        <p:spPr/>
        <p:txBody>
          <a:bodyPr/>
          <a:lstStyle/>
          <a:p>
            <a:fld id="{ACA0F802-4617-4A03-A502-179DA21AA099}" type="datetimeFigureOut">
              <a:rPr lang="en-US" smtClean="0"/>
              <a:t>5/6/2025</a:t>
            </a:fld>
            <a:endParaRPr lang="en-US"/>
          </a:p>
        </p:txBody>
      </p:sp>
      <p:sp>
        <p:nvSpPr>
          <p:cNvPr id="5" name="Footer Placeholder 4">
            <a:extLst>
              <a:ext uri="{FF2B5EF4-FFF2-40B4-BE49-F238E27FC236}">
                <a16:creationId xmlns:a16="http://schemas.microsoft.com/office/drawing/2014/main" id="{0EF8ED65-FB5B-7B88-71B1-AD6E62A3E1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8FACF7-97EC-F6FD-82BF-4B12EB0F3B61}"/>
              </a:ext>
            </a:extLst>
          </p:cNvPr>
          <p:cNvSpPr>
            <a:spLocks noGrp="1"/>
          </p:cNvSpPr>
          <p:nvPr>
            <p:ph type="sldNum" sz="quarter" idx="12"/>
          </p:nvPr>
        </p:nvSpPr>
        <p:spPr/>
        <p:txBody>
          <a:bodyPr/>
          <a:lstStyle/>
          <a:p>
            <a:fld id="{AA9C8743-D235-455E-8682-359CF06B3DF8}" type="slidenum">
              <a:rPr lang="en-US" smtClean="0"/>
              <a:t>‹#›</a:t>
            </a:fld>
            <a:endParaRPr lang="en-US"/>
          </a:p>
        </p:txBody>
      </p:sp>
    </p:spTree>
    <p:extLst>
      <p:ext uri="{BB962C8B-B14F-4D97-AF65-F5344CB8AC3E}">
        <p14:creationId xmlns:p14="http://schemas.microsoft.com/office/powerpoint/2010/main" val="1807213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DFD3E-C360-D0DB-9A33-5F0F24FD94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F7779C-D42B-C31B-E5EF-F0F08D3665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F4E10C-6FEB-3994-F207-E64445438044}"/>
              </a:ext>
            </a:extLst>
          </p:cNvPr>
          <p:cNvSpPr>
            <a:spLocks noGrp="1"/>
          </p:cNvSpPr>
          <p:nvPr>
            <p:ph type="dt" sz="half" idx="10"/>
          </p:nvPr>
        </p:nvSpPr>
        <p:spPr/>
        <p:txBody>
          <a:bodyPr/>
          <a:lstStyle/>
          <a:p>
            <a:fld id="{ACA0F802-4617-4A03-A502-179DA21AA099}" type="datetimeFigureOut">
              <a:rPr lang="en-US" smtClean="0"/>
              <a:t>5/6/2025</a:t>
            </a:fld>
            <a:endParaRPr lang="en-US"/>
          </a:p>
        </p:txBody>
      </p:sp>
      <p:sp>
        <p:nvSpPr>
          <p:cNvPr id="5" name="Footer Placeholder 4">
            <a:extLst>
              <a:ext uri="{FF2B5EF4-FFF2-40B4-BE49-F238E27FC236}">
                <a16:creationId xmlns:a16="http://schemas.microsoft.com/office/drawing/2014/main" id="{DA902360-EC8D-1499-2551-1190BE6665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B69EFA-5C9D-8E53-4A30-1EBF01012B3C}"/>
              </a:ext>
            </a:extLst>
          </p:cNvPr>
          <p:cNvSpPr>
            <a:spLocks noGrp="1"/>
          </p:cNvSpPr>
          <p:nvPr>
            <p:ph type="sldNum" sz="quarter" idx="12"/>
          </p:nvPr>
        </p:nvSpPr>
        <p:spPr/>
        <p:txBody>
          <a:bodyPr/>
          <a:lstStyle/>
          <a:p>
            <a:fld id="{AA9C8743-D235-455E-8682-359CF06B3DF8}" type="slidenum">
              <a:rPr lang="en-US" smtClean="0"/>
              <a:t>‹#›</a:t>
            </a:fld>
            <a:endParaRPr lang="en-US"/>
          </a:p>
        </p:txBody>
      </p:sp>
    </p:spTree>
    <p:extLst>
      <p:ext uri="{BB962C8B-B14F-4D97-AF65-F5344CB8AC3E}">
        <p14:creationId xmlns:p14="http://schemas.microsoft.com/office/powerpoint/2010/main" val="2689244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7ED1F-D6F1-5619-695E-43A77C1C11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45B918-9B78-FDB9-ADCB-79B8CFBA9D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40EAAC-2D9C-2867-14A1-3BA0EEB61048}"/>
              </a:ext>
            </a:extLst>
          </p:cNvPr>
          <p:cNvSpPr>
            <a:spLocks noGrp="1"/>
          </p:cNvSpPr>
          <p:nvPr>
            <p:ph type="dt" sz="half" idx="10"/>
          </p:nvPr>
        </p:nvSpPr>
        <p:spPr/>
        <p:txBody>
          <a:bodyPr/>
          <a:lstStyle/>
          <a:p>
            <a:fld id="{ACA0F802-4617-4A03-A502-179DA21AA099}" type="datetimeFigureOut">
              <a:rPr lang="en-US" smtClean="0"/>
              <a:t>5/6/2025</a:t>
            </a:fld>
            <a:endParaRPr lang="en-US"/>
          </a:p>
        </p:txBody>
      </p:sp>
      <p:sp>
        <p:nvSpPr>
          <p:cNvPr id="5" name="Footer Placeholder 4">
            <a:extLst>
              <a:ext uri="{FF2B5EF4-FFF2-40B4-BE49-F238E27FC236}">
                <a16:creationId xmlns:a16="http://schemas.microsoft.com/office/drawing/2014/main" id="{0D0A9AC6-951C-0282-C1DF-22026E16AE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63CD9E-9613-CBBC-973A-2664D5AAD784}"/>
              </a:ext>
            </a:extLst>
          </p:cNvPr>
          <p:cNvSpPr>
            <a:spLocks noGrp="1"/>
          </p:cNvSpPr>
          <p:nvPr>
            <p:ph type="sldNum" sz="quarter" idx="12"/>
          </p:nvPr>
        </p:nvSpPr>
        <p:spPr/>
        <p:txBody>
          <a:bodyPr/>
          <a:lstStyle/>
          <a:p>
            <a:fld id="{AA9C8743-D235-455E-8682-359CF06B3DF8}" type="slidenum">
              <a:rPr lang="en-US" smtClean="0"/>
              <a:t>‹#›</a:t>
            </a:fld>
            <a:endParaRPr lang="en-US"/>
          </a:p>
        </p:txBody>
      </p:sp>
    </p:spTree>
    <p:extLst>
      <p:ext uri="{BB962C8B-B14F-4D97-AF65-F5344CB8AC3E}">
        <p14:creationId xmlns:p14="http://schemas.microsoft.com/office/powerpoint/2010/main" val="2797808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88D44-4305-EC14-02B3-1F53C10CAD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BEDB89-C90C-B39B-680A-8176D1D2B5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522F87-AE52-5965-86F6-7FFFDD7754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0FD292-936F-928C-7FF6-C245C9853873}"/>
              </a:ext>
            </a:extLst>
          </p:cNvPr>
          <p:cNvSpPr>
            <a:spLocks noGrp="1"/>
          </p:cNvSpPr>
          <p:nvPr>
            <p:ph type="dt" sz="half" idx="10"/>
          </p:nvPr>
        </p:nvSpPr>
        <p:spPr/>
        <p:txBody>
          <a:bodyPr/>
          <a:lstStyle/>
          <a:p>
            <a:fld id="{ACA0F802-4617-4A03-A502-179DA21AA099}" type="datetimeFigureOut">
              <a:rPr lang="en-US" smtClean="0"/>
              <a:t>5/6/2025</a:t>
            </a:fld>
            <a:endParaRPr lang="en-US"/>
          </a:p>
        </p:txBody>
      </p:sp>
      <p:sp>
        <p:nvSpPr>
          <p:cNvPr id="6" name="Footer Placeholder 5">
            <a:extLst>
              <a:ext uri="{FF2B5EF4-FFF2-40B4-BE49-F238E27FC236}">
                <a16:creationId xmlns:a16="http://schemas.microsoft.com/office/drawing/2014/main" id="{AC56F2FD-2D25-04BF-785B-BA38B4EAA7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A34C91-13B0-11A3-ED42-F51658906E86}"/>
              </a:ext>
            </a:extLst>
          </p:cNvPr>
          <p:cNvSpPr>
            <a:spLocks noGrp="1"/>
          </p:cNvSpPr>
          <p:nvPr>
            <p:ph type="sldNum" sz="quarter" idx="12"/>
          </p:nvPr>
        </p:nvSpPr>
        <p:spPr/>
        <p:txBody>
          <a:bodyPr/>
          <a:lstStyle/>
          <a:p>
            <a:fld id="{AA9C8743-D235-455E-8682-359CF06B3DF8}" type="slidenum">
              <a:rPr lang="en-US" smtClean="0"/>
              <a:t>‹#›</a:t>
            </a:fld>
            <a:endParaRPr lang="en-US"/>
          </a:p>
        </p:txBody>
      </p:sp>
    </p:spTree>
    <p:extLst>
      <p:ext uri="{BB962C8B-B14F-4D97-AF65-F5344CB8AC3E}">
        <p14:creationId xmlns:p14="http://schemas.microsoft.com/office/powerpoint/2010/main" val="1736058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C9B9B-403E-5D62-4964-F2C863C267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D6D0F0-4619-9BB0-34F3-92DB2F7212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C9F3CC-D480-9BEC-4F0F-0FC2E4804F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AD6B2A0-AE6B-67A8-2552-FA9E569FC8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DA68E9-E00D-825F-8DA8-1D2FE66F77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699453-A15E-2A92-FE9F-5178D7639F11}"/>
              </a:ext>
            </a:extLst>
          </p:cNvPr>
          <p:cNvSpPr>
            <a:spLocks noGrp="1"/>
          </p:cNvSpPr>
          <p:nvPr>
            <p:ph type="dt" sz="half" idx="10"/>
          </p:nvPr>
        </p:nvSpPr>
        <p:spPr/>
        <p:txBody>
          <a:bodyPr/>
          <a:lstStyle/>
          <a:p>
            <a:fld id="{ACA0F802-4617-4A03-A502-179DA21AA099}" type="datetimeFigureOut">
              <a:rPr lang="en-US" smtClean="0"/>
              <a:t>5/6/2025</a:t>
            </a:fld>
            <a:endParaRPr lang="en-US"/>
          </a:p>
        </p:txBody>
      </p:sp>
      <p:sp>
        <p:nvSpPr>
          <p:cNvPr id="8" name="Footer Placeholder 7">
            <a:extLst>
              <a:ext uri="{FF2B5EF4-FFF2-40B4-BE49-F238E27FC236}">
                <a16:creationId xmlns:a16="http://schemas.microsoft.com/office/drawing/2014/main" id="{4118F027-E957-B17A-456D-BDC3CA97D1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319E49-F211-B940-2AD4-33E41D3EE387}"/>
              </a:ext>
            </a:extLst>
          </p:cNvPr>
          <p:cNvSpPr>
            <a:spLocks noGrp="1"/>
          </p:cNvSpPr>
          <p:nvPr>
            <p:ph type="sldNum" sz="quarter" idx="12"/>
          </p:nvPr>
        </p:nvSpPr>
        <p:spPr/>
        <p:txBody>
          <a:bodyPr/>
          <a:lstStyle/>
          <a:p>
            <a:fld id="{AA9C8743-D235-455E-8682-359CF06B3DF8}" type="slidenum">
              <a:rPr lang="en-US" smtClean="0"/>
              <a:t>‹#›</a:t>
            </a:fld>
            <a:endParaRPr lang="en-US"/>
          </a:p>
        </p:txBody>
      </p:sp>
    </p:spTree>
    <p:extLst>
      <p:ext uri="{BB962C8B-B14F-4D97-AF65-F5344CB8AC3E}">
        <p14:creationId xmlns:p14="http://schemas.microsoft.com/office/powerpoint/2010/main" val="2884658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B4DCD-180E-6687-D98D-4BDCB8425BC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3D2F8D-A7D4-E863-2B2F-CB7F36254F49}"/>
              </a:ext>
            </a:extLst>
          </p:cNvPr>
          <p:cNvSpPr>
            <a:spLocks noGrp="1"/>
          </p:cNvSpPr>
          <p:nvPr>
            <p:ph type="dt" sz="half" idx="10"/>
          </p:nvPr>
        </p:nvSpPr>
        <p:spPr/>
        <p:txBody>
          <a:bodyPr/>
          <a:lstStyle/>
          <a:p>
            <a:fld id="{ACA0F802-4617-4A03-A502-179DA21AA099}" type="datetimeFigureOut">
              <a:rPr lang="en-US" smtClean="0"/>
              <a:t>5/6/2025</a:t>
            </a:fld>
            <a:endParaRPr lang="en-US"/>
          </a:p>
        </p:txBody>
      </p:sp>
      <p:sp>
        <p:nvSpPr>
          <p:cNvPr id="4" name="Footer Placeholder 3">
            <a:extLst>
              <a:ext uri="{FF2B5EF4-FFF2-40B4-BE49-F238E27FC236}">
                <a16:creationId xmlns:a16="http://schemas.microsoft.com/office/drawing/2014/main" id="{89BC3393-AF6C-C1BC-046F-EE8D0D5083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7B169A-02CE-0D36-32BB-BA937FAA609A}"/>
              </a:ext>
            </a:extLst>
          </p:cNvPr>
          <p:cNvSpPr>
            <a:spLocks noGrp="1"/>
          </p:cNvSpPr>
          <p:nvPr>
            <p:ph type="sldNum" sz="quarter" idx="12"/>
          </p:nvPr>
        </p:nvSpPr>
        <p:spPr/>
        <p:txBody>
          <a:bodyPr/>
          <a:lstStyle/>
          <a:p>
            <a:fld id="{AA9C8743-D235-455E-8682-359CF06B3DF8}" type="slidenum">
              <a:rPr lang="en-US" smtClean="0"/>
              <a:t>‹#›</a:t>
            </a:fld>
            <a:endParaRPr lang="en-US"/>
          </a:p>
        </p:txBody>
      </p:sp>
    </p:spTree>
    <p:extLst>
      <p:ext uri="{BB962C8B-B14F-4D97-AF65-F5344CB8AC3E}">
        <p14:creationId xmlns:p14="http://schemas.microsoft.com/office/powerpoint/2010/main" val="2142584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3F5A6E-F04E-D0DF-A41D-137E19C02746}"/>
              </a:ext>
            </a:extLst>
          </p:cNvPr>
          <p:cNvSpPr>
            <a:spLocks noGrp="1"/>
          </p:cNvSpPr>
          <p:nvPr>
            <p:ph type="dt" sz="half" idx="10"/>
          </p:nvPr>
        </p:nvSpPr>
        <p:spPr/>
        <p:txBody>
          <a:bodyPr/>
          <a:lstStyle/>
          <a:p>
            <a:fld id="{ACA0F802-4617-4A03-A502-179DA21AA099}" type="datetimeFigureOut">
              <a:rPr lang="en-US" smtClean="0"/>
              <a:t>5/6/2025</a:t>
            </a:fld>
            <a:endParaRPr lang="en-US"/>
          </a:p>
        </p:txBody>
      </p:sp>
      <p:sp>
        <p:nvSpPr>
          <p:cNvPr id="3" name="Footer Placeholder 2">
            <a:extLst>
              <a:ext uri="{FF2B5EF4-FFF2-40B4-BE49-F238E27FC236}">
                <a16:creationId xmlns:a16="http://schemas.microsoft.com/office/drawing/2014/main" id="{2B23CE41-4CFA-35A4-4511-C46D181B17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52F694-11F0-731B-153E-348079F389AD}"/>
              </a:ext>
            </a:extLst>
          </p:cNvPr>
          <p:cNvSpPr>
            <a:spLocks noGrp="1"/>
          </p:cNvSpPr>
          <p:nvPr>
            <p:ph type="sldNum" sz="quarter" idx="12"/>
          </p:nvPr>
        </p:nvSpPr>
        <p:spPr/>
        <p:txBody>
          <a:bodyPr/>
          <a:lstStyle/>
          <a:p>
            <a:fld id="{AA9C8743-D235-455E-8682-359CF06B3DF8}" type="slidenum">
              <a:rPr lang="en-US" smtClean="0"/>
              <a:t>‹#›</a:t>
            </a:fld>
            <a:endParaRPr lang="en-US"/>
          </a:p>
        </p:txBody>
      </p:sp>
    </p:spTree>
    <p:extLst>
      <p:ext uri="{BB962C8B-B14F-4D97-AF65-F5344CB8AC3E}">
        <p14:creationId xmlns:p14="http://schemas.microsoft.com/office/powerpoint/2010/main" val="3873604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7609F-9163-FBE3-08A8-202ECD9112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3DCBFF-30E6-974B-2D08-D078C3B356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C3F080-5198-2A09-3182-05320C64EF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72E628-5B1F-CAFC-DAC6-4444CBD5F758}"/>
              </a:ext>
            </a:extLst>
          </p:cNvPr>
          <p:cNvSpPr>
            <a:spLocks noGrp="1"/>
          </p:cNvSpPr>
          <p:nvPr>
            <p:ph type="dt" sz="half" idx="10"/>
          </p:nvPr>
        </p:nvSpPr>
        <p:spPr/>
        <p:txBody>
          <a:bodyPr/>
          <a:lstStyle/>
          <a:p>
            <a:fld id="{ACA0F802-4617-4A03-A502-179DA21AA099}" type="datetimeFigureOut">
              <a:rPr lang="en-US" smtClean="0"/>
              <a:t>5/6/2025</a:t>
            </a:fld>
            <a:endParaRPr lang="en-US"/>
          </a:p>
        </p:txBody>
      </p:sp>
      <p:sp>
        <p:nvSpPr>
          <p:cNvPr id="6" name="Footer Placeholder 5">
            <a:extLst>
              <a:ext uri="{FF2B5EF4-FFF2-40B4-BE49-F238E27FC236}">
                <a16:creationId xmlns:a16="http://schemas.microsoft.com/office/drawing/2014/main" id="{4A185226-75EB-EF21-2067-3FCCD08104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4CC1FA-84FA-D24C-C42D-91421E0A2979}"/>
              </a:ext>
            </a:extLst>
          </p:cNvPr>
          <p:cNvSpPr>
            <a:spLocks noGrp="1"/>
          </p:cNvSpPr>
          <p:nvPr>
            <p:ph type="sldNum" sz="quarter" idx="12"/>
          </p:nvPr>
        </p:nvSpPr>
        <p:spPr/>
        <p:txBody>
          <a:bodyPr/>
          <a:lstStyle/>
          <a:p>
            <a:fld id="{AA9C8743-D235-455E-8682-359CF06B3DF8}" type="slidenum">
              <a:rPr lang="en-US" smtClean="0"/>
              <a:t>‹#›</a:t>
            </a:fld>
            <a:endParaRPr lang="en-US"/>
          </a:p>
        </p:txBody>
      </p:sp>
    </p:spTree>
    <p:extLst>
      <p:ext uri="{BB962C8B-B14F-4D97-AF65-F5344CB8AC3E}">
        <p14:creationId xmlns:p14="http://schemas.microsoft.com/office/powerpoint/2010/main" val="3096597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78E3C-8EF7-8533-89CC-EC9CDB2D90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B6C9695-BFC8-2B3D-C766-07984432BB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6B3EB8-CDEB-90F7-053B-D2A61B39D5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56FF96-24DB-11F9-9C7C-69D4D6FE3696}"/>
              </a:ext>
            </a:extLst>
          </p:cNvPr>
          <p:cNvSpPr>
            <a:spLocks noGrp="1"/>
          </p:cNvSpPr>
          <p:nvPr>
            <p:ph type="dt" sz="half" idx="10"/>
          </p:nvPr>
        </p:nvSpPr>
        <p:spPr/>
        <p:txBody>
          <a:bodyPr/>
          <a:lstStyle/>
          <a:p>
            <a:fld id="{ACA0F802-4617-4A03-A502-179DA21AA099}" type="datetimeFigureOut">
              <a:rPr lang="en-US" smtClean="0"/>
              <a:t>5/6/2025</a:t>
            </a:fld>
            <a:endParaRPr lang="en-US"/>
          </a:p>
        </p:txBody>
      </p:sp>
      <p:sp>
        <p:nvSpPr>
          <p:cNvPr id="6" name="Footer Placeholder 5">
            <a:extLst>
              <a:ext uri="{FF2B5EF4-FFF2-40B4-BE49-F238E27FC236}">
                <a16:creationId xmlns:a16="http://schemas.microsoft.com/office/drawing/2014/main" id="{43CC278E-99AC-46A1-5FC2-040AE8C570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41C8B3-19AB-AB86-CEAD-56C530684B3D}"/>
              </a:ext>
            </a:extLst>
          </p:cNvPr>
          <p:cNvSpPr>
            <a:spLocks noGrp="1"/>
          </p:cNvSpPr>
          <p:nvPr>
            <p:ph type="sldNum" sz="quarter" idx="12"/>
          </p:nvPr>
        </p:nvSpPr>
        <p:spPr/>
        <p:txBody>
          <a:bodyPr/>
          <a:lstStyle/>
          <a:p>
            <a:fld id="{AA9C8743-D235-455E-8682-359CF06B3DF8}" type="slidenum">
              <a:rPr lang="en-US" smtClean="0"/>
              <a:t>‹#›</a:t>
            </a:fld>
            <a:endParaRPr lang="en-US"/>
          </a:p>
        </p:txBody>
      </p:sp>
    </p:spTree>
    <p:extLst>
      <p:ext uri="{BB962C8B-B14F-4D97-AF65-F5344CB8AC3E}">
        <p14:creationId xmlns:p14="http://schemas.microsoft.com/office/powerpoint/2010/main" val="2155151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946BF-203A-43C2-0C6F-E1D445F80E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081EC2-6408-058C-CCB9-1129AF4719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ED9FC2-9806-C48D-1971-EF0F61D2AD24}"/>
              </a:ext>
            </a:extLst>
          </p:cNvPr>
          <p:cNvSpPr>
            <a:spLocks noGrp="1"/>
          </p:cNvSpPr>
          <p:nvPr>
            <p:ph type="dt" sz="half" idx="10"/>
          </p:nvPr>
        </p:nvSpPr>
        <p:spPr/>
        <p:txBody>
          <a:bodyPr/>
          <a:lstStyle/>
          <a:p>
            <a:fld id="{ACA0F802-4617-4A03-A502-179DA21AA099}" type="datetimeFigureOut">
              <a:rPr lang="en-US" smtClean="0"/>
              <a:t>5/6/2025</a:t>
            </a:fld>
            <a:endParaRPr lang="en-US"/>
          </a:p>
        </p:txBody>
      </p:sp>
      <p:sp>
        <p:nvSpPr>
          <p:cNvPr id="5" name="Footer Placeholder 4">
            <a:extLst>
              <a:ext uri="{FF2B5EF4-FFF2-40B4-BE49-F238E27FC236}">
                <a16:creationId xmlns:a16="http://schemas.microsoft.com/office/drawing/2014/main" id="{E8E28181-6A31-1F2E-6322-1E151EFDAB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29B7B5-FE76-DD30-F722-D4FD0B5FC4C4}"/>
              </a:ext>
            </a:extLst>
          </p:cNvPr>
          <p:cNvSpPr>
            <a:spLocks noGrp="1"/>
          </p:cNvSpPr>
          <p:nvPr>
            <p:ph type="sldNum" sz="quarter" idx="12"/>
          </p:nvPr>
        </p:nvSpPr>
        <p:spPr/>
        <p:txBody>
          <a:bodyPr/>
          <a:lstStyle/>
          <a:p>
            <a:fld id="{AA9C8743-D235-455E-8682-359CF06B3DF8}" type="slidenum">
              <a:rPr lang="en-US" smtClean="0"/>
              <a:t>‹#›</a:t>
            </a:fld>
            <a:endParaRPr lang="en-US"/>
          </a:p>
        </p:txBody>
      </p:sp>
    </p:spTree>
    <p:extLst>
      <p:ext uri="{BB962C8B-B14F-4D97-AF65-F5344CB8AC3E}">
        <p14:creationId xmlns:p14="http://schemas.microsoft.com/office/powerpoint/2010/main" val="372533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246D8B-79DD-0E25-2092-49B64DC4AEE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1ADAD6-8059-C6A1-7E62-0187081624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FE51B3-A041-7CA1-BF7D-E3EC8324C8CB}"/>
              </a:ext>
            </a:extLst>
          </p:cNvPr>
          <p:cNvSpPr>
            <a:spLocks noGrp="1"/>
          </p:cNvSpPr>
          <p:nvPr>
            <p:ph type="dt" sz="half" idx="10"/>
          </p:nvPr>
        </p:nvSpPr>
        <p:spPr/>
        <p:txBody>
          <a:bodyPr/>
          <a:lstStyle/>
          <a:p>
            <a:fld id="{ACA0F802-4617-4A03-A502-179DA21AA099}" type="datetimeFigureOut">
              <a:rPr lang="en-US" smtClean="0"/>
              <a:t>5/6/2025</a:t>
            </a:fld>
            <a:endParaRPr lang="en-US"/>
          </a:p>
        </p:txBody>
      </p:sp>
      <p:sp>
        <p:nvSpPr>
          <p:cNvPr id="5" name="Footer Placeholder 4">
            <a:extLst>
              <a:ext uri="{FF2B5EF4-FFF2-40B4-BE49-F238E27FC236}">
                <a16:creationId xmlns:a16="http://schemas.microsoft.com/office/drawing/2014/main" id="{9988EC38-10C7-B132-DE9C-9CC8AB7C99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6FA08D-7E13-EB0D-52E2-0A117AE5F1D3}"/>
              </a:ext>
            </a:extLst>
          </p:cNvPr>
          <p:cNvSpPr>
            <a:spLocks noGrp="1"/>
          </p:cNvSpPr>
          <p:nvPr>
            <p:ph type="sldNum" sz="quarter" idx="12"/>
          </p:nvPr>
        </p:nvSpPr>
        <p:spPr/>
        <p:txBody>
          <a:bodyPr/>
          <a:lstStyle/>
          <a:p>
            <a:fld id="{AA9C8743-D235-455E-8682-359CF06B3DF8}" type="slidenum">
              <a:rPr lang="en-US" smtClean="0"/>
              <a:t>‹#›</a:t>
            </a:fld>
            <a:endParaRPr lang="en-US"/>
          </a:p>
        </p:txBody>
      </p:sp>
    </p:spTree>
    <p:extLst>
      <p:ext uri="{BB962C8B-B14F-4D97-AF65-F5344CB8AC3E}">
        <p14:creationId xmlns:p14="http://schemas.microsoft.com/office/powerpoint/2010/main" val="2307557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8ED1B9-BD5D-CDB1-0BD9-06659B9CED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87FDAF-301C-3EEC-9D4D-441AF6C3F7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72EB20-FA60-8AE9-0C00-E5DC1B00EA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A0F802-4617-4A03-A502-179DA21AA099}" type="datetimeFigureOut">
              <a:rPr lang="en-US" smtClean="0"/>
              <a:t>5/6/2025</a:t>
            </a:fld>
            <a:endParaRPr lang="en-US"/>
          </a:p>
        </p:txBody>
      </p:sp>
      <p:sp>
        <p:nvSpPr>
          <p:cNvPr id="5" name="Footer Placeholder 4">
            <a:extLst>
              <a:ext uri="{FF2B5EF4-FFF2-40B4-BE49-F238E27FC236}">
                <a16:creationId xmlns:a16="http://schemas.microsoft.com/office/drawing/2014/main" id="{AA148E46-54D6-D5FA-25A7-4C8FB1E6D2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CE0C57F-DBF4-D544-554B-9F2E1275F7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9C8743-D235-455E-8682-359CF06B3DF8}" type="slidenum">
              <a:rPr lang="en-US" smtClean="0"/>
              <a:t>‹#›</a:t>
            </a:fld>
            <a:endParaRPr lang="en-US"/>
          </a:p>
        </p:txBody>
      </p:sp>
    </p:spTree>
    <p:extLst>
      <p:ext uri="{BB962C8B-B14F-4D97-AF65-F5344CB8AC3E}">
        <p14:creationId xmlns:p14="http://schemas.microsoft.com/office/powerpoint/2010/main" val="621399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chatgpt.com/share/680817aa-c964-8002-a409-057765933bc7"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2370C-97E0-304F-D349-E4CE5C361214}"/>
              </a:ext>
            </a:extLst>
          </p:cNvPr>
          <p:cNvSpPr>
            <a:spLocks noGrp="1"/>
          </p:cNvSpPr>
          <p:nvPr>
            <p:ph type="ctrTitle"/>
          </p:nvPr>
        </p:nvSpPr>
        <p:spPr/>
        <p:txBody>
          <a:bodyPr/>
          <a:lstStyle/>
          <a:p>
            <a:r>
              <a:rPr lang="en-US" dirty="0"/>
              <a:t>Quiz-6-CFG-AMBIG-PREC</a:t>
            </a:r>
            <a:br>
              <a:rPr lang="en-US" dirty="0"/>
            </a:br>
            <a:r>
              <a:rPr lang="en-US" sz="3200" dirty="0"/>
              <a:t>8 questions</a:t>
            </a:r>
            <a:endParaRPr lang="en-US" dirty="0"/>
          </a:p>
        </p:txBody>
      </p:sp>
    </p:spTree>
    <p:extLst>
      <p:ext uri="{BB962C8B-B14F-4D97-AF65-F5344CB8AC3E}">
        <p14:creationId xmlns:p14="http://schemas.microsoft.com/office/powerpoint/2010/main" val="3334831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6" name="Picture 5">
            <a:extLst>
              <a:ext uri="{FF2B5EF4-FFF2-40B4-BE49-F238E27FC236}">
                <a16:creationId xmlns:a16="http://schemas.microsoft.com/office/drawing/2014/main" id="{AC6CE7B7-44BB-6041-9B4C-3E4540D939DB}"/>
              </a:ext>
            </a:extLst>
          </p:cNvPr>
          <p:cNvPicPr>
            <a:picLocks noChangeAspect="1"/>
          </p:cNvPicPr>
          <p:nvPr/>
        </p:nvPicPr>
        <p:blipFill>
          <a:blip r:embed="rId2"/>
          <a:stretch>
            <a:fillRect/>
          </a:stretch>
        </p:blipFill>
        <p:spPr>
          <a:xfrm>
            <a:off x="1549400" y="1994154"/>
            <a:ext cx="9093200" cy="22479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69101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CB0D0-4C33-604C-8696-EB76725E88FF}"/>
              </a:ext>
            </a:extLst>
          </p:cNvPr>
          <p:cNvSpPr>
            <a:spLocks noGrp="1"/>
          </p:cNvSpPr>
          <p:nvPr>
            <p:ph type="title"/>
          </p:nvPr>
        </p:nvSpPr>
        <p:spPr/>
        <p:txBody>
          <a:bodyPr/>
          <a:lstStyle/>
          <a:p>
            <a:r>
              <a:rPr lang="en-US" dirty="0"/>
              <a:t>Any RE can be expressed in BNF</a:t>
            </a:r>
          </a:p>
        </p:txBody>
      </p:sp>
      <p:sp>
        <p:nvSpPr>
          <p:cNvPr id="3" name="Content Placeholder 2">
            <a:extLst>
              <a:ext uri="{FF2B5EF4-FFF2-40B4-BE49-F238E27FC236}">
                <a16:creationId xmlns:a16="http://schemas.microsoft.com/office/drawing/2014/main" id="{54C64999-C562-C144-83F7-9944AD887228}"/>
              </a:ext>
            </a:extLst>
          </p:cNvPr>
          <p:cNvSpPr>
            <a:spLocks noGrp="1"/>
          </p:cNvSpPr>
          <p:nvPr>
            <p:ph idx="1"/>
          </p:nvPr>
        </p:nvSpPr>
        <p:spPr>
          <a:xfrm>
            <a:off x="838200" y="1825625"/>
            <a:ext cx="10515600" cy="1228471"/>
          </a:xfrm>
        </p:spPr>
        <p:txBody>
          <a:bodyPr/>
          <a:lstStyle/>
          <a:p>
            <a:r>
              <a:rPr lang="en-US" dirty="0"/>
              <a:t>We just need to show fundamental operators</a:t>
            </a:r>
          </a:p>
          <a:p>
            <a:pPr lvl="1"/>
            <a:r>
              <a:rPr lang="en-US" dirty="0" err="1"/>
              <a:t>concat</a:t>
            </a:r>
            <a:r>
              <a:rPr lang="en-US" dirty="0"/>
              <a:t>, choice, star</a:t>
            </a:r>
          </a:p>
        </p:txBody>
      </p:sp>
    </p:spTree>
    <p:extLst>
      <p:ext uri="{BB962C8B-B14F-4D97-AF65-F5344CB8AC3E}">
        <p14:creationId xmlns:p14="http://schemas.microsoft.com/office/powerpoint/2010/main" val="3410749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CB0D0-4C33-604C-8696-EB76725E88FF}"/>
              </a:ext>
            </a:extLst>
          </p:cNvPr>
          <p:cNvSpPr>
            <a:spLocks noGrp="1"/>
          </p:cNvSpPr>
          <p:nvPr>
            <p:ph type="title"/>
          </p:nvPr>
        </p:nvSpPr>
        <p:spPr/>
        <p:txBody>
          <a:bodyPr/>
          <a:lstStyle/>
          <a:p>
            <a:r>
              <a:rPr lang="en-US" dirty="0"/>
              <a:t>Any RE can be expressed in BNF</a:t>
            </a:r>
          </a:p>
        </p:txBody>
      </p:sp>
      <p:sp>
        <p:nvSpPr>
          <p:cNvPr id="3" name="Content Placeholder 2">
            <a:extLst>
              <a:ext uri="{FF2B5EF4-FFF2-40B4-BE49-F238E27FC236}">
                <a16:creationId xmlns:a16="http://schemas.microsoft.com/office/drawing/2014/main" id="{54C64999-C562-C144-83F7-9944AD887228}"/>
              </a:ext>
            </a:extLst>
          </p:cNvPr>
          <p:cNvSpPr>
            <a:spLocks noGrp="1"/>
          </p:cNvSpPr>
          <p:nvPr>
            <p:ph idx="1"/>
          </p:nvPr>
        </p:nvSpPr>
        <p:spPr>
          <a:xfrm>
            <a:off x="838200" y="1825625"/>
            <a:ext cx="10515600" cy="1228471"/>
          </a:xfrm>
        </p:spPr>
        <p:txBody>
          <a:bodyPr/>
          <a:lstStyle/>
          <a:p>
            <a:r>
              <a:rPr lang="en-US" dirty="0"/>
              <a:t>We just need to show fundamental operators</a:t>
            </a:r>
          </a:p>
          <a:p>
            <a:pPr lvl="1"/>
            <a:r>
              <a:rPr lang="en-US" dirty="0" err="1">
                <a:highlight>
                  <a:srgbClr val="FFFF00"/>
                </a:highlight>
              </a:rPr>
              <a:t>concat</a:t>
            </a:r>
            <a:r>
              <a:rPr lang="en-US" dirty="0"/>
              <a:t>, choice, star</a:t>
            </a:r>
          </a:p>
        </p:txBody>
      </p:sp>
      <p:sp>
        <p:nvSpPr>
          <p:cNvPr id="4" name="TextBox 3">
            <a:extLst>
              <a:ext uri="{FF2B5EF4-FFF2-40B4-BE49-F238E27FC236}">
                <a16:creationId xmlns:a16="http://schemas.microsoft.com/office/drawing/2014/main" id="{B08DB57D-7D48-EE4F-BB45-90A1CC4690F1}"/>
              </a:ext>
            </a:extLst>
          </p:cNvPr>
          <p:cNvSpPr txBox="1"/>
          <p:nvPr/>
        </p:nvSpPr>
        <p:spPr>
          <a:xfrm>
            <a:off x="3006567" y="3803905"/>
            <a:ext cx="4608954" cy="461665"/>
          </a:xfrm>
          <a:prstGeom prst="rect">
            <a:avLst/>
          </a:prstGeom>
          <a:noFill/>
        </p:spPr>
        <p:txBody>
          <a:bodyPr wrap="none" rtlCol="0">
            <a:spAutoFit/>
          </a:bodyPr>
          <a:lstStyle/>
          <a:p>
            <a:r>
              <a:rPr lang="en-US" sz="2400" dirty="0" err="1">
                <a:latin typeface="Courier" pitchFamily="2" charset="0"/>
              </a:rPr>
              <a:t>add_expr</a:t>
            </a:r>
            <a:r>
              <a:rPr lang="en-US" sz="2400" dirty="0">
                <a:latin typeface="Courier" pitchFamily="2" charset="0"/>
              </a:rPr>
              <a:t> ::= </a:t>
            </a:r>
            <a:r>
              <a:rPr lang="en-US" sz="2400" dirty="0">
                <a:highlight>
                  <a:srgbClr val="FFFF00"/>
                </a:highlight>
                <a:latin typeface="Courier" pitchFamily="2" charset="0"/>
              </a:rPr>
              <a:t>NUM ‘+’ NUM</a:t>
            </a:r>
          </a:p>
        </p:txBody>
      </p:sp>
    </p:spTree>
    <p:extLst>
      <p:ext uri="{BB962C8B-B14F-4D97-AF65-F5344CB8AC3E}">
        <p14:creationId xmlns:p14="http://schemas.microsoft.com/office/powerpoint/2010/main" val="2580743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CB0D0-4C33-604C-8696-EB76725E88FF}"/>
              </a:ext>
            </a:extLst>
          </p:cNvPr>
          <p:cNvSpPr>
            <a:spLocks noGrp="1"/>
          </p:cNvSpPr>
          <p:nvPr>
            <p:ph type="title"/>
          </p:nvPr>
        </p:nvSpPr>
        <p:spPr/>
        <p:txBody>
          <a:bodyPr/>
          <a:lstStyle/>
          <a:p>
            <a:r>
              <a:rPr lang="en-US" dirty="0"/>
              <a:t>Any RE can be expressed in BNF</a:t>
            </a:r>
          </a:p>
        </p:txBody>
      </p:sp>
      <p:sp>
        <p:nvSpPr>
          <p:cNvPr id="3" name="Content Placeholder 2">
            <a:extLst>
              <a:ext uri="{FF2B5EF4-FFF2-40B4-BE49-F238E27FC236}">
                <a16:creationId xmlns:a16="http://schemas.microsoft.com/office/drawing/2014/main" id="{54C64999-C562-C144-83F7-9944AD887228}"/>
              </a:ext>
            </a:extLst>
          </p:cNvPr>
          <p:cNvSpPr>
            <a:spLocks noGrp="1"/>
          </p:cNvSpPr>
          <p:nvPr>
            <p:ph idx="1"/>
          </p:nvPr>
        </p:nvSpPr>
        <p:spPr>
          <a:xfrm>
            <a:off x="838200" y="1825625"/>
            <a:ext cx="10515600" cy="1228471"/>
          </a:xfrm>
        </p:spPr>
        <p:txBody>
          <a:bodyPr/>
          <a:lstStyle/>
          <a:p>
            <a:r>
              <a:rPr lang="en-US" dirty="0"/>
              <a:t>We just need to show fundamental operators</a:t>
            </a:r>
          </a:p>
          <a:p>
            <a:pPr lvl="1"/>
            <a:r>
              <a:rPr lang="en-US" dirty="0" err="1"/>
              <a:t>concat</a:t>
            </a:r>
            <a:r>
              <a:rPr lang="en-US" dirty="0"/>
              <a:t>, </a:t>
            </a:r>
            <a:r>
              <a:rPr lang="en-US" dirty="0">
                <a:highlight>
                  <a:srgbClr val="FFFF00"/>
                </a:highlight>
              </a:rPr>
              <a:t>choice</a:t>
            </a:r>
            <a:r>
              <a:rPr lang="en-US" dirty="0"/>
              <a:t>, star</a:t>
            </a:r>
          </a:p>
        </p:txBody>
      </p:sp>
      <p:sp>
        <p:nvSpPr>
          <p:cNvPr id="5" name="Rectangle 4">
            <a:extLst>
              <a:ext uri="{FF2B5EF4-FFF2-40B4-BE49-F238E27FC236}">
                <a16:creationId xmlns:a16="http://schemas.microsoft.com/office/drawing/2014/main" id="{9E152EEE-F171-6840-987A-E421346677F8}"/>
              </a:ext>
            </a:extLst>
          </p:cNvPr>
          <p:cNvSpPr/>
          <p:nvPr/>
        </p:nvSpPr>
        <p:spPr>
          <a:xfrm>
            <a:off x="3048000" y="4248835"/>
            <a:ext cx="6096000" cy="830997"/>
          </a:xfrm>
          <a:prstGeom prst="rect">
            <a:avLst/>
          </a:prstGeom>
        </p:spPr>
        <p:txBody>
          <a:bodyPr>
            <a:spAutoFit/>
          </a:bodyPr>
          <a:lstStyle/>
          <a:p>
            <a:r>
              <a:rPr lang="en-US" sz="2400" dirty="0" err="1">
                <a:latin typeface="Courier" pitchFamily="2" charset="0"/>
              </a:rPr>
              <a:t>simple_expr</a:t>
            </a:r>
            <a:r>
              <a:rPr lang="en-US" sz="2400" dirty="0">
                <a:latin typeface="Courier" pitchFamily="2" charset="0"/>
              </a:rPr>
              <a:t> ::= NUM ‘+’ NUM</a:t>
            </a:r>
          </a:p>
          <a:p>
            <a:r>
              <a:rPr lang="en-US" sz="2400" dirty="0">
                <a:latin typeface="Courier" pitchFamily="2" charset="0"/>
              </a:rPr>
              <a:t>            </a:t>
            </a:r>
            <a:r>
              <a:rPr lang="en-US" sz="2400" dirty="0">
                <a:highlight>
                  <a:srgbClr val="FFFF00"/>
                </a:highlight>
                <a:latin typeface="Courier" pitchFamily="2" charset="0"/>
              </a:rPr>
              <a:t>|   NUM ‘*’ NUM</a:t>
            </a:r>
          </a:p>
        </p:txBody>
      </p:sp>
    </p:spTree>
    <p:extLst>
      <p:ext uri="{BB962C8B-B14F-4D97-AF65-F5344CB8AC3E}">
        <p14:creationId xmlns:p14="http://schemas.microsoft.com/office/powerpoint/2010/main" val="1612301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CB0D0-4C33-604C-8696-EB76725E88FF}"/>
              </a:ext>
            </a:extLst>
          </p:cNvPr>
          <p:cNvSpPr>
            <a:spLocks noGrp="1"/>
          </p:cNvSpPr>
          <p:nvPr>
            <p:ph type="title"/>
          </p:nvPr>
        </p:nvSpPr>
        <p:spPr/>
        <p:txBody>
          <a:bodyPr/>
          <a:lstStyle/>
          <a:p>
            <a:r>
              <a:rPr lang="en-US" dirty="0"/>
              <a:t>Any RE can be expressed in BNF</a:t>
            </a:r>
          </a:p>
        </p:txBody>
      </p:sp>
      <p:sp>
        <p:nvSpPr>
          <p:cNvPr id="3" name="Content Placeholder 2">
            <a:extLst>
              <a:ext uri="{FF2B5EF4-FFF2-40B4-BE49-F238E27FC236}">
                <a16:creationId xmlns:a16="http://schemas.microsoft.com/office/drawing/2014/main" id="{54C64999-C562-C144-83F7-9944AD887228}"/>
              </a:ext>
            </a:extLst>
          </p:cNvPr>
          <p:cNvSpPr>
            <a:spLocks noGrp="1"/>
          </p:cNvSpPr>
          <p:nvPr>
            <p:ph idx="1"/>
          </p:nvPr>
        </p:nvSpPr>
        <p:spPr>
          <a:xfrm>
            <a:off x="838200" y="1825625"/>
            <a:ext cx="10515600" cy="1228471"/>
          </a:xfrm>
        </p:spPr>
        <p:txBody>
          <a:bodyPr/>
          <a:lstStyle/>
          <a:p>
            <a:r>
              <a:rPr lang="en-US" dirty="0"/>
              <a:t>We just need to show fundamental operators</a:t>
            </a:r>
          </a:p>
          <a:p>
            <a:pPr lvl="1"/>
            <a:r>
              <a:rPr lang="en-US" dirty="0" err="1"/>
              <a:t>concat</a:t>
            </a:r>
            <a:r>
              <a:rPr lang="en-US" dirty="0"/>
              <a:t>, choice, </a:t>
            </a:r>
            <a:r>
              <a:rPr lang="en-US" dirty="0">
                <a:highlight>
                  <a:srgbClr val="FFFF00"/>
                </a:highlight>
              </a:rPr>
              <a:t>star</a:t>
            </a:r>
          </a:p>
        </p:txBody>
      </p:sp>
      <p:sp>
        <p:nvSpPr>
          <p:cNvPr id="5" name="Rectangle 4">
            <a:extLst>
              <a:ext uri="{FF2B5EF4-FFF2-40B4-BE49-F238E27FC236}">
                <a16:creationId xmlns:a16="http://schemas.microsoft.com/office/drawing/2014/main" id="{9E152EEE-F171-6840-987A-E421346677F8}"/>
              </a:ext>
            </a:extLst>
          </p:cNvPr>
          <p:cNvSpPr/>
          <p:nvPr/>
        </p:nvSpPr>
        <p:spPr>
          <a:xfrm>
            <a:off x="3048000" y="4248835"/>
            <a:ext cx="6096000" cy="830997"/>
          </a:xfrm>
          <a:prstGeom prst="rect">
            <a:avLst/>
          </a:prstGeom>
        </p:spPr>
        <p:txBody>
          <a:bodyPr>
            <a:spAutoFit/>
          </a:bodyPr>
          <a:lstStyle/>
          <a:p>
            <a:r>
              <a:rPr lang="en-US" sz="2400" dirty="0" err="1">
                <a:latin typeface="Courier" pitchFamily="2" charset="0"/>
              </a:rPr>
              <a:t>a_star</a:t>
            </a:r>
            <a:r>
              <a:rPr lang="en-US" sz="2400" dirty="0">
                <a:latin typeface="Courier" pitchFamily="2" charset="0"/>
              </a:rPr>
              <a:t> ::= “”</a:t>
            </a:r>
          </a:p>
          <a:p>
            <a:r>
              <a:rPr lang="en-US" sz="2400" dirty="0">
                <a:latin typeface="Courier" pitchFamily="2" charset="0"/>
              </a:rPr>
              <a:t>        |  “a” </a:t>
            </a:r>
            <a:r>
              <a:rPr lang="en-US" sz="2400" dirty="0" err="1">
                <a:latin typeface="Courier" pitchFamily="2" charset="0"/>
              </a:rPr>
              <a:t>a_star</a:t>
            </a:r>
            <a:endParaRPr lang="en-US" sz="2400" dirty="0">
              <a:latin typeface="Courier" pitchFamily="2" charset="0"/>
            </a:endParaRPr>
          </a:p>
        </p:txBody>
      </p:sp>
      <p:sp>
        <p:nvSpPr>
          <p:cNvPr id="4" name="TextBox 3">
            <a:extLst>
              <a:ext uri="{FF2B5EF4-FFF2-40B4-BE49-F238E27FC236}">
                <a16:creationId xmlns:a16="http://schemas.microsoft.com/office/drawing/2014/main" id="{495402C1-0AC7-5E41-97DD-368B2431C4FB}"/>
              </a:ext>
            </a:extLst>
          </p:cNvPr>
          <p:cNvSpPr txBox="1"/>
          <p:nvPr/>
        </p:nvSpPr>
        <p:spPr>
          <a:xfrm>
            <a:off x="3913632" y="3244334"/>
            <a:ext cx="3720699" cy="461665"/>
          </a:xfrm>
          <a:prstGeom prst="rect">
            <a:avLst/>
          </a:prstGeom>
          <a:noFill/>
        </p:spPr>
        <p:txBody>
          <a:bodyPr wrap="none" rtlCol="0">
            <a:spAutoFit/>
          </a:bodyPr>
          <a:lstStyle/>
          <a:p>
            <a:r>
              <a:rPr lang="en-US" sz="2400" i="1" dirty="0"/>
              <a:t>How to express “a*” in BNF?</a:t>
            </a:r>
          </a:p>
        </p:txBody>
      </p:sp>
    </p:spTree>
    <p:extLst>
      <p:ext uri="{BB962C8B-B14F-4D97-AF65-F5344CB8AC3E}">
        <p14:creationId xmlns:p14="http://schemas.microsoft.com/office/powerpoint/2010/main" val="79081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CB0D0-4C33-604C-8696-EB76725E88FF}"/>
              </a:ext>
            </a:extLst>
          </p:cNvPr>
          <p:cNvSpPr>
            <a:spLocks noGrp="1"/>
          </p:cNvSpPr>
          <p:nvPr>
            <p:ph type="title"/>
          </p:nvPr>
        </p:nvSpPr>
        <p:spPr/>
        <p:txBody>
          <a:bodyPr/>
          <a:lstStyle/>
          <a:p>
            <a:r>
              <a:rPr lang="en-US" dirty="0"/>
              <a:t>Any RE can be expressed in BNF</a:t>
            </a:r>
          </a:p>
        </p:txBody>
      </p:sp>
      <p:sp>
        <p:nvSpPr>
          <p:cNvPr id="3" name="Content Placeholder 2">
            <a:extLst>
              <a:ext uri="{FF2B5EF4-FFF2-40B4-BE49-F238E27FC236}">
                <a16:creationId xmlns:a16="http://schemas.microsoft.com/office/drawing/2014/main" id="{54C64999-C562-C144-83F7-9944AD887228}"/>
              </a:ext>
            </a:extLst>
          </p:cNvPr>
          <p:cNvSpPr>
            <a:spLocks noGrp="1"/>
          </p:cNvSpPr>
          <p:nvPr>
            <p:ph idx="1"/>
          </p:nvPr>
        </p:nvSpPr>
        <p:spPr>
          <a:xfrm>
            <a:off x="838200" y="1825625"/>
            <a:ext cx="10515600" cy="1228471"/>
          </a:xfrm>
        </p:spPr>
        <p:txBody>
          <a:bodyPr/>
          <a:lstStyle/>
          <a:p>
            <a:r>
              <a:rPr lang="en-US" dirty="0"/>
              <a:t>We just need to show fundamental operators</a:t>
            </a:r>
          </a:p>
          <a:p>
            <a:pPr lvl="1"/>
            <a:r>
              <a:rPr lang="en-US" dirty="0" err="1"/>
              <a:t>concat</a:t>
            </a:r>
            <a:r>
              <a:rPr lang="en-US" dirty="0"/>
              <a:t>, choice, </a:t>
            </a:r>
            <a:r>
              <a:rPr lang="en-US" dirty="0">
                <a:highlight>
                  <a:srgbClr val="FFFF00"/>
                </a:highlight>
              </a:rPr>
              <a:t>star</a:t>
            </a:r>
          </a:p>
        </p:txBody>
      </p:sp>
      <p:sp>
        <p:nvSpPr>
          <p:cNvPr id="5" name="Rectangle 4">
            <a:extLst>
              <a:ext uri="{FF2B5EF4-FFF2-40B4-BE49-F238E27FC236}">
                <a16:creationId xmlns:a16="http://schemas.microsoft.com/office/drawing/2014/main" id="{9E152EEE-F171-6840-987A-E421346677F8}"/>
              </a:ext>
            </a:extLst>
          </p:cNvPr>
          <p:cNvSpPr/>
          <p:nvPr/>
        </p:nvSpPr>
        <p:spPr>
          <a:xfrm>
            <a:off x="3048000" y="4248835"/>
            <a:ext cx="6096000" cy="1200329"/>
          </a:xfrm>
          <a:prstGeom prst="rect">
            <a:avLst/>
          </a:prstGeom>
        </p:spPr>
        <p:txBody>
          <a:bodyPr>
            <a:spAutoFit/>
          </a:bodyPr>
          <a:lstStyle/>
          <a:p>
            <a:r>
              <a:rPr lang="en-US" sz="2400" dirty="0" err="1">
                <a:latin typeface="Courier" pitchFamily="2" charset="0"/>
              </a:rPr>
              <a:t>a_star</a:t>
            </a:r>
            <a:r>
              <a:rPr lang="en-US" sz="2400" dirty="0">
                <a:latin typeface="Courier" pitchFamily="2" charset="0"/>
              </a:rPr>
              <a:t> ::= ””</a:t>
            </a:r>
          </a:p>
          <a:p>
            <a:r>
              <a:rPr lang="en-US" sz="2400" dirty="0">
                <a:latin typeface="Courier" pitchFamily="2" charset="0"/>
              </a:rPr>
              <a:t>       |   “a”</a:t>
            </a:r>
          </a:p>
          <a:p>
            <a:r>
              <a:rPr lang="en-US" sz="2400" dirty="0">
                <a:latin typeface="Courier" pitchFamily="2" charset="0"/>
              </a:rPr>
              <a:t>       |   “a” </a:t>
            </a:r>
            <a:r>
              <a:rPr lang="en-US" sz="2400" dirty="0" err="1">
                <a:latin typeface="Courier" pitchFamily="2" charset="0"/>
              </a:rPr>
              <a:t>a_star</a:t>
            </a:r>
            <a:endParaRPr lang="en-US" sz="2400" dirty="0">
              <a:latin typeface="Courier" pitchFamily="2" charset="0"/>
            </a:endParaRPr>
          </a:p>
        </p:txBody>
      </p:sp>
      <p:sp>
        <p:nvSpPr>
          <p:cNvPr id="4" name="TextBox 3">
            <a:extLst>
              <a:ext uri="{FF2B5EF4-FFF2-40B4-BE49-F238E27FC236}">
                <a16:creationId xmlns:a16="http://schemas.microsoft.com/office/drawing/2014/main" id="{495402C1-0AC7-5E41-97DD-368B2431C4FB}"/>
              </a:ext>
            </a:extLst>
          </p:cNvPr>
          <p:cNvSpPr txBox="1"/>
          <p:nvPr/>
        </p:nvSpPr>
        <p:spPr>
          <a:xfrm>
            <a:off x="3913632" y="3244334"/>
            <a:ext cx="3720699" cy="461665"/>
          </a:xfrm>
          <a:prstGeom prst="rect">
            <a:avLst/>
          </a:prstGeom>
          <a:noFill/>
        </p:spPr>
        <p:txBody>
          <a:bodyPr wrap="none" rtlCol="0">
            <a:spAutoFit/>
          </a:bodyPr>
          <a:lstStyle/>
          <a:p>
            <a:r>
              <a:rPr lang="en-US" sz="2400" i="1" dirty="0"/>
              <a:t>How to express “a*” in BNF?</a:t>
            </a:r>
          </a:p>
        </p:txBody>
      </p:sp>
    </p:spTree>
    <p:extLst>
      <p:ext uri="{BB962C8B-B14F-4D97-AF65-F5344CB8AC3E}">
        <p14:creationId xmlns:p14="http://schemas.microsoft.com/office/powerpoint/2010/main" val="3435577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3" name="Picture 2">
            <a:extLst>
              <a:ext uri="{FF2B5EF4-FFF2-40B4-BE49-F238E27FC236}">
                <a16:creationId xmlns:a16="http://schemas.microsoft.com/office/drawing/2014/main" id="{8DCECEA3-9412-5244-A840-78B62BBDD6CB}"/>
              </a:ext>
            </a:extLst>
          </p:cNvPr>
          <p:cNvPicPr>
            <a:picLocks noChangeAspect="1"/>
          </p:cNvPicPr>
          <p:nvPr/>
        </p:nvPicPr>
        <p:blipFill>
          <a:blip r:embed="rId2"/>
          <a:stretch>
            <a:fillRect/>
          </a:stretch>
        </p:blipFill>
        <p:spPr>
          <a:xfrm>
            <a:off x="1492250" y="1936750"/>
            <a:ext cx="9207500" cy="29845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88607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D2B18-381A-7748-8495-B8BAD639F0C2}"/>
              </a:ext>
            </a:extLst>
          </p:cNvPr>
          <p:cNvSpPr>
            <a:spLocks noGrp="1"/>
          </p:cNvSpPr>
          <p:nvPr>
            <p:ph type="title"/>
          </p:nvPr>
        </p:nvSpPr>
        <p:spPr/>
        <p:txBody>
          <a:bodyPr/>
          <a:lstStyle/>
          <a:p>
            <a:r>
              <a:rPr lang="en-US" dirty="0"/>
              <a:t>Context-free grammar</a:t>
            </a:r>
          </a:p>
        </p:txBody>
      </p:sp>
      <p:sp>
        <p:nvSpPr>
          <p:cNvPr id="3" name="Content Placeholder 2">
            <a:extLst>
              <a:ext uri="{FF2B5EF4-FFF2-40B4-BE49-F238E27FC236}">
                <a16:creationId xmlns:a16="http://schemas.microsoft.com/office/drawing/2014/main" id="{B902AFF6-E7E3-D24B-A637-08064E0DDEA1}"/>
              </a:ext>
            </a:extLst>
          </p:cNvPr>
          <p:cNvSpPr>
            <a:spLocks noGrp="1"/>
          </p:cNvSpPr>
          <p:nvPr>
            <p:ph idx="1"/>
          </p:nvPr>
        </p:nvSpPr>
        <p:spPr>
          <a:xfrm>
            <a:off x="381000" y="2136337"/>
            <a:ext cx="5814527" cy="3768074"/>
          </a:xfrm>
        </p:spPr>
        <p:txBody>
          <a:bodyPr>
            <a:normAutofit fontScale="92500" lnSpcReduction="20000"/>
          </a:bodyPr>
          <a:lstStyle/>
          <a:p>
            <a:pPr marL="0" indent="0">
              <a:buNone/>
            </a:pPr>
            <a:r>
              <a:rPr lang="en-US" dirty="0"/>
              <a:t>We will use </a:t>
            </a:r>
            <a:r>
              <a:rPr lang="en-US" i="1" dirty="0"/>
              <a:t>Backus–</a:t>
            </a:r>
            <a:r>
              <a:rPr lang="en-US" i="1" dirty="0" err="1"/>
              <a:t>Naur</a:t>
            </a:r>
            <a:r>
              <a:rPr lang="en-US" i="1" dirty="0"/>
              <a:t> form </a:t>
            </a:r>
            <a:r>
              <a:rPr lang="en-US" dirty="0"/>
              <a:t>(BNF) form</a:t>
            </a:r>
            <a:endParaRPr lang="en-US" i="1" dirty="0"/>
          </a:p>
          <a:p>
            <a:pPr marL="0" indent="0">
              <a:buNone/>
            </a:pPr>
            <a:endParaRPr lang="en-US" dirty="0"/>
          </a:p>
          <a:p>
            <a:r>
              <a:rPr lang="en-US" dirty="0"/>
              <a:t>Production rules contain a sequence of either non-terminals or terminals</a:t>
            </a:r>
          </a:p>
          <a:p>
            <a:endParaRPr lang="en-US" dirty="0"/>
          </a:p>
          <a:p>
            <a:r>
              <a:rPr lang="en-US" dirty="0"/>
              <a:t>In our class, terminals will either be string constants or tokens</a:t>
            </a:r>
          </a:p>
          <a:p>
            <a:endParaRPr lang="en-US" dirty="0"/>
          </a:p>
          <a:p>
            <a:r>
              <a:rPr lang="en-US" dirty="0"/>
              <a:t>Traditionally tokens will be all caps. </a:t>
            </a:r>
          </a:p>
        </p:txBody>
      </p:sp>
      <p:sp>
        <p:nvSpPr>
          <p:cNvPr id="4" name="TextBox 3">
            <a:extLst>
              <a:ext uri="{FF2B5EF4-FFF2-40B4-BE49-F238E27FC236}">
                <a16:creationId xmlns:a16="http://schemas.microsoft.com/office/drawing/2014/main" id="{0A0A638A-73EE-014C-A72D-AE02C9B96026}"/>
              </a:ext>
            </a:extLst>
          </p:cNvPr>
          <p:cNvSpPr txBox="1"/>
          <p:nvPr/>
        </p:nvSpPr>
        <p:spPr>
          <a:xfrm>
            <a:off x="6819615" y="2807729"/>
            <a:ext cx="3631122" cy="369332"/>
          </a:xfrm>
          <a:prstGeom prst="rect">
            <a:avLst/>
          </a:prstGeom>
          <a:noFill/>
        </p:spPr>
        <p:txBody>
          <a:bodyPr wrap="none" rtlCol="0">
            <a:spAutoFit/>
          </a:bodyPr>
          <a:lstStyle/>
          <a:p>
            <a:r>
              <a:rPr lang="en-US" dirty="0" err="1">
                <a:latin typeface="Courier" pitchFamily="2" charset="0"/>
              </a:rPr>
              <a:t>add_expr</a:t>
            </a:r>
            <a:r>
              <a:rPr lang="en-US" dirty="0">
                <a:latin typeface="Courier" pitchFamily="2" charset="0"/>
              </a:rPr>
              <a:t> ::= NUM ‘+’ NUM</a:t>
            </a:r>
          </a:p>
        </p:txBody>
      </p:sp>
      <p:sp>
        <p:nvSpPr>
          <p:cNvPr id="5" name="TextBox 4">
            <a:extLst>
              <a:ext uri="{FF2B5EF4-FFF2-40B4-BE49-F238E27FC236}">
                <a16:creationId xmlns:a16="http://schemas.microsoft.com/office/drawing/2014/main" id="{839F05F9-412B-8643-B54B-7C01C9900B83}"/>
              </a:ext>
            </a:extLst>
          </p:cNvPr>
          <p:cNvSpPr txBox="1"/>
          <p:nvPr/>
        </p:nvSpPr>
        <p:spPr>
          <a:xfrm>
            <a:off x="6819615" y="3592073"/>
            <a:ext cx="3631122" cy="369332"/>
          </a:xfrm>
          <a:prstGeom prst="rect">
            <a:avLst/>
          </a:prstGeom>
          <a:noFill/>
        </p:spPr>
        <p:txBody>
          <a:bodyPr wrap="none" rtlCol="0">
            <a:spAutoFit/>
          </a:bodyPr>
          <a:lstStyle/>
          <a:p>
            <a:r>
              <a:rPr lang="en-US" dirty="0" err="1">
                <a:latin typeface="Courier" pitchFamily="2" charset="0"/>
              </a:rPr>
              <a:t>mult_expr</a:t>
            </a:r>
            <a:r>
              <a:rPr lang="en-US" dirty="0">
                <a:latin typeface="Courier" pitchFamily="2" charset="0"/>
              </a:rPr>
              <a:t> ::= NUM ‘*’ NUM</a:t>
            </a:r>
          </a:p>
        </p:txBody>
      </p:sp>
      <p:sp>
        <p:nvSpPr>
          <p:cNvPr id="6" name="TextBox 5">
            <a:extLst>
              <a:ext uri="{FF2B5EF4-FFF2-40B4-BE49-F238E27FC236}">
                <a16:creationId xmlns:a16="http://schemas.microsoft.com/office/drawing/2014/main" id="{A0C14E7C-5E9A-2845-9745-7A000B4ED0E6}"/>
              </a:ext>
            </a:extLst>
          </p:cNvPr>
          <p:cNvSpPr txBox="1"/>
          <p:nvPr/>
        </p:nvSpPr>
        <p:spPr>
          <a:xfrm>
            <a:off x="6819615" y="4515829"/>
            <a:ext cx="5147563" cy="1477328"/>
          </a:xfrm>
          <a:prstGeom prst="rect">
            <a:avLst/>
          </a:prstGeom>
          <a:noFill/>
        </p:spPr>
        <p:txBody>
          <a:bodyPr wrap="none" rtlCol="0">
            <a:spAutoFit/>
          </a:bodyPr>
          <a:lstStyle/>
          <a:p>
            <a:r>
              <a:rPr lang="en-US" dirty="0" err="1">
                <a:latin typeface="Courier" pitchFamily="2" charset="0"/>
              </a:rPr>
              <a:t>joint_expr</a:t>
            </a:r>
            <a:r>
              <a:rPr lang="en-US" dirty="0">
                <a:latin typeface="Courier" pitchFamily="2" charset="0"/>
              </a:rPr>
              <a:t> ::= </a:t>
            </a:r>
            <a:r>
              <a:rPr lang="en-US" dirty="0" err="1">
                <a:latin typeface="Courier" pitchFamily="2" charset="0"/>
              </a:rPr>
              <a:t>add_expr</a:t>
            </a:r>
            <a:r>
              <a:rPr lang="en-US" dirty="0">
                <a:latin typeface="Courier" pitchFamily="2" charset="0"/>
              </a:rPr>
              <a:t> ‘*’ </a:t>
            </a:r>
            <a:r>
              <a:rPr lang="en-US" dirty="0" err="1">
                <a:latin typeface="Courier" pitchFamily="2" charset="0"/>
              </a:rPr>
              <a:t>add_expr</a:t>
            </a:r>
            <a:br>
              <a:rPr lang="en-US" dirty="0">
                <a:latin typeface="Courier" pitchFamily="2" charset="0"/>
              </a:rPr>
            </a:br>
            <a:endParaRPr lang="en-US" dirty="0">
              <a:latin typeface="Courier" pitchFamily="2" charset="0"/>
            </a:endParaRPr>
          </a:p>
          <a:p>
            <a:br>
              <a:rPr lang="en-US" dirty="0">
                <a:latin typeface="Courier" pitchFamily="2" charset="0"/>
              </a:rPr>
            </a:br>
            <a:r>
              <a:rPr lang="en-US" dirty="0" err="1">
                <a:latin typeface="Courier" pitchFamily="2" charset="0"/>
              </a:rPr>
              <a:t>simple_expr</a:t>
            </a:r>
            <a:r>
              <a:rPr lang="en-US" dirty="0">
                <a:latin typeface="Courier" pitchFamily="2" charset="0"/>
              </a:rPr>
              <a:t> ::= NUM ‘+’ NUM</a:t>
            </a:r>
          </a:p>
          <a:p>
            <a:r>
              <a:rPr lang="en-US" dirty="0">
                <a:latin typeface="Courier" pitchFamily="2" charset="0"/>
              </a:rPr>
              <a:t>            |   NUM ‘*’ NUM</a:t>
            </a:r>
          </a:p>
        </p:txBody>
      </p:sp>
      <p:sp>
        <p:nvSpPr>
          <p:cNvPr id="7" name="TextBox 6">
            <a:extLst>
              <a:ext uri="{FF2B5EF4-FFF2-40B4-BE49-F238E27FC236}">
                <a16:creationId xmlns:a16="http://schemas.microsoft.com/office/drawing/2014/main" id="{0C4823D0-3FD4-254C-89FD-F8F4B64E5477}"/>
              </a:ext>
            </a:extLst>
          </p:cNvPr>
          <p:cNvSpPr txBox="1"/>
          <p:nvPr/>
        </p:nvSpPr>
        <p:spPr>
          <a:xfrm>
            <a:off x="6819615" y="2087382"/>
            <a:ext cx="1425390" cy="369332"/>
          </a:xfrm>
          <a:prstGeom prst="rect">
            <a:avLst/>
          </a:prstGeom>
          <a:noFill/>
        </p:spPr>
        <p:txBody>
          <a:bodyPr wrap="none" rtlCol="0">
            <a:spAutoFit/>
          </a:bodyPr>
          <a:lstStyle/>
          <a:p>
            <a:r>
              <a:rPr lang="en-US" dirty="0">
                <a:latin typeface="Courier" pitchFamily="2" charset="0"/>
              </a:rPr>
              <a:t>Examples:</a:t>
            </a:r>
          </a:p>
        </p:txBody>
      </p:sp>
    </p:spTree>
    <p:extLst>
      <p:ext uri="{BB962C8B-B14F-4D97-AF65-F5344CB8AC3E}">
        <p14:creationId xmlns:p14="http://schemas.microsoft.com/office/powerpoint/2010/main" val="3991861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7A923-0834-AA46-AC5E-5E0B2AA382F2}"/>
              </a:ext>
            </a:extLst>
          </p:cNvPr>
          <p:cNvSpPr>
            <a:spLocks noGrp="1"/>
          </p:cNvSpPr>
          <p:nvPr>
            <p:ph type="title"/>
          </p:nvPr>
        </p:nvSpPr>
        <p:spPr/>
        <p:txBody>
          <a:bodyPr/>
          <a:lstStyle/>
          <a:p>
            <a:r>
              <a:rPr lang="en-US" dirty="0"/>
              <a:t>Quiz</a:t>
            </a:r>
          </a:p>
        </p:txBody>
      </p:sp>
      <p:pic>
        <p:nvPicPr>
          <p:cNvPr id="4" name="Picture 3">
            <a:extLst>
              <a:ext uri="{FF2B5EF4-FFF2-40B4-BE49-F238E27FC236}">
                <a16:creationId xmlns:a16="http://schemas.microsoft.com/office/drawing/2014/main" id="{B6C273A3-0EC0-7044-87B8-CDB15E2D1447}"/>
              </a:ext>
            </a:extLst>
          </p:cNvPr>
          <p:cNvPicPr>
            <a:picLocks noChangeAspect="1"/>
          </p:cNvPicPr>
          <p:nvPr/>
        </p:nvPicPr>
        <p:blipFill>
          <a:blip r:embed="rId2"/>
          <a:stretch>
            <a:fillRect/>
          </a:stretch>
        </p:blipFill>
        <p:spPr>
          <a:xfrm>
            <a:off x="1543050" y="2444750"/>
            <a:ext cx="9105900" cy="1968500"/>
          </a:xfrm>
          <a:prstGeom prst="rect">
            <a:avLst/>
          </a:prstGeom>
          <a:ln>
            <a:noFill/>
          </a:ln>
          <a:effectLst>
            <a:outerShdw blurRad="292100" dist="139700" dir="2700000" algn="tl" rotWithShape="0">
              <a:srgbClr val="333333">
                <a:alpha val="65000"/>
              </a:srgbClr>
            </a:outerShdw>
          </a:effectLst>
        </p:spPr>
      </p:pic>
      <p:sp>
        <p:nvSpPr>
          <p:cNvPr id="3" name="TextBox 2">
            <a:extLst>
              <a:ext uri="{FF2B5EF4-FFF2-40B4-BE49-F238E27FC236}">
                <a16:creationId xmlns:a16="http://schemas.microsoft.com/office/drawing/2014/main" id="{772D0BEA-B31A-1AED-3D19-7448D286C60B}"/>
              </a:ext>
            </a:extLst>
          </p:cNvPr>
          <p:cNvSpPr txBox="1"/>
          <p:nvPr/>
        </p:nvSpPr>
        <p:spPr>
          <a:xfrm>
            <a:off x="1685108" y="5029201"/>
            <a:ext cx="7942217" cy="923330"/>
          </a:xfrm>
          <a:prstGeom prst="rect">
            <a:avLst/>
          </a:prstGeom>
          <a:noFill/>
        </p:spPr>
        <p:txBody>
          <a:bodyPr wrap="square" rtlCol="0">
            <a:spAutoFit/>
          </a:bodyPr>
          <a:lstStyle/>
          <a:p>
            <a:r>
              <a:rPr lang="en-US" dirty="0"/>
              <a:t>Not discussed yet.  This is TRUE if the Grammar is unambiguous.   The trees will create different sentential forms at different steps, but the tree will always be unique if the grammar is unambiguous.   To be discussed in class.</a:t>
            </a:r>
          </a:p>
        </p:txBody>
      </p:sp>
    </p:spTree>
    <p:extLst>
      <p:ext uri="{BB962C8B-B14F-4D97-AF65-F5344CB8AC3E}">
        <p14:creationId xmlns:p14="http://schemas.microsoft.com/office/powerpoint/2010/main" val="2006811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7A923-0834-AA46-AC5E-5E0B2AA382F2}"/>
              </a:ext>
            </a:extLst>
          </p:cNvPr>
          <p:cNvSpPr>
            <a:spLocks noGrp="1"/>
          </p:cNvSpPr>
          <p:nvPr>
            <p:ph type="title"/>
          </p:nvPr>
        </p:nvSpPr>
        <p:spPr/>
        <p:txBody>
          <a:bodyPr/>
          <a:lstStyle/>
          <a:p>
            <a:r>
              <a:rPr lang="en-US" dirty="0"/>
              <a:t>Quiz</a:t>
            </a:r>
          </a:p>
        </p:txBody>
      </p:sp>
      <p:pic>
        <p:nvPicPr>
          <p:cNvPr id="3" name="Picture 2">
            <a:extLst>
              <a:ext uri="{FF2B5EF4-FFF2-40B4-BE49-F238E27FC236}">
                <a16:creationId xmlns:a16="http://schemas.microsoft.com/office/drawing/2014/main" id="{C1C5AF25-77FC-5148-B0FC-AAB7DFEE2475}"/>
              </a:ext>
            </a:extLst>
          </p:cNvPr>
          <p:cNvPicPr>
            <a:picLocks noChangeAspect="1"/>
          </p:cNvPicPr>
          <p:nvPr/>
        </p:nvPicPr>
        <p:blipFill>
          <a:blip r:embed="rId2"/>
          <a:stretch>
            <a:fillRect/>
          </a:stretch>
        </p:blipFill>
        <p:spPr>
          <a:xfrm>
            <a:off x="1799607" y="2175494"/>
            <a:ext cx="9067800" cy="2032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44229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7A923-0834-AA46-AC5E-5E0B2AA382F2}"/>
              </a:ext>
            </a:extLst>
          </p:cNvPr>
          <p:cNvSpPr>
            <a:spLocks noGrp="1"/>
          </p:cNvSpPr>
          <p:nvPr>
            <p:ph type="title"/>
          </p:nvPr>
        </p:nvSpPr>
        <p:spPr/>
        <p:txBody>
          <a:bodyPr/>
          <a:lstStyle/>
          <a:p>
            <a:r>
              <a:rPr lang="en-US" dirty="0"/>
              <a:t>Programming language structure</a:t>
            </a:r>
          </a:p>
        </p:txBody>
      </p:sp>
      <p:sp>
        <p:nvSpPr>
          <p:cNvPr id="4" name="Rectangle 3">
            <a:extLst>
              <a:ext uri="{FF2B5EF4-FFF2-40B4-BE49-F238E27FC236}">
                <a16:creationId xmlns:a16="http://schemas.microsoft.com/office/drawing/2014/main" id="{EF32318D-03AE-4D4F-8622-C07A696DE322}"/>
              </a:ext>
            </a:extLst>
          </p:cNvPr>
          <p:cNvSpPr/>
          <p:nvPr/>
        </p:nvSpPr>
        <p:spPr>
          <a:xfrm>
            <a:off x="838200" y="1796903"/>
            <a:ext cx="2023872" cy="923330"/>
          </a:xfrm>
          <a:prstGeom prst="rect">
            <a:avLst/>
          </a:prstGeom>
        </p:spPr>
        <p:txBody>
          <a:bodyPr wrap="square">
            <a:spAutoFit/>
          </a:bodyPr>
          <a:lstStyle/>
          <a:p>
            <a:r>
              <a:rPr lang="en-US" b="1" dirty="0">
                <a:solidFill>
                  <a:srgbClr val="2EAEBB"/>
                </a:solidFill>
                <a:latin typeface="Menlo" panose="020B0609030804020204" pitchFamily="49" charset="0"/>
              </a:rPr>
              <a:t>if</a:t>
            </a:r>
            <a:r>
              <a:rPr lang="en-US" dirty="0">
                <a:solidFill>
                  <a:srgbClr val="000000"/>
                </a:solidFill>
                <a:latin typeface="Menlo" panose="020B0609030804020204" pitchFamily="49" charset="0"/>
              </a:rPr>
              <a:t> (x) {</a:t>
            </a:r>
          </a:p>
          <a:p>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my_var</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endParaRPr lang="en-US" dirty="0">
              <a:solidFill>
                <a:srgbClr val="000000"/>
              </a:solidFill>
              <a:effectLst/>
              <a:latin typeface="Menlo" panose="020B0609030804020204" pitchFamily="49" charset="0"/>
            </a:endParaRPr>
          </a:p>
        </p:txBody>
      </p:sp>
      <p:sp>
        <p:nvSpPr>
          <p:cNvPr id="5" name="Rectangle 4">
            <a:extLst>
              <a:ext uri="{FF2B5EF4-FFF2-40B4-BE49-F238E27FC236}">
                <a16:creationId xmlns:a16="http://schemas.microsoft.com/office/drawing/2014/main" id="{C52AE9BC-5244-334E-A367-0DD8B5658A7E}"/>
              </a:ext>
            </a:extLst>
          </p:cNvPr>
          <p:cNvSpPr/>
          <p:nvPr/>
        </p:nvSpPr>
        <p:spPr>
          <a:xfrm>
            <a:off x="4072128" y="1818316"/>
            <a:ext cx="2023872" cy="646331"/>
          </a:xfrm>
          <a:prstGeom prst="rect">
            <a:avLst/>
          </a:prstGeom>
        </p:spPr>
        <p:txBody>
          <a:bodyPr wrap="square">
            <a:spAutoFit/>
          </a:bodyPr>
          <a:lstStyle/>
          <a:p>
            <a:r>
              <a:rPr lang="en-US" b="1" dirty="0">
                <a:solidFill>
                  <a:srgbClr val="2EAEBB"/>
                </a:solidFill>
                <a:latin typeface="Menlo" panose="020B0609030804020204" pitchFamily="49" charset="0"/>
              </a:rPr>
              <a:t>if</a:t>
            </a:r>
            <a:r>
              <a:rPr lang="en-US" dirty="0">
                <a:solidFill>
                  <a:srgbClr val="000000"/>
                </a:solidFill>
                <a:latin typeface="Menlo" panose="020B0609030804020204" pitchFamily="49" charset="0"/>
              </a:rPr>
              <a:t> (x) </a:t>
            </a:r>
          </a:p>
          <a:p>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my_var</a:t>
            </a:r>
            <a:r>
              <a:rPr lang="en-US" dirty="0">
                <a:solidFill>
                  <a:srgbClr val="000000"/>
                </a:solidFill>
                <a:latin typeface="Menlo" panose="020B0609030804020204" pitchFamily="49" charset="0"/>
              </a:rPr>
              <a:t>++;</a:t>
            </a:r>
          </a:p>
        </p:txBody>
      </p:sp>
      <p:sp>
        <p:nvSpPr>
          <p:cNvPr id="6" name="TextBox 5">
            <a:extLst>
              <a:ext uri="{FF2B5EF4-FFF2-40B4-BE49-F238E27FC236}">
                <a16:creationId xmlns:a16="http://schemas.microsoft.com/office/drawing/2014/main" id="{3DDBD31C-4517-DF4B-8CBE-BD13095844D8}"/>
              </a:ext>
            </a:extLst>
          </p:cNvPr>
          <p:cNvSpPr txBox="1"/>
          <p:nvPr/>
        </p:nvSpPr>
        <p:spPr>
          <a:xfrm>
            <a:off x="3090672" y="1910648"/>
            <a:ext cx="519951" cy="461665"/>
          </a:xfrm>
          <a:prstGeom prst="rect">
            <a:avLst/>
          </a:prstGeom>
          <a:noFill/>
        </p:spPr>
        <p:txBody>
          <a:bodyPr wrap="none" rtlCol="0">
            <a:spAutoFit/>
          </a:bodyPr>
          <a:lstStyle/>
          <a:p>
            <a:r>
              <a:rPr lang="en-US" sz="2400" dirty="0"/>
              <a:t>vs.</a:t>
            </a:r>
          </a:p>
        </p:txBody>
      </p:sp>
      <p:sp>
        <p:nvSpPr>
          <p:cNvPr id="7" name="Rectangle 6">
            <a:extLst>
              <a:ext uri="{FF2B5EF4-FFF2-40B4-BE49-F238E27FC236}">
                <a16:creationId xmlns:a16="http://schemas.microsoft.com/office/drawing/2014/main" id="{90F7A62C-5512-0B43-8C3A-34CE90F9461B}"/>
              </a:ext>
            </a:extLst>
          </p:cNvPr>
          <p:cNvSpPr/>
          <p:nvPr/>
        </p:nvSpPr>
        <p:spPr>
          <a:xfrm>
            <a:off x="838200" y="3768436"/>
            <a:ext cx="1439818" cy="369332"/>
          </a:xfrm>
          <a:prstGeom prst="rect">
            <a:avLst/>
          </a:prstGeom>
        </p:spPr>
        <p:txBody>
          <a:bodyPr wrap="none">
            <a:spAutoFit/>
          </a:bodyPr>
          <a:lstStyle/>
          <a:p>
            <a:r>
              <a:rPr lang="en-US" dirty="0">
                <a:solidFill>
                  <a:srgbClr val="000000"/>
                </a:solidFill>
                <a:latin typeface="Menlo" panose="020B0609030804020204" pitchFamily="49" charset="0"/>
              </a:rPr>
              <a:t>5 + 6 * 3</a:t>
            </a:r>
            <a:endParaRPr lang="en-US" dirty="0">
              <a:solidFill>
                <a:srgbClr val="000000"/>
              </a:solidFill>
              <a:effectLst/>
              <a:latin typeface="Menlo" panose="020B0609030804020204" pitchFamily="49" charset="0"/>
            </a:endParaRPr>
          </a:p>
        </p:txBody>
      </p:sp>
      <p:sp>
        <p:nvSpPr>
          <p:cNvPr id="8" name="Rectangle 7">
            <a:extLst>
              <a:ext uri="{FF2B5EF4-FFF2-40B4-BE49-F238E27FC236}">
                <a16:creationId xmlns:a16="http://schemas.microsoft.com/office/drawing/2014/main" id="{A4A086A4-682F-B94C-9B73-BC12DA76558E}"/>
              </a:ext>
            </a:extLst>
          </p:cNvPr>
          <p:cNvSpPr/>
          <p:nvPr/>
        </p:nvSpPr>
        <p:spPr>
          <a:xfrm>
            <a:off x="4072128" y="3768436"/>
            <a:ext cx="1718740" cy="369332"/>
          </a:xfrm>
          <a:prstGeom prst="rect">
            <a:avLst/>
          </a:prstGeom>
        </p:spPr>
        <p:txBody>
          <a:bodyPr wrap="none">
            <a:spAutoFit/>
          </a:bodyPr>
          <a:lstStyle/>
          <a:p>
            <a:r>
              <a:rPr lang="en-US" dirty="0">
                <a:solidFill>
                  <a:srgbClr val="000000"/>
                </a:solidFill>
                <a:latin typeface="Menlo" panose="020B0609030804020204" pitchFamily="49" charset="0"/>
              </a:rPr>
              <a:t>5 + (6 * 3)</a:t>
            </a:r>
            <a:endParaRPr lang="en-US" dirty="0">
              <a:solidFill>
                <a:srgbClr val="000000"/>
              </a:solidFill>
              <a:effectLst/>
              <a:latin typeface="Menlo" panose="020B0609030804020204" pitchFamily="49" charset="0"/>
            </a:endParaRPr>
          </a:p>
        </p:txBody>
      </p:sp>
      <p:sp>
        <p:nvSpPr>
          <p:cNvPr id="9" name="TextBox 8">
            <a:extLst>
              <a:ext uri="{FF2B5EF4-FFF2-40B4-BE49-F238E27FC236}">
                <a16:creationId xmlns:a16="http://schemas.microsoft.com/office/drawing/2014/main" id="{291CB9B7-6BCA-D443-A135-E4F002723A78}"/>
              </a:ext>
            </a:extLst>
          </p:cNvPr>
          <p:cNvSpPr txBox="1"/>
          <p:nvPr/>
        </p:nvSpPr>
        <p:spPr>
          <a:xfrm>
            <a:off x="3090672" y="3687664"/>
            <a:ext cx="519951" cy="461665"/>
          </a:xfrm>
          <a:prstGeom prst="rect">
            <a:avLst/>
          </a:prstGeom>
          <a:noFill/>
        </p:spPr>
        <p:txBody>
          <a:bodyPr wrap="none" rtlCol="0">
            <a:spAutoFit/>
          </a:bodyPr>
          <a:lstStyle/>
          <a:p>
            <a:r>
              <a:rPr lang="en-US" sz="2400" dirty="0"/>
              <a:t>vs.</a:t>
            </a:r>
          </a:p>
        </p:txBody>
      </p:sp>
      <p:sp>
        <p:nvSpPr>
          <p:cNvPr id="10" name="Rectangle 9">
            <a:extLst>
              <a:ext uri="{FF2B5EF4-FFF2-40B4-BE49-F238E27FC236}">
                <a16:creationId xmlns:a16="http://schemas.microsoft.com/office/drawing/2014/main" id="{F1782A01-31EB-064C-8ED6-B49E2FFA86A8}"/>
              </a:ext>
            </a:extLst>
          </p:cNvPr>
          <p:cNvSpPr/>
          <p:nvPr/>
        </p:nvSpPr>
        <p:spPr>
          <a:xfrm>
            <a:off x="682752" y="5001305"/>
            <a:ext cx="1997663" cy="369332"/>
          </a:xfrm>
          <a:prstGeom prst="rect">
            <a:avLst/>
          </a:prstGeom>
        </p:spPr>
        <p:txBody>
          <a:bodyPr wrap="none">
            <a:spAutoFit/>
          </a:bodyPr>
          <a:lstStyle/>
          <a:p>
            <a:r>
              <a:rPr lang="en-US" dirty="0">
                <a:solidFill>
                  <a:srgbClr val="000000"/>
                </a:solidFill>
                <a:latin typeface="Menlo" panose="020B0609030804020204" pitchFamily="49" charset="0"/>
              </a:rPr>
              <a:t>(+ 5 (* 6 3))</a:t>
            </a:r>
            <a:endParaRPr lang="en-US" dirty="0">
              <a:solidFill>
                <a:srgbClr val="000000"/>
              </a:solidFill>
              <a:effectLst/>
              <a:latin typeface="Menlo" panose="020B0609030804020204" pitchFamily="49" charset="0"/>
            </a:endParaRPr>
          </a:p>
        </p:txBody>
      </p:sp>
      <p:sp>
        <p:nvSpPr>
          <p:cNvPr id="11" name="TextBox 10">
            <a:extLst>
              <a:ext uri="{FF2B5EF4-FFF2-40B4-BE49-F238E27FC236}">
                <a16:creationId xmlns:a16="http://schemas.microsoft.com/office/drawing/2014/main" id="{AC21034B-833E-4349-8673-419C49845513}"/>
              </a:ext>
            </a:extLst>
          </p:cNvPr>
          <p:cNvSpPr txBox="1"/>
          <p:nvPr/>
        </p:nvSpPr>
        <p:spPr>
          <a:xfrm>
            <a:off x="7022592" y="1984248"/>
            <a:ext cx="3530262" cy="369332"/>
          </a:xfrm>
          <a:prstGeom prst="rect">
            <a:avLst/>
          </a:prstGeom>
          <a:noFill/>
        </p:spPr>
        <p:txBody>
          <a:bodyPr wrap="none" rtlCol="0">
            <a:spAutoFit/>
          </a:bodyPr>
          <a:lstStyle/>
          <a:p>
            <a:r>
              <a:rPr lang="en-US" i="1" dirty="0"/>
              <a:t>Should conditionals require braces?</a:t>
            </a:r>
          </a:p>
        </p:txBody>
      </p:sp>
      <p:sp>
        <p:nvSpPr>
          <p:cNvPr id="12" name="TextBox 11">
            <a:extLst>
              <a:ext uri="{FF2B5EF4-FFF2-40B4-BE49-F238E27FC236}">
                <a16:creationId xmlns:a16="http://schemas.microsoft.com/office/drawing/2014/main" id="{49F3F1EB-4196-8C42-B82A-28B1EEC4DB69}"/>
              </a:ext>
            </a:extLst>
          </p:cNvPr>
          <p:cNvSpPr txBox="1"/>
          <p:nvPr/>
        </p:nvSpPr>
        <p:spPr>
          <a:xfrm>
            <a:off x="6816248" y="3779997"/>
            <a:ext cx="3899273" cy="369332"/>
          </a:xfrm>
          <a:prstGeom prst="rect">
            <a:avLst/>
          </a:prstGeom>
          <a:noFill/>
        </p:spPr>
        <p:txBody>
          <a:bodyPr wrap="none" rtlCol="0">
            <a:spAutoFit/>
          </a:bodyPr>
          <a:lstStyle/>
          <a:p>
            <a:r>
              <a:rPr lang="en-US" i="1" dirty="0"/>
              <a:t>should expressions require parenthesis?</a:t>
            </a:r>
          </a:p>
        </p:txBody>
      </p:sp>
      <p:sp>
        <p:nvSpPr>
          <p:cNvPr id="13" name="Rectangle 12">
            <a:extLst>
              <a:ext uri="{FF2B5EF4-FFF2-40B4-BE49-F238E27FC236}">
                <a16:creationId xmlns:a16="http://schemas.microsoft.com/office/drawing/2014/main" id="{CEC1B303-2229-C544-AB74-15076FB2CD64}"/>
              </a:ext>
            </a:extLst>
          </p:cNvPr>
          <p:cNvSpPr/>
          <p:nvPr/>
        </p:nvSpPr>
        <p:spPr>
          <a:xfrm>
            <a:off x="3932666" y="5001305"/>
            <a:ext cx="1997663" cy="369332"/>
          </a:xfrm>
          <a:prstGeom prst="rect">
            <a:avLst/>
          </a:prstGeom>
        </p:spPr>
        <p:txBody>
          <a:bodyPr wrap="none">
            <a:spAutoFit/>
          </a:bodyPr>
          <a:lstStyle/>
          <a:p>
            <a:r>
              <a:rPr lang="en-US" dirty="0">
                <a:solidFill>
                  <a:srgbClr val="000000"/>
                </a:solidFill>
                <a:latin typeface="Menlo" panose="020B0609030804020204" pitchFamily="49" charset="0"/>
              </a:rPr>
              <a:t>(+ 5 (* 6 3))</a:t>
            </a:r>
            <a:endParaRPr lang="en-US" dirty="0">
              <a:solidFill>
                <a:srgbClr val="000000"/>
              </a:solidFill>
              <a:effectLst/>
              <a:latin typeface="Menlo" panose="020B0609030804020204" pitchFamily="49" charset="0"/>
            </a:endParaRPr>
          </a:p>
        </p:txBody>
      </p:sp>
      <p:sp>
        <p:nvSpPr>
          <p:cNvPr id="14" name="TextBox 13">
            <a:extLst>
              <a:ext uri="{FF2B5EF4-FFF2-40B4-BE49-F238E27FC236}">
                <a16:creationId xmlns:a16="http://schemas.microsoft.com/office/drawing/2014/main" id="{0A050B1A-19F4-3843-A500-17DA1064B02E}"/>
              </a:ext>
            </a:extLst>
          </p:cNvPr>
          <p:cNvSpPr txBox="1"/>
          <p:nvPr/>
        </p:nvSpPr>
        <p:spPr>
          <a:xfrm>
            <a:off x="3090672" y="4955138"/>
            <a:ext cx="519951" cy="461665"/>
          </a:xfrm>
          <a:prstGeom prst="rect">
            <a:avLst/>
          </a:prstGeom>
          <a:noFill/>
        </p:spPr>
        <p:txBody>
          <a:bodyPr wrap="none" rtlCol="0">
            <a:spAutoFit/>
          </a:bodyPr>
          <a:lstStyle/>
          <a:p>
            <a:r>
              <a:rPr lang="en-US" sz="2400" dirty="0"/>
              <a:t>vs.</a:t>
            </a:r>
          </a:p>
        </p:txBody>
      </p:sp>
      <p:sp>
        <p:nvSpPr>
          <p:cNvPr id="15" name="TextBox 14">
            <a:extLst>
              <a:ext uri="{FF2B5EF4-FFF2-40B4-BE49-F238E27FC236}">
                <a16:creationId xmlns:a16="http://schemas.microsoft.com/office/drawing/2014/main" id="{D1F5959E-5E5B-874C-839D-73CB74AE89C0}"/>
              </a:ext>
            </a:extLst>
          </p:cNvPr>
          <p:cNvSpPr txBox="1"/>
          <p:nvPr/>
        </p:nvSpPr>
        <p:spPr>
          <a:xfrm>
            <a:off x="6816247" y="5001305"/>
            <a:ext cx="4247445" cy="369332"/>
          </a:xfrm>
          <a:prstGeom prst="rect">
            <a:avLst/>
          </a:prstGeom>
          <a:noFill/>
        </p:spPr>
        <p:txBody>
          <a:bodyPr wrap="none" rtlCol="0">
            <a:spAutoFit/>
          </a:bodyPr>
          <a:lstStyle/>
          <a:p>
            <a:r>
              <a:rPr lang="en-US" i="1" dirty="0"/>
              <a:t>S expressions (lisp) require explicit structure</a:t>
            </a:r>
          </a:p>
        </p:txBody>
      </p:sp>
      <p:sp>
        <p:nvSpPr>
          <p:cNvPr id="16" name="TextBox 15">
            <a:extLst>
              <a:ext uri="{FF2B5EF4-FFF2-40B4-BE49-F238E27FC236}">
                <a16:creationId xmlns:a16="http://schemas.microsoft.com/office/drawing/2014/main" id="{591A3805-1F9E-5548-A35F-DDCC84C70587}"/>
              </a:ext>
            </a:extLst>
          </p:cNvPr>
          <p:cNvSpPr txBox="1"/>
          <p:nvPr/>
        </p:nvSpPr>
        <p:spPr>
          <a:xfrm>
            <a:off x="4436988" y="6049508"/>
            <a:ext cx="3318024" cy="369332"/>
          </a:xfrm>
          <a:prstGeom prst="rect">
            <a:avLst/>
          </a:prstGeom>
          <a:noFill/>
        </p:spPr>
        <p:txBody>
          <a:bodyPr wrap="none" rtlCol="0">
            <a:spAutoFit/>
          </a:bodyPr>
          <a:lstStyle/>
          <a:p>
            <a:r>
              <a:rPr lang="en-US" b="1" i="1" dirty="0"/>
              <a:t>What are pros and cons of each?</a:t>
            </a:r>
          </a:p>
        </p:txBody>
      </p:sp>
    </p:spTree>
    <p:extLst>
      <p:ext uri="{BB962C8B-B14F-4D97-AF65-F5344CB8AC3E}">
        <p14:creationId xmlns:p14="http://schemas.microsoft.com/office/powerpoint/2010/main" val="2660444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AF96F-1185-6DEC-3005-968966CE0687}"/>
              </a:ext>
            </a:extLst>
          </p:cNvPr>
          <p:cNvSpPr>
            <a:spLocks noGrp="1"/>
          </p:cNvSpPr>
          <p:nvPr>
            <p:ph type="ctrTitle"/>
          </p:nvPr>
        </p:nvSpPr>
        <p:spPr/>
        <p:txBody>
          <a:bodyPr/>
          <a:lstStyle/>
          <a:p>
            <a:r>
              <a:rPr lang="en-US" dirty="0"/>
              <a:t>Quiz: Top Down Parsing</a:t>
            </a:r>
          </a:p>
        </p:txBody>
      </p:sp>
    </p:spTree>
    <p:extLst>
      <p:ext uri="{BB962C8B-B14F-4D97-AF65-F5344CB8AC3E}">
        <p14:creationId xmlns:p14="http://schemas.microsoft.com/office/powerpoint/2010/main" val="1332112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4" name="Picture 3">
            <a:extLst>
              <a:ext uri="{FF2B5EF4-FFF2-40B4-BE49-F238E27FC236}">
                <a16:creationId xmlns:a16="http://schemas.microsoft.com/office/drawing/2014/main" id="{D1DDEF27-6B9F-819E-3082-FC9C55C95D31}"/>
              </a:ext>
            </a:extLst>
          </p:cNvPr>
          <p:cNvPicPr>
            <a:picLocks noChangeAspect="1"/>
          </p:cNvPicPr>
          <p:nvPr/>
        </p:nvPicPr>
        <p:blipFill>
          <a:blip r:embed="rId2"/>
          <a:stretch>
            <a:fillRect/>
          </a:stretch>
        </p:blipFill>
        <p:spPr>
          <a:xfrm>
            <a:off x="3213229" y="2033620"/>
            <a:ext cx="7772400" cy="3565434"/>
          </a:xfrm>
          <a:prstGeom prst="rect">
            <a:avLst/>
          </a:prstGeom>
        </p:spPr>
      </p:pic>
    </p:spTree>
    <p:extLst>
      <p:ext uri="{BB962C8B-B14F-4D97-AF65-F5344CB8AC3E}">
        <p14:creationId xmlns:p14="http://schemas.microsoft.com/office/powerpoint/2010/main" val="2978940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sp>
        <p:nvSpPr>
          <p:cNvPr id="4" name="Rectangle 3">
            <a:extLst>
              <a:ext uri="{FF2B5EF4-FFF2-40B4-BE49-F238E27FC236}">
                <a16:creationId xmlns:a16="http://schemas.microsoft.com/office/drawing/2014/main" id="{0012F020-01E1-AC47-A673-1805EB9BF635}"/>
              </a:ext>
            </a:extLst>
          </p:cNvPr>
          <p:cNvSpPr/>
          <p:nvPr/>
        </p:nvSpPr>
        <p:spPr>
          <a:xfrm>
            <a:off x="5172872" y="3761872"/>
            <a:ext cx="1287532" cy="369332"/>
          </a:xfrm>
          <a:prstGeom prst="rect">
            <a:avLst/>
          </a:prstGeom>
        </p:spPr>
        <p:txBody>
          <a:bodyPr wrap="none">
            <a:spAutoFit/>
          </a:bodyPr>
          <a:lstStyle/>
          <a:p>
            <a:r>
              <a:rPr lang="en-US" dirty="0">
                <a:solidFill>
                  <a:srgbClr val="2D3B45"/>
                </a:solidFill>
                <a:latin typeface="Courier" pitchFamily="2" charset="0"/>
              </a:rPr>
              <a:t>XXXXXXXY</a:t>
            </a:r>
            <a:endParaRPr lang="en-US" dirty="0">
              <a:latin typeface="Courier" pitchFamily="2" charset="0"/>
            </a:endParaRPr>
          </a:p>
        </p:txBody>
      </p:sp>
      <p:sp>
        <p:nvSpPr>
          <p:cNvPr id="5" name="TextBox 4">
            <a:extLst>
              <a:ext uri="{FF2B5EF4-FFF2-40B4-BE49-F238E27FC236}">
                <a16:creationId xmlns:a16="http://schemas.microsoft.com/office/drawing/2014/main" id="{AADC4D58-F35D-314B-901D-D600467E2534}"/>
              </a:ext>
            </a:extLst>
          </p:cNvPr>
          <p:cNvSpPr txBox="1"/>
          <p:nvPr/>
        </p:nvSpPr>
        <p:spPr>
          <a:xfrm>
            <a:off x="2099733" y="3761872"/>
            <a:ext cx="2134623" cy="369332"/>
          </a:xfrm>
          <a:prstGeom prst="rect">
            <a:avLst/>
          </a:prstGeom>
          <a:noFill/>
        </p:spPr>
        <p:txBody>
          <a:bodyPr wrap="none" rtlCol="0">
            <a:spAutoFit/>
          </a:bodyPr>
          <a:lstStyle/>
          <a:p>
            <a:r>
              <a:rPr lang="en-US" dirty="0"/>
              <a:t>How about this one?</a:t>
            </a:r>
          </a:p>
        </p:txBody>
      </p:sp>
      <p:graphicFrame>
        <p:nvGraphicFramePr>
          <p:cNvPr id="6" name="Table 9">
            <a:extLst>
              <a:ext uri="{FF2B5EF4-FFF2-40B4-BE49-F238E27FC236}">
                <a16:creationId xmlns:a16="http://schemas.microsoft.com/office/drawing/2014/main" id="{59FF01D5-5DB8-D145-ABAF-46E158A029DA}"/>
              </a:ext>
            </a:extLst>
          </p:cNvPr>
          <p:cNvGraphicFramePr>
            <a:graphicFrameLocks noGrp="1"/>
          </p:cNvGraphicFramePr>
          <p:nvPr/>
        </p:nvGraphicFramePr>
        <p:xfrm>
          <a:off x="3167044" y="4836982"/>
          <a:ext cx="5105400" cy="1483360"/>
        </p:xfrm>
        <a:graphic>
          <a:graphicData uri="http://schemas.openxmlformats.org/drawingml/2006/table">
            <a:tbl>
              <a:tblPr firstRow="1" bandRow="1">
                <a:tableStyleId>{16D9F66E-5EB9-4882-86FB-DCBF35E3C3E4}</a:tableStyleId>
              </a:tblPr>
              <a:tblGrid>
                <a:gridCol w="2552700">
                  <a:extLst>
                    <a:ext uri="{9D8B030D-6E8A-4147-A177-3AD203B41FA5}">
                      <a16:colId xmlns:a16="http://schemas.microsoft.com/office/drawing/2014/main" val="3057982666"/>
                    </a:ext>
                  </a:extLst>
                </a:gridCol>
                <a:gridCol w="2552700">
                  <a:extLst>
                    <a:ext uri="{9D8B030D-6E8A-4147-A177-3AD203B41FA5}">
                      <a16:colId xmlns:a16="http://schemas.microsoft.com/office/drawing/2014/main" val="1885399885"/>
                    </a:ext>
                  </a:extLst>
                </a:gridCol>
              </a:tblGrid>
              <a:tr h="370840">
                <a:tc>
                  <a:txBody>
                    <a:bodyPr/>
                    <a:lstStyle/>
                    <a:p>
                      <a:r>
                        <a:rPr lang="en-US" dirty="0"/>
                        <a:t>RULE</a:t>
                      </a:r>
                    </a:p>
                  </a:txBody>
                  <a:tcPr/>
                </a:tc>
                <a:tc>
                  <a:txBody>
                    <a:bodyPr/>
                    <a:lstStyle/>
                    <a:p>
                      <a:r>
                        <a:rPr lang="en-US" dirty="0"/>
                        <a:t>Sentential Form</a:t>
                      </a:r>
                    </a:p>
                  </a:txBody>
                  <a:tcPr/>
                </a:tc>
                <a:extLst>
                  <a:ext uri="{0D108BD9-81ED-4DB2-BD59-A6C34878D82A}">
                    <a16:rowId xmlns:a16="http://schemas.microsoft.com/office/drawing/2014/main" val="1527012792"/>
                  </a:ext>
                </a:extLst>
              </a:tr>
              <a:tr h="370840">
                <a:tc>
                  <a:txBody>
                    <a:bodyPr/>
                    <a:lstStyle/>
                    <a:p>
                      <a:r>
                        <a:rPr lang="en-US" dirty="0"/>
                        <a:t>start</a:t>
                      </a:r>
                    </a:p>
                  </a:txBody>
                  <a:tcPr/>
                </a:tc>
                <a:tc>
                  <a:txBody>
                    <a:bodyPr/>
                    <a:lstStyle/>
                    <a:p>
                      <a:r>
                        <a:rPr lang="en-US" dirty="0"/>
                        <a:t>a</a:t>
                      </a:r>
                    </a:p>
                  </a:txBody>
                  <a:tcPr/>
                </a:tc>
                <a:extLst>
                  <a:ext uri="{0D108BD9-81ED-4DB2-BD59-A6C34878D82A}">
                    <a16:rowId xmlns:a16="http://schemas.microsoft.com/office/drawing/2014/main" val="1765063534"/>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257291248"/>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6651077"/>
                  </a:ext>
                </a:extLst>
              </a:tr>
            </a:tbl>
          </a:graphicData>
        </a:graphic>
      </p:graphicFrame>
      <p:sp>
        <p:nvSpPr>
          <p:cNvPr id="7" name="TextBox 6">
            <a:extLst>
              <a:ext uri="{FF2B5EF4-FFF2-40B4-BE49-F238E27FC236}">
                <a16:creationId xmlns:a16="http://schemas.microsoft.com/office/drawing/2014/main" id="{69CF21B1-8C3C-4247-B177-423E8C3384C0}"/>
              </a:ext>
            </a:extLst>
          </p:cNvPr>
          <p:cNvSpPr txBox="1"/>
          <p:nvPr/>
        </p:nvSpPr>
        <p:spPr>
          <a:xfrm>
            <a:off x="1429747" y="2167466"/>
            <a:ext cx="301686" cy="646331"/>
          </a:xfrm>
          <a:prstGeom prst="rect">
            <a:avLst/>
          </a:prstGeom>
          <a:noFill/>
        </p:spPr>
        <p:txBody>
          <a:bodyPr wrap="none" rtlCol="0">
            <a:spAutoFit/>
          </a:bodyPr>
          <a:lstStyle/>
          <a:p>
            <a:r>
              <a:rPr lang="en-US" dirty="0"/>
              <a:t>1</a:t>
            </a:r>
            <a:br>
              <a:rPr lang="en-US" dirty="0"/>
            </a:br>
            <a:r>
              <a:rPr lang="en-US" dirty="0"/>
              <a:t>2</a:t>
            </a:r>
          </a:p>
        </p:txBody>
      </p:sp>
      <p:pic>
        <p:nvPicPr>
          <p:cNvPr id="8" name="Picture 7">
            <a:extLst>
              <a:ext uri="{FF2B5EF4-FFF2-40B4-BE49-F238E27FC236}">
                <a16:creationId xmlns:a16="http://schemas.microsoft.com/office/drawing/2014/main" id="{99DC0FBF-2903-0990-F27E-CC43C8550846}"/>
              </a:ext>
            </a:extLst>
          </p:cNvPr>
          <p:cNvPicPr>
            <a:picLocks noChangeAspect="1"/>
          </p:cNvPicPr>
          <p:nvPr/>
        </p:nvPicPr>
        <p:blipFill rotWithShape="1">
          <a:blip r:embed="rId2"/>
          <a:srcRect b="65654"/>
          <a:stretch/>
        </p:blipFill>
        <p:spPr>
          <a:xfrm>
            <a:off x="1731433" y="1690688"/>
            <a:ext cx="7772400" cy="1224587"/>
          </a:xfrm>
          <a:prstGeom prst="rect">
            <a:avLst/>
          </a:prstGeom>
        </p:spPr>
      </p:pic>
    </p:spTree>
    <p:extLst>
      <p:ext uri="{BB962C8B-B14F-4D97-AF65-F5344CB8AC3E}">
        <p14:creationId xmlns:p14="http://schemas.microsoft.com/office/powerpoint/2010/main" val="236640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sp>
        <p:nvSpPr>
          <p:cNvPr id="4" name="Rectangle 3">
            <a:extLst>
              <a:ext uri="{FF2B5EF4-FFF2-40B4-BE49-F238E27FC236}">
                <a16:creationId xmlns:a16="http://schemas.microsoft.com/office/drawing/2014/main" id="{0012F020-01E1-AC47-A673-1805EB9BF635}"/>
              </a:ext>
            </a:extLst>
          </p:cNvPr>
          <p:cNvSpPr/>
          <p:nvPr/>
        </p:nvSpPr>
        <p:spPr>
          <a:xfrm>
            <a:off x="5172872" y="3761872"/>
            <a:ext cx="1287532" cy="369332"/>
          </a:xfrm>
          <a:prstGeom prst="rect">
            <a:avLst/>
          </a:prstGeom>
        </p:spPr>
        <p:txBody>
          <a:bodyPr wrap="none">
            <a:spAutoFit/>
          </a:bodyPr>
          <a:lstStyle/>
          <a:p>
            <a:r>
              <a:rPr lang="en-US" dirty="0">
                <a:solidFill>
                  <a:srgbClr val="2D3B45"/>
                </a:solidFill>
                <a:latin typeface="Courier" pitchFamily="2" charset="0"/>
              </a:rPr>
              <a:t>XXXXXXXY</a:t>
            </a:r>
            <a:endParaRPr lang="en-US" dirty="0">
              <a:latin typeface="Courier" pitchFamily="2" charset="0"/>
            </a:endParaRPr>
          </a:p>
        </p:txBody>
      </p:sp>
      <p:sp>
        <p:nvSpPr>
          <p:cNvPr id="5" name="TextBox 4">
            <a:extLst>
              <a:ext uri="{FF2B5EF4-FFF2-40B4-BE49-F238E27FC236}">
                <a16:creationId xmlns:a16="http://schemas.microsoft.com/office/drawing/2014/main" id="{AADC4D58-F35D-314B-901D-D600467E2534}"/>
              </a:ext>
            </a:extLst>
          </p:cNvPr>
          <p:cNvSpPr txBox="1"/>
          <p:nvPr/>
        </p:nvSpPr>
        <p:spPr>
          <a:xfrm>
            <a:off x="2099733" y="3761872"/>
            <a:ext cx="2134623" cy="369332"/>
          </a:xfrm>
          <a:prstGeom prst="rect">
            <a:avLst/>
          </a:prstGeom>
          <a:noFill/>
        </p:spPr>
        <p:txBody>
          <a:bodyPr wrap="none" rtlCol="0">
            <a:spAutoFit/>
          </a:bodyPr>
          <a:lstStyle/>
          <a:p>
            <a:r>
              <a:rPr lang="en-US" dirty="0"/>
              <a:t>How about this one?</a:t>
            </a:r>
          </a:p>
        </p:txBody>
      </p:sp>
      <p:graphicFrame>
        <p:nvGraphicFramePr>
          <p:cNvPr id="6" name="Table 9">
            <a:extLst>
              <a:ext uri="{FF2B5EF4-FFF2-40B4-BE49-F238E27FC236}">
                <a16:creationId xmlns:a16="http://schemas.microsoft.com/office/drawing/2014/main" id="{59FF01D5-5DB8-D145-ABAF-46E158A029DA}"/>
              </a:ext>
            </a:extLst>
          </p:cNvPr>
          <p:cNvGraphicFramePr>
            <a:graphicFrameLocks noGrp="1"/>
          </p:cNvGraphicFramePr>
          <p:nvPr/>
        </p:nvGraphicFramePr>
        <p:xfrm>
          <a:off x="3167044" y="4836982"/>
          <a:ext cx="5105400" cy="1483360"/>
        </p:xfrm>
        <a:graphic>
          <a:graphicData uri="http://schemas.openxmlformats.org/drawingml/2006/table">
            <a:tbl>
              <a:tblPr firstRow="1" bandRow="1">
                <a:tableStyleId>{16D9F66E-5EB9-4882-86FB-DCBF35E3C3E4}</a:tableStyleId>
              </a:tblPr>
              <a:tblGrid>
                <a:gridCol w="2552700">
                  <a:extLst>
                    <a:ext uri="{9D8B030D-6E8A-4147-A177-3AD203B41FA5}">
                      <a16:colId xmlns:a16="http://schemas.microsoft.com/office/drawing/2014/main" val="3057982666"/>
                    </a:ext>
                  </a:extLst>
                </a:gridCol>
                <a:gridCol w="2552700">
                  <a:extLst>
                    <a:ext uri="{9D8B030D-6E8A-4147-A177-3AD203B41FA5}">
                      <a16:colId xmlns:a16="http://schemas.microsoft.com/office/drawing/2014/main" val="1885399885"/>
                    </a:ext>
                  </a:extLst>
                </a:gridCol>
              </a:tblGrid>
              <a:tr h="370840">
                <a:tc>
                  <a:txBody>
                    <a:bodyPr/>
                    <a:lstStyle/>
                    <a:p>
                      <a:r>
                        <a:rPr lang="en-US" dirty="0"/>
                        <a:t>RULE</a:t>
                      </a:r>
                    </a:p>
                  </a:txBody>
                  <a:tcPr/>
                </a:tc>
                <a:tc>
                  <a:txBody>
                    <a:bodyPr/>
                    <a:lstStyle/>
                    <a:p>
                      <a:r>
                        <a:rPr lang="en-US" dirty="0"/>
                        <a:t>Sentential Form</a:t>
                      </a:r>
                    </a:p>
                  </a:txBody>
                  <a:tcPr/>
                </a:tc>
                <a:extLst>
                  <a:ext uri="{0D108BD9-81ED-4DB2-BD59-A6C34878D82A}">
                    <a16:rowId xmlns:a16="http://schemas.microsoft.com/office/drawing/2014/main" val="1527012792"/>
                  </a:ext>
                </a:extLst>
              </a:tr>
              <a:tr h="370840">
                <a:tc>
                  <a:txBody>
                    <a:bodyPr/>
                    <a:lstStyle/>
                    <a:p>
                      <a:r>
                        <a:rPr lang="en-US" dirty="0"/>
                        <a:t>start</a:t>
                      </a:r>
                    </a:p>
                  </a:txBody>
                  <a:tcPr/>
                </a:tc>
                <a:tc>
                  <a:txBody>
                    <a:bodyPr/>
                    <a:lstStyle/>
                    <a:p>
                      <a:r>
                        <a:rPr lang="en-US" dirty="0"/>
                        <a:t>a</a:t>
                      </a:r>
                    </a:p>
                  </a:txBody>
                  <a:tcPr/>
                </a:tc>
                <a:extLst>
                  <a:ext uri="{0D108BD9-81ED-4DB2-BD59-A6C34878D82A}">
                    <a16:rowId xmlns:a16="http://schemas.microsoft.com/office/drawing/2014/main" val="1765063534"/>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257291248"/>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6651077"/>
                  </a:ext>
                </a:extLst>
              </a:tr>
            </a:tbl>
          </a:graphicData>
        </a:graphic>
      </p:graphicFrame>
      <p:sp>
        <p:nvSpPr>
          <p:cNvPr id="7" name="TextBox 6">
            <a:extLst>
              <a:ext uri="{FF2B5EF4-FFF2-40B4-BE49-F238E27FC236}">
                <a16:creationId xmlns:a16="http://schemas.microsoft.com/office/drawing/2014/main" id="{69CF21B1-8C3C-4247-B177-423E8C3384C0}"/>
              </a:ext>
            </a:extLst>
          </p:cNvPr>
          <p:cNvSpPr txBox="1"/>
          <p:nvPr/>
        </p:nvSpPr>
        <p:spPr>
          <a:xfrm>
            <a:off x="1429747" y="2167466"/>
            <a:ext cx="301686" cy="646331"/>
          </a:xfrm>
          <a:prstGeom prst="rect">
            <a:avLst/>
          </a:prstGeom>
          <a:noFill/>
        </p:spPr>
        <p:txBody>
          <a:bodyPr wrap="none" rtlCol="0">
            <a:spAutoFit/>
          </a:bodyPr>
          <a:lstStyle/>
          <a:p>
            <a:r>
              <a:rPr lang="en-US" dirty="0"/>
              <a:t>1</a:t>
            </a:r>
            <a:br>
              <a:rPr lang="en-US" dirty="0"/>
            </a:br>
            <a:r>
              <a:rPr lang="en-US" dirty="0"/>
              <a:t>2</a:t>
            </a:r>
          </a:p>
        </p:txBody>
      </p:sp>
      <p:pic>
        <p:nvPicPr>
          <p:cNvPr id="8" name="Picture 7">
            <a:extLst>
              <a:ext uri="{FF2B5EF4-FFF2-40B4-BE49-F238E27FC236}">
                <a16:creationId xmlns:a16="http://schemas.microsoft.com/office/drawing/2014/main" id="{99DC0FBF-2903-0990-F27E-CC43C8550846}"/>
              </a:ext>
            </a:extLst>
          </p:cNvPr>
          <p:cNvPicPr>
            <a:picLocks noChangeAspect="1"/>
          </p:cNvPicPr>
          <p:nvPr/>
        </p:nvPicPr>
        <p:blipFill rotWithShape="1">
          <a:blip r:embed="rId2"/>
          <a:srcRect b="65654"/>
          <a:stretch/>
        </p:blipFill>
        <p:spPr>
          <a:xfrm>
            <a:off x="1731433" y="1690688"/>
            <a:ext cx="7772400" cy="1224587"/>
          </a:xfrm>
          <a:prstGeom prst="rect">
            <a:avLst/>
          </a:prstGeom>
        </p:spPr>
      </p:pic>
      <p:sp>
        <p:nvSpPr>
          <p:cNvPr id="3" name="TextBox 2">
            <a:extLst>
              <a:ext uri="{FF2B5EF4-FFF2-40B4-BE49-F238E27FC236}">
                <a16:creationId xmlns:a16="http://schemas.microsoft.com/office/drawing/2014/main" id="{A7E2F2D2-D747-176C-5D6E-0D57624D25FD}"/>
              </a:ext>
            </a:extLst>
          </p:cNvPr>
          <p:cNvSpPr txBox="1"/>
          <p:nvPr/>
        </p:nvSpPr>
        <p:spPr>
          <a:xfrm>
            <a:off x="8695267" y="4292600"/>
            <a:ext cx="2309543" cy="1200329"/>
          </a:xfrm>
          <a:prstGeom prst="rect">
            <a:avLst/>
          </a:prstGeom>
          <a:noFill/>
        </p:spPr>
        <p:txBody>
          <a:bodyPr wrap="none" rtlCol="0">
            <a:spAutoFit/>
          </a:bodyPr>
          <a:lstStyle/>
          <a:p>
            <a:r>
              <a:rPr lang="en-US" i="1" dirty="0"/>
              <a:t>Applying either rule</a:t>
            </a:r>
            <a:br>
              <a:rPr lang="en-US" i="1" dirty="0"/>
            </a:br>
            <a:r>
              <a:rPr lang="en-US" i="1" dirty="0"/>
              <a:t>gives us a sentential</a:t>
            </a:r>
            <a:br>
              <a:rPr lang="en-US" i="1" dirty="0"/>
            </a:br>
            <a:r>
              <a:rPr lang="en-US" i="1" dirty="0"/>
              <a:t>form that won’t create</a:t>
            </a:r>
            <a:br>
              <a:rPr lang="en-US" i="1" dirty="0"/>
            </a:br>
            <a:r>
              <a:rPr lang="en-US" i="1" dirty="0"/>
              <a:t>the string</a:t>
            </a:r>
          </a:p>
        </p:txBody>
      </p:sp>
    </p:spTree>
    <p:extLst>
      <p:ext uri="{BB962C8B-B14F-4D97-AF65-F5344CB8AC3E}">
        <p14:creationId xmlns:p14="http://schemas.microsoft.com/office/powerpoint/2010/main" val="3250925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sp>
        <p:nvSpPr>
          <p:cNvPr id="4" name="Rectangle 3">
            <a:extLst>
              <a:ext uri="{FF2B5EF4-FFF2-40B4-BE49-F238E27FC236}">
                <a16:creationId xmlns:a16="http://schemas.microsoft.com/office/drawing/2014/main" id="{0012F020-01E1-AC47-A673-1805EB9BF635}"/>
              </a:ext>
            </a:extLst>
          </p:cNvPr>
          <p:cNvSpPr/>
          <p:nvPr/>
        </p:nvSpPr>
        <p:spPr>
          <a:xfrm>
            <a:off x="5172872" y="3761872"/>
            <a:ext cx="873957" cy="369332"/>
          </a:xfrm>
          <a:prstGeom prst="rect">
            <a:avLst/>
          </a:prstGeom>
        </p:spPr>
        <p:txBody>
          <a:bodyPr wrap="none">
            <a:spAutoFit/>
          </a:bodyPr>
          <a:lstStyle/>
          <a:p>
            <a:r>
              <a:rPr lang="en-US" dirty="0">
                <a:latin typeface="Courier" pitchFamily="2" charset="0"/>
              </a:rPr>
              <a:t>XYYYY</a:t>
            </a:r>
          </a:p>
        </p:txBody>
      </p:sp>
      <p:sp>
        <p:nvSpPr>
          <p:cNvPr id="5" name="TextBox 4">
            <a:extLst>
              <a:ext uri="{FF2B5EF4-FFF2-40B4-BE49-F238E27FC236}">
                <a16:creationId xmlns:a16="http://schemas.microsoft.com/office/drawing/2014/main" id="{AADC4D58-F35D-314B-901D-D600467E2534}"/>
              </a:ext>
            </a:extLst>
          </p:cNvPr>
          <p:cNvSpPr txBox="1"/>
          <p:nvPr/>
        </p:nvSpPr>
        <p:spPr>
          <a:xfrm>
            <a:off x="2099733" y="3761872"/>
            <a:ext cx="2134623" cy="369332"/>
          </a:xfrm>
          <a:prstGeom prst="rect">
            <a:avLst/>
          </a:prstGeom>
          <a:noFill/>
        </p:spPr>
        <p:txBody>
          <a:bodyPr wrap="none" rtlCol="0">
            <a:spAutoFit/>
          </a:bodyPr>
          <a:lstStyle/>
          <a:p>
            <a:r>
              <a:rPr lang="en-US" dirty="0"/>
              <a:t>How about this one?</a:t>
            </a:r>
          </a:p>
        </p:txBody>
      </p:sp>
      <p:sp>
        <p:nvSpPr>
          <p:cNvPr id="7" name="TextBox 6">
            <a:extLst>
              <a:ext uri="{FF2B5EF4-FFF2-40B4-BE49-F238E27FC236}">
                <a16:creationId xmlns:a16="http://schemas.microsoft.com/office/drawing/2014/main" id="{69CF21B1-8C3C-4247-B177-423E8C3384C0}"/>
              </a:ext>
            </a:extLst>
          </p:cNvPr>
          <p:cNvSpPr txBox="1"/>
          <p:nvPr/>
        </p:nvSpPr>
        <p:spPr>
          <a:xfrm>
            <a:off x="1429747" y="2167466"/>
            <a:ext cx="301686" cy="646331"/>
          </a:xfrm>
          <a:prstGeom prst="rect">
            <a:avLst/>
          </a:prstGeom>
          <a:noFill/>
        </p:spPr>
        <p:txBody>
          <a:bodyPr wrap="none" rtlCol="0">
            <a:spAutoFit/>
          </a:bodyPr>
          <a:lstStyle/>
          <a:p>
            <a:r>
              <a:rPr lang="en-US" dirty="0"/>
              <a:t>1</a:t>
            </a:r>
            <a:br>
              <a:rPr lang="en-US" dirty="0"/>
            </a:br>
            <a:r>
              <a:rPr lang="en-US" dirty="0"/>
              <a:t>2</a:t>
            </a:r>
          </a:p>
        </p:txBody>
      </p:sp>
      <p:graphicFrame>
        <p:nvGraphicFramePr>
          <p:cNvPr id="8" name="Table 9">
            <a:extLst>
              <a:ext uri="{FF2B5EF4-FFF2-40B4-BE49-F238E27FC236}">
                <a16:creationId xmlns:a16="http://schemas.microsoft.com/office/drawing/2014/main" id="{DAA3E3BB-0975-AE49-B4DF-CBD599DA10C4}"/>
              </a:ext>
            </a:extLst>
          </p:cNvPr>
          <p:cNvGraphicFramePr>
            <a:graphicFrameLocks noGrp="1"/>
          </p:cNvGraphicFramePr>
          <p:nvPr/>
        </p:nvGraphicFramePr>
        <p:xfrm>
          <a:off x="3167044" y="4836982"/>
          <a:ext cx="5105400" cy="1483360"/>
        </p:xfrm>
        <a:graphic>
          <a:graphicData uri="http://schemas.openxmlformats.org/drawingml/2006/table">
            <a:tbl>
              <a:tblPr firstRow="1" bandRow="1">
                <a:tableStyleId>{16D9F66E-5EB9-4882-86FB-DCBF35E3C3E4}</a:tableStyleId>
              </a:tblPr>
              <a:tblGrid>
                <a:gridCol w="2552700">
                  <a:extLst>
                    <a:ext uri="{9D8B030D-6E8A-4147-A177-3AD203B41FA5}">
                      <a16:colId xmlns:a16="http://schemas.microsoft.com/office/drawing/2014/main" val="3057982666"/>
                    </a:ext>
                  </a:extLst>
                </a:gridCol>
                <a:gridCol w="2552700">
                  <a:extLst>
                    <a:ext uri="{9D8B030D-6E8A-4147-A177-3AD203B41FA5}">
                      <a16:colId xmlns:a16="http://schemas.microsoft.com/office/drawing/2014/main" val="1885399885"/>
                    </a:ext>
                  </a:extLst>
                </a:gridCol>
              </a:tblGrid>
              <a:tr h="370840">
                <a:tc>
                  <a:txBody>
                    <a:bodyPr/>
                    <a:lstStyle/>
                    <a:p>
                      <a:r>
                        <a:rPr lang="en-US" dirty="0"/>
                        <a:t>RULE</a:t>
                      </a:r>
                    </a:p>
                  </a:txBody>
                  <a:tcPr/>
                </a:tc>
                <a:tc>
                  <a:txBody>
                    <a:bodyPr/>
                    <a:lstStyle/>
                    <a:p>
                      <a:r>
                        <a:rPr lang="en-US" dirty="0"/>
                        <a:t>Sentential Form</a:t>
                      </a:r>
                    </a:p>
                  </a:txBody>
                  <a:tcPr/>
                </a:tc>
                <a:extLst>
                  <a:ext uri="{0D108BD9-81ED-4DB2-BD59-A6C34878D82A}">
                    <a16:rowId xmlns:a16="http://schemas.microsoft.com/office/drawing/2014/main" val="1527012792"/>
                  </a:ext>
                </a:extLst>
              </a:tr>
              <a:tr h="370840">
                <a:tc>
                  <a:txBody>
                    <a:bodyPr/>
                    <a:lstStyle/>
                    <a:p>
                      <a:r>
                        <a:rPr lang="en-US" dirty="0"/>
                        <a:t>start</a:t>
                      </a:r>
                    </a:p>
                  </a:txBody>
                  <a:tcPr/>
                </a:tc>
                <a:tc>
                  <a:txBody>
                    <a:bodyPr/>
                    <a:lstStyle/>
                    <a:p>
                      <a:r>
                        <a:rPr lang="en-US" dirty="0"/>
                        <a:t>A</a:t>
                      </a:r>
                    </a:p>
                  </a:txBody>
                  <a:tcPr/>
                </a:tc>
                <a:extLst>
                  <a:ext uri="{0D108BD9-81ED-4DB2-BD59-A6C34878D82A}">
                    <a16:rowId xmlns:a16="http://schemas.microsoft.com/office/drawing/2014/main" val="1765063534"/>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257291248"/>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6651077"/>
                  </a:ext>
                </a:extLst>
              </a:tr>
            </a:tbl>
          </a:graphicData>
        </a:graphic>
      </p:graphicFrame>
      <p:pic>
        <p:nvPicPr>
          <p:cNvPr id="6" name="Picture 5">
            <a:extLst>
              <a:ext uri="{FF2B5EF4-FFF2-40B4-BE49-F238E27FC236}">
                <a16:creationId xmlns:a16="http://schemas.microsoft.com/office/drawing/2014/main" id="{091F07A5-C6C7-3D21-A026-E68E88232BD4}"/>
              </a:ext>
            </a:extLst>
          </p:cNvPr>
          <p:cNvPicPr>
            <a:picLocks noChangeAspect="1"/>
          </p:cNvPicPr>
          <p:nvPr/>
        </p:nvPicPr>
        <p:blipFill rotWithShape="1">
          <a:blip r:embed="rId2"/>
          <a:srcRect b="65654"/>
          <a:stretch/>
        </p:blipFill>
        <p:spPr>
          <a:xfrm>
            <a:off x="1731433" y="1690688"/>
            <a:ext cx="7772400" cy="1224587"/>
          </a:xfrm>
          <a:prstGeom prst="rect">
            <a:avLst/>
          </a:prstGeom>
        </p:spPr>
      </p:pic>
    </p:spTree>
    <p:extLst>
      <p:ext uri="{BB962C8B-B14F-4D97-AF65-F5344CB8AC3E}">
        <p14:creationId xmlns:p14="http://schemas.microsoft.com/office/powerpoint/2010/main" val="1080929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sp>
        <p:nvSpPr>
          <p:cNvPr id="4" name="Rectangle 3">
            <a:extLst>
              <a:ext uri="{FF2B5EF4-FFF2-40B4-BE49-F238E27FC236}">
                <a16:creationId xmlns:a16="http://schemas.microsoft.com/office/drawing/2014/main" id="{0012F020-01E1-AC47-A673-1805EB9BF635}"/>
              </a:ext>
            </a:extLst>
          </p:cNvPr>
          <p:cNvSpPr/>
          <p:nvPr/>
        </p:nvSpPr>
        <p:spPr>
          <a:xfrm>
            <a:off x="5172872" y="3761872"/>
            <a:ext cx="873957" cy="369332"/>
          </a:xfrm>
          <a:prstGeom prst="rect">
            <a:avLst/>
          </a:prstGeom>
        </p:spPr>
        <p:txBody>
          <a:bodyPr wrap="none">
            <a:spAutoFit/>
          </a:bodyPr>
          <a:lstStyle/>
          <a:p>
            <a:r>
              <a:rPr lang="en-US" dirty="0">
                <a:latin typeface="Courier" pitchFamily="2" charset="0"/>
              </a:rPr>
              <a:t>XYYYY</a:t>
            </a:r>
          </a:p>
        </p:txBody>
      </p:sp>
      <p:sp>
        <p:nvSpPr>
          <p:cNvPr id="5" name="TextBox 4">
            <a:extLst>
              <a:ext uri="{FF2B5EF4-FFF2-40B4-BE49-F238E27FC236}">
                <a16:creationId xmlns:a16="http://schemas.microsoft.com/office/drawing/2014/main" id="{AADC4D58-F35D-314B-901D-D600467E2534}"/>
              </a:ext>
            </a:extLst>
          </p:cNvPr>
          <p:cNvSpPr txBox="1"/>
          <p:nvPr/>
        </p:nvSpPr>
        <p:spPr>
          <a:xfrm>
            <a:off x="2099733" y="3761872"/>
            <a:ext cx="2134623" cy="369332"/>
          </a:xfrm>
          <a:prstGeom prst="rect">
            <a:avLst/>
          </a:prstGeom>
          <a:noFill/>
        </p:spPr>
        <p:txBody>
          <a:bodyPr wrap="none" rtlCol="0">
            <a:spAutoFit/>
          </a:bodyPr>
          <a:lstStyle/>
          <a:p>
            <a:r>
              <a:rPr lang="en-US" dirty="0"/>
              <a:t>How about this one?</a:t>
            </a:r>
          </a:p>
        </p:txBody>
      </p:sp>
      <p:sp>
        <p:nvSpPr>
          <p:cNvPr id="7" name="TextBox 6">
            <a:extLst>
              <a:ext uri="{FF2B5EF4-FFF2-40B4-BE49-F238E27FC236}">
                <a16:creationId xmlns:a16="http://schemas.microsoft.com/office/drawing/2014/main" id="{69CF21B1-8C3C-4247-B177-423E8C3384C0}"/>
              </a:ext>
            </a:extLst>
          </p:cNvPr>
          <p:cNvSpPr txBox="1"/>
          <p:nvPr/>
        </p:nvSpPr>
        <p:spPr>
          <a:xfrm>
            <a:off x="1429747" y="2167466"/>
            <a:ext cx="301686" cy="646331"/>
          </a:xfrm>
          <a:prstGeom prst="rect">
            <a:avLst/>
          </a:prstGeom>
          <a:noFill/>
        </p:spPr>
        <p:txBody>
          <a:bodyPr wrap="none" rtlCol="0">
            <a:spAutoFit/>
          </a:bodyPr>
          <a:lstStyle/>
          <a:p>
            <a:r>
              <a:rPr lang="en-US" dirty="0"/>
              <a:t>1</a:t>
            </a:r>
            <a:br>
              <a:rPr lang="en-US" dirty="0"/>
            </a:br>
            <a:r>
              <a:rPr lang="en-US" dirty="0"/>
              <a:t>2</a:t>
            </a:r>
          </a:p>
        </p:txBody>
      </p:sp>
      <p:graphicFrame>
        <p:nvGraphicFramePr>
          <p:cNvPr id="8" name="Table 9">
            <a:extLst>
              <a:ext uri="{FF2B5EF4-FFF2-40B4-BE49-F238E27FC236}">
                <a16:creationId xmlns:a16="http://schemas.microsoft.com/office/drawing/2014/main" id="{DAA3E3BB-0975-AE49-B4DF-CBD599DA10C4}"/>
              </a:ext>
            </a:extLst>
          </p:cNvPr>
          <p:cNvGraphicFramePr>
            <a:graphicFrameLocks noGrp="1"/>
          </p:cNvGraphicFramePr>
          <p:nvPr/>
        </p:nvGraphicFramePr>
        <p:xfrm>
          <a:off x="3167044" y="4836982"/>
          <a:ext cx="5105400" cy="1483360"/>
        </p:xfrm>
        <a:graphic>
          <a:graphicData uri="http://schemas.openxmlformats.org/drawingml/2006/table">
            <a:tbl>
              <a:tblPr firstRow="1" bandRow="1">
                <a:tableStyleId>{16D9F66E-5EB9-4882-86FB-DCBF35E3C3E4}</a:tableStyleId>
              </a:tblPr>
              <a:tblGrid>
                <a:gridCol w="2552700">
                  <a:extLst>
                    <a:ext uri="{9D8B030D-6E8A-4147-A177-3AD203B41FA5}">
                      <a16:colId xmlns:a16="http://schemas.microsoft.com/office/drawing/2014/main" val="3057982666"/>
                    </a:ext>
                  </a:extLst>
                </a:gridCol>
                <a:gridCol w="2552700">
                  <a:extLst>
                    <a:ext uri="{9D8B030D-6E8A-4147-A177-3AD203B41FA5}">
                      <a16:colId xmlns:a16="http://schemas.microsoft.com/office/drawing/2014/main" val="1885399885"/>
                    </a:ext>
                  </a:extLst>
                </a:gridCol>
              </a:tblGrid>
              <a:tr h="370840">
                <a:tc>
                  <a:txBody>
                    <a:bodyPr/>
                    <a:lstStyle/>
                    <a:p>
                      <a:r>
                        <a:rPr lang="en-US" dirty="0"/>
                        <a:t>RULE</a:t>
                      </a:r>
                    </a:p>
                  </a:txBody>
                  <a:tcPr/>
                </a:tc>
                <a:tc>
                  <a:txBody>
                    <a:bodyPr/>
                    <a:lstStyle/>
                    <a:p>
                      <a:r>
                        <a:rPr lang="en-US" dirty="0"/>
                        <a:t>Sentential Form</a:t>
                      </a:r>
                    </a:p>
                  </a:txBody>
                  <a:tcPr/>
                </a:tc>
                <a:extLst>
                  <a:ext uri="{0D108BD9-81ED-4DB2-BD59-A6C34878D82A}">
                    <a16:rowId xmlns:a16="http://schemas.microsoft.com/office/drawing/2014/main" val="1527012792"/>
                  </a:ext>
                </a:extLst>
              </a:tr>
              <a:tr h="370840">
                <a:tc>
                  <a:txBody>
                    <a:bodyPr/>
                    <a:lstStyle/>
                    <a:p>
                      <a:r>
                        <a:rPr lang="en-US" dirty="0"/>
                        <a:t>start</a:t>
                      </a:r>
                    </a:p>
                  </a:txBody>
                  <a:tcPr/>
                </a:tc>
                <a:tc>
                  <a:txBody>
                    <a:bodyPr/>
                    <a:lstStyle/>
                    <a:p>
                      <a:r>
                        <a:rPr lang="en-US" dirty="0"/>
                        <a:t>A</a:t>
                      </a:r>
                    </a:p>
                  </a:txBody>
                  <a:tcPr/>
                </a:tc>
                <a:extLst>
                  <a:ext uri="{0D108BD9-81ED-4DB2-BD59-A6C34878D82A}">
                    <a16:rowId xmlns:a16="http://schemas.microsoft.com/office/drawing/2014/main" val="1765063534"/>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257291248"/>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6651077"/>
                  </a:ext>
                </a:extLst>
              </a:tr>
            </a:tbl>
          </a:graphicData>
        </a:graphic>
      </p:graphicFrame>
      <p:pic>
        <p:nvPicPr>
          <p:cNvPr id="6" name="Picture 5">
            <a:extLst>
              <a:ext uri="{FF2B5EF4-FFF2-40B4-BE49-F238E27FC236}">
                <a16:creationId xmlns:a16="http://schemas.microsoft.com/office/drawing/2014/main" id="{091F07A5-C6C7-3D21-A026-E68E88232BD4}"/>
              </a:ext>
            </a:extLst>
          </p:cNvPr>
          <p:cNvPicPr>
            <a:picLocks noChangeAspect="1"/>
          </p:cNvPicPr>
          <p:nvPr/>
        </p:nvPicPr>
        <p:blipFill rotWithShape="1">
          <a:blip r:embed="rId2"/>
          <a:srcRect b="65654"/>
          <a:stretch/>
        </p:blipFill>
        <p:spPr>
          <a:xfrm>
            <a:off x="1731433" y="1690688"/>
            <a:ext cx="7772400" cy="1224587"/>
          </a:xfrm>
          <a:prstGeom prst="rect">
            <a:avLst/>
          </a:prstGeom>
        </p:spPr>
      </p:pic>
      <p:sp>
        <p:nvSpPr>
          <p:cNvPr id="3" name="TextBox 2">
            <a:extLst>
              <a:ext uri="{FF2B5EF4-FFF2-40B4-BE49-F238E27FC236}">
                <a16:creationId xmlns:a16="http://schemas.microsoft.com/office/drawing/2014/main" id="{67C36C7F-54F5-5A91-2C4F-48AE28148A9F}"/>
              </a:ext>
            </a:extLst>
          </p:cNvPr>
          <p:cNvSpPr txBox="1"/>
          <p:nvPr/>
        </p:nvSpPr>
        <p:spPr>
          <a:xfrm>
            <a:off x="8636000" y="4013200"/>
            <a:ext cx="2374817" cy="1200329"/>
          </a:xfrm>
          <a:prstGeom prst="rect">
            <a:avLst/>
          </a:prstGeom>
          <a:noFill/>
        </p:spPr>
        <p:txBody>
          <a:bodyPr wrap="none" rtlCol="0">
            <a:spAutoFit/>
          </a:bodyPr>
          <a:lstStyle/>
          <a:p>
            <a:r>
              <a:rPr lang="en-US" dirty="0"/>
              <a:t>Similar reason:</a:t>
            </a:r>
            <a:br>
              <a:rPr lang="en-US" dirty="0"/>
            </a:br>
            <a:r>
              <a:rPr lang="en-US" dirty="0"/>
              <a:t>strings that are </a:t>
            </a:r>
            <a:br>
              <a:rPr lang="en-US" dirty="0"/>
            </a:br>
            <a:r>
              <a:rPr lang="en-US" dirty="0"/>
              <a:t>longer than 1 character</a:t>
            </a:r>
            <a:br>
              <a:rPr lang="en-US" dirty="0"/>
            </a:br>
            <a:r>
              <a:rPr lang="en-US" dirty="0"/>
              <a:t>cannot end in y</a:t>
            </a:r>
          </a:p>
        </p:txBody>
      </p:sp>
    </p:spTree>
    <p:extLst>
      <p:ext uri="{BB962C8B-B14F-4D97-AF65-F5344CB8AC3E}">
        <p14:creationId xmlns:p14="http://schemas.microsoft.com/office/powerpoint/2010/main" val="3474855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sp>
        <p:nvSpPr>
          <p:cNvPr id="4" name="Rectangle 3">
            <a:extLst>
              <a:ext uri="{FF2B5EF4-FFF2-40B4-BE49-F238E27FC236}">
                <a16:creationId xmlns:a16="http://schemas.microsoft.com/office/drawing/2014/main" id="{0012F020-01E1-AC47-A673-1805EB9BF635}"/>
              </a:ext>
            </a:extLst>
          </p:cNvPr>
          <p:cNvSpPr/>
          <p:nvPr/>
        </p:nvSpPr>
        <p:spPr>
          <a:xfrm>
            <a:off x="5172872" y="3761872"/>
            <a:ext cx="1149674" cy="369332"/>
          </a:xfrm>
          <a:prstGeom prst="rect">
            <a:avLst/>
          </a:prstGeom>
        </p:spPr>
        <p:txBody>
          <a:bodyPr wrap="none">
            <a:spAutoFit/>
          </a:bodyPr>
          <a:lstStyle/>
          <a:p>
            <a:r>
              <a:rPr lang="en-US" dirty="0">
                <a:latin typeface="Courier" pitchFamily="2" charset="0"/>
              </a:rPr>
              <a:t>YXXXXXX</a:t>
            </a:r>
          </a:p>
        </p:txBody>
      </p:sp>
      <p:sp>
        <p:nvSpPr>
          <p:cNvPr id="5" name="TextBox 4">
            <a:extLst>
              <a:ext uri="{FF2B5EF4-FFF2-40B4-BE49-F238E27FC236}">
                <a16:creationId xmlns:a16="http://schemas.microsoft.com/office/drawing/2014/main" id="{AADC4D58-F35D-314B-901D-D600467E2534}"/>
              </a:ext>
            </a:extLst>
          </p:cNvPr>
          <p:cNvSpPr txBox="1"/>
          <p:nvPr/>
        </p:nvSpPr>
        <p:spPr>
          <a:xfrm>
            <a:off x="2099733" y="3761872"/>
            <a:ext cx="2134623" cy="369332"/>
          </a:xfrm>
          <a:prstGeom prst="rect">
            <a:avLst/>
          </a:prstGeom>
          <a:noFill/>
        </p:spPr>
        <p:txBody>
          <a:bodyPr wrap="none" rtlCol="0">
            <a:spAutoFit/>
          </a:bodyPr>
          <a:lstStyle/>
          <a:p>
            <a:r>
              <a:rPr lang="en-US" dirty="0"/>
              <a:t>How about this one?</a:t>
            </a:r>
          </a:p>
        </p:txBody>
      </p:sp>
      <p:graphicFrame>
        <p:nvGraphicFramePr>
          <p:cNvPr id="6" name="Table 9">
            <a:extLst>
              <a:ext uri="{FF2B5EF4-FFF2-40B4-BE49-F238E27FC236}">
                <a16:creationId xmlns:a16="http://schemas.microsoft.com/office/drawing/2014/main" id="{59FF01D5-5DB8-D145-ABAF-46E158A029DA}"/>
              </a:ext>
            </a:extLst>
          </p:cNvPr>
          <p:cNvGraphicFramePr>
            <a:graphicFrameLocks noGrp="1"/>
          </p:cNvGraphicFramePr>
          <p:nvPr/>
        </p:nvGraphicFramePr>
        <p:xfrm>
          <a:off x="3167044" y="4836982"/>
          <a:ext cx="5105400" cy="1854200"/>
        </p:xfrm>
        <a:graphic>
          <a:graphicData uri="http://schemas.openxmlformats.org/drawingml/2006/table">
            <a:tbl>
              <a:tblPr firstRow="1" bandRow="1">
                <a:tableStyleId>{16D9F66E-5EB9-4882-86FB-DCBF35E3C3E4}</a:tableStyleId>
              </a:tblPr>
              <a:tblGrid>
                <a:gridCol w="2552700">
                  <a:extLst>
                    <a:ext uri="{9D8B030D-6E8A-4147-A177-3AD203B41FA5}">
                      <a16:colId xmlns:a16="http://schemas.microsoft.com/office/drawing/2014/main" val="3057982666"/>
                    </a:ext>
                  </a:extLst>
                </a:gridCol>
                <a:gridCol w="2552700">
                  <a:extLst>
                    <a:ext uri="{9D8B030D-6E8A-4147-A177-3AD203B41FA5}">
                      <a16:colId xmlns:a16="http://schemas.microsoft.com/office/drawing/2014/main" val="1885399885"/>
                    </a:ext>
                  </a:extLst>
                </a:gridCol>
              </a:tblGrid>
              <a:tr h="370840">
                <a:tc>
                  <a:txBody>
                    <a:bodyPr/>
                    <a:lstStyle/>
                    <a:p>
                      <a:r>
                        <a:rPr lang="en-US" dirty="0"/>
                        <a:t>RULE</a:t>
                      </a:r>
                    </a:p>
                  </a:txBody>
                  <a:tcPr/>
                </a:tc>
                <a:tc>
                  <a:txBody>
                    <a:bodyPr/>
                    <a:lstStyle/>
                    <a:p>
                      <a:r>
                        <a:rPr lang="en-US" dirty="0"/>
                        <a:t>Sentential Form</a:t>
                      </a:r>
                    </a:p>
                  </a:txBody>
                  <a:tcPr/>
                </a:tc>
                <a:extLst>
                  <a:ext uri="{0D108BD9-81ED-4DB2-BD59-A6C34878D82A}">
                    <a16:rowId xmlns:a16="http://schemas.microsoft.com/office/drawing/2014/main" val="1527012792"/>
                  </a:ext>
                </a:extLst>
              </a:tr>
              <a:tr h="370840">
                <a:tc>
                  <a:txBody>
                    <a:bodyPr/>
                    <a:lstStyle/>
                    <a:p>
                      <a:r>
                        <a:rPr lang="en-US" dirty="0"/>
                        <a:t>start</a:t>
                      </a:r>
                    </a:p>
                  </a:txBody>
                  <a:tcPr/>
                </a:tc>
                <a:tc>
                  <a:txBody>
                    <a:bodyPr/>
                    <a:lstStyle/>
                    <a:p>
                      <a:r>
                        <a:rPr lang="en-US" dirty="0"/>
                        <a:t>A</a:t>
                      </a:r>
                    </a:p>
                  </a:txBody>
                  <a:tcPr/>
                </a:tc>
                <a:extLst>
                  <a:ext uri="{0D108BD9-81ED-4DB2-BD59-A6C34878D82A}">
                    <a16:rowId xmlns:a16="http://schemas.microsoft.com/office/drawing/2014/main" val="1765063534"/>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257291248"/>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256854853"/>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67716697"/>
                  </a:ext>
                </a:extLst>
              </a:tr>
            </a:tbl>
          </a:graphicData>
        </a:graphic>
      </p:graphicFrame>
      <p:sp>
        <p:nvSpPr>
          <p:cNvPr id="7" name="TextBox 6">
            <a:extLst>
              <a:ext uri="{FF2B5EF4-FFF2-40B4-BE49-F238E27FC236}">
                <a16:creationId xmlns:a16="http://schemas.microsoft.com/office/drawing/2014/main" id="{69CF21B1-8C3C-4247-B177-423E8C3384C0}"/>
              </a:ext>
            </a:extLst>
          </p:cNvPr>
          <p:cNvSpPr txBox="1"/>
          <p:nvPr/>
        </p:nvSpPr>
        <p:spPr>
          <a:xfrm>
            <a:off x="1429747" y="2167466"/>
            <a:ext cx="301686" cy="646331"/>
          </a:xfrm>
          <a:prstGeom prst="rect">
            <a:avLst/>
          </a:prstGeom>
          <a:noFill/>
        </p:spPr>
        <p:txBody>
          <a:bodyPr wrap="none" rtlCol="0">
            <a:spAutoFit/>
          </a:bodyPr>
          <a:lstStyle/>
          <a:p>
            <a:r>
              <a:rPr lang="en-US" dirty="0"/>
              <a:t>1</a:t>
            </a:r>
            <a:br>
              <a:rPr lang="en-US" dirty="0"/>
            </a:br>
            <a:r>
              <a:rPr lang="en-US" dirty="0"/>
              <a:t>2</a:t>
            </a:r>
          </a:p>
        </p:txBody>
      </p:sp>
      <p:pic>
        <p:nvPicPr>
          <p:cNvPr id="8" name="Picture 7">
            <a:extLst>
              <a:ext uri="{FF2B5EF4-FFF2-40B4-BE49-F238E27FC236}">
                <a16:creationId xmlns:a16="http://schemas.microsoft.com/office/drawing/2014/main" id="{AD1F8A82-3AC3-F3EE-216E-7946BF8DE4EE}"/>
              </a:ext>
            </a:extLst>
          </p:cNvPr>
          <p:cNvPicPr>
            <a:picLocks noChangeAspect="1"/>
          </p:cNvPicPr>
          <p:nvPr/>
        </p:nvPicPr>
        <p:blipFill rotWithShape="1">
          <a:blip r:embed="rId2"/>
          <a:srcRect b="65654"/>
          <a:stretch/>
        </p:blipFill>
        <p:spPr>
          <a:xfrm>
            <a:off x="1731433" y="1690688"/>
            <a:ext cx="7772400" cy="1224587"/>
          </a:xfrm>
          <a:prstGeom prst="rect">
            <a:avLst/>
          </a:prstGeom>
        </p:spPr>
      </p:pic>
    </p:spTree>
    <p:extLst>
      <p:ext uri="{BB962C8B-B14F-4D97-AF65-F5344CB8AC3E}">
        <p14:creationId xmlns:p14="http://schemas.microsoft.com/office/powerpoint/2010/main" val="22623941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sp>
        <p:nvSpPr>
          <p:cNvPr id="4" name="Rectangle 3">
            <a:extLst>
              <a:ext uri="{FF2B5EF4-FFF2-40B4-BE49-F238E27FC236}">
                <a16:creationId xmlns:a16="http://schemas.microsoft.com/office/drawing/2014/main" id="{0012F020-01E1-AC47-A673-1805EB9BF635}"/>
              </a:ext>
            </a:extLst>
          </p:cNvPr>
          <p:cNvSpPr/>
          <p:nvPr/>
        </p:nvSpPr>
        <p:spPr>
          <a:xfrm>
            <a:off x="5172872" y="3761872"/>
            <a:ext cx="1149674" cy="369332"/>
          </a:xfrm>
          <a:prstGeom prst="rect">
            <a:avLst/>
          </a:prstGeom>
        </p:spPr>
        <p:txBody>
          <a:bodyPr wrap="none">
            <a:spAutoFit/>
          </a:bodyPr>
          <a:lstStyle/>
          <a:p>
            <a:r>
              <a:rPr lang="en-US" dirty="0">
                <a:latin typeface="Courier" pitchFamily="2" charset="0"/>
              </a:rPr>
              <a:t>YXXXXXX</a:t>
            </a:r>
          </a:p>
        </p:txBody>
      </p:sp>
      <p:sp>
        <p:nvSpPr>
          <p:cNvPr id="5" name="TextBox 4">
            <a:extLst>
              <a:ext uri="{FF2B5EF4-FFF2-40B4-BE49-F238E27FC236}">
                <a16:creationId xmlns:a16="http://schemas.microsoft.com/office/drawing/2014/main" id="{AADC4D58-F35D-314B-901D-D600467E2534}"/>
              </a:ext>
            </a:extLst>
          </p:cNvPr>
          <p:cNvSpPr txBox="1"/>
          <p:nvPr/>
        </p:nvSpPr>
        <p:spPr>
          <a:xfrm>
            <a:off x="2099733" y="3761872"/>
            <a:ext cx="2134623" cy="369332"/>
          </a:xfrm>
          <a:prstGeom prst="rect">
            <a:avLst/>
          </a:prstGeom>
          <a:noFill/>
        </p:spPr>
        <p:txBody>
          <a:bodyPr wrap="none" rtlCol="0">
            <a:spAutoFit/>
          </a:bodyPr>
          <a:lstStyle/>
          <a:p>
            <a:r>
              <a:rPr lang="en-US" dirty="0"/>
              <a:t>How about this one?</a:t>
            </a:r>
          </a:p>
        </p:txBody>
      </p:sp>
      <p:graphicFrame>
        <p:nvGraphicFramePr>
          <p:cNvPr id="6" name="Table 9">
            <a:extLst>
              <a:ext uri="{FF2B5EF4-FFF2-40B4-BE49-F238E27FC236}">
                <a16:creationId xmlns:a16="http://schemas.microsoft.com/office/drawing/2014/main" id="{59FF01D5-5DB8-D145-ABAF-46E158A029DA}"/>
              </a:ext>
            </a:extLst>
          </p:cNvPr>
          <p:cNvGraphicFramePr>
            <a:graphicFrameLocks noGrp="1"/>
          </p:cNvGraphicFramePr>
          <p:nvPr/>
        </p:nvGraphicFramePr>
        <p:xfrm>
          <a:off x="3167044" y="4469119"/>
          <a:ext cx="5105400" cy="2280180"/>
        </p:xfrm>
        <a:graphic>
          <a:graphicData uri="http://schemas.openxmlformats.org/drawingml/2006/table">
            <a:tbl>
              <a:tblPr firstRow="1" bandRow="1">
                <a:tableStyleId>{16D9F66E-5EB9-4882-86FB-DCBF35E3C3E4}</a:tableStyleId>
              </a:tblPr>
              <a:tblGrid>
                <a:gridCol w="2552700">
                  <a:extLst>
                    <a:ext uri="{9D8B030D-6E8A-4147-A177-3AD203B41FA5}">
                      <a16:colId xmlns:a16="http://schemas.microsoft.com/office/drawing/2014/main" val="3057982666"/>
                    </a:ext>
                  </a:extLst>
                </a:gridCol>
                <a:gridCol w="2552700">
                  <a:extLst>
                    <a:ext uri="{9D8B030D-6E8A-4147-A177-3AD203B41FA5}">
                      <a16:colId xmlns:a16="http://schemas.microsoft.com/office/drawing/2014/main" val="1885399885"/>
                    </a:ext>
                  </a:extLst>
                </a:gridCol>
              </a:tblGrid>
              <a:tr h="380030">
                <a:tc>
                  <a:txBody>
                    <a:bodyPr/>
                    <a:lstStyle/>
                    <a:p>
                      <a:r>
                        <a:rPr lang="en-US" dirty="0"/>
                        <a:t>RULE</a:t>
                      </a:r>
                    </a:p>
                  </a:txBody>
                  <a:tcPr/>
                </a:tc>
                <a:tc>
                  <a:txBody>
                    <a:bodyPr/>
                    <a:lstStyle/>
                    <a:p>
                      <a:r>
                        <a:rPr lang="en-US" dirty="0"/>
                        <a:t>Sentential Form</a:t>
                      </a:r>
                    </a:p>
                  </a:txBody>
                  <a:tcPr/>
                </a:tc>
                <a:extLst>
                  <a:ext uri="{0D108BD9-81ED-4DB2-BD59-A6C34878D82A}">
                    <a16:rowId xmlns:a16="http://schemas.microsoft.com/office/drawing/2014/main" val="1527012792"/>
                  </a:ext>
                </a:extLst>
              </a:tr>
              <a:tr h="380030">
                <a:tc>
                  <a:txBody>
                    <a:bodyPr/>
                    <a:lstStyle/>
                    <a:p>
                      <a:r>
                        <a:rPr lang="en-US" dirty="0"/>
                        <a:t>start</a:t>
                      </a:r>
                    </a:p>
                  </a:txBody>
                  <a:tcPr/>
                </a:tc>
                <a:tc>
                  <a:txBody>
                    <a:bodyPr/>
                    <a:lstStyle/>
                    <a:p>
                      <a:r>
                        <a:rPr lang="en-US" dirty="0"/>
                        <a:t>A</a:t>
                      </a:r>
                    </a:p>
                  </a:txBody>
                  <a:tcPr/>
                </a:tc>
                <a:extLst>
                  <a:ext uri="{0D108BD9-81ED-4DB2-BD59-A6C34878D82A}">
                    <a16:rowId xmlns:a16="http://schemas.microsoft.com/office/drawing/2014/main" val="1765063534"/>
                  </a:ext>
                </a:extLst>
              </a:tr>
              <a:tr h="380030">
                <a:tc>
                  <a:txBody>
                    <a:bodyPr/>
                    <a:lstStyle/>
                    <a:p>
                      <a:r>
                        <a:rPr lang="en-US" dirty="0"/>
                        <a:t>1</a:t>
                      </a:r>
                    </a:p>
                  </a:txBody>
                  <a:tcPr/>
                </a:tc>
                <a:tc>
                  <a:txBody>
                    <a:bodyPr/>
                    <a:lstStyle/>
                    <a:p>
                      <a:r>
                        <a:rPr lang="en-US" dirty="0" err="1"/>
                        <a:t>aX</a:t>
                      </a:r>
                      <a:endParaRPr lang="en-US" dirty="0"/>
                    </a:p>
                  </a:txBody>
                  <a:tcPr/>
                </a:tc>
                <a:extLst>
                  <a:ext uri="{0D108BD9-81ED-4DB2-BD59-A6C34878D82A}">
                    <a16:rowId xmlns:a16="http://schemas.microsoft.com/office/drawing/2014/main" val="3257291248"/>
                  </a:ext>
                </a:extLst>
              </a:tr>
              <a:tr h="380030">
                <a:tc>
                  <a:txBody>
                    <a:bodyPr/>
                    <a:lstStyle/>
                    <a:p>
                      <a:r>
                        <a:rPr lang="en-US" dirty="0"/>
                        <a:t>1</a:t>
                      </a:r>
                    </a:p>
                  </a:txBody>
                  <a:tcPr/>
                </a:tc>
                <a:tc>
                  <a:txBody>
                    <a:bodyPr/>
                    <a:lstStyle/>
                    <a:p>
                      <a:r>
                        <a:rPr lang="en-US" dirty="0" err="1"/>
                        <a:t>aXX</a:t>
                      </a:r>
                      <a:endParaRPr lang="en-US" dirty="0"/>
                    </a:p>
                  </a:txBody>
                  <a:tcPr/>
                </a:tc>
                <a:extLst>
                  <a:ext uri="{0D108BD9-81ED-4DB2-BD59-A6C34878D82A}">
                    <a16:rowId xmlns:a16="http://schemas.microsoft.com/office/drawing/2014/main" val="1256854853"/>
                  </a:ext>
                </a:extLst>
              </a:tr>
              <a:tr h="380030">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167716697"/>
                  </a:ext>
                </a:extLst>
              </a:tr>
              <a:tr h="380030">
                <a:tc>
                  <a:txBody>
                    <a:bodyPr/>
                    <a:lstStyle/>
                    <a:p>
                      <a:r>
                        <a:rPr lang="en-US" dirty="0"/>
                        <a:t>2</a:t>
                      </a:r>
                    </a:p>
                  </a:txBody>
                  <a:tcPr/>
                </a:tc>
                <a:tc>
                  <a:txBody>
                    <a:bodyPr/>
                    <a:lstStyle/>
                    <a:p>
                      <a:r>
                        <a:rPr lang="en-US" dirty="0"/>
                        <a:t>YXXXXX</a:t>
                      </a:r>
                    </a:p>
                  </a:txBody>
                  <a:tcPr/>
                </a:tc>
                <a:extLst>
                  <a:ext uri="{0D108BD9-81ED-4DB2-BD59-A6C34878D82A}">
                    <a16:rowId xmlns:a16="http://schemas.microsoft.com/office/drawing/2014/main" val="325089013"/>
                  </a:ext>
                </a:extLst>
              </a:tr>
            </a:tbl>
          </a:graphicData>
        </a:graphic>
      </p:graphicFrame>
      <p:sp>
        <p:nvSpPr>
          <p:cNvPr id="7" name="TextBox 6">
            <a:extLst>
              <a:ext uri="{FF2B5EF4-FFF2-40B4-BE49-F238E27FC236}">
                <a16:creationId xmlns:a16="http://schemas.microsoft.com/office/drawing/2014/main" id="{69CF21B1-8C3C-4247-B177-423E8C3384C0}"/>
              </a:ext>
            </a:extLst>
          </p:cNvPr>
          <p:cNvSpPr txBox="1"/>
          <p:nvPr/>
        </p:nvSpPr>
        <p:spPr>
          <a:xfrm>
            <a:off x="1429747" y="2167466"/>
            <a:ext cx="301686" cy="646331"/>
          </a:xfrm>
          <a:prstGeom prst="rect">
            <a:avLst/>
          </a:prstGeom>
          <a:noFill/>
        </p:spPr>
        <p:txBody>
          <a:bodyPr wrap="none" rtlCol="0">
            <a:spAutoFit/>
          </a:bodyPr>
          <a:lstStyle/>
          <a:p>
            <a:r>
              <a:rPr lang="en-US" dirty="0"/>
              <a:t>1</a:t>
            </a:r>
            <a:br>
              <a:rPr lang="en-US" dirty="0"/>
            </a:br>
            <a:r>
              <a:rPr lang="en-US" dirty="0"/>
              <a:t>2</a:t>
            </a:r>
          </a:p>
        </p:txBody>
      </p:sp>
      <p:pic>
        <p:nvPicPr>
          <p:cNvPr id="8" name="Picture 7">
            <a:extLst>
              <a:ext uri="{FF2B5EF4-FFF2-40B4-BE49-F238E27FC236}">
                <a16:creationId xmlns:a16="http://schemas.microsoft.com/office/drawing/2014/main" id="{AD1F8A82-3AC3-F3EE-216E-7946BF8DE4EE}"/>
              </a:ext>
            </a:extLst>
          </p:cNvPr>
          <p:cNvPicPr>
            <a:picLocks noChangeAspect="1"/>
          </p:cNvPicPr>
          <p:nvPr/>
        </p:nvPicPr>
        <p:blipFill rotWithShape="1">
          <a:blip r:embed="rId2"/>
          <a:srcRect b="65654"/>
          <a:stretch/>
        </p:blipFill>
        <p:spPr>
          <a:xfrm>
            <a:off x="1731433" y="1690688"/>
            <a:ext cx="7772400" cy="1224587"/>
          </a:xfrm>
          <a:prstGeom prst="rect">
            <a:avLst/>
          </a:prstGeom>
        </p:spPr>
      </p:pic>
    </p:spTree>
    <p:extLst>
      <p:ext uri="{BB962C8B-B14F-4D97-AF65-F5344CB8AC3E}">
        <p14:creationId xmlns:p14="http://schemas.microsoft.com/office/powerpoint/2010/main" val="138813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sp>
        <p:nvSpPr>
          <p:cNvPr id="4" name="Rectangle 3">
            <a:extLst>
              <a:ext uri="{FF2B5EF4-FFF2-40B4-BE49-F238E27FC236}">
                <a16:creationId xmlns:a16="http://schemas.microsoft.com/office/drawing/2014/main" id="{0012F020-01E1-AC47-A673-1805EB9BF635}"/>
              </a:ext>
            </a:extLst>
          </p:cNvPr>
          <p:cNvSpPr/>
          <p:nvPr/>
        </p:nvSpPr>
        <p:spPr>
          <a:xfrm>
            <a:off x="5172872" y="3761872"/>
            <a:ext cx="1149674" cy="369332"/>
          </a:xfrm>
          <a:prstGeom prst="rect">
            <a:avLst/>
          </a:prstGeom>
        </p:spPr>
        <p:txBody>
          <a:bodyPr wrap="none">
            <a:spAutoFit/>
          </a:bodyPr>
          <a:lstStyle/>
          <a:p>
            <a:r>
              <a:rPr lang="en-US" dirty="0">
                <a:latin typeface="Courier" pitchFamily="2" charset="0"/>
              </a:rPr>
              <a:t>YYYYYYX</a:t>
            </a:r>
          </a:p>
        </p:txBody>
      </p:sp>
      <p:sp>
        <p:nvSpPr>
          <p:cNvPr id="5" name="TextBox 4">
            <a:extLst>
              <a:ext uri="{FF2B5EF4-FFF2-40B4-BE49-F238E27FC236}">
                <a16:creationId xmlns:a16="http://schemas.microsoft.com/office/drawing/2014/main" id="{AADC4D58-F35D-314B-901D-D600467E2534}"/>
              </a:ext>
            </a:extLst>
          </p:cNvPr>
          <p:cNvSpPr txBox="1"/>
          <p:nvPr/>
        </p:nvSpPr>
        <p:spPr>
          <a:xfrm>
            <a:off x="2099733" y="3761872"/>
            <a:ext cx="2134623" cy="369332"/>
          </a:xfrm>
          <a:prstGeom prst="rect">
            <a:avLst/>
          </a:prstGeom>
          <a:noFill/>
        </p:spPr>
        <p:txBody>
          <a:bodyPr wrap="none" rtlCol="0">
            <a:spAutoFit/>
          </a:bodyPr>
          <a:lstStyle/>
          <a:p>
            <a:r>
              <a:rPr lang="en-US" dirty="0"/>
              <a:t>How about this one?</a:t>
            </a:r>
          </a:p>
        </p:txBody>
      </p:sp>
      <p:graphicFrame>
        <p:nvGraphicFramePr>
          <p:cNvPr id="6" name="Table 9">
            <a:extLst>
              <a:ext uri="{FF2B5EF4-FFF2-40B4-BE49-F238E27FC236}">
                <a16:creationId xmlns:a16="http://schemas.microsoft.com/office/drawing/2014/main" id="{59FF01D5-5DB8-D145-ABAF-46E158A029DA}"/>
              </a:ext>
            </a:extLst>
          </p:cNvPr>
          <p:cNvGraphicFramePr>
            <a:graphicFrameLocks noGrp="1"/>
          </p:cNvGraphicFramePr>
          <p:nvPr/>
        </p:nvGraphicFramePr>
        <p:xfrm>
          <a:off x="3167044" y="4836982"/>
          <a:ext cx="5105400" cy="1854200"/>
        </p:xfrm>
        <a:graphic>
          <a:graphicData uri="http://schemas.openxmlformats.org/drawingml/2006/table">
            <a:tbl>
              <a:tblPr firstRow="1" bandRow="1">
                <a:tableStyleId>{16D9F66E-5EB9-4882-86FB-DCBF35E3C3E4}</a:tableStyleId>
              </a:tblPr>
              <a:tblGrid>
                <a:gridCol w="2552700">
                  <a:extLst>
                    <a:ext uri="{9D8B030D-6E8A-4147-A177-3AD203B41FA5}">
                      <a16:colId xmlns:a16="http://schemas.microsoft.com/office/drawing/2014/main" val="3057982666"/>
                    </a:ext>
                  </a:extLst>
                </a:gridCol>
                <a:gridCol w="2552700">
                  <a:extLst>
                    <a:ext uri="{9D8B030D-6E8A-4147-A177-3AD203B41FA5}">
                      <a16:colId xmlns:a16="http://schemas.microsoft.com/office/drawing/2014/main" val="1885399885"/>
                    </a:ext>
                  </a:extLst>
                </a:gridCol>
              </a:tblGrid>
              <a:tr h="370840">
                <a:tc>
                  <a:txBody>
                    <a:bodyPr/>
                    <a:lstStyle/>
                    <a:p>
                      <a:r>
                        <a:rPr lang="en-US" dirty="0"/>
                        <a:t>RULE</a:t>
                      </a:r>
                    </a:p>
                  </a:txBody>
                  <a:tcPr/>
                </a:tc>
                <a:tc>
                  <a:txBody>
                    <a:bodyPr/>
                    <a:lstStyle/>
                    <a:p>
                      <a:r>
                        <a:rPr lang="en-US" dirty="0"/>
                        <a:t>Sentential Form</a:t>
                      </a:r>
                    </a:p>
                  </a:txBody>
                  <a:tcPr/>
                </a:tc>
                <a:extLst>
                  <a:ext uri="{0D108BD9-81ED-4DB2-BD59-A6C34878D82A}">
                    <a16:rowId xmlns:a16="http://schemas.microsoft.com/office/drawing/2014/main" val="1527012792"/>
                  </a:ext>
                </a:extLst>
              </a:tr>
              <a:tr h="370840">
                <a:tc>
                  <a:txBody>
                    <a:bodyPr/>
                    <a:lstStyle/>
                    <a:p>
                      <a:r>
                        <a:rPr lang="en-US" dirty="0"/>
                        <a:t>start</a:t>
                      </a:r>
                    </a:p>
                  </a:txBody>
                  <a:tcPr/>
                </a:tc>
                <a:tc>
                  <a:txBody>
                    <a:bodyPr/>
                    <a:lstStyle/>
                    <a:p>
                      <a:r>
                        <a:rPr lang="en-US" dirty="0"/>
                        <a:t>A</a:t>
                      </a:r>
                    </a:p>
                  </a:txBody>
                  <a:tcPr/>
                </a:tc>
                <a:extLst>
                  <a:ext uri="{0D108BD9-81ED-4DB2-BD59-A6C34878D82A}">
                    <a16:rowId xmlns:a16="http://schemas.microsoft.com/office/drawing/2014/main" val="1765063534"/>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257291248"/>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256854853"/>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67716697"/>
                  </a:ext>
                </a:extLst>
              </a:tr>
            </a:tbl>
          </a:graphicData>
        </a:graphic>
      </p:graphicFrame>
      <p:sp>
        <p:nvSpPr>
          <p:cNvPr id="7" name="TextBox 6">
            <a:extLst>
              <a:ext uri="{FF2B5EF4-FFF2-40B4-BE49-F238E27FC236}">
                <a16:creationId xmlns:a16="http://schemas.microsoft.com/office/drawing/2014/main" id="{69CF21B1-8C3C-4247-B177-423E8C3384C0}"/>
              </a:ext>
            </a:extLst>
          </p:cNvPr>
          <p:cNvSpPr txBox="1"/>
          <p:nvPr/>
        </p:nvSpPr>
        <p:spPr>
          <a:xfrm>
            <a:off x="1429747" y="2167466"/>
            <a:ext cx="301686" cy="646331"/>
          </a:xfrm>
          <a:prstGeom prst="rect">
            <a:avLst/>
          </a:prstGeom>
          <a:noFill/>
        </p:spPr>
        <p:txBody>
          <a:bodyPr wrap="none" rtlCol="0">
            <a:spAutoFit/>
          </a:bodyPr>
          <a:lstStyle/>
          <a:p>
            <a:r>
              <a:rPr lang="en-US" dirty="0"/>
              <a:t>1</a:t>
            </a:r>
            <a:br>
              <a:rPr lang="en-US" dirty="0"/>
            </a:br>
            <a:r>
              <a:rPr lang="en-US" dirty="0"/>
              <a:t>2</a:t>
            </a:r>
          </a:p>
        </p:txBody>
      </p:sp>
      <p:pic>
        <p:nvPicPr>
          <p:cNvPr id="8" name="Picture 7">
            <a:extLst>
              <a:ext uri="{FF2B5EF4-FFF2-40B4-BE49-F238E27FC236}">
                <a16:creationId xmlns:a16="http://schemas.microsoft.com/office/drawing/2014/main" id="{75F3E328-AA42-6200-CE95-F2DF38EC48C6}"/>
              </a:ext>
            </a:extLst>
          </p:cNvPr>
          <p:cNvPicPr>
            <a:picLocks noChangeAspect="1"/>
          </p:cNvPicPr>
          <p:nvPr/>
        </p:nvPicPr>
        <p:blipFill rotWithShape="1">
          <a:blip r:embed="rId2"/>
          <a:srcRect b="65654"/>
          <a:stretch/>
        </p:blipFill>
        <p:spPr>
          <a:xfrm>
            <a:off x="1731433" y="1690688"/>
            <a:ext cx="7772400" cy="1224587"/>
          </a:xfrm>
          <a:prstGeom prst="rect">
            <a:avLst/>
          </a:prstGeom>
        </p:spPr>
      </p:pic>
    </p:spTree>
    <p:extLst>
      <p:ext uri="{BB962C8B-B14F-4D97-AF65-F5344CB8AC3E}">
        <p14:creationId xmlns:p14="http://schemas.microsoft.com/office/powerpoint/2010/main" val="4161412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sp>
        <p:nvSpPr>
          <p:cNvPr id="4" name="Rectangle 3">
            <a:extLst>
              <a:ext uri="{FF2B5EF4-FFF2-40B4-BE49-F238E27FC236}">
                <a16:creationId xmlns:a16="http://schemas.microsoft.com/office/drawing/2014/main" id="{0012F020-01E1-AC47-A673-1805EB9BF635}"/>
              </a:ext>
            </a:extLst>
          </p:cNvPr>
          <p:cNvSpPr/>
          <p:nvPr/>
        </p:nvSpPr>
        <p:spPr>
          <a:xfrm>
            <a:off x="5172872" y="3761872"/>
            <a:ext cx="1149674" cy="369332"/>
          </a:xfrm>
          <a:prstGeom prst="rect">
            <a:avLst/>
          </a:prstGeom>
        </p:spPr>
        <p:txBody>
          <a:bodyPr wrap="none">
            <a:spAutoFit/>
          </a:bodyPr>
          <a:lstStyle/>
          <a:p>
            <a:r>
              <a:rPr lang="en-US" dirty="0">
                <a:latin typeface="Courier" pitchFamily="2" charset="0"/>
              </a:rPr>
              <a:t>YYYYYYX</a:t>
            </a:r>
          </a:p>
        </p:txBody>
      </p:sp>
      <p:sp>
        <p:nvSpPr>
          <p:cNvPr id="5" name="TextBox 4">
            <a:extLst>
              <a:ext uri="{FF2B5EF4-FFF2-40B4-BE49-F238E27FC236}">
                <a16:creationId xmlns:a16="http://schemas.microsoft.com/office/drawing/2014/main" id="{AADC4D58-F35D-314B-901D-D600467E2534}"/>
              </a:ext>
            </a:extLst>
          </p:cNvPr>
          <p:cNvSpPr txBox="1"/>
          <p:nvPr/>
        </p:nvSpPr>
        <p:spPr>
          <a:xfrm>
            <a:off x="2099733" y="3761872"/>
            <a:ext cx="2134623" cy="369332"/>
          </a:xfrm>
          <a:prstGeom prst="rect">
            <a:avLst/>
          </a:prstGeom>
          <a:noFill/>
        </p:spPr>
        <p:txBody>
          <a:bodyPr wrap="none" rtlCol="0">
            <a:spAutoFit/>
          </a:bodyPr>
          <a:lstStyle/>
          <a:p>
            <a:r>
              <a:rPr lang="en-US" dirty="0"/>
              <a:t>How about this one?</a:t>
            </a:r>
          </a:p>
        </p:txBody>
      </p:sp>
      <p:graphicFrame>
        <p:nvGraphicFramePr>
          <p:cNvPr id="6" name="Table 9">
            <a:extLst>
              <a:ext uri="{FF2B5EF4-FFF2-40B4-BE49-F238E27FC236}">
                <a16:creationId xmlns:a16="http://schemas.microsoft.com/office/drawing/2014/main" id="{59FF01D5-5DB8-D145-ABAF-46E158A029DA}"/>
              </a:ext>
            </a:extLst>
          </p:cNvPr>
          <p:cNvGraphicFramePr>
            <a:graphicFrameLocks noGrp="1"/>
          </p:cNvGraphicFramePr>
          <p:nvPr/>
        </p:nvGraphicFramePr>
        <p:xfrm>
          <a:off x="3167044" y="4836982"/>
          <a:ext cx="5105400" cy="1854200"/>
        </p:xfrm>
        <a:graphic>
          <a:graphicData uri="http://schemas.openxmlformats.org/drawingml/2006/table">
            <a:tbl>
              <a:tblPr firstRow="1" bandRow="1">
                <a:tableStyleId>{16D9F66E-5EB9-4882-86FB-DCBF35E3C3E4}</a:tableStyleId>
              </a:tblPr>
              <a:tblGrid>
                <a:gridCol w="2552700">
                  <a:extLst>
                    <a:ext uri="{9D8B030D-6E8A-4147-A177-3AD203B41FA5}">
                      <a16:colId xmlns:a16="http://schemas.microsoft.com/office/drawing/2014/main" val="3057982666"/>
                    </a:ext>
                  </a:extLst>
                </a:gridCol>
                <a:gridCol w="2552700">
                  <a:extLst>
                    <a:ext uri="{9D8B030D-6E8A-4147-A177-3AD203B41FA5}">
                      <a16:colId xmlns:a16="http://schemas.microsoft.com/office/drawing/2014/main" val="1885399885"/>
                    </a:ext>
                  </a:extLst>
                </a:gridCol>
              </a:tblGrid>
              <a:tr h="370840">
                <a:tc>
                  <a:txBody>
                    <a:bodyPr/>
                    <a:lstStyle/>
                    <a:p>
                      <a:r>
                        <a:rPr lang="en-US" dirty="0"/>
                        <a:t>RULE</a:t>
                      </a:r>
                    </a:p>
                  </a:txBody>
                  <a:tcPr/>
                </a:tc>
                <a:tc>
                  <a:txBody>
                    <a:bodyPr/>
                    <a:lstStyle/>
                    <a:p>
                      <a:r>
                        <a:rPr lang="en-US" dirty="0"/>
                        <a:t>Sentential Form</a:t>
                      </a:r>
                    </a:p>
                  </a:txBody>
                  <a:tcPr/>
                </a:tc>
                <a:extLst>
                  <a:ext uri="{0D108BD9-81ED-4DB2-BD59-A6C34878D82A}">
                    <a16:rowId xmlns:a16="http://schemas.microsoft.com/office/drawing/2014/main" val="1527012792"/>
                  </a:ext>
                </a:extLst>
              </a:tr>
              <a:tr h="370840">
                <a:tc>
                  <a:txBody>
                    <a:bodyPr/>
                    <a:lstStyle/>
                    <a:p>
                      <a:r>
                        <a:rPr lang="en-US" dirty="0"/>
                        <a:t>start</a:t>
                      </a:r>
                    </a:p>
                  </a:txBody>
                  <a:tcPr/>
                </a:tc>
                <a:tc>
                  <a:txBody>
                    <a:bodyPr/>
                    <a:lstStyle/>
                    <a:p>
                      <a:r>
                        <a:rPr lang="en-US" dirty="0"/>
                        <a:t>A</a:t>
                      </a:r>
                    </a:p>
                  </a:txBody>
                  <a:tcPr/>
                </a:tc>
                <a:extLst>
                  <a:ext uri="{0D108BD9-81ED-4DB2-BD59-A6C34878D82A}">
                    <a16:rowId xmlns:a16="http://schemas.microsoft.com/office/drawing/2014/main" val="1765063534"/>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257291248"/>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256854853"/>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67716697"/>
                  </a:ext>
                </a:extLst>
              </a:tr>
            </a:tbl>
          </a:graphicData>
        </a:graphic>
      </p:graphicFrame>
      <p:sp>
        <p:nvSpPr>
          <p:cNvPr id="7" name="TextBox 6">
            <a:extLst>
              <a:ext uri="{FF2B5EF4-FFF2-40B4-BE49-F238E27FC236}">
                <a16:creationId xmlns:a16="http://schemas.microsoft.com/office/drawing/2014/main" id="{69CF21B1-8C3C-4247-B177-423E8C3384C0}"/>
              </a:ext>
            </a:extLst>
          </p:cNvPr>
          <p:cNvSpPr txBox="1"/>
          <p:nvPr/>
        </p:nvSpPr>
        <p:spPr>
          <a:xfrm>
            <a:off x="1429747" y="2167466"/>
            <a:ext cx="301686" cy="646331"/>
          </a:xfrm>
          <a:prstGeom prst="rect">
            <a:avLst/>
          </a:prstGeom>
          <a:noFill/>
        </p:spPr>
        <p:txBody>
          <a:bodyPr wrap="none" rtlCol="0">
            <a:spAutoFit/>
          </a:bodyPr>
          <a:lstStyle/>
          <a:p>
            <a:r>
              <a:rPr lang="en-US" dirty="0"/>
              <a:t>1</a:t>
            </a:r>
            <a:br>
              <a:rPr lang="en-US" dirty="0"/>
            </a:br>
            <a:r>
              <a:rPr lang="en-US" dirty="0"/>
              <a:t>2</a:t>
            </a:r>
          </a:p>
        </p:txBody>
      </p:sp>
      <p:pic>
        <p:nvPicPr>
          <p:cNvPr id="8" name="Picture 7">
            <a:extLst>
              <a:ext uri="{FF2B5EF4-FFF2-40B4-BE49-F238E27FC236}">
                <a16:creationId xmlns:a16="http://schemas.microsoft.com/office/drawing/2014/main" id="{75F3E328-AA42-6200-CE95-F2DF38EC48C6}"/>
              </a:ext>
            </a:extLst>
          </p:cNvPr>
          <p:cNvPicPr>
            <a:picLocks noChangeAspect="1"/>
          </p:cNvPicPr>
          <p:nvPr/>
        </p:nvPicPr>
        <p:blipFill rotWithShape="1">
          <a:blip r:embed="rId2"/>
          <a:srcRect b="65654"/>
          <a:stretch/>
        </p:blipFill>
        <p:spPr>
          <a:xfrm>
            <a:off x="1731433" y="1690688"/>
            <a:ext cx="7772400" cy="1224587"/>
          </a:xfrm>
          <a:prstGeom prst="rect">
            <a:avLst/>
          </a:prstGeom>
        </p:spPr>
      </p:pic>
      <p:sp>
        <p:nvSpPr>
          <p:cNvPr id="3" name="TextBox 2">
            <a:extLst>
              <a:ext uri="{FF2B5EF4-FFF2-40B4-BE49-F238E27FC236}">
                <a16:creationId xmlns:a16="http://schemas.microsoft.com/office/drawing/2014/main" id="{8ADF2564-3E14-6AA7-5871-F2639E4FD054}"/>
              </a:ext>
            </a:extLst>
          </p:cNvPr>
          <p:cNvSpPr txBox="1"/>
          <p:nvPr/>
        </p:nvSpPr>
        <p:spPr>
          <a:xfrm>
            <a:off x="8873067" y="4030133"/>
            <a:ext cx="2161489" cy="923330"/>
          </a:xfrm>
          <a:prstGeom prst="rect">
            <a:avLst/>
          </a:prstGeom>
          <a:noFill/>
        </p:spPr>
        <p:txBody>
          <a:bodyPr wrap="none" rtlCol="0">
            <a:spAutoFit/>
          </a:bodyPr>
          <a:lstStyle/>
          <a:p>
            <a:r>
              <a:rPr lang="en-US" dirty="0"/>
              <a:t>We can only produce</a:t>
            </a:r>
          </a:p>
          <a:p>
            <a:r>
              <a:rPr lang="en-US" dirty="0"/>
              <a:t>1 y, so we cannot</a:t>
            </a:r>
          </a:p>
          <a:p>
            <a:r>
              <a:rPr lang="en-US" dirty="0"/>
              <a:t>derive this string</a:t>
            </a:r>
          </a:p>
        </p:txBody>
      </p:sp>
    </p:spTree>
    <p:extLst>
      <p:ext uri="{BB962C8B-B14F-4D97-AF65-F5344CB8AC3E}">
        <p14:creationId xmlns:p14="http://schemas.microsoft.com/office/powerpoint/2010/main" val="1100395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3" name="Picture 2">
            <a:extLst>
              <a:ext uri="{FF2B5EF4-FFF2-40B4-BE49-F238E27FC236}">
                <a16:creationId xmlns:a16="http://schemas.microsoft.com/office/drawing/2014/main" id="{31DA6835-7422-959D-BC2F-E3369DE965BC}"/>
              </a:ext>
            </a:extLst>
          </p:cNvPr>
          <p:cNvPicPr>
            <a:picLocks noChangeAspect="1"/>
          </p:cNvPicPr>
          <p:nvPr/>
        </p:nvPicPr>
        <p:blipFill>
          <a:blip r:embed="rId2"/>
          <a:stretch>
            <a:fillRect/>
          </a:stretch>
        </p:blipFill>
        <p:spPr>
          <a:xfrm>
            <a:off x="2933700" y="482600"/>
            <a:ext cx="6324600" cy="5892800"/>
          </a:xfrm>
          <a:prstGeom prst="rect">
            <a:avLst/>
          </a:prstGeom>
        </p:spPr>
      </p:pic>
    </p:spTree>
    <p:extLst>
      <p:ext uri="{BB962C8B-B14F-4D97-AF65-F5344CB8AC3E}">
        <p14:creationId xmlns:p14="http://schemas.microsoft.com/office/powerpoint/2010/main" val="16773733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3" name="Picture 2">
            <a:extLst>
              <a:ext uri="{FF2B5EF4-FFF2-40B4-BE49-F238E27FC236}">
                <a16:creationId xmlns:a16="http://schemas.microsoft.com/office/drawing/2014/main" id="{31DA6835-7422-959D-BC2F-E3369DE965BC}"/>
              </a:ext>
            </a:extLst>
          </p:cNvPr>
          <p:cNvPicPr>
            <a:picLocks noChangeAspect="1"/>
          </p:cNvPicPr>
          <p:nvPr/>
        </p:nvPicPr>
        <p:blipFill>
          <a:blip r:embed="rId2"/>
          <a:stretch>
            <a:fillRect/>
          </a:stretch>
        </p:blipFill>
        <p:spPr>
          <a:xfrm>
            <a:off x="2933700" y="482600"/>
            <a:ext cx="6324600" cy="5892800"/>
          </a:xfrm>
          <a:prstGeom prst="rect">
            <a:avLst/>
          </a:prstGeom>
        </p:spPr>
      </p:pic>
      <p:sp>
        <p:nvSpPr>
          <p:cNvPr id="4" name="TextBox 3">
            <a:extLst>
              <a:ext uri="{FF2B5EF4-FFF2-40B4-BE49-F238E27FC236}">
                <a16:creationId xmlns:a16="http://schemas.microsoft.com/office/drawing/2014/main" id="{AAB56452-B094-73F7-607E-1546D9A22973}"/>
              </a:ext>
            </a:extLst>
          </p:cNvPr>
          <p:cNvSpPr txBox="1"/>
          <p:nvPr/>
        </p:nvSpPr>
        <p:spPr>
          <a:xfrm>
            <a:off x="6951133" y="2760133"/>
            <a:ext cx="3115212" cy="1200329"/>
          </a:xfrm>
          <a:prstGeom prst="rect">
            <a:avLst/>
          </a:prstGeom>
          <a:noFill/>
        </p:spPr>
        <p:txBody>
          <a:bodyPr wrap="none" rtlCol="0">
            <a:spAutoFit/>
          </a:bodyPr>
          <a:lstStyle/>
          <a:p>
            <a:r>
              <a:rPr lang="en-US" dirty="0"/>
              <a:t>Let’s look at some examples. </a:t>
            </a:r>
            <a:br>
              <a:rPr lang="en-US" dirty="0"/>
            </a:br>
            <a:br>
              <a:rPr lang="en-US" dirty="0"/>
            </a:br>
            <a:r>
              <a:rPr lang="en-US" dirty="0"/>
              <a:t>Let’s assume that E is an ”expr”</a:t>
            </a:r>
          </a:p>
          <a:p>
            <a:r>
              <a:rPr lang="en-US" dirty="0"/>
              <a:t>and x is a number</a:t>
            </a:r>
          </a:p>
        </p:txBody>
      </p:sp>
    </p:spTree>
    <p:extLst>
      <p:ext uri="{BB962C8B-B14F-4D97-AF65-F5344CB8AC3E}">
        <p14:creationId xmlns:p14="http://schemas.microsoft.com/office/powerpoint/2010/main" val="36976863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581C384-93DB-0D44-BE61-8197A0709109}"/>
              </a:ext>
            </a:extLst>
          </p:cNvPr>
          <p:cNvSpPr txBox="1"/>
          <p:nvPr/>
        </p:nvSpPr>
        <p:spPr>
          <a:xfrm>
            <a:off x="3196575" y="595375"/>
            <a:ext cx="3147015" cy="584775"/>
          </a:xfrm>
          <a:prstGeom prst="rect">
            <a:avLst/>
          </a:prstGeom>
          <a:noFill/>
        </p:spPr>
        <p:txBody>
          <a:bodyPr wrap="none" rtlCol="0">
            <a:spAutoFit/>
          </a:bodyPr>
          <a:lstStyle/>
          <a:p>
            <a:r>
              <a:rPr lang="en-US" sz="3200" dirty="0">
                <a:latin typeface="Courier" pitchFamily="2" charset="0"/>
              </a:rPr>
              <a:t>input: 2+3+4</a:t>
            </a:r>
          </a:p>
        </p:txBody>
      </p:sp>
      <p:sp>
        <p:nvSpPr>
          <p:cNvPr id="7" name="TextBox 6">
            <a:extLst>
              <a:ext uri="{FF2B5EF4-FFF2-40B4-BE49-F238E27FC236}">
                <a16:creationId xmlns:a16="http://schemas.microsoft.com/office/drawing/2014/main" id="{1EF4FC3F-B8F7-EF4A-8F6B-AAFA31AB4690}"/>
              </a:ext>
            </a:extLst>
          </p:cNvPr>
          <p:cNvSpPr txBox="1"/>
          <p:nvPr/>
        </p:nvSpPr>
        <p:spPr>
          <a:xfrm>
            <a:off x="8635402" y="2181957"/>
            <a:ext cx="597984" cy="369332"/>
          </a:xfrm>
          <a:prstGeom prst="rect">
            <a:avLst/>
          </a:prstGeom>
          <a:noFill/>
        </p:spPr>
        <p:txBody>
          <a:bodyPr wrap="none" rtlCol="0">
            <a:spAutoFit/>
          </a:bodyPr>
          <a:lstStyle/>
          <a:p>
            <a:r>
              <a:rPr lang="en-US" dirty="0"/>
              <a:t>expr</a:t>
            </a:r>
          </a:p>
        </p:txBody>
      </p:sp>
      <p:cxnSp>
        <p:nvCxnSpPr>
          <p:cNvPr id="8" name="Straight Connector 7">
            <a:extLst>
              <a:ext uri="{FF2B5EF4-FFF2-40B4-BE49-F238E27FC236}">
                <a16:creationId xmlns:a16="http://schemas.microsoft.com/office/drawing/2014/main" id="{30141CE8-2344-0948-9E95-8E3D11DE2430}"/>
              </a:ext>
            </a:extLst>
          </p:cNvPr>
          <p:cNvCxnSpPr>
            <a:cxnSpLocks/>
            <a:stCxn id="7" idx="2"/>
            <a:endCxn id="9" idx="0"/>
          </p:cNvCxnSpPr>
          <p:nvPr/>
        </p:nvCxnSpPr>
        <p:spPr>
          <a:xfrm flipH="1">
            <a:off x="7299498" y="2551289"/>
            <a:ext cx="1634896" cy="536644"/>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E6D905BC-8176-5C4B-8283-5453872C6006}"/>
              </a:ext>
            </a:extLst>
          </p:cNvPr>
          <p:cNvSpPr txBox="1"/>
          <p:nvPr/>
        </p:nvSpPr>
        <p:spPr>
          <a:xfrm>
            <a:off x="7000506" y="3087933"/>
            <a:ext cx="597984" cy="369332"/>
          </a:xfrm>
          <a:prstGeom prst="rect">
            <a:avLst/>
          </a:prstGeom>
          <a:noFill/>
        </p:spPr>
        <p:txBody>
          <a:bodyPr wrap="none" rtlCol="0">
            <a:spAutoFit/>
          </a:bodyPr>
          <a:lstStyle/>
          <a:p>
            <a:r>
              <a:rPr lang="en-US" dirty="0"/>
              <a:t>expr</a:t>
            </a:r>
          </a:p>
        </p:txBody>
      </p:sp>
      <p:cxnSp>
        <p:nvCxnSpPr>
          <p:cNvPr id="10" name="Straight Connector 9">
            <a:extLst>
              <a:ext uri="{FF2B5EF4-FFF2-40B4-BE49-F238E27FC236}">
                <a16:creationId xmlns:a16="http://schemas.microsoft.com/office/drawing/2014/main" id="{0686B2F0-A92C-9842-99A5-BB5F68B3CB0F}"/>
              </a:ext>
            </a:extLst>
          </p:cNvPr>
          <p:cNvCxnSpPr>
            <a:cxnSpLocks/>
            <a:stCxn id="7" idx="2"/>
            <a:endCxn id="12" idx="0"/>
          </p:cNvCxnSpPr>
          <p:nvPr/>
        </p:nvCxnSpPr>
        <p:spPr>
          <a:xfrm>
            <a:off x="8934394" y="2551289"/>
            <a:ext cx="0" cy="554837"/>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B373421-B101-4546-B128-9E43278BD634}"/>
              </a:ext>
            </a:extLst>
          </p:cNvPr>
          <p:cNvCxnSpPr>
            <a:cxnSpLocks/>
            <a:stCxn id="7" idx="2"/>
            <a:endCxn id="13" idx="0"/>
          </p:cNvCxnSpPr>
          <p:nvPr/>
        </p:nvCxnSpPr>
        <p:spPr>
          <a:xfrm>
            <a:off x="8934394" y="2551289"/>
            <a:ext cx="1057341" cy="536644"/>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60AF16AA-22CD-FA4F-9F55-FCC38AD1D4BA}"/>
              </a:ext>
            </a:extLst>
          </p:cNvPr>
          <p:cNvSpPr txBox="1"/>
          <p:nvPr/>
        </p:nvSpPr>
        <p:spPr>
          <a:xfrm>
            <a:off x="8494273" y="3106126"/>
            <a:ext cx="880241" cy="369332"/>
          </a:xfrm>
          <a:prstGeom prst="rect">
            <a:avLst/>
          </a:prstGeom>
          <a:noFill/>
        </p:spPr>
        <p:txBody>
          <a:bodyPr wrap="none" rtlCol="0">
            <a:spAutoFit/>
          </a:bodyPr>
          <a:lstStyle/>
          <a:p>
            <a:r>
              <a:rPr lang="en-US" dirty="0"/>
              <a:t>&lt;PLUS&gt;</a:t>
            </a:r>
          </a:p>
        </p:txBody>
      </p:sp>
      <p:sp>
        <p:nvSpPr>
          <p:cNvPr id="13" name="TextBox 12">
            <a:extLst>
              <a:ext uri="{FF2B5EF4-FFF2-40B4-BE49-F238E27FC236}">
                <a16:creationId xmlns:a16="http://schemas.microsoft.com/office/drawing/2014/main" id="{BA6A98FD-3CE1-2241-952E-12AD71379DB0}"/>
              </a:ext>
            </a:extLst>
          </p:cNvPr>
          <p:cNvSpPr txBox="1"/>
          <p:nvPr/>
        </p:nvSpPr>
        <p:spPr>
          <a:xfrm>
            <a:off x="9692743" y="3087933"/>
            <a:ext cx="597984" cy="369332"/>
          </a:xfrm>
          <a:prstGeom prst="rect">
            <a:avLst/>
          </a:prstGeom>
          <a:noFill/>
        </p:spPr>
        <p:txBody>
          <a:bodyPr wrap="none" rtlCol="0">
            <a:spAutoFit/>
          </a:bodyPr>
          <a:lstStyle/>
          <a:p>
            <a:r>
              <a:rPr lang="en-US" dirty="0"/>
              <a:t>expr</a:t>
            </a:r>
          </a:p>
        </p:txBody>
      </p:sp>
      <p:sp>
        <p:nvSpPr>
          <p:cNvPr id="14" name="TextBox 13">
            <a:extLst>
              <a:ext uri="{FF2B5EF4-FFF2-40B4-BE49-F238E27FC236}">
                <a16:creationId xmlns:a16="http://schemas.microsoft.com/office/drawing/2014/main" id="{66D518E2-D041-B54A-BAFD-9F3EB0B79156}"/>
              </a:ext>
            </a:extLst>
          </p:cNvPr>
          <p:cNvSpPr txBox="1"/>
          <p:nvPr/>
        </p:nvSpPr>
        <p:spPr>
          <a:xfrm>
            <a:off x="6724021" y="5469967"/>
            <a:ext cx="1136850" cy="369332"/>
          </a:xfrm>
          <a:prstGeom prst="rect">
            <a:avLst/>
          </a:prstGeom>
          <a:noFill/>
        </p:spPr>
        <p:txBody>
          <a:bodyPr wrap="none" rtlCol="0">
            <a:spAutoFit/>
          </a:bodyPr>
          <a:lstStyle/>
          <a:p>
            <a:r>
              <a:rPr lang="en-US" dirty="0"/>
              <a:t>&lt;NUM, 2&gt;</a:t>
            </a:r>
          </a:p>
        </p:txBody>
      </p:sp>
      <p:cxnSp>
        <p:nvCxnSpPr>
          <p:cNvPr id="15" name="Straight Connector 14">
            <a:extLst>
              <a:ext uri="{FF2B5EF4-FFF2-40B4-BE49-F238E27FC236}">
                <a16:creationId xmlns:a16="http://schemas.microsoft.com/office/drawing/2014/main" id="{7BE47221-BFFC-0243-AFE9-5C53FC906A1B}"/>
              </a:ext>
            </a:extLst>
          </p:cNvPr>
          <p:cNvCxnSpPr>
            <a:cxnSpLocks/>
            <a:endCxn id="22" idx="0"/>
          </p:cNvCxnSpPr>
          <p:nvPr/>
        </p:nvCxnSpPr>
        <p:spPr>
          <a:xfrm flipH="1">
            <a:off x="7298056" y="3477414"/>
            <a:ext cx="1442" cy="464578"/>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9807E1A-CE97-FF41-A2A5-7C3CB46AC284}"/>
              </a:ext>
            </a:extLst>
          </p:cNvPr>
          <p:cNvCxnSpPr>
            <a:cxnSpLocks/>
          </p:cNvCxnSpPr>
          <p:nvPr/>
        </p:nvCxnSpPr>
        <p:spPr>
          <a:xfrm flipH="1">
            <a:off x="8758711" y="3459774"/>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9DAF383E-DF34-F944-BC7F-24A207C0E665}"/>
              </a:ext>
            </a:extLst>
          </p:cNvPr>
          <p:cNvCxnSpPr>
            <a:cxnSpLocks/>
          </p:cNvCxnSpPr>
          <p:nvPr/>
        </p:nvCxnSpPr>
        <p:spPr>
          <a:xfrm>
            <a:off x="9983084" y="3459774"/>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8CA92CF3-16B2-3A46-9746-FE978094BA1D}"/>
              </a:ext>
            </a:extLst>
          </p:cNvPr>
          <p:cNvCxnSpPr>
            <a:cxnSpLocks/>
          </p:cNvCxnSpPr>
          <p:nvPr/>
        </p:nvCxnSpPr>
        <p:spPr>
          <a:xfrm>
            <a:off x="9983084" y="3459774"/>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5173FE82-5C9F-3B48-8EAE-3B7CB4B7E7F6}"/>
              </a:ext>
            </a:extLst>
          </p:cNvPr>
          <p:cNvSpPr txBox="1"/>
          <p:nvPr/>
        </p:nvSpPr>
        <p:spPr>
          <a:xfrm>
            <a:off x="9525511" y="3926876"/>
            <a:ext cx="880241" cy="369332"/>
          </a:xfrm>
          <a:prstGeom prst="rect">
            <a:avLst/>
          </a:prstGeom>
          <a:noFill/>
        </p:spPr>
        <p:txBody>
          <a:bodyPr wrap="none" rtlCol="0">
            <a:spAutoFit/>
          </a:bodyPr>
          <a:lstStyle/>
          <a:p>
            <a:r>
              <a:rPr lang="en-US" dirty="0"/>
              <a:t>&lt;PLUS&gt;</a:t>
            </a:r>
          </a:p>
        </p:txBody>
      </p:sp>
      <p:sp>
        <p:nvSpPr>
          <p:cNvPr id="20" name="TextBox 19">
            <a:extLst>
              <a:ext uri="{FF2B5EF4-FFF2-40B4-BE49-F238E27FC236}">
                <a16:creationId xmlns:a16="http://schemas.microsoft.com/office/drawing/2014/main" id="{5F067DEE-CDD4-7E46-9949-17B518AA1F04}"/>
              </a:ext>
            </a:extLst>
          </p:cNvPr>
          <p:cNvSpPr txBox="1"/>
          <p:nvPr/>
        </p:nvSpPr>
        <p:spPr>
          <a:xfrm>
            <a:off x="8459719" y="3895483"/>
            <a:ext cx="597984" cy="369332"/>
          </a:xfrm>
          <a:prstGeom prst="rect">
            <a:avLst/>
          </a:prstGeom>
          <a:noFill/>
        </p:spPr>
        <p:txBody>
          <a:bodyPr wrap="none" rtlCol="0">
            <a:spAutoFit/>
          </a:bodyPr>
          <a:lstStyle/>
          <a:p>
            <a:r>
              <a:rPr lang="en-US" dirty="0"/>
              <a:t>expr</a:t>
            </a:r>
          </a:p>
        </p:txBody>
      </p:sp>
      <p:sp>
        <p:nvSpPr>
          <p:cNvPr id="21" name="TextBox 20">
            <a:extLst>
              <a:ext uri="{FF2B5EF4-FFF2-40B4-BE49-F238E27FC236}">
                <a16:creationId xmlns:a16="http://schemas.microsoft.com/office/drawing/2014/main" id="{4CCBC7C3-3B2D-8846-922F-FFE276D95ACE}"/>
              </a:ext>
            </a:extLst>
          </p:cNvPr>
          <p:cNvSpPr txBox="1"/>
          <p:nvPr/>
        </p:nvSpPr>
        <p:spPr>
          <a:xfrm>
            <a:off x="10781251" y="3895483"/>
            <a:ext cx="597984" cy="369332"/>
          </a:xfrm>
          <a:prstGeom prst="rect">
            <a:avLst/>
          </a:prstGeom>
          <a:noFill/>
        </p:spPr>
        <p:txBody>
          <a:bodyPr wrap="none" rtlCol="0">
            <a:spAutoFit/>
          </a:bodyPr>
          <a:lstStyle/>
          <a:p>
            <a:r>
              <a:rPr lang="en-US" dirty="0"/>
              <a:t>expr</a:t>
            </a:r>
          </a:p>
        </p:txBody>
      </p:sp>
      <p:sp>
        <p:nvSpPr>
          <p:cNvPr id="22" name="TextBox 21">
            <a:extLst>
              <a:ext uri="{FF2B5EF4-FFF2-40B4-BE49-F238E27FC236}">
                <a16:creationId xmlns:a16="http://schemas.microsoft.com/office/drawing/2014/main" id="{523078ED-048C-F640-ACD0-3E3AAD13C997}"/>
              </a:ext>
            </a:extLst>
          </p:cNvPr>
          <p:cNvSpPr txBox="1"/>
          <p:nvPr/>
        </p:nvSpPr>
        <p:spPr>
          <a:xfrm>
            <a:off x="6978545" y="3941992"/>
            <a:ext cx="639021" cy="369332"/>
          </a:xfrm>
          <a:prstGeom prst="rect">
            <a:avLst/>
          </a:prstGeom>
          <a:noFill/>
        </p:spPr>
        <p:txBody>
          <a:bodyPr wrap="none" rtlCol="0">
            <a:spAutoFit/>
          </a:bodyPr>
          <a:lstStyle/>
          <a:p>
            <a:r>
              <a:rPr lang="en-US" dirty="0"/>
              <a:t>term</a:t>
            </a:r>
          </a:p>
        </p:txBody>
      </p:sp>
      <p:cxnSp>
        <p:nvCxnSpPr>
          <p:cNvPr id="23" name="Straight Connector 22">
            <a:extLst>
              <a:ext uri="{FF2B5EF4-FFF2-40B4-BE49-F238E27FC236}">
                <a16:creationId xmlns:a16="http://schemas.microsoft.com/office/drawing/2014/main" id="{AD31FE39-303E-6A49-A3C2-0B76C241499E}"/>
              </a:ext>
            </a:extLst>
          </p:cNvPr>
          <p:cNvCxnSpPr>
            <a:cxnSpLocks/>
            <a:stCxn id="22" idx="2"/>
            <a:endCxn id="24" idx="0"/>
          </p:cNvCxnSpPr>
          <p:nvPr/>
        </p:nvCxnSpPr>
        <p:spPr>
          <a:xfrm flipH="1">
            <a:off x="7298055" y="4311324"/>
            <a:ext cx="1" cy="489250"/>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085D5B41-A14A-6947-AF22-039FD4CC5D3A}"/>
              </a:ext>
            </a:extLst>
          </p:cNvPr>
          <p:cNvSpPr txBox="1"/>
          <p:nvPr/>
        </p:nvSpPr>
        <p:spPr>
          <a:xfrm>
            <a:off x="6930165" y="4800574"/>
            <a:ext cx="735779" cy="369332"/>
          </a:xfrm>
          <a:prstGeom prst="rect">
            <a:avLst/>
          </a:prstGeom>
          <a:noFill/>
        </p:spPr>
        <p:txBody>
          <a:bodyPr wrap="none" rtlCol="0">
            <a:spAutoFit/>
          </a:bodyPr>
          <a:lstStyle/>
          <a:p>
            <a:r>
              <a:rPr lang="en-US" dirty="0"/>
              <a:t>factor</a:t>
            </a:r>
          </a:p>
        </p:txBody>
      </p:sp>
      <p:cxnSp>
        <p:nvCxnSpPr>
          <p:cNvPr id="25" name="Straight Connector 24">
            <a:extLst>
              <a:ext uri="{FF2B5EF4-FFF2-40B4-BE49-F238E27FC236}">
                <a16:creationId xmlns:a16="http://schemas.microsoft.com/office/drawing/2014/main" id="{C24A46DA-5EEF-E14F-98AC-75E996BC5908}"/>
              </a:ext>
            </a:extLst>
          </p:cNvPr>
          <p:cNvCxnSpPr>
            <a:cxnSpLocks/>
            <a:stCxn id="24" idx="2"/>
            <a:endCxn id="14" idx="0"/>
          </p:cNvCxnSpPr>
          <p:nvPr/>
        </p:nvCxnSpPr>
        <p:spPr>
          <a:xfrm flipH="1">
            <a:off x="7292446" y="5169906"/>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53922C26-78A1-2B41-8636-490EF1E8297B}"/>
              </a:ext>
            </a:extLst>
          </p:cNvPr>
          <p:cNvSpPr txBox="1"/>
          <p:nvPr/>
        </p:nvSpPr>
        <p:spPr>
          <a:xfrm>
            <a:off x="8223152" y="5907160"/>
            <a:ext cx="1136850" cy="369332"/>
          </a:xfrm>
          <a:prstGeom prst="rect">
            <a:avLst/>
          </a:prstGeom>
          <a:noFill/>
        </p:spPr>
        <p:txBody>
          <a:bodyPr wrap="none" rtlCol="0">
            <a:spAutoFit/>
          </a:bodyPr>
          <a:lstStyle/>
          <a:p>
            <a:r>
              <a:rPr lang="en-US" dirty="0"/>
              <a:t>&lt;NUM, 3&gt;</a:t>
            </a:r>
          </a:p>
        </p:txBody>
      </p:sp>
      <p:sp>
        <p:nvSpPr>
          <p:cNvPr id="29" name="TextBox 28">
            <a:extLst>
              <a:ext uri="{FF2B5EF4-FFF2-40B4-BE49-F238E27FC236}">
                <a16:creationId xmlns:a16="http://schemas.microsoft.com/office/drawing/2014/main" id="{797B625C-0EB6-C44A-B7B1-59D7A6B79F63}"/>
              </a:ext>
            </a:extLst>
          </p:cNvPr>
          <p:cNvSpPr txBox="1"/>
          <p:nvPr/>
        </p:nvSpPr>
        <p:spPr>
          <a:xfrm>
            <a:off x="8429296" y="4595211"/>
            <a:ext cx="639021" cy="369332"/>
          </a:xfrm>
          <a:prstGeom prst="rect">
            <a:avLst/>
          </a:prstGeom>
          <a:noFill/>
        </p:spPr>
        <p:txBody>
          <a:bodyPr wrap="none" rtlCol="0">
            <a:spAutoFit/>
          </a:bodyPr>
          <a:lstStyle/>
          <a:p>
            <a:r>
              <a:rPr lang="en-US" dirty="0"/>
              <a:t>term</a:t>
            </a:r>
          </a:p>
        </p:txBody>
      </p:sp>
      <p:cxnSp>
        <p:nvCxnSpPr>
          <p:cNvPr id="30" name="Straight Connector 29">
            <a:extLst>
              <a:ext uri="{FF2B5EF4-FFF2-40B4-BE49-F238E27FC236}">
                <a16:creationId xmlns:a16="http://schemas.microsoft.com/office/drawing/2014/main" id="{EFCE927F-6F2D-7C4E-A51D-683038842E00}"/>
              </a:ext>
            </a:extLst>
          </p:cNvPr>
          <p:cNvCxnSpPr>
            <a:cxnSpLocks/>
            <a:endCxn id="28" idx="0"/>
          </p:cNvCxnSpPr>
          <p:nvPr/>
        </p:nvCxnSpPr>
        <p:spPr>
          <a:xfrm>
            <a:off x="8791577" y="5598467"/>
            <a:ext cx="0" cy="308693"/>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3EF182C6-3A3A-5340-AECF-F5309B097F1B}"/>
              </a:ext>
            </a:extLst>
          </p:cNvPr>
          <p:cNvCxnSpPr>
            <a:cxnSpLocks/>
          </p:cNvCxnSpPr>
          <p:nvPr/>
        </p:nvCxnSpPr>
        <p:spPr>
          <a:xfrm flipH="1">
            <a:off x="8773620" y="4276824"/>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13C08319-763D-EC4A-85E5-A88DF4758EAC}"/>
              </a:ext>
            </a:extLst>
          </p:cNvPr>
          <p:cNvSpPr txBox="1"/>
          <p:nvPr/>
        </p:nvSpPr>
        <p:spPr>
          <a:xfrm>
            <a:off x="10546607" y="5907160"/>
            <a:ext cx="1136850" cy="369332"/>
          </a:xfrm>
          <a:prstGeom prst="rect">
            <a:avLst/>
          </a:prstGeom>
          <a:noFill/>
        </p:spPr>
        <p:txBody>
          <a:bodyPr wrap="none" rtlCol="0">
            <a:spAutoFit/>
          </a:bodyPr>
          <a:lstStyle/>
          <a:p>
            <a:r>
              <a:rPr lang="en-US" dirty="0"/>
              <a:t>&lt;NUM, 4&gt;</a:t>
            </a:r>
          </a:p>
        </p:txBody>
      </p:sp>
      <p:sp>
        <p:nvSpPr>
          <p:cNvPr id="33" name="TextBox 32">
            <a:extLst>
              <a:ext uri="{FF2B5EF4-FFF2-40B4-BE49-F238E27FC236}">
                <a16:creationId xmlns:a16="http://schemas.microsoft.com/office/drawing/2014/main" id="{9F2F9A8A-EA8C-4840-9B67-4CF2EB90B9E3}"/>
              </a:ext>
            </a:extLst>
          </p:cNvPr>
          <p:cNvSpPr txBox="1"/>
          <p:nvPr/>
        </p:nvSpPr>
        <p:spPr>
          <a:xfrm>
            <a:off x="10752751" y="4595211"/>
            <a:ext cx="639021" cy="369332"/>
          </a:xfrm>
          <a:prstGeom prst="rect">
            <a:avLst/>
          </a:prstGeom>
          <a:noFill/>
        </p:spPr>
        <p:txBody>
          <a:bodyPr wrap="none" rtlCol="0">
            <a:spAutoFit/>
          </a:bodyPr>
          <a:lstStyle/>
          <a:p>
            <a:r>
              <a:rPr lang="en-US" dirty="0"/>
              <a:t>term</a:t>
            </a:r>
          </a:p>
        </p:txBody>
      </p:sp>
      <p:cxnSp>
        <p:nvCxnSpPr>
          <p:cNvPr id="34" name="Straight Connector 33">
            <a:extLst>
              <a:ext uri="{FF2B5EF4-FFF2-40B4-BE49-F238E27FC236}">
                <a16:creationId xmlns:a16="http://schemas.microsoft.com/office/drawing/2014/main" id="{94B5E655-A336-324F-8040-8067BBACD221}"/>
              </a:ext>
            </a:extLst>
          </p:cNvPr>
          <p:cNvCxnSpPr>
            <a:cxnSpLocks/>
            <a:endCxn id="32" idx="0"/>
          </p:cNvCxnSpPr>
          <p:nvPr/>
        </p:nvCxnSpPr>
        <p:spPr>
          <a:xfrm>
            <a:off x="11115032" y="5642964"/>
            <a:ext cx="0" cy="264196"/>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E7FBE64F-48C5-3445-A705-3585FFC27A81}"/>
              </a:ext>
            </a:extLst>
          </p:cNvPr>
          <p:cNvCxnSpPr>
            <a:cxnSpLocks/>
          </p:cNvCxnSpPr>
          <p:nvPr/>
        </p:nvCxnSpPr>
        <p:spPr>
          <a:xfrm flipH="1">
            <a:off x="11097075" y="4276824"/>
            <a:ext cx="5609" cy="300061"/>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0E9BEB0F-F6AB-D14C-AA7C-F8C362827398}"/>
              </a:ext>
            </a:extLst>
          </p:cNvPr>
          <p:cNvCxnSpPr>
            <a:cxnSpLocks/>
            <a:stCxn id="29" idx="2"/>
            <a:endCxn id="42" idx="0"/>
          </p:cNvCxnSpPr>
          <p:nvPr/>
        </p:nvCxnSpPr>
        <p:spPr>
          <a:xfrm>
            <a:off x="8748807" y="4964543"/>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D5E41403-C4A0-4D4C-8612-2848F97625CD}"/>
              </a:ext>
            </a:extLst>
          </p:cNvPr>
          <p:cNvSpPr txBox="1"/>
          <p:nvPr/>
        </p:nvSpPr>
        <p:spPr>
          <a:xfrm>
            <a:off x="8390821" y="5207432"/>
            <a:ext cx="735779" cy="369332"/>
          </a:xfrm>
          <a:prstGeom prst="rect">
            <a:avLst/>
          </a:prstGeom>
          <a:noFill/>
        </p:spPr>
        <p:txBody>
          <a:bodyPr wrap="none" rtlCol="0">
            <a:spAutoFit/>
          </a:bodyPr>
          <a:lstStyle/>
          <a:p>
            <a:r>
              <a:rPr lang="en-US" dirty="0"/>
              <a:t>factor</a:t>
            </a:r>
          </a:p>
        </p:txBody>
      </p:sp>
      <p:cxnSp>
        <p:nvCxnSpPr>
          <p:cNvPr id="46" name="Straight Connector 45">
            <a:extLst>
              <a:ext uri="{FF2B5EF4-FFF2-40B4-BE49-F238E27FC236}">
                <a16:creationId xmlns:a16="http://schemas.microsoft.com/office/drawing/2014/main" id="{614A3599-6266-194B-A062-C993C27C06A8}"/>
              </a:ext>
            </a:extLst>
          </p:cNvPr>
          <p:cNvCxnSpPr>
            <a:cxnSpLocks/>
            <a:endCxn id="47" idx="0"/>
          </p:cNvCxnSpPr>
          <p:nvPr/>
        </p:nvCxnSpPr>
        <p:spPr>
          <a:xfrm>
            <a:off x="11070339" y="4886852"/>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F1C7E270-ED72-8040-87BF-6441A4678689}"/>
              </a:ext>
            </a:extLst>
          </p:cNvPr>
          <p:cNvSpPr txBox="1"/>
          <p:nvPr/>
        </p:nvSpPr>
        <p:spPr>
          <a:xfrm>
            <a:off x="10712353" y="5129741"/>
            <a:ext cx="735779" cy="369332"/>
          </a:xfrm>
          <a:prstGeom prst="rect">
            <a:avLst/>
          </a:prstGeom>
          <a:noFill/>
        </p:spPr>
        <p:txBody>
          <a:bodyPr wrap="none" rtlCol="0">
            <a:spAutoFit/>
          </a:bodyPr>
          <a:lstStyle/>
          <a:p>
            <a:r>
              <a:rPr lang="en-US" dirty="0"/>
              <a:t>factor</a:t>
            </a:r>
          </a:p>
        </p:txBody>
      </p:sp>
      <p:sp>
        <p:nvSpPr>
          <p:cNvPr id="36" name="TextBox 35">
            <a:extLst>
              <a:ext uri="{FF2B5EF4-FFF2-40B4-BE49-F238E27FC236}">
                <a16:creationId xmlns:a16="http://schemas.microsoft.com/office/drawing/2014/main" id="{5EC1923B-CC00-F54F-B58B-2CBADA324DE1}"/>
              </a:ext>
            </a:extLst>
          </p:cNvPr>
          <p:cNvSpPr txBox="1"/>
          <p:nvPr/>
        </p:nvSpPr>
        <p:spPr>
          <a:xfrm>
            <a:off x="3337704" y="1941731"/>
            <a:ext cx="597984" cy="369332"/>
          </a:xfrm>
          <a:prstGeom prst="rect">
            <a:avLst/>
          </a:prstGeom>
          <a:noFill/>
        </p:spPr>
        <p:txBody>
          <a:bodyPr wrap="none" rtlCol="0">
            <a:spAutoFit/>
          </a:bodyPr>
          <a:lstStyle/>
          <a:p>
            <a:r>
              <a:rPr lang="en-US" dirty="0"/>
              <a:t>expr</a:t>
            </a:r>
          </a:p>
        </p:txBody>
      </p:sp>
      <p:cxnSp>
        <p:nvCxnSpPr>
          <p:cNvPr id="37" name="Straight Connector 36">
            <a:extLst>
              <a:ext uri="{FF2B5EF4-FFF2-40B4-BE49-F238E27FC236}">
                <a16:creationId xmlns:a16="http://schemas.microsoft.com/office/drawing/2014/main" id="{3BEC7F16-A435-7C43-9D5A-1A75CBD13DBE}"/>
              </a:ext>
            </a:extLst>
          </p:cNvPr>
          <p:cNvCxnSpPr>
            <a:cxnSpLocks/>
            <a:stCxn id="36" idx="2"/>
            <a:endCxn id="38" idx="0"/>
          </p:cNvCxnSpPr>
          <p:nvPr/>
        </p:nvCxnSpPr>
        <p:spPr>
          <a:xfrm flipH="1">
            <a:off x="2001800" y="2311063"/>
            <a:ext cx="1634896" cy="536644"/>
          </a:xfrm>
          <a:prstGeom prst="line">
            <a:avLst/>
          </a:prstGeom>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38EE1F56-B098-B34B-BF7A-EF753C1D22C6}"/>
              </a:ext>
            </a:extLst>
          </p:cNvPr>
          <p:cNvSpPr txBox="1"/>
          <p:nvPr/>
        </p:nvSpPr>
        <p:spPr>
          <a:xfrm>
            <a:off x="1702808" y="2847707"/>
            <a:ext cx="597984" cy="369332"/>
          </a:xfrm>
          <a:prstGeom prst="rect">
            <a:avLst/>
          </a:prstGeom>
          <a:noFill/>
        </p:spPr>
        <p:txBody>
          <a:bodyPr wrap="none" rtlCol="0">
            <a:spAutoFit/>
          </a:bodyPr>
          <a:lstStyle/>
          <a:p>
            <a:r>
              <a:rPr lang="en-US" dirty="0"/>
              <a:t>expr</a:t>
            </a:r>
          </a:p>
        </p:txBody>
      </p:sp>
      <p:cxnSp>
        <p:nvCxnSpPr>
          <p:cNvPr id="39" name="Straight Connector 38">
            <a:extLst>
              <a:ext uri="{FF2B5EF4-FFF2-40B4-BE49-F238E27FC236}">
                <a16:creationId xmlns:a16="http://schemas.microsoft.com/office/drawing/2014/main" id="{130EC886-051B-1248-823D-2EB736133459}"/>
              </a:ext>
            </a:extLst>
          </p:cNvPr>
          <p:cNvCxnSpPr>
            <a:cxnSpLocks/>
            <a:stCxn id="36" idx="2"/>
            <a:endCxn id="43" idx="0"/>
          </p:cNvCxnSpPr>
          <p:nvPr/>
        </p:nvCxnSpPr>
        <p:spPr>
          <a:xfrm>
            <a:off x="3636696" y="2311063"/>
            <a:ext cx="0" cy="554837"/>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4952DEB2-6A92-8541-ACE1-DDEDA7B9D118}"/>
              </a:ext>
            </a:extLst>
          </p:cNvPr>
          <p:cNvCxnSpPr>
            <a:cxnSpLocks/>
            <a:stCxn id="36" idx="2"/>
            <a:endCxn id="44" idx="0"/>
          </p:cNvCxnSpPr>
          <p:nvPr/>
        </p:nvCxnSpPr>
        <p:spPr>
          <a:xfrm>
            <a:off x="3636696" y="2311063"/>
            <a:ext cx="1057341" cy="536644"/>
          </a:xfrm>
          <a:prstGeom prst="line">
            <a:avLst/>
          </a:prstGeom>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1A9C10E0-8E1E-5748-91F2-5B29E549D1D6}"/>
              </a:ext>
            </a:extLst>
          </p:cNvPr>
          <p:cNvSpPr txBox="1"/>
          <p:nvPr/>
        </p:nvSpPr>
        <p:spPr>
          <a:xfrm>
            <a:off x="3196575" y="2865900"/>
            <a:ext cx="880241" cy="369332"/>
          </a:xfrm>
          <a:prstGeom prst="rect">
            <a:avLst/>
          </a:prstGeom>
          <a:noFill/>
        </p:spPr>
        <p:txBody>
          <a:bodyPr wrap="none" rtlCol="0">
            <a:spAutoFit/>
          </a:bodyPr>
          <a:lstStyle/>
          <a:p>
            <a:r>
              <a:rPr lang="en-US" dirty="0"/>
              <a:t>&lt;PLUS&gt;</a:t>
            </a:r>
          </a:p>
        </p:txBody>
      </p:sp>
      <p:sp>
        <p:nvSpPr>
          <p:cNvPr id="44" name="TextBox 43">
            <a:extLst>
              <a:ext uri="{FF2B5EF4-FFF2-40B4-BE49-F238E27FC236}">
                <a16:creationId xmlns:a16="http://schemas.microsoft.com/office/drawing/2014/main" id="{D7CA5CA2-4EA4-3B4E-9A91-6DDCD6F71A20}"/>
              </a:ext>
            </a:extLst>
          </p:cNvPr>
          <p:cNvSpPr txBox="1"/>
          <p:nvPr/>
        </p:nvSpPr>
        <p:spPr>
          <a:xfrm>
            <a:off x="4395045" y="2847707"/>
            <a:ext cx="597984" cy="369332"/>
          </a:xfrm>
          <a:prstGeom prst="rect">
            <a:avLst/>
          </a:prstGeom>
          <a:noFill/>
        </p:spPr>
        <p:txBody>
          <a:bodyPr wrap="none" rtlCol="0">
            <a:spAutoFit/>
          </a:bodyPr>
          <a:lstStyle/>
          <a:p>
            <a:r>
              <a:rPr lang="en-US" dirty="0"/>
              <a:t>expr</a:t>
            </a:r>
          </a:p>
        </p:txBody>
      </p:sp>
      <p:cxnSp>
        <p:nvCxnSpPr>
          <p:cNvPr id="49" name="Straight Connector 48">
            <a:extLst>
              <a:ext uri="{FF2B5EF4-FFF2-40B4-BE49-F238E27FC236}">
                <a16:creationId xmlns:a16="http://schemas.microsoft.com/office/drawing/2014/main" id="{2737F467-DD3B-464D-AB7C-48ADAE9C7A75}"/>
              </a:ext>
            </a:extLst>
          </p:cNvPr>
          <p:cNvCxnSpPr>
            <a:cxnSpLocks/>
          </p:cNvCxnSpPr>
          <p:nvPr/>
        </p:nvCxnSpPr>
        <p:spPr>
          <a:xfrm flipH="1">
            <a:off x="704643" y="3275108"/>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3B3C027E-6CAD-874A-BA4C-D4BDE373AB42}"/>
              </a:ext>
            </a:extLst>
          </p:cNvPr>
          <p:cNvCxnSpPr>
            <a:cxnSpLocks/>
          </p:cNvCxnSpPr>
          <p:nvPr/>
        </p:nvCxnSpPr>
        <p:spPr>
          <a:xfrm>
            <a:off x="1929016" y="3275108"/>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1ED3D8CF-46C2-074A-B667-A1B26D7A6839}"/>
              </a:ext>
            </a:extLst>
          </p:cNvPr>
          <p:cNvCxnSpPr>
            <a:cxnSpLocks/>
          </p:cNvCxnSpPr>
          <p:nvPr/>
        </p:nvCxnSpPr>
        <p:spPr>
          <a:xfrm>
            <a:off x="1929016" y="3275108"/>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41C57070-1823-F445-9473-2FC7F87656AF}"/>
              </a:ext>
            </a:extLst>
          </p:cNvPr>
          <p:cNvSpPr txBox="1"/>
          <p:nvPr/>
        </p:nvSpPr>
        <p:spPr>
          <a:xfrm>
            <a:off x="1471443" y="3742210"/>
            <a:ext cx="880241" cy="369332"/>
          </a:xfrm>
          <a:prstGeom prst="rect">
            <a:avLst/>
          </a:prstGeom>
          <a:noFill/>
        </p:spPr>
        <p:txBody>
          <a:bodyPr wrap="none" rtlCol="0">
            <a:spAutoFit/>
          </a:bodyPr>
          <a:lstStyle/>
          <a:p>
            <a:r>
              <a:rPr lang="en-US" dirty="0"/>
              <a:t>&lt;PLUS&gt;</a:t>
            </a:r>
          </a:p>
        </p:txBody>
      </p:sp>
      <p:sp>
        <p:nvSpPr>
          <p:cNvPr id="53" name="TextBox 52">
            <a:extLst>
              <a:ext uri="{FF2B5EF4-FFF2-40B4-BE49-F238E27FC236}">
                <a16:creationId xmlns:a16="http://schemas.microsoft.com/office/drawing/2014/main" id="{96253B0E-0EC6-3148-A7AA-7554864A0EED}"/>
              </a:ext>
            </a:extLst>
          </p:cNvPr>
          <p:cNvSpPr txBox="1"/>
          <p:nvPr/>
        </p:nvSpPr>
        <p:spPr>
          <a:xfrm>
            <a:off x="405651" y="3710817"/>
            <a:ext cx="597984" cy="369332"/>
          </a:xfrm>
          <a:prstGeom prst="rect">
            <a:avLst/>
          </a:prstGeom>
          <a:noFill/>
        </p:spPr>
        <p:txBody>
          <a:bodyPr wrap="none" rtlCol="0">
            <a:spAutoFit/>
          </a:bodyPr>
          <a:lstStyle/>
          <a:p>
            <a:r>
              <a:rPr lang="en-US" dirty="0"/>
              <a:t>expr</a:t>
            </a:r>
          </a:p>
        </p:txBody>
      </p:sp>
      <p:sp>
        <p:nvSpPr>
          <p:cNvPr id="54" name="TextBox 53">
            <a:extLst>
              <a:ext uri="{FF2B5EF4-FFF2-40B4-BE49-F238E27FC236}">
                <a16:creationId xmlns:a16="http://schemas.microsoft.com/office/drawing/2014/main" id="{E8D89358-50D5-5149-9D7E-12BE25096FA6}"/>
              </a:ext>
            </a:extLst>
          </p:cNvPr>
          <p:cNvSpPr txBox="1"/>
          <p:nvPr/>
        </p:nvSpPr>
        <p:spPr>
          <a:xfrm>
            <a:off x="2727183" y="3710817"/>
            <a:ext cx="597984" cy="369332"/>
          </a:xfrm>
          <a:prstGeom prst="rect">
            <a:avLst/>
          </a:prstGeom>
          <a:noFill/>
        </p:spPr>
        <p:txBody>
          <a:bodyPr wrap="none" rtlCol="0">
            <a:spAutoFit/>
          </a:bodyPr>
          <a:lstStyle/>
          <a:p>
            <a:r>
              <a:rPr lang="en-US" dirty="0"/>
              <a:t>expr</a:t>
            </a:r>
          </a:p>
        </p:txBody>
      </p:sp>
      <p:sp>
        <p:nvSpPr>
          <p:cNvPr id="59" name="TextBox 58">
            <a:extLst>
              <a:ext uri="{FF2B5EF4-FFF2-40B4-BE49-F238E27FC236}">
                <a16:creationId xmlns:a16="http://schemas.microsoft.com/office/drawing/2014/main" id="{4BB51672-AA26-1342-9E90-03C0F97FFA09}"/>
              </a:ext>
            </a:extLst>
          </p:cNvPr>
          <p:cNvSpPr txBox="1"/>
          <p:nvPr/>
        </p:nvSpPr>
        <p:spPr>
          <a:xfrm>
            <a:off x="169084" y="5722494"/>
            <a:ext cx="1136850" cy="369332"/>
          </a:xfrm>
          <a:prstGeom prst="rect">
            <a:avLst/>
          </a:prstGeom>
          <a:noFill/>
        </p:spPr>
        <p:txBody>
          <a:bodyPr wrap="none" rtlCol="0">
            <a:spAutoFit/>
          </a:bodyPr>
          <a:lstStyle/>
          <a:p>
            <a:r>
              <a:rPr lang="en-US" dirty="0"/>
              <a:t>&lt;NUM, 2&gt;</a:t>
            </a:r>
          </a:p>
        </p:txBody>
      </p:sp>
      <p:sp>
        <p:nvSpPr>
          <p:cNvPr id="60" name="TextBox 59">
            <a:extLst>
              <a:ext uri="{FF2B5EF4-FFF2-40B4-BE49-F238E27FC236}">
                <a16:creationId xmlns:a16="http://schemas.microsoft.com/office/drawing/2014/main" id="{C1BB3498-EE54-8746-A272-5AD0BED142DC}"/>
              </a:ext>
            </a:extLst>
          </p:cNvPr>
          <p:cNvSpPr txBox="1"/>
          <p:nvPr/>
        </p:nvSpPr>
        <p:spPr>
          <a:xfrm>
            <a:off x="375228" y="4410545"/>
            <a:ext cx="639021" cy="369332"/>
          </a:xfrm>
          <a:prstGeom prst="rect">
            <a:avLst/>
          </a:prstGeom>
          <a:noFill/>
        </p:spPr>
        <p:txBody>
          <a:bodyPr wrap="none" rtlCol="0">
            <a:spAutoFit/>
          </a:bodyPr>
          <a:lstStyle/>
          <a:p>
            <a:r>
              <a:rPr lang="en-US" dirty="0"/>
              <a:t>term</a:t>
            </a:r>
          </a:p>
        </p:txBody>
      </p:sp>
      <p:cxnSp>
        <p:nvCxnSpPr>
          <p:cNvPr id="61" name="Straight Connector 60">
            <a:extLst>
              <a:ext uri="{FF2B5EF4-FFF2-40B4-BE49-F238E27FC236}">
                <a16:creationId xmlns:a16="http://schemas.microsoft.com/office/drawing/2014/main" id="{FD6F8D07-D95A-5448-B1DF-6BD3C103C7EB}"/>
              </a:ext>
            </a:extLst>
          </p:cNvPr>
          <p:cNvCxnSpPr>
            <a:cxnSpLocks/>
            <a:endCxn id="59" idx="0"/>
          </p:cNvCxnSpPr>
          <p:nvPr/>
        </p:nvCxnSpPr>
        <p:spPr>
          <a:xfrm flipH="1">
            <a:off x="737509" y="5413801"/>
            <a:ext cx="1" cy="308693"/>
          </a:xfrm>
          <a:prstGeom prst="line">
            <a:avLst/>
          </a:prstGeom>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A86DCAF7-69E6-834A-AE6E-0FE38CEA85BA}"/>
              </a:ext>
            </a:extLst>
          </p:cNvPr>
          <p:cNvCxnSpPr>
            <a:cxnSpLocks/>
          </p:cNvCxnSpPr>
          <p:nvPr/>
        </p:nvCxnSpPr>
        <p:spPr>
          <a:xfrm flipH="1">
            <a:off x="719552" y="4092158"/>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BD57399C-B201-B746-8DE0-BCBE79A9AA7E}"/>
              </a:ext>
            </a:extLst>
          </p:cNvPr>
          <p:cNvSpPr txBox="1"/>
          <p:nvPr/>
        </p:nvSpPr>
        <p:spPr>
          <a:xfrm>
            <a:off x="2492539" y="5722494"/>
            <a:ext cx="1136850" cy="369332"/>
          </a:xfrm>
          <a:prstGeom prst="rect">
            <a:avLst/>
          </a:prstGeom>
          <a:noFill/>
        </p:spPr>
        <p:txBody>
          <a:bodyPr wrap="none" rtlCol="0">
            <a:spAutoFit/>
          </a:bodyPr>
          <a:lstStyle/>
          <a:p>
            <a:r>
              <a:rPr lang="en-US" dirty="0"/>
              <a:t>&lt;NUM, 3&gt;</a:t>
            </a:r>
          </a:p>
        </p:txBody>
      </p:sp>
      <p:sp>
        <p:nvSpPr>
          <p:cNvPr id="64" name="TextBox 63">
            <a:extLst>
              <a:ext uri="{FF2B5EF4-FFF2-40B4-BE49-F238E27FC236}">
                <a16:creationId xmlns:a16="http://schemas.microsoft.com/office/drawing/2014/main" id="{2026449A-B7B4-B146-92E2-AEC4902CF791}"/>
              </a:ext>
            </a:extLst>
          </p:cNvPr>
          <p:cNvSpPr txBox="1"/>
          <p:nvPr/>
        </p:nvSpPr>
        <p:spPr>
          <a:xfrm>
            <a:off x="2698683" y="4410545"/>
            <a:ext cx="639021" cy="369332"/>
          </a:xfrm>
          <a:prstGeom prst="rect">
            <a:avLst/>
          </a:prstGeom>
          <a:noFill/>
        </p:spPr>
        <p:txBody>
          <a:bodyPr wrap="none" rtlCol="0">
            <a:spAutoFit/>
          </a:bodyPr>
          <a:lstStyle/>
          <a:p>
            <a:r>
              <a:rPr lang="en-US" dirty="0"/>
              <a:t>term</a:t>
            </a:r>
          </a:p>
        </p:txBody>
      </p:sp>
      <p:cxnSp>
        <p:nvCxnSpPr>
          <p:cNvPr id="65" name="Straight Connector 64">
            <a:extLst>
              <a:ext uri="{FF2B5EF4-FFF2-40B4-BE49-F238E27FC236}">
                <a16:creationId xmlns:a16="http://schemas.microsoft.com/office/drawing/2014/main" id="{8C04012A-4FA5-6B44-80E4-9A7BFA02A83B}"/>
              </a:ext>
            </a:extLst>
          </p:cNvPr>
          <p:cNvCxnSpPr>
            <a:cxnSpLocks/>
            <a:endCxn id="63" idx="0"/>
          </p:cNvCxnSpPr>
          <p:nvPr/>
        </p:nvCxnSpPr>
        <p:spPr>
          <a:xfrm flipH="1">
            <a:off x="3060964" y="5458298"/>
            <a:ext cx="1" cy="264196"/>
          </a:xfrm>
          <a:prstGeom prst="line">
            <a:avLst/>
          </a:prstGeom>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A93561DF-98DF-A440-B8EE-AB89FE1FA19E}"/>
              </a:ext>
            </a:extLst>
          </p:cNvPr>
          <p:cNvCxnSpPr>
            <a:cxnSpLocks/>
          </p:cNvCxnSpPr>
          <p:nvPr/>
        </p:nvCxnSpPr>
        <p:spPr>
          <a:xfrm flipH="1">
            <a:off x="3043007" y="4092158"/>
            <a:ext cx="5609" cy="300061"/>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Connector 66">
            <a:extLst>
              <a:ext uri="{FF2B5EF4-FFF2-40B4-BE49-F238E27FC236}">
                <a16:creationId xmlns:a16="http://schemas.microsoft.com/office/drawing/2014/main" id="{8AC93A18-FD63-3C49-B627-4ED0A6C07807}"/>
              </a:ext>
            </a:extLst>
          </p:cNvPr>
          <p:cNvCxnSpPr>
            <a:cxnSpLocks/>
            <a:stCxn id="60" idx="2"/>
            <a:endCxn id="68" idx="0"/>
          </p:cNvCxnSpPr>
          <p:nvPr/>
        </p:nvCxnSpPr>
        <p:spPr>
          <a:xfrm>
            <a:off x="694739" y="4779877"/>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68" name="TextBox 67">
            <a:extLst>
              <a:ext uri="{FF2B5EF4-FFF2-40B4-BE49-F238E27FC236}">
                <a16:creationId xmlns:a16="http://schemas.microsoft.com/office/drawing/2014/main" id="{4BACA7DC-06DF-1F42-9362-D172C7991887}"/>
              </a:ext>
            </a:extLst>
          </p:cNvPr>
          <p:cNvSpPr txBox="1"/>
          <p:nvPr/>
        </p:nvSpPr>
        <p:spPr>
          <a:xfrm>
            <a:off x="336753" y="5022766"/>
            <a:ext cx="735779" cy="369332"/>
          </a:xfrm>
          <a:prstGeom prst="rect">
            <a:avLst/>
          </a:prstGeom>
          <a:noFill/>
        </p:spPr>
        <p:txBody>
          <a:bodyPr wrap="none" rtlCol="0">
            <a:spAutoFit/>
          </a:bodyPr>
          <a:lstStyle/>
          <a:p>
            <a:r>
              <a:rPr lang="en-US" dirty="0"/>
              <a:t>factor</a:t>
            </a:r>
          </a:p>
        </p:txBody>
      </p:sp>
      <p:cxnSp>
        <p:nvCxnSpPr>
          <p:cNvPr id="69" name="Straight Connector 68">
            <a:extLst>
              <a:ext uri="{FF2B5EF4-FFF2-40B4-BE49-F238E27FC236}">
                <a16:creationId xmlns:a16="http://schemas.microsoft.com/office/drawing/2014/main" id="{03147EF5-1094-DF40-B87D-B68D07211B82}"/>
              </a:ext>
            </a:extLst>
          </p:cNvPr>
          <p:cNvCxnSpPr>
            <a:cxnSpLocks/>
            <a:endCxn id="70" idx="0"/>
          </p:cNvCxnSpPr>
          <p:nvPr/>
        </p:nvCxnSpPr>
        <p:spPr>
          <a:xfrm>
            <a:off x="3016271" y="4702186"/>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70" name="TextBox 69">
            <a:extLst>
              <a:ext uri="{FF2B5EF4-FFF2-40B4-BE49-F238E27FC236}">
                <a16:creationId xmlns:a16="http://schemas.microsoft.com/office/drawing/2014/main" id="{E3A4C9DB-E5C4-EE4E-B341-8806AFC0BC1A}"/>
              </a:ext>
            </a:extLst>
          </p:cNvPr>
          <p:cNvSpPr txBox="1"/>
          <p:nvPr/>
        </p:nvSpPr>
        <p:spPr>
          <a:xfrm>
            <a:off x="2658285" y="4945075"/>
            <a:ext cx="735779" cy="369332"/>
          </a:xfrm>
          <a:prstGeom prst="rect">
            <a:avLst/>
          </a:prstGeom>
          <a:noFill/>
        </p:spPr>
        <p:txBody>
          <a:bodyPr wrap="none" rtlCol="0">
            <a:spAutoFit/>
          </a:bodyPr>
          <a:lstStyle/>
          <a:p>
            <a:r>
              <a:rPr lang="en-US" dirty="0"/>
              <a:t>factor</a:t>
            </a:r>
          </a:p>
        </p:txBody>
      </p:sp>
      <p:sp>
        <p:nvSpPr>
          <p:cNvPr id="71" name="TextBox 70">
            <a:extLst>
              <a:ext uri="{FF2B5EF4-FFF2-40B4-BE49-F238E27FC236}">
                <a16:creationId xmlns:a16="http://schemas.microsoft.com/office/drawing/2014/main" id="{6E863AD3-AF58-9343-8A51-6AC7DA42C02D}"/>
              </a:ext>
            </a:extLst>
          </p:cNvPr>
          <p:cNvSpPr txBox="1"/>
          <p:nvPr/>
        </p:nvSpPr>
        <p:spPr>
          <a:xfrm>
            <a:off x="4108799" y="5194151"/>
            <a:ext cx="1136850" cy="369332"/>
          </a:xfrm>
          <a:prstGeom prst="rect">
            <a:avLst/>
          </a:prstGeom>
          <a:noFill/>
        </p:spPr>
        <p:txBody>
          <a:bodyPr wrap="none" rtlCol="0">
            <a:spAutoFit/>
          </a:bodyPr>
          <a:lstStyle/>
          <a:p>
            <a:r>
              <a:rPr lang="en-US" dirty="0"/>
              <a:t>&lt;NUM, 4&gt;</a:t>
            </a:r>
          </a:p>
        </p:txBody>
      </p:sp>
      <p:cxnSp>
        <p:nvCxnSpPr>
          <p:cNvPr id="72" name="Straight Connector 71">
            <a:extLst>
              <a:ext uri="{FF2B5EF4-FFF2-40B4-BE49-F238E27FC236}">
                <a16:creationId xmlns:a16="http://schemas.microsoft.com/office/drawing/2014/main" id="{1FB1C20C-FC64-DC4C-9330-6351C4E9B540}"/>
              </a:ext>
            </a:extLst>
          </p:cNvPr>
          <p:cNvCxnSpPr>
            <a:cxnSpLocks/>
            <a:endCxn id="73" idx="0"/>
          </p:cNvCxnSpPr>
          <p:nvPr/>
        </p:nvCxnSpPr>
        <p:spPr>
          <a:xfrm flipH="1">
            <a:off x="4682834" y="3201598"/>
            <a:ext cx="1442" cy="464578"/>
          </a:xfrm>
          <a:prstGeom prst="line">
            <a:avLst/>
          </a:prstGeom>
        </p:spPr>
        <p:style>
          <a:lnRef idx="1">
            <a:schemeClr val="dk1"/>
          </a:lnRef>
          <a:fillRef idx="0">
            <a:schemeClr val="dk1"/>
          </a:fillRef>
          <a:effectRef idx="0">
            <a:schemeClr val="dk1"/>
          </a:effectRef>
          <a:fontRef idx="minor">
            <a:schemeClr val="tx1"/>
          </a:fontRef>
        </p:style>
      </p:cxnSp>
      <p:sp>
        <p:nvSpPr>
          <p:cNvPr id="73" name="TextBox 72">
            <a:extLst>
              <a:ext uri="{FF2B5EF4-FFF2-40B4-BE49-F238E27FC236}">
                <a16:creationId xmlns:a16="http://schemas.microsoft.com/office/drawing/2014/main" id="{A5E35CF3-8A64-944D-AA44-CCB594F0C936}"/>
              </a:ext>
            </a:extLst>
          </p:cNvPr>
          <p:cNvSpPr txBox="1"/>
          <p:nvPr/>
        </p:nvSpPr>
        <p:spPr>
          <a:xfrm>
            <a:off x="4363323" y="3666176"/>
            <a:ext cx="639021" cy="369332"/>
          </a:xfrm>
          <a:prstGeom prst="rect">
            <a:avLst/>
          </a:prstGeom>
          <a:noFill/>
        </p:spPr>
        <p:txBody>
          <a:bodyPr wrap="none" rtlCol="0">
            <a:spAutoFit/>
          </a:bodyPr>
          <a:lstStyle/>
          <a:p>
            <a:r>
              <a:rPr lang="en-US" dirty="0"/>
              <a:t>term</a:t>
            </a:r>
          </a:p>
        </p:txBody>
      </p:sp>
      <p:cxnSp>
        <p:nvCxnSpPr>
          <p:cNvPr id="74" name="Straight Connector 73">
            <a:extLst>
              <a:ext uri="{FF2B5EF4-FFF2-40B4-BE49-F238E27FC236}">
                <a16:creationId xmlns:a16="http://schemas.microsoft.com/office/drawing/2014/main" id="{81C3E4BA-997F-AA4A-BB0F-E26D41A1AC4D}"/>
              </a:ext>
            </a:extLst>
          </p:cNvPr>
          <p:cNvCxnSpPr>
            <a:cxnSpLocks/>
            <a:stCxn id="73" idx="2"/>
            <a:endCxn id="75" idx="0"/>
          </p:cNvCxnSpPr>
          <p:nvPr/>
        </p:nvCxnSpPr>
        <p:spPr>
          <a:xfrm flipH="1">
            <a:off x="4682833" y="4035508"/>
            <a:ext cx="1" cy="489250"/>
          </a:xfrm>
          <a:prstGeom prst="line">
            <a:avLst/>
          </a:prstGeom>
        </p:spPr>
        <p:style>
          <a:lnRef idx="1">
            <a:schemeClr val="dk1"/>
          </a:lnRef>
          <a:fillRef idx="0">
            <a:schemeClr val="dk1"/>
          </a:fillRef>
          <a:effectRef idx="0">
            <a:schemeClr val="dk1"/>
          </a:effectRef>
          <a:fontRef idx="minor">
            <a:schemeClr val="tx1"/>
          </a:fontRef>
        </p:style>
      </p:cxnSp>
      <p:sp>
        <p:nvSpPr>
          <p:cNvPr id="75" name="TextBox 74">
            <a:extLst>
              <a:ext uri="{FF2B5EF4-FFF2-40B4-BE49-F238E27FC236}">
                <a16:creationId xmlns:a16="http://schemas.microsoft.com/office/drawing/2014/main" id="{3AECA206-BD9C-0C4C-ACFA-6ED75A7F6D50}"/>
              </a:ext>
            </a:extLst>
          </p:cNvPr>
          <p:cNvSpPr txBox="1"/>
          <p:nvPr/>
        </p:nvSpPr>
        <p:spPr>
          <a:xfrm>
            <a:off x="4314943" y="4524758"/>
            <a:ext cx="735779" cy="369332"/>
          </a:xfrm>
          <a:prstGeom prst="rect">
            <a:avLst/>
          </a:prstGeom>
          <a:noFill/>
        </p:spPr>
        <p:txBody>
          <a:bodyPr wrap="none" rtlCol="0">
            <a:spAutoFit/>
          </a:bodyPr>
          <a:lstStyle/>
          <a:p>
            <a:r>
              <a:rPr lang="en-US" dirty="0"/>
              <a:t>factor</a:t>
            </a:r>
          </a:p>
        </p:txBody>
      </p:sp>
      <p:cxnSp>
        <p:nvCxnSpPr>
          <p:cNvPr id="76" name="Straight Connector 75">
            <a:extLst>
              <a:ext uri="{FF2B5EF4-FFF2-40B4-BE49-F238E27FC236}">
                <a16:creationId xmlns:a16="http://schemas.microsoft.com/office/drawing/2014/main" id="{0ECCCB75-1593-BA4C-988E-981C8B8AF8D5}"/>
              </a:ext>
            </a:extLst>
          </p:cNvPr>
          <p:cNvCxnSpPr>
            <a:cxnSpLocks/>
            <a:stCxn id="75" idx="2"/>
            <a:endCxn id="71" idx="0"/>
          </p:cNvCxnSpPr>
          <p:nvPr/>
        </p:nvCxnSpPr>
        <p:spPr>
          <a:xfrm flipH="1">
            <a:off x="4677224" y="4894090"/>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18266C30-93B1-BD48-B373-E522C26F96A0}"/>
              </a:ext>
            </a:extLst>
          </p:cNvPr>
          <p:cNvSpPr txBox="1"/>
          <p:nvPr/>
        </p:nvSpPr>
        <p:spPr>
          <a:xfrm>
            <a:off x="4847847" y="1513071"/>
            <a:ext cx="2715872" cy="646331"/>
          </a:xfrm>
          <a:prstGeom prst="rect">
            <a:avLst/>
          </a:prstGeom>
          <a:noFill/>
        </p:spPr>
        <p:txBody>
          <a:bodyPr wrap="none" rtlCol="0">
            <a:spAutoFit/>
          </a:bodyPr>
          <a:lstStyle/>
          <a:p>
            <a:r>
              <a:rPr lang="en-US" dirty="0"/>
              <a:t>Both parse trees are valid,</a:t>
            </a:r>
            <a:br>
              <a:rPr lang="en-US" dirty="0"/>
            </a:br>
            <a:r>
              <a:rPr lang="en-US" dirty="0"/>
              <a:t>this grammar is ambiguous</a:t>
            </a:r>
          </a:p>
        </p:txBody>
      </p:sp>
      <p:pic>
        <p:nvPicPr>
          <p:cNvPr id="2" name="Picture 1">
            <a:extLst>
              <a:ext uri="{FF2B5EF4-FFF2-40B4-BE49-F238E27FC236}">
                <a16:creationId xmlns:a16="http://schemas.microsoft.com/office/drawing/2014/main" id="{C89CC26F-5E3B-8DC0-681E-267904BF4C68}"/>
              </a:ext>
            </a:extLst>
          </p:cNvPr>
          <p:cNvPicPr>
            <a:picLocks noChangeAspect="1"/>
          </p:cNvPicPr>
          <p:nvPr/>
        </p:nvPicPr>
        <p:blipFill>
          <a:blip r:embed="rId2"/>
          <a:stretch>
            <a:fillRect/>
          </a:stretch>
        </p:blipFill>
        <p:spPr>
          <a:xfrm>
            <a:off x="405651" y="359774"/>
            <a:ext cx="1917700" cy="812800"/>
          </a:xfrm>
          <a:prstGeom prst="rect">
            <a:avLst/>
          </a:prstGeom>
        </p:spPr>
      </p:pic>
    </p:spTree>
    <p:extLst>
      <p:ext uri="{BB962C8B-B14F-4D97-AF65-F5344CB8AC3E}">
        <p14:creationId xmlns:p14="http://schemas.microsoft.com/office/powerpoint/2010/main" val="21348133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581C384-93DB-0D44-BE61-8197A0709109}"/>
              </a:ext>
            </a:extLst>
          </p:cNvPr>
          <p:cNvSpPr txBox="1"/>
          <p:nvPr/>
        </p:nvSpPr>
        <p:spPr>
          <a:xfrm>
            <a:off x="3196575" y="595375"/>
            <a:ext cx="3147015" cy="584775"/>
          </a:xfrm>
          <a:prstGeom prst="rect">
            <a:avLst/>
          </a:prstGeom>
          <a:noFill/>
        </p:spPr>
        <p:txBody>
          <a:bodyPr wrap="none" rtlCol="0">
            <a:spAutoFit/>
          </a:bodyPr>
          <a:lstStyle/>
          <a:p>
            <a:r>
              <a:rPr lang="en-US" sz="3200" dirty="0">
                <a:latin typeface="Courier" pitchFamily="2" charset="0"/>
              </a:rPr>
              <a:t>input: 2+3+4</a:t>
            </a:r>
          </a:p>
        </p:txBody>
      </p:sp>
      <p:sp>
        <p:nvSpPr>
          <p:cNvPr id="7" name="TextBox 6">
            <a:extLst>
              <a:ext uri="{FF2B5EF4-FFF2-40B4-BE49-F238E27FC236}">
                <a16:creationId xmlns:a16="http://schemas.microsoft.com/office/drawing/2014/main" id="{1EF4FC3F-B8F7-EF4A-8F6B-AAFA31AB4690}"/>
              </a:ext>
            </a:extLst>
          </p:cNvPr>
          <p:cNvSpPr txBox="1"/>
          <p:nvPr/>
        </p:nvSpPr>
        <p:spPr>
          <a:xfrm>
            <a:off x="8635402" y="2181957"/>
            <a:ext cx="597984" cy="369332"/>
          </a:xfrm>
          <a:prstGeom prst="rect">
            <a:avLst/>
          </a:prstGeom>
          <a:noFill/>
        </p:spPr>
        <p:txBody>
          <a:bodyPr wrap="none" rtlCol="0">
            <a:spAutoFit/>
          </a:bodyPr>
          <a:lstStyle/>
          <a:p>
            <a:r>
              <a:rPr lang="en-US" dirty="0"/>
              <a:t>expr</a:t>
            </a:r>
          </a:p>
        </p:txBody>
      </p:sp>
      <p:cxnSp>
        <p:nvCxnSpPr>
          <p:cNvPr id="8" name="Straight Connector 7">
            <a:extLst>
              <a:ext uri="{FF2B5EF4-FFF2-40B4-BE49-F238E27FC236}">
                <a16:creationId xmlns:a16="http://schemas.microsoft.com/office/drawing/2014/main" id="{30141CE8-2344-0948-9E95-8E3D11DE2430}"/>
              </a:ext>
            </a:extLst>
          </p:cNvPr>
          <p:cNvCxnSpPr>
            <a:cxnSpLocks/>
            <a:stCxn id="7" idx="2"/>
            <a:endCxn id="9" idx="0"/>
          </p:cNvCxnSpPr>
          <p:nvPr/>
        </p:nvCxnSpPr>
        <p:spPr>
          <a:xfrm flipH="1">
            <a:off x="7299498" y="2551289"/>
            <a:ext cx="1634896" cy="536644"/>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E6D905BC-8176-5C4B-8283-5453872C6006}"/>
              </a:ext>
            </a:extLst>
          </p:cNvPr>
          <p:cNvSpPr txBox="1"/>
          <p:nvPr/>
        </p:nvSpPr>
        <p:spPr>
          <a:xfrm>
            <a:off x="7000506" y="3087933"/>
            <a:ext cx="597984" cy="369332"/>
          </a:xfrm>
          <a:prstGeom prst="rect">
            <a:avLst/>
          </a:prstGeom>
          <a:noFill/>
        </p:spPr>
        <p:txBody>
          <a:bodyPr wrap="none" rtlCol="0">
            <a:spAutoFit/>
          </a:bodyPr>
          <a:lstStyle/>
          <a:p>
            <a:r>
              <a:rPr lang="en-US" dirty="0"/>
              <a:t>expr</a:t>
            </a:r>
          </a:p>
        </p:txBody>
      </p:sp>
      <p:cxnSp>
        <p:nvCxnSpPr>
          <p:cNvPr id="10" name="Straight Connector 9">
            <a:extLst>
              <a:ext uri="{FF2B5EF4-FFF2-40B4-BE49-F238E27FC236}">
                <a16:creationId xmlns:a16="http://schemas.microsoft.com/office/drawing/2014/main" id="{0686B2F0-A92C-9842-99A5-BB5F68B3CB0F}"/>
              </a:ext>
            </a:extLst>
          </p:cNvPr>
          <p:cNvCxnSpPr>
            <a:cxnSpLocks/>
            <a:stCxn id="7" idx="2"/>
            <a:endCxn id="12" idx="0"/>
          </p:cNvCxnSpPr>
          <p:nvPr/>
        </p:nvCxnSpPr>
        <p:spPr>
          <a:xfrm>
            <a:off x="8934394" y="2551289"/>
            <a:ext cx="0" cy="554837"/>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B373421-B101-4546-B128-9E43278BD634}"/>
              </a:ext>
            </a:extLst>
          </p:cNvPr>
          <p:cNvCxnSpPr>
            <a:cxnSpLocks/>
            <a:stCxn id="7" idx="2"/>
            <a:endCxn id="13" idx="0"/>
          </p:cNvCxnSpPr>
          <p:nvPr/>
        </p:nvCxnSpPr>
        <p:spPr>
          <a:xfrm>
            <a:off x="8934394" y="2551289"/>
            <a:ext cx="1057341" cy="536644"/>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60AF16AA-22CD-FA4F-9F55-FCC38AD1D4BA}"/>
              </a:ext>
            </a:extLst>
          </p:cNvPr>
          <p:cNvSpPr txBox="1"/>
          <p:nvPr/>
        </p:nvSpPr>
        <p:spPr>
          <a:xfrm>
            <a:off x="8494273" y="3106126"/>
            <a:ext cx="880241" cy="369332"/>
          </a:xfrm>
          <a:prstGeom prst="rect">
            <a:avLst/>
          </a:prstGeom>
          <a:noFill/>
        </p:spPr>
        <p:txBody>
          <a:bodyPr wrap="none" rtlCol="0">
            <a:spAutoFit/>
          </a:bodyPr>
          <a:lstStyle/>
          <a:p>
            <a:r>
              <a:rPr lang="en-US" dirty="0"/>
              <a:t>&lt;PLUS&gt;</a:t>
            </a:r>
          </a:p>
        </p:txBody>
      </p:sp>
      <p:sp>
        <p:nvSpPr>
          <p:cNvPr id="13" name="TextBox 12">
            <a:extLst>
              <a:ext uri="{FF2B5EF4-FFF2-40B4-BE49-F238E27FC236}">
                <a16:creationId xmlns:a16="http://schemas.microsoft.com/office/drawing/2014/main" id="{BA6A98FD-3CE1-2241-952E-12AD71379DB0}"/>
              </a:ext>
            </a:extLst>
          </p:cNvPr>
          <p:cNvSpPr txBox="1"/>
          <p:nvPr/>
        </p:nvSpPr>
        <p:spPr>
          <a:xfrm>
            <a:off x="9692743" y="3087933"/>
            <a:ext cx="597984" cy="369332"/>
          </a:xfrm>
          <a:prstGeom prst="rect">
            <a:avLst/>
          </a:prstGeom>
          <a:noFill/>
        </p:spPr>
        <p:txBody>
          <a:bodyPr wrap="none" rtlCol="0">
            <a:spAutoFit/>
          </a:bodyPr>
          <a:lstStyle/>
          <a:p>
            <a:r>
              <a:rPr lang="en-US" dirty="0"/>
              <a:t>expr</a:t>
            </a:r>
          </a:p>
        </p:txBody>
      </p:sp>
      <p:sp>
        <p:nvSpPr>
          <p:cNvPr id="14" name="TextBox 13">
            <a:extLst>
              <a:ext uri="{FF2B5EF4-FFF2-40B4-BE49-F238E27FC236}">
                <a16:creationId xmlns:a16="http://schemas.microsoft.com/office/drawing/2014/main" id="{66D518E2-D041-B54A-BAFD-9F3EB0B79156}"/>
              </a:ext>
            </a:extLst>
          </p:cNvPr>
          <p:cNvSpPr txBox="1"/>
          <p:nvPr/>
        </p:nvSpPr>
        <p:spPr>
          <a:xfrm>
            <a:off x="6724021" y="5469967"/>
            <a:ext cx="1136850" cy="369332"/>
          </a:xfrm>
          <a:prstGeom prst="rect">
            <a:avLst/>
          </a:prstGeom>
          <a:noFill/>
        </p:spPr>
        <p:txBody>
          <a:bodyPr wrap="none" rtlCol="0">
            <a:spAutoFit/>
          </a:bodyPr>
          <a:lstStyle/>
          <a:p>
            <a:r>
              <a:rPr lang="en-US" dirty="0"/>
              <a:t>&lt;NUM, 2&gt;</a:t>
            </a:r>
          </a:p>
        </p:txBody>
      </p:sp>
      <p:cxnSp>
        <p:nvCxnSpPr>
          <p:cNvPr id="15" name="Straight Connector 14">
            <a:extLst>
              <a:ext uri="{FF2B5EF4-FFF2-40B4-BE49-F238E27FC236}">
                <a16:creationId xmlns:a16="http://schemas.microsoft.com/office/drawing/2014/main" id="{7BE47221-BFFC-0243-AFE9-5C53FC906A1B}"/>
              </a:ext>
            </a:extLst>
          </p:cNvPr>
          <p:cNvCxnSpPr>
            <a:cxnSpLocks/>
            <a:endCxn id="22" idx="0"/>
          </p:cNvCxnSpPr>
          <p:nvPr/>
        </p:nvCxnSpPr>
        <p:spPr>
          <a:xfrm flipH="1">
            <a:off x="7298056" y="3477414"/>
            <a:ext cx="1442" cy="464578"/>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9807E1A-CE97-FF41-A2A5-7C3CB46AC284}"/>
              </a:ext>
            </a:extLst>
          </p:cNvPr>
          <p:cNvCxnSpPr>
            <a:cxnSpLocks/>
          </p:cNvCxnSpPr>
          <p:nvPr/>
        </p:nvCxnSpPr>
        <p:spPr>
          <a:xfrm flipH="1">
            <a:off x="8758711" y="3459774"/>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9DAF383E-DF34-F944-BC7F-24A207C0E665}"/>
              </a:ext>
            </a:extLst>
          </p:cNvPr>
          <p:cNvCxnSpPr>
            <a:cxnSpLocks/>
          </p:cNvCxnSpPr>
          <p:nvPr/>
        </p:nvCxnSpPr>
        <p:spPr>
          <a:xfrm>
            <a:off x="9983084" y="3459774"/>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8CA92CF3-16B2-3A46-9746-FE978094BA1D}"/>
              </a:ext>
            </a:extLst>
          </p:cNvPr>
          <p:cNvCxnSpPr>
            <a:cxnSpLocks/>
          </p:cNvCxnSpPr>
          <p:nvPr/>
        </p:nvCxnSpPr>
        <p:spPr>
          <a:xfrm>
            <a:off x="9983084" y="3459774"/>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5173FE82-5C9F-3B48-8EAE-3B7CB4B7E7F6}"/>
              </a:ext>
            </a:extLst>
          </p:cNvPr>
          <p:cNvSpPr txBox="1"/>
          <p:nvPr/>
        </p:nvSpPr>
        <p:spPr>
          <a:xfrm>
            <a:off x="9525511" y="3926876"/>
            <a:ext cx="880241" cy="369332"/>
          </a:xfrm>
          <a:prstGeom prst="rect">
            <a:avLst/>
          </a:prstGeom>
          <a:noFill/>
        </p:spPr>
        <p:txBody>
          <a:bodyPr wrap="none" rtlCol="0">
            <a:spAutoFit/>
          </a:bodyPr>
          <a:lstStyle/>
          <a:p>
            <a:r>
              <a:rPr lang="en-US" dirty="0"/>
              <a:t>&lt;PLUS&gt;</a:t>
            </a:r>
          </a:p>
        </p:txBody>
      </p:sp>
      <p:sp>
        <p:nvSpPr>
          <p:cNvPr id="20" name="TextBox 19">
            <a:extLst>
              <a:ext uri="{FF2B5EF4-FFF2-40B4-BE49-F238E27FC236}">
                <a16:creationId xmlns:a16="http://schemas.microsoft.com/office/drawing/2014/main" id="{5F067DEE-CDD4-7E46-9949-17B518AA1F04}"/>
              </a:ext>
            </a:extLst>
          </p:cNvPr>
          <p:cNvSpPr txBox="1"/>
          <p:nvPr/>
        </p:nvSpPr>
        <p:spPr>
          <a:xfrm>
            <a:off x="8459719" y="3895483"/>
            <a:ext cx="597984" cy="369332"/>
          </a:xfrm>
          <a:prstGeom prst="rect">
            <a:avLst/>
          </a:prstGeom>
          <a:noFill/>
        </p:spPr>
        <p:txBody>
          <a:bodyPr wrap="none" rtlCol="0">
            <a:spAutoFit/>
          </a:bodyPr>
          <a:lstStyle/>
          <a:p>
            <a:r>
              <a:rPr lang="en-US" dirty="0"/>
              <a:t>expr</a:t>
            </a:r>
          </a:p>
        </p:txBody>
      </p:sp>
      <p:sp>
        <p:nvSpPr>
          <p:cNvPr id="21" name="TextBox 20">
            <a:extLst>
              <a:ext uri="{FF2B5EF4-FFF2-40B4-BE49-F238E27FC236}">
                <a16:creationId xmlns:a16="http://schemas.microsoft.com/office/drawing/2014/main" id="{4CCBC7C3-3B2D-8846-922F-FFE276D95ACE}"/>
              </a:ext>
            </a:extLst>
          </p:cNvPr>
          <p:cNvSpPr txBox="1"/>
          <p:nvPr/>
        </p:nvSpPr>
        <p:spPr>
          <a:xfrm>
            <a:off x="10781251" y="3895483"/>
            <a:ext cx="597984" cy="369332"/>
          </a:xfrm>
          <a:prstGeom prst="rect">
            <a:avLst/>
          </a:prstGeom>
          <a:noFill/>
        </p:spPr>
        <p:txBody>
          <a:bodyPr wrap="none" rtlCol="0">
            <a:spAutoFit/>
          </a:bodyPr>
          <a:lstStyle/>
          <a:p>
            <a:r>
              <a:rPr lang="en-US" dirty="0"/>
              <a:t>expr</a:t>
            </a:r>
          </a:p>
        </p:txBody>
      </p:sp>
      <p:sp>
        <p:nvSpPr>
          <p:cNvPr id="22" name="TextBox 21">
            <a:extLst>
              <a:ext uri="{FF2B5EF4-FFF2-40B4-BE49-F238E27FC236}">
                <a16:creationId xmlns:a16="http://schemas.microsoft.com/office/drawing/2014/main" id="{523078ED-048C-F640-ACD0-3E3AAD13C997}"/>
              </a:ext>
            </a:extLst>
          </p:cNvPr>
          <p:cNvSpPr txBox="1"/>
          <p:nvPr/>
        </p:nvSpPr>
        <p:spPr>
          <a:xfrm>
            <a:off x="6978545" y="3941992"/>
            <a:ext cx="639021" cy="369332"/>
          </a:xfrm>
          <a:prstGeom prst="rect">
            <a:avLst/>
          </a:prstGeom>
          <a:noFill/>
        </p:spPr>
        <p:txBody>
          <a:bodyPr wrap="none" rtlCol="0">
            <a:spAutoFit/>
          </a:bodyPr>
          <a:lstStyle/>
          <a:p>
            <a:r>
              <a:rPr lang="en-US" dirty="0"/>
              <a:t>term</a:t>
            </a:r>
          </a:p>
        </p:txBody>
      </p:sp>
      <p:cxnSp>
        <p:nvCxnSpPr>
          <p:cNvPr id="23" name="Straight Connector 22">
            <a:extLst>
              <a:ext uri="{FF2B5EF4-FFF2-40B4-BE49-F238E27FC236}">
                <a16:creationId xmlns:a16="http://schemas.microsoft.com/office/drawing/2014/main" id="{AD31FE39-303E-6A49-A3C2-0B76C241499E}"/>
              </a:ext>
            </a:extLst>
          </p:cNvPr>
          <p:cNvCxnSpPr>
            <a:cxnSpLocks/>
            <a:stCxn id="22" idx="2"/>
            <a:endCxn id="24" idx="0"/>
          </p:cNvCxnSpPr>
          <p:nvPr/>
        </p:nvCxnSpPr>
        <p:spPr>
          <a:xfrm flipH="1">
            <a:off x="7298055" y="4311324"/>
            <a:ext cx="1" cy="489250"/>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085D5B41-A14A-6947-AF22-039FD4CC5D3A}"/>
              </a:ext>
            </a:extLst>
          </p:cNvPr>
          <p:cNvSpPr txBox="1"/>
          <p:nvPr/>
        </p:nvSpPr>
        <p:spPr>
          <a:xfrm>
            <a:off x="6930165" y="4800574"/>
            <a:ext cx="735779" cy="369332"/>
          </a:xfrm>
          <a:prstGeom prst="rect">
            <a:avLst/>
          </a:prstGeom>
          <a:noFill/>
        </p:spPr>
        <p:txBody>
          <a:bodyPr wrap="none" rtlCol="0">
            <a:spAutoFit/>
          </a:bodyPr>
          <a:lstStyle/>
          <a:p>
            <a:r>
              <a:rPr lang="en-US" dirty="0"/>
              <a:t>factor</a:t>
            </a:r>
          </a:p>
        </p:txBody>
      </p:sp>
      <p:cxnSp>
        <p:nvCxnSpPr>
          <p:cNvPr id="25" name="Straight Connector 24">
            <a:extLst>
              <a:ext uri="{FF2B5EF4-FFF2-40B4-BE49-F238E27FC236}">
                <a16:creationId xmlns:a16="http://schemas.microsoft.com/office/drawing/2014/main" id="{C24A46DA-5EEF-E14F-98AC-75E996BC5908}"/>
              </a:ext>
            </a:extLst>
          </p:cNvPr>
          <p:cNvCxnSpPr>
            <a:cxnSpLocks/>
            <a:stCxn id="24" idx="2"/>
            <a:endCxn id="14" idx="0"/>
          </p:cNvCxnSpPr>
          <p:nvPr/>
        </p:nvCxnSpPr>
        <p:spPr>
          <a:xfrm flipH="1">
            <a:off x="7292446" y="5169906"/>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53922C26-78A1-2B41-8636-490EF1E8297B}"/>
              </a:ext>
            </a:extLst>
          </p:cNvPr>
          <p:cNvSpPr txBox="1"/>
          <p:nvPr/>
        </p:nvSpPr>
        <p:spPr>
          <a:xfrm>
            <a:off x="8223152" y="5907160"/>
            <a:ext cx="1136850" cy="369332"/>
          </a:xfrm>
          <a:prstGeom prst="rect">
            <a:avLst/>
          </a:prstGeom>
          <a:noFill/>
        </p:spPr>
        <p:txBody>
          <a:bodyPr wrap="none" rtlCol="0">
            <a:spAutoFit/>
          </a:bodyPr>
          <a:lstStyle/>
          <a:p>
            <a:r>
              <a:rPr lang="en-US" dirty="0"/>
              <a:t>&lt;NUM, 3&gt;</a:t>
            </a:r>
          </a:p>
        </p:txBody>
      </p:sp>
      <p:sp>
        <p:nvSpPr>
          <p:cNvPr id="29" name="TextBox 28">
            <a:extLst>
              <a:ext uri="{FF2B5EF4-FFF2-40B4-BE49-F238E27FC236}">
                <a16:creationId xmlns:a16="http://schemas.microsoft.com/office/drawing/2014/main" id="{797B625C-0EB6-C44A-B7B1-59D7A6B79F63}"/>
              </a:ext>
            </a:extLst>
          </p:cNvPr>
          <p:cNvSpPr txBox="1"/>
          <p:nvPr/>
        </p:nvSpPr>
        <p:spPr>
          <a:xfrm>
            <a:off x="8429296" y="4595211"/>
            <a:ext cx="639021" cy="369332"/>
          </a:xfrm>
          <a:prstGeom prst="rect">
            <a:avLst/>
          </a:prstGeom>
          <a:noFill/>
        </p:spPr>
        <p:txBody>
          <a:bodyPr wrap="none" rtlCol="0">
            <a:spAutoFit/>
          </a:bodyPr>
          <a:lstStyle/>
          <a:p>
            <a:r>
              <a:rPr lang="en-US" dirty="0"/>
              <a:t>term</a:t>
            </a:r>
          </a:p>
        </p:txBody>
      </p:sp>
      <p:cxnSp>
        <p:nvCxnSpPr>
          <p:cNvPr id="30" name="Straight Connector 29">
            <a:extLst>
              <a:ext uri="{FF2B5EF4-FFF2-40B4-BE49-F238E27FC236}">
                <a16:creationId xmlns:a16="http://schemas.microsoft.com/office/drawing/2014/main" id="{EFCE927F-6F2D-7C4E-A51D-683038842E00}"/>
              </a:ext>
            </a:extLst>
          </p:cNvPr>
          <p:cNvCxnSpPr>
            <a:cxnSpLocks/>
            <a:endCxn id="28" idx="0"/>
          </p:cNvCxnSpPr>
          <p:nvPr/>
        </p:nvCxnSpPr>
        <p:spPr>
          <a:xfrm>
            <a:off x="8791577" y="5598467"/>
            <a:ext cx="0" cy="308693"/>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3EF182C6-3A3A-5340-AECF-F5309B097F1B}"/>
              </a:ext>
            </a:extLst>
          </p:cNvPr>
          <p:cNvCxnSpPr>
            <a:cxnSpLocks/>
          </p:cNvCxnSpPr>
          <p:nvPr/>
        </p:nvCxnSpPr>
        <p:spPr>
          <a:xfrm flipH="1">
            <a:off x="8773620" y="4276824"/>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13C08319-763D-EC4A-85E5-A88DF4758EAC}"/>
              </a:ext>
            </a:extLst>
          </p:cNvPr>
          <p:cNvSpPr txBox="1"/>
          <p:nvPr/>
        </p:nvSpPr>
        <p:spPr>
          <a:xfrm>
            <a:off x="10546607" y="5907160"/>
            <a:ext cx="1136850" cy="369332"/>
          </a:xfrm>
          <a:prstGeom prst="rect">
            <a:avLst/>
          </a:prstGeom>
          <a:noFill/>
        </p:spPr>
        <p:txBody>
          <a:bodyPr wrap="none" rtlCol="0">
            <a:spAutoFit/>
          </a:bodyPr>
          <a:lstStyle/>
          <a:p>
            <a:r>
              <a:rPr lang="en-US" dirty="0"/>
              <a:t>&lt;NUM, 4&gt;</a:t>
            </a:r>
          </a:p>
        </p:txBody>
      </p:sp>
      <p:sp>
        <p:nvSpPr>
          <p:cNvPr id="33" name="TextBox 32">
            <a:extLst>
              <a:ext uri="{FF2B5EF4-FFF2-40B4-BE49-F238E27FC236}">
                <a16:creationId xmlns:a16="http://schemas.microsoft.com/office/drawing/2014/main" id="{9F2F9A8A-EA8C-4840-9B67-4CF2EB90B9E3}"/>
              </a:ext>
            </a:extLst>
          </p:cNvPr>
          <p:cNvSpPr txBox="1"/>
          <p:nvPr/>
        </p:nvSpPr>
        <p:spPr>
          <a:xfrm>
            <a:off x="10752751" y="4595211"/>
            <a:ext cx="639021" cy="369332"/>
          </a:xfrm>
          <a:prstGeom prst="rect">
            <a:avLst/>
          </a:prstGeom>
          <a:noFill/>
        </p:spPr>
        <p:txBody>
          <a:bodyPr wrap="none" rtlCol="0">
            <a:spAutoFit/>
          </a:bodyPr>
          <a:lstStyle/>
          <a:p>
            <a:r>
              <a:rPr lang="en-US" dirty="0"/>
              <a:t>term</a:t>
            </a:r>
          </a:p>
        </p:txBody>
      </p:sp>
      <p:cxnSp>
        <p:nvCxnSpPr>
          <p:cNvPr id="34" name="Straight Connector 33">
            <a:extLst>
              <a:ext uri="{FF2B5EF4-FFF2-40B4-BE49-F238E27FC236}">
                <a16:creationId xmlns:a16="http://schemas.microsoft.com/office/drawing/2014/main" id="{94B5E655-A336-324F-8040-8067BBACD221}"/>
              </a:ext>
            </a:extLst>
          </p:cNvPr>
          <p:cNvCxnSpPr>
            <a:cxnSpLocks/>
            <a:endCxn id="32" idx="0"/>
          </p:cNvCxnSpPr>
          <p:nvPr/>
        </p:nvCxnSpPr>
        <p:spPr>
          <a:xfrm>
            <a:off x="11115032" y="5642964"/>
            <a:ext cx="0" cy="264196"/>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E7FBE64F-48C5-3445-A705-3585FFC27A81}"/>
              </a:ext>
            </a:extLst>
          </p:cNvPr>
          <p:cNvCxnSpPr>
            <a:cxnSpLocks/>
          </p:cNvCxnSpPr>
          <p:nvPr/>
        </p:nvCxnSpPr>
        <p:spPr>
          <a:xfrm flipH="1">
            <a:off x="11097075" y="4276824"/>
            <a:ext cx="5609" cy="300061"/>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0E9BEB0F-F6AB-D14C-AA7C-F8C362827398}"/>
              </a:ext>
            </a:extLst>
          </p:cNvPr>
          <p:cNvCxnSpPr>
            <a:cxnSpLocks/>
            <a:stCxn id="29" idx="2"/>
            <a:endCxn id="42" idx="0"/>
          </p:cNvCxnSpPr>
          <p:nvPr/>
        </p:nvCxnSpPr>
        <p:spPr>
          <a:xfrm>
            <a:off x="8748807" y="4964543"/>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D5E41403-C4A0-4D4C-8612-2848F97625CD}"/>
              </a:ext>
            </a:extLst>
          </p:cNvPr>
          <p:cNvSpPr txBox="1"/>
          <p:nvPr/>
        </p:nvSpPr>
        <p:spPr>
          <a:xfrm>
            <a:off x="8390821" y="5207432"/>
            <a:ext cx="735779" cy="369332"/>
          </a:xfrm>
          <a:prstGeom prst="rect">
            <a:avLst/>
          </a:prstGeom>
          <a:noFill/>
        </p:spPr>
        <p:txBody>
          <a:bodyPr wrap="none" rtlCol="0">
            <a:spAutoFit/>
          </a:bodyPr>
          <a:lstStyle/>
          <a:p>
            <a:r>
              <a:rPr lang="en-US" dirty="0"/>
              <a:t>factor</a:t>
            </a:r>
          </a:p>
        </p:txBody>
      </p:sp>
      <p:cxnSp>
        <p:nvCxnSpPr>
          <p:cNvPr id="46" name="Straight Connector 45">
            <a:extLst>
              <a:ext uri="{FF2B5EF4-FFF2-40B4-BE49-F238E27FC236}">
                <a16:creationId xmlns:a16="http://schemas.microsoft.com/office/drawing/2014/main" id="{614A3599-6266-194B-A062-C993C27C06A8}"/>
              </a:ext>
            </a:extLst>
          </p:cNvPr>
          <p:cNvCxnSpPr>
            <a:cxnSpLocks/>
            <a:endCxn id="47" idx="0"/>
          </p:cNvCxnSpPr>
          <p:nvPr/>
        </p:nvCxnSpPr>
        <p:spPr>
          <a:xfrm>
            <a:off x="11070339" y="4886852"/>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F1C7E270-ED72-8040-87BF-6441A4678689}"/>
              </a:ext>
            </a:extLst>
          </p:cNvPr>
          <p:cNvSpPr txBox="1"/>
          <p:nvPr/>
        </p:nvSpPr>
        <p:spPr>
          <a:xfrm>
            <a:off x="10712353" y="5129741"/>
            <a:ext cx="735779" cy="369332"/>
          </a:xfrm>
          <a:prstGeom prst="rect">
            <a:avLst/>
          </a:prstGeom>
          <a:noFill/>
        </p:spPr>
        <p:txBody>
          <a:bodyPr wrap="none" rtlCol="0">
            <a:spAutoFit/>
          </a:bodyPr>
          <a:lstStyle/>
          <a:p>
            <a:r>
              <a:rPr lang="en-US" dirty="0"/>
              <a:t>factor</a:t>
            </a:r>
          </a:p>
        </p:txBody>
      </p:sp>
      <p:sp>
        <p:nvSpPr>
          <p:cNvPr id="36" name="TextBox 35">
            <a:extLst>
              <a:ext uri="{FF2B5EF4-FFF2-40B4-BE49-F238E27FC236}">
                <a16:creationId xmlns:a16="http://schemas.microsoft.com/office/drawing/2014/main" id="{5EC1923B-CC00-F54F-B58B-2CBADA324DE1}"/>
              </a:ext>
            </a:extLst>
          </p:cNvPr>
          <p:cNvSpPr txBox="1"/>
          <p:nvPr/>
        </p:nvSpPr>
        <p:spPr>
          <a:xfrm>
            <a:off x="3337704" y="1941731"/>
            <a:ext cx="597984" cy="369332"/>
          </a:xfrm>
          <a:prstGeom prst="rect">
            <a:avLst/>
          </a:prstGeom>
          <a:noFill/>
        </p:spPr>
        <p:txBody>
          <a:bodyPr wrap="none" rtlCol="0">
            <a:spAutoFit/>
          </a:bodyPr>
          <a:lstStyle/>
          <a:p>
            <a:r>
              <a:rPr lang="en-US" dirty="0"/>
              <a:t>expr</a:t>
            </a:r>
          </a:p>
        </p:txBody>
      </p:sp>
      <p:cxnSp>
        <p:nvCxnSpPr>
          <p:cNvPr id="37" name="Straight Connector 36">
            <a:extLst>
              <a:ext uri="{FF2B5EF4-FFF2-40B4-BE49-F238E27FC236}">
                <a16:creationId xmlns:a16="http://schemas.microsoft.com/office/drawing/2014/main" id="{3BEC7F16-A435-7C43-9D5A-1A75CBD13DBE}"/>
              </a:ext>
            </a:extLst>
          </p:cNvPr>
          <p:cNvCxnSpPr>
            <a:cxnSpLocks/>
            <a:stCxn id="36" idx="2"/>
            <a:endCxn id="38" idx="0"/>
          </p:cNvCxnSpPr>
          <p:nvPr/>
        </p:nvCxnSpPr>
        <p:spPr>
          <a:xfrm flipH="1">
            <a:off x="2001800" y="2311063"/>
            <a:ext cx="1634896" cy="536644"/>
          </a:xfrm>
          <a:prstGeom prst="line">
            <a:avLst/>
          </a:prstGeom>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38EE1F56-B098-B34B-BF7A-EF753C1D22C6}"/>
              </a:ext>
            </a:extLst>
          </p:cNvPr>
          <p:cNvSpPr txBox="1"/>
          <p:nvPr/>
        </p:nvSpPr>
        <p:spPr>
          <a:xfrm>
            <a:off x="1702808" y="2847707"/>
            <a:ext cx="597984" cy="369332"/>
          </a:xfrm>
          <a:prstGeom prst="rect">
            <a:avLst/>
          </a:prstGeom>
          <a:noFill/>
        </p:spPr>
        <p:txBody>
          <a:bodyPr wrap="none" rtlCol="0">
            <a:spAutoFit/>
          </a:bodyPr>
          <a:lstStyle/>
          <a:p>
            <a:r>
              <a:rPr lang="en-US" dirty="0"/>
              <a:t>expr</a:t>
            </a:r>
          </a:p>
        </p:txBody>
      </p:sp>
      <p:cxnSp>
        <p:nvCxnSpPr>
          <p:cNvPr id="39" name="Straight Connector 38">
            <a:extLst>
              <a:ext uri="{FF2B5EF4-FFF2-40B4-BE49-F238E27FC236}">
                <a16:creationId xmlns:a16="http://schemas.microsoft.com/office/drawing/2014/main" id="{130EC886-051B-1248-823D-2EB736133459}"/>
              </a:ext>
            </a:extLst>
          </p:cNvPr>
          <p:cNvCxnSpPr>
            <a:cxnSpLocks/>
            <a:stCxn id="36" idx="2"/>
            <a:endCxn id="43" idx="0"/>
          </p:cNvCxnSpPr>
          <p:nvPr/>
        </p:nvCxnSpPr>
        <p:spPr>
          <a:xfrm>
            <a:off x="3636696" y="2311063"/>
            <a:ext cx="0" cy="554837"/>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4952DEB2-6A92-8541-ACE1-DDEDA7B9D118}"/>
              </a:ext>
            </a:extLst>
          </p:cNvPr>
          <p:cNvCxnSpPr>
            <a:cxnSpLocks/>
            <a:stCxn id="36" idx="2"/>
            <a:endCxn id="44" idx="0"/>
          </p:cNvCxnSpPr>
          <p:nvPr/>
        </p:nvCxnSpPr>
        <p:spPr>
          <a:xfrm>
            <a:off x="3636696" y="2311063"/>
            <a:ext cx="1057341" cy="536644"/>
          </a:xfrm>
          <a:prstGeom prst="line">
            <a:avLst/>
          </a:prstGeom>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1A9C10E0-8E1E-5748-91F2-5B29E549D1D6}"/>
              </a:ext>
            </a:extLst>
          </p:cNvPr>
          <p:cNvSpPr txBox="1"/>
          <p:nvPr/>
        </p:nvSpPr>
        <p:spPr>
          <a:xfrm>
            <a:off x="3196575" y="2865900"/>
            <a:ext cx="880241" cy="369332"/>
          </a:xfrm>
          <a:prstGeom prst="rect">
            <a:avLst/>
          </a:prstGeom>
          <a:noFill/>
        </p:spPr>
        <p:txBody>
          <a:bodyPr wrap="none" rtlCol="0">
            <a:spAutoFit/>
          </a:bodyPr>
          <a:lstStyle/>
          <a:p>
            <a:r>
              <a:rPr lang="en-US" dirty="0"/>
              <a:t>&lt;PLUS&gt;</a:t>
            </a:r>
          </a:p>
        </p:txBody>
      </p:sp>
      <p:sp>
        <p:nvSpPr>
          <p:cNvPr id="44" name="TextBox 43">
            <a:extLst>
              <a:ext uri="{FF2B5EF4-FFF2-40B4-BE49-F238E27FC236}">
                <a16:creationId xmlns:a16="http://schemas.microsoft.com/office/drawing/2014/main" id="{D7CA5CA2-4EA4-3B4E-9A91-6DDCD6F71A20}"/>
              </a:ext>
            </a:extLst>
          </p:cNvPr>
          <p:cNvSpPr txBox="1"/>
          <p:nvPr/>
        </p:nvSpPr>
        <p:spPr>
          <a:xfrm>
            <a:off x="4395045" y="2847707"/>
            <a:ext cx="597984" cy="369332"/>
          </a:xfrm>
          <a:prstGeom prst="rect">
            <a:avLst/>
          </a:prstGeom>
          <a:noFill/>
        </p:spPr>
        <p:txBody>
          <a:bodyPr wrap="none" rtlCol="0">
            <a:spAutoFit/>
          </a:bodyPr>
          <a:lstStyle/>
          <a:p>
            <a:r>
              <a:rPr lang="en-US" dirty="0"/>
              <a:t>expr</a:t>
            </a:r>
          </a:p>
        </p:txBody>
      </p:sp>
      <p:cxnSp>
        <p:nvCxnSpPr>
          <p:cNvPr id="49" name="Straight Connector 48">
            <a:extLst>
              <a:ext uri="{FF2B5EF4-FFF2-40B4-BE49-F238E27FC236}">
                <a16:creationId xmlns:a16="http://schemas.microsoft.com/office/drawing/2014/main" id="{2737F467-DD3B-464D-AB7C-48ADAE9C7A75}"/>
              </a:ext>
            </a:extLst>
          </p:cNvPr>
          <p:cNvCxnSpPr>
            <a:cxnSpLocks/>
          </p:cNvCxnSpPr>
          <p:nvPr/>
        </p:nvCxnSpPr>
        <p:spPr>
          <a:xfrm flipH="1">
            <a:off x="704643" y="3275108"/>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3B3C027E-6CAD-874A-BA4C-D4BDE373AB42}"/>
              </a:ext>
            </a:extLst>
          </p:cNvPr>
          <p:cNvCxnSpPr>
            <a:cxnSpLocks/>
          </p:cNvCxnSpPr>
          <p:nvPr/>
        </p:nvCxnSpPr>
        <p:spPr>
          <a:xfrm>
            <a:off x="1929016" y="3275108"/>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1ED3D8CF-46C2-074A-B667-A1B26D7A6839}"/>
              </a:ext>
            </a:extLst>
          </p:cNvPr>
          <p:cNvCxnSpPr>
            <a:cxnSpLocks/>
          </p:cNvCxnSpPr>
          <p:nvPr/>
        </p:nvCxnSpPr>
        <p:spPr>
          <a:xfrm>
            <a:off x="1929016" y="3275108"/>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41C57070-1823-F445-9473-2FC7F87656AF}"/>
              </a:ext>
            </a:extLst>
          </p:cNvPr>
          <p:cNvSpPr txBox="1"/>
          <p:nvPr/>
        </p:nvSpPr>
        <p:spPr>
          <a:xfrm>
            <a:off x="1471443" y="3742210"/>
            <a:ext cx="880241" cy="369332"/>
          </a:xfrm>
          <a:prstGeom prst="rect">
            <a:avLst/>
          </a:prstGeom>
          <a:noFill/>
        </p:spPr>
        <p:txBody>
          <a:bodyPr wrap="none" rtlCol="0">
            <a:spAutoFit/>
          </a:bodyPr>
          <a:lstStyle/>
          <a:p>
            <a:r>
              <a:rPr lang="en-US" dirty="0"/>
              <a:t>&lt;PLUS&gt;</a:t>
            </a:r>
          </a:p>
        </p:txBody>
      </p:sp>
      <p:sp>
        <p:nvSpPr>
          <p:cNvPr id="53" name="TextBox 52">
            <a:extLst>
              <a:ext uri="{FF2B5EF4-FFF2-40B4-BE49-F238E27FC236}">
                <a16:creationId xmlns:a16="http://schemas.microsoft.com/office/drawing/2014/main" id="{96253B0E-0EC6-3148-A7AA-7554864A0EED}"/>
              </a:ext>
            </a:extLst>
          </p:cNvPr>
          <p:cNvSpPr txBox="1"/>
          <p:nvPr/>
        </p:nvSpPr>
        <p:spPr>
          <a:xfrm>
            <a:off x="405651" y="3710817"/>
            <a:ext cx="597984" cy="369332"/>
          </a:xfrm>
          <a:prstGeom prst="rect">
            <a:avLst/>
          </a:prstGeom>
          <a:noFill/>
        </p:spPr>
        <p:txBody>
          <a:bodyPr wrap="none" rtlCol="0">
            <a:spAutoFit/>
          </a:bodyPr>
          <a:lstStyle/>
          <a:p>
            <a:r>
              <a:rPr lang="en-US" dirty="0"/>
              <a:t>expr</a:t>
            </a:r>
          </a:p>
        </p:txBody>
      </p:sp>
      <p:sp>
        <p:nvSpPr>
          <p:cNvPr id="54" name="TextBox 53">
            <a:extLst>
              <a:ext uri="{FF2B5EF4-FFF2-40B4-BE49-F238E27FC236}">
                <a16:creationId xmlns:a16="http://schemas.microsoft.com/office/drawing/2014/main" id="{E8D89358-50D5-5149-9D7E-12BE25096FA6}"/>
              </a:ext>
            </a:extLst>
          </p:cNvPr>
          <p:cNvSpPr txBox="1"/>
          <p:nvPr/>
        </p:nvSpPr>
        <p:spPr>
          <a:xfrm>
            <a:off x="2727183" y="3710817"/>
            <a:ext cx="597984" cy="369332"/>
          </a:xfrm>
          <a:prstGeom prst="rect">
            <a:avLst/>
          </a:prstGeom>
          <a:noFill/>
        </p:spPr>
        <p:txBody>
          <a:bodyPr wrap="none" rtlCol="0">
            <a:spAutoFit/>
          </a:bodyPr>
          <a:lstStyle/>
          <a:p>
            <a:r>
              <a:rPr lang="en-US" dirty="0"/>
              <a:t>expr</a:t>
            </a:r>
          </a:p>
        </p:txBody>
      </p:sp>
      <p:sp>
        <p:nvSpPr>
          <p:cNvPr id="59" name="TextBox 58">
            <a:extLst>
              <a:ext uri="{FF2B5EF4-FFF2-40B4-BE49-F238E27FC236}">
                <a16:creationId xmlns:a16="http://schemas.microsoft.com/office/drawing/2014/main" id="{4BB51672-AA26-1342-9E90-03C0F97FFA09}"/>
              </a:ext>
            </a:extLst>
          </p:cNvPr>
          <p:cNvSpPr txBox="1"/>
          <p:nvPr/>
        </p:nvSpPr>
        <p:spPr>
          <a:xfrm>
            <a:off x="169084" y="5722494"/>
            <a:ext cx="1136850" cy="369332"/>
          </a:xfrm>
          <a:prstGeom prst="rect">
            <a:avLst/>
          </a:prstGeom>
          <a:noFill/>
        </p:spPr>
        <p:txBody>
          <a:bodyPr wrap="none" rtlCol="0">
            <a:spAutoFit/>
          </a:bodyPr>
          <a:lstStyle/>
          <a:p>
            <a:r>
              <a:rPr lang="en-US" dirty="0"/>
              <a:t>&lt;NUM, 2&gt;</a:t>
            </a:r>
          </a:p>
        </p:txBody>
      </p:sp>
      <p:sp>
        <p:nvSpPr>
          <p:cNvPr id="60" name="TextBox 59">
            <a:extLst>
              <a:ext uri="{FF2B5EF4-FFF2-40B4-BE49-F238E27FC236}">
                <a16:creationId xmlns:a16="http://schemas.microsoft.com/office/drawing/2014/main" id="{C1BB3498-EE54-8746-A272-5AD0BED142DC}"/>
              </a:ext>
            </a:extLst>
          </p:cNvPr>
          <p:cNvSpPr txBox="1"/>
          <p:nvPr/>
        </p:nvSpPr>
        <p:spPr>
          <a:xfrm>
            <a:off x="375228" y="4410545"/>
            <a:ext cx="639021" cy="369332"/>
          </a:xfrm>
          <a:prstGeom prst="rect">
            <a:avLst/>
          </a:prstGeom>
          <a:noFill/>
        </p:spPr>
        <p:txBody>
          <a:bodyPr wrap="none" rtlCol="0">
            <a:spAutoFit/>
          </a:bodyPr>
          <a:lstStyle/>
          <a:p>
            <a:r>
              <a:rPr lang="en-US" dirty="0"/>
              <a:t>term</a:t>
            </a:r>
          </a:p>
        </p:txBody>
      </p:sp>
      <p:cxnSp>
        <p:nvCxnSpPr>
          <p:cNvPr id="61" name="Straight Connector 60">
            <a:extLst>
              <a:ext uri="{FF2B5EF4-FFF2-40B4-BE49-F238E27FC236}">
                <a16:creationId xmlns:a16="http://schemas.microsoft.com/office/drawing/2014/main" id="{FD6F8D07-D95A-5448-B1DF-6BD3C103C7EB}"/>
              </a:ext>
            </a:extLst>
          </p:cNvPr>
          <p:cNvCxnSpPr>
            <a:cxnSpLocks/>
            <a:endCxn id="59" idx="0"/>
          </p:cNvCxnSpPr>
          <p:nvPr/>
        </p:nvCxnSpPr>
        <p:spPr>
          <a:xfrm flipH="1">
            <a:off x="737509" y="5413801"/>
            <a:ext cx="1" cy="308693"/>
          </a:xfrm>
          <a:prstGeom prst="line">
            <a:avLst/>
          </a:prstGeom>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A86DCAF7-69E6-834A-AE6E-0FE38CEA85BA}"/>
              </a:ext>
            </a:extLst>
          </p:cNvPr>
          <p:cNvCxnSpPr>
            <a:cxnSpLocks/>
          </p:cNvCxnSpPr>
          <p:nvPr/>
        </p:nvCxnSpPr>
        <p:spPr>
          <a:xfrm flipH="1">
            <a:off x="719552" y="4092158"/>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BD57399C-B201-B746-8DE0-BCBE79A9AA7E}"/>
              </a:ext>
            </a:extLst>
          </p:cNvPr>
          <p:cNvSpPr txBox="1"/>
          <p:nvPr/>
        </p:nvSpPr>
        <p:spPr>
          <a:xfrm>
            <a:off x="2492539" y="5722494"/>
            <a:ext cx="1136850" cy="369332"/>
          </a:xfrm>
          <a:prstGeom prst="rect">
            <a:avLst/>
          </a:prstGeom>
          <a:noFill/>
        </p:spPr>
        <p:txBody>
          <a:bodyPr wrap="none" rtlCol="0">
            <a:spAutoFit/>
          </a:bodyPr>
          <a:lstStyle/>
          <a:p>
            <a:r>
              <a:rPr lang="en-US" dirty="0"/>
              <a:t>&lt;NUM, 3&gt;</a:t>
            </a:r>
          </a:p>
        </p:txBody>
      </p:sp>
      <p:sp>
        <p:nvSpPr>
          <p:cNvPr id="64" name="TextBox 63">
            <a:extLst>
              <a:ext uri="{FF2B5EF4-FFF2-40B4-BE49-F238E27FC236}">
                <a16:creationId xmlns:a16="http://schemas.microsoft.com/office/drawing/2014/main" id="{2026449A-B7B4-B146-92E2-AEC4902CF791}"/>
              </a:ext>
            </a:extLst>
          </p:cNvPr>
          <p:cNvSpPr txBox="1"/>
          <p:nvPr/>
        </p:nvSpPr>
        <p:spPr>
          <a:xfrm>
            <a:off x="2698683" y="4410545"/>
            <a:ext cx="639021" cy="369332"/>
          </a:xfrm>
          <a:prstGeom prst="rect">
            <a:avLst/>
          </a:prstGeom>
          <a:noFill/>
        </p:spPr>
        <p:txBody>
          <a:bodyPr wrap="none" rtlCol="0">
            <a:spAutoFit/>
          </a:bodyPr>
          <a:lstStyle/>
          <a:p>
            <a:r>
              <a:rPr lang="en-US" dirty="0"/>
              <a:t>term</a:t>
            </a:r>
          </a:p>
        </p:txBody>
      </p:sp>
      <p:cxnSp>
        <p:nvCxnSpPr>
          <p:cNvPr id="65" name="Straight Connector 64">
            <a:extLst>
              <a:ext uri="{FF2B5EF4-FFF2-40B4-BE49-F238E27FC236}">
                <a16:creationId xmlns:a16="http://schemas.microsoft.com/office/drawing/2014/main" id="{8C04012A-4FA5-6B44-80E4-9A7BFA02A83B}"/>
              </a:ext>
            </a:extLst>
          </p:cNvPr>
          <p:cNvCxnSpPr>
            <a:cxnSpLocks/>
            <a:endCxn id="63" idx="0"/>
          </p:cNvCxnSpPr>
          <p:nvPr/>
        </p:nvCxnSpPr>
        <p:spPr>
          <a:xfrm flipH="1">
            <a:off x="3060964" y="5458298"/>
            <a:ext cx="1" cy="264196"/>
          </a:xfrm>
          <a:prstGeom prst="line">
            <a:avLst/>
          </a:prstGeom>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A93561DF-98DF-A440-B8EE-AB89FE1FA19E}"/>
              </a:ext>
            </a:extLst>
          </p:cNvPr>
          <p:cNvCxnSpPr>
            <a:cxnSpLocks/>
          </p:cNvCxnSpPr>
          <p:nvPr/>
        </p:nvCxnSpPr>
        <p:spPr>
          <a:xfrm flipH="1">
            <a:off x="3043007" y="4092158"/>
            <a:ext cx="5609" cy="300061"/>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Connector 66">
            <a:extLst>
              <a:ext uri="{FF2B5EF4-FFF2-40B4-BE49-F238E27FC236}">
                <a16:creationId xmlns:a16="http://schemas.microsoft.com/office/drawing/2014/main" id="{8AC93A18-FD63-3C49-B627-4ED0A6C07807}"/>
              </a:ext>
            </a:extLst>
          </p:cNvPr>
          <p:cNvCxnSpPr>
            <a:cxnSpLocks/>
            <a:stCxn id="60" idx="2"/>
            <a:endCxn id="68" idx="0"/>
          </p:cNvCxnSpPr>
          <p:nvPr/>
        </p:nvCxnSpPr>
        <p:spPr>
          <a:xfrm>
            <a:off x="694739" y="4779877"/>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68" name="TextBox 67">
            <a:extLst>
              <a:ext uri="{FF2B5EF4-FFF2-40B4-BE49-F238E27FC236}">
                <a16:creationId xmlns:a16="http://schemas.microsoft.com/office/drawing/2014/main" id="{4BACA7DC-06DF-1F42-9362-D172C7991887}"/>
              </a:ext>
            </a:extLst>
          </p:cNvPr>
          <p:cNvSpPr txBox="1"/>
          <p:nvPr/>
        </p:nvSpPr>
        <p:spPr>
          <a:xfrm>
            <a:off x="336753" y="5022766"/>
            <a:ext cx="735779" cy="369332"/>
          </a:xfrm>
          <a:prstGeom prst="rect">
            <a:avLst/>
          </a:prstGeom>
          <a:noFill/>
        </p:spPr>
        <p:txBody>
          <a:bodyPr wrap="none" rtlCol="0">
            <a:spAutoFit/>
          </a:bodyPr>
          <a:lstStyle/>
          <a:p>
            <a:r>
              <a:rPr lang="en-US" dirty="0"/>
              <a:t>factor</a:t>
            </a:r>
          </a:p>
        </p:txBody>
      </p:sp>
      <p:cxnSp>
        <p:nvCxnSpPr>
          <p:cNvPr id="69" name="Straight Connector 68">
            <a:extLst>
              <a:ext uri="{FF2B5EF4-FFF2-40B4-BE49-F238E27FC236}">
                <a16:creationId xmlns:a16="http://schemas.microsoft.com/office/drawing/2014/main" id="{03147EF5-1094-DF40-B87D-B68D07211B82}"/>
              </a:ext>
            </a:extLst>
          </p:cNvPr>
          <p:cNvCxnSpPr>
            <a:cxnSpLocks/>
            <a:endCxn id="70" idx="0"/>
          </p:cNvCxnSpPr>
          <p:nvPr/>
        </p:nvCxnSpPr>
        <p:spPr>
          <a:xfrm>
            <a:off x="3016271" y="4702186"/>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70" name="TextBox 69">
            <a:extLst>
              <a:ext uri="{FF2B5EF4-FFF2-40B4-BE49-F238E27FC236}">
                <a16:creationId xmlns:a16="http://schemas.microsoft.com/office/drawing/2014/main" id="{E3A4C9DB-E5C4-EE4E-B341-8806AFC0BC1A}"/>
              </a:ext>
            </a:extLst>
          </p:cNvPr>
          <p:cNvSpPr txBox="1"/>
          <p:nvPr/>
        </p:nvSpPr>
        <p:spPr>
          <a:xfrm>
            <a:off x="2658285" y="4945075"/>
            <a:ext cx="735779" cy="369332"/>
          </a:xfrm>
          <a:prstGeom prst="rect">
            <a:avLst/>
          </a:prstGeom>
          <a:noFill/>
        </p:spPr>
        <p:txBody>
          <a:bodyPr wrap="none" rtlCol="0">
            <a:spAutoFit/>
          </a:bodyPr>
          <a:lstStyle/>
          <a:p>
            <a:r>
              <a:rPr lang="en-US" dirty="0"/>
              <a:t>factor</a:t>
            </a:r>
          </a:p>
        </p:txBody>
      </p:sp>
      <p:sp>
        <p:nvSpPr>
          <p:cNvPr id="71" name="TextBox 70">
            <a:extLst>
              <a:ext uri="{FF2B5EF4-FFF2-40B4-BE49-F238E27FC236}">
                <a16:creationId xmlns:a16="http://schemas.microsoft.com/office/drawing/2014/main" id="{6E863AD3-AF58-9343-8A51-6AC7DA42C02D}"/>
              </a:ext>
            </a:extLst>
          </p:cNvPr>
          <p:cNvSpPr txBox="1"/>
          <p:nvPr/>
        </p:nvSpPr>
        <p:spPr>
          <a:xfrm>
            <a:off x="4108799" y="5194151"/>
            <a:ext cx="1136850" cy="369332"/>
          </a:xfrm>
          <a:prstGeom prst="rect">
            <a:avLst/>
          </a:prstGeom>
          <a:noFill/>
        </p:spPr>
        <p:txBody>
          <a:bodyPr wrap="none" rtlCol="0">
            <a:spAutoFit/>
          </a:bodyPr>
          <a:lstStyle/>
          <a:p>
            <a:r>
              <a:rPr lang="en-US" dirty="0"/>
              <a:t>&lt;NUM, 4&gt;</a:t>
            </a:r>
          </a:p>
        </p:txBody>
      </p:sp>
      <p:cxnSp>
        <p:nvCxnSpPr>
          <p:cNvPr id="72" name="Straight Connector 71">
            <a:extLst>
              <a:ext uri="{FF2B5EF4-FFF2-40B4-BE49-F238E27FC236}">
                <a16:creationId xmlns:a16="http://schemas.microsoft.com/office/drawing/2014/main" id="{1FB1C20C-FC64-DC4C-9330-6351C4E9B540}"/>
              </a:ext>
            </a:extLst>
          </p:cNvPr>
          <p:cNvCxnSpPr>
            <a:cxnSpLocks/>
            <a:endCxn id="73" idx="0"/>
          </p:cNvCxnSpPr>
          <p:nvPr/>
        </p:nvCxnSpPr>
        <p:spPr>
          <a:xfrm flipH="1">
            <a:off x="4682834" y="3201598"/>
            <a:ext cx="1442" cy="464578"/>
          </a:xfrm>
          <a:prstGeom prst="line">
            <a:avLst/>
          </a:prstGeom>
        </p:spPr>
        <p:style>
          <a:lnRef idx="1">
            <a:schemeClr val="dk1"/>
          </a:lnRef>
          <a:fillRef idx="0">
            <a:schemeClr val="dk1"/>
          </a:fillRef>
          <a:effectRef idx="0">
            <a:schemeClr val="dk1"/>
          </a:effectRef>
          <a:fontRef idx="minor">
            <a:schemeClr val="tx1"/>
          </a:fontRef>
        </p:style>
      </p:cxnSp>
      <p:sp>
        <p:nvSpPr>
          <p:cNvPr id="73" name="TextBox 72">
            <a:extLst>
              <a:ext uri="{FF2B5EF4-FFF2-40B4-BE49-F238E27FC236}">
                <a16:creationId xmlns:a16="http://schemas.microsoft.com/office/drawing/2014/main" id="{A5E35CF3-8A64-944D-AA44-CCB594F0C936}"/>
              </a:ext>
            </a:extLst>
          </p:cNvPr>
          <p:cNvSpPr txBox="1"/>
          <p:nvPr/>
        </p:nvSpPr>
        <p:spPr>
          <a:xfrm>
            <a:off x="4363323" y="3666176"/>
            <a:ext cx="639021" cy="369332"/>
          </a:xfrm>
          <a:prstGeom prst="rect">
            <a:avLst/>
          </a:prstGeom>
          <a:noFill/>
        </p:spPr>
        <p:txBody>
          <a:bodyPr wrap="none" rtlCol="0">
            <a:spAutoFit/>
          </a:bodyPr>
          <a:lstStyle/>
          <a:p>
            <a:r>
              <a:rPr lang="en-US" dirty="0"/>
              <a:t>term</a:t>
            </a:r>
          </a:p>
        </p:txBody>
      </p:sp>
      <p:cxnSp>
        <p:nvCxnSpPr>
          <p:cNvPr id="74" name="Straight Connector 73">
            <a:extLst>
              <a:ext uri="{FF2B5EF4-FFF2-40B4-BE49-F238E27FC236}">
                <a16:creationId xmlns:a16="http://schemas.microsoft.com/office/drawing/2014/main" id="{81C3E4BA-997F-AA4A-BB0F-E26D41A1AC4D}"/>
              </a:ext>
            </a:extLst>
          </p:cNvPr>
          <p:cNvCxnSpPr>
            <a:cxnSpLocks/>
            <a:stCxn id="73" idx="2"/>
            <a:endCxn id="75" idx="0"/>
          </p:cNvCxnSpPr>
          <p:nvPr/>
        </p:nvCxnSpPr>
        <p:spPr>
          <a:xfrm flipH="1">
            <a:off x="4682833" y="4035508"/>
            <a:ext cx="1" cy="489250"/>
          </a:xfrm>
          <a:prstGeom prst="line">
            <a:avLst/>
          </a:prstGeom>
        </p:spPr>
        <p:style>
          <a:lnRef idx="1">
            <a:schemeClr val="dk1"/>
          </a:lnRef>
          <a:fillRef idx="0">
            <a:schemeClr val="dk1"/>
          </a:fillRef>
          <a:effectRef idx="0">
            <a:schemeClr val="dk1"/>
          </a:effectRef>
          <a:fontRef idx="minor">
            <a:schemeClr val="tx1"/>
          </a:fontRef>
        </p:style>
      </p:cxnSp>
      <p:sp>
        <p:nvSpPr>
          <p:cNvPr id="75" name="TextBox 74">
            <a:extLst>
              <a:ext uri="{FF2B5EF4-FFF2-40B4-BE49-F238E27FC236}">
                <a16:creationId xmlns:a16="http://schemas.microsoft.com/office/drawing/2014/main" id="{3AECA206-BD9C-0C4C-ACFA-6ED75A7F6D50}"/>
              </a:ext>
            </a:extLst>
          </p:cNvPr>
          <p:cNvSpPr txBox="1"/>
          <p:nvPr/>
        </p:nvSpPr>
        <p:spPr>
          <a:xfrm>
            <a:off x="4314943" y="4524758"/>
            <a:ext cx="735779" cy="369332"/>
          </a:xfrm>
          <a:prstGeom prst="rect">
            <a:avLst/>
          </a:prstGeom>
          <a:noFill/>
        </p:spPr>
        <p:txBody>
          <a:bodyPr wrap="none" rtlCol="0">
            <a:spAutoFit/>
          </a:bodyPr>
          <a:lstStyle/>
          <a:p>
            <a:r>
              <a:rPr lang="en-US" dirty="0"/>
              <a:t>factor</a:t>
            </a:r>
          </a:p>
        </p:txBody>
      </p:sp>
      <p:cxnSp>
        <p:nvCxnSpPr>
          <p:cNvPr id="76" name="Straight Connector 75">
            <a:extLst>
              <a:ext uri="{FF2B5EF4-FFF2-40B4-BE49-F238E27FC236}">
                <a16:creationId xmlns:a16="http://schemas.microsoft.com/office/drawing/2014/main" id="{0ECCCB75-1593-BA4C-988E-981C8B8AF8D5}"/>
              </a:ext>
            </a:extLst>
          </p:cNvPr>
          <p:cNvCxnSpPr>
            <a:cxnSpLocks/>
            <a:stCxn id="75" idx="2"/>
            <a:endCxn id="71" idx="0"/>
          </p:cNvCxnSpPr>
          <p:nvPr/>
        </p:nvCxnSpPr>
        <p:spPr>
          <a:xfrm flipH="1">
            <a:off x="4677224" y="4894090"/>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0E9375D6-2140-CC4E-81AB-2AAC9912AE0D}"/>
              </a:ext>
            </a:extLst>
          </p:cNvPr>
          <p:cNvSpPr txBox="1"/>
          <p:nvPr/>
        </p:nvSpPr>
        <p:spPr>
          <a:xfrm>
            <a:off x="435242" y="1524075"/>
            <a:ext cx="2216761" cy="369332"/>
          </a:xfrm>
          <a:prstGeom prst="rect">
            <a:avLst/>
          </a:prstGeom>
          <a:noFill/>
        </p:spPr>
        <p:txBody>
          <a:bodyPr wrap="none" rtlCol="0">
            <a:spAutoFit/>
          </a:bodyPr>
          <a:lstStyle/>
          <a:p>
            <a:r>
              <a:rPr lang="en-US" i="1" dirty="0"/>
              <a:t>What about this one?</a:t>
            </a:r>
          </a:p>
        </p:txBody>
      </p:sp>
      <p:pic>
        <p:nvPicPr>
          <p:cNvPr id="3" name="Picture 2">
            <a:extLst>
              <a:ext uri="{FF2B5EF4-FFF2-40B4-BE49-F238E27FC236}">
                <a16:creationId xmlns:a16="http://schemas.microsoft.com/office/drawing/2014/main" id="{D2072D68-CBCE-23C2-51FD-F17A53385083}"/>
              </a:ext>
            </a:extLst>
          </p:cNvPr>
          <p:cNvPicPr>
            <a:picLocks noChangeAspect="1"/>
          </p:cNvPicPr>
          <p:nvPr/>
        </p:nvPicPr>
        <p:blipFill rotWithShape="1">
          <a:blip r:embed="rId2"/>
          <a:srcRect t="17048"/>
          <a:stretch/>
        </p:blipFill>
        <p:spPr>
          <a:xfrm>
            <a:off x="253848" y="569775"/>
            <a:ext cx="2565400" cy="779580"/>
          </a:xfrm>
          <a:prstGeom prst="rect">
            <a:avLst/>
          </a:prstGeom>
        </p:spPr>
      </p:pic>
      <p:sp>
        <p:nvSpPr>
          <p:cNvPr id="4" name="TextBox 3">
            <a:extLst>
              <a:ext uri="{FF2B5EF4-FFF2-40B4-BE49-F238E27FC236}">
                <a16:creationId xmlns:a16="http://schemas.microsoft.com/office/drawing/2014/main" id="{7C63040B-B280-5381-45BF-BFB22E527804}"/>
              </a:ext>
            </a:extLst>
          </p:cNvPr>
          <p:cNvSpPr txBox="1"/>
          <p:nvPr/>
        </p:nvSpPr>
        <p:spPr>
          <a:xfrm>
            <a:off x="8934394" y="791570"/>
            <a:ext cx="2180638" cy="369332"/>
          </a:xfrm>
          <a:prstGeom prst="rect">
            <a:avLst/>
          </a:prstGeom>
          <a:noFill/>
        </p:spPr>
        <p:txBody>
          <a:bodyPr wrap="square" rtlCol="0">
            <a:spAutoFit/>
          </a:bodyPr>
          <a:lstStyle/>
          <a:p>
            <a:r>
              <a:rPr lang="en-US" dirty="0"/>
              <a:t>See next slide</a:t>
            </a:r>
          </a:p>
        </p:txBody>
      </p:sp>
    </p:spTree>
    <p:extLst>
      <p:ext uri="{BB962C8B-B14F-4D97-AF65-F5344CB8AC3E}">
        <p14:creationId xmlns:p14="http://schemas.microsoft.com/office/powerpoint/2010/main" val="2261771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581C384-93DB-0D44-BE61-8197A0709109}"/>
              </a:ext>
            </a:extLst>
          </p:cNvPr>
          <p:cNvSpPr txBox="1"/>
          <p:nvPr/>
        </p:nvSpPr>
        <p:spPr>
          <a:xfrm>
            <a:off x="3196575" y="595375"/>
            <a:ext cx="3147015" cy="584775"/>
          </a:xfrm>
          <a:prstGeom prst="rect">
            <a:avLst/>
          </a:prstGeom>
          <a:noFill/>
        </p:spPr>
        <p:txBody>
          <a:bodyPr wrap="none" rtlCol="0">
            <a:spAutoFit/>
          </a:bodyPr>
          <a:lstStyle/>
          <a:p>
            <a:r>
              <a:rPr lang="en-US" sz="3200" dirty="0">
                <a:latin typeface="Courier" pitchFamily="2" charset="0"/>
              </a:rPr>
              <a:t>input: 2+3+4</a:t>
            </a:r>
          </a:p>
        </p:txBody>
      </p:sp>
      <p:sp>
        <p:nvSpPr>
          <p:cNvPr id="7" name="TextBox 6">
            <a:extLst>
              <a:ext uri="{FF2B5EF4-FFF2-40B4-BE49-F238E27FC236}">
                <a16:creationId xmlns:a16="http://schemas.microsoft.com/office/drawing/2014/main" id="{1EF4FC3F-B8F7-EF4A-8F6B-AAFA31AB4690}"/>
              </a:ext>
            </a:extLst>
          </p:cNvPr>
          <p:cNvSpPr txBox="1"/>
          <p:nvPr/>
        </p:nvSpPr>
        <p:spPr>
          <a:xfrm>
            <a:off x="8635402" y="2181957"/>
            <a:ext cx="597984" cy="369332"/>
          </a:xfrm>
          <a:prstGeom prst="rect">
            <a:avLst/>
          </a:prstGeom>
          <a:noFill/>
        </p:spPr>
        <p:txBody>
          <a:bodyPr wrap="none" rtlCol="0">
            <a:spAutoFit/>
          </a:bodyPr>
          <a:lstStyle/>
          <a:p>
            <a:r>
              <a:rPr lang="en-US" dirty="0"/>
              <a:t>expr</a:t>
            </a:r>
          </a:p>
        </p:txBody>
      </p:sp>
      <p:cxnSp>
        <p:nvCxnSpPr>
          <p:cNvPr id="8" name="Straight Connector 7">
            <a:extLst>
              <a:ext uri="{FF2B5EF4-FFF2-40B4-BE49-F238E27FC236}">
                <a16:creationId xmlns:a16="http://schemas.microsoft.com/office/drawing/2014/main" id="{30141CE8-2344-0948-9E95-8E3D11DE2430}"/>
              </a:ext>
            </a:extLst>
          </p:cNvPr>
          <p:cNvCxnSpPr>
            <a:cxnSpLocks/>
            <a:stCxn id="7" idx="2"/>
            <a:endCxn id="9" idx="0"/>
          </p:cNvCxnSpPr>
          <p:nvPr/>
        </p:nvCxnSpPr>
        <p:spPr>
          <a:xfrm flipH="1">
            <a:off x="7299498" y="2551289"/>
            <a:ext cx="1634896" cy="536644"/>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E6D905BC-8176-5C4B-8283-5453872C6006}"/>
              </a:ext>
            </a:extLst>
          </p:cNvPr>
          <p:cNvSpPr txBox="1"/>
          <p:nvPr/>
        </p:nvSpPr>
        <p:spPr>
          <a:xfrm>
            <a:off x="7000506" y="3087933"/>
            <a:ext cx="597984" cy="369332"/>
          </a:xfrm>
          <a:prstGeom prst="rect">
            <a:avLst/>
          </a:prstGeom>
          <a:noFill/>
        </p:spPr>
        <p:txBody>
          <a:bodyPr wrap="none" rtlCol="0">
            <a:spAutoFit/>
          </a:bodyPr>
          <a:lstStyle/>
          <a:p>
            <a:r>
              <a:rPr lang="en-US" dirty="0"/>
              <a:t>expr</a:t>
            </a:r>
          </a:p>
        </p:txBody>
      </p:sp>
      <p:cxnSp>
        <p:nvCxnSpPr>
          <p:cNvPr id="10" name="Straight Connector 9">
            <a:extLst>
              <a:ext uri="{FF2B5EF4-FFF2-40B4-BE49-F238E27FC236}">
                <a16:creationId xmlns:a16="http://schemas.microsoft.com/office/drawing/2014/main" id="{0686B2F0-A92C-9842-99A5-BB5F68B3CB0F}"/>
              </a:ext>
            </a:extLst>
          </p:cNvPr>
          <p:cNvCxnSpPr>
            <a:cxnSpLocks/>
            <a:stCxn id="7" idx="2"/>
            <a:endCxn id="12" idx="0"/>
          </p:cNvCxnSpPr>
          <p:nvPr/>
        </p:nvCxnSpPr>
        <p:spPr>
          <a:xfrm>
            <a:off x="8934394" y="2551289"/>
            <a:ext cx="0" cy="554837"/>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B373421-B101-4546-B128-9E43278BD634}"/>
              </a:ext>
            </a:extLst>
          </p:cNvPr>
          <p:cNvCxnSpPr>
            <a:cxnSpLocks/>
            <a:stCxn id="7" idx="2"/>
            <a:endCxn id="13" idx="0"/>
          </p:cNvCxnSpPr>
          <p:nvPr/>
        </p:nvCxnSpPr>
        <p:spPr>
          <a:xfrm>
            <a:off x="8934394" y="2551289"/>
            <a:ext cx="1057341" cy="536644"/>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60AF16AA-22CD-FA4F-9F55-FCC38AD1D4BA}"/>
              </a:ext>
            </a:extLst>
          </p:cNvPr>
          <p:cNvSpPr txBox="1"/>
          <p:nvPr/>
        </p:nvSpPr>
        <p:spPr>
          <a:xfrm>
            <a:off x="8494273" y="3106126"/>
            <a:ext cx="880241" cy="369332"/>
          </a:xfrm>
          <a:prstGeom prst="rect">
            <a:avLst/>
          </a:prstGeom>
          <a:noFill/>
        </p:spPr>
        <p:txBody>
          <a:bodyPr wrap="none" rtlCol="0">
            <a:spAutoFit/>
          </a:bodyPr>
          <a:lstStyle/>
          <a:p>
            <a:r>
              <a:rPr lang="en-US" dirty="0"/>
              <a:t>&lt;PLUS&gt;</a:t>
            </a:r>
          </a:p>
        </p:txBody>
      </p:sp>
      <p:sp>
        <p:nvSpPr>
          <p:cNvPr id="13" name="TextBox 12">
            <a:extLst>
              <a:ext uri="{FF2B5EF4-FFF2-40B4-BE49-F238E27FC236}">
                <a16:creationId xmlns:a16="http://schemas.microsoft.com/office/drawing/2014/main" id="{BA6A98FD-3CE1-2241-952E-12AD71379DB0}"/>
              </a:ext>
            </a:extLst>
          </p:cNvPr>
          <p:cNvSpPr txBox="1"/>
          <p:nvPr/>
        </p:nvSpPr>
        <p:spPr>
          <a:xfrm>
            <a:off x="9692743" y="3087933"/>
            <a:ext cx="597984" cy="369332"/>
          </a:xfrm>
          <a:prstGeom prst="rect">
            <a:avLst/>
          </a:prstGeom>
          <a:noFill/>
        </p:spPr>
        <p:txBody>
          <a:bodyPr wrap="none" rtlCol="0">
            <a:spAutoFit/>
          </a:bodyPr>
          <a:lstStyle/>
          <a:p>
            <a:r>
              <a:rPr lang="en-US" dirty="0"/>
              <a:t>expr</a:t>
            </a:r>
          </a:p>
        </p:txBody>
      </p:sp>
      <p:sp>
        <p:nvSpPr>
          <p:cNvPr id="14" name="TextBox 13">
            <a:extLst>
              <a:ext uri="{FF2B5EF4-FFF2-40B4-BE49-F238E27FC236}">
                <a16:creationId xmlns:a16="http://schemas.microsoft.com/office/drawing/2014/main" id="{66D518E2-D041-B54A-BAFD-9F3EB0B79156}"/>
              </a:ext>
            </a:extLst>
          </p:cNvPr>
          <p:cNvSpPr txBox="1"/>
          <p:nvPr/>
        </p:nvSpPr>
        <p:spPr>
          <a:xfrm>
            <a:off x="6724021" y="5469967"/>
            <a:ext cx="1136850" cy="369332"/>
          </a:xfrm>
          <a:prstGeom prst="rect">
            <a:avLst/>
          </a:prstGeom>
          <a:noFill/>
        </p:spPr>
        <p:txBody>
          <a:bodyPr wrap="none" rtlCol="0">
            <a:spAutoFit/>
          </a:bodyPr>
          <a:lstStyle/>
          <a:p>
            <a:r>
              <a:rPr lang="en-US" dirty="0"/>
              <a:t>&lt;NUM, 2&gt;</a:t>
            </a:r>
          </a:p>
        </p:txBody>
      </p:sp>
      <p:cxnSp>
        <p:nvCxnSpPr>
          <p:cNvPr id="15" name="Straight Connector 14">
            <a:extLst>
              <a:ext uri="{FF2B5EF4-FFF2-40B4-BE49-F238E27FC236}">
                <a16:creationId xmlns:a16="http://schemas.microsoft.com/office/drawing/2014/main" id="{7BE47221-BFFC-0243-AFE9-5C53FC906A1B}"/>
              </a:ext>
            </a:extLst>
          </p:cNvPr>
          <p:cNvCxnSpPr>
            <a:cxnSpLocks/>
            <a:endCxn id="22" idx="0"/>
          </p:cNvCxnSpPr>
          <p:nvPr/>
        </p:nvCxnSpPr>
        <p:spPr>
          <a:xfrm flipH="1">
            <a:off x="7298056" y="3477414"/>
            <a:ext cx="1442" cy="464578"/>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9807E1A-CE97-FF41-A2A5-7C3CB46AC284}"/>
              </a:ext>
            </a:extLst>
          </p:cNvPr>
          <p:cNvCxnSpPr>
            <a:cxnSpLocks/>
          </p:cNvCxnSpPr>
          <p:nvPr/>
        </p:nvCxnSpPr>
        <p:spPr>
          <a:xfrm flipH="1">
            <a:off x="8758711" y="3459774"/>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9DAF383E-DF34-F944-BC7F-24A207C0E665}"/>
              </a:ext>
            </a:extLst>
          </p:cNvPr>
          <p:cNvCxnSpPr>
            <a:cxnSpLocks/>
          </p:cNvCxnSpPr>
          <p:nvPr/>
        </p:nvCxnSpPr>
        <p:spPr>
          <a:xfrm>
            <a:off x="9983084" y="3459774"/>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8CA92CF3-16B2-3A46-9746-FE978094BA1D}"/>
              </a:ext>
            </a:extLst>
          </p:cNvPr>
          <p:cNvCxnSpPr>
            <a:cxnSpLocks/>
          </p:cNvCxnSpPr>
          <p:nvPr/>
        </p:nvCxnSpPr>
        <p:spPr>
          <a:xfrm>
            <a:off x="9983084" y="3459774"/>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5173FE82-5C9F-3B48-8EAE-3B7CB4B7E7F6}"/>
              </a:ext>
            </a:extLst>
          </p:cNvPr>
          <p:cNvSpPr txBox="1"/>
          <p:nvPr/>
        </p:nvSpPr>
        <p:spPr>
          <a:xfrm>
            <a:off x="9525511" y="3926876"/>
            <a:ext cx="880241" cy="369332"/>
          </a:xfrm>
          <a:prstGeom prst="rect">
            <a:avLst/>
          </a:prstGeom>
          <a:noFill/>
        </p:spPr>
        <p:txBody>
          <a:bodyPr wrap="none" rtlCol="0">
            <a:spAutoFit/>
          </a:bodyPr>
          <a:lstStyle/>
          <a:p>
            <a:r>
              <a:rPr lang="en-US" dirty="0"/>
              <a:t>&lt;PLUS&gt;</a:t>
            </a:r>
          </a:p>
        </p:txBody>
      </p:sp>
      <p:sp>
        <p:nvSpPr>
          <p:cNvPr id="20" name="TextBox 19">
            <a:extLst>
              <a:ext uri="{FF2B5EF4-FFF2-40B4-BE49-F238E27FC236}">
                <a16:creationId xmlns:a16="http://schemas.microsoft.com/office/drawing/2014/main" id="{5F067DEE-CDD4-7E46-9949-17B518AA1F04}"/>
              </a:ext>
            </a:extLst>
          </p:cNvPr>
          <p:cNvSpPr txBox="1"/>
          <p:nvPr/>
        </p:nvSpPr>
        <p:spPr>
          <a:xfrm>
            <a:off x="8459719" y="3895483"/>
            <a:ext cx="597984" cy="369332"/>
          </a:xfrm>
          <a:prstGeom prst="rect">
            <a:avLst/>
          </a:prstGeom>
          <a:noFill/>
        </p:spPr>
        <p:txBody>
          <a:bodyPr wrap="none" rtlCol="0">
            <a:spAutoFit/>
          </a:bodyPr>
          <a:lstStyle/>
          <a:p>
            <a:r>
              <a:rPr lang="en-US" dirty="0"/>
              <a:t>expr</a:t>
            </a:r>
          </a:p>
        </p:txBody>
      </p:sp>
      <p:sp>
        <p:nvSpPr>
          <p:cNvPr id="21" name="TextBox 20">
            <a:extLst>
              <a:ext uri="{FF2B5EF4-FFF2-40B4-BE49-F238E27FC236}">
                <a16:creationId xmlns:a16="http://schemas.microsoft.com/office/drawing/2014/main" id="{4CCBC7C3-3B2D-8846-922F-FFE276D95ACE}"/>
              </a:ext>
            </a:extLst>
          </p:cNvPr>
          <p:cNvSpPr txBox="1"/>
          <p:nvPr/>
        </p:nvSpPr>
        <p:spPr>
          <a:xfrm>
            <a:off x="10781251" y="3895483"/>
            <a:ext cx="597984" cy="369332"/>
          </a:xfrm>
          <a:prstGeom prst="rect">
            <a:avLst/>
          </a:prstGeom>
          <a:noFill/>
        </p:spPr>
        <p:txBody>
          <a:bodyPr wrap="none" rtlCol="0">
            <a:spAutoFit/>
          </a:bodyPr>
          <a:lstStyle/>
          <a:p>
            <a:r>
              <a:rPr lang="en-US" dirty="0"/>
              <a:t>expr</a:t>
            </a:r>
          </a:p>
        </p:txBody>
      </p:sp>
      <p:sp>
        <p:nvSpPr>
          <p:cNvPr id="22" name="TextBox 21">
            <a:extLst>
              <a:ext uri="{FF2B5EF4-FFF2-40B4-BE49-F238E27FC236}">
                <a16:creationId xmlns:a16="http://schemas.microsoft.com/office/drawing/2014/main" id="{523078ED-048C-F640-ACD0-3E3AAD13C997}"/>
              </a:ext>
            </a:extLst>
          </p:cNvPr>
          <p:cNvSpPr txBox="1"/>
          <p:nvPr/>
        </p:nvSpPr>
        <p:spPr>
          <a:xfrm>
            <a:off x="6978545" y="3941992"/>
            <a:ext cx="639021" cy="369332"/>
          </a:xfrm>
          <a:prstGeom prst="rect">
            <a:avLst/>
          </a:prstGeom>
          <a:noFill/>
        </p:spPr>
        <p:txBody>
          <a:bodyPr wrap="none" rtlCol="0">
            <a:spAutoFit/>
          </a:bodyPr>
          <a:lstStyle/>
          <a:p>
            <a:r>
              <a:rPr lang="en-US" dirty="0"/>
              <a:t>term</a:t>
            </a:r>
          </a:p>
        </p:txBody>
      </p:sp>
      <p:cxnSp>
        <p:nvCxnSpPr>
          <p:cNvPr id="23" name="Straight Connector 22">
            <a:extLst>
              <a:ext uri="{FF2B5EF4-FFF2-40B4-BE49-F238E27FC236}">
                <a16:creationId xmlns:a16="http://schemas.microsoft.com/office/drawing/2014/main" id="{AD31FE39-303E-6A49-A3C2-0B76C241499E}"/>
              </a:ext>
            </a:extLst>
          </p:cNvPr>
          <p:cNvCxnSpPr>
            <a:cxnSpLocks/>
            <a:stCxn id="22" idx="2"/>
            <a:endCxn id="24" idx="0"/>
          </p:cNvCxnSpPr>
          <p:nvPr/>
        </p:nvCxnSpPr>
        <p:spPr>
          <a:xfrm flipH="1">
            <a:off x="7298055" y="4311324"/>
            <a:ext cx="1" cy="489250"/>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085D5B41-A14A-6947-AF22-039FD4CC5D3A}"/>
              </a:ext>
            </a:extLst>
          </p:cNvPr>
          <p:cNvSpPr txBox="1"/>
          <p:nvPr/>
        </p:nvSpPr>
        <p:spPr>
          <a:xfrm>
            <a:off x="6930165" y="4800574"/>
            <a:ext cx="735779" cy="369332"/>
          </a:xfrm>
          <a:prstGeom prst="rect">
            <a:avLst/>
          </a:prstGeom>
          <a:noFill/>
        </p:spPr>
        <p:txBody>
          <a:bodyPr wrap="none" rtlCol="0">
            <a:spAutoFit/>
          </a:bodyPr>
          <a:lstStyle/>
          <a:p>
            <a:r>
              <a:rPr lang="en-US" dirty="0"/>
              <a:t>factor</a:t>
            </a:r>
          </a:p>
        </p:txBody>
      </p:sp>
      <p:cxnSp>
        <p:nvCxnSpPr>
          <p:cNvPr id="25" name="Straight Connector 24">
            <a:extLst>
              <a:ext uri="{FF2B5EF4-FFF2-40B4-BE49-F238E27FC236}">
                <a16:creationId xmlns:a16="http://schemas.microsoft.com/office/drawing/2014/main" id="{C24A46DA-5EEF-E14F-98AC-75E996BC5908}"/>
              </a:ext>
            </a:extLst>
          </p:cNvPr>
          <p:cNvCxnSpPr>
            <a:cxnSpLocks/>
            <a:stCxn id="24" idx="2"/>
            <a:endCxn id="14" idx="0"/>
          </p:cNvCxnSpPr>
          <p:nvPr/>
        </p:nvCxnSpPr>
        <p:spPr>
          <a:xfrm flipH="1">
            <a:off x="7292446" y="5169906"/>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53922C26-78A1-2B41-8636-490EF1E8297B}"/>
              </a:ext>
            </a:extLst>
          </p:cNvPr>
          <p:cNvSpPr txBox="1"/>
          <p:nvPr/>
        </p:nvSpPr>
        <p:spPr>
          <a:xfrm>
            <a:off x="8223152" y="5907160"/>
            <a:ext cx="1136850" cy="369332"/>
          </a:xfrm>
          <a:prstGeom prst="rect">
            <a:avLst/>
          </a:prstGeom>
          <a:noFill/>
        </p:spPr>
        <p:txBody>
          <a:bodyPr wrap="none" rtlCol="0">
            <a:spAutoFit/>
          </a:bodyPr>
          <a:lstStyle/>
          <a:p>
            <a:r>
              <a:rPr lang="en-US" dirty="0"/>
              <a:t>&lt;NUM, 3&gt;</a:t>
            </a:r>
          </a:p>
        </p:txBody>
      </p:sp>
      <p:sp>
        <p:nvSpPr>
          <p:cNvPr id="29" name="TextBox 28">
            <a:extLst>
              <a:ext uri="{FF2B5EF4-FFF2-40B4-BE49-F238E27FC236}">
                <a16:creationId xmlns:a16="http://schemas.microsoft.com/office/drawing/2014/main" id="{797B625C-0EB6-C44A-B7B1-59D7A6B79F63}"/>
              </a:ext>
            </a:extLst>
          </p:cNvPr>
          <p:cNvSpPr txBox="1"/>
          <p:nvPr/>
        </p:nvSpPr>
        <p:spPr>
          <a:xfrm>
            <a:off x="8429296" y="4595211"/>
            <a:ext cx="639021" cy="369332"/>
          </a:xfrm>
          <a:prstGeom prst="rect">
            <a:avLst/>
          </a:prstGeom>
          <a:noFill/>
        </p:spPr>
        <p:txBody>
          <a:bodyPr wrap="none" rtlCol="0">
            <a:spAutoFit/>
          </a:bodyPr>
          <a:lstStyle/>
          <a:p>
            <a:r>
              <a:rPr lang="en-US" dirty="0"/>
              <a:t>term</a:t>
            </a:r>
          </a:p>
        </p:txBody>
      </p:sp>
      <p:cxnSp>
        <p:nvCxnSpPr>
          <p:cNvPr id="30" name="Straight Connector 29">
            <a:extLst>
              <a:ext uri="{FF2B5EF4-FFF2-40B4-BE49-F238E27FC236}">
                <a16:creationId xmlns:a16="http://schemas.microsoft.com/office/drawing/2014/main" id="{EFCE927F-6F2D-7C4E-A51D-683038842E00}"/>
              </a:ext>
            </a:extLst>
          </p:cNvPr>
          <p:cNvCxnSpPr>
            <a:cxnSpLocks/>
            <a:endCxn id="28" idx="0"/>
          </p:cNvCxnSpPr>
          <p:nvPr/>
        </p:nvCxnSpPr>
        <p:spPr>
          <a:xfrm>
            <a:off x="8791577" y="5598467"/>
            <a:ext cx="0" cy="308693"/>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3EF182C6-3A3A-5340-AECF-F5309B097F1B}"/>
              </a:ext>
            </a:extLst>
          </p:cNvPr>
          <p:cNvCxnSpPr>
            <a:cxnSpLocks/>
          </p:cNvCxnSpPr>
          <p:nvPr/>
        </p:nvCxnSpPr>
        <p:spPr>
          <a:xfrm flipH="1">
            <a:off x="8773620" y="4276824"/>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13C08319-763D-EC4A-85E5-A88DF4758EAC}"/>
              </a:ext>
            </a:extLst>
          </p:cNvPr>
          <p:cNvSpPr txBox="1"/>
          <p:nvPr/>
        </p:nvSpPr>
        <p:spPr>
          <a:xfrm>
            <a:off x="10546607" y="5907160"/>
            <a:ext cx="1136850" cy="369332"/>
          </a:xfrm>
          <a:prstGeom prst="rect">
            <a:avLst/>
          </a:prstGeom>
          <a:noFill/>
        </p:spPr>
        <p:txBody>
          <a:bodyPr wrap="none" rtlCol="0">
            <a:spAutoFit/>
          </a:bodyPr>
          <a:lstStyle/>
          <a:p>
            <a:r>
              <a:rPr lang="en-US" dirty="0"/>
              <a:t>&lt;NUM, 4&gt;</a:t>
            </a:r>
          </a:p>
        </p:txBody>
      </p:sp>
      <p:sp>
        <p:nvSpPr>
          <p:cNvPr id="33" name="TextBox 32">
            <a:extLst>
              <a:ext uri="{FF2B5EF4-FFF2-40B4-BE49-F238E27FC236}">
                <a16:creationId xmlns:a16="http://schemas.microsoft.com/office/drawing/2014/main" id="{9F2F9A8A-EA8C-4840-9B67-4CF2EB90B9E3}"/>
              </a:ext>
            </a:extLst>
          </p:cNvPr>
          <p:cNvSpPr txBox="1"/>
          <p:nvPr/>
        </p:nvSpPr>
        <p:spPr>
          <a:xfrm>
            <a:off x="10752751" y="4595211"/>
            <a:ext cx="639021" cy="369332"/>
          </a:xfrm>
          <a:prstGeom prst="rect">
            <a:avLst/>
          </a:prstGeom>
          <a:noFill/>
        </p:spPr>
        <p:txBody>
          <a:bodyPr wrap="none" rtlCol="0">
            <a:spAutoFit/>
          </a:bodyPr>
          <a:lstStyle/>
          <a:p>
            <a:r>
              <a:rPr lang="en-US" dirty="0"/>
              <a:t>term</a:t>
            </a:r>
          </a:p>
        </p:txBody>
      </p:sp>
      <p:cxnSp>
        <p:nvCxnSpPr>
          <p:cNvPr id="34" name="Straight Connector 33">
            <a:extLst>
              <a:ext uri="{FF2B5EF4-FFF2-40B4-BE49-F238E27FC236}">
                <a16:creationId xmlns:a16="http://schemas.microsoft.com/office/drawing/2014/main" id="{94B5E655-A336-324F-8040-8067BBACD221}"/>
              </a:ext>
            </a:extLst>
          </p:cNvPr>
          <p:cNvCxnSpPr>
            <a:cxnSpLocks/>
            <a:endCxn id="32" idx="0"/>
          </p:cNvCxnSpPr>
          <p:nvPr/>
        </p:nvCxnSpPr>
        <p:spPr>
          <a:xfrm>
            <a:off x="11115032" y="5642964"/>
            <a:ext cx="0" cy="264196"/>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E7FBE64F-48C5-3445-A705-3585FFC27A81}"/>
              </a:ext>
            </a:extLst>
          </p:cNvPr>
          <p:cNvCxnSpPr>
            <a:cxnSpLocks/>
          </p:cNvCxnSpPr>
          <p:nvPr/>
        </p:nvCxnSpPr>
        <p:spPr>
          <a:xfrm flipH="1">
            <a:off x="11097075" y="4276824"/>
            <a:ext cx="5609" cy="300061"/>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0E9BEB0F-F6AB-D14C-AA7C-F8C362827398}"/>
              </a:ext>
            </a:extLst>
          </p:cNvPr>
          <p:cNvCxnSpPr>
            <a:cxnSpLocks/>
            <a:stCxn id="29" idx="2"/>
            <a:endCxn id="42" idx="0"/>
          </p:cNvCxnSpPr>
          <p:nvPr/>
        </p:nvCxnSpPr>
        <p:spPr>
          <a:xfrm>
            <a:off x="8748807" y="4964543"/>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D5E41403-C4A0-4D4C-8612-2848F97625CD}"/>
              </a:ext>
            </a:extLst>
          </p:cNvPr>
          <p:cNvSpPr txBox="1"/>
          <p:nvPr/>
        </p:nvSpPr>
        <p:spPr>
          <a:xfrm>
            <a:off x="8390821" y="5207432"/>
            <a:ext cx="735779" cy="369332"/>
          </a:xfrm>
          <a:prstGeom prst="rect">
            <a:avLst/>
          </a:prstGeom>
          <a:noFill/>
        </p:spPr>
        <p:txBody>
          <a:bodyPr wrap="none" rtlCol="0">
            <a:spAutoFit/>
          </a:bodyPr>
          <a:lstStyle/>
          <a:p>
            <a:r>
              <a:rPr lang="en-US" dirty="0"/>
              <a:t>factor</a:t>
            </a:r>
          </a:p>
        </p:txBody>
      </p:sp>
      <p:cxnSp>
        <p:nvCxnSpPr>
          <p:cNvPr id="46" name="Straight Connector 45">
            <a:extLst>
              <a:ext uri="{FF2B5EF4-FFF2-40B4-BE49-F238E27FC236}">
                <a16:creationId xmlns:a16="http://schemas.microsoft.com/office/drawing/2014/main" id="{614A3599-6266-194B-A062-C993C27C06A8}"/>
              </a:ext>
            </a:extLst>
          </p:cNvPr>
          <p:cNvCxnSpPr>
            <a:cxnSpLocks/>
            <a:endCxn id="47" idx="0"/>
          </p:cNvCxnSpPr>
          <p:nvPr/>
        </p:nvCxnSpPr>
        <p:spPr>
          <a:xfrm>
            <a:off x="11070339" y="4886852"/>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F1C7E270-ED72-8040-87BF-6441A4678689}"/>
              </a:ext>
            </a:extLst>
          </p:cNvPr>
          <p:cNvSpPr txBox="1"/>
          <p:nvPr/>
        </p:nvSpPr>
        <p:spPr>
          <a:xfrm>
            <a:off x="10712353" y="5129741"/>
            <a:ext cx="735779" cy="369332"/>
          </a:xfrm>
          <a:prstGeom prst="rect">
            <a:avLst/>
          </a:prstGeom>
          <a:noFill/>
        </p:spPr>
        <p:txBody>
          <a:bodyPr wrap="none" rtlCol="0">
            <a:spAutoFit/>
          </a:bodyPr>
          <a:lstStyle/>
          <a:p>
            <a:r>
              <a:rPr lang="en-US" dirty="0"/>
              <a:t>factor</a:t>
            </a:r>
          </a:p>
        </p:txBody>
      </p:sp>
      <p:sp>
        <p:nvSpPr>
          <p:cNvPr id="36" name="TextBox 35">
            <a:extLst>
              <a:ext uri="{FF2B5EF4-FFF2-40B4-BE49-F238E27FC236}">
                <a16:creationId xmlns:a16="http://schemas.microsoft.com/office/drawing/2014/main" id="{5EC1923B-CC00-F54F-B58B-2CBADA324DE1}"/>
              </a:ext>
            </a:extLst>
          </p:cNvPr>
          <p:cNvSpPr txBox="1"/>
          <p:nvPr/>
        </p:nvSpPr>
        <p:spPr>
          <a:xfrm>
            <a:off x="3337704" y="1941731"/>
            <a:ext cx="597984" cy="369332"/>
          </a:xfrm>
          <a:prstGeom prst="rect">
            <a:avLst/>
          </a:prstGeom>
          <a:noFill/>
        </p:spPr>
        <p:txBody>
          <a:bodyPr wrap="none" rtlCol="0">
            <a:spAutoFit/>
          </a:bodyPr>
          <a:lstStyle/>
          <a:p>
            <a:r>
              <a:rPr lang="en-US" dirty="0"/>
              <a:t>expr</a:t>
            </a:r>
          </a:p>
        </p:txBody>
      </p:sp>
      <p:cxnSp>
        <p:nvCxnSpPr>
          <p:cNvPr id="37" name="Straight Connector 36">
            <a:extLst>
              <a:ext uri="{FF2B5EF4-FFF2-40B4-BE49-F238E27FC236}">
                <a16:creationId xmlns:a16="http://schemas.microsoft.com/office/drawing/2014/main" id="{3BEC7F16-A435-7C43-9D5A-1A75CBD13DBE}"/>
              </a:ext>
            </a:extLst>
          </p:cNvPr>
          <p:cNvCxnSpPr>
            <a:cxnSpLocks/>
            <a:stCxn id="36" idx="2"/>
            <a:endCxn id="38" idx="0"/>
          </p:cNvCxnSpPr>
          <p:nvPr/>
        </p:nvCxnSpPr>
        <p:spPr>
          <a:xfrm flipH="1">
            <a:off x="2001800" y="2311063"/>
            <a:ext cx="1634896" cy="536644"/>
          </a:xfrm>
          <a:prstGeom prst="line">
            <a:avLst/>
          </a:prstGeom>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38EE1F56-B098-B34B-BF7A-EF753C1D22C6}"/>
              </a:ext>
            </a:extLst>
          </p:cNvPr>
          <p:cNvSpPr txBox="1"/>
          <p:nvPr/>
        </p:nvSpPr>
        <p:spPr>
          <a:xfrm>
            <a:off x="1702808" y="2847707"/>
            <a:ext cx="597984" cy="369332"/>
          </a:xfrm>
          <a:prstGeom prst="rect">
            <a:avLst/>
          </a:prstGeom>
          <a:noFill/>
        </p:spPr>
        <p:txBody>
          <a:bodyPr wrap="none" rtlCol="0">
            <a:spAutoFit/>
          </a:bodyPr>
          <a:lstStyle/>
          <a:p>
            <a:r>
              <a:rPr lang="en-US" dirty="0"/>
              <a:t>expr</a:t>
            </a:r>
          </a:p>
        </p:txBody>
      </p:sp>
      <p:cxnSp>
        <p:nvCxnSpPr>
          <p:cNvPr id="39" name="Straight Connector 38">
            <a:extLst>
              <a:ext uri="{FF2B5EF4-FFF2-40B4-BE49-F238E27FC236}">
                <a16:creationId xmlns:a16="http://schemas.microsoft.com/office/drawing/2014/main" id="{130EC886-051B-1248-823D-2EB736133459}"/>
              </a:ext>
            </a:extLst>
          </p:cNvPr>
          <p:cNvCxnSpPr>
            <a:cxnSpLocks/>
            <a:stCxn id="36" idx="2"/>
            <a:endCxn id="43" idx="0"/>
          </p:cNvCxnSpPr>
          <p:nvPr/>
        </p:nvCxnSpPr>
        <p:spPr>
          <a:xfrm>
            <a:off x="3636696" y="2311063"/>
            <a:ext cx="0" cy="554837"/>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4952DEB2-6A92-8541-ACE1-DDEDA7B9D118}"/>
              </a:ext>
            </a:extLst>
          </p:cNvPr>
          <p:cNvCxnSpPr>
            <a:cxnSpLocks/>
            <a:stCxn id="36" idx="2"/>
            <a:endCxn id="44" idx="0"/>
          </p:cNvCxnSpPr>
          <p:nvPr/>
        </p:nvCxnSpPr>
        <p:spPr>
          <a:xfrm>
            <a:off x="3636696" y="2311063"/>
            <a:ext cx="1057341" cy="536644"/>
          </a:xfrm>
          <a:prstGeom prst="line">
            <a:avLst/>
          </a:prstGeom>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1A9C10E0-8E1E-5748-91F2-5B29E549D1D6}"/>
              </a:ext>
            </a:extLst>
          </p:cNvPr>
          <p:cNvSpPr txBox="1"/>
          <p:nvPr/>
        </p:nvSpPr>
        <p:spPr>
          <a:xfrm>
            <a:off x="3196575" y="2865900"/>
            <a:ext cx="880241" cy="369332"/>
          </a:xfrm>
          <a:prstGeom prst="rect">
            <a:avLst/>
          </a:prstGeom>
          <a:noFill/>
        </p:spPr>
        <p:txBody>
          <a:bodyPr wrap="none" rtlCol="0">
            <a:spAutoFit/>
          </a:bodyPr>
          <a:lstStyle/>
          <a:p>
            <a:r>
              <a:rPr lang="en-US" dirty="0"/>
              <a:t>&lt;PLUS&gt;</a:t>
            </a:r>
          </a:p>
        </p:txBody>
      </p:sp>
      <p:sp>
        <p:nvSpPr>
          <p:cNvPr id="44" name="TextBox 43">
            <a:extLst>
              <a:ext uri="{FF2B5EF4-FFF2-40B4-BE49-F238E27FC236}">
                <a16:creationId xmlns:a16="http://schemas.microsoft.com/office/drawing/2014/main" id="{D7CA5CA2-4EA4-3B4E-9A91-6DDCD6F71A20}"/>
              </a:ext>
            </a:extLst>
          </p:cNvPr>
          <p:cNvSpPr txBox="1"/>
          <p:nvPr/>
        </p:nvSpPr>
        <p:spPr>
          <a:xfrm>
            <a:off x="4395045" y="2847707"/>
            <a:ext cx="597984" cy="369332"/>
          </a:xfrm>
          <a:prstGeom prst="rect">
            <a:avLst/>
          </a:prstGeom>
          <a:noFill/>
        </p:spPr>
        <p:txBody>
          <a:bodyPr wrap="none" rtlCol="0">
            <a:spAutoFit/>
          </a:bodyPr>
          <a:lstStyle/>
          <a:p>
            <a:r>
              <a:rPr lang="en-US" dirty="0"/>
              <a:t>expr</a:t>
            </a:r>
          </a:p>
        </p:txBody>
      </p:sp>
      <p:cxnSp>
        <p:nvCxnSpPr>
          <p:cNvPr id="49" name="Straight Connector 48">
            <a:extLst>
              <a:ext uri="{FF2B5EF4-FFF2-40B4-BE49-F238E27FC236}">
                <a16:creationId xmlns:a16="http://schemas.microsoft.com/office/drawing/2014/main" id="{2737F467-DD3B-464D-AB7C-48ADAE9C7A75}"/>
              </a:ext>
            </a:extLst>
          </p:cNvPr>
          <p:cNvCxnSpPr>
            <a:cxnSpLocks/>
          </p:cNvCxnSpPr>
          <p:nvPr/>
        </p:nvCxnSpPr>
        <p:spPr>
          <a:xfrm flipH="1">
            <a:off x="704643" y="3275108"/>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3B3C027E-6CAD-874A-BA4C-D4BDE373AB42}"/>
              </a:ext>
            </a:extLst>
          </p:cNvPr>
          <p:cNvCxnSpPr>
            <a:cxnSpLocks/>
          </p:cNvCxnSpPr>
          <p:nvPr/>
        </p:nvCxnSpPr>
        <p:spPr>
          <a:xfrm>
            <a:off x="1929016" y="3275108"/>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1ED3D8CF-46C2-074A-B667-A1B26D7A6839}"/>
              </a:ext>
            </a:extLst>
          </p:cNvPr>
          <p:cNvCxnSpPr>
            <a:cxnSpLocks/>
          </p:cNvCxnSpPr>
          <p:nvPr/>
        </p:nvCxnSpPr>
        <p:spPr>
          <a:xfrm>
            <a:off x="1929016" y="3275108"/>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41C57070-1823-F445-9473-2FC7F87656AF}"/>
              </a:ext>
            </a:extLst>
          </p:cNvPr>
          <p:cNvSpPr txBox="1"/>
          <p:nvPr/>
        </p:nvSpPr>
        <p:spPr>
          <a:xfrm>
            <a:off x="1471443" y="3742210"/>
            <a:ext cx="880241" cy="369332"/>
          </a:xfrm>
          <a:prstGeom prst="rect">
            <a:avLst/>
          </a:prstGeom>
          <a:noFill/>
        </p:spPr>
        <p:txBody>
          <a:bodyPr wrap="none" rtlCol="0">
            <a:spAutoFit/>
          </a:bodyPr>
          <a:lstStyle/>
          <a:p>
            <a:r>
              <a:rPr lang="en-US" dirty="0"/>
              <a:t>&lt;PLUS&gt;</a:t>
            </a:r>
          </a:p>
        </p:txBody>
      </p:sp>
      <p:sp>
        <p:nvSpPr>
          <p:cNvPr id="53" name="TextBox 52">
            <a:extLst>
              <a:ext uri="{FF2B5EF4-FFF2-40B4-BE49-F238E27FC236}">
                <a16:creationId xmlns:a16="http://schemas.microsoft.com/office/drawing/2014/main" id="{96253B0E-0EC6-3148-A7AA-7554864A0EED}"/>
              </a:ext>
            </a:extLst>
          </p:cNvPr>
          <p:cNvSpPr txBox="1"/>
          <p:nvPr/>
        </p:nvSpPr>
        <p:spPr>
          <a:xfrm>
            <a:off x="405651" y="3710817"/>
            <a:ext cx="597984" cy="369332"/>
          </a:xfrm>
          <a:prstGeom prst="rect">
            <a:avLst/>
          </a:prstGeom>
          <a:noFill/>
        </p:spPr>
        <p:txBody>
          <a:bodyPr wrap="none" rtlCol="0">
            <a:spAutoFit/>
          </a:bodyPr>
          <a:lstStyle/>
          <a:p>
            <a:r>
              <a:rPr lang="en-US" dirty="0"/>
              <a:t>expr</a:t>
            </a:r>
          </a:p>
        </p:txBody>
      </p:sp>
      <p:sp>
        <p:nvSpPr>
          <p:cNvPr id="54" name="TextBox 53">
            <a:extLst>
              <a:ext uri="{FF2B5EF4-FFF2-40B4-BE49-F238E27FC236}">
                <a16:creationId xmlns:a16="http://schemas.microsoft.com/office/drawing/2014/main" id="{E8D89358-50D5-5149-9D7E-12BE25096FA6}"/>
              </a:ext>
            </a:extLst>
          </p:cNvPr>
          <p:cNvSpPr txBox="1"/>
          <p:nvPr/>
        </p:nvSpPr>
        <p:spPr>
          <a:xfrm>
            <a:off x="2727183" y="3710817"/>
            <a:ext cx="597984" cy="369332"/>
          </a:xfrm>
          <a:prstGeom prst="rect">
            <a:avLst/>
          </a:prstGeom>
          <a:noFill/>
        </p:spPr>
        <p:txBody>
          <a:bodyPr wrap="none" rtlCol="0">
            <a:spAutoFit/>
          </a:bodyPr>
          <a:lstStyle/>
          <a:p>
            <a:r>
              <a:rPr lang="en-US" dirty="0"/>
              <a:t>expr</a:t>
            </a:r>
          </a:p>
        </p:txBody>
      </p:sp>
      <p:sp>
        <p:nvSpPr>
          <p:cNvPr id="59" name="TextBox 58">
            <a:extLst>
              <a:ext uri="{FF2B5EF4-FFF2-40B4-BE49-F238E27FC236}">
                <a16:creationId xmlns:a16="http://schemas.microsoft.com/office/drawing/2014/main" id="{4BB51672-AA26-1342-9E90-03C0F97FFA09}"/>
              </a:ext>
            </a:extLst>
          </p:cNvPr>
          <p:cNvSpPr txBox="1"/>
          <p:nvPr/>
        </p:nvSpPr>
        <p:spPr>
          <a:xfrm>
            <a:off x="169084" y="5722494"/>
            <a:ext cx="1136850" cy="369332"/>
          </a:xfrm>
          <a:prstGeom prst="rect">
            <a:avLst/>
          </a:prstGeom>
          <a:noFill/>
        </p:spPr>
        <p:txBody>
          <a:bodyPr wrap="none" rtlCol="0">
            <a:spAutoFit/>
          </a:bodyPr>
          <a:lstStyle/>
          <a:p>
            <a:r>
              <a:rPr lang="en-US" dirty="0"/>
              <a:t>&lt;NUM, 2&gt;</a:t>
            </a:r>
          </a:p>
        </p:txBody>
      </p:sp>
      <p:sp>
        <p:nvSpPr>
          <p:cNvPr id="60" name="TextBox 59">
            <a:extLst>
              <a:ext uri="{FF2B5EF4-FFF2-40B4-BE49-F238E27FC236}">
                <a16:creationId xmlns:a16="http://schemas.microsoft.com/office/drawing/2014/main" id="{C1BB3498-EE54-8746-A272-5AD0BED142DC}"/>
              </a:ext>
            </a:extLst>
          </p:cNvPr>
          <p:cNvSpPr txBox="1"/>
          <p:nvPr/>
        </p:nvSpPr>
        <p:spPr>
          <a:xfrm>
            <a:off x="375228" y="4410545"/>
            <a:ext cx="639021" cy="369332"/>
          </a:xfrm>
          <a:prstGeom prst="rect">
            <a:avLst/>
          </a:prstGeom>
          <a:noFill/>
        </p:spPr>
        <p:txBody>
          <a:bodyPr wrap="none" rtlCol="0">
            <a:spAutoFit/>
          </a:bodyPr>
          <a:lstStyle/>
          <a:p>
            <a:r>
              <a:rPr lang="en-US" dirty="0"/>
              <a:t>term</a:t>
            </a:r>
          </a:p>
        </p:txBody>
      </p:sp>
      <p:cxnSp>
        <p:nvCxnSpPr>
          <p:cNvPr id="61" name="Straight Connector 60">
            <a:extLst>
              <a:ext uri="{FF2B5EF4-FFF2-40B4-BE49-F238E27FC236}">
                <a16:creationId xmlns:a16="http://schemas.microsoft.com/office/drawing/2014/main" id="{FD6F8D07-D95A-5448-B1DF-6BD3C103C7EB}"/>
              </a:ext>
            </a:extLst>
          </p:cNvPr>
          <p:cNvCxnSpPr>
            <a:cxnSpLocks/>
            <a:endCxn id="59" idx="0"/>
          </p:cNvCxnSpPr>
          <p:nvPr/>
        </p:nvCxnSpPr>
        <p:spPr>
          <a:xfrm flipH="1">
            <a:off x="737509" y="5413801"/>
            <a:ext cx="1" cy="308693"/>
          </a:xfrm>
          <a:prstGeom prst="line">
            <a:avLst/>
          </a:prstGeom>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A86DCAF7-69E6-834A-AE6E-0FE38CEA85BA}"/>
              </a:ext>
            </a:extLst>
          </p:cNvPr>
          <p:cNvCxnSpPr>
            <a:cxnSpLocks/>
          </p:cNvCxnSpPr>
          <p:nvPr/>
        </p:nvCxnSpPr>
        <p:spPr>
          <a:xfrm flipH="1">
            <a:off x="719552" y="4092158"/>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BD57399C-B201-B746-8DE0-BCBE79A9AA7E}"/>
              </a:ext>
            </a:extLst>
          </p:cNvPr>
          <p:cNvSpPr txBox="1"/>
          <p:nvPr/>
        </p:nvSpPr>
        <p:spPr>
          <a:xfrm>
            <a:off x="2492539" y="5722494"/>
            <a:ext cx="1136850" cy="369332"/>
          </a:xfrm>
          <a:prstGeom prst="rect">
            <a:avLst/>
          </a:prstGeom>
          <a:noFill/>
        </p:spPr>
        <p:txBody>
          <a:bodyPr wrap="none" rtlCol="0">
            <a:spAutoFit/>
          </a:bodyPr>
          <a:lstStyle/>
          <a:p>
            <a:r>
              <a:rPr lang="en-US" dirty="0"/>
              <a:t>&lt;NUM, 3&gt;</a:t>
            </a:r>
          </a:p>
        </p:txBody>
      </p:sp>
      <p:sp>
        <p:nvSpPr>
          <p:cNvPr id="64" name="TextBox 63">
            <a:extLst>
              <a:ext uri="{FF2B5EF4-FFF2-40B4-BE49-F238E27FC236}">
                <a16:creationId xmlns:a16="http://schemas.microsoft.com/office/drawing/2014/main" id="{2026449A-B7B4-B146-92E2-AEC4902CF791}"/>
              </a:ext>
            </a:extLst>
          </p:cNvPr>
          <p:cNvSpPr txBox="1"/>
          <p:nvPr/>
        </p:nvSpPr>
        <p:spPr>
          <a:xfrm>
            <a:off x="2698683" y="4410545"/>
            <a:ext cx="639021" cy="369332"/>
          </a:xfrm>
          <a:prstGeom prst="rect">
            <a:avLst/>
          </a:prstGeom>
          <a:noFill/>
        </p:spPr>
        <p:txBody>
          <a:bodyPr wrap="none" rtlCol="0">
            <a:spAutoFit/>
          </a:bodyPr>
          <a:lstStyle/>
          <a:p>
            <a:r>
              <a:rPr lang="en-US" dirty="0"/>
              <a:t>term</a:t>
            </a:r>
          </a:p>
        </p:txBody>
      </p:sp>
      <p:cxnSp>
        <p:nvCxnSpPr>
          <p:cNvPr id="65" name="Straight Connector 64">
            <a:extLst>
              <a:ext uri="{FF2B5EF4-FFF2-40B4-BE49-F238E27FC236}">
                <a16:creationId xmlns:a16="http://schemas.microsoft.com/office/drawing/2014/main" id="{8C04012A-4FA5-6B44-80E4-9A7BFA02A83B}"/>
              </a:ext>
            </a:extLst>
          </p:cNvPr>
          <p:cNvCxnSpPr>
            <a:cxnSpLocks/>
            <a:endCxn id="63" idx="0"/>
          </p:cNvCxnSpPr>
          <p:nvPr/>
        </p:nvCxnSpPr>
        <p:spPr>
          <a:xfrm flipH="1">
            <a:off x="3060964" y="5458298"/>
            <a:ext cx="1" cy="264196"/>
          </a:xfrm>
          <a:prstGeom prst="line">
            <a:avLst/>
          </a:prstGeom>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A93561DF-98DF-A440-B8EE-AB89FE1FA19E}"/>
              </a:ext>
            </a:extLst>
          </p:cNvPr>
          <p:cNvCxnSpPr>
            <a:cxnSpLocks/>
          </p:cNvCxnSpPr>
          <p:nvPr/>
        </p:nvCxnSpPr>
        <p:spPr>
          <a:xfrm flipH="1">
            <a:off x="3043007" y="4092158"/>
            <a:ext cx="5609" cy="300061"/>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Connector 66">
            <a:extLst>
              <a:ext uri="{FF2B5EF4-FFF2-40B4-BE49-F238E27FC236}">
                <a16:creationId xmlns:a16="http://schemas.microsoft.com/office/drawing/2014/main" id="{8AC93A18-FD63-3C49-B627-4ED0A6C07807}"/>
              </a:ext>
            </a:extLst>
          </p:cNvPr>
          <p:cNvCxnSpPr>
            <a:cxnSpLocks/>
            <a:stCxn id="60" idx="2"/>
            <a:endCxn id="68" idx="0"/>
          </p:cNvCxnSpPr>
          <p:nvPr/>
        </p:nvCxnSpPr>
        <p:spPr>
          <a:xfrm>
            <a:off x="694739" y="4779877"/>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68" name="TextBox 67">
            <a:extLst>
              <a:ext uri="{FF2B5EF4-FFF2-40B4-BE49-F238E27FC236}">
                <a16:creationId xmlns:a16="http://schemas.microsoft.com/office/drawing/2014/main" id="{4BACA7DC-06DF-1F42-9362-D172C7991887}"/>
              </a:ext>
            </a:extLst>
          </p:cNvPr>
          <p:cNvSpPr txBox="1"/>
          <p:nvPr/>
        </p:nvSpPr>
        <p:spPr>
          <a:xfrm>
            <a:off x="336753" y="5022766"/>
            <a:ext cx="735779" cy="369332"/>
          </a:xfrm>
          <a:prstGeom prst="rect">
            <a:avLst/>
          </a:prstGeom>
          <a:noFill/>
        </p:spPr>
        <p:txBody>
          <a:bodyPr wrap="none" rtlCol="0">
            <a:spAutoFit/>
          </a:bodyPr>
          <a:lstStyle/>
          <a:p>
            <a:r>
              <a:rPr lang="en-US" dirty="0"/>
              <a:t>factor</a:t>
            </a:r>
          </a:p>
        </p:txBody>
      </p:sp>
      <p:cxnSp>
        <p:nvCxnSpPr>
          <p:cNvPr id="69" name="Straight Connector 68">
            <a:extLst>
              <a:ext uri="{FF2B5EF4-FFF2-40B4-BE49-F238E27FC236}">
                <a16:creationId xmlns:a16="http://schemas.microsoft.com/office/drawing/2014/main" id="{03147EF5-1094-DF40-B87D-B68D07211B82}"/>
              </a:ext>
            </a:extLst>
          </p:cNvPr>
          <p:cNvCxnSpPr>
            <a:cxnSpLocks/>
            <a:endCxn id="70" idx="0"/>
          </p:cNvCxnSpPr>
          <p:nvPr/>
        </p:nvCxnSpPr>
        <p:spPr>
          <a:xfrm>
            <a:off x="3016271" y="4702186"/>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70" name="TextBox 69">
            <a:extLst>
              <a:ext uri="{FF2B5EF4-FFF2-40B4-BE49-F238E27FC236}">
                <a16:creationId xmlns:a16="http://schemas.microsoft.com/office/drawing/2014/main" id="{E3A4C9DB-E5C4-EE4E-B341-8806AFC0BC1A}"/>
              </a:ext>
            </a:extLst>
          </p:cNvPr>
          <p:cNvSpPr txBox="1"/>
          <p:nvPr/>
        </p:nvSpPr>
        <p:spPr>
          <a:xfrm>
            <a:off x="2658285" y="4945075"/>
            <a:ext cx="735779" cy="369332"/>
          </a:xfrm>
          <a:prstGeom prst="rect">
            <a:avLst/>
          </a:prstGeom>
          <a:noFill/>
        </p:spPr>
        <p:txBody>
          <a:bodyPr wrap="none" rtlCol="0">
            <a:spAutoFit/>
          </a:bodyPr>
          <a:lstStyle/>
          <a:p>
            <a:r>
              <a:rPr lang="en-US" dirty="0"/>
              <a:t>factor</a:t>
            </a:r>
          </a:p>
        </p:txBody>
      </p:sp>
      <p:sp>
        <p:nvSpPr>
          <p:cNvPr id="71" name="TextBox 70">
            <a:extLst>
              <a:ext uri="{FF2B5EF4-FFF2-40B4-BE49-F238E27FC236}">
                <a16:creationId xmlns:a16="http://schemas.microsoft.com/office/drawing/2014/main" id="{6E863AD3-AF58-9343-8A51-6AC7DA42C02D}"/>
              </a:ext>
            </a:extLst>
          </p:cNvPr>
          <p:cNvSpPr txBox="1"/>
          <p:nvPr/>
        </p:nvSpPr>
        <p:spPr>
          <a:xfrm>
            <a:off x="4108799" y="5194151"/>
            <a:ext cx="1136850" cy="369332"/>
          </a:xfrm>
          <a:prstGeom prst="rect">
            <a:avLst/>
          </a:prstGeom>
          <a:noFill/>
        </p:spPr>
        <p:txBody>
          <a:bodyPr wrap="none" rtlCol="0">
            <a:spAutoFit/>
          </a:bodyPr>
          <a:lstStyle/>
          <a:p>
            <a:r>
              <a:rPr lang="en-US" dirty="0"/>
              <a:t>&lt;NUM, 4&gt;</a:t>
            </a:r>
          </a:p>
        </p:txBody>
      </p:sp>
      <p:cxnSp>
        <p:nvCxnSpPr>
          <p:cNvPr id="72" name="Straight Connector 71">
            <a:extLst>
              <a:ext uri="{FF2B5EF4-FFF2-40B4-BE49-F238E27FC236}">
                <a16:creationId xmlns:a16="http://schemas.microsoft.com/office/drawing/2014/main" id="{1FB1C20C-FC64-DC4C-9330-6351C4E9B540}"/>
              </a:ext>
            </a:extLst>
          </p:cNvPr>
          <p:cNvCxnSpPr>
            <a:cxnSpLocks/>
            <a:endCxn id="73" idx="0"/>
          </p:cNvCxnSpPr>
          <p:nvPr/>
        </p:nvCxnSpPr>
        <p:spPr>
          <a:xfrm flipH="1">
            <a:off x="4682834" y="3201598"/>
            <a:ext cx="1442" cy="464578"/>
          </a:xfrm>
          <a:prstGeom prst="line">
            <a:avLst/>
          </a:prstGeom>
        </p:spPr>
        <p:style>
          <a:lnRef idx="1">
            <a:schemeClr val="dk1"/>
          </a:lnRef>
          <a:fillRef idx="0">
            <a:schemeClr val="dk1"/>
          </a:fillRef>
          <a:effectRef idx="0">
            <a:schemeClr val="dk1"/>
          </a:effectRef>
          <a:fontRef idx="minor">
            <a:schemeClr val="tx1"/>
          </a:fontRef>
        </p:style>
      </p:cxnSp>
      <p:sp>
        <p:nvSpPr>
          <p:cNvPr id="73" name="TextBox 72">
            <a:extLst>
              <a:ext uri="{FF2B5EF4-FFF2-40B4-BE49-F238E27FC236}">
                <a16:creationId xmlns:a16="http://schemas.microsoft.com/office/drawing/2014/main" id="{A5E35CF3-8A64-944D-AA44-CCB594F0C936}"/>
              </a:ext>
            </a:extLst>
          </p:cNvPr>
          <p:cNvSpPr txBox="1"/>
          <p:nvPr/>
        </p:nvSpPr>
        <p:spPr>
          <a:xfrm>
            <a:off x="4363323" y="3666176"/>
            <a:ext cx="639021" cy="369332"/>
          </a:xfrm>
          <a:prstGeom prst="rect">
            <a:avLst/>
          </a:prstGeom>
          <a:noFill/>
        </p:spPr>
        <p:txBody>
          <a:bodyPr wrap="none" rtlCol="0">
            <a:spAutoFit/>
          </a:bodyPr>
          <a:lstStyle/>
          <a:p>
            <a:r>
              <a:rPr lang="en-US" dirty="0"/>
              <a:t>term</a:t>
            </a:r>
          </a:p>
        </p:txBody>
      </p:sp>
      <p:cxnSp>
        <p:nvCxnSpPr>
          <p:cNvPr id="74" name="Straight Connector 73">
            <a:extLst>
              <a:ext uri="{FF2B5EF4-FFF2-40B4-BE49-F238E27FC236}">
                <a16:creationId xmlns:a16="http://schemas.microsoft.com/office/drawing/2014/main" id="{81C3E4BA-997F-AA4A-BB0F-E26D41A1AC4D}"/>
              </a:ext>
            </a:extLst>
          </p:cNvPr>
          <p:cNvCxnSpPr>
            <a:cxnSpLocks/>
            <a:stCxn id="73" idx="2"/>
            <a:endCxn id="75" idx="0"/>
          </p:cNvCxnSpPr>
          <p:nvPr/>
        </p:nvCxnSpPr>
        <p:spPr>
          <a:xfrm flipH="1">
            <a:off x="4682833" y="4035508"/>
            <a:ext cx="1" cy="489250"/>
          </a:xfrm>
          <a:prstGeom prst="line">
            <a:avLst/>
          </a:prstGeom>
        </p:spPr>
        <p:style>
          <a:lnRef idx="1">
            <a:schemeClr val="dk1"/>
          </a:lnRef>
          <a:fillRef idx="0">
            <a:schemeClr val="dk1"/>
          </a:fillRef>
          <a:effectRef idx="0">
            <a:schemeClr val="dk1"/>
          </a:effectRef>
          <a:fontRef idx="minor">
            <a:schemeClr val="tx1"/>
          </a:fontRef>
        </p:style>
      </p:cxnSp>
      <p:sp>
        <p:nvSpPr>
          <p:cNvPr id="75" name="TextBox 74">
            <a:extLst>
              <a:ext uri="{FF2B5EF4-FFF2-40B4-BE49-F238E27FC236}">
                <a16:creationId xmlns:a16="http://schemas.microsoft.com/office/drawing/2014/main" id="{3AECA206-BD9C-0C4C-ACFA-6ED75A7F6D50}"/>
              </a:ext>
            </a:extLst>
          </p:cNvPr>
          <p:cNvSpPr txBox="1"/>
          <p:nvPr/>
        </p:nvSpPr>
        <p:spPr>
          <a:xfrm>
            <a:off x="4314943" y="4524758"/>
            <a:ext cx="735779" cy="369332"/>
          </a:xfrm>
          <a:prstGeom prst="rect">
            <a:avLst/>
          </a:prstGeom>
          <a:noFill/>
        </p:spPr>
        <p:txBody>
          <a:bodyPr wrap="none" rtlCol="0">
            <a:spAutoFit/>
          </a:bodyPr>
          <a:lstStyle/>
          <a:p>
            <a:r>
              <a:rPr lang="en-US" dirty="0"/>
              <a:t>factor</a:t>
            </a:r>
          </a:p>
        </p:txBody>
      </p:sp>
      <p:cxnSp>
        <p:nvCxnSpPr>
          <p:cNvPr id="76" name="Straight Connector 75">
            <a:extLst>
              <a:ext uri="{FF2B5EF4-FFF2-40B4-BE49-F238E27FC236}">
                <a16:creationId xmlns:a16="http://schemas.microsoft.com/office/drawing/2014/main" id="{0ECCCB75-1593-BA4C-988E-981C8B8AF8D5}"/>
              </a:ext>
            </a:extLst>
          </p:cNvPr>
          <p:cNvCxnSpPr>
            <a:cxnSpLocks/>
            <a:stCxn id="75" idx="2"/>
            <a:endCxn id="71" idx="0"/>
          </p:cNvCxnSpPr>
          <p:nvPr/>
        </p:nvCxnSpPr>
        <p:spPr>
          <a:xfrm flipH="1">
            <a:off x="4677224" y="4894090"/>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0E9375D6-2140-CC4E-81AB-2AAC9912AE0D}"/>
              </a:ext>
            </a:extLst>
          </p:cNvPr>
          <p:cNvSpPr txBox="1"/>
          <p:nvPr/>
        </p:nvSpPr>
        <p:spPr>
          <a:xfrm>
            <a:off x="435242" y="1524075"/>
            <a:ext cx="2216761" cy="369332"/>
          </a:xfrm>
          <a:prstGeom prst="rect">
            <a:avLst/>
          </a:prstGeom>
          <a:noFill/>
        </p:spPr>
        <p:txBody>
          <a:bodyPr wrap="none" rtlCol="0">
            <a:spAutoFit/>
          </a:bodyPr>
          <a:lstStyle/>
          <a:p>
            <a:r>
              <a:rPr lang="en-US" i="1" dirty="0"/>
              <a:t>What about this one?</a:t>
            </a:r>
          </a:p>
        </p:txBody>
      </p:sp>
      <p:pic>
        <p:nvPicPr>
          <p:cNvPr id="3" name="Picture 2">
            <a:extLst>
              <a:ext uri="{FF2B5EF4-FFF2-40B4-BE49-F238E27FC236}">
                <a16:creationId xmlns:a16="http://schemas.microsoft.com/office/drawing/2014/main" id="{D2072D68-CBCE-23C2-51FD-F17A53385083}"/>
              </a:ext>
            </a:extLst>
          </p:cNvPr>
          <p:cNvPicPr>
            <a:picLocks noChangeAspect="1"/>
          </p:cNvPicPr>
          <p:nvPr/>
        </p:nvPicPr>
        <p:blipFill rotWithShape="1">
          <a:blip r:embed="rId2"/>
          <a:srcRect t="17048"/>
          <a:stretch/>
        </p:blipFill>
        <p:spPr>
          <a:xfrm>
            <a:off x="253848" y="569775"/>
            <a:ext cx="2565400" cy="779580"/>
          </a:xfrm>
          <a:prstGeom prst="rect">
            <a:avLst/>
          </a:prstGeom>
        </p:spPr>
      </p:pic>
      <p:sp>
        <p:nvSpPr>
          <p:cNvPr id="4" name="TextBox 3">
            <a:extLst>
              <a:ext uri="{FF2B5EF4-FFF2-40B4-BE49-F238E27FC236}">
                <a16:creationId xmlns:a16="http://schemas.microsoft.com/office/drawing/2014/main" id="{291255DF-5771-9369-B806-392B6E688ABA}"/>
              </a:ext>
            </a:extLst>
          </p:cNvPr>
          <p:cNvSpPr txBox="1"/>
          <p:nvPr/>
        </p:nvSpPr>
        <p:spPr>
          <a:xfrm>
            <a:off x="9536650" y="1219442"/>
            <a:ext cx="2489201" cy="1200329"/>
          </a:xfrm>
          <a:prstGeom prst="rect">
            <a:avLst/>
          </a:prstGeom>
          <a:noFill/>
        </p:spPr>
        <p:txBody>
          <a:bodyPr wrap="square" rtlCol="0">
            <a:spAutoFit/>
          </a:bodyPr>
          <a:lstStyle/>
          <a:p>
            <a:r>
              <a:rPr lang="en-US" i="1" dirty="0"/>
              <a:t>Doesn’t  allow an expression on the RHS.</a:t>
            </a:r>
            <a:br>
              <a:rPr lang="en-US" i="1" dirty="0"/>
            </a:br>
            <a:r>
              <a:rPr lang="en-US" i="1" dirty="0"/>
              <a:t>This parse tree is not allowed</a:t>
            </a:r>
          </a:p>
        </p:txBody>
      </p:sp>
      <p:sp>
        <p:nvSpPr>
          <p:cNvPr id="5" name="TextBox 4">
            <a:extLst>
              <a:ext uri="{FF2B5EF4-FFF2-40B4-BE49-F238E27FC236}">
                <a16:creationId xmlns:a16="http://schemas.microsoft.com/office/drawing/2014/main" id="{3991EF72-4498-D961-E2E2-6D24A3703AC8}"/>
              </a:ext>
            </a:extLst>
          </p:cNvPr>
          <p:cNvSpPr txBox="1"/>
          <p:nvPr/>
        </p:nvSpPr>
        <p:spPr>
          <a:xfrm>
            <a:off x="7427867" y="806274"/>
            <a:ext cx="1925908" cy="369332"/>
          </a:xfrm>
          <a:prstGeom prst="rect">
            <a:avLst/>
          </a:prstGeom>
          <a:noFill/>
        </p:spPr>
        <p:txBody>
          <a:bodyPr wrap="square" rtlCol="0">
            <a:spAutoFit/>
          </a:bodyPr>
          <a:lstStyle/>
          <a:p>
            <a:r>
              <a:rPr lang="en-US" dirty="0"/>
              <a:t>UNAMBIGUOUS</a:t>
            </a:r>
          </a:p>
        </p:txBody>
      </p:sp>
    </p:spTree>
    <p:extLst>
      <p:ext uri="{BB962C8B-B14F-4D97-AF65-F5344CB8AC3E}">
        <p14:creationId xmlns:p14="http://schemas.microsoft.com/office/powerpoint/2010/main" val="252254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581C384-93DB-0D44-BE61-8197A0709109}"/>
              </a:ext>
            </a:extLst>
          </p:cNvPr>
          <p:cNvSpPr txBox="1"/>
          <p:nvPr/>
        </p:nvSpPr>
        <p:spPr>
          <a:xfrm>
            <a:off x="3196575" y="595375"/>
            <a:ext cx="3147015" cy="584775"/>
          </a:xfrm>
          <a:prstGeom prst="rect">
            <a:avLst/>
          </a:prstGeom>
          <a:noFill/>
        </p:spPr>
        <p:txBody>
          <a:bodyPr wrap="none" rtlCol="0">
            <a:spAutoFit/>
          </a:bodyPr>
          <a:lstStyle/>
          <a:p>
            <a:r>
              <a:rPr lang="en-US" sz="3200" dirty="0">
                <a:latin typeface="Courier" pitchFamily="2" charset="0"/>
              </a:rPr>
              <a:t>input: 2+3+4</a:t>
            </a:r>
          </a:p>
        </p:txBody>
      </p:sp>
      <p:sp>
        <p:nvSpPr>
          <p:cNvPr id="7" name="TextBox 6">
            <a:extLst>
              <a:ext uri="{FF2B5EF4-FFF2-40B4-BE49-F238E27FC236}">
                <a16:creationId xmlns:a16="http://schemas.microsoft.com/office/drawing/2014/main" id="{1EF4FC3F-B8F7-EF4A-8F6B-AAFA31AB4690}"/>
              </a:ext>
            </a:extLst>
          </p:cNvPr>
          <p:cNvSpPr txBox="1"/>
          <p:nvPr/>
        </p:nvSpPr>
        <p:spPr>
          <a:xfrm>
            <a:off x="8635402" y="2181957"/>
            <a:ext cx="597984" cy="369332"/>
          </a:xfrm>
          <a:prstGeom prst="rect">
            <a:avLst/>
          </a:prstGeom>
          <a:noFill/>
        </p:spPr>
        <p:txBody>
          <a:bodyPr wrap="none" rtlCol="0">
            <a:spAutoFit/>
          </a:bodyPr>
          <a:lstStyle/>
          <a:p>
            <a:r>
              <a:rPr lang="en-US" dirty="0"/>
              <a:t>expr</a:t>
            </a:r>
          </a:p>
        </p:txBody>
      </p:sp>
      <p:cxnSp>
        <p:nvCxnSpPr>
          <p:cNvPr id="8" name="Straight Connector 7">
            <a:extLst>
              <a:ext uri="{FF2B5EF4-FFF2-40B4-BE49-F238E27FC236}">
                <a16:creationId xmlns:a16="http://schemas.microsoft.com/office/drawing/2014/main" id="{30141CE8-2344-0948-9E95-8E3D11DE2430}"/>
              </a:ext>
            </a:extLst>
          </p:cNvPr>
          <p:cNvCxnSpPr>
            <a:cxnSpLocks/>
            <a:stCxn id="7" idx="2"/>
            <a:endCxn id="9" idx="0"/>
          </p:cNvCxnSpPr>
          <p:nvPr/>
        </p:nvCxnSpPr>
        <p:spPr>
          <a:xfrm flipH="1">
            <a:off x="7299498" y="2551289"/>
            <a:ext cx="1634896" cy="536644"/>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E6D905BC-8176-5C4B-8283-5453872C6006}"/>
              </a:ext>
            </a:extLst>
          </p:cNvPr>
          <p:cNvSpPr txBox="1"/>
          <p:nvPr/>
        </p:nvSpPr>
        <p:spPr>
          <a:xfrm>
            <a:off x="7000506" y="3087933"/>
            <a:ext cx="597984" cy="369332"/>
          </a:xfrm>
          <a:prstGeom prst="rect">
            <a:avLst/>
          </a:prstGeom>
          <a:noFill/>
        </p:spPr>
        <p:txBody>
          <a:bodyPr wrap="none" rtlCol="0">
            <a:spAutoFit/>
          </a:bodyPr>
          <a:lstStyle/>
          <a:p>
            <a:r>
              <a:rPr lang="en-US" dirty="0"/>
              <a:t>expr</a:t>
            </a:r>
          </a:p>
        </p:txBody>
      </p:sp>
      <p:cxnSp>
        <p:nvCxnSpPr>
          <p:cNvPr id="10" name="Straight Connector 9">
            <a:extLst>
              <a:ext uri="{FF2B5EF4-FFF2-40B4-BE49-F238E27FC236}">
                <a16:creationId xmlns:a16="http://schemas.microsoft.com/office/drawing/2014/main" id="{0686B2F0-A92C-9842-99A5-BB5F68B3CB0F}"/>
              </a:ext>
            </a:extLst>
          </p:cNvPr>
          <p:cNvCxnSpPr>
            <a:cxnSpLocks/>
            <a:stCxn id="7" idx="2"/>
            <a:endCxn id="12" idx="0"/>
          </p:cNvCxnSpPr>
          <p:nvPr/>
        </p:nvCxnSpPr>
        <p:spPr>
          <a:xfrm>
            <a:off x="8934394" y="2551289"/>
            <a:ext cx="0" cy="554837"/>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B373421-B101-4546-B128-9E43278BD634}"/>
              </a:ext>
            </a:extLst>
          </p:cNvPr>
          <p:cNvCxnSpPr>
            <a:cxnSpLocks/>
            <a:stCxn id="7" idx="2"/>
            <a:endCxn id="13" idx="0"/>
          </p:cNvCxnSpPr>
          <p:nvPr/>
        </p:nvCxnSpPr>
        <p:spPr>
          <a:xfrm>
            <a:off x="8934394" y="2551289"/>
            <a:ext cx="1057341" cy="536644"/>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60AF16AA-22CD-FA4F-9F55-FCC38AD1D4BA}"/>
              </a:ext>
            </a:extLst>
          </p:cNvPr>
          <p:cNvSpPr txBox="1"/>
          <p:nvPr/>
        </p:nvSpPr>
        <p:spPr>
          <a:xfrm>
            <a:off x="8494273" y="3106126"/>
            <a:ext cx="880241" cy="369332"/>
          </a:xfrm>
          <a:prstGeom prst="rect">
            <a:avLst/>
          </a:prstGeom>
          <a:noFill/>
        </p:spPr>
        <p:txBody>
          <a:bodyPr wrap="none" rtlCol="0">
            <a:spAutoFit/>
          </a:bodyPr>
          <a:lstStyle/>
          <a:p>
            <a:r>
              <a:rPr lang="en-US" dirty="0"/>
              <a:t>&lt;PLUS&gt;</a:t>
            </a:r>
          </a:p>
        </p:txBody>
      </p:sp>
      <p:sp>
        <p:nvSpPr>
          <p:cNvPr id="13" name="TextBox 12">
            <a:extLst>
              <a:ext uri="{FF2B5EF4-FFF2-40B4-BE49-F238E27FC236}">
                <a16:creationId xmlns:a16="http://schemas.microsoft.com/office/drawing/2014/main" id="{BA6A98FD-3CE1-2241-952E-12AD71379DB0}"/>
              </a:ext>
            </a:extLst>
          </p:cNvPr>
          <p:cNvSpPr txBox="1"/>
          <p:nvPr/>
        </p:nvSpPr>
        <p:spPr>
          <a:xfrm>
            <a:off x="9692743" y="3087933"/>
            <a:ext cx="597984" cy="369332"/>
          </a:xfrm>
          <a:prstGeom prst="rect">
            <a:avLst/>
          </a:prstGeom>
          <a:noFill/>
        </p:spPr>
        <p:txBody>
          <a:bodyPr wrap="none" rtlCol="0">
            <a:spAutoFit/>
          </a:bodyPr>
          <a:lstStyle/>
          <a:p>
            <a:r>
              <a:rPr lang="en-US" dirty="0"/>
              <a:t>expr</a:t>
            </a:r>
          </a:p>
        </p:txBody>
      </p:sp>
      <p:sp>
        <p:nvSpPr>
          <p:cNvPr id="14" name="TextBox 13">
            <a:extLst>
              <a:ext uri="{FF2B5EF4-FFF2-40B4-BE49-F238E27FC236}">
                <a16:creationId xmlns:a16="http://schemas.microsoft.com/office/drawing/2014/main" id="{66D518E2-D041-B54A-BAFD-9F3EB0B79156}"/>
              </a:ext>
            </a:extLst>
          </p:cNvPr>
          <p:cNvSpPr txBox="1"/>
          <p:nvPr/>
        </p:nvSpPr>
        <p:spPr>
          <a:xfrm>
            <a:off x="6724021" y="5469967"/>
            <a:ext cx="1136850" cy="369332"/>
          </a:xfrm>
          <a:prstGeom prst="rect">
            <a:avLst/>
          </a:prstGeom>
          <a:noFill/>
        </p:spPr>
        <p:txBody>
          <a:bodyPr wrap="none" rtlCol="0">
            <a:spAutoFit/>
          </a:bodyPr>
          <a:lstStyle/>
          <a:p>
            <a:r>
              <a:rPr lang="en-US" dirty="0"/>
              <a:t>&lt;NUM, 2&gt;</a:t>
            </a:r>
          </a:p>
        </p:txBody>
      </p:sp>
      <p:cxnSp>
        <p:nvCxnSpPr>
          <p:cNvPr id="15" name="Straight Connector 14">
            <a:extLst>
              <a:ext uri="{FF2B5EF4-FFF2-40B4-BE49-F238E27FC236}">
                <a16:creationId xmlns:a16="http://schemas.microsoft.com/office/drawing/2014/main" id="{7BE47221-BFFC-0243-AFE9-5C53FC906A1B}"/>
              </a:ext>
            </a:extLst>
          </p:cNvPr>
          <p:cNvCxnSpPr>
            <a:cxnSpLocks/>
            <a:endCxn id="22" idx="0"/>
          </p:cNvCxnSpPr>
          <p:nvPr/>
        </p:nvCxnSpPr>
        <p:spPr>
          <a:xfrm flipH="1">
            <a:off x="7298056" y="3477414"/>
            <a:ext cx="1442" cy="464578"/>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9807E1A-CE97-FF41-A2A5-7C3CB46AC284}"/>
              </a:ext>
            </a:extLst>
          </p:cNvPr>
          <p:cNvCxnSpPr>
            <a:cxnSpLocks/>
          </p:cNvCxnSpPr>
          <p:nvPr/>
        </p:nvCxnSpPr>
        <p:spPr>
          <a:xfrm flipH="1">
            <a:off x="8758711" y="3459774"/>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9DAF383E-DF34-F944-BC7F-24A207C0E665}"/>
              </a:ext>
            </a:extLst>
          </p:cNvPr>
          <p:cNvCxnSpPr>
            <a:cxnSpLocks/>
          </p:cNvCxnSpPr>
          <p:nvPr/>
        </p:nvCxnSpPr>
        <p:spPr>
          <a:xfrm>
            <a:off x="9983084" y="3459774"/>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8CA92CF3-16B2-3A46-9746-FE978094BA1D}"/>
              </a:ext>
            </a:extLst>
          </p:cNvPr>
          <p:cNvCxnSpPr>
            <a:cxnSpLocks/>
          </p:cNvCxnSpPr>
          <p:nvPr/>
        </p:nvCxnSpPr>
        <p:spPr>
          <a:xfrm>
            <a:off x="9983084" y="3459774"/>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5173FE82-5C9F-3B48-8EAE-3B7CB4B7E7F6}"/>
              </a:ext>
            </a:extLst>
          </p:cNvPr>
          <p:cNvSpPr txBox="1"/>
          <p:nvPr/>
        </p:nvSpPr>
        <p:spPr>
          <a:xfrm>
            <a:off x="9525511" y="3926876"/>
            <a:ext cx="880241" cy="369332"/>
          </a:xfrm>
          <a:prstGeom prst="rect">
            <a:avLst/>
          </a:prstGeom>
          <a:noFill/>
        </p:spPr>
        <p:txBody>
          <a:bodyPr wrap="none" rtlCol="0">
            <a:spAutoFit/>
          </a:bodyPr>
          <a:lstStyle/>
          <a:p>
            <a:r>
              <a:rPr lang="en-US" dirty="0"/>
              <a:t>&lt;PLUS&gt;</a:t>
            </a:r>
          </a:p>
        </p:txBody>
      </p:sp>
      <p:sp>
        <p:nvSpPr>
          <p:cNvPr id="20" name="TextBox 19">
            <a:extLst>
              <a:ext uri="{FF2B5EF4-FFF2-40B4-BE49-F238E27FC236}">
                <a16:creationId xmlns:a16="http://schemas.microsoft.com/office/drawing/2014/main" id="{5F067DEE-CDD4-7E46-9949-17B518AA1F04}"/>
              </a:ext>
            </a:extLst>
          </p:cNvPr>
          <p:cNvSpPr txBox="1"/>
          <p:nvPr/>
        </p:nvSpPr>
        <p:spPr>
          <a:xfrm>
            <a:off x="8459719" y="3895483"/>
            <a:ext cx="597984" cy="369332"/>
          </a:xfrm>
          <a:prstGeom prst="rect">
            <a:avLst/>
          </a:prstGeom>
          <a:noFill/>
        </p:spPr>
        <p:txBody>
          <a:bodyPr wrap="none" rtlCol="0">
            <a:spAutoFit/>
          </a:bodyPr>
          <a:lstStyle/>
          <a:p>
            <a:r>
              <a:rPr lang="en-US" dirty="0"/>
              <a:t>expr</a:t>
            </a:r>
          </a:p>
        </p:txBody>
      </p:sp>
      <p:sp>
        <p:nvSpPr>
          <p:cNvPr id="21" name="TextBox 20">
            <a:extLst>
              <a:ext uri="{FF2B5EF4-FFF2-40B4-BE49-F238E27FC236}">
                <a16:creationId xmlns:a16="http://schemas.microsoft.com/office/drawing/2014/main" id="{4CCBC7C3-3B2D-8846-922F-FFE276D95ACE}"/>
              </a:ext>
            </a:extLst>
          </p:cNvPr>
          <p:cNvSpPr txBox="1"/>
          <p:nvPr/>
        </p:nvSpPr>
        <p:spPr>
          <a:xfrm>
            <a:off x="10781251" y="3895483"/>
            <a:ext cx="597984" cy="369332"/>
          </a:xfrm>
          <a:prstGeom prst="rect">
            <a:avLst/>
          </a:prstGeom>
          <a:noFill/>
        </p:spPr>
        <p:txBody>
          <a:bodyPr wrap="none" rtlCol="0">
            <a:spAutoFit/>
          </a:bodyPr>
          <a:lstStyle/>
          <a:p>
            <a:r>
              <a:rPr lang="en-US" dirty="0"/>
              <a:t>expr</a:t>
            </a:r>
          </a:p>
        </p:txBody>
      </p:sp>
      <p:sp>
        <p:nvSpPr>
          <p:cNvPr id="22" name="TextBox 21">
            <a:extLst>
              <a:ext uri="{FF2B5EF4-FFF2-40B4-BE49-F238E27FC236}">
                <a16:creationId xmlns:a16="http://schemas.microsoft.com/office/drawing/2014/main" id="{523078ED-048C-F640-ACD0-3E3AAD13C997}"/>
              </a:ext>
            </a:extLst>
          </p:cNvPr>
          <p:cNvSpPr txBox="1"/>
          <p:nvPr/>
        </p:nvSpPr>
        <p:spPr>
          <a:xfrm>
            <a:off x="6978545" y="3941992"/>
            <a:ext cx="639021" cy="369332"/>
          </a:xfrm>
          <a:prstGeom prst="rect">
            <a:avLst/>
          </a:prstGeom>
          <a:noFill/>
        </p:spPr>
        <p:txBody>
          <a:bodyPr wrap="none" rtlCol="0">
            <a:spAutoFit/>
          </a:bodyPr>
          <a:lstStyle/>
          <a:p>
            <a:r>
              <a:rPr lang="en-US" dirty="0"/>
              <a:t>term</a:t>
            </a:r>
          </a:p>
        </p:txBody>
      </p:sp>
      <p:cxnSp>
        <p:nvCxnSpPr>
          <p:cNvPr id="23" name="Straight Connector 22">
            <a:extLst>
              <a:ext uri="{FF2B5EF4-FFF2-40B4-BE49-F238E27FC236}">
                <a16:creationId xmlns:a16="http://schemas.microsoft.com/office/drawing/2014/main" id="{AD31FE39-303E-6A49-A3C2-0B76C241499E}"/>
              </a:ext>
            </a:extLst>
          </p:cNvPr>
          <p:cNvCxnSpPr>
            <a:cxnSpLocks/>
            <a:stCxn id="22" idx="2"/>
            <a:endCxn id="24" idx="0"/>
          </p:cNvCxnSpPr>
          <p:nvPr/>
        </p:nvCxnSpPr>
        <p:spPr>
          <a:xfrm flipH="1">
            <a:off x="7298055" y="4311324"/>
            <a:ext cx="1" cy="489250"/>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085D5B41-A14A-6947-AF22-039FD4CC5D3A}"/>
              </a:ext>
            </a:extLst>
          </p:cNvPr>
          <p:cNvSpPr txBox="1"/>
          <p:nvPr/>
        </p:nvSpPr>
        <p:spPr>
          <a:xfrm>
            <a:off x="6930165" y="4800574"/>
            <a:ext cx="735779" cy="369332"/>
          </a:xfrm>
          <a:prstGeom prst="rect">
            <a:avLst/>
          </a:prstGeom>
          <a:noFill/>
        </p:spPr>
        <p:txBody>
          <a:bodyPr wrap="none" rtlCol="0">
            <a:spAutoFit/>
          </a:bodyPr>
          <a:lstStyle/>
          <a:p>
            <a:r>
              <a:rPr lang="en-US" dirty="0"/>
              <a:t>factor</a:t>
            </a:r>
          </a:p>
        </p:txBody>
      </p:sp>
      <p:cxnSp>
        <p:nvCxnSpPr>
          <p:cNvPr id="25" name="Straight Connector 24">
            <a:extLst>
              <a:ext uri="{FF2B5EF4-FFF2-40B4-BE49-F238E27FC236}">
                <a16:creationId xmlns:a16="http://schemas.microsoft.com/office/drawing/2014/main" id="{C24A46DA-5EEF-E14F-98AC-75E996BC5908}"/>
              </a:ext>
            </a:extLst>
          </p:cNvPr>
          <p:cNvCxnSpPr>
            <a:cxnSpLocks/>
            <a:stCxn id="24" idx="2"/>
            <a:endCxn id="14" idx="0"/>
          </p:cNvCxnSpPr>
          <p:nvPr/>
        </p:nvCxnSpPr>
        <p:spPr>
          <a:xfrm flipH="1">
            <a:off x="7292446" y="5169906"/>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53922C26-78A1-2B41-8636-490EF1E8297B}"/>
              </a:ext>
            </a:extLst>
          </p:cNvPr>
          <p:cNvSpPr txBox="1"/>
          <p:nvPr/>
        </p:nvSpPr>
        <p:spPr>
          <a:xfrm>
            <a:off x="8223152" y="5907160"/>
            <a:ext cx="1136850" cy="369332"/>
          </a:xfrm>
          <a:prstGeom prst="rect">
            <a:avLst/>
          </a:prstGeom>
          <a:noFill/>
        </p:spPr>
        <p:txBody>
          <a:bodyPr wrap="none" rtlCol="0">
            <a:spAutoFit/>
          </a:bodyPr>
          <a:lstStyle/>
          <a:p>
            <a:r>
              <a:rPr lang="en-US" dirty="0"/>
              <a:t>&lt;NUM, 3&gt;</a:t>
            </a:r>
          </a:p>
        </p:txBody>
      </p:sp>
      <p:sp>
        <p:nvSpPr>
          <p:cNvPr id="29" name="TextBox 28">
            <a:extLst>
              <a:ext uri="{FF2B5EF4-FFF2-40B4-BE49-F238E27FC236}">
                <a16:creationId xmlns:a16="http://schemas.microsoft.com/office/drawing/2014/main" id="{797B625C-0EB6-C44A-B7B1-59D7A6B79F63}"/>
              </a:ext>
            </a:extLst>
          </p:cNvPr>
          <p:cNvSpPr txBox="1"/>
          <p:nvPr/>
        </p:nvSpPr>
        <p:spPr>
          <a:xfrm>
            <a:off x="8429296" y="4595211"/>
            <a:ext cx="639021" cy="369332"/>
          </a:xfrm>
          <a:prstGeom prst="rect">
            <a:avLst/>
          </a:prstGeom>
          <a:noFill/>
        </p:spPr>
        <p:txBody>
          <a:bodyPr wrap="none" rtlCol="0">
            <a:spAutoFit/>
          </a:bodyPr>
          <a:lstStyle/>
          <a:p>
            <a:r>
              <a:rPr lang="en-US" dirty="0"/>
              <a:t>term</a:t>
            </a:r>
          </a:p>
        </p:txBody>
      </p:sp>
      <p:cxnSp>
        <p:nvCxnSpPr>
          <p:cNvPr id="30" name="Straight Connector 29">
            <a:extLst>
              <a:ext uri="{FF2B5EF4-FFF2-40B4-BE49-F238E27FC236}">
                <a16:creationId xmlns:a16="http://schemas.microsoft.com/office/drawing/2014/main" id="{EFCE927F-6F2D-7C4E-A51D-683038842E00}"/>
              </a:ext>
            </a:extLst>
          </p:cNvPr>
          <p:cNvCxnSpPr>
            <a:cxnSpLocks/>
            <a:endCxn id="28" idx="0"/>
          </p:cNvCxnSpPr>
          <p:nvPr/>
        </p:nvCxnSpPr>
        <p:spPr>
          <a:xfrm>
            <a:off x="8791577" y="5598467"/>
            <a:ext cx="0" cy="308693"/>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3EF182C6-3A3A-5340-AECF-F5309B097F1B}"/>
              </a:ext>
            </a:extLst>
          </p:cNvPr>
          <p:cNvCxnSpPr>
            <a:cxnSpLocks/>
          </p:cNvCxnSpPr>
          <p:nvPr/>
        </p:nvCxnSpPr>
        <p:spPr>
          <a:xfrm flipH="1">
            <a:off x="8773620" y="4276824"/>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13C08319-763D-EC4A-85E5-A88DF4758EAC}"/>
              </a:ext>
            </a:extLst>
          </p:cNvPr>
          <p:cNvSpPr txBox="1"/>
          <p:nvPr/>
        </p:nvSpPr>
        <p:spPr>
          <a:xfrm>
            <a:off x="10546607" y="5907160"/>
            <a:ext cx="1136850" cy="369332"/>
          </a:xfrm>
          <a:prstGeom prst="rect">
            <a:avLst/>
          </a:prstGeom>
          <a:noFill/>
        </p:spPr>
        <p:txBody>
          <a:bodyPr wrap="none" rtlCol="0">
            <a:spAutoFit/>
          </a:bodyPr>
          <a:lstStyle/>
          <a:p>
            <a:r>
              <a:rPr lang="en-US" dirty="0"/>
              <a:t>&lt;NUM, 4&gt;</a:t>
            </a:r>
          </a:p>
        </p:txBody>
      </p:sp>
      <p:sp>
        <p:nvSpPr>
          <p:cNvPr id="33" name="TextBox 32">
            <a:extLst>
              <a:ext uri="{FF2B5EF4-FFF2-40B4-BE49-F238E27FC236}">
                <a16:creationId xmlns:a16="http://schemas.microsoft.com/office/drawing/2014/main" id="{9F2F9A8A-EA8C-4840-9B67-4CF2EB90B9E3}"/>
              </a:ext>
            </a:extLst>
          </p:cNvPr>
          <p:cNvSpPr txBox="1"/>
          <p:nvPr/>
        </p:nvSpPr>
        <p:spPr>
          <a:xfrm>
            <a:off x="10752751" y="4595211"/>
            <a:ext cx="639021" cy="369332"/>
          </a:xfrm>
          <a:prstGeom prst="rect">
            <a:avLst/>
          </a:prstGeom>
          <a:noFill/>
        </p:spPr>
        <p:txBody>
          <a:bodyPr wrap="none" rtlCol="0">
            <a:spAutoFit/>
          </a:bodyPr>
          <a:lstStyle/>
          <a:p>
            <a:r>
              <a:rPr lang="en-US" dirty="0"/>
              <a:t>term</a:t>
            </a:r>
          </a:p>
        </p:txBody>
      </p:sp>
      <p:cxnSp>
        <p:nvCxnSpPr>
          <p:cNvPr id="34" name="Straight Connector 33">
            <a:extLst>
              <a:ext uri="{FF2B5EF4-FFF2-40B4-BE49-F238E27FC236}">
                <a16:creationId xmlns:a16="http://schemas.microsoft.com/office/drawing/2014/main" id="{94B5E655-A336-324F-8040-8067BBACD221}"/>
              </a:ext>
            </a:extLst>
          </p:cNvPr>
          <p:cNvCxnSpPr>
            <a:cxnSpLocks/>
            <a:endCxn id="32" idx="0"/>
          </p:cNvCxnSpPr>
          <p:nvPr/>
        </p:nvCxnSpPr>
        <p:spPr>
          <a:xfrm>
            <a:off x="11115032" y="5642964"/>
            <a:ext cx="0" cy="264196"/>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E7FBE64F-48C5-3445-A705-3585FFC27A81}"/>
              </a:ext>
            </a:extLst>
          </p:cNvPr>
          <p:cNvCxnSpPr>
            <a:cxnSpLocks/>
          </p:cNvCxnSpPr>
          <p:nvPr/>
        </p:nvCxnSpPr>
        <p:spPr>
          <a:xfrm flipH="1">
            <a:off x="11097075" y="4276824"/>
            <a:ext cx="5609" cy="300061"/>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0E9BEB0F-F6AB-D14C-AA7C-F8C362827398}"/>
              </a:ext>
            </a:extLst>
          </p:cNvPr>
          <p:cNvCxnSpPr>
            <a:cxnSpLocks/>
            <a:stCxn id="29" idx="2"/>
            <a:endCxn id="42" idx="0"/>
          </p:cNvCxnSpPr>
          <p:nvPr/>
        </p:nvCxnSpPr>
        <p:spPr>
          <a:xfrm>
            <a:off x="8748807" y="4964543"/>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D5E41403-C4A0-4D4C-8612-2848F97625CD}"/>
              </a:ext>
            </a:extLst>
          </p:cNvPr>
          <p:cNvSpPr txBox="1"/>
          <p:nvPr/>
        </p:nvSpPr>
        <p:spPr>
          <a:xfrm>
            <a:off x="8390821" y="5207432"/>
            <a:ext cx="735779" cy="369332"/>
          </a:xfrm>
          <a:prstGeom prst="rect">
            <a:avLst/>
          </a:prstGeom>
          <a:noFill/>
        </p:spPr>
        <p:txBody>
          <a:bodyPr wrap="none" rtlCol="0">
            <a:spAutoFit/>
          </a:bodyPr>
          <a:lstStyle/>
          <a:p>
            <a:r>
              <a:rPr lang="en-US" dirty="0"/>
              <a:t>factor</a:t>
            </a:r>
          </a:p>
        </p:txBody>
      </p:sp>
      <p:cxnSp>
        <p:nvCxnSpPr>
          <p:cNvPr id="46" name="Straight Connector 45">
            <a:extLst>
              <a:ext uri="{FF2B5EF4-FFF2-40B4-BE49-F238E27FC236}">
                <a16:creationId xmlns:a16="http://schemas.microsoft.com/office/drawing/2014/main" id="{614A3599-6266-194B-A062-C993C27C06A8}"/>
              </a:ext>
            </a:extLst>
          </p:cNvPr>
          <p:cNvCxnSpPr>
            <a:cxnSpLocks/>
            <a:endCxn id="47" idx="0"/>
          </p:cNvCxnSpPr>
          <p:nvPr/>
        </p:nvCxnSpPr>
        <p:spPr>
          <a:xfrm>
            <a:off x="11070339" y="4886852"/>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F1C7E270-ED72-8040-87BF-6441A4678689}"/>
              </a:ext>
            </a:extLst>
          </p:cNvPr>
          <p:cNvSpPr txBox="1"/>
          <p:nvPr/>
        </p:nvSpPr>
        <p:spPr>
          <a:xfrm>
            <a:off x="10712353" y="5129741"/>
            <a:ext cx="735779" cy="369332"/>
          </a:xfrm>
          <a:prstGeom prst="rect">
            <a:avLst/>
          </a:prstGeom>
          <a:noFill/>
        </p:spPr>
        <p:txBody>
          <a:bodyPr wrap="none" rtlCol="0">
            <a:spAutoFit/>
          </a:bodyPr>
          <a:lstStyle/>
          <a:p>
            <a:r>
              <a:rPr lang="en-US" dirty="0"/>
              <a:t>factor</a:t>
            </a:r>
          </a:p>
        </p:txBody>
      </p:sp>
      <p:sp>
        <p:nvSpPr>
          <p:cNvPr id="36" name="TextBox 35">
            <a:extLst>
              <a:ext uri="{FF2B5EF4-FFF2-40B4-BE49-F238E27FC236}">
                <a16:creationId xmlns:a16="http://schemas.microsoft.com/office/drawing/2014/main" id="{5EC1923B-CC00-F54F-B58B-2CBADA324DE1}"/>
              </a:ext>
            </a:extLst>
          </p:cNvPr>
          <p:cNvSpPr txBox="1"/>
          <p:nvPr/>
        </p:nvSpPr>
        <p:spPr>
          <a:xfrm>
            <a:off x="3337704" y="1941731"/>
            <a:ext cx="597984" cy="369332"/>
          </a:xfrm>
          <a:prstGeom prst="rect">
            <a:avLst/>
          </a:prstGeom>
          <a:noFill/>
        </p:spPr>
        <p:txBody>
          <a:bodyPr wrap="none" rtlCol="0">
            <a:spAutoFit/>
          </a:bodyPr>
          <a:lstStyle/>
          <a:p>
            <a:r>
              <a:rPr lang="en-US" dirty="0"/>
              <a:t>expr</a:t>
            </a:r>
          </a:p>
        </p:txBody>
      </p:sp>
      <p:cxnSp>
        <p:nvCxnSpPr>
          <p:cNvPr id="37" name="Straight Connector 36">
            <a:extLst>
              <a:ext uri="{FF2B5EF4-FFF2-40B4-BE49-F238E27FC236}">
                <a16:creationId xmlns:a16="http://schemas.microsoft.com/office/drawing/2014/main" id="{3BEC7F16-A435-7C43-9D5A-1A75CBD13DBE}"/>
              </a:ext>
            </a:extLst>
          </p:cNvPr>
          <p:cNvCxnSpPr>
            <a:cxnSpLocks/>
            <a:stCxn id="36" idx="2"/>
            <a:endCxn id="38" idx="0"/>
          </p:cNvCxnSpPr>
          <p:nvPr/>
        </p:nvCxnSpPr>
        <p:spPr>
          <a:xfrm flipH="1">
            <a:off x="2001800" y="2311063"/>
            <a:ext cx="1634896" cy="536644"/>
          </a:xfrm>
          <a:prstGeom prst="line">
            <a:avLst/>
          </a:prstGeom>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38EE1F56-B098-B34B-BF7A-EF753C1D22C6}"/>
              </a:ext>
            </a:extLst>
          </p:cNvPr>
          <p:cNvSpPr txBox="1"/>
          <p:nvPr/>
        </p:nvSpPr>
        <p:spPr>
          <a:xfrm>
            <a:off x="1702808" y="2847707"/>
            <a:ext cx="597984" cy="369332"/>
          </a:xfrm>
          <a:prstGeom prst="rect">
            <a:avLst/>
          </a:prstGeom>
          <a:noFill/>
        </p:spPr>
        <p:txBody>
          <a:bodyPr wrap="none" rtlCol="0">
            <a:spAutoFit/>
          </a:bodyPr>
          <a:lstStyle/>
          <a:p>
            <a:r>
              <a:rPr lang="en-US" dirty="0"/>
              <a:t>expr</a:t>
            </a:r>
          </a:p>
        </p:txBody>
      </p:sp>
      <p:cxnSp>
        <p:nvCxnSpPr>
          <p:cNvPr id="39" name="Straight Connector 38">
            <a:extLst>
              <a:ext uri="{FF2B5EF4-FFF2-40B4-BE49-F238E27FC236}">
                <a16:creationId xmlns:a16="http://schemas.microsoft.com/office/drawing/2014/main" id="{130EC886-051B-1248-823D-2EB736133459}"/>
              </a:ext>
            </a:extLst>
          </p:cNvPr>
          <p:cNvCxnSpPr>
            <a:cxnSpLocks/>
            <a:stCxn id="36" idx="2"/>
            <a:endCxn id="43" idx="0"/>
          </p:cNvCxnSpPr>
          <p:nvPr/>
        </p:nvCxnSpPr>
        <p:spPr>
          <a:xfrm>
            <a:off x="3636696" y="2311063"/>
            <a:ext cx="0" cy="554837"/>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4952DEB2-6A92-8541-ACE1-DDEDA7B9D118}"/>
              </a:ext>
            </a:extLst>
          </p:cNvPr>
          <p:cNvCxnSpPr>
            <a:cxnSpLocks/>
            <a:stCxn id="36" idx="2"/>
            <a:endCxn id="44" idx="0"/>
          </p:cNvCxnSpPr>
          <p:nvPr/>
        </p:nvCxnSpPr>
        <p:spPr>
          <a:xfrm>
            <a:off x="3636696" y="2311063"/>
            <a:ext cx="1057341" cy="536644"/>
          </a:xfrm>
          <a:prstGeom prst="line">
            <a:avLst/>
          </a:prstGeom>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1A9C10E0-8E1E-5748-91F2-5B29E549D1D6}"/>
              </a:ext>
            </a:extLst>
          </p:cNvPr>
          <p:cNvSpPr txBox="1"/>
          <p:nvPr/>
        </p:nvSpPr>
        <p:spPr>
          <a:xfrm>
            <a:off x="3196575" y="2865900"/>
            <a:ext cx="880241" cy="369332"/>
          </a:xfrm>
          <a:prstGeom prst="rect">
            <a:avLst/>
          </a:prstGeom>
          <a:noFill/>
        </p:spPr>
        <p:txBody>
          <a:bodyPr wrap="none" rtlCol="0">
            <a:spAutoFit/>
          </a:bodyPr>
          <a:lstStyle/>
          <a:p>
            <a:r>
              <a:rPr lang="en-US" dirty="0"/>
              <a:t>&lt;PLUS&gt;</a:t>
            </a:r>
          </a:p>
        </p:txBody>
      </p:sp>
      <p:sp>
        <p:nvSpPr>
          <p:cNvPr id="44" name="TextBox 43">
            <a:extLst>
              <a:ext uri="{FF2B5EF4-FFF2-40B4-BE49-F238E27FC236}">
                <a16:creationId xmlns:a16="http://schemas.microsoft.com/office/drawing/2014/main" id="{D7CA5CA2-4EA4-3B4E-9A91-6DDCD6F71A20}"/>
              </a:ext>
            </a:extLst>
          </p:cNvPr>
          <p:cNvSpPr txBox="1"/>
          <p:nvPr/>
        </p:nvSpPr>
        <p:spPr>
          <a:xfrm>
            <a:off x="4395045" y="2847707"/>
            <a:ext cx="597984" cy="369332"/>
          </a:xfrm>
          <a:prstGeom prst="rect">
            <a:avLst/>
          </a:prstGeom>
          <a:noFill/>
        </p:spPr>
        <p:txBody>
          <a:bodyPr wrap="none" rtlCol="0">
            <a:spAutoFit/>
          </a:bodyPr>
          <a:lstStyle/>
          <a:p>
            <a:r>
              <a:rPr lang="en-US" dirty="0"/>
              <a:t>expr</a:t>
            </a:r>
          </a:p>
        </p:txBody>
      </p:sp>
      <p:cxnSp>
        <p:nvCxnSpPr>
          <p:cNvPr id="49" name="Straight Connector 48">
            <a:extLst>
              <a:ext uri="{FF2B5EF4-FFF2-40B4-BE49-F238E27FC236}">
                <a16:creationId xmlns:a16="http://schemas.microsoft.com/office/drawing/2014/main" id="{2737F467-DD3B-464D-AB7C-48ADAE9C7A75}"/>
              </a:ext>
            </a:extLst>
          </p:cNvPr>
          <p:cNvCxnSpPr>
            <a:cxnSpLocks/>
          </p:cNvCxnSpPr>
          <p:nvPr/>
        </p:nvCxnSpPr>
        <p:spPr>
          <a:xfrm flipH="1">
            <a:off x="704643" y="3275108"/>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3B3C027E-6CAD-874A-BA4C-D4BDE373AB42}"/>
              </a:ext>
            </a:extLst>
          </p:cNvPr>
          <p:cNvCxnSpPr>
            <a:cxnSpLocks/>
          </p:cNvCxnSpPr>
          <p:nvPr/>
        </p:nvCxnSpPr>
        <p:spPr>
          <a:xfrm>
            <a:off x="1929016" y="3275108"/>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1ED3D8CF-46C2-074A-B667-A1B26D7A6839}"/>
              </a:ext>
            </a:extLst>
          </p:cNvPr>
          <p:cNvCxnSpPr>
            <a:cxnSpLocks/>
          </p:cNvCxnSpPr>
          <p:nvPr/>
        </p:nvCxnSpPr>
        <p:spPr>
          <a:xfrm>
            <a:off x="1929016" y="3275108"/>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41C57070-1823-F445-9473-2FC7F87656AF}"/>
              </a:ext>
            </a:extLst>
          </p:cNvPr>
          <p:cNvSpPr txBox="1"/>
          <p:nvPr/>
        </p:nvSpPr>
        <p:spPr>
          <a:xfrm>
            <a:off x="1471443" y="3742210"/>
            <a:ext cx="880241" cy="369332"/>
          </a:xfrm>
          <a:prstGeom prst="rect">
            <a:avLst/>
          </a:prstGeom>
          <a:noFill/>
        </p:spPr>
        <p:txBody>
          <a:bodyPr wrap="none" rtlCol="0">
            <a:spAutoFit/>
          </a:bodyPr>
          <a:lstStyle/>
          <a:p>
            <a:r>
              <a:rPr lang="en-US" dirty="0"/>
              <a:t>&lt;PLUS&gt;</a:t>
            </a:r>
          </a:p>
        </p:txBody>
      </p:sp>
      <p:sp>
        <p:nvSpPr>
          <p:cNvPr id="53" name="TextBox 52">
            <a:extLst>
              <a:ext uri="{FF2B5EF4-FFF2-40B4-BE49-F238E27FC236}">
                <a16:creationId xmlns:a16="http://schemas.microsoft.com/office/drawing/2014/main" id="{96253B0E-0EC6-3148-A7AA-7554864A0EED}"/>
              </a:ext>
            </a:extLst>
          </p:cNvPr>
          <p:cNvSpPr txBox="1"/>
          <p:nvPr/>
        </p:nvSpPr>
        <p:spPr>
          <a:xfrm>
            <a:off x="405651" y="3710817"/>
            <a:ext cx="597984" cy="369332"/>
          </a:xfrm>
          <a:prstGeom prst="rect">
            <a:avLst/>
          </a:prstGeom>
          <a:noFill/>
        </p:spPr>
        <p:txBody>
          <a:bodyPr wrap="none" rtlCol="0">
            <a:spAutoFit/>
          </a:bodyPr>
          <a:lstStyle/>
          <a:p>
            <a:r>
              <a:rPr lang="en-US" dirty="0"/>
              <a:t>expr</a:t>
            </a:r>
          </a:p>
        </p:txBody>
      </p:sp>
      <p:sp>
        <p:nvSpPr>
          <p:cNvPr id="54" name="TextBox 53">
            <a:extLst>
              <a:ext uri="{FF2B5EF4-FFF2-40B4-BE49-F238E27FC236}">
                <a16:creationId xmlns:a16="http://schemas.microsoft.com/office/drawing/2014/main" id="{E8D89358-50D5-5149-9D7E-12BE25096FA6}"/>
              </a:ext>
            </a:extLst>
          </p:cNvPr>
          <p:cNvSpPr txBox="1"/>
          <p:nvPr/>
        </p:nvSpPr>
        <p:spPr>
          <a:xfrm>
            <a:off x="2727183" y="3710817"/>
            <a:ext cx="597984" cy="369332"/>
          </a:xfrm>
          <a:prstGeom prst="rect">
            <a:avLst/>
          </a:prstGeom>
          <a:noFill/>
        </p:spPr>
        <p:txBody>
          <a:bodyPr wrap="none" rtlCol="0">
            <a:spAutoFit/>
          </a:bodyPr>
          <a:lstStyle/>
          <a:p>
            <a:r>
              <a:rPr lang="en-US" dirty="0"/>
              <a:t>expr</a:t>
            </a:r>
          </a:p>
        </p:txBody>
      </p:sp>
      <p:sp>
        <p:nvSpPr>
          <p:cNvPr id="59" name="TextBox 58">
            <a:extLst>
              <a:ext uri="{FF2B5EF4-FFF2-40B4-BE49-F238E27FC236}">
                <a16:creationId xmlns:a16="http://schemas.microsoft.com/office/drawing/2014/main" id="{4BB51672-AA26-1342-9E90-03C0F97FFA09}"/>
              </a:ext>
            </a:extLst>
          </p:cNvPr>
          <p:cNvSpPr txBox="1"/>
          <p:nvPr/>
        </p:nvSpPr>
        <p:spPr>
          <a:xfrm>
            <a:off x="169084" y="5722494"/>
            <a:ext cx="1136850" cy="369332"/>
          </a:xfrm>
          <a:prstGeom prst="rect">
            <a:avLst/>
          </a:prstGeom>
          <a:noFill/>
        </p:spPr>
        <p:txBody>
          <a:bodyPr wrap="none" rtlCol="0">
            <a:spAutoFit/>
          </a:bodyPr>
          <a:lstStyle/>
          <a:p>
            <a:r>
              <a:rPr lang="en-US" dirty="0"/>
              <a:t>&lt;NUM, 2&gt;</a:t>
            </a:r>
          </a:p>
        </p:txBody>
      </p:sp>
      <p:sp>
        <p:nvSpPr>
          <p:cNvPr id="60" name="TextBox 59">
            <a:extLst>
              <a:ext uri="{FF2B5EF4-FFF2-40B4-BE49-F238E27FC236}">
                <a16:creationId xmlns:a16="http://schemas.microsoft.com/office/drawing/2014/main" id="{C1BB3498-EE54-8746-A272-5AD0BED142DC}"/>
              </a:ext>
            </a:extLst>
          </p:cNvPr>
          <p:cNvSpPr txBox="1"/>
          <p:nvPr/>
        </p:nvSpPr>
        <p:spPr>
          <a:xfrm>
            <a:off x="375228" y="4410545"/>
            <a:ext cx="639021" cy="369332"/>
          </a:xfrm>
          <a:prstGeom prst="rect">
            <a:avLst/>
          </a:prstGeom>
          <a:noFill/>
        </p:spPr>
        <p:txBody>
          <a:bodyPr wrap="none" rtlCol="0">
            <a:spAutoFit/>
          </a:bodyPr>
          <a:lstStyle/>
          <a:p>
            <a:r>
              <a:rPr lang="en-US" dirty="0"/>
              <a:t>term</a:t>
            </a:r>
          </a:p>
        </p:txBody>
      </p:sp>
      <p:cxnSp>
        <p:nvCxnSpPr>
          <p:cNvPr id="61" name="Straight Connector 60">
            <a:extLst>
              <a:ext uri="{FF2B5EF4-FFF2-40B4-BE49-F238E27FC236}">
                <a16:creationId xmlns:a16="http://schemas.microsoft.com/office/drawing/2014/main" id="{FD6F8D07-D95A-5448-B1DF-6BD3C103C7EB}"/>
              </a:ext>
            </a:extLst>
          </p:cNvPr>
          <p:cNvCxnSpPr>
            <a:cxnSpLocks/>
            <a:endCxn id="59" idx="0"/>
          </p:cNvCxnSpPr>
          <p:nvPr/>
        </p:nvCxnSpPr>
        <p:spPr>
          <a:xfrm flipH="1">
            <a:off x="737509" y="5413801"/>
            <a:ext cx="1" cy="308693"/>
          </a:xfrm>
          <a:prstGeom prst="line">
            <a:avLst/>
          </a:prstGeom>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A86DCAF7-69E6-834A-AE6E-0FE38CEA85BA}"/>
              </a:ext>
            </a:extLst>
          </p:cNvPr>
          <p:cNvCxnSpPr>
            <a:cxnSpLocks/>
          </p:cNvCxnSpPr>
          <p:nvPr/>
        </p:nvCxnSpPr>
        <p:spPr>
          <a:xfrm flipH="1">
            <a:off x="719552" y="4092158"/>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BD57399C-B201-B746-8DE0-BCBE79A9AA7E}"/>
              </a:ext>
            </a:extLst>
          </p:cNvPr>
          <p:cNvSpPr txBox="1"/>
          <p:nvPr/>
        </p:nvSpPr>
        <p:spPr>
          <a:xfrm>
            <a:off x="2492539" y="5722494"/>
            <a:ext cx="1136850" cy="369332"/>
          </a:xfrm>
          <a:prstGeom prst="rect">
            <a:avLst/>
          </a:prstGeom>
          <a:noFill/>
        </p:spPr>
        <p:txBody>
          <a:bodyPr wrap="none" rtlCol="0">
            <a:spAutoFit/>
          </a:bodyPr>
          <a:lstStyle/>
          <a:p>
            <a:r>
              <a:rPr lang="en-US" dirty="0"/>
              <a:t>&lt;NUM, 3&gt;</a:t>
            </a:r>
          </a:p>
        </p:txBody>
      </p:sp>
      <p:sp>
        <p:nvSpPr>
          <p:cNvPr id="64" name="TextBox 63">
            <a:extLst>
              <a:ext uri="{FF2B5EF4-FFF2-40B4-BE49-F238E27FC236}">
                <a16:creationId xmlns:a16="http://schemas.microsoft.com/office/drawing/2014/main" id="{2026449A-B7B4-B146-92E2-AEC4902CF791}"/>
              </a:ext>
            </a:extLst>
          </p:cNvPr>
          <p:cNvSpPr txBox="1"/>
          <p:nvPr/>
        </p:nvSpPr>
        <p:spPr>
          <a:xfrm>
            <a:off x="2698683" y="4410545"/>
            <a:ext cx="639021" cy="369332"/>
          </a:xfrm>
          <a:prstGeom prst="rect">
            <a:avLst/>
          </a:prstGeom>
          <a:noFill/>
        </p:spPr>
        <p:txBody>
          <a:bodyPr wrap="none" rtlCol="0">
            <a:spAutoFit/>
          </a:bodyPr>
          <a:lstStyle/>
          <a:p>
            <a:r>
              <a:rPr lang="en-US" dirty="0"/>
              <a:t>term</a:t>
            </a:r>
          </a:p>
        </p:txBody>
      </p:sp>
      <p:cxnSp>
        <p:nvCxnSpPr>
          <p:cNvPr id="65" name="Straight Connector 64">
            <a:extLst>
              <a:ext uri="{FF2B5EF4-FFF2-40B4-BE49-F238E27FC236}">
                <a16:creationId xmlns:a16="http://schemas.microsoft.com/office/drawing/2014/main" id="{8C04012A-4FA5-6B44-80E4-9A7BFA02A83B}"/>
              </a:ext>
            </a:extLst>
          </p:cNvPr>
          <p:cNvCxnSpPr>
            <a:cxnSpLocks/>
            <a:endCxn id="63" idx="0"/>
          </p:cNvCxnSpPr>
          <p:nvPr/>
        </p:nvCxnSpPr>
        <p:spPr>
          <a:xfrm flipH="1">
            <a:off x="3060964" y="5458298"/>
            <a:ext cx="1" cy="264196"/>
          </a:xfrm>
          <a:prstGeom prst="line">
            <a:avLst/>
          </a:prstGeom>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A93561DF-98DF-A440-B8EE-AB89FE1FA19E}"/>
              </a:ext>
            </a:extLst>
          </p:cNvPr>
          <p:cNvCxnSpPr>
            <a:cxnSpLocks/>
          </p:cNvCxnSpPr>
          <p:nvPr/>
        </p:nvCxnSpPr>
        <p:spPr>
          <a:xfrm flipH="1">
            <a:off x="3043007" y="4092158"/>
            <a:ext cx="5609" cy="300061"/>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Connector 66">
            <a:extLst>
              <a:ext uri="{FF2B5EF4-FFF2-40B4-BE49-F238E27FC236}">
                <a16:creationId xmlns:a16="http://schemas.microsoft.com/office/drawing/2014/main" id="{8AC93A18-FD63-3C49-B627-4ED0A6C07807}"/>
              </a:ext>
            </a:extLst>
          </p:cNvPr>
          <p:cNvCxnSpPr>
            <a:cxnSpLocks/>
            <a:stCxn id="60" idx="2"/>
            <a:endCxn id="68" idx="0"/>
          </p:cNvCxnSpPr>
          <p:nvPr/>
        </p:nvCxnSpPr>
        <p:spPr>
          <a:xfrm>
            <a:off x="694739" y="4779877"/>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68" name="TextBox 67">
            <a:extLst>
              <a:ext uri="{FF2B5EF4-FFF2-40B4-BE49-F238E27FC236}">
                <a16:creationId xmlns:a16="http://schemas.microsoft.com/office/drawing/2014/main" id="{4BACA7DC-06DF-1F42-9362-D172C7991887}"/>
              </a:ext>
            </a:extLst>
          </p:cNvPr>
          <p:cNvSpPr txBox="1"/>
          <p:nvPr/>
        </p:nvSpPr>
        <p:spPr>
          <a:xfrm>
            <a:off x="336753" y="5022766"/>
            <a:ext cx="735779" cy="369332"/>
          </a:xfrm>
          <a:prstGeom prst="rect">
            <a:avLst/>
          </a:prstGeom>
          <a:noFill/>
        </p:spPr>
        <p:txBody>
          <a:bodyPr wrap="none" rtlCol="0">
            <a:spAutoFit/>
          </a:bodyPr>
          <a:lstStyle/>
          <a:p>
            <a:r>
              <a:rPr lang="en-US" dirty="0"/>
              <a:t>factor</a:t>
            </a:r>
          </a:p>
        </p:txBody>
      </p:sp>
      <p:cxnSp>
        <p:nvCxnSpPr>
          <p:cNvPr id="69" name="Straight Connector 68">
            <a:extLst>
              <a:ext uri="{FF2B5EF4-FFF2-40B4-BE49-F238E27FC236}">
                <a16:creationId xmlns:a16="http://schemas.microsoft.com/office/drawing/2014/main" id="{03147EF5-1094-DF40-B87D-B68D07211B82}"/>
              </a:ext>
            </a:extLst>
          </p:cNvPr>
          <p:cNvCxnSpPr>
            <a:cxnSpLocks/>
            <a:endCxn id="70" idx="0"/>
          </p:cNvCxnSpPr>
          <p:nvPr/>
        </p:nvCxnSpPr>
        <p:spPr>
          <a:xfrm>
            <a:off x="3016271" y="4702186"/>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70" name="TextBox 69">
            <a:extLst>
              <a:ext uri="{FF2B5EF4-FFF2-40B4-BE49-F238E27FC236}">
                <a16:creationId xmlns:a16="http://schemas.microsoft.com/office/drawing/2014/main" id="{E3A4C9DB-E5C4-EE4E-B341-8806AFC0BC1A}"/>
              </a:ext>
            </a:extLst>
          </p:cNvPr>
          <p:cNvSpPr txBox="1"/>
          <p:nvPr/>
        </p:nvSpPr>
        <p:spPr>
          <a:xfrm>
            <a:off x="2658285" y="4945075"/>
            <a:ext cx="735779" cy="369332"/>
          </a:xfrm>
          <a:prstGeom prst="rect">
            <a:avLst/>
          </a:prstGeom>
          <a:noFill/>
        </p:spPr>
        <p:txBody>
          <a:bodyPr wrap="none" rtlCol="0">
            <a:spAutoFit/>
          </a:bodyPr>
          <a:lstStyle/>
          <a:p>
            <a:r>
              <a:rPr lang="en-US" dirty="0"/>
              <a:t>factor</a:t>
            </a:r>
          </a:p>
        </p:txBody>
      </p:sp>
      <p:sp>
        <p:nvSpPr>
          <p:cNvPr id="71" name="TextBox 70">
            <a:extLst>
              <a:ext uri="{FF2B5EF4-FFF2-40B4-BE49-F238E27FC236}">
                <a16:creationId xmlns:a16="http://schemas.microsoft.com/office/drawing/2014/main" id="{6E863AD3-AF58-9343-8A51-6AC7DA42C02D}"/>
              </a:ext>
            </a:extLst>
          </p:cNvPr>
          <p:cNvSpPr txBox="1"/>
          <p:nvPr/>
        </p:nvSpPr>
        <p:spPr>
          <a:xfrm>
            <a:off x="4108799" y="5194151"/>
            <a:ext cx="1136850" cy="369332"/>
          </a:xfrm>
          <a:prstGeom prst="rect">
            <a:avLst/>
          </a:prstGeom>
          <a:noFill/>
        </p:spPr>
        <p:txBody>
          <a:bodyPr wrap="none" rtlCol="0">
            <a:spAutoFit/>
          </a:bodyPr>
          <a:lstStyle/>
          <a:p>
            <a:r>
              <a:rPr lang="en-US" dirty="0"/>
              <a:t>&lt;NUM, 4&gt;</a:t>
            </a:r>
          </a:p>
        </p:txBody>
      </p:sp>
      <p:cxnSp>
        <p:nvCxnSpPr>
          <p:cNvPr id="72" name="Straight Connector 71">
            <a:extLst>
              <a:ext uri="{FF2B5EF4-FFF2-40B4-BE49-F238E27FC236}">
                <a16:creationId xmlns:a16="http://schemas.microsoft.com/office/drawing/2014/main" id="{1FB1C20C-FC64-DC4C-9330-6351C4E9B540}"/>
              </a:ext>
            </a:extLst>
          </p:cNvPr>
          <p:cNvCxnSpPr>
            <a:cxnSpLocks/>
            <a:endCxn id="73" idx="0"/>
          </p:cNvCxnSpPr>
          <p:nvPr/>
        </p:nvCxnSpPr>
        <p:spPr>
          <a:xfrm flipH="1">
            <a:off x="4682834" y="3201598"/>
            <a:ext cx="1442" cy="464578"/>
          </a:xfrm>
          <a:prstGeom prst="line">
            <a:avLst/>
          </a:prstGeom>
        </p:spPr>
        <p:style>
          <a:lnRef idx="1">
            <a:schemeClr val="dk1"/>
          </a:lnRef>
          <a:fillRef idx="0">
            <a:schemeClr val="dk1"/>
          </a:fillRef>
          <a:effectRef idx="0">
            <a:schemeClr val="dk1"/>
          </a:effectRef>
          <a:fontRef idx="minor">
            <a:schemeClr val="tx1"/>
          </a:fontRef>
        </p:style>
      </p:cxnSp>
      <p:sp>
        <p:nvSpPr>
          <p:cNvPr id="73" name="TextBox 72">
            <a:extLst>
              <a:ext uri="{FF2B5EF4-FFF2-40B4-BE49-F238E27FC236}">
                <a16:creationId xmlns:a16="http://schemas.microsoft.com/office/drawing/2014/main" id="{A5E35CF3-8A64-944D-AA44-CCB594F0C936}"/>
              </a:ext>
            </a:extLst>
          </p:cNvPr>
          <p:cNvSpPr txBox="1"/>
          <p:nvPr/>
        </p:nvSpPr>
        <p:spPr>
          <a:xfrm>
            <a:off x="4363323" y="3666176"/>
            <a:ext cx="639021" cy="369332"/>
          </a:xfrm>
          <a:prstGeom prst="rect">
            <a:avLst/>
          </a:prstGeom>
          <a:noFill/>
        </p:spPr>
        <p:txBody>
          <a:bodyPr wrap="none" rtlCol="0">
            <a:spAutoFit/>
          </a:bodyPr>
          <a:lstStyle/>
          <a:p>
            <a:r>
              <a:rPr lang="en-US" dirty="0"/>
              <a:t>term</a:t>
            </a:r>
          </a:p>
        </p:txBody>
      </p:sp>
      <p:cxnSp>
        <p:nvCxnSpPr>
          <p:cNvPr id="74" name="Straight Connector 73">
            <a:extLst>
              <a:ext uri="{FF2B5EF4-FFF2-40B4-BE49-F238E27FC236}">
                <a16:creationId xmlns:a16="http://schemas.microsoft.com/office/drawing/2014/main" id="{81C3E4BA-997F-AA4A-BB0F-E26D41A1AC4D}"/>
              </a:ext>
            </a:extLst>
          </p:cNvPr>
          <p:cNvCxnSpPr>
            <a:cxnSpLocks/>
            <a:stCxn id="73" idx="2"/>
            <a:endCxn id="75" idx="0"/>
          </p:cNvCxnSpPr>
          <p:nvPr/>
        </p:nvCxnSpPr>
        <p:spPr>
          <a:xfrm flipH="1">
            <a:off x="4682833" y="4035508"/>
            <a:ext cx="1" cy="489250"/>
          </a:xfrm>
          <a:prstGeom prst="line">
            <a:avLst/>
          </a:prstGeom>
        </p:spPr>
        <p:style>
          <a:lnRef idx="1">
            <a:schemeClr val="dk1"/>
          </a:lnRef>
          <a:fillRef idx="0">
            <a:schemeClr val="dk1"/>
          </a:fillRef>
          <a:effectRef idx="0">
            <a:schemeClr val="dk1"/>
          </a:effectRef>
          <a:fontRef idx="minor">
            <a:schemeClr val="tx1"/>
          </a:fontRef>
        </p:style>
      </p:cxnSp>
      <p:sp>
        <p:nvSpPr>
          <p:cNvPr id="75" name="TextBox 74">
            <a:extLst>
              <a:ext uri="{FF2B5EF4-FFF2-40B4-BE49-F238E27FC236}">
                <a16:creationId xmlns:a16="http://schemas.microsoft.com/office/drawing/2014/main" id="{3AECA206-BD9C-0C4C-ACFA-6ED75A7F6D50}"/>
              </a:ext>
            </a:extLst>
          </p:cNvPr>
          <p:cNvSpPr txBox="1"/>
          <p:nvPr/>
        </p:nvSpPr>
        <p:spPr>
          <a:xfrm>
            <a:off x="4314943" y="4524758"/>
            <a:ext cx="735779" cy="369332"/>
          </a:xfrm>
          <a:prstGeom prst="rect">
            <a:avLst/>
          </a:prstGeom>
          <a:noFill/>
        </p:spPr>
        <p:txBody>
          <a:bodyPr wrap="none" rtlCol="0">
            <a:spAutoFit/>
          </a:bodyPr>
          <a:lstStyle/>
          <a:p>
            <a:r>
              <a:rPr lang="en-US" dirty="0"/>
              <a:t>factor</a:t>
            </a:r>
          </a:p>
        </p:txBody>
      </p:sp>
      <p:cxnSp>
        <p:nvCxnSpPr>
          <p:cNvPr id="76" name="Straight Connector 75">
            <a:extLst>
              <a:ext uri="{FF2B5EF4-FFF2-40B4-BE49-F238E27FC236}">
                <a16:creationId xmlns:a16="http://schemas.microsoft.com/office/drawing/2014/main" id="{0ECCCB75-1593-BA4C-988E-981C8B8AF8D5}"/>
              </a:ext>
            </a:extLst>
          </p:cNvPr>
          <p:cNvCxnSpPr>
            <a:cxnSpLocks/>
            <a:stCxn id="75" idx="2"/>
            <a:endCxn id="71" idx="0"/>
          </p:cNvCxnSpPr>
          <p:nvPr/>
        </p:nvCxnSpPr>
        <p:spPr>
          <a:xfrm flipH="1">
            <a:off x="4677224" y="4894090"/>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0E9375D6-2140-CC4E-81AB-2AAC9912AE0D}"/>
              </a:ext>
            </a:extLst>
          </p:cNvPr>
          <p:cNvSpPr txBox="1"/>
          <p:nvPr/>
        </p:nvSpPr>
        <p:spPr>
          <a:xfrm>
            <a:off x="435242" y="1524075"/>
            <a:ext cx="2216761" cy="369332"/>
          </a:xfrm>
          <a:prstGeom prst="rect">
            <a:avLst/>
          </a:prstGeom>
          <a:noFill/>
        </p:spPr>
        <p:txBody>
          <a:bodyPr wrap="none" rtlCol="0">
            <a:spAutoFit/>
          </a:bodyPr>
          <a:lstStyle/>
          <a:p>
            <a:r>
              <a:rPr lang="en-US" i="1" dirty="0"/>
              <a:t>What about this one?</a:t>
            </a:r>
          </a:p>
        </p:txBody>
      </p:sp>
      <p:pic>
        <p:nvPicPr>
          <p:cNvPr id="3" name="Picture 2">
            <a:extLst>
              <a:ext uri="{FF2B5EF4-FFF2-40B4-BE49-F238E27FC236}">
                <a16:creationId xmlns:a16="http://schemas.microsoft.com/office/drawing/2014/main" id="{AA5C818D-3624-D142-72EA-9DCC5D1191A8}"/>
              </a:ext>
            </a:extLst>
          </p:cNvPr>
          <p:cNvPicPr>
            <a:picLocks noChangeAspect="1"/>
          </p:cNvPicPr>
          <p:nvPr/>
        </p:nvPicPr>
        <p:blipFill>
          <a:blip r:embed="rId2"/>
          <a:stretch>
            <a:fillRect/>
          </a:stretch>
        </p:blipFill>
        <p:spPr>
          <a:xfrm>
            <a:off x="432524" y="304679"/>
            <a:ext cx="2209800" cy="889000"/>
          </a:xfrm>
          <a:prstGeom prst="rect">
            <a:avLst/>
          </a:prstGeom>
        </p:spPr>
      </p:pic>
      <p:sp>
        <p:nvSpPr>
          <p:cNvPr id="4" name="TextBox 3">
            <a:extLst>
              <a:ext uri="{FF2B5EF4-FFF2-40B4-BE49-F238E27FC236}">
                <a16:creationId xmlns:a16="http://schemas.microsoft.com/office/drawing/2014/main" id="{1DC3D0D6-9D6A-782B-35F6-446FA0E04288}"/>
              </a:ext>
            </a:extLst>
          </p:cNvPr>
          <p:cNvSpPr txBox="1"/>
          <p:nvPr/>
        </p:nvSpPr>
        <p:spPr>
          <a:xfrm>
            <a:off x="8934394" y="791570"/>
            <a:ext cx="2180638" cy="369332"/>
          </a:xfrm>
          <a:prstGeom prst="rect">
            <a:avLst/>
          </a:prstGeom>
          <a:noFill/>
        </p:spPr>
        <p:txBody>
          <a:bodyPr wrap="square" rtlCol="0">
            <a:spAutoFit/>
          </a:bodyPr>
          <a:lstStyle/>
          <a:p>
            <a:r>
              <a:rPr lang="en-US" dirty="0"/>
              <a:t>See next slide</a:t>
            </a:r>
          </a:p>
        </p:txBody>
      </p:sp>
    </p:spTree>
    <p:extLst>
      <p:ext uri="{BB962C8B-B14F-4D97-AF65-F5344CB8AC3E}">
        <p14:creationId xmlns:p14="http://schemas.microsoft.com/office/powerpoint/2010/main" val="9186729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581C384-93DB-0D44-BE61-8197A0709109}"/>
              </a:ext>
            </a:extLst>
          </p:cNvPr>
          <p:cNvSpPr txBox="1"/>
          <p:nvPr/>
        </p:nvSpPr>
        <p:spPr>
          <a:xfrm>
            <a:off x="3196575" y="595375"/>
            <a:ext cx="3147015" cy="584775"/>
          </a:xfrm>
          <a:prstGeom prst="rect">
            <a:avLst/>
          </a:prstGeom>
          <a:noFill/>
        </p:spPr>
        <p:txBody>
          <a:bodyPr wrap="none" rtlCol="0">
            <a:spAutoFit/>
          </a:bodyPr>
          <a:lstStyle/>
          <a:p>
            <a:r>
              <a:rPr lang="en-US" sz="3200" dirty="0">
                <a:latin typeface="Courier" pitchFamily="2" charset="0"/>
              </a:rPr>
              <a:t>input: 2+3+4</a:t>
            </a:r>
          </a:p>
        </p:txBody>
      </p:sp>
      <p:sp>
        <p:nvSpPr>
          <p:cNvPr id="7" name="TextBox 6">
            <a:extLst>
              <a:ext uri="{FF2B5EF4-FFF2-40B4-BE49-F238E27FC236}">
                <a16:creationId xmlns:a16="http://schemas.microsoft.com/office/drawing/2014/main" id="{1EF4FC3F-B8F7-EF4A-8F6B-AAFA31AB4690}"/>
              </a:ext>
            </a:extLst>
          </p:cNvPr>
          <p:cNvSpPr txBox="1"/>
          <p:nvPr/>
        </p:nvSpPr>
        <p:spPr>
          <a:xfrm>
            <a:off x="8635402" y="2181957"/>
            <a:ext cx="597984" cy="369332"/>
          </a:xfrm>
          <a:prstGeom prst="rect">
            <a:avLst/>
          </a:prstGeom>
          <a:noFill/>
        </p:spPr>
        <p:txBody>
          <a:bodyPr wrap="none" rtlCol="0">
            <a:spAutoFit/>
          </a:bodyPr>
          <a:lstStyle/>
          <a:p>
            <a:r>
              <a:rPr lang="en-US" dirty="0"/>
              <a:t>expr</a:t>
            </a:r>
          </a:p>
        </p:txBody>
      </p:sp>
      <p:cxnSp>
        <p:nvCxnSpPr>
          <p:cNvPr id="8" name="Straight Connector 7">
            <a:extLst>
              <a:ext uri="{FF2B5EF4-FFF2-40B4-BE49-F238E27FC236}">
                <a16:creationId xmlns:a16="http://schemas.microsoft.com/office/drawing/2014/main" id="{30141CE8-2344-0948-9E95-8E3D11DE2430}"/>
              </a:ext>
            </a:extLst>
          </p:cNvPr>
          <p:cNvCxnSpPr>
            <a:cxnSpLocks/>
            <a:stCxn id="7" idx="2"/>
            <a:endCxn id="9" idx="0"/>
          </p:cNvCxnSpPr>
          <p:nvPr/>
        </p:nvCxnSpPr>
        <p:spPr>
          <a:xfrm flipH="1">
            <a:off x="7299498" y="2551289"/>
            <a:ext cx="1634896" cy="536644"/>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E6D905BC-8176-5C4B-8283-5453872C6006}"/>
              </a:ext>
            </a:extLst>
          </p:cNvPr>
          <p:cNvSpPr txBox="1"/>
          <p:nvPr/>
        </p:nvSpPr>
        <p:spPr>
          <a:xfrm>
            <a:off x="7000506" y="3087933"/>
            <a:ext cx="597984" cy="369332"/>
          </a:xfrm>
          <a:prstGeom prst="rect">
            <a:avLst/>
          </a:prstGeom>
          <a:noFill/>
        </p:spPr>
        <p:txBody>
          <a:bodyPr wrap="none" rtlCol="0">
            <a:spAutoFit/>
          </a:bodyPr>
          <a:lstStyle/>
          <a:p>
            <a:r>
              <a:rPr lang="en-US" dirty="0"/>
              <a:t>expr</a:t>
            </a:r>
          </a:p>
        </p:txBody>
      </p:sp>
      <p:cxnSp>
        <p:nvCxnSpPr>
          <p:cNvPr id="10" name="Straight Connector 9">
            <a:extLst>
              <a:ext uri="{FF2B5EF4-FFF2-40B4-BE49-F238E27FC236}">
                <a16:creationId xmlns:a16="http://schemas.microsoft.com/office/drawing/2014/main" id="{0686B2F0-A92C-9842-99A5-BB5F68B3CB0F}"/>
              </a:ext>
            </a:extLst>
          </p:cNvPr>
          <p:cNvCxnSpPr>
            <a:cxnSpLocks/>
            <a:stCxn id="7" idx="2"/>
            <a:endCxn id="12" idx="0"/>
          </p:cNvCxnSpPr>
          <p:nvPr/>
        </p:nvCxnSpPr>
        <p:spPr>
          <a:xfrm>
            <a:off x="8934394" y="2551289"/>
            <a:ext cx="0" cy="554837"/>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B373421-B101-4546-B128-9E43278BD634}"/>
              </a:ext>
            </a:extLst>
          </p:cNvPr>
          <p:cNvCxnSpPr>
            <a:cxnSpLocks/>
            <a:stCxn id="7" idx="2"/>
            <a:endCxn id="13" idx="0"/>
          </p:cNvCxnSpPr>
          <p:nvPr/>
        </p:nvCxnSpPr>
        <p:spPr>
          <a:xfrm>
            <a:off x="8934394" y="2551289"/>
            <a:ext cx="1057341" cy="536644"/>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60AF16AA-22CD-FA4F-9F55-FCC38AD1D4BA}"/>
              </a:ext>
            </a:extLst>
          </p:cNvPr>
          <p:cNvSpPr txBox="1"/>
          <p:nvPr/>
        </p:nvSpPr>
        <p:spPr>
          <a:xfrm>
            <a:off x="8494273" y="3106126"/>
            <a:ext cx="880241" cy="369332"/>
          </a:xfrm>
          <a:prstGeom prst="rect">
            <a:avLst/>
          </a:prstGeom>
          <a:noFill/>
        </p:spPr>
        <p:txBody>
          <a:bodyPr wrap="none" rtlCol="0">
            <a:spAutoFit/>
          </a:bodyPr>
          <a:lstStyle/>
          <a:p>
            <a:r>
              <a:rPr lang="en-US" dirty="0"/>
              <a:t>&lt;PLUS&gt;</a:t>
            </a:r>
          </a:p>
        </p:txBody>
      </p:sp>
      <p:sp>
        <p:nvSpPr>
          <p:cNvPr id="13" name="TextBox 12">
            <a:extLst>
              <a:ext uri="{FF2B5EF4-FFF2-40B4-BE49-F238E27FC236}">
                <a16:creationId xmlns:a16="http://schemas.microsoft.com/office/drawing/2014/main" id="{BA6A98FD-3CE1-2241-952E-12AD71379DB0}"/>
              </a:ext>
            </a:extLst>
          </p:cNvPr>
          <p:cNvSpPr txBox="1"/>
          <p:nvPr/>
        </p:nvSpPr>
        <p:spPr>
          <a:xfrm>
            <a:off x="9692743" y="3087933"/>
            <a:ext cx="597984" cy="369332"/>
          </a:xfrm>
          <a:prstGeom prst="rect">
            <a:avLst/>
          </a:prstGeom>
          <a:noFill/>
        </p:spPr>
        <p:txBody>
          <a:bodyPr wrap="none" rtlCol="0">
            <a:spAutoFit/>
          </a:bodyPr>
          <a:lstStyle/>
          <a:p>
            <a:r>
              <a:rPr lang="en-US" dirty="0"/>
              <a:t>expr</a:t>
            </a:r>
          </a:p>
        </p:txBody>
      </p:sp>
      <p:sp>
        <p:nvSpPr>
          <p:cNvPr id="14" name="TextBox 13">
            <a:extLst>
              <a:ext uri="{FF2B5EF4-FFF2-40B4-BE49-F238E27FC236}">
                <a16:creationId xmlns:a16="http://schemas.microsoft.com/office/drawing/2014/main" id="{66D518E2-D041-B54A-BAFD-9F3EB0B79156}"/>
              </a:ext>
            </a:extLst>
          </p:cNvPr>
          <p:cNvSpPr txBox="1"/>
          <p:nvPr/>
        </p:nvSpPr>
        <p:spPr>
          <a:xfrm>
            <a:off x="6724021" y="5469967"/>
            <a:ext cx="1136850" cy="369332"/>
          </a:xfrm>
          <a:prstGeom prst="rect">
            <a:avLst/>
          </a:prstGeom>
          <a:noFill/>
        </p:spPr>
        <p:txBody>
          <a:bodyPr wrap="none" rtlCol="0">
            <a:spAutoFit/>
          </a:bodyPr>
          <a:lstStyle/>
          <a:p>
            <a:r>
              <a:rPr lang="en-US" dirty="0"/>
              <a:t>&lt;NUM, 2&gt;</a:t>
            </a:r>
          </a:p>
        </p:txBody>
      </p:sp>
      <p:cxnSp>
        <p:nvCxnSpPr>
          <p:cNvPr id="15" name="Straight Connector 14">
            <a:extLst>
              <a:ext uri="{FF2B5EF4-FFF2-40B4-BE49-F238E27FC236}">
                <a16:creationId xmlns:a16="http://schemas.microsoft.com/office/drawing/2014/main" id="{7BE47221-BFFC-0243-AFE9-5C53FC906A1B}"/>
              </a:ext>
            </a:extLst>
          </p:cNvPr>
          <p:cNvCxnSpPr>
            <a:cxnSpLocks/>
            <a:endCxn id="22" idx="0"/>
          </p:cNvCxnSpPr>
          <p:nvPr/>
        </p:nvCxnSpPr>
        <p:spPr>
          <a:xfrm flipH="1">
            <a:off x="7298056" y="3477414"/>
            <a:ext cx="1442" cy="464578"/>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9807E1A-CE97-FF41-A2A5-7C3CB46AC284}"/>
              </a:ext>
            </a:extLst>
          </p:cNvPr>
          <p:cNvCxnSpPr>
            <a:cxnSpLocks/>
          </p:cNvCxnSpPr>
          <p:nvPr/>
        </p:nvCxnSpPr>
        <p:spPr>
          <a:xfrm flipH="1">
            <a:off x="8758711" y="3459774"/>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9DAF383E-DF34-F944-BC7F-24A207C0E665}"/>
              </a:ext>
            </a:extLst>
          </p:cNvPr>
          <p:cNvCxnSpPr>
            <a:cxnSpLocks/>
          </p:cNvCxnSpPr>
          <p:nvPr/>
        </p:nvCxnSpPr>
        <p:spPr>
          <a:xfrm>
            <a:off x="9983084" y="3459774"/>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8CA92CF3-16B2-3A46-9746-FE978094BA1D}"/>
              </a:ext>
            </a:extLst>
          </p:cNvPr>
          <p:cNvCxnSpPr>
            <a:cxnSpLocks/>
          </p:cNvCxnSpPr>
          <p:nvPr/>
        </p:nvCxnSpPr>
        <p:spPr>
          <a:xfrm>
            <a:off x="9983084" y="3459774"/>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5173FE82-5C9F-3B48-8EAE-3B7CB4B7E7F6}"/>
              </a:ext>
            </a:extLst>
          </p:cNvPr>
          <p:cNvSpPr txBox="1"/>
          <p:nvPr/>
        </p:nvSpPr>
        <p:spPr>
          <a:xfrm>
            <a:off x="9525511" y="3926876"/>
            <a:ext cx="880241" cy="369332"/>
          </a:xfrm>
          <a:prstGeom prst="rect">
            <a:avLst/>
          </a:prstGeom>
          <a:noFill/>
        </p:spPr>
        <p:txBody>
          <a:bodyPr wrap="none" rtlCol="0">
            <a:spAutoFit/>
          </a:bodyPr>
          <a:lstStyle/>
          <a:p>
            <a:r>
              <a:rPr lang="en-US" dirty="0"/>
              <a:t>&lt;PLUS&gt;</a:t>
            </a:r>
          </a:p>
        </p:txBody>
      </p:sp>
      <p:sp>
        <p:nvSpPr>
          <p:cNvPr id="20" name="TextBox 19">
            <a:extLst>
              <a:ext uri="{FF2B5EF4-FFF2-40B4-BE49-F238E27FC236}">
                <a16:creationId xmlns:a16="http://schemas.microsoft.com/office/drawing/2014/main" id="{5F067DEE-CDD4-7E46-9949-17B518AA1F04}"/>
              </a:ext>
            </a:extLst>
          </p:cNvPr>
          <p:cNvSpPr txBox="1"/>
          <p:nvPr/>
        </p:nvSpPr>
        <p:spPr>
          <a:xfrm>
            <a:off x="8459719" y="3895483"/>
            <a:ext cx="597984" cy="369332"/>
          </a:xfrm>
          <a:prstGeom prst="rect">
            <a:avLst/>
          </a:prstGeom>
          <a:noFill/>
        </p:spPr>
        <p:txBody>
          <a:bodyPr wrap="none" rtlCol="0">
            <a:spAutoFit/>
          </a:bodyPr>
          <a:lstStyle/>
          <a:p>
            <a:r>
              <a:rPr lang="en-US" dirty="0"/>
              <a:t>expr</a:t>
            </a:r>
          </a:p>
        </p:txBody>
      </p:sp>
      <p:sp>
        <p:nvSpPr>
          <p:cNvPr id="21" name="TextBox 20">
            <a:extLst>
              <a:ext uri="{FF2B5EF4-FFF2-40B4-BE49-F238E27FC236}">
                <a16:creationId xmlns:a16="http://schemas.microsoft.com/office/drawing/2014/main" id="{4CCBC7C3-3B2D-8846-922F-FFE276D95ACE}"/>
              </a:ext>
            </a:extLst>
          </p:cNvPr>
          <p:cNvSpPr txBox="1"/>
          <p:nvPr/>
        </p:nvSpPr>
        <p:spPr>
          <a:xfrm>
            <a:off x="10781251" y="3895483"/>
            <a:ext cx="597984" cy="369332"/>
          </a:xfrm>
          <a:prstGeom prst="rect">
            <a:avLst/>
          </a:prstGeom>
          <a:noFill/>
        </p:spPr>
        <p:txBody>
          <a:bodyPr wrap="none" rtlCol="0">
            <a:spAutoFit/>
          </a:bodyPr>
          <a:lstStyle/>
          <a:p>
            <a:r>
              <a:rPr lang="en-US" dirty="0"/>
              <a:t>expr</a:t>
            </a:r>
          </a:p>
        </p:txBody>
      </p:sp>
      <p:sp>
        <p:nvSpPr>
          <p:cNvPr id="22" name="TextBox 21">
            <a:extLst>
              <a:ext uri="{FF2B5EF4-FFF2-40B4-BE49-F238E27FC236}">
                <a16:creationId xmlns:a16="http://schemas.microsoft.com/office/drawing/2014/main" id="{523078ED-048C-F640-ACD0-3E3AAD13C997}"/>
              </a:ext>
            </a:extLst>
          </p:cNvPr>
          <p:cNvSpPr txBox="1"/>
          <p:nvPr/>
        </p:nvSpPr>
        <p:spPr>
          <a:xfrm>
            <a:off x="6978545" y="3941992"/>
            <a:ext cx="639021" cy="369332"/>
          </a:xfrm>
          <a:prstGeom prst="rect">
            <a:avLst/>
          </a:prstGeom>
          <a:noFill/>
        </p:spPr>
        <p:txBody>
          <a:bodyPr wrap="none" rtlCol="0">
            <a:spAutoFit/>
          </a:bodyPr>
          <a:lstStyle/>
          <a:p>
            <a:r>
              <a:rPr lang="en-US" dirty="0"/>
              <a:t>term</a:t>
            </a:r>
          </a:p>
        </p:txBody>
      </p:sp>
      <p:cxnSp>
        <p:nvCxnSpPr>
          <p:cNvPr id="23" name="Straight Connector 22">
            <a:extLst>
              <a:ext uri="{FF2B5EF4-FFF2-40B4-BE49-F238E27FC236}">
                <a16:creationId xmlns:a16="http://schemas.microsoft.com/office/drawing/2014/main" id="{AD31FE39-303E-6A49-A3C2-0B76C241499E}"/>
              </a:ext>
            </a:extLst>
          </p:cNvPr>
          <p:cNvCxnSpPr>
            <a:cxnSpLocks/>
            <a:stCxn id="22" idx="2"/>
            <a:endCxn id="24" idx="0"/>
          </p:cNvCxnSpPr>
          <p:nvPr/>
        </p:nvCxnSpPr>
        <p:spPr>
          <a:xfrm flipH="1">
            <a:off x="7298055" y="4311324"/>
            <a:ext cx="1" cy="489250"/>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085D5B41-A14A-6947-AF22-039FD4CC5D3A}"/>
              </a:ext>
            </a:extLst>
          </p:cNvPr>
          <p:cNvSpPr txBox="1"/>
          <p:nvPr/>
        </p:nvSpPr>
        <p:spPr>
          <a:xfrm>
            <a:off x="6930165" y="4800574"/>
            <a:ext cx="735779" cy="369332"/>
          </a:xfrm>
          <a:prstGeom prst="rect">
            <a:avLst/>
          </a:prstGeom>
          <a:noFill/>
        </p:spPr>
        <p:txBody>
          <a:bodyPr wrap="none" rtlCol="0">
            <a:spAutoFit/>
          </a:bodyPr>
          <a:lstStyle/>
          <a:p>
            <a:r>
              <a:rPr lang="en-US" dirty="0"/>
              <a:t>factor</a:t>
            </a:r>
          </a:p>
        </p:txBody>
      </p:sp>
      <p:cxnSp>
        <p:nvCxnSpPr>
          <p:cNvPr id="25" name="Straight Connector 24">
            <a:extLst>
              <a:ext uri="{FF2B5EF4-FFF2-40B4-BE49-F238E27FC236}">
                <a16:creationId xmlns:a16="http://schemas.microsoft.com/office/drawing/2014/main" id="{C24A46DA-5EEF-E14F-98AC-75E996BC5908}"/>
              </a:ext>
            </a:extLst>
          </p:cNvPr>
          <p:cNvCxnSpPr>
            <a:cxnSpLocks/>
            <a:stCxn id="24" idx="2"/>
            <a:endCxn id="14" idx="0"/>
          </p:cNvCxnSpPr>
          <p:nvPr/>
        </p:nvCxnSpPr>
        <p:spPr>
          <a:xfrm flipH="1">
            <a:off x="7292446" y="5169906"/>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53922C26-78A1-2B41-8636-490EF1E8297B}"/>
              </a:ext>
            </a:extLst>
          </p:cNvPr>
          <p:cNvSpPr txBox="1"/>
          <p:nvPr/>
        </p:nvSpPr>
        <p:spPr>
          <a:xfrm>
            <a:off x="8223152" y="5907160"/>
            <a:ext cx="1136850" cy="369332"/>
          </a:xfrm>
          <a:prstGeom prst="rect">
            <a:avLst/>
          </a:prstGeom>
          <a:noFill/>
        </p:spPr>
        <p:txBody>
          <a:bodyPr wrap="none" rtlCol="0">
            <a:spAutoFit/>
          </a:bodyPr>
          <a:lstStyle/>
          <a:p>
            <a:r>
              <a:rPr lang="en-US" dirty="0"/>
              <a:t>&lt;NUM, 3&gt;</a:t>
            </a:r>
          </a:p>
        </p:txBody>
      </p:sp>
      <p:sp>
        <p:nvSpPr>
          <p:cNvPr id="29" name="TextBox 28">
            <a:extLst>
              <a:ext uri="{FF2B5EF4-FFF2-40B4-BE49-F238E27FC236}">
                <a16:creationId xmlns:a16="http://schemas.microsoft.com/office/drawing/2014/main" id="{797B625C-0EB6-C44A-B7B1-59D7A6B79F63}"/>
              </a:ext>
            </a:extLst>
          </p:cNvPr>
          <p:cNvSpPr txBox="1"/>
          <p:nvPr/>
        </p:nvSpPr>
        <p:spPr>
          <a:xfrm>
            <a:off x="8429296" y="4595211"/>
            <a:ext cx="639021" cy="369332"/>
          </a:xfrm>
          <a:prstGeom prst="rect">
            <a:avLst/>
          </a:prstGeom>
          <a:noFill/>
        </p:spPr>
        <p:txBody>
          <a:bodyPr wrap="none" rtlCol="0">
            <a:spAutoFit/>
          </a:bodyPr>
          <a:lstStyle/>
          <a:p>
            <a:r>
              <a:rPr lang="en-US" dirty="0"/>
              <a:t>term</a:t>
            </a:r>
          </a:p>
        </p:txBody>
      </p:sp>
      <p:cxnSp>
        <p:nvCxnSpPr>
          <p:cNvPr id="30" name="Straight Connector 29">
            <a:extLst>
              <a:ext uri="{FF2B5EF4-FFF2-40B4-BE49-F238E27FC236}">
                <a16:creationId xmlns:a16="http://schemas.microsoft.com/office/drawing/2014/main" id="{EFCE927F-6F2D-7C4E-A51D-683038842E00}"/>
              </a:ext>
            </a:extLst>
          </p:cNvPr>
          <p:cNvCxnSpPr>
            <a:cxnSpLocks/>
            <a:endCxn id="28" idx="0"/>
          </p:cNvCxnSpPr>
          <p:nvPr/>
        </p:nvCxnSpPr>
        <p:spPr>
          <a:xfrm>
            <a:off x="8791577" y="5598467"/>
            <a:ext cx="0" cy="308693"/>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3EF182C6-3A3A-5340-AECF-F5309B097F1B}"/>
              </a:ext>
            </a:extLst>
          </p:cNvPr>
          <p:cNvCxnSpPr>
            <a:cxnSpLocks/>
          </p:cNvCxnSpPr>
          <p:nvPr/>
        </p:nvCxnSpPr>
        <p:spPr>
          <a:xfrm flipH="1">
            <a:off x="8773620" y="4276824"/>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13C08319-763D-EC4A-85E5-A88DF4758EAC}"/>
              </a:ext>
            </a:extLst>
          </p:cNvPr>
          <p:cNvSpPr txBox="1"/>
          <p:nvPr/>
        </p:nvSpPr>
        <p:spPr>
          <a:xfrm>
            <a:off x="10546607" y="5907160"/>
            <a:ext cx="1136850" cy="369332"/>
          </a:xfrm>
          <a:prstGeom prst="rect">
            <a:avLst/>
          </a:prstGeom>
          <a:noFill/>
        </p:spPr>
        <p:txBody>
          <a:bodyPr wrap="none" rtlCol="0">
            <a:spAutoFit/>
          </a:bodyPr>
          <a:lstStyle/>
          <a:p>
            <a:r>
              <a:rPr lang="en-US" dirty="0"/>
              <a:t>&lt;NUM, 4&gt;</a:t>
            </a:r>
          </a:p>
        </p:txBody>
      </p:sp>
      <p:sp>
        <p:nvSpPr>
          <p:cNvPr id="33" name="TextBox 32">
            <a:extLst>
              <a:ext uri="{FF2B5EF4-FFF2-40B4-BE49-F238E27FC236}">
                <a16:creationId xmlns:a16="http://schemas.microsoft.com/office/drawing/2014/main" id="{9F2F9A8A-EA8C-4840-9B67-4CF2EB90B9E3}"/>
              </a:ext>
            </a:extLst>
          </p:cNvPr>
          <p:cNvSpPr txBox="1"/>
          <p:nvPr/>
        </p:nvSpPr>
        <p:spPr>
          <a:xfrm>
            <a:off x="10752751" y="4595211"/>
            <a:ext cx="639021" cy="369332"/>
          </a:xfrm>
          <a:prstGeom prst="rect">
            <a:avLst/>
          </a:prstGeom>
          <a:noFill/>
        </p:spPr>
        <p:txBody>
          <a:bodyPr wrap="none" rtlCol="0">
            <a:spAutoFit/>
          </a:bodyPr>
          <a:lstStyle/>
          <a:p>
            <a:r>
              <a:rPr lang="en-US" dirty="0"/>
              <a:t>term</a:t>
            </a:r>
          </a:p>
        </p:txBody>
      </p:sp>
      <p:cxnSp>
        <p:nvCxnSpPr>
          <p:cNvPr id="34" name="Straight Connector 33">
            <a:extLst>
              <a:ext uri="{FF2B5EF4-FFF2-40B4-BE49-F238E27FC236}">
                <a16:creationId xmlns:a16="http://schemas.microsoft.com/office/drawing/2014/main" id="{94B5E655-A336-324F-8040-8067BBACD221}"/>
              </a:ext>
            </a:extLst>
          </p:cNvPr>
          <p:cNvCxnSpPr>
            <a:cxnSpLocks/>
            <a:endCxn id="32" idx="0"/>
          </p:cNvCxnSpPr>
          <p:nvPr/>
        </p:nvCxnSpPr>
        <p:spPr>
          <a:xfrm>
            <a:off x="11115032" y="5642964"/>
            <a:ext cx="0" cy="264196"/>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E7FBE64F-48C5-3445-A705-3585FFC27A81}"/>
              </a:ext>
            </a:extLst>
          </p:cNvPr>
          <p:cNvCxnSpPr>
            <a:cxnSpLocks/>
          </p:cNvCxnSpPr>
          <p:nvPr/>
        </p:nvCxnSpPr>
        <p:spPr>
          <a:xfrm flipH="1">
            <a:off x="11097075" y="4276824"/>
            <a:ext cx="5609" cy="300061"/>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0E9BEB0F-F6AB-D14C-AA7C-F8C362827398}"/>
              </a:ext>
            </a:extLst>
          </p:cNvPr>
          <p:cNvCxnSpPr>
            <a:cxnSpLocks/>
            <a:stCxn id="29" idx="2"/>
            <a:endCxn id="42" idx="0"/>
          </p:cNvCxnSpPr>
          <p:nvPr/>
        </p:nvCxnSpPr>
        <p:spPr>
          <a:xfrm>
            <a:off x="8748807" y="4964543"/>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D5E41403-C4A0-4D4C-8612-2848F97625CD}"/>
              </a:ext>
            </a:extLst>
          </p:cNvPr>
          <p:cNvSpPr txBox="1"/>
          <p:nvPr/>
        </p:nvSpPr>
        <p:spPr>
          <a:xfrm>
            <a:off x="8390821" y="5207432"/>
            <a:ext cx="735779" cy="369332"/>
          </a:xfrm>
          <a:prstGeom prst="rect">
            <a:avLst/>
          </a:prstGeom>
          <a:noFill/>
        </p:spPr>
        <p:txBody>
          <a:bodyPr wrap="none" rtlCol="0">
            <a:spAutoFit/>
          </a:bodyPr>
          <a:lstStyle/>
          <a:p>
            <a:r>
              <a:rPr lang="en-US" dirty="0"/>
              <a:t>factor</a:t>
            </a:r>
          </a:p>
        </p:txBody>
      </p:sp>
      <p:cxnSp>
        <p:nvCxnSpPr>
          <p:cNvPr id="46" name="Straight Connector 45">
            <a:extLst>
              <a:ext uri="{FF2B5EF4-FFF2-40B4-BE49-F238E27FC236}">
                <a16:creationId xmlns:a16="http://schemas.microsoft.com/office/drawing/2014/main" id="{614A3599-6266-194B-A062-C993C27C06A8}"/>
              </a:ext>
            </a:extLst>
          </p:cNvPr>
          <p:cNvCxnSpPr>
            <a:cxnSpLocks/>
            <a:endCxn id="47" idx="0"/>
          </p:cNvCxnSpPr>
          <p:nvPr/>
        </p:nvCxnSpPr>
        <p:spPr>
          <a:xfrm>
            <a:off x="11070339" y="4886852"/>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F1C7E270-ED72-8040-87BF-6441A4678689}"/>
              </a:ext>
            </a:extLst>
          </p:cNvPr>
          <p:cNvSpPr txBox="1"/>
          <p:nvPr/>
        </p:nvSpPr>
        <p:spPr>
          <a:xfrm>
            <a:off x="10712353" y="5129741"/>
            <a:ext cx="735779" cy="369332"/>
          </a:xfrm>
          <a:prstGeom prst="rect">
            <a:avLst/>
          </a:prstGeom>
          <a:noFill/>
        </p:spPr>
        <p:txBody>
          <a:bodyPr wrap="none" rtlCol="0">
            <a:spAutoFit/>
          </a:bodyPr>
          <a:lstStyle/>
          <a:p>
            <a:r>
              <a:rPr lang="en-US" dirty="0"/>
              <a:t>factor</a:t>
            </a:r>
          </a:p>
        </p:txBody>
      </p:sp>
      <p:sp>
        <p:nvSpPr>
          <p:cNvPr id="36" name="TextBox 35">
            <a:extLst>
              <a:ext uri="{FF2B5EF4-FFF2-40B4-BE49-F238E27FC236}">
                <a16:creationId xmlns:a16="http://schemas.microsoft.com/office/drawing/2014/main" id="{5EC1923B-CC00-F54F-B58B-2CBADA324DE1}"/>
              </a:ext>
            </a:extLst>
          </p:cNvPr>
          <p:cNvSpPr txBox="1"/>
          <p:nvPr/>
        </p:nvSpPr>
        <p:spPr>
          <a:xfrm>
            <a:off x="3337704" y="1941731"/>
            <a:ext cx="597984" cy="369332"/>
          </a:xfrm>
          <a:prstGeom prst="rect">
            <a:avLst/>
          </a:prstGeom>
          <a:noFill/>
        </p:spPr>
        <p:txBody>
          <a:bodyPr wrap="none" rtlCol="0">
            <a:spAutoFit/>
          </a:bodyPr>
          <a:lstStyle/>
          <a:p>
            <a:r>
              <a:rPr lang="en-US" dirty="0"/>
              <a:t>expr</a:t>
            </a:r>
          </a:p>
        </p:txBody>
      </p:sp>
      <p:cxnSp>
        <p:nvCxnSpPr>
          <p:cNvPr id="37" name="Straight Connector 36">
            <a:extLst>
              <a:ext uri="{FF2B5EF4-FFF2-40B4-BE49-F238E27FC236}">
                <a16:creationId xmlns:a16="http://schemas.microsoft.com/office/drawing/2014/main" id="{3BEC7F16-A435-7C43-9D5A-1A75CBD13DBE}"/>
              </a:ext>
            </a:extLst>
          </p:cNvPr>
          <p:cNvCxnSpPr>
            <a:cxnSpLocks/>
            <a:stCxn id="36" idx="2"/>
            <a:endCxn id="38" idx="0"/>
          </p:cNvCxnSpPr>
          <p:nvPr/>
        </p:nvCxnSpPr>
        <p:spPr>
          <a:xfrm flipH="1">
            <a:off x="2001800" y="2311063"/>
            <a:ext cx="1634896" cy="536644"/>
          </a:xfrm>
          <a:prstGeom prst="line">
            <a:avLst/>
          </a:prstGeom>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38EE1F56-B098-B34B-BF7A-EF753C1D22C6}"/>
              </a:ext>
            </a:extLst>
          </p:cNvPr>
          <p:cNvSpPr txBox="1"/>
          <p:nvPr/>
        </p:nvSpPr>
        <p:spPr>
          <a:xfrm>
            <a:off x="1702808" y="2847707"/>
            <a:ext cx="597984" cy="369332"/>
          </a:xfrm>
          <a:prstGeom prst="rect">
            <a:avLst/>
          </a:prstGeom>
          <a:noFill/>
        </p:spPr>
        <p:txBody>
          <a:bodyPr wrap="none" rtlCol="0">
            <a:spAutoFit/>
          </a:bodyPr>
          <a:lstStyle/>
          <a:p>
            <a:r>
              <a:rPr lang="en-US" dirty="0"/>
              <a:t>expr</a:t>
            </a:r>
          </a:p>
        </p:txBody>
      </p:sp>
      <p:cxnSp>
        <p:nvCxnSpPr>
          <p:cNvPr id="39" name="Straight Connector 38">
            <a:extLst>
              <a:ext uri="{FF2B5EF4-FFF2-40B4-BE49-F238E27FC236}">
                <a16:creationId xmlns:a16="http://schemas.microsoft.com/office/drawing/2014/main" id="{130EC886-051B-1248-823D-2EB736133459}"/>
              </a:ext>
            </a:extLst>
          </p:cNvPr>
          <p:cNvCxnSpPr>
            <a:cxnSpLocks/>
            <a:stCxn id="36" idx="2"/>
            <a:endCxn id="43" idx="0"/>
          </p:cNvCxnSpPr>
          <p:nvPr/>
        </p:nvCxnSpPr>
        <p:spPr>
          <a:xfrm>
            <a:off x="3636696" y="2311063"/>
            <a:ext cx="0" cy="554837"/>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4952DEB2-6A92-8541-ACE1-DDEDA7B9D118}"/>
              </a:ext>
            </a:extLst>
          </p:cNvPr>
          <p:cNvCxnSpPr>
            <a:cxnSpLocks/>
            <a:stCxn id="36" idx="2"/>
            <a:endCxn id="44" idx="0"/>
          </p:cNvCxnSpPr>
          <p:nvPr/>
        </p:nvCxnSpPr>
        <p:spPr>
          <a:xfrm>
            <a:off x="3636696" y="2311063"/>
            <a:ext cx="1057341" cy="536644"/>
          </a:xfrm>
          <a:prstGeom prst="line">
            <a:avLst/>
          </a:prstGeom>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1A9C10E0-8E1E-5748-91F2-5B29E549D1D6}"/>
              </a:ext>
            </a:extLst>
          </p:cNvPr>
          <p:cNvSpPr txBox="1"/>
          <p:nvPr/>
        </p:nvSpPr>
        <p:spPr>
          <a:xfrm>
            <a:off x="3196575" y="2865900"/>
            <a:ext cx="880241" cy="369332"/>
          </a:xfrm>
          <a:prstGeom prst="rect">
            <a:avLst/>
          </a:prstGeom>
          <a:noFill/>
        </p:spPr>
        <p:txBody>
          <a:bodyPr wrap="none" rtlCol="0">
            <a:spAutoFit/>
          </a:bodyPr>
          <a:lstStyle/>
          <a:p>
            <a:r>
              <a:rPr lang="en-US" dirty="0"/>
              <a:t>&lt;PLUS&gt;</a:t>
            </a:r>
          </a:p>
        </p:txBody>
      </p:sp>
      <p:sp>
        <p:nvSpPr>
          <p:cNvPr id="44" name="TextBox 43">
            <a:extLst>
              <a:ext uri="{FF2B5EF4-FFF2-40B4-BE49-F238E27FC236}">
                <a16:creationId xmlns:a16="http://schemas.microsoft.com/office/drawing/2014/main" id="{D7CA5CA2-4EA4-3B4E-9A91-6DDCD6F71A20}"/>
              </a:ext>
            </a:extLst>
          </p:cNvPr>
          <p:cNvSpPr txBox="1"/>
          <p:nvPr/>
        </p:nvSpPr>
        <p:spPr>
          <a:xfrm>
            <a:off x="4395045" y="2847707"/>
            <a:ext cx="597984" cy="369332"/>
          </a:xfrm>
          <a:prstGeom prst="rect">
            <a:avLst/>
          </a:prstGeom>
          <a:noFill/>
        </p:spPr>
        <p:txBody>
          <a:bodyPr wrap="none" rtlCol="0">
            <a:spAutoFit/>
          </a:bodyPr>
          <a:lstStyle/>
          <a:p>
            <a:r>
              <a:rPr lang="en-US" dirty="0"/>
              <a:t>expr</a:t>
            </a:r>
          </a:p>
        </p:txBody>
      </p:sp>
      <p:cxnSp>
        <p:nvCxnSpPr>
          <p:cNvPr id="49" name="Straight Connector 48">
            <a:extLst>
              <a:ext uri="{FF2B5EF4-FFF2-40B4-BE49-F238E27FC236}">
                <a16:creationId xmlns:a16="http://schemas.microsoft.com/office/drawing/2014/main" id="{2737F467-DD3B-464D-AB7C-48ADAE9C7A75}"/>
              </a:ext>
            </a:extLst>
          </p:cNvPr>
          <p:cNvCxnSpPr>
            <a:cxnSpLocks/>
          </p:cNvCxnSpPr>
          <p:nvPr/>
        </p:nvCxnSpPr>
        <p:spPr>
          <a:xfrm flipH="1">
            <a:off x="704643" y="3275108"/>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3B3C027E-6CAD-874A-BA4C-D4BDE373AB42}"/>
              </a:ext>
            </a:extLst>
          </p:cNvPr>
          <p:cNvCxnSpPr>
            <a:cxnSpLocks/>
          </p:cNvCxnSpPr>
          <p:nvPr/>
        </p:nvCxnSpPr>
        <p:spPr>
          <a:xfrm>
            <a:off x="1929016" y="3275108"/>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1ED3D8CF-46C2-074A-B667-A1B26D7A6839}"/>
              </a:ext>
            </a:extLst>
          </p:cNvPr>
          <p:cNvCxnSpPr>
            <a:cxnSpLocks/>
          </p:cNvCxnSpPr>
          <p:nvPr/>
        </p:nvCxnSpPr>
        <p:spPr>
          <a:xfrm>
            <a:off x="1929016" y="3275108"/>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41C57070-1823-F445-9473-2FC7F87656AF}"/>
              </a:ext>
            </a:extLst>
          </p:cNvPr>
          <p:cNvSpPr txBox="1"/>
          <p:nvPr/>
        </p:nvSpPr>
        <p:spPr>
          <a:xfrm>
            <a:off x="1471443" y="3742210"/>
            <a:ext cx="880241" cy="369332"/>
          </a:xfrm>
          <a:prstGeom prst="rect">
            <a:avLst/>
          </a:prstGeom>
          <a:noFill/>
        </p:spPr>
        <p:txBody>
          <a:bodyPr wrap="none" rtlCol="0">
            <a:spAutoFit/>
          </a:bodyPr>
          <a:lstStyle/>
          <a:p>
            <a:r>
              <a:rPr lang="en-US" dirty="0"/>
              <a:t>&lt;PLUS&gt;</a:t>
            </a:r>
          </a:p>
        </p:txBody>
      </p:sp>
      <p:sp>
        <p:nvSpPr>
          <p:cNvPr id="53" name="TextBox 52">
            <a:extLst>
              <a:ext uri="{FF2B5EF4-FFF2-40B4-BE49-F238E27FC236}">
                <a16:creationId xmlns:a16="http://schemas.microsoft.com/office/drawing/2014/main" id="{96253B0E-0EC6-3148-A7AA-7554864A0EED}"/>
              </a:ext>
            </a:extLst>
          </p:cNvPr>
          <p:cNvSpPr txBox="1"/>
          <p:nvPr/>
        </p:nvSpPr>
        <p:spPr>
          <a:xfrm>
            <a:off x="405651" y="3710817"/>
            <a:ext cx="597984" cy="369332"/>
          </a:xfrm>
          <a:prstGeom prst="rect">
            <a:avLst/>
          </a:prstGeom>
          <a:noFill/>
        </p:spPr>
        <p:txBody>
          <a:bodyPr wrap="none" rtlCol="0">
            <a:spAutoFit/>
          </a:bodyPr>
          <a:lstStyle/>
          <a:p>
            <a:r>
              <a:rPr lang="en-US" dirty="0"/>
              <a:t>expr</a:t>
            </a:r>
          </a:p>
        </p:txBody>
      </p:sp>
      <p:sp>
        <p:nvSpPr>
          <p:cNvPr id="54" name="TextBox 53">
            <a:extLst>
              <a:ext uri="{FF2B5EF4-FFF2-40B4-BE49-F238E27FC236}">
                <a16:creationId xmlns:a16="http://schemas.microsoft.com/office/drawing/2014/main" id="{E8D89358-50D5-5149-9D7E-12BE25096FA6}"/>
              </a:ext>
            </a:extLst>
          </p:cNvPr>
          <p:cNvSpPr txBox="1"/>
          <p:nvPr/>
        </p:nvSpPr>
        <p:spPr>
          <a:xfrm>
            <a:off x="2727183" y="3710817"/>
            <a:ext cx="597984" cy="369332"/>
          </a:xfrm>
          <a:prstGeom prst="rect">
            <a:avLst/>
          </a:prstGeom>
          <a:noFill/>
        </p:spPr>
        <p:txBody>
          <a:bodyPr wrap="none" rtlCol="0">
            <a:spAutoFit/>
          </a:bodyPr>
          <a:lstStyle/>
          <a:p>
            <a:r>
              <a:rPr lang="en-US" dirty="0"/>
              <a:t>expr</a:t>
            </a:r>
          </a:p>
        </p:txBody>
      </p:sp>
      <p:sp>
        <p:nvSpPr>
          <p:cNvPr id="59" name="TextBox 58">
            <a:extLst>
              <a:ext uri="{FF2B5EF4-FFF2-40B4-BE49-F238E27FC236}">
                <a16:creationId xmlns:a16="http://schemas.microsoft.com/office/drawing/2014/main" id="{4BB51672-AA26-1342-9E90-03C0F97FFA09}"/>
              </a:ext>
            </a:extLst>
          </p:cNvPr>
          <p:cNvSpPr txBox="1"/>
          <p:nvPr/>
        </p:nvSpPr>
        <p:spPr>
          <a:xfrm>
            <a:off x="169084" y="5722494"/>
            <a:ext cx="1136850" cy="369332"/>
          </a:xfrm>
          <a:prstGeom prst="rect">
            <a:avLst/>
          </a:prstGeom>
          <a:noFill/>
        </p:spPr>
        <p:txBody>
          <a:bodyPr wrap="none" rtlCol="0">
            <a:spAutoFit/>
          </a:bodyPr>
          <a:lstStyle/>
          <a:p>
            <a:r>
              <a:rPr lang="en-US" dirty="0"/>
              <a:t>&lt;NUM, 2&gt;</a:t>
            </a:r>
          </a:p>
        </p:txBody>
      </p:sp>
      <p:sp>
        <p:nvSpPr>
          <p:cNvPr id="60" name="TextBox 59">
            <a:extLst>
              <a:ext uri="{FF2B5EF4-FFF2-40B4-BE49-F238E27FC236}">
                <a16:creationId xmlns:a16="http://schemas.microsoft.com/office/drawing/2014/main" id="{C1BB3498-EE54-8746-A272-5AD0BED142DC}"/>
              </a:ext>
            </a:extLst>
          </p:cNvPr>
          <p:cNvSpPr txBox="1"/>
          <p:nvPr/>
        </p:nvSpPr>
        <p:spPr>
          <a:xfrm>
            <a:off x="375228" y="4410545"/>
            <a:ext cx="639021" cy="369332"/>
          </a:xfrm>
          <a:prstGeom prst="rect">
            <a:avLst/>
          </a:prstGeom>
          <a:noFill/>
        </p:spPr>
        <p:txBody>
          <a:bodyPr wrap="none" rtlCol="0">
            <a:spAutoFit/>
          </a:bodyPr>
          <a:lstStyle/>
          <a:p>
            <a:r>
              <a:rPr lang="en-US" dirty="0"/>
              <a:t>term</a:t>
            </a:r>
          </a:p>
        </p:txBody>
      </p:sp>
      <p:cxnSp>
        <p:nvCxnSpPr>
          <p:cNvPr id="61" name="Straight Connector 60">
            <a:extLst>
              <a:ext uri="{FF2B5EF4-FFF2-40B4-BE49-F238E27FC236}">
                <a16:creationId xmlns:a16="http://schemas.microsoft.com/office/drawing/2014/main" id="{FD6F8D07-D95A-5448-B1DF-6BD3C103C7EB}"/>
              </a:ext>
            </a:extLst>
          </p:cNvPr>
          <p:cNvCxnSpPr>
            <a:cxnSpLocks/>
            <a:endCxn id="59" idx="0"/>
          </p:cNvCxnSpPr>
          <p:nvPr/>
        </p:nvCxnSpPr>
        <p:spPr>
          <a:xfrm flipH="1">
            <a:off x="737509" y="5413801"/>
            <a:ext cx="1" cy="308693"/>
          </a:xfrm>
          <a:prstGeom prst="line">
            <a:avLst/>
          </a:prstGeom>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A86DCAF7-69E6-834A-AE6E-0FE38CEA85BA}"/>
              </a:ext>
            </a:extLst>
          </p:cNvPr>
          <p:cNvCxnSpPr>
            <a:cxnSpLocks/>
          </p:cNvCxnSpPr>
          <p:nvPr/>
        </p:nvCxnSpPr>
        <p:spPr>
          <a:xfrm flipH="1">
            <a:off x="719552" y="4092158"/>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BD57399C-B201-B746-8DE0-BCBE79A9AA7E}"/>
              </a:ext>
            </a:extLst>
          </p:cNvPr>
          <p:cNvSpPr txBox="1"/>
          <p:nvPr/>
        </p:nvSpPr>
        <p:spPr>
          <a:xfrm>
            <a:off x="2492539" y="5722494"/>
            <a:ext cx="1136850" cy="369332"/>
          </a:xfrm>
          <a:prstGeom prst="rect">
            <a:avLst/>
          </a:prstGeom>
          <a:noFill/>
        </p:spPr>
        <p:txBody>
          <a:bodyPr wrap="none" rtlCol="0">
            <a:spAutoFit/>
          </a:bodyPr>
          <a:lstStyle/>
          <a:p>
            <a:r>
              <a:rPr lang="en-US" dirty="0"/>
              <a:t>&lt;NUM, 3&gt;</a:t>
            </a:r>
          </a:p>
        </p:txBody>
      </p:sp>
      <p:sp>
        <p:nvSpPr>
          <p:cNvPr id="64" name="TextBox 63">
            <a:extLst>
              <a:ext uri="{FF2B5EF4-FFF2-40B4-BE49-F238E27FC236}">
                <a16:creationId xmlns:a16="http://schemas.microsoft.com/office/drawing/2014/main" id="{2026449A-B7B4-B146-92E2-AEC4902CF791}"/>
              </a:ext>
            </a:extLst>
          </p:cNvPr>
          <p:cNvSpPr txBox="1"/>
          <p:nvPr/>
        </p:nvSpPr>
        <p:spPr>
          <a:xfrm>
            <a:off x="2698683" y="4410545"/>
            <a:ext cx="639021" cy="369332"/>
          </a:xfrm>
          <a:prstGeom prst="rect">
            <a:avLst/>
          </a:prstGeom>
          <a:noFill/>
        </p:spPr>
        <p:txBody>
          <a:bodyPr wrap="none" rtlCol="0">
            <a:spAutoFit/>
          </a:bodyPr>
          <a:lstStyle/>
          <a:p>
            <a:r>
              <a:rPr lang="en-US" dirty="0"/>
              <a:t>term</a:t>
            </a:r>
          </a:p>
        </p:txBody>
      </p:sp>
      <p:cxnSp>
        <p:nvCxnSpPr>
          <p:cNvPr id="65" name="Straight Connector 64">
            <a:extLst>
              <a:ext uri="{FF2B5EF4-FFF2-40B4-BE49-F238E27FC236}">
                <a16:creationId xmlns:a16="http://schemas.microsoft.com/office/drawing/2014/main" id="{8C04012A-4FA5-6B44-80E4-9A7BFA02A83B}"/>
              </a:ext>
            </a:extLst>
          </p:cNvPr>
          <p:cNvCxnSpPr>
            <a:cxnSpLocks/>
            <a:endCxn id="63" idx="0"/>
          </p:cNvCxnSpPr>
          <p:nvPr/>
        </p:nvCxnSpPr>
        <p:spPr>
          <a:xfrm flipH="1">
            <a:off x="3060964" y="5458298"/>
            <a:ext cx="1" cy="264196"/>
          </a:xfrm>
          <a:prstGeom prst="line">
            <a:avLst/>
          </a:prstGeom>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A93561DF-98DF-A440-B8EE-AB89FE1FA19E}"/>
              </a:ext>
            </a:extLst>
          </p:cNvPr>
          <p:cNvCxnSpPr>
            <a:cxnSpLocks/>
          </p:cNvCxnSpPr>
          <p:nvPr/>
        </p:nvCxnSpPr>
        <p:spPr>
          <a:xfrm flipH="1">
            <a:off x="3043007" y="4092158"/>
            <a:ext cx="5609" cy="300061"/>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Connector 66">
            <a:extLst>
              <a:ext uri="{FF2B5EF4-FFF2-40B4-BE49-F238E27FC236}">
                <a16:creationId xmlns:a16="http://schemas.microsoft.com/office/drawing/2014/main" id="{8AC93A18-FD63-3C49-B627-4ED0A6C07807}"/>
              </a:ext>
            </a:extLst>
          </p:cNvPr>
          <p:cNvCxnSpPr>
            <a:cxnSpLocks/>
            <a:stCxn id="60" idx="2"/>
            <a:endCxn id="68" idx="0"/>
          </p:cNvCxnSpPr>
          <p:nvPr/>
        </p:nvCxnSpPr>
        <p:spPr>
          <a:xfrm>
            <a:off x="694739" y="4779877"/>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68" name="TextBox 67">
            <a:extLst>
              <a:ext uri="{FF2B5EF4-FFF2-40B4-BE49-F238E27FC236}">
                <a16:creationId xmlns:a16="http://schemas.microsoft.com/office/drawing/2014/main" id="{4BACA7DC-06DF-1F42-9362-D172C7991887}"/>
              </a:ext>
            </a:extLst>
          </p:cNvPr>
          <p:cNvSpPr txBox="1"/>
          <p:nvPr/>
        </p:nvSpPr>
        <p:spPr>
          <a:xfrm>
            <a:off x="336753" y="5022766"/>
            <a:ext cx="735779" cy="369332"/>
          </a:xfrm>
          <a:prstGeom prst="rect">
            <a:avLst/>
          </a:prstGeom>
          <a:noFill/>
        </p:spPr>
        <p:txBody>
          <a:bodyPr wrap="none" rtlCol="0">
            <a:spAutoFit/>
          </a:bodyPr>
          <a:lstStyle/>
          <a:p>
            <a:r>
              <a:rPr lang="en-US" dirty="0"/>
              <a:t>factor</a:t>
            </a:r>
          </a:p>
        </p:txBody>
      </p:sp>
      <p:cxnSp>
        <p:nvCxnSpPr>
          <p:cNvPr id="69" name="Straight Connector 68">
            <a:extLst>
              <a:ext uri="{FF2B5EF4-FFF2-40B4-BE49-F238E27FC236}">
                <a16:creationId xmlns:a16="http://schemas.microsoft.com/office/drawing/2014/main" id="{03147EF5-1094-DF40-B87D-B68D07211B82}"/>
              </a:ext>
            </a:extLst>
          </p:cNvPr>
          <p:cNvCxnSpPr>
            <a:cxnSpLocks/>
            <a:endCxn id="70" idx="0"/>
          </p:cNvCxnSpPr>
          <p:nvPr/>
        </p:nvCxnSpPr>
        <p:spPr>
          <a:xfrm>
            <a:off x="3016271" y="4702186"/>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70" name="TextBox 69">
            <a:extLst>
              <a:ext uri="{FF2B5EF4-FFF2-40B4-BE49-F238E27FC236}">
                <a16:creationId xmlns:a16="http://schemas.microsoft.com/office/drawing/2014/main" id="{E3A4C9DB-E5C4-EE4E-B341-8806AFC0BC1A}"/>
              </a:ext>
            </a:extLst>
          </p:cNvPr>
          <p:cNvSpPr txBox="1"/>
          <p:nvPr/>
        </p:nvSpPr>
        <p:spPr>
          <a:xfrm>
            <a:off x="2658285" y="4945075"/>
            <a:ext cx="735779" cy="369332"/>
          </a:xfrm>
          <a:prstGeom prst="rect">
            <a:avLst/>
          </a:prstGeom>
          <a:noFill/>
        </p:spPr>
        <p:txBody>
          <a:bodyPr wrap="none" rtlCol="0">
            <a:spAutoFit/>
          </a:bodyPr>
          <a:lstStyle/>
          <a:p>
            <a:r>
              <a:rPr lang="en-US" dirty="0"/>
              <a:t>factor</a:t>
            </a:r>
          </a:p>
        </p:txBody>
      </p:sp>
      <p:sp>
        <p:nvSpPr>
          <p:cNvPr id="71" name="TextBox 70">
            <a:extLst>
              <a:ext uri="{FF2B5EF4-FFF2-40B4-BE49-F238E27FC236}">
                <a16:creationId xmlns:a16="http://schemas.microsoft.com/office/drawing/2014/main" id="{6E863AD3-AF58-9343-8A51-6AC7DA42C02D}"/>
              </a:ext>
            </a:extLst>
          </p:cNvPr>
          <p:cNvSpPr txBox="1"/>
          <p:nvPr/>
        </p:nvSpPr>
        <p:spPr>
          <a:xfrm>
            <a:off x="4108799" y="5194151"/>
            <a:ext cx="1136850" cy="369332"/>
          </a:xfrm>
          <a:prstGeom prst="rect">
            <a:avLst/>
          </a:prstGeom>
          <a:noFill/>
        </p:spPr>
        <p:txBody>
          <a:bodyPr wrap="none" rtlCol="0">
            <a:spAutoFit/>
          </a:bodyPr>
          <a:lstStyle/>
          <a:p>
            <a:r>
              <a:rPr lang="en-US" dirty="0"/>
              <a:t>&lt;NUM, 4&gt;</a:t>
            </a:r>
          </a:p>
        </p:txBody>
      </p:sp>
      <p:cxnSp>
        <p:nvCxnSpPr>
          <p:cNvPr id="72" name="Straight Connector 71">
            <a:extLst>
              <a:ext uri="{FF2B5EF4-FFF2-40B4-BE49-F238E27FC236}">
                <a16:creationId xmlns:a16="http://schemas.microsoft.com/office/drawing/2014/main" id="{1FB1C20C-FC64-DC4C-9330-6351C4E9B540}"/>
              </a:ext>
            </a:extLst>
          </p:cNvPr>
          <p:cNvCxnSpPr>
            <a:cxnSpLocks/>
            <a:endCxn id="73" idx="0"/>
          </p:cNvCxnSpPr>
          <p:nvPr/>
        </p:nvCxnSpPr>
        <p:spPr>
          <a:xfrm flipH="1">
            <a:off x="4682834" y="3201598"/>
            <a:ext cx="1442" cy="464578"/>
          </a:xfrm>
          <a:prstGeom prst="line">
            <a:avLst/>
          </a:prstGeom>
        </p:spPr>
        <p:style>
          <a:lnRef idx="1">
            <a:schemeClr val="dk1"/>
          </a:lnRef>
          <a:fillRef idx="0">
            <a:schemeClr val="dk1"/>
          </a:fillRef>
          <a:effectRef idx="0">
            <a:schemeClr val="dk1"/>
          </a:effectRef>
          <a:fontRef idx="minor">
            <a:schemeClr val="tx1"/>
          </a:fontRef>
        </p:style>
      </p:cxnSp>
      <p:sp>
        <p:nvSpPr>
          <p:cNvPr id="73" name="TextBox 72">
            <a:extLst>
              <a:ext uri="{FF2B5EF4-FFF2-40B4-BE49-F238E27FC236}">
                <a16:creationId xmlns:a16="http://schemas.microsoft.com/office/drawing/2014/main" id="{A5E35CF3-8A64-944D-AA44-CCB594F0C936}"/>
              </a:ext>
            </a:extLst>
          </p:cNvPr>
          <p:cNvSpPr txBox="1"/>
          <p:nvPr/>
        </p:nvSpPr>
        <p:spPr>
          <a:xfrm>
            <a:off x="4363323" y="3666176"/>
            <a:ext cx="639021" cy="369332"/>
          </a:xfrm>
          <a:prstGeom prst="rect">
            <a:avLst/>
          </a:prstGeom>
          <a:noFill/>
        </p:spPr>
        <p:txBody>
          <a:bodyPr wrap="none" rtlCol="0">
            <a:spAutoFit/>
          </a:bodyPr>
          <a:lstStyle/>
          <a:p>
            <a:r>
              <a:rPr lang="en-US" dirty="0"/>
              <a:t>term</a:t>
            </a:r>
          </a:p>
        </p:txBody>
      </p:sp>
      <p:cxnSp>
        <p:nvCxnSpPr>
          <p:cNvPr id="74" name="Straight Connector 73">
            <a:extLst>
              <a:ext uri="{FF2B5EF4-FFF2-40B4-BE49-F238E27FC236}">
                <a16:creationId xmlns:a16="http://schemas.microsoft.com/office/drawing/2014/main" id="{81C3E4BA-997F-AA4A-BB0F-E26D41A1AC4D}"/>
              </a:ext>
            </a:extLst>
          </p:cNvPr>
          <p:cNvCxnSpPr>
            <a:cxnSpLocks/>
            <a:stCxn id="73" idx="2"/>
            <a:endCxn id="75" idx="0"/>
          </p:cNvCxnSpPr>
          <p:nvPr/>
        </p:nvCxnSpPr>
        <p:spPr>
          <a:xfrm flipH="1">
            <a:off x="4682833" y="4035508"/>
            <a:ext cx="1" cy="489250"/>
          </a:xfrm>
          <a:prstGeom prst="line">
            <a:avLst/>
          </a:prstGeom>
        </p:spPr>
        <p:style>
          <a:lnRef idx="1">
            <a:schemeClr val="dk1"/>
          </a:lnRef>
          <a:fillRef idx="0">
            <a:schemeClr val="dk1"/>
          </a:fillRef>
          <a:effectRef idx="0">
            <a:schemeClr val="dk1"/>
          </a:effectRef>
          <a:fontRef idx="minor">
            <a:schemeClr val="tx1"/>
          </a:fontRef>
        </p:style>
      </p:cxnSp>
      <p:sp>
        <p:nvSpPr>
          <p:cNvPr id="75" name="TextBox 74">
            <a:extLst>
              <a:ext uri="{FF2B5EF4-FFF2-40B4-BE49-F238E27FC236}">
                <a16:creationId xmlns:a16="http://schemas.microsoft.com/office/drawing/2014/main" id="{3AECA206-BD9C-0C4C-ACFA-6ED75A7F6D50}"/>
              </a:ext>
            </a:extLst>
          </p:cNvPr>
          <p:cNvSpPr txBox="1"/>
          <p:nvPr/>
        </p:nvSpPr>
        <p:spPr>
          <a:xfrm>
            <a:off x="4314943" y="4524758"/>
            <a:ext cx="735779" cy="369332"/>
          </a:xfrm>
          <a:prstGeom prst="rect">
            <a:avLst/>
          </a:prstGeom>
          <a:noFill/>
        </p:spPr>
        <p:txBody>
          <a:bodyPr wrap="none" rtlCol="0">
            <a:spAutoFit/>
          </a:bodyPr>
          <a:lstStyle/>
          <a:p>
            <a:r>
              <a:rPr lang="en-US" dirty="0"/>
              <a:t>factor</a:t>
            </a:r>
          </a:p>
        </p:txBody>
      </p:sp>
      <p:cxnSp>
        <p:nvCxnSpPr>
          <p:cNvPr id="76" name="Straight Connector 75">
            <a:extLst>
              <a:ext uri="{FF2B5EF4-FFF2-40B4-BE49-F238E27FC236}">
                <a16:creationId xmlns:a16="http://schemas.microsoft.com/office/drawing/2014/main" id="{0ECCCB75-1593-BA4C-988E-981C8B8AF8D5}"/>
              </a:ext>
            </a:extLst>
          </p:cNvPr>
          <p:cNvCxnSpPr>
            <a:cxnSpLocks/>
            <a:stCxn id="75" idx="2"/>
            <a:endCxn id="71" idx="0"/>
          </p:cNvCxnSpPr>
          <p:nvPr/>
        </p:nvCxnSpPr>
        <p:spPr>
          <a:xfrm flipH="1">
            <a:off x="4677224" y="4894090"/>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0E9375D6-2140-CC4E-81AB-2AAC9912AE0D}"/>
              </a:ext>
            </a:extLst>
          </p:cNvPr>
          <p:cNvSpPr txBox="1"/>
          <p:nvPr/>
        </p:nvSpPr>
        <p:spPr>
          <a:xfrm>
            <a:off x="435242" y="1524075"/>
            <a:ext cx="2216761" cy="369332"/>
          </a:xfrm>
          <a:prstGeom prst="rect">
            <a:avLst/>
          </a:prstGeom>
          <a:noFill/>
        </p:spPr>
        <p:txBody>
          <a:bodyPr wrap="none" rtlCol="0">
            <a:spAutoFit/>
          </a:bodyPr>
          <a:lstStyle/>
          <a:p>
            <a:r>
              <a:rPr lang="en-US" i="1" dirty="0"/>
              <a:t>What about this one?</a:t>
            </a:r>
          </a:p>
        </p:txBody>
      </p:sp>
      <p:sp>
        <p:nvSpPr>
          <p:cNvPr id="78" name="TextBox 77">
            <a:extLst>
              <a:ext uri="{FF2B5EF4-FFF2-40B4-BE49-F238E27FC236}">
                <a16:creationId xmlns:a16="http://schemas.microsoft.com/office/drawing/2014/main" id="{BCAA21D6-9EC3-5B42-8C06-B88D7FEA60D3}"/>
              </a:ext>
            </a:extLst>
          </p:cNvPr>
          <p:cNvSpPr txBox="1"/>
          <p:nvPr/>
        </p:nvSpPr>
        <p:spPr>
          <a:xfrm>
            <a:off x="4490819" y="1386657"/>
            <a:ext cx="2489201" cy="1200329"/>
          </a:xfrm>
          <a:prstGeom prst="rect">
            <a:avLst/>
          </a:prstGeom>
          <a:noFill/>
        </p:spPr>
        <p:txBody>
          <a:bodyPr wrap="square" rtlCol="0">
            <a:spAutoFit/>
          </a:bodyPr>
          <a:lstStyle/>
          <a:p>
            <a:r>
              <a:rPr lang="en-US" i="1" dirty="0"/>
              <a:t>Doesn’t  allow an expression on the LHS.</a:t>
            </a:r>
            <a:br>
              <a:rPr lang="en-US" i="1" dirty="0"/>
            </a:br>
            <a:r>
              <a:rPr lang="en-US" i="1" dirty="0"/>
              <a:t>This parse tree is not allowed</a:t>
            </a:r>
          </a:p>
        </p:txBody>
      </p:sp>
      <p:pic>
        <p:nvPicPr>
          <p:cNvPr id="3" name="Picture 2">
            <a:extLst>
              <a:ext uri="{FF2B5EF4-FFF2-40B4-BE49-F238E27FC236}">
                <a16:creationId xmlns:a16="http://schemas.microsoft.com/office/drawing/2014/main" id="{E651961C-3E44-174B-CE2B-E45A5C328DA8}"/>
              </a:ext>
            </a:extLst>
          </p:cNvPr>
          <p:cNvPicPr>
            <a:picLocks noChangeAspect="1"/>
          </p:cNvPicPr>
          <p:nvPr/>
        </p:nvPicPr>
        <p:blipFill>
          <a:blip r:embed="rId2"/>
          <a:stretch>
            <a:fillRect/>
          </a:stretch>
        </p:blipFill>
        <p:spPr>
          <a:xfrm>
            <a:off x="517383" y="377462"/>
            <a:ext cx="2209800" cy="889000"/>
          </a:xfrm>
          <a:prstGeom prst="rect">
            <a:avLst/>
          </a:prstGeom>
        </p:spPr>
      </p:pic>
      <p:sp>
        <p:nvSpPr>
          <p:cNvPr id="5" name="TextBox 4">
            <a:extLst>
              <a:ext uri="{FF2B5EF4-FFF2-40B4-BE49-F238E27FC236}">
                <a16:creationId xmlns:a16="http://schemas.microsoft.com/office/drawing/2014/main" id="{F24E7986-AE41-3E31-326D-EDAC4E7E7B7B}"/>
              </a:ext>
            </a:extLst>
          </p:cNvPr>
          <p:cNvSpPr txBox="1"/>
          <p:nvPr/>
        </p:nvSpPr>
        <p:spPr>
          <a:xfrm>
            <a:off x="8562557" y="785742"/>
            <a:ext cx="1925908" cy="369332"/>
          </a:xfrm>
          <a:prstGeom prst="rect">
            <a:avLst/>
          </a:prstGeom>
          <a:noFill/>
        </p:spPr>
        <p:txBody>
          <a:bodyPr wrap="square" rtlCol="0">
            <a:spAutoFit/>
          </a:bodyPr>
          <a:lstStyle/>
          <a:p>
            <a:r>
              <a:rPr lang="en-US" dirty="0"/>
              <a:t>UNAMBIGUOUS</a:t>
            </a:r>
          </a:p>
        </p:txBody>
      </p:sp>
    </p:spTree>
    <p:extLst>
      <p:ext uri="{BB962C8B-B14F-4D97-AF65-F5344CB8AC3E}">
        <p14:creationId xmlns:p14="http://schemas.microsoft.com/office/powerpoint/2010/main" val="10746505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581C384-93DB-0D44-BE61-8197A0709109}"/>
              </a:ext>
            </a:extLst>
          </p:cNvPr>
          <p:cNvSpPr txBox="1"/>
          <p:nvPr/>
        </p:nvSpPr>
        <p:spPr>
          <a:xfrm>
            <a:off x="3196575" y="595375"/>
            <a:ext cx="3147015" cy="584775"/>
          </a:xfrm>
          <a:prstGeom prst="rect">
            <a:avLst/>
          </a:prstGeom>
          <a:noFill/>
        </p:spPr>
        <p:txBody>
          <a:bodyPr wrap="none" rtlCol="0">
            <a:spAutoFit/>
          </a:bodyPr>
          <a:lstStyle/>
          <a:p>
            <a:r>
              <a:rPr lang="en-US" sz="3200" dirty="0">
                <a:latin typeface="Courier" pitchFamily="2" charset="0"/>
              </a:rPr>
              <a:t>input: 2+3+4</a:t>
            </a:r>
          </a:p>
        </p:txBody>
      </p:sp>
      <p:sp>
        <p:nvSpPr>
          <p:cNvPr id="7" name="TextBox 6">
            <a:extLst>
              <a:ext uri="{FF2B5EF4-FFF2-40B4-BE49-F238E27FC236}">
                <a16:creationId xmlns:a16="http://schemas.microsoft.com/office/drawing/2014/main" id="{1EF4FC3F-B8F7-EF4A-8F6B-AAFA31AB4690}"/>
              </a:ext>
            </a:extLst>
          </p:cNvPr>
          <p:cNvSpPr txBox="1"/>
          <p:nvPr/>
        </p:nvSpPr>
        <p:spPr>
          <a:xfrm>
            <a:off x="8635402" y="2181957"/>
            <a:ext cx="597984" cy="369332"/>
          </a:xfrm>
          <a:prstGeom prst="rect">
            <a:avLst/>
          </a:prstGeom>
          <a:noFill/>
        </p:spPr>
        <p:txBody>
          <a:bodyPr wrap="none" rtlCol="0">
            <a:spAutoFit/>
          </a:bodyPr>
          <a:lstStyle/>
          <a:p>
            <a:r>
              <a:rPr lang="en-US" dirty="0"/>
              <a:t>expr</a:t>
            </a:r>
          </a:p>
        </p:txBody>
      </p:sp>
      <p:cxnSp>
        <p:nvCxnSpPr>
          <p:cNvPr id="8" name="Straight Connector 7">
            <a:extLst>
              <a:ext uri="{FF2B5EF4-FFF2-40B4-BE49-F238E27FC236}">
                <a16:creationId xmlns:a16="http://schemas.microsoft.com/office/drawing/2014/main" id="{30141CE8-2344-0948-9E95-8E3D11DE2430}"/>
              </a:ext>
            </a:extLst>
          </p:cNvPr>
          <p:cNvCxnSpPr>
            <a:cxnSpLocks/>
            <a:stCxn id="7" idx="2"/>
            <a:endCxn id="9" idx="0"/>
          </p:cNvCxnSpPr>
          <p:nvPr/>
        </p:nvCxnSpPr>
        <p:spPr>
          <a:xfrm flipH="1">
            <a:off x="7299498" y="2551289"/>
            <a:ext cx="1634896" cy="536644"/>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E6D905BC-8176-5C4B-8283-5453872C6006}"/>
              </a:ext>
            </a:extLst>
          </p:cNvPr>
          <p:cNvSpPr txBox="1"/>
          <p:nvPr/>
        </p:nvSpPr>
        <p:spPr>
          <a:xfrm>
            <a:off x="7000506" y="3087933"/>
            <a:ext cx="597984" cy="369332"/>
          </a:xfrm>
          <a:prstGeom prst="rect">
            <a:avLst/>
          </a:prstGeom>
          <a:noFill/>
        </p:spPr>
        <p:txBody>
          <a:bodyPr wrap="none" rtlCol="0">
            <a:spAutoFit/>
          </a:bodyPr>
          <a:lstStyle/>
          <a:p>
            <a:r>
              <a:rPr lang="en-US" dirty="0"/>
              <a:t>expr</a:t>
            </a:r>
          </a:p>
        </p:txBody>
      </p:sp>
      <p:cxnSp>
        <p:nvCxnSpPr>
          <p:cNvPr id="10" name="Straight Connector 9">
            <a:extLst>
              <a:ext uri="{FF2B5EF4-FFF2-40B4-BE49-F238E27FC236}">
                <a16:creationId xmlns:a16="http://schemas.microsoft.com/office/drawing/2014/main" id="{0686B2F0-A92C-9842-99A5-BB5F68B3CB0F}"/>
              </a:ext>
            </a:extLst>
          </p:cNvPr>
          <p:cNvCxnSpPr>
            <a:cxnSpLocks/>
            <a:stCxn id="7" idx="2"/>
            <a:endCxn id="12" idx="0"/>
          </p:cNvCxnSpPr>
          <p:nvPr/>
        </p:nvCxnSpPr>
        <p:spPr>
          <a:xfrm>
            <a:off x="8934394" y="2551289"/>
            <a:ext cx="0" cy="554837"/>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B373421-B101-4546-B128-9E43278BD634}"/>
              </a:ext>
            </a:extLst>
          </p:cNvPr>
          <p:cNvCxnSpPr>
            <a:cxnSpLocks/>
            <a:stCxn id="7" idx="2"/>
            <a:endCxn id="13" idx="0"/>
          </p:cNvCxnSpPr>
          <p:nvPr/>
        </p:nvCxnSpPr>
        <p:spPr>
          <a:xfrm>
            <a:off x="8934394" y="2551289"/>
            <a:ext cx="1057341" cy="536644"/>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60AF16AA-22CD-FA4F-9F55-FCC38AD1D4BA}"/>
              </a:ext>
            </a:extLst>
          </p:cNvPr>
          <p:cNvSpPr txBox="1"/>
          <p:nvPr/>
        </p:nvSpPr>
        <p:spPr>
          <a:xfrm>
            <a:off x="8494273" y="3106126"/>
            <a:ext cx="880241" cy="369332"/>
          </a:xfrm>
          <a:prstGeom prst="rect">
            <a:avLst/>
          </a:prstGeom>
          <a:noFill/>
        </p:spPr>
        <p:txBody>
          <a:bodyPr wrap="none" rtlCol="0">
            <a:spAutoFit/>
          </a:bodyPr>
          <a:lstStyle/>
          <a:p>
            <a:r>
              <a:rPr lang="en-US" dirty="0"/>
              <a:t>&lt;PLUS&gt;</a:t>
            </a:r>
          </a:p>
        </p:txBody>
      </p:sp>
      <p:sp>
        <p:nvSpPr>
          <p:cNvPr id="13" name="TextBox 12">
            <a:extLst>
              <a:ext uri="{FF2B5EF4-FFF2-40B4-BE49-F238E27FC236}">
                <a16:creationId xmlns:a16="http://schemas.microsoft.com/office/drawing/2014/main" id="{BA6A98FD-3CE1-2241-952E-12AD71379DB0}"/>
              </a:ext>
            </a:extLst>
          </p:cNvPr>
          <p:cNvSpPr txBox="1"/>
          <p:nvPr/>
        </p:nvSpPr>
        <p:spPr>
          <a:xfrm>
            <a:off x="9692743" y="3087933"/>
            <a:ext cx="597984" cy="369332"/>
          </a:xfrm>
          <a:prstGeom prst="rect">
            <a:avLst/>
          </a:prstGeom>
          <a:noFill/>
        </p:spPr>
        <p:txBody>
          <a:bodyPr wrap="none" rtlCol="0">
            <a:spAutoFit/>
          </a:bodyPr>
          <a:lstStyle/>
          <a:p>
            <a:r>
              <a:rPr lang="en-US" dirty="0"/>
              <a:t>expr</a:t>
            </a:r>
          </a:p>
        </p:txBody>
      </p:sp>
      <p:sp>
        <p:nvSpPr>
          <p:cNvPr id="14" name="TextBox 13">
            <a:extLst>
              <a:ext uri="{FF2B5EF4-FFF2-40B4-BE49-F238E27FC236}">
                <a16:creationId xmlns:a16="http://schemas.microsoft.com/office/drawing/2014/main" id="{66D518E2-D041-B54A-BAFD-9F3EB0B79156}"/>
              </a:ext>
            </a:extLst>
          </p:cNvPr>
          <p:cNvSpPr txBox="1"/>
          <p:nvPr/>
        </p:nvSpPr>
        <p:spPr>
          <a:xfrm>
            <a:off x="6724021" y="5469967"/>
            <a:ext cx="1136850" cy="369332"/>
          </a:xfrm>
          <a:prstGeom prst="rect">
            <a:avLst/>
          </a:prstGeom>
          <a:noFill/>
        </p:spPr>
        <p:txBody>
          <a:bodyPr wrap="none" rtlCol="0">
            <a:spAutoFit/>
          </a:bodyPr>
          <a:lstStyle/>
          <a:p>
            <a:r>
              <a:rPr lang="en-US" dirty="0"/>
              <a:t>&lt;NUM, 2&gt;</a:t>
            </a:r>
          </a:p>
        </p:txBody>
      </p:sp>
      <p:cxnSp>
        <p:nvCxnSpPr>
          <p:cNvPr id="15" name="Straight Connector 14">
            <a:extLst>
              <a:ext uri="{FF2B5EF4-FFF2-40B4-BE49-F238E27FC236}">
                <a16:creationId xmlns:a16="http://schemas.microsoft.com/office/drawing/2014/main" id="{7BE47221-BFFC-0243-AFE9-5C53FC906A1B}"/>
              </a:ext>
            </a:extLst>
          </p:cNvPr>
          <p:cNvCxnSpPr>
            <a:cxnSpLocks/>
            <a:endCxn id="22" idx="0"/>
          </p:cNvCxnSpPr>
          <p:nvPr/>
        </p:nvCxnSpPr>
        <p:spPr>
          <a:xfrm flipH="1">
            <a:off x="7298056" y="3477414"/>
            <a:ext cx="1442" cy="464578"/>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9807E1A-CE97-FF41-A2A5-7C3CB46AC284}"/>
              </a:ext>
            </a:extLst>
          </p:cNvPr>
          <p:cNvCxnSpPr>
            <a:cxnSpLocks/>
          </p:cNvCxnSpPr>
          <p:nvPr/>
        </p:nvCxnSpPr>
        <p:spPr>
          <a:xfrm flipH="1">
            <a:off x="8758711" y="3459774"/>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9DAF383E-DF34-F944-BC7F-24A207C0E665}"/>
              </a:ext>
            </a:extLst>
          </p:cNvPr>
          <p:cNvCxnSpPr>
            <a:cxnSpLocks/>
          </p:cNvCxnSpPr>
          <p:nvPr/>
        </p:nvCxnSpPr>
        <p:spPr>
          <a:xfrm>
            <a:off x="9983084" y="3459774"/>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8CA92CF3-16B2-3A46-9746-FE978094BA1D}"/>
              </a:ext>
            </a:extLst>
          </p:cNvPr>
          <p:cNvCxnSpPr>
            <a:cxnSpLocks/>
          </p:cNvCxnSpPr>
          <p:nvPr/>
        </p:nvCxnSpPr>
        <p:spPr>
          <a:xfrm>
            <a:off x="9983084" y="3459774"/>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5173FE82-5C9F-3B48-8EAE-3B7CB4B7E7F6}"/>
              </a:ext>
            </a:extLst>
          </p:cNvPr>
          <p:cNvSpPr txBox="1"/>
          <p:nvPr/>
        </p:nvSpPr>
        <p:spPr>
          <a:xfrm>
            <a:off x="9525511" y="3926876"/>
            <a:ext cx="880241" cy="369332"/>
          </a:xfrm>
          <a:prstGeom prst="rect">
            <a:avLst/>
          </a:prstGeom>
          <a:noFill/>
        </p:spPr>
        <p:txBody>
          <a:bodyPr wrap="none" rtlCol="0">
            <a:spAutoFit/>
          </a:bodyPr>
          <a:lstStyle/>
          <a:p>
            <a:r>
              <a:rPr lang="en-US" dirty="0"/>
              <a:t>&lt;PLUS&gt;</a:t>
            </a:r>
          </a:p>
        </p:txBody>
      </p:sp>
      <p:sp>
        <p:nvSpPr>
          <p:cNvPr id="20" name="TextBox 19">
            <a:extLst>
              <a:ext uri="{FF2B5EF4-FFF2-40B4-BE49-F238E27FC236}">
                <a16:creationId xmlns:a16="http://schemas.microsoft.com/office/drawing/2014/main" id="{5F067DEE-CDD4-7E46-9949-17B518AA1F04}"/>
              </a:ext>
            </a:extLst>
          </p:cNvPr>
          <p:cNvSpPr txBox="1"/>
          <p:nvPr/>
        </p:nvSpPr>
        <p:spPr>
          <a:xfrm>
            <a:off x="8459719" y="3895483"/>
            <a:ext cx="597984" cy="369332"/>
          </a:xfrm>
          <a:prstGeom prst="rect">
            <a:avLst/>
          </a:prstGeom>
          <a:noFill/>
        </p:spPr>
        <p:txBody>
          <a:bodyPr wrap="none" rtlCol="0">
            <a:spAutoFit/>
          </a:bodyPr>
          <a:lstStyle/>
          <a:p>
            <a:r>
              <a:rPr lang="en-US" dirty="0"/>
              <a:t>expr</a:t>
            </a:r>
          </a:p>
        </p:txBody>
      </p:sp>
      <p:sp>
        <p:nvSpPr>
          <p:cNvPr id="21" name="TextBox 20">
            <a:extLst>
              <a:ext uri="{FF2B5EF4-FFF2-40B4-BE49-F238E27FC236}">
                <a16:creationId xmlns:a16="http://schemas.microsoft.com/office/drawing/2014/main" id="{4CCBC7C3-3B2D-8846-922F-FFE276D95ACE}"/>
              </a:ext>
            </a:extLst>
          </p:cNvPr>
          <p:cNvSpPr txBox="1"/>
          <p:nvPr/>
        </p:nvSpPr>
        <p:spPr>
          <a:xfrm>
            <a:off x="10781251" y="3895483"/>
            <a:ext cx="597984" cy="369332"/>
          </a:xfrm>
          <a:prstGeom prst="rect">
            <a:avLst/>
          </a:prstGeom>
          <a:noFill/>
        </p:spPr>
        <p:txBody>
          <a:bodyPr wrap="none" rtlCol="0">
            <a:spAutoFit/>
          </a:bodyPr>
          <a:lstStyle/>
          <a:p>
            <a:r>
              <a:rPr lang="en-US" dirty="0"/>
              <a:t>expr</a:t>
            </a:r>
          </a:p>
        </p:txBody>
      </p:sp>
      <p:sp>
        <p:nvSpPr>
          <p:cNvPr id="22" name="TextBox 21">
            <a:extLst>
              <a:ext uri="{FF2B5EF4-FFF2-40B4-BE49-F238E27FC236}">
                <a16:creationId xmlns:a16="http://schemas.microsoft.com/office/drawing/2014/main" id="{523078ED-048C-F640-ACD0-3E3AAD13C997}"/>
              </a:ext>
            </a:extLst>
          </p:cNvPr>
          <p:cNvSpPr txBox="1"/>
          <p:nvPr/>
        </p:nvSpPr>
        <p:spPr>
          <a:xfrm>
            <a:off x="6978545" y="3941992"/>
            <a:ext cx="639021" cy="369332"/>
          </a:xfrm>
          <a:prstGeom prst="rect">
            <a:avLst/>
          </a:prstGeom>
          <a:noFill/>
        </p:spPr>
        <p:txBody>
          <a:bodyPr wrap="none" rtlCol="0">
            <a:spAutoFit/>
          </a:bodyPr>
          <a:lstStyle/>
          <a:p>
            <a:r>
              <a:rPr lang="en-US" dirty="0"/>
              <a:t>term</a:t>
            </a:r>
          </a:p>
        </p:txBody>
      </p:sp>
      <p:cxnSp>
        <p:nvCxnSpPr>
          <p:cNvPr id="23" name="Straight Connector 22">
            <a:extLst>
              <a:ext uri="{FF2B5EF4-FFF2-40B4-BE49-F238E27FC236}">
                <a16:creationId xmlns:a16="http://schemas.microsoft.com/office/drawing/2014/main" id="{AD31FE39-303E-6A49-A3C2-0B76C241499E}"/>
              </a:ext>
            </a:extLst>
          </p:cNvPr>
          <p:cNvCxnSpPr>
            <a:cxnSpLocks/>
            <a:stCxn id="22" idx="2"/>
            <a:endCxn id="24" idx="0"/>
          </p:cNvCxnSpPr>
          <p:nvPr/>
        </p:nvCxnSpPr>
        <p:spPr>
          <a:xfrm flipH="1">
            <a:off x="7298055" y="4311324"/>
            <a:ext cx="1" cy="489250"/>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085D5B41-A14A-6947-AF22-039FD4CC5D3A}"/>
              </a:ext>
            </a:extLst>
          </p:cNvPr>
          <p:cNvSpPr txBox="1"/>
          <p:nvPr/>
        </p:nvSpPr>
        <p:spPr>
          <a:xfrm>
            <a:off x="6930165" y="4800574"/>
            <a:ext cx="735779" cy="369332"/>
          </a:xfrm>
          <a:prstGeom prst="rect">
            <a:avLst/>
          </a:prstGeom>
          <a:noFill/>
        </p:spPr>
        <p:txBody>
          <a:bodyPr wrap="none" rtlCol="0">
            <a:spAutoFit/>
          </a:bodyPr>
          <a:lstStyle/>
          <a:p>
            <a:r>
              <a:rPr lang="en-US" dirty="0"/>
              <a:t>factor</a:t>
            </a:r>
          </a:p>
        </p:txBody>
      </p:sp>
      <p:cxnSp>
        <p:nvCxnSpPr>
          <p:cNvPr id="25" name="Straight Connector 24">
            <a:extLst>
              <a:ext uri="{FF2B5EF4-FFF2-40B4-BE49-F238E27FC236}">
                <a16:creationId xmlns:a16="http://schemas.microsoft.com/office/drawing/2014/main" id="{C24A46DA-5EEF-E14F-98AC-75E996BC5908}"/>
              </a:ext>
            </a:extLst>
          </p:cNvPr>
          <p:cNvCxnSpPr>
            <a:cxnSpLocks/>
            <a:stCxn id="24" idx="2"/>
            <a:endCxn id="14" idx="0"/>
          </p:cNvCxnSpPr>
          <p:nvPr/>
        </p:nvCxnSpPr>
        <p:spPr>
          <a:xfrm flipH="1">
            <a:off x="7292446" y="5169906"/>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53922C26-78A1-2B41-8636-490EF1E8297B}"/>
              </a:ext>
            </a:extLst>
          </p:cNvPr>
          <p:cNvSpPr txBox="1"/>
          <p:nvPr/>
        </p:nvSpPr>
        <p:spPr>
          <a:xfrm>
            <a:off x="8223152" y="5907160"/>
            <a:ext cx="1136850" cy="369332"/>
          </a:xfrm>
          <a:prstGeom prst="rect">
            <a:avLst/>
          </a:prstGeom>
          <a:noFill/>
        </p:spPr>
        <p:txBody>
          <a:bodyPr wrap="none" rtlCol="0">
            <a:spAutoFit/>
          </a:bodyPr>
          <a:lstStyle/>
          <a:p>
            <a:r>
              <a:rPr lang="en-US" dirty="0"/>
              <a:t>&lt;NUM, 3&gt;</a:t>
            </a:r>
          </a:p>
        </p:txBody>
      </p:sp>
      <p:sp>
        <p:nvSpPr>
          <p:cNvPr id="29" name="TextBox 28">
            <a:extLst>
              <a:ext uri="{FF2B5EF4-FFF2-40B4-BE49-F238E27FC236}">
                <a16:creationId xmlns:a16="http://schemas.microsoft.com/office/drawing/2014/main" id="{797B625C-0EB6-C44A-B7B1-59D7A6B79F63}"/>
              </a:ext>
            </a:extLst>
          </p:cNvPr>
          <p:cNvSpPr txBox="1"/>
          <p:nvPr/>
        </p:nvSpPr>
        <p:spPr>
          <a:xfrm>
            <a:off x="8429296" y="4595211"/>
            <a:ext cx="639021" cy="369332"/>
          </a:xfrm>
          <a:prstGeom prst="rect">
            <a:avLst/>
          </a:prstGeom>
          <a:noFill/>
        </p:spPr>
        <p:txBody>
          <a:bodyPr wrap="none" rtlCol="0">
            <a:spAutoFit/>
          </a:bodyPr>
          <a:lstStyle/>
          <a:p>
            <a:r>
              <a:rPr lang="en-US" dirty="0"/>
              <a:t>term</a:t>
            </a:r>
          </a:p>
        </p:txBody>
      </p:sp>
      <p:cxnSp>
        <p:nvCxnSpPr>
          <p:cNvPr id="30" name="Straight Connector 29">
            <a:extLst>
              <a:ext uri="{FF2B5EF4-FFF2-40B4-BE49-F238E27FC236}">
                <a16:creationId xmlns:a16="http://schemas.microsoft.com/office/drawing/2014/main" id="{EFCE927F-6F2D-7C4E-A51D-683038842E00}"/>
              </a:ext>
            </a:extLst>
          </p:cNvPr>
          <p:cNvCxnSpPr>
            <a:cxnSpLocks/>
            <a:endCxn id="28" idx="0"/>
          </p:cNvCxnSpPr>
          <p:nvPr/>
        </p:nvCxnSpPr>
        <p:spPr>
          <a:xfrm>
            <a:off x="8791577" y="5598467"/>
            <a:ext cx="0" cy="308693"/>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3EF182C6-3A3A-5340-AECF-F5309B097F1B}"/>
              </a:ext>
            </a:extLst>
          </p:cNvPr>
          <p:cNvCxnSpPr>
            <a:cxnSpLocks/>
          </p:cNvCxnSpPr>
          <p:nvPr/>
        </p:nvCxnSpPr>
        <p:spPr>
          <a:xfrm flipH="1">
            <a:off x="8773620" y="4276824"/>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13C08319-763D-EC4A-85E5-A88DF4758EAC}"/>
              </a:ext>
            </a:extLst>
          </p:cNvPr>
          <p:cNvSpPr txBox="1"/>
          <p:nvPr/>
        </p:nvSpPr>
        <p:spPr>
          <a:xfrm>
            <a:off x="10546607" y="5907160"/>
            <a:ext cx="1136850" cy="369332"/>
          </a:xfrm>
          <a:prstGeom prst="rect">
            <a:avLst/>
          </a:prstGeom>
          <a:noFill/>
        </p:spPr>
        <p:txBody>
          <a:bodyPr wrap="none" rtlCol="0">
            <a:spAutoFit/>
          </a:bodyPr>
          <a:lstStyle/>
          <a:p>
            <a:r>
              <a:rPr lang="en-US" dirty="0"/>
              <a:t>&lt;NUM, 4&gt;</a:t>
            </a:r>
          </a:p>
        </p:txBody>
      </p:sp>
      <p:sp>
        <p:nvSpPr>
          <p:cNvPr id="33" name="TextBox 32">
            <a:extLst>
              <a:ext uri="{FF2B5EF4-FFF2-40B4-BE49-F238E27FC236}">
                <a16:creationId xmlns:a16="http://schemas.microsoft.com/office/drawing/2014/main" id="{9F2F9A8A-EA8C-4840-9B67-4CF2EB90B9E3}"/>
              </a:ext>
            </a:extLst>
          </p:cNvPr>
          <p:cNvSpPr txBox="1"/>
          <p:nvPr/>
        </p:nvSpPr>
        <p:spPr>
          <a:xfrm>
            <a:off x="10752751" y="4595211"/>
            <a:ext cx="639021" cy="369332"/>
          </a:xfrm>
          <a:prstGeom prst="rect">
            <a:avLst/>
          </a:prstGeom>
          <a:noFill/>
        </p:spPr>
        <p:txBody>
          <a:bodyPr wrap="none" rtlCol="0">
            <a:spAutoFit/>
          </a:bodyPr>
          <a:lstStyle/>
          <a:p>
            <a:r>
              <a:rPr lang="en-US" dirty="0"/>
              <a:t>term</a:t>
            </a:r>
          </a:p>
        </p:txBody>
      </p:sp>
      <p:cxnSp>
        <p:nvCxnSpPr>
          <p:cNvPr id="34" name="Straight Connector 33">
            <a:extLst>
              <a:ext uri="{FF2B5EF4-FFF2-40B4-BE49-F238E27FC236}">
                <a16:creationId xmlns:a16="http://schemas.microsoft.com/office/drawing/2014/main" id="{94B5E655-A336-324F-8040-8067BBACD221}"/>
              </a:ext>
            </a:extLst>
          </p:cNvPr>
          <p:cNvCxnSpPr>
            <a:cxnSpLocks/>
            <a:endCxn id="32" idx="0"/>
          </p:cNvCxnSpPr>
          <p:nvPr/>
        </p:nvCxnSpPr>
        <p:spPr>
          <a:xfrm>
            <a:off x="11115032" y="5642964"/>
            <a:ext cx="0" cy="264196"/>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E7FBE64F-48C5-3445-A705-3585FFC27A81}"/>
              </a:ext>
            </a:extLst>
          </p:cNvPr>
          <p:cNvCxnSpPr>
            <a:cxnSpLocks/>
          </p:cNvCxnSpPr>
          <p:nvPr/>
        </p:nvCxnSpPr>
        <p:spPr>
          <a:xfrm flipH="1">
            <a:off x="11097075" y="4276824"/>
            <a:ext cx="5609" cy="300061"/>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0E9BEB0F-F6AB-D14C-AA7C-F8C362827398}"/>
              </a:ext>
            </a:extLst>
          </p:cNvPr>
          <p:cNvCxnSpPr>
            <a:cxnSpLocks/>
            <a:stCxn id="29" idx="2"/>
            <a:endCxn id="42" idx="0"/>
          </p:cNvCxnSpPr>
          <p:nvPr/>
        </p:nvCxnSpPr>
        <p:spPr>
          <a:xfrm>
            <a:off x="8748807" y="4964543"/>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D5E41403-C4A0-4D4C-8612-2848F97625CD}"/>
              </a:ext>
            </a:extLst>
          </p:cNvPr>
          <p:cNvSpPr txBox="1"/>
          <p:nvPr/>
        </p:nvSpPr>
        <p:spPr>
          <a:xfrm>
            <a:off x="8390821" y="5207432"/>
            <a:ext cx="735779" cy="369332"/>
          </a:xfrm>
          <a:prstGeom prst="rect">
            <a:avLst/>
          </a:prstGeom>
          <a:noFill/>
        </p:spPr>
        <p:txBody>
          <a:bodyPr wrap="none" rtlCol="0">
            <a:spAutoFit/>
          </a:bodyPr>
          <a:lstStyle/>
          <a:p>
            <a:r>
              <a:rPr lang="en-US" dirty="0"/>
              <a:t>factor</a:t>
            </a:r>
          </a:p>
        </p:txBody>
      </p:sp>
      <p:cxnSp>
        <p:nvCxnSpPr>
          <p:cNvPr id="46" name="Straight Connector 45">
            <a:extLst>
              <a:ext uri="{FF2B5EF4-FFF2-40B4-BE49-F238E27FC236}">
                <a16:creationId xmlns:a16="http://schemas.microsoft.com/office/drawing/2014/main" id="{614A3599-6266-194B-A062-C993C27C06A8}"/>
              </a:ext>
            </a:extLst>
          </p:cNvPr>
          <p:cNvCxnSpPr>
            <a:cxnSpLocks/>
            <a:endCxn id="47" idx="0"/>
          </p:cNvCxnSpPr>
          <p:nvPr/>
        </p:nvCxnSpPr>
        <p:spPr>
          <a:xfrm>
            <a:off x="11070339" y="4886852"/>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F1C7E270-ED72-8040-87BF-6441A4678689}"/>
              </a:ext>
            </a:extLst>
          </p:cNvPr>
          <p:cNvSpPr txBox="1"/>
          <p:nvPr/>
        </p:nvSpPr>
        <p:spPr>
          <a:xfrm>
            <a:off x="10712353" y="5129741"/>
            <a:ext cx="735779" cy="369332"/>
          </a:xfrm>
          <a:prstGeom prst="rect">
            <a:avLst/>
          </a:prstGeom>
          <a:noFill/>
        </p:spPr>
        <p:txBody>
          <a:bodyPr wrap="none" rtlCol="0">
            <a:spAutoFit/>
          </a:bodyPr>
          <a:lstStyle/>
          <a:p>
            <a:r>
              <a:rPr lang="en-US" dirty="0"/>
              <a:t>factor</a:t>
            </a:r>
          </a:p>
        </p:txBody>
      </p:sp>
      <p:sp>
        <p:nvSpPr>
          <p:cNvPr id="36" name="TextBox 35">
            <a:extLst>
              <a:ext uri="{FF2B5EF4-FFF2-40B4-BE49-F238E27FC236}">
                <a16:creationId xmlns:a16="http://schemas.microsoft.com/office/drawing/2014/main" id="{5EC1923B-CC00-F54F-B58B-2CBADA324DE1}"/>
              </a:ext>
            </a:extLst>
          </p:cNvPr>
          <p:cNvSpPr txBox="1"/>
          <p:nvPr/>
        </p:nvSpPr>
        <p:spPr>
          <a:xfrm>
            <a:off x="3337704" y="1941731"/>
            <a:ext cx="597984" cy="369332"/>
          </a:xfrm>
          <a:prstGeom prst="rect">
            <a:avLst/>
          </a:prstGeom>
          <a:noFill/>
        </p:spPr>
        <p:txBody>
          <a:bodyPr wrap="none" rtlCol="0">
            <a:spAutoFit/>
          </a:bodyPr>
          <a:lstStyle/>
          <a:p>
            <a:r>
              <a:rPr lang="en-US" dirty="0"/>
              <a:t>expr</a:t>
            </a:r>
          </a:p>
        </p:txBody>
      </p:sp>
      <p:cxnSp>
        <p:nvCxnSpPr>
          <p:cNvPr id="37" name="Straight Connector 36">
            <a:extLst>
              <a:ext uri="{FF2B5EF4-FFF2-40B4-BE49-F238E27FC236}">
                <a16:creationId xmlns:a16="http://schemas.microsoft.com/office/drawing/2014/main" id="{3BEC7F16-A435-7C43-9D5A-1A75CBD13DBE}"/>
              </a:ext>
            </a:extLst>
          </p:cNvPr>
          <p:cNvCxnSpPr>
            <a:cxnSpLocks/>
            <a:stCxn id="36" idx="2"/>
            <a:endCxn id="38" idx="0"/>
          </p:cNvCxnSpPr>
          <p:nvPr/>
        </p:nvCxnSpPr>
        <p:spPr>
          <a:xfrm flipH="1">
            <a:off x="2001800" y="2311063"/>
            <a:ext cx="1634896" cy="536644"/>
          </a:xfrm>
          <a:prstGeom prst="line">
            <a:avLst/>
          </a:prstGeom>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38EE1F56-B098-B34B-BF7A-EF753C1D22C6}"/>
              </a:ext>
            </a:extLst>
          </p:cNvPr>
          <p:cNvSpPr txBox="1"/>
          <p:nvPr/>
        </p:nvSpPr>
        <p:spPr>
          <a:xfrm>
            <a:off x="1702808" y="2847707"/>
            <a:ext cx="597984" cy="369332"/>
          </a:xfrm>
          <a:prstGeom prst="rect">
            <a:avLst/>
          </a:prstGeom>
          <a:noFill/>
        </p:spPr>
        <p:txBody>
          <a:bodyPr wrap="none" rtlCol="0">
            <a:spAutoFit/>
          </a:bodyPr>
          <a:lstStyle/>
          <a:p>
            <a:r>
              <a:rPr lang="en-US" dirty="0"/>
              <a:t>expr</a:t>
            </a:r>
          </a:p>
        </p:txBody>
      </p:sp>
      <p:cxnSp>
        <p:nvCxnSpPr>
          <p:cNvPr id="39" name="Straight Connector 38">
            <a:extLst>
              <a:ext uri="{FF2B5EF4-FFF2-40B4-BE49-F238E27FC236}">
                <a16:creationId xmlns:a16="http://schemas.microsoft.com/office/drawing/2014/main" id="{130EC886-051B-1248-823D-2EB736133459}"/>
              </a:ext>
            </a:extLst>
          </p:cNvPr>
          <p:cNvCxnSpPr>
            <a:cxnSpLocks/>
            <a:stCxn id="36" idx="2"/>
            <a:endCxn id="43" idx="0"/>
          </p:cNvCxnSpPr>
          <p:nvPr/>
        </p:nvCxnSpPr>
        <p:spPr>
          <a:xfrm>
            <a:off x="3636696" y="2311063"/>
            <a:ext cx="0" cy="554837"/>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4952DEB2-6A92-8541-ACE1-DDEDA7B9D118}"/>
              </a:ext>
            </a:extLst>
          </p:cNvPr>
          <p:cNvCxnSpPr>
            <a:cxnSpLocks/>
            <a:stCxn id="36" idx="2"/>
            <a:endCxn id="44" idx="0"/>
          </p:cNvCxnSpPr>
          <p:nvPr/>
        </p:nvCxnSpPr>
        <p:spPr>
          <a:xfrm>
            <a:off x="3636696" y="2311063"/>
            <a:ext cx="1057341" cy="536644"/>
          </a:xfrm>
          <a:prstGeom prst="line">
            <a:avLst/>
          </a:prstGeom>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1A9C10E0-8E1E-5748-91F2-5B29E549D1D6}"/>
              </a:ext>
            </a:extLst>
          </p:cNvPr>
          <p:cNvSpPr txBox="1"/>
          <p:nvPr/>
        </p:nvSpPr>
        <p:spPr>
          <a:xfrm>
            <a:off x="3196575" y="2865900"/>
            <a:ext cx="880241" cy="369332"/>
          </a:xfrm>
          <a:prstGeom prst="rect">
            <a:avLst/>
          </a:prstGeom>
          <a:noFill/>
        </p:spPr>
        <p:txBody>
          <a:bodyPr wrap="none" rtlCol="0">
            <a:spAutoFit/>
          </a:bodyPr>
          <a:lstStyle/>
          <a:p>
            <a:r>
              <a:rPr lang="en-US" dirty="0"/>
              <a:t>&lt;PLUS&gt;</a:t>
            </a:r>
          </a:p>
        </p:txBody>
      </p:sp>
      <p:sp>
        <p:nvSpPr>
          <p:cNvPr id="44" name="TextBox 43">
            <a:extLst>
              <a:ext uri="{FF2B5EF4-FFF2-40B4-BE49-F238E27FC236}">
                <a16:creationId xmlns:a16="http://schemas.microsoft.com/office/drawing/2014/main" id="{D7CA5CA2-4EA4-3B4E-9A91-6DDCD6F71A20}"/>
              </a:ext>
            </a:extLst>
          </p:cNvPr>
          <p:cNvSpPr txBox="1"/>
          <p:nvPr/>
        </p:nvSpPr>
        <p:spPr>
          <a:xfrm>
            <a:off x="4395045" y="2847707"/>
            <a:ext cx="597984" cy="369332"/>
          </a:xfrm>
          <a:prstGeom prst="rect">
            <a:avLst/>
          </a:prstGeom>
          <a:noFill/>
        </p:spPr>
        <p:txBody>
          <a:bodyPr wrap="none" rtlCol="0">
            <a:spAutoFit/>
          </a:bodyPr>
          <a:lstStyle/>
          <a:p>
            <a:r>
              <a:rPr lang="en-US" dirty="0"/>
              <a:t>expr</a:t>
            </a:r>
          </a:p>
        </p:txBody>
      </p:sp>
      <p:cxnSp>
        <p:nvCxnSpPr>
          <p:cNvPr id="49" name="Straight Connector 48">
            <a:extLst>
              <a:ext uri="{FF2B5EF4-FFF2-40B4-BE49-F238E27FC236}">
                <a16:creationId xmlns:a16="http://schemas.microsoft.com/office/drawing/2014/main" id="{2737F467-DD3B-464D-AB7C-48ADAE9C7A75}"/>
              </a:ext>
            </a:extLst>
          </p:cNvPr>
          <p:cNvCxnSpPr>
            <a:cxnSpLocks/>
          </p:cNvCxnSpPr>
          <p:nvPr/>
        </p:nvCxnSpPr>
        <p:spPr>
          <a:xfrm flipH="1">
            <a:off x="704643" y="3275108"/>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3B3C027E-6CAD-874A-BA4C-D4BDE373AB42}"/>
              </a:ext>
            </a:extLst>
          </p:cNvPr>
          <p:cNvCxnSpPr>
            <a:cxnSpLocks/>
          </p:cNvCxnSpPr>
          <p:nvPr/>
        </p:nvCxnSpPr>
        <p:spPr>
          <a:xfrm>
            <a:off x="1929016" y="3275108"/>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1ED3D8CF-46C2-074A-B667-A1B26D7A6839}"/>
              </a:ext>
            </a:extLst>
          </p:cNvPr>
          <p:cNvCxnSpPr>
            <a:cxnSpLocks/>
          </p:cNvCxnSpPr>
          <p:nvPr/>
        </p:nvCxnSpPr>
        <p:spPr>
          <a:xfrm>
            <a:off x="1929016" y="3275108"/>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41C57070-1823-F445-9473-2FC7F87656AF}"/>
              </a:ext>
            </a:extLst>
          </p:cNvPr>
          <p:cNvSpPr txBox="1"/>
          <p:nvPr/>
        </p:nvSpPr>
        <p:spPr>
          <a:xfrm>
            <a:off x="1471443" y="3742210"/>
            <a:ext cx="880241" cy="369332"/>
          </a:xfrm>
          <a:prstGeom prst="rect">
            <a:avLst/>
          </a:prstGeom>
          <a:noFill/>
        </p:spPr>
        <p:txBody>
          <a:bodyPr wrap="none" rtlCol="0">
            <a:spAutoFit/>
          </a:bodyPr>
          <a:lstStyle/>
          <a:p>
            <a:r>
              <a:rPr lang="en-US" dirty="0"/>
              <a:t>&lt;PLUS&gt;</a:t>
            </a:r>
          </a:p>
        </p:txBody>
      </p:sp>
      <p:sp>
        <p:nvSpPr>
          <p:cNvPr id="53" name="TextBox 52">
            <a:extLst>
              <a:ext uri="{FF2B5EF4-FFF2-40B4-BE49-F238E27FC236}">
                <a16:creationId xmlns:a16="http://schemas.microsoft.com/office/drawing/2014/main" id="{96253B0E-0EC6-3148-A7AA-7554864A0EED}"/>
              </a:ext>
            </a:extLst>
          </p:cNvPr>
          <p:cNvSpPr txBox="1"/>
          <p:nvPr/>
        </p:nvSpPr>
        <p:spPr>
          <a:xfrm>
            <a:off x="405651" y="3710817"/>
            <a:ext cx="597984" cy="369332"/>
          </a:xfrm>
          <a:prstGeom prst="rect">
            <a:avLst/>
          </a:prstGeom>
          <a:noFill/>
        </p:spPr>
        <p:txBody>
          <a:bodyPr wrap="none" rtlCol="0">
            <a:spAutoFit/>
          </a:bodyPr>
          <a:lstStyle/>
          <a:p>
            <a:r>
              <a:rPr lang="en-US" dirty="0"/>
              <a:t>expr</a:t>
            </a:r>
          </a:p>
        </p:txBody>
      </p:sp>
      <p:sp>
        <p:nvSpPr>
          <p:cNvPr id="54" name="TextBox 53">
            <a:extLst>
              <a:ext uri="{FF2B5EF4-FFF2-40B4-BE49-F238E27FC236}">
                <a16:creationId xmlns:a16="http://schemas.microsoft.com/office/drawing/2014/main" id="{E8D89358-50D5-5149-9D7E-12BE25096FA6}"/>
              </a:ext>
            </a:extLst>
          </p:cNvPr>
          <p:cNvSpPr txBox="1"/>
          <p:nvPr/>
        </p:nvSpPr>
        <p:spPr>
          <a:xfrm>
            <a:off x="2727183" y="3710817"/>
            <a:ext cx="597984" cy="369332"/>
          </a:xfrm>
          <a:prstGeom prst="rect">
            <a:avLst/>
          </a:prstGeom>
          <a:noFill/>
        </p:spPr>
        <p:txBody>
          <a:bodyPr wrap="none" rtlCol="0">
            <a:spAutoFit/>
          </a:bodyPr>
          <a:lstStyle/>
          <a:p>
            <a:r>
              <a:rPr lang="en-US" dirty="0"/>
              <a:t>expr</a:t>
            </a:r>
          </a:p>
        </p:txBody>
      </p:sp>
      <p:sp>
        <p:nvSpPr>
          <p:cNvPr id="59" name="TextBox 58">
            <a:extLst>
              <a:ext uri="{FF2B5EF4-FFF2-40B4-BE49-F238E27FC236}">
                <a16:creationId xmlns:a16="http://schemas.microsoft.com/office/drawing/2014/main" id="{4BB51672-AA26-1342-9E90-03C0F97FFA09}"/>
              </a:ext>
            </a:extLst>
          </p:cNvPr>
          <p:cNvSpPr txBox="1"/>
          <p:nvPr/>
        </p:nvSpPr>
        <p:spPr>
          <a:xfrm>
            <a:off x="169084" y="5722494"/>
            <a:ext cx="1136850" cy="369332"/>
          </a:xfrm>
          <a:prstGeom prst="rect">
            <a:avLst/>
          </a:prstGeom>
          <a:noFill/>
        </p:spPr>
        <p:txBody>
          <a:bodyPr wrap="none" rtlCol="0">
            <a:spAutoFit/>
          </a:bodyPr>
          <a:lstStyle/>
          <a:p>
            <a:r>
              <a:rPr lang="en-US" dirty="0"/>
              <a:t>&lt;NUM, 2&gt;</a:t>
            </a:r>
          </a:p>
        </p:txBody>
      </p:sp>
      <p:sp>
        <p:nvSpPr>
          <p:cNvPr id="60" name="TextBox 59">
            <a:extLst>
              <a:ext uri="{FF2B5EF4-FFF2-40B4-BE49-F238E27FC236}">
                <a16:creationId xmlns:a16="http://schemas.microsoft.com/office/drawing/2014/main" id="{C1BB3498-EE54-8746-A272-5AD0BED142DC}"/>
              </a:ext>
            </a:extLst>
          </p:cNvPr>
          <p:cNvSpPr txBox="1"/>
          <p:nvPr/>
        </p:nvSpPr>
        <p:spPr>
          <a:xfrm>
            <a:off x="375228" y="4410545"/>
            <a:ext cx="639021" cy="369332"/>
          </a:xfrm>
          <a:prstGeom prst="rect">
            <a:avLst/>
          </a:prstGeom>
          <a:noFill/>
        </p:spPr>
        <p:txBody>
          <a:bodyPr wrap="none" rtlCol="0">
            <a:spAutoFit/>
          </a:bodyPr>
          <a:lstStyle/>
          <a:p>
            <a:r>
              <a:rPr lang="en-US" dirty="0"/>
              <a:t>term</a:t>
            </a:r>
          </a:p>
        </p:txBody>
      </p:sp>
      <p:cxnSp>
        <p:nvCxnSpPr>
          <p:cNvPr id="61" name="Straight Connector 60">
            <a:extLst>
              <a:ext uri="{FF2B5EF4-FFF2-40B4-BE49-F238E27FC236}">
                <a16:creationId xmlns:a16="http://schemas.microsoft.com/office/drawing/2014/main" id="{FD6F8D07-D95A-5448-B1DF-6BD3C103C7EB}"/>
              </a:ext>
            </a:extLst>
          </p:cNvPr>
          <p:cNvCxnSpPr>
            <a:cxnSpLocks/>
            <a:endCxn id="59" idx="0"/>
          </p:cNvCxnSpPr>
          <p:nvPr/>
        </p:nvCxnSpPr>
        <p:spPr>
          <a:xfrm flipH="1">
            <a:off x="737509" y="5413801"/>
            <a:ext cx="1" cy="308693"/>
          </a:xfrm>
          <a:prstGeom prst="line">
            <a:avLst/>
          </a:prstGeom>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A86DCAF7-69E6-834A-AE6E-0FE38CEA85BA}"/>
              </a:ext>
            </a:extLst>
          </p:cNvPr>
          <p:cNvCxnSpPr>
            <a:cxnSpLocks/>
          </p:cNvCxnSpPr>
          <p:nvPr/>
        </p:nvCxnSpPr>
        <p:spPr>
          <a:xfrm flipH="1">
            <a:off x="719552" y="4092158"/>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BD57399C-B201-B746-8DE0-BCBE79A9AA7E}"/>
              </a:ext>
            </a:extLst>
          </p:cNvPr>
          <p:cNvSpPr txBox="1"/>
          <p:nvPr/>
        </p:nvSpPr>
        <p:spPr>
          <a:xfrm>
            <a:off x="2492539" y="5722494"/>
            <a:ext cx="1136850" cy="369332"/>
          </a:xfrm>
          <a:prstGeom prst="rect">
            <a:avLst/>
          </a:prstGeom>
          <a:noFill/>
        </p:spPr>
        <p:txBody>
          <a:bodyPr wrap="none" rtlCol="0">
            <a:spAutoFit/>
          </a:bodyPr>
          <a:lstStyle/>
          <a:p>
            <a:r>
              <a:rPr lang="en-US" dirty="0"/>
              <a:t>&lt;NUM, 3&gt;</a:t>
            </a:r>
          </a:p>
        </p:txBody>
      </p:sp>
      <p:sp>
        <p:nvSpPr>
          <p:cNvPr id="64" name="TextBox 63">
            <a:extLst>
              <a:ext uri="{FF2B5EF4-FFF2-40B4-BE49-F238E27FC236}">
                <a16:creationId xmlns:a16="http://schemas.microsoft.com/office/drawing/2014/main" id="{2026449A-B7B4-B146-92E2-AEC4902CF791}"/>
              </a:ext>
            </a:extLst>
          </p:cNvPr>
          <p:cNvSpPr txBox="1"/>
          <p:nvPr/>
        </p:nvSpPr>
        <p:spPr>
          <a:xfrm>
            <a:off x="2698683" y="4410545"/>
            <a:ext cx="639021" cy="369332"/>
          </a:xfrm>
          <a:prstGeom prst="rect">
            <a:avLst/>
          </a:prstGeom>
          <a:noFill/>
        </p:spPr>
        <p:txBody>
          <a:bodyPr wrap="none" rtlCol="0">
            <a:spAutoFit/>
          </a:bodyPr>
          <a:lstStyle/>
          <a:p>
            <a:r>
              <a:rPr lang="en-US" dirty="0"/>
              <a:t>term</a:t>
            </a:r>
          </a:p>
        </p:txBody>
      </p:sp>
      <p:cxnSp>
        <p:nvCxnSpPr>
          <p:cNvPr id="65" name="Straight Connector 64">
            <a:extLst>
              <a:ext uri="{FF2B5EF4-FFF2-40B4-BE49-F238E27FC236}">
                <a16:creationId xmlns:a16="http://schemas.microsoft.com/office/drawing/2014/main" id="{8C04012A-4FA5-6B44-80E4-9A7BFA02A83B}"/>
              </a:ext>
            </a:extLst>
          </p:cNvPr>
          <p:cNvCxnSpPr>
            <a:cxnSpLocks/>
            <a:endCxn id="63" idx="0"/>
          </p:cNvCxnSpPr>
          <p:nvPr/>
        </p:nvCxnSpPr>
        <p:spPr>
          <a:xfrm flipH="1">
            <a:off x="3060964" y="5458298"/>
            <a:ext cx="1" cy="264196"/>
          </a:xfrm>
          <a:prstGeom prst="line">
            <a:avLst/>
          </a:prstGeom>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A93561DF-98DF-A440-B8EE-AB89FE1FA19E}"/>
              </a:ext>
            </a:extLst>
          </p:cNvPr>
          <p:cNvCxnSpPr>
            <a:cxnSpLocks/>
          </p:cNvCxnSpPr>
          <p:nvPr/>
        </p:nvCxnSpPr>
        <p:spPr>
          <a:xfrm flipH="1">
            <a:off x="3043007" y="4092158"/>
            <a:ext cx="5609" cy="300061"/>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Connector 66">
            <a:extLst>
              <a:ext uri="{FF2B5EF4-FFF2-40B4-BE49-F238E27FC236}">
                <a16:creationId xmlns:a16="http://schemas.microsoft.com/office/drawing/2014/main" id="{8AC93A18-FD63-3C49-B627-4ED0A6C07807}"/>
              </a:ext>
            </a:extLst>
          </p:cNvPr>
          <p:cNvCxnSpPr>
            <a:cxnSpLocks/>
            <a:stCxn id="60" idx="2"/>
            <a:endCxn id="68" idx="0"/>
          </p:cNvCxnSpPr>
          <p:nvPr/>
        </p:nvCxnSpPr>
        <p:spPr>
          <a:xfrm>
            <a:off x="694739" y="4779877"/>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68" name="TextBox 67">
            <a:extLst>
              <a:ext uri="{FF2B5EF4-FFF2-40B4-BE49-F238E27FC236}">
                <a16:creationId xmlns:a16="http://schemas.microsoft.com/office/drawing/2014/main" id="{4BACA7DC-06DF-1F42-9362-D172C7991887}"/>
              </a:ext>
            </a:extLst>
          </p:cNvPr>
          <p:cNvSpPr txBox="1"/>
          <p:nvPr/>
        </p:nvSpPr>
        <p:spPr>
          <a:xfrm>
            <a:off x="336753" y="5022766"/>
            <a:ext cx="735779" cy="369332"/>
          </a:xfrm>
          <a:prstGeom prst="rect">
            <a:avLst/>
          </a:prstGeom>
          <a:noFill/>
        </p:spPr>
        <p:txBody>
          <a:bodyPr wrap="none" rtlCol="0">
            <a:spAutoFit/>
          </a:bodyPr>
          <a:lstStyle/>
          <a:p>
            <a:r>
              <a:rPr lang="en-US" dirty="0"/>
              <a:t>factor</a:t>
            </a:r>
          </a:p>
        </p:txBody>
      </p:sp>
      <p:cxnSp>
        <p:nvCxnSpPr>
          <p:cNvPr id="69" name="Straight Connector 68">
            <a:extLst>
              <a:ext uri="{FF2B5EF4-FFF2-40B4-BE49-F238E27FC236}">
                <a16:creationId xmlns:a16="http://schemas.microsoft.com/office/drawing/2014/main" id="{03147EF5-1094-DF40-B87D-B68D07211B82}"/>
              </a:ext>
            </a:extLst>
          </p:cNvPr>
          <p:cNvCxnSpPr>
            <a:cxnSpLocks/>
            <a:endCxn id="70" idx="0"/>
          </p:cNvCxnSpPr>
          <p:nvPr/>
        </p:nvCxnSpPr>
        <p:spPr>
          <a:xfrm>
            <a:off x="3016271" y="4702186"/>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70" name="TextBox 69">
            <a:extLst>
              <a:ext uri="{FF2B5EF4-FFF2-40B4-BE49-F238E27FC236}">
                <a16:creationId xmlns:a16="http://schemas.microsoft.com/office/drawing/2014/main" id="{E3A4C9DB-E5C4-EE4E-B341-8806AFC0BC1A}"/>
              </a:ext>
            </a:extLst>
          </p:cNvPr>
          <p:cNvSpPr txBox="1"/>
          <p:nvPr/>
        </p:nvSpPr>
        <p:spPr>
          <a:xfrm>
            <a:off x="2658285" y="4945075"/>
            <a:ext cx="735779" cy="369332"/>
          </a:xfrm>
          <a:prstGeom prst="rect">
            <a:avLst/>
          </a:prstGeom>
          <a:noFill/>
        </p:spPr>
        <p:txBody>
          <a:bodyPr wrap="none" rtlCol="0">
            <a:spAutoFit/>
          </a:bodyPr>
          <a:lstStyle/>
          <a:p>
            <a:r>
              <a:rPr lang="en-US" dirty="0"/>
              <a:t>factor</a:t>
            </a:r>
          </a:p>
        </p:txBody>
      </p:sp>
      <p:sp>
        <p:nvSpPr>
          <p:cNvPr id="71" name="TextBox 70">
            <a:extLst>
              <a:ext uri="{FF2B5EF4-FFF2-40B4-BE49-F238E27FC236}">
                <a16:creationId xmlns:a16="http://schemas.microsoft.com/office/drawing/2014/main" id="{6E863AD3-AF58-9343-8A51-6AC7DA42C02D}"/>
              </a:ext>
            </a:extLst>
          </p:cNvPr>
          <p:cNvSpPr txBox="1"/>
          <p:nvPr/>
        </p:nvSpPr>
        <p:spPr>
          <a:xfrm>
            <a:off x="4108799" y="5194151"/>
            <a:ext cx="1136850" cy="369332"/>
          </a:xfrm>
          <a:prstGeom prst="rect">
            <a:avLst/>
          </a:prstGeom>
          <a:noFill/>
        </p:spPr>
        <p:txBody>
          <a:bodyPr wrap="none" rtlCol="0">
            <a:spAutoFit/>
          </a:bodyPr>
          <a:lstStyle/>
          <a:p>
            <a:r>
              <a:rPr lang="en-US" dirty="0"/>
              <a:t>&lt;NUM, 4&gt;</a:t>
            </a:r>
          </a:p>
        </p:txBody>
      </p:sp>
      <p:cxnSp>
        <p:nvCxnSpPr>
          <p:cNvPr id="72" name="Straight Connector 71">
            <a:extLst>
              <a:ext uri="{FF2B5EF4-FFF2-40B4-BE49-F238E27FC236}">
                <a16:creationId xmlns:a16="http://schemas.microsoft.com/office/drawing/2014/main" id="{1FB1C20C-FC64-DC4C-9330-6351C4E9B540}"/>
              </a:ext>
            </a:extLst>
          </p:cNvPr>
          <p:cNvCxnSpPr>
            <a:cxnSpLocks/>
            <a:endCxn id="73" idx="0"/>
          </p:cNvCxnSpPr>
          <p:nvPr/>
        </p:nvCxnSpPr>
        <p:spPr>
          <a:xfrm flipH="1">
            <a:off x="4682834" y="3201598"/>
            <a:ext cx="1442" cy="464578"/>
          </a:xfrm>
          <a:prstGeom prst="line">
            <a:avLst/>
          </a:prstGeom>
        </p:spPr>
        <p:style>
          <a:lnRef idx="1">
            <a:schemeClr val="dk1"/>
          </a:lnRef>
          <a:fillRef idx="0">
            <a:schemeClr val="dk1"/>
          </a:fillRef>
          <a:effectRef idx="0">
            <a:schemeClr val="dk1"/>
          </a:effectRef>
          <a:fontRef idx="minor">
            <a:schemeClr val="tx1"/>
          </a:fontRef>
        </p:style>
      </p:cxnSp>
      <p:sp>
        <p:nvSpPr>
          <p:cNvPr id="73" name="TextBox 72">
            <a:extLst>
              <a:ext uri="{FF2B5EF4-FFF2-40B4-BE49-F238E27FC236}">
                <a16:creationId xmlns:a16="http://schemas.microsoft.com/office/drawing/2014/main" id="{A5E35CF3-8A64-944D-AA44-CCB594F0C936}"/>
              </a:ext>
            </a:extLst>
          </p:cNvPr>
          <p:cNvSpPr txBox="1"/>
          <p:nvPr/>
        </p:nvSpPr>
        <p:spPr>
          <a:xfrm>
            <a:off x="4363323" y="3666176"/>
            <a:ext cx="639021" cy="369332"/>
          </a:xfrm>
          <a:prstGeom prst="rect">
            <a:avLst/>
          </a:prstGeom>
          <a:noFill/>
        </p:spPr>
        <p:txBody>
          <a:bodyPr wrap="none" rtlCol="0">
            <a:spAutoFit/>
          </a:bodyPr>
          <a:lstStyle/>
          <a:p>
            <a:r>
              <a:rPr lang="en-US" dirty="0"/>
              <a:t>term</a:t>
            </a:r>
          </a:p>
        </p:txBody>
      </p:sp>
      <p:cxnSp>
        <p:nvCxnSpPr>
          <p:cNvPr id="74" name="Straight Connector 73">
            <a:extLst>
              <a:ext uri="{FF2B5EF4-FFF2-40B4-BE49-F238E27FC236}">
                <a16:creationId xmlns:a16="http://schemas.microsoft.com/office/drawing/2014/main" id="{81C3E4BA-997F-AA4A-BB0F-E26D41A1AC4D}"/>
              </a:ext>
            </a:extLst>
          </p:cNvPr>
          <p:cNvCxnSpPr>
            <a:cxnSpLocks/>
            <a:stCxn id="73" idx="2"/>
            <a:endCxn id="75" idx="0"/>
          </p:cNvCxnSpPr>
          <p:nvPr/>
        </p:nvCxnSpPr>
        <p:spPr>
          <a:xfrm flipH="1">
            <a:off x="4682833" y="4035508"/>
            <a:ext cx="1" cy="489250"/>
          </a:xfrm>
          <a:prstGeom prst="line">
            <a:avLst/>
          </a:prstGeom>
        </p:spPr>
        <p:style>
          <a:lnRef idx="1">
            <a:schemeClr val="dk1"/>
          </a:lnRef>
          <a:fillRef idx="0">
            <a:schemeClr val="dk1"/>
          </a:fillRef>
          <a:effectRef idx="0">
            <a:schemeClr val="dk1"/>
          </a:effectRef>
          <a:fontRef idx="minor">
            <a:schemeClr val="tx1"/>
          </a:fontRef>
        </p:style>
      </p:cxnSp>
      <p:sp>
        <p:nvSpPr>
          <p:cNvPr id="75" name="TextBox 74">
            <a:extLst>
              <a:ext uri="{FF2B5EF4-FFF2-40B4-BE49-F238E27FC236}">
                <a16:creationId xmlns:a16="http://schemas.microsoft.com/office/drawing/2014/main" id="{3AECA206-BD9C-0C4C-ACFA-6ED75A7F6D50}"/>
              </a:ext>
            </a:extLst>
          </p:cNvPr>
          <p:cNvSpPr txBox="1"/>
          <p:nvPr/>
        </p:nvSpPr>
        <p:spPr>
          <a:xfrm>
            <a:off x="4314943" y="4524758"/>
            <a:ext cx="735779" cy="369332"/>
          </a:xfrm>
          <a:prstGeom prst="rect">
            <a:avLst/>
          </a:prstGeom>
          <a:noFill/>
        </p:spPr>
        <p:txBody>
          <a:bodyPr wrap="none" rtlCol="0">
            <a:spAutoFit/>
          </a:bodyPr>
          <a:lstStyle/>
          <a:p>
            <a:r>
              <a:rPr lang="en-US" dirty="0"/>
              <a:t>factor</a:t>
            </a:r>
          </a:p>
        </p:txBody>
      </p:sp>
      <p:cxnSp>
        <p:nvCxnSpPr>
          <p:cNvPr id="76" name="Straight Connector 75">
            <a:extLst>
              <a:ext uri="{FF2B5EF4-FFF2-40B4-BE49-F238E27FC236}">
                <a16:creationId xmlns:a16="http://schemas.microsoft.com/office/drawing/2014/main" id="{0ECCCB75-1593-BA4C-988E-981C8B8AF8D5}"/>
              </a:ext>
            </a:extLst>
          </p:cNvPr>
          <p:cNvCxnSpPr>
            <a:cxnSpLocks/>
            <a:stCxn id="75" idx="2"/>
            <a:endCxn id="71" idx="0"/>
          </p:cNvCxnSpPr>
          <p:nvPr/>
        </p:nvCxnSpPr>
        <p:spPr>
          <a:xfrm flipH="1">
            <a:off x="4677224" y="4894090"/>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0E9375D6-2140-CC4E-81AB-2AAC9912AE0D}"/>
              </a:ext>
            </a:extLst>
          </p:cNvPr>
          <p:cNvSpPr txBox="1"/>
          <p:nvPr/>
        </p:nvSpPr>
        <p:spPr>
          <a:xfrm>
            <a:off x="435242" y="1524075"/>
            <a:ext cx="2216761" cy="369332"/>
          </a:xfrm>
          <a:prstGeom prst="rect">
            <a:avLst/>
          </a:prstGeom>
          <a:noFill/>
        </p:spPr>
        <p:txBody>
          <a:bodyPr wrap="none" rtlCol="0">
            <a:spAutoFit/>
          </a:bodyPr>
          <a:lstStyle/>
          <a:p>
            <a:r>
              <a:rPr lang="en-US" i="1" dirty="0"/>
              <a:t>What about this one?</a:t>
            </a:r>
          </a:p>
        </p:txBody>
      </p:sp>
      <p:pic>
        <p:nvPicPr>
          <p:cNvPr id="3" name="Picture 2">
            <a:extLst>
              <a:ext uri="{FF2B5EF4-FFF2-40B4-BE49-F238E27FC236}">
                <a16:creationId xmlns:a16="http://schemas.microsoft.com/office/drawing/2014/main" id="{4E2FBB63-9DE8-A41A-B2DD-32AB41145CD6}"/>
              </a:ext>
            </a:extLst>
          </p:cNvPr>
          <p:cNvPicPr>
            <a:picLocks noChangeAspect="1"/>
          </p:cNvPicPr>
          <p:nvPr/>
        </p:nvPicPr>
        <p:blipFill>
          <a:blip r:embed="rId2"/>
          <a:stretch>
            <a:fillRect/>
          </a:stretch>
        </p:blipFill>
        <p:spPr>
          <a:xfrm>
            <a:off x="405651" y="234835"/>
            <a:ext cx="2501900" cy="901700"/>
          </a:xfrm>
          <a:prstGeom prst="rect">
            <a:avLst/>
          </a:prstGeom>
        </p:spPr>
      </p:pic>
      <p:sp>
        <p:nvSpPr>
          <p:cNvPr id="4" name="TextBox 3">
            <a:extLst>
              <a:ext uri="{FF2B5EF4-FFF2-40B4-BE49-F238E27FC236}">
                <a16:creationId xmlns:a16="http://schemas.microsoft.com/office/drawing/2014/main" id="{69ACA33E-BF14-39CC-5665-59E0766EF58E}"/>
              </a:ext>
            </a:extLst>
          </p:cNvPr>
          <p:cNvSpPr txBox="1"/>
          <p:nvPr/>
        </p:nvSpPr>
        <p:spPr>
          <a:xfrm>
            <a:off x="8934394" y="791570"/>
            <a:ext cx="2180638" cy="369332"/>
          </a:xfrm>
          <a:prstGeom prst="rect">
            <a:avLst/>
          </a:prstGeom>
          <a:noFill/>
        </p:spPr>
        <p:txBody>
          <a:bodyPr wrap="square" rtlCol="0">
            <a:spAutoFit/>
          </a:bodyPr>
          <a:lstStyle/>
          <a:p>
            <a:r>
              <a:rPr lang="en-US" dirty="0"/>
              <a:t>See next slide</a:t>
            </a:r>
          </a:p>
        </p:txBody>
      </p:sp>
    </p:spTree>
    <p:extLst>
      <p:ext uri="{BB962C8B-B14F-4D97-AF65-F5344CB8AC3E}">
        <p14:creationId xmlns:p14="http://schemas.microsoft.com/office/powerpoint/2010/main" val="36628937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581C384-93DB-0D44-BE61-8197A0709109}"/>
              </a:ext>
            </a:extLst>
          </p:cNvPr>
          <p:cNvSpPr txBox="1"/>
          <p:nvPr/>
        </p:nvSpPr>
        <p:spPr>
          <a:xfrm>
            <a:off x="3196575" y="595375"/>
            <a:ext cx="3147015" cy="584775"/>
          </a:xfrm>
          <a:prstGeom prst="rect">
            <a:avLst/>
          </a:prstGeom>
          <a:noFill/>
        </p:spPr>
        <p:txBody>
          <a:bodyPr wrap="none" rtlCol="0">
            <a:spAutoFit/>
          </a:bodyPr>
          <a:lstStyle/>
          <a:p>
            <a:r>
              <a:rPr lang="en-US" sz="3200" dirty="0">
                <a:latin typeface="Courier" pitchFamily="2" charset="0"/>
              </a:rPr>
              <a:t>input: 2+3+4</a:t>
            </a:r>
          </a:p>
        </p:txBody>
      </p:sp>
      <p:sp>
        <p:nvSpPr>
          <p:cNvPr id="7" name="TextBox 6">
            <a:extLst>
              <a:ext uri="{FF2B5EF4-FFF2-40B4-BE49-F238E27FC236}">
                <a16:creationId xmlns:a16="http://schemas.microsoft.com/office/drawing/2014/main" id="{1EF4FC3F-B8F7-EF4A-8F6B-AAFA31AB4690}"/>
              </a:ext>
            </a:extLst>
          </p:cNvPr>
          <p:cNvSpPr txBox="1"/>
          <p:nvPr/>
        </p:nvSpPr>
        <p:spPr>
          <a:xfrm>
            <a:off x="8635402" y="2181957"/>
            <a:ext cx="597984" cy="369332"/>
          </a:xfrm>
          <a:prstGeom prst="rect">
            <a:avLst/>
          </a:prstGeom>
          <a:noFill/>
        </p:spPr>
        <p:txBody>
          <a:bodyPr wrap="none" rtlCol="0">
            <a:spAutoFit/>
          </a:bodyPr>
          <a:lstStyle/>
          <a:p>
            <a:r>
              <a:rPr lang="en-US" dirty="0"/>
              <a:t>expr</a:t>
            </a:r>
          </a:p>
        </p:txBody>
      </p:sp>
      <p:cxnSp>
        <p:nvCxnSpPr>
          <p:cNvPr id="8" name="Straight Connector 7">
            <a:extLst>
              <a:ext uri="{FF2B5EF4-FFF2-40B4-BE49-F238E27FC236}">
                <a16:creationId xmlns:a16="http://schemas.microsoft.com/office/drawing/2014/main" id="{30141CE8-2344-0948-9E95-8E3D11DE2430}"/>
              </a:ext>
            </a:extLst>
          </p:cNvPr>
          <p:cNvCxnSpPr>
            <a:cxnSpLocks/>
            <a:stCxn id="7" idx="2"/>
            <a:endCxn id="9" idx="0"/>
          </p:cNvCxnSpPr>
          <p:nvPr/>
        </p:nvCxnSpPr>
        <p:spPr>
          <a:xfrm flipH="1">
            <a:off x="7299498" y="2551289"/>
            <a:ext cx="1634896" cy="536644"/>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E6D905BC-8176-5C4B-8283-5453872C6006}"/>
              </a:ext>
            </a:extLst>
          </p:cNvPr>
          <p:cNvSpPr txBox="1"/>
          <p:nvPr/>
        </p:nvSpPr>
        <p:spPr>
          <a:xfrm>
            <a:off x="7000506" y="3087933"/>
            <a:ext cx="597984" cy="369332"/>
          </a:xfrm>
          <a:prstGeom prst="rect">
            <a:avLst/>
          </a:prstGeom>
          <a:noFill/>
        </p:spPr>
        <p:txBody>
          <a:bodyPr wrap="none" rtlCol="0">
            <a:spAutoFit/>
          </a:bodyPr>
          <a:lstStyle/>
          <a:p>
            <a:r>
              <a:rPr lang="en-US" dirty="0"/>
              <a:t>expr</a:t>
            </a:r>
          </a:p>
        </p:txBody>
      </p:sp>
      <p:cxnSp>
        <p:nvCxnSpPr>
          <p:cNvPr id="10" name="Straight Connector 9">
            <a:extLst>
              <a:ext uri="{FF2B5EF4-FFF2-40B4-BE49-F238E27FC236}">
                <a16:creationId xmlns:a16="http://schemas.microsoft.com/office/drawing/2014/main" id="{0686B2F0-A92C-9842-99A5-BB5F68B3CB0F}"/>
              </a:ext>
            </a:extLst>
          </p:cNvPr>
          <p:cNvCxnSpPr>
            <a:cxnSpLocks/>
            <a:stCxn id="7" idx="2"/>
            <a:endCxn id="12" idx="0"/>
          </p:cNvCxnSpPr>
          <p:nvPr/>
        </p:nvCxnSpPr>
        <p:spPr>
          <a:xfrm>
            <a:off x="8934394" y="2551289"/>
            <a:ext cx="0" cy="554837"/>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B373421-B101-4546-B128-9E43278BD634}"/>
              </a:ext>
            </a:extLst>
          </p:cNvPr>
          <p:cNvCxnSpPr>
            <a:cxnSpLocks/>
            <a:stCxn id="7" idx="2"/>
            <a:endCxn id="13" idx="0"/>
          </p:cNvCxnSpPr>
          <p:nvPr/>
        </p:nvCxnSpPr>
        <p:spPr>
          <a:xfrm>
            <a:off x="8934394" y="2551289"/>
            <a:ext cx="1057341" cy="536644"/>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60AF16AA-22CD-FA4F-9F55-FCC38AD1D4BA}"/>
              </a:ext>
            </a:extLst>
          </p:cNvPr>
          <p:cNvSpPr txBox="1"/>
          <p:nvPr/>
        </p:nvSpPr>
        <p:spPr>
          <a:xfrm>
            <a:off x="8494273" y="3106126"/>
            <a:ext cx="880241" cy="369332"/>
          </a:xfrm>
          <a:prstGeom prst="rect">
            <a:avLst/>
          </a:prstGeom>
          <a:noFill/>
        </p:spPr>
        <p:txBody>
          <a:bodyPr wrap="none" rtlCol="0">
            <a:spAutoFit/>
          </a:bodyPr>
          <a:lstStyle/>
          <a:p>
            <a:r>
              <a:rPr lang="en-US" dirty="0"/>
              <a:t>&lt;PLUS&gt;</a:t>
            </a:r>
          </a:p>
        </p:txBody>
      </p:sp>
      <p:sp>
        <p:nvSpPr>
          <p:cNvPr id="13" name="TextBox 12">
            <a:extLst>
              <a:ext uri="{FF2B5EF4-FFF2-40B4-BE49-F238E27FC236}">
                <a16:creationId xmlns:a16="http://schemas.microsoft.com/office/drawing/2014/main" id="{BA6A98FD-3CE1-2241-952E-12AD71379DB0}"/>
              </a:ext>
            </a:extLst>
          </p:cNvPr>
          <p:cNvSpPr txBox="1"/>
          <p:nvPr/>
        </p:nvSpPr>
        <p:spPr>
          <a:xfrm>
            <a:off x="9692743" y="3087933"/>
            <a:ext cx="597984" cy="369332"/>
          </a:xfrm>
          <a:prstGeom prst="rect">
            <a:avLst/>
          </a:prstGeom>
          <a:noFill/>
        </p:spPr>
        <p:txBody>
          <a:bodyPr wrap="none" rtlCol="0">
            <a:spAutoFit/>
          </a:bodyPr>
          <a:lstStyle/>
          <a:p>
            <a:r>
              <a:rPr lang="en-US" dirty="0"/>
              <a:t>expr</a:t>
            </a:r>
          </a:p>
        </p:txBody>
      </p:sp>
      <p:sp>
        <p:nvSpPr>
          <p:cNvPr id="14" name="TextBox 13">
            <a:extLst>
              <a:ext uri="{FF2B5EF4-FFF2-40B4-BE49-F238E27FC236}">
                <a16:creationId xmlns:a16="http://schemas.microsoft.com/office/drawing/2014/main" id="{66D518E2-D041-B54A-BAFD-9F3EB0B79156}"/>
              </a:ext>
            </a:extLst>
          </p:cNvPr>
          <p:cNvSpPr txBox="1"/>
          <p:nvPr/>
        </p:nvSpPr>
        <p:spPr>
          <a:xfrm>
            <a:off x="6724021" y="5469967"/>
            <a:ext cx="1136850" cy="369332"/>
          </a:xfrm>
          <a:prstGeom prst="rect">
            <a:avLst/>
          </a:prstGeom>
          <a:noFill/>
        </p:spPr>
        <p:txBody>
          <a:bodyPr wrap="none" rtlCol="0">
            <a:spAutoFit/>
          </a:bodyPr>
          <a:lstStyle/>
          <a:p>
            <a:r>
              <a:rPr lang="en-US" dirty="0"/>
              <a:t>&lt;NUM, 2&gt;</a:t>
            </a:r>
          </a:p>
        </p:txBody>
      </p:sp>
      <p:cxnSp>
        <p:nvCxnSpPr>
          <p:cNvPr id="15" name="Straight Connector 14">
            <a:extLst>
              <a:ext uri="{FF2B5EF4-FFF2-40B4-BE49-F238E27FC236}">
                <a16:creationId xmlns:a16="http://schemas.microsoft.com/office/drawing/2014/main" id="{7BE47221-BFFC-0243-AFE9-5C53FC906A1B}"/>
              </a:ext>
            </a:extLst>
          </p:cNvPr>
          <p:cNvCxnSpPr>
            <a:cxnSpLocks/>
            <a:endCxn id="22" idx="0"/>
          </p:cNvCxnSpPr>
          <p:nvPr/>
        </p:nvCxnSpPr>
        <p:spPr>
          <a:xfrm flipH="1">
            <a:off x="7298056" y="3477414"/>
            <a:ext cx="1442" cy="464578"/>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9807E1A-CE97-FF41-A2A5-7C3CB46AC284}"/>
              </a:ext>
            </a:extLst>
          </p:cNvPr>
          <p:cNvCxnSpPr>
            <a:cxnSpLocks/>
          </p:cNvCxnSpPr>
          <p:nvPr/>
        </p:nvCxnSpPr>
        <p:spPr>
          <a:xfrm flipH="1">
            <a:off x="8758711" y="3459774"/>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9DAF383E-DF34-F944-BC7F-24A207C0E665}"/>
              </a:ext>
            </a:extLst>
          </p:cNvPr>
          <p:cNvCxnSpPr>
            <a:cxnSpLocks/>
          </p:cNvCxnSpPr>
          <p:nvPr/>
        </p:nvCxnSpPr>
        <p:spPr>
          <a:xfrm>
            <a:off x="9983084" y="3459774"/>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8CA92CF3-16B2-3A46-9746-FE978094BA1D}"/>
              </a:ext>
            </a:extLst>
          </p:cNvPr>
          <p:cNvCxnSpPr>
            <a:cxnSpLocks/>
          </p:cNvCxnSpPr>
          <p:nvPr/>
        </p:nvCxnSpPr>
        <p:spPr>
          <a:xfrm>
            <a:off x="9983084" y="3459774"/>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5173FE82-5C9F-3B48-8EAE-3B7CB4B7E7F6}"/>
              </a:ext>
            </a:extLst>
          </p:cNvPr>
          <p:cNvSpPr txBox="1"/>
          <p:nvPr/>
        </p:nvSpPr>
        <p:spPr>
          <a:xfrm>
            <a:off x="9525511" y="3926876"/>
            <a:ext cx="880241" cy="369332"/>
          </a:xfrm>
          <a:prstGeom prst="rect">
            <a:avLst/>
          </a:prstGeom>
          <a:noFill/>
        </p:spPr>
        <p:txBody>
          <a:bodyPr wrap="none" rtlCol="0">
            <a:spAutoFit/>
          </a:bodyPr>
          <a:lstStyle/>
          <a:p>
            <a:r>
              <a:rPr lang="en-US" dirty="0"/>
              <a:t>&lt;PLUS&gt;</a:t>
            </a:r>
          </a:p>
        </p:txBody>
      </p:sp>
      <p:sp>
        <p:nvSpPr>
          <p:cNvPr id="20" name="TextBox 19">
            <a:extLst>
              <a:ext uri="{FF2B5EF4-FFF2-40B4-BE49-F238E27FC236}">
                <a16:creationId xmlns:a16="http://schemas.microsoft.com/office/drawing/2014/main" id="{5F067DEE-CDD4-7E46-9949-17B518AA1F04}"/>
              </a:ext>
            </a:extLst>
          </p:cNvPr>
          <p:cNvSpPr txBox="1"/>
          <p:nvPr/>
        </p:nvSpPr>
        <p:spPr>
          <a:xfrm>
            <a:off x="8459719" y="3895483"/>
            <a:ext cx="597984" cy="369332"/>
          </a:xfrm>
          <a:prstGeom prst="rect">
            <a:avLst/>
          </a:prstGeom>
          <a:noFill/>
        </p:spPr>
        <p:txBody>
          <a:bodyPr wrap="none" rtlCol="0">
            <a:spAutoFit/>
          </a:bodyPr>
          <a:lstStyle/>
          <a:p>
            <a:r>
              <a:rPr lang="en-US" dirty="0"/>
              <a:t>expr</a:t>
            </a:r>
          </a:p>
        </p:txBody>
      </p:sp>
      <p:sp>
        <p:nvSpPr>
          <p:cNvPr id="21" name="TextBox 20">
            <a:extLst>
              <a:ext uri="{FF2B5EF4-FFF2-40B4-BE49-F238E27FC236}">
                <a16:creationId xmlns:a16="http://schemas.microsoft.com/office/drawing/2014/main" id="{4CCBC7C3-3B2D-8846-922F-FFE276D95ACE}"/>
              </a:ext>
            </a:extLst>
          </p:cNvPr>
          <p:cNvSpPr txBox="1"/>
          <p:nvPr/>
        </p:nvSpPr>
        <p:spPr>
          <a:xfrm>
            <a:off x="10781251" y="3895483"/>
            <a:ext cx="597984" cy="369332"/>
          </a:xfrm>
          <a:prstGeom prst="rect">
            <a:avLst/>
          </a:prstGeom>
          <a:noFill/>
        </p:spPr>
        <p:txBody>
          <a:bodyPr wrap="none" rtlCol="0">
            <a:spAutoFit/>
          </a:bodyPr>
          <a:lstStyle/>
          <a:p>
            <a:r>
              <a:rPr lang="en-US" dirty="0"/>
              <a:t>expr</a:t>
            </a:r>
          </a:p>
        </p:txBody>
      </p:sp>
      <p:sp>
        <p:nvSpPr>
          <p:cNvPr id="22" name="TextBox 21">
            <a:extLst>
              <a:ext uri="{FF2B5EF4-FFF2-40B4-BE49-F238E27FC236}">
                <a16:creationId xmlns:a16="http://schemas.microsoft.com/office/drawing/2014/main" id="{523078ED-048C-F640-ACD0-3E3AAD13C997}"/>
              </a:ext>
            </a:extLst>
          </p:cNvPr>
          <p:cNvSpPr txBox="1"/>
          <p:nvPr/>
        </p:nvSpPr>
        <p:spPr>
          <a:xfrm>
            <a:off x="6978545" y="3941992"/>
            <a:ext cx="639021" cy="369332"/>
          </a:xfrm>
          <a:prstGeom prst="rect">
            <a:avLst/>
          </a:prstGeom>
          <a:noFill/>
        </p:spPr>
        <p:txBody>
          <a:bodyPr wrap="none" rtlCol="0">
            <a:spAutoFit/>
          </a:bodyPr>
          <a:lstStyle/>
          <a:p>
            <a:r>
              <a:rPr lang="en-US" dirty="0"/>
              <a:t>term</a:t>
            </a:r>
          </a:p>
        </p:txBody>
      </p:sp>
      <p:cxnSp>
        <p:nvCxnSpPr>
          <p:cNvPr id="23" name="Straight Connector 22">
            <a:extLst>
              <a:ext uri="{FF2B5EF4-FFF2-40B4-BE49-F238E27FC236}">
                <a16:creationId xmlns:a16="http://schemas.microsoft.com/office/drawing/2014/main" id="{AD31FE39-303E-6A49-A3C2-0B76C241499E}"/>
              </a:ext>
            </a:extLst>
          </p:cNvPr>
          <p:cNvCxnSpPr>
            <a:cxnSpLocks/>
            <a:stCxn id="22" idx="2"/>
            <a:endCxn id="24" idx="0"/>
          </p:cNvCxnSpPr>
          <p:nvPr/>
        </p:nvCxnSpPr>
        <p:spPr>
          <a:xfrm flipH="1">
            <a:off x="7298055" y="4311324"/>
            <a:ext cx="1" cy="489250"/>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085D5B41-A14A-6947-AF22-039FD4CC5D3A}"/>
              </a:ext>
            </a:extLst>
          </p:cNvPr>
          <p:cNvSpPr txBox="1"/>
          <p:nvPr/>
        </p:nvSpPr>
        <p:spPr>
          <a:xfrm>
            <a:off x="6930165" y="4800574"/>
            <a:ext cx="735779" cy="369332"/>
          </a:xfrm>
          <a:prstGeom prst="rect">
            <a:avLst/>
          </a:prstGeom>
          <a:noFill/>
        </p:spPr>
        <p:txBody>
          <a:bodyPr wrap="none" rtlCol="0">
            <a:spAutoFit/>
          </a:bodyPr>
          <a:lstStyle/>
          <a:p>
            <a:r>
              <a:rPr lang="en-US" dirty="0"/>
              <a:t>factor</a:t>
            </a:r>
          </a:p>
        </p:txBody>
      </p:sp>
      <p:cxnSp>
        <p:nvCxnSpPr>
          <p:cNvPr id="25" name="Straight Connector 24">
            <a:extLst>
              <a:ext uri="{FF2B5EF4-FFF2-40B4-BE49-F238E27FC236}">
                <a16:creationId xmlns:a16="http://schemas.microsoft.com/office/drawing/2014/main" id="{C24A46DA-5EEF-E14F-98AC-75E996BC5908}"/>
              </a:ext>
            </a:extLst>
          </p:cNvPr>
          <p:cNvCxnSpPr>
            <a:cxnSpLocks/>
            <a:stCxn id="24" idx="2"/>
            <a:endCxn id="14" idx="0"/>
          </p:cNvCxnSpPr>
          <p:nvPr/>
        </p:nvCxnSpPr>
        <p:spPr>
          <a:xfrm flipH="1">
            <a:off x="7292446" y="5169906"/>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53922C26-78A1-2B41-8636-490EF1E8297B}"/>
              </a:ext>
            </a:extLst>
          </p:cNvPr>
          <p:cNvSpPr txBox="1"/>
          <p:nvPr/>
        </p:nvSpPr>
        <p:spPr>
          <a:xfrm>
            <a:off x="8223152" y="5907160"/>
            <a:ext cx="1136850" cy="369332"/>
          </a:xfrm>
          <a:prstGeom prst="rect">
            <a:avLst/>
          </a:prstGeom>
          <a:noFill/>
        </p:spPr>
        <p:txBody>
          <a:bodyPr wrap="none" rtlCol="0">
            <a:spAutoFit/>
          </a:bodyPr>
          <a:lstStyle/>
          <a:p>
            <a:r>
              <a:rPr lang="en-US" dirty="0"/>
              <a:t>&lt;NUM, 3&gt;</a:t>
            </a:r>
          </a:p>
        </p:txBody>
      </p:sp>
      <p:sp>
        <p:nvSpPr>
          <p:cNvPr id="29" name="TextBox 28">
            <a:extLst>
              <a:ext uri="{FF2B5EF4-FFF2-40B4-BE49-F238E27FC236}">
                <a16:creationId xmlns:a16="http://schemas.microsoft.com/office/drawing/2014/main" id="{797B625C-0EB6-C44A-B7B1-59D7A6B79F63}"/>
              </a:ext>
            </a:extLst>
          </p:cNvPr>
          <p:cNvSpPr txBox="1"/>
          <p:nvPr/>
        </p:nvSpPr>
        <p:spPr>
          <a:xfrm>
            <a:off x="8429296" y="4595211"/>
            <a:ext cx="639021" cy="369332"/>
          </a:xfrm>
          <a:prstGeom prst="rect">
            <a:avLst/>
          </a:prstGeom>
          <a:noFill/>
        </p:spPr>
        <p:txBody>
          <a:bodyPr wrap="none" rtlCol="0">
            <a:spAutoFit/>
          </a:bodyPr>
          <a:lstStyle/>
          <a:p>
            <a:r>
              <a:rPr lang="en-US" dirty="0"/>
              <a:t>term</a:t>
            </a:r>
          </a:p>
        </p:txBody>
      </p:sp>
      <p:cxnSp>
        <p:nvCxnSpPr>
          <p:cNvPr id="30" name="Straight Connector 29">
            <a:extLst>
              <a:ext uri="{FF2B5EF4-FFF2-40B4-BE49-F238E27FC236}">
                <a16:creationId xmlns:a16="http://schemas.microsoft.com/office/drawing/2014/main" id="{EFCE927F-6F2D-7C4E-A51D-683038842E00}"/>
              </a:ext>
            </a:extLst>
          </p:cNvPr>
          <p:cNvCxnSpPr>
            <a:cxnSpLocks/>
            <a:endCxn id="28" idx="0"/>
          </p:cNvCxnSpPr>
          <p:nvPr/>
        </p:nvCxnSpPr>
        <p:spPr>
          <a:xfrm>
            <a:off x="8791577" y="5598467"/>
            <a:ext cx="0" cy="308693"/>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3EF182C6-3A3A-5340-AECF-F5309B097F1B}"/>
              </a:ext>
            </a:extLst>
          </p:cNvPr>
          <p:cNvCxnSpPr>
            <a:cxnSpLocks/>
          </p:cNvCxnSpPr>
          <p:nvPr/>
        </p:nvCxnSpPr>
        <p:spPr>
          <a:xfrm flipH="1">
            <a:off x="8773620" y="4276824"/>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13C08319-763D-EC4A-85E5-A88DF4758EAC}"/>
              </a:ext>
            </a:extLst>
          </p:cNvPr>
          <p:cNvSpPr txBox="1"/>
          <p:nvPr/>
        </p:nvSpPr>
        <p:spPr>
          <a:xfrm>
            <a:off x="10546607" y="5907160"/>
            <a:ext cx="1136850" cy="369332"/>
          </a:xfrm>
          <a:prstGeom prst="rect">
            <a:avLst/>
          </a:prstGeom>
          <a:noFill/>
        </p:spPr>
        <p:txBody>
          <a:bodyPr wrap="none" rtlCol="0">
            <a:spAutoFit/>
          </a:bodyPr>
          <a:lstStyle/>
          <a:p>
            <a:r>
              <a:rPr lang="en-US" dirty="0"/>
              <a:t>&lt;NUM, 4&gt;</a:t>
            </a:r>
          </a:p>
        </p:txBody>
      </p:sp>
      <p:sp>
        <p:nvSpPr>
          <p:cNvPr id="33" name="TextBox 32">
            <a:extLst>
              <a:ext uri="{FF2B5EF4-FFF2-40B4-BE49-F238E27FC236}">
                <a16:creationId xmlns:a16="http://schemas.microsoft.com/office/drawing/2014/main" id="{9F2F9A8A-EA8C-4840-9B67-4CF2EB90B9E3}"/>
              </a:ext>
            </a:extLst>
          </p:cNvPr>
          <p:cNvSpPr txBox="1"/>
          <p:nvPr/>
        </p:nvSpPr>
        <p:spPr>
          <a:xfrm>
            <a:off x="10752751" y="4595211"/>
            <a:ext cx="639021" cy="369332"/>
          </a:xfrm>
          <a:prstGeom prst="rect">
            <a:avLst/>
          </a:prstGeom>
          <a:noFill/>
        </p:spPr>
        <p:txBody>
          <a:bodyPr wrap="none" rtlCol="0">
            <a:spAutoFit/>
          </a:bodyPr>
          <a:lstStyle/>
          <a:p>
            <a:r>
              <a:rPr lang="en-US" dirty="0"/>
              <a:t>term</a:t>
            </a:r>
          </a:p>
        </p:txBody>
      </p:sp>
      <p:cxnSp>
        <p:nvCxnSpPr>
          <p:cNvPr id="34" name="Straight Connector 33">
            <a:extLst>
              <a:ext uri="{FF2B5EF4-FFF2-40B4-BE49-F238E27FC236}">
                <a16:creationId xmlns:a16="http://schemas.microsoft.com/office/drawing/2014/main" id="{94B5E655-A336-324F-8040-8067BBACD221}"/>
              </a:ext>
            </a:extLst>
          </p:cNvPr>
          <p:cNvCxnSpPr>
            <a:cxnSpLocks/>
            <a:endCxn id="32" idx="0"/>
          </p:cNvCxnSpPr>
          <p:nvPr/>
        </p:nvCxnSpPr>
        <p:spPr>
          <a:xfrm>
            <a:off x="11115032" y="5642964"/>
            <a:ext cx="0" cy="264196"/>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E7FBE64F-48C5-3445-A705-3585FFC27A81}"/>
              </a:ext>
            </a:extLst>
          </p:cNvPr>
          <p:cNvCxnSpPr>
            <a:cxnSpLocks/>
          </p:cNvCxnSpPr>
          <p:nvPr/>
        </p:nvCxnSpPr>
        <p:spPr>
          <a:xfrm flipH="1">
            <a:off x="11097075" y="4276824"/>
            <a:ext cx="5609" cy="300061"/>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0E9BEB0F-F6AB-D14C-AA7C-F8C362827398}"/>
              </a:ext>
            </a:extLst>
          </p:cNvPr>
          <p:cNvCxnSpPr>
            <a:cxnSpLocks/>
            <a:stCxn id="29" idx="2"/>
            <a:endCxn id="42" idx="0"/>
          </p:cNvCxnSpPr>
          <p:nvPr/>
        </p:nvCxnSpPr>
        <p:spPr>
          <a:xfrm>
            <a:off x="8748807" y="4964543"/>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D5E41403-C4A0-4D4C-8612-2848F97625CD}"/>
              </a:ext>
            </a:extLst>
          </p:cNvPr>
          <p:cNvSpPr txBox="1"/>
          <p:nvPr/>
        </p:nvSpPr>
        <p:spPr>
          <a:xfrm>
            <a:off x="8390821" y="5207432"/>
            <a:ext cx="735779" cy="369332"/>
          </a:xfrm>
          <a:prstGeom prst="rect">
            <a:avLst/>
          </a:prstGeom>
          <a:noFill/>
        </p:spPr>
        <p:txBody>
          <a:bodyPr wrap="none" rtlCol="0">
            <a:spAutoFit/>
          </a:bodyPr>
          <a:lstStyle/>
          <a:p>
            <a:r>
              <a:rPr lang="en-US" dirty="0"/>
              <a:t>factor</a:t>
            </a:r>
          </a:p>
        </p:txBody>
      </p:sp>
      <p:cxnSp>
        <p:nvCxnSpPr>
          <p:cNvPr id="46" name="Straight Connector 45">
            <a:extLst>
              <a:ext uri="{FF2B5EF4-FFF2-40B4-BE49-F238E27FC236}">
                <a16:creationId xmlns:a16="http://schemas.microsoft.com/office/drawing/2014/main" id="{614A3599-6266-194B-A062-C993C27C06A8}"/>
              </a:ext>
            </a:extLst>
          </p:cNvPr>
          <p:cNvCxnSpPr>
            <a:cxnSpLocks/>
            <a:endCxn id="47" idx="0"/>
          </p:cNvCxnSpPr>
          <p:nvPr/>
        </p:nvCxnSpPr>
        <p:spPr>
          <a:xfrm>
            <a:off x="11070339" y="4886852"/>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F1C7E270-ED72-8040-87BF-6441A4678689}"/>
              </a:ext>
            </a:extLst>
          </p:cNvPr>
          <p:cNvSpPr txBox="1"/>
          <p:nvPr/>
        </p:nvSpPr>
        <p:spPr>
          <a:xfrm>
            <a:off x="10712353" y="5129741"/>
            <a:ext cx="735779" cy="369332"/>
          </a:xfrm>
          <a:prstGeom prst="rect">
            <a:avLst/>
          </a:prstGeom>
          <a:noFill/>
        </p:spPr>
        <p:txBody>
          <a:bodyPr wrap="none" rtlCol="0">
            <a:spAutoFit/>
          </a:bodyPr>
          <a:lstStyle/>
          <a:p>
            <a:r>
              <a:rPr lang="en-US" dirty="0"/>
              <a:t>factor</a:t>
            </a:r>
          </a:p>
        </p:txBody>
      </p:sp>
      <p:sp>
        <p:nvSpPr>
          <p:cNvPr id="36" name="TextBox 35">
            <a:extLst>
              <a:ext uri="{FF2B5EF4-FFF2-40B4-BE49-F238E27FC236}">
                <a16:creationId xmlns:a16="http://schemas.microsoft.com/office/drawing/2014/main" id="{5EC1923B-CC00-F54F-B58B-2CBADA324DE1}"/>
              </a:ext>
            </a:extLst>
          </p:cNvPr>
          <p:cNvSpPr txBox="1"/>
          <p:nvPr/>
        </p:nvSpPr>
        <p:spPr>
          <a:xfrm>
            <a:off x="3337704" y="1941731"/>
            <a:ext cx="597984" cy="369332"/>
          </a:xfrm>
          <a:prstGeom prst="rect">
            <a:avLst/>
          </a:prstGeom>
          <a:noFill/>
        </p:spPr>
        <p:txBody>
          <a:bodyPr wrap="none" rtlCol="0">
            <a:spAutoFit/>
          </a:bodyPr>
          <a:lstStyle/>
          <a:p>
            <a:r>
              <a:rPr lang="en-US" dirty="0"/>
              <a:t>expr</a:t>
            </a:r>
          </a:p>
        </p:txBody>
      </p:sp>
      <p:cxnSp>
        <p:nvCxnSpPr>
          <p:cNvPr id="37" name="Straight Connector 36">
            <a:extLst>
              <a:ext uri="{FF2B5EF4-FFF2-40B4-BE49-F238E27FC236}">
                <a16:creationId xmlns:a16="http://schemas.microsoft.com/office/drawing/2014/main" id="{3BEC7F16-A435-7C43-9D5A-1A75CBD13DBE}"/>
              </a:ext>
            </a:extLst>
          </p:cNvPr>
          <p:cNvCxnSpPr>
            <a:cxnSpLocks/>
            <a:stCxn id="36" idx="2"/>
            <a:endCxn id="38" idx="0"/>
          </p:cNvCxnSpPr>
          <p:nvPr/>
        </p:nvCxnSpPr>
        <p:spPr>
          <a:xfrm flipH="1">
            <a:off x="2001800" y="2311063"/>
            <a:ext cx="1634896" cy="536644"/>
          </a:xfrm>
          <a:prstGeom prst="line">
            <a:avLst/>
          </a:prstGeom>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38EE1F56-B098-B34B-BF7A-EF753C1D22C6}"/>
              </a:ext>
            </a:extLst>
          </p:cNvPr>
          <p:cNvSpPr txBox="1"/>
          <p:nvPr/>
        </p:nvSpPr>
        <p:spPr>
          <a:xfrm>
            <a:off x="1702808" y="2847707"/>
            <a:ext cx="597984" cy="369332"/>
          </a:xfrm>
          <a:prstGeom prst="rect">
            <a:avLst/>
          </a:prstGeom>
          <a:noFill/>
        </p:spPr>
        <p:txBody>
          <a:bodyPr wrap="none" rtlCol="0">
            <a:spAutoFit/>
          </a:bodyPr>
          <a:lstStyle/>
          <a:p>
            <a:r>
              <a:rPr lang="en-US" dirty="0"/>
              <a:t>expr</a:t>
            </a:r>
          </a:p>
        </p:txBody>
      </p:sp>
      <p:cxnSp>
        <p:nvCxnSpPr>
          <p:cNvPr id="39" name="Straight Connector 38">
            <a:extLst>
              <a:ext uri="{FF2B5EF4-FFF2-40B4-BE49-F238E27FC236}">
                <a16:creationId xmlns:a16="http://schemas.microsoft.com/office/drawing/2014/main" id="{130EC886-051B-1248-823D-2EB736133459}"/>
              </a:ext>
            </a:extLst>
          </p:cNvPr>
          <p:cNvCxnSpPr>
            <a:cxnSpLocks/>
            <a:stCxn id="36" idx="2"/>
            <a:endCxn id="43" idx="0"/>
          </p:cNvCxnSpPr>
          <p:nvPr/>
        </p:nvCxnSpPr>
        <p:spPr>
          <a:xfrm>
            <a:off x="3636696" y="2311063"/>
            <a:ext cx="0" cy="554837"/>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4952DEB2-6A92-8541-ACE1-DDEDA7B9D118}"/>
              </a:ext>
            </a:extLst>
          </p:cNvPr>
          <p:cNvCxnSpPr>
            <a:cxnSpLocks/>
            <a:stCxn id="36" idx="2"/>
            <a:endCxn id="44" idx="0"/>
          </p:cNvCxnSpPr>
          <p:nvPr/>
        </p:nvCxnSpPr>
        <p:spPr>
          <a:xfrm>
            <a:off x="3636696" y="2311063"/>
            <a:ext cx="1057341" cy="536644"/>
          </a:xfrm>
          <a:prstGeom prst="line">
            <a:avLst/>
          </a:prstGeom>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1A9C10E0-8E1E-5748-91F2-5B29E549D1D6}"/>
              </a:ext>
            </a:extLst>
          </p:cNvPr>
          <p:cNvSpPr txBox="1"/>
          <p:nvPr/>
        </p:nvSpPr>
        <p:spPr>
          <a:xfrm>
            <a:off x="3196575" y="2865900"/>
            <a:ext cx="880241" cy="369332"/>
          </a:xfrm>
          <a:prstGeom prst="rect">
            <a:avLst/>
          </a:prstGeom>
          <a:noFill/>
        </p:spPr>
        <p:txBody>
          <a:bodyPr wrap="none" rtlCol="0">
            <a:spAutoFit/>
          </a:bodyPr>
          <a:lstStyle/>
          <a:p>
            <a:r>
              <a:rPr lang="en-US" dirty="0"/>
              <a:t>&lt;PLUS&gt;</a:t>
            </a:r>
          </a:p>
        </p:txBody>
      </p:sp>
      <p:sp>
        <p:nvSpPr>
          <p:cNvPr id="44" name="TextBox 43">
            <a:extLst>
              <a:ext uri="{FF2B5EF4-FFF2-40B4-BE49-F238E27FC236}">
                <a16:creationId xmlns:a16="http://schemas.microsoft.com/office/drawing/2014/main" id="{D7CA5CA2-4EA4-3B4E-9A91-6DDCD6F71A20}"/>
              </a:ext>
            </a:extLst>
          </p:cNvPr>
          <p:cNvSpPr txBox="1"/>
          <p:nvPr/>
        </p:nvSpPr>
        <p:spPr>
          <a:xfrm>
            <a:off x="4395045" y="2847707"/>
            <a:ext cx="597984" cy="369332"/>
          </a:xfrm>
          <a:prstGeom prst="rect">
            <a:avLst/>
          </a:prstGeom>
          <a:noFill/>
        </p:spPr>
        <p:txBody>
          <a:bodyPr wrap="none" rtlCol="0">
            <a:spAutoFit/>
          </a:bodyPr>
          <a:lstStyle/>
          <a:p>
            <a:r>
              <a:rPr lang="en-US" dirty="0"/>
              <a:t>expr</a:t>
            </a:r>
          </a:p>
        </p:txBody>
      </p:sp>
      <p:cxnSp>
        <p:nvCxnSpPr>
          <p:cNvPr id="49" name="Straight Connector 48">
            <a:extLst>
              <a:ext uri="{FF2B5EF4-FFF2-40B4-BE49-F238E27FC236}">
                <a16:creationId xmlns:a16="http://schemas.microsoft.com/office/drawing/2014/main" id="{2737F467-DD3B-464D-AB7C-48ADAE9C7A75}"/>
              </a:ext>
            </a:extLst>
          </p:cNvPr>
          <p:cNvCxnSpPr>
            <a:cxnSpLocks/>
          </p:cNvCxnSpPr>
          <p:nvPr/>
        </p:nvCxnSpPr>
        <p:spPr>
          <a:xfrm flipH="1">
            <a:off x="704643" y="3275108"/>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3B3C027E-6CAD-874A-BA4C-D4BDE373AB42}"/>
              </a:ext>
            </a:extLst>
          </p:cNvPr>
          <p:cNvCxnSpPr>
            <a:cxnSpLocks/>
          </p:cNvCxnSpPr>
          <p:nvPr/>
        </p:nvCxnSpPr>
        <p:spPr>
          <a:xfrm>
            <a:off x="1929016" y="3275108"/>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1ED3D8CF-46C2-074A-B667-A1B26D7A6839}"/>
              </a:ext>
            </a:extLst>
          </p:cNvPr>
          <p:cNvCxnSpPr>
            <a:cxnSpLocks/>
          </p:cNvCxnSpPr>
          <p:nvPr/>
        </p:nvCxnSpPr>
        <p:spPr>
          <a:xfrm>
            <a:off x="1929016" y="3275108"/>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41C57070-1823-F445-9473-2FC7F87656AF}"/>
              </a:ext>
            </a:extLst>
          </p:cNvPr>
          <p:cNvSpPr txBox="1"/>
          <p:nvPr/>
        </p:nvSpPr>
        <p:spPr>
          <a:xfrm>
            <a:off x="1471443" y="3742210"/>
            <a:ext cx="880241" cy="369332"/>
          </a:xfrm>
          <a:prstGeom prst="rect">
            <a:avLst/>
          </a:prstGeom>
          <a:noFill/>
        </p:spPr>
        <p:txBody>
          <a:bodyPr wrap="none" rtlCol="0">
            <a:spAutoFit/>
          </a:bodyPr>
          <a:lstStyle/>
          <a:p>
            <a:r>
              <a:rPr lang="en-US" dirty="0"/>
              <a:t>&lt;PLUS&gt;</a:t>
            </a:r>
          </a:p>
        </p:txBody>
      </p:sp>
      <p:sp>
        <p:nvSpPr>
          <p:cNvPr id="53" name="TextBox 52">
            <a:extLst>
              <a:ext uri="{FF2B5EF4-FFF2-40B4-BE49-F238E27FC236}">
                <a16:creationId xmlns:a16="http://schemas.microsoft.com/office/drawing/2014/main" id="{96253B0E-0EC6-3148-A7AA-7554864A0EED}"/>
              </a:ext>
            </a:extLst>
          </p:cNvPr>
          <p:cNvSpPr txBox="1"/>
          <p:nvPr/>
        </p:nvSpPr>
        <p:spPr>
          <a:xfrm>
            <a:off x="405651" y="3710817"/>
            <a:ext cx="597984" cy="369332"/>
          </a:xfrm>
          <a:prstGeom prst="rect">
            <a:avLst/>
          </a:prstGeom>
          <a:noFill/>
        </p:spPr>
        <p:txBody>
          <a:bodyPr wrap="none" rtlCol="0">
            <a:spAutoFit/>
          </a:bodyPr>
          <a:lstStyle/>
          <a:p>
            <a:r>
              <a:rPr lang="en-US" dirty="0"/>
              <a:t>expr</a:t>
            </a:r>
          </a:p>
        </p:txBody>
      </p:sp>
      <p:sp>
        <p:nvSpPr>
          <p:cNvPr id="54" name="TextBox 53">
            <a:extLst>
              <a:ext uri="{FF2B5EF4-FFF2-40B4-BE49-F238E27FC236}">
                <a16:creationId xmlns:a16="http://schemas.microsoft.com/office/drawing/2014/main" id="{E8D89358-50D5-5149-9D7E-12BE25096FA6}"/>
              </a:ext>
            </a:extLst>
          </p:cNvPr>
          <p:cNvSpPr txBox="1"/>
          <p:nvPr/>
        </p:nvSpPr>
        <p:spPr>
          <a:xfrm>
            <a:off x="2727183" y="3710817"/>
            <a:ext cx="597984" cy="369332"/>
          </a:xfrm>
          <a:prstGeom prst="rect">
            <a:avLst/>
          </a:prstGeom>
          <a:noFill/>
        </p:spPr>
        <p:txBody>
          <a:bodyPr wrap="none" rtlCol="0">
            <a:spAutoFit/>
          </a:bodyPr>
          <a:lstStyle/>
          <a:p>
            <a:r>
              <a:rPr lang="en-US" dirty="0"/>
              <a:t>expr</a:t>
            </a:r>
          </a:p>
        </p:txBody>
      </p:sp>
      <p:sp>
        <p:nvSpPr>
          <p:cNvPr id="59" name="TextBox 58">
            <a:extLst>
              <a:ext uri="{FF2B5EF4-FFF2-40B4-BE49-F238E27FC236}">
                <a16:creationId xmlns:a16="http://schemas.microsoft.com/office/drawing/2014/main" id="{4BB51672-AA26-1342-9E90-03C0F97FFA09}"/>
              </a:ext>
            </a:extLst>
          </p:cNvPr>
          <p:cNvSpPr txBox="1"/>
          <p:nvPr/>
        </p:nvSpPr>
        <p:spPr>
          <a:xfrm>
            <a:off x="169084" y="5722494"/>
            <a:ext cx="1136850" cy="369332"/>
          </a:xfrm>
          <a:prstGeom prst="rect">
            <a:avLst/>
          </a:prstGeom>
          <a:noFill/>
        </p:spPr>
        <p:txBody>
          <a:bodyPr wrap="none" rtlCol="0">
            <a:spAutoFit/>
          </a:bodyPr>
          <a:lstStyle/>
          <a:p>
            <a:r>
              <a:rPr lang="en-US" dirty="0"/>
              <a:t>&lt;NUM, 2&gt;</a:t>
            </a:r>
          </a:p>
        </p:txBody>
      </p:sp>
      <p:sp>
        <p:nvSpPr>
          <p:cNvPr id="60" name="TextBox 59">
            <a:extLst>
              <a:ext uri="{FF2B5EF4-FFF2-40B4-BE49-F238E27FC236}">
                <a16:creationId xmlns:a16="http://schemas.microsoft.com/office/drawing/2014/main" id="{C1BB3498-EE54-8746-A272-5AD0BED142DC}"/>
              </a:ext>
            </a:extLst>
          </p:cNvPr>
          <p:cNvSpPr txBox="1"/>
          <p:nvPr/>
        </p:nvSpPr>
        <p:spPr>
          <a:xfrm>
            <a:off x="375228" y="4410545"/>
            <a:ext cx="639021" cy="369332"/>
          </a:xfrm>
          <a:prstGeom prst="rect">
            <a:avLst/>
          </a:prstGeom>
          <a:noFill/>
        </p:spPr>
        <p:txBody>
          <a:bodyPr wrap="none" rtlCol="0">
            <a:spAutoFit/>
          </a:bodyPr>
          <a:lstStyle/>
          <a:p>
            <a:r>
              <a:rPr lang="en-US" dirty="0"/>
              <a:t>term</a:t>
            </a:r>
          </a:p>
        </p:txBody>
      </p:sp>
      <p:cxnSp>
        <p:nvCxnSpPr>
          <p:cNvPr id="61" name="Straight Connector 60">
            <a:extLst>
              <a:ext uri="{FF2B5EF4-FFF2-40B4-BE49-F238E27FC236}">
                <a16:creationId xmlns:a16="http://schemas.microsoft.com/office/drawing/2014/main" id="{FD6F8D07-D95A-5448-B1DF-6BD3C103C7EB}"/>
              </a:ext>
            </a:extLst>
          </p:cNvPr>
          <p:cNvCxnSpPr>
            <a:cxnSpLocks/>
            <a:endCxn id="59" idx="0"/>
          </p:cNvCxnSpPr>
          <p:nvPr/>
        </p:nvCxnSpPr>
        <p:spPr>
          <a:xfrm flipH="1">
            <a:off x="737509" y="5413801"/>
            <a:ext cx="1" cy="308693"/>
          </a:xfrm>
          <a:prstGeom prst="line">
            <a:avLst/>
          </a:prstGeom>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A86DCAF7-69E6-834A-AE6E-0FE38CEA85BA}"/>
              </a:ext>
            </a:extLst>
          </p:cNvPr>
          <p:cNvCxnSpPr>
            <a:cxnSpLocks/>
          </p:cNvCxnSpPr>
          <p:nvPr/>
        </p:nvCxnSpPr>
        <p:spPr>
          <a:xfrm flipH="1">
            <a:off x="719552" y="4092158"/>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BD57399C-B201-B746-8DE0-BCBE79A9AA7E}"/>
              </a:ext>
            </a:extLst>
          </p:cNvPr>
          <p:cNvSpPr txBox="1"/>
          <p:nvPr/>
        </p:nvSpPr>
        <p:spPr>
          <a:xfrm>
            <a:off x="2492539" y="5722494"/>
            <a:ext cx="1136850" cy="369332"/>
          </a:xfrm>
          <a:prstGeom prst="rect">
            <a:avLst/>
          </a:prstGeom>
          <a:noFill/>
        </p:spPr>
        <p:txBody>
          <a:bodyPr wrap="none" rtlCol="0">
            <a:spAutoFit/>
          </a:bodyPr>
          <a:lstStyle/>
          <a:p>
            <a:r>
              <a:rPr lang="en-US" dirty="0"/>
              <a:t>&lt;NUM, 3&gt;</a:t>
            </a:r>
          </a:p>
        </p:txBody>
      </p:sp>
      <p:sp>
        <p:nvSpPr>
          <p:cNvPr id="64" name="TextBox 63">
            <a:extLst>
              <a:ext uri="{FF2B5EF4-FFF2-40B4-BE49-F238E27FC236}">
                <a16:creationId xmlns:a16="http://schemas.microsoft.com/office/drawing/2014/main" id="{2026449A-B7B4-B146-92E2-AEC4902CF791}"/>
              </a:ext>
            </a:extLst>
          </p:cNvPr>
          <p:cNvSpPr txBox="1"/>
          <p:nvPr/>
        </p:nvSpPr>
        <p:spPr>
          <a:xfrm>
            <a:off x="2698683" y="4410545"/>
            <a:ext cx="639021" cy="369332"/>
          </a:xfrm>
          <a:prstGeom prst="rect">
            <a:avLst/>
          </a:prstGeom>
          <a:noFill/>
        </p:spPr>
        <p:txBody>
          <a:bodyPr wrap="none" rtlCol="0">
            <a:spAutoFit/>
          </a:bodyPr>
          <a:lstStyle/>
          <a:p>
            <a:r>
              <a:rPr lang="en-US" dirty="0"/>
              <a:t>term</a:t>
            </a:r>
          </a:p>
        </p:txBody>
      </p:sp>
      <p:cxnSp>
        <p:nvCxnSpPr>
          <p:cNvPr id="65" name="Straight Connector 64">
            <a:extLst>
              <a:ext uri="{FF2B5EF4-FFF2-40B4-BE49-F238E27FC236}">
                <a16:creationId xmlns:a16="http://schemas.microsoft.com/office/drawing/2014/main" id="{8C04012A-4FA5-6B44-80E4-9A7BFA02A83B}"/>
              </a:ext>
            </a:extLst>
          </p:cNvPr>
          <p:cNvCxnSpPr>
            <a:cxnSpLocks/>
            <a:endCxn id="63" idx="0"/>
          </p:cNvCxnSpPr>
          <p:nvPr/>
        </p:nvCxnSpPr>
        <p:spPr>
          <a:xfrm flipH="1">
            <a:off x="3060964" y="5458298"/>
            <a:ext cx="1" cy="264196"/>
          </a:xfrm>
          <a:prstGeom prst="line">
            <a:avLst/>
          </a:prstGeom>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A93561DF-98DF-A440-B8EE-AB89FE1FA19E}"/>
              </a:ext>
            </a:extLst>
          </p:cNvPr>
          <p:cNvCxnSpPr>
            <a:cxnSpLocks/>
          </p:cNvCxnSpPr>
          <p:nvPr/>
        </p:nvCxnSpPr>
        <p:spPr>
          <a:xfrm flipH="1">
            <a:off x="3043007" y="4092158"/>
            <a:ext cx="5609" cy="300061"/>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Connector 66">
            <a:extLst>
              <a:ext uri="{FF2B5EF4-FFF2-40B4-BE49-F238E27FC236}">
                <a16:creationId xmlns:a16="http://schemas.microsoft.com/office/drawing/2014/main" id="{8AC93A18-FD63-3C49-B627-4ED0A6C07807}"/>
              </a:ext>
            </a:extLst>
          </p:cNvPr>
          <p:cNvCxnSpPr>
            <a:cxnSpLocks/>
            <a:stCxn id="60" idx="2"/>
            <a:endCxn id="68" idx="0"/>
          </p:cNvCxnSpPr>
          <p:nvPr/>
        </p:nvCxnSpPr>
        <p:spPr>
          <a:xfrm>
            <a:off x="694739" y="4779877"/>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68" name="TextBox 67">
            <a:extLst>
              <a:ext uri="{FF2B5EF4-FFF2-40B4-BE49-F238E27FC236}">
                <a16:creationId xmlns:a16="http://schemas.microsoft.com/office/drawing/2014/main" id="{4BACA7DC-06DF-1F42-9362-D172C7991887}"/>
              </a:ext>
            </a:extLst>
          </p:cNvPr>
          <p:cNvSpPr txBox="1"/>
          <p:nvPr/>
        </p:nvSpPr>
        <p:spPr>
          <a:xfrm>
            <a:off x="336753" y="5022766"/>
            <a:ext cx="735779" cy="369332"/>
          </a:xfrm>
          <a:prstGeom prst="rect">
            <a:avLst/>
          </a:prstGeom>
          <a:noFill/>
        </p:spPr>
        <p:txBody>
          <a:bodyPr wrap="none" rtlCol="0">
            <a:spAutoFit/>
          </a:bodyPr>
          <a:lstStyle/>
          <a:p>
            <a:r>
              <a:rPr lang="en-US" dirty="0"/>
              <a:t>factor</a:t>
            </a:r>
          </a:p>
        </p:txBody>
      </p:sp>
      <p:cxnSp>
        <p:nvCxnSpPr>
          <p:cNvPr id="69" name="Straight Connector 68">
            <a:extLst>
              <a:ext uri="{FF2B5EF4-FFF2-40B4-BE49-F238E27FC236}">
                <a16:creationId xmlns:a16="http://schemas.microsoft.com/office/drawing/2014/main" id="{03147EF5-1094-DF40-B87D-B68D07211B82}"/>
              </a:ext>
            </a:extLst>
          </p:cNvPr>
          <p:cNvCxnSpPr>
            <a:cxnSpLocks/>
            <a:endCxn id="70" idx="0"/>
          </p:cNvCxnSpPr>
          <p:nvPr/>
        </p:nvCxnSpPr>
        <p:spPr>
          <a:xfrm>
            <a:off x="3016271" y="4702186"/>
            <a:ext cx="9904" cy="242889"/>
          </a:xfrm>
          <a:prstGeom prst="line">
            <a:avLst/>
          </a:prstGeom>
        </p:spPr>
        <p:style>
          <a:lnRef idx="1">
            <a:schemeClr val="dk1"/>
          </a:lnRef>
          <a:fillRef idx="0">
            <a:schemeClr val="dk1"/>
          </a:fillRef>
          <a:effectRef idx="0">
            <a:schemeClr val="dk1"/>
          </a:effectRef>
          <a:fontRef idx="minor">
            <a:schemeClr val="tx1"/>
          </a:fontRef>
        </p:style>
      </p:cxnSp>
      <p:sp>
        <p:nvSpPr>
          <p:cNvPr id="70" name="TextBox 69">
            <a:extLst>
              <a:ext uri="{FF2B5EF4-FFF2-40B4-BE49-F238E27FC236}">
                <a16:creationId xmlns:a16="http://schemas.microsoft.com/office/drawing/2014/main" id="{E3A4C9DB-E5C4-EE4E-B341-8806AFC0BC1A}"/>
              </a:ext>
            </a:extLst>
          </p:cNvPr>
          <p:cNvSpPr txBox="1"/>
          <p:nvPr/>
        </p:nvSpPr>
        <p:spPr>
          <a:xfrm>
            <a:off x="2658285" y="4945075"/>
            <a:ext cx="735779" cy="369332"/>
          </a:xfrm>
          <a:prstGeom prst="rect">
            <a:avLst/>
          </a:prstGeom>
          <a:noFill/>
        </p:spPr>
        <p:txBody>
          <a:bodyPr wrap="none" rtlCol="0">
            <a:spAutoFit/>
          </a:bodyPr>
          <a:lstStyle/>
          <a:p>
            <a:r>
              <a:rPr lang="en-US" dirty="0"/>
              <a:t>factor</a:t>
            </a:r>
          </a:p>
        </p:txBody>
      </p:sp>
      <p:sp>
        <p:nvSpPr>
          <p:cNvPr id="71" name="TextBox 70">
            <a:extLst>
              <a:ext uri="{FF2B5EF4-FFF2-40B4-BE49-F238E27FC236}">
                <a16:creationId xmlns:a16="http://schemas.microsoft.com/office/drawing/2014/main" id="{6E863AD3-AF58-9343-8A51-6AC7DA42C02D}"/>
              </a:ext>
            </a:extLst>
          </p:cNvPr>
          <p:cNvSpPr txBox="1"/>
          <p:nvPr/>
        </p:nvSpPr>
        <p:spPr>
          <a:xfrm>
            <a:off x="4108799" y="5194151"/>
            <a:ext cx="1136850" cy="369332"/>
          </a:xfrm>
          <a:prstGeom prst="rect">
            <a:avLst/>
          </a:prstGeom>
          <a:noFill/>
        </p:spPr>
        <p:txBody>
          <a:bodyPr wrap="none" rtlCol="0">
            <a:spAutoFit/>
          </a:bodyPr>
          <a:lstStyle/>
          <a:p>
            <a:r>
              <a:rPr lang="en-US" dirty="0"/>
              <a:t>&lt;NUM, 4&gt;</a:t>
            </a:r>
          </a:p>
        </p:txBody>
      </p:sp>
      <p:cxnSp>
        <p:nvCxnSpPr>
          <p:cNvPr id="72" name="Straight Connector 71">
            <a:extLst>
              <a:ext uri="{FF2B5EF4-FFF2-40B4-BE49-F238E27FC236}">
                <a16:creationId xmlns:a16="http://schemas.microsoft.com/office/drawing/2014/main" id="{1FB1C20C-FC64-DC4C-9330-6351C4E9B540}"/>
              </a:ext>
            </a:extLst>
          </p:cNvPr>
          <p:cNvCxnSpPr>
            <a:cxnSpLocks/>
            <a:endCxn id="73" idx="0"/>
          </p:cNvCxnSpPr>
          <p:nvPr/>
        </p:nvCxnSpPr>
        <p:spPr>
          <a:xfrm flipH="1">
            <a:off x="4682834" y="3201598"/>
            <a:ext cx="1442" cy="464578"/>
          </a:xfrm>
          <a:prstGeom prst="line">
            <a:avLst/>
          </a:prstGeom>
        </p:spPr>
        <p:style>
          <a:lnRef idx="1">
            <a:schemeClr val="dk1"/>
          </a:lnRef>
          <a:fillRef idx="0">
            <a:schemeClr val="dk1"/>
          </a:fillRef>
          <a:effectRef idx="0">
            <a:schemeClr val="dk1"/>
          </a:effectRef>
          <a:fontRef idx="minor">
            <a:schemeClr val="tx1"/>
          </a:fontRef>
        </p:style>
      </p:cxnSp>
      <p:sp>
        <p:nvSpPr>
          <p:cNvPr id="73" name="TextBox 72">
            <a:extLst>
              <a:ext uri="{FF2B5EF4-FFF2-40B4-BE49-F238E27FC236}">
                <a16:creationId xmlns:a16="http://schemas.microsoft.com/office/drawing/2014/main" id="{A5E35CF3-8A64-944D-AA44-CCB594F0C936}"/>
              </a:ext>
            </a:extLst>
          </p:cNvPr>
          <p:cNvSpPr txBox="1"/>
          <p:nvPr/>
        </p:nvSpPr>
        <p:spPr>
          <a:xfrm>
            <a:off x="4363323" y="3666176"/>
            <a:ext cx="639021" cy="369332"/>
          </a:xfrm>
          <a:prstGeom prst="rect">
            <a:avLst/>
          </a:prstGeom>
          <a:noFill/>
        </p:spPr>
        <p:txBody>
          <a:bodyPr wrap="none" rtlCol="0">
            <a:spAutoFit/>
          </a:bodyPr>
          <a:lstStyle/>
          <a:p>
            <a:r>
              <a:rPr lang="en-US" dirty="0"/>
              <a:t>term</a:t>
            </a:r>
          </a:p>
        </p:txBody>
      </p:sp>
      <p:cxnSp>
        <p:nvCxnSpPr>
          <p:cNvPr id="74" name="Straight Connector 73">
            <a:extLst>
              <a:ext uri="{FF2B5EF4-FFF2-40B4-BE49-F238E27FC236}">
                <a16:creationId xmlns:a16="http://schemas.microsoft.com/office/drawing/2014/main" id="{81C3E4BA-997F-AA4A-BB0F-E26D41A1AC4D}"/>
              </a:ext>
            </a:extLst>
          </p:cNvPr>
          <p:cNvCxnSpPr>
            <a:cxnSpLocks/>
            <a:stCxn id="73" idx="2"/>
            <a:endCxn id="75" idx="0"/>
          </p:cNvCxnSpPr>
          <p:nvPr/>
        </p:nvCxnSpPr>
        <p:spPr>
          <a:xfrm flipH="1">
            <a:off x="4682833" y="4035508"/>
            <a:ext cx="1" cy="489250"/>
          </a:xfrm>
          <a:prstGeom prst="line">
            <a:avLst/>
          </a:prstGeom>
        </p:spPr>
        <p:style>
          <a:lnRef idx="1">
            <a:schemeClr val="dk1"/>
          </a:lnRef>
          <a:fillRef idx="0">
            <a:schemeClr val="dk1"/>
          </a:fillRef>
          <a:effectRef idx="0">
            <a:schemeClr val="dk1"/>
          </a:effectRef>
          <a:fontRef idx="minor">
            <a:schemeClr val="tx1"/>
          </a:fontRef>
        </p:style>
      </p:cxnSp>
      <p:sp>
        <p:nvSpPr>
          <p:cNvPr id="75" name="TextBox 74">
            <a:extLst>
              <a:ext uri="{FF2B5EF4-FFF2-40B4-BE49-F238E27FC236}">
                <a16:creationId xmlns:a16="http://schemas.microsoft.com/office/drawing/2014/main" id="{3AECA206-BD9C-0C4C-ACFA-6ED75A7F6D50}"/>
              </a:ext>
            </a:extLst>
          </p:cNvPr>
          <p:cNvSpPr txBox="1"/>
          <p:nvPr/>
        </p:nvSpPr>
        <p:spPr>
          <a:xfrm>
            <a:off x="4314943" y="4524758"/>
            <a:ext cx="735779" cy="369332"/>
          </a:xfrm>
          <a:prstGeom prst="rect">
            <a:avLst/>
          </a:prstGeom>
          <a:noFill/>
        </p:spPr>
        <p:txBody>
          <a:bodyPr wrap="none" rtlCol="0">
            <a:spAutoFit/>
          </a:bodyPr>
          <a:lstStyle/>
          <a:p>
            <a:r>
              <a:rPr lang="en-US" dirty="0"/>
              <a:t>factor</a:t>
            </a:r>
          </a:p>
        </p:txBody>
      </p:sp>
      <p:cxnSp>
        <p:nvCxnSpPr>
          <p:cNvPr id="76" name="Straight Connector 75">
            <a:extLst>
              <a:ext uri="{FF2B5EF4-FFF2-40B4-BE49-F238E27FC236}">
                <a16:creationId xmlns:a16="http://schemas.microsoft.com/office/drawing/2014/main" id="{0ECCCB75-1593-BA4C-988E-981C8B8AF8D5}"/>
              </a:ext>
            </a:extLst>
          </p:cNvPr>
          <p:cNvCxnSpPr>
            <a:cxnSpLocks/>
            <a:stCxn id="75" idx="2"/>
            <a:endCxn id="71" idx="0"/>
          </p:cNvCxnSpPr>
          <p:nvPr/>
        </p:nvCxnSpPr>
        <p:spPr>
          <a:xfrm flipH="1">
            <a:off x="4677224" y="4894090"/>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0E9375D6-2140-CC4E-81AB-2AAC9912AE0D}"/>
              </a:ext>
            </a:extLst>
          </p:cNvPr>
          <p:cNvSpPr txBox="1"/>
          <p:nvPr/>
        </p:nvSpPr>
        <p:spPr>
          <a:xfrm>
            <a:off x="435242" y="1524075"/>
            <a:ext cx="2216761" cy="369332"/>
          </a:xfrm>
          <a:prstGeom prst="rect">
            <a:avLst/>
          </a:prstGeom>
          <a:noFill/>
        </p:spPr>
        <p:txBody>
          <a:bodyPr wrap="none" rtlCol="0">
            <a:spAutoFit/>
          </a:bodyPr>
          <a:lstStyle/>
          <a:p>
            <a:r>
              <a:rPr lang="en-US" i="1" dirty="0"/>
              <a:t>What about this one?</a:t>
            </a:r>
          </a:p>
        </p:txBody>
      </p:sp>
      <p:sp>
        <p:nvSpPr>
          <p:cNvPr id="3" name="TextBox 2">
            <a:extLst>
              <a:ext uri="{FF2B5EF4-FFF2-40B4-BE49-F238E27FC236}">
                <a16:creationId xmlns:a16="http://schemas.microsoft.com/office/drawing/2014/main" id="{87BD11E8-7DFB-A440-8607-C9D6A77D7CFD}"/>
              </a:ext>
            </a:extLst>
          </p:cNvPr>
          <p:cNvSpPr txBox="1"/>
          <p:nvPr/>
        </p:nvSpPr>
        <p:spPr>
          <a:xfrm>
            <a:off x="4985917" y="1789401"/>
            <a:ext cx="2306529" cy="646331"/>
          </a:xfrm>
          <a:prstGeom prst="rect">
            <a:avLst/>
          </a:prstGeom>
          <a:noFill/>
        </p:spPr>
        <p:txBody>
          <a:bodyPr wrap="none" rtlCol="0">
            <a:spAutoFit/>
          </a:bodyPr>
          <a:lstStyle/>
          <a:p>
            <a:r>
              <a:rPr lang="en-US" dirty="0"/>
              <a:t>Cannot produce either</a:t>
            </a:r>
          </a:p>
          <a:p>
            <a:r>
              <a:rPr lang="en-US" dirty="0"/>
              <a:t>parse tree!</a:t>
            </a:r>
          </a:p>
        </p:txBody>
      </p:sp>
      <p:pic>
        <p:nvPicPr>
          <p:cNvPr id="4" name="Picture 3">
            <a:extLst>
              <a:ext uri="{FF2B5EF4-FFF2-40B4-BE49-F238E27FC236}">
                <a16:creationId xmlns:a16="http://schemas.microsoft.com/office/drawing/2014/main" id="{F8DB171C-2AB8-267E-D480-D19580CE5ABB}"/>
              </a:ext>
            </a:extLst>
          </p:cNvPr>
          <p:cNvPicPr>
            <a:picLocks noChangeAspect="1"/>
          </p:cNvPicPr>
          <p:nvPr/>
        </p:nvPicPr>
        <p:blipFill>
          <a:blip r:embed="rId2"/>
          <a:stretch>
            <a:fillRect/>
          </a:stretch>
        </p:blipFill>
        <p:spPr>
          <a:xfrm>
            <a:off x="405651" y="234835"/>
            <a:ext cx="2501900" cy="901700"/>
          </a:xfrm>
          <a:prstGeom prst="rect">
            <a:avLst/>
          </a:prstGeom>
        </p:spPr>
      </p:pic>
      <p:sp>
        <p:nvSpPr>
          <p:cNvPr id="5" name="TextBox 4">
            <a:extLst>
              <a:ext uri="{FF2B5EF4-FFF2-40B4-BE49-F238E27FC236}">
                <a16:creationId xmlns:a16="http://schemas.microsoft.com/office/drawing/2014/main" id="{8E965420-2211-2489-54BB-9C3635E63E05}"/>
              </a:ext>
            </a:extLst>
          </p:cNvPr>
          <p:cNvSpPr txBox="1"/>
          <p:nvPr/>
        </p:nvSpPr>
        <p:spPr>
          <a:xfrm>
            <a:off x="7766835" y="264143"/>
            <a:ext cx="2945518" cy="923330"/>
          </a:xfrm>
          <a:prstGeom prst="rect">
            <a:avLst/>
          </a:prstGeom>
          <a:noFill/>
        </p:spPr>
        <p:txBody>
          <a:bodyPr wrap="square" rtlCol="0">
            <a:spAutoFit/>
          </a:bodyPr>
          <a:lstStyle/>
          <a:p>
            <a:r>
              <a:rPr lang="en-US" dirty="0"/>
              <a:t>UNAMBIGUOUS</a:t>
            </a:r>
          </a:p>
          <a:p>
            <a:r>
              <a:rPr lang="en-US" dirty="0"/>
              <a:t>But not expressive</a:t>
            </a:r>
          </a:p>
          <a:p>
            <a:r>
              <a:rPr lang="en-US" dirty="0"/>
              <a:t>No recursion</a:t>
            </a:r>
          </a:p>
        </p:txBody>
      </p:sp>
    </p:spTree>
    <p:extLst>
      <p:ext uri="{BB962C8B-B14F-4D97-AF65-F5344CB8AC3E}">
        <p14:creationId xmlns:p14="http://schemas.microsoft.com/office/powerpoint/2010/main" val="11829492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3" name="Picture 2">
            <a:extLst>
              <a:ext uri="{FF2B5EF4-FFF2-40B4-BE49-F238E27FC236}">
                <a16:creationId xmlns:a16="http://schemas.microsoft.com/office/drawing/2014/main" id="{D5150847-ACE5-914D-A56D-F7C4E82E28EA}"/>
              </a:ext>
            </a:extLst>
          </p:cNvPr>
          <p:cNvPicPr>
            <a:picLocks noChangeAspect="1"/>
          </p:cNvPicPr>
          <p:nvPr/>
        </p:nvPicPr>
        <p:blipFill>
          <a:blip r:embed="rId2"/>
          <a:stretch>
            <a:fillRect/>
          </a:stretch>
        </p:blipFill>
        <p:spPr>
          <a:xfrm>
            <a:off x="1511300" y="2260600"/>
            <a:ext cx="9169400" cy="2336800"/>
          </a:xfrm>
          <a:prstGeom prst="rect">
            <a:avLst/>
          </a:prstGeom>
        </p:spPr>
      </p:pic>
    </p:spTree>
    <p:extLst>
      <p:ext uri="{BB962C8B-B14F-4D97-AF65-F5344CB8AC3E}">
        <p14:creationId xmlns:p14="http://schemas.microsoft.com/office/powerpoint/2010/main" val="20520413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22A2A-82F3-DE48-BEF3-F2BC607438CB}"/>
              </a:ext>
            </a:extLst>
          </p:cNvPr>
          <p:cNvSpPr>
            <a:spLocks noGrp="1"/>
          </p:cNvSpPr>
          <p:nvPr>
            <p:ph type="title"/>
          </p:nvPr>
        </p:nvSpPr>
        <p:spPr/>
        <p:txBody>
          <a:bodyPr/>
          <a:lstStyle/>
          <a:p>
            <a:r>
              <a:rPr lang="en-US" dirty="0"/>
              <a:t>Post order traversal</a:t>
            </a:r>
          </a:p>
        </p:txBody>
      </p:sp>
      <p:sp>
        <p:nvSpPr>
          <p:cNvPr id="4" name="Oval 3">
            <a:extLst>
              <a:ext uri="{FF2B5EF4-FFF2-40B4-BE49-F238E27FC236}">
                <a16:creationId xmlns:a16="http://schemas.microsoft.com/office/drawing/2014/main" id="{318E3F6C-A743-8A4D-9EE8-2834469CE690}"/>
              </a:ext>
            </a:extLst>
          </p:cNvPr>
          <p:cNvSpPr/>
          <p:nvPr/>
        </p:nvSpPr>
        <p:spPr>
          <a:xfrm>
            <a:off x="3348228" y="2697480"/>
            <a:ext cx="777240" cy="77724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Oval 4">
            <a:extLst>
              <a:ext uri="{FF2B5EF4-FFF2-40B4-BE49-F238E27FC236}">
                <a16:creationId xmlns:a16="http://schemas.microsoft.com/office/drawing/2014/main" id="{B52AEBBA-F12C-B341-98FC-EBB4B11DB1CE}"/>
              </a:ext>
            </a:extLst>
          </p:cNvPr>
          <p:cNvSpPr/>
          <p:nvPr/>
        </p:nvSpPr>
        <p:spPr>
          <a:xfrm>
            <a:off x="1441704" y="4028884"/>
            <a:ext cx="777240" cy="77724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Oval 6">
            <a:extLst>
              <a:ext uri="{FF2B5EF4-FFF2-40B4-BE49-F238E27FC236}">
                <a16:creationId xmlns:a16="http://schemas.microsoft.com/office/drawing/2014/main" id="{86D936F8-A834-0B42-95CA-6AE1E67B666F}"/>
              </a:ext>
            </a:extLst>
          </p:cNvPr>
          <p:cNvSpPr/>
          <p:nvPr/>
        </p:nvSpPr>
        <p:spPr>
          <a:xfrm>
            <a:off x="483124" y="5731933"/>
            <a:ext cx="777240" cy="77724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9" name="Straight Connector 8">
            <a:extLst>
              <a:ext uri="{FF2B5EF4-FFF2-40B4-BE49-F238E27FC236}">
                <a16:creationId xmlns:a16="http://schemas.microsoft.com/office/drawing/2014/main" id="{B4821868-82EE-504D-8067-1F861B330C2F}"/>
              </a:ext>
            </a:extLst>
          </p:cNvPr>
          <p:cNvCxnSpPr>
            <a:stCxn id="4" idx="3"/>
            <a:endCxn id="5" idx="7"/>
          </p:cNvCxnSpPr>
          <p:nvPr/>
        </p:nvCxnSpPr>
        <p:spPr>
          <a:xfrm flipH="1">
            <a:off x="2105120" y="3360896"/>
            <a:ext cx="1356932" cy="781812"/>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A17227F8-0456-9348-811A-BBD396F72331}"/>
              </a:ext>
            </a:extLst>
          </p:cNvPr>
          <p:cNvCxnSpPr>
            <a:cxnSpLocks/>
          </p:cNvCxnSpPr>
          <p:nvPr/>
        </p:nvCxnSpPr>
        <p:spPr>
          <a:xfrm flipH="1">
            <a:off x="3748278" y="2127314"/>
            <a:ext cx="24384" cy="554164"/>
          </a:xfrm>
          <a:prstGeom prst="line">
            <a:avLst/>
          </a:prstGeom>
        </p:spPr>
        <p:style>
          <a:lnRef idx="1">
            <a:schemeClr val="dk1"/>
          </a:lnRef>
          <a:fillRef idx="0">
            <a:schemeClr val="dk1"/>
          </a:fillRef>
          <a:effectRef idx="0">
            <a:schemeClr val="dk1"/>
          </a:effectRef>
          <a:fontRef idx="minor">
            <a:schemeClr val="tx1"/>
          </a:fontRef>
        </p:style>
      </p:cxnSp>
      <p:sp>
        <p:nvSpPr>
          <p:cNvPr id="14" name="Oval 13">
            <a:extLst>
              <a:ext uri="{FF2B5EF4-FFF2-40B4-BE49-F238E27FC236}">
                <a16:creationId xmlns:a16="http://schemas.microsoft.com/office/drawing/2014/main" id="{44DF338B-6FB2-1B4E-A4A7-202FF25A45D6}"/>
              </a:ext>
            </a:extLst>
          </p:cNvPr>
          <p:cNvSpPr/>
          <p:nvPr/>
        </p:nvSpPr>
        <p:spPr>
          <a:xfrm>
            <a:off x="4011644" y="4092892"/>
            <a:ext cx="777240" cy="77724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Oval 14">
            <a:extLst>
              <a:ext uri="{FF2B5EF4-FFF2-40B4-BE49-F238E27FC236}">
                <a16:creationId xmlns:a16="http://schemas.microsoft.com/office/drawing/2014/main" id="{9873C7A7-1F6B-9040-8A16-BB409BFB956B}"/>
              </a:ext>
            </a:extLst>
          </p:cNvPr>
          <p:cNvSpPr/>
          <p:nvPr/>
        </p:nvSpPr>
        <p:spPr>
          <a:xfrm>
            <a:off x="1967642" y="5647267"/>
            <a:ext cx="777240" cy="77724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1" name="Straight Connector 20">
            <a:extLst>
              <a:ext uri="{FF2B5EF4-FFF2-40B4-BE49-F238E27FC236}">
                <a16:creationId xmlns:a16="http://schemas.microsoft.com/office/drawing/2014/main" id="{B8953DFB-2024-004E-A3C5-D73644BE3024}"/>
              </a:ext>
            </a:extLst>
          </p:cNvPr>
          <p:cNvCxnSpPr>
            <a:cxnSpLocks/>
            <a:stCxn id="4" idx="5"/>
            <a:endCxn id="14" idx="0"/>
          </p:cNvCxnSpPr>
          <p:nvPr/>
        </p:nvCxnSpPr>
        <p:spPr>
          <a:xfrm>
            <a:off x="4011644" y="3360896"/>
            <a:ext cx="388620" cy="731996"/>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DD22BCF-A37D-024E-8264-0F4BA2EA7840}"/>
              </a:ext>
            </a:extLst>
          </p:cNvPr>
          <p:cNvCxnSpPr>
            <a:cxnSpLocks/>
            <a:stCxn id="5" idx="3"/>
          </p:cNvCxnSpPr>
          <p:nvPr/>
        </p:nvCxnSpPr>
        <p:spPr>
          <a:xfrm flipH="1">
            <a:off x="965200" y="4692300"/>
            <a:ext cx="590328" cy="1039633"/>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5E0A8BF-803D-9449-8892-D2610016BD11}"/>
              </a:ext>
            </a:extLst>
          </p:cNvPr>
          <p:cNvCxnSpPr>
            <a:cxnSpLocks/>
            <a:stCxn id="5" idx="5"/>
          </p:cNvCxnSpPr>
          <p:nvPr/>
        </p:nvCxnSpPr>
        <p:spPr>
          <a:xfrm>
            <a:off x="2105120" y="4692300"/>
            <a:ext cx="227648" cy="954967"/>
          </a:xfrm>
          <a:prstGeom prst="line">
            <a:avLst/>
          </a:prstGeom>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8C9AE2E8-CA65-2B42-B58C-DA029A768D54}"/>
              </a:ext>
            </a:extLst>
          </p:cNvPr>
          <p:cNvSpPr txBox="1"/>
          <p:nvPr/>
        </p:nvSpPr>
        <p:spPr>
          <a:xfrm>
            <a:off x="8297333" y="2937933"/>
            <a:ext cx="3148426" cy="646331"/>
          </a:xfrm>
          <a:prstGeom prst="rect">
            <a:avLst/>
          </a:prstGeom>
          <a:noFill/>
        </p:spPr>
        <p:txBody>
          <a:bodyPr wrap="none" rtlCol="0">
            <a:spAutoFit/>
          </a:bodyPr>
          <a:lstStyle/>
          <a:p>
            <a:r>
              <a:rPr lang="en-US" dirty="0"/>
              <a:t>What is the post order traversal</a:t>
            </a:r>
          </a:p>
          <a:p>
            <a:r>
              <a:rPr lang="en-US" dirty="0"/>
              <a:t>of this tree?</a:t>
            </a:r>
          </a:p>
        </p:txBody>
      </p:sp>
    </p:spTree>
    <p:extLst>
      <p:ext uri="{BB962C8B-B14F-4D97-AF65-F5344CB8AC3E}">
        <p14:creationId xmlns:p14="http://schemas.microsoft.com/office/powerpoint/2010/main" val="6081575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22A2A-82F3-DE48-BEF3-F2BC607438CB}"/>
              </a:ext>
            </a:extLst>
          </p:cNvPr>
          <p:cNvSpPr>
            <a:spLocks noGrp="1"/>
          </p:cNvSpPr>
          <p:nvPr>
            <p:ph type="title"/>
          </p:nvPr>
        </p:nvSpPr>
        <p:spPr/>
        <p:txBody>
          <a:bodyPr/>
          <a:lstStyle/>
          <a:p>
            <a:r>
              <a:rPr lang="en-US" dirty="0"/>
              <a:t>Post order traversal</a:t>
            </a:r>
          </a:p>
        </p:txBody>
      </p:sp>
      <p:sp>
        <p:nvSpPr>
          <p:cNvPr id="4" name="Oval 3">
            <a:extLst>
              <a:ext uri="{FF2B5EF4-FFF2-40B4-BE49-F238E27FC236}">
                <a16:creationId xmlns:a16="http://schemas.microsoft.com/office/drawing/2014/main" id="{318E3F6C-A743-8A4D-9EE8-2834469CE690}"/>
              </a:ext>
            </a:extLst>
          </p:cNvPr>
          <p:cNvSpPr/>
          <p:nvPr/>
        </p:nvSpPr>
        <p:spPr>
          <a:xfrm>
            <a:off x="3348228" y="2697480"/>
            <a:ext cx="777240" cy="77724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 name="Oval 4">
            <a:extLst>
              <a:ext uri="{FF2B5EF4-FFF2-40B4-BE49-F238E27FC236}">
                <a16:creationId xmlns:a16="http://schemas.microsoft.com/office/drawing/2014/main" id="{B52AEBBA-F12C-B341-98FC-EBB4B11DB1CE}"/>
              </a:ext>
            </a:extLst>
          </p:cNvPr>
          <p:cNvSpPr/>
          <p:nvPr/>
        </p:nvSpPr>
        <p:spPr>
          <a:xfrm>
            <a:off x="1441704" y="4028884"/>
            <a:ext cx="777240" cy="77724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86D936F8-A834-0B42-95CA-6AE1E67B666F}"/>
              </a:ext>
            </a:extLst>
          </p:cNvPr>
          <p:cNvSpPr/>
          <p:nvPr/>
        </p:nvSpPr>
        <p:spPr>
          <a:xfrm>
            <a:off x="483124" y="5731933"/>
            <a:ext cx="777240" cy="77724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9" name="Straight Connector 8">
            <a:extLst>
              <a:ext uri="{FF2B5EF4-FFF2-40B4-BE49-F238E27FC236}">
                <a16:creationId xmlns:a16="http://schemas.microsoft.com/office/drawing/2014/main" id="{B4821868-82EE-504D-8067-1F861B330C2F}"/>
              </a:ext>
            </a:extLst>
          </p:cNvPr>
          <p:cNvCxnSpPr>
            <a:stCxn id="4" idx="3"/>
            <a:endCxn id="5" idx="7"/>
          </p:cNvCxnSpPr>
          <p:nvPr/>
        </p:nvCxnSpPr>
        <p:spPr>
          <a:xfrm flipH="1">
            <a:off x="2105120" y="3360896"/>
            <a:ext cx="1356932" cy="781812"/>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A17227F8-0456-9348-811A-BBD396F72331}"/>
              </a:ext>
            </a:extLst>
          </p:cNvPr>
          <p:cNvCxnSpPr>
            <a:cxnSpLocks/>
          </p:cNvCxnSpPr>
          <p:nvPr/>
        </p:nvCxnSpPr>
        <p:spPr>
          <a:xfrm flipH="1">
            <a:off x="3748278" y="2127314"/>
            <a:ext cx="24384" cy="554164"/>
          </a:xfrm>
          <a:prstGeom prst="line">
            <a:avLst/>
          </a:prstGeom>
        </p:spPr>
        <p:style>
          <a:lnRef idx="1">
            <a:schemeClr val="dk1"/>
          </a:lnRef>
          <a:fillRef idx="0">
            <a:schemeClr val="dk1"/>
          </a:fillRef>
          <a:effectRef idx="0">
            <a:schemeClr val="dk1"/>
          </a:effectRef>
          <a:fontRef idx="minor">
            <a:schemeClr val="tx1"/>
          </a:fontRef>
        </p:style>
      </p:cxnSp>
      <p:sp>
        <p:nvSpPr>
          <p:cNvPr id="14" name="Oval 13">
            <a:extLst>
              <a:ext uri="{FF2B5EF4-FFF2-40B4-BE49-F238E27FC236}">
                <a16:creationId xmlns:a16="http://schemas.microsoft.com/office/drawing/2014/main" id="{44DF338B-6FB2-1B4E-A4A7-202FF25A45D6}"/>
              </a:ext>
            </a:extLst>
          </p:cNvPr>
          <p:cNvSpPr/>
          <p:nvPr/>
        </p:nvSpPr>
        <p:spPr>
          <a:xfrm>
            <a:off x="4011644" y="4092892"/>
            <a:ext cx="777240" cy="77724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5" name="Oval 14">
            <a:extLst>
              <a:ext uri="{FF2B5EF4-FFF2-40B4-BE49-F238E27FC236}">
                <a16:creationId xmlns:a16="http://schemas.microsoft.com/office/drawing/2014/main" id="{9873C7A7-1F6B-9040-8A16-BB409BFB956B}"/>
              </a:ext>
            </a:extLst>
          </p:cNvPr>
          <p:cNvSpPr/>
          <p:nvPr/>
        </p:nvSpPr>
        <p:spPr>
          <a:xfrm>
            <a:off x="1967642" y="5647267"/>
            <a:ext cx="777240" cy="77724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21" name="Straight Connector 20">
            <a:extLst>
              <a:ext uri="{FF2B5EF4-FFF2-40B4-BE49-F238E27FC236}">
                <a16:creationId xmlns:a16="http://schemas.microsoft.com/office/drawing/2014/main" id="{B8953DFB-2024-004E-A3C5-D73644BE3024}"/>
              </a:ext>
            </a:extLst>
          </p:cNvPr>
          <p:cNvCxnSpPr>
            <a:cxnSpLocks/>
            <a:stCxn id="4" idx="5"/>
            <a:endCxn id="14" idx="0"/>
          </p:cNvCxnSpPr>
          <p:nvPr/>
        </p:nvCxnSpPr>
        <p:spPr>
          <a:xfrm>
            <a:off x="4011644" y="3360896"/>
            <a:ext cx="388620" cy="731996"/>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DD22BCF-A37D-024E-8264-0F4BA2EA7840}"/>
              </a:ext>
            </a:extLst>
          </p:cNvPr>
          <p:cNvCxnSpPr>
            <a:cxnSpLocks/>
            <a:stCxn id="5" idx="3"/>
          </p:cNvCxnSpPr>
          <p:nvPr/>
        </p:nvCxnSpPr>
        <p:spPr>
          <a:xfrm flipH="1">
            <a:off x="965200" y="4692300"/>
            <a:ext cx="590328" cy="1039633"/>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5E0A8BF-803D-9449-8892-D2610016BD11}"/>
              </a:ext>
            </a:extLst>
          </p:cNvPr>
          <p:cNvCxnSpPr>
            <a:cxnSpLocks/>
            <a:stCxn id="5" idx="5"/>
          </p:cNvCxnSpPr>
          <p:nvPr/>
        </p:nvCxnSpPr>
        <p:spPr>
          <a:xfrm>
            <a:off x="2105120" y="4692300"/>
            <a:ext cx="227648" cy="954967"/>
          </a:xfrm>
          <a:prstGeom prst="line">
            <a:avLst/>
          </a:prstGeom>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8C9AE2E8-CA65-2B42-B58C-DA029A768D54}"/>
              </a:ext>
            </a:extLst>
          </p:cNvPr>
          <p:cNvSpPr txBox="1"/>
          <p:nvPr/>
        </p:nvSpPr>
        <p:spPr>
          <a:xfrm>
            <a:off x="8297333" y="2937933"/>
            <a:ext cx="3148426" cy="646331"/>
          </a:xfrm>
          <a:prstGeom prst="rect">
            <a:avLst/>
          </a:prstGeom>
          <a:noFill/>
        </p:spPr>
        <p:txBody>
          <a:bodyPr wrap="none" rtlCol="0">
            <a:spAutoFit/>
          </a:bodyPr>
          <a:lstStyle/>
          <a:p>
            <a:r>
              <a:rPr lang="en-US" dirty="0"/>
              <a:t>What is the post order traversal</a:t>
            </a:r>
          </a:p>
          <a:p>
            <a:r>
              <a:rPr lang="en-US" dirty="0"/>
              <a:t>of this tree?</a:t>
            </a:r>
          </a:p>
        </p:txBody>
      </p:sp>
    </p:spTree>
    <p:extLst>
      <p:ext uri="{BB962C8B-B14F-4D97-AF65-F5344CB8AC3E}">
        <p14:creationId xmlns:p14="http://schemas.microsoft.com/office/powerpoint/2010/main" val="35617579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22A2A-82F3-DE48-BEF3-F2BC607438CB}"/>
              </a:ext>
            </a:extLst>
          </p:cNvPr>
          <p:cNvSpPr>
            <a:spLocks noGrp="1"/>
          </p:cNvSpPr>
          <p:nvPr>
            <p:ph type="title"/>
          </p:nvPr>
        </p:nvSpPr>
        <p:spPr/>
        <p:txBody>
          <a:bodyPr/>
          <a:lstStyle/>
          <a:p>
            <a:r>
              <a:rPr lang="en-US" dirty="0"/>
              <a:t>Post order traversal</a:t>
            </a:r>
          </a:p>
        </p:txBody>
      </p:sp>
      <p:sp>
        <p:nvSpPr>
          <p:cNvPr id="4" name="Oval 3">
            <a:extLst>
              <a:ext uri="{FF2B5EF4-FFF2-40B4-BE49-F238E27FC236}">
                <a16:creationId xmlns:a16="http://schemas.microsoft.com/office/drawing/2014/main" id="{318E3F6C-A743-8A4D-9EE8-2834469CE690}"/>
              </a:ext>
            </a:extLst>
          </p:cNvPr>
          <p:cNvSpPr/>
          <p:nvPr/>
        </p:nvSpPr>
        <p:spPr>
          <a:xfrm>
            <a:off x="3348228" y="2697480"/>
            <a:ext cx="777240" cy="77724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 name="Oval 4">
            <a:extLst>
              <a:ext uri="{FF2B5EF4-FFF2-40B4-BE49-F238E27FC236}">
                <a16:creationId xmlns:a16="http://schemas.microsoft.com/office/drawing/2014/main" id="{B52AEBBA-F12C-B341-98FC-EBB4B11DB1CE}"/>
              </a:ext>
            </a:extLst>
          </p:cNvPr>
          <p:cNvSpPr/>
          <p:nvPr/>
        </p:nvSpPr>
        <p:spPr>
          <a:xfrm>
            <a:off x="1441704" y="4028884"/>
            <a:ext cx="777240" cy="77724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86D936F8-A834-0B42-95CA-6AE1E67B666F}"/>
              </a:ext>
            </a:extLst>
          </p:cNvPr>
          <p:cNvSpPr/>
          <p:nvPr/>
        </p:nvSpPr>
        <p:spPr>
          <a:xfrm>
            <a:off x="483124" y="5731933"/>
            <a:ext cx="777240" cy="77724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9" name="Straight Connector 8">
            <a:extLst>
              <a:ext uri="{FF2B5EF4-FFF2-40B4-BE49-F238E27FC236}">
                <a16:creationId xmlns:a16="http://schemas.microsoft.com/office/drawing/2014/main" id="{B4821868-82EE-504D-8067-1F861B330C2F}"/>
              </a:ext>
            </a:extLst>
          </p:cNvPr>
          <p:cNvCxnSpPr>
            <a:stCxn id="4" idx="3"/>
            <a:endCxn id="5" idx="7"/>
          </p:cNvCxnSpPr>
          <p:nvPr/>
        </p:nvCxnSpPr>
        <p:spPr>
          <a:xfrm flipH="1">
            <a:off x="2105120" y="3360896"/>
            <a:ext cx="1356932" cy="781812"/>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A17227F8-0456-9348-811A-BBD396F72331}"/>
              </a:ext>
            </a:extLst>
          </p:cNvPr>
          <p:cNvCxnSpPr>
            <a:cxnSpLocks/>
          </p:cNvCxnSpPr>
          <p:nvPr/>
        </p:nvCxnSpPr>
        <p:spPr>
          <a:xfrm flipH="1">
            <a:off x="3748278" y="2127314"/>
            <a:ext cx="24384" cy="554164"/>
          </a:xfrm>
          <a:prstGeom prst="line">
            <a:avLst/>
          </a:prstGeom>
        </p:spPr>
        <p:style>
          <a:lnRef idx="1">
            <a:schemeClr val="dk1"/>
          </a:lnRef>
          <a:fillRef idx="0">
            <a:schemeClr val="dk1"/>
          </a:fillRef>
          <a:effectRef idx="0">
            <a:schemeClr val="dk1"/>
          </a:effectRef>
          <a:fontRef idx="minor">
            <a:schemeClr val="tx1"/>
          </a:fontRef>
        </p:style>
      </p:cxnSp>
      <p:sp>
        <p:nvSpPr>
          <p:cNvPr id="14" name="Oval 13">
            <a:extLst>
              <a:ext uri="{FF2B5EF4-FFF2-40B4-BE49-F238E27FC236}">
                <a16:creationId xmlns:a16="http://schemas.microsoft.com/office/drawing/2014/main" id="{44DF338B-6FB2-1B4E-A4A7-202FF25A45D6}"/>
              </a:ext>
            </a:extLst>
          </p:cNvPr>
          <p:cNvSpPr/>
          <p:nvPr/>
        </p:nvSpPr>
        <p:spPr>
          <a:xfrm>
            <a:off x="4011644" y="4092892"/>
            <a:ext cx="777240" cy="77724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5" name="Oval 14">
            <a:extLst>
              <a:ext uri="{FF2B5EF4-FFF2-40B4-BE49-F238E27FC236}">
                <a16:creationId xmlns:a16="http://schemas.microsoft.com/office/drawing/2014/main" id="{9873C7A7-1F6B-9040-8A16-BB409BFB956B}"/>
              </a:ext>
            </a:extLst>
          </p:cNvPr>
          <p:cNvSpPr/>
          <p:nvPr/>
        </p:nvSpPr>
        <p:spPr>
          <a:xfrm>
            <a:off x="1967642" y="5647267"/>
            <a:ext cx="777240" cy="77724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21" name="Straight Connector 20">
            <a:extLst>
              <a:ext uri="{FF2B5EF4-FFF2-40B4-BE49-F238E27FC236}">
                <a16:creationId xmlns:a16="http://schemas.microsoft.com/office/drawing/2014/main" id="{B8953DFB-2024-004E-A3C5-D73644BE3024}"/>
              </a:ext>
            </a:extLst>
          </p:cNvPr>
          <p:cNvCxnSpPr>
            <a:cxnSpLocks/>
            <a:stCxn id="4" idx="5"/>
            <a:endCxn id="14" idx="0"/>
          </p:cNvCxnSpPr>
          <p:nvPr/>
        </p:nvCxnSpPr>
        <p:spPr>
          <a:xfrm>
            <a:off x="4011644" y="3360896"/>
            <a:ext cx="388620" cy="731996"/>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DD22BCF-A37D-024E-8264-0F4BA2EA7840}"/>
              </a:ext>
            </a:extLst>
          </p:cNvPr>
          <p:cNvCxnSpPr>
            <a:cxnSpLocks/>
            <a:stCxn id="5" idx="3"/>
          </p:cNvCxnSpPr>
          <p:nvPr/>
        </p:nvCxnSpPr>
        <p:spPr>
          <a:xfrm flipH="1">
            <a:off x="965200" y="4692300"/>
            <a:ext cx="590328" cy="1039633"/>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5E0A8BF-803D-9449-8892-D2610016BD11}"/>
              </a:ext>
            </a:extLst>
          </p:cNvPr>
          <p:cNvCxnSpPr>
            <a:cxnSpLocks/>
            <a:stCxn id="5" idx="5"/>
          </p:cNvCxnSpPr>
          <p:nvPr/>
        </p:nvCxnSpPr>
        <p:spPr>
          <a:xfrm>
            <a:off x="2105120" y="4692300"/>
            <a:ext cx="227648" cy="954967"/>
          </a:xfrm>
          <a:prstGeom prst="line">
            <a:avLst/>
          </a:prstGeom>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8C9AE2E8-CA65-2B42-B58C-DA029A768D54}"/>
              </a:ext>
            </a:extLst>
          </p:cNvPr>
          <p:cNvSpPr txBox="1"/>
          <p:nvPr/>
        </p:nvSpPr>
        <p:spPr>
          <a:xfrm>
            <a:off x="8297333" y="2937933"/>
            <a:ext cx="3148426" cy="646331"/>
          </a:xfrm>
          <a:prstGeom prst="rect">
            <a:avLst/>
          </a:prstGeom>
          <a:noFill/>
        </p:spPr>
        <p:txBody>
          <a:bodyPr wrap="none" rtlCol="0">
            <a:spAutoFit/>
          </a:bodyPr>
          <a:lstStyle/>
          <a:p>
            <a:r>
              <a:rPr lang="en-US" dirty="0"/>
              <a:t>What is the post order traversal</a:t>
            </a:r>
          </a:p>
          <a:p>
            <a:r>
              <a:rPr lang="en-US" dirty="0"/>
              <a:t>of this tree?</a:t>
            </a:r>
          </a:p>
        </p:txBody>
      </p:sp>
      <p:sp>
        <p:nvSpPr>
          <p:cNvPr id="18" name="TextBox 17">
            <a:extLst>
              <a:ext uri="{FF2B5EF4-FFF2-40B4-BE49-F238E27FC236}">
                <a16:creationId xmlns:a16="http://schemas.microsoft.com/office/drawing/2014/main" id="{8137B641-2931-B448-AC83-54E2E389A77A}"/>
              </a:ext>
            </a:extLst>
          </p:cNvPr>
          <p:cNvSpPr txBox="1"/>
          <p:nvPr/>
        </p:nvSpPr>
        <p:spPr>
          <a:xfrm>
            <a:off x="4125468" y="5602128"/>
            <a:ext cx="3716017" cy="646331"/>
          </a:xfrm>
          <a:prstGeom prst="rect">
            <a:avLst/>
          </a:prstGeom>
          <a:noFill/>
        </p:spPr>
        <p:txBody>
          <a:bodyPr wrap="none" rtlCol="0">
            <a:spAutoFit/>
          </a:bodyPr>
          <a:lstStyle/>
          <a:p>
            <a:r>
              <a:rPr lang="en-US" dirty="0"/>
              <a:t>operators that are lower</a:t>
            </a:r>
          </a:p>
          <a:p>
            <a:r>
              <a:rPr lang="en-US" dirty="0"/>
              <a:t>in the parse tree get evaluated earlier</a:t>
            </a:r>
          </a:p>
        </p:txBody>
      </p:sp>
      <p:sp>
        <p:nvSpPr>
          <p:cNvPr id="20" name="TextBox 19">
            <a:extLst>
              <a:ext uri="{FF2B5EF4-FFF2-40B4-BE49-F238E27FC236}">
                <a16:creationId xmlns:a16="http://schemas.microsoft.com/office/drawing/2014/main" id="{1001C0D4-15C2-C84C-9763-8B391CEE06AC}"/>
              </a:ext>
            </a:extLst>
          </p:cNvPr>
          <p:cNvSpPr txBox="1"/>
          <p:nvPr/>
        </p:nvSpPr>
        <p:spPr>
          <a:xfrm>
            <a:off x="4350517" y="2200933"/>
            <a:ext cx="3539880" cy="646331"/>
          </a:xfrm>
          <a:prstGeom prst="rect">
            <a:avLst/>
          </a:prstGeom>
          <a:noFill/>
        </p:spPr>
        <p:txBody>
          <a:bodyPr wrap="none" rtlCol="0">
            <a:spAutoFit/>
          </a:bodyPr>
          <a:lstStyle/>
          <a:p>
            <a:r>
              <a:rPr lang="en-US" dirty="0"/>
              <a:t>operators that are higher</a:t>
            </a:r>
          </a:p>
          <a:p>
            <a:r>
              <a:rPr lang="en-US" dirty="0"/>
              <a:t>in the parse tree get evaluated later</a:t>
            </a:r>
          </a:p>
        </p:txBody>
      </p:sp>
    </p:spTree>
    <p:extLst>
      <p:ext uri="{BB962C8B-B14F-4D97-AF65-F5344CB8AC3E}">
        <p14:creationId xmlns:p14="http://schemas.microsoft.com/office/powerpoint/2010/main" val="35513788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62162-6C16-C84F-9702-17E49E5546E7}"/>
              </a:ext>
            </a:extLst>
          </p:cNvPr>
          <p:cNvSpPr>
            <a:spLocks noGrp="1"/>
          </p:cNvSpPr>
          <p:nvPr>
            <p:ph type="title"/>
          </p:nvPr>
        </p:nvSpPr>
        <p:spPr/>
        <p:txBody>
          <a:bodyPr/>
          <a:lstStyle/>
          <a:p>
            <a:r>
              <a:rPr lang="en-US" dirty="0"/>
              <a:t>Evaluating a parse tree</a:t>
            </a:r>
          </a:p>
        </p:txBody>
      </p:sp>
      <p:sp>
        <p:nvSpPr>
          <p:cNvPr id="6" name="TextBox 5">
            <a:extLst>
              <a:ext uri="{FF2B5EF4-FFF2-40B4-BE49-F238E27FC236}">
                <a16:creationId xmlns:a16="http://schemas.microsoft.com/office/drawing/2014/main" id="{78084A87-825D-444D-BB7B-C3FAA3E9B7FE}"/>
              </a:ext>
            </a:extLst>
          </p:cNvPr>
          <p:cNvSpPr txBox="1"/>
          <p:nvPr/>
        </p:nvSpPr>
        <p:spPr>
          <a:xfrm>
            <a:off x="8635402" y="2181957"/>
            <a:ext cx="597984" cy="369332"/>
          </a:xfrm>
          <a:prstGeom prst="rect">
            <a:avLst/>
          </a:prstGeom>
          <a:noFill/>
        </p:spPr>
        <p:txBody>
          <a:bodyPr wrap="none" rtlCol="0">
            <a:spAutoFit/>
          </a:bodyPr>
          <a:lstStyle/>
          <a:p>
            <a:r>
              <a:rPr lang="en-US" dirty="0"/>
              <a:t>expr</a:t>
            </a:r>
          </a:p>
        </p:txBody>
      </p:sp>
      <p:cxnSp>
        <p:nvCxnSpPr>
          <p:cNvPr id="7" name="Straight Connector 6">
            <a:extLst>
              <a:ext uri="{FF2B5EF4-FFF2-40B4-BE49-F238E27FC236}">
                <a16:creationId xmlns:a16="http://schemas.microsoft.com/office/drawing/2014/main" id="{480AF64F-C051-BC45-8F55-C339505C9041}"/>
              </a:ext>
            </a:extLst>
          </p:cNvPr>
          <p:cNvCxnSpPr>
            <a:cxnSpLocks/>
            <a:stCxn id="6" idx="2"/>
            <a:endCxn id="8" idx="0"/>
          </p:cNvCxnSpPr>
          <p:nvPr/>
        </p:nvCxnSpPr>
        <p:spPr>
          <a:xfrm flipH="1">
            <a:off x="7299498" y="2551289"/>
            <a:ext cx="1634896" cy="536644"/>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2037C40A-B1C7-B24E-AAED-53661DA8AD97}"/>
              </a:ext>
            </a:extLst>
          </p:cNvPr>
          <p:cNvSpPr txBox="1"/>
          <p:nvPr/>
        </p:nvSpPr>
        <p:spPr>
          <a:xfrm>
            <a:off x="7000506" y="3087933"/>
            <a:ext cx="597984" cy="369332"/>
          </a:xfrm>
          <a:prstGeom prst="rect">
            <a:avLst/>
          </a:prstGeom>
          <a:noFill/>
        </p:spPr>
        <p:txBody>
          <a:bodyPr wrap="none" rtlCol="0">
            <a:spAutoFit/>
          </a:bodyPr>
          <a:lstStyle/>
          <a:p>
            <a:r>
              <a:rPr lang="en-US" dirty="0"/>
              <a:t>expr</a:t>
            </a:r>
          </a:p>
        </p:txBody>
      </p:sp>
      <p:cxnSp>
        <p:nvCxnSpPr>
          <p:cNvPr id="9" name="Straight Connector 8">
            <a:extLst>
              <a:ext uri="{FF2B5EF4-FFF2-40B4-BE49-F238E27FC236}">
                <a16:creationId xmlns:a16="http://schemas.microsoft.com/office/drawing/2014/main" id="{916F5EC7-5BB5-C44D-9139-74B5B3A0EA1C}"/>
              </a:ext>
            </a:extLst>
          </p:cNvPr>
          <p:cNvCxnSpPr>
            <a:cxnSpLocks/>
            <a:stCxn id="6" idx="2"/>
            <a:endCxn id="11" idx="0"/>
          </p:cNvCxnSpPr>
          <p:nvPr/>
        </p:nvCxnSpPr>
        <p:spPr>
          <a:xfrm>
            <a:off x="8934394" y="2551289"/>
            <a:ext cx="0" cy="554837"/>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624FA233-A2CA-7644-9D29-ABBBFDDE51C4}"/>
              </a:ext>
            </a:extLst>
          </p:cNvPr>
          <p:cNvCxnSpPr>
            <a:cxnSpLocks/>
            <a:stCxn id="6" idx="2"/>
            <a:endCxn id="12" idx="0"/>
          </p:cNvCxnSpPr>
          <p:nvPr/>
        </p:nvCxnSpPr>
        <p:spPr>
          <a:xfrm>
            <a:off x="8934394" y="2551289"/>
            <a:ext cx="1057341" cy="536644"/>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6C879086-9CF3-C944-B592-9E6A7804E052}"/>
              </a:ext>
            </a:extLst>
          </p:cNvPr>
          <p:cNvSpPr txBox="1"/>
          <p:nvPr/>
        </p:nvSpPr>
        <p:spPr>
          <a:xfrm>
            <a:off x="8494273" y="3106126"/>
            <a:ext cx="880241" cy="369332"/>
          </a:xfrm>
          <a:prstGeom prst="rect">
            <a:avLst/>
          </a:prstGeom>
          <a:noFill/>
        </p:spPr>
        <p:txBody>
          <a:bodyPr wrap="none" rtlCol="0">
            <a:spAutoFit/>
          </a:bodyPr>
          <a:lstStyle/>
          <a:p>
            <a:r>
              <a:rPr lang="en-US" dirty="0"/>
              <a:t>&lt;PLUS&gt;</a:t>
            </a:r>
          </a:p>
        </p:txBody>
      </p:sp>
      <p:sp>
        <p:nvSpPr>
          <p:cNvPr id="12" name="TextBox 11">
            <a:extLst>
              <a:ext uri="{FF2B5EF4-FFF2-40B4-BE49-F238E27FC236}">
                <a16:creationId xmlns:a16="http://schemas.microsoft.com/office/drawing/2014/main" id="{C0F2C3AB-C2B2-F242-974D-F95CE403B6CB}"/>
              </a:ext>
            </a:extLst>
          </p:cNvPr>
          <p:cNvSpPr txBox="1"/>
          <p:nvPr/>
        </p:nvSpPr>
        <p:spPr>
          <a:xfrm>
            <a:off x="9692743" y="3087933"/>
            <a:ext cx="597984" cy="369332"/>
          </a:xfrm>
          <a:prstGeom prst="rect">
            <a:avLst/>
          </a:prstGeom>
          <a:noFill/>
        </p:spPr>
        <p:txBody>
          <a:bodyPr wrap="none" rtlCol="0">
            <a:spAutoFit/>
          </a:bodyPr>
          <a:lstStyle/>
          <a:p>
            <a:r>
              <a:rPr lang="en-US" dirty="0"/>
              <a:t>expr</a:t>
            </a:r>
          </a:p>
        </p:txBody>
      </p:sp>
      <p:sp>
        <p:nvSpPr>
          <p:cNvPr id="13" name="TextBox 12">
            <a:extLst>
              <a:ext uri="{FF2B5EF4-FFF2-40B4-BE49-F238E27FC236}">
                <a16:creationId xmlns:a16="http://schemas.microsoft.com/office/drawing/2014/main" id="{5E188A97-8BB9-E34A-9A6F-2FA6143478F0}"/>
              </a:ext>
            </a:extLst>
          </p:cNvPr>
          <p:cNvSpPr txBox="1"/>
          <p:nvPr/>
        </p:nvSpPr>
        <p:spPr>
          <a:xfrm>
            <a:off x="6724021" y="5469967"/>
            <a:ext cx="1136850" cy="369332"/>
          </a:xfrm>
          <a:prstGeom prst="rect">
            <a:avLst/>
          </a:prstGeom>
          <a:noFill/>
        </p:spPr>
        <p:txBody>
          <a:bodyPr wrap="none" rtlCol="0">
            <a:spAutoFit/>
          </a:bodyPr>
          <a:lstStyle/>
          <a:p>
            <a:r>
              <a:rPr lang="en-US" dirty="0"/>
              <a:t>&lt;NUM, 1&gt;</a:t>
            </a:r>
          </a:p>
        </p:txBody>
      </p:sp>
      <p:cxnSp>
        <p:nvCxnSpPr>
          <p:cNvPr id="14" name="Straight Connector 13">
            <a:extLst>
              <a:ext uri="{FF2B5EF4-FFF2-40B4-BE49-F238E27FC236}">
                <a16:creationId xmlns:a16="http://schemas.microsoft.com/office/drawing/2014/main" id="{FB289100-EE7C-6B44-B446-620A383C0434}"/>
              </a:ext>
            </a:extLst>
          </p:cNvPr>
          <p:cNvCxnSpPr>
            <a:cxnSpLocks/>
            <a:endCxn id="25" idx="0"/>
          </p:cNvCxnSpPr>
          <p:nvPr/>
        </p:nvCxnSpPr>
        <p:spPr>
          <a:xfrm flipH="1">
            <a:off x="7298056" y="3477414"/>
            <a:ext cx="1442" cy="464578"/>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79523A5C-5656-2C48-9561-C5E06431FF8C}"/>
              </a:ext>
            </a:extLst>
          </p:cNvPr>
          <p:cNvCxnSpPr>
            <a:cxnSpLocks/>
          </p:cNvCxnSpPr>
          <p:nvPr/>
        </p:nvCxnSpPr>
        <p:spPr>
          <a:xfrm flipH="1">
            <a:off x="8758711" y="4139400"/>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2827981-7496-3044-A580-D70075F49F40}"/>
              </a:ext>
            </a:extLst>
          </p:cNvPr>
          <p:cNvCxnSpPr>
            <a:cxnSpLocks/>
          </p:cNvCxnSpPr>
          <p:nvPr/>
        </p:nvCxnSpPr>
        <p:spPr>
          <a:xfrm>
            <a:off x="9983084" y="4139400"/>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3D73D50F-AD23-2A43-8FB5-2E5521EA1252}"/>
              </a:ext>
            </a:extLst>
          </p:cNvPr>
          <p:cNvCxnSpPr>
            <a:cxnSpLocks/>
          </p:cNvCxnSpPr>
          <p:nvPr/>
        </p:nvCxnSpPr>
        <p:spPr>
          <a:xfrm>
            <a:off x="9983084" y="4139400"/>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D3A10946-EFD4-7E40-AB1D-DC861347C615}"/>
              </a:ext>
            </a:extLst>
          </p:cNvPr>
          <p:cNvSpPr txBox="1"/>
          <p:nvPr/>
        </p:nvSpPr>
        <p:spPr>
          <a:xfrm>
            <a:off x="9525511" y="4606502"/>
            <a:ext cx="998350" cy="369332"/>
          </a:xfrm>
          <a:prstGeom prst="rect">
            <a:avLst/>
          </a:prstGeom>
          <a:noFill/>
        </p:spPr>
        <p:txBody>
          <a:bodyPr wrap="none" rtlCol="0">
            <a:spAutoFit/>
          </a:bodyPr>
          <a:lstStyle/>
          <a:p>
            <a:r>
              <a:rPr lang="en-US" dirty="0"/>
              <a:t>&lt;TIMES&gt;</a:t>
            </a:r>
          </a:p>
        </p:txBody>
      </p:sp>
      <p:sp>
        <p:nvSpPr>
          <p:cNvPr id="19" name="TextBox 18">
            <a:extLst>
              <a:ext uri="{FF2B5EF4-FFF2-40B4-BE49-F238E27FC236}">
                <a16:creationId xmlns:a16="http://schemas.microsoft.com/office/drawing/2014/main" id="{79E779DE-0E1B-6646-BA9B-D3741DDAFA77}"/>
              </a:ext>
            </a:extLst>
          </p:cNvPr>
          <p:cNvSpPr txBox="1"/>
          <p:nvPr/>
        </p:nvSpPr>
        <p:spPr>
          <a:xfrm>
            <a:off x="8459719" y="4575109"/>
            <a:ext cx="639021" cy="369332"/>
          </a:xfrm>
          <a:prstGeom prst="rect">
            <a:avLst/>
          </a:prstGeom>
          <a:noFill/>
        </p:spPr>
        <p:txBody>
          <a:bodyPr wrap="none" rtlCol="0">
            <a:spAutoFit/>
          </a:bodyPr>
          <a:lstStyle/>
          <a:p>
            <a:r>
              <a:rPr lang="en-US" dirty="0"/>
              <a:t>term</a:t>
            </a:r>
          </a:p>
        </p:txBody>
      </p:sp>
      <p:sp>
        <p:nvSpPr>
          <p:cNvPr id="20" name="TextBox 19">
            <a:extLst>
              <a:ext uri="{FF2B5EF4-FFF2-40B4-BE49-F238E27FC236}">
                <a16:creationId xmlns:a16="http://schemas.microsoft.com/office/drawing/2014/main" id="{5E3208D9-8CA8-8545-A65C-A98896AB66F9}"/>
              </a:ext>
            </a:extLst>
          </p:cNvPr>
          <p:cNvSpPr txBox="1"/>
          <p:nvPr/>
        </p:nvSpPr>
        <p:spPr>
          <a:xfrm>
            <a:off x="10781251" y="4575109"/>
            <a:ext cx="639021" cy="369332"/>
          </a:xfrm>
          <a:prstGeom prst="rect">
            <a:avLst/>
          </a:prstGeom>
          <a:noFill/>
        </p:spPr>
        <p:txBody>
          <a:bodyPr wrap="none" rtlCol="0">
            <a:spAutoFit/>
          </a:bodyPr>
          <a:lstStyle/>
          <a:p>
            <a:r>
              <a:rPr lang="en-US" dirty="0"/>
              <a:t>term</a:t>
            </a:r>
          </a:p>
        </p:txBody>
      </p:sp>
      <p:sp>
        <p:nvSpPr>
          <p:cNvPr id="25" name="TextBox 24">
            <a:extLst>
              <a:ext uri="{FF2B5EF4-FFF2-40B4-BE49-F238E27FC236}">
                <a16:creationId xmlns:a16="http://schemas.microsoft.com/office/drawing/2014/main" id="{9B708125-208C-FB44-BFCB-1411EB5B9B3C}"/>
              </a:ext>
            </a:extLst>
          </p:cNvPr>
          <p:cNvSpPr txBox="1"/>
          <p:nvPr/>
        </p:nvSpPr>
        <p:spPr>
          <a:xfrm>
            <a:off x="6978545" y="3941992"/>
            <a:ext cx="639021" cy="369332"/>
          </a:xfrm>
          <a:prstGeom prst="rect">
            <a:avLst/>
          </a:prstGeom>
          <a:noFill/>
        </p:spPr>
        <p:txBody>
          <a:bodyPr wrap="none" rtlCol="0">
            <a:spAutoFit/>
          </a:bodyPr>
          <a:lstStyle/>
          <a:p>
            <a:r>
              <a:rPr lang="en-US" dirty="0"/>
              <a:t>term</a:t>
            </a:r>
          </a:p>
        </p:txBody>
      </p:sp>
      <p:cxnSp>
        <p:nvCxnSpPr>
          <p:cNvPr id="26" name="Straight Connector 25">
            <a:extLst>
              <a:ext uri="{FF2B5EF4-FFF2-40B4-BE49-F238E27FC236}">
                <a16:creationId xmlns:a16="http://schemas.microsoft.com/office/drawing/2014/main" id="{B5C9CA3C-1798-5D4F-B4D8-21BE902532E2}"/>
              </a:ext>
            </a:extLst>
          </p:cNvPr>
          <p:cNvCxnSpPr>
            <a:cxnSpLocks/>
            <a:stCxn id="25" idx="2"/>
            <a:endCxn id="27" idx="0"/>
          </p:cNvCxnSpPr>
          <p:nvPr/>
        </p:nvCxnSpPr>
        <p:spPr>
          <a:xfrm flipH="1">
            <a:off x="7298055" y="4311324"/>
            <a:ext cx="1" cy="489250"/>
          </a:xfrm>
          <a:prstGeom prst="line">
            <a:avLst/>
          </a:prstGeom>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B133E5FB-1176-2F49-8AB1-1062B1ED1DC5}"/>
              </a:ext>
            </a:extLst>
          </p:cNvPr>
          <p:cNvSpPr txBox="1"/>
          <p:nvPr/>
        </p:nvSpPr>
        <p:spPr>
          <a:xfrm>
            <a:off x="6930165" y="4800574"/>
            <a:ext cx="735779" cy="369332"/>
          </a:xfrm>
          <a:prstGeom prst="rect">
            <a:avLst/>
          </a:prstGeom>
          <a:noFill/>
        </p:spPr>
        <p:txBody>
          <a:bodyPr wrap="none" rtlCol="0">
            <a:spAutoFit/>
          </a:bodyPr>
          <a:lstStyle/>
          <a:p>
            <a:r>
              <a:rPr lang="en-US" dirty="0"/>
              <a:t>factor</a:t>
            </a:r>
          </a:p>
        </p:txBody>
      </p:sp>
      <p:cxnSp>
        <p:nvCxnSpPr>
          <p:cNvPr id="32" name="Straight Connector 31">
            <a:extLst>
              <a:ext uri="{FF2B5EF4-FFF2-40B4-BE49-F238E27FC236}">
                <a16:creationId xmlns:a16="http://schemas.microsoft.com/office/drawing/2014/main" id="{751E8634-37CD-4B4A-A4CD-F0390385398C}"/>
              </a:ext>
            </a:extLst>
          </p:cNvPr>
          <p:cNvCxnSpPr>
            <a:cxnSpLocks/>
            <a:stCxn id="27" idx="2"/>
            <a:endCxn id="13" idx="0"/>
          </p:cNvCxnSpPr>
          <p:nvPr/>
        </p:nvCxnSpPr>
        <p:spPr>
          <a:xfrm flipH="1">
            <a:off x="7292446" y="5169906"/>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8AC937BE-D3B1-D44D-9937-F6A99D119B0E}"/>
              </a:ext>
            </a:extLst>
          </p:cNvPr>
          <p:cNvSpPr txBox="1"/>
          <p:nvPr/>
        </p:nvSpPr>
        <p:spPr>
          <a:xfrm>
            <a:off x="7525232" y="1274144"/>
            <a:ext cx="3147015" cy="584775"/>
          </a:xfrm>
          <a:prstGeom prst="rect">
            <a:avLst/>
          </a:prstGeom>
          <a:noFill/>
        </p:spPr>
        <p:txBody>
          <a:bodyPr wrap="none" rtlCol="0">
            <a:spAutoFit/>
          </a:bodyPr>
          <a:lstStyle/>
          <a:p>
            <a:r>
              <a:rPr lang="en-US" sz="3200" dirty="0">
                <a:latin typeface="Courier" pitchFamily="2" charset="0"/>
              </a:rPr>
              <a:t>input: 1+5*6</a:t>
            </a:r>
          </a:p>
        </p:txBody>
      </p:sp>
      <p:cxnSp>
        <p:nvCxnSpPr>
          <p:cNvPr id="42" name="Straight Connector 41">
            <a:extLst>
              <a:ext uri="{FF2B5EF4-FFF2-40B4-BE49-F238E27FC236}">
                <a16:creationId xmlns:a16="http://schemas.microsoft.com/office/drawing/2014/main" id="{8EAB152D-9A26-9B43-A7B1-29D9BE13117F}"/>
              </a:ext>
            </a:extLst>
          </p:cNvPr>
          <p:cNvCxnSpPr>
            <a:cxnSpLocks/>
            <a:stCxn id="12" idx="2"/>
            <a:endCxn id="43" idx="0"/>
          </p:cNvCxnSpPr>
          <p:nvPr/>
        </p:nvCxnSpPr>
        <p:spPr>
          <a:xfrm flipH="1">
            <a:off x="9983685" y="3457265"/>
            <a:ext cx="8050" cy="312803"/>
          </a:xfrm>
          <a:prstGeom prst="line">
            <a:avLst/>
          </a:prstGeom>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D646E12C-C254-B54E-96B1-3BAC1435E7C3}"/>
              </a:ext>
            </a:extLst>
          </p:cNvPr>
          <p:cNvSpPr txBox="1"/>
          <p:nvPr/>
        </p:nvSpPr>
        <p:spPr>
          <a:xfrm>
            <a:off x="9525511" y="3770068"/>
            <a:ext cx="916347" cy="369332"/>
          </a:xfrm>
          <a:prstGeom prst="rect">
            <a:avLst/>
          </a:prstGeom>
          <a:noFill/>
        </p:spPr>
        <p:txBody>
          <a:bodyPr wrap="square" rtlCol="0">
            <a:spAutoFit/>
          </a:bodyPr>
          <a:lstStyle/>
          <a:p>
            <a:r>
              <a:rPr lang="en-US" dirty="0"/>
              <a:t>term</a:t>
            </a:r>
          </a:p>
        </p:txBody>
      </p:sp>
      <p:sp>
        <p:nvSpPr>
          <p:cNvPr id="54" name="TextBox 53">
            <a:extLst>
              <a:ext uri="{FF2B5EF4-FFF2-40B4-BE49-F238E27FC236}">
                <a16:creationId xmlns:a16="http://schemas.microsoft.com/office/drawing/2014/main" id="{D3540521-17C6-EC43-BC96-BB34123D64CE}"/>
              </a:ext>
            </a:extLst>
          </p:cNvPr>
          <p:cNvSpPr txBox="1"/>
          <p:nvPr/>
        </p:nvSpPr>
        <p:spPr>
          <a:xfrm>
            <a:off x="8223152" y="5944230"/>
            <a:ext cx="1136850" cy="369332"/>
          </a:xfrm>
          <a:prstGeom prst="rect">
            <a:avLst/>
          </a:prstGeom>
          <a:noFill/>
        </p:spPr>
        <p:txBody>
          <a:bodyPr wrap="none" rtlCol="0">
            <a:spAutoFit/>
          </a:bodyPr>
          <a:lstStyle/>
          <a:p>
            <a:r>
              <a:rPr lang="en-US" dirty="0"/>
              <a:t>&lt;NUM, 5&gt;</a:t>
            </a:r>
          </a:p>
        </p:txBody>
      </p:sp>
      <p:sp>
        <p:nvSpPr>
          <p:cNvPr id="55" name="TextBox 54">
            <a:extLst>
              <a:ext uri="{FF2B5EF4-FFF2-40B4-BE49-F238E27FC236}">
                <a16:creationId xmlns:a16="http://schemas.microsoft.com/office/drawing/2014/main" id="{AAC8F0CC-8EE2-F145-9D4D-E31B4417315B}"/>
              </a:ext>
            </a:extLst>
          </p:cNvPr>
          <p:cNvSpPr txBox="1"/>
          <p:nvPr/>
        </p:nvSpPr>
        <p:spPr>
          <a:xfrm>
            <a:off x="8429296" y="5274837"/>
            <a:ext cx="735779" cy="369332"/>
          </a:xfrm>
          <a:prstGeom prst="rect">
            <a:avLst/>
          </a:prstGeom>
          <a:noFill/>
        </p:spPr>
        <p:txBody>
          <a:bodyPr wrap="none" rtlCol="0">
            <a:spAutoFit/>
          </a:bodyPr>
          <a:lstStyle/>
          <a:p>
            <a:r>
              <a:rPr lang="en-US" dirty="0"/>
              <a:t>factor</a:t>
            </a:r>
          </a:p>
        </p:txBody>
      </p:sp>
      <p:cxnSp>
        <p:nvCxnSpPr>
          <p:cNvPr id="56" name="Straight Connector 55">
            <a:extLst>
              <a:ext uri="{FF2B5EF4-FFF2-40B4-BE49-F238E27FC236}">
                <a16:creationId xmlns:a16="http://schemas.microsoft.com/office/drawing/2014/main" id="{EC7DED96-B025-904A-A333-37DE1FE9A7F1}"/>
              </a:ext>
            </a:extLst>
          </p:cNvPr>
          <p:cNvCxnSpPr>
            <a:cxnSpLocks/>
            <a:stCxn id="55" idx="2"/>
            <a:endCxn id="54" idx="0"/>
          </p:cNvCxnSpPr>
          <p:nvPr/>
        </p:nvCxnSpPr>
        <p:spPr>
          <a:xfrm flipH="1">
            <a:off x="8791577" y="5644169"/>
            <a:ext cx="5609" cy="300061"/>
          </a:xfrm>
          <a:prstGeom prst="line">
            <a:avLst/>
          </a:prstGeom>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EE8A74-38A2-CD4C-9B1F-B1674EDD25B9}"/>
              </a:ext>
            </a:extLst>
          </p:cNvPr>
          <p:cNvCxnSpPr>
            <a:cxnSpLocks/>
          </p:cNvCxnSpPr>
          <p:nvPr/>
        </p:nvCxnSpPr>
        <p:spPr>
          <a:xfrm flipH="1">
            <a:off x="8773620" y="4956450"/>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CFF7024A-16C9-E64F-8C94-B05E0079A3E1}"/>
              </a:ext>
            </a:extLst>
          </p:cNvPr>
          <p:cNvSpPr txBox="1"/>
          <p:nvPr/>
        </p:nvSpPr>
        <p:spPr>
          <a:xfrm>
            <a:off x="10546607" y="5944230"/>
            <a:ext cx="1136850" cy="369332"/>
          </a:xfrm>
          <a:prstGeom prst="rect">
            <a:avLst/>
          </a:prstGeom>
          <a:noFill/>
        </p:spPr>
        <p:txBody>
          <a:bodyPr wrap="none" rtlCol="0">
            <a:spAutoFit/>
          </a:bodyPr>
          <a:lstStyle/>
          <a:p>
            <a:r>
              <a:rPr lang="en-US" dirty="0"/>
              <a:t>&lt;NUM, 6&gt;</a:t>
            </a:r>
          </a:p>
        </p:txBody>
      </p:sp>
      <p:sp>
        <p:nvSpPr>
          <p:cNvPr id="59" name="TextBox 58">
            <a:extLst>
              <a:ext uri="{FF2B5EF4-FFF2-40B4-BE49-F238E27FC236}">
                <a16:creationId xmlns:a16="http://schemas.microsoft.com/office/drawing/2014/main" id="{8130AFD8-7831-4340-B3B1-D26D06FFC84A}"/>
              </a:ext>
            </a:extLst>
          </p:cNvPr>
          <p:cNvSpPr txBox="1"/>
          <p:nvPr/>
        </p:nvSpPr>
        <p:spPr>
          <a:xfrm>
            <a:off x="10752751" y="5274837"/>
            <a:ext cx="735779" cy="369332"/>
          </a:xfrm>
          <a:prstGeom prst="rect">
            <a:avLst/>
          </a:prstGeom>
          <a:noFill/>
        </p:spPr>
        <p:txBody>
          <a:bodyPr wrap="none" rtlCol="0">
            <a:spAutoFit/>
          </a:bodyPr>
          <a:lstStyle/>
          <a:p>
            <a:r>
              <a:rPr lang="en-US" dirty="0"/>
              <a:t>factor</a:t>
            </a:r>
          </a:p>
        </p:txBody>
      </p:sp>
      <p:cxnSp>
        <p:nvCxnSpPr>
          <p:cNvPr id="60" name="Straight Connector 59">
            <a:extLst>
              <a:ext uri="{FF2B5EF4-FFF2-40B4-BE49-F238E27FC236}">
                <a16:creationId xmlns:a16="http://schemas.microsoft.com/office/drawing/2014/main" id="{904A8729-D901-5145-8399-EBECB27338FB}"/>
              </a:ext>
            </a:extLst>
          </p:cNvPr>
          <p:cNvCxnSpPr>
            <a:cxnSpLocks/>
            <a:stCxn id="59" idx="2"/>
            <a:endCxn id="58" idx="0"/>
          </p:cNvCxnSpPr>
          <p:nvPr/>
        </p:nvCxnSpPr>
        <p:spPr>
          <a:xfrm flipH="1">
            <a:off x="11115032" y="5644169"/>
            <a:ext cx="5609" cy="300061"/>
          </a:xfrm>
          <a:prstGeom prst="line">
            <a:avLst/>
          </a:prstGeom>
        </p:spPr>
        <p:style>
          <a:lnRef idx="1">
            <a:schemeClr val="dk1"/>
          </a:lnRef>
          <a:fillRef idx="0">
            <a:schemeClr val="dk1"/>
          </a:fillRef>
          <a:effectRef idx="0">
            <a:schemeClr val="dk1"/>
          </a:effectRef>
          <a:fontRef idx="minor">
            <a:schemeClr val="tx1"/>
          </a:fontRef>
        </p:style>
      </p:cxnSp>
      <p:cxnSp>
        <p:nvCxnSpPr>
          <p:cNvPr id="61" name="Straight Connector 60">
            <a:extLst>
              <a:ext uri="{FF2B5EF4-FFF2-40B4-BE49-F238E27FC236}">
                <a16:creationId xmlns:a16="http://schemas.microsoft.com/office/drawing/2014/main" id="{09889343-814F-AC47-BCAA-253276D34071}"/>
              </a:ext>
            </a:extLst>
          </p:cNvPr>
          <p:cNvCxnSpPr>
            <a:cxnSpLocks/>
          </p:cNvCxnSpPr>
          <p:nvPr/>
        </p:nvCxnSpPr>
        <p:spPr>
          <a:xfrm flipH="1">
            <a:off x="11097075" y="4956450"/>
            <a:ext cx="5609" cy="300061"/>
          </a:xfrm>
          <a:prstGeom prst="line">
            <a:avLst/>
          </a:prstGeom>
        </p:spPr>
        <p:style>
          <a:lnRef idx="1">
            <a:schemeClr val="dk1"/>
          </a:lnRef>
          <a:fillRef idx="0">
            <a:schemeClr val="dk1"/>
          </a:fillRef>
          <a:effectRef idx="0">
            <a:schemeClr val="dk1"/>
          </a:effectRef>
          <a:fontRef idx="minor">
            <a:schemeClr val="tx1"/>
          </a:fontRef>
        </p:style>
      </p:cxnSp>
      <p:graphicFrame>
        <p:nvGraphicFramePr>
          <p:cNvPr id="35" name="Table 5">
            <a:extLst>
              <a:ext uri="{FF2B5EF4-FFF2-40B4-BE49-F238E27FC236}">
                <a16:creationId xmlns:a16="http://schemas.microsoft.com/office/drawing/2014/main" id="{EAE5DCAE-5344-7E4A-8E00-CD15BC32AB8D}"/>
              </a:ext>
            </a:extLst>
          </p:cNvPr>
          <p:cNvGraphicFramePr>
            <a:graphicFrameLocks noGrp="1"/>
          </p:cNvGraphicFramePr>
          <p:nvPr/>
        </p:nvGraphicFramePr>
        <p:xfrm>
          <a:off x="680382" y="2517382"/>
          <a:ext cx="4480008" cy="2295384"/>
        </p:xfrm>
        <a:graphic>
          <a:graphicData uri="http://schemas.openxmlformats.org/drawingml/2006/table">
            <a:tbl>
              <a:tblPr firstRow="1" bandRow="1">
                <a:tableStyleId>{073A0DAA-6AF3-43AB-8588-CEC1D06C72B9}</a:tableStyleId>
              </a:tblPr>
              <a:tblGrid>
                <a:gridCol w="1233260">
                  <a:extLst>
                    <a:ext uri="{9D8B030D-6E8A-4147-A177-3AD203B41FA5}">
                      <a16:colId xmlns:a16="http://schemas.microsoft.com/office/drawing/2014/main" val="1179443482"/>
                    </a:ext>
                  </a:extLst>
                </a:gridCol>
                <a:gridCol w="857839">
                  <a:extLst>
                    <a:ext uri="{9D8B030D-6E8A-4147-A177-3AD203B41FA5}">
                      <a16:colId xmlns:a16="http://schemas.microsoft.com/office/drawing/2014/main" val="1466143606"/>
                    </a:ext>
                  </a:extLst>
                </a:gridCol>
                <a:gridCol w="2388909">
                  <a:extLst>
                    <a:ext uri="{9D8B030D-6E8A-4147-A177-3AD203B41FA5}">
                      <a16:colId xmlns:a16="http://schemas.microsoft.com/office/drawing/2014/main" val="2892710420"/>
                    </a:ext>
                  </a:extLst>
                </a:gridCol>
              </a:tblGrid>
              <a:tr h="573846">
                <a:tc>
                  <a:txBody>
                    <a:bodyPr/>
                    <a:lstStyle/>
                    <a:p>
                      <a:r>
                        <a:rPr lang="en-US" dirty="0"/>
                        <a:t>Operator</a:t>
                      </a:r>
                    </a:p>
                  </a:txBody>
                  <a:tcPr/>
                </a:tc>
                <a:tc>
                  <a:txBody>
                    <a:bodyPr/>
                    <a:lstStyle/>
                    <a:p>
                      <a:r>
                        <a:rPr lang="en-US" dirty="0"/>
                        <a:t>Name</a:t>
                      </a:r>
                    </a:p>
                  </a:txBody>
                  <a:tcPr/>
                </a:tc>
                <a:tc>
                  <a:txBody>
                    <a:bodyPr/>
                    <a:lstStyle/>
                    <a:p>
                      <a:r>
                        <a:rPr lang="en-US" dirty="0"/>
                        <a:t>Productions</a:t>
                      </a:r>
                    </a:p>
                  </a:txBody>
                  <a:tcPr/>
                </a:tc>
                <a:extLst>
                  <a:ext uri="{0D108BD9-81ED-4DB2-BD59-A6C34878D82A}">
                    <a16:rowId xmlns:a16="http://schemas.microsoft.com/office/drawing/2014/main" val="2034902504"/>
                  </a:ext>
                </a:extLst>
              </a:tr>
              <a:tr h="573846">
                <a:tc>
                  <a:txBody>
                    <a:bodyPr/>
                    <a:lstStyle/>
                    <a:p>
                      <a:r>
                        <a:rPr lang="en-US" dirty="0"/>
                        <a:t>+</a:t>
                      </a:r>
                    </a:p>
                  </a:txBody>
                  <a:tcPr/>
                </a:tc>
                <a:tc>
                  <a:txBody>
                    <a:bodyPr/>
                    <a:lstStyle/>
                    <a:p>
                      <a:r>
                        <a:rPr lang="en-US" sz="1400" dirty="0">
                          <a:latin typeface="Courier" pitchFamily="2" charset="0"/>
                        </a:rPr>
                        <a:t>expr</a:t>
                      </a:r>
                    </a:p>
                  </a:txBody>
                  <a:tcPr/>
                </a:tc>
                <a:tc>
                  <a:txBody>
                    <a:bodyPr/>
                    <a:lstStyle/>
                    <a:p>
                      <a:r>
                        <a:rPr lang="en-US" sz="1400" dirty="0">
                          <a:latin typeface="Courier" pitchFamily="2" charset="0"/>
                        </a:rPr>
                        <a:t>: expr PLUS expr</a:t>
                      </a:r>
                      <a:br>
                        <a:rPr lang="en-US" sz="1400" dirty="0">
                          <a:latin typeface="Courier" pitchFamily="2" charset="0"/>
                        </a:rPr>
                      </a:br>
                      <a:r>
                        <a:rPr lang="en-US" sz="1400" dirty="0">
                          <a:latin typeface="Courier" pitchFamily="2" charset="0"/>
                        </a:rPr>
                        <a:t>| term</a:t>
                      </a:r>
                    </a:p>
                  </a:txBody>
                  <a:tcPr/>
                </a:tc>
                <a:extLst>
                  <a:ext uri="{0D108BD9-81ED-4DB2-BD59-A6C34878D82A}">
                    <a16:rowId xmlns:a16="http://schemas.microsoft.com/office/drawing/2014/main" val="3909463058"/>
                  </a:ext>
                </a:extLst>
              </a:tr>
              <a:tr h="573846">
                <a:tc>
                  <a:txBody>
                    <a:bodyPr/>
                    <a:lstStyle/>
                    <a:p>
                      <a:r>
                        <a:rPr lang="en-US" dirty="0"/>
                        <a:t>*</a:t>
                      </a:r>
                    </a:p>
                  </a:txBody>
                  <a:tcPr/>
                </a:tc>
                <a:tc>
                  <a:txBody>
                    <a:bodyPr/>
                    <a:lstStyle/>
                    <a:p>
                      <a:r>
                        <a:rPr lang="en-US" sz="1400" dirty="0">
                          <a:latin typeface="Courier" pitchFamily="2" charset="0"/>
                        </a:rPr>
                        <a:t>term</a:t>
                      </a:r>
                    </a:p>
                  </a:txBody>
                  <a:tcPr/>
                </a:tc>
                <a:tc>
                  <a:txBody>
                    <a:bodyPr/>
                    <a:lstStyle/>
                    <a:p>
                      <a:r>
                        <a:rPr lang="en-US" sz="1400" dirty="0">
                          <a:latin typeface="Courier" pitchFamily="2" charset="0"/>
                        </a:rPr>
                        <a:t>: term TIMES term</a:t>
                      </a:r>
                      <a:br>
                        <a:rPr lang="en-US" sz="1400" dirty="0">
                          <a:latin typeface="Courier" pitchFamily="2" charset="0"/>
                        </a:rPr>
                      </a:br>
                      <a:r>
                        <a:rPr lang="en-US" sz="1400" dirty="0">
                          <a:latin typeface="Courier" pitchFamily="2" charset="0"/>
                        </a:rPr>
                        <a:t>| factor</a:t>
                      </a:r>
                    </a:p>
                  </a:txBody>
                  <a:tcPr/>
                </a:tc>
                <a:extLst>
                  <a:ext uri="{0D108BD9-81ED-4DB2-BD59-A6C34878D82A}">
                    <a16:rowId xmlns:a16="http://schemas.microsoft.com/office/drawing/2014/main" val="806889359"/>
                  </a:ext>
                </a:extLst>
              </a:tr>
              <a:tr h="573846">
                <a:tc>
                  <a:txBody>
                    <a:bodyPr/>
                    <a:lstStyle/>
                    <a:p>
                      <a:r>
                        <a:rPr lang="en-US" dirty="0"/>
                        <a:t>()</a:t>
                      </a:r>
                    </a:p>
                  </a:txBody>
                  <a:tcPr/>
                </a:tc>
                <a:tc>
                  <a:txBody>
                    <a:bodyPr/>
                    <a:lstStyle/>
                    <a:p>
                      <a:r>
                        <a:rPr lang="en-US" sz="1400" dirty="0">
                          <a:latin typeface="Courier" pitchFamily="2" charset="0"/>
                        </a:rPr>
                        <a:t>factor</a:t>
                      </a:r>
                    </a:p>
                  </a:txBody>
                  <a:tcPr/>
                </a:tc>
                <a:tc>
                  <a:txBody>
                    <a:bodyPr/>
                    <a:lstStyle/>
                    <a:p>
                      <a:r>
                        <a:rPr lang="en-US" sz="1400" dirty="0">
                          <a:latin typeface="Courier" pitchFamily="2" charset="0"/>
                        </a:rPr>
                        <a:t>: LPAREN expr RPAREN</a:t>
                      </a:r>
                      <a:br>
                        <a:rPr lang="en-US" sz="1400" dirty="0">
                          <a:latin typeface="Courier" pitchFamily="2" charset="0"/>
                        </a:rPr>
                      </a:br>
                      <a:r>
                        <a:rPr lang="en-US" sz="1400" dirty="0">
                          <a:latin typeface="Courier" pitchFamily="2" charset="0"/>
                        </a:rPr>
                        <a:t>| NUM</a:t>
                      </a:r>
                    </a:p>
                  </a:txBody>
                  <a:tcPr/>
                </a:tc>
                <a:extLst>
                  <a:ext uri="{0D108BD9-81ED-4DB2-BD59-A6C34878D82A}">
                    <a16:rowId xmlns:a16="http://schemas.microsoft.com/office/drawing/2014/main" val="3861644708"/>
                  </a:ext>
                </a:extLst>
              </a:tr>
            </a:tbl>
          </a:graphicData>
        </a:graphic>
      </p:graphicFrame>
    </p:spTree>
    <p:extLst>
      <p:ext uri="{BB962C8B-B14F-4D97-AF65-F5344CB8AC3E}">
        <p14:creationId xmlns:p14="http://schemas.microsoft.com/office/powerpoint/2010/main" val="30640803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62162-6C16-C84F-9702-17E49E5546E7}"/>
              </a:ext>
            </a:extLst>
          </p:cNvPr>
          <p:cNvSpPr>
            <a:spLocks noGrp="1"/>
          </p:cNvSpPr>
          <p:nvPr>
            <p:ph type="title"/>
          </p:nvPr>
        </p:nvSpPr>
        <p:spPr/>
        <p:txBody>
          <a:bodyPr/>
          <a:lstStyle/>
          <a:p>
            <a:r>
              <a:rPr lang="en-US" dirty="0"/>
              <a:t>Evaluating a parse tree</a:t>
            </a:r>
          </a:p>
        </p:txBody>
      </p:sp>
      <p:sp>
        <p:nvSpPr>
          <p:cNvPr id="6" name="TextBox 5">
            <a:extLst>
              <a:ext uri="{FF2B5EF4-FFF2-40B4-BE49-F238E27FC236}">
                <a16:creationId xmlns:a16="http://schemas.microsoft.com/office/drawing/2014/main" id="{78084A87-825D-444D-BB7B-C3FAA3E9B7FE}"/>
              </a:ext>
            </a:extLst>
          </p:cNvPr>
          <p:cNvSpPr txBox="1"/>
          <p:nvPr/>
        </p:nvSpPr>
        <p:spPr>
          <a:xfrm>
            <a:off x="8635402" y="2181957"/>
            <a:ext cx="947439" cy="369332"/>
          </a:xfrm>
          <a:prstGeom prst="rect">
            <a:avLst/>
          </a:prstGeom>
          <a:noFill/>
        </p:spPr>
        <p:txBody>
          <a:bodyPr wrap="none" rtlCol="0">
            <a:spAutoFit/>
          </a:bodyPr>
          <a:lstStyle/>
          <a:p>
            <a:r>
              <a:rPr lang="en-US" dirty="0"/>
              <a:t>expr: </a:t>
            </a:r>
            <a:r>
              <a:rPr lang="en-US" dirty="0">
                <a:highlight>
                  <a:srgbClr val="FFFF00"/>
                </a:highlight>
              </a:rPr>
              <a:t>31</a:t>
            </a:r>
          </a:p>
        </p:txBody>
      </p:sp>
      <p:cxnSp>
        <p:nvCxnSpPr>
          <p:cNvPr id="7" name="Straight Connector 6">
            <a:extLst>
              <a:ext uri="{FF2B5EF4-FFF2-40B4-BE49-F238E27FC236}">
                <a16:creationId xmlns:a16="http://schemas.microsoft.com/office/drawing/2014/main" id="{480AF64F-C051-BC45-8F55-C339505C9041}"/>
              </a:ext>
            </a:extLst>
          </p:cNvPr>
          <p:cNvCxnSpPr>
            <a:cxnSpLocks/>
            <a:stCxn id="6" idx="2"/>
            <a:endCxn id="8" idx="0"/>
          </p:cNvCxnSpPr>
          <p:nvPr/>
        </p:nvCxnSpPr>
        <p:spPr>
          <a:xfrm flipH="1">
            <a:off x="7415716" y="2551289"/>
            <a:ext cx="1693406" cy="536644"/>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2037C40A-B1C7-B24E-AAED-53661DA8AD97}"/>
              </a:ext>
            </a:extLst>
          </p:cNvPr>
          <p:cNvSpPr txBox="1"/>
          <p:nvPr/>
        </p:nvSpPr>
        <p:spPr>
          <a:xfrm>
            <a:off x="7000506" y="3087933"/>
            <a:ext cx="830420" cy="369332"/>
          </a:xfrm>
          <a:prstGeom prst="rect">
            <a:avLst/>
          </a:prstGeom>
          <a:noFill/>
        </p:spPr>
        <p:txBody>
          <a:bodyPr wrap="none" rtlCol="0">
            <a:spAutoFit/>
          </a:bodyPr>
          <a:lstStyle/>
          <a:p>
            <a:r>
              <a:rPr lang="en-US" dirty="0"/>
              <a:t>expr: </a:t>
            </a:r>
            <a:r>
              <a:rPr lang="en-US" dirty="0">
                <a:highlight>
                  <a:srgbClr val="FFFF00"/>
                </a:highlight>
              </a:rPr>
              <a:t>1</a:t>
            </a:r>
          </a:p>
        </p:txBody>
      </p:sp>
      <p:cxnSp>
        <p:nvCxnSpPr>
          <p:cNvPr id="9" name="Straight Connector 8">
            <a:extLst>
              <a:ext uri="{FF2B5EF4-FFF2-40B4-BE49-F238E27FC236}">
                <a16:creationId xmlns:a16="http://schemas.microsoft.com/office/drawing/2014/main" id="{916F5EC7-5BB5-C44D-9139-74B5B3A0EA1C}"/>
              </a:ext>
            </a:extLst>
          </p:cNvPr>
          <p:cNvCxnSpPr>
            <a:cxnSpLocks/>
            <a:stCxn id="6" idx="2"/>
            <a:endCxn id="11" idx="0"/>
          </p:cNvCxnSpPr>
          <p:nvPr/>
        </p:nvCxnSpPr>
        <p:spPr>
          <a:xfrm flipH="1">
            <a:off x="8934394" y="2551289"/>
            <a:ext cx="174728" cy="554837"/>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624FA233-A2CA-7644-9D29-ABBBFDDE51C4}"/>
              </a:ext>
            </a:extLst>
          </p:cNvPr>
          <p:cNvCxnSpPr>
            <a:cxnSpLocks/>
            <a:stCxn id="6" idx="2"/>
            <a:endCxn id="12" idx="0"/>
          </p:cNvCxnSpPr>
          <p:nvPr/>
        </p:nvCxnSpPr>
        <p:spPr>
          <a:xfrm>
            <a:off x="9109122" y="2551289"/>
            <a:ext cx="882613" cy="536644"/>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6C879086-9CF3-C944-B592-9E6A7804E052}"/>
              </a:ext>
            </a:extLst>
          </p:cNvPr>
          <p:cNvSpPr txBox="1"/>
          <p:nvPr/>
        </p:nvSpPr>
        <p:spPr>
          <a:xfrm>
            <a:off x="8494273" y="3106126"/>
            <a:ext cx="880241" cy="369332"/>
          </a:xfrm>
          <a:prstGeom prst="rect">
            <a:avLst/>
          </a:prstGeom>
          <a:noFill/>
        </p:spPr>
        <p:txBody>
          <a:bodyPr wrap="none" rtlCol="0">
            <a:spAutoFit/>
          </a:bodyPr>
          <a:lstStyle/>
          <a:p>
            <a:r>
              <a:rPr lang="en-US" dirty="0"/>
              <a:t>&lt;PLUS&gt;</a:t>
            </a:r>
          </a:p>
        </p:txBody>
      </p:sp>
      <p:sp>
        <p:nvSpPr>
          <p:cNvPr id="12" name="TextBox 11">
            <a:extLst>
              <a:ext uri="{FF2B5EF4-FFF2-40B4-BE49-F238E27FC236}">
                <a16:creationId xmlns:a16="http://schemas.microsoft.com/office/drawing/2014/main" id="{C0F2C3AB-C2B2-F242-974D-F95CE403B6CB}"/>
              </a:ext>
            </a:extLst>
          </p:cNvPr>
          <p:cNvSpPr txBox="1"/>
          <p:nvPr/>
        </p:nvSpPr>
        <p:spPr>
          <a:xfrm>
            <a:off x="9692743" y="3087933"/>
            <a:ext cx="597984" cy="369332"/>
          </a:xfrm>
          <a:prstGeom prst="rect">
            <a:avLst/>
          </a:prstGeom>
          <a:noFill/>
        </p:spPr>
        <p:txBody>
          <a:bodyPr wrap="none" rtlCol="0">
            <a:spAutoFit/>
          </a:bodyPr>
          <a:lstStyle/>
          <a:p>
            <a:r>
              <a:rPr lang="en-US" dirty="0"/>
              <a:t>expr</a:t>
            </a:r>
          </a:p>
        </p:txBody>
      </p:sp>
      <p:sp>
        <p:nvSpPr>
          <p:cNvPr id="13" name="TextBox 12">
            <a:extLst>
              <a:ext uri="{FF2B5EF4-FFF2-40B4-BE49-F238E27FC236}">
                <a16:creationId xmlns:a16="http://schemas.microsoft.com/office/drawing/2014/main" id="{5E188A97-8BB9-E34A-9A6F-2FA6143478F0}"/>
              </a:ext>
            </a:extLst>
          </p:cNvPr>
          <p:cNvSpPr txBox="1"/>
          <p:nvPr/>
        </p:nvSpPr>
        <p:spPr>
          <a:xfrm>
            <a:off x="6724021" y="5469967"/>
            <a:ext cx="1136850" cy="369332"/>
          </a:xfrm>
          <a:prstGeom prst="rect">
            <a:avLst/>
          </a:prstGeom>
          <a:noFill/>
        </p:spPr>
        <p:txBody>
          <a:bodyPr wrap="none" rtlCol="0">
            <a:spAutoFit/>
          </a:bodyPr>
          <a:lstStyle/>
          <a:p>
            <a:r>
              <a:rPr lang="en-US" dirty="0"/>
              <a:t>&lt;NUM, 1&gt;</a:t>
            </a:r>
          </a:p>
        </p:txBody>
      </p:sp>
      <p:cxnSp>
        <p:nvCxnSpPr>
          <p:cNvPr id="14" name="Straight Connector 13">
            <a:extLst>
              <a:ext uri="{FF2B5EF4-FFF2-40B4-BE49-F238E27FC236}">
                <a16:creationId xmlns:a16="http://schemas.microsoft.com/office/drawing/2014/main" id="{FB289100-EE7C-6B44-B446-620A383C0434}"/>
              </a:ext>
            </a:extLst>
          </p:cNvPr>
          <p:cNvCxnSpPr>
            <a:cxnSpLocks/>
            <a:endCxn id="25" idx="0"/>
          </p:cNvCxnSpPr>
          <p:nvPr/>
        </p:nvCxnSpPr>
        <p:spPr>
          <a:xfrm>
            <a:off x="7299498" y="3477414"/>
            <a:ext cx="114776" cy="464578"/>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79523A5C-5656-2C48-9561-C5E06431FF8C}"/>
              </a:ext>
            </a:extLst>
          </p:cNvPr>
          <p:cNvCxnSpPr>
            <a:cxnSpLocks/>
          </p:cNvCxnSpPr>
          <p:nvPr/>
        </p:nvCxnSpPr>
        <p:spPr>
          <a:xfrm flipH="1">
            <a:off x="8758711" y="4139400"/>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2827981-7496-3044-A580-D70075F49F40}"/>
              </a:ext>
            </a:extLst>
          </p:cNvPr>
          <p:cNvCxnSpPr>
            <a:cxnSpLocks/>
          </p:cNvCxnSpPr>
          <p:nvPr/>
        </p:nvCxnSpPr>
        <p:spPr>
          <a:xfrm>
            <a:off x="9983084" y="4139400"/>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3D73D50F-AD23-2A43-8FB5-2E5521EA1252}"/>
              </a:ext>
            </a:extLst>
          </p:cNvPr>
          <p:cNvCxnSpPr>
            <a:cxnSpLocks/>
          </p:cNvCxnSpPr>
          <p:nvPr/>
        </p:nvCxnSpPr>
        <p:spPr>
          <a:xfrm>
            <a:off x="9983084" y="4139400"/>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D3A10946-EFD4-7E40-AB1D-DC861347C615}"/>
              </a:ext>
            </a:extLst>
          </p:cNvPr>
          <p:cNvSpPr txBox="1"/>
          <p:nvPr/>
        </p:nvSpPr>
        <p:spPr>
          <a:xfrm>
            <a:off x="9525511" y="4606502"/>
            <a:ext cx="998350" cy="369332"/>
          </a:xfrm>
          <a:prstGeom prst="rect">
            <a:avLst/>
          </a:prstGeom>
          <a:noFill/>
        </p:spPr>
        <p:txBody>
          <a:bodyPr wrap="none" rtlCol="0">
            <a:spAutoFit/>
          </a:bodyPr>
          <a:lstStyle/>
          <a:p>
            <a:r>
              <a:rPr lang="en-US" dirty="0"/>
              <a:t>&lt;TIMES&gt;</a:t>
            </a:r>
          </a:p>
        </p:txBody>
      </p:sp>
      <p:sp>
        <p:nvSpPr>
          <p:cNvPr id="19" name="TextBox 18">
            <a:extLst>
              <a:ext uri="{FF2B5EF4-FFF2-40B4-BE49-F238E27FC236}">
                <a16:creationId xmlns:a16="http://schemas.microsoft.com/office/drawing/2014/main" id="{79E779DE-0E1B-6646-BA9B-D3741DDAFA77}"/>
              </a:ext>
            </a:extLst>
          </p:cNvPr>
          <p:cNvSpPr txBox="1"/>
          <p:nvPr/>
        </p:nvSpPr>
        <p:spPr>
          <a:xfrm>
            <a:off x="8459719" y="4575109"/>
            <a:ext cx="871457" cy="369332"/>
          </a:xfrm>
          <a:prstGeom prst="rect">
            <a:avLst/>
          </a:prstGeom>
          <a:noFill/>
        </p:spPr>
        <p:txBody>
          <a:bodyPr wrap="none" rtlCol="0">
            <a:spAutoFit/>
          </a:bodyPr>
          <a:lstStyle/>
          <a:p>
            <a:r>
              <a:rPr lang="en-US" dirty="0"/>
              <a:t>term: </a:t>
            </a:r>
            <a:r>
              <a:rPr lang="en-US" dirty="0">
                <a:highlight>
                  <a:srgbClr val="FFFF00"/>
                </a:highlight>
              </a:rPr>
              <a:t>5</a:t>
            </a:r>
          </a:p>
        </p:txBody>
      </p:sp>
      <p:sp>
        <p:nvSpPr>
          <p:cNvPr id="20" name="TextBox 19">
            <a:extLst>
              <a:ext uri="{FF2B5EF4-FFF2-40B4-BE49-F238E27FC236}">
                <a16:creationId xmlns:a16="http://schemas.microsoft.com/office/drawing/2014/main" id="{5E3208D9-8CA8-8545-A65C-A98896AB66F9}"/>
              </a:ext>
            </a:extLst>
          </p:cNvPr>
          <p:cNvSpPr txBox="1"/>
          <p:nvPr/>
        </p:nvSpPr>
        <p:spPr>
          <a:xfrm>
            <a:off x="10781251" y="4575109"/>
            <a:ext cx="871457" cy="369332"/>
          </a:xfrm>
          <a:prstGeom prst="rect">
            <a:avLst/>
          </a:prstGeom>
          <a:noFill/>
        </p:spPr>
        <p:txBody>
          <a:bodyPr wrap="none" rtlCol="0">
            <a:spAutoFit/>
          </a:bodyPr>
          <a:lstStyle/>
          <a:p>
            <a:r>
              <a:rPr lang="en-US" dirty="0"/>
              <a:t>term: </a:t>
            </a:r>
            <a:r>
              <a:rPr lang="en-US" dirty="0">
                <a:highlight>
                  <a:srgbClr val="FFFF00"/>
                </a:highlight>
              </a:rPr>
              <a:t>6</a:t>
            </a:r>
          </a:p>
        </p:txBody>
      </p:sp>
      <p:sp>
        <p:nvSpPr>
          <p:cNvPr id="25" name="TextBox 24">
            <a:extLst>
              <a:ext uri="{FF2B5EF4-FFF2-40B4-BE49-F238E27FC236}">
                <a16:creationId xmlns:a16="http://schemas.microsoft.com/office/drawing/2014/main" id="{9B708125-208C-FB44-BFCB-1411EB5B9B3C}"/>
              </a:ext>
            </a:extLst>
          </p:cNvPr>
          <p:cNvSpPr txBox="1"/>
          <p:nvPr/>
        </p:nvSpPr>
        <p:spPr>
          <a:xfrm>
            <a:off x="6978545" y="3941992"/>
            <a:ext cx="871457" cy="369332"/>
          </a:xfrm>
          <a:prstGeom prst="rect">
            <a:avLst/>
          </a:prstGeom>
          <a:noFill/>
        </p:spPr>
        <p:txBody>
          <a:bodyPr wrap="none" rtlCol="0">
            <a:spAutoFit/>
          </a:bodyPr>
          <a:lstStyle/>
          <a:p>
            <a:r>
              <a:rPr lang="en-US" dirty="0"/>
              <a:t>term: </a:t>
            </a:r>
            <a:r>
              <a:rPr lang="en-US" dirty="0">
                <a:highlight>
                  <a:srgbClr val="FFFF00"/>
                </a:highlight>
              </a:rPr>
              <a:t>1</a:t>
            </a:r>
          </a:p>
        </p:txBody>
      </p:sp>
      <p:cxnSp>
        <p:nvCxnSpPr>
          <p:cNvPr id="26" name="Straight Connector 25">
            <a:extLst>
              <a:ext uri="{FF2B5EF4-FFF2-40B4-BE49-F238E27FC236}">
                <a16:creationId xmlns:a16="http://schemas.microsoft.com/office/drawing/2014/main" id="{B5C9CA3C-1798-5D4F-B4D8-21BE902532E2}"/>
              </a:ext>
            </a:extLst>
          </p:cNvPr>
          <p:cNvCxnSpPr>
            <a:cxnSpLocks/>
            <a:stCxn id="25" idx="2"/>
            <a:endCxn id="27" idx="0"/>
          </p:cNvCxnSpPr>
          <p:nvPr/>
        </p:nvCxnSpPr>
        <p:spPr>
          <a:xfrm flipH="1">
            <a:off x="7414272" y="4311324"/>
            <a:ext cx="2" cy="489250"/>
          </a:xfrm>
          <a:prstGeom prst="line">
            <a:avLst/>
          </a:prstGeom>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B133E5FB-1176-2F49-8AB1-1062B1ED1DC5}"/>
              </a:ext>
            </a:extLst>
          </p:cNvPr>
          <p:cNvSpPr txBox="1"/>
          <p:nvPr/>
        </p:nvSpPr>
        <p:spPr>
          <a:xfrm>
            <a:off x="6930165" y="4800574"/>
            <a:ext cx="968214" cy="369332"/>
          </a:xfrm>
          <a:prstGeom prst="rect">
            <a:avLst/>
          </a:prstGeom>
          <a:noFill/>
        </p:spPr>
        <p:txBody>
          <a:bodyPr wrap="none" rtlCol="0">
            <a:spAutoFit/>
          </a:bodyPr>
          <a:lstStyle/>
          <a:p>
            <a:r>
              <a:rPr lang="en-US" dirty="0"/>
              <a:t>factor: </a:t>
            </a:r>
            <a:r>
              <a:rPr lang="en-US" dirty="0">
                <a:highlight>
                  <a:srgbClr val="FFFF00"/>
                </a:highlight>
              </a:rPr>
              <a:t>1</a:t>
            </a:r>
          </a:p>
        </p:txBody>
      </p:sp>
      <p:cxnSp>
        <p:nvCxnSpPr>
          <p:cNvPr id="32" name="Straight Connector 31">
            <a:extLst>
              <a:ext uri="{FF2B5EF4-FFF2-40B4-BE49-F238E27FC236}">
                <a16:creationId xmlns:a16="http://schemas.microsoft.com/office/drawing/2014/main" id="{751E8634-37CD-4B4A-A4CD-F0390385398C}"/>
              </a:ext>
            </a:extLst>
          </p:cNvPr>
          <p:cNvCxnSpPr>
            <a:cxnSpLocks/>
            <a:stCxn id="27" idx="2"/>
            <a:endCxn id="13" idx="0"/>
          </p:cNvCxnSpPr>
          <p:nvPr/>
        </p:nvCxnSpPr>
        <p:spPr>
          <a:xfrm flipH="1">
            <a:off x="7292446" y="5169906"/>
            <a:ext cx="121826" cy="300061"/>
          </a:xfrm>
          <a:prstGeom prst="line">
            <a:avLst/>
          </a:prstGeom>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8AC937BE-D3B1-D44D-9937-F6A99D119B0E}"/>
              </a:ext>
            </a:extLst>
          </p:cNvPr>
          <p:cNvSpPr txBox="1"/>
          <p:nvPr/>
        </p:nvSpPr>
        <p:spPr>
          <a:xfrm>
            <a:off x="7525232" y="1274144"/>
            <a:ext cx="3147015" cy="584775"/>
          </a:xfrm>
          <a:prstGeom prst="rect">
            <a:avLst/>
          </a:prstGeom>
          <a:noFill/>
        </p:spPr>
        <p:txBody>
          <a:bodyPr wrap="none" rtlCol="0">
            <a:spAutoFit/>
          </a:bodyPr>
          <a:lstStyle/>
          <a:p>
            <a:r>
              <a:rPr lang="en-US" sz="3200" dirty="0">
                <a:latin typeface="Courier" pitchFamily="2" charset="0"/>
              </a:rPr>
              <a:t>input: 1+5*6</a:t>
            </a:r>
          </a:p>
        </p:txBody>
      </p:sp>
      <p:cxnSp>
        <p:nvCxnSpPr>
          <p:cNvPr id="42" name="Straight Connector 41">
            <a:extLst>
              <a:ext uri="{FF2B5EF4-FFF2-40B4-BE49-F238E27FC236}">
                <a16:creationId xmlns:a16="http://schemas.microsoft.com/office/drawing/2014/main" id="{8EAB152D-9A26-9B43-A7B1-29D9BE13117F}"/>
              </a:ext>
            </a:extLst>
          </p:cNvPr>
          <p:cNvCxnSpPr>
            <a:cxnSpLocks/>
            <a:stCxn id="12" idx="2"/>
            <a:endCxn id="43" idx="0"/>
          </p:cNvCxnSpPr>
          <p:nvPr/>
        </p:nvCxnSpPr>
        <p:spPr>
          <a:xfrm>
            <a:off x="9991735" y="3457265"/>
            <a:ext cx="49699" cy="312803"/>
          </a:xfrm>
          <a:prstGeom prst="line">
            <a:avLst/>
          </a:prstGeom>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D646E12C-C254-B54E-96B1-3BAC1435E7C3}"/>
              </a:ext>
            </a:extLst>
          </p:cNvPr>
          <p:cNvSpPr txBox="1"/>
          <p:nvPr/>
        </p:nvSpPr>
        <p:spPr>
          <a:xfrm>
            <a:off x="9410620" y="3770068"/>
            <a:ext cx="1261628" cy="369332"/>
          </a:xfrm>
          <a:prstGeom prst="rect">
            <a:avLst/>
          </a:prstGeom>
          <a:noFill/>
        </p:spPr>
        <p:txBody>
          <a:bodyPr wrap="square" rtlCol="0">
            <a:spAutoFit/>
          </a:bodyPr>
          <a:lstStyle/>
          <a:p>
            <a:r>
              <a:rPr lang="en-US" dirty="0"/>
              <a:t>term: </a:t>
            </a:r>
            <a:r>
              <a:rPr lang="en-US" dirty="0">
                <a:highlight>
                  <a:srgbClr val="FFFF00"/>
                </a:highlight>
              </a:rPr>
              <a:t>30</a:t>
            </a:r>
          </a:p>
        </p:txBody>
      </p:sp>
      <p:sp>
        <p:nvSpPr>
          <p:cNvPr id="54" name="TextBox 53">
            <a:extLst>
              <a:ext uri="{FF2B5EF4-FFF2-40B4-BE49-F238E27FC236}">
                <a16:creationId xmlns:a16="http://schemas.microsoft.com/office/drawing/2014/main" id="{D3540521-17C6-EC43-BC96-BB34123D64CE}"/>
              </a:ext>
            </a:extLst>
          </p:cNvPr>
          <p:cNvSpPr txBox="1"/>
          <p:nvPr/>
        </p:nvSpPr>
        <p:spPr>
          <a:xfrm>
            <a:off x="8223152" y="5944230"/>
            <a:ext cx="1136850" cy="369332"/>
          </a:xfrm>
          <a:prstGeom prst="rect">
            <a:avLst/>
          </a:prstGeom>
          <a:noFill/>
        </p:spPr>
        <p:txBody>
          <a:bodyPr wrap="none" rtlCol="0">
            <a:spAutoFit/>
          </a:bodyPr>
          <a:lstStyle/>
          <a:p>
            <a:r>
              <a:rPr lang="en-US" dirty="0"/>
              <a:t>&lt;NUM, 5&gt;</a:t>
            </a:r>
          </a:p>
        </p:txBody>
      </p:sp>
      <p:sp>
        <p:nvSpPr>
          <p:cNvPr id="55" name="TextBox 54">
            <a:extLst>
              <a:ext uri="{FF2B5EF4-FFF2-40B4-BE49-F238E27FC236}">
                <a16:creationId xmlns:a16="http://schemas.microsoft.com/office/drawing/2014/main" id="{AAC8F0CC-8EE2-F145-9D4D-E31B4417315B}"/>
              </a:ext>
            </a:extLst>
          </p:cNvPr>
          <p:cNvSpPr txBox="1"/>
          <p:nvPr/>
        </p:nvSpPr>
        <p:spPr>
          <a:xfrm>
            <a:off x="8429296" y="5274837"/>
            <a:ext cx="915315" cy="369332"/>
          </a:xfrm>
          <a:prstGeom prst="rect">
            <a:avLst/>
          </a:prstGeom>
          <a:noFill/>
        </p:spPr>
        <p:txBody>
          <a:bodyPr wrap="none" rtlCol="0">
            <a:spAutoFit/>
          </a:bodyPr>
          <a:lstStyle/>
          <a:p>
            <a:r>
              <a:rPr lang="en-US" dirty="0"/>
              <a:t>factor:</a:t>
            </a:r>
            <a:r>
              <a:rPr lang="en-US" dirty="0">
                <a:highlight>
                  <a:srgbClr val="FFFF00"/>
                </a:highlight>
              </a:rPr>
              <a:t>5</a:t>
            </a:r>
          </a:p>
        </p:txBody>
      </p:sp>
      <p:cxnSp>
        <p:nvCxnSpPr>
          <p:cNvPr id="56" name="Straight Connector 55">
            <a:extLst>
              <a:ext uri="{FF2B5EF4-FFF2-40B4-BE49-F238E27FC236}">
                <a16:creationId xmlns:a16="http://schemas.microsoft.com/office/drawing/2014/main" id="{EC7DED96-B025-904A-A333-37DE1FE9A7F1}"/>
              </a:ext>
            </a:extLst>
          </p:cNvPr>
          <p:cNvCxnSpPr>
            <a:cxnSpLocks/>
            <a:stCxn id="55" idx="2"/>
            <a:endCxn id="54" idx="0"/>
          </p:cNvCxnSpPr>
          <p:nvPr/>
        </p:nvCxnSpPr>
        <p:spPr>
          <a:xfrm flipH="1">
            <a:off x="8791577" y="5644169"/>
            <a:ext cx="95377" cy="300061"/>
          </a:xfrm>
          <a:prstGeom prst="line">
            <a:avLst/>
          </a:prstGeom>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EE8A74-38A2-CD4C-9B1F-B1674EDD25B9}"/>
              </a:ext>
            </a:extLst>
          </p:cNvPr>
          <p:cNvCxnSpPr>
            <a:cxnSpLocks/>
          </p:cNvCxnSpPr>
          <p:nvPr/>
        </p:nvCxnSpPr>
        <p:spPr>
          <a:xfrm flipH="1">
            <a:off x="8773620" y="4956450"/>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CFF7024A-16C9-E64F-8C94-B05E0079A3E1}"/>
              </a:ext>
            </a:extLst>
          </p:cNvPr>
          <p:cNvSpPr txBox="1"/>
          <p:nvPr/>
        </p:nvSpPr>
        <p:spPr>
          <a:xfrm>
            <a:off x="10546607" y="5944230"/>
            <a:ext cx="1136850" cy="369332"/>
          </a:xfrm>
          <a:prstGeom prst="rect">
            <a:avLst/>
          </a:prstGeom>
          <a:noFill/>
        </p:spPr>
        <p:txBody>
          <a:bodyPr wrap="none" rtlCol="0">
            <a:spAutoFit/>
          </a:bodyPr>
          <a:lstStyle/>
          <a:p>
            <a:r>
              <a:rPr lang="en-US" dirty="0"/>
              <a:t>&lt;NUM, 6&gt;</a:t>
            </a:r>
          </a:p>
        </p:txBody>
      </p:sp>
      <p:sp>
        <p:nvSpPr>
          <p:cNvPr id="59" name="TextBox 58">
            <a:extLst>
              <a:ext uri="{FF2B5EF4-FFF2-40B4-BE49-F238E27FC236}">
                <a16:creationId xmlns:a16="http://schemas.microsoft.com/office/drawing/2014/main" id="{8130AFD8-7831-4340-B3B1-D26D06FFC84A}"/>
              </a:ext>
            </a:extLst>
          </p:cNvPr>
          <p:cNvSpPr txBox="1"/>
          <p:nvPr/>
        </p:nvSpPr>
        <p:spPr>
          <a:xfrm>
            <a:off x="10752751" y="5274837"/>
            <a:ext cx="968214" cy="369332"/>
          </a:xfrm>
          <a:prstGeom prst="rect">
            <a:avLst/>
          </a:prstGeom>
          <a:noFill/>
        </p:spPr>
        <p:txBody>
          <a:bodyPr wrap="none" rtlCol="0">
            <a:spAutoFit/>
          </a:bodyPr>
          <a:lstStyle/>
          <a:p>
            <a:r>
              <a:rPr lang="en-US" dirty="0"/>
              <a:t>factor: </a:t>
            </a:r>
            <a:r>
              <a:rPr lang="en-US" dirty="0">
                <a:highlight>
                  <a:srgbClr val="FFFF00"/>
                </a:highlight>
              </a:rPr>
              <a:t>6</a:t>
            </a:r>
          </a:p>
        </p:txBody>
      </p:sp>
      <p:cxnSp>
        <p:nvCxnSpPr>
          <p:cNvPr id="60" name="Straight Connector 59">
            <a:extLst>
              <a:ext uri="{FF2B5EF4-FFF2-40B4-BE49-F238E27FC236}">
                <a16:creationId xmlns:a16="http://schemas.microsoft.com/office/drawing/2014/main" id="{904A8729-D901-5145-8399-EBECB27338FB}"/>
              </a:ext>
            </a:extLst>
          </p:cNvPr>
          <p:cNvCxnSpPr>
            <a:cxnSpLocks/>
            <a:stCxn id="59" idx="2"/>
            <a:endCxn id="58" idx="0"/>
          </p:cNvCxnSpPr>
          <p:nvPr/>
        </p:nvCxnSpPr>
        <p:spPr>
          <a:xfrm flipH="1">
            <a:off x="11115032" y="5644169"/>
            <a:ext cx="121826" cy="300061"/>
          </a:xfrm>
          <a:prstGeom prst="line">
            <a:avLst/>
          </a:prstGeom>
        </p:spPr>
        <p:style>
          <a:lnRef idx="1">
            <a:schemeClr val="dk1"/>
          </a:lnRef>
          <a:fillRef idx="0">
            <a:schemeClr val="dk1"/>
          </a:fillRef>
          <a:effectRef idx="0">
            <a:schemeClr val="dk1"/>
          </a:effectRef>
          <a:fontRef idx="minor">
            <a:schemeClr val="tx1"/>
          </a:fontRef>
        </p:style>
      </p:cxnSp>
      <p:cxnSp>
        <p:nvCxnSpPr>
          <p:cNvPr id="61" name="Straight Connector 60">
            <a:extLst>
              <a:ext uri="{FF2B5EF4-FFF2-40B4-BE49-F238E27FC236}">
                <a16:creationId xmlns:a16="http://schemas.microsoft.com/office/drawing/2014/main" id="{09889343-814F-AC47-BCAA-253276D34071}"/>
              </a:ext>
            </a:extLst>
          </p:cNvPr>
          <p:cNvCxnSpPr>
            <a:cxnSpLocks/>
          </p:cNvCxnSpPr>
          <p:nvPr/>
        </p:nvCxnSpPr>
        <p:spPr>
          <a:xfrm flipH="1">
            <a:off x="11097075" y="4956450"/>
            <a:ext cx="5609" cy="300061"/>
          </a:xfrm>
          <a:prstGeom prst="line">
            <a:avLst/>
          </a:prstGeom>
        </p:spPr>
        <p:style>
          <a:lnRef idx="1">
            <a:schemeClr val="dk1"/>
          </a:lnRef>
          <a:fillRef idx="0">
            <a:schemeClr val="dk1"/>
          </a:fillRef>
          <a:effectRef idx="0">
            <a:schemeClr val="dk1"/>
          </a:effectRef>
          <a:fontRef idx="minor">
            <a:schemeClr val="tx1"/>
          </a:fontRef>
        </p:style>
      </p:cxnSp>
      <p:graphicFrame>
        <p:nvGraphicFramePr>
          <p:cNvPr id="35" name="Table 5">
            <a:extLst>
              <a:ext uri="{FF2B5EF4-FFF2-40B4-BE49-F238E27FC236}">
                <a16:creationId xmlns:a16="http://schemas.microsoft.com/office/drawing/2014/main" id="{EAE5DCAE-5344-7E4A-8E00-CD15BC32AB8D}"/>
              </a:ext>
            </a:extLst>
          </p:cNvPr>
          <p:cNvGraphicFramePr>
            <a:graphicFrameLocks noGrp="1"/>
          </p:cNvGraphicFramePr>
          <p:nvPr/>
        </p:nvGraphicFramePr>
        <p:xfrm>
          <a:off x="680382" y="2517382"/>
          <a:ext cx="4480008" cy="2295384"/>
        </p:xfrm>
        <a:graphic>
          <a:graphicData uri="http://schemas.openxmlformats.org/drawingml/2006/table">
            <a:tbl>
              <a:tblPr firstRow="1" bandRow="1">
                <a:tableStyleId>{073A0DAA-6AF3-43AB-8588-CEC1D06C72B9}</a:tableStyleId>
              </a:tblPr>
              <a:tblGrid>
                <a:gridCol w="1233260">
                  <a:extLst>
                    <a:ext uri="{9D8B030D-6E8A-4147-A177-3AD203B41FA5}">
                      <a16:colId xmlns:a16="http://schemas.microsoft.com/office/drawing/2014/main" val="1179443482"/>
                    </a:ext>
                  </a:extLst>
                </a:gridCol>
                <a:gridCol w="857839">
                  <a:extLst>
                    <a:ext uri="{9D8B030D-6E8A-4147-A177-3AD203B41FA5}">
                      <a16:colId xmlns:a16="http://schemas.microsoft.com/office/drawing/2014/main" val="1466143606"/>
                    </a:ext>
                  </a:extLst>
                </a:gridCol>
                <a:gridCol w="2388909">
                  <a:extLst>
                    <a:ext uri="{9D8B030D-6E8A-4147-A177-3AD203B41FA5}">
                      <a16:colId xmlns:a16="http://schemas.microsoft.com/office/drawing/2014/main" val="2892710420"/>
                    </a:ext>
                  </a:extLst>
                </a:gridCol>
              </a:tblGrid>
              <a:tr h="573846">
                <a:tc>
                  <a:txBody>
                    <a:bodyPr/>
                    <a:lstStyle/>
                    <a:p>
                      <a:r>
                        <a:rPr lang="en-US" dirty="0"/>
                        <a:t>Operator</a:t>
                      </a:r>
                    </a:p>
                  </a:txBody>
                  <a:tcPr/>
                </a:tc>
                <a:tc>
                  <a:txBody>
                    <a:bodyPr/>
                    <a:lstStyle/>
                    <a:p>
                      <a:r>
                        <a:rPr lang="en-US" dirty="0"/>
                        <a:t>Name</a:t>
                      </a:r>
                    </a:p>
                  </a:txBody>
                  <a:tcPr/>
                </a:tc>
                <a:tc>
                  <a:txBody>
                    <a:bodyPr/>
                    <a:lstStyle/>
                    <a:p>
                      <a:r>
                        <a:rPr lang="en-US" dirty="0"/>
                        <a:t>Productions</a:t>
                      </a:r>
                    </a:p>
                  </a:txBody>
                  <a:tcPr/>
                </a:tc>
                <a:extLst>
                  <a:ext uri="{0D108BD9-81ED-4DB2-BD59-A6C34878D82A}">
                    <a16:rowId xmlns:a16="http://schemas.microsoft.com/office/drawing/2014/main" val="2034902504"/>
                  </a:ext>
                </a:extLst>
              </a:tr>
              <a:tr h="573846">
                <a:tc>
                  <a:txBody>
                    <a:bodyPr/>
                    <a:lstStyle/>
                    <a:p>
                      <a:r>
                        <a:rPr lang="en-US" dirty="0"/>
                        <a:t>+</a:t>
                      </a:r>
                    </a:p>
                  </a:txBody>
                  <a:tcPr/>
                </a:tc>
                <a:tc>
                  <a:txBody>
                    <a:bodyPr/>
                    <a:lstStyle/>
                    <a:p>
                      <a:r>
                        <a:rPr lang="en-US" sz="1400" dirty="0">
                          <a:latin typeface="Courier" pitchFamily="2" charset="0"/>
                        </a:rPr>
                        <a:t>expr</a:t>
                      </a:r>
                    </a:p>
                  </a:txBody>
                  <a:tcPr/>
                </a:tc>
                <a:tc>
                  <a:txBody>
                    <a:bodyPr/>
                    <a:lstStyle/>
                    <a:p>
                      <a:r>
                        <a:rPr lang="en-US" sz="1400" dirty="0">
                          <a:latin typeface="Courier" pitchFamily="2" charset="0"/>
                        </a:rPr>
                        <a:t>: expr PLUS expr</a:t>
                      </a:r>
                      <a:br>
                        <a:rPr lang="en-US" sz="1400" dirty="0">
                          <a:latin typeface="Courier" pitchFamily="2" charset="0"/>
                        </a:rPr>
                      </a:br>
                      <a:r>
                        <a:rPr lang="en-US" sz="1400" dirty="0">
                          <a:latin typeface="Courier" pitchFamily="2" charset="0"/>
                        </a:rPr>
                        <a:t>| term</a:t>
                      </a:r>
                    </a:p>
                  </a:txBody>
                  <a:tcPr/>
                </a:tc>
                <a:extLst>
                  <a:ext uri="{0D108BD9-81ED-4DB2-BD59-A6C34878D82A}">
                    <a16:rowId xmlns:a16="http://schemas.microsoft.com/office/drawing/2014/main" val="3909463058"/>
                  </a:ext>
                </a:extLst>
              </a:tr>
              <a:tr h="573846">
                <a:tc>
                  <a:txBody>
                    <a:bodyPr/>
                    <a:lstStyle/>
                    <a:p>
                      <a:r>
                        <a:rPr lang="en-US" dirty="0"/>
                        <a:t>*</a:t>
                      </a:r>
                    </a:p>
                  </a:txBody>
                  <a:tcPr/>
                </a:tc>
                <a:tc>
                  <a:txBody>
                    <a:bodyPr/>
                    <a:lstStyle/>
                    <a:p>
                      <a:r>
                        <a:rPr lang="en-US" sz="1400" dirty="0">
                          <a:latin typeface="Courier" pitchFamily="2" charset="0"/>
                        </a:rPr>
                        <a:t>term</a:t>
                      </a:r>
                    </a:p>
                  </a:txBody>
                  <a:tcPr/>
                </a:tc>
                <a:tc>
                  <a:txBody>
                    <a:bodyPr/>
                    <a:lstStyle/>
                    <a:p>
                      <a:r>
                        <a:rPr lang="en-US" sz="1400" dirty="0">
                          <a:latin typeface="Courier" pitchFamily="2" charset="0"/>
                        </a:rPr>
                        <a:t>: term TIMES term</a:t>
                      </a:r>
                      <a:br>
                        <a:rPr lang="en-US" sz="1400" dirty="0">
                          <a:latin typeface="Courier" pitchFamily="2" charset="0"/>
                        </a:rPr>
                      </a:br>
                      <a:r>
                        <a:rPr lang="en-US" sz="1400" dirty="0">
                          <a:latin typeface="Courier" pitchFamily="2" charset="0"/>
                        </a:rPr>
                        <a:t>| factor</a:t>
                      </a:r>
                    </a:p>
                  </a:txBody>
                  <a:tcPr/>
                </a:tc>
                <a:extLst>
                  <a:ext uri="{0D108BD9-81ED-4DB2-BD59-A6C34878D82A}">
                    <a16:rowId xmlns:a16="http://schemas.microsoft.com/office/drawing/2014/main" val="806889359"/>
                  </a:ext>
                </a:extLst>
              </a:tr>
              <a:tr h="573846">
                <a:tc>
                  <a:txBody>
                    <a:bodyPr/>
                    <a:lstStyle/>
                    <a:p>
                      <a:r>
                        <a:rPr lang="en-US" dirty="0"/>
                        <a:t>()</a:t>
                      </a:r>
                    </a:p>
                  </a:txBody>
                  <a:tcPr/>
                </a:tc>
                <a:tc>
                  <a:txBody>
                    <a:bodyPr/>
                    <a:lstStyle/>
                    <a:p>
                      <a:r>
                        <a:rPr lang="en-US" sz="1400" dirty="0">
                          <a:latin typeface="Courier" pitchFamily="2" charset="0"/>
                        </a:rPr>
                        <a:t>factor</a:t>
                      </a:r>
                    </a:p>
                  </a:txBody>
                  <a:tcPr/>
                </a:tc>
                <a:tc>
                  <a:txBody>
                    <a:bodyPr/>
                    <a:lstStyle/>
                    <a:p>
                      <a:r>
                        <a:rPr lang="en-US" sz="1400" dirty="0">
                          <a:latin typeface="Courier" pitchFamily="2" charset="0"/>
                        </a:rPr>
                        <a:t>: LPAREN expr RPAREN</a:t>
                      </a:r>
                      <a:br>
                        <a:rPr lang="en-US" sz="1400" dirty="0">
                          <a:latin typeface="Courier" pitchFamily="2" charset="0"/>
                        </a:rPr>
                      </a:br>
                      <a:r>
                        <a:rPr lang="en-US" sz="1400" dirty="0">
                          <a:latin typeface="Courier" pitchFamily="2" charset="0"/>
                        </a:rPr>
                        <a:t>| NUM</a:t>
                      </a:r>
                    </a:p>
                  </a:txBody>
                  <a:tcPr/>
                </a:tc>
                <a:extLst>
                  <a:ext uri="{0D108BD9-81ED-4DB2-BD59-A6C34878D82A}">
                    <a16:rowId xmlns:a16="http://schemas.microsoft.com/office/drawing/2014/main" val="3861644708"/>
                  </a:ext>
                </a:extLst>
              </a:tr>
            </a:tbl>
          </a:graphicData>
        </a:graphic>
      </p:graphicFrame>
    </p:spTree>
    <p:extLst>
      <p:ext uri="{BB962C8B-B14F-4D97-AF65-F5344CB8AC3E}">
        <p14:creationId xmlns:p14="http://schemas.microsoft.com/office/powerpoint/2010/main" val="20562810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62162-6C16-C84F-9702-17E49E5546E7}"/>
              </a:ext>
            </a:extLst>
          </p:cNvPr>
          <p:cNvSpPr>
            <a:spLocks noGrp="1"/>
          </p:cNvSpPr>
          <p:nvPr>
            <p:ph type="title"/>
          </p:nvPr>
        </p:nvSpPr>
        <p:spPr/>
        <p:txBody>
          <a:bodyPr/>
          <a:lstStyle/>
          <a:p>
            <a:r>
              <a:rPr lang="en-US" dirty="0"/>
              <a:t>Evaluating a parse tree</a:t>
            </a:r>
          </a:p>
        </p:txBody>
      </p:sp>
      <p:sp>
        <p:nvSpPr>
          <p:cNvPr id="6" name="TextBox 5">
            <a:extLst>
              <a:ext uri="{FF2B5EF4-FFF2-40B4-BE49-F238E27FC236}">
                <a16:creationId xmlns:a16="http://schemas.microsoft.com/office/drawing/2014/main" id="{78084A87-825D-444D-BB7B-C3FAA3E9B7FE}"/>
              </a:ext>
            </a:extLst>
          </p:cNvPr>
          <p:cNvSpPr txBox="1"/>
          <p:nvPr/>
        </p:nvSpPr>
        <p:spPr>
          <a:xfrm>
            <a:off x="8635402" y="2181957"/>
            <a:ext cx="947439" cy="369332"/>
          </a:xfrm>
          <a:prstGeom prst="rect">
            <a:avLst/>
          </a:prstGeom>
          <a:noFill/>
        </p:spPr>
        <p:txBody>
          <a:bodyPr wrap="none" rtlCol="0">
            <a:spAutoFit/>
          </a:bodyPr>
          <a:lstStyle/>
          <a:p>
            <a:r>
              <a:rPr lang="en-US" dirty="0"/>
              <a:t>expr: 31</a:t>
            </a:r>
          </a:p>
        </p:txBody>
      </p:sp>
      <p:cxnSp>
        <p:nvCxnSpPr>
          <p:cNvPr id="7" name="Straight Connector 6">
            <a:extLst>
              <a:ext uri="{FF2B5EF4-FFF2-40B4-BE49-F238E27FC236}">
                <a16:creationId xmlns:a16="http://schemas.microsoft.com/office/drawing/2014/main" id="{480AF64F-C051-BC45-8F55-C339505C9041}"/>
              </a:ext>
            </a:extLst>
          </p:cNvPr>
          <p:cNvCxnSpPr>
            <a:cxnSpLocks/>
            <a:stCxn id="6" idx="2"/>
            <a:endCxn id="8" idx="0"/>
          </p:cNvCxnSpPr>
          <p:nvPr/>
        </p:nvCxnSpPr>
        <p:spPr>
          <a:xfrm flipH="1">
            <a:off x="7415716" y="2551289"/>
            <a:ext cx="1693406" cy="536644"/>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2037C40A-B1C7-B24E-AAED-53661DA8AD97}"/>
              </a:ext>
            </a:extLst>
          </p:cNvPr>
          <p:cNvSpPr txBox="1"/>
          <p:nvPr/>
        </p:nvSpPr>
        <p:spPr>
          <a:xfrm>
            <a:off x="7000506" y="3087933"/>
            <a:ext cx="830420" cy="369332"/>
          </a:xfrm>
          <a:prstGeom prst="rect">
            <a:avLst/>
          </a:prstGeom>
          <a:noFill/>
        </p:spPr>
        <p:txBody>
          <a:bodyPr wrap="none" rtlCol="0">
            <a:spAutoFit/>
          </a:bodyPr>
          <a:lstStyle/>
          <a:p>
            <a:r>
              <a:rPr lang="en-US" dirty="0"/>
              <a:t>expr: 1</a:t>
            </a:r>
          </a:p>
        </p:txBody>
      </p:sp>
      <p:cxnSp>
        <p:nvCxnSpPr>
          <p:cNvPr id="9" name="Straight Connector 8">
            <a:extLst>
              <a:ext uri="{FF2B5EF4-FFF2-40B4-BE49-F238E27FC236}">
                <a16:creationId xmlns:a16="http://schemas.microsoft.com/office/drawing/2014/main" id="{916F5EC7-5BB5-C44D-9139-74B5B3A0EA1C}"/>
              </a:ext>
            </a:extLst>
          </p:cNvPr>
          <p:cNvCxnSpPr>
            <a:cxnSpLocks/>
            <a:stCxn id="6" idx="2"/>
            <a:endCxn id="11" idx="0"/>
          </p:cNvCxnSpPr>
          <p:nvPr/>
        </p:nvCxnSpPr>
        <p:spPr>
          <a:xfrm flipH="1">
            <a:off x="8934394" y="2551289"/>
            <a:ext cx="174728" cy="554837"/>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624FA233-A2CA-7644-9D29-ABBBFDDE51C4}"/>
              </a:ext>
            </a:extLst>
          </p:cNvPr>
          <p:cNvCxnSpPr>
            <a:cxnSpLocks/>
            <a:stCxn id="6" idx="2"/>
            <a:endCxn id="12" idx="0"/>
          </p:cNvCxnSpPr>
          <p:nvPr/>
        </p:nvCxnSpPr>
        <p:spPr>
          <a:xfrm>
            <a:off x="9109122" y="2551289"/>
            <a:ext cx="882613" cy="536644"/>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6C879086-9CF3-C944-B592-9E6A7804E052}"/>
              </a:ext>
            </a:extLst>
          </p:cNvPr>
          <p:cNvSpPr txBox="1"/>
          <p:nvPr/>
        </p:nvSpPr>
        <p:spPr>
          <a:xfrm>
            <a:off x="8494273" y="3106126"/>
            <a:ext cx="880241" cy="369332"/>
          </a:xfrm>
          <a:prstGeom prst="rect">
            <a:avLst/>
          </a:prstGeom>
          <a:noFill/>
        </p:spPr>
        <p:txBody>
          <a:bodyPr wrap="none" rtlCol="0">
            <a:spAutoFit/>
          </a:bodyPr>
          <a:lstStyle/>
          <a:p>
            <a:r>
              <a:rPr lang="en-US" dirty="0"/>
              <a:t>&lt;PLUS&gt;</a:t>
            </a:r>
          </a:p>
        </p:txBody>
      </p:sp>
      <p:sp>
        <p:nvSpPr>
          <p:cNvPr id="12" name="TextBox 11">
            <a:extLst>
              <a:ext uri="{FF2B5EF4-FFF2-40B4-BE49-F238E27FC236}">
                <a16:creationId xmlns:a16="http://schemas.microsoft.com/office/drawing/2014/main" id="{C0F2C3AB-C2B2-F242-974D-F95CE403B6CB}"/>
              </a:ext>
            </a:extLst>
          </p:cNvPr>
          <p:cNvSpPr txBox="1"/>
          <p:nvPr/>
        </p:nvSpPr>
        <p:spPr>
          <a:xfrm>
            <a:off x="9692743" y="3087933"/>
            <a:ext cx="597984" cy="369332"/>
          </a:xfrm>
          <a:prstGeom prst="rect">
            <a:avLst/>
          </a:prstGeom>
          <a:noFill/>
        </p:spPr>
        <p:txBody>
          <a:bodyPr wrap="none" rtlCol="0">
            <a:spAutoFit/>
          </a:bodyPr>
          <a:lstStyle/>
          <a:p>
            <a:r>
              <a:rPr lang="en-US" dirty="0"/>
              <a:t>expr</a:t>
            </a:r>
          </a:p>
        </p:txBody>
      </p:sp>
      <p:sp>
        <p:nvSpPr>
          <p:cNvPr id="13" name="TextBox 12">
            <a:extLst>
              <a:ext uri="{FF2B5EF4-FFF2-40B4-BE49-F238E27FC236}">
                <a16:creationId xmlns:a16="http://schemas.microsoft.com/office/drawing/2014/main" id="{5E188A97-8BB9-E34A-9A6F-2FA6143478F0}"/>
              </a:ext>
            </a:extLst>
          </p:cNvPr>
          <p:cNvSpPr txBox="1"/>
          <p:nvPr/>
        </p:nvSpPr>
        <p:spPr>
          <a:xfrm>
            <a:off x="6724021" y="5469967"/>
            <a:ext cx="1136850" cy="369332"/>
          </a:xfrm>
          <a:prstGeom prst="rect">
            <a:avLst/>
          </a:prstGeom>
          <a:noFill/>
        </p:spPr>
        <p:txBody>
          <a:bodyPr wrap="none" rtlCol="0">
            <a:spAutoFit/>
          </a:bodyPr>
          <a:lstStyle/>
          <a:p>
            <a:r>
              <a:rPr lang="en-US" dirty="0"/>
              <a:t>&lt;NUM, 1&gt;</a:t>
            </a:r>
          </a:p>
        </p:txBody>
      </p:sp>
      <p:cxnSp>
        <p:nvCxnSpPr>
          <p:cNvPr id="14" name="Straight Connector 13">
            <a:extLst>
              <a:ext uri="{FF2B5EF4-FFF2-40B4-BE49-F238E27FC236}">
                <a16:creationId xmlns:a16="http://schemas.microsoft.com/office/drawing/2014/main" id="{FB289100-EE7C-6B44-B446-620A383C0434}"/>
              </a:ext>
            </a:extLst>
          </p:cNvPr>
          <p:cNvCxnSpPr>
            <a:cxnSpLocks/>
            <a:endCxn id="25" idx="0"/>
          </p:cNvCxnSpPr>
          <p:nvPr/>
        </p:nvCxnSpPr>
        <p:spPr>
          <a:xfrm>
            <a:off x="7299498" y="3477414"/>
            <a:ext cx="114776" cy="464578"/>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79523A5C-5656-2C48-9561-C5E06431FF8C}"/>
              </a:ext>
            </a:extLst>
          </p:cNvPr>
          <p:cNvCxnSpPr>
            <a:cxnSpLocks/>
          </p:cNvCxnSpPr>
          <p:nvPr/>
        </p:nvCxnSpPr>
        <p:spPr>
          <a:xfrm flipH="1">
            <a:off x="8758711" y="4139400"/>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2827981-7496-3044-A580-D70075F49F40}"/>
              </a:ext>
            </a:extLst>
          </p:cNvPr>
          <p:cNvCxnSpPr>
            <a:cxnSpLocks/>
          </p:cNvCxnSpPr>
          <p:nvPr/>
        </p:nvCxnSpPr>
        <p:spPr>
          <a:xfrm>
            <a:off x="9983084" y="4139400"/>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3D73D50F-AD23-2A43-8FB5-2E5521EA1252}"/>
              </a:ext>
            </a:extLst>
          </p:cNvPr>
          <p:cNvCxnSpPr>
            <a:cxnSpLocks/>
          </p:cNvCxnSpPr>
          <p:nvPr/>
        </p:nvCxnSpPr>
        <p:spPr>
          <a:xfrm>
            <a:off x="9983084" y="4139400"/>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D3A10946-EFD4-7E40-AB1D-DC861347C615}"/>
              </a:ext>
            </a:extLst>
          </p:cNvPr>
          <p:cNvSpPr txBox="1"/>
          <p:nvPr/>
        </p:nvSpPr>
        <p:spPr>
          <a:xfrm>
            <a:off x="9525511" y="4606502"/>
            <a:ext cx="998350" cy="369332"/>
          </a:xfrm>
          <a:prstGeom prst="rect">
            <a:avLst/>
          </a:prstGeom>
          <a:noFill/>
        </p:spPr>
        <p:txBody>
          <a:bodyPr wrap="none" rtlCol="0">
            <a:spAutoFit/>
          </a:bodyPr>
          <a:lstStyle/>
          <a:p>
            <a:r>
              <a:rPr lang="en-US" dirty="0"/>
              <a:t>&lt;</a:t>
            </a:r>
            <a:r>
              <a:rPr lang="en-US" dirty="0">
                <a:highlight>
                  <a:srgbClr val="FFFF00"/>
                </a:highlight>
              </a:rPr>
              <a:t>TIMES</a:t>
            </a:r>
            <a:r>
              <a:rPr lang="en-US" dirty="0"/>
              <a:t>&gt;</a:t>
            </a:r>
          </a:p>
        </p:txBody>
      </p:sp>
      <p:sp>
        <p:nvSpPr>
          <p:cNvPr id="19" name="TextBox 18">
            <a:extLst>
              <a:ext uri="{FF2B5EF4-FFF2-40B4-BE49-F238E27FC236}">
                <a16:creationId xmlns:a16="http://schemas.microsoft.com/office/drawing/2014/main" id="{79E779DE-0E1B-6646-BA9B-D3741DDAFA77}"/>
              </a:ext>
            </a:extLst>
          </p:cNvPr>
          <p:cNvSpPr txBox="1"/>
          <p:nvPr/>
        </p:nvSpPr>
        <p:spPr>
          <a:xfrm>
            <a:off x="8459719" y="4575109"/>
            <a:ext cx="871457" cy="369332"/>
          </a:xfrm>
          <a:prstGeom prst="rect">
            <a:avLst/>
          </a:prstGeom>
          <a:noFill/>
        </p:spPr>
        <p:txBody>
          <a:bodyPr wrap="none" rtlCol="0">
            <a:spAutoFit/>
          </a:bodyPr>
          <a:lstStyle/>
          <a:p>
            <a:r>
              <a:rPr lang="en-US" dirty="0"/>
              <a:t>term: 5</a:t>
            </a:r>
          </a:p>
        </p:txBody>
      </p:sp>
      <p:sp>
        <p:nvSpPr>
          <p:cNvPr id="20" name="TextBox 19">
            <a:extLst>
              <a:ext uri="{FF2B5EF4-FFF2-40B4-BE49-F238E27FC236}">
                <a16:creationId xmlns:a16="http://schemas.microsoft.com/office/drawing/2014/main" id="{5E3208D9-8CA8-8545-A65C-A98896AB66F9}"/>
              </a:ext>
            </a:extLst>
          </p:cNvPr>
          <p:cNvSpPr txBox="1"/>
          <p:nvPr/>
        </p:nvSpPr>
        <p:spPr>
          <a:xfrm>
            <a:off x="10781251" y="4575109"/>
            <a:ext cx="871457" cy="369332"/>
          </a:xfrm>
          <a:prstGeom prst="rect">
            <a:avLst/>
          </a:prstGeom>
          <a:noFill/>
        </p:spPr>
        <p:txBody>
          <a:bodyPr wrap="none" rtlCol="0">
            <a:spAutoFit/>
          </a:bodyPr>
          <a:lstStyle/>
          <a:p>
            <a:r>
              <a:rPr lang="en-US" dirty="0"/>
              <a:t>term: 6</a:t>
            </a:r>
          </a:p>
        </p:txBody>
      </p:sp>
      <p:sp>
        <p:nvSpPr>
          <p:cNvPr id="25" name="TextBox 24">
            <a:extLst>
              <a:ext uri="{FF2B5EF4-FFF2-40B4-BE49-F238E27FC236}">
                <a16:creationId xmlns:a16="http://schemas.microsoft.com/office/drawing/2014/main" id="{9B708125-208C-FB44-BFCB-1411EB5B9B3C}"/>
              </a:ext>
            </a:extLst>
          </p:cNvPr>
          <p:cNvSpPr txBox="1"/>
          <p:nvPr/>
        </p:nvSpPr>
        <p:spPr>
          <a:xfrm>
            <a:off x="6978545" y="3941992"/>
            <a:ext cx="871457" cy="369332"/>
          </a:xfrm>
          <a:prstGeom prst="rect">
            <a:avLst/>
          </a:prstGeom>
          <a:noFill/>
        </p:spPr>
        <p:txBody>
          <a:bodyPr wrap="none" rtlCol="0">
            <a:spAutoFit/>
          </a:bodyPr>
          <a:lstStyle/>
          <a:p>
            <a:r>
              <a:rPr lang="en-US" dirty="0"/>
              <a:t>term: 1</a:t>
            </a:r>
          </a:p>
        </p:txBody>
      </p:sp>
      <p:cxnSp>
        <p:nvCxnSpPr>
          <p:cNvPr id="26" name="Straight Connector 25">
            <a:extLst>
              <a:ext uri="{FF2B5EF4-FFF2-40B4-BE49-F238E27FC236}">
                <a16:creationId xmlns:a16="http://schemas.microsoft.com/office/drawing/2014/main" id="{B5C9CA3C-1798-5D4F-B4D8-21BE902532E2}"/>
              </a:ext>
            </a:extLst>
          </p:cNvPr>
          <p:cNvCxnSpPr>
            <a:cxnSpLocks/>
            <a:stCxn id="25" idx="2"/>
            <a:endCxn id="27" idx="0"/>
          </p:cNvCxnSpPr>
          <p:nvPr/>
        </p:nvCxnSpPr>
        <p:spPr>
          <a:xfrm flipH="1">
            <a:off x="7414272" y="4311324"/>
            <a:ext cx="2" cy="489250"/>
          </a:xfrm>
          <a:prstGeom prst="line">
            <a:avLst/>
          </a:prstGeom>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B133E5FB-1176-2F49-8AB1-1062B1ED1DC5}"/>
              </a:ext>
            </a:extLst>
          </p:cNvPr>
          <p:cNvSpPr txBox="1"/>
          <p:nvPr/>
        </p:nvSpPr>
        <p:spPr>
          <a:xfrm>
            <a:off x="6930165" y="4800574"/>
            <a:ext cx="968214" cy="369332"/>
          </a:xfrm>
          <a:prstGeom prst="rect">
            <a:avLst/>
          </a:prstGeom>
          <a:noFill/>
        </p:spPr>
        <p:txBody>
          <a:bodyPr wrap="none" rtlCol="0">
            <a:spAutoFit/>
          </a:bodyPr>
          <a:lstStyle/>
          <a:p>
            <a:r>
              <a:rPr lang="en-US" dirty="0"/>
              <a:t>factor: 1</a:t>
            </a:r>
          </a:p>
        </p:txBody>
      </p:sp>
      <p:cxnSp>
        <p:nvCxnSpPr>
          <p:cNvPr id="32" name="Straight Connector 31">
            <a:extLst>
              <a:ext uri="{FF2B5EF4-FFF2-40B4-BE49-F238E27FC236}">
                <a16:creationId xmlns:a16="http://schemas.microsoft.com/office/drawing/2014/main" id="{751E8634-37CD-4B4A-A4CD-F0390385398C}"/>
              </a:ext>
            </a:extLst>
          </p:cNvPr>
          <p:cNvCxnSpPr>
            <a:cxnSpLocks/>
            <a:stCxn id="27" idx="2"/>
            <a:endCxn id="13" idx="0"/>
          </p:cNvCxnSpPr>
          <p:nvPr/>
        </p:nvCxnSpPr>
        <p:spPr>
          <a:xfrm flipH="1">
            <a:off x="7292446" y="5169906"/>
            <a:ext cx="121826" cy="300061"/>
          </a:xfrm>
          <a:prstGeom prst="line">
            <a:avLst/>
          </a:prstGeom>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8AC937BE-D3B1-D44D-9937-F6A99D119B0E}"/>
              </a:ext>
            </a:extLst>
          </p:cNvPr>
          <p:cNvSpPr txBox="1"/>
          <p:nvPr/>
        </p:nvSpPr>
        <p:spPr>
          <a:xfrm>
            <a:off x="7525232" y="1274144"/>
            <a:ext cx="3147015" cy="584775"/>
          </a:xfrm>
          <a:prstGeom prst="rect">
            <a:avLst/>
          </a:prstGeom>
          <a:noFill/>
        </p:spPr>
        <p:txBody>
          <a:bodyPr wrap="none" rtlCol="0">
            <a:spAutoFit/>
          </a:bodyPr>
          <a:lstStyle/>
          <a:p>
            <a:r>
              <a:rPr lang="en-US" sz="3200" dirty="0">
                <a:latin typeface="Courier" pitchFamily="2" charset="0"/>
              </a:rPr>
              <a:t>input: 1+5*6</a:t>
            </a:r>
          </a:p>
        </p:txBody>
      </p:sp>
      <p:cxnSp>
        <p:nvCxnSpPr>
          <p:cNvPr id="42" name="Straight Connector 41">
            <a:extLst>
              <a:ext uri="{FF2B5EF4-FFF2-40B4-BE49-F238E27FC236}">
                <a16:creationId xmlns:a16="http://schemas.microsoft.com/office/drawing/2014/main" id="{8EAB152D-9A26-9B43-A7B1-29D9BE13117F}"/>
              </a:ext>
            </a:extLst>
          </p:cNvPr>
          <p:cNvCxnSpPr>
            <a:cxnSpLocks/>
            <a:stCxn id="12" idx="2"/>
            <a:endCxn id="43" idx="0"/>
          </p:cNvCxnSpPr>
          <p:nvPr/>
        </p:nvCxnSpPr>
        <p:spPr>
          <a:xfrm>
            <a:off x="9991735" y="3457265"/>
            <a:ext cx="107145" cy="312803"/>
          </a:xfrm>
          <a:prstGeom prst="line">
            <a:avLst/>
          </a:prstGeom>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D646E12C-C254-B54E-96B1-3BAC1435E7C3}"/>
              </a:ext>
            </a:extLst>
          </p:cNvPr>
          <p:cNvSpPr txBox="1"/>
          <p:nvPr/>
        </p:nvSpPr>
        <p:spPr>
          <a:xfrm>
            <a:off x="9525512" y="3770068"/>
            <a:ext cx="1146736" cy="369332"/>
          </a:xfrm>
          <a:prstGeom prst="rect">
            <a:avLst/>
          </a:prstGeom>
          <a:noFill/>
        </p:spPr>
        <p:txBody>
          <a:bodyPr wrap="square" rtlCol="0">
            <a:spAutoFit/>
          </a:bodyPr>
          <a:lstStyle/>
          <a:p>
            <a:r>
              <a:rPr lang="en-US" dirty="0"/>
              <a:t>term: 30</a:t>
            </a:r>
          </a:p>
        </p:txBody>
      </p:sp>
      <p:sp>
        <p:nvSpPr>
          <p:cNvPr id="54" name="TextBox 53">
            <a:extLst>
              <a:ext uri="{FF2B5EF4-FFF2-40B4-BE49-F238E27FC236}">
                <a16:creationId xmlns:a16="http://schemas.microsoft.com/office/drawing/2014/main" id="{D3540521-17C6-EC43-BC96-BB34123D64CE}"/>
              </a:ext>
            </a:extLst>
          </p:cNvPr>
          <p:cNvSpPr txBox="1"/>
          <p:nvPr/>
        </p:nvSpPr>
        <p:spPr>
          <a:xfrm>
            <a:off x="8223152" y="5944230"/>
            <a:ext cx="1136850" cy="369332"/>
          </a:xfrm>
          <a:prstGeom prst="rect">
            <a:avLst/>
          </a:prstGeom>
          <a:noFill/>
        </p:spPr>
        <p:txBody>
          <a:bodyPr wrap="none" rtlCol="0">
            <a:spAutoFit/>
          </a:bodyPr>
          <a:lstStyle/>
          <a:p>
            <a:r>
              <a:rPr lang="en-US" dirty="0"/>
              <a:t>&lt;NUM, 5&gt;</a:t>
            </a:r>
          </a:p>
        </p:txBody>
      </p:sp>
      <p:sp>
        <p:nvSpPr>
          <p:cNvPr id="55" name="TextBox 54">
            <a:extLst>
              <a:ext uri="{FF2B5EF4-FFF2-40B4-BE49-F238E27FC236}">
                <a16:creationId xmlns:a16="http://schemas.microsoft.com/office/drawing/2014/main" id="{AAC8F0CC-8EE2-F145-9D4D-E31B4417315B}"/>
              </a:ext>
            </a:extLst>
          </p:cNvPr>
          <p:cNvSpPr txBox="1"/>
          <p:nvPr/>
        </p:nvSpPr>
        <p:spPr>
          <a:xfrm>
            <a:off x="8429296" y="5274837"/>
            <a:ext cx="915315" cy="369332"/>
          </a:xfrm>
          <a:prstGeom prst="rect">
            <a:avLst/>
          </a:prstGeom>
          <a:noFill/>
        </p:spPr>
        <p:txBody>
          <a:bodyPr wrap="none" rtlCol="0">
            <a:spAutoFit/>
          </a:bodyPr>
          <a:lstStyle/>
          <a:p>
            <a:r>
              <a:rPr lang="en-US" dirty="0"/>
              <a:t>factor:5</a:t>
            </a:r>
          </a:p>
        </p:txBody>
      </p:sp>
      <p:cxnSp>
        <p:nvCxnSpPr>
          <p:cNvPr id="56" name="Straight Connector 55">
            <a:extLst>
              <a:ext uri="{FF2B5EF4-FFF2-40B4-BE49-F238E27FC236}">
                <a16:creationId xmlns:a16="http://schemas.microsoft.com/office/drawing/2014/main" id="{EC7DED96-B025-904A-A333-37DE1FE9A7F1}"/>
              </a:ext>
            </a:extLst>
          </p:cNvPr>
          <p:cNvCxnSpPr>
            <a:cxnSpLocks/>
            <a:stCxn id="55" idx="2"/>
            <a:endCxn id="54" idx="0"/>
          </p:cNvCxnSpPr>
          <p:nvPr/>
        </p:nvCxnSpPr>
        <p:spPr>
          <a:xfrm flipH="1">
            <a:off x="8791577" y="5644169"/>
            <a:ext cx="95377" cy="300061"/>
          </a:xfrm>
          <a:prstGeom prst="line">
            <a:avLst/>
          </a:prstGeom>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EE8A74-38A2-CD4C-9B1F-B1674EDD25B9}"/>
              </a:ext>
            </a:extLst>
          </p:cNvPr>
          <p:cNvCxnSpPr>
            <a:cxnSpLocks/>
          </p:cNvCxnSpPr>
          <p:nvPr/>
        </p:nvCxnSpPr>
        <p:spPr>
          <a:xfrm flipH="1">
            <a:off x="8773620" y="4956450"/>
            <a:ext cx="5609" cy="300061"/>
          </a:xfrm>
          <a:prstGeom prst="line">
            <a:avLst/>
          </a:prstGeom>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CFF7024A-16C9-E64F-8C94-B05E0079A3E1}"/>
              </a:ext>
            </a:extLst>
          </p:cNvPr>
          <p:cNvSpPr txBox="1"/>
          <p:nvPr/>
        </p:nvSpPr>
        <p:spPr>
          <a:xfrm>
            <a:off x="10546607" y="5944230"/>
            <a:ext cx="1136850" cy="369332"/>
          </a:xfrm>
          <a:prstGeom prst="rect">
            <a:avLst/>
          </a:prstGeom>
          <a:noFill/>
        </p:spPr>
        <p:txBody>
          <a:bodyPr wrap="none" rtlCol="0">
            <a:spAutoFit/>
          </a:bodyPr>
          <a:lstStyle/>
          <a:p>
            <a:r>
              <a:rPr lang="en-US" dirty="0"/>
              <a:t>&lt;NUM, 6&gt;</a:t>
            </a:r>
          </a:p>
        </p:txBody>
      </p:sp>
      <p:sp>
        <p:nvSpPr>
          <p:cNvPr id="59" name="TextBox 58">
            <a:extLst>
              <a:ext uri="{FF2B5EF4-FFF2-40B4-BE49-F238E27FC236}">
                <a16:creationId xmlns:a16="http://schemas.microsoft.com/office/drawing/2014/main" id="{8130AFD8-7831-4340-B3B1-D26D06FFC84A}"/>
              </a:ext>
            </a:extLst>
          </p:cNvPr>
          <p:cNvSpPr txBox="1"/>
          <p:nvPr/>
        </p:nvSpPr>
        <p:spPr>
          <a:xfrm>
            <a:off x="10752751" y="5274837"/>
            <a:ext cx="968214" cy="369332"/>
          </a:xfrm>
          <a:prstGeom prst="rect">
            <a:avLst/>
          </a:prstGeom>
          <a:noFill/>
        </p:spPr>
        <p:txBody>
          <a:bodyPr wrap="none" rtlCol="0">
            <a:spAutoFit/>
          </a:bodyPr>
          <a:lstStyle/>
          <a:p>
            <a:r>
              <a:rPr lang="en-US" dirty="0"/>
              <a:t>factor: 6</a:t>
            </a:r>
          </a:p>
        </p:txBody>
      </p:sp>
      <p:cxnSp>
        <p:nvCxnSpPr>
          <p:cNvPr id="60" name="Straight Connector 59">
            <a:extLst>
              <a:ext uri="{FF2B5EF4-FFF2-40B4-BE49-F238E27FC236}">
                <a16:creationId xmlns:a16="http://schemas.microsoft.com/office/drawing/2014/main" id="{904A8729-D901-5145-8399-EBECB27338FB}"/>
              </a:ext>
            </a:extLst>
          </p:cNvPr>
          <p:cNvCxnSpPr>
            <a:cxnSpLocks/>
            <a:stCxn id="59" idx="2"/>
            <a:endCxn id="58" idx="0"/>
          </p:cNvCxnSpPr>
          <p:nvPr/>
        </p:nvCxnSpPr>
        <p:spPr>
          <a:xfrm flipH="1">
            <a:off x="11115032" y="5644169"/>
            <a:ext cx="121826" cy="300061"/>
          </a:xfrm>
          <a:prstGeom prst="line">
            <a:avLst/>
          </a:prstGeom>
        </p:spPr>
        <p:style>
          <a:lnRef idx="1">
            <a:schemeClr val="dk1"/>
          </a:lnRef>
          <a:fillRef idx="0">
            <a:schemeClr val="dk1"/>
          </a:fillRef>
          <a:effectRef idx="0">
            <a:schemeClr val="dk1"/>
          </a:effectRef>
          <a:fontRef idx="minor">
            <a:schemeClr val="tx1"/>
          </a:fontRef>
        </p:style>
      </p:cxnSp>
      <p:cxnSp>
        <p:nvCxnSpPr>
          <p:cNvPr id="61" name="Straight Connector 60">
            <a:extLst>
              <a:ext uri="{FF2B5EF4-FFF2-40B4-BE49-F238E27FC236}">
                <a16:creationId xmlns:a16="http://schemas.microsoft.com/office/drawing/2014/main" id="{09889343-814F-AC47-BCAA-253276D34071}"/>
              </a:ext>
            </a:extLst>
          </p:cNvPr>
          <p:cNvCxnSpPr>
            <a:cxnSpLocks/>
          </p:cNvCxnSpPr>
          <p:nvPr/>
        </p:nvCxnSpPr>
        <p:spPr>
          <a:xfrm flipH="1">
            <a:off x="11097075" y="4956450"/>
            <a:ext cx="5609" cy="300061"/>
          </a:xfrm>
          <a:prstGeom prst="line">
            <a:avLst/>
          </a:prstGeom>
        </p:spPr>
        <p:style>
          <a:lnRef idx="1">
            <a:schemeClr val="dk1"/>
          </a:lnRef>
          <a:fillRef idx="0">
            <a:schemeClr val="dk1"/>
          </a:fillRef>
          <a:effectRef idx="0">
            <a:schemeClr val="dk1"/>
          </a:effectRef>
          <a:fontRef idx="minor">
            <a:schemeClr val="tx1"/>
          </a:fontRef>
        </p:style>
      </p:cxnSp>
      <p:graphicFrame>
        <p:nvGraphicFramePr>
          <p:cNvPr id="35" name="Table 5">
            <a:extLst>
              <a:ext uri="{FF2B5EF4-FFF2-40B4-BE49-F238E27FC236}">
                <a16:creationId xmlns:a16="http://schemas.microsoft.com/office/drawing/2014/main" id="{EAE5DCAE-5344-7E4A-8E00-CD15BC32AB8D}"/>
              </a:ext>
            </a:extLst>
          </p:cNvPr>
          <p:cNvGraphicFramePr>
            <a:graphicFrameLocks noGrp="1"/>
          </p:cNvGraphicFramePr>
          <p:nvPr/>
        </p:nvGraphicFramePr>
        <p:xfrm>
          <a:off x="680382" y="2517382"/>
          <a:ext cx="4480008" cy="2295384"/>
        </p:xfrm>
        <a:graphic>
          <a:graphicData uri="http://schemas.openxmlformats.org/drawingml/2006/table">
            <a:tbl>
              <a:tblPr firstRow="1" bandRow="1">
                <a:tableStyleId>{073A0DAA-6AF3-43AB-8588-CEC1D06C72B9}</a:tableStyleId>
              </a:tblPr>
              <a:tblGrid>
                <a:gridCol w="1233260">
                  <a:extLst>
                    <a:ext uri="{9D8B030D-6E8A-4147-A177-3AD203B41FA5}">
                      <a16:colId xmlns:a16="http://schemas.microsoft.com/office/drawing/2014/main" val="1179443482"/>
                    </a:ext>
                  </a:extLst>
                </a:gridCol>
                <a:gridCol w="857839">
                  <a:extLst>
                    <a:ext uri="{9D8B030D-6E8A-4147-A177-3AD203B41FA5}">
                      <a16:colId xmlns:a16="http://schemas.microsoft.com/office/drawing/2014/main" val="1466143606"/>
                    </a:ext>
                  </a:extLst>
                </a:gridCol>
                <a:gridCol w="2388909">
                  <a:extLst>
                    <a:ext uri="{9D8B030D-6E8A-4147-A177-3AD203B41FA5}">
                      <a16:colId xmlns:a16="http://schemas.microsoft.com/office/drawing/2014/main" val="2892710420"/>
                    </a:ext>
                  </a:extLst>
                </a:gridCol>
              </a:tblGrid>
              <a:tr h="573846">
                <a:tc>
                  <a:txBody>
                    <a:bodyPr/>
                    <a:lstStyle/>
                    <a:p>
                      <a:r>
                        <a:rPr lang="en-US" dirty="0"/>
                        <a:t>Operator</a:t>
                      </a:r>
                    </a:p>
                  </a:txBody>
                  <a:tcPr/>
                </a:tc>
                <a:tc>
                  <a:txBody>
                    <a:bodyPr/>
                    <a:lstStyle/>
                    <a:p>
                      <a:r>
                        <a:rPr lang="en-US" dirty="0"/>
                        <a:t>Name</a:t>
                      </a:r>
                    </a:p>
                  </a:txBody>
                  <a:tcPr/>
                </a:tc>
                <a:tc>
                  <a:txBody>
                    <a:bodyPr/>
                    <a:lstStyle/>
                    <a:p>
                      <a:r>
                        <a:rPr lang="en-US" dirty="0"/>
                        <a:t>Productions</a:t>
                      </a:r>
                    </a:p>
                  </a:txBody>
                  <a:tcPr/>
                </a:tc>
                <a:extLst>
                  <a:ext uri="{0D108BD9-81ED-4DB2-BD59-A6C34878D82A}">
                    <a16:rowId xmlns:a16="http://schemas.microsoft.com/office/drawing/2014/main" val="2034902504"/>
                  </a:ext>
                </a:extLst>
              </a:tr>
              <a:tr h="573846">
                <a:tc>
                  <a:txBody>
                    <a:bodyPr/>
                    <a:lstStyle/>
                    <a:p>
                      <a:r>
                        <a:rPr lang="en-US" dirty="0"/>
                        <a:t>+</a:t>
                      </a:r>
                    </a:p>
                  </a:txBody>
                  <a:tcPr/>
                </a:tc>
                <a:tc>
                  <a:txBody>
                    <a:bodyPr/>
                    <a:lstStyle/>
                    <a:p>
                      <a:r>
                        <a:rPr lang="en-US" sz="1400" dirty="0">
                          <a:latin typeface="Courier" pitchFamily="2" charset="0"/>
                        </a:rPr>
                        <a:t>expr</a:t>
                      </a:r>
                    </a:p>
                  </a:txBody>
                  <a:tcPr/>
                </a:tc>
                <a:tc>
                  <a:txBody>
                    <a:bodyPr/>
                    <a:lstStyle/>
                    <a:p>
                      <a:r>
                        <a:rPr lang="en-US" sz="1400" dirty="0">
                          <a:latin typeface="Courier" pitchFamily="2" charset="0"/>
                        </a:rPr>
                        <a:t>: expr PLUS expr</a:t>
                      </a:r>
                      <a:br>
                        <a:rPr lang="en-US" sz="1400" dirty="0">
                          <a:latin typeface="Courier" pitchFamily="2" charset="0"/>
                        </a:rPr>
                      </a:br>
                      <a:r>
                        <a:rPr lang="en-US" sz="1400" dirty="0">
                          <a:latin typeface="Courier" pitchFamily="2" charset="0"/>
                        </a:rPr>
                        <a:t>| term</a:t>
                      </a:r>
                    </a:p>
                  </a:txBody>
                  <a:tcPr/>
                </a:tc>
                <a:extLst>
                  <a:ext uri="{0D108BD9-81ED-4DB2-BD59-A6C34878D82A}">
                    <a16:rowId xmlns:a16="http://schemas.microsoft.com/office/drawing/2014/main" val="3909463058"/>
                  </a:ext>
                </a:extLst>
              </a:tr>
              <a:tr h="573846">
                <a:tc>
                  <a:txBody>
                    <a:bodyPr/>
                    <a:lstStyle/>
                    <a:p>
                      <a:r>
                        <a:rPr lang="en-US" dirty="0"/>
                        <a:t>*</a:t>
                      </a:r>
                    </a:p>
                  </a:txBody>
                  <a:tcPr/>
                </a:tc>
                <a:tc>
                  <a:txBody>
                    <a:bodyPr/>
                    <a:lstStyle/>
                    <a:p>
                      <a:r>
                        <a:rPr lang="en-US" sz="1400" dirty="0">
                          <a:latin typeface="Courier" pitchFamily="2" charset="0"/>
                        </a:rPr>
                        <a:t>term</a:t>
                      </a:r>
                    </a:p>
                  </a:txBody>
                  <a:tcPr/>
                </a:tc>
                <a:tc>
                  <a:txBody>
                    <a:bodyPr/>
                    <a:lstStyle/>
                    <a:p>
                      <a:r>
                        <a:rPr lang="en-US" sz="1400" dirty="0">
                          <a:latin typeface="Courier" pitchFamily="2" charset="0"/>
                        </a:rPr>
                        <a:t>: term </a:t>
                      </a:r>
                      <a:r>
                        <a:rPr lang="en-US" sz="1400" dirty="0">
                          <a:highlight>
                            <a:srgbClr val="FFFF00"/>
                          </a:highlight>
                          <a:latin typeface="Courier" pitchFamily="2" charset="0"/>
                        </a:rPr>
                        <a:t>TIMES</a:t>
                      </a:r>
                      <a:r>
                        <a:rPr lang="en-US" sz="1400" dirty="0">
                          <a:latin typeface="Courier" pitchFamily="2" charset="0"/>
                        </a:rPr>
                        <a:t> term</a:t>
                      </a:r>
                      <a:br>
                        <a:rPr lang="en-US" sz="1400" dirty="0">
                          <a:latin typeface="Courier" pitchFamily="2" charset="0"/>
                        </a:rPr>
                      </a:br>
                      <a:r>
                        <a:rPr lang="en-US" sz="1400" dirty="0">
                          <a:latin typeface="Courier" pitchFamily="2" charset="0"/>
                        </a:rPr>
                        <a:t>| factor</a:t>
                      </a:r>
                    </a:p>
                  </a:txBody>
                  <a:tcPr/>
                </a:tc>
                <a:extLst>
                  <a:ext uri="{0D108BD9-81ED-4DB2-BD59-A6C34878D82A}">
                    <a16:rowId xmlns:a16="http://schemas.microsoft.com/office/drawing/2014/main" val="806889359"/>
                  </a:ext>
                </a:extLst>
              </a:tr>
              <a:tr h="573846">
                <a:tc>
                  <a:txBody>
                    <a:bodyPr/>
                    <a:lstStyle/>
                    <a:p>
                      <a:r>
                        <a:rPr lang="en-US" dirty="0"/>
                        <a:t>()</a:t>
                      </a:r>
                    </a:p>
                  </a:txBody>
                  <a:tcPr/>
                </a:tc>
                <a:tc>
                  <a:txBody>
                    <a:bodyPr/>
                    <a:lstStyle/>
                    <a:p>
                      <a:r>
                        <a:rPr lang="en-US" sz="1400" dirty="0">
                          <a:latin typeface="Courier" pitchFamily="2" charset="0"/>
                        </a:rPr>
                        <a:t>factor</a:t>
                      </a:r>
                    </a:p>
                  </a:txBody>
                  <a:tcPr/>
                </a:tc>
                <a:tc>
                  <a:txBody>
                    <a:bodyPr/>
                    <a:lstStyle/>
                    <a:p>
                      <a:r>
                        <a:rPr lang="en-US" sz="1400" dirty="0">
                          <a:latin typeface="Courier" pitchFamily="2" charset="0"/>
                        </a:rPr>
                        <a:t>: LPAREN expr RPAREN</a:t>
                      </a:r>
                      <a:br>
                        <a:rPr lang="en-US" sz="1400" dirty="0">
                          <a:latin typeface="Courier" pitchFamily="2" charset="0"/>
                        </a:rPr>
                      </a:br>
                      <a:r>
                        <a:rPr lang="en-US" sz="1400" dirty="0">
                          <a:latin typeface="Courier" pitchFamily="2" charset="0"/>
                        </a:rPr>
                        <a:t>| NUM</a:t>
                      </a:r>
                    </a:p>
                  </a:txBody>
                  <a:tcPr/>
                </a:tc>
                <a:extLst>
                  <a:ext uri="{0D108BD9-81ED-4DB2-BD59-A6C34878D82A}">
                    <a16:rowId xmlns:a16="http://schemas.microsoft.com/office/drawing/2014/main" val="3861644708"/>
                  </a:ext>
                </a:extLst>
              </a:tr>
            </a:tbl>
          </a:graphicData>
        </a:graphic>
      </p:graphicFrame>
      <p:sp>
        <p:nvSpPr>
          <p:cNvPr id="3" name="TextBox 2">
            <a:extLst>
              <a:ext uri="{FF2B5EF4-FFF2-40B4-BE49-F238E27FC236}">
                <a16:creationId xmlns:a16="http://schemas.microsoft.com/office/drawing/2014/main" id="{CF0E2F25-A925-0848-8166-32107C815220}"/>
              </a:ext>
            </a:extLst>
          </p:cNvPr>
          <p:cNvSpPr txBox="1"/>
          <p:nvPr/>
        </p:nvSpPr>
        <p:spPr>
          <a:xfrm>
            <a:off x="10745876" y="3559446"/>
            <a:ext cx="1364733" cy="646331"/>
          </a:xfrm>
          <a:prstGeom prst="rect">
            <a:avLst/>
          </a:prstGeom>
          <a:noFill/>
        </p:spPr>
        <p:txBody>
          <a:bodyPr wrap="none" rtlCol="0">
            <a:spAutoFit/>
          </a:bodyPr>
          <a:lstStyle/>
          <a:p>
            <a:r>
              <a:rPr lang="en-US" i="1" dirty="0">
                <a:highlight>
                  <a:srgbClr val="FFFF00"/>
                </a:highlight>
              </a:rPr>
              <a:t>lower in the </a:t>
            </a:r>
            <a:br>
              <a:rPr lang="en-US" i="1" dirty="0">
                <a:highlight>
                  <a:srgbClr val="FFFF00"/>
                </a:highlight>
              </a:rPr>
            </a:br>
            <a:r>
              <a:rPr lang="en-US" i="1" dirty="0">
                <a:highlight>
                  <a:srgbClr val="FFFF00"/>
                </a:highlight>
              </a:rPr>
              <a:t>parse tree</a:t>
            </a:r>
          </a:p>
        </p:txBody>
      </p:sp>
    </p:spTree>
    <p:extLst>
      <p:ext uri="{BB962C8B-B14F-4D97-AF65-F5344CB8AC3E}">
        <p14:creationId xmlns:p14="http://schemas.microsoft.com/office/powerpoint/2010/main" val="21551710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C38A7-9CB6-8B41-8EEB-A7321D3184CB}"/>
              </a:ext>
            </a:extLst>
          </p:cNvPr>
          <p:cNvSpPr>
            <a:spLocks noGrp="1"/>
          </p:cNvSpPr>
          <p:nvPr>
            <p:ph type="title"/>
          </p:nvPr>
        </p:nvSpPr>
        <p:spPr/>
        <p:txBody>
          <a:bodyPr/>
          <a:lstStyle/>
          <a:p>
            <a:r>
              <a:rPr lang="en-US" dirty="0"/>
              <a:t>Avoiding Ambiguity</a:t>
            </a:r>
          </a:p>
        </p:txBody>
      </p:sp>
      <p:graphicFrame>
        <p:nvGraphicFramePr>
          <p:cNvPr id="4" name="Table 5">
            <a:extLst>
              <a:ext uri="{FF2B5EF4-FFF2-40B4-BE49-F238E27FC236}">
                <a16:creationId xmlns:a16="http://schemas.microsoft.com/office/drawing/2014/main" id="{E783D612-69BC-4C49-9D8D-25981E72E3F3}"/>
              </a:ext>
            </a:extLst>
          </p:cNvPr>
          <p:cNvGraphicFramePr>
            <a:graphicFrameLocks noGrp="1"/>
          </p:cNvGraphicFramePr>
          <p:nvPr/>
        </p:nvGraphicFramePr>
        <p:xfrm>
          <a:off x="6873792" y="1980054"/>
          <a:ext cx="4480008" cy="2295384"/>
        </p:xfrm>
        <a:graphic>
          <a:graphicData uri="http://schemas.openxmlformats.org/drawingml/2006/table">
            <a:tbl>
              <a:tblPr firstRow="1" bandRow="1">
                <a:tableStyleId>{073A0DAA-6AF3-43AB-8588-CEC1D06C72B9}</a:tableStyleId>
              </a:tblPr>
              <a:tblGrid>
                <a:gridCol w="1233260">
                  <a:extLst>
                    <a:ext uri="{9D8B030D-6E8A-4147-A177-3AD203B41FA5}">
                      <a16:colId xmlns:a16="http://schemas.microsoft.com/office/drawing/2014/main" val="1179443482"/>
                    </a:ext>
                  </a:extLst>
                </a:gridCol>
                <a:gridCol w="857839">
                  <a:extLst>
                    <a:ext uri="{9D8B030D-6E8A-4147-A177-3AD203B41FA5}">
                      <a16:colId xmlns:a16="http://schemas.microsoft.com/office/drawing/2014/main" val="1466143606"/>
                    </a:ext>
                  </a:extLst>
                </a:gridCol>
                <a:gridCol w="2388909">
                  <a:extLst>
                    <a:ext uri="{9D8B030D-6E8A-4147-A177-3AD203B41FA5}">
                      <a16:colId xmlns:a16="http://schemas.microsoft.com/office/drawing/2014/main" val="2892710420"/>
                    </a:ext>
                  </a:extLst>
                </a:gridCol>
              </a:tblGrid>
              <a:tr h="573846">
                <a:tc>
                  <a:txBody>
                    <a:bodyPr/>
                    <a:lstStyle/>
                    <a:p>
                      <a:r>
                        <a:rPr lang="en-US" dirty="0"/>
                        <a:t>Operator</a:t>
                      </a:r>
                    </a:p>
                  </a:txBody>
                  <a:tcPr/>
                </a:tc>
                <a:tc>
                  <a:txBody>
                    <a:bodyPr/>
                    <a:lstStyle/>
                    <a:p>
                      <a:r>
                        <a:rPr lang="en-US" dirty="0"/>
                        <a:t>Name</a:t>
                      </a:r>
                    </a:p>
                  </a:txBody>
                  <a:tcPr/>
                </a:tc>
                <a:tc>
                  <a:txBody>
                    <a:bodyPr/>
                    <a:lstStyle/>
                    <a:p>
                      <a:r>
                        <a:rPr lang="en-US" dirty="0"/>
                        <a:t>Productions</a:t>
                      </a:r>
                    </a:p>
                  </a:txBody>
                  <a:tcPr/>
                </a:tc>
                <a:extLst>
                  <a:ext uri="{0D108BD9-81ED-4DB2-BD59-A6C34878D82A}">
                    <a16:rowId xmlns:a16="http://schemas.microsoft.com/office/drawing/2014/main" val="2034902504"/>
                  </a:ext>
                </a:extLst>
              </a:tr>
              <a:tr h="573846">
                <a:tc>
                  <a:txBody>
                    <a:bodyPr/>
                    <a:lstStyle/>
                    <a:p>
                      <a:r>
                        <a:rPr lang="en-US" dirty="0"/>
                        <a:t>+</a:t>
                      </a:r>
                    </a:p>
                  </a:txBody>
                  <a:tcPr/>
                </a:tc>
                <a:tc>
                  <a:txBody>
                    <a:bodyPr/>
                    <a:lstStyle/>
                    <a:p>
                      <a:r>
                        <a:rPr lang="en-US" sz="1400" dirty="0">
                          <a:latin typeface="Courier" pitchFamily="2" charset="0"/>
                        </a:rPr>
                        <a:t>expr</a:t>
                      </a:r>
                    </a:p>
                  </a:txBody>
                  <a:tcPr/>
                </a:tc>
                <a:tc>
                  <a:txBody>
                    <a:bodyPr/>
                    <a:lstStyle/>
                    <a:p>
                      <a:r>
                        <a:rPr lang="en-US" sz="1400" dirty="0">
                          <a:latin typeface="Courier" pitchFamily="2" charset="0"/>
                        </a:rPr>
                        <a:t>: expr PLUS expr</a:t>
                      </a:r>
                      <a:br>
                        <a:rPr lang="en-US" sz="1400" dirty="0">
                          <a:latin typeface="Courier" pitchFamily="2" charset="0"/>
                        </a:rPr>
                      </a:br>
                      <a:r>
                        <a:rPr lang="en-US" sz="1400" dirty="0">
                          <a:latin typeface="Courier" pitchFamily="2" charset="0"/>
                        </a:rPr>
                        <a:t>| term</a:t>
                      </a:r>
                    </a:p>
                  </a:txBody>
                  <a:tcPr/>
                </a:tc>
                <a:extLst>
                  <a:ext uri="{0D108BD9-81ED-4DB2-BD59-A6C34878D82A}">
                    <a16:rowId xmlns:a16="http://schemas.microsoft.com/office/drawing/2014/main" val="3909463058"/>
                  </a:ext>
                </a:extLst>
              </a:tr>
              <a:tr h="573846">
                <a:tc>
                  <a:txBody>
                    <a:bodyPr/>
                    <a:lstStyle/>
                    <a:p>
                      <a:r>
                        <a:rPr lang="en-US" dirty="0"/>
                        <a:t>*</a:t>
                      </a:r>
                    </a:p>
                  </a:txBody>
                  <a:tcPr/>
                </a:tc>
                <a:tc>
                  <a:txBody>
                    <a:bodyPr/>
                    <a:lstStyle/>
                    <a:p>
                      <a:r>
                        <a:rPr lang="en-US" sz="1400" dirty="0">
                          <a:latin typeface="Courier" pitchFamily="2" charset="0"/>
                        </a:rPr>
                        <a:t>term</a:t>
                      </a:r>
                    </a:p>
                  </a:txBody>
                  <a:tcPr/>
                </a:tc>
                <a:tc>
                  <a:txBody>
                    <a:bodyPr/>
                    <a:lstStyle/>
                    <a:p>
                      <a:r>
                        <a:rPr lang="en-US" sz="1400" dirty="0">
                          <a:latin typeface="Courier" pitchFamily="2" charset="0"/>
                        </a:rPr>
                        <a:t>: term TIMES term</a:t>
                      </a:r>
                      <a:br>
                        <a:rPr lang="en-US" sz="1400" dirty="0">
                          <a:latin typeface="Courier" pitchFamily="2" charset="0"/>
                        </a:rPr>
                      </a:br>
                      <a:r>
                        <a:rPr lang="en-US" sz="1400" dirty="0">
                          <a:latin typeface="Courier" pitchFamily="2" charset="0"/>
                        </a:rPr>
                        <a:t>| factor</a:t>
                      </a:r>
                    </a:p>
                  </a:txBody>
                  <a:tcPr/>
                </a:tc>
                <a:extLst>
                  <a:ext uri="{0D108BD9-81ED-4DB2-BD59-A6C34878D82A}">
                    <a16:rowId xmlns:a16="http://schemas.microsoft.com/office/drawing/2014/main" val="806889359"/>
                  </a:ext>
                </a:extLst>
              </a:tr>
              <a:tr h="573846">
                <a:tc>
                  <a:txBody>
                    <a:bodyPr/>
                    <a:lstStyle/>
                    <a:p>
                      <a:r>
                        <a:rPr lang="en-US" dirty="0"/>
                        <a:t>()</a:t>
                      </a:r>
                    </a:p>
                  </a:txBody>
                  <a:tcPr/>
                </a:tc>
                <a:tc>
                  <a:txBody>
                    <a:bodyPr/>
                    <a:lstStyle/>
                    <a:p>
                      <a:r>
                        <a:rPr lang="en-US" sz="1400" dirty="0">
                          <a:latin typeface="Courier" pitchFamily="2" charset="0"/>
                        </a:rPr>
                        <a:t>factor</a:t>
                      </a:r>
                    </a:p>
                  </a:txBody>
                  <a:tcPr/>
                </a:tc>
                <a:tc>
                  <a:txBody>
                    <a:bodyPr/>
                    <a:lstStyle/>
                    <a:p>
                      <a:r>
                        <a:rPr lang="en-US" sz="1400" dirty="0">
                          <a:latin typeface="Courier" pitchFamily="2" charset="0"/>
                        </a:rPr>
                        <a:t>: LPAREN expr RPAREN</a:t>
                      </a:r>
                      <a:br>
                        <a:rPr lang="en-US" sz="1400" dirty="0">
                          <a:latin typeface="Courier" pitchFamily="2" charset="0"/>
                        </a:rPr>
                      </a:br>
                      <a:r>
                        <a:rPr lang="en-US" sz="1400" dirty="0">
                          <a:latin typeface="Courier" pitchFamily="2" charset="0"/>
                        </a:rPr>
                        <a:t>| NUM</a:t>
                      </a:r>
                    </a:p>
                  </a:txBody>
                  <a:tcPr/>
                </a:tc>
                <a:extLst>
                  <a:ext uri="{0D108BD9-81ED-4DB2-BD59-A6C34878D82A}">
                    <a16:rowId xmlns:a16="http://schemas.microsoft.com/office/drawing/2014/main" val="3861644708"/>
                  </a:ext>
                </a:extLst>
              </a:tr>
            </a:tbl>
          </a:graphicData>
        </a:graphic>
      </p:graphicFrame>
      <p:sp>
        <p:nvSpPr>
          <p:cNvPr id="7" name="Down Arrow 6">
            <a:extLst>
              <a:ext uri="{FF2B5EF4-FFF2-40B4-BE49-F238E27FC236}">
                <a16:creationId xmlns:a16="http://schemas.microsoft.com/office/drawing/2014/main" id="{71D1710D-D0C7-1141-9E1A-8BB20BBA4101}"/>
              </a:ext>
            </a:extLst>
          </p:cNvPr>
          <p:cNvSpPr/>
          <p:nvPr/>
        </p:nvSpPr>
        <p:spPr>
          <a:xfrm>
            <a:off x="11664778" y="2014151"/>
            <a:ext cx="333633" cy="2145099"/>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A8F6C5A-303D-9F4B-ACBC-3800557D9C90}"/>
              </a:ext>
            </a:extLst>
          </p:cNvPr>
          <p:cNvSpPr txBox="1"/>
          <p:nvPr/>
        </p:nvSpPr>
        <p:spPr>
          <a:xfrm>
            <a:off x="9794666" y="1111825"/>
            <a:ext cx="2203745" cy="646331"/>
          </a:xfrm>
          <a:prstGeom prst="rect">
            <a:avLst/>
          </a:prstGeom>
          <a:noFill/>
        </p:spPr>
        <p:txBody>
          <a:bodyPr wrap="none" rtlCol="0">
            <a:spAutoFit/>
          </a:bodyPr>
          <a:lstStyle/>
          <a:p>
            <a:pPr algn="ctr"/>
            <a:r>
              <a:rPr lang="en-US" dirty="0"/>
              <a:t>Precedence</a:t>
            </a:r>
          </a:p>
          <a:p>
            <a:pPr algn="ctr"/>
            <a:r>
              <a:rPr lang="en-US" dirty="0"/>
              <a:t>increases going down</a:t>
            </a:r>
          </a:p>
        </p:txBody>
      </p:sp>
      <p:sp>
        <p:nvSpPr>
          <p:cNvPr id="11" name="Content Placeholder 2">
            <a:extLst>
              <a:ext uri="{FF2B5EF4-FFF2-40B4-BE49-F238E27FC236}">
                <a16:creationId xmlns:a16="http://schemas.microsoft.com/office/drawing/2014/main" id="{91126F44-3264-1345-A8E5-85FF2EEFEC64}"/>
              </a:ext>
            </a:extLst>
          </p:cNvPr>
          <p:cNvSpPr>
            <a:spLocks noGrp="1"/>
          </p:cNvSpPr>
          <p:nvPr>
            <p:ph idx="1"/>
          </p:nvPr>
        </p:nvSpPr>
        <p:spPr>
          <a:xfrm>
            <a:off x="838200" y="1825625"/>
            <a:ext cx="5846805" cy="4667250"/>
          </a:xfrm>
        </p:spPr>
        <p:txBody>
          <a:bodyPr>
            <a:normAutofit/>
          </a:bodyPr>
          <a:lstStyle/>
          <a:p>
            <a:r>
              <a:rPr lang="en-US" dirty="0"/>
              <a:t>new production rules</a:t>
            </a:r>
          </a:p>
          <a:p>
            <a:pPr lvl="1"/>
            <a:r>
              <a:rPr lang="en-US" dirty="0"/>
              <a:t>One non-terminal for each level of precedence</a:t>
            </a:r>
          </a:p>
          <a:p>
            <a:pPr lvl="1"/>
            <a:r>
              <a:rPr lang="en-US" dirty="0"/>
              <a:t>lowest precedence at the top</a:t>
            </a:r>
          </a:p>
          <a:p>
            <a:pPr lvl="1"/>
            <a:r>
              <a:rPr lang="en-US" dirty="0"/>
              <a:t>highest precedence at the bottom</a:t>
            </a:r>
          </a:p>
          <a:p>
            <a:pPr lvl="1"/>
            <a:endParaRPr lang="en-US" dirty="0"/>
          </a:p>
          <a:p>
            <a:r>
              <a:rPr lang="en-US" dirty="0"/>
              <a:t>How would we add power? ^</a:t>
            </a:r>
          </a:p>
        </p:txBody>
      </p:sp>
      <p:sp>
        <p:nvSpPr>
          <p:cNvPr id="3" name="TextBox 2">
            <a:extLst>
              <a:ext uri="{FF2B5EF4-FFF2-40B4-BE49-F238E27FC236}">
                <a16:creationId xmlns:a16="http://schemas.microsoft.com/office/drawing/2014/main" id="{57248A40-6737-1BC3-EE25-246275EF9D9F}"/>
              </a:ext>
            </a:extLst>
          </p:cNvPr>
          <p:cNvSpPr txBox="1"/>
          <p:nvPr/>
        </p:nvSpPr>
        <p:spPr>
          <a:xfrm>
            <a:off x="3480178" y="4899546"/>
            <a:ext cx="1965279" cy="368489"/>
          </a:xfrm>
          <a:prstGeom prst="rect">
            <a:avLst/>
          </a:prstGeom>
          <a:noFill/>
        </p:spPr>
        <p:txBody>
          <a:bodyPr wrap="square" rtlCol="0">
            <a:spAutoFit/>
          </a:bodyPr>
          <a:lstStyle/>
          <a:p>
            <a:r>
              <a:rPr lang="en-US" dirty="0"/>
              <a:t>See this: </a:t>
            </a:r>
            <a:r>
              <a:rPr lang="en-US" dirty="0">
                <a:hlinkClick r:id="rId2"/>
              </a:rPr>
              <a:t>See this</a:t>
            </a:r>
            <a:endParaRPr lang="en-US" dirty="0"/>
          </a:p>
        </p:txBody>
      </p:sp>
    </p:spTree>
    <p:extLst>
      <p:ext uri="{BB962C8B-B14F-4D97-AF65-F5344CB8AC3E}">
        <p14:creationId xmlns:p14="http://schemas.microsoft.com/office/powerpoint/2010/main" val="36218850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CCA8-183D-2444-997B-196A6C631C5C}"/>
              </a:ext>
            </a:extLst>
          </p:cNvPr>
          <p:cNvSpPr>
            <a:spLocks noGrp="1"/>
          </p:cNvSpPr>
          <p:nvPr>
            <p:ph type="title"/>
          </p:nvPr>
        </p:nvSpPr>
        <p:spPr/>
        <p:txBody>
          <a:bodyPr/>
          <a:lstStyle/>
          <a:p>
            <a:r>
              <a:rPr lang="en-US" dirty="0"/>
              <a:t>Quiz</a:t>
            </a:r>
          </a:p>
        </p:txBody>
      </p:sp>
      <p:pic>
        <p:nvPicPr>
          <p:cNvPr id="4" name="Picture 3">
            <a:extLst>
              <a:ext uri="{FF2B5EF4-FFF2-40B4-BE49-F238E27FC236}">
                <a16:creationId xmlns:a16="http://schemas.microsoft.com/office/drawing/2014/main" id="{05CA22F5-69E8-324B-AF79-37BC91BEAAC5}"/>
              </a:ext>
            </a:extLst>
          </p:cNvPr>
          <p:cNvPicPr>
            <a:picLocks noChangeAspect="1"/>
          </p:cNvPicPr>
          <p:nvPr/>
        </p:nvPicPr>
        <p:blipFill>
          <a:blip r:embed="rId2"/>
          <a:stretch>
            <a:fillRect/>
          </a:stretch>
        </p:blipFill>
        <p:spPr>
          <a:xfrm>
            <a:off x="1663700" y="2901950"/>
            <a:ext cx="8864600" cy="1054100"/>
          </a:xfrm>
          <a:prstGeom prst="rect">
            <a:avLst/>
          </a:prstGeom>
        </p:spPr>
      </p:pic>
    </p:spTree>
    <p:extLst>
      <p:ext uri="{BB962C8B-B14F-4D97-AF65-F5344CB8AC3E}">
        <p14:creationId xmlns:p14="http://schemas.microsoft.com/office/powerpoint/2010/main" val="5492855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8F8A8-4B56-B248-BA83-82BDA8A43ACC}"/>
              </a:ext>
            </a:extLst>
          </p:cNvPr>
          <p:cNvSpPr>
            <a:spLocks noGrp="1"/>
          </p:cNvSpPr>
          <p:nvPr>
            <p:ph type="title"/>
          </p:nvPr>
        </p:nvSpPr>
        <p:spPr/>
        <p:txBody>
          <a:bodyPr/>
          <a:lstStyle/>
          <a:p>
            <a:r>
              <a:rPr lang="en-US" dirty="0"/>
              <a:t>Ambiguous grammars</a:t>
            </a:r>
          </a:p>
        </p:txBody>
      </p:sp>
      <p:sp>
        <p:nvSpPr>
          <p:cNvPr id="3" name="Content Placeholder 2">
            <a:extLst>
              <a:ext uri="{FF2B5EF4-FFF2-40B4-BE49-F238E27FC236}">
                <a16:creationId xmlns:a16="http://schemas.microsoft.com/office/drawing/2014/main" id="{C83A8A75-0947-5349-B74C-1E1CFC55DF6B}"/>
              </a:ext>
            </a:extLst>
          </p:cNvPr>
          <p:cNvSpPr>
            <a:spLocks noGrp="1"/>
          </p:cNvSpPr>
          <p:nvPr>
            <p:ph idx="1"/>
          </p:nvPr>
        </p:nvSpPr>
        <p:spPr/>
        <p:txBody>
          <a:bodyPr/>
          <a:lstStyle/>
          <a:p>
            <a:r>
              <a:rPr lang="en-US" dirty="0">
                <a:latin typeface="Courier" pitchFamily="2" charset="0"/>
              </a:rPr>
              <a:t>input: 1 + 5 * 6</a:t>
            </a:r>
          </a:p>
        </p:txBody>
      </p:sp>
      <p:sp>
        <p:nvSpPr>
          <p:cNvPr id="13" name="TextBox 12">
            <a:extLst>
              <a:ext uri="{FF2B5EF4-FFF2-40B4-BE49-F238E27FC236}">
                <a16:creationId xmlns:a16="http://schemas.microsoft.com/office/drawing/2014/main" id="{CDA68BBF-72D1-C942-A23C-05D446E914FE}"/>
              </a:ext>
            </a:extLst>
          </p:cNvPr>
          <p:cNvSpPr txBox="1"/>
          <p:nvPr/>
        </p:nvSpPr>
        <p:spPr>
          <a:xfrm>
            <a:off x="3239948" y="3734106"/>
            <a:ext cx="597984" cy="369332"/>
          </a:xfrm>
          <a:prstGeom prst="rect">
            <a:avLst/>
          </a:prstGeom>
          <a:noFill/>
        </p:spPr>
        <p:txBody>
          <a:bodyPr wrap="none" rtlCol="0">
            <a:spAutoFit/>
          </a:bodyPr>
          <a:lstStyle/>
          <a:p>
            <a:r>
              <a:rPr lang="en-US" dirty="0"/>
              <a:t>expr</a:t>
            </a:r>
          </a:p>
        </p:txBody>
      </p:sp>
      <p:cxnSp>
        <p:nvCxnSpPr>
          <p:cNvPr id="14" name="Straight Connector 13">
            <a:extLst>
              <a:ext uri="{FF2B5EF4-FFF2-40B4-BE49-F238E27FC236}">
                <a16:creationId xmlns:a16="http://schemas.microsoft.com/office/drawing/2014/main" id="{EA361AA3-995B-B14B-B160-8FB9C9CD4818}"/>
              </a:ext>
            </a:extLst>
          </p:cNvPr>
          <p:cNvCxnSpPr>
            <a:cxnSpLocks/>
            <a:endCxn id="15" idx="0"/>
          </p:cNvCxnSpPr>
          <p:nvPr/>
        </p:nvCxnSpPr>
        <p:spPr>
          <a:xfrm flipH="1">
            <a:off x="2274749" y="4181664"/>
            <a:ext cx="1224374" cy="458418"/>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5634B6E4-6F20-344D-8519-C401DEC7D86C}"/>
              </a:ext>
            </a:extLst>
          </p:cNvPr>
          <p:cNvSpPr txBox="1"/>
          <p:nvPr/>
        </p:nvSpPr>
        <p:spPr>
          <a:xfrm>
            <a:off x="1975757" y="4640082"/>
            <a:ext cx="597984" cy="369332"/>
          </a:xfrm>
          <a:prstGeom prst="rect">
            <a:avLst/>
          </a:prstGeom>
          <a:noFill/>
        </p:spPr>
        <p:txBody>
          <a:bodyPr wrap="none" rtlCol="0">
            <a:spAutoFit/>
          </a:bodyPr>
          <a:lstStyle/>
          <a:p>
            <a:r>
              <a:rPr lang="en-US" dirty="0"/>
              <a:t>expr</a:t>
            </a:r>
          </a:p>
        </p:txBody>
      </p:sp>
      <p:cxnSp>
        <p:nvCxnSpPr>
          <p:cNvPr id="16" name="Straight Connector 15">
            <a:extLst>
              <a:ext uri="{FF2B5EF4-FFF2-40B4-BE49-F238E27FC236}">
                <a16:creationId xmlns:a16="http://schemas.microsoft.com/office/drawing/2014/main" id="{BFCC53EA-3A7E-2A46-B638-61EFD0987A47}"/>
              </a:ext>
            </a:extLst>
          </p:cNvPr>
          <p:cNvCxnSpPr>
            <a:cxnSpLocks/>
          </p:cNvCxnSpPr>
          <p:nvPr/>
        </p:nvCxnSpPr>
        <p:spPr>
          <a:xfrm>
            <a:off x="3499122" y="4181664"/>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BDDCCB52-A633-524E-9223-25CDAEBEDDC8}"/>
              </a:ext>
            </a:extLst>
          </p:cNvPr>
          <p:cNvCxnSpPr>
            <a:cxnSpLocks/>
            <a:endCxn id="19" idx="0"/>
          </p:cNvCxnSpPr>
          <p:nvPr/>
        </p:nvCxnSpPr>
        <p:spPr>
          <a:xfrm>
            <a:off x="3499122" y="4181664"/>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432D1699-947E-FB40-84D8-4DC970ADF2C2}"/>
              </a:ext>
            </a:extLst>
          </p:cNvPr>
          <p:cNvSpPr txBox="1"/>
          <p:nvPr/>
        </p:nvSpPr>
        <p:spPr>
          <a:xfrm>
            <a:off x="2999947" y="4690690"/>
            <a:ext cx="998350" cy="369332"/>
          </a:xfrm>
          <a:prstGeom prst="rect">
            <a:avLst/>
          </a:prstGeom>
          <a:noFill/>
        </p:spPr>
        <p:txBody>
          <a:bodyPr wrap="none" rtlCol="0">
            <a:spAutoFit/>
          </a:bodyPr>
          <a:lstStyle/>
          <a:p>
            <a:r>
              <a:rPr lang="en-US" dirty="0"/>
              <a:t>&lt;TIMES&gt;</a:t>
            </a:r>
          </a:p>
        </p:txBody>
      </p:sp>
      <p:sp>
        <p:nvSpPr>
          <p:cNvPr id="19" name="TextBox 18">
            <a:extLst>
              <a:ext uri="{FF2B5EF4-FFF2-40B4-BE49-F238E27FC236}">
                <a16:creationId xmlns:a16="http://schemas.microsoft.com/office/drawing/2014/main" id="{C463DEE2-6482-4145-9E0E-CEAC819F69A4}"/>
              </a:ext>
            </a:extLst>
          </p:cNvPr>
          <p:cNvSpPr txBox="1"/>
          <p:nvPr/>
        </p:nvSpPr>
        <p:spPr>
          <a:xfrm>
            <a:off x="4297289" y="4640082"/>
            <a:ext cx="597984" cy="369332"/>
          </a:xfrm>
          <a:prstGeom prst="rect">
            <a:avLst/>
          </a:prstGeom>
          <a:noFill/>
        </p:spPr>
        <p:txBody>
          <a:bodyPr wrap="none" rtlCol="0">
            <a:spAutoFit/>
          </a:bodyPr>
          <a:lstStyle/>
          <a:p>
            <a:r>
              <a:rPr lang="en-US" dirty="0"/>
              <a:t>expr</a:t>
            </a:r>
          </a:p>
        </p:txBody>
      </p:sp>
      <p:sp>
        <p:nvSpPr>
          <p:cNvPr id="20" name="TextBox 19">
            <a:extLst>
              <a:ext uri="{FF2B5EF4-FFF2-40B4-BE49-F238E27FC236}">
                <a16:creationId xmlns:a16="http://schemas.microsoft.com/office/drawing/2014/main" id="{75333C5C-5116-CF4E-BDE4-041EE8B68947}"/>
              </a:ext>
            </a:extLst>
          </p:cNvPr>
          <p:cNvSpPr txBox="1"/>
          <p:nvPr/>
        </p:nvSpPr>
        <p:spPr>
          <a:xfrm>
            <a:off x="4027856" y="5467832"/>
            <a:ext cx="1136850" cy="369332"/>
          </a:xfrm>
          <a:prstGeom prst="rect">
            <a:avLst/>
          </a:prstGeom>
          <a:noFill/>
        </p:spPr>
        <p:txBody>
          <a:bodyPr wrap="none" rtlCol="0">
            <a:spAutoFit/>
          </a:bodyPr>
          <a:lstStyle/>
          <a:p>
            <a:r>
              <a:rPr lang="en-US" dirty="0"/>
              <a:t>&lt;NUM, 6&gt;</a:t>
            </a:r>
          </a:p>
        </p:txBody>
      </p:sp>
      <p:cxnSp>
        <p:nvCxnSpPr>
          <p:cNvPr id="21" name="Straight Connector 20">
            <a:extLst>
              <a:ext uri="{FF2B5EF4-FFF2-40B4-BE49-F238E27FC236}">
                <a16:creationId xmlns:a16="http://schemas.microsoft.com/office/drawing/2014/main" id="{2BC49E33-FEA7-474C-B5FD-65D9B2D17F0C}"/>
              </a:ext>
            </a:extLst>
          </p:cNvPr>
          <p:cNvCxnSpPr>
            <a:cxnSpLocks/>
          </p:cNvCxnSpPr>
          <p:nvPr/>
        </p:nvCxnSpPr>
        <p:spPr>
          <a:xfrm>
            <a:off x="4576436" y="4999423"/>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61096E1A-92E3-F543-AE82-F83E64D4767A}"/>
              </a:ext>
            </a:extLst>
          </p:cNvPr>
          <p:cNvCxnSpPr>
            <a:cxnSpLocks/>
          </p:cNvCxnSpPr>
          <p:nvPr/>
        </p:nvCxnSpPr>
        <p:spPr>
          <a:xfrm flipH="1">
            <a:off x="1003968" y="4999423"/>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4F80C731-C2B1-F147-AD80-21AE50F180C9}"/>
              </a:ext>
            </a:extLst>
          </p:cNvPr>
          <p:cNvCxnSpPr>
            <a:cxnSpLocks/>
          </p:cNvCxnSpPr>
          <p:nvPr/>
        </p:nvCxnSpPr>
        <p:spPr>
          <a:xfrm>
            <a:off x="2228341" y="4999423"/>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37EEBFB7-B649-8C45-A4D9-A6A3E2716E8B}"/>
              </a:ext>
            </a:extLst>
          </p:cNvPr>
          <p:cNvCxnSpPr>
            <a:cxnSpLocks/>
          </p:cNvCxnSpPr>
          <p:nvPr/>
        </p:nvCxnSpPr>
        <p:spPr>
          <a:xfrm>
            <a:off x="2228341" y="4999423"/>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B8B0E84E-AA23-3741-8FC6-5967FD361D8D}"/>
              </a:ext>
            </a:extLst>
          </p:cNvPr>
          <p:cNvSpPr txBox="1"/>
          <p:nvPr/>
        </p:nvSpPr>
        <p:spPr>
          <a:xfrm>
            <a:off x="1770768" y="5466525"/>
            <a:ext cx="880241" cy="369332"/>
          </a:xfrm>
          <a:prstGeom prst="rect">
            <a:avLst/>
          </a:prstGeom>
          <a:noFill/>
        </p:spPr>
        <p:txBody>
          <a:bodyPr wrap="none" rtlCol="0">
            <a:spAutoFit/>
          </a:bodyPr>
          <a:lstStyle/>
          <a:p>
            <a:r>
              <a:rPr lang="en-US" dirty="0"/>
              <a:t>&lt;PLUS&gt;</a:t>
            </a:r>
          </a:p>
        </p:txBody>
      </p:sp>
      <p:sp>
        <p:nvSpPr>
          <p:cNvPr id="26" name="TextBox 25">
            <a:extLst>
              <a:ext uri="{FF2B5EF4-FFF2-40B4-BE49-F238E27FC236}">
                <a16:creationId xmlns:a16="http://schemas.microsoft.com/office/drawing/2014/main" id="{74FA4E57-3800-9A41-84C1-3487CFE1B43B}"/>
              </a:ext>
            </a:extLst>
          </p:cNvPr>
          <p:cNvSpPr txBox="1"/>
          <p:nvPr/>
        </p:nvSpPr>
        <p:spPr>
          <a:xfrm>
            <a:off x="704976" y="5435132"/>
            <a:ext cx="597984" cy="369332"/>
          </a:xfrm>
          <a:prstGeom prst="rect">
            <a:avLst/>
          </a:prstGeom>
          <a:noFill/>
        </p:spPr>
        <p:txBody>
          <a:bodyPr wrap="none" rtlCol="0">
            <a:spAutoFit/>
          </a:bodyPr>
          <a:lstStyle/>
          <a:p>
            <a:r>
              <a:rPr lang="en-US" dirty="0"/>
              <a:t>expr</a:t>
            </a:r>
          </a:p>
        </p:txBody>
      </p:sp>
      <p:sp>
        <p:nvSpPr>
          <p:cNvPr id="27" name="TextBox 26">
            <a:extLst>
              <a:ext uri="{FF2B5EF4-FFF2-40B4-BE49-F238E27FC236}">
                <a16:creationId xmlns:a16="http://schemas.microsoft.com/office/drawing/2014/main" id="{A0D426D8-C447-C642-859D-706A726FD75F}"/>
              </a:ext>
            </a:extLst>
          </p:cNvPr>
          <p:cNvSpPr txBox="1"/>
          <p:nvPr/>
        </p:nvSpPr>
        <p:spPr>
          <a:xfrm>
            <a:off x="3026508" y="5435132"/>
            <a:ext cx="597984" cy="369332"/>
          </a:xfrm>
          <a:prstGeom prst="rect">
            <a:avLst/>
          </a:prstGeom>
          <a:noFill/>
        </p:spPr>
        <p:txBody>
          <a:bodyPr wrap="none" rtlCol="0">
            <a:spAutoFit/>
          </a:bodyPr>
          <a:lstStyle/>
          <a:p>
            <a:r>
              <a:rPr lang="en-US" dirty="0"/>
              <a:t>expr</a:t>
            </a:r>
          </a:p>
        </p:txBody>
      </p:sp>
      <p:sp>
        <p:nvSpPr>
          <p:cNvPr id="28" name="TextBox 27">
            <a:extLst>
              <a:ext uri="{FF2B5EF4-FFF2-40B4-BE49-F238E27FC236}">
                <a16:creationId xmlns:a16="http://schemas.microsoft.com/office/drawing/2014/main" id="{CCE33E75-44A2-F64D-B68D-8F3B337FC012}"/>
              </a:ext>
            </a:extLst>
          </p:cNvPr>
          <p:cNvSpPr txBox="1"/>
          <p:nvPr/>
        </p:nvSpPr>
        <p:spPr>
          <a:xfrm>
            <a:off x="2757075" y="5911018"/>
            <a:ext cx="1136850" cy="369332"/>
          </a:xfrm>
          <a:prstGeom prst="rect">
            <a:avLst/>
          </a:prstGeom>
          <a:noFill/>
        </p:spPr>
        <p:txBody>
          <a:bodyPr wrap="none" rtlCol="0">
            <a:spAutoFit/>
          </a:bodyPr>
          <a:lstStyle/>
          <a:p>
            <a:r>
              <a:rPr lang="en-US" dirty="0"/>
              <a:t>&lt;NUM, 5&gt;</a:t>
            </a:r>
          </a:p>
        </p:txBody>
      </p:sp>
      <p:sp>
        <p:nvSpPr>
          <p:cNvPr id="29" name="TextBox 28">
            <a:extLst>
              <a:ext uri="{FF2B5EF4-FFF2-40B4-BE49-F238E27FC236}">
                <a16:creationId xmlns:a16="http://schemas.microsoft.com/office/drawing/2014/main" id="{4071E864-22B5-094C-801E-86FEE9D9E25D}"/>
              </a:ext>
            </a:extLst>
          </p:cNvPr>
          <p:cNvSpPr txBox="1"/>
          <p:nvPr/>
        </p:nvSpPr>
        <p:spPr>
          <a:xfrm>
            <a:off x="435543" y="5942568"/>
            <a:ext cx="1136850" cy="369332"/>
          </a:xfrm>
          <a:prstGeom prst="rect">
            <a:avLst/>
          </a:prstGeom>
          <a:noFill/>
        </p:spPr>
        <p:txBody>
          <a:bodyPr wrap="none" rtlCol="0">
            <a:spAutoFit/>
          </a:bodyPr>
          <a:lstStyle/>
          <a:p>
            <a:r>
              <a:rPr lang="en-US" dirty="0"/>
              <a:t>&lt;NUM, 1&gt;</a:t>
            </a:r>
          </a:p>
        </p:txBody>
      </p:sp>
      <p:cxnSp>
        <p:nvCxnSpPr>
          <p:cNvPr id="30" name="Straight Connector 29">
            <a:extLst>
              <a:ext uri="{FF2B5EF4-FFF2-40B4-BE49-F238E27FC236}">
                <a16:creationId xmlns:a16="http://schemas.microsoft.com/office/drawing/2014/main" id="{C5B64D96-7DBD-DB40-853F-60DB16DAE97F}"/>
              </a:ext>
            </a:extLst>
          </p:cNvPr>
          <p:cNvCxnSpPr>
            <a:cxnSpLocks/>
            <a:stCxn id="26" idx="2"/>
            <a:endCxn id="29" idx="0"/>
          </p:cNvCxnSpPr>
          <p:nvPr/>
        </p:nvCxnSpPr>
        <p:spPr>
          <a:xfrm>
            <a:off x="1003968" y="5804464"/>
            <a:ext cx="0" cy="138104"/>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2481D737-746B-4740-9924-08AC9DFCD0E8}"/>
              </a:ext>
            </a:extLst>
          </p:cNvPr>
          <p:cNvCxnSpPr>
            <a:cxnSpLocks/>
            <a:stCxn id="27" idx="2"/>
            <a:endCxn id="28" idx="0"/>
          </p:cNvCxnSpPr>
          <p:nvPr/>
        </p:nvCxnSpPr>
        <p:spPr>
          <a:xfrm>
            <a:off x="3325500" y="5804464"/>
            <a:ext cx="0" cy="106554"/>
          </a:xfrm>
          <a:prstGeom prst="line">
            <a:avLst/>
          </a:prstGeom>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4894651D-BDAA-CB4B-847E-27CA6C8D57A2}"/>
              </a:ext>
            </a:extLst>
          </p:cNvPr>
          <p:cNvSpPr txBox="1"/>
          <p:nvPr/>
        </p:nvSpPr>
        <p:spPr>
          <a:xfrm>
            <a:off x="8721899" y="3599169"/>
            <a:ext cx="597984" cy="369332"/>
          </a:xfrm>
          <a:prstGeom prst="rect">
            <a:avLst/>
          </a:prstGeom>
          <a:noFill/>
        </p:spPr>
        <p:txBody>
          <a:bodyPr wrap="none" rtlCol="0">
            <a:spAutoFit/>
          </a:bodyPr>
          <a:lstStyle/>
          <a:p>
            <a:r>
              <a:rPr lang="en-US" dirty="0"/>
              <a:t>expr</a:t>
            </a:r>
          </a:p>
        </p:txBody>
      </p:sp>
      <p:cxnSp>
        <p:nvCxnSpPr>
          <p:cNvPr id="33" name="Straight Connector 32">
            <a:extLst>
              <a:ext uri="{FF2B5EF4-FFF2-40B4-BE49-F238E27FC236}">
                <a16:creationId xmlns:a16="http://schemas.microsoft.com/office/drawing/2014/main" id="{0494AE38-347B-FB45-92D2-C20562A30599}"/>
              </a:ext>
            </a:extLst>
          </p:cNvPr>
          <p:cNvCxnSpPr>
            <a:cxnSpLocks/>
            <a:endCxn id="34" idx="0"/>
          </p:cNvCxnSpPr>
          <p:nvPr/>
        </p:nvCxnSpPr>
        <p:spPr>
          <a:xfrm flipH="1">
            <a:off x="7756700" y="4046727"/>
            <a:ext cx="1224374" cy="458418"/>
          </a:xfrm>
          <a:prstGeom prst="line">
            <a:avLst/>
          </a:prstGeom>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ABC0C00E-B3EC-D44C-A76B-1E2281292A5C}"/>
              </a:ext>
            </a:extLst>
          </p:cNvPr>
          <p:cNvSpPr txBox="1"/>
          <p:nvPr/>
        </p:nvSpPr>
        <p:spPr>
          <a:xfrm>
            <a:off x="7457708" y="4505145"/>
            <a:ext cx="597984" cy="369332"/>
          </a:xfrm>
          <a:prstGeom prst="rect">
            <a:avLst/>
          </a:prstGeom>
          <a:noFill/>
        </p:spPr>
        <p:txBody>
          <a:bodyPr wrap="none" rtlCol="0">
            <a:spAutoFit/>
          </a:bodyPr>
          <a:lstStyle/>
          <a:p>
            <a:r>
              <a:rPr lang="en-US" dirty="0"/>
              <a:t>expr</a:t>
            </a:r>
          </a:p>
        </p:txBody>
      </p:sp>
      <p:cxnSp>
        <p:nvCxnSpPr>
          <p:cNvPr id="35" name="Straight Connector 34">
            <a:extLst>
              <a:ext uri="{FF2B5EF4-FFF2-40B4-BE49-F238E27FC236}">
                <a16:creationId xmlns:a16="http://schemas.microsoft.com/office/drawing/2014/main" id="{7A24C63B-4728-FB4C-AD69-94E0B527A793}"/>
              </a:ext>
            </a:extLst>
          </p:cNvPr>
          <p:cNvCxnSpPr>
            <a:cxnSpLocks/>
          </p:cNvCxnSpPr>
          <p:nvPr/>
        </p:nvCxnSpPr>
        <p:spPr>
          <a:xfrm>
            <a:off x="8981073" y="4046727"/>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98A82912-235D-F149-9061-EEEB5FE782B2}"/>
              </a:ext>
            </a:extLst>
          </p:cNvPr>
          <p:cNvCxnSpPr>
            <a:cxnSpLocks/>
            <a:endCxn id="38" idx="0"/>
          </p:cNvCxnSpPr>
          <p:nvPr/>
        </p:nvCxnSpPr>
        <p:spPr>
          <a:xfrm>
            <a:off x="8981073" y="4046727"/>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FE4D3550-2066-7047-99CC-6E633FF20E96}"/>
              </a:ext>
            </a:extLst>
          </p:cNvPr>
          <p:cNvSpPr txBox="1"/>
          <p:nvPr/>
        </p:nvSpPr>
        <p:spPr>
          <a:xfrm>
            <a:off x="8481898" y="4555753"/>
            <a:ext cx="880241" cy="369332"/>
          </a:xfrm>
          <a:prstGeom prst="rect">
            <a:avLst/>
          </a:prstGeom>
          <a:noFill/>
        </p:spPr>
        <p:txBody>
          <a:bodyPr wrap="none" rtlCol="0">
            <a:spAutoFit/>
          </a:bodyPr>
          <a:lstStyle/>
          <a:p>
            <a:r>
              <a:rPr lang="en-US" dirty="0"/>
              <a:t>&lt;PLUS&gt;</a:t>
            </a:r>
          </a:p>
        </p:txBody>
      </p:sp>
      <p:sp>
        <p:nvSpPr>
          <p:cNvPr id="38" name="TextBox 37">
            <a:extLst>
              <a:ext uri="{FF2B5EF4-FFF2-40B4-BE49-F238E27FC236}">
                <a16:creationId xmlns:a16="http://schemas.microsoft.com/office/drawing/2014/main" id="{831363E2-B1B9-7345-A762-D88FF62FDAF4}"/>
              </a:ext>
            </a:extLst>
          </p:cNvPr>
          <p:cNvSpPr txBox="1"/>
          <p:nvPr/>
        </p:nvSpPr>
        <p:spPr>
          <a:xfrm>
            <a:off x="9779240" y="4505145"/>
            <a:ext cx="597984" cy="369332"/>
          </a:xfrm>
          <a:prstGeom prst="rect">
            <a:avLst/>
          </a:prstGeom>
          <a:noFill/>
        </p:spPr>
        <p:txBody>
          <a:bodyPr wrap="none" rtlCol="0">
            <a:spAutoFit/>
          </a:bodyPr>
          <a:lstStyle/>
          <a:p>
            <a:r>
              <a:rPr lang="en-US" dirty="0"/>
              <a:t>expr</a:t>
            </a:r>
          </a:p>
        </p:txBody>
      </p:sp>
      <p:sp>
        <p:nvSpPr>
          <p:cNvPr id="39" name="TextBox 38">
            <a:extLst>
              <a:ext uri="{FF2B5EF4-FFF2-40B4-BE49-F238E27FC236}">
                <a16:creationId xmlns:a16="http://schemas.microsoft.com/office/drawing/2014/main" id="{5C73533F-3FC1-9647-B18D-C47D25947ABF}"/>
              </a:ext>
            </a:extLst>
          </p:cNvPr>
          <p:cNvSpPr txBox="1"/>
          <p:nvPr/>
        </p:nvSpPr>
        <p:spPr>
          <a:xfrm>
            <a:off x="7172331" y="5312439"/>
            <a:ext cx="1136850" cy="369332"/>
          </a:xfrm>
          <a:prstGeom prst="rect">
            <a:avLst/>
          </a:prstGeom>
          <a:noFill/>
        </p:spPr>
        <p:txBody>
          <a:bodyPr wrap="none" rtlCol="0">
            <a:spAutoFit/>
          </a:bodyPr>
          <a:lstStyle/>
          <a:p>
            <a:r>
              <a:rPr lang="en-US" dirty="0"/>
              <a:t>&lt;NUM, 1&gt;</a:t>
            </a:r>
          </a:p>
        </p:txBody>
      </p:sp>
      <p:cxnSp>
        <p:nvCxnSpPr>
          <p:cNvPr id="40" name="Straight Connector 39">
            <a:extLst>
              <a:ext uri="{FF2B5EF4-FFF2-40B4-BE49-F238E27FC236}">
                <a16:creationId xmlns:a16="http://schemas.microsoft.com/office/drawing/2014/main" id="{802888FB-F383-E14B-B6AF-E22F4852C47A}"/>
              </a:ext>
            </a:extLst>
          </p:cNvPr>
          <p:cNvCxnSpPr>
            <a:cxnSpLocks/>
          </p:cNvCxnSpPr>
          <p:nvPr/>
        </p:nvCxnSpPr>
        <p:spPr>
          <a:xfrm>
            <a:off x="7720911" y="4844030"/>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A494428-D263-504F-A0F0-396F28368D6D}"/>
              </a:ext>
            </a:extLst>
          </p:cNvPr>
          <p:cNvCxnSpPr>
            <a:cxnSpLocks/>
          </p:cNvCxnSpPr>
          <p:nvPr/>
        </p:nvCxnSpPr>
        <p:spPr>
          <a:xfrm flipH="1">
            <a:off x="8886498" y="4905611"/>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9DB3F067-A772-4F4E-AB9F-1EA2B87917CB}"/>
              </a:ext>
            </a:extLst>
          </p:cNvPr>
          <p:cNvCxnSpPr>
            <a:cxnSpLocks/>
          </p:cNvCxnSpPr>
          <p:nvPr/>
        </p:nvCxnSpPr>
        <p:spPr>
          <a:xfrm>
            <a:off x="10110871" y="4905611"/>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0AB66872-BB31-3641-A31A-0D0F5553F07F}"/>
              </a:ext>
            </a:extLst>
          </p:cNvPr>
          <p:cNvCxnSpPr>
            <a:cxnSpLocks/>
          </p:cNvCxnSpPr>
          <p:nvPr/>
        </p:nvCxnSpPr>
        <p:spPr>
          <a:xfrm>
            <a:off x="10110871" y="4905611"/>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44" name="TextBox 43">
            <a:extLst>
              <a:ext uri="{FF2B5EF4-FFF2-40B4-BE49-F238E27FC236}">
                <a16:creationId xmlns:a16="http://schemas.microsoft.com/office/drawing/2014/main" id="{891AEAF9-1508-724D-B536-FF3D64495E94}"/>
              </a:ext>
            </a:extLst>
          </p:cNvPr>
          <p:cNvSpPr txBox="1"/>
          <p:nvPr/>
        </p:nvSpPr>
        <p:spPr>
          <a:xfrm>
            <a:off x="9653298" y="5372713"/>
            <a:ext cx="998350" cy="369332"/>
          </a:xfrm>
          <a:prstGeom prst="rect">
            <a:avLst/>
          </a:prstGeom>
          <a:noFill/>
        </p:spPr>
        <p:txBody>
          <a:bodyPr wrap="none" rtlCol="0">
            <a:spAutoFit/>
          </a:bodyPr>
          <a:lstStyle/>
          <a:p>
            <a:r>
              <a:rPr lang="en-US" dirty="0"/>
              <a:t>&lt;TIMES&gt;</a:t>
            </a:r>
          </a:p>
        </p:txBody>
      </p:sp>
      <p:sp>
        <p:nvSpPr>
          <p:cNvPr id="45" name="TextBox 44">
            <a:extLst>
              <a:ext uri="{FF2B5EF4-FFF2-40B4-BE49-F238E27FC236}">
                <a16:creationId xmlns:a16="http://schemas.microsoft.com/office/drawing/2014/main" id="{3E0DF7F4-EFC0-A741-A375-A31613EF51FA}"/>
              </a:ext>
            </a:extLst>
          </p:cNvPr>
          <p:cNvSpPr txBox="1"/>
          <p:nvPr/>
        </p:nvSpPr>
        <p:spPr>
          <a:xfrm>
            <a:off x="8587506" y="5341320"/>
            <a:ext cx="597984" cy="369332"/>
          </a:xfrm>
          <a:prstGeom prst="rect">
            <a:avLst/>
          </a:prstGeom>
          <a:noFill/>
        </p:spPr>
        <p:txBody>
          <a:bodyPr wrap="none" rtlCol="0">
            <a:spAutoFit/>
          </a:bodyPr>
          <a:lstStyle/>
          <a:p>
            <a:r>
              <a:rPr lang="en-US" dirty="0"/>
              <a:t>expr</a:t>
            </a:r>
          </a:p>
        </p:txBody>
      </p:sp>
      <p:sp>
        <p:nvSpPr>
          <p:cNvPr id="46" name="TextBox 45">
            <a:extLst>
              <a:ext uri="{FF2B5EF4-FFF2-40B4-BE49-F238E27FC236}">
                <a16:creationId xmlns:a16="http://schemas.microsoft.com/office/drawing/2014/main" id="{6CA120C3-2BA8-9B47-9904-9EF7C76454E4}"/>
              </a:ext>
            </a:extLst>
          </p:cNvPr>
          <p:cNvSpPr txBox="1"/>
          <p:nvPr/>
        </p:nvSpPr>
        <p:spPr>
          <a:xfrm>
            <a:off x="10909038" y="5341320"/>
            <a:ext cx="597984" cy="369332"/>
          </a:xfrm>
          <a:prstGeom prst="rect">
            <a:avLst/>
          </a:prstGeom>
          <a:noFill/>
        </p:spPr>
        <p:txBody>
          <a:bodyPr wrap="none" rtlCol="0">
            <a:spAutoFit/>
          </a:bodyPr>
          <a:lstStyle/>
          <a:p>
            <a:r>
              <a:rPr lang="en-US" dirty="0"/>
              <a:t>expr</a:t>
            </a:r>
          </a:p>
        </p:txBody>
      </p:sp>
      <p:sp>
        <p:nvSpPr>
          <p:cNvPr id="47" name="TextBox 46">
            <a:extLst>
              <a:ext uri="{FF2B5EF4-FFF2-40B4-BE49-F238E27FC236}">
                <a16:creationId xmlns:a16="http://schemas.microsoft.com/office/drawing/2014/main" id="{770EA284-20CC-A440-8849-20319D64DFFE}"/>
              </a:ext>
            </a:extLst>
          </p:cNvPr>
          <p:cNvSpPr txBox="1"/>
          <p:nvPr/>
        </p:nvSpPr>
        <p:spPr>
          <a:xfrm>
            <a:off x="10639605" y="5817206"/>
            <a:ext cx="1136850" cy="369332"/>
          </a:xfrm>
          <a:prstGeom prst="rect">
            <a:avLst/>
          </a:prstGeom>
          <a:noFill/>
        </p:spPr>
        <p:txBody>
          <a:bodyPr wrap="none" rtlCol="0">
            <a:spAutoFit/>
          </a:bodyPr>
          <a:lstStyle/>
          <a:p>
            <a:r>
              <a:rPr lang="en-US" dirty="0"/>
              <a:t>&lt;NUM, 6&gt;</a:t>
            </a:r>
          </a:p>
        </p:txBody>
      </p:sp>
      <p:sp>
        <p:nvSpPr>
          <p:cNvPr id="48" name="TextBox 47">
            <a:extLst>
              <a:ext uri="{FF2B5EF4-FFF2-40B4-BE49-F238E27FC236}">
                <a16:creationId xmlns:a16="http://schemas.microsoft.com/office/drawing/2014/main" id="{E585D842-98AA-1C4A-AD3A-2E68F087D105}"/>
              </a:ext>
            </a:extLst>
          </p:cNvPr>
          <p:cNvSpPr txBox="1"/>
          <p:nvPr/>
        </p:nvSpPr>
        <p:spPr>
          <a:xfrm>
            <a:off x="8318073" y="5848756"/>
            <a:ext cx="1136850" cy="369332"/>
          </a:xfrm>
          <a:prstGeom prst="rect">
            <a:avLst/>
          </a:prstGeom>
          <a:noFill/>
        </p:spPr>
        <p:txBody>
          <a:bodyPr wrap="none" rtlCol="0">
            <a:spAutoFit/>
          </a:bodyPr>
          <a:lstStyle/>
          <a:p>
            <a:r>
              <a:rPr lang="en-US" dirty="0"/>
              <a:t>&lt;NUM, 5&gt;</a:t>
            </a:r>
          </a:p>
        </p:txBody>
      </p:sp>
      <p:cxnSp>
        <p:nvCxnSpPr>
          <p:cNvPr id="49" name="Straight Connector 48">
            <a:extLst>
              <a:ext uri="{FF2B5EF4-FFF2-40B4-BE49-F238E27FC236}">
                <a16:creationId xmlns:a16="http://schemas.microsoft.com/office/drawing/2014/main" id="{A31409B5-1B0D-2849-A0BB-B1505DF341B5}"/>
              </a:ext>
            </a:extLst>
          </p:cNvPr>
          <p:cNvCxnSpPr>
            <a:cxnSpLocks/>
            <a:stCxn id="45" idx="2"/>
            <a:endCxn id="48" idx="0"/>
          </p:cNvCxnSpPr>
          <p:nvPr/>
        </p:nvCxnSpPr>
        <p:spPr>
          <a:xfrm>
            <a:off x="8886498" y="5710652"/>
            <a:ext cx="0" cy="138104"/>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59F327D7-B2FB-E745-B67B-655E6B1E466F}"/>
              </a:ext>
            </a:extLst>
          </p:cNvPr>
          <p:cNvCxnSpPr>
            <a:cxnSpLocks/>
            <a:stCxn id="46" idx="2"/>
            <a:endCxn id="47" idx="0"/>
          </p:cNvCxnSpPr>
          <p:nvPr/>
        </p:nvCxnSpPr>
        <p:spPr>
          <a:xfrm>
            <a:off x="11208030" y="5710652"/>
            <a:ext cx="0" cy="106554"/>
          </a:xfrm>
          <a:prstGeom prst="line">
            <a:avLst/>
          </a:prstGeom>
        </p:spPr>
        <p:style>
          <a:lnRef idx="1">
            <a:schemeClr val="dk1"/>
          </a:lnRef>
          <a:fillRef idx="0">
            <a:schemeClr val="dk1"/>
          </a:fillRef>
          <a:effectRef idx="0">
            <a:schemeClr val="dk1"/>
          </a:effectRef>
          <a:fontRef idx="minor">
            <a:schemeClr val="tx1"/>
          </a:fontRef>
        </p:style>
      </p:cxnSp>
      <p:sp>
        <p:nvSpPr>
          <p:cNvPr id="53" name="Content Placeholder 2">
            <a:extLst>
              <a:ext uri="{FF2B5EF4-FFF2-40B4-BE49-F238E27FC236}">
                <a16:creationId xmlns:a16="http://schemas.microsoft.com/office/drawing/2014/main" id="{EFBBB9C6-D6F4-834B-A4E7-0BEF5ADBE87C}"/>
              </a:ext>
            </a:extLst>
          </p:cNvPr>
          <p:cNvSpPr txBox="1">
            <a:spLocks/>
          </p:cNvSpPr>
          <p:nvPr/>
        </p:nvSpPr>
        <p:spPr>
          <a:xfrm>
            <a:off x="7893805" y="1036315"/>
            <a:ext cx="3770870" cy="15786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latin typeface="Courier" pitchFamily="2" charset="0"/>
              </a:rPr>
              <a:t>expr ::= NUM </a:t>
            </a:r>
          </a:p>
          <a:p>
            <a:pPr marL="0" indent="0">
              <a:buNone/>
            </a:pPr>
            <a:r>
              <a:rPr lang="en-US" sz="1600" dirty="0">
                <a:latin typeface="Courier" pitchFamily="2" charset="0"/>
              </a:rPr>
              <a:t>     | expr PLUS expr</a:t>
            </a:r>
          </a:p>
          <a:p>
            <a:pPr marL="0" indent="0">
              <a:buNone/>
            </a:pPr>
            <a:r>
              <a:rPr lang="en-US" sz="1600" dirty="0">
                <a:latin typeface="Courier" pitchFamily="2" charset="0"/>
              </a:rPr>
              <a:t>     | expr TIMES expr</a:t>
            </a:r>
          </a:p>
          <a:p>
            <a:pPr marL="0" indent="0">
              <a:buNone/>
            </a:pPr>
            <a:r>
              <a:rPr lang="en-US" sz="1600" dirty="0">
                <a:latin typeface="Courier" pitchFamily="2" charset="0"/>
              </a:rPr>
              <a:t>     | LPAREN expr RPAREN</a:t>
            </a:r>
          </a:p>
        </p:txBody>
      </p:sp>
    </p:spTree>
    <p:extLst>
      <p:ext uri="{BB962C8B-B14F-4D97-AF65-F5344CB8AC3E}">
        <p14:creationId xmlns:p14="http://schemas.microsoft.com/office/powerpoint/2010/main" val="40843810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8F8A8-4B56-B248-BA83-82BDA8A43ACC}"/>
              </a:ext>
            </a:extLst>
          </p:cNvPr>
          <p:cNvSpPr>
            <a:spLocks noGrp="1"/>
          </p:cNvSpPr>
          <p:nvPr>
            <p:ph type="title"/>
          </p:nvPr>
        </p:nvSpPr>
        <p:spPr/>
        <p:txBody>
          <a:bodyPr/>
          <a:lstStyle/>
          <a:p>
            <a:r>
              <a:rPr lang="en-US" dirty="0"/>
              <a:t>Ambiguous grammars</a:t>
            </a:r>
          </a:p>
        </p:txBody>
      </p:sp>
      <p:sp>
        <p:nvSpPr>
          <p:cNvPr id="3" name="Content Placeholder 2">
            <a:extLst>
              <a:ext uri="{FF2B5EF4-FFF2-40B4-BE49-F238E27FC236}">
                <a16:creationId xmlns:a16="http://schemas.microsoft.com/office/drawing/2014/main" id="{C83A8A75-0947-5349-B74C-1E1CFC55DF6B}"/>
              </a:ext>
            </a:extLst>
          </p:cNvPr>
          <p:cNvSpPr>
            <a:spLocks noGrp="1"/>
          </p:cNvSpPr>
          <p:nvPr>
            <p:ph idx="1"/>
          </p:nvPr>
        </p:nvSpPr>
        <p:spPr/>
        <p:txBody>
          <a:bodyPr/>
          <a:lstStyle/>
          <a:p>
            <a:r>
              <a:rPr lang="en-US" dirty="0">
                <a:latin typeface="Courier" pitchFamily="2" charset="0"/>
              </a:rPr>
              <a:t>input: 1 + 5 * 6</a:t>
            </a:r>
          </a:p>
        </p:txBody>
      </p:sp>
      <p:sp>
        <p:nvSpPr>
          <p:cNvPr id="13" name="TextBox 12">
            <a:extLst>
              <a:ext uri="{FF2B5EF4-FFF2-40B4-BE49-F238E27FC236}">
                <a16:creationId xmlns:a16="http://schemas.microsoft.com/office/drawing/2014/main" id="{CDA68BBF-72D1-C942-A23C-05D446E914FE}"/>
              </a:ext>
            </a:extLst>
          </p:cNvPr>
          <p:cNvSpPr txBox="1"/>
          <p:nvPr/>
        </p:nvSpPr>
        <p:spPr>
          <a:xfrm>
            <a:off x="3239948" y="3734106"/>
            <a:ext cx="597984" cy="369332"/>
          </a:xfrm>
          <a:prstGeom prst="rect">
            <a:avLst/>
          </a:prstGeom>
          <a:noFill/>
        </p:spPr>
        <p:txBody>
          <a:bodyPr wrap="none" rtlCol="0">
            <a:spAutoFit/>
          </a:bodyPr>
          <a:lstStyle/>
          <a:p>
            <a:r>
              <a:rPr lang="en-US" dirty="0"/>
              <a:t>expr</a:t>
            </a:r>
          </a:p>
        </p:txBody>
      </p:sp>
      <p:cxnSp>
        <p:nvCxnSpPr>
          <p:cNvPr id="14" name="Straight Connector 13">
            <a:extLst>
              <a:ext uri="{FF2B5EF4-FFF2-40B4-BE49-F238E27FC236}">
                <a16:creationId xmlns:a16="http://schemas.microsoft.com/office/drawing/2014/main" id="{EA361AA3-995B-B14B-B160-8FB9C9CD4818}"/>
              </a:ext>
            </a:extLst>
          </p:cNvPr>
          <p:cNvCxnSpPr>
            <a:cxnSpLocks/>
            <a:endCxn id="15" idx="0"/>
          </p:cNvCxnSpPr>
          <p:nvPr/>
        </p:nvCxnSpPr>
        <p:spPr>
          <a:xfrm flipH="1">
            <a:off x="2274749" y="4181664"/>
            <a:ext cx="1224374" cy="458418"/>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5634B6E4-6F20-344D-8519-C401DEC7D86C}"/>
              </a:ext>
            </a:extLst>
          </p:cNvPr>
          <p:cNvSpPr txBox="1"/>
          <p:nvPr/>
        </p:nvSpPr>
        <p:spPr>
          <a:xfrm>
            <a:off x="1975757" y="4640082"/>
            <a:ext cx="597984" cy="369332"/>
          </a:xfrm>
          <a:prstGeom prst="rect">
            <a:avLst/>
          </a:prstGeom>
          <a:noFill/>
        </p:spPr>
        <p:txBody>
          <a:bodyPr wrap="none" rtlCol="0">
            <a:spAutoFit/>
          </a:bodyPr>
          <a:lstStyle/>
          <a:p>
            <a:r>
              <a:rPr lang="en-US" dirty="0"/>
              <a:t>expr</a:t>
            </a:r>
          </a:p>
        </p:txBody>
      </p:sp>
      <p:cxnSp>
        <p:nvCxnSpPr>
          <p:cNvPr id="16" name="Straight Connector 15">
            <a:extLst>
              <a:ext uri="{FF2B5EF4-FFF2-40B4-BE49-F238E27FC236}">
                <a16:creationId xmlns:a16="http://schemas.microsoft.com/office/drawing/2014/main" id="{BFCC53EA-3A7E-2A46-B638-61EFD0987A47}"/>
              </a:ext>
            </a:extLst>
          </p:cNvPr>
          <p:cNvCxnSpPr>
            <a:cxnSpLocks/>
          </p:cNvCxnSpPr>
          <p:nvPr/>
        </p:nvCxnSpPr>
        <p:spPr>
          <a:xfrm>
            <a:off x="3499122" y="4181664"/>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BDDCCB52-A633-524E-9223-25CDAEBEDDC8}"/>
              </a:ext>
            </a:extLst>
          </p:cNvPr>
          <p:cNvCxnSpPr>
            <a:cxnSpLocks/>
            <a:endCxn id="19" idx="0"/>
          </p:cNvCxnSpPr>
          <p:nvPr/>
        </p:nvCxnSpPr>
        <p:spPr>
          <a:xfrm>
            <a:off x="3499122" y="4181664"/>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432D1699-947E-FB40-84D8-4DC970ADF2C2}"/>
              </a:ext>
            </a:extLst>
          </p:cNvPr>
          <p:cNvSpPr txBox="1"/>
          <p:nvPr/>
        </p:nvSpPr>
        <p:spPr>
          <a:xfrm>
            <a:off x="2999947" y="4690690"/>
            <a:ext cx="998350" cy="369332"/>
          </a:xfrm>
          <a:prstGeom prst="rect">
            <a:avLst/>
          </a:prstGeom>
          <a:noFill/>
        </p:spPr>
        <p:txBody>
          <a:bodyPr wrap="none" rtlCol="0">
            <a:spAutoFit/>
          </a:bodyPr>
          <a:lstStyle/>
          <a:p>
            <a:r>
              <a:rPr lang="en-US" dirty="0"/>
              <a:t>&lt;TIMES&gt;</a:t>
            </a:r>
          </a:p>
        </p:txBody>
      </p:sp>
      <p:sp>
        <p:nvSpPr>
          <p:cNvPr id="19" name="TextBox 18">
            <a:extLst>
              <a:ext uri="{FF2B5EF4-FFF2-40B4-BE49-F238E27FC236}">
                <a16:creationId xmlns:a16="http://schemas.microsoft.com/office/drawing/2014/main" id="{C463DEE2-6482-4145-9E0E-CEAC819F69A4}"/>
              </a:ext>
            </a:extLst>
          </p:cNvPr>
          <p:cNvSpPr txBox="1"/>
          <p:nvPr/>
        </p:nvSpPr>
        <p:spPr>
          <a:xfrm>
            <a:off x="4297289" y="4640082"/>
            <a:ext cx="597984" cy="369332"/>
          </a:xfrm>
          <a:prstGeom prst="rect">
            <a:avLst/>
          </a:prstGeom>
          <a:noFill/>
        </p:spPr>
        <p:txBody>
          <a:bodyPr wrap="none" rtlCol="0">
            <a:spAutoFit/>
          </a:bodyPr>
          <a:lstStyle/>
          <a:p>
            <a:r>
              <a:rPr lang="en-US" dirty="0"/>
              <a:t>expr</a:t>
            </a:r>
          </a:p>
        </p:txBody>
      </p:sp>
      <p:sp>
        <p:nvSpPr>
          <p:cNvPr id="20" name="TextBox 19">
            <a:extLst>
              <a:ext uri="{FF2B5EF4-FFF2-40B4-BE49-F238E27FC236}">
                <a16:creationId xmlns:a16="http://schemas.microsoft.com/office/drawing/2014/main" id="{75333C5C-5116-CF4E-BDE4-041EE8B68947}"/>
              </a:ext>
            </a:extLst>
          </p:cNvPr>
          <p:cNvSpPr txBox="1"/>
          <p:nvPr/>
        </p:nvSpPr>
        <p:spPr>
          <a:xfrm>
            <a:off x="4027856" y="5467832"/>
            <a:ext cx="1136850" cy="369332"/>
          </a:xfrm>
          <a:prstGeom prst="rect">
            <a:avLst/>
          </a:prstGeom>
          <a:noFill/>
        </p:spPr>
        <p:txBody>
          <a:bodyPr wrap="none" rtlCol="0">
            <a:spAutoFit/>
          </a:bodyPr>
          <a:lstStyle/>
          <a:p>
            <a:r>
              <a:rPr lang="en-US" dirty="0"/>
              <a:t>&lt;NUM, 6&gt;</a:t>
            </a:r>
          </a:p>
        </p:txBody>
      </p:sp>
      <p:cxnSp>
        <p:nvCxnSpPr>
          <p:cNvPr id="21" name="Straight Connector 20">
            <a:extLst>
              <a:ext uri="{FF2B5EF4-FFF2-40B4-BE49-F238E27FC236}">
                <a16:creationId xmlns:a16="http://schemas.microsoft.com/office/drawing/2014/main" id="{2BC49E33-FEA7-474C-B5FD-65D9B2D17F0C}"/>
              </a:ext>
            </a:extLst>
          </p:cNvPr>
          <p:cNvCxnSpPr>
            <a:cxnSpLocks/>
          </p:cNvCxnSpPr>
          <p:nvPr/>
        </p:nvCxnSpPr>
        <p:spPr>
          <a:xfrm>
            <a:off x="4576436" y="4999423"/>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61096E1A-92E3-F543-AE82-F83E64D4767A}"/>
              </a:ext>
            </a:extLst>
          </p:cNvPr>
          <p:cNvCxnSpPr>
            <a:cxnSpLocks/>
          </p:cNvCxnSpPr>
          <p:nvPr/>
        </p:nvCxnSpPr>
        <p:spPr>
          <a:xfrm flipH="1">
            <a:off x="1003968" y="4999423"/>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4F80C731-C2B1-F147-AD80-21AE50F180C9}"/>
              </a:ext>
            </a:extLst>
          </p:cNvPr>
          <p:cNvCxnSpPr>
            <a:cxnSpLocks/>
          </p:cNvCxnSpPr>
          <p:nvPr/>
        </p:nvCxnSpPr>
        <p:spPr>
          <a:xfrm>
            <a:off x="2228341" y="4999423"/>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37EEBFB7-B649-8C45-A4D9-A6A3E2716E8B}"/>
              </a:ext>
            </a:extLst>
          </p:cNvPr>
          <p:cNvCxnSpPr>
            <a:cxnSpLocks/>
          </p:cNvCxnSpPr>
          <p:nvPr/>
        </p:nvCxnSpPr>
        <p:spPr>
          <a:xfrm>
            <a:off x="2228341" y="4999423"/>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B8B0E84E-AA23-3741-8FC6-5967FD361D8D}"/>
              </a:ext>
            </a:extLst>
          </p:cNvPr>
          <p:cNvSpPr txBox="1"/>
          <p:nvPr/>
        </p:nvSpPr>
        <p:spPr>
          <a:xfrm>
            <a:off x="1770768" y="5466525"/>
            <a:ext cx="880241" cy="369332"/>
          </a:xfrm>
          <a:prstGeom prst="rect">
            <a:avLst/>
          </a:prstGeom>
          <a:noFill/>
        </p:spPr>
        <p:txBody>
          <a:bodyPr wrap="none" rtlCol="0">
            <a:spAutoFit/>
          </a:bodyPr>
          <a:lstStyle/>
          <a:p>
            <a:r>
              <a:rPr lang="en-US" dirty="0"/>
              <a:t>&lt;PLUS&gt;</a:t>
            </a:r>
          </a:p>
        </p:txBody>
      </p:sp>
      <p:sp>
        <p:nvSpPr>
          <p:cNvPr id="26" name="TextBox 25">
            <a:extLst>
              <a:ext uri="{FF2B5EF4-FFF2-40B4-BE49-F238E27FC236}">
                <a16:creationId xmlns:a16="http://schemas.microsoft.com/office/drawing/2014/main" id="{74FA4E57-3800-9A41-84C1-3487CFE1B43B}"/>
              </a:ext>
            </a:extLst>
          </p:cNvPr>
          <p:cNvSpPr txBox="1"/>
          <p:nvPr/>
        </p:nvSpPr>
        <p:spPr>
          <a:xfrm>
            <a:off x="704976" y="5435132"/>
            <a:ext cx="597984" cy="369332"/>
          </a:xfrm>
          <a:prstGeom prst="rect">
            <a:avLst/>
          </a:prstGeom>
          <a:noFill/>
        </p:spPr>
        <p:txBody>
          <a:bodyPr wrap="none" rtlCol="0">
            <a:spAutoFit/>
          </a:bodyPr>
          <a:lstStyle/>
          <a:p>
            <a:r>
              <a:rPr lang="en-US" dirty="0"/>
              <a:t>expr</a:t>
            </a:r>
          </a:p>
        </p:txBody>
      </p:sp>
      <p:sp>
        <p:nvSpPr>
          <p:cNvPr id="27" name="TextBox 26">
            <a:extLst>
              <a:ext uri="{FF2B5EF4-FFF2-40B4-BE49-F238E27FC236}">
                <a16:creationId xmlns:a16="http://schemas.microsoft.com/office/drawing/2014/main" id="{A0D426D8-C447-C642-859D-706A726FD75F}"/>
              </a:ext>
            </a:extLst>
          </p:cNvPr>
          <p:cNvSpPr txBox="1"/>
          <p:nvPr/>
        </p:nvSpPr>
        <p:spPr>
          <a:xfrm>
            <a:off x="3026508" y="5435132"/>
            <a:ext cx="597984" cy="369332"/>
          </a:xfrm>
          <a:prstGeom prst="rect">
            <a:avLst/>
          </a:prstGeom>
          <a:noFill/>
        </p:spPr>
        <p:txBody>
          <a:bodyPr wrap="none" rtlCol="0">
            <a:spAutoFit/>
          </a:bodyPr>
          <a:lstStyle/>
          <a:p>
            <a:r>
              <a:rPr lang="en-US" dirty="0"/>
              <a:t>expr</a:t>
            </a:r>
          </a:p>
        </p:txBody>
      </p:sp>
      <p:sp>
        <p:nvSpPr>
          <p:cNvPr id="28" name="TextBox 27">
            <a:extLst>
              <a:ext uri="{FF2B5EF4-FFF2-40B4-BE49-F238E27FC236}">
                <a16:creationId xmlns:a16="http://schemas.microsoft.com/office/drawing/2014/main" id="{CCE33E75-44A2-F64D-B68D-8F3B337FC012}"/>
              </a:ext>
            </a:extLst>
          </p:cNvPr>
          <p:cNvSpPr txBox="1"/>
          <p:nvPr/>
        </p:nvSpPr>
        <p:spPr>
          <a:xfrm>
            <a:off x="2757075" y="5911018"/>
            <a:ext cx="1136850" cy="369332"/>
          </a:xfrm>
          <a:prstGeom prst="rect">
            <a:avLst/>
          </a:prstGeom>
          <a:noFill/>
        </p:spPr>
        <p:txBody>
          <a:bodyPr wrap="none" rtlCol="0">
            <a:spAutoFit/>
          </a:bodyPr>
          <a:lstStyle/>
          <a:p>
            <a:r>
              <a:rPr lang="en-US" dirty="0"/>
              <a:t>&lt;NUM, 5&gt;</a:t>
            </a:r>
          </a:p>
        </p:txBody>
      </p:sp>
      <p:sp>
        <p:nvSpPr>
          <p:cNvPr id="29" name="TextBox 28">
            <a:extLst>
              <a:ext uri="{FF2B5EF4-FFF2-40B4-BE49-F238E27FC236}">
                <a16:creationId xmlns:a16="http://schemas.microsoft.com/office/drawing/2014/main" id="{4071E864-22B5-094C-801E-86FEE9D9E25D}"/>
              </a:ext>
            </a:extLst>
          </p:cNvPr>
          <p:cNvSpPr txBox="1"/>
          <p:nvPr/>
        </p:nvSpPr>
        <p:spPr>
          <a:xfrm>
            <a:off x="435543" y="5942568"/>
            <a:ext cx="1136850" cy="369332"/>
          </a:xfrm>
          <a:prstGeom prst="rect">
            <a:avLst/>
          </a:prstGeom>
          <a:noFill/>
        </p:spPr>
        <p:txBody>
          <a:bodyPr wrap="none" rtlCol="0">
            <a:spAutoFit/>
          </a:bodyPr>
          <a:lstStyle/>
          <a:p>
            <a:r>
              <a:rPr lang="en-US" dirty="0"/>
              <a:t>&lt;NUM, 1&gt;</a:t>
            </a:r>
          </a:p>
        </p:txBody>
      </p:sp>
      <p:cxnSp>
        <p:nvCxnSpPr>
          <p:cNvPr id="30" name="Straight Connector 29">
            <a:extLst>
              <a:ext uri="{FF2B5EF4-FFF2-40B4-BE49-F238E27FC236}">
                <a16:creationId xmlns:a16="http://schemas.microsoft.com/office/drawing/2014/main" id="{C5B64D96-7DBD-DB40-853F-60DB16DAE97F}"/>
              </a:ext>
            </a:extLst>
          </p:cNvPr>
          <p:cNvCxnSpPr>
            <a:cxnSpLocks/>
            <a:stCxn id="26" idx="2"/>
            <a:endCxn id="29" idx="0"/>
          </p:cNvCxnSpPr>
          <p:nvPr/>
        </p:nvCxnSpPr>
        <p:spPr>
          <a:xfrm>
            <a:off x="1003968" y="5804464"/>
            <a:ext cx="0" cy="138104"/>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2481D737-746B-4740-9924-08AC9DFCD0E8}"/>
              </a:ext>
            </a:extLst>
          </p:cNvPr>
          <p:cNvCxnSpPr>
            <a:cxnSpLocks/>
            <a:stCxn id="27" idx="2"/>
            <a:endCxn id="28" idx="0"/>
          </p:cNvCxnSpPr>
          <p:nvPr/>
        </p:nvCxnSpPr>
        <p:spPr>
          <a:xfrm>
            <a:off x="3325500" y="5804464"/>
            <a:ext cx="0" cy="106554"/>
          </a:xfrm>
          <a:prstGeom prst="line">
            <a:avLst/>
          </a:prstGeom>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4894651D-BDAA-CB4B-847E-27CA6C8D57A2}"/>
              </a:ext>
            </a:extLst>
          </p:cNvPr>
          <p:cNvSpPr txBox="1"/>
          <p:nvPr/>
        </p:nvSpPr>
        <p:spPr>
          <a:xfrm>
            <a:off x="8721899" y="3599169"/>
            <a:ext cx="597984" cy="369332"/>
          </a:xfrm>
          <a:prstGeom prst="rect">
            <a:avLst/>
          </a:prstGeom>
          <a:noFill/>
        </p:spPr>
        <p:txBody>
          <a:bodyPr wrap="none" rtlCol="0">
            <a:spAutoFit/>
          </a:bodyPr>
          <a:lstStyle/>
          <a:p>
            <a:r>
              <a:rPr lang="en-US" dirty="0"/>
              <a:t>expr</a:t>
            </a:r>
          </a:p>
        </p:txBody>
      </p:sp>
      <p:cxnSp>
        <p:nvCxnSpPr>
          <p:cNvPr id="33" name="Straight Connector 32">
            <a:extLst>
              <a:ext uri="{FF2B5EF4-FFF2-40B4-BE49-F238E27FC236}">
                <a16:creationId xmlns:a16="http://schemas.microsoft.com/office/drawing/2014/main" id="{0494AE38-347B-FB45-92D2-C20562A30599}"/>
              </a:ext>
            </a:extLst>
          </p:cNvPr>
          <p:cNvCxnSpPr>
            <a:cxnSpLocks/>
            <a:endCxn id="34" idx="0"/>
          </p:cNvCxnSpPr>
          <p:nvPr/>
        </p:nvCxnSpPr>
        <p:spPr>
          <a:xfrm flipH="1">
            <a:off x="7756700" y="4046727"/>
            <a:ext cx="1224374" cy="458418"/>
          </a:xfrm>
          <a:prstGeom prst="line">
            <a:avLst/>
          </a:prstGeom>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ABC0C00E-B3EC-D44C-A76B-1E2281292A5C}"/>
              </a:ext>
            </a:extLst>
          </p:cNvPr>
          <p:cNvSpPr txBox="1"/>
          <p:nvPr/>
        </p:nvSpPr>
        <p:spPr>
          <a:xfrm>
            <a:off x="7457708" y="4505145"/>
            <a:ext cx="597984" cy="369332"/>
          </a:xfrm>
          <a:prstGeom prst="rect">
            <a:avLst/>
          </a:prstGeom>
          <a:noFill/>
        </p:spPr>
        <p:txBody>
          <a:bodyPr wrap="none" rtlCol="0">
            <a:spAutoFit/>
          </a:bodyPr>
          <a:lstStyle/>
          <a:p>
            <a:r>
              <a:rPr lang="en-US" dirty="0"/>
              <a:t>expr</a:t>
            </a:r>
          </a:p>
        </p:txBody>
      </p:sp>
      <p:cxnSp>
        <p:nvCxnSpPr>
          <p:cNvPr id="35" name="Straight Connector 34">
            <a:extLst>
              <a:ext uri="{FF2B5EF4-FFF2-40B4-BE49-F238E27FC236}">
                <a16:creationId xmlns:a16="http://schemas.microsoft.com/office/drawing/2014/main" id="{7A24C63B-4728-FB4C-AD69-94E0B527A793}"/>
              </a:ext>
            </a:extLst>
          </p:cNvPr>
          <p:cNvCxnSpPr>
            <a:cxnSpLocks/>
          </p:cNvCxnSpPr>
          <p:nvPr/>
        </p:nvCxnSpPr>
        <p:spPr>
          <a:xfrm>
            <a:off x="8981073" y="4046727"/>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98A82912-235D-F149-9061-EEEB5FE782B2}"/>
              </a:ext>
            </a:extLst>
          </p:cNvPr>
          <p:cNvCxnSpPr>
            <a:cxnSpLocks/>
            <a:endCxn id="38" idx="0"/>
          </p:cNvCxnSpPr>
          <p:nvPr/>
        </p:nvCxnSpPr>
        <p:spPr>
          <a:xfrm>
            <a:off x="8981073" y="4046727"/>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FE4D3550-2066-7047-99CC-6E633FF20E96}"/>
              </a:ext>
            </a:extLst>
          </p:cNvPr>
          <p:cNvSpPr txBox="1"/>
          <p:nvPr/>
        </p:nvSpPr>
        <p:spPr>
          <a:xfrm>
            <a:off x="8481898" y="4555753"/>
            <a:ext cx="880241" cy="369332"/>
          </a:xfrm>
          <a:prstGeom prst="rect">
            <a:avLst/>
          </a:prstGeom>
          <a:noFill/>
        </p:spPr>
        <p:txBody>
          <a:bodyPr wrap="none" rtlCol="0">
            <a:spAutoFit/>
          </a:bodyPr>
          <a:lstStyle/>
          <a:p>
            <a:r>
              <a:rPr lang="en-US" dirty="0"/>
              <a:t>&lt;PLUS&gt;</a:t>
            </a:r>
          </a:p>
        </p:txBody>
      </p:sp>
      <p:sp>
        <p:nvSpPr>
          <p:cNvPr id="38" name="TextBox 37">
            <a:extLst>
              <a:ext uri="{FF2B5EF4-FFF2-40B4-BE49-F238E27FC236}">
                <a16:creationId xmlns:a16="http://schemas.microsoft.com/office/drawing/2014/main" id="{831363E2-B1B9-7345-A762-D88FF62FDAF4}"/>
              </a:ext>
            </a:extLst>
          </p:cNvPr>
          <p:cNvSpPr txBox="1"/>
          <p:nvPr/>
        </p:nvSpPr>
        <p:spPr>
          <a:xfrm>
            <a:off x="9779240" y="4505145"/>
            <a:ext cx="597984" cy="369332"/>
          </a:xfrm>
          <a:prstGeom prst="rect">
            <a:avLst/>
          </a:prstGeom>
          <a:noFill/>
        </p:spPr>
        <p:txBody>
          <a:bodyPr wrap="none" rtlCol="0">
            <a:spAutoFit/>
          </a:bodyPr>
          <a:lstStyle/>
          <a:p>
            <a:r>
              <a:rPr lang="en-US" dirty="0"/>
              <a:t>expr</a:t>
            </a:r>
          </a:p>
        </p:txBody>
      </p:sp>
      <p:sp>
        <p:nvSpPr>
          <p:cNvPr id="39" name="TextBox 38">
            <a:extLst>
              <a:ext uri="{FF2B5EF4-FFF2-40B4-BE49-F238E27FC236}">
                <a16:creationId xmlns:a16="http://schemas.microsoft.com/office/drawing/2014/main" id="{5C73533F-3FC1-9647-B18D-C47D25947ABF}"/>
              </a:ext>
            </a:extLst>
          </p:cNvPr>
          <p:cNvSpPr txBox="1"/>
          <p:nvPr/>
        </p:nvSpPr>
        <p:spPr>
          <a:xfrm>
            <a:off x="7172331" y="5312439"/>
            <a:ext cx="1136850" cy="369332"/>
          </a:xfrm>
          <a:prstGeom prst="rect">
            <a:avLst/>
          </a:prstGeom>
          <a:noFill/>
        </p:spPr>
        <p:txBody>
          <a:bodyPr wrap="none" rtlCol="0">
            <a:spAutoFit/>
          </a:bodyPr>
          <a:lstStyle/>
          <a:p>
            <a:r>
              <a:rPr lang="en-US" dirty="0"/>
              <a:t>&lt;NUM, 1&gt;</a:t>
            </a:r>
          </a:p>
        </p:txBody>
      </p:sp>
      <p:cxnSp>
        <p:nvCxnSpPr>
          <p:cNvPr id="40" name="Straight Connector 39">
            <a:extLst>
              <a:ext uri="{FF2B5EF4-FFF2-40B4-BE49-F238E27FC236}">
                <a16:creationId xmlns:a16="http://schemas.microsoft.com/office/drawing/2014/main" id="{802888FB-F383-E14B-B6AF-E22F4852C47A}"/>
              </a:ext>
            </a:extLst>
          </p:cNvPr>
          <p:cNvCxnSpPr>
            <a:cxnSpLocks/>
          </p:cNvCxnSpPr>
          <p:nvPr/>
        </p:nvCxnSpPr>
        <p:spPr>
          <a:xfrm>
            <a:off x="7720911" y="4844030"/>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A494428-D263-504F-A0F0-396F28368D6D}"/>
              </a:ext>
            </a:extLst>
          </p:cNvPr>
          <p:cNvCxnSpPr>
            <a:cxnSpLocks/>
          </p:cNvCxnSpPr>
          <p:nvPr/>
        </p:nvCxnSpPr>
        <p:spPr>
          <a:xfrm flipH="1">
            <a:off x="8886498" y="4905611"/>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9DB3F067-A772-4F4E-AB9F-1EA2B87917CB}"/>
              </a:ext>
            </a:extLst>
          </p:cNvPr>
          <p:cNvCxnSpPr>
            <a:cxnSpLocks/>
          </p:cNvCxnSpPr>
          <p:nvPr/>
        </p:nvCxnSpPr>
        <p:spPr>
          <a:xfrm>
            <a:off x="10110871" y="4905611"/>
            <a:ext cx="0" cy="469403"/>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0AB66872-BB31-3641-A31A-0D0F5553F07F}"/>
              </a:ext>
            </a:extLst>
          </p:cNvPr>
          <p:cNvCxnSpPr>
            <a:cxnSpLocks/>
          </p:cNvCxnSpPr>
          <p:nvPr/>
        </p:nvCxnSpPr>
        <p:spPr>
          <a:xfrm>
            <a:off x="10110871" y="4905611"/>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44" name="TextBox 43">
            <a:extLst>
              <a:ext uri="{FF2B5EF4-FFF2-40B4-BE49-F238E27FC236}">
                <a16:creationId xmlns:a16="http://schemas.microsoft.com/office/drawing/2014/main" id="{891AEAF9-1508-724D-B536-FF3D64495E94}"/>
              </a:ext>
            </a:extLst>
          </p:cNvPr>
          <p:cNvSpPr txBox="1"/>
          <p:nvPr/>
        </p:nvSpPr>
        <p:spPr>
          <a:xfrm>
            <a:off x="9653298" y="5372713"/>
            <a:ext cx="998350" cy="369332"/>
          </a:xfrm>
          <a:prstGeom prst="rect">
            <a:avLst/>
          </a:prstGeom>
          <a:noFill/>
        </p:spPr>
        <p:txBody>
          <a:bodyPr wrap="none" rtlCol="0">
            <a:spAutoFit/>
          </a:bodyPr>
          <a:lstStyle/>
          <a:p>
            <a:r>
              <a:rPr lang="en-US" dirty="0"/>
              <a:t>&lt;TIMES&gt;</a:t>
            </a:r>
          </a:p>
        </p:txBody>
      </p:sp>
      <p:sp>
        <p:nvSpPr>
          <p:cNvPr id="45" name="TextBox 44">
            <a:extLst>
              <a:ext uri="{FF2B5EF4-FFF2-40B4-BE49-F238E27FC236}">
                <a16:creationId xmlns:a16="http://schemas.microsoft.com/office/drawing/2014/main" id="{3E0DF7F4-EFC0-A741-A375-A31613EF51FA}"/>
              </a:ext>
            </a:extLst>
          </p:cNvPr>
          <p:cNvSpPr txBox="1"/>
          <p:nvPr/>
        </p:nvSpPr>
        <p:spPr>
          <a:xfrm>
            <a:off x="8587506" y="5341320"/>
            <a:ext cx="597984" cy="369332"/>
          </a:xfrm>
          <a:prstGeom prst="rect">
            <a:avLst/>
          </a:prstGeom>
          <a:noFill/>
        </p:spPr>
        <p:txBody>
          <a:bodyPr wrap="none" rtlCol="0">
            <a:spAutoFit/>
          </a:bodyPr>
          <a:lstStyle/>
          <a:p>
            <a:r>
              <a:rPr lang="en-US" dirty="0"/>
              <a:t>expr</a:t>
            </a:r>
          </a:p>
        </p:txBody>
      </p:sp>
      <p:sp>
        <p:nvSpPr>
          <p:cNvPr id="46" name="TextBox 45">
            <a:extLst>
              <a:ext uri="{FF2B5EF4-FFF2-40B4-BE49-F238E27FC236}">
                <a16:creationId xmlns:a16="http://schemas.microsoft.com/office/drawing/2014/main" id="{6CA120C3-2BA8-9B47-9904-9EF7C76454E4}"/>
              </a:ext>
            </a:extLst>
          </p:cNvPr>
          <p:cNvSpPr txBox="1"/>
          <p:nvPr/>
        </p:nvSpPr>
        <p:spPr>
          <a:xfrm>
            <a:off x="10909038" y="5341320"/>
            <a:ext cx="597984" cy="369332"/>
          </a:xfrm>
          <a:prstGeom prst="rect">
            <a:avLst/>
          </a:prstGeom>
          <a:noFill/>
        </p:spPr>
        <p:txBody>
          <a:bodyPr wrap="none" rtlCol="0">
            <a:spAutoFit/>
          </a:bodyPr>
          <a:lstStyle/>
          <a:p>
            <a:r>
              <a:rPr lang="en-US" dirty="0"/>
              <a:t>expr</a:t>
            </a:r>
          </a:p>
        </p:txBody>
      </p:sp>
      <p:sp>
        <p:nvSpPr>
          <p:cNvPr id="47" name="TextBox 46">
            <a:extLst>
              <a:ext uri="{FF2B5EF4-FFF2-40B4-BE49-F238E27FC236}">
                <a16:creationId xmlns:a16="http://schemas.microsoft.com/office/drawing/2014/main" id="{770EA284-20CC-A440-8849-20319D64DFFE}"/>
              </a:ext>
            </a:extLst>
          </p:cNvPr>
          <p:cNvSpPr txBox="1"/>
          <p:nvPr/>
        </p:nvSpPr>
        <p:spPr>
          <a:xfrm>
            <a:off x="10639605" y="5817206"/>
            <a:ext cx="1136850" cy="369332"/>
          </a:xfrm>
          <a:prstGeom prst="rect">
            <a:avLst/>
          </a:prstGeom>
          <a:noFill/>
        </p:spPr>
        <p:txBody>
          <a:bodyPr wrap="none" rtlCol="0">
            <a:spAutoFit/>
          </a:bodyPr>
          <a:lstStyle/>
          <a:p>
            <a:r>
              <a:rPr lang="en-US" dirty="0"/>
              <a:t>&lt;NUM, 6&gt;</a:t>
            </a:r>
          </a:p>
        </p:txBody>
      </p:sp>
      <p:sp>
        <p:nvSpPr>
          <p:cNvPr id="48" name="TextBox 47">
            <a:extLst>
              <a:ext uri="{FF2B5EF4-FFF2-40B4-BE49-F238E27FC236}">
                <a16:creationId xmlns:a16="http://schemas.microsoft.com/office/drawing/2014/main" id="{E585D842-98AA-1C4A-AD3A-2E68F087D105}"/>
              </a:ext>
            </a:extLst>
          </p:cNvPr>
          <p:cNvSpPr txBox="1"/>
          <p:nvPr/>
        </p:nvSpPr>
        <p:spPr>
          <a:xfrm>
            <a:off x="8318073" y="5848756"/>
            <a:ext cx="1136850" cy="369332"/>
          </a:xfrm>
          <a:prstGeom prst="rect">
            <a:avLst/>
          </a:prstGeom>
          <a:noFill/>
        </p:spPr>
        <p:txBody>
          <a:bodyPr wrap="none" rtlCol="0">
            <a:spAutoFit/>
          </a:bodyPr>
          <a:lstStyle/>
          <a:p>
            <a:r>
              <a:rPr lang="en-US" dirty="0"/>
              <a:t>&lt;NUM, 5&gt;</a:t>
            </a:r>
          </a:p>
        </p:txBody>
      </p:sp>
      <p:cxnSp>
        <p:nvCxnSpPr>
          <p:cNvPr id="49" name="Straight Connector 48">
            <a:extLst>
              <a:ext uri="{FF2B5EF4-FFF2-40B4-BE49-F238E27FC236}">
                <a16:creationId xmlns:a16="http://schemas.microsoft.com/office/drawing/2014/main" id="{A31409B5-1B0D-2849-A0BB-B1505DF341B5}"/>
              </a:ext>
            </a:extLst>
          </p:cNvPr>
          <p:cNvCxnSpPr>
            <a:cxnSpLocks/>
            <a:stCxn id="45" idx="2"/>
            <a:endCxn id="48" idx="0"/>
          </p:cNvCxnSpPr>
          <p:nvPr/>
        </p:nvCxnSpPr>
        <p:spPr>
          <a:xfrm>
            <a:off x="8886498" y="5710652"/>
            <a:ext cx="0" cy="138104"/>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59F327D7-B2FB-E745-B67B-655E6B1E466F}"/>
              </a:ext>
            </a:extLst>
          </p:cNvPr>
          <p:cNvCxnSpPr>
            <a:cxnSpLocks/>
            <a:stCxn id="46" idx="2"/>
            <a:endCxn id="47" idx="0"/>
          </p:cNvCxnSpPr>
          <p:nvPr/>
        </p:nvCxnSpPr>
        <p:spPr>
          <a:xfrm>
            <a:off x="11208030" y="5710652"/>
            <a:ext cx="0" cy="106554"/>
          </a:xfrm>
          <a:prstGeom prst="line">
            <a:avLst/>
          </a:prstGeom>
        </p:spPr>
        <p:style>
          <a:lnRef idx="1">
            <a:schemeClr val="dk1"/>
          </a:lnRef>
          <a:fillRef idx="0">
            <a:schemeClr val="dk1"/>
          </a:fillRef>
          <a:effectRef idx="0">
            <a:schemeClr val="dk1"/>
          </a:effectRef>
          <a:fontRef idx="minor">
            <a:schemeClr val="tx1"/>
          </a:fontRef>
        </p:style>
      </p:cxnSp>
      <p:sp>
        <p:nvSpPr>
          <p:cNvPr id="53" name="Content Placeholder 2">
            <a:extLst>
              <a:ext uri="{FF2B5EF4-FFF2-40B4-BE49-F238E27FC236}">
                <a16:creationId xmlns:a16="http://schemas.microsoft.com/office/drawing/2014/main" id="{EFBBB9C6-D6F4-834B-A4E7-0BEF5ADBE87C}"/>
              </a:ext>
            </a:extLst>
          </p:cNvPr>
          <p:cNvSpPr txBox="1">
            <a:spLocks/>
          </p:cNvSpPr>
          <p:nvPr/>
        </p:nvSpPr>
        <p:spPr>
          <a:xfrm>
            <a:off x="7893805" y="1036315"/>
            <a:ext cx="3770870" cy="15786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latin typeface="Courier" pitchFamily="2" charset="0"/>
              </a:rPr>
              <a:t>expr ::= NUM </a:t>
            </a:r>
          </a:p>
          <a:p>
            <a:pPr marL="0" indent="0">
              <a:buNone/>
            </a:pPr>
            <a:r>
              <a:rPr lang="en-US" sz="1600" dirty="0">
                <a:latin typeface="Courier" pitchFamily="2" charset="0"/>
              </a:rPr>
              <a:t>     | expr PLUS expr</a:t>
            </a:r>
          </a:p>
          <a:p>
            <a:pPr marL="0" indent="0">
              <a:buNone/>
            </a:pPr>
            <a:r>
              <a:rPr lang="en-US" sz="1600" dirty="0">
                <a:latin typeface="Courier" pitchFamily="2" charset="0"/>
              </a:rPr>
              <a:t>     | expr TIMES expr</a:t>
            </a:r>
          </a:p>
          <a:p>
            <a:pPr marL="0" indent="0">
              <a:buNone/>
            </a:pPr>
            <a:r>
              <a:rPr lang="en-US" sz="1600" dirty="0">
                <a:latin typeface="Courier" pitchFamily="2" charset="0"/>
              </a:rPr>
              <a:t>     | LPAREN expr RPAREN</a:t>
            </a:r>
          </a:p>
        </p:txBody>
      </p:sp>
      <p:sp>
        <p:nvSpPr>
          <p:cNvPr id="4" name="TextBox 3">
            <a:extLst>
              <a:ext uri="{FF2B5EF4-FFF2-40B4-BE49-F238E27FC236}">
                <a16:creationId xmlns:a16="http://schemas.microsoft.com/office/drawing/2014/main" id="{8238BB4F-B937-9446-973D-4AC994C150C3}"/>
              </a:ext>
            </a:extLst>
          </p:cNvPr>
          <p:cNvSpPr txBox="1"/>
          <p:nvPr/>
        </p:nvSpPr>
        <p:spPr>
          <a:xfrm>
            <a:off x="4869873" y="3092731"/>
            <a:ext cx="2546082" cy="369332"/>
          </a:xfrm>
          <a:prstGeom prst="rect">
            <a:avLst/>
          </a:prstGeom>
          <a:noFill/>
        </p:spPr>
        <p:txBody>
          <a:bodyPr wrap="none" rtlCol="0">
            <a:spAutoFit/>
          </a:bodyPr>
          <a:lstStyle/>
          <a:p>
            <a:r>
              <a:rPr lang="en-US" i="1" dirty="0"/>
              <a:t>Evaluations are different!</a:t>
            </a:r>
          </a:p>
        </p:txBody>
      </p:sp>
    </p:spTree>
    <p:extLst>
      <p:ext uri="{BB962C8B-B14F-4D97-AF65-F5344CB8AC3E}">
        <p14:creationId xmlns:p14="http://schemas.microsoft.com/office/powerpoint/2010/main" val="9630886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TotalTime>
  <Words>1693</Words>
  <Application>Microsoft Office PowerPoint</Application>
  <PresentationFormat>Widescreen</PresentationFormat>
  <Paragraphs>583</Paragraphs>
  <Slides>42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Aptos</vt:lpstr>
      <vt:lpstr>Aptos Display</vt:lpstr>
      <vt:lpstr>Arial</vt:lpstr>
      <vt:lpstr>Courier</vt:lpstr>
      <vt:lpstr>Menlo</vt:lpstr>
      <vt:lpstr>Office Theme</vt:lpstr>
      <vt:lpstr>Quiz-6-CFG-AMBIG-PREC 8 questions</vt:lpstr>
      <vt:lpstr>Quiz</vt:lpstr>
      <vt:lpstr>Any RE can be expressed in BNF</vt:lpstr>
      <vt:lpstr>Any RE can be expressed in BNF</vt:lpstr>
      <vt:lpstr>Any RE can be expressed in BNF</vt:lpstr>
      <vt:lpstr>Any RE can be expressed in BNF</vt:lpstr>
      <vt:lpstr>Any RE can be expressed in BNF</vt:lpstr>
      <vt:lpstr>Quiz</vt:lpstr>
      <vt:lpstr>Context-free grammar</vt:lpstr>
      <vt:lpstr>Quiz</vt:lpstr>
      <vt:lpstr>Quiz</vt:lpstr>
      <vt:lpstr>Programming language structure</vt:lpstr>
      <vt:lpstr>Quiz: Top Down Parsing</vt:lpstr>
      <vt:lpstr>Quiz</vt:lpstr>
      <vt:lpstr>Quiz</vt:lpstr>
      <vt:lpstr>Quiz</vt:lpstr>
      <vt:lpstr>Quiz</vt:lpstr>
      <vt:lpstr>Quiz</vt:lpstr>
      <vt:lpstr>Quiz</vt:lpstr>
      <vt:lpstr>Quiz</vt:lpstr>
      <vt:lpstr>Quiz</vt:lpstr>
      <vt:lpstr>Quiz</vt:lpstr>
      <vt:lpstr>Quiz</vt:lpstr>
      <vt:lpstr>Quiz</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Quiz</vt:lpstr>
      <vt:lpstr>Post order traversal</vt:lpstr>
      <vt:lpstr>Post order traversal</vt:lpstr>
      <vt:lpstr>Post order traversal</vt:lpstr>
      <vt:lpstr>Evaluating a parse tree</vt:lpstr>
      <vt:lpstr>Evaluating a parse tree</vt:lpstr>
      <vt:lpstr>Evaluating a parse tree</vt:lpstr>
      <vt:lpstr>Avoiding Ambiguity</vt:lpstr>
      <vt:lpstr>Quiz</vt:lpstr>
      <vt:lpstr>Ambiguous grammars</vt:lpstr>
      <vt:lpstr>Ambiguous grammars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Marcelo Siero</dc:creator>
  <cp:lastModifiedBy>Marcelo Siero</cp:lastModifiedBy>
  <cp:revision>4</cp:revision>
  <dcterms:created xsi:type="dcterms:W3CDTF">2025-03-30T00:34:06Z</dcterms:created>
  <dcterms:modified xsi:type="dcterms:W3CDTF">2025-05-06T08:52:06Z</dcterms:modified>
</cp:coreProperties>
</file>