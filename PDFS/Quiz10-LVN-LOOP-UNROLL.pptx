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1514" r:id="rId2"/>
    <p:sldId id="2056" r:id="rId3"/>
    <p:sldId id="2077" r:id="rId4"/>
    <p:sldId id="2078" r:id="rId5"/>
    <p:sldId id="2079" r:id="rId6"/>
    <p:sldId id="2066" r:id="rId7"/>
    <p:sldId id="2069" r:id="rId8"/>
    <p:sldId id="2009" r:id="rId9"/>
    <p:sldId id="2035" r:id="rId10"/>
    <p:sldId id="2045" r:id="rId11"/>
    <p:sldId id="2068" r:id="rId12"/>
    <p:sldId id="2071" r:id="rId13"/>
    <p:sldId id="2067" r:id="rId14"/>
    <p:sldId id="2076" r:id="rId15"/>
    <p:sldId id="2062" r:id="rId16"/>
    <p:sldId id="2057" r:id="rId17"/>
    <p:sldId id="1937" r:id="rId18"/>
    <p:sldId id="561" r:id="rId19"/>
    <p:sldId id="1918" r:id="rId20"/>
    <p:sldId id="2059" r:id="rId21"/>
    <p:sldId id="2070" r:id="rId22"/>
    <p:sldId id="2061" r:id="rId23"/>
    <p:sldId id="2080" r:id="rId24"/>
    <p:sldId id="20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6405"/>
  </p:normalViewPr>
  <p:slideViewPr>
    <p:cSldViewPr snapToGrid="0" snapToObjects="1">
      <p:cViewPr varScale="1">
        <p:scale>
          <a:sx n="62" d="100"/>
          <a:sy n="62" d="100"/>
        </p:scale>
        <p:origin x="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hare/68421d3d-1b80-8002-a840-fa23ba96e66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share/6842291f-9a24-8002-9126-8f3bcfe4e082" TargetMode="External"/><Relationship Id="rId2" Type="http://schemas.openxmlformats.org/officeDocument/2006/relationships/hyperlink" Target="https://chatgpt.com/share/68421f7b-3d28-8002-b7bc-52961056ca2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0000-B9F9-C658-A156-0886E8E7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510" y="2766218"/>
            <a:ext cx="8777123" cy="1325563"/>
          </a:xfrm>
        </p:spPr>
        <p:txBody>
          <a:bodyPr/>
          <a:lstStyle/>
          <a:p>
            <a:r>
              <a:rPr lang="en-US" dirty="0"/>
              <a:t>QUIZ-10-LVN-AND-LOOP-UNROLLING</a:t>
            </a:r>
          </a:p>
        </p:txBody>
      </p:sp>
    </p:spTree>
    <p:extLst>
      <p:ext uri="{BB962C8B-B14F-4D97-AF65-F5344CB8AC3E}">
        <p14:creationId xmlns:p14="http://schemas.microsoft.com/office/powerpoint/2010/main" val="416718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39626B-EE6C-450F-6E1D-7236BBED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30087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Quiz  question 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3B54F9-7CE5-0D08-962E-5185E1347E09}"/>
              </a:ext>
            </a:extLst>
          </p:cNvPr>
          <p:cNvSpPr txBox="1"/>
          <p:nvPr/>
        </p:nvSpPr>
        <p:spPr>
          <a:xfrm>
            <a:off x="665922" y="394692"/>
            <a:ext cx="11353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simple grammar to parse functions like follows: </a:t>
            </a:r>
          </a:p>
          <a:p>
            <a:r>
              <a:rPr lang="en-US" i="1" dirty="0"/>
              <a:t>int main() { return 1 + 2;  }</a:t>
            </a:r>
            <a:endParaRPr lang="en-US" dirty="0"/>
          </a:p>
          <a:p>
            <a:r>
              <a:rPr lang="en-US" i="1" dirty="0"/>
              <a:t>void foo(int a, double b) { a = a + 1; b = b + 1; return; }</a:t>
            </a:r>
            <a:endParaRPr lang="en-US" dirty="0"/>
          </a:p>
          <a:p>
            <a:r>
              <a:rPr lang="en-US" dirty="0"/>
              <a:t>-----------------</a:t>
            </a:r>
          </a:p>
          <a:p>
            <a:r>
              <a:rPr lang="en-US" dirty="0"/>
              <a:t>You may use the format from your HW2 (like part 1.1), don't worry about left recursions, just the simple grammar. </a:t>
            </a:r>
            <a:r>
              <a:rPr lang="en-US" b="1" dirty="0"/>
              <a:t>You don't need to write the entire grammar</a:t>
            </a:r>
            <a:r>
              <a:rPr lang="en-US" dirty="0"/>
              <a:t>, just fill in the blanks. </a:t>
            </a:r>
          </a:p>
          <a:p>
            <a:r>
              <a:rPr lang="en-US" dirty="0"/>
              <a:t>You may use the same Tokens from HW2, and here are some new tokens </a:t>
            </a:r>
          </a:p>
          <a:p>
            <a:r>
              <a:rPr lang="en-US" dirty="0"/>
              <a:t>RETURN     - keyword 'return'</a:t>
            </a:r>
          </a:p>
          <a:p>
            <a:r>
              <a:rPr lang="en-US" dirty="0"/>
              <a:t>VOID           - keyword 'void'</a:t>
            </a:r>
          </a:p>
          <a:p>
            <a:r>
              <a:rPr lang="en-US" dirty="0"/>
              <a:t>Obviously, a function should have a </a:t>
            </a:r>
            <a:r>
              <a:rPr lang="en-US" b="1" dirty="0"/>
              <a:t>return type</a:t>
            </a:r>
            <a:r>
              <a:rPr lang="en-US" dirty="0"/>
              <a:t>, a </a:t>
            </a:r>
            <a:r>
              <a:rPr lang="en-US" b="1" dirty="0"/>
              <a:t>function name</a:t>
            </a:r>
            <a:r>
              <a:rPr lang="en-US" dirty="0"/>
              <a:t>, followed by a</a:t>
            </a:r>
            <a:r>
              <a:rPr lang="en-US" b="1" dirty="0"/>
              <a:t> list of arguments </a:t>
            </a:r>
            <a:r>
              <a:rPr lang="en-US" dirty="0"/>
              <a:t>enclosed by </a:t>
            </a:r>
            <a:r>
              <a:rPr lang="en-US" b="1" dirty="0" err="1"/>
              <a:t>parens</a:t>
            </a:r>
            <a:r>
              <a:rPr lang="en-US" b="1" dirty="0"/>
              <a:t>. </a:t>
            </a:r>
            <a:r>
              <a:rPr lang="en-US" dirty="0"/>
              <a:t>Then followed by a </a:t>
            </a:r>
            <a:r>
              <a:rPr lang="en-US" b="1" dirty="0"/>
              <a:t>block of statements</a:t>
            </a:r>
            <a:r>
              <a:rPr lang="en-US" dirty="0"/>
              <a:t>. And for our case, assume the list of arguments is "0 or more declaration statements". You should extend the 'statement' to contain a </a:t>
            </a:r>
            <a:r>
              <a:rPr lang="en-US" b="1" dirty="0" err="1"/>
              <a:t>return_statement</a:t>
            </a:r>
            <a:r>
              <a:rPr lang="en-US" b="1" dirty="0"/>
              <a:t>, </a:t>
            </a:r>
            <a:r>
              <a:rPr lang="en-US" dirty="0"/>
              <a:t>which may return an expression or may not. 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-----------------</a:t>
            </a:r>
          </a:p>
          <a:p>
            <a:r>
              <a:rPr lang="en-US" dirty="0"/>
              <a:t>Here is a template,</a:t>
            </a:r>
            <a:r>
              <a:rPr lang="en-US" b="1" dirty="0"/>
              <a:t> fill in the blanks:</a:t>
            </a:r>
            <a:endParaRPr lang="en-US" dirty="0"/>
          </a:p>
          <a:p>
            <a:r>
              <a:rPr lang="en-US" dirty="0"/>
              <a:t>... &lt;assume you have the reset of your grammar from HW2&gt;...</a:t>
            </a:r>
          </a:p>
          <a:p>
            <a:r>
              <a:rPr lang="en-US" i="1" dirty="0" err="1"/>
              <a:t>function_decl</a:t>
            </a:r>
            <a:r>
              <a:rPr lang="en-US" i="1" dirty="0"/>
              <a:t> := </a:t>
            </a:r>
            <a:r>
              <a:rPr lang="en-US" i="1" dirty="0" err="1"/>
              <a:t>return_type</a:t>
            </a:r>
            <a:r>
              <a:rPr lang="en-US" i="1" dirty="0"/>
              <a:t> ID LPARAN  </a:t>
            </a:r>
            <a:r>
              <a:rPr lang="en-US" i="1" dirty="0" err="1"/>
              <a:t>arg_list</a:t>
            </a:r>
            <a:r>
              <a:rPr lang="en-US" i="1" dirty="0"/>
              <a:t> RPARAN </a:t>
            </a:r>
            <a:r>
              <a:rPr lang="en-US" i="1" dirty="0" err="1"/>
              <a:t>block_stmt</a:t>
            </a:r>
            <a:endParaRPr lang="en-US" dirty="0"/>
          </a:p>
          <a:p>
            <a:r>
              <a:rPr lang="en-US" i="1" dirty="0" err="1"/>
              <a:t>arg_list</a:t>
            </a:r>
            <a:r>
              <a:rPr lang="en-US" i="1" dirty="0"/>
              <a:t> := ___________</a:t>
            </a:r>
            <a:endParaRPr lang="en-US" dirty="0"/>
          </a:p>
          <a:p>
            <a:r>
              <a:rPr lang="en-US" dirty="0" err="1"/>
              <a:t>return_type</a:t>
            </a:r>
            <a:r>
              <a:rPr lang="en-US" dirty="0"/>
              <a:t> := ___________</a:t>
            </a:r>
          </a:p>
          <a:p>
            <a:r>
              <a:rPr lang="en-US" dirty="0" err="1"/>
              <a:t>block_stmt</a:t>
            </a:r>
            <a:r>
              <a:rPr lang="en-US" dirty="0"/>
              <a:t> := ___________</a:t>
            </a:r>
          </a:p>
          <a:p>
            <a:r>
              <a:rPr lang="en-US" dirty="0"/>
              <a:t>statements := </a:t>
            </a:r>
            <a:r>
              <a:rPr lang="en-US" dirty="0" err="1"/>
              <a:t>assign_stmt</a:t>
            </a:r>
            <a:r>
              <a:rPr lang="en-US" dirty="0"/>
              <a:t> | </a:t>
            </a:r>
            <a:r>
              <a:rPr lang="en-US" dirty="0" err="1"/>
              <a:t>var_decl_stmt</a:t>
            </a:r>
            <a:r>
              <a:rPr lang="en-US" dirty="0"/>
              <a:t> | </a:t>
            </a:r>
            <a:r>
              <a:rPr lang="en-US" dirty="0" err="1"/>
              <a:t>if_else_stmt</a:t>
            </a:r>
            <a:r>
              <a:rPr lang="en-US" dirty="0"/>
              <a:t> | </a:t>
            </a:r>
            <a:r>
              <a:rPr lang="en-US" dirty="0" err="1"/>
              <a:t>for_stmt</a:t>
            </a:r>
            <a:r>
              <a:rPr lang="en-US" dirty="0"/>
              <a:t> | </a:t>
            </a:r>
            <a:r>
              <a:rPr lang="en-US" dirty="0" err="1"/>
              <a:t>block_stmt</a:t>
            </a:r>
            <a:r>
              <a:rPr lang="en-US" dirty="0"/>
              <a:t>  | </a:t>
            </a:r>
            <a:r>
              <a:rPr lang="en-US" dirty="0" err="1"/>
              <a:t>return_stmt</a:t>
            </a:r>
            <a:endParaRPr lang="en-US" dirty="0"/>
          </a:p>
          <a:p>
            <a:r>
              <a:rPr lang="en-US" dirty="0" err="1"/>
              <a:t>return_stmt</a:t>
            </a:r>
            <a:r>
              <a:rPr lang="en-US" dirty="0"/>
              <a:t> := ________</a:t>
            </a:r>
          </a:p>
        </p:txBody>
      </p:sp>
    </p:spTree>
    <p:extLst>
      <p:ext uri="{BB962C8B-B14F-4D97-AF65-F5344CB8AC3E}">
        <p14:creationId xmlns:p14="http://schemas.microsoft.com/office/powerpoint/2010/main" val="309448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76CD-EFB5-F9D5-B56E-CE178306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ADE840-9A87-72B5-F174-423999A3CFD8}"/>
              </a:ext>
            </a:extLst>
          </p:cNvPr>
          <p:cNvSpPr txBox="1"/>
          <p:nvPr/>
        </p:nvSpPr>
        <p:spPr>
          <a:xfrm>
            <a:off x="914401" y="145529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/>
              <a:t>function_decl</a:t>
            </a:r>
            <a:r>
              <a:rPr lang="en-US" i="1" dirty="0"/>
              <a:t> := </a:t>
            </a:r>
            <a:r>
              <a:rPr lang="en-US" i="1" dirty="0" err="1"/>
              <a:t>return_type</a:t>
            </a:r>
            <a:r>
              <a:rPr lang="en-US" i="1" dirty="0"/>
              <a:t> ID LPARAN  </a:t>
            </a:r>
            <a:r>
              <a:rPr lang="en-US" i="1" dirty="0" err="1"/>
              <a:t>arg_list</a:t>
            </a:r>
            <a:r>
              <a:rPr lang="en-US" i="1" dirty="0"/>
              <a:t> RPARAN </a:t>
            </a:r>
            <a:r>
              <a:rPr lang="en-US" i="1" dirty="0" err="1"/>
              <a:t>block_stmt</a:t>
            </a:r>
            <a:endParaRPr lang="en-US" dirty="0"/>
          </a:p>
          <a:p>
            <a:r>
              <a:rPr lang="en-US" i="1" dirty="0" err="1"/>
              <a:t>arg_list</a:t>
            </a:r>
            <a:r>
              <a:rPr lang="en-US" i="1" dirty="0"/>
              <a:t> := ___________</a:t>
            </a:r>
            <a:endParaRPr lang="en-US" dirty="0"/>
          </a:p>
          <a:p>
            <a:r>
              <a:rPr lang="en-US" dirty="0" err="1"/>
              <a:t>return_type</a:t>
            </a:r>
            <a:r>
              <a:rPr lang="en-US" dirty="0"/>
              <a:t> := ___________</a:t>
            </a:r>
          </a:p>
          <a:p>
            <a:r>
              <a:rPr lang="en-US" dirty="0" err="1"/>
              <a:t>block_stmt</a:t>
            </a:r>
            <a:r>
              <a:rPr lang="en-US" dirty="0"/>
              <a:t> := ___________</a:t>
            </a:r>
          </a:p>
          <a:p>
            <a:r>
              <a:rPr lang="en-US" dirty="0"/>
              <a:t>statements := </a:t>
            </a:r>
            <a:r>
              <a:rPr lang="en-US" dirty="0" err="1"/>
              <a:t>assign_stmt</a:t>
            </a:r>
            <a:r>
              <a:rPr lang="en-US" dirty="0"/>
              <a:t> | </a:t>
            </a:r>
            <a:r>
              <a:rPr lang="en-US" dirty="0" err="1"/>
              <a:t>var_decl_stmt</a:t>
            </a:r>
            <a:r>
              <a:rPr lang="en-US" dirty="0"/>
              <a:t> | </a:t>
            </a:r>
            <a:r>
              <a:rPr lang="en-US" dirty="0" err="1"/>
              <a:t>if_else_stmt</a:t>
            </a:r>
            <a:r>
              <a:rPr lang="en-US" dirty="0"/>
              <a:t> | </a:t>
            </a:r>
            <a:r>
              <a:rPr lang="en-US" dirty="0" err="1"/>
              <a:t>for_stmt</a:t>
            </a:r>
            <a:r>
              <a:rPr lang="en-US" dirty="0"/>
              <a:t> | </a:t>
            </a:r>
            <a:r>
              <a:rPr lang="en-US" dirty="0" err="1"/>
              <a:t>block_stmt</a:t>
            </a:r>
            <a:r>
              <a:rPr lang="en-US" dirty="0"/>
              <a:t>  | </a:t>
            </a:r>
            <a:r>
              <a:rPr lang="en-US" dirty="0" err="1"/>
              <a:t>return_stmt</a:t>
            </a:r>
            <a:endParaRPr lang="en-US" dirty="0"/>
          </a:p>
          <a:p>
            <a:r>
              <a:rPr lang="en-US" dirty="0" err="1"/>
              <a:t>return_stmt</a:t>
            </a:r>
            <a:r>
              <a:rPr lang="en-US" dirty="0"/>
              <a:t> := ________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56A05-DA93-9B4C-CD02-41D938A3C6F2}"/>
              </a:ext>
            </a:extLst>
          </p:cNvPr>
          <p:cNvSpPr txBox="1"/>
          <p:nvPr/>
        </p:nvSpPr>
        <p:spPr>
          <a:xfrm>
            <a:off x="914401" y="331304"/>
            <a:ext cx="10098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void foo(int a, double b) { a = a + 1; b = b + 1; return; 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43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26EA-9342-7DD8-5BE7-41FDC8C6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B67C54B-3109-39EC-D2C4-FB3B817F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40B88-5DAF-F58B-F748-12BD0110144D}"/>
              </a:ext>
            </a:extLst>
          </p:cNvPr>
          <p:cNvSpPr txBox="1"/>
          <p:nvPr/>
        </p:nvSpPr>
        <p:spPr>
          <a:xfrm>
            <a:off x="1061545" y="1325563"/>
            <a:ext cx="93016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Discuss some compiler optimizations that could be done on the following program? Do you think modern compilers do the optimizations that you are proposing?</a:t>
            </a:r>
            <a:br>
              <a:rPr lang="en-US"/>
            </a:br>
            <a:br>
              <a:rPr lang="en-US"/>
            </a:br>
            <a:endParaRPr lang="en-US"/>
          </a:p>
          <a:p>
            <a:pPr latinLnBrk="1"/>
            <a:r>
              <a:rPr lang="en-US"/>
              <a:t>  int a = 30;</a:t>
            </a:r>
          </a:p>
          <a:p>
            <a:pPr latinLnBrk="1"/>
            <a:r>
              <a:rPr lang="en-US"/>
              <a:t>  int b = 9 - (a / 5);</a:t>
            </a:r>
          </a:p>
          <a:p>
            <a:pPr latinLnBrk="1"/>
            <a:r>
              <a:rPr lang="en-US"/>
              <a:t>  int c;</a:t>
            </a:r>
          </a:p>
          <a:p>
            <a:pPr latinLnBrk="1"/>
            <a:endParaRPr lang="en-US"/>
          </a:p>
          <a:p>
            <a:pPr latinLnBrk="1"/>
            <a:r>
              <a:rPr lang="en-US"/>
              <a:t>  c = b * 4;</a:t>
            </a:r>
          </a:p>
          <a:p>
            <a:pPr latinLnBrk="1"/>
            <a:r>
              <a:rPr lang="en-US"/>
              <a:t>  if (c &gt; 10) {</a:t>
            </a:r>
          </a:p>
          <a:p>
            <a:pPr latinLnBrk="1"/>
            <a:r>
              <a:rPr lang="en-US"/>
              <a:t>     c = c - 10;</a:t>
            </a:r>
          </a:p>
          <a:p>
            <a:pPr latinLnBrk="1"/>
            <a:r>
              <a:rPr lang="en-US"/>
              <a:t>  }</a:t>
            </a:r>
          </a:p>
          <a:p>
            <a:pPr latinLnBrk="1"/>
            <a:r>
              <a:rPr lang="en-US"/>
              <a:t>  return c * (60 / a);</a:t>
            </a:r>
          </a:p>
        </p:txBody>
      </p:sp>
    </p:spTree>
    <p:extLst>
      <p:ext uri="{BB962C8B-B14F-4D97-AF65-F5344CB8AC3E}">
        <p14:creationId xmlns:p14="http://schemas.microsoft.com/office/powerpoint/2010/main" val="95028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3349-9B8C-4036-86BF-F8939499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C6345F8-C632-EC02-2FEC-2BF77964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3.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5C610-5677-B359-DD62-C4BB659D0E93}"/>
              </a:ext>
            </a:extLst>
          </p:cNvPr>
          <p:cNvSpPr txBox="1"/>
          <p:nvPr/>
        </p:nvSpPr>
        <p:spPr>
          <a:xfrm>
            <a:off x="716989" y="1348375"/>
            <a:ext cx="93016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Describe some compiler optimizations you know of. Write one (or more) small example program on Godbolt and look at the </a:t>
            </a:r>
            <a:r>
              <a:rPr lang="en-US" dirty="0" err="1"/>
              <a:t>llvm</a:t>
            </a:r>
            <a:r>
              <a:rPr lang="en-US" dirty="0"/>
              <a:t> IR (using -emit-</a:t>
            </a:r>
            <a:r>
              <a:rPr lang="en-US" dirty="0" err="1"/>
              <a:t>llvm</a:t>
            </a:r>
            <a:r>
              <a:rPr lang="en-US" dirty="0"/>
              <a:t> on a clang compiler) or ISA code. You can also play with optimization flags (-O0, -O3, </a:t>
            </a:r>
            <a:r>
              <a:rPr lang="en-US" dirty="0" err="1"/>
              <a:t>etc</a:t>
            </a:r>
            <a:r>
              <a:rPr lang="en-US" dirty="0"/>
              <a:t>). Did the compiler do the optimization you thought of? </a:t>
            </a:r>
          </a:p>
          <a:p>
            <a:endParaRPr lang="en-US" dirty="0"/>
          </a:p>
          <a:p>
            <a:r>
              <a:rPr lang="en-US" dirty="0"/>
              <a:t>Describe your program and the optimization below. Feel free to share your experiment on piazza!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65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AC9E-C113-FA3E-C95A-C9BA0D3F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2C4E5C8-6322-295D-A2B0-2E344FF4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Quiz  question 4.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B966B7-D007-4F35-8AD7-195EEE597292}"/>
              </a:ext>
            </a:extLst>
          </p:cNvPr>
          <p:cNvSpPr txBox="1"/>
          <p:nvPr/>
        </p:nvSpPr>
        <p:spPr>
          <a:xfrm>
            <a:off x="977462" y="1378115"/>
            <a:ext cx="10376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loops without control flow in the loop body can be unrolled</a:t>
            </a:r>
          </a:p>
          <a:p>
            <a:endParaRPr lang="en-US" dirty="0"/>
          </a:p>
          <a:p>
            <a:r>
              <a:rPr lang="en-US" dirty="0"/>
              <a:t>[  ] True</a:t>
            </a:r>
          </a:p>
          <a:p>
            <a:r>
              <a:rPr lang="en-US" dirty="0"/>
              <a:t>[  ] False</a:t>
            </a:r>
          </a:p>
        </p:txBody>
      </p:sp>
    </p:spTree>
    <p:extLst>
      <p:ext uri="{BB962C8B-B14F-4D97-AF65-F5344CB8AC3E}">
        <p14:creationId xmlns:p14="http://schemas.microsoft.com/office/powerpoint/2010/main" val="174439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9F6A-0E62-5A01-F948-5944E8EA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F284C7-F219-4AD6-67BB-0C84C74AD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Quiz  question 4.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6C8FC-FB43-C532-289C-9CDACE3577DA}"/>
              </a:ext>
            </a:extLst>
          </p:cNvPr>
          <p:cNvSpPr txBox="1"/>
          <p:nvPr/>
        </p:nvSpPr>
        <p:spPr>
          <a:xfrm>
            <a:off x="977462" y="1378115"/>
            <a:ext cx="10376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loops without control flow in the loop body can be unrolled</a:t>
            </a:r>
          </a:p>
          <a:p>
            <a:endParaRPr lang="en-US" dirty="0"/>
          </a:p>
          <a:p>
            <a:r>
              <a:rPr lang="en-US" dirty="0"/>
              <a:t>[  ] True</a:t>
            </a:r>
          </a:p>
          <a:p>
            <a:r>
              <a:rPr lang="en-US" dirty="0"/>
              <a:t>[ v] False</a:t>
            </a:r>
          </a:p>
          <a:p>
            <a:endParaRPr lang="en-US" dirty="0"/>
          </a:p>
          <a:p>
            <a:r>
              <a:rPr lang="en-US" dirty="0"/>
              <a:t>Control flow most not be such that other considerations are not violated.</a:t>
            </a:r>
          </a:p>
          <a:p>
            <a:r>
              <a:rPr lang="en-US" dirty="0"/>
              <a:t>But it is possible to have control flow in the body and still unroll.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025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2"/>
          </a:xfrm>
        </p:spPr>
        <p:txBody>
          <a:bodyPr>
            <a:normAutofit/>
          </a:bodyPr>
          <a:lstStyle/>
          <a:p>
            <a:r>
              <a:rPr lang="en-US" dirty="0"/>
              <a:t>Several ways to unroll</a:t>
            </a:r>
          </a:p>
          <a:p>
            <a:pPr lvl="1"/>
            <a:r>
              <a:rPr lang="en-US" dirty="0"/>
              <a:t>More constraints: Simpler to unroll in code gen, more things to check</a:t>
            </a:r>
          </a:p>
          <a:p>
            <a:pPr lvl="1"/>
            <a:r>
              <a:rPr lang="en-US" dirty="0"/>
              <a:t>Less constraints: less things to check, harder to unroll in code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A1107-FC73-F389-F816-DA5E715BF0AA}"/>
              </a:ext>
            </a:extLst>
          </p:cNvPr>
          <p:cNvSpPr txBox="1"/>
          <p:nvPr/>
        </p:nvSpPr>
        <p:spPr>
          <a:xfrm>
            <a:off x="2784016" y="3432728"/>
            <a:ext cx="5876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Base constraints (required for any unrolling):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E318-40C4-EF53-5F40-5535C4052342}"/>
              </a:ext>
            </a:extLst>
          </p:cNvPr>
          <p:cNvSpPr txBox="1"/>
          <p:nvPr/>
        </p:nvSpPr>
        <p:spPr>
          <a:xfrm>
            <a:off x="3124991" y="4402048"/>
            <a:ext cx="5629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  <a:p>
            <a:r>
              <a:rPr lang="en-US" dirty="0"/>
              <a:t>3. </a:t>
            </a:r>
            <a:r>
              <a:rPr lang="en-US" b="1" dirty="0"/>
              <a:t>check</a:t>
            </a:r>
            <a:r>
              <a:rPr lang="en-US" dirty="0"/>
              <a:t> that it matches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00FFFF"/>
                </a:highlight>
              </a:rPr>
              <a:t>assignment_statement</a:t>
            </a:r>
            <a:endParaRPr lang="en-US" dirty="0">
              <a:highlight>
                <a:srgbClr val="FF00FF"/>
              </a:highlight>
            </a:endParaRPr>
          </a:p>
          <a:p>
            <a:r>
              <a:rPr lang="en-US" dirty="0"/>
              <a:t>4. </a:t>
            </a:r>
            <a:r>
              <a:rPr lang="en-US" b="1" dirty="0"/>
              <a:t>check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loop condition</a:t>
            </a:r>
          </a:p>
          <a:p>
            <a:r>
              <a:rPr lang="en-US" dirty="0"/>
              <a:t>     * check that candidate variable is on </a:t>
            </a:r>
            <a:r>
              <a:rPr lang="en-US" dirty="0" err="1"/>
              <a:t>lhs</a:t>
            </a:r>
            <a:br>
              <a:rPr lang="en-US" dirty="0"/>
            </a:br>
            <a:r>
              <a:rPr lang="en-US" dirty="0"/>
              <a:t>     * check that the </a:t>
            </a:r>
            <a:r>
              <a:rPr lang="en-US" dirty="0" err="1"/>
              <a:t>rhs</a:t>
            </a:r>
            <a:r>
              <a:rPr lang="en-US" dirty="0"/>
              <a:t> is a literal </a:t>
            </a:r>
          </a:p>
          <a:p>
            <a:r>
              <a:rPr lang="en-US" dirty="0"/>
              <a:t>        (i.e. a compile time constant value, e.g. </a:t>
            </a:r>
            <a:r>
              <a:rPr lang="en-US" dirty="0" err="1"/>
              <a:t>i</a:t>
            </a:r>
            <a:r>
              <a:rPr lang="en-US" dirty="0"/>
              <a:t>&lt;10*12)</a:t>
            </a:r>
          </a:p>
        </p:txBody>
      </p:sp>
    </p:spTree>
    <p:extLst>
      <p:ext uri="{BB962C8B-B14F-4D97-AF65-F5344CB8AC3E}">
        <p14:creationId xmlns:p14="http://schemas.microsoft.com/office/powerpoint/2010/main" val="77730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4759518" cy="1458264"/>
          </a:xfrm>
        </p:spPr>
        <p:txBody>
          <a:bodyPr>
            <a:normAutofit/>
          </a:bodyPr>
          <a:lstStyle/>
          <a:p>
            <a:r>
              <a:rPr lang="en-US" dirty="0"/>
              <a:t>Simple unroll</a:t>
            </a:r>
          </a:p>
          <a:p>
            <a:pPr lvl="1"/>
            <a:r>
              <a:rPr lang="en-US" dirty="0"/>
              <a:t>Most constraints</a:t>
            </a:r>
          </a:p>
          <a:p>
            <a:pPr lvl="1"/>
            <a:r>
              <a:rPr lang="en-US" dirty="0"/>
              <a:t>Easiest code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6213944" y="2664613"/>
            <a:ext cx="51598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 (LI)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 must divide LI evenly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Simple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a new body = body + (update + body)*(F-1)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6213944" y="2089608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</p:spTree>
    <p:extLst>
      <p:ext uri="{BB962C8B-B14F-4D97-AF65-F5344CB8AC3E}">
        <p14:creationId xmlns:p14="http://schemas.microsoft.com/office/powerpoint/2010/main" val="71167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4759518" cy="1458264"/>
          </a:xfrm>
        </p:spPr>
        <p:txBody>
          <a:bodyPr>
            <a:normAutofit/>
          </a:bodyPr>
          <a:lstStyle/>
          <a:p>
            <a:r>
              <a:rPr lang="en-US" dirty="0"/>
              <a:t>general unroll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4397071" y="2948873"/>
            <a:ext cx="55154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General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iterations, LI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General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simple unrolled loop with new bound: (LI/F)*F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cleanup (basic) loop with initialization: (LI/F)*F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5788550" y="2454944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BAF42-8585-434F-8373-709A4401BCAA}"/>
              </a:ext>
            </a:extLst>
          </p:cNvPr>
          <p:cNvSpPr txBox="1"/>
          <p:nvPr/>
        </p:nvSpPr>
        <p:spPr>
          <a:xfrm>
            <a:off x="4007457" y="5772647"/>
            <a:ext cx="437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None of these numbers have to be concrete!</a:t>
            </a:r>
          </a:p>
        </p:txBody>
      </p:sp>
    </p:spTree>
    <p:extLst>
      <p:ext uri="{BB962C8B-B14F-4D97-AF65-F5344CB8AC3E}">
        <p14:creationId xmlns:p14="http://schemas.microsoft.com/office/powerpoint/2010/main" val="220468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7FE8-54A7-2346-649B-8F45F1DB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FA9A225-2CAE-7DCC-FD58-D6CB7D05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3CCD64-78BA-A8F5-EF95-35A726173750}"/>
              </a:ext>
            </a:extLst>
          </p:cNvPr>
          <p:cNvSpPr txBox="1"/>
          <p:nvPr/>
        </p:nvSpPr>
        <p:spPr>
          <a:xfrm>
            <a:off x="1040524" y="1744717"/>
            <a:ext cx="94698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Many compilers allow you to annotate loops with `pragma` operations to tell the compiler to unroll loops, and by how much. For example, in Clang, you can annotate a loop with `#pragma clang loop </a:t>
            </a:r>
            <a:r>
              <a:rPr lang="en-US" dirty="0" err="1"/>
              <a:t>unroll_count</a:t>
            </a:r>
            <a:r>
              <a:rPr lang="en-US" dirty="0"/>
              <a:t>(2)` to unroll a loop by a factor of 2.</a:t>
            </a:r>
          </a:p>
          <a:p>
            <a:endParaRPr lang="en-US" dirty="0"/>
          </a:p>
          <a:p>
            <a:r>
              <a:rPr lang="en-US" dirty="0"/>
              <a:t>Describe a case where you as a program may want to tell the compiler how many times to unroll a loop (or tell the compiler not to unroll a loop at all)</a:t>
            </a:r>
          </a:p>
        </p:txBody>
      </p:sp>
    </p:spTree>
    <p:extLst>
      <p:ext uri="{BB962C8B-B14F-4D97-AF65-F5344CB8AC3E}">
        <p14:creationId xmlns:p14="http://schemas.microsoft.com/office/powerpoint/2010/main" val="295578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4255-F380-61A2-24D9-E7F4335A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2083A5-5565-7611-D145-5D23AE32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8E752-8E8C-4499-28F0-203A88B4A2A5}"/>
              </a:ext>
            </a:extLst>
          </p:cNvPr>
          <p:cNvSpPr txBox="1"/>
          <p:nvPr/>
        </p:nvSpPr>
        <p:spPr>
          <a:xfrm>
            <a:off x="1040524" y="1744717"/>
            <a:ext cx="94698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Many compilers allow you to annotate loops with `pragma` operations to tell the compiler to unroll loops, and by how much. For example, in Clang, you can annotate a loop with `#pragma clang loop </a:t>
            </a:r>
            <a:r>
              <a:rPr lang="en-US" dirty="0" err="1"/>
              <a:t>unroll_count</a:t>
            </a:r>
            <a:r>
              <a:rPr lang="en-US" dirty="0"/>
              <a:t>(2)` to unroll a loop by a factor of 2.</a:t>
            </a:r>
          </a:p>
          <a:p>
            <a:endParaRPr lang="en-US" dirty="0"/>
          </a:p>
          <a:p>
            <a:r>
              <a:rPr lang="en-US" dirty="0"/>
              <a:t>Describe a case where you as a program may want to tell the compiler how many times to unroll a loop (or tell the compiler not to unroll a loop at all)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11CD7-5F18-69A0-1C2F-7A4EC65CB5A1}"/>
              </a:ext>
            </a:extLst>
          </p:cNvPr>
          <p:cNvSpPr txBox="1"/>
          <p:nvPr/>
        </p:nvSpPr>
        <p:spPr>
          <a:xfrm>
            <a:off x="851338" y="3752193"/>
            <a:ext cx="96590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 Considerations may be:</a:t>
            </a:r>
          </a:p>
          <a:p>
            <a:r>
              <a:rPr lang="en-US" sz="2400" dirty="0"/>
              <a:t>     * Sensitivity to Code Size (e.g. embedded applications, so you may </a:t>
            </a:r>
          </a:p>
          <a:p>
            <a:r>
              <a:rPr lang="en-US" sz="2400" dirty="0"/>
              <a:t>        want to restrict loop unrolling optimization)</a:t>
            </a:r>
          </a:p>
          <a:p>
            <a:r>
              <a:rPr lang="en-US" sz="2400" dirty="0"/>
              <a:t>     * Pipelining considerations due to loop body interdependencies </a:t>
            </a:r>
          </a:p>
          <a:p>
            <a:r>
              <a:rPr lang="en-US" sz="2400" dirty="0"/>
              <a:t>     * Possible tuning to hardware (e.g. SIMD, superscalar processors, etc.)</a:t>
            </a:r>
          </a:p>
          <a:p>
            <a:r>
              <a:rPr lang="en-US" sz="2400" dirty="0"/>
              <a:t>     * Possible effects on cache locality</a:t>
            </a:r>
          </a:p>
          <a:p>
            <a:r>
              <a:rPr lang="en-US" sz="2400" dirty="0"/>
              <a:t>     </a:t>
            </a:r>
          </a:p>
          <a:p>
            <a:r>
              <a:rPr lang="en-US" sz="2400" dirty="0"/>
              <a:t>     </a:t>
            </a:r>
          </a:p>
          <a:p>
            <a:r>
              <a:rPr lang="en-US" sz="2400" dirty="0"/>
              <a:t>     </a:t>
            </a:r>
          </a:p>
          <a:p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41522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B86C-B0EA-3E07-FDE4-B905B084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D7261-56C3-32EC-324D-EEE8FACE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71134"/>
            <a:ext cx="7772400" cy="151573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4273D15-D569-2F26-DA8C-B22D34BB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6.</a:t>
            </a:r>
          </a:p>
        </p:txBody>
      </p:sp>
    </p:spTree>
    <p:extLst>
      <p:ext uri="{BB962C8B-B14F-4D97-AF65-F5344CB8AC3E}">
        <p14:creationId xmlns:p14="http://schemas.microsoft.com/office/powerpoint/2010/main" val="4287675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7B56-82FF-17E6-7CFA-61C96A00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86A16-7CA1-EF3C-4263-FBF031EF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71134"/>
            <a:ext cx="7772400" cy="151573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894B596-D148-A7C8-BA77-AACBC8A5F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6.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78D24D-15DF-0A3A-75A4-BDF4FABE709E}"/>
              </a:ext>
            </a:extLst>
          </p:cNvPr>
          <p:cNvSpPr txBox="1"/>
          <p:nvPr/>
        </p:nvSpPr>
        <p:spPr>
          <a:xfrm>
            <a:off x="2312125" y="4348145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False, local value numbering occurs after IR code has been generated.</a:t>
            </a:r>
          </a:p>
        </p:txBody>
      </p:sp>
    </p:spTree>
    <p:extLst>
      <p:ext uri="{BB962C8B-B14F-4D97-AF65-F5344CB8AC3E}">
        <p14:creationId xmlns:p14="http://schemas.microsoft.com/office/powerpoint/2010/main" val="173253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48DD-769A-4C48-BD2E-6BCDA546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(question 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EDFEF-6EBE-C470-E003-9B354E350E8D}"/>
              </a:ext>
            </a:extLst>
          </p:cNvPr>
          <p:cNvSpPr txBox="1"/>
          <p:nvPr/>
        </p:nvSpPr>
        <p:spPr>
          <a:xfrm>
            <a:off x="1564382" y="4964490"/>
            <a:ext cx="258115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b4 = a2 - d3;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c5 = b4 + c1;</a:t>
            </a:r>
          </a:p>
          <a:p>
            <a:r>
              <a:rPr lang="en-US" sz="2400" dirty="0">
                <a:latin typeface="Courier" pitchFamily="2" charset="0"/>
              </a:rPr>
              <a:t>d6 = a2 - d3;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94E4E2-BF7E-168B-8118-27A76D538ADC}"/>
              </a:ext>
            </a:extLst>
          </p:cNvPr>
          <p:cNvCxnSpPr>
            <a:cxnSpLocks/>
          </p:cNvCxnSpPr>
          <p:nvPr/>
        </p:nvCxnSpPr>
        <p:spPr>
          <a:xfrm>
            <a:off x="969913" y="5187811"/>
            <a:ext cx="432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883607-45AA-79C9-F85D-DACEA36D1F06}"/>
              </a:ext>
            </a:extLst>
          </p:cNvPr>
          <p:cNvSpPr txBox="1"/>
          <p:nvPr/>
        </p:nvSpPr>
        <p:spPr>
          <a:xfrm>
            <a:off x="5984240" y="4864645"/>
            <a:ext cx="33554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H = {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    “b0 + c1” : “a2”,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CA30B5-A554-945A-9759-6A1D0B009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40" y="1520825"/>
            <a:ext cx="10515600" cy="28682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Local value numbering operates over 3 address code</a:t>
            </a:r>
          </a:p>
          <a:p>
            <a:r>
              <a:rPr lang="en-US" dirty="0"/>
              <a:t>The parser produces 3 address code</a:t>
            </a:r>
          </a:p>
          <a:p>
            <a:r>
              <a:rPr lang="en-US" dirty="0"/>
              <a:t>It is very rare that the parser may use LVN, since LVN is typically</a:t>
            </a:r>
          </a:p>
          <a:p>
            <a:pPr marL="0" indent="0">
              <a:buNone/>
            </a:pPr>
            <a:r>
              <a:rPr lang="en-US" dirty="0"/>
              <a:t>   performed at a later stage,  but it is possible to want to do it in </a:t>
            </a:r>
          </a:p>
          <a:p>
            <a:pPr marL="0" indent="0">
              <a:buNone/>
            </a:pPr>
            <a:r>
              <a:rPr lang="en-US" dirty="0"/>
              <a:t>   some cases.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400" dirty="0">
                <a:hlinkClick r:id="rId2"/>
              </a:rPr>
              <a:t>https://chatgpt.com/share/68421d3d-1b80-8002-a840-fa23ba96e66e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43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59D0FD-6829-0714-601B-89C92FD18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01170"/>
            <a:ext cx="7772400" cy="165565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2AE4759-2FF0-3C59-6E80-CE0BB206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7.</a:t>
            </a:r>
          </a:p>
        </p:txBody>
      </p:sp>
    </p:spTree>
    <p:extLst>
      <p:ext uri="{BB962C8B-B14F-4D97-AF65-F5344CB8AC3E}">
        <p14:creationId xmlns:p14="http://schemas.microsoft.com/office/powerpoint/2010/main" val="3969318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B338-A400-24F1-FEB3-215C7DCE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(question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4969-2DF0-834C-7305-A6DCCBA23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about basic blocks</a:t>
            </a:r>
          </a:p>
        </p:txBody>
      </p:sp>
    </p:spTree>
    <p:extLst>
      <p:ext uri="{BB962C8B-B14F-4D97-AF65-F5344CB8AC3E}">
        <p14:creationId xmlns:p14="http://schemas.microsoft.com/office/powerpoint/2010/main" val="3736191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7B3D-8D00-2049-8161-2022F7B5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95C5A-D4F8-554F-9C82-3AB1104FDF00}"/>
              </a:ext>
            </a:extLst>
          </p:cNvPr>
          <p:cNvSpPr txBox="1"/>
          <p:nvPr/>
        </p:nvSpPr>
        <p:spPr>
          <a:xfrm>
            <a:off x="10515625" y="4341812"/>
            <a:ext cx="1287532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 err="1">
                <a:latin typeface="Courier" pitchFamily="2" charset="0"/>
              </a:rPr>
              <a:t>Label_x</a:t>
            </a:r>
            <a:r>
              <a:rPr lang="en-US" i="1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op1;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op2;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op3;</a:t>
            </a:r>
            <a:br>
              <a:rPr lang="en-US" dirty="0">
                <a:latin typeface="Courier" pitchFamily="2" charset="0"/>
              </a:rPr>
            </a:br>
            <a:br>
              <a:rPr lang="en-US" dirty="0">
                <a:latin typeface="Courier" pitchFamily="2" charset="0"/>
              </a:rPr>
            </a:br>
            <a:r>
              <a:rPr lang="en-US" dirty="0" err="1">
                <a:latin typeface="Courier" pitchFamily="2" charset="0"/>
              </a:rPr>
              <a:t>Label_y</a:t>
            </a:r>
            <a:r>
              <a:rPr lang="en-US" dirty="0">
                <a:latin typeface="Courier" pitchFamily="2" charset="0"/>
              </a:rPr>
              <a:t>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op4;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op5;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83F2A-FE2E-854F-8BDB-B917D5BF7ADA}"/>
              </a:ext>
            </a:extLst>
          </p:cNvPr>
          <p:cNvSpPr txBox="1"/>
          <p:nvPr/>
        </p:nvSpPr>
        <p:spPr>
          <a:xfrm>
            <a:off x="7798864" y="4806283"/>
            <a:ext cx="170110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 err="1">
                <a:latin typeface="Courier" pitchFamily="2" charset="0"/>
              </a:rPr>
              <a:t>Label_x</a:t>
            </a:r>
            <a:r>
              <a:rPr lang="en-US" i="1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op1;</a:t>
            </a:r>
          </a:p>
          <a:p>
            <a:r>
              <a:rPr lang="en-US" dirty="0">
                <a:latin typeface="Courier" pitchFamily="2" charset="0"/>
              </a:rPr>
              <a:t>op2;</a:t>
            </a:r>
          </a:p>
          <a:p>
            <a:r>
              <a:rPr lang="en-US" dirty="0">
                <a:latin typeface="Courier" pitchFamily="2" charset="0"/>
              </a:rPr>
              <a:t>op3;</a:t>
            </a:r>
          </a:p>
          <a:p>
            <a:r>
              <a:rPr lang="en-US" dirty="0" err="1">
                <a:latin typeface="Courier" pitchFamily="2" charset="0"/>
              </a:rPr>
              <a:t>br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 err="1">
                <a:latin typeface="Courier" pitchFamily="2" charset="0"/>
              </a:rPr>
              <a:t>label_z</a:t>
            </a:r>
            <a:r>
              <a:rPr lang="en-US" dirty="0">
                <a:latin typeface="Courier" pitchFamily="2" charset="0"/>
              </a:rPr>
              <a:t>;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B1A7B-F103-F540-B18C-6A6C2E390D3A}"/>
              </a:ext>
            </a:extLst>
          </p:cNvPr>
          <p:cNvSpPr txBox="1"/>
          <p:nvPr/>
        </p:nvSpPr>
        <p:spPr>
          <a:xfrm>
            <a:off x="8515844" y="437992"/>
            <a:ext cx="283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might they appear in a </a:t>
            </a:r>
            <a:br>
              <a:rPr lang="en-US" dirty="0"/>
            </a:br>
            <a:r>
              <a:rPr lang="en-US" dirty="0"/>
              <a:t>high-level language?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F716E-5B57-BD4E-A45E-7CD0742E47B4}"/>
              </a:ext>
            </a:extLst>
          </p:cNvPr>
          <p:cNvSpPr txBox="1"/>
          <p:nvPr/>
        </p:nvSpPr>
        <p:spPr>
          <a:xfrm>
            <a:off x="9209967" y="1505990"/>
            <a:ext cx="170110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…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if (expr) {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 …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else {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…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  <a:p>
            <a:r>
              <a:rPr lang="en-US" dirty="0">
                <a:latin typeface="Courier" pitchFamily="2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AF7E6-4934-7841-A836-FF9A4A4F36B1}"/>
              </a:ext>
            </a:extLst>
          </p:cNvPr>
          <p:cNvSpPr txBox="1"/>
          <p:nvPr/>
        </p:nvSpPr>
        <p:spPr>
          <a:xfrm>
            <a:off x="7673830" y="438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Basic Block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13F75-6473-E944-B450-A48000F54E96}"/>
              </a:ext>
            </a:extLst>
          </p:cNvPr>
          <p:cNvSpPr txBox="1"/>
          <p:nvPr/>
        </p:nvSpPr>
        <p:spPr>
          <a:xfrm>
            <a:off x="10246320" y="3954561"/>
            <a:ext cx="17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Basic Blocks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E81FA-A522-264A-939F-E36DD0988EDB}"/>
              </a:ext>
            </a:extLst>
          </p:cNvPr>
          <p:cNvSpPr txBox="1"/>
          <p:nvPr/>
        </p:nvSpPr>
        <p:spPr>
          <a:xfrm>
            <a:off x="9063173" y="1181109"/>
            <a:ext cx="245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 basic blocks?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9FB716-DD97-8549-BD53-1CCB90DB1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91597" cy="4388908"/>
          </a:xfrm>
        </p:spPr>
        <p:txBody>
          <a:bodyPr/>
          <a:lstStyle/>
          <a:p>
            <a:r>
              <a:rPr lang="en-US" dirty="0"/>
              <a:t>Programs can be split into </a:t>
            </a:r>
            <a:r>
              <a:rPr lang="en-US" b="1" dirty="0"/>
              <a:t>Basic Blocks:</a:t>
            </a:r>
          </a:p>
          <a:p>
            <a:pPr lvl="1"/>
            <a:r>
              <a:rPr lang="en-US" dirty="0"/>
              <a:t>A sequence of 3 address instructions such that:</a:t>
            </a:r>
          </a:p>
          <a:p>
            <a:pPr lvl="1"/>
            <a:r>
              <a:rPr lang="en-US" dirty="0"/>
              <a:t>There is a single entry, single exit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i="1" dirty="0"/>
              <a:t>Important property</a:t>
            </a:r>
            <a:r>
              <a:rPr lang="en-US" dirty="0"/>
              <a:t>: an instruction</a:t>
            </a:r>
            <a:br>
              <a:rPr lang="en-US" dirty="0"/>
            </a:br>
            <a:r>
              <a:rPr lang="en-US" dirty="0"/>
              <a:t>in a basic block can assume that all</a:t>
            </a:r>
            <a:br>
              <a:rPr lang="en-US" dirty="0"/>
            </a:br>
            <a:r>
              <a:rPr lang="en-US" dirty="0"/>
              <a:t>preceding instructions will execute</a:t>
            </a:r>
          </a:p>
        </p:txBody>
      </p:sp>
    </p:spTree>
    <p:extLst>
      <p:ext uri="{BB962C8B-B14F-4D97-AF65-F5344CB8AC3E}">
        <p14:creationId xmlns:p14="http://schemas.microsoft.com/office/powerpoint/2010/main" val="3544131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3027-CE1D-144E-B93B-AA690453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4DDD0-B82A-FA50-3597-39C8AF22835A}"/>
              </a:ext>
            </a:extLst>
          </p:cNvPr>
          <p:cNvSpPr txBox="1"/>
          <p:nvPr/>
        </p:nvSpPr>
        <p:spPr>
          <a:xfrm>
            <a:off x="4532752" y="781764"/>
            <a:ext cx="156324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latin typeface="Courier" pitchFamily="2" charset="0"/>
              </a:rPr>
              <a:t>Label_0:</a:t>
            </a:r>
          </a:p>
          <a:p>
            <a:r>
              <a:rPr lang="en-US" dirty="0">
                <a:latin typeface="Courier" pitchFamily="2" charset="0"/>
              </a:rPr>
              <a:t>x = a + b;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y = a + b;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29F37-B431-2DA7-A23F-A3A7476BDFD1}"/>
              </a:ext>
            </a:extLst>
          </p:cNvPr>
          <p:cNvSpPr txBox="1"/>
          <p:nvPr/>
        </p:nvSpPr>
        <p:spPr>
          <a:xfrm>
            <a:off x="4532752" y="2380218"/>
            <a:ext cx="156324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latin typeface="Courier" pitchFamily="2" charset="0"/>
              </a:rPr>
              <a:t>Label_0:</a:t>
            </a:r>
          </a:p>
          <a:p>
            <a:r>
              <a:rPr lang="en-US" dirty="0">
                <a:latin typeface="Courier" pitchFamily="2" charset="0"/>
              </a:rPr>
              <a:t>x = a + b;</a:t>
            </a:r>
            <a:br>
              <a:rPr lang="en-US" dirty="0">
                <a:latin typeface="Courier" pitchFamily="2" charset="0"/>
              </a:rPr>
            </a:br>
            <a:br>
              <a:rPr lang="en-US" dirty="0">
                <a:latin typeface="Courier" pitchFamily="2" charset="0"/>
              </a:rPr>
            </a:br>
            <a:r>
              <a:rPr lang="en-US" i="1" dirty="0">
                <a:latin typeface="Courier" pitchFamily="2" charset="0"/>
              </a:rPr>
              <a:t>Label_1:</a:t>
            </a:r>
          </a:p>
          <a:p>
            <a:r>
              <a:rPr lang="en-US" dirty="0">
                <a:latin typeface="Courier" pitchFamily="2" charset="0"/>
              </a:rPr>
              <a:t>y = a + b;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42766-3D92-0C09-52C9-8788ED0BABA0}"/>
              </a:ext>
            </a:extLst>
          </p:cNvPr>
          <p:cNvSpPr txBox="1"/>
          <p:nvPr/>
        </p:nvSpPr>
        <p:spPr>
          <a:xfrm>
            <a:off x="7397176" y="781764"/>
            <a:ext cx="156324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latin typeface="Courier" pitchFamily="2" charset="0"/>
              </a:rPr>
              <a:t>Label_0:</a:t>
            </a:r>
          </a:p>
          <a:p>
            <a:r>
              <a:rPr lang="en-US" dirty="0">
                <a:latin typeface="Courier" pitchFamily="2" charset="0"/>
              </a:rPr>
              <a:t>x = a + b;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y = x;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67A165-D858-04E0-4605-BE9C8F1ECB23}"/>
              </a:ext>
            </a:extLst>
          </p:cNvPr>
          <p:cNvCxnSpPr/>
          <p:nvPr/>
        </p:nvCxnSpPr>
        <p:spPr>
          <a:xfrm>
            <a:off x="6310753" y="1243429"/>
            <a:ext cx="877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9C3400-AFB1-F971-BF2A-6E3228323BCB}"/>
              </a:ext>
            </a:extLst>
          </p:cNvPr>
          <p:cNvSpPr txBox="1"/>
          <p:nvPr/>
        </p:nvSpPr>
        <p:spPr>
          <a:xfrm>
            <a:off x="6357204" y="752048"/>
            <a:ext cx="830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optimized </a:t>
            </a:r>
            <a:br>
              <a:rPr lang="en-US" sz="1200" i="1" dirty="0"/>
            </a:br>
            <a:r>
              <a:rPr lang="en-US" sz="1200" i="1" dirty="0"/>
              <a:t>to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BD4EA6-C166-D6A6-9A35-7447E138793F}"/>
              </a:ext>
            </a:extLst>
          </p:cNvPr>
          <p:cNvCxnSpPr/>
          <p:nvPr/>
        </p:nvCxnSpPr>
        <p:spPr>
          <a:xfrm>
            <a:off x="6310753" y="3139887"/>
            <a:ext cx="877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D787BA-F083-3BA0-DBFC-A6A0B3BB1571}"/>
              </a:ext>
            </a:extLst>
          </p:cNvPr>
          <p:cNvSpPr txBox="1"/>
          <p:nvPr/>
        </p:nvSpPr>
        <p:spPr>
          <a:xfrm>
            <a:off x="6123967" y="2436991"/>
            <a:ext cx="1297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solidFill>
                  <a:srgbClr val="FF0000"/>
                </a:solidFill>
              </a:rPr>
              <a:t>CANNOT </a:t>
            </a:r>
            <a:br>
              <a:rPr lang="en-US" sz="1200" i="1" dirty="0">
                <a:solidFill>
                  <a:srgbClr val="FF0000"/>
                </a:solidFill>
              </a:rPr>
            </a:br>
            <a:r>
              <a:rPr lang="en-US" sz="1200" i="1" dirty="0">
                <a:solidFill>
                  <a:srgbClr val="FF0000"/>
                </a:solidFill>
              </a:rPr>
              <a:t>always optimized </a:t>
            </a:r>
            <a:br>
              <a:rPr lang="en-US" sz="1200" i="1" dirty="0">
                <a:solidFill>
                  <a:srgbClr val="FF0000"/>
                </a:solidFill>
              </a:rPr>
            </a:br>
            <a:r>
              <a:rPr lang="en-US" sz="1200" i="1" dirty="0">
                <a:solidFill>
                  <a:srgbClr val="FF0000"/>
                </a:solidFill>
              </a:rPr>
              <a:t>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9825C-F25F-37B7-D9F6-F99E2385E007}"/>
              </a:ext>
            </a:extLst>
          </p:cNvPr>
          <p:cNvSpPr txBox="1"/>
          <p:nvPr/>
        </p:nvSpPr>
        <p:spPr>
          <a:xfrm>
            <a:off x="7529952" y="2344658"/>
            <a:ext cx="156324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latin typeface="Courier" pitchFamily="2" charset="0"/>
              </a:rPr>
              <a:t>Label_0:</a:t>
            </a:r>
          </a:p>
          <a:p>
            <a:r>
              <a:rPr lang="en-US" dirty="0">
                <a:latin typeface="Courier" pitchFamily="2" charset="0"/>
              </a:rPr>
              <a:t>x = a + b;</a:t>
            </a:r>
            <a:br>
              <a:rPr lang="en-US" dirty="0">
                <a:latin typeface="Courier" pitchFamily="2" charset="0"/>
              </a:rPr>
            </a:br>
            <a:br>
              <a:rPr lang="en-US" dirty="0">
                <a:latin typeface="Courier" pitchFamily="2" charset="0"/>
              </a:rPr>
            </a:br>
            <a:r>
              <a:rPr lang="en-US" i="1" dirty="0">
                <a:latin typeface="Courier" pitchFamily="2" charset="0"/>
              </a:rPr>
              <a:t>Label_1:</a:t>
            </a:r>
          </a:p>
          <a:p>
            <a:r>
              <a:rPr lang="en-US" dirty="0">
                <a:latin typeface="Courier" pitchFamily="2" charset="0"/>
              </a:rPr>
              <a:t>y = x;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CAA96-88F2-823C-4F53-6BCF64BE7C71}"/>
              </a:ext>
            </a:extLst>
          </p:cNvPr>
          <p:cNvSpPr txBox="1"/>
          <p:nvPr/>
        </p:nvSpPr>
        <p:spPr>
          <a:xfrm>
            <a:off x="6096000" y="4461550"/>
            <a:ext cx="170110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br</a:t>
            </a:r>
            <a:r>
              <a:rPr lang="en-US" i="1" dirty="0">
                <a:latin typeface="Courier" pitchFamily="2" charset="0"/>
              </a:rPr>
              <a:t> Label_1;</a:t>
            </a:r>
            <a:br>
              <a:rPr lang="en-US" i="1" dirty="0">
                <a:latin typeface="Courier" pitchFamily="2" charset="0"/>
              </a:rPr>
            </a:br>
            <a:br>
              <a:rPr lang="en-US" i="1" dirty="0">
                <a:latin typeface="Courier" pitchFamily="2" charset="0"/>
              </a:rPr>
            </a:br>
            <a:r>
              <a:rPr lang="en-US" i="1" dirty="0">
                <a:latin typeface="Courier" pitchFamily="2" charset="0"/>
              </a:rPr>
              <a:t>Label_0:</a:t>
            </a:r>
          </a:p>
          <a:p>
            <a:r>
              <a:rPr lang="en-US" dirty="0">
                <a:latin typeface="Courier" pitchFamily="2" charset="0"/>
              </a:rPr>
              <a:t>x = a + b;</a:t>
            </a:r>
            <a:br>
              <a:rPr lang="en-US" dirty="0">
                <a:latin typeface="Courier" pitchFamily="2" charset="0"/>
              </a:rPr>
            </a:br>
            <a:br>
              <a:rPr lang="en-US" dirty="0">
                <a:latin typeface="Courier" pitchFamily="2" charset="0"/>
              </a:rPr>
            </a:br>
            <a:r>
              <a:rPr lang="en-US" i="1" dirty="0">
                <a:latin typeface="Courier" pitchFamily="2" charset="0"/>
              </a:rPr>
              <a:t>Label_1:</a:t>
            </a:r>
          </a:p>
          <a:p>
            <a:r>
              <a:rPr lang="en-US" dirty="0">
                <a:latin typeface="Courier" pitchFamily="2" charset="0"/>
              </a:rPr>
              <a:t>y = a + b;</a:t>
            </a:r>
          </a:p>
        </p:txBody>
      </p:sp>
    </p:spTree>
    <p:extLst>
      <p:ext uri="{BB962C8B-B14F-4D97-AF65-F5344CB8AC3E}">
        <p14:creationId xmlns:p14="http://schemas.microsoft.com/office/powerpoint/2010/main" val="3533672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B7E7B7-A15B-8E1D-6F1B-6EA4175C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4A60F-0621-3D34-7428-138E90180F19}"/>
              </a:ext>
            </a:extLst>
          </p:cNvPr>
          <p:cNvSpPr txBox="1"/>
          <p:nvPr/>
        </p:nvSpPr>
        <p:spPr>
          <a:xfrm>
            <a:off x="1471448" y="1439917"/>
            <a:ext cx="88602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performing local value numbering (LVN) on the following program, how many operations can you save?</a:t>
            </a:r>
          </a:p>
          <a:p>
            <a:endParaRPr lang="en-US" dirty="0"/>
          </a:p>
          <a:p>
            <a:r>
              <a:rPr lang="en-US" dirty="0"/>
              <a:t>a = b + c</a:t>
            </a:r>
          </a:p>
          <a:p>
            <a:r>
              <a:rPr lang="en-US" dirty="0"/>
              <a:t>d =  e * f</a:t>
            </a:r>
          </a:p>
          <a:p>
            <a:r>
              <a:rPr lang="en-US" dirty="0"/>
              <a:t>b = b + c</a:t>
            </a:r>
          </a:p>
          <a:p>
            <a:r>
              <a:rPr lang="en-US" dirty="0"/>
              <a:t>c = c + b</a:t>
            </a:r>
          </a:p>
          <a:p>
            <a:r>
              <a:rPr lang="en-US" dirty="0"/>
              <a:t>g = f * 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576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5C3B-03F3-533C-B73E-1A211541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F05354-B6EF-63AA-0141-B9F520C5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2808D-69F0-C3F4-2AC6-0CEA2EDDC9DA}"/>
              </a:ext>
            </a:extLst>
          </p:cNvPr>
          <p:cNvSpPr txBox="1"/>
          <p:nvPr/>
        </p:nvSpPr>
        <p:spPr>
          <a:xfrm>
            <a:off x="1471448" y="1439917"/>
            <a:ext cx="88602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performing local value numbering (LVN) on the following program, how many operations can you save?</a:t>
            </a:r>
          </a:p>
          <a:p>
            <a:endParaRPr lang="en-US" dirty="0"/>
          </a:p>
          <a:p>
            <a:r>
              <a:rPr lang="en-US" dirty="0"/>
              <a:t>a = b + c</a:t>
            </a:r>
          </a:p>
          <a:p>
            <a:r>
              <a:rPr lang="en-US" dirty="0"/>
              <a:t>d =  e * f</a:t>
            </a:r>
          </a:p>
          <a:p>
            <a:r>
              <a:rPr lang="en-US" dirty="0"/>
              <a:t>b = b + c</a:t>
            </a:r>
          </a:p>
          <a:p>
            <a:r>
              <a:rPr lang="en-US" dirty="0"/>
              <a:t>c = c + b</a:t>
            </a:r>
          </a:p>
          <a:p>
            <a:r>
              <a:rPr lang="en-US" dirty="0"/>
              <a:t>g = f * e</a:t>
            </a:r>
          </a:p>
          <a:p>
            <a:endParaRPr lang="en-US" dirty="0"/>
          </a:p>
          <a:p>
            <a:r>
              <a:rPr lang="en-US" dirty="0"/>
              <a:t>Answer is:  2</a:t>
            </a:r>
          </a:p>
          <a:p>
            <a:endParaRPr lang="en-US" dirty="0"/>
          </a:p>
          <a:p>
            <a:r>
              <a:rPr lang="en-US" dirty="0"/>
              <a:t>a = b + c</a:t>
            </a:r>
          </a:p>
          <a:p>
            <a:r>
              <a:rPr lang="en-US" dirty="0"/>
              <a:t>d =  e * f</a:t>
            </a:r>
          </a:p>
          <a:p>
            <a:r>
              <a:rPr lang="en-US" dirty="0"/>
              <a:t>b = a</a:t>
            </a:r>
          </a:p>
          <a:p>
            <a:r>
              <a:rPr lang="en-US" dirty="0"/>
              <a:t>c = c + b         #  commutative of b + c but b has changed</a:t>
            </a:r>
          </a:p>
          <a:p>
            <a:r>
              <a:rPr lang="en-US" dirty="0"/>
              <a:t>g = d               # commutative of 3 * f, neither e nor f have changed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042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F9D3-1274-B8B0-2AD9-90F488BD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9.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27069-0839-4DD6-9470-185F1A515D91}"/>
              </a:ext>
            </a:extLst>
          </p:cNvPr>
          <p:cNvSpPr txBox="1"/>
          <p:nvPr/>
        </p:nvSpPr>
        <p:spPr>
          <a:xfrm>
            <a:off x="1408387" y="1629103"/>
            <a:ext cx="9091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might typically be a good order of performing the following optimizations (left to right): </a:t>
            </a:r>
          </a:p>
          <a:p>
            <a:pPr marL="342900" indent="-342900">
              <a:buAutoNum type="arabicParenR"/>
            </a:pPr>
            <a:r>
              <a:rPr lang="en-US" dirty="0"/>
              <a:t>Local value numbering</a:t>
            </a:r>
          </a:p>
          <a:p>
            <a:pPr marL="342900" indent="-342900">
              <a:buAutoNum type="arabicParenR"/>
            </a:pPr>
            <a:r>
              <a:rPr lang="en-US" dirty="0"/>
              <a:t> Loop unrolling</a:t>
            </a:r>
          </a:p>
          <a:p>
            <a:pPr marL="342900" indent="-342900">
              <a:buAutoNum type="arabicParenR"/>
            </a:pPr>
            <a:r>
              <a:rPr lang="en-US" dirty="0"/>
              <a:t>Constant propagation</a:t>
            </a:r>
          </a:p>
          <a:p>
            <a:pPr marL="342900" indent="-342900">
              <a:buAutoNum type="arabicParenR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2C5F8-826E-68DE-B43C-FF4866BBF98C}"/>
              </a:ext>
            </a:extLst>
          </p:cNvPr>
          <p:cNvSpPr txBox="1"/>
          <p:nvPr/>
        </p:nvSpPr>
        <p:spPr>
          <a:xfrm>
            <a:off x="1813302" y="3843580"/>
            <a:ext cx="51764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1) 1-2-3</a:t>
            </a:r>
          </a:p>
          <a:p>
            <a:r>
              <a:rPr lang="en-US"/>
              <a:t>2) 1-3-2</a:t>
            </a:r>
          </a:p>
          <a:p>
            <a:r>
              <a:rPr lang="en-US"/>
              <a:t>3) 3-1-2</a:t>
            </a:r>
          </a:p>
          <a:p>
            <a:r>
              <a:rPr lang="en-US"/>
              <a:t>4) 3-2-1</a:t>
            </a:r>
          </a:p>
          <a:p>
            <a:r>
              <a:rPr lang="en-US"/>
              <a:t>5) 2-1-3</a:t>
            </a:r>
          </a:p>
          <a:p>
            <a:r>
              <a:rPr lang="en-US"/>
              <a:t>6) 2-3-1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124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8D8C5-1B81-83B7-1F24-0BDE8080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0802-8117-1596-370C-02540B91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Quiz  question 10.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146EF-484D-2D4D-9733-FE49E27EB5BF}"/>
              </a:ext>
            </a:extLst>
          </p:cNvPr>
          <p:cNvSpPr txBox="1"/>
          <p:nvPr/>
        </p:nvSpPr>
        <p:spPr>
          <a:xfrm>
            <a:off x="1237905" y="1458621"/>
            <a:ext cx="94404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Briefly describe why local value numbering is easiest applied to a single basic block. Think about the structure of an if/else statement. Knowing that structure could you do some form of local value numbering? Briefly describe how you might do it.</a:t>
            </a:r>
          </a:p>
        </p:txBody>
      </p:sp>
    </p:spTree>
    <p:extLst>
      <p:ext uri="{BB962C8B-B14F-4D97-AF65-F5344CB8AC3E}">
        <p14:creationId xmlns:p14="http://schemas.microsoft.com/office/powerpoint/2010/main" val="4222508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C946-51E3-F2DF-E518-B454E1F3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4AA1E-446B-5DA0-79CD-D21C0F68BE0B}"/>
              </a:ext>
            </a:extLst>
          </p:cNvPr>
          <p:cNvSpPr txBox="1"/>
          <p:nvPr/>
        </p:nvSpPr>
        <p:spPr>
          <a:xfrm>
            <a:off x="984410" y="966225"/>
            <a:ext cx="97094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Local Value Numbering is by definition  “local” to a basic block.  </a:t>
            </a:r>
          </a:p>
          <a:p>
            <a:r>
              <a:rPr lang="en-US" sz="2400" dirty="0"/>
              <a:t>There are similar techniques that go by different names that go beyond this.</a:t>
            </a:r>
          </a:p>
          <a:p>
            <a:r>
              <a:rPr lang="en-US" sz="2400" dirty="0"/>
              <a:t>Such GVN (Global Value Numbering), SVN (Sparse Value Numbering), PRE (Partial Redundancy Elimination), and others.  These optimization take advantage of Data Flow Analysis, and Single Static Assignment (SSA) form.</a:t>
            </a:r>
          </a:p>
          <a:p>
            <a:r>
              <a:rPr lang="en-US" sz="2400" dirty="0"/>
              <a:t>You may look further in the text book or check with some AI platform for more information on this subject.  e.g. </a:t>
            </a:r>
          </a:p>
          <a:p>
            <a:endParaRPr lang="en-US" sz="2400" dirty="0"/>
          </a:p>
          <a:p>
            <a:r>
              <a:rPr lang="en-US" sz="2400" dirty="0">
                <a:hlinkClick r:id="rId2"/>
              </a:rPr>
              <a:t>https://chatgpt.com/share/68421f7b-3d28-8002-b7bc-52961056ca2c</a:t>
            </a:r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16C8D8-AD60-F4ED-926A-F79863D7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8796"/>
          </a:xfrm>
        </p:spPr>
        <p:txBody>
          <a:bodyPr>
            <a:normAutofit fontScale="90000"/>
          </a:bodyPr>
          <a:lstStyle/>
          <a:p>
            <a:r>
              <a:rPr lang="en-US" dirty="0"/>
              <a:t>Quiz  question 10.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C36AE-5B35-F98F-F98B-447CAA21A38D}"/>
              </a:ext>
            </a:extLst>
          </p:cNvPr>
          <p:cNvSpPr txBox="1"/>
          <p:nvPr/>
        </p:nvSpPr>
        <p:spPr>
          <a:xfrm>
            <a:off x="984410" y="4535307"/>
            <a:ext cx="879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https://chatgpt.com/share/6842291f-9a24-8002-9126-8f3bcfe4e082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3619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49675</TotalTime>
  <Words>1864</Words>
  <Application>Microsoft Office PowerPoint</Application>
  <PresentationFormat>Widescreen</PresentationFormat>
  <Paragraphs>213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</vt:lpstr>
      <vt:lpstr>Wingdings</vt:lpstr>
      <vt:lpstr>Office Theme</vt:lpstr>
      <vt:lpstr>QUIZ-10-LVN-AND-LOOP-UNROLLING</vt:lpstr>
      <vt:lpstr>Quiz  question 1.</vt:lpstr>
      <vt:lpstr>PowerPoint Presentation</vt:lpstr>
      <vt:lpstr>Quiz  question 2.</vt:lpstr>
      <vt:lpstr>Quiz  question 3.</vt:lpstr>
      <vt:lpstr>Quiz  question 4.</vt:lpstr>
      <vt:lpstr>Quiz  question 4.</vt:lpstr>
      <vt:lpstr>Loop unrolling conditions</vt:lpstr>
      <vt:lpstr>Loop unrolling conditions</vt:lpstr>
      <vt:lpstr>Loop unrolling conditions</vt:lpstr>
      <vt:lpstr>Quiz  question 5.</vt:lpstr>
      <vt:lpstr>Quiz  question 5.</vt:lpstr>
      <vt:lpstr>Quiz  question 6.</vt:lpstr>
      <vt:lpstr>Quiz  question 6.</vt:lpstr>
      <vt:lpstr>Discussion (question 6)</vt:lpstr>
      <vt:lpstr>Quiz  question 7.</vt:lpstr>
      <vt:lpstr>Discussion (question 7)</vt:lpstr>
      <vt:lpstr>Discussion</vt:lpstr>
      <vt:lpstr>Discussion</vt:lpstr>
      <vt:lpstr>Quiz  question 8.</vt:lpstr>
      <vt:lpstr>Quiz  question 8.</vt:lpstr>
      <vt:lpstr>Quiz  question 9.</vt:lpstr>
      <vt:lpstr>Quiz  question 10.</vt:lpstr>
      <vt:lpstr>Quiz  question 10.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793</cp:revision>
  <dcterms:created xsi:type="dcterms:W3CDTF">2021-03-23T23:59:42Z</dcterms:created>
  <dcterms:modified xsi:type="dcterms:W3CDTF">2026-03-10T23:35:35Z</dcterms:modified>
</cp:coreProperties>
</file>