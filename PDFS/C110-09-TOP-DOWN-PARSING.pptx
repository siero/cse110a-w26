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257" r:id="rId2"/>
    <p:sldId id="1338" r:id="rId3"/>
    <p:sldId id="1207" r:id="rId4"/>
    <p:sldId id="1215" r:id="rId5"/>
    <p:sldId id="1214" r:id="rId6"/>
    <p:sldId id="1216" r:id="rId7"/>
    <p:sldId id="1217" r:id="rId8"/>
    <p:sldId id="1210" r:id="rId9"/>
    <p:sldId id="1219" r:id="rId10"/>
    <p:sldId id="1221" r:id="rId11"/>
    <p:sldId id="1222" r:id="rId12"/>
    <p:sldId id="1223" r:id="rId13"/>
    <p:sldId id="1211" r:id="rId14"/>
    <p:sldId id="1212" r:id="rId15"/>
    <p:sldId id="1343" r:id="rId16"/>
    <p:sldId id="1224" r:id="rId17"/>
    <p:sldId id="1339" r:id="rId18"/>
    <p:sldId id="1225" r:id="rId19"/>
    <p:sldId id="1340" r:id="rId20"/>
    <p:sldId id="1341" r:id="rId21"/>
    <p:sldId id="1342" r:id="rId22"/>
    <p:sldId id="1239" r:id="rId23"/>
    <p:sldId id="1226" r:id="rId24"/>
    <p:sldId id="1227" r:id="rId25"/>
    <p:sldId id="1213" r:id="rId26"/>
    <p:sldId id="1229" r:id="rId27"/>
    <p:sldId id="1228" r:id="rId28"/>
    <p:sldId id="1231" r:id="rId29"/>
    <p:sldId id="1232" r:id="rId30"/>
    <p:sldId id="1233" r:id="rId31"/>
    <p:sldId id="1235" r:id="rId32"/>
    <p:sldId id="1344" r:id="rId33"/>
    <p:sldId id="1245" r:id="rId34"/>
    <p:sldId id="1236" r:id="rId35"/>
    <p:sldId id="1237" r:id="rId36"/>
    <p:sldId id="1238" r:id="rId37"/>
    <p:sldId id="1240" r:id="rId38"/>
    <p:sldId id="1241" r:id="rId39"/>
    <p:sldId id="1242" r:id="rId40"/>
    <p:sldId id="1243" r:id="rId41"/>
    <p:sldId id="1244" r:id="rId42"/>
    <p:sldId id="1314" r:id="rId43"/>
    <p:sldId id="1283" r:id="rId44"/>
    <p:sldId id="1257" r:id="rId45"/>
    <p:sldId id="1293" r:id="rId46"/>
    <p:sldId id="1286" r:id="rId47"/>
    <p:sldId id="1316" r:id="rId48"/>
    <p:sldId id="1287" r:id="rId49"/>
    <p:sldId id="1288" r:id="rId50"/>
    <p:sldId id="1292" r:id="rId51"/>
    <p:sldId id="1290" r:id="rId52"/>
    <p:sldId id="1317" r:id="rId53"/>
    <p:sldId id="1315" r:id="rId54"/>
    <p:sldId id="1345" r:id="rId55"/>
    <p:sldId id="1295" r:id="rId56"/>
    <p:sldId id="1296" r:id="rId57"/>
    <p:sldId id="1297" r:id="rId58"/>
    <p:sldId id="1262" r:id="rId59"/>
    <p:sldId id="1298" r:id="rId60"/>
    <p:sldId id="1299" r:id="rId61"/>
    <p:sldId id="1300" r:id="rId62"/>
    <p:sldId id="1301" r:id="rId63"/>
    <p:sldId id="1302" r:id="rId64"/>
    <p:sldId id="1264" r:id="rId65"/>
    <p:sldId id="1265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071"/>
    <p:restoredTop sz="96405"/>
  </p:normalViewPr>
  <p:slideViewPr>
    <p:cSldViewPr snapToGrid="0" snapToObjects="1">
      <p:cViewPr varScale="1">
        <p:scale>
          <a:sx n="72" d="100"/>
          <a:sy n="72" d="100"/>
        </p:scale>
        <p:origin x="6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A6930-6FE4-5249-A389-5C34F8D02512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7B7F8-0CD4-BB49-9045-2C974462FF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789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A43C2-07A5-BB44-9F43-B20E7E531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1C6CB-5CAA-DD48-BDA4-0592D5FF8B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62CB0-8583-4540-BE1C-F84CB375F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B2658-7209-954E-8DDF-07C641D90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AD4973-44DE-7342-BA01-547EED31C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44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78217-0850-FA42-8B72-F673F24DE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12092-A792-584F-8A1C-32C031603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86E26-FE36-7B4D-AAF5-904CF3BBD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E9D109-2568-4B4F-B7F4-2C7AD017C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AD3A7-3697-7C4A-A781-66DD5DCCA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99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555C-64CB-F548-ABB6-4B463934B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C269A-28B6-FB43-BB47-BA94CF3328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521C4-BC30-3646-824D-F119E616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CD182C-D8EA-B948-8737-5A6BD5B4D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787B1-6592-9044-9667-44816CAAB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850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A981-5F59-8940-A2F7-8CE7EAE3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DAABA-0EEF-254E-B417-1B2EB2743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196200-086D-EA44-85BA-8D8F7BA4D8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8D651E-2A31-AF4F-8A27-A2301E38A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1ED8DF-7DBC-294E-82B1-18236111A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DE2C9E-91E9-FD42-9F13-932CADEBD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756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92995-0013-6F49-9741-2EA0BF408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6D280-4929-384B-8615-167612096F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029458-FF2B-1440-8335-632CAA842D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9CA800-81C1-B646-A953-E8DBE47BC9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CCEC6B-205E-0B45-A0F3-6C8FCEE9A1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71920B-F361-C64F-BB0E-35F2D2CBB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D44ECE-207A-FA4C-9475-C03DC72DF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C1820C-AD96-D443-8AA8-5641E0380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531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F0FFF-6ED0-6243-A2AE-B253809A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F091E3-DFC5-0540-9C75-225956946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BC49A3-0384-754C-BED0-DC0D47B42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2BA99-1D12-C64F-996A-85628BB3E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5831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36606B-79E4-A34B-BE97-997D9D758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557CB-8103-3B41-A940-4FD4799A3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4919D0-3FCE-CF4E-9D34-9E0CD3DF7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983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4B636-4EDD-7341-9B7D-17AAD47C6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F0136-D7DD-1044-B848-27E313D5AB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AE57-151C-234A-AA03-81AA7510BB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5ED6AC-BAC0-EB4C-9277-A63F66607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D45925-827B-DA4D-8CDF-AC1503BA2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854FF9-5EE1-A94C-9742-0AC2B9C34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753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B654-18D6-F84E-B59E-E18CBEE4C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6D7EFC-4004-0145-A2F9-E508D0958C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815D9-4FFF-1643-9F8A-2708D6AAAC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662FC-F0E3-2D4D-B116-98471B67E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612221-F75B-BA43-B4BA-28655085A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FC9E1C-49AC-D74C-B71C-A5DC2EB02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752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7DDD4-B6A1-124E-97F1-BA8418676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FEE7DE-9595-5745-A856-48AB8F5B5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F81CC-8DBA-1342-88D3-380AA2B30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FA341-EA27-6943-B20F-AFA538A66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3FE79-E424-E945-ADDC-83D446C52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236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48F054-886E-8B44-8EBE-87FBB61503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A284C-386A-6C4E-9A40-04DA68EFB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8CBE6-4A2A-6549-898B-B2545B83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9ED32C-794E-1143-802D-3AD6C9B71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FF59B-F6CF-464E-93D4-AA7B3EE8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2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6F7A43-3B09-424D-B3CE-5FDEDAF2A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A7AA5-45BE-FB42-A660-04610BF85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CA802-9596-D94B-AF54-17577EF831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CE19A-8503-7843-8A88-9F39D8324431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50162-12AB-E644-9FE6-953D58433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DB02E1-3BE0-DA47-8CDF-D1AE848A2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0BDC8-442D-FF45-BCA9-EECAFF0BA3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77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JhEmguMmfLU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55987-81F9-C64A-BD1F-BC0CF5D7C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97" y="16346"/>
            <a:ext cx="10515600" cy="1553757"/>
          </a:xfrm>
        </p:spPr>
        <p:txBody>
          <a:bodyPr/>
          <a:lstStyle/>
          <a:p>
            <a:r>
              <a:rPr lang="en-US" sz="5000" b="1" dirty="0"/>
              <a:t>CSE110A: Compilers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56C47-D610-254E-AA36-5D7C35127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350" y="2242268"/>
            <a:ext cx="6901683" cy="42035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Topics</a:t>
            </a:r>
            <a:r>
              <a:rPr lang="en-US" dirty="0"/>
              <a:t>: Algorithms for Parsing</a:t>
            </a:r>
          </a:p>
          <a:p>
            <a:r>
              <a:rPr lang="en-US" i="1" dirty="0"/>
              <a:t>Syntactic Analysis continued </a:t>
            </a:r>
          </a:p>
          <a:p>
            <a:pPr lvl="1"/>
            <a:r>
              <a:rPr lang="en-US" i="1" dirty="0"/>
              <a:t>Top down parsing</a:t>
            </a:r>
          </a:p>
          <a:p>
            <a:pPr lvl="2"/>
            <a:r>
              <a:rPr lang="en-US" i="1" dirty="0"/>
              <a:t>Rewriting to avoid left recursion</a:t>
            </a:r>
          </a:p>
          <a:p>
            <a:pPr lvl="2"/>
            <a:r>
              <a:rPr lang="en-US" i="1" dirty="0"/>
              <a:t>Oracle Parsing</a:t>
            </a:r>
          </a:p>
          <a:p>
            <a:pPr lvl="2"/>
            <a:r>
              <a:rPr lang="en-US" i="1" dirty="0"/>
              <a:t>LL(1) Parser</a:t>
            </a:r>
          </a:p>
          <a:p>
            <a:pPr marL="457200" lvl="1" indent="0">
              <a:buNone/>
            </a:pPr>
            <a:endParaRPr lang="en-US" i="1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5BF4810-9B5C-0A4D-B2CE-2BC37B86A354}"/>
              </a:ext>
            </a:extLst>
          </p:cNvPr>
          <p:cNvSpPr/>
          <p:nvPr/>
        </p:nvSpPr>
        <p:spPr>
          <a:xfrm>
            <a:off x="10097167" y="209080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286D8F-6730-F04B-9B5A-A73EFAB4D4E7}"/>
              </a:ext>
            </a:extLst>
          </p:cNvPr>
          <p:cNvCxnSpPr>
            <a:cxnSpLocks/>
            <a:stCxn id="17" idx="4"/>
          </p:cNvCxnSpPr>
          <p:nvPr/>
        </p:nvCxnSpPr>
        <p:spPr>
          <a:xfrm flipH="1">
            <a:off x="10119752" y="2402657"/>
            <a:ext cx="351930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B12D8AA-0409-864E-9890-3FFB88503A5E}"/>
              </a:ext>
            </a:extLst>
          </p:cNvPr>
          <p:cNvCxnSpPr>
            <a:cxnSpLocks/>
            <a:stCxn id="17" idx="4"/>
          </p:cNvCxnSpPr>
          <p:nvPr/>
        </p:nvCxnSpPr>
        <p:spPr>
          <a:xfrm>
            <a:off x="10471682" y="2402657"/>
            <a:ext cx="277238" cy="291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95DC5A4-90C6-B14B-A382-11D393C99C64}"/>
              </a:ext>
            </a:extLst>
          </p:cNvPr>
          <p:cNvSpPr/>
          <p:nvPr/>
        </p:nvSpPr>
        <p:spPr>
          <a:xfrm>
            <a:off x="9722652" y="2720674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B8E1B2B-5DF2-E645-BAE4-3348D9F473F8}"/>
              </a:ext>
            </a:extLst>
          </p:cNvPr>
          <p:cNvSpPr/>
          <p:nvPr/>
        </p:nvSpPr>
        <p:spPr>
          <a:xfrm>
            <a:off x="10512211" y="2727971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2426A8-2722-164F-9E46-19F9E98727B2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10971844" y="3050112"/>
            <a:ext cx="328310" cy="3112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C218C-0E06-3C47-904B-D63E5F792510}"/>
              </a:ext>
            </a:extLst>
          </p:cNvPr>
          <p:cNvCxnSpPr>
            <a:cxnSpLocks/>
            <a:stCxn id="21" idx="4"/>
            <a:endCxn id="38" idx="0"/>
          </p:cNvCxnSpPr>
          <p:nvPr/>
        </p:nvCxnSpPr>
        <p:spPr>
          <a:xfrm flipH="1">
            <a:off x="10367706" y="3039820"/>
            <a:ext cx="519020" cy="311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D89F16C-A8D3-904A-8BD9-E3C751C9AD48}"/>
              </a:ext>
            </a:extLst>
          </p:cNvPr>
          <p:cNvSpPr/>
          <p:nvPr/>
        </p:nvSpPr>
        <p:spPr>
          <a:xfrm>
            <a:off x="10925639" y="3361398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D5099B9-D9EF-0A4E-8009-19E283A17159}"/>
              </a:ext>
            </a:extLst>
          </p:cNvPr>
          <p:cNvSpPr/>
          <p:nvPr/>
        </p:nvSpPr>
        <p:spPr>
          <a:xfrm>
            <a:off x="9993191" y="3351669"/>
            <a:ext cx="749030" cy="311849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..</a:t>
            </a:r>
          </a:p>
        </p:txBody>
      </p:sp>
      <p:sp>
        <p:nvSpPr>
          <p:cNvPr id="39" name="Snip Single Corner Rectangle 38">
            <a:extLst>
              <a:ext uri="{FF2B5EF4-FFF2-40B4-BE49-F238E27FC236}">
                <a16:creationId xmlns:a16="http://schemas.microsoft.com/office/drawing/2014/main" id="{F7AACD00-7B7A-7E4A-8E82-E00367CBE379}"/>
              </a:ext>
            </a:extLst>
          </p:cNvPr>
          <p:cNvSpPr/>
          <p:nvPr/>
        </p:nvSpPr>
        <p:spPr>
          <a:xfrm>
            <a:off x="7026095" y="2373274"/>
            <a:ext cx="1594022" cy="1235676"/>
          </a:xfrm>
          <a:prstGeom prst="snip1Rec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int main() {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en-US" sz="1400" dirty="0" err="1">
                <a:solidFill>
                  <a:schemeClr val="tx1"/>
                </a:solidFill>
                <a:latin typeface="Courier" pitchFamily="2" charset="0"/>
              </a:rPr>
              <a:t>printf</a:t>
            </a: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(““);</a:t>
            </a:r>
          </a:p>
          <a:p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 return 0;</a:t>
            </a:r>
            <a:br>
              <a:rPr lang="en-US" sz="14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en-US" sz="1400" dirty="0">
                <a:solidFill>
                  <a:schemeClr val="tx1"/>
                </a:solidFill>
                <a:latin typeface="Courier" pitchFamily="2" charset="0"/>
              </a:rPr>
              <a:t>}</a:t>
            </a:r>
          </a:p>
        </p:txBody>
      </p:sp>
      <p:sp>
        <p:nvSpPr>
          <p:cNvPr id="40" name="Right Arrow 39">
            <a:extLst>
              <a:ext uri="{FF2B5EF4-FFF2-40B4-BE49-F238E27FC236}">
                <a16:creationId xmlns:a16="http://schemas.microsoft.com/office/drawing/2014/main" id="{D5C64FAD-A257-F54D-A462-4BA9F13CC36D}"/>
              </a:ext>
            </a:extLst>
          </p:cNvPr>
          <p:cNvSpPr/>
          <p:nvPr/>
        </p:nvSpPr>
        <p:spPr>
          <a:xfrm flipV="1">
            <a:off x="8796082" y="2700225"/>
            <a:ext cx="951875" cy="35445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0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E9D83-7E8E-F414-8502-BE993D0F7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21516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ORACULARITY: </a:t>
            </a:r>
            <a:br>
              <a:rPr lang="en-US" dirty="0"/>
            </a:br>
            <a:r>
              <a:rPr lang="en-US" dirty="0"/>
              <a:t>MAKING A BACKTRACK FREE LL(1) PARSER</a:t>
            </a:r>
            <a:br>
              <a:rPr lang="en-US" dirty="0"/>
            </a:br>
            <a:r>
              <a:rPr lang="en-US" dirty="0"/>
              <a:t>USING FIRST, FOLLOW and FIRST+ SETS</a:t>
            </a:r>
          </a:p>
        </p:txBody>
      </p:sp>
    </p:spTree>
    <p:extLst>
      <p:ext uri="{BB962C8B-B14F-4D97-AF65-F5344CB8AC3E}">
        <p14:creationId xmlns:p14="http://schemas.microsoft.com/office/powerpoint/2010/main" val="731168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topic: Algorithms for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A8B6C-1677-A145-80FA-B986C75DF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One goal:</a:t>
            </a:r>
          </a:p>
          <a:p>
            <a:r>
              <a:rPr lang="en-US" dirty="0"/>
              <a:t>Given a string </a:t>
            </a:r>
            <a:r>
              <a:rPr lang="en-US" i="1" dirty="0"/>
              <a:t>s </a:t>
            </a:r>
            <a:r>
              <a:rPr lang="en-US" dirty="0"/>
              <a:t>and a CFG </a:t>
            </a:r>
            <a:r>
              <a:rPr lang="en-US" i="1" dirty="0"/>
              <a:t>G, </a:t>
            </a:r>
            <a:r>
              <a:rPr lang="en-US" dirty="0"/>
              <a:t>determine if </a:t>
            </a:r>
            <a:r>
              <a:rPr lang="en-US" i="1" dirty="0"/>
              <a:t>G </a:t>
            </a:r>
            <a:r>
              <a:rPr lang="en-US" dirty="0"/>
              <a:t>can derive </a:t>
            </a:r>
            <a:r>
              <a:rPr lang="en-US" i="1" dirty="0"/>
              <a:t>s</a:t>
            </a:r>
          </a:p>
          <a:p>
            <a:endParaRPr lang="en-US" i="1" dirty="0"/>
          </a:p>
          <a:p>
            <a:r>
              <a:rPr lang="en-US" dirty="0"/>
              <a:t>We will do that by implicitly attempting to derive a parse tree for </a:t>
            </a:r>
            <a:r>
              <a:rPr lang="en-US" i="1" dirty="0"/>
              <a:t>S</a:t>
            </a:r>
          </a:p>
          <a:p>
            <a:endParaRPr lang="en-US" i="1" dirty="0"/>
          </a:p>
          <a:p>
            <a:r>
              <a:rPr lang="en-US" dirty="0"/>
              <a:t>Two different approaches, each with different trade-offs:</a:t>
            </a:r>
          </a:p>
          <a:p>
            <a:pPr lvl="1"/>
            <a:r>
              <a:rPr lang="en-US" dirty="0"/>
              <a:t>Top down</a:t>
            </a:r>
          </a:p>
          <a:p>
            <a:pPr lvl="1"/>
            <a:r>
              <a:rPr lang="en-US" dirty="0"/>
              <a:t>Bottom up</a:t>
            </a:r>
          </a:p>
          <a:p>
            <a:pPr lvl="1"/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962488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AE665-2790-4748-91A5-CC5937294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9E57A-0D3B-2146-91D0-E7B5FFEB8FDF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26B9B-EE62-DD47-9DF0-65032A60A1F0}"/>
              </a:ext>
            </a:extLst>
          </p:cNvPr>
          <p:cNvSpPr txBox="1"/>
          <p:nvPr/>
        </p:nvSpPr>
        <p:spPr>
          <a:xfrm>
            <a:off x="8940202" y="238335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0BE49D3B-816D-BB40-BE56-D150BDA1453B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170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AE665-2790-4748-91A5-CC5937294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9E57A-0D3B-2146-91D0-E7B5FFEB8FDF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26B9B-EE62-DD47-9DF0-65032A60A1F0}"/>
              </a:ext>
            </a:extLst>
          </p:cNvPr>
          <p:cNvSpPr txBox="1"/>
          <p:nvPr/>
        </p:nvSpPr>
        <p:spPr>
          <a:xfrm>
            <a:off x="8940202" y="238335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9B5085-8B58-9047-BFA2-7EEA355D585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604298" y="275268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845676-7B0E-A744-8035-FC6C51235645}"/>
              </a:ext>
            </a:extLst>
          </p:cNvPr>
          <p:cNvSpPr txBox="1"/>
          <p:nvPr/>
        </p:nvSpPr>
        <p:spPr>
          <a:xfrm>
            <a:off x="7305306" y="328932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2A0A3DE-DAB2-584D-8B00-E25DA8F51658}"/>
              </a:ext>
            </a:extLst>
          </p:cNvPr>
          <p:cNvCxnSpPr>
            <a:cxnSpLocks/>
            <a:stCxn id="22" idx="2"/>
            <a:endCxn id="27" idx="0"/>
          </p:cNvCxnSpPr>
          <p:nvPr/>
        </p:nvCxnSpPr>
        <p:spPr>
          <a:xfrm flipH="1">
            <a:off x="9237530" y="2752683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6610BA1-71CB-CE43-8A7A-83423AC89B9B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9239194" y="275268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4442671-D225-3B42-8393-D3E237285666}"/>
              </a:ext>
            </a:extLst>
          </p:cNvPr>
          <p:cNvSpPr txBox="1"/>
          <p:nvPr/>
        </p:nvSpPr>
        <p:spPr>
          <a:xfrm>
            <a:off x="8797409" y="330133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71D16C-FE57-6542-AB7F-AC93685188CC}"/>
              </a:ext>
            </a:extLst>
          </p:cNvPr>
          <p:cNvSpPr txBox="1"/>
          <p:nvPr/>
        </p:nvSpPr>
        <p:spPr>
          <a:xfrm>
            <a:off x="10065870" y="3327336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0BE49D3B-816D-BB40-BE56-D150BDA145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1405359"/>
              </p:ext>
            </p:extLst>
          </p:nvPr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468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AE665-2790-4748-91A5-CC5937294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9E57A-0D3B-2146-91D0-E7B5FFEB8FDF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26B9B-EE62-DD47-9DF0-65032A60A1F0}"/>
              </a:ext>
            </a:extLst>
          </p:cNvPr>
          <p:cNvSpPr txBox="1"/>
          <p:nvPr/>
        </p:nvSpPr>
        <p:spPr>
          <a:xfrm>
            <a:off x="8940202" y="238335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9B5085-8B58-9047-BFA2-7EEA355D585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604298" y="275268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845676-7B0E-A744-8035-FC6C51235645}"/>
              </a:ext>
            </a:extLst>
          </p:cNvPr>
          <p:cNvSpPr txBox="1"/>
          <p:nvPr/>
        </p:nvSpPr>
        <p:spPr>
          <a:xfrm>
            <a:off x="7305306" y="328932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2A0A3DE-DAB2-584D-8B00-E25DA8F51658}"/>
              </a:ext>
            </a:extLst>
          </p:cNvPr>
          <p:cNvCxnSpPr>
            <a:cxnSpLocks/>
            <a:stCxn id="22" idx="2"/>
            <a:endCxn id="27" idx="0"/>
          </p:cNvCxnSpPr>
          <p:nvPr/>
        </p:nvCxnSpPr>
        <p:spPr>
          <a:xfrm flipH="1">
            <a:off x="9237530" y="2752683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6610BA1-71CB-CE43-8A7A-83423AC89B9B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9239194" y="275268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4442671-D225-3B42-8393-D3E237285666}"/>
              </a:ext>
            </a:extLst>
          </p:cNvPr>
          <p:cNvSpPr txBox="1"/>
          <p:nvPr/>
        </p:nvSpPr>
        <p:spPr>
          <a:xfrm>
            <a:off x="8797409" y="330133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71D16C-FE57-6542-AB7F-AC93685188CC}"/>
              </a:ext>
            </a:extLst>
          </p:cNvPr>
          <p:cNvSpPr txBox="1"/>
          <p:nvPr/>
        </p:nvSpPr>
        <p:spPr>
          <a:xfrm>
            <a:off x="10065870" y="3327336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2885A3-6BE5-7D42-8A94-CF854CD5FD7F}"/>
              </a:ext>
            </a:extLst>
          </p:cNvPr>
          <p:cNvCxnSpPr>
            <a:cxnSpLocks/>
          </p:cNvCxnSpPr>
          <p:nvPr/>
        </p:nvCxnSpPr>
        <p:spPr>
          <a:xfrm flipH="1">
            <a:off x="6346596" y="369151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DB1A2E-4C32-D44C-B84D-190036F705CF}"/>
              </a:ext>
            </a:extLst>
          </p:cNvPr>
          <p:cNvCxnSpPr>
            <a:cxnSpLocks/>
          </p:cNvCxnSpPr>
          <p:nvPr/>
        </p:nvCxnSpPr>
        <p:spPr>
          <a:xfrm>
            <a:off x="7570969" y="369151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AE77E6E-1FFC-634F-BAF7-773D7C81AF6A}"/>
              </a:ext>
            </a:extLst>
          </p:cNvPr>
          <p:cNvCxnSpPr>
            <a:cxnSpLocks/>
          </p:cNvCxnSpPr>
          <p:nvPr/>
        </p:nvCxnSpPr>
        <p:spPr>
          <a:xfrm>
            <a:off x="7570969" y="369151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3090420-3C40-7C42-95B3-A085D090CE91}"/>
              </a:ext>
            </a:extLst>
          </p:cNvPr>
          <p:cNvSpPr txBox="1"/>
          <p:nvPr/>
        </p:nvSpPr>
        <p:spPr>
          <a:xfrm>
            <a:off x="7113396" y="415861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E40AC4-1F57-DD41-AB5D-B44DC87980FC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8CD15D-AD44-1B41-B9C2-5B6F8C1D4CEF}"/>
              </a:ext>
            </a:extLst>
          </p:cNvPr>
          <p:cNvSpPr txBox="1"/>
          <p:nvPr/>
        </p:nvSpPr>
        <p:spPr>
          <a:xfrm>
            <a:off x="8099703" y="417163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0BE49D3B-816D-BB40-BE56-D150BDA1453B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90975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AE665-2790-4748-91A5-CC5937294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9E57A-0D3B-2146-91D0-E7B5FFEB8FDF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A26B9B-EE62-DD47-9DF0-65032A60A1F0}"/>
              </a:ext>
            </a:extLst>
          </p:cNvPr>
          <p:cNvSpPr txBox="1"/>
          <p:nvPr/>
        </p:nvSpPr>
        <p:spPr>
          <a:xfrm>
            <a:off x="8940202" y="2383351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9B5085-8B58-9047-BFA2-7EEA355D5851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7604298" y="2752683"/>
            <a:ext cx="1634896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845676-7B0E-A744-8035-FC6C51235645}"/>
              </a:ext>
            </a:extLst>
          </p:cNvPr>
          <p:cNvSpPr txBox="1"/>
          <p:nvPr/>
        </p:nvSpPr>
        <p:spPr>
          <a:xfrm>
            <a:off x="7305306" y="3289327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2A0A3DE-DAB2-584D-8B00-E25DA8F51658}"/>
              </a:ext>
            </a:extLst>
          </p:cNvPr>
          <p:cNvCxnSpPr>
            <a:cxnSpLocks/>
            <a:stCxn id="22" idx="2"/>
            <a:endCxn id="27" idx="0"/>
          </p:cNvCxnSpPr>
          <p:nvPr/>
        </p:nvCxnSpPr>
        <p:spPr>
          <a:xfrm flipH="1">
            <a:off x="9237530" y="2752683"/>
            <a:ext cx="1664" cy="5486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6610BA1-71CB-CE43-8A7A-83423AC89B9B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9239194" y="2752683"/>
            <a:ext cx="1057341" cy="5366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4442671-D225-3B42-8393-D3E237285666}"/>
              </a:ext>
            </a:extLst>
          </p:cNvPr>
          <p:cNvSpPr txBox="1"/>
          <p:nvPr/>
        </p:nvSpPr>
        <p:spPr>
          <a:xfrm>
            <a:off x="8797409" y="3301336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71D16C-FE57-6542-AB7F-AC93685188CC}"/>
              </a:ext>
            </a:extLst>
          </p:cNvPr>
          <p:cNvSpPr txBox="1"/>
          <p:nvPr/>
        </p:nvSpPr>
        <p:spPr>
          <a:xfrm>
            <a:off x="10065870" y="3327336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52885A3-6BE5-7D42-8A94-CF854CD5FD7F}"/>
              </a:ext>
            </a:extLst>
          </p:cNvPr>
          <p:cNvCxnSpPr>
            <a:cxnSpLocks/>
          </p:cNvCxnSpPr>
          <p:nvPr/>
        </p:nvCxnSpPr>
        <p:spPr>
          <a:xfrm flipH="1">
            <a:off x="6346596" y="3691510"/>
            <a:ext cx="1224374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DB1A2E-4C32-D44C-B84D-190036F705CF}"/>
              </a:ext>
            </a:extLst>
          </p:cNvPr>
          <p:cNvCxnSpPr>
            <a:cxnSpLocks/>
          </p:cNvCxnSpPr>
          <p:nvPr/>
        </p:nvCxnSpPr>
        <p:spPr>
          <a:xfrm>
            <a:off x="7570969" y="3691510"/>
            <a:ext cx="0" cy="4694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AE77E6E-1FFC-634F-BAF7-773D7C81AF6A}"/>
              </a:ext>
            </a:extLst>
          </p:cNvPr>
          <p:cNvCxnSpPr>
            <a:cxnSpLocks/>
          </p:cNvCxnSpPr>
          <p:nvPr/>
        </p:nvCxnSpPr>
        <p:spPr>
          <a:xfrm>
            <a:off x="7570969" y="3691510"/>
            <a:ext cx="1097159" cy="45841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3090420-3C40-7C42-95B3-A085D090CE91}"/>
              </a:ext>
            </a:extLst>
          </p:cNvPr>
          <p:cNvSpPr txBox="1"/>
          <p:nvPr/>
        </p:nvSpPr>
        <p:spPr>
          <a:xfrm>
            <a:off x="7113396" y="4158612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E40AC4-1F57-DD41-AB5D-B44DC87980FC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119C9D-3115-CE48-BDD6-4BA3B36AA80D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8F2B1A1-B2D9-8E4E-9E0B-A425C5B7AFBF}"/>
              </a:ext>
            </a:extLst>
          </p:cNvPr>
          <p:cNvCxnSpPr>
            <a:cxnSpLocks/>
          </p:cNvCxnSpPr>
          <p:nvPr/>
        </p:nvCxnSpPr>
        <p:spPr>
          <a:xfrm flipH="1">
            <a:off x="6345650" y="449160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E68CD15D-AD44-1B41-B9C2-5B6F8C1D4CEF}"/>
              </a:ext>
            </a:extLst>
          </p:cNvPr>
          <p:cNvSpPr txBox="1"/>
          <p:nvPr/>
        </p:nvSpPr>
        <p:spPr>
          <a:xfrm>
            <a:off x="8099703" y="417163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37" name="Table 5">
            <a:extLst>
              <a:ext uri="{FF2B5EF4-FFF2-40B4-BE49-F238E27FC236}">
                <a16:creationId xmlns:a16="http://schemas.microsoft.com/office/drawing/2014/main" id="{0BE49D3B-816D-BB40-BE56-D150BDA1453B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134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A8B6C-1677-A145-80FA-B986C75DF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064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Pros:</a:t>
            </a:r>
          </a:p>
          <a:p>
            <a:r>
              <a:rPr lang="en-US" dirty="0"/>
              <a:t>Algorithm is simpler</a:t>
            </a:r>
          </a:p>
          <a:p>
            <a:r>
              <a:rPr lang="en-US" dirty="0"/>
              <a:t>Oftentimes faster than bottom-up</a:t>
            </a:r>
          </a:p>
          <a:p>
            <a:r>
              <a:rPr lang="en-US" dirty="0"/>
              <a:t>Better Error Messages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Cons:</a:t>
            </a:r>
          </a:p>
          <a:p>
            <a:r>
              <a:rPr lang="en-US" dirty="0"/>
              <a:t>Not efficient on arbitrary grammars</a:t>
            </a:r>
          </a:p>
          <a:p>
            <a:r>
              <a:rPr lang="en-US" dirty="0"/>
              <a:t>Many grammars need to be re-written</a:t>
            </a:r>
          </a:p>
          <a:p>
            <a:r>
              <a:rPr lang="en-US" dirty="0"/>
              <a:t>More effective error recovery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085400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56B4-A8C7-9043-BF91-36C20EA1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Bottom-up parsing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96028-374C-E247-8480-F99B5B084222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7A605-CC1D-B34D-8B65-3082C5CE2C0E}"/>
              </a:ext>
            </a:extLst>
          </p:cNvPr>
          <p:cNvSpPr txBox="1"/>
          <p:nvPr/>
        </p:nvSpPr>
        <p:spPr>
          <a:xfrm>
            <a:off x="9322342" y="475898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8D7507-5650-6C46-BBDE-25E654AD1CBC}"/>
              </a:ext>
            </a:extLst>
          </p:cNvPr>
          <p:cNvSpPr txBox="1"/>
          <p:nvPr/>
        </p:nvSpPr>
        <p:spPr>
          <a:xfrm>
            <a:off x="10287396" y="4749407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62DF9-ADE8-ED41-BDBD-D0BE7758EE0C}"/>
              </a:ext>
            </a:extLst>
          </p:cNvPr>
          <p:cNvSpPr txBox="1"/>
          <p:nvPr/>
        </p:nvSpPr>
        <p:spPr>
          <a:xfrm>
            <a:off x="7045663" y="474940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1A14F-DA99-6643-8061-70C6D25358D5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31DA22-288A-8242-9B14-25E66747E4FD}"/>
              </a:ext>
            </a:extLst>
          </p:cNvPr>
          <p:cNvSpPr txBox="1"/>
          <p:nvPr/>
        </p:nvSpPr>
        <p:spPr>
          <a:xfrm>
            <a:off x="8100679" y="47494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EA4F2610-FF45-4643-9F07-FA1468E7CF9A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9306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56B4-A8C7-9043-BF91-36C20EA1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Bottom-up parsing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96028-374C-E247-8480-F99B5B084222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7A605-CC1D-B34D-8B65-3082C5CE2C0E}"/>
              </a:ext>
            </a:extLst>
          </p:cNvPr>
          <p:cNvSpPr txBox="1"/>
          <p:nvPr/>
        </p:nvSpPr>
        <p:spPr>
          <a:xfrm>
            <a:off x="9322342" y="475898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8D7507-5650-6C46-BBDE-25E654AD1CBC}"/>
              </a:ext>
            </a:extLst>
          </p:cNvPr>
          <p:cNvSpPr txBox="1"/>
          <p:nvPr/>
        </p:nvSpPr>
        <p:spPr>
          <a:xfrm>
            <a:off x="10287396" y="4749407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62DF9-ADE8-ED41-BDBD-D0BE7758EE0C}"/>
              </a:ext>
            </a:extLst>
          </p:cNvPr>
          <p:cNvSpPr txBox="1"/>
          <p:nvPr/>
        </p:nvSpPr>
        <p:spPr>
          <a:xfrm>
            <a:off x="7045663" y="474940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1A14F-DA99-6643-8061-70C6D25358D5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31DA22-288A-8242-9B14-25E66747E4FD}"/>
              </a:ext>
            </a:extLst>
          </p:cNvPr>
          <p:cNvSpPr txBox="1"/>
          <p:nvPr/>
        </p:nvSpPr>
        <p:spPr>
          <a:xfrm>
            <a:off x="8100679" y="47494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EA4F2610-FF45-4643-9F07-FA1468E7CF9A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59B72B5-5270-3C47-89B2-406DE3228AB8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4D01DE7-863F-0A42-AB66-1A07BD76278F}"/>
              </a:ext>
            </a:extLst>
          </p:cNvPr>
          <p:cNvCxnSpPr>
            <a:cxnSpLocks/>
          </p:cNvCxnSpPr>
          <p:nvPr/>
        </p:nvCxnSpPr>
        <p:spPr>
          <a:xfrm flipH="1">
            <a:off x="6345650" y="449160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2317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56B4-A8C7-9043-BF91-36C20EA1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Bottom-up parsing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96028-374C-E247-8480-F99B5B084222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7A605-CC1D-B34D-8B65-3082C5CE2C0E}"/>
              </a:ext>
            </a:extLst>
          </p:cNvPr>
          <p:cNvSpPr txBox="1"/>
          <p:nvPr/>
        </p:nvSpPr>
        <p:spPr>
          <a:xfrm>
            <a:off x="9322342" y="475898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8D7507-5650-6C46-BBDE-25E654AD1CBC}"/>
              </a:ext>
            </a:extLst>
          </p:cNvPr>
          <p:cNvSpPr txBox="1"/>
          <p:nvPr/>
        </p:nvSpPr>
        <p:spPr>
          <a:xfrm>
            <a:off x="10287396" y="4749407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62DF9-ADE8-ED41-BDBD-D0BE7758EE0C}"/>
              </a:ext>
            </a:extLst>
          </p:cNvPr>
          <p:cNvSpPr txBox="1"/>
          <p:nvPr/>
        </p:nvSpPr>
        <p:spPr>
          <a:xfrm>
            <a:off x="7045663" y="474940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1A14F-DA99-6643-8061-70C6D25358D5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31DA22-288A-8242-9B14-25E66747E4FD}"/>
              </a:ext>
            </a:extLst>
          </p:cNvPr>
          <p:cNvSpPr txBox="1"/>
          <p:nvPr/>
        </p:nvSpPr>
        <p:spPr>
          <a:xfrm>
            <a:off x="8100679" y="47494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EA4F2610-FF45-4643-9F07-FA1468E7CF9A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59B72B5-5270-3C47-89B2-406DE3228AB8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4D01DE7-863F-0A42-AB66-1A07BD76278F}"/>
              </a:ext>
            </a:extLst>
          </p:cNvPr>
          <p:cNvCxnSpPr>
            <a:cxnSpLocks/>
          </p:cNvCxnSpPr>
          <p:nvPr/>
        </p:nvCxnSpPr>
        <p:spPr>
          <a:xfrm flipH="1">
            <a:off x="6345650" y="449160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0246ABC-0F77-F940-9EC3-DFAEF3B95C57}"/>
              </a:ext>
            </a:extLst>
          </p:cNvPr>
          <p:cNvSpPr txBox="1"/>
          <p:nvPr/>
        </p:nvSpPr>
        <p:spPr>
          <a:xfrm>
            <a:off x="7199032" y="3341169"/>
            <a:ext cx="59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D0C7FD4-A71C-5449-8916-3E412FC4F161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464695" y="3743352"/>
            <a:ext cx="21089" cy="1006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344B44-12E9-654E-A64C-92E692393FAA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464695" y="3743352"/>
            <a:ext cx="21089" cy="1006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49A2A3D-7C4A-3749-9D3D-11113088B1C6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7660559" y="3710501"/>
            <a:ext cx="1008545" cy="10389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CA9EDB-5136-6044-B0C6-5D36F654071D}"/>
              </a:ext>
            </a:extLst>
          </p:cNvPr>
          <p:cNvCxnSpPr>
            <a:cxnSpLocks/>
          </p:cNvCxnSpPr>
          <p:nvPr/>
        </p:nvCxnSpPr>
        <p:spPr>
          <a:xfrm flipH="1">
            <a:off x="6583819" y="3743352"/>
            <a:ext cx="756173" cy="383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1264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456B4-A8C7-9043-BF91-36C20EA1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Bottom-up parsing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296028-374C-E247-8480-F99B5B084222}"/>
              </a:ext>
            </a:extLst>
          </p:cNvPr>
          <p:cNvSpPr txBox="1"/>
          <p:nvPr/>
        </p:nvSpPr>
        <p:spPr>
          <a:xfrm>
            <a:off x="7289830" y="1154487"/>
            <a:ext cx="31470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ourier" pitchFamily="2" charset="0"/>
              </a:rPr>
              <a:t>input: 2+3+4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7A605-CC1D-B34D-8B65-3082C5CE2C0E}"/>
              </a:ext>
            </a:extLst>
          </p:cNvPr>
          <p:cNvSpPr txBox="1"/>
          <p:nvPr/>
        </p:nvSpPr>
        <p:spPr>
          <a:xfrm>
            <a:off x="9322342" y="475898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8D7507-5650-6C46-BBDE-25E654AD1CBC}"/>
              </a:ext>
            </a:extLst>
          </p:cNvPr>
          <p:cNvSpPr txBox="1"/>
          <p:nvPr/>
        </p:nvSpPr>
        <p:spPr>
          <a:xfrm>
            <a:off x="10287396" y="4749407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&lt;NUM,4&gt;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E62DF9-ADE8-ED41-BDBD-D0BE7758EE0C}"/>
              </a:ext>
            </a:extLst>
          </p:cNvPr>
          <p:cNvSpPr txBox="1"/>
          <p:nvPr/>
        </p:nvSpPr>
        <p:spPr>
          <a:xfrm>
            <a:off x="7045663" y="4749407"/>
            <a:ext cx="880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&lt;PLUS&gt;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01A14F-DA99-6643-8061-70C6D25358D5}"/>
              </a:ext>
            </a:extLst>
          </p:cNvPr>
          <p:cNvSpPr txBox="1"/>
          <p:nvPr/>
        </p:nvSpPr>
        <p:spPr>
          <a:xfrm>
            <a:off x="5778171" y="4762252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2&gt;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31DA22-288A-8242-9B14-25E66747E4FD}"/>
              </a:ext>
            </a:extLst>
          </p:cNvPr>
          <p:cNvSpPr txBox="1"/>
          <p:nvPr/>
        </p:nvSpPr>
        <p:spPr>
          <a:xfrm>
            <a:off x="8100679" y="4749407"/>
            <a:ext cx="1136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&lt;NUM, 3&gt;</a:t>
            </a:r>
          </a:p>
        </p:txBody>
      </p:sp>
      <p:graphicFrame>
        <p:nvGraphicFramePr>
          <p:cNvPr id="20" name="Table 5">
            <a:extLst>
              <a:ext uri="{FF2B5EF4-FFF2-40B4-BE49-F238E27FC236}">
                <a16:creationId xmlns:a16="http://schemas.microsoft.com/office/drawing/2014/main" id="{EA4F2610-FF45-4643-9F07-FA1468E7CF9A}"/>
              </a:ext>
            </a:extLst>
          </p:cNvPr>
          <p:cNvGraphicFramePr>
            <a:graphicFrameLocks noGrp="1"/>
          </p:cNvGraphicFramePr>
          <p:nvPr/>
        </p:nvGraphicFramePr>
        <p:xfrm>
          <a:off x="445824" y="3393277"/>
          <a:ext cx="4480008" cy="11476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243519">
                  <a:extLst>
                    <a:ext uri="{9D8B030D-6E8A-4147-A177-3AD203B41FA5}">
                      <a16:colId xmlns:a16="http://schemas.microsoft.com/office/drawing/2014/main" val="1179443482"/>
                    </a:ext>
                  </a:extLst>
                </a:gridCol>
                <a:gridCol w="1186775">
                  <a:extLst>
                    <a:ext uri="{9D8B030D-6E8A-4147-A177-3AD203B41FA5}">
                      <a16:colId xmlns:a16="http://schemas.microsoft.com/office/drawing/2014/main" val="1466143606"/>
                    </a:ext>
                  </a:extLst>
                </a:gridCol>
                <a:gridCol w="2049714">
                  <a:extLst>
                    <a:ext uri="{9D8B030D-6E8A-4147-A177-3AD203B41FA5}">
                      <a16:colId xmlns:a16="http://schemas.microsoft.com/office/drawing/2014/main" val="2892710420"/>
                    </a:ext>
                  </a:extLst>
                </a:gridCol>
              </a:tblGrid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902504"/>
                  </a:ext>
                </a:extLst>
              </a:tr>
              <a:tr h="573846"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expr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urier" pitchFamily="2" charset="0"/>
                        </a:rPr>
                        <a:t>: expr PLUS NUM</a:t>
                      </a:r>
                      <a:br>
                        <a:rPr lang="en-US" sz="1400" dirty="0">
                          <a:latin typeface="Courier" pitchFamily="2" charset="0"/>
                        </a:rPr>
                      </a:br>
                      <a:r>
                        <a:rPr lang="en-US" sz="1400" dirty="0">
                          <a:latin typeface="Courier" pitchFamily="2" charset="0"/>
                        </a:rPr>
                        <a:t>| NUM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946305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159B72B5-5270-3C47-89B2-406DE3228AB8}"/>
              </a:ext>
            </a:extLst>
          </p:cNvPr>
          <p:cNvSpPr txBox="1"/>
          <p:nvPr/>
        </p:nvSpPr>
        <p:spPr>
          <a:xfrm>
            <a:off x="6047604" y="4127219"/>
            <a:ext cx="597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4D01DE7-863F-0A42-AB66-1A07BD76278F}"/>
              </a:ext>
            </a:extLst>
          </p:cNvPr>
          <p:cNvCxnSpPr>
            <a:cxnSpLocks/>
          </p:cNvCxnSpPr>
          <p:nvPr/>
        </p:nvCxnSpPr>
        <p:spPr>
          <a:xfrm flipH="1">
            <a:off x="6345650" y="4491608"/>
            <a:ext cx="5609" cy="30006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0246ABC-0F77-F940-9EC3-DFAEF3B95C57}"/>
              </a:ext>
            </a:extLst>
          </p:cNvPr>
          <p:cNvSpPr txBox="1"/>
          <p:nvPr/>
        </p:nvSpPr>
        <p:spPr>
          <a:xfrm>
            <a:off x="7199032" y="3341169"/>
            <a:ext cx="59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D0C7FD4-A71C-5449-8916-3E412FC4F161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464695" y="3743352"/>
            <a:ext cx="21089" cy="1006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344B44-12E9-654E-A64C-92E692393FAA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464695" y="3743352"/>
            <a:ext cx="21089" cy="100605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49A2A3D-7C4A-3749-9D3D-11113088B1C6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7660559" y="3710501"/>
            <a:ext cx="1008545" cy="10389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CA9EDB-5136-6044-B0C6-5D36F654071D}"/>
              </a:ext>
            </a:extLst>
          </p:cNvPr>
          <p:cNvCxnSpPr>
            <a:cxnSpLocks/>
          </p:cNvCxnSpPr>
          <p:nvPr/>
        </p:nvCxnSpPr>
        <p:spPr>
          <a:xfrm flipH="1">
            <a:off x="6583819" y="3743352"/>
            <a:ext cx="756173" cy="38386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334D188-0CEF-724F-8166-1F26295378E7}"/>
              </a:ext>
            </a:extLst>
          </p:cNvPr>
          <p:cNvSpPr txBox="1"/>
          <p:nvPr/>
        </p:nvSpPr>
        <p:spPr>
          <a:xfrm>
            <a:off x="8639545" y="2724287"/>
            <a:ext cx="59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61C81A3-1E6C-614A-BC64-C03C62CD13CE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7797016" y="3039420"/>
            <a:ext cx="872088" cy="48641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B27DA8A-F438-B845-AA92-998BEC010F8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8938537" y="3093619"/>
            <a:ext cx="645730" cy="154801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1DC4986-C5AF-C84C-ABD4-3372E2A70AAC}"/>
              </a:ext>
            </a:extLst>
          </p:cNvPr>
          <p:cNvCxnSpPr>
            <a:cxnSpLocks/>
          </p:cNvCxnSpPr>
          <p:nvPr/>
        </p:nvCxnSpPr>
        <p:spPr>
          <a:xfrm>
            <a:off x="9130631" y="3039420"/>
            <a:ext cx="1595157" cy="17099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4865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Bottom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A8B6C-1677-A145-80FA-B986C75DF7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Pros:</a:t>
            </a:r>
          </a:p>
          <a:p>
            <a:r>
              <a:rPr lang="en-US" dirty="0"/>
              <a:t>can handle grammars expressed more naturally</a:t>
            </a:r>
          </a:p>
          <a:p>
            <a:r>
              <a:rPr lang="en-US" dirty="0"/>
              <a:t>can encode precedence and associativity even if grammar is ambiguous (with precedence and associativity specifications)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Cons:</a:t>
            </a:r>
          </a:p>
          <a:p>
            <a:r>
              <a:rPr lang="en-US" dirty="0"/>
              <a:t>algorithm is complicated</a:t>
            </a:r>
          </a:p>
          <a:p>
            <a:r>
              <a:rPr lang="en-US" dirty="0"/>
              <a:t>In some cases slower than top down</a:t>
            </a:r>
          </a:p>
          <a:p>
            <a:pPr lvl="1"/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2091328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217" y="1557821"/>
            <a:ext cx="10515600" cy="4206875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Let’s start with top-down parsing</a:t>
            </a:r>
            <a:r>
              <a:rPr lang="en-US" b="1" dirty="0"/>
              <a:t>:</a:t>
            </a:r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 Two ways to implement the same idea: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   1) LL(1) Push Down Automaton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   2) Recursive Descent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410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45C16-8862-F20E-0E35-E5A4729A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6163B-D776-C02F-7AA7-0C156147C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156" y="365125"/>
            <a:ext cx="9737035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  Top down, Table Driven:  LL(1) PDA Parser</a:t>
            </a:r>
            <a:br>
              <a:rPr lang="en-US" dirty="0"/>
            </a:br>
            <a:r>
              <a:rPr lang="en-US" dirty="0"/>
              <a:t>      </a:t>
            </a:r>
            <a:r>
              <a:rPr lang="en-US" sz="3600" dirty="0"/>
              <a:t>Left to right processing with Leftmost derivation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50EE1-6BEA-B43A-9B7E-B197CDA85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56" y="1747561"/>
            <a:ext cx="4613418" cy="45806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0958C6-4239-DDD9-AFD8-F7F9F2BAE1EA}"/>
              </a:ext>
            </a:extLst>
          </p:cNvPr>
          <p:cNvSpPr txBox="1"/>
          <p:nvPr/>
        </p:nvSpPr>
        <p:spPr>
          <a:xfrm>
            <a:off x="5857460" y="3116439"/>
            <a:ext cx="307450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Match (Consume)</a:t>
            </a:r>
          </a:p>
          <a:p>
            <a:r>
              <a:rPr lang="en-US" dirty="0"/>
              <a:t>If top of stack is a </a:t>
            </a:r>
            <a:r>
              <a:rPr lang="en-US" b="1" dirty="0"/>
              <a:t>terminal</a:t>
            </a:r>
            <a:r>
              <a:rPr lang="en-US" dirty="0"/>
              <a:t> </a:t>
            </a:r>
            <a:r>
              <a:rPr lang="en-US" b="1" dirty="0"/>
              <a:t>a</a:t>
            </a:r>
          </a:p>
          <a:p>
            <a:r>
              <a:rPr lang="en-US" dirty="0"/>
              <a:t>And lookahead token is also </a:t>
            </a:r>
            <a:r>
              <a:rPr lang="en-US" b="1" dirty="0"/>
              <a:t>a</a:t>
            </a:r>
          </a:p>
          <a:p>
            <a:r>
              <a:rPr lang="en-US" dirty="0"/>
              <a:t>Pop stack</a:t>
            </a:r>
          </a:p>
          <a:p>
            <a:r>
              <a:rPr lang="en-US" dirty="0"/>
              <a:t>Advance input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A78F82-8ED2-4478-726B-E98F5EF25E53}"/>
              </a:ext>
            </a:extLst>
          </p:cNvPr>
          <p:cNvSpPr txBox="1"/>
          <p:nvPr/>
        </p:nvSpPr>
        <p:spPr>
          <a:xfrm>
            <a:off x="5857461" y="1327315"/>
            <a:ext cx="53207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Expand (Predict)</a:t>
            </a:r>
          </a:p>
          <a:p>
            <a:r>
              <a:rPr lang="en-US" dirty="0"/>
              <a:t>If top of stack is </a:t>
            </a:r>
            <a:r>
              <a:rPr lang="en-US" b="1" dirty="0"/>
              <a:t>non-terminal</a:t>
            </a:r>
            <a:r>
              <a:rPr lang="en-US" dirty="0"/>
              <a:t> </a:t>
            </a:r>
            <a:r>
              <a:rPr lang="en-US" b="1" dirty="0"/>
              <a:t>A</a:t>
            </a:r>
          </a:p>
          <a:p>
            <a:r>
              <a:rPr lang="en-US" dirty="0"/>
              <a:t>And lookahead token is </a:t>
            </a:r>
            <a:r>
              <a:rPr lang="en-US" b="1" dirty="0"/>
              <a:t>a</a:t>
            </a:r>
          </a:p>
          <a:p>
            <a:r>
              <a:rPr lang="en-US" dirty="0"/>
              <a:t>Consult table M[</a:t>
            </a:r>
            <a:r>
              <a:rPr lang="en-US" b="1" dirty="0"/>
              <a:t>A, a</a:t>
            </a:r>
            <a:r>
              <a:rPr lang="en-US" dirty="0"/>
              <a:t>]</a:t>
            </a:r>
          </a:p>
          <a:p>
            <a:r>
              <a:rPr lang="en-US" dirty="0"/>
              <a:t>Replace A in </a:t>
            </a:r>
            <a:r>
              <a:rPr lang="en-US" dirty="0" err="1"/>
              <a:t>dysvk</a:t>
            </a:r>
            <a:r>
              <a:rPr lang="en-US" dirty="0"/>
              <a:t> with </a:t>
            </a:r>
            <a:r>
              <a:rPr lang="en-US" dirty="0" err="1"/>
              <a:t>chodr</a:t>
            </a:r>
            <a:r>
              <a:rPr lang="en-US" dirty="0"/>
              <a:t> RHS </a:t>
            </a:r>
          </a:p>
          <a:p>
            <a:r>
              <a:rPr lang="en-US" dirty="0"/>
              <a:t>   production (pushed in reverse order)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740705-B202-6E85-EDF3-08709EE11771}"/>
              </a:ext>
            </a:extLst>
          </p:cNvPr>
          <p:cNvSpPr txBox="1"/>
          <p:nvPr/>
        </p:nvSpPr>
        <p:spPr>
          <a:xfrm>
            <a:off x="5857461" y="4573933"/>
            <a:ext cx="29585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Accept (or Error)</a:t>
            </a:r>
          </a:p>
          <a:p>
            <a:r>
              <a:rPr lang="en-US" dirty="0"/>
              <a:t>If top of stack is $</a:t>
            </a:r>
          </a:p>
          <a:p>
            <a:r>
              <a:rPr lang="en-US" dirty="0"/>
              <a:t>And input token is $</a:t>
            </a:r>
          </a:p>
          <a:p>
            <a:r>
              <a:rPr lang="en-US" dirty="0"/>
              <a:t>Parsing succeeds: Accept</a:t>
            </a:r>
          </a:p>
          <a:p>
            <a:r>
              <a:rPr lang="en-US" dirty="0"/>
              <a:t>Otherwise:</a:t>
            </a:r>
          </a:p>
          <a:p>
            <a:r>
              <a:rPr lang="en-US" dirty="0"/>
              <a:t>No table entry → </a:t>
            </a:r>
            <a:r>
              <a:rPr lang="en-US" b="1" dirty="0"/>
              <a:t>error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57FAC4-ED3F-AC91-C213-18A93D5E0ADE}"/>
              </a:ext>
            </a:extLst>
          </p:cNvPr>
          <p:cNvSpPr txBox="1"/>
          <p:nvPr/>
        </p:nvSpPr>
        <p:spPr>
          <a:xfrm>
            <a:off x="10028583" y="2853083"/>
            <a:ext cx="2014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3 Possible </a:t>
            </a:r>
          </a:p>
          <a:p>
            <a:r>
              <a:rPr lang="en-US" sz="3200" b="1" dirty="0"/>
              <a:t>  Actions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7A92B3-164D-5D2F-917A-8BE2DC1AA70E}"/>
              </a:ext>
            </a:extLst>
          </p:cNvPr>
          <p:cNvSpPr txBox="1"/>
          <p:nvPr/>
        </p:nvSpPr>
        <p:spPr>
          <a:xfrm>
            <a:off x="516837" y="6493565"/>
            <a:ext cx="11012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https://www.researchgate.net/figure/LL-Parser-Left-to-right-processing-with-leftmost-derivation_fig5_253273718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202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6109365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   # Expr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  # Read first token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  // </a:t>
            </a:r>
            <a:r>
              <a:rPr lang="en-US" sz="1600" b="1" dirty="0">
                <a:latin typeface="Courier" pitchFamily="2" charset="0"/>
              </a:rPr>
              <a:t>Expand(Predict)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nonterminal, A)</a:t>
            </a:r>
          </a:p>
          <a:p>
            <a:r>
              <a:rPr lang="en-US" sz="1600" dirty="0"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   # First symbol in rule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): //</a:t>
            </a:r>
            <a:r>
              <a:rPr lang="en-US" sz="1600" b="1" dirty="0">
                <a:latin typeface="Courier" pitchFamily="2" charset="0"/>
              </a:rPr>
              <a:t> Match(Consume)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</a:t>
            </a:r>
            <a:r>
              <a:rPr lang="en-US" sz="1600" b="1" dirty="0">
                <a:latin typeface="Courier" pitchFamily="2" charset="0"/>
              </a:rPr>
              <a:t>and</a:t>
            </a:r>
            <a:r>
              <a:rPr lang="en-US" sz="1600" dirty="0">
                <a:latin typeface="Courier" pitchFamily="2" charset="0"/>
              </a:rPr>
              <a:t> focus == None) 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b="1" dirty="0">
                <a:latin typeface="Courier" pitchFamily="2" charset="0"/>
              </a:rPr>
              <a:t>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8" name="Table 9">
            <a:extLst>
              <a:ext uri="{FF2B5EF4-FFF2-40B4-BE49-F238E27FC236}">
                <a16:creationId xmlns:a16="http://schemas.microsoft.com/office/drawing/2014/main" id="{52F45E7E-6D46-5644-BA15-D54693F8A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478590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AD8FC20A-B26D-7648-B35B-CB5DB4B222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970801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 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D9C33981-FC67-DB41-8F5C-A6B8D162B990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52A6EFE-DA15-15DF-7558-09E99724AEAF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6" name="Right Arrow 39">
              <a:extLst>
                <a:ext uri="{FF2B5EF4-FFF2-40B4-BE49-F238E27FC236}">
                  <a16:creationId xmlns:a16="http://schemas.microsoft.com/office/drawing/2014/main" id="{2CA2533A-6565-5801-38CD-F4A14A55C5AB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1D3B34-B34F-1A6E-2AFD-6179CF6AA272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9183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07408-A362-019C-91FB-21D79E4F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909051-B6DC-EEF9-B229-E54F077D2090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root = start symbol;   # Expr</a:t>
            </a:r>
            <a:br>
              <a:rPr lang="en-US" sz="1600" dirty="0">
                <a:highlight>
                  <a:srgbClr val="FFFF00"/>
                </a:highlight>
                <a:latin typeface="Courier" pitchFamily="2" charset="0"/>
              </a:rPr>
            </a:b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s.token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();  # Read first token</a:t>
            </a:r>
          </a:p>
          <a:p>
            <a:endParaRPr lang="en-US" sz="1600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nonterminal, A)</a:t>
            </a:r>
          </a:p>
          <a:p>
            <a:r>
              <a:rPr lang="en-US" sz="1600" dirty="0"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   # First symbol in rule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):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</a:t>
            </a:r>
            <a:r>
              <a:rPr lang="en-US" sz="1600" b="1" dirty="0">
                <a:latin typeface="Courier" pitchFamily="2" charset="0"/>
              </a:rPr>
              <a:t>and</a:t>
            </a:r>
            <a:r>
              <a:rPr lang="en-US" sz="1600" dirty="0">
                <a:latin typeface="Courier" pitchFamily="2" charset="0"/>
              </a:rPr>
              <a:t>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8" name="Table 9">
            <a:extLst>
              <a:ext uri="{FF2B5EF4-FFF2-40B4-BE49-F238E27FC236}">
                <a16:creationId xmlns:a16="http://schemas.microsoft.com/office/drawing/2014/main" id="{44752E71-D7BE-4372-AABC-694F089F5F17}"/>
              </a:ext>
            </a:extLst>
          </p:cNvPr>
          <p:cNvGraphicFramePr>
            <a:graphicFrameLocks noGrp="1"/>
          </p:cNvGraphicFramePr>
          <p:nvPr/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6EBBE18-B5B4-783B-7E13-37227CDAFD75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0B65266D-D4E9-212A-C0AD-1648CD254B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2068069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“(“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latin typeface="Courier" pitchFamily="2" charset="0"/>
                        </a:rPr>
                        <a:t>“</a:t>
                      </a:r>
                      <a:r>
                        <a:rPr lang="en-US" sz="1600" i="1" dirty="0" err="1">
                          <a:latin typeface="Courier" pitchFamily="2" charset="0"/>
                        </a:rPr>
                        <a:t>a+b</a:t>
                      </a:r>
                      <a:r>
                        <a:rPr lang="en-US" sz="1600" i="1" dirty="0">
                          <a:latin typeface="Courier" pitchFamily="2" charset="0"/>
                        </a:rPr>
                        <a:t>)*c”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 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F147923D-1B42-AD51-43C3-CE4C6640A24B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AF10588-4129-FC1E-5E31-5137D5C8B547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6" name="Right Arrow 39">
              <a:extLst>
                <a:ext uri="{FF2B5EF4-FFF2-40B4-BE49-F238E27FC236}">
                  <a16:creationId xmlns:a16="http://schemas.microsoft.com/office/drawing/2014/main" id="{AA64B0CD-291E-D02E-D5A9-FA0B1BD28B65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BBB1F02-EDBA-27DD-128B-9C362149D288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85E0C5C-082C-93B9-6105-5B42950FFEC1}"/>
              </a:ext>
            </a:extLst>
          </p:cNvPr>
          <p:cNvSpPr txBox="1"/>
          <p:nvPr/>
        </p:nvSpPr>
        <p:spPr>
          <a:xfrm>
            <a:off x="1943100" y="4416035"/>
            <a:ext cx="17408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Initialized State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F7C4B-AD10-78D3-796A-904CFDD5B6AC}"/>
              </a:ext>
            </a:extLst>
          </p:cNvPr>
          <p:cNvSpPr txBox="1"/>
          <p:nvPr/>
        </p:nvSpPr>
        <p:spPr>
          <a:xfrm>
            <a:off x="8566164" y="6176950"/>
            <a:ext cx="1566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Initialize</a:t>
            </a:r>
          </a:p>
        </p:txBody>
      </p:sp>
    </p:spTree>
    <p:extLst>
      <p:ext uri="{BB962C8B-B14F-4D97-AF65-F5344CB8AC3E}">
        <p14:creationId xmlns:p14="http://schemas.microsoft.com/office/powerpoint/2010/main" val="11880772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is a nonterminal, A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push(BN... B3, B2);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4E27C5-B53C-4A47-8952-00794A7B5C2A}"/>
              </a:ext>
            </a:extLst>
          </p:cNvPr>
          <p:cNvSpPr txBox="1"/>
          <p:nvPr/>
        </p:nvSpPr>
        <p:spPr>
          <a:xfrm>
            <a:off x="3598050" y="157830"/>
            <a:ext cx="3003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Currently we assume there is some magic that we can pick</a:t>
            </a:r>
          </a:p>
          <a:p>
            <a:r>
              <a:rPr lang="en-US" i="1" dirty="0">
                <a:highlight>
                  <a:srgbClr val="FFFF00"/>
                </a:highlight>
              </a:rPr>
              <a:t>the right rule every time from production with LHS of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2D0AF0-9E08-D44C-AC1F-3E1F56C8F66C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D24D38D7-970E-E84B-99E3-DB0404190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65963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1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Expr Op Unit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7A700C23-FA44-2342-9ACE-E5628C2EBE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212666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Expr -&gt; 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“(“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latin typeface="Courier" pitchFamily="2" charset="0"/>
                        </a:rPr>
                        <a:t>“</a:t>
                      </a:r>
                      <a:r>
                        <a:rPr lang="en-US" sz="1600" i="1" dirty="0" err="1">
                          <a:latin typeface="Courier" pitchFamily="2" charset="0"/>
                        </a:rPr>
                        <a:t>a+b</a:t>
                      </a:r>
                      <a:r>
                        <a:rPr lang="en-US" sz="1600" i="1" dirty="0">
                          <a:latin typeface="Courier" pitchFamily="2" charset="0"/>
                        </a:rPr>
                        <a:t>)*c”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</a:t>
                      </a:r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Op Unit</a:t>
                      </a:r>
                      <a:r>
                        <a:rPr lang="en-US" sz="16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1C6A9628-9147-C06E-5789-8A0985EC0F51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3" name="Right Arrow 39">
              <a:extLst>
                <a:ext uri="{FF2B5EF4-FFF2-40B4-BE49-F238E27FC236}">
                  <a16:creationId xmlns:a16="http://schemas.microsoft.com/office/drawing/2014/main" id="{8C31D050-38BA-9500-493B-50D8A79E17BF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144BF9-8AE4-75F8-FDC0-F230CF8BE971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E842726-F767-9BDF-C182-23E055453CEF}"/>
              </a:ext>
            </a:extLst>
          </p:cNvPr>
          <p:cNvSpPr txBox="1"/>
          <p:nvPr/>
        </p:nvSpPr>
        <p:spPr>
          <a:xfrm>
            <a:off x="7265376" y="6167615"/>
            <a:ext cx="3988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</a:t>
            </a:r>
            <a:r>
              <a:rPr lang="en-US" sz="2800" baseline="30000" dirty="0"/>
              <a:t>st</a:t>
            </a:r>
            <a:r>
              <a:rPr lang="en-US" sz="2800" dirty="0"/>
              <a:t> Iteration: Apply rule 1</a:t>
            </a:r>
          </a:p>
        </p:txBody>
      </p:sp>
    </p:spTree>
    <p:extLst>
      <p:ext uri="{BB962C8B-B14F-4D97-AF65-F5344CB8AC3E}">
        <p14:creationId xmlns:p14="http://schemas.microsoft.com/office/powerpoint/2010/main" val="3193283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1CC92-09F8-53A9-52AB-639F31638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F9DE1F-B5DD-6456-B61E-99604C197F5C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is a nonterminal, A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push(BN... B3, B2);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B1</a:t>
            </a:r>
            <a:r>
              <a:rPr lang="en-US" sz="1600" dirty="0">
                <a:latin typeface="Courier" pitchFamily="2" charset="0"/>
              </a:rPr>
              <a:t>            // B1 is now ‘(‘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7AA923-3E34-9B50-F8C6-A033E6C3375E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87F61C-50E9-FA8F-4991-875DC6424890}"/>
              </a:ext>
            </a:extLst>
          </p:cNvPr>
          <p:cNvSpPr txBox="1"/>
          <p:nvPr/>
        </p:nvSpPr>
        <p:spPr>
          <a:xfrm>
            <a:off x="3598050" y="157830"/>
            <a:ext cx="3003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Currently we assume there is some magic that we can pick</a:t>
            </a:r>
          </a:p>
          <a:p>
            <a:r>
              <a:rPr lang="en-US" i="1" dirty="0">
                <a:highlight>
                  <a:srgbClr val="FFFF00"/>
                </a:highlight>
              </a:rPr>
              <a:t>the right rule every time from production with LHS of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8443EF-94F3-E639-5F19-7173F6151A59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EBBF3E2E-4A14-2C41-E18E-26BAA27E1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3579612"/>
              </p:ext>
            </p:extLst>
          </p:nvPr>
        </p:nvGraphicFramePr>
        <p:xfrm>
          <a:off x="6401581" y="3108494"/>
          <a:ext cx="5500306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750153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750153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Unit</a:t>
                      </a:r>
                      <a:r>
                        <a:rPr lang="en-US" dirty="0">
                          <a:latin typeface="Courier" pitchFamily="2" charset="0"/>
                        </a:rPr>
                        <a:t>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87A577DF-B245-0492-C223-680E12DB3D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3607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Expr -&gt;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“(“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latin typeface="Courier" pitchFamily="2" charset="0"/>
                        </a:rPr>
                        <a:t>“</a:t>
                      </a:r>
                      <a:r>
                        <a:rPr lang="en-US" sz="1600" i="1" dirty="0" err="1">
                          <a:latin typeface="Courier" pitchFamily="2" charset="0"/>
                        </a:rPr>
                        <a:t>a+b</a:t>
                      </a:r>
                      <a:r>
                        <a:rPr lang="en-US" sz="1600" i="1" dirty="0">
                          <a:latin typeface="Courier" pitchFamily="2" charset="0"/>
                        </a:rPr>
                        <a:t>)*c”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[Op Unit]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899D9B11-38F4-D3EF-FFCD-06856AC177B9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3" name="Right Arrow 39">
              <a:extLst>
                <a:ext uri="{FF2B5EF4-FFF2-40B4-BE49-F238E27FC236}">
                  <a16:creationId xmlns:a16="http://schemas.microsoft.com/office/drawing/2014/main" id="{CB26CEEB-699F-80DF-0FBE-2C0EE96BA121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08CA60-1231-E682-1666-034A556481C3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3B25A82-457D-F05B-A277-1D0644155D89}"/>
              </a:ext>
            </a:extLst>
          </p:cNvPr>
          <p:cNvSpPr txBox="1"/>
          <p:nvPr/>
        </p:nvSpPr>
        <p:spPr>
          <a:xfrm>
            <a:off x="7265376" y="6185199"/>
            <a:ext cx="3988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nd</a:t>
            </a:r>
            <a:r>
              <a:rPr lang="en-US" sz="2800" dirty="0"/>
              <a:t> Iteration: Apply rule 2</a:t>
            </a:r>
          </a:p>
        </p:txBody>
      </p:sp>
    </p:spTree>
    <p:extLst>
      <p:ext uri="{BB962C8B-B14F-4D97-AF65-F5344CB8AC3E}">
        <p14:creationId xmlns:p14="http://schemas.microsoft.com/office/powerpoint/2010/main" val="2755633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E6A48-70C6-4497-E2A5-E54B80987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9DCBF1-2BD5-AF9D-6586-78EDE568D4AA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nonterminal, A)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push(BN... B3, B2);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B1</a:t>
            </a:r>
            <a:r>
              <a:rPr lang="en-US" sz="1600" dirty="0">
                <a:latin typeface="Courier" pitchFamily="2" charset="0"/>
              </a:rPr>
              <a:t>      // B1 is now ‘(‘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547F0E-96F9-1229-7B10-BA1C95B482D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23FDB6-07F9-71B3-A2E4-C632D326C341}"/>
              </a:ext>
            </a:extLst>
          </p:cNvPr>
          <p:cNvSpPr txBox="1"/>
          <p:nvPr/>
        </p:nvSpPr>
        <p:spPr>
          <a:xfrm>
            <a:off x="3598050" y="157830"/>
            <a:ext cx="3003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Currently we assume there is some magic that we can pick</a:t>
            </a:r>
          </a:p>
          <a:p>
            <a:r>
              <a:rPr lang="en-US" i="1" dirty="0">
                <a:highlight>
                  <a:srgbClr val="FFFF00"/>
                </a:highlight>
              </a:rPr>
              <a:t>the right rule every time from production with LHS of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75BB19-92A8-DDC9-1DB6-3F052DA0085D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FB5C0FE2-0385-E36C-AFE2-A2091D7B3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862773"/>
              </p:ext>
            </p:extLst>
          </p:nvPr>
        </p:nvGraphicFramePr>
        <p:xfrm>
          <a:off x="6401581" y="3108494"/>
          <a:ext cx="5500306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750153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750153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Unit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‘(‘Expr‘)’</a:t>
                      </a:r>
                      <a:r>
                        <a:rPr lang="en-US" dirty="0">
                          <a:latin typeface="Courier" pitchFamily="2" charset="0"/>
                        </a:rPr>
                        <a:t>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4C4823E1-11FC-F1B4-701D-9194D60A9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071176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Unit -&gt; “(“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‘(‘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‘</a:t>
                      </a:r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+b)*c</a:t>
                      </a:r>
                      <a:endParaRPr lang="en-US" sz="160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[Expr ‘)’ Op Unit]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5927A376-EED3-3779-EBA9-B61F94ABEA3F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3" name="Right Arrow 39">
              <a:extLst>
                <a:ext uri="{FF2B5EF4-FFF2-40B4-BE49-F238E27FC236}">
                  <a16:creationId xmlns:a16="http://schemas.microsoft.com/office/drawing/2014/main" id="{4DE2997C-BE88-1E19-31A6-71E242B329C2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F629FE1-3F72-BE15-D160-DEC27F2F1783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474BD2A-B5BE-CE76-1F2F-EE55710F0EC0}"/>
              </a:ext>
            </a:extLst>
          </p:cNvPr>
          <p:cNvSpPr txBox="1"/>
          <p:nvPr/>
        </p:nvSpPr>
        <p:spPr>
          <a:xfrm>
            <a:off x="7265376" y="6185199"/>
            <a:ext cx="4226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3</a:t>
            </a:r>
            <a:r>
              <a:rPr lang="en-US" sz="2800" baseline="30000" dirty="0"/>
              <a:t>rd</a:t>
            </a:r>
            <a:r>
              <a:rPr lang="en-US" sz="2800" dirty="0"/>
              <a:t> Iteration: gobble the ‘(“</a:t>
            </a:r>
          </a:p>
        </p:txBody>
      </p:sp>
    </p:spTree>
    <p:extLst>
      <p:ext uri="{BB962C8B-B14F-4D97-AF65-F5344CB8AC3E}">
        <p14:creationId xmlns:p14="http://schemas.microsoft.com/office/powerpoint/2010/main" val="3529980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AC442-D399-A38C-79F9-21D62E54A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CA2666-38DB-C0B6-A096-A8062D0293F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nonterminal, A)</a:t>
            </a:r>
          </a:p>
          <a:p>
            <a:r>
              <a:rPr lang="en-US" sz="1600" dirty="0"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            // B1 is now ‘(‘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s.token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focus = pop()</a:t>
            </a:r>
          </a:p>
          <a:p>
            <a:endParaRPr lang="en-US" sz="1600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5186EB-23F7-804B-BD67-A95B25AAD7CA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DEEB1E-482B-2DC3-0EF1-DD460294B359}"/>
              </a:ext>
            </a:extLst>
          </p:cNvPr>
          <p:cNvSpPr txBox="1"/>
          <p:nvPr/>
        </p:nvSpPr>
        <p:spPr>
          <a:xfrm>
            <a:off x="3598050" y="157830"/>
            <a:ext cx="30030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Currently we assume there is some magic that we can pick</a:t>
            </a:r>
          </a:p>
          <a:p>
            <a:r>
              <a:rPr lang="en-US" i="1" dirty="0"/>
              <a:t>the right rule every time from production with LHS of 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F76467-5AFC-363B-1691-4D17820DDC44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18AD37D3-9232-503E-519D-7B8A57FEBB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738652"/>
              </p:ext>
            </p:extLst>
          </p:nvPr>
        </p:nvGraphicFramePr>
        <p:xfrm>
          <a:off x="6401581" y="3108494"/>
          <a:ext cx="5500306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750153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750153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Unit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Expr‘)’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12F869E7-6EBF-BC5F-1130-768C888E7F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145859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“(“ -&gt; </a:t>
                      </a:r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‘(‘   -&gt; (ID, </a:t>
                      </a:r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“a”</a:t>
                      </a:r>
                      <a:r>
                        <a:rPr lang="en-US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‘</a:t>
                      </a:r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highlight>
                            <a:srgbClr val="FFFF00"/>
                          </a:highlight>
                          <a:latin typeface="Courier" pitchFamily="2" charset="0"/>
                        </a:rPr>
                        <a:t>+b)*c</a:t>
                      </a:r>
                      <a:endParaRPr lang="en-US" sz="160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[ ‘)’ Op Unit]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grpSp>
        <p:nvGrpSpPr>
          <p:cNvPr id="11" name="Group 10">
            <a:extLst>
              <a:ext uri="{FF2B5EF4-FFF2-40B4-BE49-F238E27FC236}">
                <a16:creationId xmlns:a16="http://schemas.microsoft.com/office/drawing/2014/main" id="{3D46BFE5-947D-B76C-F2D3-73BFB36C1B8A}"/>
              </a:ext>
            </a:extLst>
          </p:cNvPr>
          <p:cNvGrpSpPr/>
          <p:nvPr/>
        </p:nvGrpSpPr>
        <p:grpSpPr>
          <a:xfrm>
            <a:off x="5389652" y="6185199"/>
            <a:ext cx="817940" cy="369332"/>
            <a:chOff x="5433392" y="6185199"/>
            <a:chExt cx="817940" cy="369332"/>
          </a:xfrm>
        </p:grpSpPr>
        <p:sp>
          <p:nvSpPr>
            <p:cNvPr id="3" name="Right Arrow 39">
              <a:extLst>
                <a:ext uri="{FF2B5EF4-FFF2-40B4-BE49-F238E27FC236}">
                  <a16:creationId xmlns:a16="http://schemas.microsoft.com/office/drawing/2014/main" id="{65DC0DCA-FDFD-2E23-FF4D-AB9E48C6C2AB}"/>
                </a:ext>
              </a:extLst>
            </p:cNvPr>
            <p:cNvSpPr/>
            <p:nvPr/>
          </p:nvSpPr>
          <p:spPr>
            <a:xfrm rot="10800000" flipV="1">
              <a:off x="5904826" y="6285610"/>
              <a:ext cx="346506" cy="18552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8799F8-5E5D-E0D7-58EC-A9968C9757F8}"/>
                </a:ext>
              </a:extLst>
            </p:cNvPr>
            <p:cNvSpPr txBox="1"/>
            <p:nvPr/>
          </p:nvSpPr>
          <p:spPr>
            <a:xfrm>
              <a:off x="5433392" y="6185199"/>
              <a:ext cx="5463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TOS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C2F8699-2B39-173F-B0F6-F30CAE3A7644}"/>
              </a:ext>
            </a:extLst>
          </p:cNvPr>
          <p:cNvSpPr txBox="1"/>
          <p:nvPr/>
        </p:nvSpPr>
        <p:spPr>
          <a:xfrm>
            <a:off x="7265376" y="6185199"/>
            <a:ext cx="4226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4</a:t>
            </a:r>
            <a:r>
              <a:rPr lang="en-US" sz="2800" baseline="30000" dirty="0"/>
              <a:t>th</a:t>
            </a:r>
            <a:r>
              <a:rPr lang="en-US" sz="2800" dirty="0"/>
              <a:t> Iteration: consume ‘(“</a:t>
            </a:r>
          </a:p>
        </p:txBody>
      </p:sp>
    </p:spTree>
    <p:extLst>
      <p:ext uri="{BB962C8B-B14F-4D97-AF65-F5344CB8AC3E}">
        <p14:creationId xmlns:p14="http://schemas.microsoft.com/office/powerpoint/2010/main" val="10973799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2D0AF0-9E08-D44C-AC1F-3E1F56C8F66C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D24D38D7-970E-E84B-99E3-DB0404190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955602"/>
              </p:ext>
            </p:extLst>
          </p:nvPr>
        </p:nvGraphicFramePr>
        <p:xfrm>
          <a:off x="6796487" y="3108494"/>
          <a:ext cx="522618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61309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61309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 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" pitchFamily="2" charset="0"/>
                        </a:rPr>
                        <a:t>Expr Op Unit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Unit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'(’ Expr ‘)’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‘(‘ Expr Op Unit ‘)’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‘(‘ Unit Op Unit ‘)’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‘(‘ ID Op Unit ‘)’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7A700C23-FA44-2342-9ACE-E5628C2EBE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63837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‘+’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>
                          <a:latin typeface="Courier" pitchFamily="2" charset="0"/>
                        </a:rPr>
                        <a:t>b)*c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Unit ‘)’ Op, Expr, None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E7D48EE-3633-1E41-BF24-F0B0B151DC39}"/>
              </a:ext>
            </a:extLst>
          </p:cNvPr>
          <p:cNvSpPr txBox="1"/>
          <p:nvPr/>
        </p:nvSpPr>
        <p:spPr>
          <a:xfrm>
            <a:off x="6832349" y="6228179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so on...</a:t>
            </a:r>
          </a:p>
        </p:txBody>
      </p:sp>
    </p:spTree>
    <p:extLst>
      <p:ext uri="{BB962C8B-B14F-4D97-AF65-F5344CB8AC3E}">
        <p14:creationId xmlns:p14="http://schemas.microsoft.com/office/powerpoint/2010/main" val="1754007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00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4E27C5-B53C-4A47-8952-00794A7B5C2A}"/>
              </a:ext>
            </a:extLst>
          </p:cNvPr>
          <p:cNvSpPr txBox="1"/>
          <p:nvPr/>
        </p:nvSpPr>
        <p:spPr>
          <a:xfrm>
            <a:off x="4309194" y="176628"/>
            <a:ext cx="2565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              </a:t>
            </a:r>
            <a:r>
              <a:rPr lang="en-US" sz="2000" dirty="0">
                <a:highlight>
                  <a:srgbClr val="00FF00"/>
                </a:highlight>
              </a:rPr>
              <a:t>BUT</a:t>
            </a:r>
          </a:p>
          <a:p>
            <a:r>
              <a:rPr lang="en-US" i="1" dirty="0">
                <a:highlight>
                  <a:srgbClr val="00FF00"/>
                </a:highlight>
              </a:rPr>
              <a:t>What can go wrong if</a:t>
            </a:r>
            <a:br>
              <a:rPr lang="en-US" i="1" dirty="0">
                <a:highlight>
                  <a:srgbClr val="00FF00"/>
                </a:highlight>
              </a:rPr>
            </a:br>
            <a:r>
              <a:rPr lang="en-US" i="1" dirty="0">
                <a:highlight>
                  <a:srgbClr val="00FF00"/>
                </a:highlight>
              </a:rPr>
              <a:t>we don’t have a magic</a:t>
            </a:r>
          </a:p>
          <a:p>
            <a:r>
              <a:rPr lang="en-US" i="1" dirty="0">
                <a:highlight>
                  <a:srgbClr val="00FF00"/>
                </a:highlight>
              </a:rPr>
              <a:t>Choice?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C75C32-16D7-1440-9E43-18B387383E5F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AB8421B2-A102-CF42-9B99-CD493044E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8291045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391E83E5-F743-0E44-8DE2-9E22EBCB9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189848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09325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D458F6-26A2-3640-B99D-62BD1F3DF87F}"/>
              </a:ext>
            </a:extLst>
          </p:cNvPr>
          <p:cNvSpPr txBox="1"/>
          <p:nvPr/>
        </p:nvSpPr>
        <p:spPr>
          <a:xfrm>
            <a:off x="84667" y="96377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00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EBA916-C199-4C48-867A-1F1254B20D21}"/>
              </a:ext>
            </a:extLst>
          </p:cNvPr>
          <p:cNvSpPr txBox="1"/>
          <p:nvPr/>
        </p:nvSpPr>
        <p:spPr>
          <a:xfrm>
            <a:off x="7131606" y="2157047"/>
            <a:ext cx="456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Can we derive the string </a:t>
            </a:r>
            <a:r>
              <a:rPr lang="en-US" sz="2400" i="1" dirty="0">
                <a:latin typeface="Courier" pitchFamily="2" charset="0"/>
              </a:rPr>
              <a:t>(</a:t>
            </a:r>
            <a:r>
              <a:rPr lang="en-US" sz="2400" i="1" dirty="0" err="1">
                <a:latin typeface="Courier" pitchFamily="2" charset="0"/>
              </a:rPr>
              <a:t>a+b</a:t>
            </a:r>
            <a:r>
              <a:rPr lang="en-US" sz="2400" i="1" dirty="0">
                <a:latin typeface="Courier" pitchFamily="2" charset="0"/>
              </a:rPr>
              <a:t>)*c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4E27C5-B53C-4A47-8952-00794A7B5C2A}"/>
              </a:ext>
            </a:extLst>
          </p:cNvPr>
          <p:cNvSpPr txBox="1"/>
          <p:nvPr/>
        </p:nvSpPr>
        <p:spPr>
          <a:xfrm>
            <a:off x="3555833" y="500461"/>
            <a:ext cx="28713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highlight>
                  <a:srgbClr val="00FFFF"/>
                </a:highlight>
              </a:rPr>
              <a:t>What can go wrong?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BA1AC-DDC4-D74C-81BB-A663DCCA4C4C}"/>
              </a:ext>
            </a:extLst>
          </p:cNvPr>
          <p:cNvSpPr txBox="1"/>
          <p:nvPr/>
        </p:nvSpPr>
        <p:spPr>
          <a:xfrm>
            <a:off x="6866467" y="6177927"/>
            <a:ext cx="46548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highlight>
                  <a:srgbClr val="00FFFF"/>
                </a:highlight>
              </a:rPr>
              <a:t>Infinite recursion, that is what!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3A5D3E-694E-8E44-BAA2-581D3A8BE1E3}"/>
              </a:ext>
            </a:extLst>
          </p:cNvPr>
          <p:cNvSpPr/>
          <p:nvPr/>
        </p:nvSpPr>
        <p:spPr>
          <a:xfrm>
            <a:off x="7131606" y="157830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graphicFrame>
        <p:nvGraphicFramePr>
          <p:cNvPr id="12" name="Table 9">
            <a:extLst>
              <a:ext uri="{FF2B5EF4-FFF2-40B4-BE49-F238E27FC236}">
                <a16:creationId xmlns:a16="http://schemas.microsoft.com/office/drawing/2014/main" id="{3AD9D6F1-54C0-6644-8155-B899D4685D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681528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00038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310502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Unit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Expr Op Unit Op Unit Op Unit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 Op Unit ....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3" name="Table 11">
            <a:extLst>
              <a:ext uri="{FF2B5EF4-FFF2-40B4-BE49-F238E27FC236}">
                <a16:creationId xmlns:a16="http://schemas.microsoft.com/office/drawing/2014/main" id="{FBDE198E-96F7-D54F-A00B-E4780FCEFB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189848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17277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b="1" dirty="0"/>
              <a:t>Top down parsing does not handle left recursion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B5303-6EEE-4D4D-BBA4-8EFF4E296E2F}"/>
              </a:ext>
            </a:extLst>
          </p:cNvPr>
          <p:cNvSpPr txBox="1"/>
          <p:nvPr/>
        </p:nvSpPr>
        <p:spPr>
          <a:xfrm>
            <a:off x="1083733" y="4445000"/>
            <a:ext cx="202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 left recursion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FCEF2-C9E6-3E40-A699-6DA6638EB9D1}"/>
              </a:ext>
            </a:extLst>
          </p:cNvPr>
          <p:cNvSpPr txBox="1"/>
          <p:nvPr/>
        </p:nvSpPr>
        <p:spPr>
          <a:xfrm>
            <a:off x="7374466" y="4715933"/>
            <a:ext cx="2195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indirect left recursion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560741" y="5698067"/>
            <a:ext cx="4628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Top down parsing cannot handle either of these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C4B7A-1CEA-EF4A-A9C0-73EF97A817D9}"/>
              </a:ext>
            </a:extLst>
          </p:cNvPr>
          <p:cNvSpPr/>
          <p:nvPr/>
        </p:nvSpPr>
        <p:spPr>
          <a:xfrm>
            <a:off x="761998" y="2258511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 ::=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6096000" y="2413337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Expr_op</a:t>
            </a:r>
            <a:endParaRPr lang="en-US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763489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b="1" dirty="0"/>
              <a:t>Top down parsing does not handle left recursion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258D662-59C9-B643-A3E2-753B5E9E7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sz="3200" dirty="0"/>
              <a:t>In general, any CFG can be re-written without left recursion</a:t>
            </a:r>
          </a:p>
          <a:p>
            <a:pPr lvl="1"/>
            <a:r>
              <a:rPr lang="en-US" sz="2800" dirty="0"/>
              <a:t>However, the transformation may affect associativity </a:t>
            </a:r>
          </a:p>
          <a:p>
            <a:pPr lvl="1"/>
            <a:r>
              <a:rPr lang="en-US" sz="2800" dirty="0"/>
              <a:t>or increase the number of rules</a:t>
            </a:r>
          </a:p>
          <a:p>
            <a:pPr lvl="1"/>
            <a:r>
              <a:rPr lang="en-US" sz="2800" dirty="0"/>
              <a:t>but it is always possible</a:t>
            </a:r>
          </a:p>
        </p:txBody>
      </p:sp>
    </p:spTree>
    <p:extLst>
      <p:ext uri="{BB962C8B-B14F-4D97-AF65-F5344CB8AC3E}">
        <p14:creationId xmlns:p14="http://schemas.microsoft.com/office/powerpoint/2010/main" val="25526890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2B993-57C7-DF49-A59B-C01E6BC17AF2}"/>
              </a:ext>
            </a:extLst>
          </p:cNvPr>
          <p:cNvSpPr txBox="1"/>
          <p:nvPr/>
        </p:nvSpPr>
        <p:spPr>
          <a:xfrm>
            <a:off x="1219200" y="2819400"/>
            <a:ext cx="2949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“a”</a:t>
            </a:r>
          </a:p>
          <a:p>
            <a:r>
              <a:rPr lang="en-US" sz="2400" dirty="0">
                <a:latin typeface="Courier" pitchFamily="2" charset="0"/>
              </a:rPr>
              <a:t>    |   “b”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2CD5CB-B832-384A-BF16-C0F97F7E513E}"/>
              </a:ext>
            </a:extLst>
          </p:cNvPr>
          <p:cNvSpPr txBox="1"/>
          <p:nvPr/>
        </p:nvSpPr>
        <p:spPr>
          <a:xfrm>
            <a:off x="1219200" y="4548276"/>
            <a:ext cx="45464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What does this grammar describe?</a:t>
            </a:r>
          </a:p>
        </p:txBody>
      </p:sp>
    </p:spTree>
    <p:extLst>
      <p:ext uri="{BB962C8B-B14F-4D97-AF65-F5344CB8AC3E}">
        <p14:creationId xmlns:p14="http://schemas.microsoft.com/office/powerpoint/2010/main" val="5915215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2B993-57C7-DF49-A59B-C01E6BC17AF2}"/>
              </a:ext>
            </a:extLst>
          </p:cNvPr>
          <p:cNvSpPr txBox="1"/>
          <p:nvPr/>
        </p:nvSpPr>
        <p:spPr>
          <a:xfrm>
            <a:off x="1219200" y="2819400"/>
            <a:ext cx="2949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“a”</a:t>
            </a:r>
          </a:p>
          <a:p>
            <a:r>
              <a:rPr lang="en-US" sz="2400" dirty="0">
                <a:latin typeface="Courier" pitchFamily="2" charset="0"/>
              </a:rPr>
              <a:t>    |   “b”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143177-05B6-7D4C-AEF7-3B1F5AA777F8}"/>
              </a:ext>
            </a:extLst>
          </p:cNvPr>
          <p:cNvSpPr txBox="1"/>
          <p:nvPr/>
        </p:nvSpPr>
        <p:spPr>
          <a:xfrm>
            <a:off x="6248400" y="2819399"/>
            <a:ext cx="3683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“b”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“a”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B09FD4-A8EF-DC46-9E43-29C7CF1D9528}"/>
              </a:ext>
            </a:extLst>
          </p:cNvPr>
          <p:cNvSpPr txBox="1"/>
          <p:nvPr/>
        </p:nvSpPr>
        <p:spPr>
          <a:xfrm>
            <a:off x="6096000" y="2070377"/>
            <a:ext cx="3293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grammar can be rewritten as</a:t>
            </a:r>
          </a:p>
        </p:txBody>
      </p:sp>
    </p:spTree>
    <p:extLst>
      <p:ext uri="{BB962C8B-B14F-4D97-AF65-F5344CB8AC3E}">
        <p14:creationId xmlns:p14="http://schemas.microsoft.com/office/powerpoint/2010/main" val="16421242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2B993-57C7-DF49-A59B-C01E6BC17AF2}"/>
              </a:ext>
            </a:extLst>
          </p:cNvPr>
          <p:cNvSpPr txBox="1"/>
          <p:nvPr/>
        </p:nvSpPr>
        <p:spPr>
          <a:xfrm>
            <a:off x="1219200" y="2819400"/>
            <a:ext cx="25811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143177-05B6-7D4C-AEF7-3B1F5AA777F8}"/>
              </a:ext>
            </a:extLst>
          </p:cNvPr>
          <p:cNvSpPr txBox="1"/>
          <p:nvPr/>
        </p:nvSpPr>
        <p:spPr>
          <a:xfrm>
            <a:off x="6248400" y="2819399"/>
            <a:ext cx="3683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“”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B09FD4-A8EF-DC46-9E43-29C7CF1D9528}"/>
              </a:ext>
            </a:extLst>
          </p:cNvPr>
          <p:cNvSpPr txBox="1"/>
          <p:nvPr/>
        </p:nvSpPr>
        <p:spPr>
          <a:xfrm>
            <a:off x="2438400" y="1960310"/>
            <a:ext cx="6874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 general, </a:t>
            </a:r>
            <a:r>
              <a:rPr lang="en-US" i="1" dirty="0">
                <a:highlight>
                  <a:srgbClr val="FFFF00"/>
                </a:highlight>
              </a:rPr>
              <a:t>A and B can be any sequence of non-terminals and terminals</a:t>
            </a:r>
          </a:p>
        </p:txBody>
      </p:sp>
    </p:spTree>
    <p:extLst>
      <p:ext uri="{BB962C8B-B14F-4D97-AF65-F5344CB8AC3E}">
        <p14:creationId xmlns:p14="http://schemas.microsoft.com/office/powerpoint/2010/main" val="13696075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26824-AA59-4F45-A39C-0D55DB172730}"/>
              </a:ext>
            </a:extLst>
          </p:cNvPr>
          <p:cNvSpPr txBox="1"/>
          <p:nvPr/>
        </p:nvSpPr>
        <p:spPr>
          <a:xfrm>
            <a:off x="838200" y="4019727"/>
            <a:ext cx="3112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Lets do this one as an 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676F00-A4BC-1E49-9855-9D9EE1AC37CF}"/>
              </a:ext>
            </a:extLst>
          </p:cNvPr>
          <p:cNvSpPr txBox="1"/>
          <p:nvPr/>
        </p:nvSpPr>
        <p:spPr>
          <a:xfrm>
            <a:off x="838200" y="4958265"/>
            <a:ext cx="258115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55BAF3-3D30-DC48-AF36-D594694AF4E7}"/>
              </a:ext>
            </a:extLst>
          </p:cNvPr>
          <p:cNvSpPr txBox="1"/>
          <p:nvPr/>
        </p:nvSpPr>
        <p:spPr>
          <a:xfrm>
            <a:off x="4961466" y="4588934"/>
            <a:ext cx="368300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44EF493-F4D3-F74D-B9B3-FA8A993CFF5D}"/>
              </a:ext>
            </a:extLst>
          </p:cNvPr>
          <p:cNvSpPr/>
          <p:nvPr/>
        </p:nvSpPr>
        <p:spPr>
          <a:xfrm>
            <a:off x="3950719" y="5308600"/>
            <a:ext cx="765214" cy="2201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F71058-3D02-354A-8EB9-782ACBD8786D}"/>
              </a:ext>
            </a:extLst>
          </p:cNvPr>
          <p:cNvSpPr/>
          <p:nvPr/>
        </p:nvSpPr>
        <p:spPr>
          <a:xfrm>
            <a:off x="931331" y="1867006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27565763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26824-AA59-4F45-A39C-0D55DB172730}"/>
              </a:ext>
            </a:extLst>
          </p:cNvPr>
          <p:cNvSpPr txBox="1"/>
          <p:nvPr/>
        </p:nvSpPr>
        <p:spPr>
          <a:xfrm>
            <a:off x="838200" y="4019727"/>
            <a:ext cx="3112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Lets do this one as an 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676F00-A4BC-1E49-9855-9D9EE1AC37CF}"/>
              </a:ext>
            </a:extLst>
          </p:cNvPr>
          <p:cNvSpPr txBox="1"/>
          <p:nvPr/>
        </p:nvSpPr>
        <p:spPr>
          <a:xfrm>
            <a:off x="838200" y="4958265"/>
            <a:ext cx="258115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55BAF3-3D30-DC48-AF36-D594694AF4E7}"/>
              </a:ext>
            </a:extLst>
          </p:cNvPr>
          <p:cNvSpPr txBox="1"/>
          <p:nvPr/>
        </p:nvSpPr>
        <p:spPr>
          <a:xfrm>
            <a:off x="4961466" y="4588934"/>
            <a:ext cx="368300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44EF493-F4D3-F74D-B9B3-FA8A993CFF5D}"/>
              </a:ext>
            </a:extLst>
          </p:cNvPr>
          <p:cNvSpPr/>
          <p:nvPr/>
        </p:nvSpPr>
        <p:spPr>
          <a:xfrm>
            <a:off x="3950719" y="5308600"/>
            <a:ext cx="765214" cy="2201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C864E2-A02E-2444-AE31-D5DF5CC6D686}"/>
              </a:ext>
            </a:extLst>
          </p:cNvPr>
          <p:cNvSpPr/>
          <p:nvPr/>
        </p:nvSpPr>
        <p:spPr>
          <a:xfrm>
            <a:off x="7518398" y="17453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?</a:t>
            </a:r>
          </a:p>
          <a:p>
            <a:r>
              <a:rPr lang="en-US" dirty="0">
                <a:latin typeface="Courier" pitchFamily="2" charset="0"/>
              </a:rPr>
              <a:t>2: Expr2 ::= ?</a:t>
            </a:r>
          </a:p>
          <a:p>
            <a:r>
              <a:rPr lang="en-US" dirty="0">
                <a:latin typeface="Courier" pitchFamily="2" charset="0"/>
              </a:rPr>
              <a:t>3:       | ?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E259B4-7C64-2F4C-880F-61DEB51B60A5}"/>
              </a:ext>
            </a:extLst>
          </p:cNvPr>
          <p:cNvSpPr/>
          <p:nvPr/>
        </p:nvSpPr>
        <p:spPr>
          <a:xfrm>
            <a:off x="931331" y="1867006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 ::=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4AE47-F185-4846-AD7D-D588580EC039}"/>
              </a:ext>
            </a:extLst>
          </p:cNvPr>
          <p:cNvSpPr txBox="1"/>
          <p:nvPr/>
        </p:nvSpPr>
        <p:spPr>
          <a:xfrm>
            <a:off x="9474198" y="809351"/>
            <a:ext cx="873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A = ?</a:t>
            </a:r>
          </a:p>
          <a:p>
            <a:r>
              <a:rPr lang="en-US" dirty="0">
                <a:latin typeface="Courier" pitchFamily="2" charset="0"/>
              </a:rPr>
              <a:t>B = ?</a:t>
            </a:r>
          </a:p>
        </p:txBody>
      </p:sp>
    </p:spTree>
    <p:extLst>
      <p:ext uri="{BB962C8B-B14F-4D97-AF65-F5344CB8AC3E}">
        <p14:creationId xmlns:p14="http://schemas.microsoft.com/office/powerpoint/2010/main" val="73051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8886B-21E0-5AA1-82C6-8918A3188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9D68D-502C-B7F3-89BF-F2CE913CA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597CA-1751-EBD1-C750-129E719A30E2}"/>
              </a:ext>
            </a:extLst>
          </p:cNvPr>
          <p:cNvSpPr txBox="1"/>
          <p:nvPr/>
        </p:nvSpPr>
        <p:spPr>
          <a:xfrm>
            <a:off x="838200" y="4019727"/>
            <a:ext cx="3112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Lets do this one as an 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EF1D7-AD58-DEAF-05AF-223CA7181995}"/>
              </a:ext>
            </a:extLst>
          </p:cNvPr>
          <p:cNvSpPr txBox="1"/>
          <p:nvPr/>
        </p:nvSpPr>
        <p:spPr>
          <a:xfrm>
            <a:off x="838200" y="4958265"/>
            <a:ext cx="258115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FE1836-3BF4-CD6A-4F88-CBCFA12B570A}"/>
              </a:ext>
            </a:extLst>
          </p:cNvPr>
          <p:cNvSpPr txBox="1"/>
          <p:nvPr/>
        </p:nvSpPr>
        <p:spPr>
          <a:xfrm>
            <a:off x="4961466" y="4588934"/>
            <a:ext cx="368300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81C9B992-1CE9-4363-EE8E-64D1DE8B41A0}"/>
              </a:ext>
            </a:extLst>
          </p:cNvPr>
          <p:cNvSpPr/>
          <p:nvPr/>
        </p:nvSpPr>
        <p:spPr>
          <a:xfrm>
            <a:off x="3950719" y="5308600"/>
            <a:ext cx="765214" cy="2201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7CDF61-790D-C310-EE01-04858455C383}"/>
              </a:ext>
            </a:extLst>
          </p:cNvPr>
          <p:cNvSpPr/>
          <p:nvPr/>
        </p:nvSpPr>
        <p:spPr>
          <a:xfrm>
            <a:off x="7518398" y="17453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?</a:t>
            </a:r>
          </a:p>
          <a:p>
            <a:r>
              <a:rPr lang="en-US" dirty="0">
                <a:latin typeface="Courier" pitchFamily="2" charset="0"/>
              </a:rPr>
              <a:t>2: Expr2 ::= ?</a:t>
            </a:r>
          </a:p>
          <a:p>
            <a:r>
              <a:rPr lang="en-US" dirty="0">
                <a:latin typeface="Courier" pitchFamily="2" charset="0"/>
              </a:rPr>
              <a:t>3:       | ?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A0B01B-4B97-D3BD-7DB9-D78554927C4A}"/>
              </a:ext>
            </a:extLst>
          </p:cNvPr>
          <p:cNvSpPr/>
          <p:nvPr/>
        </p:nvSpPr>
        <p:spPr>
          <a:xfrm>
            <a:off x="931331" y="1867006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 ::=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03376B-EC8B-7CD0-6BA5-A8A843DA6D54}"/>
              </a:ext>
            </a:extLst>
          </p:cNvPr>
          <p:cNvSpPr txBox="1"/>
          <p:nvPr/>
        </p:nvSpPr>
        <p:spPr>
          <a:xfrm>
            <a:off x="9474198" y="809351"/>
            <a:ext cx="17011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A =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B = Unit</a:t>
            </a:r>
          </a:p>
        </p:txBody>
      </p:sp>
    </p:spTree>
    <p:extLst>
      <p:ext uri="{BB962C8B-B14F-4D97-AF65-F5344CB8AC3E}">
        <p14:creationId xmlns:p14="http://schemas.microsoft.com/office/powerpoint/2010/main" val="25189972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Eliminating direct left recursion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26824-AA59-4F45-A39C-0D55DB172730}"/>
              </a:ext>
            </a:extLst>
          </p:cNvPr>
          <p:cNvSpPr txBox="1"/>
          <p:nvPr/>
        </p:nvSpPr>
        <p:spPr>
          <a:xfrm>
            <a:off x="838200" y="4019727"/>
            <a:ext cx="3112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Lets do this one as an 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676F00-A4BC-1E49-9855-9D9EE1AC37CF}"/>
              </a:ext>
            </a:extLst>
          </p:cNvPr>
          <p:cNvSpPr txBox="1"/>
          <p:nvPr/>
        </p:nvSpPr>
        <p:spPr>
          <a:xfrm>
            <a:off x="838200" y="4958265"/>
            <a:ext cx="258115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::= Fee A</a:t>
            </a:r>
          </a:p>
          <a:p>
            <a:r>
              <a:rPr lang="en-US" sz="2400" dirty="0">
                <a:latin typeface="Courier" pitchFamily="2" charset="0"/>
              </a:rPr>
              <a:t>    |   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55BAF3-3D30-DC48-AF36-D594694AF4E7}"/>
              </a:ext>
            </a:extLst>
          </p:cNvPr>
          <p:cNvSpPr txBox="1"/>
          <p:nvPr/>
        </p:nvSpPr>
        <p:spPr>
          <a:xfrm>
            <a:off x="4961466" y="4588934"/>
            <a:ext cx="368300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" pitchFamily="2" charset="0"/>
              </a:rPr>
              <a:t>Fee  ::= B Fee2</a:t>
            </a:r>
          </a:p>
          <a:p>
            <a:endParaRPr lang="en-US" sz="2400" dirty="0">
              <a:latin typeface="Courier" pitchFamily="2" charset="0"/>
            </a:endParaRPr>
          </a:p>
          <a:p>
            <a:r>
              <a:rPr lang="en-US" sz="2400" dirty="0">
                <a:latin typeface="Courier" pitchFamily="2" charset="0"/>
              </a:rPr>
              <a:t>Fee2 ::= A Fee2</a:t>
            </a:r>
          </a:p>
          <a:p>
            <a:r>
              <a:rPr lang="en-US" sz="2400" dirty="0">
                <a:latin typeface="Courier" pitchFamily="2" charset="0"/>
              </a:rPr>
              <a:t>     |    “”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44EF493-F4D3-F74D-B9B3-FA8A993CFF5D}"/>
              </a:ext>
            </a:extLst>
          </p:cNvPr>
          <p:cNvSpPr/>
          <p:nvPr/>
        </p:nvSpPr>
        <p:spPr>
          <a:xfrm>
            <a:off x="3950719" y="5308600"/>
            <a:ext cx="765214" cy="2201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C864E2-A02E-2444-AE31-D5DF5CC6D686}"/>
              </a:ext>
            </a:extLst>
          </p:cNvPr>
          <p:cNvSpPr/>
          <p:nvPr/>
        </p:nvSpPr>
        <p:spPr>
          <a:xfrm>
            <a:off x="7518398" y="17453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  ::= Unit Expr2</a:t>
            </a:r>
          </a:p>
          <a:p>
            <a:r>
              <a:rPr lang="en-US" dirty="0">
                <a:latin typeface="Courier" pitchFamily="2" charset="0"/>
              </a:rPr>
              <a:t>2: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Expr2 ::= Op Unit Expr2</a:t>
            </a:r>
          </a:p>
          <a:p>
            <a:r>
              <a:rPr lang="en-US" dirty="0">
                <a:latin typeface="Courier" pitchFamily="2" charset="0"/>
              </a:rPr>
              <a:t>3:      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E259B4-7C64-2F4C-880F-61DEB51B60A5}"/>
              </a:ext>
            </a:extLst>
          </p:cNvPr>
          <p:cNvSpPr/>
          <p:nvPr/>
        </p:nvSpPr>
        <p:spPr>
          <a:xfrm>
            <a:off x="931331" y="1867006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Expr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4AE47-F185-4846-AD7D-D588580EC039}"/>
              </a:ext>
            </a:extLst>
          </p:cNvPr>
          <p:cNvSpPr txBox="1"/>
          <p:nvPr/>
        </p:nvSpPr>
        <p:spPr>
          <a:xfrm>
            <a:off x="9474198" y="809351"/>
            <a:ext cx="17011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" pitchFamily="2" charset="0"/>
              </a:rPr>
              <a:t>A = Op Unit</a:t>
            </a:r>
          </a:p>
          <a:p>
            <a:r>
              <a:rPr lang="en-US" dirty="0">
                <a:latin typeface="Courier" pitchFamily="2" charset="0"/>
              </a:rPr>
              <a:t>B = Unit</a:t>
            </a:r>
          </a:p>
        </p:txBody>
      </p:sp>
    </p:spTree>
    <p:extLst>
      <p:ext uri="{BB962C8B-B14F-4D97-AF65-F5344CB8AC3E}">
        <p14:creationId xmlns:p14="http://schemas.microsoft.com/office/powerpoint/2010/main" val="23244548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A103AB-5157-9743-BC3A-0C7404719604}"/>
              </a:ext>
            </a:extLst>
          </p:cNvPr>
          <p:cNvSpPr/>
          <p:nvPr/>
        </p:nvSpPr>
        <p:spPr>
          <a:xfrm>
            <a:off x="7662332" y="5007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460886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19" name="Table 11">
            <a:extLst>
              <a:ext uri="{FF2B5EF4-FFF2-40B4-BE49-F238E27FC236}">
                <a16:creationId xmlns:a16="http://schemas.microsoft.com/office/drawing/2014/main" id="{B6743B0F-F925-C04C-A3E0-8D388BD292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288612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4986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A103AB-5157-9743-BC3A-0C7404719604}"/>
              </a:ext>
            </a:extLst>
          </p:cNvPr>
          <p:cNvSpPr/>
          <p:nvPr/>
        </p:nvSpPr>
        <p:spPr>
          <a:xfrm>
            <a:off x="7662332" y="5007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74109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0501035-8CC1-2A49-AEF6-4C65A8BE668B}"/>
              </a:ext>
            </a:extLst>
          </p:cNvPr>
          <p:cNvSpPr txBox="1"/>
          <p:nvPr/>
        </p:nvSpPr>
        <p:spPr>
          <a:xfrm>
            <a:off x="5723467" y="719667"/>
            <a:ext cx="1561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to handle</a:t>
            </a:r>
            <a:br>
              <a:rPr lang="en-US" i="1" dirty="0"/>
            </a:br>
            <a:r>
              <a:rPr lang="en-US" i="1" dirty="0"/>
              <a:t>this case?</a:t>
            </a:r>
          </a:p>
        </p:txBody>
      </p:sp>
      <p:graphicFrame>
        <p:nvGraphicFramePr>
          <p:cNvPr id="8" name="Table 11">
            <a:extLst>
              <a:ext uri="{FF2B5EF4-FFF2-40B4-BE49-F238E27FC236}">
                <a16:creationId xmlns:a16="http://schemas.microsoft.com/office/drawing/2014/main" id="{28043986-F21C-3848-B452-B40E284BD0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1343150"/>
              </p:ext>
            </p:extLst>
          </p:nvPr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167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6356227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   if A == “”: focus=pop(); continue; # ignore it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A103AB-5157-9743-BC3A-0C7404719604}"/>
              </a:ext>
            </a:extLst>
          </p:cNvPr>
          <p:cNvSpPr/>
          <p:nvPr/>
        </p:nvSpPr>
        <p:spPr>
          <a:xfrm>
            <a:off x="7662332" y="500718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803087"/>
              </p:ext>
            </p:extLst>
          </p:nvPr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0501035-8CC1-2A49-AEF6-4C65A8BE668B}"/>
              </a:ext>
            </a:extLst>
          </p:cNvPr>
          <p:cNvSpPr txBox="1"/>
          <p:nvPr/>
        </p:nvSpPr>
        <p:spPr>
          <a:xfrm>
            <a:off x="5723467" y="719667"/>
            <a:ext cx="1561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How to handle</a:t>
            </a:r>
            <a:br>
              <a:rPr lang="en-US" i="1" dirty="0"/>
            </a:br>
            <a:r>
              <a:rPr lang="en-US" i="1" dirty="0"/>
              <a:t>this case?</a:t>
            </a:r>
          </a:p>
        </p:txBody>
      </p:sp>
      <p:graphicFrame>
        <p:nvGraphicFramePr>
          <p:cNvPr id="9" name="Table 11">
            <a:extLst>
              <a:ext uri="{FF2B5EF4-FFF2-40B4-BE49-F238E27FC236}">
                <a16:creationId xmlns:a16="http://schemas.microsoft.com/office/drawing/2014/main" id="{AF7D498A-D3DE-AA49-95F7-621BA36F53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07606"/>
              </p:ext>
            </p:extLst>
          </p:nvPr>
        </p:nvGraphicFramePr>
        <p:xfrm>
          <a:off x="546359" y="4898082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386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B5303-6EEE-4D4D-BBA4-8EFF4E296E2F}"/>
              </a:ext>
            </a:extLst>
          </p:cNvPr>
          <p:cNvSpPr txBox="1"/>
          <p:nvPr/>
        </p:nvSpPr>
        <p:spPr>
          <a:xfrm>
            <a:off x="1083733" y="4445000"/>
            <a:ext cx="202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 left recursion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FCEF2-C9E6-3E40-A699-6DA6638EB9D1}"/>
              </a:ext>
            </a:extLst>
          </p:cNvPr>
          <p:cNvSpPr txBox="1"/>
          <p:nvPr/>
        </p:nvSpPr>
        <p:spPr>
          <a:xfrm>
            <a:off x="7374466" y="4715933"/>
            <a:ext cx="2195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indirect left recursion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53933" y="5698067"/>
            <a:ext cx="3852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Top down parsing cannot handle either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8C4B7A-1CEA-EF4A-A9C0-73EF97A817D9}"/>
              </a:ext>
            </a:extLst>
          </p:cNvPr>
          <p:cNvSpPr/>
          <p:nvPr/>
        </p:nvSpPr>
        <p:spPr>
          <a:xfrm>
            <a:off x="761998" y="2258511"/>
            <a:ext cx="391160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 ::=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latin typeface="Courier" pitchFamily="2" charset="0"/>
              </a:rPr>
              <a:t>2:       |  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3: Unit  ::= ‘(‘ Expr ‘)’</a:t>
            </a:r>
          </a:p>
          <a:p>
            <a:r>
              <a:rPr lang="en-US" dirty="0">
                <a:latin typeface="Courier" pitchFamily="2" charset="0"/>
              </a:rPr>
              <a:t>4:       |    ID</a:t>
            </a:r>
          </a:p>
          <a:p>
            <a:r>
              <a:rPr lang="en-US" dirty="0">
                <a:latin typeface="Courier" pitchFamily="2" charset="0"/>
              </a:rPr>
              <a:t>5: Op    ::= ‘+’</a:t>
            </a:r>
          </a:p>
          <a:p>
            <a:r>
              <a:rPr lang="en-US" dirty="0">
                <a:latin typeface="Courier" pitchFamily="2" charset="0"/>
              </a:rPr>
              <a:t>6:       |   ‘*’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6096000" y="2413337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Expr_op</a:t>
            </a:r>
            <a:endParaRPr lang="en-US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19433739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7933" y="4419600"/>
            <a:ext cx="3293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Identify indirect left left recursion</a:t>
            </a:r>
          </a:p>
          <a:p>
            <a:endParaRPr lang="en-US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3953933" y="1896870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Expr_op</a:t>
            </a:r>
            <a:endParaRPr lang="en-US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/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i="1" dirty="0"/>
                  <a:t>Expr_base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</m:oMath>
                </a14:m>
                <a:r>
                  <a:rPr lang="en-US" sz="2400" i="1" dirty="0"/>
                  <a:t> </a:t>
                </a:r>
                <a:r>
                  <a:rPr lang="en-US" sz="2400" i="1" dirty="0" err="1"/>
                  <a:t>Expr_op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i="1" dirty="0" err="1"/>
                  <a:t>Expr_base</a:t>
                </a:r>
                <a:endParaRPr lang="en-US" sz="2400" i="1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  <a:blipFill>
                <a:blip r:embed="rId2"/>
                <a:stretch>
                  <a:fillRect l="-1928" t="-7895" r="-723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28502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7933" y="4419600"/>
            <a:ext cx="3293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Identify indirect left left recursion</a:t>
            </a:r>
          </a:p>
          <a:p>
            <a:endParaRPr lang="en-US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3953933" y="1896870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Expr_op</a:t>
            </a:r>
            <a:endParaRPr lang="en-US" dirty="0">
              <a:highlight>
                <a:srgbClr val="FFFF00"/>
              </a:highlight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/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i="1" dirty="0"/>
                  <a:t>Expr_base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</m:oMath>
                </a14:m>
                <a:r>
                  <a:rPr lang="en-US" sz="2400" i="1" dirty="0"/>
                  <a:t> </a:t>
                </a:r>
                <a:r>
                  <a:rPr lang="en-US" sz="2400" i="1" dirty="0" err="1"/>
                  <a:t>Expr_op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𝑙h𝑠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i="1" dirty="0" err="1"/>
                  <a:t>Expr_base</a:t>
                </a:r>
                <a:endParaRPr lang="en-US" sz="2400" i="1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  <a:blipFill>
                <a:blip r:embed="rId2"/>
                <a:stretch>
                  <a:fillRect l="-1928" t="-7895" r="-723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BF390D5-3744-8F4B-9877-D1DE8F5C71E1}"/>
              </a:ext>
            </a:extLst>
          </p:cNvPr>
          <p:cNvSpPr txBox="1"/>
          <p:nvPr/>
        </p:nvSpPr>
        <p:spPr>
          <a:xfrm>
            <a:off x="3953933" y="6206067"/>
            <a:ext cx="585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Substitute indirect non-terminal closer to initial non-terminal</a:t>
            </a:r>
          </a:p>
        </p:txBody>
      </p:sp>
    </p:spTree>
    <p:extLst>
      <p:ext uri="{BB962C8B-B14F-4D97-AF65-F5344CB8AC3E}">
        <p14:creationId xmlns:p14="http://schemas.microsoft.com/office/powerpoint/2010/main" val="10050169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7933" y="4419600"/>
            <a:ext cx="3293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Identify indirect left left recursion</a:t>
            </a:r>
          </a:p>
          <a:p>
            <a:endParaRPr lang="en-US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1041399" y="1887604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latin typeface="Courier" pitchFamily="2" charset="0"/>
              </a:rPr>
              <a:t>Expr_op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/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i="1" dirty="0"/>
                  <a:t>Expr_base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i="1" dirty="0"/>
                  <a:t> </a:t>
                </a:r>
                <a:r>
                  <a:rPr lang="en-US" sz="2400" i="1" dirty="0" err="1"/>
                  <a:t>Expr_op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i="1" dirty="0" err="1"/>
                  <a:t>Expr_base</a:t>
                </a:r>
                <a:endParaRPr lang="en-US" sz="2400" i="1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  <a:blipFill>
                <a:blip r:embed="rId2"/>
                <a:stretch>
                  <a:fillRect l="-1928" t="-7895" r="-723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BF390D5-3744-8F4B-9877-D1DE8F5C71E1}"/>
              </a:ext>
            </a:extLst>
          </p:cNvPr>
          <p:cNvSpPr txBox="1"/>
          <p:nvPr/>
        </p:nvSpPr>
        <p:spPr>
          <a:xfrm>
            <a:off x="3953933" y="6206067"/>
            <a:ext cx="585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Substitute indirect non-terminal closer to initial non-terminal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B92654-851C-3C41-B361-2D3305448EBA}"/>
              </a:ext>
            </a:extLst>
          </p:cNvPr>
          <p:cNvSpPr/>
          <p:nvPr/>
        </p:nvSpPr>
        <p:spPr>
          <a:xfrm>
            <a:off x="6582762" y="1971424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43B516-667F-A244-860C-26E7F7FB2197}"/>
              </a:ext>
            </a:extLst>
          </p:cNvPr>
          <p:cNvSpPr txBox="1"/>
          <p:nvPr/>
        </p:nvSpPr>
        <p:spPr>
          <a:xfrm>
            <a:off x="5706533" y="4258733"/>
            <a:ext cx="350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to do with production rule 3?</a:t>
            </a:r>
          </a:p>
        </p:txBody>
      </p:sp>
    </p:spTree>
    <p:extLst>
      <p:ext uri="{BB962C8B-B14F-4D97-AF65-F5344CB8AC3E}">
        <p14:creationId xmlns:p14="http://schemas.microsoft.com/office/powerpoint/2010/main" val="1886224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8A59A-E87C-DB44-8041-2F4EE8D45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</p:spPr>
        <p:txBody>
          <a:bodyPr/>
          <a:lstStyle/>
          <a:p>
            <a:r>
              <a:rPr lang="en-US" dirty="0"/>
              <a:t>How about indirect left recursion?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416037-3146-354B-9709-EFE3037B317C}"/>
              </a:ext>
            </a:extLst>
          </p:cNvPr>
          <p:cNvSpPr txBox="1"/>
          <p:nvPr/>
        </p:nvSpPr>
        <p:spPr>
          <a:xfrm>
            <a:off x="397933" y="4419600"/>
            <a:ext cx="3293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Identify indirect left left recursion</a:t>
            </a:r>
          </a:p>
          <a:p>
            <a:endParaRPr lang="en-US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7373C7-7973-E945-B8F7-4C14639BF015}"/>
              </a:ext>
            </a:extLst>
          </p:cNvPr>
          <p:cNvSpPr/>
          <p:nvPr/>
        </p:nvSpPr>
        <p:spPr>
          <a:xfrm>
            <a:off x="1041399" y="1887604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latin typeface="Courier" pitchFamily="2" charset="0"/>
              </a:rPr>
              <a:t>Expr_op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/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i="1" dirty="0"/>
                  <a:t>Expr_base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i="1" dirty="0"/>
                  <a:t> </a:t>
                </a:r>
                <a:r>
                  <a:rPr lang="en-US" sz="2400" i="1" dirty="0" err="1"/>
                  <a:t>Expr_op</a:t>
                </a:r>
                <a:r>
                  <a:rPr lang="en-US" sz="2400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i="1" dirty="0" err="1"/>
                  <a:t>Expr_base</a:t>
                </a:r>
                <a:endParaRPr lang="en-US" sz="2400" i="1" dirty="0"/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7785D27B-C486-4047-B0EC-46A6AFF6B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933" y="5243731"/>
                <a:ext cx="5257658" cy="461665"/>
              </a:xfrm>
              <a:prstGeom prst="rect">
                <a:avLst/>
              </a:prstGeom>
              <a:blipFill>
                <a:blip r:embed="rId2"/>
                <a:stretch>
                  <a:fillRect l="-1928" t="-7895" r="-723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BF390D5-3744-8F4B-9877-D1DE8F5C71E1}"/>
              </a:ext>
            </a:extLst>
          </p:cNvPr>
          <p:cNvSpPr txBox="1"/>
          <p:nvPr/>
        </p:nvSpPr>
        <p:spPr>
          <a:xfrm>
            <a:off x="3953933" y="6206067"/>
            <a:ext cx="585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Substitute indirect non-terminal closer to initial non-terminal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B92654-851C-3C41-B361-2D3305448EBA}"/>
              </a:ext>
            </a:extLst>
          </p:cNvPr>
          <p:cNvSpPr/>
          <p:nvPr/>
        </p:nvSpPr>
        <p:spPr>
          <a:xfrm>
            <a:off x="6582762" y="1971424"/>
            <a:ext cx="5054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 </a:t>
            </a:r>
            <a:r>
              <a:rPr lang="en-US" dirty="0">
                <a:latin typeface="Courier" pitchFamily="2" charset="0"/>
              </a:rPr>
              <a:t>::= Unit</a:t>
            </a:r>
          </a:p>
          <a:p>
            <a:r>
              <a:rPr lang="en-US" dirty="0">
                <a:latin typeface="Courier" pitchFamily="2" charset="0"/>
              </a:rPr>
              <a:t>2:           |   </a:t>
            </a:r>
            <a:r>
              <a:rPr lang="en-US" dirty="0" err="1">
                <a:highlight>
                  <a:srgbClr val="FFFF00"/>
                </a:highlight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</a:t>
            </a:r>
            <a:r>
              <a:rPr lang="en-US" dirty="0" err="1">
                <a:latin typeface="Courier" pitchFamily="2" charset="0"/>
              </a:rPr>
              <a:t>Expr_op</a:t>
            </a:r>
            <a:r>
              <a:rPr lang="en-US" dirty="0">
                <a:latin typeface="Courier" pitchFamily="2" charset="0"/>
              </a:rPr>
              <a:t>   ::=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Op Unit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    ::= ‘(‘ </a:t>
            </a:r>
            <a:r>
              <a:rPr lang="en-US" dirty="0" err="1">
                <a:latin typeface="Courier" pitchFamily="2" charset="0"/>
              </a:rPr>
              <a:t>Expr_base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5:            |  ID</a:t>
            </a:r>
          </a:p>
          <a:p>
            <a:r>
              <a:rPr lang="en-US" dirty="0">
                <a:latin typeface="Courier" pitchFamily="2" charset="0"/>
              </a:rPr>
              <a:t>6: Op        ::= ‘+’</a:t>
            </a:r>
          </a:p>
          <a:p>
            <a:r>
              <a:rPr lang="en-US" dirty="0">
                <a:latin typeface="Courier" pitchFamily="2" charset="0"/>
              </a:rPr>
              <a:t>7:           |   ‘*’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43B516-667F-A244-860C-26E7F7FB2197}"/>
              </a:ext>
            </a:extLst>
          </p:cNvPr>
          <p:cNvSpPr txBox="1"/>
          <p:nvPr/>
        </p:nvSpPr>
        <p:spPr>
          <a:xfrm>
            <a:off x="5706533" y="4258733"/>
            <a:ext cx="5756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to do with production rule 3?</a:t>
            </a:r>
            <a:br>
              <a:rPr lang="en-US" dirty="0"/>
            </a:br>
            <a:r>
              <a:rPr lang="en-US" dirty="0"/>
              <a:t>It may need to stay if another production rule references it!</a:t>
            </a:r>
          </a:p>
        </p:txBody>
      </p:sp>
    </p:spTree>
    <p:extLst>
      <p:ext uri="{BB962C8B-B14F-4D97-AF65-F5344CB8AC3E}">
        <p14:creationId xmlns:p14="http://schemas.microsoft.com/office/powerpoint/2010/main" val="127002643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79265B-CFF5-3844-8225-B79B08CF3EAE}"/>
              </a:ext>
            </a:extLst>
          </p:cNvPr>
          <p:cNvSpPr txBox="1"/>
          <p:nvPr/>
        </p:nvSpPr>
        <p:spPr>
          <a:xfrm>
            <a:off x="1956341" y="2813447"/>
            <a:ext cx="827931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i="1" dirty="0"/>
              <a:t>It is always possible to eliminate left recursion</a:t>
            </a:r>
          </a:p>
        </p:txBody>
      </p:sp>
    </p:spTree>
    <p:extLst>
      <p:ext uri="{BB962C8B-B14F-4D97-AF65-F5344CB8AC3E}">
        <p14:creationId xmlns:p14="http://schemas.microsoft.com/office/powerpoint/2010/main" val="10673596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862502" cy="64940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cache_state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();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if B1 == “”: focus=pop(); continue;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highlight>
                  <a:srgbClr val="FFFF00"/>
                </a:highlight>
                <a:latin typeface="Courier" pitchFamily="2" charset="0"/>
              </a:rPr>
              <a:t>else if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(we have a cached state)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    backtrack();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else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parser_error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/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 Expr2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E9CD21B2-65B0-9B4E-AC9C-7BAEF1C50F5F}"/>
              </a:ext>
            </a:extLst>
          </p:cNvPr>
          <p:cNvSpPr/>
          <p:nvPr/>
        </p:nvSpPr>
        <p:spPr>
          <a:xfrm>
            <a:off x="8280399" y="463670"/>
            <a:ext cx="39116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ID Expr2</a:t>
            </a:r>
          </a:p>
          <a:p>
            <a:r>
              <a:rPr lang="en-US" dirty="0">
                <a:latin typeface="Courier" pitchFamily="2" charset="0"/>
              </a:rPr>
              <a:t>2: Expr2 ::= ‘+’ Expr2</a:t>
            </a:r>
          </a:p>
          <a:p>
            <a:r>
              <a:rPr lang="en-US" dirty="0">
                <a:latin typeface="Courier" pitchFamily="2" charset="0"/>
              </a:rPr>
              <a:t>         |   ””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68CC11-C9DC-2E46-B941-9611D27EC8E8}"/>
              </a:ext>
            </a:extLst>
          </p:cNvPr>
          <p:cNvSpPr txBox="1"/>
          <p:nvPr/>
        </p:nvSpPr>
        <p:spPr>
          <a:xfrm>
            <a:off x="8237551" y="2202511"/>
            <a:ext cx="2031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match: “a”?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63F9CC-4365-1E43-A4CB-5ECA71BF265F}"/>
              </a:ext>
            </a:extLst>
          </p:cNvPr>
          <p:cNvSpPr txBox="1"/>
          <p:nvPr/>
        </p:nvSpPr>
        <p:spPr>
          <a:xfrm>
            <a:off x="5025919" y="1446201"/>
            <a:ext cx="2474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Keep track of what choices we’ve made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4B7F3F-E9E8-9D83-43C0-B084EC7D9205}"/>
              </a:ext>
            </a:extLst>
          </p:cNvPr>
          <p:cNvSpPr txBox="1"/>
          <p:nvPr/>
        </p:nvSpPr>
        <p:spPr>
          <a:xfrm>
            <a:off x="4546867" y="72805"/>
            <a:ext cx="307683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Back Tracking</a:t>
            </a:r>
          </a:p>
          <a:p>
            <a:r>
              <a:rPr lang="en-US" sz="2400" dirty="0"/>
              <a:t>  (not a good thing)</a:t>
            </a:r>
          </a:p>
        </p:txBody>
      </p:sp>
    </p:spTree>
    <p:extLst>
      <p:ext uri="{BB962C8B-B14F-4D97-AF65-F5344CB8AC3E}">
        <p14:creationId xmlns:p14="http://schemas.microsoft.com/office/powerpoint/2010/main" val="26760499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E936B-6C01-3642-99E0-B1143C52B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Backtracking gets complicated...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6D831-89C8-7147-A09A-BC8B38EEA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we need to backtrack?</a:t>
            </a:r>
          </a:p>
          <a:p>
            <a:pPr lvl="1"/>
            <a:r>
              <a:rPr lang="en-US" dirty="0"/>
              <a:t>In the general case, </a:t>
            </a:r>
            <a:r>
              <a:rPr lang="en-US" b="1" dirty="0">
                <a:solidFill>
                  <a:srgbClr val="FF0000"/>
                </a:solidFill>
              </a:rPr>
              <a:t>yes</a:t>
            </a:r>
          </a:p>
          <a:p>
            <a:pPr lvl="1"/>
            <a:r>
              <a:rPr lang="en-US" dirty="0"/>
              <a:t>In many useful cases, </a:t>
            </a:r>
            <a:r>
              <a:rPr lang="en-US" b="1" dirty="0">
                <a:solidFill>
                  <a:srgbClr val="00B050"/>
                </a:solidFill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9753575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   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if B1 == “”: focus=pop(); continue;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15" name="Table 9">
            <a:extLst>
              <a:ext uri="{FF2B5EF4-FFF2-40B4-BE49-F238E27FC236}">
                <a16:creationId xmlns:a16="http://schemas.microsoft.com/office/drawing/2014/main" id="{C29E8994-1FD5-DB4F-94F8-6AE5D164BF00}"/>
              </a:ext>
            </a:extLst>
          </p:cNvPr>
          <p:cNvGraphicFramePr>
            <a:graphicFrameLocks noGrp="1"/>
          </p:cNvGraphicFramePr>
          <p:nvPr/>
        </p:nvGraphicFramePr>
        <p:xfrm>
          <a:off x="6796487" y="3108494"/>
          <a:ext cx="5105400" cy="296672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3057982666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885399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Expanded Rule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Sentential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01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063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 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Expr2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291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7378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62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851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6396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29062"/>
                  </a:ext>
                </a:extLst>
              </a:tr>
            </a:tbl>
          </a:graphicData>
        </a:graphic>
      </p:graphicFrame>
      <p:graphicFrame>
        <p:nvGraphicFramePr>
          <p:cNvPr id="9" name="Table 11">
            <a:extLst>
              <a:ext uri="{FF2B5EF4-FFF2-40B4-BE49-F238E27FC236}">
                <a16:creationId xmlns:a16="http://schemas.microsoft.com/office/drawing/2014/main" id="{AF7D498A-D3DE-AA49-95F7-621BA36F53A8}"/>
              </a:ext>
            </a:extLst>
          </p:cNvPr>
          <p:cNvGraphicFramePr>
            <a:graphicFrameLocks noGrp="1"/>
          </p:cNvGraphicFramePr>
          <p:nvPr/>
        </p:nvGraphicFramePr>
        <p:xfrm>
          <a:off x="546359" y="4898082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FFFF00"/>
                          </a:highlight>
                        </a:rPr>
                        <a:t>Expr2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to_match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“”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E9CD21B2-65B0-9B4E-AC9C-7BAEF1C50F5F}"/>
              </a:ext>
            </a:extLst>
          </p:cNvPr>
          <p:cNvSpPr/>
          <p:nvPr/>
        </p:nvSpPr>
        <p:spPr>
          <a:xfrm>
            <a:off x="8280399" y="463670"/>
            <a:ext cx="391160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ID Expr2</a:t>
            </a:r>
          </a:p>
          <a:p>
            <a:r>
              <a:rPr lang="en-US" dirty="0">
                <a:latin typeface="Courier" pitchFamily="2" charset="0"/>
              </a:rPr>
              <a:t>2: Expr2 ::= ‘+’ Expr2</a:t>
            </a:r>
          </a:p>
          <a:p>
            <a:r>
              <a:rPr lang="en-US" dirty="0">
                <a:latin typeface="Courier" pitchFamily="2" charset="0"/>
              </a:rPr>
              <a:t>3:       |   ””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68CC11-C9DC-2E46-B941-9611D27EC8E8}"/>
              </a:ext>
            </a:extLst>
          </p:cNvPr>
          <p:cNvSpPr txBox="1"/>
          <p:nvPr/>
        </p:nvSpPr>
        <p:spPr>
          <a:xfrm>
            <a:off x="8237551" y="2202511"/>
            <a:ext cx="2031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we match: “a”?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868959-DD9C-0744-8E74-0A46B4FEDB78}"/>
              </a:ext>
            </a:extLst>
          </p:cNvPr>
          <p:cNvSpPr txBox="1"/>
          <p:nvPr/>
        </p:nvSpPr>
        <p:spPr>
          <a:xfrm>
            <a:off x="4186150" y="1303911"/>
            <a:ext cx="381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Could we make a smarter choice here?</a:t>
            </a:r>
          </a:p>
        </p:txBody>
      </p:sp>
    </p:spTree>
    <p:extLst>
      <p:ext uri="{BB962C8B-B14F-4D97-AF65-F5344CB8AC3E}">
        <p14:creationId xmlns:p14="http://schemas.microsoft.com/office/powerpoint/2010/main" val="23873164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Set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6358BB-B0A9-4B4A-83E1-CBE80B0ED7F7}"/>
              </a:ext>
            </a:extLst>
          </p:cNvPr>
          <p:cNvSpPr/>
          <p:nvPr/>
        </p:nvSpPr>
        <p:spPr>
          <a:xfrm>
            <a:off x="6096000" y="2415001"/>
            <a:ext cx="50546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{}</a:t>
            </a:r>
          </a:p>
          <a:p>
            <a:r>
              <a:rPr lang="en-US" dirty="0">
                <a:latin typeface="Courier" pitchFamily="2" charset="0"/>
              </a:rPr>
              <a:t>2: {}</a:t>
            </a:r>
          </a:p>
          <a:p>
            <a:r>
              <a:rPr lang="en-US" dirty="0">
                <a:latin typeface="Courier" pitchFamily="2" charset="0"/>
              </a:rPr>
              <a:t>3: {}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{}</a:t>
            </a:r>
          </a:p>
          <a:p>
            <a:r>
              <a:rPr lang="en-US" dirty="0">
                <a:latin typeface="Courier" pitchFamily="2" charset="0"/>
              </a:rPr>
              <a:t>5: {}</a:t>
            </a:r>
          </a:p>
          <a:p>
            <a:r>
              <a:rPr lang="en-US" dirty="0">
                <a:latin typeface="Courier" pitchFamily="2" charset="0"/>
              </a:rPr>
              <a:t>6: {}</a:t>
            </a:r>
          </a:p>
          <a:p>
            <a:r>
              <a:rPr lang="en-US" dirty="0">
                <a:latin typeface="Courier" pitchFamily="2" charset="0"/>
              </a:rPr>
              <a:t>7: {}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C69731-3D29-CA48-8DC5-34C5D0C7668D}"/>
              </a:ext>
            </a:extLst>
          </p:cNvPr>
          <p:cNvSpPr/>
          <p:nvPr/>
        </p:nvSpPr>
        <p:spPr>
          <a:xfrm>
            <a:off x="1149403" y="2692000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6B964F-2F88-7308-CE1C-3BC9F5D00F9D}"/>
              </a:ext>
            </a:extLst>
          </p:cNvPr>
          <p:cNvSpPr txBox="1"/>
          <p:nvPr/>
        </p:nvSpPr>
        <p:spPr>
          <a:xfrm>
            <a:off x="6431065" y="1221847"/>
            <a:ext cx="4384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production choice, find the set</a:t>
            </a:r>
          </a:p>
          <a:p>
            <a:r>
              <a:rPr lang="en-US" i="1" dirty="0"/>
              <a:t>of tokens that each production can start with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89FAF-6D8D-D063-4584-406EF83C5E0C}"/>
              </a:ext>
            </a:extLst>
          </p:cNvPr>
          <p:cNvSpPr txBox="1"/>
          <p:nvPr/>
        </p:nvSpPr>
        <p:spPr>
          <a:xfrm>
            <a:off x="9834874" y="5986956"/>
            <a:ext cx="19613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41446271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BE2BC-1F8E-0384-D84C-DA1EBBB8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C53B9-F337-72D8-3674-19D639329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53B91-D44E-7607-B0B4-11BACEDB214C}"/>
              </a:ext>
            </a:extLst>
          </p:cNvPr>
          <p:cNvSpPr txBox="1"/>
          <p:nvPr/>
        </p:nvSpPr>
        <p:spPr>
          <a:xfrm>
            <a:off x="6431065" y="1221847"/>
            <a:ext cx="4384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production choice, find the set</a:t>
            </a:r>
          </a:p>
          <a:p>
            <a:r>
              <a:rPr lang="en-US" i="1" dirty="0"/>
              <a:t>of tokens that each production can start with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0EA744-C857-5398-E5BD-84F8B78D82C7}"/>
              </a:ext>
            </a:extLst>
          </p:cNvPr>
          <p:cNvSpPr/>
          <p:nvPr/>
        </p:nvSpPr>
        <p:spPr>
          <a:xfrm>
            <a:off x="6096000" y="2415001"/>
            <a:ext cx="50546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A810B8-9F62-0FE3-46F4-E624830033EA}"/>
              </a:ext>
            </a:extLst>
          </p:cNvPr>
          <p:cNvSpPr/>
          <p:nvPr/>
        </p:nvSpPr>
        <p:spPr>
          <a:xfrm>
            <a:off x="1149403" y="2692000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</p:spTree>
    <p:extLst>
      <p:ext uri="{BB962C8B-B14F-4D97-AF65-F5344CB8AC3E}">
        <p14:creationId xmlns:p14="http://schemas.microsoft.com/office/powerpoint/2010/main" val="7965031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27EACE-562A-0F4E-AB70-C2F6FD01EEB4}"/>
              </a:ext>
            </a:extLst>
          </p:cNvPr>
          <p:cNvSpPr txBox="1"/>
          <p:nvPr/>
        </p:nvSpPr>
        <p:spPr>
          <a:xfrm>
            <a:off x="6431065" y="1221847"/>
            <a:ext cx="4384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production choice, find the set</a:t>
            </a:r>
          </a:p>
          <a:p>
            <a:r>
              <a:rPr lang="en-US" i="1" dirty="0"/>
              <a:t>of tokens that each production can start with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6358BB-B0A9-4B4A-83E1-CBE80B0ED7F7}"/>
              </a:ext>
            </a:extLst>
          </p:cNvPr>
          <p:cNvSpPr/>
          <p:nvPr/>
        </p:nvSpPr>
        <p:spPr>
          <a:xfrm>
            <a:off x="6096000" y="2415001"/>
            <a:ext cx="50546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E9921C-1689-D74A-875E-DCAF31561F3E}"/>
              </a:ext>
            </a:extLst>
          </p:cNvPr>
          <p:cNvSpPr/>
          <p:nvPr/>
        </p:nvSpPr>
        <p:spPr>
          <a:xfrm>
            <a:off x="1149403" y="2692000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83E883-D7AF-A14B-B949-F04364BA2F29}"/>
              </a:ext>
            </a:extLst>
          </p:cNvPr>
          <p:cNvSpPr txBox="1"/>
          <p:nvPr/>
        </p:nvSpPr>
        <p:spPr>
          <a:xfrm>
            <a:off x="6050943" y="5414838"/>
            <a:ext cx="4815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can use first sets to decide which rule to pick!</a:t>
            </a:r>
          </a:p>
        </p:txBody>
      </p:sp>
    </p:spTree>
    <p:extLst>
      <p:ext uri="{BB962C8B-B14F-4D97-AF65-F5344CB8AC3E}">
        <p14:creationId xmlns:p14="http://schemas.microsoft.com/office/powerpoint/2010/main" val="18412014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s.token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to_match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 = </a:t>
            </a:r>
            <a:r>
              <a:rPr lang="en-US" sz="1600" dirty="0" err="1">
                <a:highlight>
                  <a:srgbClr val="FFFF00"/>
                </a:highlight>
                <a:latin typeface="Courier" pitchFamily="2" charset="0"/>
              </a:rPr>
              <a:t>s.token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</a:p>
          <a:p>
            <a:endParaRPr lang="en-US" sz="1600" dirty="0">
              <a:latin typeface="Courier" pitchFamily="2" charset="0"/>
            </a:endParaRPr>
          </a:p>
          <a:p>
            <a:endParaRPr lang="en-US" sz="1600" dirty="0">
              <a:latin typeface="Courier" pitchFamily="2" charset="0"/>
            </a:endParaRPr>
          </a:p>
        </p:txBody>
      </p:sp>
      <p:graphicFrame>
        <p:nvGraphicFramePr>
          <p:cNvPr id="19" name="Table 11">
            <a:extLst>
              <a:ext uri="{FF2B5EF4-FFF2-40B4-BE49-F238E27FC236}">
                <a16:creationId xmlns:a16="http://schemas.microsoft.com/office/drawing/2014/main" id="{B6743B0F-F925-C04C-A3E0-8D388BD29269}"/>
              </a:ext>
            </a:extLst>
          </p:cNvPr>
          <p:cNvGraphicFramePr>
            <a:graphicFrameLocks noGrp="1"/>
          </p:cNvGraphicFramePr>
          <p:nvPr/>
        </p:nvGraphicFramePr>
        <p:xfrm>
          <a:off x="631026" y="4742295"/>
          <a:ext cx="4764488" cy="181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244">
                  <a:extLst>
                    <a:ext uri="{9D8B030D-6E8A-4147-A177-3AD203B41FA5}">
                      <a16:colId xmlns:a16="http://schemas.microsoft.com/office/drawing/2014/main" val="2154415494"/>
                    </a:ext>
                  </a:extLst>
                </a:gridCol>
                <a:gridCol w="2382244">
                  <a:extLst>
                    <a:ext uri="{9D8B030D-6E8A-4147-A177-3AD203B41FA5}">
                      <a16:colId xmlns:a16="http://schemas.microsoft.com/office/drawing/2014/main" val="420331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40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91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>
                          <a:highlight>
                            <a:srgbClr val="FFFF00"/>
                          </a:highlight>
                        </a:rPr>
                        <a:t>to_match</a:t>
                      </a:r>
                      <a:endParaRPr lang="en-US" sz="160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377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s.istring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741957"/>
                  </a:ext>
                </a:extLst>
              </a:tr>
              <a:tr h="259812">
                <a:tc>
                  <a:txBody>
                    <a:bodyPr/>
                    <a:lstStyle/>
                    <a:p>
                      <a:r>
                        <a:rPr lang="en-US" sz="1600" dirty="0"/>
                        <a:t>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99995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62A06D4-55A1-2640-ABA9-5E1837F624F6}"/>
              </a:ext>
            </a:extLst>
          </p:cNvPr>
          <p:cNvSpPr txBox="1"/>
          <p:nvPr/>
        </p:nvSpPr>
        <p:spPr>
          <a:xfrm>
            <a:off x="7355752" y="5464534"/>
            <a:ext cx="39567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simply use </a:t>
            </a:r>
            <a:r>
              <a:rPr lang="en-US" dirty="0" err="1">
                <a:highlight>
                  <a:srgbClr val="FFFF00"/>
                </a:highlight>
              </a:rPr>
              <a:t>to_match</a:t>
            </a:r>
            <a:r>
              <a:rPr lang="en-US" dirty="0"/>
              <a:t> and </a:t>
            </a:r>
            <a:r>
              <a:rPr lang="en-US" dirty="0">
                <a:highlight>
                  <a:srgbClr val="FFFF00"/>
                </a:highlight>
              </a:rPr>
              <a:t>compare</a:t>
            </a:r>
            <a:r>
              <a:rPr lang="en-US" dirty="0"/>
              <a:t> it</a:t>
            </a:r>
            <a:br>
              <a:rPr lang="en-US" dirty="0"/>
            </a:br>
            <a:r>
              <a:rPr lang="en-US" dirty="0"/>
              <a:t>to the </a:t>
            </a:r>
            <a:r>
              <a:rPr lang="en-US" dirty="0">
                <a:highlight>
                  <a:srgbClr val="FFFF00"/>
                </a:highlight>
              </a:rPr>
              <a:t>first sets for each choice</a:t>
            </a:r>
          </a:p>
          <a:p>
            <a:endParaRPr lang="en-US" dirty="0"/>
          </a:p>
          <a:p>
            <a:r>
              <a:rPr lang="en-US" dirty="0"/>
              <a:t>For example, Op and Unit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2560DC-BE5A-2146-A4AA-D594E649F9B0}"/>
              </a:ext>
            </a:extLst>
          </p:cNvPr>
          <p:cNvSpPr/>
          <p:nvPr/>
        </p:nvSpPr>
        <p:spPr>
          <a:xfrm>
            <a:off x="6891528" y="2708281"/>
            <a:ext cx="505460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FD9FC4-93A4-3643-B4F9-0EF719BA952E}"/>
              </a:ext>
            </a:extLst>
          </p:cNvPr>
          <p:cNvSpPr/>
          <p:nvPr/>
        </p:nvSpPr>
        <p:spPr>
          <a:xfrm>
            <a:off x="6891528" y="367406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2" name="Right Arrow 10">
            <a:extLst>
              <a:ext uri="{FF2B5EF4-FFF2-40B4-BE49-F238E27FC236}">
                <a16:creationId xmlns:a16="http://schemas.microsoft.com/office/drawing/2014/main" id="{4239A012-23CE-16AF-CDDC-9C9265D94094}"/>
              </a:ext>
            </a:extLst>
          </p:cNvPr>
          <p:cNvSpPr/>
          <p:nvPr/>
        </p:nvSpPr>
        <p:spPr>
          <a:xfrm rot="7488104">
            <a:off x="9150416" y="5114234"/>
            <a:ext cx="536821" cy="252672"/>
          </a:xfrm>
          <a:prstGeom prst="rightArrow">
            <a:avLst/>
          </a:prstGeom>
          <a:ln w="9525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F6F4F-2385-E54C-4806-63660BFB37F7}"/>
              </a:ext>
            </a:extLst>
          </p:cNvPr>
          <p:cNvSpPr txBox="1"/>
          <p:nvPr/>
        </p:nvSpPr>
        <p:spPr>
          <a:xfrm>
            <a:off x="9525000" y="4405300"/>
            <a:ext cx="2421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Look-ahead to select </a:t>
            </a:r>
          </a:p>
          <a:p>
            <a:r>
              <a:rPr lang="en-US" dirty="0">
                <a:highlight>
                  <a:srgbClr val="FFFF00"/>
                </a:highlight>
              </a:rPr>
              <a:t>Correct rule</a:t>
            </a:r>
          </a:p>
        </p:txBody>
      </p:sp>
      <p:sp>
        <p:nvSpPr>
          <p:cNvPr id="5" name="Right Arrow 10">
            <a:extLst>
              <a:ext uri="{FF2B5EF4-FFF2-40B4-BE49-F238E27FC236}">
                <a16:creationId xmlns:a16="http://schemas.microsoft.com/office/drawing/2014/main" id="{3AFC85AF-89F3-3B8D-7346-1734C2A41C6D}"/>
              </a:ext>
            </a:extLst>
          </p:cNvPr>
          <p:cNvSpPr/>
          <p:nvPr/>
        </p:nvSpPr>
        <p:spPr>
          <a:xfrm rot="7488104">
            <a:off x="4445066" y="1549237"/>
            <a:ext cx="536821" cy="252672"/>
          </a:xfrm>
          <a:prstGeom prst="rightArrow">
            <a:avLst/>
          </a:prstGeom>
          <a:ln w="9525"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8970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Follow Set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F9FAE3-A1B2-4F44-945F-FA272C4A912E}"/>
              </a:ext>
            </a:extLst>
          </p:cNvPr>
          <p:cNvSpPr txBox="1"/>
          <p:nvPr/>
        </p:nvSpPr>
        <p:spPr>
          <a:xfrm>
            <a:off x="5049078" y="5446644"/>
            <a:ext cx="4137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need to find the tokens that any string</a:t>
            </a:r>
          </a:p>
          <a:p>
            <a:r>
              <a:rPr lang="en-US" dirty="0"/>
              <a:t>that follows the production can start with.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B3AE82-42C9-9A43-A107-B72DB14069E1}"/>
              </a:ext>
            </a:extLst>
          </p:cNvPr>
          <p:cNvSpPr/>
          <p:nvPr/>
        </p:nvSpPr>
        <p:spPr>
          <a:xfrm>
            <a:off x="5237259" y="2422952"/>
            <a:ext cx="195867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D685AF-99DB-2E48-9D26-D755CB342B8E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982BBC-B725-B244-B935-18275F428776}"/>
              </a:ext>
            </a:extLst>
          </p:cNvPr>
          <p:cNvSpPr/>
          <p:nvPr/>
        </p:nvSpPr>
        <p:spPr>
          <a:xfrm>
            <a:off x="7599976" y="2390152"/>
            <a:ext cx="195867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Follow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NA</a:t>
            </a:r>
          </a:p>
          <a:p>
            <a:r>
              <a:rPr lang="en-US" dirty="0">
                <a:latin typeface="Courier" pitchFamily="2" charset="0"/>
              </a:rPr>
              <a:t>2: NA</a:t>
            </a:r>
          </a:p>
          <a:p>
            <a:r>
              <a:rPr lang="en-US" dirty="0">
                <a:latin typeface="Courier" pitchFamily="2" charset="0"/>
              </a:rPr>
              <a:t>3: {}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NA</a:t>
            </a:r>
          </a:p>
          <a:p>
            <a:r>
              <a:rPr lang="en-US" dirty="0">
                <a:latin typeface="Courier" pitchFamily="2" charset="0"/>
              </a:rPr>
              <a:t>5: NA</a:t>
            </a:r>
          </a:p>
          <a:p>
            <a:r>
              <a:rPr lang="en-US" dirty="0">
                <a:latin typeface="Courier" pitchFamily="2" charset="0"/>
              </a:rPr>
              <a:t>6: NA</a:t>
            </a:r>
          </a:p>
          <a:p>
            <a:r>
              <a:rPr lang="en-US" dirty="0">
                <a:latin typeface="Courier" pitchFamily="2" charset="0"/>
              </a:rPr>
              <a:t>7: 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410312-8F45-E587-8A38-4488CD77C302}"/>
              </a:ext>
            </a:extLst>
          </p:cNvPr>
          <p:cNvSpPr txBox="1"/>
          <p:nvPr/>
        </p:nvSpPr>
        <p:spPr>
          <a:xfrm>
            <a:off x="4548173" y="1470022"/>
            <a:ext cx="6719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Rules with “” in their First set </a:t>
            </a:r>
            <a:r>
              <a:rPr lang="en-US" sz="2400" i="1" dirty="0"/>
              <a:t>need special attention</a:t>
            </a:r>
          </a:p>
        </p:txBody>
      </p:sp>
    </p:spTree>
    <p:extLst>
      <p:ext uri="{BB962C8B-B14F-4D97-AF65-F5344CB8AC3E}">
        <p14:creationId xmlns:p14="http://schemas.microsoft.com/office/powerpoint/2010/main" val="3772197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662" y="-22035"/>
            <a:ext cx="10515600" cy="1325563"/>
          </a:xfrm>
        </p:spPr>
        <p:txBody>
          <a:bodyPr/>
          <a:lstStyle/>
          <a:p>
            <a:r>
              <a:rPr lang="en-US" dirty="0"/>
              <a:t>The Follow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044791-E532-744D-B5EB-FA87CF04CE52}"/>
              </a:ext>
            </a:extLst>
          </p:cNvPr>
          <p:cNvSpPr/>
          <p:nvPr/>
        </p:nvSpPr>
        <p:spPr>
          <a:xfrm>
            <a:off x="5370609" y="2012719"/>
            <a:ext cx="195867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54B967-9F94-FC48-BE79-CBA15B9229DF}"/>
              </a:ext>
            </a:extLst>
          </p:cNvPr>
          <p:cNvSpPr/>
          <p:nvPr/>
        </p:nvSpPr>
        <p:spPr>
          <a:xfrm>
            <a:off x="494029" y="2012719"/>
            <a:ext cx="4187494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Courier" pitchFamily="2" charset="0"/>
              </a:rPr>
              <a:t>1: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sz="2000" dirty="0">
                <a:latin typeface="Courier" pitchFamily="2" charset="0"/>
              </a:rPr>
              <a:t>  ::= Unit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Expr2</a:t>
            </a:r>
          </a:p>
          <a:p>
            <a:r>
              <a:rPr lang="en-US" sz="2000" dirty="0">
                <a:latin typeface="Courier" pitchFamily="2" charset="0"/>
              </a:rPr>
              <a:t>2: Expr2 ::= Op Unit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Expr2</a:t>
            </a:r>
          </a:p>
          <a:p>
            <a:r>
              <a:rPr lang="en-US" sz="2000" dirty="0">
                <a:latin typeface="Courier" pitchFamily="2" charset="0"/>
              </a:rPr>
              <a:t>3:       | “”</a:t>
            </a:r>
            <a:br>
              <a:rPr lang="en-US" sz="2000" dirty="0">
                <a:latin typeface="Courier" pitchFamily="2" charset="0"/>
              </a:rPr>
            </a:br>
            <a:r>
              <a:rPr lang="en-US" sz="2000" dirty="0">
                <a:latin typeface="Courier" pitchFamily="2" charset="0"/>
              </a:rPr>
              <a:t>4: Unit  ::= ‘(‘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Expr</a:t>
            </a:r>
            <a:r>
              <a:rPr lang="en-US" sz="2000" dirty="0">
                <a:latin typeface="Courier" pitchFamily="2" charset="0"/>
              </a:rPr>
              <a:t> </a:t>
            </a:r>
            <a:r>
              <a:rPr lang="en-US" sz="2000" dirty="0">
                <a:highlight>
                  <a:srgbClr val="FFFF00"/>
                </a:highlight>
                <a:latin typeface="Courier" pitchFamily="2" charset="0"/>
              </a:rPr>
              <a:t>‘)’</a:t>
            </a:r>
          </a:p>
          <a:p>
            <a:r>
              <a:rPr lang="en-US" sz="2000" dirty="0">
                <a:latin typeface="Courier" pitchFamily="2" charset="0"/>
              </a:rPr>
              <a:t>5:       |    ID</a:t>
            </a:r>
          </a:p>
          <a:p>
            <a:r>
              <a:rPr lang="en-US" sz="2000" dirty="0">
                <a:latin typeface="Courier" pitchFamily="2" charset="0"/>
              </a:rPr>
              <a:t>6: Op    ::= ‘+’</a:t>
            </a:r>
          </a:p>
          <a:p>
            <a:r>
              <a:rPr lang="en-US" sz="2000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117634-15FC-B147-9529-1D9F35C75A46}"/>
              </a:ext>
            </a:extLst>
          </p:cNvPr>
          <p:cNvSpPr/>
          <p:nvPr/>
        </p:nvSpPr>
        <p:spPr>
          <a:xfrm>
            <a:off x="7733326" y="1979919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Follow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NA</a:t>
            </a:r>
          </a:p>
          <a:p>
            <a:r>
              <a:rPr lang="en-US" dirty="0">
                <a:latin typeface="Courier" pitchFamily="2" charset="0"/>
              </a:rPr>
              <a:t>2: NA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NA</a:t>
            </a:r>
          </a:p>
          <a:p>
            <a:r>
              <a:rPr lang="en-US" dirty="0">
                <a:latin typeface="Courier" pitchFamily="2" charset="0"/>
              </a:rPr>
              <a:t>5: NA</a:t>
            </a:r>
          </a:p>
          <a:p>
            <a:r>
              <a:rPr lang="en-US" dirty="0">
                <a:latin typeface="Courier" pitchFamily="2" charset="0"/>
              </a:rPr>
              <a:t>6: NA</a:t>
            </a:r>
          </a:p>
          <a:p>
            <a:r>
              <a:rPr lang="en-US" dirty="0">
                <a:latin typeface="Courier" pitchFamily="2" charset="0"/>
              </a:rPr>
              <a:t>7: NA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FE90DD-734B-C945-936C-53DC1F605FE1}"/>
              </a:ext>
            </a:extLst>
          </p:cNvPr>
          <p:cNvSpPr txBox="1"/>
          <p:nvPr/>
        </p:nvSpPr>
        <p:spPr>
          <a:xfrm>
            <a:off x="494029" y="4533640"/>
            <a:ext cx="1136975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need to find all tokens that any string that follows a production containing </a:t>
            </a:r>
            <a:r>
              <a:rPr lang="el-GR" sz="2400" dirty="0"/>
              <a:t>∈ </a:t>
            </a:r>
            <a:endParaRPr lang="en-US" sz="2400" dirty="0"/>
          </a:p>
          <a:p>
            <a:r>
              <a:rPr lang="en-US" sz="2400" dirty="0"/>
              <a:t>In its first set can start with.  In the example above Expr2 can be followed by what </a:t>
            </a:r>
            <a:br>
              <a:rPr lang="en-US" sz="2400" dirty="0"/>
            </a:br>
            <a:r>
              <a:rPr lang="en-US" sz="2400" dirty="0"/>
              <a:t>follows Expr or ‘)’.   </a:t>
            </a:r>
          </a:p>
          <a:p>
            <a:r>
              <a:rPr lang="en-US" sz="2400" dirty="0"/>
              <a:t>Note that FIRST, FOLLOW, and FIRST+ are sets of terminals.  But follow uses Non-terminals to calculate with  transitive closure.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3EA1A-6A20-4046-A801-5C74CA5DFA71}"/>
              </a:ext>
            </a:extLst>
          </p:cNvPr>
          <p:cNvSpPr txBox="1"/>
          <p:nvPr/>
        </p:nvSpPr>
        <p:spPr>
          <a:xfrm>
            <a:off x="4548173" y="1209538"/>
            <a:ext cx="6719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Rules with “” in their First set </a:t>
            </a:r>
            <a:r>
              <a:rPr lang="en-US" sz="2400" i="1" dirty="0"/>
              <a:t>need special attention</a:t>
            </a:r>
          </a:p>
        </p:txBody>
      </p:sp>
    </p:spTree>
    <p:extLst>
      <p:ext uri="{BB962C8B-B14F-4D97-AF65-F5344CB8AC3E}">
        <p14:creationId xmlns:p14="http://schemas.microsoft.com/office/powerpoint/2010/main" val="5682787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0150A-7C94-E07A-0967-0D9FB54CF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F84A3-43A6-EEC1-427F-6D61F10D1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The First+ Set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4830AC-C9A1-C836-DB19-2445860EF9B2}"/>
              </a:ext>
            </a:extLst>
          </p:cNvPr>
          <p:cNvSpPr txBox="1"/>
          <p:nvPr/>
        </p:nvSpPr>
        <p:spPr>
          <a:xfrm>
            <a:off x="838200" y="1745855"/>
            <a:ext cx="10001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The First+ set is conditional combination of First and Follow sets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7DBB70-BE88-4D77-BBD1-69F7BF67A7F0}"/>
                  </a:ext>
                </a:extLst>
              </p:cNvPr>
              <p:cNvSpPr txBox="1"/>
              <p:nvPr/>
            </p:nvSpPr>
            <p:spPr>
              <a:xfrm>
                <a:off x="742950" y="4394282"/>
                <a:ext cx="1110615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/>
                  <a:t>We only apply FOLLOW(A) if  FIRST(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320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l-GR" sz="3200" i="1">
                        <a:latin typeface="Cambria Math" panose="02040503050406030204" pitchFamily="18" charset="0"/>
                      </a:rPr>
                      <m:t>β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3200" dirty="0"/>
                  <a:t>has </a:t>
                </a:r>
                <a:r>
                  <a:rPr lang="el-GR" sz="4800" dirty="0"/>
                  <a:t>ε</a:t>
                </a:r>
                <a:r>
                  <a:rPr lang="en-US" sz="3200" dirty="0"/>
                  <a:t>  as a member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97DBB70-BE88-4D77-BBD1-69F7BF67A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50" y="4394282"/>
                <a:ext cx="11106150" cy="830997"/>
              </a:xfrm>
              <a:prstGeom prst="rect">
                <a:avLst/>
              </a:prstGeom>
              <a:blipFill>
                <a:blip r:embed="rId2"/>
                <a:stretch>
                  <a:fillRect l="-1427" t="-16176" b="-38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E78537-1F49-F081-4457-4FF3B0952B42}"/>
                  </a:ext>
                </a:extLst>
              </p:cNvPr>
              <p:cNvSpPr txBox="1"/>
              <p:nvPr/>
            </p:nvSpPr>
            <p:spPr>
              <a:xfrm>
                <a:off x="742950" y="2447071"/>
                <a:ext cx="11106150" cy="16832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lvl="0" indent="0">
                  <a:buNone/>
                </a:pPr>
                <a:r>
                  <a:rPr lang="en-US" sz="3200" dirty="0"/>
                  <a:t>FIRST+</a:t>
                </a:r>
                <a14:m>
                  <m:oMath xmlns:m="http://schemas.openxmlformats.org/officeDocument/2006/math">
                    <m:r>
                      <a:rPr lang="en-US" sz="320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3200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l-GR" sz="3200" b="0" i="1" smtClean="0">
                        <a:latin typeface="Cambria Math" panose="02040503050406030204" pitchFamily="18" charset="0"/>
                      </a:rPr>
                      <m:t>β</m:t>
                    </m:r>
                    <m:r>
                      <a:rPr lang="el-GR" sz="3200">
                        <a:latin typeface="Cambria Math" panose="02040503050406030204" pitchFamily="18" charset="0"/>
                      </a:rPr>
                      <m:t>)=</m:t>
                    </m:r>
                    <m:d>
                      <m:dPr>
                        <m:begChr m:val="{"/>
                        <m:endChr m:val="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nor/>
                                </m:rPr>
                                <a:rPr lang="en-US" sz="3200" b="0" i="0" smtClean="0"/>
                                <m:t>F</m:t>
                              </m:r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IRST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  <m: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 sz="3200"/>
                                <m:t>if</m:t>
                              </m:r>
                              <m:r>
                                <m:rPr>
                                  <m:nor/>
                                </m:rPr>
                                <a:rPr lang="en-US" sz="3200"/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ϵ</m:t>
                              </m:r>
                              <m: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 ∈ </m:t>
                              </m:r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FIRST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  <m: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FIRST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  <m:r>
                                <a:rPr lang="el-GR" sz="3200" b="0" i="1" smtClean="0">
                                  <a:latin typeface="Cambria Math" panose="02040503050406030204" pitchFamily="18" charset="0"/>
                                </a:rPr>
                                <m:t>)∪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FOLLOW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m:rPr>
                                  <m:nor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 sz="3200"/>
                                <m:t>otherwise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sz="3200" dirty="0"/>
              </a:p>
              <a:p>
                <a:pPr marL="0" lvl="0" indent="0">
                  <a:buNone/>
                </a:pPr>
                <a:r>
                  <a:rPr lang="en-US" sz="3200" dirty="0"/>
                  <a:t>where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3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3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32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3200">
                        <a:latin typeface="Cambria Math" panose="02040503050406030204" pitchFamily="18" charset="0"/>
                      </a:rPr>
                      <m:t>…</m:t>
                    </m:r>
                    <m:sSub>
                      <m:sSubPr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3200" dirty="0"/>
                  <a:t>is a sequence of terminals/non-terminals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E78537-1F49-F081-4457-4FF3B0952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950" y="2447071"/>
                <a:ext cx="11106150" cy="1683281"/>
              </a:xfrm>
              <a:prstGeom prst="rect">
                <a:avLst/>
              </a:prstGeom>
              <a:blipFill>
                <a:blip r:embed="rId3"/>
                <a:stretch>
                  <a:fillRect l="-1427" b="-10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D35A3A2-772B-D1C9-DC39-6178F0715403}"/>
              </a:ext>
            </a:extLst>
          </p:cNvPr>
          <p:cNvSpPr txBox="1"/>
          <p:nvPr/>
        </p:nvSpPr>
        <p:spPr>
          <a:xfrm>
            <a:off x="742950" y="5237404"/>
            <a:ext cx="4305300" cy="543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aseline="-25000" dirty="0"/>
              <a:t>This is pretty subtle</a:t>
            </a:r>
          </a:p>
        </p:txBody>
      </p:sp>
    </p:spTree>
    <p:extLst>
      <p:ext uri="{BB962C8B-B14F-4D97-AF65-F5344CB8AC3E}">
        <p14:creationId xmlns:p14="http://schemas.microsoft.com/office/powerpoint/2010/main" val="27729372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3F0C1-96B5-226D-BAB4-869A69963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6C925-A7B3-FE03-C1DD-B035D23D8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First+ Set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3EACDB-614F-3B74-5627-88224F22D590}"/>
              </a:ext>
            </a:extLst>
          </p:cNvPr>
          <p:cNvSpPr/>
          <p:nvPr/>
        </p:nvSpPr>
        <p:spPr>
          <a:xfrm>
            <a:off x="4132180" y="2422952"/>
            <a:ext cx="195867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{“”}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DBEEDC-27C1-9BD3-8B1C-78352825ACEE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600098-E1EA-89CD-9D99-44C3AD22D58C}"/>
              </a:ext>
            </a:extLst>
          </p:cNvPr>
          <p:cNvSpPr/>
          <p:nvPr/>
        </p:nvSpPr>
        <p:spPr>
          <a:xfrm>
            <a:off x="6105369" y="2430158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Follow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NA</a:t>
            </a:r>
          </a:p>
          <a:p>
            <a:r>
              <a:rPr lang="en-US" dirty="0">
                <a:latin typeface="Courier" pitchFamily="2" charset="0"/>
              </a:rPr>
              <a:t>2: NA</a:t>
            </a:r>
          </a:p>
          <a:p>
            <a:r>
              <a:rPr lang="en-US" dirty="0">
                <a:latin typeface="Courier" pitchFamily="2" charset="0"/>
              </a:rPr>
              <a:t>3: </a:t>
            </a: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NA</a:t>
            </a:r>
          </a:p>
          <a:p>
            <a:r>
              <a:rPr lang="en-US" dirty="0">
                <a:latin typeface="Courier" pitchFamily="2" charset="0"/>
              </a:rPr>
              <a:t>5: NA</a:t>
            </a:r>
          </a:p>
          <a:p>
            <a:r>
              <a:rPr lang="en-US" dirty="0">
                <a:latin typeface="Courier" pitchFamily="2" charset="0"/>
              </a:rPr>
              <a:t>6: NA</a:t>
            </a:r>
          </a:p>
          <a:p>
            <a:r>
              <a:rPr lang="en-US" dirty="0">
                <a:latin typeface="Courier" pitchFamily="2" charset="0"/>
              </a:rPr>
              <a:t>7: NA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0E7469-C31A-7DD5-89AB-7E034F5E2195}"/>
              </a:ext>
            </a:extLst>
          </p:cNvPr>
          <p:cNvSpPr txBox="1"/>
          <p:nvPr/>
        </p:nvSpPr>
        <p:spPr>
          <a:xfrm>
            <a:off x="4548173" y="1470022"/>
            <a:ext cx="5389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The First+ set is the combination of First and Follow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AAE3E9-987F-CE9E-EF1D-72DA75B2B661}"/>
              </a:ext>
            </a:extLst>
          </p:cNvPr>
          <p:cNvSpPr/>
          <p:nvPr/>
        </p:nvSpPr>
        <p:spPr>
          <a:xfrm>
            <a:off x="8372299" y="2422952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{‘(‘, 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{None, ’)’}</a:t>
            </a:r>
            <a:br>
              <a:rPr lang="en-US" dirty="0">
                <a:highlight>
                  <a:srgbClr val="FFFF00"/>
                </a:highlight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4: {‘(‘}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5: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{‘+’}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{‘*’}</a:t>
            </a:r>
          </a:p>
        </p:txBody>
      </p:sp>
    </p:spTree>
    <p:extLst>
      <p:ext uri="{BB962C8B-B14F-4D97-AF65-F5344CB8AC3E}">
        <p14:creationId xmlns:p14="http://schemas.microsoft.com/office/powerpoint/2010/main" val="34048484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A14CE-4767-5C5E-6766-DD6B29734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92D03-90F1-B032-CCFB-6813C1A77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Animation of First, Follow, and First+ Sets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B82674-51D5-603B-77A0-10BF724AD219}"/>
              </a:ext>
            </a:extLst>
          </p:cNvPr>
          <p:cNvSpPr txBox="1"/>
          <p:nvPr/>
        </p:nvSpPr>
        <p:spPr>
          <a:xfrm>
            <a:off x="2345635" y="2756452"/>
            <a:ext cx="6626087" cy="113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B2ABF1-58E4-A448-7CC9-AC7BD24EB44E}"/>
              </a:ext>
            </a:extLst>
          </p:cNvPr>
          <p:cNvSpPr txBox="1"/>
          <p:nvPr/>
        </p:nvSpPr>
        <p:spPr>
          <a:xfrm>
            <a:off x="2345635" y="2173357"/>
            <a:ext cx="7023652" cy="15107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8A4DC4-A6C2-A103-009C-AD2B9E940203}"/>
              </a:ext>
            </a:extLst>
          </p:cNvPr>
          <p:cNvSpPr txBox="1"/>
          <p:nvPr/>
        </p:nvSpPr>
        <p:spPr>
          <a:xfrm>
            <a:off x="1987826" y="2605564"/>
            <a:ext cx="7076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 </a:t>
            </a:r>
            <a:r>
              <a:rPr lang="en-US" sz="3600" dirty="0">
                <a:hlinkClick r:id="rId2"/>
              </a:rPr>
              <a:t>https://youtu.be/JhEmguMmfLU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3950426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need backtracking?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54B967-9F94-FC48-BE79-CBA15B9229DF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3EA1A-6A20-4046-A801-5C74CA5DFA71}"/>
              </a:ext>
            </a:extLst>
          </p:cNvPr>
          <p:cNvSpPr txBox="1"/>
          <p:nvPr/>
        </p:nvSpPr>
        <p:spPr>
          <a:xfrm>
            <a:off x="4548173" y="1470022"/>
            <a:ext cx="5389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First+ set is the combination of First and Follow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7EA11D-76FA-D843-9610-E15BBD909065}"/>
              </a:ext>
            </a:extLst>
          </p:cNvPr>
          <p:cNvSpPr/>
          <p:nvPr/>
        </p:nvSpPr>
        <p:spPr>
          <a:xfrm>
            <a:off x="4611332" y="2422952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1: {‘(‘, ID}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4: {‘(‘}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5: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{‘+’}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{‘*’}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F4CA7B-DCAC-F444-BC5B-85F9BEE053ED}"/>
              </a:ext>
            </a:extLst>
          </p:cNvPr>
          <p:cNvSpPr txBox="1"/>
          <p:nvPr/>
        </p:nvSpPr>
        <p:spPr>
          <a:xfrm>
            <a:off x="3411109" y="5645426"/>
            <a:ext cx="68380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non-terminal: if every production has a disjoint First+ set then</a:t>
            </a:r>
          </a:p>
          <a:p>
            <a:r>
              <a:rPr lang="en-US" i="1" dirty="0"/>
              <a:t>we do not need any backtracking!</a:t>
            </a:r>
          </a:p>
        </p:txBody>
      </p:sp>
    </p:spTree>
    <p:extLst>
      <p:ext uri="{BB962C8B-B14F-4D97-AF65-F5344CB8AC3E}">
        <p14:creationId xmlns:p14="http://schemas.microsoft.com/office/powerpoint/2010/main" val="28780259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need backtracking?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54B967-9F94-FC48-BE79-CBA15B9229DF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3EA1A-6A20-4046-A801-5C74CA5DFA71}"/>
              </a:ext>
            </a:extLst>
          </p:cNvPr>
          <p:cNvSpPr txBox="1"/>
          <p:nvPr/>
        </p:nvSpPr>
        <p:spPr>
          <a:xfrm>
            <a:off x="4548173" y="1470022"/>
            <a:ext cx="5389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First+ set is the combination of First and Follow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7EA11D-76FA-D843-9610-E15BBD909065}"/>
              </a:ext>
            </a:extLst>
          </p:cNvPr>
          <p:cNvSpPr/>
          <p:nvPr/>
        </p:nvSpPr>
        <p:spPr>
          <a:xfrm>
            <a:off x="4611332" y="2422952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1: {‘(‘, ID}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4: {‘(‘}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5: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{‘+’}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{‘*’}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F4CA7B-DCAC-F444-BC5B-85F9BEE053ED}"/>
              </a:ext>
            </a:extLst>
          </p:cNvPr>
          <p:cNvSpPr txBox="1"/>
          <p:nvPr/>
        </p:nvSpPr>
        <p:spPr>
          <a:xfrm>
            <a:off x="3411109" y="5645426"/>
            <a:ext cx="68380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non-terminal: if every production has a disjoint First+ set then</a:t>
            </a:r>
          </a:p>
          <a:p>
            <a:r>
              <a:rPr lang="en-US" i="1" dirty="0"/>
              <a:t>we do not need any backtracking!</a:t>
            </a:r>
          </a:p>
        </p:txBody>
      </p:sp>
    </p:spTree>
    <p:extLst>
      <p:ext uri="{BB962C8B-B14F-4D97-AF65-F5344CB8AC3E}">
        <p14:creationId xmlns:p14="http://schemas.microsoft.com/office/powerpoint/2010/main" val="28729483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4FEBC-3A73-C04F-A743-09F1E4528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need backtracking?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54B967-9F94-FC48-BE79-CBA15B9229DF}"/>
              </a:ext>
            </a:extLst>
          </p:cNvPr>
          <p:cNvSpPr/>
          <p:nvPr/>
        </p:nvSpPr>
        <p:spPr>
          <a:xfrm>
            <a:off x="290662" y="2699951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3EA1A-6A20-4046-A801-5C74CA5DFA71}"/>
              </a:ext>
            </a:extLst>
          </p:cNvPr>
          <p:cNvSpPr txBox="1"/>
          <p:nvPr/>
        </p:nvSpPr>
        <p:spPr>
          <a:xfrm>
            <a:off x="4548173" y="1470022"/>
            <a:ext cx="5389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The First+ set is the combination of First and Follow sets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7EA11D-76FA-D843-9610-E15BBD909065}"/>
              </a:ext>
            </a:extLst>
          </p:cNvPr>
          <p:cNvSpPr/>
          <p:nvPr/>
        </p:nvSpPr>
        <p:spPr>
          <a:xfrm>
            <a:off x="4611332" y="2422952"/>
            <a:ext cx="22755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00FF"/>
                </a:highlight>
                <a:latin typeface="Courier" pitchFamily="2" charset="0"/>
              </a:rPr>
              <a:t>1: {‘(‘, ID}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highlight>
                  <a:srgbClr val="00FFFF"/>
                </a:highlight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4: {‘(‘}</a:t>
            </a:r>
          </a:p>
          <a:p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5: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6: {‘+’}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7: {‘*’}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F4CA7B-DCAC-F444-BC5B-85F9BEE053ED}"/>
              </a:ext>
            </a:extLst>
          </p:cNvPr>
          <p:cNvSpPr txBox="1"/>
          <p:nvPr/>
        </p:nvSpPr>
        <p:spPr>
          <a:xfrm>
            <a:off x="1129128" y="5645426"/>
            <a:ext cx="68380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For each non-terminal: if every production has a </a:t>
            </a:r>
            <a:r>
              <a:rPr lang="en-US" b="1" i="1" dirty="0"/>
              <a:t>disjoint First+ set </a:t>
            </a:r>
            <a:r>
              <a:rPr lang="en-US" i="1" dirty="0"/>
              <a:t>then</a:t>
            </a:r>
          </a:p>
          <a:p>
            <a:r>
              <a:rPr lang="en-US" i="1" dirty="0"/>
              <a:t>we do not need any backtracking!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6E6165-908D-D340-9C24-C2A2DCA8EBE8}"/>
              </a:ext>
            </a:extLst>
          </p:cNvPr>
          <p:cNvSpPr txBox="1"/>
          <p:nvPr/>
        </p:nvSpPr>
        <p:spPr>
          <a:xfrm>
            <a:off x="7635018" y="2465117"/>
            <a:ext cx="445538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These grammars are called LL(1)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 - scanning the input left to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 - left derivation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1 - how many look ahead symbols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i="1" dirty="0"/>
              <a:t>They are also called predictive grammars </a:t>
            </a:r>
          </a:p>
          <a:p>
            <a:endParaRPr lang="en-US" sz="2000" i="1" dirty="0"/>
          </a:p>
          <a:p>
            <a:r>
              <a:rPr lang="en-US" sz="2000" dirty="0"/>
              <a:t>Many programming languages are LL(1)</a:t>
            </a:r>
          </a:p>
          <a:p>
            <a:endParaRPr lang="en-US" sz="2000" dirty="0"/>
          </a:p>
          <a:p>
            <a:r>
              <a:rPr lang="en-US" sz="2000" dirty="0"/>
              <a:t>None implies the end of the program.</a:t>
            </a:r>
          </a:p>
        </p:txBody>
      </p:sp>
    </p:spTree>
    <p:extLst>
      <p:ext uri="{BB962C8B-B14F-4D97-AF65-F5344CB8AC3E}">
        <p14:creationId xmlns:p14="http://schemas.microsoft.com/office/powerpoint/2010/main" val="140784465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112612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     # Array Indexing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     # function calling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4964760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746582" y="2432096"/>
            <a:ext cx="44825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{}</a:t>
            </a:r>
          </a:p>
          <a:p>
            <a:r>
              <a:rPr lang="en-US" dirty="0">
                <a:latin typeface="Courier" pitchFamily="2" charset="0"/>
              </a:rPr>
              <a:t>2: {}</a:t>
            </a:r>
          </a:p>
          <a:p>
            <a:r>
              <a:rPr lang="en-US" dirty="0">
                <a:latin typeface="Courier" pitchFamily="2" charset="0"/>
              </a:rPr>
              <a:t>3: {}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167904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746582" y="243209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1: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{ID}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A4E4DE-61A3-4340-954F-842324A7F958}"/>
              </a:ext>
            </a:extLst>
          </p:cNvPr>
          <p:cNvSpPr txBox="1"/>
          <p:nvPr/>
        </p:nvSpPr>
        <p:spPr>
          <a:xfrm>
            <a:off x="6958584" y="4059936"/>
            <a:ext cx="33089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We cannot select the next</a:t>
            </a:r>
            <a:br>
              <a:rPr lang="en-US" i="1" dirty="0"/>
            </a:br>
            <a:r>
              <a:rPr lang="en-US" i="1" dirty="0"/>
              <a:t>rule based on a single look ahead</a:t>
            </a:r>
          </a:p>
          <a:p>
            <a:r>
              <a:rPr lang="en-US" i="1" dirty="0"/>
              <a:t>token!</a:t>
            </a:r>
          </a:p>
        </p:txBody>
      </p:sp>
    </p:spTree>
    <p:extLst>
      <p:ext uri="{BB962C8B-B14F-4D97-AF65-F5344CB8AC3E}">
        <p14:creationId xmlns:p14="http://schemas.microsoft.com/office/powerpoint/2010/main" val="31617224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1023284" y="2432096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839124" y="2155097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{ID}</a:t>
            </a:r>
          </a:p>
          <a:p>
            <a:r>
              <a:rPr lang="en-US" dirty="0">
                <a:latin typeface="Courier" pitchFamily="2" charset="0"/>
              </a:rPr>
              <a:t>2: {ID}</a:t>
            </a:r>
          </a:p>
          <a:p>
            <a:r>
              <a:rPr lang="en-US" dirty="0">
                <a:latin typeface="Courier" pitchFamily="2" charset="0"/>
              </a:rPr>
              <a:t>3: {ID}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ED7205-21A7-9847-AFDB-0F7DD328AF82}"/>
              </a:ext>
            </a:extLst>
          </p:cNvPr>
          <p:cNvSpPr/>
          <p:nvPr/>
        </p:nvSpPr>
        <p:spPr>
          <a:xfrm>
            <a:off x="930742" y="5292546"/>
            <a:ext cx="52597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     ::= ID </a:t>
            </a:r>
            <a:r>
              <a:rPr lang="en-US" dirty="0" err="1">
                <a:latin typeface="Courier" pitchFamily="2" charset="0"/>
              </a:rPr>
              <a:t>Option_args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2: </a:t>
            </a:r>
            <a:r>
              <a:rPr lang="en-US" dirty="0" err="1">
                <a:latin typeface="Courier" pitchFamily="2" charset="0"/>
              </a:rPr>
              <a:t>Option_args</a:t>
            </a:r>
            <a:r>
              <a:rPr lang="en-US" dirty="0">
                <a:latin typeface="Courier" pitchFamily="2" charset="0"/>
              </a:rPr>
              <a:t> ::=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     |  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4:             |   “”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AAE05-AF36-EB44-A0BA-1F640DC24896}"/>
              </a:ext>
            </a:extLst>
          </p:cNvPr>
          <p:cNvSpPr txBox="1"/>
          <p:nvPr/>
        </p:nvSpPr>
        <p:spPr>
          <a:xfrm>
            <a:off x="979510" y="4523601"/>
            <a:ext cx="1672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refactor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BC75CF-7E9C-C347-B46F-D82D9FD87566}"/>
              </a:ext>
            </a:extLst>
          </p:cNvPr>
          <p:cNvSpPr/>
          <p:nvPr/>
        </p:nvSpPr>
        <p:spPr>
          <a:xfrm>
            <a:off x="6650865" y="5015547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{}</a:t>
            </a:r>
          </a:p>
          <a:p>
            <a:r>
              <a:rPr lang="en-US" dirty="0">
                <a:latin typeface="Courier" pitchFamily="2" charset="0"/>
              </a:rPr>
              <a:t>2: {}</a:t>
            </a:r>
          </a:p>
          <a:p>
            <a:r>
              <a:rPr lang="en-US" dirty="0">
                <a:latin typeface="Courier" pitchFamily="2" charset="0"/>
              </a:rPr>
              <a:t>3: {}</a:t>
            </a:r>
          </a:p>
          <a:p>
            <a:r>
              <a:rPr lang="en-US" dirty="0">
                <a:latin typeface="Courier" pitchFamily="2" charset="0"/>
              </a:rPr>
              <a:t>4: {}</a:t>
            </a:r>
          </a:p>
        </p:txBody>
      </p:sp>
    </p:spTree>
    <p:extLst>
      <p:ext uri="{BB962C8B-B14F-4D97-AF65-F5344CB8AC3E}">
        <p14:creationId xmlns:p14="http://schemas.microsoft.com/office/powerpoint/2010/main" val="48565451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746582" y="243209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{ID}</a:t>
            </a:r>
          </a:p>
          <a:p>
            <a:r>
              <a:rPr lang="en-US" dirty="0">
                <a:latin typeface="Courier" pitchFamily="2" charset="0"/>
              </a:rPr>
              <a:t>2: {ID}</a:t>
            </a:r>
          </a:p>
          <a:p>
            <a:r>
              <a:rPr lang="en-US" dirty="0">
                <a:latin typeface="Courier" pitchFamily="2" charset="0"/>
              </a:rPr>
              <a:t>3: {ID}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ED7205-21A7-9847-AFDB-0F7DD328AF82}"/>
              </a:ext>
            </a:extLst>
          </p:cNvPr>
          <p:cNvSpPr/>
          <p:nvPr/>
        </p:nvSpPr>
        <p:spPr>
          <a:xfrm>
            <a:off x="838200" y="5569545"/>
            <a:ext cx="52597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     ::= ID </a:t>
            </a:r>
            <a:r>
              <a:rPr lang="en-US" dirty="0" err="1">
                <a:latin typeface="Courier" pitchFamily="2" charset="0"/>
              </a:rPr>
              <a:t>Option_args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2: </a:t>
            </a:r>
            <a:r>
              <a:rPr lang="en-US" dirty="0" err="1">
                <a:latin typeface="Courier" pitchFamily="2" charset="0"/>
              </a:rPr>
              <a:t>Option_args</a:t>
            </a:r>
            <a:r>
              <a:rPr lang="en-US" dirty="0">
                <a:latin typeface="Courier" pitchFamily="2" charset="0"/>
              </a:rPr>
              <a:t> ::=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     |  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4:             |   “”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AAE05-AF36-EB44-A0BA-1F640DC24896}"/>
              </a:ext>
            </a:extLst>
          </p:cNvPr>
          <p:cNvSpPr txBox="1"/>
          <p:nvPr/>
        </p:nvSpPr>
        <p:spPr>
          <a:xfrm>
            <a:off x="886968" y="4800600"/>
            <a:ext cx="1672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refactor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BC75CF-7E9C-C347-B46F-D82D9FD87566}"/>
              </a:ext>
            </a:extLst>
          </p:cNvPr>
          <p:cNvSpPr/>
          <p:nvPr/>
        </p:nvSpPr>
        <p:spPr>
          <a:xfrm>
            <a:off x="6558323" y="529254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1: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{‘[‘}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{‘(‘}</a:t>
            </a:r>
          </a:p>
          <a:p>
            <a:r>
              <a:rPr lang="en-US" dirty="0">
                <a:latin typeface="Courier" pitchFamily="2" charset="0"/>
              </a:rPr>
              <a:t>4: {“”}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1BC30-4BA1-B54E-81ED-8ED36F82B131}"/>
              </a:ext>
            </a:extLst>
          </p:cNvPr>
          <p:cNvSpPr txBox="1"/>
          <p:nvPr/>
        </p:nvSpPr>
        <p:spPr>
          <a:xfrm>
            <a:off x="7872984" y="6400542"/>
            <a:ext cx="4043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// We will need to compute the follow set</a:t>
            </a:r>
          </a:p>
        </p:txBody>
      </p:sp>
    </p:spTree>
    <p:extLst>
      <p:ext uri="{BB962C8B-B14F-4D97-AF65-F5344CB8AC3E}">
        <p14:creationId xmlns:p14="http://schemas.microsoft.com/office/powerpoint/2010/main" val="24695744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Sometimes the grammar needs to be refactored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D006E1-1813-AB46-869B-3AEA24FA8B03}"/>
              </a:ext>
            </a:extLst>
          </p:cNvPr>
          <p:cNvSpPr/>
          <p:nvPr/>
        </p:nvSpPr>
        <p:spPr>
          <a:xfrm>
            <a:off x="930742" y="2709095"/>
            <a:ext cx="448250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::= ID</a:t>
            </a:r>
          </a:p>
          <a:p>
            <a:r>
              <a:rPr lang="en-US" dirty="0">
                <a:latin typeface="Courier" pitchFamily="2" charset="0"/>
              </a:rPr>
              <a:t>2:        |   ID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|   ID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135032-ED4F-4E48-A097-89D4AC31FC1A}"/>
              </a:ext>
            </a:extLst>
          </p:cNvPr>
          <p:cNvSpPr/>
          <p:nvPr/>
        </p:nvSpPr>
        <p:spPr>
          <a:xfrm>
            <a:off x="5746582" y="243209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{ID}</a:t>
            </a:r>
          </a:p>
          <a:p>
            <a:r>
              <a:rPr lang="en-US" dirty="0">
                <a:latin typeface="Courier" pitchFamily="2" charset="0"/>
              </a:rPr>
              <a:t>2: {ID}</a:t>
            </a:r>
          </a:p>
          <a:p>
            <a:r>
              <a:rPr lang="en-US" dirty="0">
                <a:latin typeface="Courier" pitchFamily="2" charset="0"/>
              </a:rPr>
              <a:t>3: {ID}</a:t>
            </a:r>
          </a:p>
          <a:p>
            <a:r>
              <a:rPr lang="en-US" dirty="0">
                <a:latin typeface="Courier" pitchFamily="2" charset="0"/>
              </a:rPr>
              <a:t>...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ED7205-21A7-9847-AFDB-0F7DD328AF82}"/>
              </a:ext>
            </a:extLst>
          </p:cNvPr>
          <p:cNvSpPr/>
          <p:nvPr/>
        </p:nvSpPr>
        <p:spPr>
          <a:xfrm>
            <a:off x="886968" y="5052145"/>
            <a:ext cx="525974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Factor      ::= ID </a:t>
            </a:r>
            <a:r>
              <a:rPr lang="en-US" dirty="0" err="1">
                <a:latin typeface="Courier" pitchFamily="2" charset="0"/>
              </a:rPr>
              <a:t>Option_args</a:t>
            </a:r>
            <a:endParaRPr lang="en-US" dirty="0">
              <a:latin typeface="Courier" pitchFamily="2" charset="0"/>
            </a:endParaRPr>
          </a:p>
          <a:p>
            <a:r>
              <a:rPr lang="en-US" dirty="0">
                <a:latin typeface="Courier" pitchFamily="2" charset="0"/>
              </a:rPr>
              <a:t>2: </a:t>
            </a:r>
            <a:r>
              <a:rPr lang="en-US" dirty="0" err="1">
                <a:latin typeface="Courier" pitchFamily="2" charset="0"/>
              </a:rPr>
              <a:t>Option_args</a:t>
            </a:r>
            <a:r>
              <a:rPr lang="en-US" dirty="0">
                <a:latin typeface="Courier" pitchFamily="2" charset="0"/>
              </a:rPr>
              <a:t> ::= ‘[‘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‘]’</a:t>
            </a:r>
          </a:p>
          <a:p>
            <a:r>
              <a:rPr lang="en-US" dirty="0">
                <a:latin typeface="Courier" pitchFamily="2" charset="0"/>
              </a:rPr>
              <a:t>3:             |   ‘(‘ </a:t>
            </a:r>
            <a:r>
              <a:rPr lang="en-US" dirty="0" err="1">
                <a:latin typeface="Courier" pitchFamily="2" charset="0"/>
              </a:rPr>
              <a:t>Args</a:t>
            </a:r>
            <a:r>
              <a:rPr lang="en-US" dirty="0">
                <a:latin typeface="Courier" pitchFamily="2" charset="0"/>
              </a:rPr>
              <a:t> ‘)’</a:t>
            </a:r>
          </a:p>
          <a:p>
            <a:r>
              <a:rPr lang="en-US" dirty="0">
                <a:latin typeface="Courier" pitchFamily="2" charset="0"/>
              </a:rPr>
              <a:t>4:             |   “”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AAE05-AF36-EB44-A0BA-1F640DC24896}"/>
              </a:ext>
            </a:extLst>
          </p:cNvPr>
          <p:cNvSpPr txBox="1"/>
          <p:nvPr/>
        </p:nvSpPr>
        <p:spPr>
          <a:xfrm>
            <a:off x="935736" y="4283200"/>
            <a:ext cx="1672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refactor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2CAF56-2EA5-364A-B9B2-E8666FA36AEE}"/>
              </a:ext>
            </a:extLst>
          </p:cNvPr>
          <p:cNvSpPr txBox="1"/>
          <p:nvPr/>
        </p:nvSpPr>
        <p:spPr>
          <a:xfrm>
            <a:off x="8339328" y="2379662"/>
            <a:ext cx="32144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It is not always possible to </a:t>
            </a:r>
          </a:p>
          <a:p>
            <a:r>
              <a:rPr lang="en-US" i="1" dirty="0"/>
              <a:t>rewrite any grammar into a</a:t>
            </a:r>
          </a:p>
          <a:p>
            <a:r>
              <a:rPr lang="en-US" i="1" dirty="0"/>
              <a:t>predictive form, but many</a:t>
            </a:r>
          </a:p>
          <a:p>
            <a:r>
              <a:rPr lang="en-US" i="1" dirty="0"/>
              <a:t>programming languages can be.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8570C3-F2D9-6D4D-AA7D-D892FDEF721E}"/>
              </a:ext>
            </a:extLst>
          </p:cNvPr>
          <p:cNvSpPr/>
          <p:nvPr/>
        </p:nvSpPr>
        <p:spPr>
          <a:xfrm>
            <a:off x="6607091" y="4775146"/>
            <a:ext cx="16234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highlight>
                  <a:srgbClr val="00FF00"/>
                </a:highlight>
                <a:latin typeface="Courier" pitchFamily="2" charset="0"/>
              </a:rPr>
              <a:t>1: {ID}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2: {‘[‘}</a:t>
            </a:r>
          </a:p>
          <a:p>
            <a:r>
              <a:rPr lang="en-US" dirty="0">
                <a:highlight>
                  <a:srgbClr val="FFFF00"/>
                </a:highlight>
                <a:latin typeface="Courier" pitchFamily="2" charset="0"/>
              </a:rPr>
              <a:t>3: {‘(‘}</a:t>
            </a:r>
          </a:p>
          <a:p>
            <a:r>
              <a:rPr lang="en-US" dirty="0">
                <a:latin typeface="Courier" pitchFamily="2" charset="0"/>
              </a:rPr>
              <a:t>4: {“”}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847865-7BAF-E042-8CFD-EDF1CC5DE686}"/>
              </a:ext>
            </a:extLst>
          </p:cNvPr>
          <p:cNvSpPr txBox="1"/>
          <p:nvPr/>
        </p:nvSpPr>
        <p:spPr>
          <a:xfrm>
            <a:off x="7921752" y="5883142"/>
            <a:ext cx="40438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// We will need to compute the follow set</a:t>
            </a:r>
            <a:br>
              <a:rPr lang="en-US" i="1" dirty="0"/>
            </a:br>
            <a:r>
              <a:rPr lang="en-US" i="1" dirty="0"/>
              <a:t>// to deal with the empty string, and get</a:t>
            </a:r>
          </a:p>
          <a:p>
            <a:r>
              <a:rPr lang="en-US" i="1" dirty="0"/>
              <a:t>// First+</a:t>
            </a:r>
          </a:p>
        </p:txBody>
      </p:sp>
    </p:spTree>
    <p:extLst>
      <p:ext uri="{BB962C8B-B14F-4D97-AF65-F5344CB8AC3E}">
        <p14:creationId xmlns:p14="http://schemas.microsoft.com/office/powerpoint/2010/main" val="390758397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AD758-013C-594A-9A4A-E7AF5230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131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We now have a full top-down parsing algorithm!</a:t>
            </a:r>
          </a:p>
        </p:txBody>
      </p:sp>
    </p:spTree>
    <p:extLst>
      <p:ext uri="{BB962C8B-B14F-4D97-AF65-F5344CB8AC3E}">
        <p14:creationId xmlns:p14="http://schemas.microsoft.com/office/powerpoint/2010/main" val="196382941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D1F5A85-E49B-0F45-99DD-0A4464DDCB81}"/>
              </a:ext>
            </a:extLst>
          </p:cNvPr>
          <p:cNvSpPr txBox="1"/>
          <p:nvPr/>
        </p:nvSpPr>
        <p:spPr>
          <a:xfrm>
            <a:off x="400591" y="291110"/>
            <a:ext cx="5985934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" pitchFamily="2" charset="0"/>
              </a:rPr>
              <a:t>root = start symbol;</a:t>
            </a:r>
            <a:br>
              <a:rPr lang="en-US" sz="1600" dirty="0">
                <a:latin typeface="Courier" pitchFamily="2" charset="0"/>
              </a:rPr>
            </a:br>
            <a:r>
              <a:rPr lang="en-US" sz="1600" dirty="0">
                <a:latin typeface="Courier" pitchFamily="2" charset="0"/>
              </a:rPr>
              <a:t>focus = root;</a:t>
            </a:r>
          </a:p>
          <a:p>
            <a:r>
              <a:rPr lang="en-US" sz="1600" dirty="0">
                <a:latin typeface="Courier" pitchFamily="2" charset="0"/>
              </a:rPr>
              <a:t>push(None);</a:t>
            </a:r>
          </a:p>
          <a:p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();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while</a:t>
            </a:r>
            <a:r>
              <a:rPr lang="en-US" sz="1600" dirty="0">
                <a:latin typeface="Courier" pitchFamily="2" charset="0"/>
              </a:rPr>
              <a:t> (true):</a:t>
            </a:r>
          </a:p>
          <a:p>
            <a:r>
              <a:rPr lang="en-US" sz="1600" dirty="0">
                <a:latin typeface="Courier" pitchFamily="2" charset="0"/>
              </a:rPr>
              <a:t>  </a:t>
            </a:r>
            <a:r>
              <a:rPr lang="en-US" sz="1600" b="1" dirty="0">
                <a:latin typeface="Courier" pitchFamily="2" charset="0"/>
              </a:rPr>
              <a:t>if</a:t>
            </a:r>
            <a:r>
              <a:rPr lang="en-US" sz="1600" dirty="0">
                <a:latin typeface="Courier" pitchFamily="2" charset="0"/>
              </a:rPr>
              <a:t> (focus is a nonterminal)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>
                <a:highlight>
                  <a:srgbClr val="FFFF00"/>
                </a:highlight>
                <a:latin typeface="Courier" pitchFamily="2" charset="0"/>
              </a:rPr>
              <a:t>pick next rule (A ::= B1,B2,B3...BN);</a:t>
            </a:r>
          </a:p>
          <a:p>
            <a:r>
              <a:rPr lang="en-US" sz="1600" dirty="0">
                <a:latin typeface="Courier" pitchFamily="2" charset="0"/>
              </a:rPr>
              <a:t>    push(BN... B3, B2);</a:t>
            </a:r>
          </a:p>
          <a:p>
            <a:r>
              <a:rPr lang="en-US" sz="1600" dirty="0">
                <a:latin typeface="Courier" pitchFamily="2" charset="0"/>
              </a:rPr>
              <a:t>    focus = B1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(focus ==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)</a:t>
            </a:r>
          </a:p>
          <a:p>
            <a:r>
              <a:rPr lang="en-US" sz="1600" dirty="0">
                <a:latin typeface="Courier" pitchFamily="2" charset="0"/>
              </a:rPr>
              <a:t>    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 </a:t>
            </a:r>
            <a:r>
              <a:rPr lang="en-US" sz="1600" dirty="0" err="1">
                <a:latin typeface="Courier" pitchFamily="2" charset="0"/>
              </a:rPr>
              <a:t>s.token</a:t>
            </a:r>
            <a:r>
              <a:rPr lang="en-US" sz="1600" dirty="0">
                <a:latin typeface="Courier" pitchFamily="2" charset="0"/>
              </a:rPr>
              <a:t>()</a:t>
            </a:r>
          </a:p>
          <a:p>
            <a:r>
              <a:rPr lang="en-US" sz="1600" dirty="0">
                <a:latin typeface="Courier" pitchFamily="2" charset="0"/>
              </a:rPr>
              <a:t>    focus = pop()</a:t>
            </a:r>
          </a:p>
          <a:p>
            <a:endParaRPr lang="en-US" sz="1600" dirty="0">
              <a:latin typeface="Courier" pitchFamily="2" charset="0"/>
            </a:endParaRPr>
          </a:p>
          <a:p>
            <a:r>
              <a:rPr lang="en-US" sz="1600" b="1" dirty="0">
                <a:latin typeface="Courier" pitchFamily="2" charset="0"/>
              </a:rPr>
              <a:t>  else if </a:t>
            </a:r>
            <a:r>
              <a:rPr lang="en-US" sz="1600" dirty="0">
                <a:latin typeface="Courier" pitchFamily="2" charset="0"/>
              </a:rPr>
              <a:t>(</a:t>
            </a:r>
            <a:r>
              <a:rPr lang="en-US" sz="1600" dirty="0" err="1">
                <a:latin typeface="Courier" pitchFamily="2" charset="0"/>
              </a:rPr>
              <a:t>to_match</a:t>
            </a:r>
            <a:r>
              <a:rPr lang="en-US" sz="1600" dirty="0">
                <a:latin typeface="Courier" pitchFamily="2" charset="0"/>
              </a:rPr>
              <a:t> == None and focus == None) </a:t>
            </a:r>
          </a:p>
          <a:p>
            <a:r>
              <a:rPr lang="en-US" sz="1600" dirty="0">
                <a:latin typeface="Courier" pitchFamily="2" charset="0"/>
              </a:rPr>
              <a:t>    Accept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A103AB-5157-9743-BC3A-0C7404719604}"/>
              </a:ext>
            </a:extLst>
          </p:cNvPr>
          <p:cNvSpPr/>
          <p:nvPr/>
        </p:nvSpPr>
        <p:spPr>
          <a:xfrm>
            <a:off x="8191454" y="508669"/>
            <a:ext cx="3911601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1: Expr  ::= Unit Expr2</a:t>
            </a:r>
          </a:p>
          <a:p>
            <a:r>
              <a:rPr lang="en-US" dirty="0">
                <a:latin typeface="Courier" pitchFamily="2" charset="0"/>
              </a:rPr>
              <a:t>2: Expr2 ::= Op Unit Expr2</a:t>
            </a:r>
          </a:p>
          <a:p>
            <a:r>
              <a:rPr lang="en-US" dirty="0">
                <a:latin typeface="Courier" pitchFamily="2" charset="0"/>
              </a:rPr>
              <a:t>3:       | “”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Unit  ::= ‘(‘ Expr ‘)’</a:t>
            </a:r>
          </a:p>
          <a:p>
            <a:r>
              <a:rPr lang="en-US" dirty="0">
                <a:latin typeface="Courier" pitchFamily="2" charset="0"/>
              </a:rPr>
              <a:t>5:       |    ID</a:t>
            </a:r>
          </a:p>
          <a:p>
            <a:r>
              <a:rPr lang="en-US" dirty="0">
                <a:latin typeface="Courier" pitchFamily="2" charset="0"/>
              </a:rPr>
              <a:t>6: Op    ::= ‘+’</a:t>
            </a:r>
          </a:p>
          <a:p>
            <a:r>
              <a:rPr lang="en-US" dirty="0">
                <a:latin typeface="Courier" pitchFamily="2" charset="0"/>
              </a:rPr>
              <a:t>7:       |   ‘*’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0472EB-D5AC-5F46-882E-C08B54827B08}"/>
              </a:ext>
            </a:extLst>
          </p:cNvPr>
          <p:cNvSpPr/>
          <p:nvPr/>
        </p:nvSpPr>
        <p:spPr>
          <a:xfrm>
            <a:off x="5676807" y="231670"/>
            <a:ext cx="2275544" cy="230832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latin typeface="Courier" pitchFamily="2" charset="0"/>
              </a:rPr>
              <a:t>First+ sets: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1: {‘(‘, ID}</a:t>
            </a:r>
          </a:p>
          <a:p>
            <a:r>
              <a:rPr lang="en-US" dirty="0">
                <a:latin typeface="Courier" pitchFamily="2" charset="0"/>
              </a:rPr>
              <a:t>2: {‘+’, ‘*’}</a:t>
            </a:r>
          </a:p>
          <a:p>
            <a:r>
              <a:rPr lang="en-US" dirty="0">
                <a:latin typeface="Courier" pitchFamily="2" charset="0"/>
              </a:rPr>
              <a:t>3: {None, ’)’}</a:t>
            </a:r>
            <a:br>
              <a:rPr lang="en-US" dirty="0">
                <a:latin typeface="Courier" pitchFamily="2" charset="0"/>
              </a:rPr>
            </a:br>
            <a:r>
              <a:rPr lang="en-US" dirty="0">
                <a:latin typeface="Courier" pitchFamily="2" charset="0"/>
              </a:rPr>
              <a:t>4: {‘(‘}</a:t>
            </a:r>
          </a:p>
          <a:p>
            <a:r>
              <a:rPr lang="en-US" dirty="0">
                <a:latin typeface="Courier" pitchFamily="2" charset="0"/>
              </a:rPr>
              <a:t>5: {ID}</a:t>
            </a:r>
          </a:p>
          <a:p>
            <a:r>
              <a:rPr lang="en-US" dirty="0">
                <a:latin typeface="Courier" pitchFamily="2" charset="0"/>
              </a:rPr>
              <a:t>6: {‘+’}</a:t>
            </a:r>
          </a:p>
          <a:p>
            <a:r>
              <a:rPr lang="en-US" dirty="0">
                <a:latin typeface="Courier" pitchFamily="2" charset="0"/>
              </a:rPr>
              <a:t>7: {‘*’}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9C8629-3ADA-3C4A-93B6-1C3EF89C3734}"/>
              </a:ext>
            </a:extLst>
          </p:cNvPr>
          <p:cNvSpPr txBox="1"/>
          <p:nvPr/>
        </p:nvSpPr>
        <p:spPr>
          <a:xfrm>
            <a:off x="2388382" y="5167290"/>
            <a:ext cx="741523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To pick the next rule, compare </a:t>
            </a:r>
            <a:r>
              <a:rPr lang="en-US" dirty="0" err="1">
                <a:latin typeface="Courier" pitchFamily="2" charset="0"/>
              </a:rPr>
              <a:t>to_match</a:t>
            </a:r>
            <a:r>
              <a:rPr lang="en-US" dirty="0">
                <a:latin typeface="Courier" pitchFamily="2" charset="0"/>
              </a:rPr>
              <a:t> </a:t>
            </a:r>
            <a:r>
              <a:rPr lang="en-US" dirty="0"/>
              <a:t>with the possible </a:t>
            </a:r>
            <a:r>
              <a:rPr lang="en-US" dirty="0">
                <a:latin typeface="Courier" pitchFamily="2" charset="0"/>
              </a:rPr>
              <a:t>first+ </a:t>
            </a:r>
            <a:r>
              <a:rPr lang="en-US" dirty="0"/>
              <a:t>sets. </a:t>
            </a:r>
            <a:br>
              <a:rPr lang="en-US" dirty="0"/>
            </a:br>
            <a:r>
              <a:rPr lang="en-US" dirty="0"/>
              <a:t>Pick the rule whose </a:t>
            </a:r>
            <a:r>
              <a:rPr lang="en-US" dirty="0">
                <a:latin typeface="Courier" pitchFamily="2" charset="0"/>
              </a:rPr>
              <a:t>first+</a:t>
            </a:r>
            <a:r>
              <a:rPr lang="en-US" dirty="0"/>
              <a:t> set contains </a:t>
            </a:r>
            <a:r>
              <a:rPr lang="en-US" dirty="0" err="1">
                <a:latin typeface="Courier" pitchFamily="2" charset="0"/>
              </a:rPr>
              <a:t>to_match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there is no such rule then it is a parsing error.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F9E17-35AC-C040-866C-9B5BE2EAE0D8}"/>
              </a:ext>
            </a:extLst>
          </p:cNvPr>
          <p:cNvSpPr txBox="1"/>
          <p:nvPr/>
        </p:nvSpPr>
        <p:spPr>
          <a:xfrm>
            <a:off x="8823960" y="2768748"/>
            <a:ext cx="21779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 grammar,</a:t>
            </a:r>
            <a:br>
              <a:rPr lang="en-US" i="1" dirty="0"/>
            </a:br>
            <a:r>
              <a:rPr lang="en-US" i="1" dirty="0"/>
              <a:t>refactored to remove</a:t>
            </a:r>
            <a:br>
              <a:rPr lang="en-US" i="1" dirty="0"/>
            </a:br>
            <a:r>
              <a:rPr lang="en-US" i="1" dirty="0"/>
              <a:t>left recursion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97674A-E2F7-774B-9FDF-777EB93B5C45}"/>
              </a:ext>
            </a:extLst>
          </p:cNvPr>
          <p:cNvSpPr txBox="1"/>
          <p:nvPr/>
        </p:nvSpPr>
        <p:spPr>
          <a:xfrm>
            <a:off x="5849112" y="2768748"/>
            <a:ext cx="19349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First+ sets for each</a:t>
            </a:r>
            <a:br>
              <a:rPr lang="en-US" i="1" dirty="0"/>
            </a:br>
            <a:r>
              <a:rPr lang="en-US" i="1" dirty="0"/>
              <a:t>production rule</a:t>
            </a:r>
          </a:p>
        </p:txBody>
      </p:sp>
    </p:spTree>
    <p:extLst>
      <p:ext uri="{BB962C8B-B14F-4D97-AF65-F5344CB8AC3E}">
        <p14:creationId xmlns:p14="http://schemas.microsoft.com/office/powerpoint/2010/main" val="1468273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33445</TotalTime>
  <Words>6603</Words>
  <Application>Microsoft Office PowerPoint</Application>
  <PresentationFormat>Widescreen</PresentationFormat>
  <Paragraphs>1272</Paragraphs>
  <Slides>65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1" baseType="lpstr">
      <vt:lpstr>Arial</vt:lpstr>
      <vt:lpstr>Calibri</vt:lpstr>
      <vt:lpstr>Calibri Light</vt:lpstr>
      <vt:lpstr>Cambria Math</vt:lpstr>
      <vt:lpstr>Courier</vt:lpstr>
      <vt:lpstr>Office Theme</vt:lpstr>
      <vt:lpstr>CSE110A: Compilers</vt:lpstr>
      <vt:lpstr>ORACULARITY:  MAKING A BACKTRACK FREE LL(1) PARSER USING FIRST, FOLLOW and FIRST+ SETS</vt:lpstr>
      <vt:lpstr>New topic: Algorithms for parsing</vt:lpstr>
      <vt:lpstr>Top-down parsing</vt:lpstr>
      <vt:lpstr>Top-down parsing</vt:lpstr>
      <vt:lpstr>Top-down parsing</vt:lpstr>
      <vt:lpstr>Top-down parsing</vt:lpstr>
      <vt:lpstr>Top-down parsing</vt:lpstr>
      <vt:lpstr>Bottom-up parsing</vt:lpstr>
      <vt:lpstr>Bottom-up parsing</vt:lpstr>
      <vt:lpstr>Bottom-up parsing</vt:lpstr>
      <vt:lpstr>Bottom-up parsing</vt:lpstr>
      <vt:lpstr>Bottom up</vt:lpstr>
      <vt:lpstr>Let’s start with top-down parsing:         Two ways to implement the same idea:      1) LL(1) Push Down Automaton      2) Recursive Descent  </vt:lpstr>
      <vt:lpstr>  Top down, Table Driven:  LL(1) PDA Parser       Left to right processing with Leftmost derivation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Top down parsing does not handle left recursion</vt:lpstr>
      <vt:lpstr>Top down parsing does not handle left recursion</vt:lpstr>
      <vt:lpstr>Eliminating direct left recursion</vt:lpstr>
      <vt:lpstr>Eliminating direct left recursion</vt:lpstr>
      <vt:lpstr>Eliminating direct left recursion</vt:lpstr>
      <vt:lpstr>Eliminating direct left recursion</vt:lpstr>
      <vt:lpstr>Eliminating direct left recursion</vt:lpstr>
      <vt:lpstr>Eliminating direct left recursion</vt:lpstr>
      <vt:lpstr>Eliminating direct left recursion</vt:lpstr>
      <vt:lpstr>PowerPoint Presentation</vt:lpstr>
      <vt:lpstr>PowerPoint Presentation</vt:lpstr>
      <vt:lpstr>PowerPoint Presentation</vt:lpstr>
      <vt:lpstr>How about indirect left recursion?</vt:lpstr>
      <vt:lpstr>How about indirect left recursion?</vt:lpstr>
      <vt:lpstr>How about indirect left recursion?</vt:lpstr>
      <vt:lpstr>How about indirect left recursion?</vt:lpstr>
      <vt:lpstr>How about indirect left recursion?</vt:lpstr>
      <vt:lpstr>PowerPoint Presentation</vt:lpstr>
      <vt:lpstr>PowerPoint Presentation</vt:lpstr>
      <vt:lpstr>Backtracking gets complicated...</vt:lpstr>
      <vt:lpstr>PowerPoint Presentation</vt:lpstr>
      <vt:lpstr>The First Set</vt:lpstr>
      <vt:lpstr>The First Set</vt:lpstr>
      <vt:lpstr>The First Set</vt:lpstr>
      <vt:lpstr>PowerPoint Presentation</vt:lpstr>
      <vt:lpstr>The Follow Set</vt:lpstr>
      <vt:lpstr>The Follow Set</vt:lpstr>
      <vt:lpstr>The First+ Set</vt:lpstr>
      <vt:lpstr>The First+ Set</vt:lpstr>
      <vt:lpstr>Animation of First, Follow, and First+ Sets</vt:lpstr>
      <vt:lpstr>Do we need backtracking?</vt:lpstr>
      <vt:lpstr>Do we need backtracking?</vt:lpstr>
      <vt:lpstr>Do we need backtracking?</vt:lpstr>
      <vt:lpstr>Sometimes the grammar needs to be refactored</vt:lpstr>
      <vt:lpstr>Sometimes the grammar needs to be refactored</vt:lpstr>
      <vt:lpstr>Sometimes the grammar needs to be refactored</vt:lpstr>
      <vt:lpstr>Sometimes the grammar needs to be refactored</vt:lpstr>
      <vt:lpstr>Sometimes the grammar needs to be refactored</vt:lpstr>
      <vt:lpstr>Sometimes the grammar needs to be refactored</vt:lpstr>
      <vt:lpstr>We now have a full top-down parsing algorithm!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Tyler Sorensen</dc:creator>
  <cp:lastModifiedBy>Marcelo Siero</cp:lastModifiedBy>
  <cp:revision>591</cp:revision>
  <dcterms:created xsi:type="dcterms:W3CDTF">2021-03-23T23:59:42Z</dcterms:created>
  <dcterms:modified xsi:type="dcterms:W3CDTF">2026-01-29T12:29:51Z</dcterms:modified>
</cp:coreProperties>
</file>