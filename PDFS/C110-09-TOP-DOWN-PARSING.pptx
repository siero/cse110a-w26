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2"/>
  </p:notesMasterIdLst>
  <p:sldIdLst>
    <p:sldId id="257" r:id="rId2"/>
    <p:sldId id="1338" r:id="rId3"/>
    <p:sldId id="1207" r:id="rId4"/>
    <p:sldId id="1215" r:id="rId5"/>
    <p:sldId id="1214" r:id="rId6"/>
    <p:sldId id="1216" r:id="rId7"/>
    <p:sldId id="1217" r:id="rId8"/>
    <p:sldId id="1210" r:id="rId9"/>
    <p:sldId id="1219" r:id="rId10"/>
    <p:sldId id="1221" r:id="rId11"/>
    <p:sldId id="1222" r:id="rId12"/>
    <p:sldId id="1223" r:id="rId13"/>
    <p:sldId id="1211" r:id="rId14"/>
    <p:sldId id="1212" r:id="rId15"/>
    <p:sldId id="1343" r:id="rId16"/>
    <p:sldId id="1224" r:id="rId17"/>
    <p:sldId id="1339" r:id="rId18"/>
    <p:sldId id="1225" r:id="rId19"/>
    <p:sldId id="1340" r:id="rId20"/>
    <p:sldId id="1341" r:id="rId21"/>
    <p:sldId id="1342" r:id="rId22"/>
    <p:sldId id="1239" r:id="rId23"/>
    <p:sldId id="1226" r:id="rId24"/>
    <p:sldId id="1227" r:id="rId25"/>
    <p:sldId id="1213" r:id="rId26"/>
    <p:sldId id="1229" r:id="rId27"/>
    <p:sldId id="1228" r:id="rId28"/>
    <p:sldId id="1231" r:id="rId29"/>
    <p:sldId id="1232" r:id="rId30"/>
    <p:sldId id="1233" r:id="rId31"/>
    <p:sldId id="1235" r:id="rId32"/>
    <p:sldId id="1344" r:id="rId33"/>
    <p:sldId id="1245" r:id="rId34"/>
    <p:sldId id="1236" r:id="rId35"/>
    <p:sldId id="1237" r:id="rId36"/>
    <p:sldId id="1238" r:id="rId37"/>
    <p:sldId id="1240" r:id="rId38"/>
    <p:sldId id="1241" r:id="rId39"/>
    <p:sldId id="1242" r:id="rId40"/>
    <p:sldId id="1243" r:id="rId41"/>
    <p:sldId id="1244" r:id="rId42"/>
    <p:sldId id="1314" r:id="rId43"/>
    <p:sldId id="1349" r:id="rId44"/>
    <p:sldId id="1283" r:id="rId45"/>
    <p:sldId id="1257" r:id="rId46"/>
    <p:sldId id="1293" r:id="rId47"/>
    <p:sldId id="1286" r:id="rId48"/>
    <p:sldId id="1316" r:id="rId49"/>
    <p:sldId id="1287" r:id="rId50"/>
    <p:sldId id="1288" r:id="rId51"/>
    <p:sldId id="1292" r:id="rId52"/>
    <p:sldId id="1290" r:id="rId53"/>
    <p:sldId id="1317" r:id="rId54"/>
    <p:sldId id="1315" r:id="rId55"/>
    <p:sldId id="1345" r:id="rId56"/>
    <p:sldId id="1295" r:id="rId57"/>
    <p:sldId id="1296" r:id="rId58"/>
    <p:sldId id="1297" r:id="rId59"/>
    <p:sldId id="1262" r:id="rId60"/>
    <p:sldId id="1298" r:id="rId61"/>
    <p:sldId id="1299" r:id="rId62"/>
    <p:sldId id="1300" r:id="rId63"/>
    <p:sldId id="1301" r:id="rId64"/>
    <p:sldId id="1302" r:id="rId65"/>
    <p:sldId id="1264" r:id="rId66"/>
    <p:sldId id="1265" r:id="rId67"/>
    <p:sldId id="787" r:id="rId68"/>
    <p:sldId id="1346" r:id="rId69"/>
    <p:sldId id="1347" r:id="rId70"/>
    <p:sldId id="1348" r:id="rId71"/>
    <p:sldId id="1318" r:id="rId72"/>
    <p:sldId id="1319" r:id="rId73"/>
    <p:sldId id="1328" r:id="rId74"/>
    <p:sldId id="1329" r:id="rId75"/>
    <p:sldId id="1330" r:id="rId76"/>
    <p:sldId id="1331" r:id="rId77"/>
    <p:sldId id="1332" r:id="rId78"/>
    <p:sldId id="1333" r:id="rId79"/>
    <p:sldId id="1334" r:id="rId80"/>
    <p:sldId id="1335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71"/>
    <p:restoredTop sz="96405"/>
  </p:normalViewPr>
  <p:slideViewPr>
    <p:cSldViewPr snapToGrid="0" snapToObjects="1">
      <p:cViewPr varScale="1">
        <p:scale>
          <a:sx n="88" d="100"/>
          <a:sy n="88" d="100"/>
        </p:scale>
        <p:origin x="133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JhEmguMmfLU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97" y="16346"/>
            <a:ext cx="10515600" cy="1553757"/>
          </a:xfrm>
        </p:spPr>
        <p:txBody>
          <a:bodyPr/>
          <a:lstStyle/>
          <a:p>
            <a:r>
              <a:rPr lang="en-US" sz="5000" b="1" dirty="0"/>
              <a:t>CSE110A: Compilers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350" y="2242268"/>
            <a:ext cx="6901683" cy="4203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Topics</a:t>
            </a:r>
            <a:r>
              <a:rPr lang="en-US" dirty="0"/>
              <a:t>: Algorithms for Parsing</a:t>
            </a:r>
          </a:p>
          <a:p>
            <a:r>
              <a:rPr lang="en-US" i="1" dirty="0"/>
              <a:t>Syntactic Analysis continued </a:t>
            </a:r>
          </a:p>
          <a:p>
            <a:pPr lvl="1"/>
            <a:r>
              <a:rPr lang="en-US" i="1" dirty="0"/>
              <a:t>Top down parsing</a:t>
            </a:r>
          </a:p>
          <a:p>
            <a:pPr lvl="2"/>
            <a:r>
              <a:rPr lang="en-US" i="1" dirty="0"/>
              <a:t>Rewriting to avoid left recursion</a:t>
            </a:r>
          </a:p>
          <a:p>
            <a:pPr lvl="2"/>
            <a:r>
              <a:rPr lang="en-US" i="1" dirty="0"/>
              <a:t>Oracle Parsing</a:t>
            </a:r>
          </a:p>
          <a:p>
            <a:pPr lvl="2"/>
            <a:r>
              <a:rPr lang="en-US" i="1" dirty="0"/>
              <a:t>LL(1) Parser</a:t>
            </a:r>
          </a:p>
          <a:p>
            <a:pPr lvl="2"/>
            <a:r>
              <a:rPr lang="en-US" i="1" dirty="0"/>
              <a:t>A Recursive Descent Parser</a:t>
            </a:r>
          </a:p>
          <a:p>
            <a:pPr marL="457200" lvl="1" indent="0">
              <a:buNone/>
            </a:pPr>
            <a:endParaRPr lang="en-US" i="1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5BF4810-9B5C-0A4D-B2CE-2BC37B86A354}"/>
              </a:ext>
            </a:extLst>
          </p:cNvPr>
          <p:cNvSpPr/>
          <p:nvPr/>
        </p:nvSpPr>
        <p:spPr>
          <a:xfrm>
            <a:off x="10097167" y="2090808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286D8F-6730-F04B-9B5A-A73EFAB4D4E7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10119752" y="2402657"/>
            <a:ext cx="351930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12D8AA-0409-864E-9890-3FFB88503A5E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10471682" y="2402657"/>
            <a:ext cx="277238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95DC5A4-90C6-B14B-A382-11D393C99C64}"/>
              </a:ext>
            </a:extLst>
          </p:cNvPr>
          <p:cNvSpPr/>
          <p:nvPr/>
        </p:nvSpPr>
        <p:spPr>
          <a:xfrm>
            <a:off x="9722652" y="2720674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B8E1B2B-5DF2-E645-BAE4-3348D9F473F8}"/>
              </a:ext>
            </a:extLst>
          </p:cNvPr>
          <p:cNvSpPr/>
          <p:nvPr/>
        </p:nvSpPr>
        <p:spPr>
          <a:xfrm>
            <a:off x="10512211" y="2727971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2426A8-2722-164F-9E46-19F9E98727B2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10971844" y="3050112"/>
            <a:ext cx="328310" cy="311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AC218C-0E06-3C47-904B-D63E5F792510}"/>
              </a:ext>
            </a:extLst>
          </p:cNvPr>
          <p:cNvCxnSpPr>
            <a:cxnSpLocks/>
            <a:stCxn id="21" idx="4"/>
            <a:endCxn id="38" idx="0"/>
          </p:cNvCxnSpPr>
          <p:nvPr/>
        </p:nvCxnSpPr>
        <p:spPr>
          <a:xfrm flipH="1">
            <a:off x="10367706" y="3039820"/>
            <a:ext cx="519020" cy="311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D89F16C-A8D3-904A-8BD9-E3C751C9AD48}"/>
              </a:ext>
            </a:extLst>
          </p:cNvPr>
          <p:cNvSpPr/>
          <p:nvPr/>
        </p:nvSpPr>
        <p:spPr>
          <a:xfrm>
            <a:off x="10925639" y="3361398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D5099B9-D9EF-0A4E-8009-19E283A17159}"/>
              </a:ext>
            </a:extLst>
          </p:cNvPr>
          <p:cNvSpPr/>
          <p:nvPr/>
        </p:nvSpPr>
        <p:spPr>
          <a:xfrm>
            <a:off x="9993191" y="3351669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39" name="Snip Single Corner Rectangle 38">
            <a:extLst>
              <a:ext uri="{FF2B5EF4-FFF2-40B4-BE49-F238E27FC236}">
                <a16:creationId xmlns:a16="http://schemas.microsoft.com/office/drawing/2014/main" id="{F7AACD00-7B7A-7E4A-8E82-E00367CBE379}"/>
              </a:ext>
            </a:extLst>
          </p:cNvPr>
          <p:cNvSpPr/>
          <p:nvPr/>
        </p:nvSpPr>
        <p:spPr>
          <a:xfrm>
            <a:off x="7026095" y="2373274"/>
            <a:ext cx="1594022" cy="1235676"/>
          </a:xfrm>
          <a:prstGeom prst="snip1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int main() {</a:t>
            </a:r>
            <a:br>
              <a:rPr lang="en-US" sz="14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" pitchFamily="2" charset="0"/>
              </a:rPr>
              <a:t>printf</a:t>
            </a: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(““);</a:t>
            </a:r>
          </a:p>
          <a:p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 return 0;</a:t>
            </a:r>
            <a:br>
              <a:rPr lang="en-US" sz="14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}</a:t>
            </a: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D5C64FAD-A257-F54D-A462-4BA9F13CC36D}"/>
              </a:ext>
            </a:extLst>
          </p:cNvPr>
          <p:cNvSpPr/>
          <p:nvPr/>
        </p:nvSpPr>
        <p:spPr>
          <a:xfrm flipV="1">
            <a:off x="8796082" y="2700225"/>
            <a:ext cx="951875" cy="35445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E9D83-7E8E-F414-8502-BE993D0F7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1516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ORACULARITY: </a:t>
            </a:r>
            <a:br>
              <a:rPr lang="en-US" dirty="0"/>
            </a:br>
            <a:r>
              <a:rPr lang="en-US" dirty="0"/>
              <a:t>MAKING A BACKTRACK FREE LL(1) PARSER</a:t>
            </a:r>
            <a:br>
              <a:rPr lang="en-US" dirty="0"/>
            </a:br>
            <a:r>
              <a:rPr lang="en-US" dirty="0"/>
              <a:t>USING FIRST, FOLLOW and FIRST+ SETS</a:t>
            </a:r>
          </a:p>
        </p:txBody>
      </p:sp>
    </p:spTree>
    <p:extLst>
      <p:ext uri="{BB962C8B-B14F-4D97-AF65-F5344CB8AC3E}">
        <p14:creationId xmlns:p14="http://schemas.microsoft.com/office/powerpoint/2010/main" val="731168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topic: Algorithms for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A8B6C-1677-A145-80FA-B986C75DF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One goal:</a:t>
            </a:r>
          </a:p>
          <a:p>
            <a:r>
              <a:rPr lang="en-US" dirty="0"/>
              <a:t>Given a string </a:t>
            </a:r>
            <a:r>
              <a:rPr lang="en-US" i="1" dirty="0"/>
              <a:t>s </a:t>
            </a:r>
            <a:r>
              <a:rPr lang="en-US" dirty="0"/>
              <a:t>and a CFG </a:t>
            </a:r>
            <a:r>
              <a:rPr lang="en-US" i="1" dirty="0"/>
              <a:t>G, </a:t>
            </a:r>
            <a:r>
              <a:rPr lang="en-US" dirty="0"/>
              <a:t>determine if </a:t>
            </a:r>
            <a:r>
              <a:rPr lang="en-US" i="1" dirty="0"/>
              <a:t>G </a:t>
            </a:r>
            <a:r>
              <a:rPr lang="en-US" dirty="0"/>
              <a:t>can derive </a:t>
            </a:r>
            <a:r>
              <a:rPr lang="en-US" i="1" dirty="0"/>
              <a:t>s</a:t>
            </a:r>
          </a:p>
          <a:p>
            <a:endParaRPr lang="en-US" i="1" dirty="0"/>
          </a:p>
          <a:p>
            <a:r>
              <a:rPr lang="en-US" dirty="0"/>
              <a:t>We will do that by implicitly attempting to derive a parse tree for </a:t>
            </a:r>
            <a:r>
              <a:rPr lang="en-US" i="1" dirty="0"/>
              <a:t>S</a:t>
            </a:r>
          </a:p>
          <a:p>
            <a:endParaRPr lang="en-US" i="1" dirty="0"/>
          </a:p>
          <a:p>
            <a:r>
              <a:rPr lang="en-US" dirty="0"/>
              <a:t>Two different approaches, each with different trade-offs:</a:t>
            </a:r>
          </a:p>
          <a:p>
            <a:pPr lvl="1"/>
            <a:r>
              <a:rPr lang="en-US" dirty="0"/>
              <a:t>Top down</a:t>
            </a:r>
          </a:p>
          <a:p>
            <a:pPr lvl="1"/>
            <a:r>
              <a:rPr lang="en-US" dirty="0"/>
              <a:t>Bottom up</a:t>
            </a:r>
          </a:p>
          <a:p>
            <a:pPr lvl="1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962488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E665-2790-4748-91A5-CC593729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9E57A-0D3B-2146-91D0-E7B5FFEB8FDF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26B9B-EE62-DD47-9DF0-65032A60A1F0}"/>
              </a:ext>
            </a:extLst>
          </p:cNvPr>
          <p:cNvSpPr txBox="1"/>
          <p:nvPr/>
        </p:nvSpPr>
        <p:spPr>
          <a:xfrm>
            <a:off x="8940202" y="238335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0BE49D3B-816D-BB40-BE56-D150BDA1453B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170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E665-2790-4748-91A5-CC593729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9E57A-0D3B-2146-91D0-E7B5FFEB8FDF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26B9B-EE62-DD47-9DF0-65032A60A1F0}"/>
              </a:ext>
            </a:extLst>
          </p:cNvPr>
          <p:cNvSpPr txBox="1"/>
          <p:nvPr/>
        </p:nvSpPr>
        <p:spPr>
          <a:xfrm>
            <a:off x="8940202" y="238335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9B5085-8B58-9047-BFA2-7EEA355D5851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604298" y="275268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845676-7B0E-A744-8035-FC6C51235645}"/>
              </a:ext>
            </a:extLst>
          </p:cNvPr>
          <p:cNvSpPr txBox="1"/>
          <p:nvPr/>
        </p:nvSpPr>
        <p:spPr>
          <a:xfrm>
            <a:off x="7305306" y="328932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A0A3DE-DAB2-584D-8B00-E25DA8F51658}"/>
              </a:ext>
            </a:extLst>
          </p:cNvPr>
          <p:cNvCxnSpPr>
            <a:cxnSpLocks/>
            <a:stCxn id="22" idx="2"/>
            <a:endCxn id="27" idx="0"/>
          </p:cNvCxnSpPr>
          <p:nvPr/>
        </p:nvCxnSpPr>
        <p:spPr>
          <a:xfrm flipH="1">
            <a:off x="9237530" y="2752683"/>
            <a:ext cx="1664" cy="5486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610BA1-71CB-CE43-8A7A-83423AC89B9B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9239194" y="275268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442671-D225-3B42-8393-D3E237285666}"/>
              </a:ext>
            </a:extLst>
          </p:cNvPr>
          <p:cNvSpPr txBox="1"/>
          <p:nvPr/>
        </p:nvSpPr>
        <p:spPr>
          <a:xfrm>
            <a:off x="8797409" y="330133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71D16C-FE57-6542-AB7F-AC93685188CC}"/>
              </a:ext>
            </a:extLst>
          </p:cNvPr>
          <p:cNvSpPr txBox="1"/>
          <p:nvPr/>
        </p:nvSpPr>
        <p:spPr>
          <a:xfrm>
            <a:off x="10065870" y="3327336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0BE49D3B-816D-BB40-BE56-D150BDA14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405359"/>
              </p:ext>
            </p:extLst>
          </p:nvPr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468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E665-2790-4748-91A5-CC593729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9E57A-0D3B-2146-91D0-E7B5FFEB8FDF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26B9B-EE62-DD47-9DF0-65032A60A1F0}"/>
              </a:ext>
            </a:extLst>
          </p:cNvPr>
          <p:cNvSpPr txBox="1"/>
          <p:nvPr/>
        </p:nvSpPr>
        <p:spPr>
          <a:xfrm>
            <a:off x="8940202" y="238335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9B5085-8B58-9047-BFA2-7EEA355D5851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604298" y="275268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845676-7B0E-A744-8035-FC6C51235645}"/>
              </a:ext>
            </a:extLst>
          </p:cNvPr>
          <p:cNvSpPr txBox="1"/>
          <p:nvPr/>
        </p:nvSpPr>
        <p:spPr>
          <a:xfrm>
            <a:off x="7305306" y="328932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A0A3DE-DAB2-584D-8B00-E25DA8F51658}"/>
              </a:ext>
            </a:extLst>
          </p:cNvPr>
          <p:cNvCxnSpPr>
            <a:cxnSpLocks/>
            <a:stCxn id="22" idx="2"/>
            <a:endCxn id="27" idx="0"/>
          </p:cNvCxnSpPr>
          <p:nvPr/>
        </p:nvCxnSpPr>
        <p:spPr>
          <a:xfrm flipH="1">
            <a:off x="9237530" y="2752683"/>
            <a:ext cx="1664" cy="5486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610BA1-71CB-CE43-8A7A-83423AC89B9B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9239194" y="275268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442671-D225-3B42-8393-D3E237285666}"/>
              </a:ext>
            </a:extLst>
          </p:cNvPr>
          <p:cNvSpPr txBox="1"/>
          <p:nvPr/>
        </p:nvSpPr>
        <p:spPr>
          <a:xfrm>
            <a:off x="8797409" y="330133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71D16C-FE57-6542-AB7F-AC93685188CC}"/>
              </a:ext>
            </a:extLst>
          </p:cNvPr>
          <p:cNvSpPr txBox="1"/>
          <p:nvPr/>
        </p:nvSpPr>
        <p:spPr>
          <a:xfrm>
            <a:off x="10065870" y="3327336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52885A3-6BE5-7D42-8A94-CF854CD5FD7F}"/>
              </a:ext>
            </a:extLst>
          </p:cNvPr>
          <p:cNvCxnSpPr>
            <a:cxnSpLocks/>
          </p:cNvCxnSpPr>
          <p:nvPr/>
        </p:nvCxnSpPr>
        <p:spPr>
          <a:xfrm flipH="1">
            <a:off x="6346596" y="369151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8DB1A2E-4C32-D44C-B84D-190036F705CF}"/>
              </a:ext>
            </a:extLst>
          </p:cNvPr>
          <p:cNvCxnSpPr>
            <a:cxnSpLocks/>
          </p:cNvCxnSpPr>
          <p:nvPr/>
        </p:nvCxnSpPr>
        <p:spPr>
          <a:xfrm>
            <a:off x="7570969" y="369151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AE77E6E-1FFC-634F-BAF7-773D7C81AF6A}"/>
              </a:ext>
            </a:extLst>
          </p:cNvPr>
          <p:cNvCxnSpPr>
            <a:cxnSpLocks/>
          </p:cNvCxnSpPr>
          <p:nvPr/>
        </p:nvCxnSpPr>
        <p:spPr>
          <a:xfrm>
            <a:off x="7570969" y="369151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090420-3C40-7C42-95B3-A085D090CE91}"/>
              </a:ext>
            </a:extLst>
          </p:cNvPr>
          <p:cNvSpPr txBox="1"/>
          <p:nvPr/>
        </p:nvSpPr>
        <p:spPr>
          <a:xfrm>
            <a:off x="7113396" y="4158612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E40AC4-1F57-DD41-AB5D-B44DC87980FC}"/>
              </a:ext>
            </a:extLst>
          </p:cNvPr>
          <p:cNvSpPr txBox="1"/>
          <p:nvPr/>
        </p:nvSpPr>
        <p:spPr>
          <a:xfrm>
            <a:off x="6047604" y="412721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8CD15D-AD44-1B41-B9C2-5B6F8C1D4CEF}"/>
              </a:ext>
            </a:extLst>
          </p:cNvPr>
          <p:cNvSpPr txBox="1"/>
          <p:nvPr/>
        </p:nvSpPr>
        <p:spPr>
          <a:xfrm>
            <a:off x="8099703" y="417163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0BE49D3B-816D-BB40-BE56-D150BDA1453B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9097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E665-2790-4748-91A5-CC593729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9E57A-0D3B-2146-91D0-E7B5FFEB8FDF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26B9B-EE62-DD47-9DF0-65032A60A1F0}"/>
              </a:ext>
            </a:extLst>
          </p:cNvPr>
          <p:cNvSpPr txBox="1"/>
          <p:nvPr/>
        </p:nvSpPr>
        <p:spPr>
          <a:xfrm>
            <a:off x="8940202" y="238335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9B5085-8B58-9047-BFA2-7EEA355D5851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604298" y="275268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845676-7B0E-A744-8035-FC6C51235645}"/>
              </a:ext>
            </a:extLst>
          </p:cNvPr>
          <p:cNvSpPr txBox="1"/>
          <p:nvPr/>
        </p:nvSpPr>
        <p:spPr>
          <a:xfrm>
            <a:off x="7305306" y="328932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A0A3DE-DAB2-584D-8B00-E25DA8F51658}"/>
              </a:ext>
            </a:extLst>
          </p:cNvPr>
          <p:cNvCxnSpPr>
            <a:cxnSpLocks/>
            <a:stCxn id="22" idx="2"/>
            <a:endCxn id="27" idx="0"/>
          </p:cNvCxnSpPr>
          <p:nvPr/>
        </p:nvCxnSpPr>
        <p:spPr>
          <a:xfrm flipH="1">
            <a:off x="9237530" y="2752683"/>
            <a:ext cx="1664" cy="5486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610BA1-71CB-CE43-8A7A-83423AC89B9B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9239194" y="275268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442671-D225-3B42-8393-D3E237285666}"/>
              </a:ext>
            </a:extLst>
          </p:cNvPr>
          <p:cNvSpPr txBox="1"/>
          <p:nvPr/>
        </p:nvSpPr>
        <p:spPr>
          <a:xfrm>
            <a:off x="8797409" y="330133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71D16C-FE57-6542-AB7F-AC93685188CC}"/>
              </a:ext>
            </a:extLst>
          </p:cNvPr>
          <p:cNvSpPr txBox="1"/>
          <p:nvPr/>
        </p:nvSpPr>
        <p:spPr>
          <a:xfrm>
            <a:off x="10065870" y="3327336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52885A3-6BE5-7D42-8A94-CF854CD5FD7F}"/>
              </a:ext>
            </a:extLst>
          </p:cNvPr>
          <p:cNvCxnSpPr>
            <a:cxnSpLocks/>
          </p:cNvCxnSpPr>
          <p:nvPr/>
        </p:nvCxnSpPr>
        <p:spPr>
          <a:xfrm flipH="1">
            <a:off x="6346596" y="369151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8DB1A2E-4C32-D44C-B84D-190036F705CF}"/>
              </a:ext>
            </a:extLst>
          </p:cNvPr>
          <p:cNvCxnSpPr>
            <a:cxnSpLocks/>
          </p:cNvCxnSpPr>
          <p:nvPr/>
        </p:nvCxnSpPr>
        <p:spPr>
          <a:xfrm>
            <a:off x="7570969" y="369151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AE77E6E-1FFC-634F-BAF7-773D7C81AF6A}"/>
              </a:ext>
            </a:extLst>
          </p:cNvPr>
          <p:cNvCxnSpPr>
            <a:cxnSpLocks/>
          </p:cNvCxnSpPr>
          <p:nvPr/>
        </p:nvCxnSpPr>
        <p:spPr>
          <a:xfrm>
            <a:off x="7570969" y="369151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090420-3C40-7C42-95B3-A085D090CE91}"/>
              </a:ext>
            </a:extLst>
          </p:cNvPr>
          <p:cNvSpPr txBox="1"/>
          <p:nvPr/>
        </p:nvSpPr>
        <p:spPr>
          <a:xfrm>
            <a:off x="7113396" y="4158612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E40AC4-1F57-DD41-AB5D-B44DC87980FC}"/>
              </a:ext>
            </a:extLst>
          </p:cNvPr>
          <p:cNvSpPr txBox="1"/>
          <p:nvPr/>
        </p:nvSpPr>
        <p:spPr>
          <a:xfrm>
            <a:off x="6047604" y="412721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119C9D-3115-CE48-BDD6-4BA3B36AA80D}"/>
              </a:ext>
            </a:extLst>
          </p:cNvPr>
          <p:cNvSpPr txBox="1"/>
          <p:nvPr/>
        </p:nvSpPr>
        <p:spPr>
          <a:xfrm>
            <a:off x="5778171" y="476225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8F2B1A1-B2D9-8E4E-9E0B-A425C5B7AFBF}"/>
              </a:ext>
            </a:extLst>
          </p:cNvPr>
          <p:cNvCxnSpPr>
            <a:cxnSpLocks/>
          </p:cNvCxnSpPr>
          <p:nvPr/>
        </p:nvCxnSpPr>
        <p:spPr>
          <a:xfrm flipH="1">
            <a:off x="6345650" y="449160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68CD15D-AD44-1B41-B9C2-5B6F8C1D4CEF}"/>
              </a:ext>
            </a:extLst>
          </p:cNvPr>
          <p:cNvSpPr txBox="1"/>
          <p:nvPr/>
        </p:nvSpPr>
        <p:spPr>
          <a:xfrm>
            <a:off x="8099703" y="417163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0BE49D3B-816D-BB40-BE56-D150BDA1453B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34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A8B6C-1677-A145-80FA-B986C75DF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064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Pros:</a:t>
            </a:r>
          </a:p>
          <a:p>
            <a:r>
              <a:rPr lang="en-US" dirty="0"/>
              <a:t>Algorithm is simpler</a:t>
            </a:r>
          </a:p>
          <a:p>
            <a:r>
              <a:rPr lang="en-US" dirty="0"/>
              <a:t>Oftentimes faster than bottom-up</a:t>
            </a:r>
          </a:p>
          <a:p>
            <a:r>
              <a:rPr lang="en-US" dirty="0"/>
              <a:t>Better Error Messages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Cons:</a:t>
            </a:r>
          </a:p>
          <a:p>
            <a:r>
              <a:rPr lang="en-US" dirty="0"/>
              <a:t>Not efficient on arbitrary grammars</a:t>
            </a:r>
          </a:p>
          <a:p>
            <a:r>
              <a:rPr lang="en-US" dirty="0"/>
              <a:t>Many grammars need to be re-written</a:t>
            </a:r>
          </a:p>
          <a:p>
            <a:r>
              <a:rPr lang="en-US" dirty="0"/>
              <a:t>More effective error recovery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85400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56B4-A8C7-9043-BF91-36C20EA1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96028-374C-E247-8480-F99B5B084222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7A605-CC1D-B34D-8B65-3082C5CE2C0E}"/>
              </a:ext>
            </a:extLst>
          </p:cNvPr>
          <p:cNvSpPr txBox="1"/>
          <p:nvPr/>
        </p:nvSpPr>
        <p:spPr>
          <a:xfrm>
            <a:off x="9322342" y="475898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D7507-5650-6C46-BBDE-25E654AD1CBC}"/>
              </a:ext>
            </a:extLst>
          </p:cNvPr>
          <p:cNvSpPr txBox="1"/>
          <p:nvPr/>
        </p:nvSpPr>
        <p:spPr>
          <a:xfrm>
            <a:off x="10287396" y="4749407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62DF9-ADE8-ED41-BDBD-D0BE7758EE0C}"/>
              </a:ext>
            </a:extLst>
          </p:cNvPr>
          <p:cNvSpPr txBox="1"/>
          <p:nvPr/>
        </p:nvSpPr>
        <p:spPr>
          <a:xfrm>
            <a:off x="7045663" y="474940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1A14F-DA99-6643-8061-70C6D25358D5}"/>
              </a:ext>
            </a:extLst>
          </p:cNvPr>
          <p:cNvSpPr txBox="1"/>
          <p:nvPr/>
        </p:nvSpPr>
        <p:spPr>
          <a:xfrm>
            <a:off x="5778171" y="476225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31DA22-288A-8242-9B14-25E66747E4FD}"/>
              </a:ext>
            </a:extLst>
          </p:cNvPr>
          <p:cNvSpPr txBox="1"/>
          <p:nvPr/>
        </p:nvSpPr>
        <p:spPr>
          <a:xfrm>
            <a:off x="8100679" y="474940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EA4F2610-FF45-4643-9F07-FA1468E7CF9A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306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56B4-A8C7-9043-BF91-36C20EA1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96028-374C-E247-8480-F99B5B084222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7A605-CC1D-B34D-8B65-3082C5CE2C0E}"/>
              </a:ext>
            </a:extLst>
          </p:cNvPr>
          <p:cNvSpPr txBox="1"/>
          <p:nvPr/>
        </p:nvSpPr>
        <p:spPr>
          <a:xfrm>
            <a:off x="9322342" y="475898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D7507-5650-6C46-BBDE-25E654AD1CBC}"/>
              </a:ext>
            </a:extLst>
          </p:cNvPr>
          <p:cNvSpPr txBox="1"/>
          <p:nvPr/>
        </p:nvSpPr>
        <p:spPr>
          <a:xfrm>
            <a:off x="10287396" y="4749407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62DF9-ADE8-ED41-BDBD-D0BE7758EE0C}"/>
              </a:ext>
            </a:extLst>
          </p:cNvPr>
          <p:cNvSpPr txBox="1"/>
          <p:nvPr/>
        </p:nvSpPr>
        <p:spPr>
          <a:xfrm>
            <a:off x="7045663" y="474940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1A14F-DA99-6643-8061-70C6D25358D5}"/>
              </a:ext>
            </a:extLst>
          </p:cNvPr>
          <p:cNvSpPr txBox="1"/>
          <p:nvPr/>
        </p:nvSpPr>
        <p:spPr>
          <a:xfrm>
            <a:off x="5778171" y="476225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31DA22-288A-8242-9B14-25E66747E4FD}"/>
              </a:ext>
            </a:extLst>
          </p:cNvPr>
          <p:cNvSpPr txBox="1"/>
          <p:nvPr/>
        </p:nvSpPr>
        <p:spPr>
          <a:xfrm>
            <a:off x="8100679" y="474940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EA4F2610-FF45-4643-9F07-FA1468E7CF9A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59B72B5-5270-3C47-89B2-406DE3228AB8}"/>
              </a:ext>
            </a:extLst>
          </p:cNvPr>
          <p:cNvSpPr txBox="1"/>
          <p:nvPr/>
        </p:nvSpPr>
        <p:spPr>
          <a:xfrm>
            <a:off x="6047604" y="412721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D01DE7-863F-0A42-AB66-1A07BD76278F}"/>
              </a:ext>
            </a:extLst>
          </p:cNvPr>
          <p:cNvCxnSpPr>
            <a:cxnSpLocks/>
          </p:cNvCxnSpPr>
          <p:nvPr/>
        </p:nvCxnSpPr>
        <p:spPr>
          <a:xfrm flipH="1">
            <a:off x="6345650" y="449160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317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56B4-A8C7-9043-BF91-36C20EA1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96028-374C-E247-8480-F99B5B084222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7A605-CC1D-B34D-8B65-3082C5CE2C0E}"/>
              </a:ext>
            </a:extLst>
          </p:cNvPr>
          <p:cNvSpPr txBox="1"/>
          <p:nvPr/>
        </p:nvSpPr>
        <p:spPr>
          <a:xfrm>
            <a:off x="9322342" y="475898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D7507-5650-6C46-BBDE-25E654AD1CBC}"/>
              </a:ext>
            </a:extLst>
          </p:cNvPr>
          <p:cNvSpPr txBox="1"/>
          <p:nvPr/>
        </p:nvSpPr>
        <p:spPr>
          <a:xfrm>
            <a:off x="10287396" y="4749407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62DF9-ADE8-ED41-BDBD-D0BE7758EE0C}"/>
              </a:ext>
            </a:extLst>
          </p:cNvPr>
          <p:cNvSpPr txBox="1"/>
          <p:nvPr/>
        </p:nvSpPr>
        <p:spPr>
          <a:xfrm>
            <a:off x="7045663" y="474940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1A14F-DA99-6643-8061-70C6D25358D5}"/>
              </a:ext>
            </a:extLst>
          </p:cNvPr>
          <p:cNvSpPr txBox="1"/>
          <p:nvPr/>
        </p:nvSpPr>
        <p:spPr>
          <a:xfrm>
            <a:off x="5778171" y="476225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31DA22-288A-8242-9B14-25E66747E4FD}"/>
              </a:ext>
            </a:extLst>
          </p:cNvPr>
          <p:cNvSpPr txBox="1"/>
          <p:nvPr/>
        </p:nvSpPr>
        <p:spPr>
          <a:xfrm>
            <a:off x="8100679" y="474940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EA4F2610-FF45-4643-9F07-FA1468E7CF9A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59B72B5-5270-3C47-89B2-406DE3228AB8}"/>
              </a:ext>
            </a:extLst>
          </p:cNvPr>
          <p:cNvSpPr txBox="1"/>
          <p:nvPr/>
        </p:nvSpPr>
        <p:spPr>
          <a:xfrm>
            <a:off x="6047604" y="412721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D01DE7-863F-0A42-AB66-1A07BD76278F}"/>
              </a:ext>
            </a:extLst>
          </p:cNvPr>
          <p:cNvCxnSpPr>
            <a:cxnSpLocks/>
          </p:cNvCxnSpPr>
          <p:nvPr/>
        </p:nvCxnSpPr>
        <p:spPr>
          <a:xfrm flipH="1">
            <a:off x="6345650" y="449160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0246ABC-0F77-F940-9EC3-DFAEF3B95C57}"/>
              </a:ext>
            </a:extLst>
          </p:cNvPr>
          <p:cNvSpPr txBox="1"/>
          <p:nvPr/>
        </p:nvSpPr>
        <p:spPr>
          <a:xfrm>
            <a:off x="7199032" y="3341169"/>
            <a:ext cx="59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0C7FD4-A71C-5449-8916-3E412FC4F161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464695" y="3743352"/>
            <a:ext cx="21089" cy="1006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344B44-12E9-654E-A64C-92E692393FA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464695" y="3743352"/>
            <a:ext cx="21089" cy="1006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49A2A3D-7C4A-3749-9D3D-11113088B1C6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660559" y="3710501"/>
            <a:ext cx="1008545" cy="10389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CA9EDB-5136-6044-B0C6-5D36F654071D}"/>
              </a:ext>
            </a:extLst>
          </p:cNvPr>
          <p:cNvCxnSpPr>
            <a:cxnSpLocks/>
          </p:cNvCxnSpPr>
          <p:nvPr/>
        </p:nvCxnSpPr>
        <p:spPr>
          <a:xfrm flipH="1">
            <a:off x="6583819" y="3743352"/>
            <a:ext cx="756173" cy="383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264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56B4-A8C7-9043-BF91-36C20EA1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96028-374C-E247-8480-F99B5B084222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7A605-CC1D-B34D-8B65-3082C5CE2C0E}"/>
              </a:ext>
            </a:extLst>
          </p:cNvPr>
          <p:cNvSpPr txBox="1"/>
          <p:nvPr/>
        </p:nvSpPr>
        <p:spPr>
          <a:xfrm>
            <a:off x="9322342" y="475898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D7507-5650-6C46-BBDE-25E654AD1CBC}"/>
              </a:ext>
            </a:extLst>
          </p:cNvPr>
          <p:cNvSpPr txBox="1"/>
          <p:nvPr/>
        </p:nvSpPr>
        <p:spPr>
          <a:xfrm>
            <a:off x="10287396" y="4749407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62DF9-ADE8-ED41-BDBD-D0BE7758EE0C}"/>
              </a:ext>
            </a:extLst>
          </p:cNvPr>
          <p:cNvSpPr txBox="1"/>
          <p:nvPr/>
        </p:nvSpPr>
        <p:spPr>
          <a:xfrm>
            <a:off x="7045663" y="474940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1A14F-DA99-6643-8061-70C6D25358D5}"/>
              </a:ext>
            </a:extLst>
          </p:cNvPr>
          <p:cNvSpPr txBox="1"/>
          <p:nvPr/>
        </p:nvSpPr>
        <p:spPr>
          <a:xfrm>
            <a:off x="5778171" y="476225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31DA22-288A-8242-9B14-25E66747E4FD}"/>
              </a:ext>
            </a:extLst>
          </p:cNvPr>
          <p:cNvSpPr txBox="1"/>
          <p:nvPr/>
        </p:nvSpPr>
        <p:spPr>
          <a:xfrm>
            <a:off x="8100679" y="474940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EA4F2610-FF45-4643-9F07-FA1468E7CF9A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59B72B5-5270-3C47-89B2-406DE3228AB8}"/>
              </a:ext>
            </a:extLst>
          </p:cNvPr>
          <p:cNvSpPr txBox="1"/>
          <p:nvPr/>
        </p:nvSpPr>
        <p:spPr>
          <a:xfrm>
            <a:off x="6047604" y="412721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D01DE7-863F-0A42-AB66-1A07BD76278F}"/>
              </a:ext>
            </a:extLst>
          </p:cNvPr>
          <p:cNvCxnSpPr>
            <a:cxnSpLocks/>
          </p:cNvCxnSpPr>
          <p:nvPr/>
        </p:nvCxnSpPr>
        <p:spPr>
          <a:xfrm flipH="1">
            <a:off x="6345650" y="449160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0246ABC-0F77-F940-9EC3-DFAEF3B95C57}"/>
              </a:ext>
            </a:extLst>
          </p:cNvPr>
          <p:cNvSpPr txBox="1"/>
          <p:nvPr/>
        </p:nvSpPr>
        <p:spPr>
          <a:xfrm>
            <a:off x="7199032" y="3341169"/>
            <a:ext cx="59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0C7FD4-A71C-5449-8916-3E412FC4F161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464695" y="3743352"/>
            <a:ext cx="21089" cy="1006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344B44-12E9-654E-A64C-92E692393FA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464695" y="3743352"/>
            <a:ext cx="21089" cy="1006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49A2A3D-7C4A-3749-9D3D-11113088B1C6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660559" y="3710501"/>
            <a:ext cx="1008545" cy="10389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CA9EDB-5136-6044-B0C6-5D36F654071D}"/>
              </a:ext>
            </a:extLst>
          </p:cNvPr>
          <p:cNvCxnSpPr>
            <a:cxnSpLocks/>
          </p:cNvCxnSpPr>
          <p:nvPr/>
        </p:nvCxnSpPr>
        <p:spPr>
          <a:xfrm flipH="1">
            <a:off x="6583819" y="3743352"/>
            <a:ext cx="756173" cy="383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334D188-0CEF-724F-8166-1F26295378E7}"/>
              </a:ext>
            </a:extLst>
          </p:cNvPr>
          <p:cNvSpPr txBox="1"/>
          <p:nvPr/>
        </p:nvSpPr>
        <p:spPr>
          <a:xfrm>
            <a:off x="8639545" y="2724287"/>
            <a:ext cx="59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61C81A3-1E6C-614A-BC64-C03C62CD13CE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7797016" y="3039420"/>
            <a:ext cx="872088" cy="4864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B27DA8A-F438-B845-AA92-998BEC010F87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8938537" y="3093619"/>
            <a:ext cx="645730" cy="15480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1DC4986-C5AF-C84C-ABD4-3372E2A70AAC}"/>
              </a:ext>
            </a:extLst>
          </p:cNvPr>
          <p:cNvCxnSpPr>
            <a:cxnSpLocks/>
          </p:cNvCxnSpPr>
          <p:nvPr/>
        </p:nvCxnSpPr>
        <p:spPr>
          <a:xfrm>
            <a:off x="9130631" y="3039420"/>
            <a:ext cx="1595157" cy="17099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865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A8B6C-1677-A145-80FA-B986C75DF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Pros:</a:t>
            </a:r>
          </a:p>
          <a:p>
            <a:r>
              <a:rPr lang="en-US" dirty="0"/>
              <a:t>can handle grammars expressed more naturally</a:t>
            </a:r>
          </a:p>
          <a:p>
            <a:r>
              <a:rPr lang="en-US" dirty="0"/>
              <a:t>can encode precedence and associativity even if grammar is ambiguous (with precedence and associativity specifications)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Cons:</a:t>
            </a:r>
          </a:p>
          <a:p>
            <a:r>
              <a:rPr lang="en-US" dirty="0"/>
              <a:t>algorithm is complicated</a:t>
            </a:r>
          </a:p>
          <a:p>
            <a:r>
              <a:rPr lang="en-US" dirty="0"/>
              <a:t>In some cases slower than top down</a:t>
            </a:r>
          </a:p>
          <a:p>
            <a:pPr lvl="1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209132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1557821"/>
            <a:ext cx="10515600" cy="4206875"/>
          </a:xfrm>
        </p:spPr>
        <p:txBody>
          <a:bodyPr>
            <a:normAutofit fontScale="90000"/>
          </a:bodyPr>
          <a:lstStyle/>
          <a:p>
            <a:r>
              <a:rPr lang="en-US" sz="6000" b="1" dirty="0"/>
              <a:t>Let’s start with top-down parsing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    Two ways to implement the same idea: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   1) LL(1) Push Down Automaton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   2) Recursive Descent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410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45C16-8862-F20E-0E35-E5A4729A5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6163B-D776-C02F-7AA7-0C156147C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56" y="365125"/>
            <a:ext cx="973703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  Top down, Table Driven:  LL(1) PDA Parser</a:t>
            </a:r>
            <a:br>
              <a:rPr lang="en-US" dirty="0"/>
            </a:br>
            <a:r>
              <a:rPr lang="en-US" dirty="0"/>
              <a:t>      </a:t>
            </a:r>
            <a:r>
              <a:rPr lang="en-US" sz="3600" dirty="0"/>
              <a:t>Left to right processing with Leftmost derivation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650EE1-6BEA-B43A-9B7E-B197CDA85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56" y="1747561"/>
            <a:ext cx="4613418" cy="45806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0958C6-4239-DDD9-AFD8-F7F9F2BAE1EA}"/>
              </a:ext>
            </a:extLst>
          </p:cNvPr>
          <p:cNvSpPr txBox="1"/>
          <p:nvPr/>
        </p:nvSpPr>
        <p:spPr>
          <a:xfrm>
            <a:off x="5857460" y="3116439"/>
            <a:ext cx="30745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Match (Consume)</a:t>
            </a:r>
          </a:p>
          <a:p>
            <a:r>
              <a:rPr lang="en-US" dirty="0"/>
              <a:t>If top of stack is a </a:t>
            </a:r>
            <a:r>
              <a:rPr lang="en-US" b="1" dirty="0"/>
              <a:t>terminal</a:t>
            </a:r>
            <a:r>
              <a:rPr lang="en-US" dirty="0"/>
              <a:t> </a:t>
            </a:r>
            <a:r>
              <a:rPr lang="en-US" b="1" dirty="0"/>
              <a:t>a</a:t>
            </a:r>
          </a:p>
          <a:p>
            <a:r>
              <a:rPr lang="en-US" dirty="0"/>
              <a:t>And lookahead token is also </a:t>
            </a:r>
            <a:r>
              <a:rPr lang="en-US" b="1" dirty="0"/>
              <a:t>a</a:t>
            </a:r>
          </a:p>
          <a:p>
            <a:r>
              <a:rPr lang="en-US" dirty="0"/>
              <a:t>Pop stack</a:t>
            </a:r>
          </a:p>
          <a:p>
            <a:r>
              <a:rPr lang="en-US" dirty="0"/>
              <a:t>Advance 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A78F82-8ED2-4478-726B-E98F5EF25E53}"/>
              </a:ext>
            </a:extLst>
          </p:cNvPr>
          <p:cNvSpPr txBox="1"/>
          <p:nvPr/>
        </p:nvSpPr>
        <p:spPr>
          <a:xfrm>
            <a:off x="5857461" y="1327315"/>
            <a:ext cx="53207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Expand (Predict)</a:t>
            </a:r>
          </a:p>
          <a:p>
            <a:r>
              <a:rPr lang="en-US" dirty="0"/>
              <a:t>If top of stack is </a:t>
            </a:r>
            <a:r>
              <a:rPr lang="en-US" b="1" dirty="0"/>
              <a:t>non-terminal</a:t>
            </a:r>
            <a:r>
              <a:rPr lang="en-US" dirty="0"/>
              <a:t> </a:t>
            </a:r>
            <a:r>
              <a:rPr lang="en-US" b="1" dirty="0"/>
              <a:t>A</a:t>
            </a:r>
          </a:p>
          <a:p>
            <a:r>
              <a:rPr lang="en-US" dirty="0"/>
              <a:t>And lookahead token is </a:t>
            </a:r>
            <a:r>
              <a:rPr lang="en-US" b="1" dirty="0"/>
              <a:t>a</a:t>
            </a:r>
          </a:p>
          <a:p>
            <a:r>
              <a:rPr lang="en-US" dirty="0"/>
              <a:t>Consult table M[</a:t>
            </a:r>
            <a:r>
              <a:rPr lang="en-US" b="1" dirty="0"/>
              <a:t>A, a</a:t>
            </a:r>
            <a:r>
              <a:rPr lang="en-US" dirty="0"/>
              <a:t>]</a:t>
            </a:r>
          </a:p>
          <a:p>
            <a:r>
              <a:rPr lang="en-US" dirty="0"/>
              <a:t>Replace A in </a:t>
            </a:r>
            <a:r>
              <a:rPr lang="en-US" dirty="0" err="1"/>
              <a:t>dysvk</a:t>
            </a:r>
            <a:r>
              <a:rPr lang="en-US" dirty="0"/>
              <a:t> with </a:t>
            </a:r>
            <a:r>
              <a:rPr lang="en-US" dirty="0" err="1"/>
              <a:t>chodr</a:t>
            </a:r>
            <a:r>
              <a:rPr lang="en-US" dirty="0"/>
              <a:t> RHS </a:t>
            </a:r>
          </a:p>
          <a:p>
            <a:r>
              <a:rPr lang="en-US" dirty="0"/>
              <a:t>   production (pushed in reverse order)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740705-B202-6E85-EDF3-08709EE11771}"/>
              </a:ext>
            </a:extLst>
          </p:cNvPr>
          <p:cNvSpPr txBox="1"/>
          <p:nvPr/>
        </p:nvSpPr>
        <p:spPr>
          <a:xfrm>
            <a:off x="5857461" y="4573933"/>
            <a:ext cx="29585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Accept (or Error)</a:t>
            </a:r>
          </a:p>
          <a:p>
            <a:r>
              <a:rPr lang="en-US" dirty="0"/>
              <a:t>If top of stack is $</a:t>
            </a:r>
          </a:p>
          <a:p>
            <a:r>
              <a:rPr lang="en-US" dirty="0"/>
              <a:t>And input token is $</a:t>
            </a:r>
          </a:p>
          <a:p>
            <a:r>
              <a:rPr lang="en-US" dirty="0"/>
              <a:t>Parsing succeeds: Accept</a:t>
            </a:r>
          </a:p>
          <a:p>
            <a:r>
              <a:rPr lang="en-US" dirty="0"/>
              <a:t>Otherwise:</a:t>
            </a:r>
          </a:p>
          <a:p>
            <a:r>
              <a:rPr lang="en-US" dirty="0"/>
              <a:t>No table entry → </a:t>
            </a:r>
            <a:r>
              <a:rPr lang="en-US" b="1" dirty="0"/>
              <a:t>error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57FAC4-ED3F-AC91-C213-18A93D5E0ADE}"/>
              </a:ext>
            </a:extLst>
          </p:cNvPr>
          <p:cNvSpPr txBox="1"/>
          <p:nvPr/>
        </p:nvSpPr>
        <p:spPr>
          <a:xfrm>
            <a:off x="10028583" y="2853083"/>
            <a:ext cx="20143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3 Possible </a:t>
            </a:r>
          </a:p>
          <a:p>
            <a:r>
              <a:rPr lang="en-US" sz="3200" b="1" dirty="0"/>
              <a:t>  Actions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7A92B3-164D-5D2F-917A-8BE2DC1AA70E}"/>
              </a:ext>
            </a:extLst>
          </p:cNvPr>
          <p:cNvSpPr txBox="1"/>
          <p:nvPr/>
        </p:nvSpPr>
        <p:spPr>
          <a:xfrm>
            <a:off x="516837" y="6493565"/>
            <a:ext cx="11012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https://www.researchgate.net/figure/LL-Parser-Left-to-right-processing-with-leftmost-derivation_fig5_253273718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202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458F6-26A2-3640-B99D-62BD1F3DF87F}"/>
              </a:ext>
            </a:extLst>
          </p:cNvPr>
          <p:cNvSpPr txBox="1"/>
          <p:nvPr/>
        </p:nvSpPr>
        <p:spPr>
          <a:xfrm>
            <a:off x="84667" y="96377"/>
            <a:ext cx="6109365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   # Expr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  # Read first token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  // </a:t>
            </a:r>
            <a:r>
              <a:rPr lang="en-US" sz="1600" b="1" dirty="0">
                <a:latin typeface="Courier" pitchFamily="2" charset="0"/>
              </a:rPr>
              <a:t>Expand(Predict)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nonterminal, A)</a:t>
            </a:r>
          </a:p>
          <a:p>
            <a:r>
              <a:rPr lang="en-US" sz="1600" dirty="0">
                <a:latin typeface="Courier" pitchFamily="2" charset="0"/>
              </a:rPr>
              <a:t>    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   # First symbol in rule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): //</a:t>
            </a:r>
            <a:r>
              <a:rPr lang="en-US" sz="1600" b="1" dirty="0">
                <a:latin typeface="Courier" pitchFamily="2" charset="0"/>
              </a:rPr>
              <a:t> Match(Consume)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</a:t>
            </a:r>
            <a:r>
              <a:rPr lang="en-US" sz="1600" b="1" dirty="0">
                <a:latin typeface="Courier" pitchFamily="2" charset="0"/>
              </a:rPr>
              <a:t>and</a:t>
            </a:r>
            <a:r>
              <a:rPr lang="en-US" sz="1600" dirty="0">
                <a:latin typeface="Courier" pitchFamily="2" charset="0"/>
              </a:rPr>
              <a:t> focus == None) 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b="1" dirty="0">
                <a:latin typeface="Courier" pitchFamily="2" charset="0"/>
              </a:rPr>
              <a:t>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52F45E7E-6D46-5644-BA15-D54693F8A7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478590"/>
              </p:ext>
            </p:extLst>
          </p:nvPr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1EBA916-C199-4C48-867A-1F1254B20D21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AD8FC20A-B26D-7648-B35B-CB5DB4B22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970801"/>
              </p:ext>
            </p:extLst>
          </p:nvPr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D9C33981-FC67-DB41-8F5C-A6B8D162B990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2A6EFE-DA15-15DF-7558-09E99724AEAF}"/>
              </a:ext>
            </a:extLst>
          </p:cNvPr>
          <p:cNvGrpSpPr/>
          <p:nvPr/>
        </p:nvGrpSpPr>
        <p:grpSpPr>
          <a:xfrm>
            <a:off x="5389652" y="6185199"/>
            <a:ext cx="817940" cy="369332"/>
            <a:chOff x="5433392" y="6185199"/>
            <a:chExt cx="817940" cy="369332"/>
          </a:xfrm>
        </p:grpSpPr>
        <p:sp>
          <p:nvSpPr>
            <p:cNvPr id="6" name="Right Arrow 39">
              <a:extLst>
                <a:ext uri="{FF2B5EF4-FFF2-40B4-BE49-F238E27FC236}">
                  <a16:creationId xmlns:a16="http://schemas.microsoft.com/office/drawing/2014/main" id="{2CA2533A-6565-5801-38CD-F4A14A55C5AB}"/>
                </a:ext>
              </a:extLst>
            </p:cNvPr>
            <p:cNvSpPr/>
            <p:nvPr/>
          </p:nvSpPr>
          <p:spPr>
            <a:xfrm rot="10800000" flipV="1">
              <a:off x="5904826" y="6285610"/>
              <a:ext cx="346506" cy="18552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1D3B34-B34F-1A6E-2AFD-6179CF6AA272}"/>
                </a:ext>
              </a:extLst>
            </p:cNvPr>
            <p:cNvSpPr txBox="1"/>
            <p:nvPr/>
          </p:nvSpPr>
          <p:spPr>
            <a:xfrm>
              <a:off x="5433392" y="6185199"/>
              <a:ext cx="5463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9183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07408-A362-019C-91FB-21D79E4F5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909051-B6DC-EEF9-B229-E54F077D2090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root = start symbol;   # Expr</a:t>
            </a:r>
            <a:br>
              <a:rPr lang="en-US" sz="16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to_match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 = </a:t>
            </a:r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s.token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();  # Read first token</a:t>
            </a:r>
          </a:p>
          <a:p>
            <a:endParaRPr lang="en-US" sz="1600" dirty="0"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nonterminal, A)</a:t>
            </a:r>
          </a:p>
          <a:p>
            <a:r>
              <a:rPr lang="en-US" sz="1600" dirty="0">
                <a:latin typeface="Courier" pitchFamily="2" charset="0"/>
              </a:rPr>
              <a:t>    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   # First symbol in rule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):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</a:t>
            </a:r>
            <a:r>
              <a:rPr lang="en-US" sz="1600" b="1" dirty="0">
                <a:latin typeface="Courier" pitchFamily="2" charset="0"/>
              </a:rPr>
              <a:t>and</a:t>
            </a:r>
            <a:r>
              <a:rPr lang="en-US" sz="1600" dirty="0">
                <a:latin typeface="Courier" pitchFamily="2" charset="0"/>
              </a:rPr>
              <a:t>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44752E71-D7BE-4372-AABC-694F089F5F17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6EBBE18-B5B4-783B-7E13-37227CDAFD75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0B65266D-D4E9-212A-C0AD-1648CD254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068069"/>
              </p:ext>
            </p:extLst>
          </p:nvPr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“(“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latin typeface="Courier" pitchFamily="2" charset="0"/>
                        </a:rPr>
                        <a:t>“</a:t>
                      </a:r>
                      <a:r>
                        <a:rPr lang="en-US" sz="1600" i="1" dirty="0" err="1">
                          <a:latin typeface="Courier" pitchFamily="2" charset="0"/>
                        </a:rPr>
                        <a:t>a+b</a:t>
                      </a:r>
                      <a:r>
                        <a:rPr lang="en-US" sz="1600" i="1" dirty="0">
                          <a:latin typeface="Courier" pitchFamily="2" charset="0"/>
                        </a:rPr>
                        <a:t>)*c”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F147923D-1B42-AD51-43C3-CE4C6640A24B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AF10588-4129-FC1E-5E31-5137D5C8B547}"/>
              </a:ext>
            </a:extLst>
          </p:cNvPr>
          <p:cNvGrpSpPr/>
          <p:nvPr/>
        </p:nvGrpSpPr>
        <p:grpSpPr>
          <a:xfrm>
            <a:off x="5389652" y="6185199"/>
            <a:ext cx="817940" cy="369332"/>
            <a:chOff x="5433392" y="6185199"/>
            <a:chExt cx="817940" cy="369332"/>
          </a:xfrm>
        </p:grpSpPr>
        <p:sp>
          <p:nvSpPr>
            <p:cNvPr id="6" name="Right Arrow 39">
              <a:extLst>
                <a:ext uri="{FF2B5EF4-FFF2-40B4-BE49-F238E27FC236}">
                  <a16:creationId xmlns:a16="http://schemas.microsoft.com/office/drawing/2014/main" id="{AA64B0CD-291E-D02E-D5A9-FA0B1BD28B65}"/>
                </a:ext>
              </a:extLst>
            </p:cNvPr>
            <p:cNvSpPr/>
            <p:nvPr/>
          </p:nvSpPr>
          <p:spPr>
            <a:xfrm rot="10800000" flipV="1">
              <a:off x="5904826" y="6285610"/>
              <a:ext cx="346506" cy="18552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BBB1F02-EDBA-27DD-128B-9C362149D288}"/>
                </a:ext>
              </a:extLst>
            </p:cNvPr>
            <p:cNvSpPr txBox="1"/>
            <p:nvPr/>
          </p:nvSpPr>
          <p:spPr>
            <a:xfrm>
              <a:off x="5433392" y="6185199"/>
              <a:ext cx="5463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TOS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85E0C5C-082C-93B9-6105-5B42950FFEC1}"/>
              </a:ext>
            </a:extLst>
          </p:cNvPr>
          <p:cNvSpPr txBox="1"/>
          <p:nvPr/>
        </p:nvSpPr>
        <p:spPr>
          <a:xfrm>
            <a:off x="1943100" y="4416035"/>
            <a:ext cx="174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Initialized State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2F7C4B-AD10-78D3-796A-904CFDD5B6AC}"/>
              </a:ext>
            </a:extLst>
          </p:cNvPr>
          <p:cNvSpPr txBox="1"/>
          <p:nvPr/>
        </p:nvSpPr>
        <p:spPr>
          <a:xfrm>
            <a:off x="8566164" y="6176950"/>
            <a:ext cx="1566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Initialize</a:t>
            </a:r>
          </a:p>
        </p:txBody>
      </p:sp>
    </p:spTree>
    <p:extLst>
      <p:ext uri="{BB962C8B-B14F-4D97-AF65-F5344CB8AC3E}">
        <p14:creationId xmlns:p14="http://schemas.microsoft.com/office/powerpoint/2010/main" val="1188077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458F6-26A2-3640-B99D-62BD1F3DF87F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focus is a nonterminal, A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push(BN... B3, B2);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EBA916-C199-4C48-867A-1F1254B20D21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E27C5-B53C-4A47-8952-00794A7B5C2A}"/>
              </a:ext>
            </a:extLst>
          </p:cNvPr>
          <p:cNvSpPr txBox="1"/>
          <p:nvPr/>
        </p:nvSpPr>
        <p:spPr>
          <a:xfrm>
            <a:off x="3598050" y="157830"/>
            <a:ext cx="30030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highlight>
                  <a:srgbClr val="FFFF00"/>
                </a:highlight>
              </a:rPr>
              <a:t>Currently we assume there is some magic that we can pick</a:t>
            </a:r>
          </a:p>
          <a:p>
            <a:r>
              <a:rPr lang="en-US" i="1" dirty="0">
                <a:highlight>
                  <a:srgbClr val="FFFF00"/>
                </a:highlight>
              </a:rPr>
              <a:t>the right rule every time from production with LHS of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2D0AF0-9E08-D44C-AC1F-3E1F56C8F66C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D24D38D7-970E-E84B-99E3-DB0404190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65963"/>
              </p:ext>
            </p:extLst>
          </p:nvPr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1</a:t>
                      </a:r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Expr Op Unit</a:t>
                      </a:r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7A700C23-FA44-2342-9ACE-E5628C2EB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212666"/>
              </p:ext>
            </p:extLst>
          </p:nvPr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Expr -&gt; 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“(“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latin typeface="Courier" pitchFamily="2" charset="0"/>
                        </a:rPr>
                        <a:t>“</a:t>
                      </a:r>
                      <a:r>
                        <a:rPr lang="en-US" sz="1600" i="1" dirty="0" err="1">
                          <a:latin typeface="Courier" pitchFamily="2" charset="0"/>
                        </a:rPr>
                        <a:t>a+b</a:t>
                      </a:r>
                      <a:r>
                        <a:rPr lang="en-US" sz="1600" i="1" dirty="0">
                          <a:latin typeface="Courier" pitchFamily="2" charset="0"/>
                        </a:rPr>
                        <a:t>)*c”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</a:t>
                      </a: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Op Unit</a:t>
                      </a:r>
                      <a:r>
                        <a:rPr lang="en-US" sz="1600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1C6A9628-9147-C06E-5789-8A0985EC0F51}"/>
              </a:ext>
            </a:extLst>
          </p:cNvPr>
          <p:cNvGrpSpPr/>
          <p:nvPr/>
        </p:nvGrpSpPr>
        <p:grpSpPr>
          <a:xfrm>
            <a:off x="5389652" y="6185199"/>
            <a:ext cx="817940" cy="369332"/>
            <a:chOff x="5433392" y="6185199"/>
            <a:chExt cx="817940" cy="369332"/>
          </a:xfrm>
        </p:grpSpPr>
        <p:sp>
          <p:nvSpPr>
            <p:cNvPr id="3" name="Right Arrow 39">
              <a:extLst>
                <a:ext uri="{FF2B5EF4-FFF2-40B4-BE49-F238E27FC236}">
                  <a16:creationId xmlns:a16="http://schemas.microsoft.com/office/drawing/2014/main" id="{8C31D050-38BA-9500-493B-50D8A79E17BF}"/>
                </a:ext>
              </a:extLst>
            </p:cNvPr>
            <p:cNvSpPr/>
            <p:nvPr/>
          </p:nvSpPr>
          <p:spPr>
            <a:xfrm rot="10800000" flipV="1">
              <a:off x="5904826" y="6285610"/>
              <a:ext cx="346506" cy="18552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C144BF9-8AE4-75F8-FDC0-F230CF8BE971}"/>
                </a:ext>
              </a:extLst>
            </p:cNvPr>
            <p:cNvSpPr txBox="1"/>
            <p:nvPr/>
          </p:nvSpPr>
          <p:spPr>
            <a:xfrm>
              <a:off x="5433392" y="6185199"/>
              <a:ext cx="5463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TOS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E842726-F767-9BDF-C182-23E055453CEF}"/>
              </a:ext>
            </a:extLst>
          </p:cNvPr>
          <p:cNvSpPr txBox="1"/>
          <p:nvPr/>
        </p:nvSpPr>
        <p:spPr>
          <a:xfrm>
            <a:off x="7265376" y="6167615"/>
            <a:ext cx="3988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</a:t>
            </a:r>
            <a:r>
              <a:rPr lang="en-US" sz="2800" baseline="30000" dirty="0"/>
              <a:t>st</a:t>
            </a:r>
            <a:r>
              <a:rPr lang="en-US" sz="2800" dirty="0"/>
              <a:t> Iteration: Apply rule 1</a:t>
            </a:r>
          </a:p>
        </p:txBody>
      </p:sp>
    </p:spTree>
    <p:extLst>
      <p:ext uri="{BB962C8B-B14F-4D97-AF65-F5344CB8AC3E}">
        <p14:creationId xmlns:p14="http://schemas.microsoft.com/office/powerpoint/2010/main" val="3193283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1CC92-09F8-53A9-52AB-639F31638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F9DE1F-B5DD-6456-B61E-99604C197F5C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focus is a nonterminal, A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push(BN... B3, B2);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focus = B1</a:t>
            </a:r>
            <a:r>
              <a:rPr lang="en-US" sz="1600" dirty="0">
                <a:latin typeface="Courier" pitchFamily="2" charset="0"/>
              </a:rPr>
              <a:t>            // B1 is now ‘(‘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AA923-3E34-9B50-F8C6-A033E6C3375E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87F61C-50E9-FA8F-4991-875DC6424890}"/>
              </a:ext>
            </a:extLst>
          </p:cNvPr>
          <p:cNvSpPr txBox="1"/>
          <p:nvPr/>
        </p:nvSpPr>
        <p:spPr>
          <a:xfrm>
            <a:off x="3598050" y="157830"/>
            <a:ext cx="30030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highlight>
                  <a:srgbClr val="FFFF00"/>
                </a:highlight>
              </a:rPr>
              <a:t>Currently we assume there is some magic that we can pick</a:t>
            </a:r>
          </a:p>
          <a:p>
            <a:r>
              <a:rPr lang="en-US" i="1" dirty="0">
                <a:highlight>
                  <a:srgbClr val="FFFF00"/>
                </a:highlight>
              </a:rPr>
              <a:t>the right rule every time from production with LHS of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8443EF-94F3-E639-5F19-7173F6151A59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EBBF3E2E-4A14-2C41-E18E-26BAA27E1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579612"/>
              </p:ext>
            </p:extLst>
          </p:nvPr>
        </p:nvGraphicFramePr>
        <p:xfrm>
          <a:off x="6401581" y="3108494"/>
          <a:ext cx="5500306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750153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750153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Expr Op Unit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Unit</a:t>
                      </a:r>
                      <a:r>
                        <a:rPr lang="en-US" dirty="0">
                          <a:latin typeface="Courier" pitchFamily="2" charset="0"/>
                        </a:rPr>
                        <a:t> Op Unit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87A577DF-B245-0492-C223-680E12DB3D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607"/>
              </p:ext>
            </p:extLst>
          </p:nvPr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Expr -&gt;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“(“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latin typeface="Courier" pitchFamily="2" charset="0"/>
                        </a:rPr>
                        <a:t>“</a:t>
                      </a:r>
                      <a:r>
                        <a:rPr lang="en-US" sz="1600" i="1" dirty="0" err="1">
                          <a:latin typeface="Courier" pitchFamily="2" charset="0"/>
                        </a:rPr>
                        <a:t>a+b</a:t>
                      </a:r>
                      <a:r>
                        <a:rPr lang="en-US" sz="1600" i="1" dirty="0">
                          <a:latin typeface="Courier" pitchFamily="2" charset="0"/>
                        </a:rPr>
                        <a:t>)*c”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[Op Unit]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899D9B11-38F4-D3EF-FFCD-06856AC177B9}"/>
              </a:ext>
            </a:extLst>
          </p:cNvPr>
          <p:cNvGrpSpPr/>
          <p:nvPr/>
        </p:nvGrpSpPr>
        <p:grpSpPr>
          <a:xfrm>
            <a:off x="5389652" y="6185199"/>
            <a:ext cx="817940" cy="369332"/>
            <a:chOff x="5433392" y="6185199"/>
            <a:chExt cx="817940" cy="369332"/>
          </a:xfrm>
        </p:grpSpPr>
        <p:sp>
          <p:nvSpPr>
            <p:cNvPr id="3" name="Right Arrow 39">
              <a:extLst>
                <a:ext uri="{FF2B5EF4-FFF2-40B4-BE49-F238E27FC236}">
                  <a16:creationId xmlns:a16="http://schemas.microsoft.com/office/drawing/2014/main" id="{CB26CEEB-699F-80DF-0FBE-2C0EE96BA121}"/>
                </a:ext>
              </a:extLst>
            </p:cNvPr>
            <p:cNvSpPr/>
            <p:nvPr/>
          </p:nvSpPr>
          <p:spPr>
            <a:xfrm rot="10800000" flipV="1">
              <a:off x="5904826" y="6285610"/>
              <a:ext cx="346506" cy="18552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C08CA60-1231-E682-1666-034A556481C3}"/>
                </a:ext>
              </a:extLst>
            </p:cNvPr>
            <p:cNvSpPr txBox="1"/>
            <p:nvPr/>
          </p:nvSpPr>
          <p:spPr>
            <a:xfrm>
              <a:off x="5433392" y="6185199"/>
              <a:ext cx="5463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TOS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3B25A82-457D-F05B-A277-1D0644155D89}"/>
              </a:ext>
            </a:extLst>
          </p:cNvPr>
          <p:cNvSpPr txBox="1"/>
          <p:nvPr/>
        </p:nvSpPr>
        <p:spPr>
          <a:xfrm>
            <a:off x="7265376" y="6185199"/>
            <a:ext cx="3988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</a:t>
            </a:r>
            <a:r>
              <a:rPr lang="en-US" sz="2800" baseline="30000" dirty="0"/>
              <a:t>nd</a:t>
            </a:r>
            <a:r>
              <a:rPr lang="en-US" sz="2800" dirty="0"/>
              <a:t> Iteration: Apply rule 2</a:t>
            </a:r>
          </a:p>
        </p:txBody>
      </p:sp>
    </p:spTree>
    <p:extLst>
      <p:ext uri="{BB962C8B-B14F-4D97-AF65-F5344CB8AC3E}">
        <p14:creationId xmlns:p14="http://schemas.microsoft.com/office/powerpoint/2010/main" val="275563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6A48-70C6-4497-E2A5-E54B80987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9DCBF1-2BD5-AF9D-6586-78EDE568D4AA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nonterminal, A)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push(BN... B3, B2);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focus = B1</a:t>
            </a:r>
            <a:r>
              <a:rPr lang="en-US" sz="1600" dirty="0">
                <a:latin typeface="Courier" pitchFamily="2" charset="0"/>
              </a:rPr>
              <a:t>      // B1 is now ‘(‘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547F0E-96F9-1229-7B10-BA1C95B482D1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23FDB6-07F9-71B3-A2E4-C632D326C341}"/>
              </a:ext>
            </a:extLst>
          </p:cNvPr>
          <p:cNvSpPr txBox="1"/>
          <p:nvPr/>
        </p:nvSpPr>
        <p:spPr>
          <a:xfrm>
            <a:off x="3598050" y="157830"/>
            <a:ext cx="30030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highlight>
                  <a:srgbClr val="FFFF00"/>
                </a:highlight>
              </a:rPr>
              <a:t>Currently we assume there is some magic that we can pick</a:t>
            </a:r>
          </a:p>
          <a:p>
            <a:r>
              <a:rPr lang="en-US" i="1" dirty="0">
                <a:highlight>
                  <a:srgbClr val="FFFF00"/>
                </a:highlight>
              </a:rPr>
              <a:t>the right rule every time from production with LHS of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75BB19-92A8-DDC9-1DB6-3F052DA0085D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FB5C0FE2-0385-E36C-AFE2-A2091D7B3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862773"/>
              </p:ext>
            </p:extLst>
          </p:nvPr>
        </p:nvGraphicFramePr>
        <p:xfrm>
          <a:off x="6401581" y="3108494"/>
          <a:ext cx="5500306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750153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750153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Expr Op Unit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Unit Op Unit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‘(‘Expr‘)’</a:t>
                      </a:r>
                      <a:r>
                        <a:rPr lang="en-US" dirty="0">
                          <a:latin typeface="Courier" pitchFamily="2" charset="0"/>
                        </a:rPr>
                        <a:t> Op Unit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4C4823E1-11FC-F1B4-701D-9194D60A9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071176"/>
              </p:ext>
            </p:extLst>
          </p:nvPr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Unit -&gt; “(“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‘(‘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‘</a:t>
                      </a:r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+b)*c</a:t>
                      </a:r>
                      <a:endParaRPr lang="en-US" sz="16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[Expr ‘)’ Op Unit]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5927A376-EED3-3779-EBA9-B61F94ABEA3F}"/>
              </a:ext>
            </a:extLst>
          </p:cNvPr>
          <p:cNvGrpSpPr/>
          <p:nvPr/>
        </p:nvGrpSpPr>
        <p:grpSpPr>
          <a:xfrm>
            <a:off x="5389652" y="6185199"/>
            <a:ext cx="817940" cy="369332"/>
            <a:chOff x="5433392" y="6185199"/>
            <a:chExt cx="817940" cy="369332"/>
          </a:xfrm>
        </p:grpSpPr>
        <p:sp>
          <p:nvSpPr>
            <p:cNvPr id="3" name="Right Arrow 39">
              <a:extLst>
                <a:ext uri="{FF2B5EF4-FFF2-40B4-BE49-F238E27FC236}">
                  <a16:creationId xmlns:a16="http://schemas.microsoft.com/office/drawing/2014/main" id="{4DE2997C-BE88-1E19-31A6-71E242B329C2}"/>
                </a:ext>
              </a:extLst>
            </p:cNvPr>
            <p:cNvSpPr/>
            <p:nvPr/>
          </p:nvSpPr>
          <p:spPr>
            <a:xfrm rot="10800000" flipV="1">
              <a:off x="5904826" y="6285610"/>
              <a:ext cx="346506" cy="18552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F629FE1-3F72-BE15-D160-DEC27F2F1783}"/>
                </a:ext>
              </a:extLst>
            </p:cNvPr>
            <p:cNvSpPr txBox="1"/>
            <p:nvPr/>
          </p:nvSpPr>
          <p:spPr>
            <a:xfrm>
              <a:off x="5433392" y="6185199"/>
              <a:ext cx="5463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TOS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474BD2A-B5BE-CE76-1F2F-EE55710F0EC0}"/>
              </a:ext>
            </a:extLst>
          </p:cNvPr>
          <p:cNvSpPr txBox="1"/>
          <p:nvPr/>
        </p:nvSpPr>
        <p:spPr>
          <a:xfrm>
            <a:off x="7265376" y="6185199"/>
            <a:ext cx="4226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</a:t>
            </a:r>
            <a:r>
              <a:rPr lang="en-US" sz="2800" baseline="30000" dirty="0"/>
              <a:t>rd</a:t>
            </a:r>
            <a:r>
              <a:rPr lang="en-US" sz="2800" dirty="0"/>
              <a:t> Iteration: gobble the ‘(“</a:t>
            </a:r>
          </a:p>
        </p:txBody>
      </p:sp>
    </p:spTree>
    <p:extLst>
      <p:ext uri="{BB962C8B-B14F-4D97-AF65-F5344CB8AC3E}">
        <p14:creationId xmlns:p14="http://schemas.microsoft.com/office/powerpoint/2010/main" val="3529980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AC442-D399-A38C-79F9-21D62E54A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CA2666-38DB-C0B6-A096-A8062D0293FF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nonterminal, A)</a:t>
            </a:r>
          </a:p>
          <a:p>
            <a:r>
              <a:rPr lang="en-US" sz="1600" dirty="0">
                <a:latin typeface="Courier" pitchFamily="2" charset="0"/>
              </a:rPr>
              <a:t>    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            // B1 is now ‘(‘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focus == </a:t>
            </a:r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to_match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 = </a:t>
            </a:r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s.token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focus = pop()</a:t>
            </a:r>
          </a:p>
          <a:p>
            <a:endParaRPr lang="en-US" sz="1600" dirty="0"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5186EB-23F7-804B-BD67-A95B25AAD7CA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DEEB1E-482B-2DC3-0EF1-DD460294B359}"/>
              </a:ext>
            </a:extLst>
          </p:cNvPr>
          <p:cNvSpPr txBox="1"/>
          <p:nvPr/>
        </p:nvSpPr>
        <p:spPr>
          <a:xfrm>
            <a:off x="3598050" y="157830"/>
            <a:ext cx="30030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Currently we assume there is some magic that we can pick</a:t>
            </a:r>
          </a:p>
          <a:p>
            <a:r>
              <a:rPr lang="en-US" i="1" dirty="0"/>
              <a:t>the right rule every time from production with LHS of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76467-5AFC-363B-1691-4D17820DDC44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18AD37D3-9232-503E-519D-7B8A57FEB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738652"/>
              </p:ext>
            </p:extLst>
          </p:nvPr>
        </p:nvGraphicFramePr>
        <p:xfrm>
          <a:off x="6401581" y="3108494"/>
          <a:ext cx="5500306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750153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750153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Expr Op Unit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Unit Op Unit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Expr‘)’ Op Unit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12F869E7-6EBF-BC5F-1130-768C888E7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145859"/>
              </p:ext>
            </p:extLst>
          </p:nvPr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“(“ -&gt; </a:t>
                      </a: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‘(‘   -&gt; (ID, </a:t>
                      </a: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“a”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‘</a:t>
                      </a:r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+b)*c</a:t>
                      </a:r>
                      <a:endParaRPr lang="en-US" sz="16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 ‘)’ Op Unit]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3D46BFE5-947D-B76C-F2D3-73BFB36C1B8A}"/>
              </a:ext>
            </a:extLst>
          </p:cNvPr>
          <p:cNvGrpSpPr/>
          <p:nvPr/>
        </p:nvGrpSpPr>
        <p:grpSpPr>
          <a:xfrm>
            <a:off x="5389652" y="6185199"/>
            <a:ext cx="817940" cy="369332"/>
            <a:chOff x="5433392" y="6185199"/>
            <a:chExt cx="817940" cy="369332"/>
          </a:xfrm>
        </p:grpSpPr>
        <p:sp>
          <p:nvSpPr>
            <p:cNvPr id="3" name="Right Arrow 39">
              <a:extLst>
                <a:ext uri="{FF2B5EF4-FFF2-40B4-BE49-F238E27FC236}">
                  <a16:creationId xmlns:a16="http://schemas.microsoft.com/office/drawing/2014/main" id="{65DC0DCA-FDFD-2E23-FF4D-AB9E48C6C2AB}"/>
                </a:ext>
              </a:extLst>
            </p:cNvPr>
            <p:cNvSpPr/>
            <p:nvPr/>
          </p:nvSpPr>
          <p:spPr>
            <a:xfrm rot="10800000" flipV="1">
              <a:off x="5904826" y="6285610"/>
              <a:ext cx="346506" cy="18552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F8799F8-5E5D-E0D7-58EC-A9968C9757F8}"/>
                </a:ext>
              </a:extLst>
            </p:cNvPr>
            <p:cNvSpPr txBox="1"/>
            <p:nvPr/>
          </p:nvSpPr>
          <p:spPr>
            <a:xfrm>
              <a:off x="5433392" y="6185199"/>
              <a:ext cx="5463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TOS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C2F8699-2B39-173F-B0F6-F30CAE3A7644}"/>
              </a:ext>
            </a:extLst>
          </p:cNvPr>
          <p:cNvSpPr txBox="1"/>
          <p:nvPr/>
        </p:nvSpPr>
        <p:spPr>
          <a:xfrm>
            <a:off x="7265376" y="6185199"/>
            <a:ext cx="4226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</a:t>
            </a:r>
            <a:r>
              <a:rPr lang="en-US" sz="2800" baseline="30000" dirty="0"/>
              <a:t>th</a:t>
            </a:r>
            <a:r>
              <a:rPr lang="en-US" sz="2800" dirty="0"/>
              <a:t> Iteration: consume ‘(“</a:t>
            </a:r>
          </a:p>
        </p:txBody>
      </p:sp>
    </p:spTree>
    <p:extLst>
      <p:ext uri="{BB962C8B-B14F-4D97-AF65-F5344CB8AC3E}">
        <p14:creationId xmlns:p14="http://schemas.microsoft.com/office/powerpoint/2010/main" val="1097379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458F6-26A2-3640-B99D-62BD1F3DF87F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EBA916-C199-4C48-867A-1F1254B20D21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2D0AF0-9E08-D44C-AC1F-3E1F56C8F66C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D24D38D7-970E-E84B-99E3-DB0404190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955602"/>
              </p:ext>
            </p:extLst>
          </p:nvPr>
        </p:nvGraphicFramePr>
        <p:xfrm>
          <a:off x="6796487" y="3108494"/>
          <a:ext cx="522618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61309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61309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Expr Op Unit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Unit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'(’ Expr ‘)’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‘(‘ Expr Op Unit ‘)’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‘(‘ Unit Op Unit ‘)’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‘(‘ ID Op Unit ‘)’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7A700C23-FA44-2342-9ACE-E5628C2EB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63837"/>
              </p:ext>
            </p:extLst>
          </p:nvPr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‘+’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latin typeface="Courier" pitchFamily="2" charset="0"/>
                        </a:rPr>
                        <a:t>b)*c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Unit ‘)’ Op, Expr, 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E7D48EE-3633-1E41-BF24-F0B0B151DC39}"/>
              </a:ext>
            </a:extLst>
          </p:cNvPr>
          <p:cNvSpPr txBox="1"/>
          <p:nvPr/>
        </p:nvSpPr>
        <p:spPr>
          <a:xfrm>
            <a:off x="6832349" y="6228179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so on...</a:t>
            </a:r>
          </a:p>
        </p:txBody>
      </p:sp>
    </p:spTree>
    <p:extLst>
      <p:ext uri="{BB962C8B-B14F-4D97-AF65-F5344CB8AC3E}">
        <p14:creationId xmlns:p14="http://schemas.microsoft.com/office/powerpoint/2010/main" val="1754007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458F6-26A2-3640-B99D-62BD1F3DF87F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00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EBA916-C199-4C48-867A-1F1254B20D21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E27C5-B53C-4A47-8952-00794A7B5C2A}"/>
              </a:ext>
            </a:extLst>
          </p:cNvPr>
          <p:cNvSpPr txBox="1"/>
          <p:nvPr/>
        </p:nvSpPr>
        <p:spPr>
          <a:xfrm>
            <a:off x="4309194" y="176628"/>
            <a:ext cx="256556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              </a:t>
            </a:r>
            <a:r>
              <a:rPr lang="en-US" sz="2000" dirty="0">
                <a:highlight>
                  <a:srgbClr val="00FF00"/>
                </a:highlight>
              </a:rPr>
              <a:t>BUT</a:t>
            </a:r>
          </a:p>
          <a:p>
            <a:r>
              <a:rPr lang="en-US" i="1" dirty="0">
                <a:highlight>
                  <a:srgbClr val="00FF00"/>
                </a:highlight>
              </a:rPr>
              <a:t>What can go wrong if</a:t>
            </a:r>
            <a:br>
              <a:rPr lang="en-US" i="1" dirty="0">
                <a:highlight>
                  <a:srgbClr val="00FF00"/>
                </a:highlight>
              </a:rPr>
            </a:br>
            <a:r>
              <a:rPr lang="en-US" i="1" dirty="0">
                <a:highlight>
                  <a:srgbClr val="00FF00"/>
                </a:highlight>
              </a:rPr>
              <a:t>we don’t have a magic</a:t>
            </a:r>
          </a:p>
          <a:p>
            <a:r>
              <a:rPr lang="en-US" i="1" dirty="0">
                <a:highlight>
                  <a:srgbClr val="00FF00"/>
                </a:highlight>
              </a:rPr>
              <a:t>Choice?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C75C32-16D7-1440-9E43-18B387383E5F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AB8421B2-A102-CF42-9B99-CD493044E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291045"/>
              </p:ext>
            </p:extLst>
          </p:nvPr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391E83E5-F743-0E44-8DE2-9E22EBCB9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189848"/>
              </p:ext>
            </p:extLst>
          </p:nvPr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932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458F6-26A2-3640-B99D-62BD1F3DF87F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00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EBA916-C199-4C48-867A-1F1254B20D21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E27C5-B53C-4A47-8952-00794A7B5C2A}"/>
              </a:ext>
            </a:extLst>
          </p:cNvPr>
          <p:cNvSpPr txBox="1"/>
          <p:nvPr/>
        </p:nvSpPr>
        <p:spPr>
          <a:xfrm>
            <a:off x="3555833" y="500461"/>
            <a:ext cx="2871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highlight>
                  <a:srgbClr val="00FFFF"/>
                </a:highlight>
              </a:rPr>
              <a:t>What can go wrong?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0BA1AC-DDC4-D74C-81BB-A663DCCA4C4C}"/>
              </a:ext>
            </a:extLst>
          </p:cNvPr>
          <p:cNvSpPr txBox="1"/>
          <p:nvPr/>
        </p:nvSpPr>
        <p:spPr>
          <a:xfrm>
            <a:off x="6866467" y="6177927"/>
            <a:ext cx="4654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highlight>
                  <a:srgbClr val="00FFFF"/>
                </a:highlight>
              </a:rPr>
              <a:t>Infinite recursion, that is what!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3A5D3E-694E-8E44-BAA2-581D3A8BE1E3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3AD9D6F1-54C0-6644-8155-B899D4685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681528"/>
              </p:ext>
            </p:extLst>
          </p:nvPr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00038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310502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Unit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Expr Op Unit Op Unit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Unit ....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FBDE198E-96F7-D54F-A00B-E4780FCEF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189848"/>
              </p:ext>
            </p:extLst>
          </p:nvPr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727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b="1" dirty="0"/>
              <a:t>Top down parsing does not handle left recursion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B5303-6EEE-4D4D-BBA4-8EFF4E296E2F}"/>
              </a:ext>
            </a:extLst>
          </p:cNvPr>
          <p:cNvSpPr txBox="1"/>
          <p:nvPr/>
        </p:nvSpPr>
        <p:spPr>
          <a:xfrm>
            <a:off x="1083733" y="4445000"/>
            <a:ext cx="2020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 left recursion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FCEF2-C9E6-3E40-A699-6DA6638EB9D1}"/>
              </a:ext>
            </a:extLst>
          </p:cNvPr>
          <p:cNvSpPr txBox="1"/>
          <p:nvPr/>
        </p:nvSpPr>
        <p:spPr>
          <a:xfrm>
            <a:off x="7374466" y="4715933"/>
            <a:ext cx="2195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indirect left recursion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560741" y="5698067"/>
            <a:ext cx="462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Top down parsing cannot handle either of these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8C4B7A-1CEA-EF4A-A9C0-73EF97A817D9}"/>
              </a:ext>
            </a:extLst>
          </p:cNvPr>
          <p:cNvSpPr/>
          <p:nvPr/>
        </p:nvSpPr>
        <p:spPr>
          <a:xfrm>
            <a:off x="761998" y="2258511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dirty="0">
                <a:latin typeface="Courier" pitchFamily="2" charset="0"/>
              </a:rPr>
              <a:t>  ::=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dirty="0">
                <a:latin typeface="Courier" pitchFamily="2" charset="0"/>
              </a:rPr>
              <a:t>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6096000" y="2413337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Expr_op</a:t>
            </a:r>
            <a:endParaRPr lang="en-US" dirty="0"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76348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b="1" dirty="0"/>
              <a:t>Top down parsing does not handle left recursion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58D662-59C9-B643-A3E2-753B5E9E7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In general, any CFG can be re-written without left recursion</a:t>
            </a:r>
          </a:p>
          <a:p>
            <a:pPr lvl="1"/>
            <a:r>
              <a:rPr lang="en-US" sz="2800" dirty="0"/>
              <a:t>However, the transformation may affect associativity </a:t>
            </a:r>
          </a:p>
          <a:p>
            <a:pPr lvl="1"/>
            <a:r>
              <a:rPr lang="en-US" sz="2800" dirty="0"/>
              <a:t>or increase the number of rules</a:t>
            </a:r>
          </a:p>
          <a:p>
            <a:pPr lvl="1"/>
            <a:r>
              <a:rPr lang="en-US" sz="2800" dirty="0"/>
              <a:t>but it is always possible</a:t>
            </a:r>
          </a:p>
        </p:txBody>
      </p:sp>
    </p:spTree>
    <p:extLst>
      <p:ext uri="{BB962C8B-B14F-4D97-AF65-F5344CB8AC3E}">
        <p14:creationId xmlns:p14="http://schemas.microsoft.com/office/powerpoint/2010/main" val="2552689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2B993-57C7-DF49-A59B-C01E6BC17AF2}"/>
              </a:ext>
            </a:extLst>
          </p:cNvPr>
          <p:cNvSpPr txBox="1"/>
          <p:nvPr/>
        </p:nvSpPr>
        <p:spPr>
          <a:xfrm>
            <a:off x="1219200" y="2819400"/>
            <a:ext cx="29498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“a”</a:t>
            </a:r>
          </a:p>
          <a:p>
            <a:r>
              <a:rPr lang="en-US" sz="2400" dirty="0">
                <a:latin typeface="Courier" pitchFamily="2" charset="0"/>
              </a:rPr>
              <a:t>    |   “b”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2CD5CB-B832-384A-BF16-C0F97F7E513E}"/>
              </a:ext>
            </a:extLst>
          </p:cNvPr>
          <p:cNvSpPr txBox="1"/>
          <p:nvPr/>
        </p:nvSpPr>
        <p:spPr>
          <a:xfrm>
            <a:off x="1219200" y="4548276"/>
            <a:ext cx="4546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What does this grammar describe?</a:t>
            </a:r>
          </a:p>
        </p:txBody>
      </p:sp>
    </p:spTree>
    <p:extLst>
      <p:ext uri="{BB962C8B-B14F-4D97-AF65-F5344CB8AC3E}">
        <p14:creationId xmlns:p14="http://schemas.microsoft.com/office/powerpoint/2010/main" val="591521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2B993-57C7-DF49-A59B-C01E6BC17AF2}"/>
              </a:ext>
            </a:extLst>
          </p:cNvPr>
          <p:cNvSpPr txBox="1"/>
          <p:nvPr/>
        </p:nvSpPr>
        <p:spPr>
          <a:xfrm>
            <a:off x="1219200" y="2819400"/>
            <a:ext cx="29498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“a”</a:t>
            </a:r>
          </a:p>
          <a:p>
            <a:r>
              <a:rPr lang="en-US" sz="2400" dirty="0">
                <a:latin typeface="Courier" pitchFamily="2" charset="0"/>
              </a:rPr>
              <a:t>    |   “b”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43177-05B6-7D4C-AEF7-3B1F5AA777F8}"/>
              </a:ext>
            </a:extLst>
          </p:cNvPr>
          <p:cNvSpPr txBox="1"/>
          <p:nvPr/>
        </p:nvSpPr>
        <p:spPr>
          <a:xfrm>
            <a:off x="6248400" y="2819399"/>
            <a:ext cx="368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 ::= “b” Fee2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Fee2 ::= “a” Fee2</a:t>
            </a:r>
          </a:p>
          <a:p>
            <a:r>
              <a:rPr lang="en-US" sz="2400" dirty="0">
                <a:latin typeface="Courier" pitchFamily="2" charset="0"/>
              </a:rPr>
              <a:t>     | 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B09FD4-A8EF-DC46-9E43-29C7CF1D9528}"/>
              </a:ext>
            </a:extLst>
          </p:cNvPr>
          <p:cNvSpPr txBox="1"/>
          <p:nvPr/>
        </p:nvSpPr>
        <p:spPr>
          <a:xfrm>
            <a:off x="6096000" y="2070377"/>
            <a:ext cx="3293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grammar can be rewritten as</a:t>
            </a:r>
          </a:p>
        </p:txBody>
      </p:sp>
    </p:spTree>
    <p:extLst>
      <p:ext uri="{BB962C8B-B14F-4D97-AF65-F5344CB8AC3E}">
        <p14:creationId xmlns:p14="http://schemas.microsoft.com/office/powerpoint/2010/main" val="1642124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2B993-57C7-DF49-A59B-C01E6BC17AF2}"/>
              </a:ext>
            </a:extLst>
          </p:cNvPr>
          <p:cNvSpPr txBox="1"/>
          <p:nvPr/>
        </p:nvSpPr>
        <p:spPr>
          <a:xfrm>
            <a:off x="1219200" y="2819400"/>
            <a:ext cx="25811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A</a:t>
            </a:r>
          </a:p>
          <a:p>
            <a:r>
              <a:rPr lang="en-US" sz="2400" dirty="0">
                <a:latin typeface="Courier" pitchFamily="2" charset="0"/>
              </a:rPr>
              <a:t>    |   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43177-05B6-7D4C-AEF7-3B1F5AA777F8}"/>
              </a:ext>
            </a:extLst>
          </p:cNvPr>
          <p:cNvSpPr txBox="1"/>
          <p:nvPr/>
        </p:nvSpPr>
        <p:spPr>
          <a:xfrm>
            <a:off x="6248400" y="2819399"/>
            <a:ext cx="368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 ::= B Fee2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Fee2 ::= A Fee2</a:t>
            </a:r>
          </a:p>
          <a:p>
            <a:r>
              <a:rPr lang="en-US" sz="2400" dirty="0">
                <a:latin typeface="Courier" pitchFamily="2" charset="0"/>
              </a:rPr>
              <a:t>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B09FD4-A8EF-DC46-9E43-29C7CF1D9528}"/>
              </a:ext>
            </a:extLst>
          </p:cNvPr>
          <p:cNvSpPr txBox="1"/>
          <p:nvPr/>
        </p:nvSpPr>
        <p:spPr>
          <a:xfrm>
            <a:off x="2438400" y="1960310"/>
            <a:ext cx="687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 general, </a:t>
            </a:r>
            <a:r>
              <a:rPr lang="en-US" i="1" dirty="0">
                <a:highlight>
                  <a:srgbClr val="FFFF00"/>
                </a:highlight>
              </a:rPr>
              <a:t>A and B can be any sequence of non-terminals and terminals</a:t>
            </a:r>
          </a:p>
        </p:txBody>
      </p:sp>
    </p:spTree>
    <p:extLst>
      <p:ext uri="{BB962C8B-B14F-4D97-AF65-F5344CB8AC3E}">
        <p14:creationId xmlns:p14="http://schemas.microsoft.com/office/powerpoint/2010/main" val="1369607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26824-AA59-4F45-A39C-0D55DB172730}"/>
              </a:ext>
            </a:extLst>
          </p:cNvPr>
          <p:cNvSpPr txBox="1"/>
          <p:nvPr/>
        </p:nvSpPr>
        <p:spPr>
          <a:xfrm>
            <a:off x="838200" y="4019727"/>
            <a:ext cx="3112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Lets do this one as an example: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676F00-A4BC-1E49-9855-9D9EE1AC37CF}"/>
              </a:ext>
            </a:extLst>
          </p:cNvPr>
          <p:cNvSpPr txBox="1"/>
          <p:nvPr/>
        </p:nvSpPr>
        <p:spPr>
          <a:xfrm>
            <a:off x="838200" y="4958265"/>
            <a:ext cx="258115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A</a:t>
            </a:r>
          </a:p>
          <a:p>
            <a:r>
              <a:rPr lang="en-US" sz="2400" dirty="0">
                <a:latin typeface="Courier" pitchFamily="2" charset="0"/>
              </a:rPr>
              <a:t>    |  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55BAF3-3D30-DC48-AF36-D594694AF4E7}"/>
              </a:ext>
            </a:extLst>
          </p:cNvPr>
          <p:cNvSpPr txBox="1"/>
          <p:nvPr/>
        </p:nvSpPr>
        <p:spPr>
          <a:xfrm>
            <a:off x="4961466" y="4588934"/>
            <a:ext cx="36830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 ::= B Fee2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Fee2 ::= A Fee2</a:t>
            </a:r>
          </a:p>
          <a:p>
            <a:r>
              <a:rPr lang="en-US" sz="2400" dirty="0">
                <a:latin typeface="Courier" pitchFamily="2" charset="0"/>
              </a:rPr>
              <a:t>     |    “”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44EF493-F4D3-F74D-B9B3-FA8A993CFF5D}"/>
              </a:ext>
            </a:extLst>
          </p:cNvPr>
          <p:cNvSpPr/>
          <p:nvPr/>
        </p:nvSpPr>
        <p:spPr>
          <a:xfrm>
            <a:off x="3950719" y="5308600"/>
            <a:ext cx="765214" cy="2201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F71058-3D02-354A-8EB9-782ACBD8786D}"/>
              </a:ext>
            </a:extLst>
          </p:cNvPr>
          <p:cNvSpPr/>
          <p:nvPr/>
        </p:nvSpPr>
        <p:spPr>
          <a:xfrm>
            <a:off x="931331" y="1867006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27565763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26824-AA59-4F45-A39C-0D55DB172730}"/>
              </a:ext>
            </a:extLst>
          </p:cNvPr>
          <p:cNvSpPr txBox="1"/>
          <p:nvPr/>
        </p:nvSpPr>
        <p:spPr>
          <a:xfrm>
            <a:off x="838200" y="4019727"/>
            <a:ext cx="3112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Lets do this one as an example: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676F00-A4BC-1E49-9855-9D9EE1AC37CF}"/>
              </a:ext>
            </a:extLst>
          </p:cNvPr>
          <p:cNvSpPr txBox="1"/>
          <p:nvPr/>
        </p:nvSpPr>
        <p:spPr>
          <a:xfrm>
            <a:off x="838200" y="4958265"/>
            <a:ext cx="258115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A</a:t>
            </a:r>
          </a:p>
          <a:p>
            <a:r>
              <a:rPr lang="en-US" sz="2400" dirty="0">
                <a:latin typeface="Courier" pitchFamily="2" charset="0"/>
              </a:rPr>
              <a:t>    |  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55BAF3-3D30-DC48-AF36-D594694AF4E7}"/>
              </a:ext>
            </a:extLst>
          </p:cNvPr>
          <p:cNvSpPr txBox="1"/>
          <p:nvPr/>
        </p:nvSpPr>
        <p:spPr>
          <a:xfrm>
            <a:off x="4961466" y="4588934"/>
            <a:ext cx="36830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 ::= B Fee2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Fee2 ::= A Fee2</a:t>
            </a:r>
          </a:p>
          <a:p>
            <a:r>
              <a:rPr lang="en-US" sz="2400" dirty="0">
                <a:latin typeface="Courier" pitchFamily="2" charset="0"/>
              </a:rPr>
              <a:t>     |    “”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44EF493-F4D3-F74D-B9B3-FA8A993CFF5D}"/>
              </a:ext>
            </a:extLst>
          </p:cNvPr>
          <p:cNvSpPr/>
          <p:nvPr/>
        </p:nvSpPr>
        <p:spPr>
          <a:xfrm>
            <a:off x="3950719" y="5308600"/>
            <a:ext cx="765214" cy="2201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C864E2-A02E-2444-AE31-D5DF5CC6D686}"/>
              </a:ext>
            </a:extLst>
          </p:cNvPr>
          <p:cNvSpPr/>
          <p:nvPr/>
        </p:nvSpPr>
        <p:spPr>
          <a:xfrm>
            <a:off x="7518398" y="1745318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?</a:t>
            </a:r>
          </a:p>
          <a:p>
            <a:r>
              <a:rPr lang="en-US" dirty="0">
                <a:latin typeface="Courier" pitchFamily="2" charset="0"/>
              </a:rPr>
              <a:t>2: Expr2 ::= ?</a:t>
            </a:r>
          </a:p>
          <a:p>
            <a:r>
              <a:rPr lang="en-US" dirty="0">
                <a:latin typeface="Courier" pitchFamily="2" charset="0"/>
              </a:rPr>
              <a:t>3:       | ?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E259B4-7C64-2F4C-880F-61DEB51B60A5}"/>
              </a:ext>
            </a:extLst>
          </p:cNvPr>
          <p:cNvSpPr/>
          <p:nvPr/>
        </p:nvSpPr>
        <p:spPr>
          <a:xfrm>
            <a:off x="931331" y="1867006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dirty="0">
                <a:latin typeface="Courier" pitchFamily="2" charset="0"/>
              </a:rPr>
              <a:t>  ::=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dirty="0">
                <a:latin typeface="Courier" pitchFamily="2" charset="0"/>
              </a:rPr>
              <a:t>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4AE47-F185-4846-AD7D-D588580EC039}"/>
              </a:ext>
            </a:extLst>
          </p:cNvPr>
          <p:cNvSpPr txBox="1"/>
          <p:nvPr/>
        </p:nvSpPr>
        <p:spPr>
          <a:xfrm>
            <a:off x="9474198" y="809351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A = ?</a:t>
            </a:r>
          </a:p>
          <a:p>
            <a:r>
              <a:rPr lang="en-US" dirty="0">
                <a:latin typeface="Courier" pitchFamily="2" charset="0"/>
              </a:rPr>
              <a:t>B = ?</a:t>
            </a:r>
          </a:p>
        </p:txBody>
      </p:sp>
    </p:spTree>
    <p:extLst>
      <p:ext uri="{BB962C8B-B14F-4D97-AF65-F5344CB8AC3E}">
        <p14:creationId xmlns:p14="http://schemas.microsoft.com/office/powerpoint/2010/main" val="7305117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8886B-21E0-5AA1-82C6-8918A3188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9D68D-502C-B7F3-89BF-F2CE913CA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A597CA-1751-EBD1-C750-129E719A30E2}"/>
              </a:ext>
            </a:extLst>
          </p:cNvPr>
          <p:cNvSpPr txBox="1"/>
          <p:nvPr/>
        </p:nvSpPr>
        <p:spPr>
          <a:xfrm>
            <a:off x="838200" y="4019727"/>
            <a:ext cx="3112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Lets do this one as an example: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EF1D7-AD58-DEAF-05AF-223CA7181995}"/>
              </a:ext>
            </a:extLst>
          </p:cNvPr>
          <p:cNvSpPr txBox="1"/>
          <p:nvPr/>
        </p:nvSpPr>
        <p:spPr>
          <a:xfrm>
            <a:off x="838200" y="4958265"/>
            <a:ext cx="258115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A</a:t>
            </a:r>
          </a:p>
          <a:p>
            <a:r>
              <a:rPr lang="en-US" sz="2400" dirty="0">
                <a:latin typeface="Courier" pitchFamily="2" charset="0"/>
              </a:rPr>
              <a:t>    |  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FE1836-3BF4-CD6A-4F88-CBCFA12B570A}"/>
              </a:ext>
            </a:extLst>
          </p:cNvPr>
          <p:cNvSpPr txBox="1"/>
          <p:nvPr/>
        </p:nvSpPr>
        <p:spPr>
          <a:xfrm>
            <a:off x="4961466" y="4588934"/>
            <a:ext cx="36830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 ::= B Fee2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Fee2 ::= A Fee2</a:t>
            </a:r>
          </a:p>
          <a:p>
            <a:r>
              <a:rPr lang="en-US" sz="2400" dirty="0">
                <a:latin typeface="Courier" pitchFamily="2" charset="0"/>
              </a:rPr>
              <a:t>     |    “”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81C9B992-1CE9-4363-EE8E-64D1DE8B41A0}"/>
              </a:ext>
            </a:extLst>
          </p:cNvPr>
          <p:cNvSpPr/>
          <p:nvPr/>
        </p:nvSpPr>
        <p:spPr>
          <a:xfrm>
            <a:off x="3950719" y="5308600"/>
            <a:ext cx="765214" cy="2201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7CDF61-790D-C310-EE01-04858455C383}"/>
              </a:ext>
            </a:extLst>
          </p:cNvPr>
          <p:cNvSpPr/>
          <p:nvPr/>
        </p:nvSpPr>
        <p:spPr>
          <a:xfrm>
            <a:off x="7518398" y="1745318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?</a:t>
            </a:r>
          </a:p>
          <a:p>
            <a:r>
              <a:rPr lang="en-US" dirty="0">
                <a:latin typeface="Courier" pitchFamily="2" charset="0"/>
              </a:rPr>
              <a:t>2: Expr2 ::= ?</a:t>
            </a:r>
          </a:p>
          <a:p>
            <a:r>
              <a:rPr lang="en-US" dirty="0">
                <a:latin typeface="Courier" pitchFamily="2" charset="0"/>
              </a:rPr>
              <a:t>3:       | ?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A0B01B-4B97-D3BD-7DB9-D78554927C4A}"/>
              </a:ext>
            </a:extLst>
          </p:cNvPr>
          <p:cNvSpPr/>
          <p:nvPr/>
        </p:nvSpPr>
        <p:spPr>
          <a:xfrm>
            <a:off x="931331" y="1867006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dirty="0">
                <a:latin typeface="Courier" pitchFamily="2" charset="0"/>
              </a:rPr>
              <a:t>  ::=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dirty="0">
                <a:latin typeface="Courier" pitchFamily="2" charset="0"/>
              </a:rPr>
              <a:t>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03376B-EC8B-7CD0-6BA5-A8A843DA6D54}"/>
              </a:ext>
            </a:extLst>
          </p:cNvPr>
          <p:cNvSpPr txBox="1"/>
          <p:nvPr/>
        </p:nvSpPr>
        <p:spPr>
          <a:xfrm>
            <a:off x="9474198" y="809351"/>
            <a:ext cx="1701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A = Op Unit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B = Unit</a:t>
            </a:r>
          </a:p>
        </p:txBody>
      </p:sp>
    </p:spTree>
    <p:extLst>
      <p:ext uri="{BB962C8B-B14F-4D97-AF65-F5344CB8AC3E}">
        <p14:creationId xmlns:p14="http://schemas.microsoft.com/office/powerpoint/2010/main" val="2518997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26824-AA59-4F45-A39C-0D55DB172730}"/>
              </a:ext>
            </a:extLst>
          </p:cNvPr>
          <p:cNvSpPr txBox="1"/>
          <p:nvPr/>
        </p:nvSpPr>
        <p:spPr>
          <a:xfrm>
            <a:off x="838200" y="4019727"/>
            <a:ext cx="3112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Lets do this one as an example: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676F00-A4BC-1E49-9855-9D9EE1AC37CF}"/>
              </a:ext>
            </a:extLst>
          </p:cNvPr>
          <p:cNvSpPr txBox="1"/>
          <p:nvPr/>
        </p:nvSpPr>
        <p:spPr>
          <a:xfrm>
            <a:off x="838200" y="4958265"/>
            <a:ext cx="258115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A</a:t>
            </a:r>
          </a:p>
          <a:p>
            <a:r>
              <a:rPr lang="en-US" sz="2400" dirty="0">
                <a:latin typeface="Courier" pitchFamily="2" charset="0"/>
              </a:rPr>
              <a:t>    |  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55BAF3-3D30-DC48-AF36-D594694AF4E7}"/>
              </a:ext>
            </a:extLst>
          </p:cNvPr>
          <p:cNvSpPr txBox="1"/>
          <p:nvPr/>
        </p:nvSpPr>
        <p:spPr>
          <a:xfrm>
            <a:off x="4961466" y="4588934"/>
            <a:ext cx="36830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 ::= B Fee2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Fee2 ::= A Fee2</a:t>
            </a:r>
          </a:p>
          <a:p>
            <a:r>
              <a:rPr lang="en-US" sz="2400" dirty="0">
                <a:latin typeface="Courier" pitchFamily="2" charset="0"/>
              </a:rPr>
              <a:t>     |    “”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44EF493-F4D3-F74D-B9B3-FA8A993CFF5D}"/>
              </a:ext>
            </a:extLst>
          </p:cNvPr>
          <p:cNvSpPr/>
          <p:nvPr/>
        </p:nvSpPr>
        <p:spPr>
          <a:xfrm>
            <a:off x="3950719" y="5308600"/>
            <a:ext cx="765214" cy="2201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C864E2-A02E-2444-AE31-D5DF5CC6D686}"/>
              </a:ext>
            </a:extLst>
          </p:cNvPr>
          <p:cNvSpPr/>
          <p:nvPr/>
        </p:nvSpPr>
        <p:spPr>
          <a:xfrm>
            <a:off x="7518398" y="1745318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  ::= Unit Expr2</a:t>
            </a:r>
          </a:p>
          <a:p>
            <a:r>
              <a:rPr lang="en-US" dirty="0">
                <a:latin typeface="Courier" pitchFamily="2" charset="0"/>
              </a:rPr>
              <a:t>2: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Expr2 ::= Op Unit Expr2</a:t>
            </a:r>
          </a:p>
          <a:p>
            <a:r>
              <a:rPr lang="en-US" dirty="0">
                <a:latin typeface="Courier" pitchFamily="2" charset="0"/>
              </a:rPr>
              <a:t>3:      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E259B4-7C64-2F4C-880F-61DEB51B60A5}"/>
              </a:ext>
            </a:extLst>
          </p:cNvPr>
          <p:cNvSpPr/>
          <p:nvPr/>
        </p:nvSpPr>
        <p:spPr>
          <a:xfrm>
            <a:off x="931331" y="1867006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4AE47-F185-4846-AD7D-D588580EC039}"/>
              </a:ext>
            </a:extLst>
          </p:cNvPr>
          <p:cNvSpPr txBox="1"/>
          <p:nvPr/>
        </p:nvSpPr>
        <p:spPr>
          <a:xfrm>
            <a:off x="9474198" y="809351"/>
            <a:ext cx="1701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A = Op Unit</a:t>
            </a:r>
          </a:p>
          <a:p>
            <a:r>
              <a:rPr lang="en-US" dirty="0">
                <a:latin typeface="Courier" pitchFamily="2" charset="0"/>
              </a:rPr>
              <a:t>B = Unit</a:t>
            </a:r>
          </a:p>
        </p:txBody>
      </p:sp>
    </p:spTree>
    <p:extLst>
      <p:ext uri="{BB962C8B-B14F-4D97-AF65-F5344CB8AC3E}">
        <p14:creationId xmlns:p14="http://schemas.microsoft.com/office/powerpoint/2010/main" val="23244548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A103AB-5157-9743-BC3A-0C7404719604}"/>
              </a:ext>
            </a:extLst>
          </p:cNvPr>
          <p:cNvSpPr/>
          <p:nvPr/>
        </p:nvSpPr>
        <p:spPr>
          <a:xfrm>
            <a:off x="7662332" y="500718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graphicFrame>
        <p:nvGraphicFramePr>
          <p:cNvPr id="15" name="Table 9">
            <a:extLst>
              <a:ext uri="{FF2B5EF4-FFF2-40B4-BE49-F238E27FC236}">
                <a16:creationId xmlns:a16="http://schemas.microsoft.com/office/drawing/2014/main" id="{C29E8994-1FD5-DB4F-94F8-6AE5D164B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460886"/>
              </p:ext>
            </p:extLst>
          </p:nvPr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9" name="Table 11">
            <a:extLst>
              <a:ext uri="{FF2B5EF4-FFF2-40B4-BE49-F238E27FC236}">
                <a16:creationId xmlns:a16="http://schemas.microsoft.com/office/drawing/2014/main" id="{B6743B0F-F925-C04C-A3E0-8D388BD29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288612"/>
              </p:ext>
            </p:extLst>
          </p:nvPr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986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A103AB-5157-9743-BC3A-0C7404719604}"/>
              </a:ext>
            </a:extLst>
          </p:cNvPr>
          <p:cNvSpPr/>
          <p:nvPr/>
        </p:nvSpPr>
        <p:spPr>
          <a:xfrm>
            <a:off x="7662332" y="500718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graphicFrame>
        <p:nvGraphicFramePr>
          <p:cNvPr id="15" name="Table 9">
            <a:extLst>
              <a:ext uri="{FF2B5EF4-FFF2-40B4-BE49-F238E27FC236}">
                <a16:creationId xmlns:a16="http://schemas.microsoft.com/office/drawing/2014/main" id="{C29E8994-1FD5-DB4F-94F8-6AE5D164B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4109"/>
              </p:ext>
            </p:extLst>
          </p:nvPr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0501035-8CC1-2A49-AEF6-4C65A8BE668B}"/>
              </a:ext>
            </a:extLst>
          </p:cNvPr>
          <p:cNvSpPr txBox="1"/>
          <p:nvPr/>
        </p:nvSpPr>
        <p:spPr>
          <a:xfrm>
            <a:off x="5723467" y="719667"/>
            <a:ext cx="1561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to handle</a:t>
            </a:r>
            <a:br>
              <a:rPr lang="en-US" i="1" dirty="0"/>
            </a:br>
            <a:r>
              <a:rPr lang="en-US" i="1" dirty="0"/>
              <a:t>this case?</a:t>
            </a:r>
          </a:p>
        </p:txBody>
      </p:sp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28043986-F21C-3848-B452-B40E284BD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343150"/>
              </p:ext>
            </p:extLst>
          </p:nvPr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1679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6356227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    if A == “”: focus=pop(); continue; # ignore it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A103AB-5157-9743-BC3A-0C7404719604}"/>
              </a:ext>
            </a:extLst>
          </p:cNvPr>
          <p:cNvSpPr/>
          <p:nvPr/>
        </p:nvSpPr>
        <p:spPr>
          <a:xfrm>
            <a:off x="7662332" y="500718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graphicFrame>
        <p:nvGraphicFramePr>
          <p:cNvPr id="15" name="Table 9">
            <a:extLst>
              <a:ext uri="{FF2B5EF4-FFF2-40B4-BE49-F238E27FC236}">
                <a16:creationId xmlns:a16="http://schemas.microsoft.com/office/drawing/2014/main" id="{C29E8994-1FD5-DB4F-94F8-6AE5D164B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803087"/>
              </p:ext>
            </p:extLst>
          </p:nvPr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0501035-8CC1-2A49-AEF6-4C65A8BE668B}"/>
              </a:ext>
            </a:extLst>
          </p:cNvPr>
          <p:cNvSpPr txBox="1"/>
          <p:nvPr/>
        </p:nvSpPr>
        <p:spPr>
          <a:xfrm>
            <a:off x="5723467" y="719667"/>
            <a:ext cx="1561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to handle</a:t>
            </a:r>
            <a:br>
              <a:rPr lang="en-US" i="1" dirty="0"/>
            </a:br>
            <a:r>
              <a:rPr lang="en-US" i="1" dirty="0"/>
              <a:t>this case?</a:t>
            </a:r>
          </a:p>
        </p:txBody>
      </p:sp>
      <p:graphicFrame>
        <p:nvGraphicFramePr>
          <p:cNvPr id="9" name="Table 11">
            <a:extLst>
              <a:ext uri="{FF2B5EF4-FFF2-40B4-BE49-F238E27FC236}">
                <a16:creationId xmlns:a16="http://schemas.microsoft.com/office/drawing/2014/main" id="{AF7D498A-D3DE-AA49-95F7-621BA36F5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07606"/>
              </p:ext>
            </p:extLst>
          </p:nvPr>
        </p:nvGraphicFramePr>
        <p:xfrm>
          <a:off x="546359" y="4898082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861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How about indirect left recursion?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B5303-6EEE-4D4D-BBA4-8EFF4E296E2F}"/>
              </a:ext>
            </a:extLst>
          </p:cNvPr>
          <p:cNvSpPr txBox="1"/>
          <p:nvPr/>
        </p:nvSpPr>
        <p:spPr>
          <a:xfrm>
            <a:off x="1083733" y="4445000"/>
            <a:ext cx="2020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 left recursion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FCEF2-C9E6-3E40-A699-6DA6638EB9D1}"/>
              </a:ext>
            </a:extLst>
          </p:cNvPr>
          <p:cNvSpPr txBox="1"/>
          <p:nvPr/>
        </p:nvSpPr>
        <p:spPr>
          <a:xfrm>
            <a:off x="7374466" y="4715933"/>
            <a:ext cx="2195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indirect left recursion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953933" y="5698067"/>
            <a:ext cx="385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Top down parsing cannot handle either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8C4B7A-1CEA-EF4A-A9C0-73EF97A817D9}"/>
              </a:ext>
            </a:extLst>
          </p:cNvPr>
          <p:cNvSpPr/>
          <p:nvPr/>
        </p:nvSpPr>
        <p:spPr>
          <a:xfrm>
            <a:off x="761998" y="2258511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dirty="0">
                <a:latin typeface="Courier" pitchFamily="2" charset="0"/>
              </a:rPr>
              <a:t>  ::=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dirty="0">
                <a:latin typeface="Courier" pitchFamily="2" charset="0"/>
              </a:rPr>
              <a:t>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6096000" y="2413337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Expr_op</a:t>
            </a:r>
            <a:endParaRPr lang="en-US" dirty="0"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19433739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How about indirect left recursion?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97933" y="4419600"/>
            <a:ext cx="3293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Identify indirect left left recursion</a:t>
            </a:r>
          </a:p>
          <a:p>
            <a:endParaRPr lang="en-US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3953933" y="1896870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Expr_op</a:t>
            </a:r>
            <a:endParaRPr lang="en-US" dirty="0"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/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 dirty="0"/>
                  <a:t>Expr_base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i="1" dirty="0" err="1"/>
                  <a:t>Expr_op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 err="1"/>
                  <a:t>Expr_base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  <a:blipFill>
                <a:blip r:embed="rId2"/>
                <a:stretch>
                  <a:fillRect l="-1928" t="-7895" r="-72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8502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How about indirect left recursion?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97933" y="4419600"/>
            <a:ext cx="3293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Identify indirect left left recursion</a:t>
            </a:r>
          </a:p>
          <a:p>
            <a:endParaRPr lang="en-US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3953933" y="1896870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Expr_op</a:t>
            </a:r>
            <a:endParaRPr lang="en-US" dirty="0"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/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 dirty="0"/>
                  <a:t>Expr_base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i="1" dirty="0" err="1"/>
                  <a:t>Expr_op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 err="1"/>
                  <a:t>Expr_base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  <a:blipFill>
                <a:blip r:embed="rId2"/>
                <a:stretch>
                  <a:fillRect l="-1928" t="-7895" r="-72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BF390D5-3744-8F4B-9877-D1DE8F5C71E1}"/>
              </a:ext>
            </a:extLst>
          </p:cNvPr>
          <p:cNvSpPr txBox="1"/>
          <p:nvPr/>
        </p:nvSpPr>
        <p:spPr>
          <a:xfrm>
            <a:off x="3953933" y="6206067"/>
            <a:ext cx="585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Substitute indirect non-terminal closer to initial non-terminal</a:t>
            </a:r>
          </a:p>
        </p:txBody>
      </p:sp>
    </p:spTree>
    <p:extLst>
      <p:ext uri="{BB962C8B-B14F-4D97-AF65-F5344CB8AC3E}">
        <p14:creationId xmlns:p14="http://schemas.microsoft.com/office/powerpoint/2010/main" val="10050169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How about indirect left recursion?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97933" y="4419600"/>
            <a:ext cx="3293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Identify indirect left left recursion</a:t>
            </a:r>
          </a:p>
          <a:p>
            <a:endParaRPr lang="en-US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1041399" y="1887604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latin typeface="Courier" pitchFamily="2" charset="0"/>
              </a:rPr>
              <a:t>Expr_op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/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 dirty="0"/>
                  <a:t>Expr_base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i="1" dirty="0" err="1"/>
                  <a:t>Expr_op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 err="1"/>
                  <a:t>Expr_base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  <a:blipFill>
                <a:blip r:embed="rId2"/>
                <a:stretch>
                  <a:fillRect l="-1928" t="-7895" r="-72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BF390D5-3744-8F4B-9877-D1DE8F5C71E1}"/>
              </a:ext>
            </a:extLst>
          </p:cNvPr>
          <p:cNvSpPr txBox="1"/>
          <p:nvPr/>
        </p:nvSpPr>
        <p:spPr>
          <a:xfrm>
            <a:off x="3953933" y="6206067"/>
            <a:ext cx="585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Substitute indirect non-terminal closer to initial non-terminal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92654-851C-3C41-B361-2D3305448EBA}"/>
              </a:ext>
            </a:extLst>
          </p:cNvPr>
          <p:cNvSpPr/>
          <p:nvPr/>
        </p:nvSpPr>
        <p:spPr>
          <a:xfrm>
            <a:off x="6582762" y="1971424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3B516-667F-A244-860C-26E7F7FB2197}"/>
              </a:ext>
            </a:extLst>
          </p:cNvPr>
          <p:cNvSpPr txBox="1"/>
          <p:nvPr/>
        </p:nvSpPr>
        <p:spPr>
          <a:xfrm>
            <a:off x="5706533" y="4258733"/>
            <a:ext cx="350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to do with production rule 3?</a:t>
            </a:r>
          </a:p>
        </p:txBody>
      </p:sp>
    </p:spTree>
    <p:extLst>
      <p:ext uri="{BB962C8B-B14F-4D97-AF65-F5344CB8AC3E}">
        <p14:creationId xmlns:p14="http://schemas.microsoft.com/office/powerpoint/2010/main" val="18862249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How about indirect left recursion?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97933" y="4419600"/>
            <a:ext cx="3293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Identify indirect left left recursion</a:t>
            </a:r>
          </a:p>
          <a:p>
            <a:endParaRPr lang="en-US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1041399" y="1887604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latin typeface="Courier" pitchFamily="2" charset="0"/>
              </a:rPr>
              <a:t>Expr_op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/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 dirty="0"/>
                  <a:t>Expr_base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i="1" dirty="0" err="1"/>
                  <a:t>Expr_op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 err="1"/>
                  <a:t>Expr_base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  <a:blipFill>
                <a:blip r:embed="rId2"/>
                <a:stretch>
                  <a:fillRect l="-1928" t="-7895" r="-72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BF390D5-3744-8F4B-9877-D1DE8F5C71E1}"/>
              </a:ext>
            </a:extLst>
          </p:cNvPr>
          <p:cNvSpPr txBox="1"/>
          <p:nvPr/>
        </p:nvSpPr>
        <p:spPr>
          <a:xfrm>
            <a:off x="3953933" y="6206067"/>
            <a:ext cx="585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Substitute indirect non-terminal closer to initial non-terminal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92654-851C-3C41-B361-2D3305448EBA}"/>
              </a:ext>
            </a:extLst>
          </p:cNvPr>
          <p:cNvSpPr/>
          <p:nvPr/>
        </p:nvSpPr>
        <p:spPr>
          <a:xfrm>
            <a:off x="6582762" y="1971424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3B516-667F-A244-860C-26E7F7FB2197}"/>
              </a:ext>
            </a:extLst>
          </p:cNvPr>
          <p:cNvSpPr txBox="1"/>
          <p:nvPr/>
        </p:nvSpPr>
        <p:spPr>
          <a:xfrm>
            <a:off x="5706533" y="4258733"/>
            <a:ext cx="5756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to do with production rule 3?</a:t>
            </a:r>
            <a:br>
              <a:rPr lang="en-US" dirty="0"/>
            </a:br>
            <a:r>
              <a:rPr lang="en-US" dirty="0"/>
              <a:t>It may need to stay if another production rule references it!</a:t>
            </a:r>
          </a:p>
        </p:txBody>
      </p:sp>
    </p:spTree>
    <p:extLst>
      <p:ext uri="{BB962C8B-B14F-4D97-AF65-F5344CB8AC3E}">
        <p14:creationId xmlns:p14="http://schemas.microsoft.com/office/powerpoint/2010/main" val="12700264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79265B-CFF5-3844-8225-B79B08CF3EAE}"/>
              </a:ext>
            </a:extLst>
          </p:cNvPr>
          <p:cNvSpPr txBox="1"/>
          <p:nvPr/>
        </p:nvSpPr>
        <p:spPr>
          <a:xfrm>
            <a:off x="1956341" y="2813447"/>
            <a:ext cx="827931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i="1" dirty="0"/>
              <a:t>It is always possible to eliminate left recursion</a:t>
            </a:r>
          </a:p>
        </p:txBody>
      </p:sp>
    </p:spTree>
    <p:extLst>
      <p:ext uri="{BB962C8B-B14F-4D97-AF65-F5344CB8AC3E}">
        <p14:creationId xmlns:p14="http://schemas.microsoft.com/office/powerpoint/2010/main" val="1067359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A2E5E-62C6-663D-8770-6A2219507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4DC939-B797-F4C6-46AC-6A915821B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743" y="258544"/>
            <a:ext cx="9383486" cy="47184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0A4105-F88A-6B04-19A3-8FB13E18DC8F}"/>
              </a:ext>
            </a:extLst>
          </p:cNvPr>
          <p:cNvSpPr txBox="1"/>
          <p:nvPr/>
        </p:nvSpPr>
        <p:spPr>
          <a:xfrm>
            <a:off x="2134961" y="5932697"/>
            <a:ext cx="8696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Algorithm to remove Indirect Left Recursion from EAC Chapter 3.3 </a:t>
            </a:r>
            <a:br>
              <a:rPr lang="en-US" dirty="0"/>
            </a:br>
            <a:r>
              <a:rPr lang="en-US" dirty="0"/>
              <a:t>See explanation in  Indirect_Left_Recursion_Removal.pdf for more detailed explanation.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7E8C1-A0D4-5201-E0F6-EA8E4DE89392}"/>
              </a:ext>
            </a:extLst>
          </p:cNvPr>
          <p:cNvSpPr txBox="1"/>
          <p:nvPr/>
        </p:nvSpPr>
        <p:spPr>
          <a:xfrm>
            <a:off x="1422627" y="5072743"/>
            <a:ext cx="10319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nonterminal, first expand away anything that starts with an earlier nonterminal (i.e. Indirect left recursion). Once that’s done, the only possible left recursion is direct — and we know how to remove that.</a:t>
            </a:r>
          </a:p>
        </p:txBody>
      </p:sp>
    </p:spTree>
    <p:extLst>
      <p:ext uri="{BB962C8B-B14F-4D97-AF65-F5344CB8AC3E}">
        <p14:creationId xmlns:p14="http://schemas.microsoft.com/office/powerpoint/2010/main" val="35761116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5862502" cy="649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cache_state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();</a:t>
            </a:r>
          </a:p>
          <a:p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    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if B1 == “”: focus=pop(); continue;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highlight>
                  <a:srgbClr val="FFFF00"/>
                </a:highlight>
                <a:latin typeface="Courier" pitchFamily="2" charset="0"/>
              </a:rPr>
              <a:t>else if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(we have a cached state)</a:t>
            </a:r>
          </a:p>
          <a:p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     backtrack();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else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parser_error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endParaRPr lang="en-US" sz="1600" dirty="0">
              <a:latin typeface="Courier" pitchFamily="2" charset="0"/>
            </a:endParaRPr>
          </a:p>
        </p:txBody>
      </p:sp>
      <p:graphicFrame>
        <p:nvGraphicFramePr>
          <p:cNvPr id="15" name="Table 9">
            <a:extLst>
              <a:ext uri="{FF2B5EF4-FFF2-40B4-BE49-F238E27FC236}">
                <a16:creationId xmlns:a16="http://schemas.microsoft.com/office/drawing/2014/main" id="{C29E8994-1FD5-DB4F-94F8-6AE5D164BF00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 Expr2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9CD21B2-65B0-9B4E-AC9C-7BAEF1C50F5F}"/>
              </a:ext>
            </a:extLst>
          </p:cNvPr>
          <p:cNvSpPr/>
          <p:nvPr/>
        </p:nvSpPr>
        <p:spPr>
          <a:xfrm>
            <a:off x="8280399" y="463670"/>
            <a:ext cx="39116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ID Expr2</a:t>
            </a:r>
          </a:p>
          <a:p>
            <a:r>
              <a:rPr lang="en-US" dirty="0">
                <a:latin typeface="Courier" pitchFamily="2" charset="0"/>
              </a:rPr>
              <a:t>2: Expr2 ::= ‘+’ Expr2</a:t>
            </a:r>
          </a:p>
          <a:p>
            <a:r>
              <a:rPr lang="en-US" dirty="0">
                <a:latin typeface="Courier" pitchFamily="2" charset="0"/>
              </a:rPr>
              <a:t>         |   ””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8CC11-C9DC-2E46-B941-9611D27EC8E8}"/>
              </a:ext>
            </a:extLst>
          </p:cNvPr>
          <p:cNvSpPr txBox="1"/>
          <p:nvPr/>
        </p:nvSpPr>
        <p:spPr>
          <a:xfrm>
            <a:off x="8237551" y="2202511"/>
            <a:ext cx="2031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we match: “a”?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63F9CC-4365-1E43-A4CB-5ECA71BF265F}"/>
              </a:ext>
            </a:extLst>
          </p:cNvPr>
          <p:cNvSpPr txBox="1"/>
          <p:nvPr/>
        </p:nvSpPr>
        <p:spPr>
          <a:xfrm>
            <a:off x="5025919" y="1446201"/>
            <a:ext cx="2474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Keep track of what choices we’ve made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4B7F3F-E9E8-9D83-43C0-B084EC7D9205}"/>
              </a:ext>
            </a:extLst>
          </p:cNvPr>
          <p:cNvSpPr txBox="1"/>
          <p:nvPr/>
        </p:nvSpPr>
        <p:spPr>
          <a:xfrm>
            <a:off x="4546867" y="72805"/>
            <a:ext cx="3076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Back Tracking</a:t>
            </a:r>
          </a:p>
          <a:p>
            <a:r>
              <a:rPr lang="en-US" sz="2400" dirty="0"/>
              <a:t>  (not a good thing)</a:t>
            </a:r>
          </a:p>
        </p:txBody>
      </p:sp>
    </p:spTree>
    <p:extLst>
      <p:ext uri="{BB962C8B-B14F-4D97-AF65-F5344CB8AC3E}">
        <p14:creationId xmlns:p14="http://schemas.microsoft.com/office/powerpoint/2010/main" val="26760499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E936B-6C01-3642-99E0-B1143C52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Backtracking gets complicated...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6D831-89C8-7147-A09A-BC8B38EEA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we need to backtrack?</a:t>
            </a:r>
          </a:p>
          <a:p>
            <a:pPr lvl="1"/>
            <a:r>
              <a:rPr lang="en-US" dirty="0"/>
              <a:t>In the general case, </a:t>
            </a:r>
            <a:r>
              <a:rPr lang="en-US" b="1" dirty="0">
                <a:solidFill>
                  <a:srgbClr val="FF0000"/>
                </a:solidFill>
              </a:rPr>
              <a:t>yes</a:t>
            </a:r>
          </a:p>
          <a:p>
            <a:pPr lvl="1"/>
            <a:r>
              <a:rPr lang="en-US" dirty="0"/>
              <a:t>In many useful cases, </a:t>
            </a:r>
            <a:r>
              <a:rPr lang="en-US" b="1" dirty="0">
                <a:solidFill>
                  <a:srgbClr val="00B050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9753575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5985934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    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if B1 == “”: focus=pop(); continue;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graphicFrame>
        <p:nvGraphicFramePr>
          <p:cNvPr id="15" name="Table 9">
            <a:extLst>
              <a:ext uri="{FF2B5EF4-FFF2-40B4-BE49-F238E27FC236}">
                <a16:creationId xmlns:a16="http://schemas.microsoft.com/office/drawing/2014/main" id="{C29E8994-1FD5-DB4F-94F8-6AE5D164BF00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 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Expr2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9" name="Table 11">
            <a:extLst>
              <a:ext uri="{FF2B5EF4-FFF2-40B4-BE49-F238E27FC236}">
                <a16:creationId xmlns:a16="http://schemas.microsoft.com/office/drawing/2014/main" id="{AF7D498A-D3DE-AA49-95F7-621BA36F53A8}"/>
              </a:ext>
            </a:extLst>
          </p:cNvPr>
          <p:cNvGraphicFramePr>
            <a:graphicFrameLocks noGrp="1"/>
          </p:cNvGraphicFramePr>
          <p:nvPr/>
        </p:nvGraphicFramePr>
        <p:xfrm>
          <a:off x="546359" y="4898082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Expr2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“”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9CD21B2-65B0-9B4E-AC9C-7BAEF1C50F5F}"/>
              </a:ext>
            </a:extLst>
          </p:cNvPr>
          <p:cNvSpPr/>
          <p:nvPr/>
        </p:nvSpPr>
        <p:spPr>
          <a:xfrm>
            <a:off x="8280399" y="463670"/>
            <a:ext cx="39116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ID Expr2</a:t>
            </a:r>
          </a:p>
          <a:p>
            <a:r>
              <a:rPr lang="en-US" dirty="0">
                <a:latin typeface="Courier" pitchFamily="2" charset="0"/>
              </a:rPr>
              <a:t>2: Expr2 ::= ‘+’ Expr2</a:t>
            </a:r>
          </a:p>
          <a:p>
            <a:r>
              <a:rPr lang="en-US" dirty="0">
                <a:latin typeface="Courier" pitchFamily="2" charset="0"/>
              </a:rPr>
              <a:t>3:       |   ””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8CC11-C9DC-2E46-B941-9611D27EC8E8}"/>
              </a:ext>
            </a:extLst>
          </p:cNvPr>
          <p:cNvSpPr txBox="1"/>
          <p:nvPr/>
        </p:nvSpPr>
        <p:spPr>
          <a:xfrm>
            <a:off x="8237551" y="2202511"/>
            <a:ext cx="2031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we match: “a”?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868959-DD9C-0744-8E74-0A46B4FEDB78}"/>
              </a:ext>
            </a:extLst>
          </p:cNvPr>
          <p:cNvSpPr txBox="1"/>
          <p:nvPr/>
        </p:nvSpPr>
        <p:spPr>
          <a:xfrm>
            <a:off x="4186150" y="1303911"/>
            <a:ext cx="381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highlight>
                  <a:srgbClr val="FFFF00"/>
                </a:highlight>
              </a:rPr>
              <a:t>Could we make a smarter choice here?</a:t>
            </a:r>
          </a:p>
        </p:txBody>
      </p:sp>
    </p:spTree>
    <p:extLst>
      <p:ext uri="{BB962C8B-B14F-4D97-AF65-F5344CB8AC3E}">
        <p14:creationId xmlns:p14="http://schemas.microsoft.com/office/powerpoint/2010/main" val="23873164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6358BB-B0A9-4B4A-83E1-CBE80B0ED7F7}"/>
              </a:ext>
            </a:extLst>
          </p:cNvPr>
          <p:cNvSpPr/>
          <p:nvPr/>
        </p:nvSpPr>
        <p:spPr>
          <a:xfrm>
            <a:off x="6096000" y="2415001"/>
            <a:ext cx="50546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{}</a:t>
            </a:r>
          </a:p>
          <a:p>
            <a:r>
              <a:rPr lang="en-US" dirty="0">
                <a:latin typeface="Courier" pitchFamily="2" charset="0"/>
              </a:rPr>
              <a:t>2: {}</a:t>
            </a:r>
          </a:p>
          <a:p>
            <a:r>
              <a:rPr lang="en-US" dirty="0">
                <a:latin typeface="Courier" pitchFamily="2" charset="0"/>
              </a:rPr>
              <a:t>3: {}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{}</a:t>
            </a:r>
          </a:p>
          <a:p>
            <a:r>
              <a:rPr lang="en-US" dirty="0">
                <a:latin typeface="Courier" pitchFamily="2" charset="0"/>
              </a:rPr>
              <a:t>5: {}</a:t>
            </a:r>
          </a:p>
          <a:p>
            <a:r>
              <a:rPr lang="en-US" dirty="0">
                <a:latin typeface="Courier" pitchFamily="2" charset="0"/>
              </a:rPr>
              <a:t>6: {}</a:t>
            </a:r>
          </a:p>
          <a:p>
            <a:r>
              <a:rPr lang="en-US" dirty="0">
                <a:latin typeface="Courier" pitchFamily="2" charset="0"/>
              </a:rPr>
              <a:t>7: {}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C69731-3D29-CA48-8DC5-34C5D0C7668D}"/>
              </a:ext>
            </a:extLst>
          </p:cNvPr>
          <p:cNvSpPr/>
          <p:nvPr/>
        </p:nvSpPr>
        <p:spPr>
          <a:xfrm>
            <a:off x="1149403" y="2692000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B964F-2F88-7308-CE1C-3BC9F5D00F9D}"/>
              </a:ext>
            </a:extLst>
          </p:cNvPr>
          <p:cNvSpPr txBox="1"/>
          <p:nvPr/>
        </p:nvSpPr>
        <p:spPr>
          <a:xfrm>
            <a:off x="6431065" y="1221847"/>
            <a:ext cx="4384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For each production choice, find the set</a:t>
            </a:r>
          </a:p>
          <a:p>
            <a:r>
              <a:rPr lang="en-US" i="1" dirty="0"/>
              <a:t>of tokens that each production can start with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789FAF-6D8D-D063-4584-406EF83C5E0C}"/>
              </a:ext>
            </a:extLst>
          </p:cNvPr>
          <p:cNvSpPr txBox="1"/>
          <p:nvPr/>
        </p:nvSpPr>
        <p:spPr>
          <a:xfrm>
            <a:off x="9834874" y="5986956"/>
            <a:ext cx="1961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1446271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BE2BC-1F8E-0384-D84C-DA1EBBB8A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53B9-F337-72D8-3674-19D63932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53B91-D44E-7607-B0B4-11BACEDB214C}"/>
              </a:ext>
            </a:extLst>
          </p:cNvPr>
          <p:cNvSpPr txBox="1"/>
          <p:nvPr/>
        </p:nvSpPr>
        <p:spPr>
          <a:xfrm>
            <a:off x="6431065" y="1221847"/>
            <a:ext cx="4384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For each production choice, find the set</a:t>
            </a:r>
          </a:p>
          <a:p>
            <a:r>
              <a:rPr lang="en-US" i="1" dirty="0"/>
              <a:t>of tokens that each production can start with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0EA744-C857-5398-E5BD-84F8B78D82C7}"/>
              </a:ext>
            </a:extLst>
          </p:cNvPr>
          <p:cNvSpPr/>
          <p:nvPr/>
        </p:nvSpPr>
        <p:spPr>
          <a:xfrm>
            <a:off x="6096000" y="2415001"/>
            <a:ext cx="50546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A810B8-9F62-0FE3-46F4-E624830033EA}"/>
              </a:ext>
            </a:extLst>
          </p:cNvPr>
          <p:cNvSpPr/>
          <p:nvPr/>
        </p:nvSpPr>
        <p:spPr>
          <a:xfrm>
            <a:off x="1149403" y="2692000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7965031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27EACE-562A-0F4E-AB70-C2F6FD01EEB4}"/>
              </a:ext>
            </a:extLst>
          </p:cNvPr>
          <p:cNvSpPr txBox="1"/>
          <p:nvPr/>
        </p:nvSpPr>
        <p:spPr>
          <a:xfrm>
            <a:off x="6431065" y="1221847"/>
            <a:ext cx="4384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For each production choice, find the set</a:t>
            </a:r>
          </a:p>
          <a:p>
            <a:r>
              <a:rPr lang="en-US" i="1" dirty="0"/>
              <a:t>of tokens that each production can start with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6358BB-B0A9-4B4A-83E1-CBE80B0ED7F7}"/>
              </a:ext>
            </a:extLst>
          </p:cNvPr>
          <p:cNvSpPr/>
          <p:nvPr/>
        </p:nvSpPr>
        <p:spPr>
          <a:xfrm>
            <a:off x="6096000" y="2415001"/>
            <a:ext cx="50546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E9921C-1689-D74A-875E-DCAF31561F3E}"/>
              </a:ext>
            </a:extLst>
          </p:cNvPr>
          <p:cNvSpPr/>
          <p:nvPr/>
        </p:nvSpPr>
        <p:spPr>
          <a:xfrm>
            <a:off x="1149403" y="2692000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83E883-D7AF-A14B-B949-F04364BA2F29}"/>
              </a:ext>
            </a:extLst>
          </p:cNvPr>
          <p:cNvSpPr txBox="1"/>
          <p:nvPr/>
        </p:nvSpPr>
        <p:spPr>
          <a:xfrm>
            <a:off x="6050943" y="5414838"/>
            <a:ext cx="4815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can use first sets to decide which rule to pick!</a:t>
            </a:r>
          </a:p>
        </p:txBody>
      </p:sp>
    </p:spTree>
    <p:extLst>
      <p:ext uri="{BB962C8B-B14F-4D97-AF65-F5344CB8AC3E}">
        <p14:creationId xmlns:p14="http://schemas.microsoft.com/office/powerpoint/2010/main" val="18412014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to_match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 = </a:t>
            </a:r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s.token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to_match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 = </a:t>
            </a:r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s.token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graphicFrame>
        <p:nvGraphicFramePr>
          <p:cNvPr id="19" name="Table 11">
            <a:extLst>
              <a:ext uri="{FF2B5EF4-FFF2-40B4-BE49-F238E27FC236}">
                <a16:creationId xmlns:a16="http://schemas.microsoft.com/office/drawing/2014/main" id="{B6743B0F-F925-C04C-A3E0-8D388BD29269}"/>
              </a:ext>
            </a:extLst>
          </p:cNvPr>
          <p:cNvGraphicFramePr>
            <a:graphicFrameLocks noGrp="1"/>
          </p:cNvGraphicFramePr>
          <p:nvPr/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highlight>
                            <a:srgbClr val="FFFF00"/>
                          </a:highlight>
                        </a:rPr>
                        <a:t>to_match</a:t>
                      </a:r>
                      <a:endParaRPr lang="en-US" sz="16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62A06D4-55A1-2640-ABA9-5E1837F624F6}"/>
              </a:ext>
            </a:extLst>
          </p:cNvPr>
          <p:cNvSpPr txBox="1"/>
          <p:nvPr/>
        </p:nvSpPr>
        <p:spPr>
          <a:xfrm>
            <a:off x="7355752" y="5464534"/>
            <a:ext cx="39567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simply use </a:t>
            </a:r>
            <a:r>
              <a:rPr lang="en-US" dirty="0" err="1">
                <a:highlight>
                  <a:srgbClr val="FFFF00"/>
                </a:highlight>
              </a:rPr>
              <a:t>to_match</a:t>
            </a:r>
            <a:r>
              <a:rPr lang="en-US" dirty="0"/>
              <a:t> and </a:t>
            </a:r>
            <a:r>
              <a:rPr lang="en-US" dirty="0">
                <a:highlight>
                  <a:srgbClr val="FFFF00"/>
                </a:highlight>
              </a:rPr>
              <a:t>compare</a:t>
            </a:r>
            <a:r>
              <a:rPr lang="en-US" dirty="0"/>
              <a:t> it</a:t>
            </a:r>
            <a:br>
              <a:rPr lang="en-US" dirty="0"/>
            </a:br>
            <a:r>
              <a:rPr lang="en-US" dirty="0"/>
              <a:t>to the </a:t>
            </a:r>
            <a:r>
              <a:rPr lang="en-US" dirty="0">
                <a:highlight>
                  <a:srgbClr val="FFFF00"/>
                </a:highlight>
              </a:rPr>
              <a:t>first sets for each choice</a:t>
            </a:r>
          </a:p>
          <a:p>
            <a:endParaRPr lang="en-US" dirty="0"/>
          </a:p>
          <a:p>
            <a:r>
              <a:rPr lang="en-US" dirty="0"/>
              <a:t>For example, Op and Unit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2560DC-BE5A-2146-A4AA-D594E649F9B0}"/>
              </a:ext>
            </a:extLst>
          </p:cNvPr>
          <p:cNvSpPr/>
          <p:nvPr/>
        </p:nvSpPr>
        <p:spPr>
          <a:xfrm>
            <a:off x="6891528" y="2708281"/>
            <a:ext cx="50546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FD9FC4-93A4-3643-B4F9-0EF719BA952E}"/>
              </a:ext>
            </a:extLst>
          </p:cNvPr>
          <p:cNvSpPr/>
          <p:nvPr/>
        </p:nvSpPr>
        <p:spPr>
          <a:xfrm>
            <a:off x="6891528" y="36740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2" name="Right Arrow 10">
            <a:extLst>
              <a:ext uri="{FF2B5EF4-FFF2-40B4-BE49-F238E27FC236}">
                <a16:creationId xmlns:a16="http://schemas.microsoft.com/office/drawing/2014/main" id="{4239A012-23CE-16AF-CDDC-9C9265D94094}"/>
              </a:ext>
            </a:extLst>
          </p:cNvPr>
          <p:cNvSpPr/>
          <p:nvPr/>
        </p:nvSpPr>
        <p:spPr>
          <a:xfrm rot="7488104">
            <a:off x="9150416" y="5114234"/>
            <a:ext cx="536821" cy="252672"/>
          </a:xfrm>
          <a:prstGeom prst="rightArrow">
            <a:avLst/>
          </a:prstGeom>
          <a:ln w="952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F6F4F-2385-E54C-4806-63660BFB37F7}"/>
              </a:ext>
            </a:extLst>
          </p:cNvPr>
          <p:cNvSpPr txBox="1"/>
          <p:nvPr/>
        </p:nvSpPr>
        <p:spPr>
          <a:xfrm>
            <a:off x="9525000" y="4405300"/>
            <a:ext cx="2421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Look-ahead to select </a:t>
            </a:r>
          </a:p>
          <a:p>
            <a:r>
              <a:rPr lang="en-US" dirty="0">
                <a:highlight>
                  <a:srgbClr val="FFFF00"/>
                </a:highlight>
              </a:rPr>
              <a:t>Correct rule</a:t>
            </a:r>
          </a:p>
        </p:txBody>
      </p:sp>
      <p:sp>
        <p:nvSpPr>
          <p:cNvPr id="5" name="Right Arrow 10">
            <a:extLst>
              <a:ext uri="{FF2B5EF4-FFF2-40B4-BE49-F238E27FC236}">
                <a16:creationId xmlns:a16="http://schemas.microsoft.com/office/drawing/2014/main" id="{3AFC85AF-89F3-3B8D-7346-1734C2A41C6D}"/>
              </a:ext>
            </a:extLst>
          </p:cNvPr>
          <p:cNvSpPr/>
          <p:nvPr/>
        </p:nvSpPr>
        <p:spPr>
          <a:xfrm rot="7488104">
            <a:off x="4445066" y="1549237"/>
            <a:ext cx="536821" cy="252672"/>
          </a:xfrm>
          <a:prstGeom prst="rightArrow">
            <a:avLst/>
          </a:prstGeom>
          <a:ln w="952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8970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Follow 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9FAE3-A1B2-4F44-945F-FA272C4A912E}"/>
              </a:ext>
            </a:extLst>
          </p:cNvPr>
          <p:cNvSpPr txBox="1"/>
          <p:nvPr/>
        </p:nvSpPr>
        <p:spPr>
          <a:xfrm>
            <a:off x="5049078" y="5446644"/>
            <a:ext cx="4137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need to find the tokens that any string</a:t>
            </a:r>
          </a:p>
          <a:p>
            <a:r>
              <a:rPr lang="en-US" dirty="0"/>
              <a:t>that follows the production can start with.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B3AE82-42C9-9A43-A107-B72DB14069E1}"/>
              </a:ext>
            </a:extLst>
          </p:cNvPr>
          <p:cNvSpPr/>
          <p:nvPr/>
        </p:nvSpPr>
        <p:spPr>
          <a:xfrm>
            <a:off x="5237259" y="2422952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D685AF-99DB-2E48-9D26-D755CB342B8E}"/>
              </a:ext>
            </a:extLst>
          </p:cNvPr>
          <p:cNvSpPr/>
          <p:nvPr/>
        </p:nvSpPr>
        <p:spPr>
          <a:xfrm>
            <a:off x="290662" y="2699951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982BBC-B725-B244-B935-18275F428776}"/>
              </a:ext>
            </a:extLst>
          </p:cNvPr>
          <p:cNvSpPr/>
          <p:nvPr/>
        </p:nvSpPr>
        <p:spPr>
          <a:xfrm>
            <a:off x="7599976" y="2390152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Follow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NA</a:t>
            </a:r>
          </a:p>
          <a:p>
            <a:r>
              <a:rPr lang="en-US" dirty="0">
                <a:latin typeface="Courier" pitchFamily="2" charset="0"/>
              </a:rPr>
              <a:t>2: NA</a:t>
            </a:r>
          </a:p>
          <a:p>
            <a:r>
              <a:rPr lang="en-US" dirty="0">
                <a:latin typeface="Courier" pitchFamily="2" charset="0"/>
              </a:rPr>
              <a:t>3: {}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NA</a:t>
            </a:r>
          </a:p>
          <a:p>
            <a:r>
              <a:rPr lang="en-US" dirty="0">
                <a:latin typeface="Courier" pitchFamily="2" charset="0"/>
              </a:rPr>
              <a:t>5: NA</a:t>
            </a:r>
          </a:p>
          <a:p>
            <a:r>
              <a:rPr lang="en-US" dirty="0">
                <a:latin typeface="Courier" pitchFamily="2" charset="0"/>
              </a:rPr>
              <a:t>6: NA</a:t>
            </a:r>
          </a:p>
          <a:p>
            <a:r>
              <a:rPr lang="en-US" dirty="0">
                <a:latin typeface="Courier" pitchFamily="2" charset="0"/>
              </a:rPr>
              <a:t>7: 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410312-8F45-E587-8A38-4488CD77C302}"/>
              </a:ext>
            </a:extLst>
          </p:cNvPr>
          <p:cNvSpPr txBox="1"/>
          <p:nvPr/>
        </p:nvSpPr>
        <p:spPr>
          <a:xfrm>
            <a:off x="4548173" y="1470022"/>
            <a:ext cx="6719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Rules with “” in their First set </a:t>
            </a:r>
            <a:r>
              <a:rPr lang="en-US" sz="2400" i="1" dirty="0"/>
              <a:t>need special attention</a:t>
            </a:r>
          </a:p>
        </p:txBody>
      </p:sp>
    </p:spTree>
    <p:extLst>
      <p:ext uri="{BB962C8B-B14F-4D97-AF65-F5344CB8AC3E}">
        <p14:creationId xmlns:p14="http://schemas.microsoft.com/office/powerpoint/2010/main" val="3772197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62" y="-22035"/>
            <a:ext cx="10515600" cy="1325563"/>
          </a:xfrm>
        </p:spPr>
        <p:txBody>
          <a:bodyPr/>
          <a:lstStyle/>
          <a:p>
            <a:r>
              <a:rPr lang="en-US" dirty="0"/>
              <a:t>The Follow 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044791-E532-744D-B5EB-FA87CF04CE52}"/>
              </a:ext>
            </a:extLst>
          </p:cNvPr>
          <p:cNvSpPr/>
          <p:nvPr/>
        </p:nvSpPr>
        <p:spPr>
          <a:xfrm>
            <a:off x="5370609" y="2012719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4B967-9F94-FC48-BE79-CBA15B9229DF}"/>
              </a:ext>
            </a:extLst>
          </p:cNvPr>
          <p:cNvSpPr/>
          <p:nvPr/>
        </p:nvSpPr>
        <p:spPr>
          <a:xfrm>
            <a:off x="494029" y="2012719"/>
            <a:ext cx="418749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ourier" pitchFamily="2" charset="0"/>
              </a:rPr>
              <a:t>1: </a:t>
            </a:r>
            <a:r>
              <a:rPr lang="en-US" sz="2000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sz="2000" dirty="0">
                <a:latin typeface="Courier" pitchFamily="2" charset="0"/>
              </a:rPr>
              <a:t>  ::= Unit </a:t>
            </a:r>
            <a:r>
              <a:rPr lang="en-US" sz="2000" dirty="0">
                <a:highlight>
                  <a:srgbClr val="FFFF00"/>
                </a:highlight>
                <a:latin typeface="Courier" pitchFamily="2" charset="0"/>
              </a:rPr>
              <a:t>Expr2</a:t>
            </a:r>
          </a:p>
          <a:p>
            <a:r>
              <a:rPr lang="en-US" sz="2000" dirty="0">
                <a:latin typeface="Courier" pitchFamily="2" charset="0"/>
              </a:rPr>
              <a:t>2: Expr2 ::= Op Unit </a:t>
            </a:r>
            <a:r>
              <a:rPr lang="en-US" sz="2000" dirty="0">
                <a:highlight>
                  <a:srgbClr val="FFFF00"/>
                </a:highlight>
                <a:latin typeface="Courier" pitchFamily="2" charset="0"/>
              </a:rPr>
              <a:t>Expr2</a:t>
            </a:r>
          </a:p>
          <a:p>
            <a:r>
              <a:rPr lang="en-US" sz="2000" dirty="0">
                <a:latin typeface="Courier" pitchFamily="2" charset="0"/>
              </a:rPr>
              <a:t>3:       | “”</a:t>
            </a:r>
            <a:br>
              <a:rPr lang="en-US" sz="2000" dirty="0">
                <a:latin typeface="Courier" pitchFamily="2" charset="0"/>
              </a:rPr>
            </a:br>
            <a:r>
              <a:rPr lang="en-US" sz="2000" dirty="0">
                <a:latin typeface="Courier" pitchFamily="2" charset="0"/>
              </a:rPr>
              <a:t>4: Unit  ::= ‘(‘ </a:t>
            </a:r>
            <a:r>
              <a:rPr lang="en-US" sz="2000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>
                <a:highlight>
                  <a:srgbClr val="FFFF00"/>
                </a:highlight>
                <a:latin typeface="Courier" pitchFamily="2" charset="0"/>
              </a:rPr>
              <a:t>‘)’</a:t>
            </a:r>
          </a:p>
          <a:p>
            <a:r>
              <a:rPr lang="en-US" sz="2000" dirty="0">
                <a:latin typeface="Courier" pitchFamily="2" charset="0"/>
              </a:rPr>
              <a:t>5:       |    ID</a:t>
            </a:r>
          </a:p>
          <a:p>
            <a:r>
              <a:rPr lang="en-US" sz="2000" dirty="0">
                <a:latin typeface="Courier" pitchFamily="2" charset="0"/>
              </a:rPr>
              <a:t>6: Op    ::= ‘+’</a:t>
            </a:r>
          </a:p>
          <a:p>
            <a:r>
              <a:rPr lang="en-US" sz="2000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117634-15FC-B147-9529-1D9F35C75A46}"/>
              </a:ext>
            </a:extLst>
          </p:cNvPr>
          <p:cNvSpPr/>
          <p:nvPr/>
        </p:nvSpPr>
        <p:spPr>
          <a:xfrm>
            <a:off x="7733326" y="1979919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Follow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NA</a:t>
            </a:r>
          </a:p>
          <a:p>
            <a:r>
              <a:rPr lang="en-US" dirty="0">
                <a:latin typeface="Courier" pitchFamily="2" charset="0"/>
              </a:rPr>
              <a:t>2: NA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NA</a:t>
            </a:r>
          </a:p>
          <a:p>
            <a:r>
              <a:rPr lang="en-US" dirty="0">
                <a:latin typeface="Courier" pitchFamily="2" charset="0"/>
              </a:rPr>
              <a:t>5: NA</a:t>
            </a:r>
          </a:p>
          <a:p>
            <a:r>
              <a:rPr lang="en-US" dirty="0">
                <a:latin typeface="Courier" pitchFamily="2" charset="0"/>
              </a:rPr>
              <a:t>6: NA</a:t>
            </a:r>
          </a:p>
          <a:p>
            <a:r>
              <a:rPr lang="en-US" dirty="0">
                <a:latin typeface="Courier" pitchFamily="2" charset="0"/>
              </a:rPr>
              <a:t>7: NA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FE90DD-734B-C945-936C-53DC1F605FE1}"/>
              </a:ext>
            </a:extLst>
          </p:cNvPr>
          <p:cNvSpPr txBox="1"/>
          <p:nvPr/>
        </p:nvSpPr>
        <p:spPr>
          <a:xfrm>
            <a:off x="494029" y="4533640"/>
            <a:ext cx="113697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need to find all tokens that any string that follows a production containing </a:t>
            </a:r>
            <a:r>
              <a:rPr lang="el-GR" sz="2400" dirty="0"/>
              <a:t>∈ </a:t>
            </a:r>
            <a:endParaRPr lang="en-US" sz="2400" dirty="0"/>
          </a:p>
          <a:p>
            <a:r>
              <a:rPr lang="en-US" sz="2400" dirty="0"/>
              <a:t>In its first set can start with.  In the example above Expr2 can be followed by what </a:t>
            </a:r>
            <a:br>
              <a:rPr lang="en-US" sz="2400" dirty="0"/>
            </a:br>
            <a:r>
              <a:rPr lang="en-US" sz="2400" dirty="0"/>
              <a:t>follows Expr or ‘)’.   </a:t>
            </a:r>
          </a:p>
          <a:p>
            <a:r>
              <a:rPr lang="en-US" sz="2400" dirty="0"/>
              <a:t>Note that FIRST, FOLLOW, and FIRST+ are sets of terminals.  But follow uses Non-terminals to calculate with  transitive closure.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3EA1A-6A20-4046-A801-5C74CA5DFA71}"/>
              </a:ext>
            </a:extLst>
          </p:cNvPr>
          <p:cNvSpPr txBox="1"/>
          <p:nvPr/>
        </p:nvSpPr>
        <p:spPr>
          <a:xfrm>
            <a:off x="4548173" y="1209538"/>
            <a:ext cx="6719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Rules with “” in their First set </a:t>
            </a:r>
            <a:r>
              <a:rPr lang="en-US" sz="2400" i="1" dirty="0"/>
              <a:t>need special attention</a:t>
            </a:r>
          </a:p>
        </p:txBody>
      </p:sp>
    </p:spTree>
    <p:extLst>
      <p:ext uri="{BB962C8B-B14F-4D97-AF65-F5344CB8AC3E}">
        <p14:creationId xmlns:p14="http://schemas.microsoft.com/office/powerpoint/2010/main" val="5682787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0150A-7C94-E07A-0967-0D9FB54C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84A3-43A6-EEC1-427F-6D61F10D1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The First+ Set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4830AC-C9A1-C836-DB19-2445860EF9B2}"/>
              </a:ext>
            </a:extLst>
          </p:cNvPr>
          <p:cNvSpPr txBox="1"/>
          <p:nvPr/>
        </p:nvSpPr>
        <p:spPr>
          <a:xfrm>
            <a:off x="838200" y="1745855"/>
            <a:ext cx="10001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The First+ set is conditional combination of First and Follow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7DBB70-BE88-4D77-BBD1-69F7BF67A7F0}"/>
                  </a:ext>
                </a:extLst>
              </p:cNvPr>
              <p:cNvSpPr txBox="1"/>
              <p:nvPr/>
            </p:nvSpPr>
            <p:spPr>
              <a:xfrm>
                <a:off x="742950" y="4394282"/>
                <a:ext cx="111061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We only apply FOLLOW(A) if  FIRST(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l-GR" sz="3200" i="1">
                        <a:latin typeface="Cambria Math" panose="02040503050406030204" pitchFamily="18" charset="0"/>
                      </a:rPr>
                      <m:t>β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3200" dirty="0"/>
                  <a:t>has </a:t>
                </a:r>
                <a:r>
                  <a:rPr lang="el-GR" sz="4800" dirty="0"/>
                  <a:t>ε</a:t>
                </a:r>
                <a:r>
                  <a:rPr lang="en-US" sz="3200" dirty="0"/>
                  <a:t>  as a member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7DBB70-BE88-4D77-BBD1-69F7BF67A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50" y="4394282"/>
                <a:ext cx="11106150" cy="830997"/>
              </a:xfrm>
              <a:prstGeom prst="rect">
                <a:avLst/>
              </a:prstGeom>
              <a:blipFill>
                <a:blip r:embed="rId2"/>
                <a:stretch>
                  <a:fillRect l="-1427" t="-16176" b="-38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E78537-1F49-F081-4457-4FF3B0952B42}"/>
                  </a:ext>
                </a:extLst>
              </p:cNvPr>
              <p:cNvSpPr txBox="1"/>
              <p:nvPr/>
            </p:nvSpPr>
            <p:spPr>
              <a:xfrm>
                <a:off x="742950" y="2447071"/>
                <a:ext cx="11106150" cy="1683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>
                  <a:buNone/>
                </a:pPr>
                <a:r>
                  <a:rPr lang="en-US" sz="3200" dirty="0"/>
                  <a:t>FIRST+</a:t>
                </a:r>
                <a14:m>
                  <m:oMath xmlns:m="http://schemas.openxmlformats.org/officeDocument/2006/math">
                    <m:r>
                      <a:rPr lang="en-US" sz="32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l-GR" sz="3200" b="0" i="1" smtClean="0">
                        <a:latin typeface="Cambria Math" panose="02040503050406030204" pitchFamily="18" charset="0"/>
                      </a:rPr>
                      <m:t>β</m:t>
                    </m:r>
                    <m:r>
                      <a:rPr lang="el-GR" sz="320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sz="3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sz="3200" b="0" i="0" smtClean="0"/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IRST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sz="3200" b="0" i="1" smtClean="0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  <m:r>
                                <a:rPr lang="el-GR" sz="3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3200"/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sz="3200"/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l-GR" sz="3200" b="0" i="1" smtClean="0">
                                  <a:latin typeface="Cambria Math" panose="02040503050406030204" pitchFamily="18" charset="0"/>
                                </a:rPr>
                                <m:t>ϵ</m:t>
                              </m:r>
                              <m:r>
                                <a:rPr lang="el-GR" sz="3200" b="0" i="1" smtClean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FIRST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sz="3200" b="0" i="1" smtClean="0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  <m:r>
                                <a:rPr lang="el-GR" sz="3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FIRST</m:t>
                              </m:r>
                              <m:r>
                                <m:rPr>
                                  <m:nor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sz="3200" b="0" i="1" smtClean="0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  <m:r>
                                <a:rPr lang="el-GR" sz="3200" b="0" i="1" smtClean="0">
                                  <a:latin typeface="Cambria Math" panose="02040503050406030204" pitchFamily="18" charset="0"/>
                                </a:rPr>
                                <m:t>)∪</m:t>
                              </m:r>
                              <m:r>
                                <m:rPr>
                                  <m:nor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FOLLOW</m:t>
                              </m:r>
                              <m:r>
                                <m:rPr>
                                  <m:nor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3200"/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sz="3200" dirty="0"/>
              </a:p>
              <a:p>
                <a:pPr marL="0" lvl="0" indent="0">
                  <a:buNone/>
                </a:pPr>
                <a:r>
                  <a:rPr lang="en-US" sz="3200" dirty="0"/>
                  <a:t>where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3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3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320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3200" dirty="0"/>
                  <a:t>is a sequence of terminals/non-terminals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E78537-1F49-F081-4457-4FF3B0952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50" y="2447071"/>
                <a:ext cx="11106150" cy="1683281"/>
              </a:xfrm>
              <a:prstGeom prst="rect">
                <a:avLst/>
              </a:prstGeom>
              <a:blipFill>
                <a:blip r:embed="rId3"/>
                <a:stretch>
                  <a:fillRect l="-1427" b="-10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D35A3A2-772B-D1C9-DC39-6178F0715403}"/>
              </a:ext>
            </a:extLst>
          </p:cNvPr>
          <p:cNvSpPr txBox="1"/>
          <p:nvPr/>
        </p:nvSpPr>
        <p:spPr>
          <a:xfrm>
            <a:off x="742950" y="5237404"/>
            <a:ext cx="4305300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aseline="-25000" dirty="0"/>
              <a:t>This is pretty subtle</a:t>
            </a:r>
          </a:p>
        </p:txBody>
      </p:sp>
    </p:spTree>
    <p:extLst>
      <p:ext uri="{BB962C8B-B14F-4D97-AF65-F5344CB8AC3E}">
        <p14:creationId xmlns:p14="http://schemas.microsoft.com/office/powerpoint/2010/main" val="27729372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3F0C1-96B5-226D-BAB4-869A69963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C925-A7B3-FE03-C1DD-B035D23D8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First+ 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3EACDB-614F-3B74-5627-88224F22D590}"/>
              </a:ext>
            </a:extLst>
          </p:cNvPr>
          <p:cNvSpPr/>
          <p:nvPr/>
        </p:nvSpPr>
        <p:spPr>
          <a:xfrm>
            <a:off x="4132180" y="2422952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DBEEDC-27C1-9BD3-8B1C-78352825ACEE}"/>
              </a:ext>
            </a:extLst>
          </p:cNvPr>
          <p:cNvSpPr/>
          <p:nvPr/>
        </p:nvSpPr>
        <p:spPr>
          <a:xfrm>
            <a:off x="290662" y="2699951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600098-E1EA-89CD-9D99-44C3AD22D58C}"/>
              </a:ext>
            </a:extLst>
          </p:cNvPr>
          <p:cNvSpPr/>
          <p:nvPr/>
        </p:nvSpPr>
        <p:spPr>
          <a:xfrm>
            <a:off x="6105369" y="2430158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Follow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NA</a:t>
            </a:r>
          </a:p>
          <a:p>
            <a:r>
              <a:rPr lang="en-US" dirty="0">
                <a:latin typeface="Courier" pitchFamily="2" charset="0"/>
              </a:rPr>
              <a:t>2: NA</a:t>
            </a: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NA</a:t>
            </a:r>
          </a:p>
          <a:p>
            <a:r>
              <a:rPr lang="en-US" dirty="0">
                <a:latin typeface="Courier" pitchFamily="2" charset="0"/>
              </a:rPr>
              <a:t>5: NA</a:t>
            </a:r>
          </a:p>
          <a:p>
            <a:r>
              <a:rPr lang="en-US" dirty="0">
                <a:latin typeface="Courier" pitchFamily="2" charset="0"/>
              </a:rPr>
              <a:t>6: NA</a:t>
            </a:r>
          </a:p>
          <a:p>
            <a:r>
              <a:rPr lang="en-US" dirty="0">
                <a:latin typeface="Courier" pitchFamily="2" charset="0"/>
              </a:rPr>
              <a:t>7: NA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0E7469-C31A-7DD5-89AB-7E034F5E2195}"/>
              </a:ext>
            </a:extLst>
          </p:cNvPr>
          <p:cNvSpPr txBox="1"/>
          <p:nvPr/>
        </p:nvSpPr>
        <p:spPr>
          <a:xfrm>
            <a:off x="4548173" y="1470022"/>
            <a:ext cx="538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highlight>
                  <a:srgbClr val="FFFF00"/>
                </a:highlight>
              </a:rPr>
              <a:t>The First+ set is the combination of First and Follow 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AAE3E9-987F-CE9E-EF1D-72DA75B2B661}"/>
              </a:ext>
            </a:extLst>
          </p:cNvPr>
          <p:cNvSpPr/>
          <p:nvPr/>
        </p:nvSpPr>
        <p:spPr>
          <a:xfrm>
            <a:off x="8372299" y="2422952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1: {‘(‘, 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{None, ’)’}</a:t>
            </a:r>
            <a:br>
              <a:rPr lang="en-US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4: {‘(‘}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5: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6: {‘+’}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7: {‘*’}</a:t>
            </a:r>
          </a:p>
        </p:txBody>
      </p:sp>
    </p:spTree>
    <p:extLst>
      <p:ext uri="{BB962C8B-B14F-4D97-AF65-F5344CB8AC3E}">
        <p14:creationId xmlns:p14="http://schemas.microsoft.com/office/powerpoint/2010/main" val="34048484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A14CE-4767-5C5E-6766-DD6B29734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92D03-90F1-B032-CCFB-6813C1A7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Animation of First, Follow, and First+ 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B82674-51D5-603B-77A0-10BF724AD219}"/>
              </a:ext>
            </a:extLst>
          </p:cNvPr>
          <p:cNvSpPr txBox="1"/>
          <p:nvPr/>
        </p:nvSpPr>
        <p:spPr>
          <a:xfrm>
            <a:off x="2345635" y="2756452"/>
            <a:ext cx="6626087" cy="1139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2ABF1-58E4-A448-7CC9-AC7BD24EB44E}"/>
              </a:ext>
            </a:extLst>
          </p:cNvPr>
          <p:cNvSpPr txBox="1"/>
          <p:nvPr/>
        </p:nvSpPr>
        <p:spPr>
          <a:xfrm>
            <a:off x="2345635" y="2173357"/>
            <a:ext cx="7023652" cy="1510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8A4DC4-A6C2-A103-009C-AD2B9E940203}"/>
              </a:ext>
            </a:extLst>
          </p:cNvPr>
          <p:cNvSpPr txBox="1"/>
          <p:nvPr/>
        </p:nvSpPr>
        <p:spPr>
          <a:xfrm>
            <a:off x="1987826" y="2605564"/>
            <a:ext cx="7076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</a:t>
            </a:r>
            <a:r>
              <a:rPr lang="en-US" sz="3600" dirty="0">
                <a:hlinkClick r:id="rId2"/>
              </a:rPr>
              <a:t>https://youtu.be/JhEmguMmfLU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950426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need backtracking?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4B967-9F94-FC48-BE79-CBA15B9229DF}"/>
              </a:ext>
            </a:extLst>
          </p:cNvPr>
          <p:cNvSpPr/>
          <p:nvPr/>
        </p:nvSpPr>
        <p:spPr>
          <a:xfrm>
            <a:off x="290662" y="2699951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3EA1A-6A20-4046-A801-5C74CA5DFA71}"/>
              </a:ext>
            </a:extLst>
          </p:cNvPr>
          <p:cNvSpPr txBox="1"/>
          <p:nvPr/>
        </p:nvSpPr>
        <p:spPr>
          <a:xfrm>
            <a:off x="4548173" y="1470022"/>
            <a:ext cx="538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First+ set is the combination of First and Follow 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EA11D-76FA-D843-9610-E15BBD909065}"/>
              </a:ext>
            </a:extLst>
          </p:cNvPr>
          <p:cNvSpPr/>
          <p:nvPr/>
        </p:nvSpPr>
        <p:spPr>
          <a:xfrm>
            <a:off x="4611332" y="2422952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1: {‘(‘, ID}</a:t>
            </a:r>
          </a:p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4: {‘(‘}</a:t>
            </a:r>
          </a:p>
          <a:p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5: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6: {‘+’}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7: {‘*’}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4CA7B-DCAC-F444-BC5B-85F9BEE053ED}"/>
              </a:ext>
            </a:extLst>
          </p:cNvPr>
          <p:cNvSpPr txBox="1"/>
          <p:nvPr/>
        </p:nvSpPr>
        <p:spPr>
          <a:xfrm>
            <a:off x="3411109" y="5645426"/>
            <a:ext cx="6838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For each non-terminal: if every production has a disjoint First+ set then</a:t>
            </a:r>
          </a:p>
          <a:p>
            <a:r>
              <a:rPr lang="en-US" i="1" dirty="0"/>
              <a:t>we do not need any backtracking!</a:t>
            </a:r>
          </a:p>
        </p:txBody>
      </p:sp>
    </p:spTree>
    <p:extLst>
      <p:ext uri="{BB962C8B-B14F-4D97-AF65-F5344CB8AC3E}">
        <p14:creationId xmlns:p14="http://schemas.microsoft.com/office/powerpoint/2010/main" val="28780259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need backtracking?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4B967-9F94-FC48-BE79-CBA15B9229DF}"/>
              </a:ext>
            </a:extLst>
          </p:cNvPr>
          <p:cNvSpPr/>
          <p:nvPr/>
        </p:nvSpPr>
        <p:spPr>
          <a:xfrm>
            <a:off x="290662" y="2699951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3EA1A-6A20-4046-A801-5C74CA5DFA71}"/>
              </a:ext>
            </a:extLst>
          </p:cNvPr>
          <p:cNvSpPr txBox="1"/>
          <p:nvPr/>
        </p:nvSpPr>
        <p:spPr>
          <a:xfrm>
            <a:off x="4548173" y="1470022"/>
            <a:ext cx="538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First+ set is the combination of First and Follow 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EA11D-76FA-D843-9610-E15BBD909065}"/>
              </a:ext>
            </a:extLst>
          </p:cNvPr>
          <p:cNvSpPr/>
          <p:nvPr/>
        </p:nvSpPr>
        <p:spPr>
          <a:xfrm>
            <a:off x="4611332" y="2422952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1: {‘(‘, ID}</a:t>
            </a:r>
          </a:p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4: {‘(‘}</a:t>
            </a:r>
          </a:p>
          <a:p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5: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6: {‘+’}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7: {‘*’}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4CA7B-DCAC-F444-BC5B-85F9BEE053ED}"/>
              </a:ext>
            </a:extLst>
          </p:cNvPr>
          <p:cNvSpPr txBox="1"/>
          <p:nvPr/>
        </p:nvSpPr>
        <p:spPr>
          <a:xfrm>
            <a:off x="3411109" y="5645426"/>
            <a:ext cx="6838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For each non-terminal: if every production has a disjoint First+ set then</a:t>
            </a:r>
          </a:p>
          <a:p>
            <a:r>
              <a:rPr lang="en-US" i="1" dirty="0"/>
              <a:t>we do not need any backtracking!</a:t>
            </a:r>
          </a:p>
        </p:txBody>
      </p:sp>
    </p:spTree>
    <p:extLst>
      <p:ext uri="{BB962C8B-B14F-4D97-AF65-F5344CB8AC3E}">
        <p14:creationId xmlns:p14="http://schemas.microsoft.com/office/powerpoint/2010/main" val="28729483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need backtracking?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4B967-9F94-FC48-BE79-CBA15B9229DF}"/>
              </a:ext>
            </a:extLst>
          </p:cNvPr>
          <p:cNvSpPr/>
          <p:nvPr/>
        </p:nvSpPr>
        <p:spPr>
          <a:xfrm>
            <a:off x="290662" y="2699951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3EA1A-6A20-4046-A801-5C74CA5DFA71}"/>
              </a:ext>
            </a:extLst>
          </p:cNvPr>
          <p:cNvSpPr txBox="1"/>
          <p:nvPr/>
        </p:nvSpPr>
        <p:spPr>
          <a:xfrm>
            <a:off x="4548173" y="1470022"/>
            <a:ext cx="538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First+ set is the combination of First and Follow 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EA11D-76FA-D843-9610-E15BBD909065}"/>
              </a:ext>
            </a:extLst>
          </p:cNvPr>
          <p:cNvSpPr/>
          <p:nvPr/>
        </p:nvSpPr>
        <p:spPr>
          <a:xfrm>
            <a:off x="4611332" y="2422952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1: {‘(‘, ID}</a:t>
            </a:r>
          </a:p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4: {‘(‘}</a:t>
            </a:r>
          </a:p>
          <a:p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5: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6: {‘+’}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7: {‘*’}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4CA7B-DCAC-F444-BC5B-85F9BEE053ED}"/>
              </a:ext>
            </a:extLst>
          </p:cNvPr>
          <p:cNvSpPr txBox="1"/>
          <p:nvPr/>
        </p:nvSpPr>
        <p:spPr>
          <a:xfrm>
            <a:off x="1129128" y="5645426"/>
            <a:ext cx="6838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For each non-terminal: if every production has a </a:t>
            </a:r>
            <a:r>
              <a:rPr lang="en-US" b="1" i="1" dirty="0"/>
              <a:t>disjoint First+ set </a:t>
            </a:r>
            <a:r>
              <a:rPr lang="en-US" i="1" dirty="0"/>
              <a:t>then</a:t>
            </a:r>
          </a:p>
          <a:p>
            <a:r>
              <a:rPr lang="en-US" i="1" dirty="0"/>
              <a:t>we do not need any backtracking!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6E6165-908D-D340-9C24-C2A2DCA8EBE8}"/>
              </a:ext>
            </a:extLst>
          </p:cNvPr>
          <p:cNvSpPr txBox="1"/>
          <p:nvPr/>
        </p:nvSpPr>
        <p:spPr>
          <a:xfrm>
            <a:off x="7635018" y="2465117"/>
            <a:ext cx="445538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These grammars are called LL(1)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 - scanning the input left to 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 - left derivation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1 - how many look ahead symbols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i="1" dirty="0"/>
              <a:t>They are also called predictive grammars </a:t>
            </a:r>
          </a:p>
          <a:p>
            <a:endParaRPr lang="en-US" sz="2000" i="1" dirty="0"/>
          </a:p>
          <a:p>
            <a:r>
              <a:rPr lang="en-US" sz="2000" dirty="0"/>
              <a:t>Many programming languages are LL(1)</a:t>
            </a:r>
          </a:p>
          <a:p>
            <a:endParaRPr lang="en-US" sz="2000" dirty="0"/>
          </a:p>
          <a:p>
            <a:r>
              <a:rPr lang="en-US" sz="2000" dirty="0"/>
              <a:t>None implies the end of the program.</a:t>
            </a:r>
          </a:p>
        </p:txBody>
      </p:sp>
    </p:spTree>
    <p:extLst>
      <p:ext uri="{BB962C8B-B14F-4D97-AF65-F5344CB8AC3E}">
        <p14:creationId xmlns:p14="http://schemas.microsoft.com/office/powerpoint/2010/main" val="14078446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930742" y="2709095"/>
            <a:ext cx="112612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     # Array Indexing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     # function calling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4964760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930742" y="2709095"/>
            <a:ext cx="448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35032-ED4F-4E48-A097-89D4AC31FC1A}"/>
              </a:ext>
            </a:extLst>
          </p:cNvPr>
          <p:cNvSpPr/>
          <p:nvPr/>
        </p:nvSpPr>
        <p:spPr>
          <a:xfrm>
            <a:off x="5746582" y="2432096"/>
            <a:ext cx="44825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{}</a:t>
            </a:r>
          </a:p>
          <a:p>
            <a:r>
              <a:rPr lang="en-US" dirty="0">
                <a:latin typeface="Courier" pitchFamily="2" charset="0"/>
              </a:rPr>
              <a:t>2: {}</a:t>
            </a:r>
          </a:p>
          <a:p>
            <a:r>
              <a:rPr lang="en-US" dirty="0">
                <a:latin typeface="Courier" pitchFamily="2" charset="0"/>
              </a:rPr>
              <a:t>3: {}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1679047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930742" y="2709095"/>
            <a:ext cx="448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35032-ED4F-4E48-A097-89D4AC31FC1A}"/>
              </a:ext>
            </a:extLst>
          </p:cNvPr>
          <p:cNvSpPr/>
          <p:nvPr/>
        </p:nvSpPr>
        <p:spPr>
          <a:xfrm>
            <a:off x="5746582" y="243209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1: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{ID}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A4E4DE-61A3-4340-954F-842324A7F958}"/>
              </a:ext>
            </a:extLst>
          </p:cNvPr>
          <p:cNvSpPr txBox="1"/>
          <p:nvPr/>
        </p:nvSpPr>
        <p:spPr>
          <a:xfrm>
            <a:off x="6958584" y="4059936"/>
            <a:ext cx="33089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cannot select the next</a:t>
            </a:r>
            <a:br>
              <a:rPr lang="en-US" i="1" dirty="0"/>
            </a:br>
            <a:r>
              <a:rPr lang="en-US" i="1" dirty="0"/>
              <a:t>rule based on a single look ahead</a:t>
            </a:r>
          </a:p>
          <a:p>
            <a:r>
              <a:rPr lang="en-US" i="1" dirty="0"/>
              <a:t>token!</a:t>
            </a:r>
          </a:p>
        </p:txBody>
      </p:sp>
    </p:spTree>
    <p:extLst>
      <p:ext uri="{BB962C8B-B14F-4D97-AF65-F5344CB8AC3E}">
        <p14:creationId xmlns:p14="http://schemas.microsoft.com/office/powerpoint/2010/main" val="31617224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1023284" y="2432096"/>
            <a:ext cx="448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35032-ED4F-4E48-A097-89D4AC31FC1A}"/>
              </a:ext>
            </a:extLst>
          </p:cNvPr>
          <p:cNvSpPr/>
          <p:nvPr/>
        </p:nvSpPr>
        <p:spPr>
          <a:xfrm>
            <a:off x="5839124" y="2155097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{ID}</a:t>
            </a:r>
          </a:p>
          <a:p>
            <a:r>
              <a:rPr lang="en-US" dirty="0">
                <a:latin typeface="Courier" pitchFamily="2" charset="0"/>
              </a:rPr>
              <a:t>2: {ID}</a:t>
            </a:r>
          </a:p>
          <a:p>
            <a:r>
              <a:rPr lang="en-US" dirty="0">
                <a:latin typeface="Courier" pitchFamily="2" charset="0"/>
              </a:rPr>
              <a:t>3: {ID}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ED7205-21A7-9847-AFDB-0F7DD328AF82}"/>
              </a:ext>
            </a:extLst>
          </p:cNvPr>
          <p:cNvSpPr/>
          <p:nvPr/>
        </p:nvSpPr>
        <p:spPr>
          <a:xfrm>
            <a:off x="930742" y="5292546"/>
            <a:ext cx="52597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     ::= ID </a:t>
            </a:r>
            <a:r>
              <a:rPr lang="en-US" dirty="0" err="1">
                <a:latin typeface="Courier" pitchFamily="2" charset="0"/>
              </a:rPr>
              <a:t>Option_args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2: </a:t>
            </a:r>
            <a:r>
              <a:rPr lang="en-US" dirty="0" err="1">
                <a:latin typeface="Courier" pitchFamily="2" charset="0"/>
              </a:rPr>
              <a:t>Option_args</a:t>
            </a:r>
            <a:r>
              <a:rPr lang="en-US" dirty="0">
                <a:latin typeface="Courier" pitchFamily="2" charset="0"/>
              </a:rPr>
              <a:t> ::=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     |  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4:             |   “”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AAE05-AF36-EB44-A0BA-1F640DC24896}"/>
              </a:ext>
            </a:extLst>
          </p:cNvPr>
          <p:cNvSpPr txBox="1"/>
          <p:nvPr/>
        </p:nvSpPr>
        <p:spPr>
          <a:xfrm>
            <a:off x="979510" y="4523601"/>
            <a:ext cx="1672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refactor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BC75CF-7E9C-C347-B46F-D82D9FD87566}"/>
              </a:ext>
            </a:extLst>
          </p:cNvPr>
          <p:cNvSpPr/>
          <p:nvPr/>
        </p:nvSpPr>
        <p:spPr>
          <a:xfrm>
            <a:off x="6650865" y="5015547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{}</a:t>
            </a:r>
          </a:p>
          <a:p>
            <a:r>
              <a:rPr lang="en-US" dirty="0">
                <a:latin typeface="Courier" pitchFamily="2" charset="0"/>
              </a:rPr>
              <a:t>2: {}</a:t>
            </a:r>
          </a:p>
          <a:p>
            <a:r>
              <a:rPr lang="en-US" dirty="0">
                <a:latin typeface="Courier" pitchFamily="2" charset="0"/>
              </a:rPr>
              <a:t>3: {}</a:t>
            </a:r>
          </a:p>
          <a:p>
            <a:r>
              <a:rPr lang="en-US" dirty="0">
                <a:latin typeface="Courier" pitchFamily="2" charset="0"/>
              </a:rPr>
              <a:t>4: {}</a:t>
            </a:r>
          </a:p>
        </p:txBody>
      </p:sp>
    </p:spTree>
    <p:extLst>
      <p:ext uri="{BB962C8B-B14F-4D97-AF65-F5344CB8AC3E}">
        <p14:creationId xmlns:p14="http://schemas.microsoft.com/office/powerpoint/2010/main" val="4856545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930742" y="2709095"/>
            <a:ext cx="448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35032-ED4F-4E48-A097-89D4AC31FC1A}"/>
              </a:ext>
            </a:extLst>
          </p:cNvPr>
          <p:cNvSpPr/>
          <p:nvPr/>
        </p:nvSpPr>
        <p:spPr>
          <a:xfrm>
            <a:off x="5746582" y="243209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{ID}</a:t>
            </a:r>
          </a:p>
          <a:p>
            <a:r>
              <a:rPr lang="en-US" dirty="0">
                <a:latin typeface="Courier" pitchFamily="2" charset="0"/>
              </a:rPr>
              <a:t>2: {ID}</a:t>
            </a:r>
          </a:p>
          <a:p>
            <a:r>
              <a:rPr lang="en-US" dirty="0">
                <a:latin typeface="Courier" pitchFamily="2" charset="0"/>
              </a:rPr>
              <a:t>3: {ID}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ED7205-21A7-9847-AFDB-0F7DD328AF82}"/>
              </a:ext>
            </a:extLst>
          </p:cNvPr>
          <p:cNvSpPr/>
          <p:nvPr/>
        </p:nvSpPr>
        <p:spPr>
          <a:xfrm>
            <a:off x="838200" y="5569545"/>
            <a:ext cx="52597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     ::= ID </a:t>
            </a:r>
            <a:r>
              <a:rPr lang="en-US" dirty="0" err="1">
                <a:latin typeface="Courier" pitchFamily="2" charset="0"/>
              </a:rPr>
              <a:t>Option_args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2: </a:t>
            </a:r>
            <a:r>
              <a:rPr lang="en-US" dirty="0" err="1">
                <a:latin typeface="Courier" pitchFamily="2" charset="0"/>
              </a:rPr>
              <a:t>Option_args</a:t>
            </a:r>
            <a:r>
              <a:rPr lang="en-US" dirty="0">
                <a:latin typeface="Courier" pitchFamily="2" charset="0"/>
              </a:rPr>
              <a:t> ::=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     |  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4:             |   “”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AAE05-AF36-EB44-A0BA-1F640DC24896}"/>
              </a:ext>
            </a:extLst>
          </p:cNvPr>
          <p:cNvSpPr txBox="1"/>
          <p:nvPr/>
        </p:nvSpPr>
        <p:spPr>
          <a:xfrm>
            <a:off x="886968" y="4800600"/>
            <a:ext cx="1672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refactor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BC75CF-7E9C-C347-B46F-D82D9FD87566}"/>
              </a:ext>
            </a:extLst>
          </p:cNvPr>
          <p:cNvSpPr/>
          <p:nvPr/>
        </p:nvSpPr>
        <p:spPr>
          <a:xfrm>
            <a:off x="6558323" y="529254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1: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{‘[‘}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{‘(‘}</a:t>
            </a:r>
          </a:p>
          <a:p>
            <a:r>
              <a:rPr lang="en-US" dirty="0">
                <a:latin typeface="Courier" pitchFamily="2" charset="0"/>
              </a:rPr>
              <a:t>4: {“”}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F1BC30-4BA1-B54E-81ED-8ED36F82B131}"/>
              </a:ext>
            </a:extLst>
          </p:cNvPr>
          <p:cNvSpPr txBox="1"/>
          <p:nvPr/>
        </p:nvSpPr>
        <p:spPr>
          <a:xfrm>
            <a:off x="7872984" y="6400542"/>
            <a:ext cx="4043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// We will need to compute the follow set</a:t>
            </a:r>
          </a:p>
        </p:txBody>
      </p:sp>
    </p:spTree>
    <p:extLst>
      <p:ext uri="{BB962C8B-B14F-4D97-AF65-F5344CB8AC3E}">
        <p14:creationId xmlns:p14="http://schemas.microsoft.com/office/powerpoint/2010/main" val="24695744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930742" y="2709095"/>
            <a:ext cx="448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35032-ED4F-4E48-A097-89D4AC31FC1A}"/>
              </a:ext>
            </a:extLst>
          </p:cNvPr>
          <p:cNvSpPr/>
          <p:nvPr/>
        </p:nvSpPr>
        <p:spPr>
          <a:xfrm>
            <a:off x="5746582" y="243209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{ID}</a:t>
            </a:r>
          </a:p>
          <a:p>
            <a:r>
              <a:rPr lang="en-US" dirty="0">
                <a:latin typeface="Courier" pitchFamily="2" charset="0"/>
              </a:rPr>
              <a:t>2: {ID}</a:t>
            </a:r>
          </a:p>
          <a:p>
            <a:r>
              <a:rPr lang="en-US" dirty="0">
                <a:latin typeface="Courier" pitchFamily="2" charset="0"/>
              </a:rPr>
              <a:t>3: {ID}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ED7205-21A7-9847-AFDB-0F7DD328AF82}"/>
              </a:ext>
            </a:extLst>
          </p:cNvPr>
          <p:cNvSpPr/>
          <p:nvPr/>
        </p:nvSpPr>
        <p:spPr>
          <a:xfrm>
            <a:off x="886968" y="5052145"/>
            <a:ext cx="52597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     ::= ID </a:t>
            </a:r>
            <a:r>
              <a:rPr lang="en-US" dirty="0" err="1">
                <a:latin typeface="Courier" pitchFamily="2" charset="0"/>
              </a:rPr>
              <a:t>Option_args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2: </a:t>
            </a:r>
            <a:r>
              <a:rPr lang="en-US" dirty="0" err="1">
                <a:latin typeface="Courier" pitchFamily="2" charset="0"/>
              </a:rPr>
              <a:t>Option_args</a:t>
            </a:r>
            <a:r>
              <a:rPr lang="en-US" dirty="0">
                <a:latin typeface="Courier" pitchFamily="2" charset="0"/>
              </a:rPr>
              <a:t> ::=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     |  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4:             |   “”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AAE05-AF36-EB44-A0BA-1F640DC24896}"/>
              </a:ext>
            </a:extLst>
          </p:cNvPr>
          <p:cNvSpPr txBox="1"/>
          <p:nvPr/>
        </p:nvSpPr>
        <p:spPr>
          <a:xfrm>
            <a:off x="935736" y="4283200"/>
            <a:ext cx="1672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refactor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2CAF56-2EA5-364A-B9B2-E8666FA36AEE}"/>
              </a:ext>
            </a:extLst>
          </p:cNvPr>
          <p:cNvSpPr txBox="1"/>
          <p:nvPr/>
        </p:nvSpPr>
        <p:spPr>
          <a:xfrm>
            <a:off x="8339328" y="2379662"/>
            <a:ext cx="32144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It is not always possible to </a:t>
            </a:r>
          </a:p>
          <a:p>
            <a:r>
              <a:rPr lang="en-US" i="1" dirty="0"/>
              <a:t>rewrite any grammar into a</a:t>
            </a:r>
          </a:p>
          <a:p>
            <a:r>
              <a:rPr lang="en-US" i="1" dirty="0"/>
              <a:t>predictive form, but many</a:t>
            </a:r>
          </a:p>
          <a:p>
            <a:r>
              <a:rPr lang="en-US" i="1" dirty="0"/>
              <a:t>programming languages can be.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8570C3-F2D9-6D4D-AA7D-D892FDEF721E}"/>
              </a:ext>
            </a:extLst>
          </p:cNvPr>
          <p:cNvSpPr/>
          <p:nvPr/>
        </p:nvSpPr>
        <p:spPr>
          <a:xfrm>
            <a:off x="6607091" y="477514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1: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{‘[‘}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{‘(‘}</a:t>
            </a:r>
          </a:p>
          <a:p>
            <a:r>
              <a:rPr lang="en-US" dirty="0">
                <a:latin typeface="Courier" pitchFamily="2" charset="0"/>
              </a:rPr>
              <a:t>4: {“”}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847865-7BAF-E042-8CFD-EDF1CC5DE686}"/>
              </a:ext>
            </a:extLst>
          </p:cNvPr>
          <p:cNvSpPr txBox="1"/>
          <p:nvPr/>
        </p:nvSpPr>
        <p:spPr>
          <a:xfrm>
            <a:off x="7921752" y="5883142"/>
            <a:ext cx="40438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// We will need to compute the follow set</a:t>
            </a:r>
            <a:br>
              <a:rPr lang="en-US" i="1" dirty="0"/>
            </a:br>
            <a:r>
              <a:rPr lang="en-US" i="1" dirty="0"/>
              <a:t>// to deal with the empty string, and get</a:t>
            </a:r>
          </a:p>
          <a:p>
            <a:r>
              <a:rPr lang="en-US" i="1" dirty="0"/>
              <a:t>// First+</a:t>
            </a:r>
          </a:p>
        </p:txBody>
      </p:sp>
    </p:spTree>
    <p:extLst>
      <p:ext uri="{BB962C8B-B14F-4D97-AF65-F5344CB8AC3E}">
        <p14:creationId xmlns:p14="http://schemas.microsoft.com/office/powerpoint/2010/main" val="39075839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131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We now have a full top-down parsing algorithm!</a:t>
            </a:r>
          </a:p>
        </p:txBody>
      </p:sp>
    </p:spTree>
    <p:extLst>
      <p:ext uri="{BB962C8B-B14F-4D97-AF65-F5344CB8AC3E}">
        <p14:creationId xmlns:p14="http://schemas.microsoft.com/office/powerpoint/2010/main" val="19638294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5985934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A103AB-5157-9743-BC3A-0C7404719604}"/>
              </a:ext>
            </a:extLst>
          </p:cNvPr>
          <p:cNvSpPr/>
          <p:nvPr/>
        </p:nvSpPr>
        <p:spPr>
          <a:xfrm>
            <a:off x="8191454" y="508669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0472EB-D5AC-5F46-882E-C08B54827B08}"/>
              </a:ext>
            </a:extLst>
          </p:cNvPr>
          <p:cNvSpPr/>
          <p:nvPr/>
        </p:nvSpPr>
        <p:spPr>
          <a:xfrm>
            <a:off x="5676807" y="231670"/>
            <a:ext cx="2275544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9C8629-3ADA-3C4A-93B6-1C3EF89C3734}"/>
              </a:ext>
            </a:extLst>
          </p:cNvPr>
          <p:cNvSpPr txBox="1"/>
          <p:nvPr/>
        </p:nvSpPr>
        <p:spPr>
          <a:xfrm>
            <a:off x="2388382" y="5167290"/>
            <a:ext cx="741523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To pick the next rule, compare </a:t>
            </a:r>
            <a:r>
              <a:rPr lang="en-US" dirty="0" err="1">
                <a:latin typeface="Courier" pitchFamily="2" charset="0"/>
              </a:rPr>
              <a:t>to_match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dirty="0"/>
              <a:t>with the possible </a:t>
            </a:r>
            <a:r>
              <a:rPr lang="en-US" dirty="0">
                <a:latin typeface="Courier" pitchFamily="2" charset="0"/>
              </a:rPr>
              <a:t>first+ </a:t>
            </a:r>
            <a:r>
              <a:rPr lang="en-US" dirty="0"/>
              <a:t>sets. </a:t>
            </a:r>
            <a:br>
              <a:rPr lang="en-US" dirty="0"/>
            </a:br>
            <a:r>
              <a:rPr lang="en-US" dirty="0"/>
              <a:t>Pick the rule whose </a:t>
            </a:r>
            <a:r>
              <a:rPr lang="en-US" dirty="0">
                <a:latin typeface="Courier" pitchFamily="2" charset="0"/>
              </a:rPr>
              <a:t>first+</a:t>
            </a:r>
            <a:r>
              <a:rPr lang="en-US" dirty="0"/>
              <a:t> set contains </a:t>
            </a:r>
            <a:r>
              <a:rPr lang="en-US" dirty="0" err="1">
                <a:latin typeface="Courier" pitchFamily="2" charset="0"/>
              </a:rPr>
              <a:t>to_match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there is no such rule then it is a parsing error.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F9E17-35AC-C040-866C-9B5BE2EAE0D8}"/>
              </a:ext>
            </a:extLst>
          </p:cNvPr>
          <p:cNvSpPr txBox="1"/>
          <p:nvPr/>
        </p:nvSpPr>
        <p:spPr>
          <a:xfrm>
            <a:off x="8823960" y="2768748"/>
            <a:ext cx="21779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input grammar,</a:t>
            </a:r>
            <a:br>
              <a:rPr lang="en-US" i="1" dirty="0"/>
            </a:br>
            <a:r>
              <a:rPr lang="en-US" i="1" dirty="0"/>
              <a:t>refactored to remove</a:t>
            </a:r>
            <a:br>
              <a:rPr lang="en-US" i="1" dirty="0"/>
            </a:br>
            <a:r>
              <a:rPr lang="en-US" i="1" dirty="0"/>
              <a:t>left recursion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97674A-E2F7-774B-9FDF-777EB93B5C45}"/>
              </a:ext>
            </a:extLst>
          </p:cNvPr>
          <p:cNvSpPr txBox="1"/>
          <p:nvPr/>
        </p:nvSpPr>
        <p:spPr>
          <a:xfrm>
            <a:off x="5849112" y="2768748"/>
            <a:ext cx="1934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First+ sets for each</a:t>
            </a:r>
            <a:br>
              <a:rPr lang="en-US" i="1" dirty="0"/>
            </a:br>
            <a:r>
              <a:rPr lang="en-US" i="1" dirty="0"/>
              <a:t>production rule</a:t>
            </a:r>
          </a:p>
        </p:txBody>
      </p:sp>
    </p:spTree>
    <p:extLst>
      <p:ext uri="{BB962C8B-B14F-4D97-AF65-F5344CB8AC3E}">
        <p14:creationId xmlns:p14="http://schemas.microsoft.com/office/powerpoint/2010/main" val="14682733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8458"/>
            <a:ext cx="10515600" cy="2259542"/>
          </a:xfrm>
        </p:spPr>
        <p:txBody>
          <a:bodyPr/>
          <a:lstStyle/>
          <a:p>
            <a:pPr algn="ctr"/>
            <a:r>
              <a:rPr lang="en-US" dirty="0"/>
              <a:t>Moving on to a simpler implementation: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Recursive Descent Parser</a:t>
            </a:r>
          </a:p>
        </p:txBody>
      </p:sp>
    </p:spTree>
    <p:extLst>
      <p:ext uri="{BB962C8B-B14F-4D97-AF65-F5344CB8AC3E}">
        <p14:creationId xmlns:p14="http://schemas.microsoft.com/office/powerpoint/2010/main" val="25240483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6A4130-5D0E-DA48-B73C-8392BB9ECB07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10407014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281E4-6231-B242-A075-00A0A288D10F}"/>
              </a:ext>
            </a:extLst>
          </p:cNvPr>
          <p:cNvSpPr txBox="1"/>
          <p:nvPr/>
        </p:nvSpPr>
        <p:spPr>
          <a:xfrm>
            <a:off x="6764866" y="1585480"/>
            <a:ext cx="2668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9B6BAF-6944-CE4E-BE10-9856E223EC13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14326266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281E4-6231-B242-A075-00A0A288D10F}"/>
              </a:ext>
            </a:extLst>
          </p:cNvPr>
          <p:cNvSpPr txBox="1"/>
          <p:nvPr/>
        </p:nvSpPr>
        <p:spPr>
          <a:xfrm>
            <a:off x="6764866" y="1585480"/>
            <a:ext cx="3679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Expr? </a:t>
            </a:r>
          </a:p>
          <a:p>
            <a:r>
              <a:rPr lang="en-US" i="1" dirty="0"/>
              <a:t>We parse a Unit followed by an Expr2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97C993-0880-7440-AC56-90CDB9F6C996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20431692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29D35E-DBDD-6144-A7D9-5D93088C5744}"/>
              </a:ext>
            </a:extLst>
          </p:cNvPr>
          <p:cNvSpPr txBox="1"/>
          <p:nvPr/>
        </p:nvSpPr>
        <p:spPr>
          <a:xfrm>
            <a:off x="5886325" y="2674894"/>
            <a:ext cx="3967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can just write exactly that!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3679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Expr? </a:t>
            </a:r>
          </a:p>
          <a:p>
            <a:r>
              <a:rPr lang="en-US" i="1" dirty="0"/>
              <a:t>We parse a Unit followed by an Expr2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66F378-5647-AF40-9B86-498B4156AD4E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67A2B4-768D-7A4A-B20F-620EAF5DDB35}"/>
              </a:ext>
            </a:extLst>
          </p:cNvPr>
          <p:cNvSpPr/>
          <p:nvPr/>
        </p:nvSpPr>
        <p:spPr>
          <a:xfrm>
            <a:off x="6576607" y="3335867"/>
            <a:ext cx="446193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800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parse_Expr</a:t>
            </a:r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8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sz="2800" dirty="0">
              <a:solidFill>
                <a:srgbClr val="400BD9"/>
              </a:solidFill>
              <a:latin typeface="Menlo" panose="020B06090308040202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8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800" dirty="0" err="1">
                <a:solidFill>
                  <a:srgbClr val="000000"/>
                </a:solidFill>
                <a:latin typeface="Menlo" panose="020B0609030804020204" pitchFamily="49" charset="0"/>
              </a:rPr>
              <a:t>.parse_Unit</a:t>
            </a:r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();</a:t>
            </a:r>
          </a:p>
          <a:p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8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.parse_Expr2();</a:t>
            </a:r>
          </a:p>
          <a:p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8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endParaRPr lang="en-US" sz="2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4638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828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Expr2?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957C6A-893E-694F-B916-8039152D7645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34371543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828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Expr2?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</p:spTree>
    <p:extLst>
      <p:ext uri="{BB962C8B-B14F-4D97-AF65-F5344CB8AC3E}">
        <p14:creationId xmlns:p14="http://schemas.microsoft.com/office/powerpoint/2010/main" val="24679407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828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Expr2?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8E83A0-ADF9-E849-B701-B2AE97232197}"/>
              </a:ext>
            </a:extLst>
          </p:cNvPr>
          <p:cNvSpPr/>
          <p:nvPr/>
        </p:nvSpPr>
        <p:spPr>
          <a:xfrm>
            <a:off x="4486837" y="2316531"/>
            <a:ext cx="606462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400BD9"/>
                </a:solidFill>
                <a:latin typeface="Menlo" panose="020B0609030804020204" pitchFamily="49" charset="0"/>
              </a:rPr>
              <a:t>parse_Expr2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b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400" dirty="0" err="1">
                <a:solidFill>
                  <a:srgbClr val="9FA01C"/>
                </a:solidFill>
                <a:latin typeface="Menlo" panose="020B0609030804020204" pitchFamily="49" charset="0"/>
              </a:rPr>
              <a:t>token_id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get_token_id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# Expr2 ::= Op Unit Expr2</a:t>
            </a: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[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"PLUS"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"MULT"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]: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.parse_Op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.parse_Unit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.parse_Expr2()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# Expr2 ::= "" 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[</a:t>
            </a:r>
            <a:r>
              <a:rPr lang="en-US" sz="1400" dirty="0">
                <a:solidFill>
                  <a:srgbClr val="C814C9"/>
                </a:solidFill>
                <a:latin typeface="Menlo" panose="020B0609030804020204" pitchFamily="49" charset="0"/>
              </a:rPr>
              <a:t>None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”RPAR"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]: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  else: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    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raise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ParserException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self.linennumber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 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# line number (for you to do)</a:t>
            </a: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              </a:t>
            </a:r>
            <a:r>
              <a:rPr lang="en-US" sz="1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,              	      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# observed token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              [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"PLUS"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"MULT"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”RPAR"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])        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# expected token 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95423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580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 Unit?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</p:spTree>
    <p:extLst>
      <p:ext uri="{BB962C8B-B14F-4D97-AF65-F5344CB8AC3E}">
        <p14:creationId xmlns:p14="http://schemas.microsoft.com/office/powerpoint/2010/main" val="27082476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580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 Unit?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016679-012E-6C4D-A40D-A3A31CC3C26D}"/>
              </a:ext>
            </a:extLst>
          </p:cNvPr>
          <p:cNvSpPr/>
          <p:nvPr/>
        </p:nvSpPr>
        <p:spPr>
          <a:xfrm>
            <a:off x="3432987" y="2871836"/>
            <a:ext cx="414572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parse_Unit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sz="1600" dirty="0">
              <a:solidFill>
                <a:srgbClr val="400BD9"/>
              </a:solidFill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9FA01C"/>
                </a:solidFill>
                <a:latin typeface="Menlo" panose="020B0609030804020204" pitchFamily="49" charset="0"/>
              </a:rPr>
              <a:t>        </a:t>
            </a:r>
            <a:r>
              <a:rPr lang="en-US" sz="1600" dirty="0" err="1">
                <a:solidFill>
                  <a:srgbClr val="9FA01C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get_token_id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# Unit  ::= ‘(‘ Expr ‘)’ 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       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"LPAR"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"LPAR"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.parse_Expr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"RPAR"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        # Unit :: = ID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"ID"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"ID"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996DFA-6A6C-FF36-576C-8920DDB6F895}"/>
              </a:ext>
            </a:extLst>
          </p:cNvPr>
          <p:cNvSpPr txBox="1"/>
          <p:nvPr/>
        </p:nvSpPr>
        <p:spPr>
          <a:xfrm>
            <a:off x="7578709" y="2368669"/>
            <a:ext cx="412226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</a:rPr>
              <a:t>def eat(self, </a:t>
            </a:r>
            <a:r>
              <a:rPr lang="en-US" sz="1400" dirty="0" err="1">
                <a:highlight>
                  <a:srgbClr val="FFFF00"/>
                </a:highlight>
              </a:rPr>
              <a:t>expected_token</a:t>
            </a:r>
            <a:r>
              <a:rPr lang="en-US" sz="1400" dirty="0">
                <a:highlight>
                  <a:srgbClr val="FFFF00"/>
                </a:highlight>
              </a:rPr>
              <a:t>):</a:t>
            </a:r>
          </a:p>
          <a:p>
            <a:r>
              <a:rPr lang="en-US" sz="1400" dirty="0"/>
              <a:t>    if </a:t>
            </a:r>
            <a:r>
              <a:rPr lang="en-US" sz="1400" dirty="0" err="1"/>
              <a:t>self.to_match</a:t>
            </a:r>
            <a:r>
              <a:rPr lang="en-US" sz="1400" dirty="0"/>
              <a:t> == </a:t>
            </a:r>
            <a:r>
              <a:rPr lang="en-US" sz="1400" dirty="0" err="1"/>
              <a:t>expected_token</a:t>
            </a:r>
            <a:r>
              <a:rPr lang="en-US" sz="1400" dirty="0"/>
              <a:t>: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self.advance</a:t>
            </a:r>
            <a:r>
              <a:rPr lang="en-US" sz="1400" dirty="0"/>
              <a:t>()  # move to the next token</a:t>
            </a:r>
          </a:p>
          <a:p>
            <a:r>
              <a:rPr lang="en-US" sz="1400" dirty="0"/>
              <a:t>    else:</a:t>
            </a:r>
          </a:p>
          <a:p>
            <a:r>
              <a:rPr lang="en-US" sz="1400" dirty="0"/>
              <a:t>        raise </a:t>
            </a:r>
            <a:r>
              <a:rPr lang="en-US" sz="1400" dirty="0" err="1"/>
              <a:t>ParserException</a:t>
            </a:r>
            <a:r>
              <a:rPr lang="en-US" sz="1400" dirty="0"/>
              <a:t>(</a:t>
            </a:r>
          </a:p>
          <a:p>
            <a:r>
              <a:rPr lang="en-US" sz="1400" dirty="0"/>
              <a:t>                   </a:t>
            </a:r>
            <a:r>
              <a:rPr lang="en-US" sz="1400" dirty="0" err="1"/>
              <a:t>self.current_line</a:t>
            </a:r>
            <a:r>
              <a:rPr lang="en-US" sz="1400" dirty="0"/>
              <a:t>,     </a:t>
            </a:r>
            <a:r>
              <a:rPr lang="en-US" sz="1400" dirty="0">
                <a:solidFill>
                  <a:srgbClr val="FF0000"/>
                </a:solidFill>
              </a:rPr>
              <a:t># line# (for you to do)</a:t>
            </a:r>
          </a:p>
          <a:p>
            <a:r>
              <a:rPr lang="en-US" sz="1400" dirty="0"/>
              <a:t>                   </a:t>
            </a:r>
            <a:r>
              <a:rPr lang="en-US" sz="1400" dirty="0" err="1"/>
              <a:t>self.to_match</a:t>
            </a:r>
            <a:r>
              <a:rPr lang="en-US" sz="1400" dirty="0"/>
              <a:t>,          </a:t>
            </a:r>
            <a:r>
              <a:rPr lang="en-US" sz="1400" dirty="0">
                <a:solidFill>
                  <a:srgbClr val="FF0000"/>
                </a:solidFill>
              </a:rPr>
              <a:t># observed token</a:t>
            </a:r>
          </a:p>
          <a:p>
            <a:r>
              <a:rPr lang="en-US" sz="1400" dirty="0"/>
              <a:t>                   [</a:t>
            </a:r>
            <a:r>
              <a:rPr lang="en-US" sz="1400" dirty="0" err="1"/>
              <a:t>expected_token</a:t>
            </a:r>
            <a:r>
              <a:rPr lang="en-US" sz="1400" dirty="0"/>
              <a:t>])   </a:t>
            </a:r>
            <a:r>
              <a:rPr lang="en-US" sz="1400" dirty="0">
                <a:solidFill>
                  <a:srgbClr val="FF0000"/>
                </a:solidFill>
              </a:rPr>
              <a:t>#   i.e. PAR or RPAR</a:t>
            </a:r>
          </a:p>
        </p:txBody>
      </p:sp>
    </p:spTree>
    <p:extLst>
      <p:ext uri="{BB962C8B-B14F-4D97-AF65-F5344CB8AC3E}">
        <p14:creationId xmlns:p14="http://schemas.microsoft.com/office/powerpoint/2010/main" val="7787454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7678215" y="803521"/>
            <a:ext cx="295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How do we parse a Unit?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78840E-451F-D943-A095-834E80AE3D30}"/>
              </a:ext>
            </a:extLst>
          </p:cNvPr>
          <p:cNvSpPr txBox="1"/>
          <p:nvPr/>
        </p:nvSpPr>
        <p:spPr>
          <a:xfrm>
            <a:off x="6350544" y="1325274"/>
            <a:ext cx="5231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Note: function </a:t>
            </a:r>
            <a:r>
              <a:rPr lang="en-US" sz="1600" i="1" dirty="0">
                <a:highlight>
                  <a:srgbClr val="FFFF00"/>
                </a:highlight>
              </a:rPr>
              <a:t>eat</a:t>
            </a:r>
            <a:r>
              <a:rPr lang="en-US" sz="1600" i="1" dirty="0"/>
              <a:t> must ensure that </a:t>
            </a:r>
            <a:r>
              <a:rPr lang="en-US" sz="1600" i="1" dirty="0" err="1"/>
              <a:t>to_match</a:t>
            </a:r>
            <a:r>
              <a:rPr lang="en-US" sz="1600" i="1" dirty="0"/>
              <a:t> has the expected  token ID and advances to the next token, i.e. something like this: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67D556-71C6-8B18-A379-00B0A8C64F08}"/>
              </a:ext>
            </a:extLst>
          </p:cNvPr>
          <p:cNvSpPr/>
          <p:nvPr/>
        </p:nvSpPr>
        <p:spPr>
          <a:xfrm>
            <a:off x="3146071" y="3208233"/>
            <a:ext cx="408491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parse_Unit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1600" dirty="0">
                <a:solidFill>
                  <a:srgbClr val="9FA01C"/>
                </a:solidFill>
                <a:latin typeface="Menlo" panose="020B0609030804020204" pitchFamily="49" charset="0"/>
              </a:rPr>
              <a:t>        </a:t>
            </a:r>
            <a:r>
              <a:rPr lang="en-US" sz="1600" dirty="0" err="1">
                <a:solidFill>
                  <a:srgbClr val="9FA01C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get_token_id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# Unit  ::= ‘(‘ Expr ‘)’ 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       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"LPAR"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"LPAR"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.parse_Expr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"RPAR"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        # Unit :: = ID</a:t>
            </a:r>
            <a:endParaRPr lang="en-US" sz="1600" b="1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b="1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b="1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b="1" dirty="0">
                <a:solidFill>
                  <a:srgbClr val="2FB41D"/>
                </a:solidFill>
                <a:latin typeface="Menlo" panose="020B0609030804020204" pitchFamily="49" charset="0"/>
              </a:rPr>
              <a:t>"ID"</a:t>
            </a:r>
            <a:r>
              <a:rPr lang="en-US" sz="1600" b="1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b="1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.eat</a:t>
            </a:r>
            <a:r>
              <a:rPr 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sz="1600" b="1" dirty="0">
                <a:solidFill>
                  <a:srgbClr val="2FB41D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"ID"</a:t>
            </a:r>
            <a:r>
              <a:rPr 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753AE9-02C2-C5B0-0278-257DC208F0FB}"/>
              </a:ext>
            </a:extLst>
          </p:cNvPr>
          <p:cNvSpPr txBox="1"/>
          <p:nvPr/>
        </p:nvSpPr>
        <p:spPr>
          <a:xfrm>
            <a:off x="6637415" y="2231636"/>
            <a:ext cx="523185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</a:rPr>
              <a:t>def eat(self, </a:t>
            </a:r>
            <a:r>
              <a:rPr lang="en-US" sz="1600" dirty="0" err="1">
                <a:highlight>
                  <a:srgbClr val="FFFF00"/>
                </a:highlight>
              </a:rPr>
              <a:t>expected_token</a:t>
            </a:r>
            <a:r>
              <a:rPr lang="en-US" sz="1600" dirty="0">
                <a:highlight>
                  <a:srgbClr val="FFFF00"/>
                </a:highlight>
              </a:rPr>
              <a:t>):</a:t>
            </a:r>
          </a:p>
          <a:p>
            <a:r>
              <a:rPr lang="en-US" sz="1600" dirty="0"/>
              <a:t>    if </a:t>
            </a:r>
            <a:r>
              <a:rPr lang="en-US" sz="1600" dirty="0" err="1"/>
              <a:t>self.to_match</a:t>
            </a:r>
            <a:r>
              <a:rPr lang="en-US" sz="1600" dirty="0"/>
              <a:t> == </a:t>
            </a:r>
            <a:r>
              <a:rPr lang="en-US" sz="1600" dirty="0" err="1"/>
              <a:t>expected_token</a:t>
            </a:r>
            <a:r>
              <a:rPr lang="en-US" sz="1600" dirty="0"/>
              <a:t>: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self.advance</a:t>
            </a:r>
            <a:r>
              <a:rPr lang="en-US" sz="1600" dirty="0"/>
              <a:t>()  # move to the next token</a:t>
            </a:r>
          </a:p>
          <a:p>
            <a:r>
              <a:rPr lang="en-US" sz="1600" dirty="0"/>
              <a:t>    else:</a:t>
            </a:r>
          </a:p>
          <a:p>
            <a:r>
              <a:rPr lang="en-US" sz="1600" dirty="0"/>
              <a:t>        </a:t>
            </a:r>
            <a:r>
              <a:rPr lang="en-US" sz="1600" dirty="0">
                <a:highlight>
                  <a:srgbClr val="FFFF00"/>
                </a:highlight>
              </a:rPr>
              <a:t>raise </a:t>
            </a:r>
            <a:r>
              <a:rPr lang="en-US" sz="1600" dirty="0" err="1">
                <a:highlight>
                  <a:srgbClr val="FFFF00"/>
                </a:highlight>
              </a:rPr>
              <a:t>ParserException</a:t>
            </a:r>
            <a:r>
              <a:rPr lang="en-US" sz="1600" dirty="0"/>
              <a:t>(</a:t>
            </a:r>
          </a:p>
          <a:p>
            <a:r>
              <a:rPr lang="en-US" sz="1600" dirty="0"/>
              <a:t>                             </a:t>
            </a:r>
            <a:r>
              <a:rPr lang="en-US" sz="1600" dirty="0" err="1"/>
              <a:t>self.current_line</a:t>
            </a:r>
            <a:r>
              <a:rPr lang="en-US" sz="1600" dirty="0"/>
              <a:t>,       </a:t>
            </a:r>
            <a:r>
              <a:rPr lang="en-US" sz="1600" dirty="0">
                <a:solidFill>
                  <a:srgbClr val="FF0000"/>
                </a:solidFill>
              </a:rPr>
              <a:t># line# (for you to do)</a:t>
            </a:r>
          </a:p>
          <a:p>
            <a:r>
              <a:rPr lang="en-US" sz="1600" dirty="0"/>
              <a:t>                              </a:t>
            </a:r>
            <a:r>
              <a:rPr lang="en-US" sz="1600" dirty="0" err="1"/>
              <a:t>self.to_match</a:t>
            </a:r>
            <a:r>
              <a:rPr lang="en-US" sz="1600" dirty="0"/>
              <a:t>,           </a:t>
            </a:r>
            <a:r>
              <a:rPr lang="en-US" sz="1600" dirty="0">
                <a:solidFill>
                  <a:srgbClr val="FF0000"/>
                </a:solidFill>
              </a:rPr>
              <a:t># observed token</a:t>
            </a:r>
          </a:p>
          <a:p>
            <a:r>
              <a:rPr lang="en-US" sz="1600" dirty="0"/>
              <a:t>                              [</a:t>
            </a:r>
            <a:r>
              <a:rPr lang="en-US" sz="1600" dirty="0" err="1"/>
              <a:t>expected_token</a:t>
            </a:r>
            <a:r>
              <a:rPr lang="en-US" sz="1600" dirty="0"/>
              <a:t>])    </a:t>
            </a:r>
            <a:r>
              <a:rPr lang="en-US" sz="1600" dirty="0">
                <a:solidFill>
                  <a:srgbClr val="FF0000"/>
                </a:solidFill>
              </a:rPr>
              <a:t># LPAR or RPAR or ID)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5F6A23-B194-B66B-024E-53EF98D1EF15}"/>
              </a:ext>
            </a:extLst>
          </p:cNvPr>
          <p:cNvSpPr txBox="1"/>
          <p:nvPr/>
        </p:nvSpPr>
        <p:spPr>
          <a:xfrm>
            <a:off x="6266330" y="4369104"/>
            <a:ext cx="57374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class </a:t>
            </a:r>
            <a:r>
              <a:rPr lang="en-US" sz="1400" dirty="0" err="1"/>
              <a:t>ParserException</a:t>
            </a:r>
            <a:r>
              <a:rPr lang="en-US" sz="1400" dirty="0"/>
              <a:t>(Exception):</a:t>
            </a:r>
          </a:p>
          <a:p>
            <a:r>
              <a:rPr lang="en-US" sz="1400" dirty="0"/>
              <a:t>    def __</a:t>
            </a:r>
            <a:r>
              <a:rPr lang="en-US" sz="1400" dirty="0" err="1"/>
              <a:t>init</a:t>
            </a:r>
            <a:r>
              <a:rPr lang="en-US" sz="1400" dirty="0"/>
              <a:t>__(self, </a:t>
            </a:r>
            <a:r>
              <a:rPr lang="en-US" sz="1400" dirty="0" err="1"/>
              <a:t>line_number</a:t>
            </a:r>
            <a:r>
              <a:rPr lang="en-US" sz="1400" dirty="0"/>
              <a:t>, </a:t>
            </a:r>
            <a:r>
              <a:rPr lang="en-US" sz="1400" dirty="0" err="1"/>
              <a:t>found_token</a:t>
            </a:r>
            <a:r>
              <a:rPr lang="en-US" sz="1400" dirty="0"/>
              <a:t>, </a:t>
            </a:r>
            <a:r>
              <a:rPr lang="en-US" sz="1400" dirty="0" err="1"/>
              <a:t>expected_tokens</a:t>
            </a:r>
            <a:r>
              <a:rPr lang="en-US" sz="1400" dirty="0"/>
              <a:t>):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self.line_number</a:t>
            </a:r>
            <a:r>
              <a:rPr lang="en-US" sz="1400" dirty="0"/>
              <a:t> = </a:t>
            </a:r>
            <a:r>
              <a:rPr lang="en-US" sz="1400" dirty="0" err="1"/>
              <a:t>line_number</a:t>
            </a:r>
            <a:endParaRPr lang="en-US" sz="1400" dirty="0"/>
          </a:p>
          <a:p>
            <a:r>
              <a:rPr lang="en-US" sz="1400" dirty="0"/>
              <a:t>        </a:t>
            </a:r>
            <a:r>
              <a:rPr lang="en-US" sz="1400" dirty="0" err="1"/>
              <a:t>self.found_token</a:t>
            </a:r>
            <a:r>
              <a:rPr lang="en-US" sz="1400" dirty="0"/>
              <a:t> = </a:t>
            </a:r>
            <a:r>
              <a:rPr lang="en-US" sz="1400" dirty="0" err="1"/>
              <a:t>found_token</a:t>
            </a:r>
            <a:endParaRPr lang="en-US" sz="1400" dirty="0"/>
          </a:p>
          <a:p>
            <a:r>
              <a:rPr lang="en-US" sz="1400" dirty="0"/>
              <a:t>        </a:t>
            </a:r>
            <a:r>
              <a:rPr lang="en-US" sz="1400" dirty="0" err="1"/>
              <a:t>self.expected_tokens</a:t>
            </a:r>
            <a:r>
              <a:rPr lang="en-US" sz="1400" dirty="0"/>
              <a:t> = </a:t>
            </a:r>
            <a:r>
              <a:rPr lang="en-US" sz="1400" dirty="0" err="1"/>
              <a:t>expected_tokens</a:t>
            </a:r>
            <a:endParaRPr lang="en-US" sz="1400" dirty="0"/>
          </a:p>
          <a:p>
            <a:r>
              <a:rPr lang="en-US" sz="1400" dirty="0"/>
              <a:t>        # Create a readable error message</a:t>
            </a:r>
          </a:p>
          <a:p>
            <a:r>
              <a:rPr lang="en-US" sz="1400" dirty="0"/>
              <a:t>        message = (</a:t>
            </a:r>
            <a:r>
              <a:rPr lang="en-US" sz="1400" dirty="0" err="1"/>
              <a:t>f"Parse</a:t>
            </a:r>
            <a:r>
              <a:rPr lang="en-US" sz="1400" dirty="0"/>
              <a:t> error on line {</a:t>
            </a:r>
            <a:r>
              <a:rPr lang="en-US" sz="1400" dirty="0" err="1"/>
              <a:t>line_number</a:t>
            </a:r>
            <a:r>
              <a:rPr lang="en-US" sz="1400" dirty="0"/>
              <a:t>}: found '{</a:t>
            </a:r>
            <a:r>
              <a:rPr lang="en-US" sz="1400" dirty="0" err="1"/>
              <a:t>found_token</a:t>
            </a:r>
            <a:r>
              <a:rPr lang="en-US" sz="1400" dirty="0"/>
              <a:t>}', "</a:t>
            </a:r>
          </a:p>
          <a:p>
            <a:r>
              <a:rPr lang="en-US" sz="1400" dirty="0"/>
              <a:t>                   </a:t>
            </a:r>
            <a:r>
              <a:rPr lang="en-US" sz="1400" dirty="0" err="1"/>
              <a:t>f"expected</a:t>
            </a:r>
            <a:r>
              <a:rPr lang="en-US" sz="1400" dirty="0"/>
              <a:t> one of {</a:t>
            </a:r>
            <a:r>
              <a:rPr lang="en-US" sz="1400" dirty="0" err="1"/>
              <a:t>expected_tokens</a:t>
            </a:r>
            <a:r>
              <a:rPr lang="en-US" sz="1400" dirty="0"/>
              <a:t>}")</a:t>
            </a:r>
          </a:p>
          <a:p>
            <a:r>
              <a:rPr lang="en-US" sz="1400" dirty="0"/>
              <a:t>        super().__</a:t>
            </a:r>
            <a:r>
              <a:rPr lang="en-US" sz="1400" dirty="0" err="1"/>
              <a:t>init</a:t>
            </a:r>
            <a:r>
              <a:rPr lang="en-US" sz="1400" dirty="0"/>
              <a:t>__(message)</a:t>
            </a:r>
          </a:p>
        </p:txBody>
      </p:sp>
    </p:spTree>
    <p:extLst>
      <p:ext uri="{BB962C8B-B14F-4D97-AF65-F5344CB8AC3E}">
        <p14:creationId xmlns:p14="http://schemas.microsoft.com/office/powerpoint/2010/main" val="21502859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6: Op    ::= ‘+’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57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Op?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</p:spTree>
    <p:extLst>
      <p:ext uri="{BB962C8B-B14F-4D97-AF65-F5344CB8AC3E}">
        <p14:creationId xmlns:p14="http://schemas.microsoft.com/office/powerpoint/2010/main" val="16727185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6: Op    ::= ‘+’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57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Op?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6: {‘+’}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7: {‘*’}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2E97EB-40B3-014A-B687-59B439FD6ACF}"/>
              </a:ext>
            </a:extLst>
          </p:cNvPr>
          <p:cNvSpPr/>
          <p:nvPr/>
        </p:nvSpPr>
        <p:spPr>
          <a:xfrm>
            <a:off x="3542803" y="2915525"/>
            <a:ext cx="391160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parse_Op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sz="1600" dirty="0">
              <a:solidFill>
                <a:srgbClr val="400BD9"/>
              </a:solidFill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dirty="0" err="1">
                <a:solidFill>
                  <a:srgbClr val="9FA01C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get_token_id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# Op  ::= '+'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"PLUS"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"PLUS"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        # Op  ::= '*'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"MULT"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"MULT"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AF0A1F-26BC-4B42-6E81-005B10BC1CF3}"/>
              </a:ext>
            </a:extLst>
          </p:cNvPr>
          <p:cNvSpPr txBox="1"/>
          <p:nvPr/>
        </p:nvSpPr>
        <p:spPr>
          <a:xfrm>
            <a:off x="7841380" y="2277038"/>
            <a:ext cx="46213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</a:t>
            </a:r>
            <a:r>
              <a:rPr lang="en-US" sz="1800" b="1" dirty="0">
                <a:solidFill>
                  <a:srgbClr val="2EAEBB"/>
                </a:solidFill>
                <a:latin typeface="Menlo" panose="020B0609030804020204" pitchFamily="49" charset="0"/>
              </a:rPr>
              <a:t>ef eat(self, </a:t>
            </a:r>
            <a:r>
              <a:rPr lang="en-US" sz="1800" b="1" dirty="0" err="1">
                <a:solidFill>
                  <a:srgbClr val="2EAEBB"/>
                </a:solidFill>
                <a:latin typeface="Menlo" panose="020B0609030804020204" pitchFamily="49" charset="0"/>
              </a:rPr>
              <a:t>expected_token</a:t>
            </a:r>
            <a:r>
              <a:rPr lang="en-US" sz="1800" b="1" dirty="0">
                <a:solidFill>
                  <a:srgbClr val="2EAEBB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     …</a:t>
            </a:r>
            <a:endParaRPr lang="en-US" sz="1800" b="1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     </a:t>
            </a:r>
            <a:r>
              <a:rPr lang="en-US" sz="1800" b="1" dirty="0">
                <a:solidFill>
                  <a:srgbClr val="2EAEBB"/>
                </a:solidFill>
                <a:latin typeface="Menlo" panose="020B0609030804020204" pitchFamily="49" charset="0"/>
              </a:rPr>
              <a:t>raise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ParserException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        </a:t>
            </a:r>
            <a:r>
              <a:rPr lang="en-US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self.current_line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,    </a:t>
            </a:r>
          </a:p>
          <a:p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     </a:t>
            </a:r>
            <a:r>
              <a:rPr lang="en-US" sz="18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,       </a:t>
            </a:r>
            <a:r>
              <a:rPr lang="en-US" sz="1800" dirty="0">
                <a:solidFill>
                  <a:srgbClr val="B42419"/>
                </a:solidFill>
                <a:latin typeface="Menlo" panose="020B0609030804020204" pitchFamily="49" charset="0"/>
              </a:rPr>
              <a:t># observed token 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</a:p>
          <a:p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[</a:t>
            </a:r>
            <a:r>
              <a:rPr lang="en-US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expected_token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]) </a:t>
            </a:r>
            <a:r>
              <a:rPr lang="en-US" sz="1800" dirty="0">
                <a:solidFill>
                  <a:srgbClr val="B42419"/>
                </a:solidFill>
                <a:latin typeface="Menlo" panose="020B0609030804020204" pitchFamily="49" charset="0"/>
              </a:rPr>
              <a:t># expected token</a:t>
            </a:r>
          </a:p>
          <a:p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…</a:t>
            </a:r>
            <a:endParaRPr lang="en-US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35240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2EEFD-A114-FB93-AC70-A0AB4155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76D3A-2595-D59C-75BE-72D4024A6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1651"/>
          </a:xfrm>
        </p:spPr>
        <p:txBody>
          <a:bodyPr>
            <a:normAutofit/>
          </a:bodyPr>
          <a:lstStyle/>
          <a:p>
            <a:pPr algn="ctr"/>
            <a:r>
              <a:rPr lang="en-US" sz="8900" dirty="0"/>
              <a:t>Recursive Descent</a:t>
            </a:r>
            <a:br>
              <a:rPr lang="en-US" dirty="0"/>
            </a:br>
            <a:r>
              <a:rPr lang="en-US" sz="6600" dirty="0"/>
              <a:t>IS THAT SIMPLE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227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34835</TotalTime>
  <Words>8297</Words>
  <Application>Microsoft Office PowerPoint</Application>
  <PresentationFormat>Widescreen</PresentationFormat>
  <Paragraphs>1512</Paragraphs>
  <Slides>80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7" baseType="lpstr">
      <vt:lpstr>Arial</vt:lpstr>
      <vt:lpstr>Calibri</vt:lpstr>
      <vt:lpstr>Calibri Light</vt:lpstr>
      <vt:lpstr>Cambria Math</vt:lpstr>
      <vt:lpstr>Courier</vt:lpstr>
      <vt:lpstr>Menlo</vt:lpstr>
      <vt:lpstr>Office Theme</vt:lpstr>
      <vt:lpstr>CSE110A: Compilers</vt:lpstr>
      <vt:lpstr>ORACULARITY:  MAKING A BACKTRACK FREE LL(1) PARSER USING FIRST, FOLLOW and FIRST+ SETS</vt:lpstr>
      <vt:lpstr>New topic: Algorithms for parsing</vt:lpstr>
      <vt:lpstr>Top-down parsing</vt:lpstr>
      <vt:lpstr>Top-down parsing</vt:lpstr>
      <vt:lpstr>Top-down parsing</vt:lpstr>
      <vt:lpstr>Top-down parsing</vt:lpstr>
      <vt:lpstr>Top-down parsing</vt:lpstr>
      <vt:lpstr>Bottom-up parsing</vt:lpstr>
      <vt:lpstr>Bottom-up parsing</vt:lpstr>
      <vt:lpstr>Bottom-up parsing</vt:lpstr>
      <vt:lpstr>Bottom-up parsing</vt:lpstr>
      <vt:lpstr>Bottom up</vt:lpstr>
      <vt:lpstr>Let’s start with top-down parsing:         Two ways to implement the same idea:      1) LL(1) Push Down Automaton      2) Recursive Descent  </vt:lpstr>
      <vt:lpstr>  Top down, Table Driven:  LL(1) PDA Parser       Left to right processing with Leftmost derivation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 down parsing does not handle left recursion</vt:lpstr>
      <vt:lpstr>Top down parsing does not handle left recursion</vt:lpstr>
      <vt:lpstr>Eliminating direct left recursion</vt:lpstr>
      <vt:lpstr>Eliminating direct left recursion</vt:lpstr>
      <vt:lpstr>Eliminating direct left recursion</vt:lpstr>
      <vt:lpstr>Eliminating direct left recursion</vt:lpstr>
      <vt:lpstr>Eliminating direct left recursion</vt:lpstr>
      <vt:lpstr>Eliminating direct left recursion</vt:lpstr>
      <vt:lpstr>Eliminating direct left recursion</vt:lpstr>
      <vt:lpstr>PowerPoint Presentation</vt:lpstr>
      <vt:lpstr>PowerPoint Presentation</vt:lpstr>
      <vt:lpstr>PowerPoint Presentation</vt:lpstr>
      <vt:lpstr>How about indirect left recursion?</vt:lpstr>
      <vt:lpstr>How about indirect left recursion?</vt:lpstr>
      <vt:lpstr>How about indirect left recursion?</vt:lpstr>
      <vt:lpstr>How about indirect left recursion?</vt:lpstr>
      <vt:lpstr>How about indirect left recursion?</vt:lpstr>
      <vt:lpstr>PowerPoint Presentation</vt:lpstr>
      <vt:lpstr>PowerPoint Presentation</vt:lpstr>
      <vt:lpstr>PowerPoint Presentation</vt:lpstr>
      <vt:lpstr>Backtracking gets complicated...</vt:lpstr>
      <vt:lpstr>PowerPoint Presentation</vt:lpstr>
      <vt:lpstr>The First Set</vt:lpstr>
      <vt:lpstr>The First Set</vt:lpstr>
      <vt:lpstr>The First Set</vt:lpstr>
      <vt:lpstr>PowerPoint Presentation</vt:lpstr>
      <vt:lpstr>The Follow Set</vt:lpstr>
      <vt:lpstr>The Follow Set</vt:lpstr>
      <vt:lpstr>The First+ Set</vt:lpstr>
      <vt:lpstr>The First+ Set</vt:lpstr>
      <vt:lpstr>Animation of First, Follow, and First+ Sets</vt:lpstr>
      <vt:lpstr>Do we need backtracking?</vt:lpstr>
      <vt:lpstr>Do we need backtracking?</vt:lpstr>
      <vt:lpstr>Do we need backtracking?</vt:lpstr>
      <vt:lpstr>Sometimes the grammar needs to be refactored</vt:lpstr>
      <vt:lpstr>Sometimes the grammar needs to be refactored</vt:lpstr>
      <vt:lpstr>Sometimes the grammar needs to be refactored</vt:lpstr>
      <vt:lpstr>Sometimes the grammar needs to be refactored</vt:lpstr>
      <vt:lpstr>Sometimes the grammar needs to be refactored</vt:lpstr>
      <vt:lpstr>Sometimes the grammar needs to be refactored</vt:lpstr>
      <vt:lpstr>We now have a full top-down parsing algorithm!</vt:lpstr>
      <vt:lpstr>PowerPoint Presentation</vt:lpstr>
      <vt:lpstr>Moving on to a simpler implementation:  Recursive Descent Parser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Recursive Descent IS THAT SIMPLE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594</cp:revision>
  <dcterms:created xsi:type="dcterms:W3CDTF">2021-03-23T23:59:42Z</dcterms:created>
  <dcterms:modified xsi:type="dcterms:W3CDTF">2026-02-03T08:32:43Z</dcterms:modified>
</cp:coreProperties>
</file>