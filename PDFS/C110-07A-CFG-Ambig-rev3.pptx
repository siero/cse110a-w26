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257" r:id="rId2"/>
    <p:sldId id="1131" r:id="rId3"/>
    <p:sldId id="1046" r:id="rId4"/>
    <p:sldId id="692" r:id="rId5"/>
    <p:sldId id="694" r:id="rId6"/>
    <p:sldId id="695" r:id="rId7"/>
    <p:sldId id="696" r:id="rId8"/>
    <p:sldId id="697" r:id="rId9"/>
    <p:sldId id="1047" r:id="rId10"/>
    <p:sldId id="1049" r:id="rId11"/>
    <p:sldId id="1050" r:id="rId12"/>
    <p:sldId id="1081" r:id="rId13"/>
    <p:sldId id="1080" r:id="rId14"/>
    <p:sldId id="1084" r:id="rId15"/>
    <p:sldId id="1083" r:id="rId16"/>
    <p:sldId id="1085" r:id="rId17"/>
    <p:sldId id="1051" r:id="rId18"/>
    <p:sldId id="1086" r:id="rId19"/>
    <p:sldId id="1088" r:id="rId20"/>
    <p:sldId id="1089" r:id="rId21"/>
    <p:sldId id="1091" r:id="rId22"/>
    <p:sldId id="1132" r:id="rId23"/>
    <p:sldId id="1092" r:id="rId24"/>
    <p:sldId id="1093" r:id="rId25"/>
    <p:sldId id="1094" r:id="rId26"/>
    <p:sldId id="1095" r:id="rId27"/>
    <p:sldId id="820" r:id="rId28"/>
    <p:sldId id="853" r:id="rId29"/>
    <p:sldId id="1125" r:id="rId30"/>
    <p:sldId id="1096" r:id="rId31"/>
    <p:sldId id="1097" r:id="rId32"/>
    <p:sldId id="1135" r:id="rId33"/>
    <p:sldId id="1136" r:id="rId34"/>
    <p:sldId id="1098" r:id="rId35"/>
    <p:sldId id="1099" r:id="rId36"/>
    <p:sldId id="1100" r:id="rId37"/>
    <p:sldId id="1101" r:id="rId38"/>
    <p:sldId id="1129" r:id="rId39"/>
    <p:sldId id="1130" r:id="rId40"/>
    <p:sldId id="1102" r:id="rId41"/>
    <p:sldId id="1103" r:id="rId42"/>
    <p:sldId id="1104" r:id="rId43"/>
    <p:sldId id="1105" r:id="rId44"/>
    <p:sldId id="1106" r:id="rId45"/>
    <p:sldId id="1107" r:id="rId46"/>
    <p:sldId id="1108" r:id="rId47"/>
    <p:sldId id="1109" r:id="rId48"/>
    <p:sldId id="1110" r:id="rId49"/>
    <p:sldId id="1111" r:id="rId50"/>
    <p:sldId id="1112" r:id="rId51"/>
    <p:sldId id="1393" r:id="rId52"/>
    <p:sldId id="1061" r:id="rId53"/>
    <p:sldId id="1394" r:id="rId54"/>
    <p:sldId id="1395" r:id="rId55"/>
    <p:sldId id="1396" r:id="rId56"/>
    <p:sldId id="1060" r:id="rId57"/>
    <p:sldId id="1115" r:id="rId58"/>
    <p:sldId id="1116" r:id="rId59"/>
    <p:sldId id="1117" r:id="rId60"/>
    <p:sldId id="1114" r:id="rId61"/>
    <p:sldId id="1126" r:id="rId62"/>
    <p:sldId id="1120" r:id="rId63"/>
    <p:sldId id="1127" r:id="rId64"/>
    <p:sldId id="1122" r:id="rId65"/>
    <p:sldId id="1123" r:id="rId66"/>
    <p:sldId id="1124" r:id="rId67"/>
    <p:sldId id="787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26"/>
    <p:restoredTop sz="96405"/>
  </p:normalViewPr>
  <p:slideViewPr>
    <p:cSldViewPr snapToGrid="0" snapToObjects="1">
      <p:cViewPr varScale="1">
        <p:scale>
          <a:sx n="82" d="100"/>
          <a:sy n="82" d="100"/>
        </p:scale>
        <p:origin x="12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A6930-6FE4-5249-A389-5C34F8D02512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7B7F8-0CD4-BB49-9045-2C974462F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89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Structure and Find Errors (the earlier the better) – don’t propagate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0725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trees – get to nodes are </a:t>
            </a:r>
            <a:r>
              <a:rPr lang="en-US" dirty="0" err="1"/>
              <a:t>aperators</a:t>
            </a:r>
            <a:r>
              <a:rPr lang="en-US" dirty="0"/>
              <a:t>, leaves are other nodes or tokens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5274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expression … an expression evaluates to something (RHS of assignment)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99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Has some structure – but deeper meaning is not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598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want to introduce meaning.  RE’s finds matches. but does not do much about adding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992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EF653-38D5-DBB2-D6DA-2D9CC7BBF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C3F2FC-C10E-6EE2-60B3-AF9A22668D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7744E-B6E8-B34F-9A1C-268792C555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want to introduce meaning.  RE’s finds matches. but does not do much about adding meaning.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234BAA-5EC0-2ED0-D5C0-12C9D5E26C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4506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 the issue of matching parenthesis as early as possible..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954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provable theorem in CSE103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876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the power of CFGs come from the use of recursion.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0844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non-terminal is defined in terms of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0126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call this a parse tree,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7977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parse tree can be traversed (post-order) to create the original expression.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4754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7B7F8-0CD4-BB49-9045-2C974462FF15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6651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43C2-07A5-BB44-9F43-B20E7E531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1C6CB-5CAA-DD48-BDA4-0592D5FF8B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62CB0-8583-4540-BE1C-F84CB375F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B2658-7209-954E-8DDF-07C641D90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D4973-44DE-7342-BA01-547EED31C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44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8217-0850-FA42-8B72-F673F24DE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12092-A792-584F-8A1C-32C03160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86E26-FE36-7B4D-AAF5-904CF3BBD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9D109-2568-4B4F-B7F4-2C7AD017C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AD3A7-3697-7C4A-A781-66DD5DCCA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99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555C-64CB-F548-ABB6-4B463934B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C269A-28B6-FB43-BB47-BA94CF332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521C4-BC30-3646-824D-F119E616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D182C-D8EA-B948-8737-5A6BD5B4D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787B1-6592-9044-9667-44816CAAB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850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A981-5F59-8940-A2F7-8CE7EAE3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DAABA-0EEF-254E-B417-1B2EB2743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96200-086D-EA44-85BA-8D8F7BA4D8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8D651E-2A31-AF4F-8A27-A2301E38A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1ED8DF-7DBC-294E-82B1-18236111A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DE2C9E-91E9-FD42-9F13-932CADEBD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756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2995-0013-6F49-9741-2EA0BF408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6D280-4929-384B-8615-167612096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29458-FF2B-1440-8335-632CAA842D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9CA800-81C1-B646-A953-E8DBE47BC9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CCEC6B-205E-0B45-A0F3-6C8FCEE9A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71920B-F361-C64F-BB0E-35F2D2CBB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D44ECE-207A-FA4C-9475-C03DC72DF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C1820C-AD96-D443-8AA8-5641E0380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31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F0FFF-6ED0-6243-A2AE-B253809A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91E3-DFC5-0540-9C75-225956946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BC49A3-0384-754C-BED0-DC0D47B42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2BA99-1D12-C64F-996A-85628BB3E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8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36606B-79E4-A34B-BE97-997D9D758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557CB-8103-3B41-A940-4FD4799A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19D0-3FCE-CF4E-9D34-9E0CD3DF7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983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B636-4EDD-7341-9B7D-17AAD47C6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F0136-D7DD-1044-B848-27E313D5A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AE57-151C-234A-AA03-81AA7510BB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ED6AC-BAC0-EB4C-9277-A63F66607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45925-827B-DA4D-8CDF-AC1503BA2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54FF9-5EE1-A94C-9742-0AC2B9C3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753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B654-18D6-F84E-B59E-E18CBEE4C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6D7EFC-4004-0145-A2F9-E508D0958C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815D9-4FFF-1643-9F8A-2708D6AAA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662FC-F0E3-2D4D-B116-98471B67E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612221-F75B-BA43-B4BA-28655085A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FC9E1C-49AC-D74C-B71C-A5DC2EB02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75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7DDD4-B6A1-124E-97F1-BA8418676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EE7DE-9595-5745-A856-48AB8F5B5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F81CC-8DBA-1342-88D3-380AA2B30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FA341-EA27-6943-B20F-AFA538A66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3FE79-E424-E945-ADDC-83D446C52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236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48F054-886E-8B44-8EBE-87FBB61503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A284C-386A-6C4E-9A40-04DA68EFB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8CBE6-4A2A-6549-898B-B2545B83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ED32C-794E-1143-802D-3AD6C9B7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FF59B-F6CF-464E-93D4-AA7B3EE8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2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6F7A43-3B09-424D-B3CE-5FDEDAF2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A7AA5-45BE-FB42-A660-04610BF85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CA802-9596-D94B-AF54-17577EF83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CE19A-8503-7843-8A88-9F39D8324431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50162-12AB-E644-9FE6-953D58433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DB02E1-3BE0-DA47-8CDF-D1AE848A2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77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Function-level_programming" TargetMode="External"/><Relationship Id="rId3" Type="http://schemas.openxmlformats.org/officeDocument/2006/relationships/hyperlink" Target="https://en.wikipedia.org/wiki/Fortran" TargetMode="External"/><Relationship Id="rId7" Type="http://schemas.openxmlformats.org/officeDocument/2006/relationships/hyperlink" Target="https://en.wikipedia.org/wiki/Formal_language" TargetMode="External"/><Relationship Id="rId12" Type="http://schemas.openxmlformats.org/officeDocument/2006/relationships/hyperlink" Target="https://en.wikipedia.org/wiki/ALGOL" TargetMode="External"/><Relationship Id="rId2" Type="http://schemas.openxmlformats.org/officeDocument/2006/relationships/hyperlink" Target="https://en.wikipedia.org/wiki/Computer_scientis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Syntax" TargetMode="External"/><Relationship Id="rId11" Type="http://schemas.openxmlformats.org/officeDocument/2006/relationships/hyperlink" Target="https://en.wikipedia.org/wiki/Speedcoding" TargetMode="External"/><Relationship Id="rId5" Type="http://schemas.openxmlformats.org/officeDocument/2006/relationships/hyperlink" Target="https://en.wikipedia.org/wiki/Backus%E2%80%93Naur_form" TargetMode="External"/><Relationship Id="rId10" Type="http://schemas.openxmlformats.org/officeDocument/2006/relationships/image" Target="../media/image2.jpeg"/><Relationship Id="rId4" Type="http://schemas.openxmlformats.org/officeDocument/2006/relationships/hyperlink" Target="https://en.wikipedia.org/wiki/High-level_programming_language" TargetMode="External"/><Relationship Id="rId9" Type="http://schemas.openxmlformats.org/officeDocument/2006/relationships/hyperlink" Target="https://en.wikipedia.org/wiki/John_Backus#cite_note-can-1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Programming_language" TargetMode="External"/><Relationship Id="rId13" Type="http://schemas.openxmlformats.org/officeDocument/2006/relationships/hyperlink" Target="https://en.wikipedia.org/wiki/ALGOL" TargetMode="External"/><Relationship Id="rId3" Type="http://schemas.openxmlformats.org/officeDocument/2006/relationships/hyperlink" Target="https://en.wikipedia.org/wiki/Computer_science" TargetMode="External"/><Relationship Id="rId7" Type="http://schemas.openxmlformats.org/officeDocument/2006/relationships/hyperlink" Target="https://en.wikipedia.org/wiki/Syntax_(programming_languages)" TargetMode="External"/><Relationship Id="rId12" Type="http://schemas.openxmlformats.org/officeDocument/2006/relationships/hyperlink" Target="https://en.wikipedia.org/wiki/Donald_Knuth" TargetMode="External"/><Relationship Id="rId2" Type="http://schemas.openxmlformats.org/officeDocument/2006/relationships/hyperlink" Target="https://en.wikipedia.org/wiki/Peter_Naur#cite_note-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Backus%E2%80%93Naur_form" TargetMode="External"/><Relationship Id="rId11" Type="http://schemas.openxmlformats.org/officeDocument/2006/relationships/hyperlink" Target="https://en.wikipedia.org/wiki/Mathematics" TargetMode="External"/><Relationship Id="rId5" Type="http://schemas.openxmlformats.org/officeDocument/2006/relationships/hyperlink" Target="https://en.wikipedia.org/wiki/John_Backus" TargetMode="External"/><Relationship Id="rId10" Type="http://schemas.openxmlformats.org/officeDocument/2006/relationships/image" Target="../media/image3.jpeg"/><Relationship Id="rId4" Type="http://schemas.openxmlformats.org/officeDocument/2006/relationships/hyperlink" Target="https://en.wikipedia.org/wiki/Turing_Award" TargetMode="External"/><Relationship Id="rId9" Type="http://schemas.openxmlformats.org/officeDocument/2006/relationships/hyperlink" Target="https://en.wikipedia.org/wiki/ALGOL_60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55987-81F9-C64A-BD1F-BC0CF5D7C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839" y="370459"/>
            <a:ext cx="10515600" cy="1553757"/>
          </a:xfrm>
        </p:spPr>
        <p:txBody>
          <a:bodyPr/>
          <a:lstStyle/>
          <a:p>
            <a:r>
              <a:rPr lang="en-US" sz="5000" b="1" dirty="0"/>
              <a:t>CSE110A: Compilers</a:t>
            </a:r>
            <a:br>
              <a:rPr lang="en-US" dirty="0"/>
            </a:b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56C47-D610-254E-AA36-5D7C35127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350" y="2242268"/>
            <a:ext cx="6901683" cy="42035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Topics</a:t>
            </a:r>
            <a:r>
              <a:rPr lang="en-US" dirty="0"/>
              <a:t>: </a:t>
            </a:r>
          </a:p>
          <a:p>
            <a:r>
              <a:rPr lang="en-US" i="1" dirty="0"/>
              <a:t>Starting Module 2: Parsing</a:t>
            </a:r>
          </a:p>
          <a:p>
            <a:pPr lvl="1"/>
            <a:r>
              <a:rPr lang="en-US" i="1" dirty="0"/>
              <a:t>Introduction</a:t>
            </a:r>
          </a:p>
          <a:p>
            <a:pPr lvl="1"/>
            <a:r>
              <a:rPr lang="en-US" i="1" dirty="0"/>
              <a:t>Production Rules</a:t>
            </a:r>
          </a:p>
          <a:p>
            <a:pPr lvl="1"/>
            <a:r>
              <a:rPr lang="en-US" i="1" dirty="0"/>
              <a:t>Derivations and Parse Trees</a:t>
            </a:r>
          </a:p>
          <a:p>
            <a:pPr lvl="1"/>
            <a:r>
              <a:rPr lang="en-US" i="1" dirty="0"/>
              <a:t>A Simple Expression Grammar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i="1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5BF4810-9B5C-0A4D-B2CE-2BC37B86A354}"/>
              </a:ext>
            </a:extLst>
          </p:cNvPr>
          <p:cNvSpPr/>
          <p:nvPr/>
        </p:nvSpPr>
        <p:spPr>
          <a:xfrm>
            <a:off x="10097167" y="209080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286D8F-6730-F04B-9B5A-A73EFAB4D4E7}"/>
              </a:ext>
            </a:extLst>
          </p:cNvPr>
          <p:cNvCxnSpPr>
            <a:cxnSpLocks/>
            <a:stCxn id="17" idx="4"/>
          </p:cNvCxnSpPr>
          <p:nvPr/>
        </p:nvCxnSpPr>
        <p:spPr>
          <a:xfrm flipH="1">
            <a:off x="10119752" y="2402657"/>
            <a:ext cx="351930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B12D8AA-0409-864E-9890-3FFB88503A5E}"/>
              </a:ext>
            </a:extLst>
          </p:cNvPr>
          <p:cNvCxnSpPr>
            <a:cxnSpLocks/>
            <a:stCxn id="17" idx="4"/>
          </p:cNvCxnSpPr>
          <p:nvPr/>
        </p:nvCxnSpPr>
        <p:spPr>
          <a:xfrm>
            <a:off x="10471682" y="2402657"/>
            <a:ext cx="277238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95DC5A4-90C6-B14B-A382-11D393C99C64}"/>
              </a:ext>
            </a:extLst>
          </p:cNvPr>
          <p:cNvSpPr/>
          <p:nvPr/>
        </p:nvSpPr>
        <p:spPr>
          <a:xfrm>
            <a:off x="9722652" y="2720674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B8E1B2B-5DF2-E645-BAE4-3348D9F473F8}"/>
              </a:ext>
            </a:extLst>
          </p:cNvPr>
          <p:cNvSpPr/>
          <p:nvPr/>
        </p:nvSpPr>
        <p:spPr>
          <a:xfrm>
            <a:off x="10512211" y="2727971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2426A8-2722-164F-9E46-19F9E98727B2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10971844" y="3050112"/>
            <a:ext cx="328310" cy="311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C218C-0E06-3C47-904B-D63E5F792510}"/>
              </a:ext>
            </a:extLst>
          </p:cNvPr>
          <p:cNvCxnSpPr>
            <a:cxnSpLocks/>
            <a:stCxn id="21" idx="4"/>
            <a:endCxn id="38" idx="0"/>
          </p:cNvCxnSpPr>
          <p:nvPr/>
        </p:nvCxnSpPr>
        <p:spPr>
          <a:xfrm flipH="1">
            <a:off x="10367706" y="3039820"/>
            <a:ext cx="519020" cy="311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D89F16C-A8D3-904A-8BD9-E3C751C9AD48}"/>
              </a:ext>
            </a:extLst>
          </p:cNvPr>
          <p:cNvSpPr/>
          <p:nvPr/>
        </p:nvSpPr>
        <p:spPr>
          <a:xfrm>
            <a:off x="10925639" y="336139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D5099B9-D9EF-0A4E-8009-19E283A17159}"/>
              </a:ext>
            </a:extLst>
          </p:cNvPr>
          <p:cNvSpPr/>
          <p:nvPr/>
        </p:nvSpPr>
        <p:spPr>
          <a:xfrm>
            <a:off x="9993191" y="3351669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9" name="Snip Single Corner Rectangle 38">
            <a:extLst>
              <a:ext uri="{FF2B5EF4-FFF2-40B4-BE49-F238E27FC236}">
                <a16:creationId xmlns:a16="http://schemas.microsoft.com/office/drawing/2014/main" id="{F7AACD00-7B7A-7E4A-8E82-E00367CBE379}"/>
              </a:ext>
            </a:extLst>
          </p:cNvPr>
          <p:cNvSpPr/>
          <p:nvPr/>
        </p:nvSpPr>
        <p:spPr>
          <a:xfrm>
            <a:off x="7026095" y="2373274"/>
            <a:ext cx="1594022" cy="1235676"/>
          </a:xfrm>
          <a:prstGeom prst="snip1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int main() {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urier" pitchFamily="2" charset="0"/>
              </a:rPr>
              <a:t>printf</a:t>
            </a: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(““);</a:t>
            </a:r>
          </a:p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return 0;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}</a:t>
            </a:r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D5C64FAD-A257-F54D-A462-4BA9F13CC36D}"/>
              </a:ext>
            </a:extLst>
          </p:cNvPr>
          <p:cNvSpPr/>
          <p:nvPr/>
        </p:nvSpPr>
        <p:spPr>
          <a:xfrm flipV="1">
            <a:off x="8796082" y="2700225"/>
            <a:ext cx="951875" cy="35445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0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8CC03-2289-E425-2D86-C02B39A8C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10156-EAAD-09A3-0B30-821752DED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39" y="-26022"/>
            <a:ext cx="10515600" cy="1553757"/>
          </a:xfrm>
        </p:spPr>
        <p:txBody>
          <a:bodyPr/>
          <a:lstStyle/>
          <a:p>
            <a:r>
              <a:rPr lang="en-US" sz="5000" b="1" dirty="0"/>
              <a:t>Announcements</a:t>
            </a:r>
            <a:br>
              <a:rPr lang="en-US" dirty="0"/>
            </a:b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05E07-8CE7-6894-7D02-B1534303A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0039" y="1327234"/>
            <a:ext cx="6901683" cy="420353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000" b="1" dirty="0"/>
              <a:t>Homework 1</a:t>
            </a:r>
          </a:p>
          <a:p>
            <a:pPr marL="0" indent="0">
              <a:buNone/>
            </a:pPr>
            <a:r>
              <a:rPr lang="en-US" sz="3000" b="1" dirty="0"/>
              <a:t>      due Tue 1/27 at 11:59PM</a:t>
            </a:r>
          </a:p>
          <a:p>
            <a:pPr marL="0" indent="0">
              <a:buNone/>
            </a:pPr>
            <a:r>
              <a:rPr lang="en-US" sz="3000" b="1" dirty="0"/>
              <a:t>Quiz 5: Scanner EM-SOS-NG-Actions</a:t>
            </a:r>
          </a:p>
          <a:p>
            <a:pPr marL="0" indent="0">
              <a:buNone/>
            </a:pPr>
            <a:r>
              <a:rPr lang="en-US" sz="3000" b="1" dirty="0"/>
              <a:t>      due Tue 1/27 at 5PM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3000" b="1" dirty="0"/>
              <a:t>Module 2: Parsing Starting today.</a:t>
            </a:r>
            <a:r>
              <a:rPr lang="en-US" sz="3000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3000" b="1" dirty="0"/>
              <a:t>Lots of Tutoring is Available, </a:t>
            </a:r>
          </a:p>
          <a:p>
            <a:pPr marL="0" indent="0">
              <a:buNone/>
            </a:pPr>
            <a:r>
              <a:rPr lang="en-US" sz="3000" b="1" dirty="0"/>
              <a:t>     See Calendar for Details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6021271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US" dirty="0"/>
              <a:t>Module 2:  CFG and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Parsing:</a:t>
            </a:r>
          </a:p>
          <a:p>
            <a:pPr lvl="1"/>
            <a:r>
              <a:rPr lang="en-US" sz="3200" dirty="0"/>
              <a:t>Often times scanning is also included in parsing</a:t>
            </a:r>
          </a:p>
          <a:p>
            <a:pPr lvl="1"/>
            <a:r>
              <a:rPr lang="en-US" sz="3200" dirty="0"/>
              <a:t>Specifically this module is about “Syntactic Analysis” </a:t>
            </a:r>
          </a:p>
        </p:txBody>
      </p:sp>
    </p:spTree>
    <p:extLst>
      <p:ext uri="{BB962C8B-B14F-4D97-AF65-F5344CB8AC3E}">
        <p14:creationId xmlns:p14="http://schemas.microsoft.com/office/powerpoint/2010/main" val="3519716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71DE59F-C753-BF43-8241-72F9E8A22B16}"/>
              </a:ext>
            </a:extLst>
          </p:cNvPr>
          <p:cNvSpPr/>
          <p:nvPr/>
        </p:nvSpPr>
        <p:spPr>
          <a:xfrm>
            <a:off x="4494004" y="2470198"/>
            <a:ext cx="1976846" cy="121096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Optimizations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4891F54-A6FD-BC4A-9CFD-9BB478DB73C1}"/>
              </a:ext>
            </a:extLst>
          </p:cNvPr>
          <p:cNvSpPr/>
          <p:nvPr/>
        </p:nvSpPr>
        <p:spPr>
          <a:xfrm>
            <a:off x="4618016" y="2632889"/>
            <a:ext cx="1976846" cy="121096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Optimizations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4A3AC4-D615-E74D-A086-484ABE441DB2}"/>
              </a:ext>
            </a:extLst>
          </p:cNvPr>
          <p:cNvSpPr/>
          <p:nvPr/>
        </p:nvSpPr>
        <p:spPr>
          <a:xfrm>
            <a:off x="4771189" y="2840074"/>
            <a:ext cx="1976846" cy="121096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Optimizations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7911C6-9A1D-8E46-9CEC-47222CC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Architecture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3C3FB4-8387-7740-8B88-F7681E85B088}"/>
              </a:ext>
            </a:extLst>
          </p:cNvPr>
          <p:cNvSpPr/>
          <p:nvPr/>
        </p:nvSpPr>
        <p:spPr>
          <a:xfrm>
            <a:off x="2369085" y="3008584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Front 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9A6023-EC82-A348-A446-E8B7B9D4A2B7}"/>
              </a:ext>
            </a:extLst>
          </p:cNvPr>
          <p:cNvSpPr/>
          <p:nvPr/>
        </p:nvSpPr>
        <p:spPr>
          <a:xfrm>
            <a:off x="231012" y="3015049"/>
            <a:ext cx="1404904" cy="10605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input program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69E972-31FB-0F46-9209-4DF577D2E41D}"/>
              </a:ext>
            </a:extLst>
          </p:cNvPr>
          <p:cNvSpPr/>
          <p:nvPr/>
        </p:nvSpPr>
        <p:spPr>
          <a:xfrm>
            <a:off x="10556083" y="2974888"/>
            <a:ext cx="1404904" cy="12109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machine code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E88B5D4-B47A-AA4B-8096-1E8840A62035}"/>
              </a:ext>
            </a:extLst>
          </p:cNvPr>
          <p:cNvSpPr/>
          <p:nvPr/>
        </p:nvSpPr>
        <p:spPr>
          <a:xfrm>
            <a:off x="1743009" y="3428999"/>
            <a:ext cx="51898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0BE4C43D-4464-9A4F-915B-1AF6600016A4}"/>
              </a:ext>
            </a:extLst>
          </p:cNvPr>
          <p:cNvSpPr/>
          <p:nvPr/>
        </p:nvSpPr>
        <p:spPr>
          <a:xfrm>
            <a:off x="9930007" y="3435472"/>
            <a:ext cx="51898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789613-6A59-1E42-A7A0-FE88862E8127}"/>
              </a:ext>
            </a:extLst>
          </p:cNvPr>
          <p:cNvSpPr txBox="1"/>
          <p:nvPr/>
        </p:nvSpPr>
        <p:spPr>
          <a:xfrm>
            <a:off x="2232577" y="5766577"/>
            <a:ext cx="3714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Still working in the front end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173E7D-D501-6942-9579-E59C05EE34A5}"/>
              </a:ext>
            </a:extLst>
          </p:cNvPr>
          <p:cNvSpPr/>
          <p:nvPr/>
        </p:nvSpPr>
        <p:spPr>
          <a:xfrm>
            <a:off x="8452022" y="3015049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Back</a:t>
            </a:r>
            <a:br>
              <a:rPr lang="en-US" dirty="0"/>
            </a:br>
            <a:r>
              <a:rPr lang="en-US" dirty="0"/>
              <a:t>end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057D7B-6672-DC42-993E-959C20A7F0F1}"/>
              </a:ext>
            </a:extLst>
          </p:cNvPr>
          <p:cNvSpPr/>
          <p:nvPr/>
        </p:nvSpPr>
        <p:spPr>
          <a:xfrm>
            <a:off x="4894218" y="3015049"/>
            <a:ext cx="1976846" cy="121096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Optimizations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6F6209B-87CB-9A4D-AC1B-B23FA21FDAEB}"/>
              </a:ext>
            </a:extLst>
          </p:cNvPr>
          <p:cNvSpPr/>
          <p:nvPr/>
        </p:nvSpPr>
        <p:spPr>
          <a:xfrm>
            <a:off x="3691963" y="3435471"/>
            <a:ext cx="768177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691B1CE3-AAAB-2F4A-93E1-46E70C081969}"/>
              </a:ext>
            </a:extLst>
          </p:cNvPr>
          <p:cNvSpPr/>
          <p:nvPr/>
        </p:nvSpPr>
        <p:spPr>
          <a:xfrm>
            <a:off x="7096549" y="3462694"/>
            <a:ext cx="1019373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CA1853F-08A3-B94A-A039-400C7E67917F}"/>
              </a:ext>
            </a:extLst>
          </p:cNvPr>
          <p:cNvSpPr/>
          <p:nvPr/>
        </p:nvSpPr>
        <p:spPr>
          <a:xfrm>
            <a:off x="1959429" y="1837509"/>
            <a:ext cx="8107679" cy="370114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345F39-87B8-4048-B8D4-A577F1CD9348}"/>
              </a:ext>
            </a:extLst>
          </p:cNvPr>
          <p:cNvSpPr txBox="1"/>
          <p:nvPr/>
        </p:nvSpPr>
        <p:spPr>
          <a:xfrm>
            <a:off x="5240958" y="1871122"/>
            <a:ext cx="12833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compiler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ACCDB7-7FA2-5942-B45D-FD4218C019BE}"/>
              </a:ext>
            </a:extLst>
          </p:cNvPr>
          <p:cNvSpPr txBox="1"/>
          <p:nvPr/>
        </p:nvSpPr>
        <p:spPr>
          <a:xfrm>
            <a:off x="2447109" y="4299838"/>
            <a:ext cx="866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parsing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0E094A-0FE9-2043-9F37-0659F8A260E8}"/>
              </a:ext>
            </a:extLst>
          </p:cNvPr>
          <p:cNvSpPr txBox="1"/>
          <p:nvPr/>
        </p:nvSpPr>
        <p:spPr>
          <a:xfrm>
            <a:off x="8541504" y="4226011"/>
            <a:ext cx="1036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gen</a:t>
            </a: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153302D6-7755-6D4B-84A2-19AB17545C5A}"/>
              </a:ext>
            </a:extLst>
          </p:cNvPr>
          <p:cNvSpPr/>
          <p:nvPr/>
        </p:nvSpPr>
        <p:spPr>
          <a:xfrm rot="8848743">
            <a:off x="5884098" y="4443973"/>
            <a:ext cx="1019373" cy="302741"/>
          </a:xfrm>
          <a:prstGeom prst="rightArrow">
            <a:avLst>
              <a:gd name="adj1" fmla="val 55754"/>
              <a:gd name="adj2" fmla="val 50000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026B06C5-8D02-2E43-9B16-CA8BF2231F67}"/>
              </a:ext>
            </a:extLst>
          </p:cNvPr>
          <p:cNvSpPr/>
          <p:nvPr/>
        </p:nvSpPr>
        <p:spPr>
          <a:xfrm rot="12718130">
            <a:off x="5026115" y="4517799"/>
            <a:ext cx="1019373" cy="302741"/>
          </a:xfrm>
          <a:prstGeom prst="rightArrow">
            <a:avLst>
              <a:gd name="adj1" fmla="val 55754"/>
              <a:gd name="adj2" fmla="val 50000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C540AF-F8AB-1043-BE5B-D1675E9B18A6}"/>
              </a:ext>
            </a:extLst>
          </p:cNvPr>
          <p:cNvSpPr txBox="1"/>
          <p:nvPr/>
        </p:nvSpPr>
        <p:spPr>
          <a:xfrm>
            <a:off x="6465912" y="4775901"/>
            <a:ext cx="20201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optimizations</a:t>
            </a:r>
          </a:p>
          <a:p>
            <a:r>
              <a:rPr lang="en-US" dirty="0"/>
              <a:t>build on each other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CFEF8E-36DF-FB47-99C4-01EC345A7D76}"/>
              </a:ext>
            </a:extLst>
          </p:cNvPr>
          <p:cNvSpPr txBox="1"/>
          <p:nvPr/>
        </p:nvSpPr>
        <p:spPr>
          <a:xfrm>
            <a:off x="3454104" y="2296268"/>
            <a:ext cx="1039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creates</a:t>
            </a:r>
            <a:br>
              <a:rPr lang="en-US" dirty="0"/>
            </a:br>
            <a:r>
              <a:rPr lang="en-US" dirty="0"/>
              <a:t>structure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03DCD5-0038-B646-93C6-C85CBE640171}"/>
              </a:ext>
            </a:extLst>
          </p:cNvPr>
          <p:cNvSpPr txBox="1"/>
          <p:nvPr/>
        </p:nvSpPr>
        <p:spPr>
          <a:xfrm>
            <a:off x="287383" y="4336869"/>
            <a:ext cx="712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942029-AE5D-884E-8594-EAD473DCF4E3}"/>
              </a:ext>
            </a:extLst>
          </p:cNvPr>
          <p:cNvSpPr txBox="1"/>
          <p:nvPr/>
        </p:nvSpPr>
        <p:spPr>
          <a:xfrm>
            <a:off x="8115922" y="2252299"/>
            <a:ext cx="17076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produces</a:t>
            </a:r>
            <a:br>
              <a:rPr lang="en-US" dirty="0"/>
            </a:br>
            <a:r>
              <a:rPr lang="en-US" dirty="0"/>
              <a:t>executable code</a:t>
            </a:r>
          </a:p>
        </p:txBody>
      </p:sp>
    </p:spTree>
    <p:extLst>
      <p:ext uri="{BB962C8B-B14F-4D97-AF65-F5344CB8AC3E}">
        <p14:creationId xmlns:p14="http://schemas.microsoft.com/office/powerpoint/2010/main" val="778431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3C3FB4-8387-7740-8B88-F7681E85B088}"/>
              </a:ext>
            </a:extLst>
          </p:cNvPr>
          <p:cNvSpPr/>
          <p:nvPr/>
        </p:nvSpPr>
        <p:spPr>
          <a:xfrm>
            <a:off x="1922537" y="837898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Lexical </a:t>
            </a:r>
            <a:br>
              <a:rPr lang="en-US" dirty="0"/>
            </a:br>
            <a:r>
              <a:rPr lang="en-US" dirty="0"/>
              <a:t>Analysis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9A6023-EC82-A348-A446-E8B7B9D4A2B7}"/>
              </a:ext>
            </a:extLst>
          </p:cNvPr>
          <p:cNvSpPr/>
          <p:nvPr/>
        </p:nvSpPr>
        <p:spPr>
          <a:xfrm>
            <a:off x="47212" y="837898"/>
            <a:ext cx="1404904" cy="10605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input program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69E972-31FB-0F46-9209-4DF577D2E41D}"/>
              </a:ext>
            </a:extLst>
          </p:cNvPr>
          <p:cNvSpPr/>
          <p:nvPr/>
        </p:nvSpPr>
        <p:spPr>
          <a:xfrm>
            <a:off x="9056912" y="5620832"/>
            <a:ext cx="1404904" cy="12109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machine code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E88B5D4-B47A-AA4B-8096-1E8840A62035}"/>
              </a:ext>
            </a:extLst>
          </p:cNvPr>
          <p:cNvSpPr/>
          <p:nvPr/>
        </p:nvSpPr>
        <p:spPr>
          <a:xfrm>
            <a:off x="1500856" y="1258320"/>
            <a:ext cx="394616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173E7D-D501-6942-9579-E59C05EE34A5}"/>
              </a:ext>
            </a:extLst>
          </p:cNvPr>
          <p:cNvSpPr/>
          <p:nvPr/>
        </p:nvSpPr>
        <p:spPr>
          <a:xfrm>
            <a:off x="7081986" y="844261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Intermediate code gen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6F6209B-87CB-9A4D-AC1B-B23FA21FDAEB}"/>
              </a:ext>
            </a:extLst>
          </p:cNvPr>
          <p:cNvSpPr/>
          <p:nvPr/>
        </p:nvSpPr>
        <p:spPr>
          <a:xfrm>
            <a:off x="3168554" y="1288507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C8487E-1082-0946-B393-D2E9537FF66C}"/>
              </a:ext>
            </a:extLst>
          </p:cNvPr>
          <p:cNvSpPr/>
          <p:nvPr/>
        </p:nvSpPr>
        <p:spPr>
          <a:xfrm>
            <a:off x="3607889" y="844261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Syntactic Analyzer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1FE463-D808-EC4B-841B-36407BEADCAD}"/>
              </a:ext>
            </a:extLst>
          </p:cNvPr>
          <p:cNvSpPr/>
          <p:nvPr/>
        </p:nvSpPr>
        <p:spPr>
          <a:xfrm>
            <a:off x="5293241" y="844261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Semantic Analyzer</a:t>
            </a:r>
          </a:p>
        </p:txBody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4880A007-364A-354C-B940-DE0450EBF6B0}"/>
              </a:ext>
            </a:extLst>
          </p:cNvPr>
          <p:cNvSpPr/>
          <p:nvPr/>
        </p:nvSpPr>
        <p:spPr>
          <a:xfrm>
            <a:off x="4881567" y="1258320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B59943-49F7-F944-AE1A-808C426ECB74}"/>
              </a:ext>
            </a:extLst>
          </p:cNvPr>
          <p:cNvSpPr/>
          <p:nvPr/>
        </p:nvSpPr>
        <p:spPr>
          <a:xfrm>
            <a:off x="8955658" y="844261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IR optimizations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0B9C32-F0CB-924E-B890-FDD2192B46F8}"/>
              </a:ext>
            </a:extLst>
          </p:cNvPr>
          <p:cNvSpPr/>
          <p:nvPr/>
        </p:nvSpPr>
        <p:spPr>
          <a:xfrm>
            <a:off x="8955658" y="2468664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code gen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8FDD22-BE96-6841-8DF1-B72E4176D3BC}"/>
              </a:ext>
            </a:extLst>
          </p:cNvPr>
          <p:cNvSpPr/>
          <p:nvPr/>
        </p:nvSpPr>
        <p:spPr>
          <a:xfrm>
            <a:off x="8955658" y="4070875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code optimizations</a:t>
            </a: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30270E25-7519-9849-8A8A-55EDEC13CA28}"/>
              </a:ext>
            </a:extLst>
          </p:cNvPr>
          <p:cNvSpPr/>
          <p:nvPr/>
        </p:nvSpPr>
        <p:spPr>
          <a:xfrm>
            <a:off x="6604785" y="1258319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Arrow 37">
            <a:extLst>
              <a:ext uri="{FF2B5EF4-FFF2-40B4-BE49-F238E27FC236}">
                <a16:creationId xmlns:a16="http://schemas.microsoft.com/office/drawing/2014/main" id="{0B5584FA-4115-7746-BEA9-9A88F9BE9C9A}"/>
              </a:ext>
            </a:extLst>
          </p:cNvPr>
          <p:cNvSpPr/>
          <p:nvPr/>
        </p:nvSpPr>
        <p:spPr>
          <a:xfrm>
            <a:off x="8574214" y="1251836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ight Arrow 38">
            <a:extLst>
              <a:ext uri="{FF2B5EF4-FFF2-40B4-BE49-F238E27FC236}">
                <a16:creationId xmlns:a16="http://schemas.microsoft.com/office/drawing/2014/main" id="{24E85ACC-A0A9-5B40-B04D-04D2E2D5F1B0}"/>
              </a:ext>
            </a:extLst>
          </p:cNvPr>
          <p:cNvSpPr/>
          <p:nvPr/>
        </p:nvSpPr>
        <p:spPr>
          <a:xfrm rot="5400000">
            <a:off x="9494694" y="2126572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A4DC3868-88DC-A441-A2CD-782954D64A82}"/>
              </a:ext>
            </a:extLst>
          </p:cNvPr>
          <p:cNvSpPr/>
          <p:nvPr/>
        </p:nvSpPr>
        <p:spPr>
          <a:xfrm rot="5400000">
            <a:off x="9460816" y="3736112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CE6E5538-E97A-8340-B25C-EC8500DCEC46}"/>
              </a:ext>
            </a:extLst>
          </p:cNvPr>
          <p:cNvSpPr/>
          <p:nvPr/>
        </p:nvSpPr>
        <p:spPr>
          <a:xfrm rot="5400000">
            <a:off x="9494694" y="5324966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21F425-5E4D-5148-B4C9-0A4E542242CD}"/>
              </a:ext>
            </a:extLst>
          </p:cNvPr>
          <p:cNvSpPr txBox="1"/>
          <p:nvPr/>
        </p:nvSpPr>
        <p:spPr>
          <a:xfrm>
            <a:off x="10522267" y="1255211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loop!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A8FD6D-0DD9-BB45-B8EF-80BED5F821C7}"/>
              </a:ext>
            </a:extLst>
          </p:cNvPr>
          <p:cNvSpPr txBox="1"/>
          <p:nvPr/>
        </p:nvSpPr>
        <p:spPr>
          <a:xfrm>
            <a:off x="10522267" y="449169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loop!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6A2755-A0B7-D948-9779-9A1B3546B6B2}"/>
              </a:ext>
            </a:extLst>
          </p:cNvPr>
          <p:cNvSpPr txBox="1"/>
          <p:nvPr/>
        </p:nvSpPr>
        <p:spPr>
          <a:xfrm>
            <a:off x="4000931" y="6165543"/>
            <a:ext cx="2603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More detailed 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8A2E6F-3120-F842-AA3F-EA00120F76FC}"/>
              </a:ext>
            </a:extLst>
          </p:cNvPr>
          <p:cNvSpPr txBox="1"/>
          <p:nvPr/>
        </p:nvSpPr>
        <p:spPr>
          <a:xfrm>
            <a:off x="259504" y="2099332"/>
            <a:ext cx="712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551A3-B151-DF4C-9EDD-7C069FE1AA46}"/>
              </a:ext>
            </a:extLst>
          </p:cNvPr>
          <p:cNvSpPr txBox="1"/>
          <p:nvPr/>
        </p:nvSpPr>
        <p:spPr>
          <a:xfrm>
            <a:off x="2649402" y="2123195"/>
            <a:ext cx="1419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stream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7F4CBF-B7BE-334B-A671-A40DCDC70253}"/>
              </a:ext>
            </a:extLst>
          </p:cNvPr>
          <p:cNvSpPr txBox="1"/>
          <p:nvPr/>
        </p:nvSpPr>
        <p:spPr>
          <a:xfrm>
            <a:off x="4362415" y="2123195"/>
            <a:ext cx="1213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 tree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999271-EDD5-F34B-A188-723D908AC655}"/>
              </a:ext>
            </a:extLst>
          </p:cNvPr>
          <p:cNvSpPr txBox="1"/>
          <p:nvPr/>
        </p:nvSpPr>
        <p:spPr>
          <a:xfrm>
            <a:off x="6025873" y="2169361"/>
            <a:ext cx="1213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 tree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9656A9-DC2E-4C41-B273-66D5C0257639}"/>
              </a:ext>
            </a:extLst>
          </p:cNvPr>
          <p:cNvSpPr txBox="1"/>
          <p:nvPr/>
        </p:nvSpPr>
        <p:spPr>
          <a:xfrm>
            <a:off x="8046930" y="406948"/>
            <a:ext cx="1219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IR program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05C77B-8A57-A24F-B30D-7A2E09E73D11}"/>
              </a:ext>
            </a:extLst>
          </p:cNvPr>
          <p:cNvSpPr txBox="1"/>
          <p:nvPr/>
        </p:nvSpPr>
        <p:spPr>
          <a:xfrm>
            <a:off x="10497484" y="1954776"/>
            <a:ext cx="1406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optimized IR </a:t>
            </a:r>
            <a:br>
              <a:rPr lang="en-US" dirty="0"/>
            </a:br>
            <a:r>
              <a:rPr lang="en-US" dirty="0"/>
              <a:t>program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D866B4-F713-2142-838D-8740AA78E81C}"/>
              </a:ext>
            </a:extLst>
          </p:cNvPr>
          <p:cNvSpPr txBox="1"/>
          <p:nvPr/>
        </p:nvSpPr>
        <p:spPr>
          <a:xfrm>
            <a:off x="7474179" y="3639324"/>
            <a:ext cx="1331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ISA program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0751F0-E19A-D84D-9951-45201A881424}"/>
              </a:ext>
            </a:extLst>
          </p:cNvPr>
          <p:cNvSpPr txBox="1"/>
          <p:nvPr/>
        </p:nvSpPr>
        <p:spPr>
          <a:xfrm>
            <a:off x="6738970" y="5643770"/>
            <a:ext cx="2317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optimized ISA program</a:t>
            </a:r>
          </a:p>
        </p:txBody>
      </p:sp>
    </p:spTree>
    <p:extLst>
      <p:ext uri="{BB962C8B-B14F-4D97-AF65-F5344CB8AC3E}">
        <p14:creationId xmlns:p14="http://schemas.microsoft.com/office/powerpoint/2010/main" val="2240039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3C3FB4-8387-7740-8B88-F7681E85B088}"/>
              </a:ext>
            </a:extLst>
          </p:cNvPr>
          <p:cNvSpPr/>
          <p:nvPr/>
        </p:nvSpPr>
        <p:spPr>
          <a:xfrm>
            <a:off x="1922537" y="837898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Lexical </a:t>
            </a:r>
            <a:br>
              <a:rPr lang="en-US" dirty="0"/>
            </a:br>
            <a:r>
              <a:rPr lang="en-US" dirty="0"/>
              <a:t>Analysis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9A6023-EC82-A348-A446-E8B7B9D4A2B7}"/>
              </a:ext>
            </a:extLst>
          </p:cNvPr>
          <p:cNvSpPr/>
          <p:nvPr/>
        </p:nvSpPr>
        <p:spPr>
          <a:xfrm>
            <a:off x="47212" y="837898"/>
            <a:ext cx="1404904" cy="10605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input program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69E972-31FB-0F46-9209-4DF577D2E41D}"/>
              </a:ext>
            </a:extLst>
          </p:cNvPr>
          <p:cNvSpPr/>
          <p:nvPr/>
        </p:nvSpPr>
        <p:spPr>
          <a:xfrm>
            <a:off x="9056912" y="5620832"/>
            <a:ext cx="1404904" cy="12109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machine code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E88B5D4-B47A-AA4B-8096-1E8840A62035}"/>
              </a:ext>
            </a:extLst>
          </p:cNvPr>
          <p:cNvSpPr/>
          <p:nvPr/>
        </p:nvSpPr>
        <p:spPr>
          <a:xfrm>
            <a:off x="1500856" y="1258320"/>
            <a:ext cx="394616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173E7D-D501-6942-9579-E59C05EE34A5}"/>
              </a:ext>
            </a:extLst>
          </p:cNvPr>
          <p:cNvSpPr/>
          <p:nvPr/>
        </p:nvSpPr>
        <p:spPr>
          <a:xfrm>
            <a:off x="7081986" y="844261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Intermediate code gen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6F6209B-87CB-9A4D-AC1B-B23FA21FDAEB}"/>
              </a:ext>
            </a:extLst>
          </p:cNvPr>
          <p:cNvSpPr/>
          <p:nvPr/>
        </p:nvSpPr>
        <p:spPr>
          <a:xfrm>
            <a:off x="3168554" y="1288507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C8487E-1082-0946-B393-D2E9537FF66C}"/>
              </a:ext>
            </a:extLst>
          </p:cNvPr>
          <p:cNvSpPr/>
          <p:nvPr/>
        </p:nvSpPr>
        <p:spPr>
          <a:xfrm>
            <a:off x="3607889" y="844261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Syntactic Analyzer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1FE463-D808-EC4B-841B-36407BEADCAD}"/>
              </a:ext>
            </a:extLst>
          </p:cNvPr>
          <p:cNvSpPr/>
          <p:nvPr/>
        </p:nvSpPr>
        <p:spPr>
          <a:xfrm>
            <a:off x="5293241" y="844261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Semantic Analyzer</a:t>
            </a:r>
          </a:p>
        </p:txBody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4880A007-364A-354C-B940-DE0450EBF6B0}"/>
              </a:ext>
            </a:extLst>
          </p:cNvPr>
          <p:cNvSpPr/>
          <p:nvPr/>
        </p:nvSpPr>
        <p:spPr>
          <a:xfrm>
            <a:off x="4881567" y="1258320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B59943-49F7-F944-AE1A-808C426ECB74}"/>
              </a:ext>
            </a:extLst>
          </p:cNvPr>
          <p:cNvSpPr/>
          <p:nvPr/>
        </p:nvSpPr>
        <p:spPr>
          <a:xfrm>
            <a:off x="8955658" y="844261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IR optimizations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0B9C32-F0CB-924E-B890-FDD2192B46F8}"/>
              </a:ext>
            </a:extLst>
          </p:cNvPr>
          <p:cNvSpPr/>
          <p:nvPr/>
        </p:nvSpPr>
        <p:spPr>
          <a:xfrm>
            <a:off x="8955658" y="2468664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code gen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8FDD22-BE96-6841-8DF1-B72E4176D3BC}"/>
              </a:ext>
            </a:extLst>
          </p:cNvPr>
          <p:cNvSpPr/>
          <p:nvPr/>
        </p:nvSpPr>
        <p:spPr>
          <a:xfrm>
            <a:off x="8955658" y="4070875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code optimizations</a:t>
            </a: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30270E25-7519-9849-8A8A-55EDEC13CA28}"/>
              </a:ext>
            </a:extLst>
          </p:cNvPr>
          <p:cNvSpPr/>
          <p:nvPr/>
        </p:nvSpPr>
        <p:spPr>
          <a:xfrm>
            <a:off x="6604785" y="1258319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Arrow 37">
            <a:extLst>
              <a:ext uri="{FF2B5EF4-FFF2-40B4-BE49-F238E27FC236}">
                <a16:creationId xmlns:a16="http://schemas.microsoft.com/office/drawing/2014/main" id="{0B5584FA-4115-7746-BEA9-9A88F9BE9C9A}"/>
              </a:ext>
            </a:extLst>
          </p:cNvPr>
          <p:cNvSpPr/>
          <p:nvPr/>
        </p:nvSpPr>
        <p:spPr>
          <a:xfrm>
            <a:off x="8574214" y="1251836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ight Arrow 38">
            <a:extLst>
              <a:ext uri="{FF2B5EF4-FFF2-40B4-BE49-F238E27FC236}">
                <a16:creationId xmlns:a16="http://schemas.microsoft.com/office/drawing/2014/main" id="{24E85ACC-A0A9-5B40-B04D-04D2E2D5F1B0}"/>
              </a:ext>
            </a:extLst>
          </p:cNvPr>
          <p:cNvSpPr/>
          <p:nvPr/>
        </p:nvSpPr>
        <p:spPr>
          <a:xfrm rot="5400000">
            <a:off x="9494694" y="2126572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A4DC3868-88DC-A441-A2CD-782954D64A82}"/>
              </a:ext>
            </a:extLst>
          </p:cNvPr>
          <p:cNvSpPr/>
          <p:nvPr/>
        </p:nvSpPr>
        <p:spPr>
          <a:xfrm rot="5400000">
            <a:off x="9460816" y="3736112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CE6E5538-E97A-8340-B25C-EC8500DCEC46}"/>
              </a:ext>
            </a:extLst>
          </p:cNvPr>
          <p:cNvSpPr/>
          <p:nvPr/>
        </p:nvSpPr>
        <p:spPr>
          <a:xfrm rot="5400000">
            <a:off x="9494694" y="5324966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21F425-5E4D-5148-B4C9-0A4E542242CD}"/>
              </a:ext>
            </a:extLst>
          </p:cNvPr>
          <p:cNvSpPr txBox="1"/>
          <p:nvPr/>
        </p:nvSpPr>
        <p:spPr>
          <a:xfrm>
            <a:off x="10522267" y="1255211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loop!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A8FD6D-0DD9-BB45-B8EF-80BED5F821C7}"/>
              </a:ext>
            </a:extLst>
          </p:cNvPr>
          <p:cNvSpPr txBox="1"/>
          <p:nvPr/>
        </p:nvSpPr>
        <p:spPr>
          <a:xfrm>
            <a:off x="10522267" y="449169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loop!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6A2755-A0B7-D948-9779-9A1B3546B6B2}"/>
              </a:ext>
            </a:extLst>
          </p:cNvPr>
          <p:cNvSpPr txBox="1"/>
          <p:nvPr/>
        </p:nvSpPr>
        <p:spPr>
          <a:xfrm>
            <a:off x="4000931" y="6165543"/>
            <a:ext cx="2603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More detailed 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8A2E6F-3120-F842-AA3F-EA00120F76FC}"/>
              </a:ext>
            </a:extLst>
          </p:cNvPr>
          <p:cNvSpPr txBox="1"/>
          <p:nvPr/>
        </p:nvSpPr>
        <p:spPr>
          <a:xfrm>
            <a:off x="259504" y="2099332"/>
            <a:ext cx="712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string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551A3-B151-DF4C-9EDD-7C069FE1AA46}"/>
              </a:ext>
            </a:extLst>
          </p:cNvPr>
          <p:cNvSpPr txBox="1"/>
          <p:nvPr/>
        </p:nvSpPr>
        <p:spPr>
          <a:xfrm>
            <a:off x="2649402" y="2123195"/>
            <a:ext cx="1419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stream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7F4CBF-B7BE-334B-A671-A40DCDC70253}"/>
              </a:ext>
            </a:extLst>
          </p:cNvPr>
          <p:cNvSpPr txBox="1"/>
          <p:nvPr/>
        </p:nvSpPr>
        <p:spPr>
          <a:xfrm>
            <a:off x="4362415" y="2123195"/>
            <a:ext cx="1213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 tree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999271-EDD5-F34B-A188-723D908AC655}"/>
              </a:ext>
            </a:extLst>
          </p:cNvPr>
          <p:cNvSpPr txBox="1"/>
          <p:nvPr/>
        </p:nvSpPr>
        <p:spPr>
          <a:xfrm>
            <a:off x="6025873" y="2169361"/>
            <a:ext cx="1213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 tree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9656A9-DC2E-4C41-B273-66D5C0257639}"/>
              </a:ext>
            </a:extLst>
          </p:cNvPr>
          <p:cNvSpPr txBox="1"/>
          <p:nvPr/>
        </p:nvSpPr>
        <p:spPr>
          <a:xfrm>
            <a:off x="8046930" y="406948"/>
            <a:ext cx="1219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IR program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05C77B-8A57-A24F-B30D-7A2E09E73D11}"/>
              </a:ext>
            </a:extLst>
          </p:cNvPr>
          <p:cNvSpPr txBox="1"/>
          <p:nvPr/>
        </p:nvSpPr>
        <p:spPr>
          <a:xfrm>
            <a:off x="10497484" y="1954776"/>
            <a:ext cx="1406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optimized IR </a:t>
            </a:r>
            <a:br>
              <a:rPr lang="en-US" dirty="0"/>
            </a:br>
            <a:r>
              <a:rPr lang="en-US" dirty="0"/>
              <a:t>program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D866B4-F713-2142-838D-8740AA78E81C}"/>
              </a:ext>
            </a:extLst>
          </p:cNvPr>
          <p:cNvSpPr txBox="1"/>
          <p:nvPr/>
        </p:nvSpPr>
        <p:spPr>
          <a:xfrm>
            <a:off x="7474179" y="3639324"/>
            <a:ext cx="1331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ISA program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0751F0-E19A-D84D-9951-45201A881424}"/>
              </a:ext>
            </a:extLst>
          </p:cNvPr>
          <p:cNvSpPr txBox="1"/>
          <p:nvPr/>
        </p:nvSpPr>
        <p:spPr>
          <a:xfrm>
            <a:off x="6738970" y="5643770"/>
            <a:ext cx="2317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optimized ISA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EB4C4B-3719-574B-9A98-070FBBC9C369}"/>
              </a:ext>
            </a:extLst>
          </p:cNvPr>
          <p:cNvSpPr txBox="1"/>
          <p:nvPr/>
        </p:nvSpPr>
        <p:spPr>
          <a:xfrm>
            <a:off x="301294" y="2889479"/>
            <a:ext cx="44582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position = initial + rate * 60;</a:t>
            </a:r>
          </a:p>
        </p:txBody>
      </p:sp>
    </p:spTree>
    <p:extLst>
      <p:ext uri="{BB962C8B-B14F-4D97-AF65-F5344CB8AC3E}">
        <p14:creationId xmlns:p14="http://schemas.microsoft.com/office/powerpoint/2010/main" val="1011886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3C3FB4-8387-7740-8B88-F7681E85B088}"/>
              </a:ext>
            </a:extLst>
          </p:cNvPr>
          <p:cNvSpPr/>
          <p:nvPr/>
        </p:nvSpPr>
        <p:spPr>
          <a:xfrm>
            <a:off x="1922537" y="837898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Lexical </a:t>
            </a:r>
            <a:br>
              <a:rPr lang="en-US" dirty="0"/>
            </a:br>
            <a:r>
              <a:rPr lang="en-US" dirty="0"/>
              <a:t>Analysis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9A6023-EC82-A348-A446-E8B7B9D4A2B7}"/>
              </a:ext>
            </a:extLst>
          </p:cNvPr>
          <p:cNvSpPr/>
          <p:nvPr/>
        </p:nvSpPr>
        <p:spPr>
          <a:xfrm>
            <a:off x="47212" y="837898"/>
            <a:ext cx="1404904" cy="10605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input program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69E972-31FB-0F46-9209-4DF577D2E41D}"/>
              </a:ext>
            </a:extLst>
          </p:cNvPr>
          <p:cNvSpPr/>
          <p:nvPr/>
        </p:nvSpPr>
        <p:spPr>
          <a:xfrm>
            <a:off x="9056912" y="5620832"/>
            <a:ext cx="1404904" cy="12109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machine code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E88B5D4-B47A-AA4B-8096-1E8840A62035}"/>
              </a:ext>
            </a:extLst>
          </p:cNvPr>
          <p:cNvSpPr/>
          <p:nvPr/>
        </p:nvSpPr>
        <p:spPr>
          <a:xfrm>
            <a:off x="1500856" y="1258320"/>
            <a:ext cx="394616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173E7D-D501-6942-9579-E59C05EE34A5}"/>
              </a:ext>
            </a:extLst>
          </p:cNvPr>
          <p:cNvSpPr/>
          <p:nvPr/>
        </p:nvSpPr>
        <p:spPr>
          <a:xfrm>
            <a:off x="7081986" y="844261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Intermediate code gen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6F6209B-87CB-9A4D-AC1B-B23FA21FDAEB}"/>
              </a:ext>
            </a:extLst>
          </p:cNvPr>
          <p:cNvSpPr/>
          <p:nvPr/>
        </p:nvSpPr>
        <p:spPr>
          <a:xfrm>
            <a:off x="3168554" y="1288507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C8487E-1082-0946-B393-D2E9537FF66C}"/>
              </a:ext>
            </a:extLst>
          </p:cNvPr>
          <p:cNvSpPr/>
          <p:nvPr/>
        </p:nvSpPr>
        <p:spPr>
          <a:xfrm>
            <a:off x="3607889" y="844261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Syntactic Analyzer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1FE463-D808-EC4B-841B-36407BEADCAD}"/>
              </a:ext>
            </a:extLst>
          </p:cNvPr>
          <p:cNvSpPr/>
          <p:nvPr/>
        </p:nvSpPr>
        <p:spPr>
          <a:xfrm>
            <a:off x="5293241" y="844261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Semantic Analyzer</a:t>
            </a:r>
          </a:p>
        </p:txBody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4880A007-364A-354C-B940-DE0450EBF6B0}"/>
              </a:ext>
            </a:extLst>
          </p:cNvPr>
          <p:cNvSpPr/>
          <p:nvPr/>
        </p:nvSpPr>
        <p:spPr>
          <a:xfrm>
            <a:off x="4881567" y="1258320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B59943-49F7-F944-AE1A-808C426ECB74}"/>
              </a:ext>
            </a:extLst>
          </p:cNvPr>
          <p:cNvSpPr/>
          <p:nvPr/>
        </p:nvSpPr>
        <p:spPr>
          <a:xfrm>
            <a:off x="8955658" y="844261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IR optimizations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0B9C32-F0CB-924E-B890-FDD2192B46F8}"/>
              </a:ext>
            </a:extLst>
          </p:cNvPr>
          <p:cNvSpPr/>
          <p:nvPr/>
        </p:nvSpPr>
        <p:spPr>
          <a:xfrm>
            <a:off x="8955658" y="2468664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code gen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8FDD22-BE96-6841-8DF1-B72E4176D3BC}"/>
              </a:ext>
            </a:extLst>
          </p:cNvPr>
          <p:cNvSpPr/>
          <p:nvPr/>
        </p:nvSpPr>
        <p:spPr>
          <a:xfrm>
            <a:off x="8955658" y="4070875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code optimizations</a:t>
            </a: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30270E25-7519-9849-8A8A-55EDEC13CA28}"/>
              </a:ext>
            </a:extLst>
          </p:cNvPr>
          <p:cNvSpPr/>
          <p:nvPr/>
        </p:nvSpPr>
        <p:spPr>
          <a:xfrm>
            <a:off x="6604785" y="1258319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Arrow 37">
            <a:extLst>
              <a:ext uri="{FF2B5EF4-FFF2-40B4-BE49-F238E27FC236}">
                <a16:creationId xmlns:a16="http://schemas.microsoft.com/office/drawing/2014/main" id="{0B5584FA-4115-7746-BEA9-9A88F9BE9C9A}"/>
              </a:ext>
            </a:extLst>
          </p:cNvPr>
          <p:cNvSpPr/>
          <p:nvPr/>
        </p:nvSpPr>
        <p:spPr>
          <a:xfrm>
            <a:off x="8574214" y="1251836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ight Arrow 38">
            <a:extLst>
              <a:ext uri="{FF2B5EF4-FFF2-40B4-BE49-F238E27FC236}">
                <a16:creationId xmlns:a16="http://schemas.microsoft.com/office/drawing/2014/main" id="{24E85ACC-A0A9-5B40-B04D-04D2E2D5F1B0}"/>
              </a:ext>
            </a:extLst>
          </p:cNvPr>
          <p:cNvSpPr/>
          <p:nvPr/>
        </p:nvSpPr>
        <p:spPr>
          <a:xfrm rot="5400000">
            <a:off x="9494694" y="2126572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A4DC3868-88DC-A441-A2CD-782954D64A82}"/>
              </a:ext>
            </a:extLst>
          </p:cNvPr>
          <p:cNvSpPr/>
          <p:nvPr/>
        </p:nvSpPr>
        <p:spPr>
          <a:xfrm rot="5400000">
            <a:off x="9460816" y="3736112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CE6E5538-E97A-8340-B25C-EC8500DCEC46}"/>
              </a:ext>
            </a:extLst>
          </p:cNvPr>
          <p:cNvSpPr/>
          <p:nvPr/>
        </p:nvSpPr>
        <p:spPr>
          <a:xfrm rot="5400000">
            <a:off x="9494694" y="5324966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21F425-5E4D-5148-B4C9-0A4E542242CD}"/>
              </a:ext>
            </a:extLst>
          </p:cNvPr>
          <p:cNvSpPr txBox="1"/>
          <p:nvPr/>
        </p:nvSpPr>
        <p:spPr>
          <a:xfrm>
            <a:off x="10522267" y="1255211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loop!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A8FD6D-0DD9-BB45-B8EF-80BED5F821C7}"/>
              </a:ext>
            </a:extLst>
          </p:cNvPr>
          <p:cNvSpPr txBox="1"/>
          <p:nvPr/>
        </p:nvSpPr>
        <p:spPr>
          <a:xfrm>
            <a:off x="10522267" y="449169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8A2E6F-3120-F842-AA3F-EA00120F76FC}"/>
              </a:ext>
            </a:extLst>
          </p:cNvPr>
          <p:cNvSpPr txBox="1"/>
          <p:nvPr/>
        </p:nvSpPr>
        <p:spPr>
          <a:xfrm>
            <a:off x="259504" y="2099332"/>
            <a:ext cx="712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551A3-B151-DF4C-9EDD-7C069FE1AA46}"/>
              </a:ext>
            </a:extLst>
          </p:cNvPr>
          <p:cNvSpPr txBox="1"/>
          <p:nvPr/>
        </p:nvSpPr>
        <p:spPr>
          <a:xfrm>
            <a:off x="2649402" y="2123195"/>
            <a:ext cx="1419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token stream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7F4CBF-B7BE-334B-A671-A40DCDC70253}"/>
              </a:ext>
            </a:extLst>
          </p:cNvPr>
          <p:cNvSpPr txBox="1"/>
          <p:nvPr/>
        </p:nvSpPr>
        <p:spPr>
          <a:xfrm>
            <a:off x="4362415" y="2123195"/>
            <a:ext cx="1213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 tree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999271-EDD5-F34B-A188-723D908AC655}"/>
              </a:ext>
            </a:extLst>
          </p:cNvPr>
          <p:cNvSpPr txBox="1"/>
          <p:nvPr/>
        </p:nvSpPr>
        <p:spPr>
          <a:xfrm>
            <a:off x="6025873" y="2169361"/>
            <a:ext cx="1213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 tree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9656A9-DC2E-4C41-B273-66D5C0257639}"/>
              </a:ext>
            </a:extLst>
          </p:cNvPr>
          <p:cNvSpPr txBox="1"/>
          <p:nvPr/>
        </p:nvSpPr>
        <p:spPr>
          <a:xfrm>
            <a:off x="8046930" y="406948"/>
            <a:ext cx="1219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IR program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05C77B-8A57-A24F-B30D-7A2E09E73D11}"/>
              </a:ext>
            </a:extLst>
          </p:cNvPr>
          <p:cNvSpPr txBox="1"/>
          <p:nvPr/>
        </p:nvSpPr>
        <p:spPr>
          <a:xfrm>
            <a:off x="10497484" y="1954776"/>
            <a:ext cx="1406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optimized IR </a:t>
            </a:r>
            <a:br>
              <a:rPr lang="en-US" dirty="0"/>
            </a:br>
            <a:r>
              <a:rPr lang="en-US" dirty="0"/>
              <a:t>program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0751F0-E19A-D84D-9951-45201A881424}"/>
              </a:ext>
            </a:extLst>
          </p:cNvPr>
          <p:cNvSpPr txBox="1"/>
          <p:nvPr/>
        </p:nvSpPr>
        <p:spPr>
          <a:xfrm>
            <a:off x="6738970" y="5643770"/>
            <a:ext cx="2317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optimized ISA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EB4C4B-3719-574B-9A98-070FBBC9C369}"/>
              </a:ext>
            </a:extLst>
          </p:cNvPr>
          <p:cNvSpPr txBox="1"/>
          <p:nvPr/>
        </p:nvSpPr>
        <p:spPr>
          <a:xfrm>
            <a:off x="301294" y="2889479"/>
            <a:ext cx="44582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position = initial + rate * 60;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09C7E1-6830-D74A-882A-5334DD9C6C36}"/>
              </a:ext>
            </a:extLst>
          </p:cNvPr>
          <p:cNvSpPr txBox="1"/>
          <p:nvPr/>
        </p:nvSpPr>
        <p:spPr>
          <a:xfrm>
            <a:off x="282092" y="3916986"/>
            <a:ext cx="7787426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" pitchFamily="2" charset="0"/>
              </a:rPr>
              <a:t>&lt;id,1&gt; &lt;assign,=&gt; &lt;id,2&gt; &lt;</a:t>
            </a:r>
            <a:r>
              <a:rPr lang="en-US" sz="1400" dirty="0" err="1">
                <a:latin typeface="Courier" pitchFamily="2" charset="0"/>
              </a:rPr>
              <a:t>bin_op</a:t>
            </a:r>
            <a:r>
              <a:rPr lang="en-US" sz="1400" dirty="0">
                <a:latin typeface="Courier" pitchFamily="2" charset="0"/>
              </a:rPr>
              <a:t>,+&gt; &lt;id,3&gt; &lt;</a:t>
            </a:r>
            <a:r>
              <a:rPr lang="en-US" sz="1400" dirty="0" err="1">
                <a:latin typeface="Courier" pitchFamily="2" charset="0"/>
              </a:rPr>
              <a:t>bin_op</a:t>
            </a:r>
            <a:r>
              <a:rPr lang="en-US" sz="1400" dirty="0">
                <a:latin typeface="Courier" pitchFamily="2" charset="0"/>
              </a:rPr>
              <a:t>,*&gt; &lt;num,60&gt; &lt;semi,;&gt;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521841-79C0-8947-92EF-856CC4A5279F}"/>
              </a:ext>
            </a:extLst>
          </p:cNvPr>
          <p:cNvSpPr txBox="1"/>
          <p:nvPr/>
        </p:nvSpPr>
        <p:spPr>
          <a:xfrm>
            <a:off x="231863" y="3494960"/>
            <a:ext cx="1436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stream</a:t>
            </a:r>
          </a:p>
        </p:txBody>
      </p:sp>
    </p:spTree>
    <p:extLst>
      <p:ext uri="{BB962C8B-B14F-4D97-AF65-F5344CB8AC3E}">
        <p14:creationId xmlns:p14="http://schemas.microsoft.com/office/powerpoint/2010/main" val="4059117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3C3FB4-8387-7740-8B88-F7681E85B088}"/>
              </a:ext>
            </a:extLst>
          </p:cNvPr>
          <p:cNvSpPr/>
          <p:nvPr/>
        </p:nvSpPr>
        <p:spPr>
          <a:xfrm>
            <a:off x="1922537" y="837898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Lexical </a:t>
            </a:r>
            <a:br>
              <a:rPr lang="en-US" dirty="0"/>
            </a:br>
            <a:r>
              <a:rPr lang="en-US" dirty="0"/>
              <a:t>Analysis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9A6023-EC82-A348-A446-E8B7B9D4A2B7}"/>
              </a:ext>
            </a:extLst>
          </p:cNvPr>
          <p:cNvSpPr/>
          <p:nvPr/>
        </p:nvSpPr>
        <p:spPr>
          <a:xfrm>
            <a:off x="47212" y="837898"/>
            <a:ext cx="1404904" cy="10605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input program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69E972-31FB-0F46-9209-4DF577D2E41D}"/>
              </a:ext>
            </a:extLst>
          </p:cNvPr>
          <p:cNvSpPr/>
          <p:nvPr/>
        </p:nvSpPr>
        <p:spPr>
          <a:xfrm>
            <a:off x="9056912" y="5620832"/>
            <a:ext cx="1404904" cy="121096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machine code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E88B5D4-B47A-AA4B-8096-1E8840A62035}"/>
              </a:ext>
            </a:extLst>
          </p:cNvPr>
          <p:cNvSpPr/>
          <p:nvPr/>
        </p:nvSpPr>
        <p:spPr>
          <a:xfrm>
            <a:off x="1500856" y="1258320"/>
            <a:ext cx="394616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173E7D-D501-6942-9579-E59C05EE34A5}"/>
              </a:ext>
            </a:extLst>
          </p:cNvPr>
          <p:cNvSpPr/>
          <p:nvPr/>
        </p:nvSpPr>
        <p:spPr>
          <a:xfrm>
            <a:off x="7081986" y="844261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Intermediate code gen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6F6209B-87CB-9A4D-AC1B-B23FA21FDAEB}"/>
              </a:ext>
            </a:extLst>
          </p:cNvPr>
          <p:cNvSpPr/>
          <p:nvPr/>
        </p:nvSpPr>
        <p:spPr>
          <a:xfrm>
            <a:off x="3168554" y="1288507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C8487E-1082-0946-B393-D2E9537FF66C}"/>
              </a:ext>
            </a:extLst>
          </p:cNvPr>
          <p:cNvSpPr/>
          <p:nvPr/>
        </p:nvSpPr>
        <p:spPr>
          <a:xfrm>
            <a:off x="3607889" y="844261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Syntactic Analyzer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1FE463-D808-EC4B-841B-36407BEADCAD}"/>
              </a:ext>
            </a:extLst>
          </p:cNvPr>
          <p:cNvSpPr/>
          <p:nvPr/>
        </p:nvSpPr>
        <p:spPr>
          <a:xfrm>
            <a:off x="5293241" y="844261"/>
            <a:ext cx="1215787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Semantic Analyzer</a:t>
            </a:r>
          </a:p>
        </p:txBody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4880A007-364A-354C-B940-DE0450EBF6B0}"/>
              </a:ext>
            </a:extLst>
          </p:cNvPr>
          <p:cNvSpPr/>
          <p:nvPr/>
        </p:nvSpPr>
        <p:spPr>
          <a:xfrm>
            <a:off x="4881567" y="1258320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B59943-49F7-F944-AE1A-808C426ECB74}"/>
              </a:ext>
            </a:extLst>
          </p:cNvPr>
          <p:cNvSpPr/>
          <p:nvPr/>
        </p:nvSpPr>
        <p:spPr>
          <a:xfrm>
            <a:off x="8955658" y="844261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IR optimizations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0B9C32-F0CB-924E-B890-FDD2192B46F8}"/>
              </a:ext>
            </a:extLst>
          </p:cNvPr>
          <p:cNvSpPr/>
          <p:nvPr/>
        </p:nvSpPr>
        <p:spPr>
          <a:xfrm>
            <a:off x="8955658" y="2468664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code gen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8FDD22-BE96-6841-8DF1-B72E4176D3BC}"/>
              </a:ext>
            </a:extLst>
          </p:cNvPr>
          <p:cNvSpPr/>
          <p:nvPr/>
        </p:nvSpPr>
        <p:spPr>
          <a:xfrm>
            <a:off x="8955658" y="4070875"/>
            <a:ext cx="1459518" cy="121096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code optimizations</a:t>
            </a: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30270E25-7519-9849-8A8A-55EDEC13CA28}"/>
              </a:ext>
            </a:extLst>
          </p:cNvPr>
          <p:cNvSpPr/>
          <p:nvPr/>
        </p:nvSpPr>
        <p:spPr>
          <a:xfrm>
            <a:off x="6604785" y="1258319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ight Arrow 37">
            <a:extLst>
              <a:ext uri="{FF2B5EF4-FFF2-40B4-BE49-F238E27FC236}">
                <a16:creationId xmlns:a16="http://schemas.microsoft.com/office/drawing/2014/main" id="{0B5584FA-4115-7746-BEA9-9A88F9BE9C9A}"/>
              </a:ext>
            </a:extLst>
          </p:cNvPr>
          <p:cNvSpPr/>
          <p:nvPr/>
        </p:nvSpPr>
        <p:spPr>
          <a:xfrm>
            <a:off x="8574214" y="1251836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ight Arrow 38">
            <a:extLst>
              <a:ext uri="{FF2B5EF4-FFF2-40B4-BE49-F238E27FC236}">
                <a16:creationId xmlns:a16="http://schemas.microsoft.com/office/drawing/2014/main" id="{24E85ACC-A0A9-5B40-B04D-04D2E2D5F1B0}"/>
              </a:ext>
            </a:extLst>
          </p:cNvPr>
          <p:cNvSpPr/>
          <p:nvPr/>
        </p:nvSpPr>
        <p:spPr>
          <a:xfrm rot="5400000">
            <a:off x="9494694" y="2126572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A4DC3868-88DC-A441-A2CD-782954D64A82}"/>
              </a:ext>
            </a:extLst>
          </p:cNvPr>
          <p:cNvSpPr/>
          <p:nvPr/>
        </p:nvSpPr>
        <p:spPr>
          <a:xfrm rot="5400000">
            <a:off x="9460816" y="3736112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CE6E5538-E97A-8340-B25C-EC8500DCEC46}"/>
              </a:ext>
            </a:extLst>
          </p:cNvPr>
          <p:cNvSpPr/>
          <p:nvPr/>
        </p:nvSpPr>
        <p:spPr>
          <a:xfrm rot="5400000">
            <a:off x="9494694" y="5324966"/>
            <a:ext cx="381444" cy="302741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21F425-5E4D-5148-B4C9-0A4E542242CD}"/>
              </a:ext>
            </a:extLst>
          </p:cNvPr>
          <p:cNvSpPr txBox="1"/>
          <p:nvPr/>
        </p:nvSpPr>
        <p:spPr>
          <a:xfrm>
            <a:off x="10522267" y="1255211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loop!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A8FD6D-0DD9-BB45-B8EF-80BED5F821C7}"/>
              </a:ext>
            </a:extLst>
          </p:cNvPr>
          <p:cNvSpPr txBox="1"/>
          <p:nvPr/>
        </p:nvSpPr>
        <p:spPr>
          <a:xfrm>
            <a:off x="10522267" y="449169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8A2E6F-3120-F842-AA3F-EA00120F76FC}"/>
              </a:ext>
            </a:extLst>
          </p:cNvPr>
          <p:cNvSpPr txBox="1"/>
          <p:nvPr/>
        </p:nvSpPr>
        <p:spPr>
          <a:xfrm>
            <a:off x="259504" y="2099332"/>
            <a:ext cx="712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6551A3-B151-DF4C-9EDD-7C069FE1AA46}"/>
              </a:ext>
            </a:extLst>
          </p:cNvPr>
          <p:cNvSpPr txBox="1"/>
          <p:nvPr/>
        </p:nvSpPr>
        <p:spPr>
          <a:xfrm>
            <a:off x="2649402" y="2123195"/>
            <a:ext cx="1419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stream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7F4CBF-B7BE-334B-A671-A40DCDC70253}"/>
              </a:ext>
            </a:extLst>
          </p:cNvPr>
          <p:cNvSpPr txBox="1"/>
          <p:nvPr/>
        </p:nvSpPr>
        <p:spPr>
          <a:xfrm>
            <a:off x="4362415" y="2123195"/>
            <a:ext cx="1213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syntax tree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999271-EDD5-F34B-A188-723D908AC655}"/>
              </a:ext>
            </a:extLst>
          </p:cNvPr>
          <p:cNvSpPr txBox="1"/>
          <p:nvPr/>
        </p:nvSpPr>
        <p:spPr>
          <a:xfrm>
            <a:off x="6025873" y="2169361"/>
            <a:ext cx="1213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 tree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9656A9-DC2E-4C41-B273-66D5C0257639}"/>
              </a:ext>
            </a:extLst>
          </p:cNvPr>
          <p:cNvSpPr txBox="1"/>
          <p:nvPr/>
        </p:nvSpPr>
        <p:spPr>
          <a:xfrm>
            <a:off x="8046930" y="406948"/>
            <a:ext cx="1219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IR program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05C77B-8A57-A24F-B30D-7A2E09E73D11}"/>
              </a:ext>
            </a:extLst>
          </p:cNvPr>
          <p:cNvSpPr txBox="1"/>
          <p:nvPr/>
        </p:nvSpPr>
        <p:spPr>
          <a:xfrm>
            <a:off x="10497484" y="1954776"/>
            <a:ext cx="1406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optimized IR </a:t>
            </a:r>
            <a:br>
              <a:rPr lang="en-US" dirty="0"/>
            </a:br>
            <a:r>
              <a:rPr lang="en-US" dirty="0"/>
              <a:t>program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09C7E1-6830-D74A-882A-5334DD9C6C36}"/>
              </a:ext>
            </a:extLst>
          </p:cNvPr>
          <p:cNvSpPr txBox="1"/>
          <p:nvPr/>
        </p:nvSpPr>
        <p:spPr>
          <a:xfrm>
            <a:off x="282092" y="3118091"/>
            <a:ext cx="7787426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" pitchFamily="2" charset="0"/>
              </a:rPr>
              <a:t>&lt;id,1&gt; &lt;assign,=&gt; &lt;id,2&gt; &lt;</a:t>
            </a:r>
            <a:r>
              <a:rPr lang="en-US" sz="1400" dirty="0" err="1">
                <a:latin typeface="Courier" pitchFamily="2" charset="0"/>
              </a:rPr>
              <a:t>bin_op</a:t>
            </a:r>
            <a:r>
              <a:rPr lang="en-US" sz="1400" dirty="0">
                <a:latin typeface="Courier" pitchFamily="2" charset="0"/>
              </a:rPr>
              <a:t>,+&gt; &lt;id,3&gt; &lt;</a:t>
            </a:r>
            <a:r>
              <a:rPr lang="en-US" sz="1400" dirty="0" err="1">
                <a:latin typeface="Courier" pitchFamily="2" charset="0"/>
              </a:rPr>
              <a:t>bin_op</a:t>
            </a:r>
            <a:r>
              <a:rPr lang="en-US" sz="1400" dirty="0">
                <a:latin typeface="Courier" pitchFamily="2" charset="0"/>
              </a:rPr>
              <a:t>,*&gt; &lt;num,60&gt; &lt;semi,;&gt;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521841-79C0-8947-92EF-856CC4A5279F}"/>
              </a:ext>
            </a:extLst>
          </p:cNvPr>
          <p:cNvSpPr txBox="1"/>
          <p:nvPr/>
        </p:nvSpPr>
        <p:spPr>
          <a:xfrm>
            <a:off x="231863" y="2696065"/>
            <a:ext cx="1436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stream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CE3572-A9F2-CD40-BCBC-0F1BF82C20CE}"/>
              </a:ext>
            </a:extLst>
          </p:cNvPr>
          <p:cNvSpPr txBox="1"/>
          <p:nvPr/>
        </p:nvSpPr>
        <p:spPr>
          <a:xfrm>
            <a:off x="2156059" y="4081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937EFA-A985-5E4B-BF51-CA9839010ACF}"/>
              </a:ext>
            </a:extLst>
          </p:cNvPr>
          <p:cNvSpPr/>
          <p:nvPr/>
        </p:nvSpPr>
        <p:spPr>
          <a:xfrm>
            <a:off x="1006385" y="4736356"/>
            <a:ext cx="11496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urier" pitchFamily="2" charset="0"/>
              </a:rPr>
              <a:t>&lt;id,1&gt; 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6346EB-B364-CC44-9F04-B53558C39F1F}"/>
              </a:ext>
            </a:extLst>
          </p:cNvPr>
          <p:cNvSpPr/>
          <p:nvPr/>
        </p:nvSpPr>
        <p:spPr>
          <a:xfrm>
            <a:off x="2563487" y="5157494"/>
            <a:ext cx="11496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urier" pitchFamily="2" charset="0"/>
              </a:rPr>
              <a:t>&lt;id,2&gt; 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2907E75-D619-A24B-A223-B942CB7E7650}"/>
              </a:ext>
            </a:extLst>
          </p:cNvPr>
          <p:cNvSpPr/>
          <p:nvPr/>
        </p:nvSpPr>
        <p:spPr>
          <a:xfrm>
            <a:off x="3712972" y="5706749"/>
            <a:ext cx="11496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urier" pitchFamily="2" charset="0"/>
              </a:rPr>
              <a:t>&lt;id,3&gt; </a:t>
            </a:r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C899534-4AF5-E34A-AEFC-802204FE58C4}"/>
              </a:ext>
            </a:extLst>
          </p:cNvPr>
          <p:cNvSpPr/>
          <p:nvPr/>
        </p:nvSpPr>
        <p:spPr>
          <a:xfrm>
            <a:off x="5494611" y="5702276"/>
            <a:ext cx="4603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urier" pitchFamily="2" charset="0"/>
              </a:rPr>
              <a:t>60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CB1A16F-C656-A54A-9D55-A5EBDD45F89E}"/>
              </a:ext>
            </a:extLst>
          </p:cNvPr>
          <p:cNvSpPr txBox="1"/>
          <p:nvPr/>
        </p:nvSpPr>
        <p:spPr>
          <a:xfrm>
            <a:off x="3731893" y="460823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D9A874-8086-DD47-BBCA-857779565924}"/>
              </a:ext>
            </a:extLst>
          </p:cNvPr>
          <p:cNvSpPr txBox="1"/>
          <p:nvPr/>
        </p:nvSpPr>
        <p:spPr>
          <a:xfrm>
            <a:off x="4993159" y="515749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6BA2BA9-81B8-2A4D-8A97-083FA2498A20}"/>
              </a:ext>
            </a:extLst>
          </p:cNvPr>
          <p:cNvCxnSpPr>
            <a:endCxn id="15" idx="0"/>
          </p:cNvCxnSpPr>
          <p:nvPr/>
        </p:nvCxnSpPr>
        <p:spPr>
          <a:xfrm flipH="1">
            <a:off x="1581222" y="4450444"/>
            <a:ext cx="543031" cy="2859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CCF0163-62D9-FB4A-ADC9-36B945C1033C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2530430" y="4433874"/>
            <a:ext cx="1201463" cy="3590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16A2702-1B0D-754D-8F23-CB70C1E84C9A}"/>
              </a:ext>
            </a:extLst>
          </p:cNvPr>
          <p:cNvCxnSpPr>
            <a:cxnSpLocks/>
          </p:cNvCxnSpPr>
          <p:nvPr/>
        </p:nvCxnSpPr>
        <p:spPr>
          <a:xfrm flipH="1">
            <a:off x="3359276" y="4921022"/>
            <a:ext cx="372617" cy="23647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4637A72-913A-BC49-B96B-D5577AFD921A}"/>
              </a:ext>
            </a:extLst>
          </p:cNvPr>
          <p:cNvCxnSpPr>
            <a:cxnSpLocks/>
          </p:cNvCxnSpPr>
          <p:nvPr/>
        </p:nvCxnSpPr>
        <p:spPr>
          <a:xfrm>
            <a:off x="4031975" y="4921022"/>
            <a:ext cx="901381" cy="2381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CC1B724E-D7BE-0C48-AEA0-C86B2121BC76}"/>
              </a:ext>
            </a:extLst>
          </p:cNvPr>
          <p:cNvCxnSpPr>
            <a:cxnSpLocks/>
            <a:stCxn id="49" idx="1"/>
          </p:cNvCxnSpPr>
          <p:nvPr/>
        </p:nvCxnSpPr>
        <p:spPr>
          <a:xfrm flipH="1">
            <a:off x="4439353" y="5342160"/>
            <a:ext cx="553806" cy="36458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1C5FA56-1BD7-6146-8DE1-60E574099ED7}"/>
              </a:ext>
            </a:extLst>
          </p:cNvPr>
          <p:cNvCxnSpPr>
            <a:cxnSpLocks/>
            <a:endCxn id="47" idx="0"/>
          </p:cNvCxnSpPr>
          <p:nvPr/>
        </p:nvCxnSpPr>
        <p:spPr>
          <a:xfrm>
            <a:off x="5250165" y="5430020"/>
            <a:ext cx="474637" cy="27225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ACC61950-E22F-3B41-A672-E9BA7A152E4C}"/>
              </a:ext>
            </a:extLst>
          </p:cNvPr>
          <p:cNvSpPr txBox="1"/>
          <p:nvPr/>
        </p:nvSpPr>
        <p:spPr>
          <a:xfrm>
            <a:off x="253830" y="3765296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parse tree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4F3A5F1-ECA3-434D-ABDC-93ADF533DB18}"/>
              </a:ext>
            </a:extLst>
          </p:cNvPr>
          <p:cNvSpPr txBox="1"/>
          <p:nvPr/>
        </p:nvSpPr>
        <p:spPr>
          <a:xfrm>
            <a:off x="76964" y="218697"/>
            <a:ext cx="44582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position = initial + rate * 60;</a:t>
            </a:r>
          </a:p>
        </p:txBody>
      </p:sp>
    </p:spTree>
    <p:extLst>
      <p:ext uri="{BB962C8B-B14F-4D97-AF65-F5344CB8AC3E}">
        <p14:creationId xmlns:p14="http://schemas.microsoft.com/office/powerpoint/2010/main" val="3908707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Syntactic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Lexical Analysis turns a string into a stream of tokens</a:t>
            </a:r>
          </a:p>
          <a:p>
            <a:endParaRPr lang="en-US" dirty="0"/>
          </a:p>
          <a:p>
            <a:r>
              <a:rPr lang="en-US" dirty="0"/>
              <a:t>Syntactic Analysis determines if the tokens fit into the syntactic structure of the language</a:t>
            </a:r>
          </a:p>
          <a:p>
            <a:endParaRPr lang="en-US" dirty="0"/>
          </a:p>
          <a:p>
            <a:r>
              <a:rPr lang="en-US" dirty="0"/>
              <a:t>In our natural language example, it describes the structure of sentences</a:t>
            </a:r>
          </a:p>
        </p:txBody>
      </p:sp>
    </p:spTree>
    <p:extLst>
      <p:ext uri="{BB962C8B-B14F-4D97-AF65-F5344CB8AC3E}">
        <p14:creationId xmlns:p14="http://schemas.microsoft.com/office/powerpoint/2010/main" val="3841752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Syntactic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9624"/>
          </a:xfrm>
        </p:spPr>
        <p:txBody>
          <a:bodyPr/>
          <a:lstStyle/>
          <a:p>
            <a:r>
              <a:rPr lang="en-US" dirty="0"/>
              <a:t>Natural language example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917F90-17AF-014F-9F74-98438AE95E8E}"/>
              </a:ext>
            </a:extLst>
          </p:cNvPr>
          <p:cNvSpPr/>
          <p:nvPr/>
        </p:nvSpPr>
        <p:spPr>
          <a:xfrm>
            <a:off x="3398801" y="2710186"/>
            <a:ext cx="48690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chemeClr val="accent6"/>
                </a:solidFill>
              </a:rPr>
              <a:t>The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chemeClr val="accent5"/>
                </a:solidFill>
              </a:rPr>
              <a:t>dog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chemeClr val="accent2"/>
                </a:solidFill>
              </a:rPr>
              <a:t>ran</a:t>
            </a:r>
            <a:r>
              <a:rPr lang="en-US" sz="3200" b="1" dirty="0"/>
              <a:t> across </a:t>
            </a:r>
            <a:r>
              <a:rPr lang="en-US" sz="3200" b="1" dirty="0">
                <a:solidFill>
                  <a:schemeClr val="accent6"/>
                </a:solidFill>
              </a:rPr>
              <a:t>the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chemeClr val="accent5"/>
                </a:solidFill>
              </a:rPr>
              <a:t>park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BD26D2B-3D4A-5241-8E72-ADC02D3946EE}"/>
              </a:ext>
            </a:extLst>
          </p:cNvPr>
          <p:cNvCxnSpPr>
            <a:cxnSpLocks/>
          </p:cNvCxnSpPr>
          <p:nvPr/>
        </p:nvCxnSpPr>
        <p:spPr>
          <a:xfrm flipH="1">
            <a:off x="2917971" y="3182011"/>
            <a:ext cx="883920" cy="5943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0DC5F02-3A6F-2240-A710-FEBFF6CC9816}"/>
              </a:ext>
            </a:extLst>
          </p:cNvPr>
          <p:cNvCxnSpPr>
            <a:cxnSpLocks/>
          </p:cNvCxnSpPr>
          <p:nvPr/>
        </p:nvCxnSpPr>
        <p:spPr>
          <a:xfrm flipH="1">
            <a:off x="3994931" y="3182011"/>
            <a:ext cx="477520" cy="6959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22DE27-1258-014A-8189-0BF677236F23}"/>
              </a:ext>
            </a:extLst>
          </p:cNvPr>
          <p:cNvCxnSpPr>
            <a:cxnSpLocks/>
          </p:cNvCxnSpPr>
          <p:nvPr/>
        </p:nvCxnSpPr>
        <p:spPr>
          <a:xfrm>
            <a:off x="5112531" y="3294961"/>
            <a:ext cx="0" cy="58301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5A139D8-912D-B543-B22B-AB0B8C92F952}"/>
              </a:ext>
            </a:extLst>
          </p:cNvPr>
          <p:cNvCxnSpPr>
            <a:cxnSpLocks/>
          </p:cNvCxnSpPr>
          <p:nvPr/>
        </p:nvCxnSpPr>
        <p:spPr>
          <a:xfrm>
            <a:off x="6077731" y="3182011"/>
            <a:ext cx="528320" cy="69596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D99CB-5A32-9047-B175-651ADEA91901}"/>
              </a:ext>
            </a:extLst>
          </p:cNvPr>
          <p:cNvCxnSpPr>
            <a:cxnSpLocks/>
          </p:cNvCxnSpPr>
          <p:nvPr/>
        </p:nvCxnSpPr>
        <p:spPr>
          <a:xfrm>
            <a:off x="6941331" y="3182011"/>
            <a:ext cx="1534160" cy="6012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911EF9A-AEA8-3A48-9431-7A232756956B}"/>
              </a:ext>
            </a:extLst>
          </p:cNvPr>
          <p:cNvCxnSpPr>
            <a:cxnSpLocks/>
          </p:cNvCxnSpPr>
          <p:nvPr/>
        </p:nvCxnSpPr>
        <p:spPr>
          <a:xfrm>
            <a:off x="8038611" y="3182011"/>
            <a:ext cx="1880383" cy="64860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69AF659-DEB0-5E41-A6D5-C1324300EFD2}"/>
              </a:ext>
            </a:extLst>
          </p:cNvPr>
          <p:cNvSpPr/>
          <p:nvPr/>
        </p:nvSpPr>
        <p:spPr>
          <a:xfrm>
            <a:off x="2119054" y="3797763"/>
            <a:ext cx="1218795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ARTICLE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4C8EE0-8BCE-8E44-8900-82A0E6DBB1B9}"/>
              </a:ext>
            </a:extLst>
          </p:cNvPr>
          <p:cNvSpPr/>
          <p:nvPr/>
        </p:nvSpPr>
        <p:spPr>
          <a:xfrm>
            <a:off x="7876512" y="3801205"/>
            <a:ext cx="1218795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ARTICLE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DA1127-EEF2-514A-A97B-8F34135190F3}"/>
              </a:ext>
            </a:extLst>
          </p:cNvPr>
          <p:cNvSpPr/>
          <p:nvPr/>
        </p:nvSpPr>
        <p:spPr>
          <a:xfrm>
            <a:off x="3489490" y="3877971"/>
            <a:ext cx="997389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b="1" dirty="0">
                <a:solidFill>
                  <a:schemeClr val="accent5"/>
                </a:solidFill>
              </a:rPr>
              <a:t>NOUN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973CCF-4E29-6E42-AB9C-B3BBD78AD772}"/>
              </a:ext>
            </a:extLst>
          </p:cNvPr>
          <p:cNvSpPr/>
          <p:nvPr/>
        </p:nvSpPr>
        <p:spPr>
          <a:xfrm>
            <a:off x="4644930" y="3861843"/>
            <a:ext cx="864339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b="1" dirty="0">
                <a:solidFill>
                  <a:schemeClr val="accent2"/>
                </a:solidFill>
              </a:rPr>
              <a:t>VERB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BFF8EB-0998-B24E-B649-77ABC41E8906}"/>
              </a:ext>
            </a:extLst>
          </p:cNvPr>
          <p:cNvSpPr/>
          <p:nvPr/>
        </p:nvSpPr>
        <p:spPr>
          <a:xfrm>
            <a:off x="5770409" y="3877970"/>
            <a:ext cx="1915909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b="1" dirty="0"/>
              <a:t>PREPOSITION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44158B-2F14-6F4E-9C31-ABFB03DDD05C}"/>
              </a:ext>
            </a:extLst>
          </p:cNvPr>
          <p:cNvSpPr/>
          <p:nvPr/>
        </p:nvSpPr>
        <p:spPr>
          <a:xfrm>
            <a:off x="9480529" y="3833018"/>
            <a:ext cx="997389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400" b="1" dirty="0">
                <a:solidFill>
                  <a:schemeClr val="accent5"/>
                </a:solidFill>
              </a:rPr>
              <a:t>NOUN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9EB80F-1DB4-8E41-917E-72B67E59FE01}"/>
              </a:ext>
            </a:extLst>
          </p:cNvPr>
          <p:cNvSpPr txBox="1"/>
          <p:nvPr/>
        </p:nvSpPr>
        <p:spPr>
          <a:xfrm>
            <a:off x="391517" y="4553883"/>
            <a:ext cx="792717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What are valid sentences?</a:t>
            </a:r>
          </a:p>
          <a:p>
            <a:br>
              <a:rPr lang="en-US" sz="2400" dirty="0"/>
            </a:br>
            <a:r>
              <a:rPr lang="en-US" sz="2400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sz="2400" b="1" dirty="0">
                <a:latin typeface="Courier" pitchFamily="2" charset="0"/>
              </a:rPr>
              <a:t> </a:t>
            </a:r>
            <a:r>
              <a:rPr lang="en-US" sz="2400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sz="2400" b="1" dirty="0">
                <a:latin typeface="Courier" pitchFamily="2" charset="0"/>
              </a:rPr>
              <a:t> </a:t>
            </a:r>
            <a:r>
              <a:rPr lang="en-US" sz="2400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  <a:r>
              <a:rPr lang="en-US" sz="2400" b="1" dirty="0">
                <a:latin typeface="Courier" pitchFamily="2" charset="0"/>
              </a:rPr>
              <a:t> PREPOSITION </a:t>
            </a:r>
            <a:r>
              <a:rPr lang="en-US" sz="2400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sz="2400" b="1" dirty="0">
                <a:latin typeface="Courier" pitchFamily="2" charset="0"/>
              </a:rPr>
              <a:t> </a:t>
            </a:r>
            <a:r>
              <a:rPr lang="en-US" sz="2400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</a:p>
          <a:p>
            <a:br>
              <a:rPr lang="en-US" sz="2400" b="1" dirty="0">
                <a:latin typeface="Courier" pitchFamily="2" charset="0"/>
              </a:rPr>
            </a:br>
            <a:r>
              <a:rPr lang="en-US" sz="2400" b="1" dirty="0">
                <a:solidFill>
                  <a:schemeClr val="accent6"/>
                </a:solidFill>
                <a:latin typeface="Courier" pitchFamily="2" charset="0"/>
              </a:rPr>
              <a:t>ARTICLE </a:t>
            </a:r>
            <a:r>
              <a:rPr lang="en-US" sz="2400" b="1" dirty="0">
                <a:latin typeface="Courier" pitchFamily="2" charset="0"/>
              </a:rPr>
              <a:t>ADJECTIVE </a:t>
            </a:r>
            <a:r>
              <a:rPr lang="en-US" sz="2400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sz="2400" b="1" dirty="0">
                <a:latin typeface="Courier" pitchFamily="2" charset="0"/>
              </a:rPr>
              <a:t> </a:t>
            </a:r>
            <a:r>
              <a:rPr lang="en-US" sz="2400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CD7A76-0EB9-FF48-97F9-129AD9C56089}"/>
              </a:ext>
            </a:extLst>
          </p:cNvPr>
          <p:cNvSpPr txBox="1"/>
          <p:nvPr/>
        </p:nvSpPr>
        <p:spPr>
          <a:xfrm>
            <a:off x="9165169" y="5318450"/>
            <a:ext cx="24169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Now we check</a:t>
            </a:r>
            <a:br>
              <a:rPr lang="en-US" i="1" dirty="0"/>
            </a:br>
            <a:r>
              <a:rPr lang="en-US" i="1" dirty="0"/>
              <a:t>if stream of lexemes fits</a:t>
            </a:r>
          </a:p>
          <a:p>
            <a:r>
              <a:rPr lang="en-US" i="1" dirty="0"/>
              <a:t>a sentence</a:t>
            </a:r>
          </a:p>
        </p:txBody>
      </p:sp>
    </p:spTree>
    <p:extLst>
      <p:ext uri="{BB962C8B-B14F-4D97-AF65-F5344CB8AC3E}">
        <p14:creationId xmlns:p14="http://schemas.microsoft.com/office/powerpoint/2010/main" val="2745614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express a valid sentence?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List of tokens: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  <a:r>
              <a:rPr lang="en-US" b="1" dirty="0">
                <a:latin typeface="Courier" pitchFamily="2" charset="0"/>
              </a:rPr>
              <a:t> PREPOSITION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</a:p>
          <a:p>
            <a:pPr lvl="1"/>
            <a:endParaRPr lang="en-US" b="1" dirty="0">
              <a:solidFill>
                <a:schemeClr val="accent1"/>
              </a:solidFill>
              <a:latin typeface="Courier" pitchFamily="2" charset="0"/>
            </a:endParaRPr>
          </a:p>
          <a:p>
            <a:r>
              <a:rPr lang="en-US" dirty="0"/>
              <a:t>Pros? Cons?</a:t>
            </a:r>
          </a:p>
        </p:txBody>
      </p:sp>
    </p:spTree>
    <p:extLst>
      <p:ext uri="{BB962C8B-B14F-4D97-AF65-F5344CB8AC3E}">
        <p14:creationId xmlns:p14="http://schemas.microsoft.com/office/powerpoint/2010/main" val="1582391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express a valid sentence?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List of tokens (is this sufficient?):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  <a:r>
              <a:rPr lang="en-US" b="1" dirty="0">
                <a:latin typeface="Courier" pitchFamily="2" charset="0"/>
              </a:rPr>
              <a:t> PREPOSITION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</a:p>
          <a:p>
            <a:pPr lvl="1"/>
            <a:endParaRPr lang="en-US" b="1" dirty="0">
              <a:solidFill>
                <a:schemeClr val="accent1"/>
              </a:solidFill>
              <a:latin typeface="Courier" pitchFamily="2" charset="0"/>
            </a:endParaRPr>
          </a:p>
          <a:p>
            <a:r>
              <a:rPr lang="en-US" dirty="0"/>
              <a:t>Pros? Cons?</a:t>
            </a:r>
          </a:p>
          <a:p>
            <a:pPr lvl="1"/>
            <a:r>
              <a:rPr lang="en-US" dirty="0"/>
              <a:t>Simple, but probably too simple</a:t>
            </a:r>
          </a:p>
        </p:txBody>
      </p:sp>
    </p:spTree>
    <p:extLst>
      <p:ext uri="{BB962C8B-B14F-4D97-AF65-F5344CB8AC3E}">
        <p14:creationId xmlns:p14="http://schemas.microsoft.com/office/powerpoint/2010/main" val="2027880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express a valid sentence?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Several lists of tokens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  <a:r>
              <a:rPr lang="en-US" b="1" dirty="0">
                <a:latin typeface="Courier" pitchFamily="2" charset="0"/>
              </a:rPr>
              <a:t> PREPOSITION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  <a:endParaRPr lang="en-US" dirty="0"/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 </a:t>
            </a:r>
            <a:r>
              <a:rPr lang="en-US" b="1" dirty="0">
                <a:solidFill>
                  <a:srgbClr val="7030A0"/>
                </a:solidFill>
                <a:latin typeface="Courier" pitchFamily="2" charset="0"/>
              </a:rPr>
              <a:t>ADJECTIVE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 </a:t>
            </a:r>
            <a:r>
              <a:rPr lang="en-US" b="1" dirty="0">
                <a:solidFill>
                  <a:srgbClr val="7030A0"/>
                </a:solidFill>
                <a:latin typeface="Courier" pitchFamily="2" charset="0"/>
              </a:rPr>
              <a:t>ADJECTIVE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urier" pitchFamily="2" charset="0"/>
              </a:rPr>
              <a:t>ADJECTIVE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Pros? Cons?</a:t>
            </a:r>
          </a:p>
        </p:txBody>
      </p:sp>
    </p:spTree>
    <p:extLst>
      <p:ext uri="{BB962C8B-B14F-4D97-AF65-F5344CB8AC3E}">
        <p14:creationId xmlns:p14="http://schemas.microsoft.com/office/powerpoint/2010/main" val="61420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express a valid sentence?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Several lists of tokens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  <a:r>
              <a:rPr lang="en-US" b="1" dirty="0">
                <a:latin typeface="Courier" pitchFamily="2" charset="0"/>
              </a:rPr>
              <a:t> PREPOSITION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</a:t>
            </a:r>
            <a:r>
              <a:rPr lang="en-US" b="1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  <a:endParaRPr lang="en-US" dirty="0"/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 </a:t>
            </a:r>
            <a:r>
              <a:rPr lang="en-US" b="1" dirty="0">
                <a:solidFill>
                  <a:srgbClr val="7030A0"/>
                </a:solidFill>
                <a:latin typeface="Courier" pitchFamily="2" charset="0"/>
              </a:rPr>
              <a:t>ADJECTIVE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 </a:t>
            </a:r>
            <a:r>
              <a:rPr lang="en-US" b="1" dirty="0">
                <a:solidFill>
                  <a:srgbClr val="7030A0"/>
                </a:solidFill>
                <a:latin typeface="Courier" pitchFamily="2" charset="0"/>
              </a:rPr>
              <a:t>ADJECTIVE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urier" pitchFamily="2" charset="0"/>
              </a:rPr>
              <a:t>ADJECTIVE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Pros? Cons?</a:t>
            </a:r>
          </a:p>
          <a:p>
            <a:pPr lvl="1"/>
            <a:r>
              <a:rPr lang="en-US" dirty="0"/>
              <a:t>Potentially infinite choices</a:t>
            </a:r>
          </a:p>
        </p:txBody>
      </p:sp>
    </p:spTree>
    <p:extLst>
      <p:ext uri="{BB962C8B-B14F-4D97-AF65-F5344CB8AC3E}">
        <p14:creationId xmlns:p14="http://schemas.microsoft.com/office/powerpoint/2010/main" val="2553931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express a valid sentence?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 over tokens (is this enough):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 </a:t>
            </a:r>
            <a:r>
              <a:rPr lang="en-US" b="1" dirty="0">
                <a:solidFill>
                  <a:srgbClr val="7030A0"/>
                </a:solidFill>
                <a:latin typeface="Courier" pitchFamily="2" charset="0"/>
              </a:rPr>
              <a:t>ADJECTIVE*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</a:p>
          <a:p>
            <a:pPr lvl="1"/>
            <a:endParaRPr lang="en-US" b="1" dirty="0">
              <a:solidFill>
                <a:schemeClr val="accent2"/>
              </a:solidFill>
              <a:latin typeface="Courier" pitchFamily="2" charset="0"/>
            </a:endParaRPr>
          </a:p>
          <a:p>
            <a:r>
              <a:rPr lang="en-US" dirty="0"/>
              <a:t>Pros? Cons?</a:t>
            </a:r>
            <a:endParaRPr lang="en-US" b="1" dirty="0">
              <a:solidFill>
                <a:schemeClr val="accent2"/>
              </a:solidFill>
              <a:latin typeface="Courier" pitchFamily="2" charset="0"/>
            </a:endParaRPr>
          </a:p>
          <a:p>
            <a:pPr lvl="1"/>
            <a:endParaRPr lang="en-US" b="1" dirty="0">
              <a:solidFill>
                <a:schemeClr val="accent2"/>
              </a:solidFill>
              <a:latin typeface="Courier" pitchFamily="2" charset="0"/>
            </a:endParaRP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8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express a valid sentence?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 over tokens:</a:t>
            </a:r>
          </a:p>
          <a:p>
            <a:pPr lvl="1"/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ARTICLE </a:t>
            </a:r>
            <a:r>
              <a:rPr lang="en-US" b="1" dirty="0">
                <a:solidFill>
                  <a:srgbClr val="7030A0"/>
                </a:solidFill>
                <a:latin typeface="Courier" pitchFamily="2" charset="0"/>
              </a:rPr>
              <a:t>ADJECTIVE*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NOUN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VERB</a:t>
            </a:r>
          </a:p>
          <a:p>
            <a:pPr lvl="1"/>
            <a:endParaRPr lang="en-US" b="1" dirty="0">
              <a:solidFill>
                <a:schemeClr val="accent2"/>
              </a:solidFill>
              <a:latin typeface="Courier" pitchFamily="2" charset="0"/>
            </a:endParaRPr>
          </a:p>
          <a:p>
            <a:r>
              <a:rPr lang="en-US" dirty="0"/>
              <a:t>Pros? Cons?</a:t>
            </a:r>
          </a:p>
          <a:p>
            <a:pPr lvl="1"/>
            <a:r>
              <a:rPr lang="en-US" dirty="0"/>
              <a:t>Regular expressions worked really well for tokens</a:t>
            </a:r>
          </a:p>
          <a:p>
            <a:pPr lvl="1"/>
            <a:r>
              <a:rPr lang="en-US" dirty="0"/>
              <a:t>Provides decent expressivity</a:t>
            </a:r>
          </a:p>
          <a:p>
            <a:pPr lvl="1"/>
            <a:r>
              <a:rPr lang="en-US" dirty="0"/>
              <a:t>But what might go wrong?</a:t>
            </a:r>
          </a:p>
          <a:p>
            <a:endParaRPr lang="en-US" dirty="0"/>
          </a:p>
          <a:p>
            <a:pPr lvl="1"/>
            <a:endParaRPr lang="en-US" b="1" dirty="0">
              <a:solidFill>
                <a:schemeClr val="accent2"/>
              </a:solidFill>
              <a:latin typeface="Courier" pitchFamily="2" charset="0"/>
            </a:endParaRPr>
          </a:p>
          <a:p>
            <a:pPr lvl="1"/>
            <a:endParaRPr lang="en-US" b="1" dirty="0">
              <a:solidFill>
                <a:schemeClr val="accent2"/>
              </a:solidFill>
              <a:latin typeface="Courier" pitchFamily="2" charset="0"/>
            </a:endParaRP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53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tokens: </a:t>
            </a:r>
          </a:p>
          <a:p>
            <a:pPr lvl="1"/>
            <a:r>
              <a:rPr lang="en-US" dirty="0">
                <a:latin typeface="Courier" pitchFamily="2" charset="0"/>
              </a:rPr>
              <a:t>NUM  = “[0-9]+”</a:t>
            </a:r>
          </a:p>
          <a:p>
            <a:pPr lvl="1"/>
            <a:r>
              <a:rPr lang="en-US" dirty="0">
                <a:latin typeface="Courier" pitchFamily="2" charset="0"/>
              </a:rPr>
              <a:t>PLUS = “\+”</a:t>
            </a:r>
          </a:p>
          <a:p>
            <a:pPr lvl="1"/>
            <a:r>
              <a:rPr lang="en-US" dirty="0">
                <a:latin typeface="Courier" pitchFamily="2" charset="0"/>
              </a:rPr>
              <a:t>MULT = “\*”</a:t>
            </a:r>
          </a:p>
          <a:p>
            <a:endParaRPr lang="en-US" dirty="0"/>
          </a:p>
          <a:p>
            <a:r>
              <a:rPr lang="en-US" dirty="0"/>
              <a:t>Can we describe expressions?</a:t>
            </a:r>
          </a:p>
        </p:txBody>
      </p:sp>
    </p:spTree>
    <p:extLst>
      <p:ext uri="{BB962C8B-B14F-4D97-AF65-F5344CB8AC3E}">
        <p14:creationId xmlns:p14="http://schemas.microsoft.com/office/powerpoint/2010/main" val="2715530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E96E30-EF97-DD47-87BE-D0622460474F}"/>
              </a:ext>
            </a:extLst>
          </p:cNvPr>
          <p:cNvSpPr txBox="1"/>
          <p:nvPr/>
        </p:nvSpPr>
        <p:spPr>
          <a:xfrm>
            <a:off x="877262" y="1690688"/>
            <a:ext cx="46089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NUM ((PLUS | MULT) NUM)*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B2DFFC-344A-7E44-80EF-2F46198D604F}"/>
              </a:ext>
            </a:extLst>
          </p:cNvPr>
          <p:cNvSpPr txBox="1"/>
          <p:nvPr/>
        </p:nvSpPr>
        <p:spPr>
          <a:xfrm>
            <a:off x="838201" y="3478935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 + 6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2809C4-0268-B54C-AEF6-40252F4FFED3}"/>
              </a:ext>
            </a:extLst>
          </p:cNvPr>
          <p:cNvSpPr txBox="1"/>
          <p:nvPr/>
        </p:nvSpPr>
        <p:spPr>
          <a:xfrm>
            <a:off x="838201" y="2700228"/>
            <a:ext cx="36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65BB3-CE78-4A48-82F3-36DC55ED5D0F}"/>
              </a:ext>
            </a:extLst>
          </p:cNvPr>
          <p:cNvSpPr txBox="1"/>
          <p:nvPr/>
        </p:nvSpPr>
        <p:spPr>
          <a:xfrm>
            <a:off x="838200" y="4387114"/>
            <a:ext cx="1843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 + 6 * 3</a:t>
            </a:r>
          </a:p>
        </p:txBody>
      </p:sp>
    </p:spTree>
    <p:extLst>
      <p:ext uri="{BB962C8B-B14F-4D97-AF65-F5344CB8AC3E}">
        <p14:creationId xmlns:p14="http://schemas.microsoft.com/office/powerpoint/2010/main" val="577132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E96E30-EF97-DD47-87BE-D0622460474F}"/>
              </a:ext>
            </a:extLst>
          </p:cNvPr>
          <p:cNvSpPr txBox="1"/>
          <p:nvPr/>
        </p:nvSpPr>
        <p:spPr>
          <a:xfrm>
            <a:off x="877262" y="1690688"/>
            <a:ext cx="46089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NUM ((PLUS | MULT) NUM)*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B2DFFC-344A-7E44-80EF-2F46198D604F}"/>
              </a:ext>
            </a:extLst>
          </p:cNvPr>
          <p:cNvSpPr txBox="1"/>
          <p:nvPr/>
        </p:nvSpPr>
        <p:spPr>
          <a:xfrm>
            <a:off x="838201" y="3478935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 + 6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2809C4-0268-B54C-AEF6-40252F4FFED3}"/>
              </a:ext>
            </a:extLst>
          </p:cNvPr>
          <p:cNvSpPr txBox="1"/>
          <p:nvPr/>
        </p:nvSpPr>
        <p:spPr>
          <a:xfrm>
            <a:off x="838201" y="2700228"/>
            <a:ext cx="36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65BB3-CE78-4A48-82F3-36DC55ED5D0F}"/>
              </a:ext>
            </a:extLst>
          </p:cNvPr>
          <p:cNvSpPr txBox="1"/>
          <p:nvPr/>
        </p:nvSpPr>
        <p:spPr>
          <a:xfrm>
            <a:off x="838200" y="4387114"/>
            <a:ext cx="1843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 + 6 * 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0C94A3-8C81-AA48-88DC-249FCA71AC19}"/>
              </a:ext>
            </a:extLst>
          </p:cNvPr>
          <p:cNvSpPr txBox="1"/>
          <p:nvPr/>
        </p:nvSpPr>
        <p:spPr>
          <a:xfrm>
            <a:off x="3974841" y="4433280"/>
            <a:ext cx="58549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But what does this one mean? </a:t>
            </a:r>
          </a:p>
          <a:p>
            <a:r>
              <a:rPr lang="en-US" sz="2400" i="1" dirty="0"/>
              <a:t>     What if we want different precedence? </a:t>
            </a:r>
          </a:p>
        </p:txBody>
      </p:sp>
    </p:spTree>
    <p:extLst>
      <p:ext uri="{BB962C8B-B14F-4D97-AF65-F5344CB8AC3E}">
        <p14:creationId xmlns:p14="http://schemas.microsoft.com/office/powerpoint/2010/main" val="8958157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E96E30-EF97-DD47-87BE-D0622460474F}"/>
              </a:ext>
            </a:extLst>
          </p:cNvPr>
          <p:cNvSpPr txBox="1"/>
          <p:nvPr/>
        </p:nvSpPr>
        <p:spPr>
          <a:xfrm>
            <a:off x="877262" y="1690688"/>
            <a:ext cx="46089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NUM ((PLUS | MULT) NUM)*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B2DFFC-344A-7E44-80EF-2F46198D604F}"/>
              </a:ext>
            </a:extLst>
          </p:cNvPr>
          <p:cNvSpPr txBox="1"/>
          <p:nvPr/>
        </p:nvSpPr>
        <p:spPr>
          <a:xfrm>
            <a:off x="838201" y="3478935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 + 6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2809C4-0268-B54C-AEF6-40252F4FFED3}"/>
              </a:ext>
            </a:extLst>
          </p:cNvPr>
          <p:cNvSpPr txBox="1"/>
          <p:nvPr/>
        </p:nvSpPr>
        <p:spPr>
          <a:xfrm>
            <a:off x="838201" y="2700228"/>
            <a:ext cx="36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65BB3-CE78-4A48-82F3-36DC55ED5D0F}"/>
              </a:ext>
            </a:extLst>
          </p:cNvPr>
          <p:cNvSpPr txBox="1"/>
          <p:nvPr/>
        </p:nvSpPr>
        <p:spPr>
          <a:xfrm>
            <a:off x="838200" y="4387114"/>
            <a:ext cx="1843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 + 6 * 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9335F0-A98A-2F45-8528-D945C9A5D366}"/>
              </a:ext>
            </a:extLst>
          </p:cNvPr>
          <p:cNvSpPr txBox="1"/>
          <p:nvPr/>
        </p:nvSpPr>
        <p:spPr>
          <a:xfrm>
            <a:off x="653854" y="5396654"/>
            <a:ext cx="2212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(5 + 6) *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779E1-C179-324C-8B2A-276035E36519}"/>
              </a:ext>
            </a:extLst>
          </p:cNvPr>
          <p:cNvSpPr txBox="1"/>
          <p:nvPr/>
        </p:nvSpPr>
        <p:spPr>
          <a:xfrm>
            <a:off x="3974841" y="5335099"/>
            <a:ext cx="3815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Can we do this one?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873EA8-F856-EEF4-4278-6A123E523F2A}"/>
              </a:ext>
            </a:extLst>
          </p:cNvPr>
          <p:cNvSpPr txBox="1"/>
          <p:nvPr/>
        </p:nvSpPr>
        <p:spPr>
          <a:xfrm>
            <a:off x="3974841" y="4387113"/>
            <a:ext cx="58549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But what does this one mean? </a:t>
            </a:r>
          </a:p>
          <a:p>
            <a:r>
              <a:rPr lang="en-US" sz="2400" i="1" dirty="0"/>
              <a:t>     What if we want different precedence? </a:t>
            </a:r>
          </a:p>
        </p:txBody>
      </p:sp>
    </p:spTree>
    <p:extLst>
      <p:ext uri="{BB962C8B-B14F-4D97-AF65-F5344CB8AC3E}">
        <p14:creationId xmlns:p14="http://schemas.microsoft.com/office/powerpoint/2010/main" val="17985381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tokens: </a:t>
            </a:r>
          </a:p>
          <a:p>
            <a:pPr lvl="1"/>
            <a:r>
              <a:rPr lang="en-US" dirty="0">
                <a:latin typeface="Courier" pitchFamily="2" charset="0"/>
              </a:rPr>
              <a:t>NUM  = “[0-9]+”</a:t>
            </a:r>
          </a:p>
          <a:p>
            <a:pPr lvl="1"/>
            <a:r>
              <a:rPr lang="en-US" dirty="0">
                <a:latin typeface="Courier" pitchFamily="2" charset="0"/>
              </a:rPr>
              <a:t>PLUS = “\+”</a:t>
            </a:r>
          </a:p>
          <a:p>
            <a:pPr lvl="1"/>
            <a:r>
              <a:rPr lang="en-US" dirty="0">
                <a:latin typeface="Courier" pitchFamily="2" charset="0"/>
              </a:rPr>
              <a:t>MULT = “\*”</a:t>
            </a:r>
          </a:p>
          <a:p>
            <a:pPr lvl="1"/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OPAR = “\(“</a:t>
            </a:r>
          </a:p>
          <a:p>
            <a:pPr lvl="1"/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CPAR = “\)”</a:t>
            </a:r>
          </a:p>
        </p:txBody>
      </p:sp>
    </p:spTree>
    <p:extLst>
      <p:ext uri="{BB962C8B-B14F-4D97-AF65-F5344CB8AC3E}">
        <p14:creationId xmlns:p14="http://schemas.microsoft.com/office/powerpoint/2010/main" val="660192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A73E5-6205-CA4D-22F0-5EE96089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FE9A4-686C-00A2-0408-E7F2E5321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1020C5-E811-1D11-0A00-38C220943E77}"/>
              </a:ext>
            </a:extLst>
          </p:cNvPr>
          <p:cNvSpPr txBox="1"/>
          <p:nvPr/>
        </p:nvSpPr>
        <p:spPr>
          <a:xfrm>
            <a:off x="838201" y="3478935"/>
            <a:ext cx="11063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 + 6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57698F-2EE4-1792-890F-277F0C6D1E8F}"/>
              </a:ext>
            </a:extLst>
          </p:cNvPr>
          <p:cNvSpPr txBox="1"/>
          <p:nvPr/>
        </p:nvSpPr>
        <p:spPr>
          <a:xfrm>
            <a:off x="838201" y="2700228"/>
            <a:ext cx="36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78C090-04DA-EC8A-4268-5621C83755B4}"/>
              </a:ext>
            </a:extLst>
          </p:cNvPr>
          <p:cNvSpPr txBox="1"/>
          <p:nvPr/>
        </p:nvSpPr>
        <p:spPr>
          <a:xfrm>
            <a:off x="838200" y="4387114"/>
            <a:ext cx="1843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5 + 6 * 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9B3C2-145B-ECD9-A3F2-C041891FF936}"/>
              </a:ext>
            </a:extLst>
          </p:cNvPr>
          <p:cNvSpPr txBox="1"/>
          <p:nvPr/>
        </p:nvSpPr>
        <p:spPr>
          <a:xfrm>
            <a:off x="653854" y="5396654"/>
            <a:ext cx="22124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(5 + 6) *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955BAD-4591-6A56-A2A8-5369363C539C}"/>
              </a:ext>
            </a:extLst>
          </p:cNvPr>
          <p:cNvSpPr txBox="1"/>
          <p:nvPr/>
        </p:nvSpPr>
        <p:spPr>
          <a:xfrm>
            <a:off x="3974841" y="5335099"/>
            <a:ext cx="38151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Can we do this one?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A2994-462B-EEED-77A7-06CF2B97DF97}"/>
              </a:ext>
            </a:extLst>
          </p:cNvPr>
          <p:cNvSpPr txBox="1"/>
          <p:nvPr/>
        </p:nvSpPr>
        <p:spPr>
          <a:xfrm>
            <a:off x="8108303" y="2400145"/>
            <a:ext cx="2378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parenthesis tokens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734F0F-57C5-12F8-A341-FEB89ED22FDF}"/>
              </a:ext>
            </a:extLst>
          </p:cNvPr>
          <p:cNvSpPr txBox="1"/>
          <p:nvPr/>
        </p:nvSpPr>
        <p:spPr>
          <a:xfrm>
            <a:off x="877262" y="1690688"/>
            <a:ext cx="792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OPAR? NUM ((PLUS | MULT) OPAR? NUM CPAR?)*</a:t>
            </a:r>
          </a:p>
        </p:txBody>
      </p:sp>
    </p:spTree>
    <p:extLst>
      <p:ext uri="{BB962C8B-B14F-4D97-AF65-F5344CB8AC3E}">
        <p14:creationId xmlns:p14="http://schemas.microsoft.com/office/powerpoint/2010/main" val="38182830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E96E30-EF97-DD47-87BE-D0622460474F}"/>
              </a:ext>
            </a:extLst>
          </p:cNvPr>
          <p:cNvSpPr txBox="1"/>
          <p:nvPr/>
        </p:nvSpPr>
        <p:spPr>
          <a:xfrm>
            <a:off x="877262" y="1690688"/>
            <a:ext cx="792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OPAR? NUM ((PLUS | MULT) OPAR? NUM CPAR?)*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72651D-8444-2C43-A5DB-6C3DFC42E459}"/>
              </a:ext>
            </a:extLst>
          </p:cNvPr>
          <p:cNvSpPr txBox="1"/>
          <p:nvPr/>
        </p:nvSpPr>
        <p:spPr>
          <a:xfrm>
            <a:off x="877262" y="2831585"/>
            <a:ext cx="5430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Seems like it works! But what is the issue?</a:t>
            </a:r>
          </a:p>
        </p:txBody>
      </p:sp>
    </p:spTree>
    <p:extLst>
      <p:ext uri="{BB962C8B-B14F-4D97-AF65-F5344CB8AC3E}">
        <p14:creationId xmlns:p14="http://schemas.microsoft.com/office/powerpoint/2010/main" val="27923373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E96E30-EF97-DD47-87BE-D0622460474F}"/>
              </a:ext>
            </a:extLst>
          </p:cNvPr>
          <p:cNvSpPr txBox="1"/>
          <p:nvPr/>
        </p:nvSpPr>
        <p:spPr>
          <a:xfrm>
            <a:off x="877262" y="1690688"/>
            <a:ext cx="792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OPAR? NUM ((PLUS | MULT) OPAR? NUM CPAR?)*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72651D-8444-2C43-A5DB-6C3DFC42E459}"/>
              </a:ext>
            </a:extLst>
          </p:cNvPr>
          <p:cNvSpPr txBox="1"/>
          <p:nvPr/>
        </p:nvSpPr>
        <p:spPr>
          <a:xfrm>
            <a:off x="877262" y="2831585"/>
            <a:ext cx="5430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Seems like it works! But what is the issue?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768ED3-7851-D148-857E-A0A0B5AEBF56}"/>
              </a:ext>
            </a:extLst>
          </p:cNvPr>
          <p:cNvSpPr txBox="1"/>
          <p:nvPr/>
        </p:nvSpPr>
        <p:spPr>
          <a:xfrm>
            <a:off x="877262" y="3972482"/>
            <a:ext cx="2028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(5 + 6 *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75C873-B515-2742-B51D-6BDFC9739860}"/>
              </a:ext>
            </a:extLst>
          </p:cNvPr>
          <p:cNvSpPr txBox="1"/>
          <p:nvPr/>
        </p:nvSpPr>
        <p:spPr>
          <a:xfrm>
            <a:off x="4376057" y="4018648"/>
            <a:ext cx="2216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What about this one?</a:t>
            </a:r>
          </a:p>
        </p:txBody>
      </p:sp>
    </p:spTree>
    <p:extLst>
      <p:ext uri="{BB962C8B-B14F-4D97-AF65-F5344CB8AC3E}">
        <p14:creationId xmlns:p14="http://schemas.microsoft.com/office/powerpoint/2010/main" val="2918058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E96E30-EF97-DD47-87BE-D0622460474F}"/>
              </a:ext>
            </a:extLst>
          </p:cNvPr>
          <p:cNvSpPr txBox="1"/>
          <p:nvPr/>
        </p:nvSpPr>
        <p:spPr>
          <a:xfrm>
            <a:off x="877262" y="1690688"/>
            <a:ext cx="79271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OPAR? NUM ((PLUS | MULT) OPAR? NUM CPAR?)*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72651D-8444-2C43-A5DB-6C3DFC42E459}"/>
              </a:ext>
            </a:extLst>
          </p:cNvPr>
          <p:cNvSpPr txBox="1"/>
          <p:nvPr/>
        </p:nvSpPr>
        <p:spPr>
          <a:xfrm>
            <a:off x="877262" y="2831585"/>
            <a:ext cx="5430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Seems like it works! But what is the issue?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768ED3-7851-D148-857E-A0A0B5AEBF56}"/>
              </a:ext>
            </a:extLst>
          </p:cNvPr>
          <p:cNvSpPr txBox="1"/>
          <p:nvPr/>
        </p:nvSpPr>
        <p:spPr>
          <a:xfrm>
            <a:off x="877262" y="3972482"/>
            <a:ext cx="2028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(5 + 6 *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75C873-B515-2742-B51D-6BDFC9739860}"/>
              </a:ext>
            </a:extLst>
          </p:cNvPr>
          <p:cNvSpPr txBox="1"/>
          <p:nvPr/>
        </p:nvSpPr>
        <p:spPr>
          <a:xfrm>
            <a:off x="4376057" y="4018648"/>
            <a:ext cx="2216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What about this one?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DD1D7B-24F5-F041-90DD-2FA37E3FBC1C}"/>
              </a:ext>
            </a:extLst>
          </p:cNvPr>
          <p:cNvSpPr txBox="1"/>
          <p:nvPr/>
        </p:nvSpPr>
        <p:spPr>
          <a:xfrm>
            <a:off x="801062" y="5469445"/>
            <a:ext cx="110269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()s are a key part of syntax. They are important for the structure we want to create and </a:t>
            </a:r>
          </a:p>
          <a:p>
            <a:r>
              <a:rPr lang="en-US" sz="2400" i="1" dirty="0"/>
              <a:t>we need to reliably </a:t>
            </a:r>
            <a:r>
              <a:rPr lang="en-US" sz="2400" b="1" i="1" dirty="0"/>
              <a:t>detect strings that are not syntactically valid!</a:t>
            </a:r>
          </a:p>
        </p:txBody>
      </p:sp>
    </p:spTree>
    <p:extLst>
      <p:ext uri="{BB962C8B-B14F-4D97-AF65-F5344CB8AC3E}">
        <p14:creationId xmlns:p14="http://schemas.microsoft.com/office/powerpoint/2010/main" val="41211054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1B689-80DE-974B-8046-54CBAC54E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Context Free Grammars: A new class of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5F7D6-3BD0-E14A-9474-216095785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Regular expressions CANNOT match </a:t>
            </a:r>
          </a:p>
          <a:p>
            <a:pPr lvl="1"/>
            <a:r>
              <a:rPr lang="en-US" sz="3200" dirty="0"/>
              <a:t>(), </a:t>
            </a:r>
          </a:p>
          <a:p>
            <a:pPr lvl="1"/>
            <a:r>
              <a:rPr lang="en-US" sz="3200" dirty="0"/>
              <a:t>{}, </a:t>
            </a:r>
          </a:p>
          <a:p>
            <a:pPr lvl="1"/>
            <a:r>
              <a:rPr lang="en-US" sz="3200" dirty="0"/>
              <a:t>HTML start/end tags</a:t>
            </a:r>
          </a:p>
          <a:p>
            <a:pPr lvl="1"/>
            <a:r>
              <a:rPr lang="en-US" sz="3200" dirty="0"/>
              <a:t>etc.</a:t>
            </a:r>
          </a:p>
          <a:p>
            <a:endParaRPr lang="en-US" sz="3600" dirty="0"/>
          </a:p>
          <a:p>
            <a:r>
              <a:rPr lang="en-US" sz="3600" dirty="0"/>
              <a:t>We will use </a:t>
            </a:r>
            <a:r>
              <a:rPr lang="en-US" sz="3600" b="1" i="1" dirty="0"/>
              <a:t>context free grammars</a:t>
            </a:r>
          </a:p>
        </p:txBody>
      </p:sp>
    </p:spTree>
    <p:extLst>
      <p:ext uri="{BB962C8B-B14F-4D97-AF65-F5344CB8AC3E}">
        <p14:creationId xmlns:p14="http://schemas.microsoft.com/office/powerpoint/2010/main" val="37503113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2CCD-B8BC-B843-B90E-FF764E69C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Language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43C0E-BC8C-6646-8485-493A3F8FC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3600" dirty="0"/>
              <a:t>Some theory:</a:t>
            </a:r>
          </a:p>
          <a:p>
            <a:pPr marL="0" indent="0">
              <a:buNone/>
            </a:pPr>
            <a:endParaRPr lang="en-US" sz="1400" dirty="0"/>
          </a:p>
          <a:p>
            <a:r>
              <a:rPr lang="en-US" dirty="0"/>
              <a:t>Given a language </a:t>
            </a:r>
            <a:r>
              <a:rPr lang="en-US" i="1" dirty="0"/>
              <a:t>L</a:t>
            </a:r>
            <a:r>
              <a:rPr lang="en-US" dirty="0"/>
              <a:t>, a string </a:t>
            </a:r>
            <a:r>
              <a:rPr lang="en-US" i="1" dirty="0"/>
              <a:t>s</a:t>
            </a:r>
            <a:r>
              <a:rPr lang="en-US" dirty="0"/>
              <a:t> is either part of that language or not</a:t>
            </a:r>
          </a:p>
          <a:p>
            <a:pPr lvl="1"/>
            <a:r>
              <a:rPr lang="en-US" dirty="0"/>
              <a:t>Integers are a language: “5”, “6”, “-7” is in the language. “</a:t>
            </a:r>
            <a:r>
              <a:rPr lang="en-US" dirty="0" err="1"/>
              <a:t>abc</a:t>
            </a:r>
            <a:r>
              <a:rPr lang="en-US" dirty="0"/>
              <a:t>” is not.</a:t>
            </a:r>
          </a:p>
          <a:p>
            <a:pPr lvl="1"/>
            <a:endParaRPr lang="en-US" dirty="0"/>
          </a:p>
          <a:p>
            <a:r>
              <a:rPr lang="en-US" dirty="0"/>
              <a:t>Languages are grouped into families depending on how “hard” it is to determine if a string is part of that language.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2226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2CCD-B8BC-B843-B90E-FF764E69C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Language theory: Chomsky Hierarchy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0D972A-82E3-4B40-A725-DCEECAB544D0}"/>
              </a:ext>
            </a:extLst>
          </p:cNvPr>
          <p:cNvSpPr txBox="1"/>
          <p:nvPr/>
        </p:nvSpPr>
        <p:spPr>
          <a:xfrm>
            <a:off x="172995" y="6308209"/>
            <a:ext cx="2444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source: </a:t>
            </a:r>
            <a:r>
              <a:rPr lang="en-US" dirty="0" err="1"/>
              <a:t>wikipedia</a:t>
            </a:r>
            <a:endParaRPr lang="en-US" dirty="0"/>
          </a:p>
        </p:txBody>
      </p:sp>
      <p:pic>
        <p:nvPicPr>
          <p:cNvPr id="7" name="Picture 6" descr="The Chomsky hierarchy">
            <a:extLst>
              <a:ext uri="{FF2B5EF4-FFF2-40B4-BE49-F238E27FC236}">
                <a16:creationId xmlns:a16="http://schemas.microsoft.com/office/drawing/2014/main" id="{A3A24705-34E0-FC4E-874C-7D782A59C7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003" y="2155955"/>
            <a:ext cx="4376763" cy="3156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4E29035-32FD-AA49-8F1B-F96F2A1DF6F8}"/>
              </a:ext>
            </a:extLst>
          </p:cNvPr>
          <p:cNvSpPr txBox="1"/>
          <p:nvPr/>
        </p:nvSpPr>
        <p:spPr>
          <a:xfrm>
            <a:off x="6662057" y="2551611"/>
            <a:ext cx="527708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simplest languages are regular. We used </a:t>
            </a:r>
          </a:p>
          <a:p>
            <a:r>
              <a:rPr lang="en-US" dirty="0"/>
              <a:t>regular expressions for tokens.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They are fast, even in the general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good level of abstraction for tokens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will now use context-free languages (CFG) for </a:t>
            </a:r>
          </a:p>
          <a:p>
            <a:r>
              <a:rPr lang="en-US" dirty="0"/>
              <a:t>Syntactic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Fast algorithms exist in many cases (not all)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Determining membership can be even inefficient </a:t>
            </a:r>
          </a:p>
          <a:p>
            <a:r>
              <a:rPr lang="en-US" dirty="0"/>
              <a:t>or even undecidable at higher levels (context-sensitive</a:t>
            </a:r>
            <a:br>
              <a:rPr lang="en-US" dirty="0"/>
            </a:br>
            <a:r>
              <a:rPr lang="en-US" dirty="0"/>
              <a:t>and recursively enumerable)</a:t>
            </a:r>
          </a:p>
        </p:txBody>
      </p:sp>
    </p:spTree>
    <p:extLst>
      <p:ext uri="{BB962C8B-B14F-4D97-AF65-F5344CB8AC3E}">
        <p14:creationId xmlns:p14="http://schemas.microsoft.com/office/powerpoint/2010/main" val="36984270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D2B18-381A-7748-8495-B8BAD639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Context-Free Languages (CFG)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2AFF6-E7E3-D24B-A637-08064E0DD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will define similar to regular languages</a:t>
            </a:r>
          </a:p>
          <a:p>
            <a:r>
              <a:rPr lang="en-US" dirty="0"/>
              <a:t>In this </a:t>
            </a:r>
            <a:r>
              <a:rPr lang="en-US" i="1" dirty="0"/>
              <a:t>class a context-free language is a language that can be recognized by a context-free grammar</a:t>
            </a:r>
          </a:p>
        </p:txBody>
      </p:sp>
    </p:spTree>
    <p:extLst>
      <p:ext uri="{BB962C8B-B14F-4D97-AF65-F5344CB8AC3E}">
        <p14:creationId xmlns:p14="http://schemas.microsoft.com/office/powerpoint/2010/main" val="17656430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D2B18-381A-7748-8495-B8BAD639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Context-Free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2AFF6-E7E3-D24B-A637-08064E0DD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will define similar to regular languages</a:t>
            </a:r>
          </a:p>
          <a:p>
            <a:r>
              <a:rPr lang="en-US" dirty="0"/>
              <a:t>In this </a:t>
            </a:r>
            <a:r>
              <a:rPr lang="en-US" i="1" dirty="0"/>
              <a:t>class a context-free language is a language that can be recognized by a context-free grammar</a:t>
            </a:r>
          </a:p>
          <a:p>
            <a:endParaRPr lang="en-US" dirty="0"/>
          </a:p>
          <a:p>
            <a:r>
              <a:rPr lang="en-US" dirty="0"/>
              <a:t>....</a:t>
            </a:r>
          </a:p>
          <a:p>
            <a:endParaRPr lang="en-US" dirty="0"/>
          </a:p>
          <a:p>
            <a:r>
              <a:rPr lang="en-US" dirty="0"/>
              <a:t>What is a context-free grammar?</a:t>
            </a:r>
          </a:p>
        </p:txBody>
      </p:sp>
    </p:spTree>
    <p:extLst>
      <p:ext uri="{BB962C8B-B14F-4D97-AF65-F5344CB8AC3E}">
        <p14:creationId xmlns:p14="http://schemas.microsoft.com/office/powerpoint/2010/main" val="9846423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D2B18-381A-7748-8495-B8BAD639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Context-free grammar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2AFF6-E7E3-D24B-A637-08064E0D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2136337"/>
            <a:ext cx="5814527" cy="459103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We will use </a:t>
            </a:r>
            <a:r>
              <a:rPr lang="en-US" i="1" dirty="0"/>
              <a:t>Backus–</a:t>
            </a:r>
            <a:r>
              <a:rPr lang="en-US" i="1" dirty="0" err="1"/>
              <a:t>Naur</a:t>
            </a:r>
            <a:r>
              <a:rPr lang="en-US" i="1" dirty="0"/>
              <a:t> form </a:t>
            </a:r>
            <a:r>
              <a:rPr lang="en-US" dirty="0"/>
              <a:t>(BNF) form</a:t>
            </a:r>
            <a:endParaRPr lang="en-US" i="1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non-terminals are language ids. You can have as many as you need.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each non-terminal maps to one or more production rules.</a:t>
            </a:r>
          </a:p>
          <a:p>
            <a:endParaRPr lang="en-US" dirty="0"/>
          </a:p>
          <a:p>
            <a:r>
              <a:rPr lang="en-US" dirty="0"/>
              <a:t>one non-terminal is designated as the </a:t>
            </a:r>
            <a:r>
              <a:rPr lang="en-US" i="1" dirty="0"/>
              <a:t>start</a:t>
            </a:r>
            <a:r>
              <a:rPr lang="en-US" dirty="0"/>
              <a:t> or </a:t>
            </a:r>
            <a:r>
              <a:rPr lang="en-US" i="1" dirty="0"/>
              <a:t>goal</a:t>
            </a:r>
            <a:r>
              <a:rPr lang="en-US" dirty="0"/>
              <a:t> symbol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0A638A-73EE-014C-A72D-AE02C9B96026}"/>
              </a:ext>
            </a:extLst>
          </p:cNvPr>
          <p:cNvSpPr txBox="1"/>
          <p:nvPr/>
        </p:nvSpPr>
        <p:spPr>
          <a:xfrm>
            <a:off x="6859380" y="2644669"/>
            <a:ext cx="514756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non-terminal-1 ::= production-rule-1</a:t>
            </a:r>
          </a:p>
          <a:p>
            <a:r>
              <a:rPr lang="en-US" dirty="0">
                <a:latin typeface="Courier" pitchFamily="2" charset="0"/>
              </a:rPr>
              <a:t>               |   production-rule-2</a:t>
            </a:r>
          </a:p>
          <a:p>
            <a:r>
              <a:rPr lang="en-US" dirty="0">
                <a:latin typeface="Courier" pitchFamily="2" charset="0"/>
              </a:rPr>
              <a:t>               |   ...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non-terminal-2 ::= production-rule-1</a:t>
            </a:r>
          </a:p>
          <a:p>
            <a:r>
              <a:rPr lang="en-US" dirty="0">
                <a:latin typeface="Courier" pitchFamily="2" charset="0"/>
              </a:rPr>
              <a:t>               |   production-rule-2</a:t>
            </a:r>
          </a:p>
          <a:p>
            <a:r>
              <a:rPr lang="en-US" dirty="0">
                <a:latin typeface="Courier" pitchFamily="2" charset="0"/>
              </a:rPr>
              <a:t>               |   ...</a:t>
            </a:r>
          </a:p>
          <a:p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....</a:t>
            </a:r>
          </a:p>
        </p:txBody>
      </p:sp>
    </p:spTree>
    <p:extLst>
      <p:ext uri="{BB962C8B-B14F-4D97-AF65-F5344CB8AC3E}">
        <p14:creationId xmlns:p14="http://schemas.microsoft.com/office/powerpoint/2010/main" val="17119972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74B25-E698-3CA6-67F9-ECE72BD67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E1CE1-5748-483C-B887-71EEDF688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2788" y="281800"/>
            <a:ext cx="4432303" cy="803275"/>
          </a:xfrm>
        </p:spPr>
        <p:txBody>
          <a:bodyPr>
            <a:normAutofit fontScale="90000"/>
          </a:bodyPr>
          <a:lstStyle/>
          <a:p>
            <a:r>
              <a:rPr lang="en-US" dirty="0"/>
              <a:t>John Backus     (BNF)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2AAA0-1773-9CC2-A3F5-96DE8A03F7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232" y="1264538"/>
            <a:ext cx="5814527" cy="268458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John Warner Backus 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(December 3, 1924 – March 17, 2007) was an American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2" tooltip="Computer scientist"/>
              </a:rPr>
              <a:t>computer scientist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 He led the team that invented and implemented </a:t>
            </a:r>
            <a:r>
              <a:rPr lang="en-US" sz="1800" b="0" i="0" u="sng" dirty="0">
                <a:solidFill>
                  <a:srgbClr val="233566"/>
                </a:solidFill>
                <a:effectLst/>
                <a:latin typeface="Arial" panose="020B0604020202020204" pitchFamily="34" charset="0"/>
                <a:hlinkClick r:id="rId3"/>
              </a:rPr>
              <a:t>FORTRAN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the first widely used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4" tooltip="High-level programming language"/>
              </a:rPr>
              <a:t>high-level programming language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and was the inventor of the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 tooltip="Backus–Naur form"/>
              </a:rPr>
              <a:t>Backus–Naur form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(BNF), a widely used notation to define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6" tooltip="Syntax"/>
              </a:rPr>
              <a:t>syntaxes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of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7" tooltip="Formal language"/>
              </a:rPr>
              <a:t>formal languages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 He later did research into the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8" tooltip="Function-level programming"/>
              </a:rPr>
              <a:t>function-level programming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paradigm, presenting his findings in his influential 1977 Turing Award lecture "Can Programming Be Liberated from the von Neumann Style?"</a:t>
            </a:r>
            <a:r>
              <a:rPr lang="en-US" sz="1800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9"/>
              </a:rPr>
              <a:t>[1]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E99A1-9465-5DDE-06F7-F4C5FFA524FA}"/>
              </a:ext>
            </a:extLst>
          </p:cNvPr>
          <p:cNvSpPr txBox="1"/>
          <p:nvPr/>
        </p:nvSpPr>
        <p:spPr>
          <a:xfrm>
            <a:off x="6786944" y="703434"/>
            <a:ext cx="3493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add_expr</a:t>
            </a:r>
            <a:r>
              <a:rPr lang="en-US" dirty="0">
                <a:latin typeface="Courier" pitchFamily="2" charset="0"/>
              </a:rPr>
              <a:t> ::= NUM ‘+’ NUM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869CCB-C628-2D62-CE1A-3BFA0F4FB3E1}"/>
              </a:ext>
            </a:extLst>
          </p:cNvPr>
          <p:cNvSpPr txBox="1"/>
          <p:nvPr/>
        </p:nvSpPr>
        <p:spPr>
          <a:xfrm>
            <a:off x="6786944" y="980646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mult_expr</a:t>
            </a:r>
            <a:r>
              <a:rPr lang="en-US" dirty="0">
                <a:latin typeface="Courier" pitchFamily="2" charset="0"/>
              </a:rPr>
              <a:t> ::= NUM ‘*’ NUM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A95F67-6D89-D8FB-BB3E-4B72DE251E63}"/>
              </a:ext>
            </a:extLst>
          </p:cNvPr>
          <p:cNvSpPr txBox="1"/>
          <p:nvPr/>
        </p:nvSpPr>
        <p:spPr>
          <a:xfrm>
            <a:off x="6786944" y="1297244"/>
            <a:ext cx="51475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joint_expr</a:t>
            </a:r>
            <a:r>
              <a:rPr lang="en-US" dirty="0">
                <a:latin typeface="Courier" pitchFamily="2" charset="0"/>
              </a:rPr>
              <a:t> ::= </a:t>
            </a:r>
            <a:r>
              <a:rPr lang="en-US" dirty="0" err="1">
                <a:latin typeface="Courier" pitchFamily="2" charset="0"/>
              </a:rPr>
              <a:t>add_expr</a:t>
            </a:r>
            <a:r>
              <a:rPr lang="en-US" dirty="0">
                <a:latin typeface="Courier" pitchFamily="2" charset="0"/>
              </a:rPr>
              <a:t> ‘*’ </a:t>
            </a:r>
            <a:r>
              <a:rPr lang="en-US" dirty="0" err="1">
                <a:latin typeface="Courier" pitchFamily="2" charset="0"/>
              </a:rPr>
              <a:t>add_expr</a:t>
            </a:r>
            <a:br>
              <a:rPr lang="en-US" dirty="0">
                <a:latin typeface="Courier" pitchFamily="2" charset="0"/>
              </a:rPr>
            </a:br>
            <a:r>
              <a:rPr lang="en-US" dirty="0" err="1">
                <a:latin typeface="Courier" pitchFamily="2" charset="0"/>
              </a:rPr>
              <a:t>simple_expr</a:t>
            </a:r>
            <a:r>
              <a:rPr lang="en-US" dirty="0">
                <a:latin typeface="Courier" pitchFamily="2" charset="0"/>
              </a:rPr>
              <a:t> ::= NUM ‘+’ NUM</a:t>
            </a:r>
          </a:p>
          <a:p>
            <a:r>
              <a:rPr lang="en-US" dirty="0">
                <a:latin typeface="Courier" pitchFamily="2" charset="0"/>
              </a:rPr>
              <a:t>            |   NUM ‘*’ NUM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53CBF-8B3E-ADD2-7352-EA30F8E4B03D}"/>
              </a:ext>
            </a:extLst>
          </p:cNvPr>
          <p:cNvSpPr txBox="1"/>
          <p:nvPr/>
        </p:nvSpPr>
        <p:spPr>
          <a:xfrm>
            <a:off x="6524975" y="426222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Examples:</a:t>
            </a:r>
          </a:p>
        </p:txBody>
      </p:sp>
      <p:pic>
        <p:nvPicPr>
          <p:cNvPr id="1026" name="Picture 2" descr="A young John Backus smiles behind a glass wall with formulas written on it">
            <a:extLst>
              <a:ext uri="{FF2B5EF4-FFF2-40B4-BE49-F238E27FC236}">
                <a16:creationId xmlns:a16="http://schemas.microsoft.com/office/drawing/2014/main" id="{8D8A0686-3C93-B65C-98AF-F2DB1CE9A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2505" y="2663539"/>
            <a:ext cx="3008828" cy="3709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C4CC213-FAF2-B429-214C-80938E3561A1}"/>
              </a:ext>
            </a:extLst>
          </p:cNvPr>
          <p:cNvSpPr txBox="1"/>
          <p:nvPr/>
        </p:nvSpPr>
        <p:spPr>
          <a:xfrm>
            <a:off x="1547106" y="3934833"/>
            <a:ext cx="3977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“Much of my work has come from being lazy. I didn’t like writing programs, so I started work on a system to make them easier to write”</a:t>
            </a:r>
          </a:p>
          <a:p>
            <a:r>
              <a:rPr lang="en-US" dirty="0"/>
              <a:t>   John Backus, Inventor of Fortran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1336B-7E11-7F73-99F6-E1550D954557}"/>
              </a:ext>
            </a:extLst>
          </p:cNvPr>
          <p:cNvSpPr txBox="1"/>
          <p:nvPr/>
        </p:nvSpPr>
        <p:spPr>
          <a:xfrm>
            <a:off x="838200" y="5726722"/>
            <a:ext cx="42214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Source: Wikipedia</a:t>
            </a:r>
          </a:p>
          <a:p>
            <a:r>
              <a:rPr lang="en-US" dirty="0"/>
              <a:t>https://www.ibm.com/history/john-backus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03C4FA-A341-08E2-458F-1B0C8F3B07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1756730"/>
              </p:ext>
            </p:extLst>
          </p:nvPr>
        </p:nvGraphicFramePr>
        <p:xfrm>
          <a:off x="5524746" y="4968738"/>
          <a:ext cx="3019411" cy="146304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3408745183"/>
                    </a:ext>
                  </a:extLst>
                </a:gridCol>
                <a:gridCol w="2811131">
                  <a:extLst>
                    <a:ext uri="{9D8B030D-6E8A-4147-A177-3AD203B41FA5}">
                      <a16:colId xmlns:a16="http://schemas.microsoft.com/office/drawing/2014/main" val="2790205873"/>
                    </a:ext>
                  </a:extLst>
                </a:gridCol>
              </a:tblGrid>
              <a:tr h="62250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u="none" strike="noStrike" dirty="0" err="1">
                          <a:solidFill>
                            <a:srgbClr val="3366CC"/>
                          </a:solidFill>
                          <a:effectLst/>
                          <a:hlinkClick r:id="rId11" tooltip="Speedcoding"/>
                        </a:rPr>
                        <a:t>Speedcoding</a:t>
                      </a:r>
                      <a:br>
                        <a:rPr lang="en-US" dirty="0">
                          <a:effectLst/>
                        </a:rPr>
                      </a:br>
                      <a:r>
                        <a:rPr lang="en-US" u="none" strike="noStrike" dirty="0">
                          <a:solidFill>
                            <a:srgbClr val="3366CC"/>
                          </a:solidFill>
                          <a:effectLst/>
                          <a:hlinkClick r:id="rId3" tooltip="Fortran"/>
                        </a:rPr>
                        <a:t>FORTRAN</a:t>
                      </a:r>
                      <a:br>
                        <a:rPr lang="en-US" dirty="0">
                          <a:effectLst/>
                        </a:rPr>
                      </a:br>
                      <a:r>
                        <a:rPr lang="en-US" u="none" strike="noStrike" dirty="0">
                          <a:solidFill>
                            <a:srgbClr val="3366CC"/>
                          </a:solidFill>
                          <a:effectLst/>
                          <a:hlinkClick r:id="rId12" tooltip="ALGOL"/>
                        </a:rPr>
                        <a:t>ALGOL</a:t>
                      </a:r>
                      <a:br>
                        <a:rPr lang="en-US" dirty="0">
                          <a:effectLst/>
                        </a:rPr>
                      </a:br>
                      <a:r>
                        <a:rPr lang="en-US" u="none" strike="noStrike" dirty="0">
                          <a:solidFill>
                            <a:srgbClr val="3366CC"/>
                          </a:solidFill>
                          <a:effectLst/>
                          <a:hlinkClick r:id="rId5" tooltip="Backus–Naur form"/>
                        </a:rPr>
                        <a:t>Backus–Naur form</a:t>
                      </a:r>
                      <a:br>
                        <a:rPr lang="en-US" dirty="0">
                          <a:effectLst/>
                        </a:rPr>
                      </a:br>
                      <a:r>
                        <a:rPr lang="en-US" u="none" strike="noStrike" dirty="0">
                          <a:solidFill>
                            <a:srgbClr val="3366CC"/>
                          </a:solidFill>
                          <a:effectLst/>
                          <a:hlinkClick r:id="rId8" tooltip="Function-level programming"/>
                        </a:rPr>
                        <a:t>Function-level programming</a:t>
                      </a: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3031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8450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3704-12BA-8C88-C71B-C3F4E0864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05A47-1DC9-8319-0A69-22A8FB059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450840" cy="803275"/>
          </a:xfrm>
        </p:spPr>
        <p:txBody>
          <a:bodyPr/>
          <a:lstStyle/>
          <a:p>
            <a:r>
              <a:rPr lang="en-US" dirty="0"/>
              <a:t>Peter Naur     (BNF)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1D6C7-6B22-5B8D-9B43-C82C5A5B2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781" y="1285971"/>
            <a:ext cx="5814527" cy="18700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Peter Naur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(25 October 1928 – 3 January 2016)</a:t>
            </a:r>
            <a:r>
              <a:rPr lang="en-US" sz="1800" b="0" i="0" u="none" strike="noStrike" baseline="30000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2"/>
              </a:rPr>
              <a:t>[1]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was a Danish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3" tooltip="Computer science"/>
              </a:rPr>
              <a:t>computer science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pioneer and 2005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4" tooltip="Turing Award"/>
              </a:rPr>
              <a:t>Turing Award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winner. He is best remembered as a contributor, with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5" tooltip="John Backus"/>
              </a:rPr>
              <a:t>John Backus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, to the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6" tooltip="Backus–Naur form"/>
              </a:rPr>
              <a:t>Backus–Naur form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(BNF) notation used in describing the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7" tooltip="Syntax (programming languages)"/>
              </a:rPr>
              <a:t>syntax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for most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8" tooltip="Programming language"/>
              </a:rPr>
              <a:t>programming languages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 He also contributed to creating the language </a:t>
            </a:r>
            <a:r>
              <a:rPr lang="en-US" sz="1800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9" tooltip="ALGOL 60"/>
              </a:rPr>
              <a:t>ALGOL 60</a:t>
            </a:r>
            <a:r>
              <a:rPr lang="en-US" sz="18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57613B-BBD3-8AA3-A304-F323FA923E65}"/>
              </a:ext>
            </a:extLst>
          </p:cNvPr>
          <p:cNvSpPr txBox="1"/>
          <p:nvPr/>
        </p:nvSpPr>
        <p:spPr>
          <a:xfrm>
            <a:off x="6786944" y="703434"/>
            <a:ext cx="3493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add_expr</a:t>
            </a:r>
            <a:r>
              <a:rPr lang="en-US" dirty="0">
                <a:latin typeface="Courier" pitchFamily="2" charset="0"/>
              </a:rPr>
              <a:t> ::= NUM ‘+’ NUM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1EC5A3-E56A-82F5-56A6-FB5D20D34F62}"/>
              </a:ext>
            </a:extLst>
          </p:cNvPr>
          <p:cNvSpPr txBox="1"/>
          <p:nvPr/>
        </p:nvSpPr>
        <p:spPr>
          <a:xfrm>
            <a:off x="6786944" y="980646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mult_expr</a:t>
            </a:r>
            <a:r>
              <a:rPr lang="en-US" dirty="0">
                <a:latin typeface="Courier" pitchFamily="2" charset="0"/>
              </a:rPr>
              <a:t> ::= NUM ‘*’ NUM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5686E6-7653-C441-3238-94B2113A17B8}"/>
              </a:ext>
            </a:extLst>
          </p:cNvPr>
          <p:cNvSpPr txBox="1"/>
          <p:nvPr/>
        </p:nvSpPr>
        <p:spPr>
          <a:xfrm>
            <a:off x="6786944" y="1297244"/>
            <a:ext cx="51475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joint_expr</a:t>
            </a:r>
            <a:r>
              <a:rPr lang="en-US" dirty="0">
                <a:latin typeface="Courier" pitchFamily="2" charset="0"/>
              </a:rPr>
              <a:t> ::= </a:t>
            </a:r>
            <a:r>
              <a:rPr lang="en-US" dirty="0" err="1">
                <a:latin typeface="Courier" pitchFamily="2" charset="0"/>
              </a:rPr>
              <a:t>add_expr</a:t>
            </a:r>
            <a:r>
              <a:rPr lang="en-US" dirty="0">
                <a:latin typeface="Courier" pitchFamily="2" charset="0"/>
              </a:rPr>
              <a:t> ‘*’ </a:t>
            </a:r>
            <a:r>
              <a:rPr lang="en-US" dirty="0" err="1">
                <a:latin typeface="Courier" pitchFamily="2" charset="0"/>
              </a:rPr>
              <a:t>add_expr</a:t>
            </a:r>
            <a:br>
              <a:rPr lang="en-US" dirty="0">
                <a:latin typeface="Courier" pitchFamily="2" charset="0"/>
              </a:rPr>
            </a:br>
            <a:r>
              <a:rPr lang="en-US" dirty="0" err="1">
                <a:latin typeface="Courier" pitchFamily="2" charset="0"/>
              </a:rPr>
              <a:t>simple_expr</a:t>
            </a:r>
            <a:r>
              <a:rPr lang="en-US" dirty="0">
                <a:latin typeface="Courier" pitchFamily="2" charset="0"/>
              </a:rPr>
              <a:t> ::= NUM ‘+’ NUM</a:t>
            </a:r>
          </a:p>
          <a:p>
            <a:r>
              <a:rPr lang="en-US" dirty="0">
                <a:latin typeface="Courier" pitchFamily="2" charset="0"/>
              </a:rPr>
              <a:t>            |   NUM ‘*’ NUM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042FBB-1E7C-5683-1C2D-8B3CDDA7E7D7}"/>
              </a:ext>
            </a:extLst>
          </p:cNvPr>
          <p:cNvSpPr txBox="1"/>
          <p:nvPr/>
        </p:nvSpPr>
        <p:spPr>
          <a:xfrm>
            <a:off x="6524975" y="426222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Examples: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605655-78B6-3790-1C59-588587D237DE}"/>
              </a:ext>
            </a:extLst>
          </p:cNvPr>
          <p:cNvSpPr txBox="1"/>
          <p:nvPr/>
        </p:nvSpPr>
        <p:spPr>
          <a:xfrm>
            <a:off x="3718560" y="4341153"/>
            <a:ext cx="39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“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56BA53-9C22-C288-A0E3-CA9F9694F56B}"/>
              </a:ext>
            </a:extLst>
          </p:cNvPr>
          <p:cNvSpPr txBox="1"/>
          <p:nvPr/>
        </p:nvSpPr>
        <p:spPr>
          <a:xfrm>
            <a:off x="806781" y="6025753"/>
            <a:ext cx="4221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Source: Wikipedia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072E046-8454-173D-49C0-38D7EAC911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7850" y="2342455"/>
            <a:ext cx="2861945" cy="3812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F3FAB2-8BC6-D8DD-47C6-D9A06D7FF622}"/>
              </a:ext>
            </a:extLst>
          </p:cNvPr>
          <p:cNvSpPr txBox="1"/>
          <p:nvPr/>
        </p:nvSpPr>
        <p:spPr>
          <a:xfrm>
            <a:off x="1371600" y="3371657"/>
            <a:ext cx="52852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In his book </a:t>
            </a:r>
            <a:r>
              <a:rPr lang="en-US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Computing: A Human Activity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(1992), which is a collection of his contributions to computer science, he rejected the formalist school of programming that views programming as a branch of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11" tooltip="Mathematics"/>
              </a:rPr>
              <a:t>mathematics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 He did not like being associated with the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6" tooltip="Backus–Naur form"/>
              </a:rPr>
              <a:t>Backus–Naur form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(attributed to him by </a:t>
            </a:r>
            <a:r>
              <a:rPr lang="en-US" b="0" i="0" u="none" strike="noStrike" dirty="0">
                <a:solidFill>
                  <a:srgbClr val="3366CC"/>
                </a:solidFill>
                <a:effectLst/>
                <a:latin typeface="Arial" panose="020B0604020202020204" pitchFamily="34" charset="0"/>
                <a:hlinkClick r:id="rId12" tooltip="Donald Knuth"/>
              </a:rPr>
              <a:t>Donald Knuth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) and said that he would prefer it to be called the </a:t>
            </a:r>
            <a:r>
              <a:rPr lang="en-US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Backus normal form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69F7F0E-AC20-8171-1B3F-AB90CB974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482369"/>
              </p:ext>
            </p:extLst>
          </p:nvPr>
        </p:nvGraphicFramePr>
        <p:xfrm>
          <a:off x="7732200" y="6167495"/>
          <a:ext cx="2234069" cy="710202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3408745183"/>
                    </a:ext>
                  </a:extLst>
                </a:gridCol>
                <a:gridCol w="2025789">
                  <a:extLst>
                    <a:ext uri="{9D8B030D-6E8A-4147-A177-3AD203B41FA5}">
                      <a16:colId xmlns:a16="http://schemas.microsoft.com/office/drawing/2014/main" val="2790205873"/>
                    </a:ext>
                  </a:extLst>
                </a:gridCol>
              </a:tblGrid>
              <a:tr h="71020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u="none" strike="noStrike" dirty="0">
                          <a:solidFill>
                            <a:srgbClr val="3366CC"/>
                          </a:solidFill>
                          <a:effectLst/>
                          <a:hlinkClick r:id="rId13" tooltip="ALGOL"/>
                        </a:rPr>
                        <a:t>ALGOL</a:t>
                      </a:r>
                      <a:br>
                        <a:rPr lang="en-US" dirty="0">
                          <a:effectLst/>
                        </a:rPr>
                      </a:br>
                      <a:r>
                        <a:rPr lang="en-US" u="none" strike="noStrike" dirty="0">
                          <a:solidFill>
                            <a:srgbClr val="3366CC"/>
                          </a:solidFill>
                          <a:effectLst/>
                          <a:hlinkClick r:id="rId6" tooltip="Backus–Naur form"/>
                        </a:rPr>
                        <a:t>Backus–Naur form</a:t>
                      </a: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2A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3031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24696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D2B18-381A-7748-8495-B8BAD639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Context-free grammar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2AFF6-E7E3-D24B-A637-08064E0D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2136337"/>
            <a:ext cx="6008077" cy="31214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We will use </a:t>
            </a:r>
            <a:r>
              <a:rPr lang="en-US" i="1" dirty="0"/>
              <a:t>Backus–</a:t>
            </a:r>
            <a:r>
              <a:rPr lang="en-US" i="1" dirty="0" err="1"/>
              <a:t>Naur</a:t>
            </a:r>
            <a:r>
              <a:rPr lang="en-US" i="1" dirty="0"/>
              <a:t> form </a:t>
            </a:r>
            <a:r>
              <a:rPr lang="en-US" dirty="0"/>
              <a:t>(BNF) form</a:t>
            </a:r>
            <a:endParaRPr lang="en-US" i="1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Production rules contain a sequence of either non-terminals or terminals</a:t>
            </a:r>
          </a:p>
          <a:p>
            <a:endParaRPr lang="en-US" dirty="0"/>
          </a:p>
          <a:p>
            <a:r>
              <a:rPr lang="en-US" dirty="0"/>
              <a:t>In our class, terminals will either be tokens or a string constants as a short-cut for a token e.g. `+’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0A638A-73EE-014C-A72D-AE02C9B96026}"/>
              </a:ext>
            </a:extLst>
          </p:cNvPr>
          <p:cNvSpPr txBox="1"/>
          <p:nvPr/>
        </p:nvSpPr>
        <p:spPr>
          <a:xfrm>
            <a:off x="6819615" y="2807729"/>
            <a:ext cx="3493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add_expr</a:t>
            </a:r>
            <a:r>
              <a:rPr lang="en-US" dirty="0">
                <a:latin typeface="Courier" pitchFamily="2" charset="0"/>
              </a:rPr>
              <a:t> ::= NUM ‘+’ NUM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9F05F9-412B-8643-B54B-7C01C9900B83}"/>
              </a:ext>
            </a:extLst>
          </p:cNvPr>
          <p:cNvSpPr txBox="1"/>
          <p:nvPr/>
        </p:nvSpPr>
        <p:spPr>
          <a:xfrm>
            <a:off x="6819615" y="3592073"/>
            <a:ext cx="3631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mult_expr</a:t>
            </a:r>
            <a:r>
              <a:rPr lang="en-US" dirty="0">
                <a:latin typeface="Courier" pitchFamily="2" charset="0"/>
              </a:rPr>
              <a:t> ::= NUM ‘*’ NUM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14E7C-5E9A-2845-9745-7A000B4ED0E6}"/>
              </a:ext>
            </a:extLst>
          </p:cNvPr>
          <p:cNvSpPr txBox="1"/>
          <p:nvPr/>
        </p:nvSpPr>
        <p:spPr>
          <a:xfrm>
            <a:off x="6819615" y="4515829"/>
            <a:ext cx="51475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joint_expr</a:t>
            </a:r>
            <a:r>
              <a:rPr lang="en-US" dirty="0">
                <a:latin typeface="Courier" pitchFamily="2" charset="0"/>
              </a:rPr>
              <a:t> ::= </a:t>
            </a:r>
            <a:r>
              <a:rPr lang="en-US" dirty="0" err="1">
                <a:latin typeface="Courier" pitchFamily="2" charset="0"/>
              </a:rPr>
              <a:t>add_expr</a:t>
            </a:r>
            <a:r>
              <a:rPr lang="en-US" dirty="0">
                <a:latin typeface="Courier" pitchFamily="2" charset="0"/>
              </a:rPr>
              <a:t> ‘*’ </a:t>
            </a:r>
            <a:r>
              <a:rPr lang="en-US" dirty="0" err="1">
                <a:latin typeface="Courier" pitchFamily="2" charset="0"/>
              </a:rPr>
              <a:t>add_expr</a:t>
            </a:r>
            <a:br>
              <a:rPr lang="en-US" dirty="0">
                <a:latin typeface="Courier" pitchFamily="2" charset="0"/>
              </a:rPr>
            </a:br>
            <a:endParaRPr lang="en-US" dirty="0">
              <a:latin typeface="Courier" pitchFamily="2" charset="0"/>
            </a:endParaRPr>
          </a:p>
          <a:p>
            <a:br>
              <a:rPr lang="en-US" dirty="0">
                <a:latin typeface="Courier" pitchFamily="2" charset="0"/>
              </a:rPr>
            </a:br>
            <a:r>
              <a:rPr lang="en-US" dirty="0" err="1">
                <a:latin typeface="Courier" pitchFamily="2" charset="0"/>
              </a:rPr>
              <a:t>simple_expr</a:t>
            </a:r>
            <a:r>
              <a:rPr lang="en-US" dirty="0">
                <a:latin typeface="Courier" pitchFamily="2" charset="0"/>
              </a:rPr>
              <a:t> ::= NUM ‘+’ NUM</a:t>
            </a:r>
          </a:p>
          <a:p>
            <a:r>
              <a:rPr lang="en-US" dirty="0">
                <a:latin typeface="Courier" pitchFamily="2" charset="0"/>
              </a:rPr>
              <a:t>            |   NUM ‘*’ NUM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4823D0-3FD4-254C-89FD-F8F4B64E5477}"/>
              </a:ext>
            </a:extLst>
          </p:cNvPr>
          <p:cNvSpPr txBox="1"/>
          <p:nvPr/>
        </p:nvSpPr>
        <p:spPr>
          <a:xfrm>
            <a:off x="6819615" y="2087382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Examples:</a:t>
            </a:r>
          </a:p>
        </p:txBody>
      </p:sp>
    </p:spTree>
    <p:extLst>
      <p:ext uri="{BB962C8B-B14F-4D97-AF65-F5344CB8AC3E}">
        <p14:creationId xmlns:p14="http://schemas.microsoft.com/office/powerpoint/2010/main" val="244834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D2B18-381A-7748-8495-B8BAD639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Deriving 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2AFF6-E7E3-D24B-A637-08064E0D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249" y="1828427"/>
            <a:ext cx="10209245" cy="181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CFG </a:t>
            </a:r>
            <a:r>
              <a:rPr lang="en-US" i="1" dirty="0"/>
              <a:t>G</a:t>
            </a:r>
            <a:r>
              <a:rPr lang="en-US" dirty="0"/>
              <a:t> is said to derive a string </a:t>
            </a:r>
            <a:r>
              <a:rPr lang="en-US" i="1" dirty="0"/>
              <a:t>s</a:t>
            </a:r>
            <a:r>
              <a:rPr lang="en-US" dirty="0"/>
              <a:t> if </a:t>
            </a:r>
            <a:r>
              <a:rPr lang="en-US" i="1" dirty="0"/>
              <a:t>s</a:t>
            </a:r>
            <a:r>
              <a:rPr lang="en-US" dirty="0"/>
              <a:t> is in the language of </a:t>
            </a:r>
            <a:r>
              <a:rPr lang="en-US" i="1" dirty="0"/>
              <a:t>G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dirty="0"/>
              <a:t>We can show a string </a:t>
            </a:r>
            <a:r>
              <a:rPr lang="en-US" i="1" dirty="0"/>
              <a:t>s</a:t>
            </a:r>
            <a:r>
              <a:rPr lang="en-US" dirty="0"/>
              <a:t> belongs to </a:t>
            </a:r>
            <a:r>
              <a:rPr lang="en-US" i="1" dirty="0"/>
              <a:t>G </a:t>
            </a:r>
            <a:r>
              <a:rPr lang="en-US" dirty="0"/>
              <a:t>by </a:t>
            </a:r>
            <a:r>
              <a:rPr lang="en-US" sz="3200" dirty="0"/>
              <a:t>providing a derivation</a:t>
            </a:r>
            <a:endParaRPr lang="en-US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746449" y="3786008"/>
            <a:ext cx="45961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" pitchFamily="2" charset="0"/>
              </a:rPr>
              <a:t>SheepNoise</a:t>
            </a:r>
            <a:r>
              <a:rPr lang="en-US" dirty="0">
                <a:latin typeface="Courier" pitchFamily="2" charset="0"/>
              </a:rPr>
              <a:t> ::= ‘baa’ </a:t>
            </a:r>
            <a:r>
              <a:rPr lang="en-US" dirty="0" err="1">
                <a:latin typeface="Courier" pitchFamily="2" charset="0"/>
              </a:rPr>
              <a:t>SheepNoise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           |   ‘baa’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F32C73-DBA7-6148-A7EF-3A81469174A3}"/>
              </a:ext>
            </a:extLst>
          </p:cNvPr>
          <p:cNvSpPr txBox="1"/>
          <p:nvPr/>
        </p:nvSpPr>
        <p:spPr>
          <a:xfrm>
            <a:off x="6755363" y="4190928"/>
            <a:ext cx="481138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 with a sentinel string: a string containing</a:t>
            </a:r>
            <a:br>
              <a:rPr lang="en-US" dirty="0"/>
            </a:br>
            <a:r>
              <a:rPr lang="en-US" dirty="0"/>
              <a:t>terminals and non-terminals:</a:t>
            </a:r>
          </a:p>
          <a:p>
            <a:endParaRPr lang="en-US" dirty="0"/>
          </a:p>
          <a:p>
            <a:r>
              <a:rPr lang="en-US" dirty="0"/>
              <a:t>“</a:t>
            </a:r>
            <a:r>
              <a:rPr lang="en-US" dirty="0" err="1"/>
              <a:t>SheepNoise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dirty="0"/>
              <a:t>Then pick one of the non-terminals and expand it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CD8FA-6A37-178C-693D-6C19E3E866A3}"/>
              </a:ext>
            </a:extLst>
          </p:cNvPr>
          <p:cNvSpPr txBox="1"/>
          <p:nvPr/>
        </p:nvSpPr>
        <p:spPr>
          <a:xfrm>
            <a:off x="858655" y="5575922"/>
            <a:ext cx="5896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will find a derivation using the table method, </a:t>
            </a:r>
          </a:p>
          <a:p>
            <a:r>
              <a:rPr lang="en-US" dirty="0"/>
              <a:t>Always starting with the “start” NT:  here it is </a:t>
            </a:r>
            <a:r>
              <a:rPr lang="en-US" dirty="0" err="1"/>
              <a:t>SheepNoise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446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D2B18-381A-7748-8495-B8BAD639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Deriving strings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3508311" y="2077574"/>
            <a:ext cx="4871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latin typeface="Courier" pitchFamily="2" charset="0"/>
              </a:rPr>
              <a:t>SheepNoise</a:t>
            </a:r>
            <a:r>
              <a:rPr lang="en-US" dirty="0">
                <a:latin typeface="Courier" pitchFamily="2" charset="0"/>
              </a:rPr>
              <a:t> ::= ‘baa’ </a:t>
            </a:r>
            <a:r>
              <a:rPr lang="en-US" dirty="0" err="1">
                <a:latin typeface="Courier" pitchFamily="2" charset="0"/>
              </a:rPr>
              <a:t>SheepNoise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2:            |   ‘baa’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847558"/>
              </p:ext>
            </p:extLst>
          </p:nvPr>
        </p:nvGraphicFramePr>
        <p:xfrm>
          <a:off x="297024" y="3964915"/>
          <a:ext cx="5105400" cy="11125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SheepNoise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3F1839C-3C88-1E48-8002-D9C483686501}"/>
              </a:ext>
            </a:extLst>
          </p:cNvPr>
          <p:cNvSpPr txBox="1"/>
          <p:nvPr/>
        </p:nvSpPr>
        <p:spPr>
          <a:xfrm>
            <a:off x="4338735" y="1614197"/>
            <a:ext cx="3828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Give each production rule a numeric id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EED4C2B-A683-DA40-8CCE-E41DEC16F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927794"/>
              </p:ext>
            </p:extLst>
          </p:nvPr>
        </p:nvGraphicFramePr>
        <p:xfrm>
          <a:off x="6644950" y="3955583"/>
          <a:ext cx="5105400" cy="148336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SheepNoise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51787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6ECEA7D-405A-DB32-061B-1B55D136523A}"/>
              </a:ext>
            </a:extLst>
          </p:cNvPr>
          <p:cNvSpPr txBox="1"/>
          <p:nvPr/>
        </p:nvSpPr>
        <p:spPr>
          <a:xfrm>
            <a:off x="2132220" y="3309257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String:  “baa”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E8382F-B6DF-EB15-8FA0-3FD86A60B13C}"/>
              </a:ext>
            </a:extLst>
          </p:cNvPr>
          <p:cNvSpPr txBox="1"/>
          <p:nvPr/>
        </p:nvSpPr>
        <p:spPr>
          <a:xfrm>
            <a:off x="8475348" y="3309257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String:  “baa baa”</a:t>
            </a:r>
          </a:p>
        </p:txBody>
      </p:sp>
    </p:spTree>
    <p:extLst>
      <p:ext uri="{BB962C8B-B14F-4D97-AF65-F5344CB8AC3E}">
        <p14:creationId xmlns:p14="http://schemas.microsoft.com/office/powerpoint/2010/main" val="328523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D2B18-381A-7748-8495-B8BAD639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Deriving strings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3508311" y="2077574"/>
            <a:ext cx="48718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latin typeface="Courier" pitchFamily="2" charset="0"/>
              </a:rPr>
              <a:t>SheepNoise</a:t>
            </a:r>
            <a:r>
              <a:rPr lang="en-US" dirty="0">
                <a:latin typeface="Courier" pitchFamily="2" charset="0"/>
              </a:rPr>
              <a:t> ::= ‘baa’ </a:t>
            </a:r>
            <a:r>
              <a:rPr lang="en-US" dirty="0" err="1">
                <a:latin typeface="Courier" pitchFamily="2" charset="0"/>
              </a:rPr>
              <a:t>SheepNoise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2:            |   ‘baa’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870432"/>
              </p:ext>
            </p:extLst>
          </p:nvPr>
        </p:nvGraphicFramePr>
        <p:xfrm>
          <a:off x="297024" y="3964915"/>
          <a:ext cx="5105400" cy="11125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SheepNoise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“baa”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13F1839C-3C88-1E48-8002-D9C483686501}"/>
              </a:ext>
            </a:extLst>
          </p:cNvPr>
          <p:cNvSpPr txBox="1"/>
          <p:nvPr/>
        </p:nvSpPr>
        <p:spPr>
          <a:xfrm>
            <a:off x="4338735" y="1614197"/>
            <a:ext cx="3828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Give each production rule a numeric id</a:t>
            </a:r>
          </a:p>
        </p:txBody>
      </p:sp>
      <p:graphicFrame>
        <p:nvGraphicFramePr>
          <p:cNvPr id="11" name="Table 9">
            <a:extLst>
              <a:ext uri="{FF2B5EF4-FFF2-40B4-BE49-F238E27FC236}">
                <a16:creationId xmlns:a16="http://schemas.microsoft.com/office/drawing/2014/main" id="{BEED4C2B-A683-DA40-8CCE-E41DEC16F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918879"/>
              </p:ext>
            </p:extLst>
          </p:nvPr>
        </p:nvGraphicFramePr>
        <p:xfrm>
          <a:off x="6644950" y="3955583"/>
          <a:ext cx="5105400" cy="148336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SheepNoise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“baa” </a:t>
                      </a:r>
                      <a:r>
                        <a:rPr lang="en-US" dirty="0" err="1"/>
                        <a:t>SheepNoise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“baa baa”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5178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C3815D-F872-4EEA-D98B-E24C3B55BD7F}"/>
              </a:ext>
            </a:extLst>
          </p:cNvPr>
          <p:cNvSpPr txBox="1"/>
          <p:nvPr/>
        </p:nvSpPr>
        <p:spPr>
          <a:xfrm>
            <a:off x="2132220" y="3309257"/>
            <a:ext cx="1435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String:  “baa”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BA1404-BFC8-960E-4207-0DB2B7AF46BE}"/>
              </a:ext>
            </a:extLst>
          </p:cNvPr>
          <p:cNvSpPr txBox="1"/>
          <p:nvPr/>
        </p:nvSpPr>
        <p:spPr>
          <a:xfrm>
            <a:off x="8475348" y="3309257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String:  “baa baa”</a:t>
            </a:r>
          </a:p>
        </p:txBody>
      </p:sp>
    </p:spTree>
    <p:extLst>
      <p:ext uri="{BB962C8B-B14F-4D97-AF65-F5344CB8AC3E}">
        <p14:creationId xmlns:p14="http://schemas.microsoft.com/office/powerpoint/2010/main" val="27852707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5846" cy="4351338"/>
          </a:xfrm>
        </p:spPr>
        <p:txBody>
          <a:bodyPr/>
          <a:lstStyle/>
          <a:p>
            <a:r>
              <a:rPr lang="en-US" dirty="0"/>
              <a:t>tokens: </a:t>
            </a:r>
          </a:p>
          <a:p>
            <a:pPr lvl="1"/>
            <a:r>
              <a:rPr lang="en-US" dirty="0">
                <a:latin typeface="Courier" pitchFamily="2" charset="0"/>
              </a:rPr>
              <a:t>NUM  = “[0-9]+”</a:t>
            </a:r>
          </a:p>
          <a:p>
            <a:pPr lvl="1"/>
            <a:r>
              <a:rPr lang="en-US" dirty="0">
                <a:latin typeface="Courier" pitchFamily="2" charset="0"/>
              </a:rPr>
              <a:t>OPAR = “\(“</a:t>
            </a:r>
          </a:p>
          <a:p>
            <a:pPr lvl="1"/>
            <a:r>
              <a:rPr lang="en-US" dirty="0">
                <a:latin typeface="Courier" pitchFamily="2" charset="0"/>
              </a:rPr>
              <a:t>CPAR = “\)”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1E67E-776B-C359-A9AC-97C57EDDE8DE}"/>
              </a:ext>
            </a:extLst>
          </p:cNvPr>
          <p:cNvSpPr txBox="1"/>
          <p:nvPr/>
        </p:nvSpPr>
        <p:spPr>
          <a:xfrm>
            <a:off x="7587031" y="2398548"/>
            <a:ext cx="24800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</a:t>
            </a:r>
          </a:p>
          <a:p>
            <a:r>
              <a:rPr lang="en-US" dirty="0">
                <a:latin typeface="Courier" pitchFamily="2" charset="0"/>
              </a:rPr>
              <a:t>2:</a:t>
            </a:r>
          </a:p>
          <a:p>
            <a:r>
              <a:rPr lang="en-US" dirty="0">
                <a:latin typeface="Courier" pitchFamily="2" charset="0"/>
              </a:rPr>
              <a:t>3:</a:t>
            </a:r>
          </a:p>
          <a:p>
            <a:r>
              <a:rPr lang="en-US" dirty="0">
                <a:latin typeface="Courier" pitchFamily="2" charset="0"/>
              </a:rPr>
              <a:t>4:</a:t>
            </a:r>
          </a:p>
          <a:p>
            <a:r>
              <a:rPr lang="en-US" dirty="0">
                <a:latin typeface="Courier" pitchFamily="2" charset="0"/>
              </a:rPr>
              <a:t>5:</a:t>
            </a:r>
          </a:p>
        </p:txBody>
      </p:sp>
    </p:spTree>
    <p:extLst>
      <p:ext uri="{BB962C8B-B14F-4D97-AF65-F5344CB8AC3E}">
        <p14:creationId xmlns:p14="http://schemas.microsoft.com/office/powerpoint/2010/main" val="36743322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5846" cy="4351338"/>
          </a:xfrm>
        </p:spPr>
        <p:txBody>
          <a:bodyPr/>
          <a:lstStyle/>
          <a:p>
            <a:r>
              <a:rPr lang="en-US" dirty="0"/>
              <a:t>tokens: </a:t>
            </a:r>
          </a:p>
          <a:p>
            <a:pPr lvl="1"/>
            <a:r>
              <a:rPr lang="en-US" dirty="0">
                <a:latin typeface="Courier" pitchFamily="2" charset="0"/>
              </a:rPr>
              <a:t>NUM  = “[0-9]+”</a:t>
            </a:r>
          </a:p>
          <a:p>
            <a:pPr lvl="1"/>
            <a:r>
              <a:rPr lang="en-US" dirty="0">
                <a:latin typeface="Courier" pitchFamily="2" charset="0"/>
              </a:rPr>
              <a:t>OPAR = “\(“</a:t>
            </a:r>
          </a:p>
          <a:p>
            <a:pPr lvl="1"/>
            <a:r>
              <a:rPr lang="en-US" dirty="0">
                <a:latin typeface="Courier" pitchFamily="2" charset="0"/>
              </a:rPr>
              <a:t>CPAR = “\)”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1E67E-776B-C359-A9AC-97C57EDDE8DE}"/>
              </a:ext>
            </a:extLst>
          </p:cNvPr>
          <p:cNvSpPr txBox="1"/>
          <p:nvPr/>
        </p:nvSpPr>
        <p:spPr>
          <a:xfrm>
            <a:off x="7587032" y="2398548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NUM</a:t>
            </a:r>
          </a:p>
          <a:p>
            <a:r>
              <a:rPr lang="en-US" dirty="0">
                <a:latin typeface="Courier" pitchFamily="2" charset="0"/>
              </a:rPr>
              <a:t>3:      |    NUM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</p:spTree>
    <p:extLst>
      <p:ext uri="{BB962C8B-B14F-4D97-AF65-F5344CB8AC3E}">
        <p14:creationId xmlns:p14="http://schemas.microsoft.com/office/powerpoint/2010/main" val="261949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080055"/>
              </p:ext>
            </p:extLst>
          </p:nvPr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4655975" y="1604370"/>
            <a:ext cx="347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the string 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a+b</a:t>
            </a:r>
            <a:r>
              <a:rPr lang="en-US" dirty="0">
                <a:latin typeface="Courier" pitchFamily="2" charset="0"/>
              </a:rPr>
              <a:t>)*c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2C23419-1D7D-F13C-64B4-D6F5CB036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27323148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637342"/>
              </p:ext>
            </p:extLst>
          </p:nvPr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Op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4655975" y="1604370"/>
            <a:ext cx="347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the string 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a+b</a:t>
            </a:r>
            <a:r>
              <a:rPr lang="en-US" dirty="0">
                <a:latin typeface="Courier" pitchFamily="2" charset="0"/>
              </a:rPr>
              <a:t>)*c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64E05F8-15B1-017D-6B86-9BF846AD0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35762825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7174653"/>
              </p:ext>
            </p:extLst>
          </p:nvPr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Op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4655975" y="1604370"/>
            <a:ext cx="347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the string 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a+b</a:t>
            </a:r>
            <a:r>
              <a:rPr lang="en-US" dirty="0">
                <a:latin typeface="Courier" pitchFamily="2" charset="0"/>
              </a:rPr>
              <a:t>)*c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83242-6EC9-1440-BCBA-C5AD8360A666}"/>
              </a:ext>
            </a:extLst>
          </p:cNvPr>
          <p:cNvSpPr txBox="1"/>
          <p:nvPr/>
        </p:nvSpPr>
        <p:spPr>
          <a:xfrm>
            <a:off x="7697755" y="2454248"/>
            <a:ext cx="3029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visualize this as a tree: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F7B6E-E6AB-7F4B-8A1B-954455F1338C}"/>
              </a:ext>
            </a:extLst>
          </p:cNvPr>
          <p:cNvSpPr/>
          <p:nvPr/>
        </p:nvSpPr>
        <p:spPr>
          <a:xfrm>
            <a:off x="8913151" y="3119460"/>
            <a:ext cx="598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Expr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EEFAECD-5665-41D7-18C5-BA32D63F3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7923903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3212485"/>
              </p:ext>
            </p:extLst>
          </p:nvPr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Op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4655975" y="1604370"/>
            <a:ext cx="347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the string 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a+b</a:t>
            </a:r>
            <a:r>
              <a:rPr lang="en-US" dirty="0">
                <a:latin typeface="Courier" pitchFamily="2" charset="0"/>
              </a:rPr>
              <a:t>)*c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83242-6EC9-1440-BCBA-C5AD8360A666}"/>
              </a:ext>
            </a:extLst>
          </p:cNvPr>
          <p:cNvSpPr txBox="1"/>
          <p:nvPr/>
        </p:nvSpPr>
        <p:spPr>
          <a:xfrm>
            <a:off x="7697755" y="2454248"/>
            <a:ext cx="3029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visualize this as a tree: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F7B6E-E6AB-7F4B-8A1B-954455F1338C}"/>
              </a:ext>
            </a:extLst>
          </p:cNvPr>
          <p:cNvSpPr/>
          <p:nvPr/>
        </p:nvSpPr>
        <p:spPr>
          <a:xfrm>
            <a:off x="8913151" y="3119460"/>
            <a:ext cx="598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1BF37B-9B18-A543-AFBD-9053A85FF471}"/>
              </a:ext>
            </a:extLst>
          </p:cNvPr>
          <p:cNvCxnSpPr/>
          <p:nvPr/>
        </p:nvCxnSpPr>
        <p:spPr>
          <a:xfrm flipH="1">
            <a:off x="7343192" y="3488792"/>
            <a:ext cx="1569959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25A655-3056-8840-817D-E9ABECF24E7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9212272" y="3488792"/>
            <a:ext cx="0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D03CFF-32B0-DC45-AF44-B8F9FB5C4A68}"/>
              </a:ext>
            </a:extLst>
          </p:cNvPr>
          <p:cNvCxnSpPr>
            <a:cxnSpLocks/>
          </p:cNvCxnSpPr>
          <p:nvPr/>
        </p:nvCxnSpPr>
        <p:spPr>
          <a:xfrm>
            <a:off x="9435192" y="3488792"/>
            <a:ext cx="1047918" cy="5456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F898E0-9554-6349-8C9F-FD8A9F2FE0D2}"/>
              </a:ext>
            </a:extLst>
          </p:cNvPr>
          <p:cNvSpPr txBox="1"/>
          <p:nvPr/>
        </p:nvSpPr>
        <p:spPr>
          <a:xfrm>
            <a:off x="10226351" y="4077478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0C00C-5507-4245-BD49-A3F03C0A0A95}"/>
              </a:ext>
            </a:extLst>
          </p:cNvPr>
          <p:cNvSpPr txBox="1"/>
          <p:nvPr/>
        </p:nvSpPr>
        <p:spPr>
          <a:xfrm>
            <a:off x="9023483" y="4086965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4E47C6-FD7B-644C-8AD2-C8F1A283710B}"/>
              </a:ext>
            </a:extLst>
          </p:cNvPr>
          <p:cNvSpPr txBox="1"/>
          <p:nvPr/>
        </p:nvSpPr>
        <p:spPr>
          <a:xfrm>
            <a:off x="6984262" y="409157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9432396E-D0C3-0DFC-9106-2D8EC3D3C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5099728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/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Op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4655975" y="1604370"/>
            <a:ext cx="347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the string 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a+b</a:t>
            </a:r>
            <a:r>
              <a:rPr lang="en-US" dirty="0">
                <a:latin typeface="Courier" pitchFamily="2" charset="0"/>
              </a:rPr>
              <a:t>)*c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83242-6EC9-1440-BCBA-C5AD8360A666}"/>
              </a:ext>
            </a:extLst>
          </p:cNvPr>
          <p:cNvSpPr txBox="1"/>
          <p:nvPr/>
        </p:nvSpPr>
        <p:spPr>
          <a:xfrm>
            <a:off x="7697755" y="2454248"/>
            <a:ext cx="3029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visualize this as a tree: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F7B6E-E6AB-7F4B-8A1B-954455F1338C}"/>
              </a:ext>
            </a:extLst>
          </p:cNvPr>
          <p:cNvSpPr/>
          <p:nvPr/>
        </p:nvSpPr>
        <p:spPr>
          <a:xfrm>
            <a:off x="8913151" y="3119460"/>
            <a:ext cx="598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1BF37B-9B18-A543-AFBD-9053A85FF471}"/>
              </a:ext>
            </a:extLst>
          </p:cNvPr>
          <p:cNvCxnSpPr/>
          <p:nvPr/>
        </p:nvCxnSpPr>
        <p:spPr>
          <a:xfrm flipH="1">
            <a:off x="7343192" y="3488792"/>
            <a:ext cx="1569959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25A655-3056-8840-817D-E9ABECF24E7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9212272" y="3488792"/>
            <a:ext cx="0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D03CFF-32B0-DC45-AF44-B8F9FB5C4A68}"/>
              </a:ext>
            </a:extLst>
          </p:cNvPr>
          <p:cNvCxnSpPr>
            <a:cxnSpLocks/>
          </p:cNvCxnSpPr>
          <p:nvPr/>
        </p:nvCxnSpPr>
        <p:spPr>
          <a:xfrm>
            <a:off x="9435192" y="3488792"/>
            <a:ext cx="1047918" cy="5456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F898E0-9554-6349-8C9F-FD8A9F2FE0D2}"/>
              </a:ext>
            </a:extLst>
          </p:cNvPr>
          <p:cNvSpPr txBox="1"/>
          <p:nvPr/>
        </p:nvSpPr>
        <p:spPr>
          <a:xfrm>
            <a:off x="10226351" y="4077478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0C00C-5507-4245-BD49-A3F03C0A0A95}"/>
              </a:ext>
            </a:extLst>
          </p:cNvPr>
          <p:cNvSpPr txBox="1"/>
          <p:nvPr/>
        </p:nvSpPr>
        <p:spPr>
          <a:xfrm>
            <a:off x="9023483" y="4086965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4E47C6-FD7B-644C-8AD2-C8F1A283710B}"/>
              </a:ext>
            </a:extLst>
          </p:cNvPr>
          <p:cNvSpPr txBox="1"/>
          <p:nvPr/>
        </p:nvSpPr>
        <p:spPr>
          <a:xfrm>
            <a:off x="6984262" y="409157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9008A0-E77A-C445-8485-71360933691C}"/>
              </a:ext>
            </a:extLst>
          </p:cNvPr>
          <p:cNvCxnSpPr>
            <a:cxnSpLocks/>
          </p:cNvCxnSpPr>
          <p:nvPr/>
        </p:nvCxnSpPr>
        <p:spPr>
          <a:xfrm>
            <a:off x="9212272" y="4456297"/>
            <a:ext cx="0" cy="39562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B4AEC69-022D-4640-88BC-F4A5FB47CE6D}"/>
              </a:ext>
            </a:extLst>
          </p:cNvPr>
          <p:cNvSpPr txBox="1"/>
          <p:nvPr/>
        </p:nvSpPr>
        <p:spPr>
          <a:xfrm>
            <a:off x="9062230" y="486980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94AA199-8359-AC47-70AE-3256FC71C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35873292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/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Op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4655975" y="1604370"/>
            <a:ext cx="347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the string 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a+b</a:t>
            </a:r>
            <a:r>
              <a:rPr lang="en-US" dirty="0">
                <a:latin typeface="Courier" pitchFamily="2" charset="0"/>
              </a:rPr>
              <a:t>)*c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83242-6EC9-1440-BCBA-C5AD8360A666}"/>
              </a:ext>
            </a:extLst>
          </p:cNvPr>
          <p:cNvSpPr txBox="1"/>
          <p:nvPr/>
        </p:nvSpPr>
        <p:spPr>
          <a:xfrm>
            <a:off x="7697755" y="2454248"/>
            <a:ext cx="3029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visualize this as a tree: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F7B6E-E6AB-7F4B-8A1B-954455F1338C}"/>
              </a:ext>
            </a:extLst>
          </p:cNvPr>
          <p:cNvSpPr/>
          <p:nvPr/>
        </p:nvSpPr>
        <p:spPr>
          <a:xfrm>
            <a:off x="8913151" y="3119460"/>
            <a:ext cx="598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1BF37B-9B18-A543-AFBD-9053A85FF471}"/>
              </a:ext>
            </a:extLst>
          </p:cNvPr>
          <p:cNvCxnSpPr/>
          <p:nvPr/>
        </p:nvCxnSpPr>
        <p:spPr>
          <a:xfrm flipH="1">
            <a:off x="7343192" y="3488792"/>
            <a:ext cx="1569959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25A655-3056-8840-817D-E9ABECF24E7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9212272" y="3488792"/>
            <a:ext cx="0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D03CFF-32B0-DC45-AF44-B8F9FB5C4A68}"/>
              </a:ext>
            </a:extLst>
          </p:cNvPr>
          <p:cNvCxnSpPr>
            <a:cxnSpLocks/>
          </p:cNvCxnSpPr>
          <p:nvPr/>
        </p:nvCxnSpPr>
        <p:spPr>
          <a:xfrm>
            <a:off x="9435192" y="3488792"/>
            <a:ext cx="1047918" cy="5456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F898E0-9554-6349-8C9F-FD8A9F2FE0D2}"/>
              </a:ext>
            </a:extLst>
          </p:cNvPr>
          <p:cNvSpPr txBox="1"/>
          <p:nvPr/>
        </p:nvSpPr>
        <p:spPr>
          <a:xfrm>
            <a:off x="10226351" y="4077478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0C00C-5507-4245-BD49-A3F03C0A0A95}"/>
              </a:ext>
            </a:extLst>
          </p:cNvPr>
          <p:cNvSpPr txBox="1"/>
          <p:nvPr/>
        </p:nvSpPr>
        <p:spPr>
          <a:xfrm>
            <a:off x="9023483" y="4086965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4E47C6-FD7B-644C-8AD2-C8F1A283710B}"/>
              </a:ext>
            </a:extLst>
          </p:cNvPr>
          <p:cNvSpPr txBox="1"/>
          <p:nvPr/>
        </p:nvSpPr>
        <p:spPr>
          <a:xfrm>
            <a:off x="6984262" y="409157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9008A0-E77A-C445-8485-71360933691C}"/>
              </a:ext>
            </a:extLst>
          </p:cNvPr>
          <p:cNvCxnSpPr>
            <a:cxnSpLocks/>
          </p:cNvCxnSpPr>
          <p:nvPr/>
        </p:nvCxnSpPr>
        <p:spPr>
          <a:xfrm>
            <a:off x="9212272" y="4456297"/>
            <a:ext cx="0" cy="39562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B4AEC69-022D-4640-88BC-F4A5FB47CE6D}"/>
              </a:ext>
            </a:extLst>
          </p:cNvPr>
          <p:cNvSpPr txBox="1"/>
          <p:nvPr/>
        </p:nvSpPr>
        <p:spPr>
          <a:xfrm>
            <a:off x="9062230" y="486980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3EF108F-0117-1248-A584-F76E6CCD9EF4}"/>
              </a:ext>
            </a:extLst>
          </p:cNvPr>
          <p:cNvCxnSpPr>
            <a:cxnSpLocks/>
          </p:cNvCxnSpPr>
          <p:nvPr/>
        </p:nvCxnSpPr>
        <p:spPr>
          <a:xfrm flipH="1">
            <a:off x="6650371" y="4475004"/>
            <a:ext cx="309835" cy="2184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D92A418-BC89-2A42-AA8A-E900AF017208}"/>
              </a:ext>
            </a:extLst>
          </p:cNvPr>
          <p:cNvCxnSpPr>
            <a:cxnSpLocks/>
          </p:cNvCxnSpPr>
          <p:nvPr/>
        </p:nvCxnSpPr>
        <p:spPr>
          <a:xfrm>
            <a:off x="7516087" y="4456297"/>
            <a:ext cx="255205" cy="2863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81A23F6-DEF6-A34E-BBB9-7B191CFBB668}"/>
              </a:ext>
            </a:extLst>
          </p:cNvPr>
          <p:cNvSpPr txBox="1"/>
          <p:nvPr/>
        </p:nvSpPr>
        <p:spPr>
          <a:xfrm>
            <a:off x="6395173" y="4693454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42F436-97B5-F348-919A-03E52F8E3C4D}"/>
              </a:ext>
            </a:extLst>
          </p:cNvPr>
          <p:cNvSpPr txBox="1"/>
          <p:nvPr/>
        </p:nvSpPr>
        <p:spPr>
          <a:xfrm>
            <a:off x="7639520" y="4685138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B065F7-B662-C645-B6AD-CB6468927D5E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7246097" y="4460907"/>
            <a:ext cx="37286" cy="2817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033B99C-0355-5E46-B117-E63E40250D7B}"/>
              </a:ext>
            </a:extLst>
          </p:cNvPr>
          <p:cNvSpPr txBox="1"/>
          <p:nvPr/>
        </p:nvSpPr>
        <p:spPr>
          <a:xfrm>
            <a:off x="6911073" y="46672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B8CD5E8A-8C33-F44B-DBCB-9E26103F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15086133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/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Op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4655975" y="1604370"/>
            <a:ext cx="347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the string 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a+b</a:t>
            </a:r>
            <a:r>
              <a:rPr lang="en-US" dirty="0">
                <a:latin typeface="Courier" pitchFamily="2" charset="0"/>
              </a:rPr>
              <a:t>)*c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83242-6EC9-1440-BCBA-C5AD8360A666}"/>
              </a:ext>
            </a:extLst>
          </p:cNvPr>
          <p:cNvSpPr txBox="1"/>
          <p:nvPr/>
        </p:nvSpPr>
        <p:spPr>
          <a:xfrm>
            <a:off x="7697755" y="2454248"/>
            <a:ext cx="3029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visualize this as a tree: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F7B6E-E6AB-7F4B-8A1B-954455F1338C}"/>
              </a:ext>
            </a:extLst>
          </p:cNvPr>
          <p:cNvSpPr/>
          <p:nvPr/>
        </p:nvSpPr>
        <p:spPr>
          <a:xfrm>
            <a:off x="8913151" y="3119460"/>
            <a:ext cx="598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1BF37B-9B18-A543-AFBD-9053A85FF471}"/>
              </a:ext>
            </a:extLst>
          </p:cNvPr>
          <p:cNvCxnSpPr/>
          <p:nvPr/>
        </p:nvCxnSpPr>
        <p:spPr>
          <a:xfrm flipH="1">
            <a:off x="7343192" y="3488792"/>
            <a:ext cx="1569959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25A655-3056-8840-817D-E9ABECF24E7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9212272" y="3488792"/>
            <a:ext cx="0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D03CFF-32B0-DC45-AF44-B8F9FB5C4A68}"/>
              </a:ext>
            </a:extLst>
          </p:cNvPr>
          <p:cNvCxnSpPr>
            <a:cxnSpLocks/>
          </p:cNvCxnSpPr>
          <p:nvPr/>
        </p:nvCxnSpPr>
        <p:spPr>
          <a:xfrm>
            <a:off x="9435192" y="3488792"/>
            <a:ext cx="1047918" cy="5456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F898E0-9554-6349-8C9F-FD8A9F2FE0D2}"/>
              </a:ext>
            </a:extLst>
          </p:cNvPr>
          <p:cNvSpPr txBox="1"/>
          <p:nvPr/>
        </p:nvSpPr>
        <p:spPr>
          <a:xfrm>
            <a:off x="10226351" y="4077478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0C00C-5507-4245-BD49-A3F03C0A0A95}"/>
              </a:ext>
            </a:extLst>
          </p:cNvPr>
          <p:cNvSpPr txBox="1"/>
          <p:nvPr/>
        </p:nvSpPr>
        <p:spPr>
          <a:xfrm>
            <a:off x="9023483" y="4086965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4E47C6-FD7B-644C-8AD2-C8F1A283710B}"/>
              </a:ext>
            </a:extLst>
          </p:cNvPr>
          <p:cNvSpPr txBox="1"/>
          <p:nvPr/>
        </p:nvSpPr>
        <p:spPr>
          <a:xfrm>
            <a:off x="6984262" y="409157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9008A0-E77A-C445-8485-71360933691C}"/>
              </a:ext>
            </a:extLst>
          </p:cNvPr>
          <p:cNvCxnSpPr>
            <a:cxnSpLocks/>
          </p:cNvCxnSpPr>
          <p:nvPr/>
        </p:nvCxnSpPr>
        <p:spPr>
          <a:xfrm>
            <a:off x="9212272" y="4456297"/>
            <a:ext cx="0" cy="39562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B4AEC69-022D-4640-88BC-F4A5FB47CE6D}"/>
              </a:ext>
            </a:extLst>
          </p:cNvPr>
          <p:cNvSpPr txBox="1"/>
          <p:nvPr/>
        </p:nvSpPr>
        <p:spPr>
          <a:xfrm>
            <a:off x="9062230" y="486980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3EF108F-0117-1248-A584-F76E6CCD9EF4}"/>
              </a:ext>
            </a:extLst>
          </p:cNvPr>
          <p:cNvCxnSpPr>
            <a:cxnSpLocks/>
          </p:cNvCxnSpPr>
          <p:nvPr/>
        </p:nvCxnSpPr>
        <p:spPr>
          <a:xfrm flipH="1">
            <a:off x="6650371" y="4475004"/>
            <a:ext cx="309835" cy="2184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D92A418-BC89-2A42-AA8A-E900AF017208}"/>
              </a:ext>
            </a:extLst>
          </p:cNvPr>
          <p:cNvCxnSpPr>
            <a:cxnSpLocks/>
          </p:cNvCxnSpPr>
          <p:nvPr/>
        </p:nvCxnSpPr>
        <p:spPr>
          <a:xfrm>
            <a:off x="7516087" y="4456297"/>
            <a:ext cx="255205" cy="2863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81A23F6-DEF6-A34E-BBB9-7B191CFBB668}"/>
              </a:ext>
            </a:extLst>
          </p:cNvPr>
          <p:cNvSpPr txBox="1"/>
          <p:nvPr/>
        </p:nvSpPr>
        <p:spPr>
          <a:xfrm>
            <a:off x="6395173" y="4693454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42F436-97B5-F348-919A-03E52F8E3C4D}"/>
              </a:ext>
            </a:extLst>
          </p:cNvPr>
          <p:cNvSpPr txBox="1"/>
          <p:nvPr/>
        </p:nvSpPr>
        <p:spPr>
          <a:xfrm>
            <a:off x="7639520" y="4685138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B065F7-B662-C645-B6AD-CB6468927D5E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7246097" y="4460907"/>
            <a:ext cx="37286" cy="2817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033B99C-0355-5E46-B117-E63E40250D7B}"/>
              </a:ext>
            </a:extLst>
          </p:cNvPr>
          <p:cNvSpPr txBox="1"/>
          <p:nvPr/>
        </p:nvSpPr>
        <p:spPr>
          <a:xfrm>
            <a:off x="6911073" y="46672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1DB9778-1A2E-2F44-A363-90B85321FBD9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7210193" y="5036584"/>
            <a:ext cx="1" cy="4805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36EBECC-5E5E-6E41-9D34-8D088E3DECC9}"/>
              </a:ext>
            </a:extLst>
          </p:cNvPr>
          <p:cNvSpPr txBox="1"/>
          <p:nvPr/>
        </p:nvSpPr>
        <p:spPr>
          <a:xfrm>
            <a:off x="6984262" y="5510756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8AAABF-C52D-AF4A-936A-0058BF4F4506}"/>
              </a:ext>
            </a:extLst>
          </p:cNvPr>
          <p:cNvCxnSpPr>
            <a:cxnSpLocks/>
          </p:cNvCxnSpPr>
          <p:nvPr/>
        </p:nvCxnSpPr>
        <p:spPr>
          <a:xfrm flipH="1" flipV="1">
            <a:off x="7359753" y="5033397"/>
            <a:ext cx="458130" cy="47735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A075343-2128-4548-9BEB-90B7DDAC05FA}"/>
              </a:ext>
            </a:extLst>
          </p:cNvPr>
          <p:cNvSpPr txBox="1"/>
          <p:nvPr/>
        </p:nvSpPr>
        <p:spPr>
          <a:xfrm>
            <a:off x="7582503" y="5529359"/>
            <a:ext cx="752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b)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24C29B7-E30D-7A4C-9CC1-B3D1BAC8AE72}"/>
              </a:ext>
            </a:extLst>
          </p:cNvPr>
          <p:cNvCxnSpPr>
            <a:cxnSpLocks/>
          </p:cNvCxnSpPr>
          <p:nvPr/>
        </p:nvCxnSpPr>
        <p:spPr>
          <a:xfrm flipV="1">
            <a:off x="6522772" y="5033397"/>
            <a:ext cx="533137" cy="5591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6EC8304-058E-2B49-8857-2DE238B17127}"/>
              </a:ext>
            </a:extLst>
          </p:cNvPr>
          <p:cNvSpPr txBox="1"/>
          <p:nvPr/>
        </p:nvSpPr>
        <p:spPr>
          <a:xfrm>
            <a:off x="6052130" y="550627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444F596-13CF-C760-0DC4-1915A8FFB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34672629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/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Op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4655975" y="1604370"/>
            <a:ext cx="3478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the string </a:t>
            </a:r>
            <a:r>
              <a:rPr lang="en-US" dirty="0">
                <a:latin typeface="Courier" pitchFamily="2" charset="0"/>
              </a:rPr>
              <a:t>(</a:t>
            </a:r>
            <a:r>
              <a:rPr lang="en-US" dirty="0" err="1">
                <a:latin typeface="Courier" pitchFamily="2" charset="0"/>
              </a:rPr>
              <a:t>a+b</a:t>
            </a:r>
            <a:r>
              <a:rPr lang="en-US" dirty="0">
                <a:latin typeface="Courier" pitchFamily="2" charset="0"/>
              </a:rPr>
              <a:t>)*c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83242-6EC9-1440-BCBA-C5AD8360A666}"/>
              </a:ext>
            </a:extLst>
          </p:cNvPr>
          <p:cNvSpPr txBox="1"/>
          <p:nvPr/>
        </p:nvSpPr>
        <p:spPr>
          <a:xfrm>
            <a:off x="7697755" y="2454248"/>
            <a:ext cx="3029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visualize this as a tree: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F7B6E-E6AB-7F4B-8A1B-954455F1338C}"/>
              </a:ext>
            </a:extLst>
          </p:cNvPr>
          <p:cNvSpPr/>
          <p:nvPr/>
        </p:nvSpPr>
        <p:spPr>
          <a:xfrm>
            <a:off x="8913151" y="3119460"/>
            <a:ext cx="598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1BF37B-9B18-A543-AFBD-9053A85FF471}"/>
              </a:ext>
            </a:extLst>
          </p:cNvPr>
          <p:cNvCxnSpPr/>
          <p:nvPr/>
        </p:nvCxnSpPr>
        <p:spPr>
          <a:xfrm flipH="1">
            <a:off x="7343192" y="3488792"/>
            <a:ext cx="1569959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25A655-3056-8840-817D-E9ABECF24E7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9212272" y="3488792"/>
            <a:ext cx="0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D03CFF-32B0-DC45-AF44-B8F9FB5C4A68}"/>
              </a:ext>
            </a:extLst>
          </p:cNvPr>
          <p:cNvCxnSpPr>
            <a:cxnSpLocks/>
          </p:cNvCxnSpPr>
          <p:nvPr/>
        </p:nvCxnSpPr>
        <p:spPr>
          <a:xfrm>
            <a:off x="9435192" y="3488792"/>
            <a:ext cx="1047918" cy="5456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F898E0-9554-6349-8C9F-FD8A9F2FE0D2}"/>
              </a:ext>
            </a:extLst>
          </p:cNvPr>
          <p:cNvSpPr txBox="1"/>
          <p:nvPr/>
        </p:nvSpPr>
        <p:spPr>
          <a:xfrm>
            <a:off x="10226351" y="4077478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0C00C-5507-4245-BD49-A3F03C0A0A95}"/>
              </a:ext>
            </a:extLst>
          </p:cNvPr>
          <p:cNvSpPr txBox="1"/>
          <p:nvPr/>
        </p:nvSpPr>
        <p:spPr>
          <a:xfrm>
            <a:off x="9023483" y="4086965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4E47C6-FD7B-644C-8AD2-C8F1A283710B}"/>
              </a:ext>
            </a:extLst>
          </p:cNvPr>
          <p:cNvSpPr txBox="1"/>
          <p:nvPr/>
        </p:nvSpPr>
        <p:spPr>
          <a:xfrm>
            <a:off x="6984262" y="409157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9008A0-E77A-C445-8485-71360933691C}"/>
              </a:ext>
            </a:extLst>
          </p:cNvPr>
          <p:cNvCxnSpPr>
            <a:cxnSpLocks/>
          </p:cNvCxnSpPr>
          <p:nvPr/>
        </p:nvCxnSpPr>
        <p:spPr>
          <a:xfrm>
            <a:off x="9212272" y="4456297"/>
            <a:ext cx="0" cy="39562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B4AEC69-022D-4640-88BC-F4A5FB47CE6D}"/>
              </a:ext>
            </a:extLst>
          </p:cNvPr>
          <p:cNvSpPr txBox="1"/>
          <p:nvPr/>
        </p:nvSpPr>
        <p:spPr>
          <a:xfrm>
            <a:off x="9062230" y="486980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3EF108F-0117-1248-A584-F76E6CCD9EF4}"/>
              </a:ext>
            </a:extLst>
          </p:cNvPr>
          <p:cNvCxnSpPr>
            <a:cxnSpLocks/>
          </p:cNvCxnSpPr>
          <p:nvPr/>
        </p:nvCxnSpPr>
        <p:spPr>
          <a:xfrm flipH="1">
            <a:off x="6650371" y="4475004"/>
            <a:ext cx="309835" cy="2184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D92A418-BC89-2A42-AA8A-E900AF017208}"/>
              </a:ext>
            </a:extLst>
          </p:cNvPr>
          <p:cNvCxnSpPr>
            <a:cxnSpLocks/>
          </p:cNvCxnSpPr>
          <p:nvPr/>
        </p:nvCxnSpPr>
        <p:spPr>
          <a:xfrm>
            <a:off x="7516087" y="4456297"/>
            <a:ext cx="255205" cy="2863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81A23F6-DEF6-A34E-BBB9-7B191CFBB668}"/>
              </a:ext>
            </a:extLst>
          </p:cNvPr>
          <p:cNvSpPr txBox="1"/>
          <p:nvPr/>
        </p:nvSpPr>
        <p:spPr>
          <a:xfrm>
            <a:off x="6395173" y="4693454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42F436-97B5-F348-919A-03E52F8E3C4D}"/>
              </a:ext>
            </a:extLst>
          </p:cNvPr>
          <p:cNvSpPr txBox="1"/>
          <p:nvPr/>
        </p:nvSpPr>
        <p:spPr>
          <a:xfrm>
            <a:off x="7639520" y="4685138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B065F7-B662-C645-B6AD-CB6468927D5E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7246097" y="4460907"/>
            <a:ext cx="37286" cy="2817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033B99C-0355-5E46-B117-E63E40250D7B}"/>
              </a:ext>
            </a:extLst>
          </p:cNvPr>
          <p:cNvSpPr txBox="1"/>
          <p:nvPr/>
        </p:nvSpPr>
        <p:spPr>
          <a:xfrm>
            <a:off x="6911073" y="46672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1DB9778-1A2E-2F44-A363-90B85321FBD9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7210193" y="5036584"/>
            <a:ext cx="1" cy="4805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36EBECC-5E5E-6E41-9D34-8D088E3DECC9}"/>
              </a:ext>
            </a:extLst>
          </p:cNvPr>
          <p:cNvSpPr txBox="1"/>
          <p:nvPr/>
        </p:nvSpPr>
        <p:spPr>
          <a:xfrm>
            <a:off x="6984262" y="5510756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8AAABF-C52D-AF4A-936A-0058BF4F4506}"/>
              </a:ext>
            </a:extLst>
          </p:cNvPr>
          <p:cNvCxnSpPr>
            <a:cxnSpLocks/>
          </p:cNvCxnSpPr>
          <p:nvPr/>
        </p:nvCxnSpPr>
        <p:spPr>
          <a:xfrm flipH="1" flipV="1">
            <a:off x="7359753" y="5033397"/>
            <a:ext cx="458130" cy="47735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A075343-2128-4548-9BEB-90B7DDAC05FA}"/>
              </a:ext>
            </a:extLst>
          </p:cNvPr>
          <p:cNvSpPr txBox="1"/>
          <p:nvPr/>
        </p:nvSpPr>
        <p:spPr>
          <a:xfrm>
            <a:off x="7582503" y="5529359"/>
            <a:ext cx="752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b)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24C29B7-E30D-7A4C-9CC1-B3D1BAC8AE72}"/>
              </a:ext>
            </a:extLst>
          </p:cNvPr>
          <p:cNvCxnSpPr>
            <a:cxnSpLocks/>
          </p:cNvCxnSpPr>
          <p:nvPr/>
        </p:nvCxnSpPr>
        <p:spPr>
          <a:xfrm flipV="1">
            <a:off x="6522772" y="5033397"/>
            <a:ext cx="533137" cy="5591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6EC8304-058E-2B49-8857-2DE238B17127}"/>
              </a:ext>
            </a:extLst>
          </p:cNvPr>
          <p:cNvSpPr txBox="1"/>
          <p:nvPr/>
        </p:nvSpPr>
        <p:spPr>
          <a:xfrm>
            <a:off x="6052130" y="550627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722CB48-CF3D-4144-9D2E-D278550DB1F5}"/>
              </a:ext>
            </a:extLst>
          </p:cNvPr>
          <p:cNvCxnSpPr>
            <a:cxnSpLocks/>
          </p:cNvCxnSpPr>
          <p:nvPr/>
        </p:nvCxnSpPr>
        <p:spPr>
          <a:xfrm flipV="1">
            <a:off x="7204205" y="5865371"/>
            <a:ext cx="0" cy="3938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8586A87-2C40-C94F-8A6C-F9FA768B0CD2}"/>
              </a:ext>
            </a:extLst>
          </p:cNvPr>
          <p:cNvSpPr txBox="1"/>
          <p:nvPr/>
        </p:nvSpPr>
        <p:spPr>
          <a:xfrm>
            <a:off x="7042352" y="625925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6E68DAC6-647F-9049-710D-BD49C5F0C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38448480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/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Op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5434763" y="1377983"/>
            <a:ext cx="4145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Are there other ways to derive</a:t>
            </a:r>
            <a:r>
              <a:rPr lang="en-US" i="1" dirty="0">
                <a:latin typeface="Courier" pitchFamily="2" charset="0"/>
              </a:rPr>
              <a:t>(</a:t>
            </a:r>
            <a:r>
              <a:rPr lang="en-US" i="1" dirty="0" err="1">
                <a:latin typeface="Courier" pitchFamily="2" charset="0"/>
              </a:rPr>
              <a:t>a+b</a:t>
            </a:r>
            <a:r>
              <a:rPr lang="en-US" i="1" dirty="0">
                <a:latin typeface="Courier" pitchFamily="2" charset="0"/>
              </a:rPr>
              <a:t>)*c?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83242-6EC9-1440-BCBA-C5AD8360A666}"/>
              </a:ext>
            </a:extLst>
          </p:cNvPr>
          <p:cNvSpPr txBox="1"/>
          <p:nvPr/>
        </p:nvSpPr>
        <p:spPr>
          <a:xfrm>
            <a:off x="7697755" y="2454248"/>
            <a:ext cx="3029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visualize this as a tree: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F7B6E-E6AB-7F4B-8A1B-954455F1338C}"/>
              </a:ext>
            </a:extLst>
          </p:cNvPr>
          <p:cNvSpPr/>
          <p:nvPr/>
        </p:nvSpPr>
        <p:spPr>
          <a:xfrm>
            <a:off x="8913151" y="3119460"/>
            <a:ext cx="598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1BF37B-9B18-A543-AFBD-9053A85FF471}"/>
              </a:ext>
            </a:extLst>
          </p:cNvPr>
          <p:cNvCxnSpPr/>
          <p:nvPr/>
        </p:nvCxnSpPr>
        <p:spPr>
          <a:xfrm flipH="1">
            <a:off x="7343192" y="3488792"/>
            <a:ext cx="1569959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25A655-3056-8840-817D-E9ABECF24E7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9212272" y="3488792"/>
            <a:ext cx="0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D03CFF-32B0-DC45-AF44-B8F9FB5C4A68}"/>
              </a:ext>
            </a:extLst>
          </p:cNvPr>
          <p:cNvCxnSpPr>
            <a:cxnSpLocks/>
          </p:cNvCxnSpPr>
          <p:nvPr/>
        </p:nvCxnSpPr>
        <p:spPr>
          <a:xfrm>
            <a:off x="9435192" y="3488792"/>
            <a:ext cx="1047918" cy="5456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F898E0-9554-6349-8C9F-FD8A9F2FE0D2}"/>
              </a:ext>
            </a:extLst>
          </p:cNvPr>
          <p:cNvSpPr txBox="1"/>
          <p:nvPr/>
        </p:nvSpPr>
        <p:spPr>
          <a:xfrm>
            <a:off x="10226351" y="4077478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c)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0C00C-5507-4245-BD49-A3F03C0A0A95}"/>
              </a:ext>
            </a:extLst>
          </p:cNvPr>
          <p:cNvSpPr txBox="1"/>
          <p:nvPr/>
        </p:nvSpPr>
        <p:spPr>
          <a:xfrm>
            <a:off x="9023483" y="4086965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4E47C6-FD7B-644C-8AD2-C8F1A283710B}"/>
              </a:ext>
            </a:extLst>
          </p:cNvPr>
          <p:cNvSpPr txBox="1"/>
          <p:nvPr/>
        </p:nvSpPr>
        <p:spPr>
          <a:xfrm>
            <a:off x="6984262" y="409157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9008A0-E77A-C445-8485-71360933691C}"/>
              </a:ext>
            </a:extLst>
          </p:cNvPr>
          <p:cNvCxnSpPr>
            <a:cxnSpLocks/>
          </p:cNvCxnSpPr>
          <p:nvPr/>
        </p:nvCxnSpPr>
        <p:spPr>
          <a:xfrm>
            <a:off x="9212272" y="4456297"/>
            <a:ext cx="0" cy="39562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B4AEC69-022D-4640-88BC-F4A5FB47CE6D}"/>
              </a:ext>
            </a:extLst>
          </p:cNvPr>
          <p:cNvSpPr txBox="1"/>
          <p:nvPr/>
        </p:nvSpPr>
        <p:spPr>
          <a:xfrm>
            <a:off x="9062230" y="486980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3EF108F-0117-1248-A584-F76E6CCD9EF4}"/>
              </a:ext>
            </a:extLst>
          </p:cNvPr>
          <p:cNvCxnSpPr>
            <a:cxnSpLocks/>
          </p:cNvCxnSpPr>
          <p:nvPr/>
        </p:nvCxnSpPr>
        <p:spPr>
          <a:xfrm flipH="1">
            <a:off x="6650371" y="4475004"/>
            <a:ext cx="309835" cy="2184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D92A418-BC89-2A42-AA8A-E900AF017208}"/>
              </a:ext>
            </a:extLst>
          </p:cNvPr>
          <p:cNvCxnSpPr>
            <a:cxnSpLocks/>
          </p:cNvCxnSpPr>
          <p:nvPr/>
        </p:nvCxnSpPr>
        <p:spPr>
          <a:xfrm>
            <a:off x="7516087" y="4456297"/>
            <a:ext cx="255205" cy="2863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81A23F6-DEF6-A34E-BBB9-7B191CFBB668}"/>
              </a:ext>
            </a:extLst>
          </p:cNvPr>
          <p:cNvSpPr txBox="1"/>
          <p:nvPr/>
        </p:nvSpPr>
        <p:spPr>
          <a:xfrm>
            <a:off x="6395173" y="4693454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42F436-97B5-F348-919A-03E52F8E3C4D}"/>
              </a:ext>
            </a:extLst>
          </p:cNvPr>
          <p:cNvSpPr txBox="1"/>
          <p:nvPr/>
        </p:nvSpPr>
        <p:spPr>
          <a:xfrm>
            <a:off x="7639520" y="4685138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B065F7-B662-C645-B6AD-CB6468927D5E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7246097" y="4460907"/>
            <a:ext cx="37286" cy="2817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033B99C-0355-5E46-B117-E63E40250D7B}"/>
              </a:ext>
            </a:extLst>
          </p:cNvPr>
          <p:cNvSpPr txBox="1"/>
          <p:nvPr/>
        </p:nvSpPr>
        <p:spPr>
          <a:xfrm>
            <a:off x="6911073" y="46672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1DB9778-1A2E-2F44-A363-90B85321FBD9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7210193" y="5036584"/>
            <a:ext cx="1" cy="4805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36EBECC-5E5E-6E41-9D34-8D088E3DECC9}"/>
              </a:ext>
            </a:extLst>
          </p:cNvPr>
          <p:cNvSpPr txBox="1"/>
          <p:nvPr/>
        </p:nvSpPr>
        <p:spPr>
          <a:xfrm>
            <a:off x="6984262" y="5510756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8AAABF-C52D-AF4A-936A-0058BF4F4506}"/>
              </a:ext>
            </a:extLst>
          </p:cNvPr>
          <p:cNvCxnSpPr>
            <a:cxnSpLocks/>
          </p:cNvCxnSpPr>
          <p:nvPr/>
        </p:nvCxnSpPr>
        <p:spPr>
          <a:xfrm flipH="1" flipV="1">
            <a:off x="7359753" y="5033397"/>
            <a:ext cx="458130" cy="47735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A075343-2128-4548-9BEB-90B7DDAC05FA}"/>
              </a:ext>
            </a:extLst>
          </p:cNvPr>
          <p:cNvSpPr txBox="1"/>
          <p:nvPr/>
        </p:nvSpPr>
        <p:spPr>
          <a:xfrm>
            <a:off x="7582503" y="5529359"/>
            <a:ext cx="752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b)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24C29B7-E30D-7A4C-9CC1-B3D1BAC8AE72}"/>
              </a:ext>
            </a:extLst>
          </p:cNvPr>
          <p:cNvCxnSpPr>
            <a:cxnSpLocks/>
          </p:cNvCxnSpPr>
          <p:nvPr/>
        </p:nvCxnSpPr>
        <p:spPr>
          <a:xfrm flipV="1">
            <a:off x="6522772" y="5033397"/>
            <a:ext cx="533137" cy="5591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6EC8304-058E-2B49-8857-2DE238B17127}"/>
              </a:ext>
            </a:extLst>
          </p:cNvPr>
          <p:cNvSpPr txBox="1"/>
          <p:nvPr/>
        </p:nvSpPr>
        <p:spPr>
          <a:xfrm>
            <a:off x="6052130" y="550627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722CB48-CF3D-4144-9D2E-D278550DB1F5}"/>
              </a:ext>
            </a:extLst>
          </p:cNvPr>
          <p:cNvCxnSpPr>
            <a:cxnSpLocks/>
          </p:cNvCxnSpPr>
          <p:nvPr/>
        </p:nvCxnSpPr>
        <p:spPr>
          <a:xfrm flipV="1">
            <a:off x="7204205" y="5865371"/>
            <a:ext cx="0" cy="3938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8586A87-2C40-C94F-8A6C-F9FA768B0CD2}"/>
              </a:ext>
            </a:extLst>
          </p:cNvPr>
          <p:cNvSpPr txBox="1"/>
          <p:nvPr/>
        </p:nvSpPr>
        <p:spPr>
          <a:xfrm>
            <a:off x="7042352" y="625925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CD354E5-2F17-C54D-BD84-31CD7E71D96E}"/>
              </a:ext>
            </a:extLst>
          </p:cNvPr>
          <p:cNvCxnSpPr>
            <a:cxnSpLocks/>
          </p:cNvCxnSpPr>
          <p:nvPr/>
        </p:nvCxnSpPr>
        <p:spPr>
          <a:xfrm flipV="1">
            <a:off x="6306522" y="5884387"/>
            <a:ext cx="1" cy="4805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E0CC0D9-856B-1145-A251-3E7F5D47D887}"/>
              </a:ext>
            </a:extLst>
          </p:cNvPr>
          <p:cNvSpPr txBox="1"/>
          <p:nvPr/>
        </p:nvSpPr>
        <p:spPr>
          <a:xfrm>
            <a:off x="5909271" y="6319096"/>
            <a:ext cx="74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a)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12F43-39DE-A0D7-B09B-B17F2B7008F9}"/>
              </a:ext>
            </a:extLst>
          </p:cNvPr>
          <p:cNvSpPr txBox="1"/>
          <p:nvPr/>
        </p:nvSpPr>
        <p:spPr>
          <a:xfrm>
            <a:off x="9959151" y="6176814"/>
            <a:ext cx="907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DONE</a:t>
            </a: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6C79474E-EB83-38C7-3E4E-BC9C57274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39812143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D2B18-381A-7748-8495-B8BAD639F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/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Op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5434763" y="1377983"/>
            <a:ext cx="4145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Are there other ways to derive</a:t>
            </a:r>
            <a:r>
              <a:rPr lang="en-US" i="1" dirty="0">
                <a:highlight>
                  <a:srgbClr val="FFFF00"/>
                </a:highlight>
                <a:latin typeface="Courier" pitchFamily="2" charset="0"/>
              </a:rPr>
              <a:t>(</a:t>
            </a:r>
            <a:r>
              <a:rPr lang="en-US" i="1" dirty="0" err="1">
                <a:highlight>
                  <a:srgbClr val="FFFF00"/>
                </a:highlight>
                <a:latin typeface="Courier" pitchFamily="2" charset="0"/>
              </a:rPr>
              <a:t>a+b</a:t>
            </a:r>
            <a:r>
              <a:rPr lang="en-US" i="1" dirty="0">
                <a:highlight>
                  <a:srgbClr val="FFFF00"/>
                </a:highlight>
                <a:latin typeface="Courier" pitchFamily="2" charset="0"/>
              </a:rPr>
              <a:t>)*c?</a:t>
            </a:r>
          </a:p>
        </p:txBody>
      </p:sp>
      <p:graphicFrame>
        <p:nvGraphicFramePr>
          <p:cNvPr id="35" name="Table 9">
            <a:extLst>
              <a:ext uri="{FF2B5EF4-FFF2-40B4-BE49-F238E27FC236}">
                <a16:creationId xmlns:a16="http://schemas.microsoft.com/office/drawing/2014/main" id="{C69023E5-D8E3-1846-8106-0E12306ACE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507193"/>
              </p:ext>
            </p:extLst>
          </p:nvPr>
        </p:nvGraphicFramePr>
        <p:xfrm>
          <a:off x="6367691" y="322470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30765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EEBBE4-9135-FF43-B480-CD35FA3FC8AC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0C444BAA-AD34-9E49-A40A-A8F6D8B889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228244"/>
              </p:ext>
            </p:extLst>
          </p:nvPr>
        </p:nvGraphicFramePr>
        <p:xfrm>
          <a:off x="158621" y="32100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Op</a:t>
                      </a:r>
                      <a:r>
                        <a:rPr lang="en-US" dirty="0"/>
                        <a:t>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 </a:t>
                      </a:r>
                      <a:r>
                        <a:rPr lang="en-US" dirty="0"/>
                        <a:t>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</a:t>
                      </a:r>
                      <a:r>
                        <a:rPr lang="en-US" dirty="0"/>
                        <a:t>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(Expr 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Op</a:t>
                      </a:r>
                      <a:r>
                        <a:rPr lang="en-US" dirty="0"/>
                        <a:t>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</a:t>
                      </a:r>
                      <a:r>
                        <a:rPr lang="en-US" dirty="0"/>
                        <a:t>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0AEEBE-5033-D541-BF43-8E378DE2AA6B}"/>
              </a:ext>
            </a:extLst>
          </p:cNvPr>
          <p:cNvSpPr txBox="1"/>
          <p:nvPr/>
        </p:nvSpPr>
        <p:spPr>
          <a:xfrm>
            <a:off x="5434763" y="1377983"/>
            <a:ext cx="4145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Are there other ways to derive</a:t>
            </a:r>
            <a:r>
              <a:rPr lang="en-US" i="1" dirty="0">
                <a:latin typeface="Courier" pitchFamily="2" charset="0"/>
              </a:rPr>
              <a:t>(</a:t>
            </a:r>
            <a:r>
              <a:rPr lang="en-US" i="1" dirty="0" err="1">
                <a:latin typeface="Courier" pitchFamily="2" charset="0"/>
              </a:rPr>
              <a:t>a+b</a:t>
            </a:r>
            <a:r>
              <a:rPr lang="en-US" i="1" dirty="0">
                <a:latin typeface="Courier" pitchFamily="2" charset="0"/>
              </a:rPr>
              <a:t>)*c?</a:t>
            </a:r>
          </a:p>
        </p:txBody>
      </p:sp>
      <p:graphicFrame>
        <p:nvGraphicFramePr>
          <p:cNvPr id="35" name="Table 9">
            <a:extLst>
              <a:ext uri="{FF2B5EF4-FFF2-40B4-BE49-F238E27FC236}">
                <a16:creationId xmlns:a16="http://schemas.microsoft.com/office/drawing/2014/main" id="{C69023E5-D8E3-1846-8106-0E12306ACE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7170643"/>
              </p:ext>
            </p:extLst>
          </p:nvPr>
        </p:nvGraphicFramePr>
        <p:xfrm>
          <a:off x="6367691" y="322470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</a:t>
                      </a:r>
                      <a:r>
                        <a:rPr lang="en-US" dirty="0"/>
                        <a:t>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</a:t>
                      </a:r>
                      <a:r>
                        <a:rPr lang="en-US" dirty="0"/>
                        <a:t>)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</a:t>
                      </a:r>
                      <a:r>
                        <a:rPr lang="en-US" dirty="0"/>
                        <a:t> Op ID)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(ID 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Op</a:t>
                      </a:r>
                      <a:r>
                        <a:rPr lang="en-US" dirty="0"/>
                        <a:t> ID) Op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(ID + ID) 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Op</a:t>
                      </a:r>
                      <a:r>
                        <a:rPr lang="en-US" dirty="0"/>
                        <a:t>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(ID + ID) +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4298F10-7513-584A-BB47-4601B264795C}"/>
              </a:ext>
            </a:extLst>
          </p:cNvPr>
          <p:cNvSpPr txBox="1"/>
          <p:nvPr/>
        </p:nvSpPr>
        <p:spPr>
          <a:xfrm>
            <a:off x="1032387" y="6381135"/>
            <a:ext cx="1691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right derivation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9C8FA7-83AC-9044-A9D4-591B4BFD32CF}"/>
              </a:ext>
            </a:extLst>
          </p:cNvPr>
          <p:cNvSpPr txBox="1"/>
          <p:nvPr/>
        </p:nvSpPr>
        <p:spPr>
          <a:xfrm>
            <a:off x="8168198" y="6381135"/>
            <a:ext cx="1504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left derivation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A792457-3F6D-5CB2-75C3-62BDA5609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</p:spTree>
    <p:extLst>
      <p:ext uri="{BB962C8B-B14F-4D97-AF65-F5344CB8AC3E}">
        <p14:creationId xmlns:p14="http://schemas.microsoft.com/office/powerpoint/2010/main" val="36094348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27783-2776-89CB-AE57-1B2FCBEDB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4F6BCA4-89B3-0ED0-43AE-7A0E3575C00B}"/>
              </a:ext>
            </a:extLst>
          </p:cNvPr>
          <p:cNvSpPr txBox="1"/>
          <p:nvPr/>
        </p:nvSpPr>
        <p:spPr>
          <a:xfrm>
            <a:off x="158621" y="1144513"/>
            <a:ext cx="349326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Expr ::= ‘(’ Expr ‘)’</a:t>
            </a:r>
          </a:p>
          <a:p>
            <a:r>
              <a:rPr lang="en-US" dirty="0">
                <a:latin typeface="Courier" pitchFamily="2" charset="0"/>
              </a:rPr>
              <a:t>2:      |    Expr Op ID</a:t>
            </a:r>
          </a:p>
          <a:p>
            <a:r>
              <a:rPr lang="en-US" dirty="0">
                <a:latin typeface="Courier" pitchFamily="2" charset="0"/>
              </a:rPr>
              <a:t>3:      |    ID</a:t>
            </a:r>
          </a:p>
          <a:p>
            <a:r>
              <a:rPr lang="en-US" dirty="0">
                <a:latin typeface="Courier" pitchFamily="2" charset="0"/>
              </a:rPr>
              <a:t>4: Op   ::= ‘+’</a:t>
            </a:r>
          </a:p>
          <a:p>
            <a:r>
              <a:rPr lang="en-US" dirty="0">
                <a:latin typeface="Courier" pitchFamily="2" charset="0"/>
              </a:rPr>
              <a:t>5: Op   |   ‘*’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D7B295-ACA1-63F6-A127-6CBFE7044472}"/>
              </a:ext>
            </a:extLst>
          </p:cNvPr>
          <p:cNvSpPr txBox="1"/>
          <p:nvPr/>
        </p:nvSpPr>
        <p:spPr>
          <a:xfrm>
            <a:off x="7507478" y="387590"/>
            <a:ext cx="4145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Are there other ways to derive</a:t>
            </a:r>
            <a:r>
              <a:rPr lang="en-US" i="1" dirty="0">
                <a:latin typeface="Courier" pitchFamily="2" charset="0"/>
              </a:rPr>
              <a:t>(</a:t>
            </a:r>
            <a:r>
              <a:rPr lang="en-US" i="1" dirty="0" err="1">
                <a:latin typeface="Courier" pitchFamily="2" charset="0"/>
              </a:rPr>
              <a:t>a+b</a:t>
            </a:r>
            <a:r>
              <a:rPr lang="en-US" i="1" dirty="0">
                <a:latin typeface="Courier" pitchFamily="2" charset="0"/>
              </a:rPr>
              <a:t>)*c?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682F46-4522-47ED-8A3B-A43169D263D9}"/>
              </a:ext>
            </a:extLst>
          </p:cNvPr>
          <p:cNvSpPr txBox="1"/>
          <p:nvPr/>
        </p:nvSpPr>
        <p:spPr>
          <a:xfrm>
            <a:off x="5599319" y="2178437"/>
            <a:ext cx="1504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left derivation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253A60-6CBE-F065-46DC-2706CA11042B}"/>
              </a:ext>
            </a:extLst>
          </p:cNvPr>
          <p:cNvSpPr/>
          <p:nvPr/>
        </p:nvSpPr>
        <p:spPr>
          <a:xfrm>
            <a:off x="3156910" y="2993007"/>
            <a:ext cx="598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FE6FFC-754F-99D1-5DA2-5A12E7856283}"/>
              </a:ext>
            </a:extLst>
          </p:cNvPr>
          <p:cNvCxnSpPr/>
          <p:nvPr/>
        </p:nvCxnSpPr>
        <p:spPr>
          <a:xfrm flipH="1">
            <a:off x="1586951" y="3362339"/>
            <a:ext cx="1569959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C8C25-3F54-421F-85E6-57DDFF9F3440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456031" y="3362339"/>
            <a:ext cx="0" cy="588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92F4CD-A021-F125-6DDD-8BD138A7C150}"/>
              </a:ext>
            </a:extLst>
          </p:cNvPr>
          <p:cNvCxnSpPr>
            <a:cxnSpLocks/>
          </p:cNvCxnSpPr>
          <p:nvPr/>
        </p:nvCxnSpPr>
        <p:spPr>
          <a:xfrm>
            <a:off x="3678951" y="3362339"/>
            <a:ext cx="1047918" cy="54562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2199ADC-911F-F053-33E9-02C1805C132C}"/>
              </a:ext>
            </a:extLst>
          </p:cNvPr>
          <p:cNvSpPr txBox="1"/>
          <p:nvPr/>
        </p:nvSpPr>
        <p:spPr>
          <a:xfrm>
            <a:off x="4470110" y="3951025"/>
            <a:ext cx="7282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536466-778B-C248-FA0E-32A1494D3BE4}"/>
              </a:ext>
            </a:extLst>
          </p:cNvPr>
          <p:cNvSpPr txBox="1"/>
          <p:nvPr/>
        </p:nvSpPr>
        <p:spPr>
          <a:xfrm>
            <a:off x="3267242" y="3960512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62E431-EB55-94B3-255F-279B2E735C73}"/>
              </a:ext>
            </a:extLst>
          </p:cNvPr>
          <p:cNvSpPr txBox="1"/>
          <p:nvPr/>
        </p:nvSpPr>
        <p:spPr>
          <a:xfrm>
            <a:off x="1228021" y="396512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E707660-7ABD-5E50-573A-695EB2846127}"/>
              </a:ext>
            </a:extLst>
          </p:cNvPr>
          <p:cNvCxnSpPr>
            <a:cxnSpLocks/>
          </p:cNvCxnSpPr>
          <p:nvPr/>
        </p:nvCxnSpPr>
        <p:spPr>
          <a:xfrm>
            <a:off x="3456031" y="4329844"/>
            <a:ext cx="0" cy="39562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7BBFF31-17F9-908C-6E33-E410B3168C6E}"/>
              </a:ext>
            </a:extLst>
          </p:cNvPr>
          <p:cNvSpPr txBox="1"/>
          <p:nvPr/>
        </p:nvSpPr>
        <p:spPr>
          <a:xfrm>
            <a:off x="3305989" y="474335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568EBF1-7B93-9549-111C-D5652548B72A}"/>
              </a:ext>
            </a:extLst>
          </p:cNvPr>
          <p:cNvCxnSpPr>
            <a:cxnSpLocks/>
          </p:cNvCxnSpPr>
          <p:nvPr/>
        </p:nvCxnSpPr>
        <p:spPr>
          <a:xfrm flipH="1">
            <a:off x="894130" y="4348551"/>
            <a:ext cx="309835" cy="21845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22E7B4C-CEBC-C022-6EF3-1C0E8454B80F}"/>
              </a:ext>
            </a:extLst>
          </p:cNvPr>
          <p:cNvCxnSpPr>
            <a:cxnSpLocks/>
          </p:cNvCxnSpPr>
          <p:nvPr/>
        </p:nvCxnSpPr>
        <p:spPr>
          <a:xfrm>
            <a:off x="1759846" y="4329844"/>
            <a:ext cx="255205" cy="2863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6579577-A4A9-78F0-81EC-CDC79935FE8B}"/>
              </a:ext>
            </a:extLst>
          </p:cNvPr>
          <p:cNvSpPr txBox="1"/>
          <p:nvPr/>
        </p:nvSpPr>
        <p:spPr>
          <a:xfrm>
            <a:off x="638932" y="4567001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B76AB3-9EB2-D075-BFC6-22F3829465C5}"/>
              </a:ext>
            </a:extLst>
          </p:cNvPr>
          <p:cNvSpPr txBox="1"/>
          <p:nvPr/>
        </p:nvSpPr>
        <p:spPr>
          <a:xfrm>
            <a:off x="1883279" y="4558685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)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F322C77-E56D-6FE5-17F4-497399A0D7CA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1489856" y="4334454"/>
            <a:ext cx="37286" cy="2817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9E28AEA-8FA2-5354-BEBC-67B4B49387AE}"/>
              </a:ext>
            </a:extLst>
          </p:cNvPr>
          <p:cNvSpPr txBox="1"/>
          <p:nvPr/>
        </p:nvSpPr>
        <p:spPr>
          <a:xfrm>
            <a:off x="1154832" y="454079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9D052BF-64C7-2F12-EB07-3B1AA4AC1C89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1453952" y="4910131"/>
            <a:ext cx="1" cy="4805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BDD6FC7-DC61-F111-8CFB-D39E42707607}"/>
              </a:ext>
            </a:extLst>
          </p:cNvPr>
          <p:cNvSpPr txBox="1"/>
          <p:nvPr/>
        </p:nvSpPr>
        <p:spPr>
          <a:xfrm>
            <a:off x="1228021" y="5384303"/>
            <a:ext cx="458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6F594A7-B0B6-954E-7B2A-77B8B5F07C27}"/>
              </a:ext>
            </a:extLst>
          </p:cNvPr>
          <p:cNvCxnSpPr>
            <a:cxnSpLocks/>
          </p:cNvCxnSpPr>
          <p:nvPr/>
        </p:nvCxnSpPr>
        <p:spPr>
          <a:xfrm flipH="1" flipV="1">
            <a:off x="1603512" y="4906944"/>
            <a:ext cx="458130" cy="47735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AE89EE3-8D3D-2147-2A11-26161FF2DC06}"/>
              </a:ext>
            </a:extLst>
          </p:cNvPr>
          <p:cNvSpPr txBox="1"/>
          <p:nvPr/>
        </p:nvSpPr>
        <p:spPr>
          <a:xfrm>
            <a:off x="1826262" y="5402906"/>
            <a:ext cx="752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b)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D78A166-40BB-2544-90F4-896E92D40BDC}"/>
              </a:ext>
            </a:extLst>
          </p:cNvPr>
          <p:cNvCxnSpPr>
            <a:cxnSpLocks/>
          </p:cNvCxnSpPr>
          <p:nvPr/>
        </p:nvCxnSpPr>
        <p:spPr>
          <a:xfrm flipV="1">
            <a:off x="766531" y="4906944"/>
            <a:ext cx="533137" cy="5591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F444360-0723-98AD-E99C-BB3A0537F920}"/>
              </a:ext>
            </a:extLst>
          </p:cNvPr>
          <p:cNvSpPr txBox="1"/>
          <p:nvPr/>
        </p:nvSpPr>
        <p:spPr>
          <a:xfrm>
            <a:off x="295889" y="537982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9DF8E0-9940-A08C-F703-15CC02A30553}"/>
              </a:ext>
            </a:extLst>
          </p:cNvPr>
          <p:cNvCxnSpPr>
            <a:cxnSpLocks/>
          </p:cNvCxnSpPr>
          <p:nvPr/>
        </p:nvCxnSpPr>
        <p:spPr>
          <a:xfrm flipV="1">
            <a:off x="1447964" y="5738918"/>
            <a:ext cx="0" cy="3938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59CEC05-C17F-C429-5082-B90815629407}"/>
              </a:ext>
            </a:extLst>
          </p:cNvPr>
          <p:cNvSpPr txBox="1"/>
          <p:nvPr/>
        </p:nvSpPr>
        <p:spPr>
          <a:xfrm>
            <a:off x="1286111" y="613280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3ABEE34-0D67-8DAF-0DFA-B8937B4B5B8C}"/>
              </a:ext>
            </a:extLst>
          </p:cNvPr>
          <p:cNvCxnSpPr>
            <a:cxnSpLocks/>
          </p:cNvCxnSpPr>
          <p:nvPr/>
        </p:nvCxnSpPr>
        <p:spPr>
          <a:xfrm flipV="1">
            <a:off x="550281" y="5757934"/>
            <a:ext cx="1" cy="4805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BC1B300-C202-9CF2-28BE-B2EB0CDBEF06}"/>
              </a:ext>
            </a:extLst>
          </p:cNvPr>
          <p:cNvSpPr txBox="1"/>
          <p:nvPr/>
        </p:nvSpPr>
        <p:spPr>
          <a:xfrm>
            <a:off x="153030" y="6192643"/>
            <a:ext cx="741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(ID, a)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26D18F8-332F-3ED1-4BA4-FFC8E3C8F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206" y="0"/>
            <a:ext cx="10515600" cy="1144513"/>
          </a:xfrm>
        </p:spPr>
        <p:txBody>
          <a:bodyPr/>
          <a:lstStyle/>
          <a:p>
            <a:r>
              <a:rPr lang="en-US" dirty="0"/>
              <a:t>A more complicated example</a:t>
            </a:r>
          </a:p>
        </p:txBody>
      </p:sp>
      <p:graphicFrame>
        <p:nvGraphicFramePr>
          <p:cNvPr id="2" name="Table 9">
            <a:extLst>
              <a:ext uri="{FF2B5EF4-FFF2-40B4-BE49-F238E27FC236}">
                <a16:creationId xmlns:a16="http://schemas.microsoft.com/office/drawing/2014/main" id="{AAC5BE27-0CFB-5876-F01A-1407742261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6215102"/>
              </p:ext>
            </p:extLst>
          </p:nvPr>
        </p:nvGraphicFramePr>
        <p:xfrm>
          <a:off x="7206971" y="4211000"/>
          <a:ext cx="4264420" cy="243840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13221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13221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01605">
                <a:tc>
                  <a:txBody>
                    <a:bodyPr/>
                    <a:lstStyle/>
                    <a:p>
                      <a:r>
                        <a:rPr lang="en-US" sz="1400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292767">
                <a:tc>
                  <a:txBody>
                    <a:bodyPr/>
                    <a:lstStyle/>
                    <a:p>
                      <a:r>
                        <a:rPr lang="en-US" sz="1400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292767">
                <a:tc>
                  <a:txBody>
                    <a:bodyPr/>
                    <a:lstStyle/>
                    <a:p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Expr </a:t>
                      </a: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Op</a:t>
                      </a:r>
                      <a:r>
                        <a:rPr lang="en-US" sz="1400" dirty="0"/>
                        <a:t>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292767">
                <a:tc>
                  <a:txBody>
                    <a:bodyPr/>
                    <a:lstStyle/>
                    <a:p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Expr </a:t>
                      </a:r>
                      <a:r>
                        <a:rPr lang="en-US" sz="1400" dirty="0"/>
                        <a:t>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292767">
                <a:tc>
                  <a:txBody>
                    <a:bodyPr/>
                    <a:lstStyle/>
                    <a:p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(Expr) </a:t>
                      </a:r>
                      <a:r>
                        <a:rPr lang="en-US" sz="1400" dirty="0"/>
                        <a:t>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292767">
                <a:tc>
                  <a:txBody>
                    <a:bodyPr/>
                    <a:lstStyle/>
                    <a:p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(Expr </a:t>
                      </a: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Op</a:t>
                      </a:r>
                      <a:r>
                        <a:rPr lang="en-US" sz="1400" dirty="0"/>
                        <a:t>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292767">
                <a:tc>
                  <a:txBody>
                    <a:bodyPr/>
                    <a:lstStyle/>
                    <a:p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(</a:t>
                      </a: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Expr</a:t>
                      </a:r>
                      <a:r>
                        <a:rPr lang="en-US" sz="1400" dirty="0"/>
                        <a:t>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292767">
                <a:tc>
                  <a:txBody>
                    <a:bodyPr/>
                    <a:lstStyle/>
                    <a:p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FDA237-E2A5-E8ED-F0E7-E8EE6FCEAE8A}"/>
              </a:ext>
            </a:extLst>
          </p:cNvPr>
          <p:cNvSpPr txBox="1"/>
          <p:nvPr/>
        </p:nvSpPr>
        <p:spPr>
          <a:xfrm>
            <a:off x="5356742" y="5281449"/>
            <a:ext cx="1691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right derivation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CF6B5B9A-F8C2-69EE-2D24-F29EE0D4F2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9961313"/>
              </p:ext>
            </p:extLst>
          </p:nvPr>
        </p:nvGraphicFramePr>
        <p:xfrm>
          <a:off x="7206971" y="1233601"/>
          <a:ext cx="4264420" cy="2541232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13221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13221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17654">
                <a:tc>
                  <a:txBody>
                    <a:bodyPr/>
                    <a:lstStyle/>
                    <a:p>
                      <a:r>
                        <a:rPr lang="en-US" sz="1400" dirty="0"/>
                        <a:t>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17654">
                <a:tc>
                  <a:txBody>
                    <a:bodyPr/>
                    <a:lstStyle/>
                    <a:p>
                      <a:r>
                        <a:rPr lang="en-US" sz="1400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17654">
                <a:tc>
                  <a:txBody>
                    <a:bodyPr/>
                    <a:lstStyle/>
                    <a:p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Expr </a:t>
                      </a: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Op</a:t>
                      </a:r>
                      <a:r>
                        <a:rPr lang="en-US" sz="1400" dirty="0"/>
                        <a:t>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17654">
                <a:tc>
                  <a:txBody>
                    <a:bodyPr/>
                    <a:lstStyle/>
                    <a:p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Expr </a:t>
                      </a:r>
                      <a:r>
                        <a:rPr lang="en-US" sz="1400" dirty="0"/>
                        <a:t>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17654">
                <a:tc>
                  <a:txBody>
                    <a:bodyPr/>
                    <a:lstStyle/>
                    <a:p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(</a:t>
                      </a: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Expr</a:t>
                      </a:r>
                      <a:r>
                        <a:rPr lang="en-US" sz="1400" dirty="0"/>
                        <a:t>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17654">
                <a:tc>
                  <a:txBody>
                    <a:bodyPr/>
                    <a:lstStyle/>
                    <a:p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(Expr </a:t>
                      </a: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Op</a:t>
                      </a:r>
                      <a:r>
                        <a:rPr lang="en-US" sz="1400" dirty="0"/>
                        <a:t>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17654">
                <a:tc>
                  <a:txBody>
                    <a:bodyPr/>
                    <a:lstStyle/>
                    <a:p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(</a:t>
                      </a: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Expr</a:t>
                      </a:r>
                      <a:r>
                        <a:rPr lang="en-US" sz="1400" dirty="0"/>
                        <a:t>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17654">
                <a:tc>
                  <a:txBody>
                    <a:bodyPr/>
                    <a:lstStyle/>
                    <a:p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(ID + ID) * 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616A4DA9-1C41-4C36-CD2D-5A7871796081}"/>
              </a:ext>
            </a:extLst>
          </p:cNvPr>
          <p:cNvSpPr txBox="1"/>
          <p:nvPr/>
        </p:nvSpPr>
        <p:spPr>
          <a:xfrm>
            <a:off x="2202423" y="6132806"/>
            <a:ext cx="1689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same parse tree</a:t>
            </a:r>
          </a:p>
        </p:txBody>
      </p:sp>
    </p:spTree>
    <p:extLst>
      <p:ext uri="{BB962C8B-B14F-4D97-AF65-F5344CB8AC3E}">
        <p14:creationId xmlns:p14="http://schemas.microsoft.com/office/powerpoint/2010/main" val="74910368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Meaning into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68167"/>
          </a:xfrm>
        </p:spPr>
        <p:txBody>
          <a:bodyPr>
            <a:normAutofit/>
          </a:bodyPr>
          <a:lstStyle/>
          <a:p>
            <a:r>
              <a:rPr lang="en-US" dirty="0"/>
              <a:t>We want to start encoding meaning into the parse structure. We will want as much structure as possible as we continue through making a compiler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intended structure is wanting the evaluation of a program to correspond to a post order traversal of the parse tree (also called the natural traversal)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05521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73B14-D3C0-466F-0AD1-A9BD48AF7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CA344-4875-4C57-3B41-BC668BC91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order traversal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2D57070-9C9F-F235-CF1B-B5C6E587C28D}"/>
              </a:ext>
            </a:extLst>
          </p:cNvPr>
          <p:cNvSpPr/>
          <p:nvPr/>
        </p:nvSpPr>
        <p:spPr>
          <a:xfrm>
            <a:off x="3348228" y="2697480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0587DDE-F397-3BAB-1BBB-1A7E50B2301B}"/>
              </a:ext>
            </a:extLst>
          </p:cNvPr>
          <p:cNvSpPr/>
          <p:nvPr/>
        </p:nvSpPr>
        <p:spPr>
          <a:xfrm>
            <a:off x="1441704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4FF2855-8823-8E7C-9ACF-B6D5B949D891}"/>
              </a:ext>
            </a:extLst>
          </p:cNvPr>
          <p:cNvSpPr/>
          <p:nvPr/>
        </p:nvSpPr>
        <p:spPr>
          <a:xfrm>
            <a:off x="3323844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75159E3-7A97-50F8-8F0D-E385D80F4E0B}"/>
              </a:ext>
            </a:extLst>
          </p:cNvPr>
          <p:cNvSpPr/>
          <p:nvPr/>
        </p:nvSpPr>
        <p:spPr>
          <a:xfrm>
            <a:off x="4920996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AD14B0-87F8-4D25-745F-EF27459ACFD0}"/>
              </a:ext>
            </a:extLst>
          </p:cNvPr>
          <p:cNvCxnSpPr>
            <a:stCxn id="4" idx="3"/>
            <a:endCxn id="5" idx="7"/>
          </p:cNvCxnSpPr>
          <p:nvPr/>
        </p:nvCxnSpPr>
        <p:spPr>
          <a:xfrm flipH="1">
            <a:off x="2105120" y="3360896"/>
            <a:ext cx="1356932" cy="7818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1F9012A-7306-C007-02D4-847A9F39C5BF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>
          <a:xfrm flipH="1">
            <a:off x="3712464" y="3474720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1A9767-EEFC-E5EF-D94D-90C87C573F75}"/>
              </a:ext>
            </a:extLst>
          </p:cNvPr>
          <p:cNvCxnSpPr>
            <a:cxnSpLocks/>
            <a:stCxn id="4" idx="5"/>
            <a:endCxn id="7" idx="0"/>
          </p:cNvCxnSpPr>
          <p:nvPr/>
        </p:nvCxnSpPr>
        <p:spPr>
          <a:xfrm>
            <a:off x="4011644" y="3360896"/>
            <a:ext cx="1297972" cy="6679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349A746-718C-DFBA-BA9D-E0DB33E60CCC}"/>
              </a:ext>
            </a:extLst>
          </p:cNvPr>
          <p:cNvCxnSpPr>
            <a:cxnSpLocks/>
          </p:cNvCxnSpPr>
          <p:nvPr/>
        </p:nvCxnSpPr>
        <p:spPr>
          <a:xfrm flipH="1">
            <a:off x="3748278" y="212731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A8D5BD3-5BEB-0855-6613-E1672CA59696}"/>
              </a:ext>
            </a:extLst>
          </p:cNvPr>
          <p:cNvCxnSpPr>
            <a:cxnSpLocks/>
          </p:cNvCxnSpPr>
          <p:nvPr/>
        </p:nvCxnSpPr>
        <p:spPr>
          <a:xfrm flipH="1">
            <a:off x="172440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17C3ED8-7142-C974-A853-F67EEDE2F910}"/>
              </a:ext>
            </a:extLst>
          </p:cNvPr>
          <p:cNvCxnSpPr>
            <a:cxnSpLocks/>
          </p:cNvCxnSpPr>
          <p:nvPr/>
        </p:nvCxnSpPr>
        <p:spPr>
          <a:xfrm flipH="1">
            <a:off x="373608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1A2A87F-0941-4FA5-93DA-13CEA914D8D1}"/>
              </a:ext>
            </a:extLst>
          </p:cNvPr>
          <p:cNvCxnSpPr>
            <a:cxnSpLocks/>
          </p:cNvCxnSpPr>
          <p:nvPr/>
        </p:nvCxnSpPr>
        <p:spPr>
          <a:xfrm flipH="1">
            <a:off x="530961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61977D5-B753-016A-9E1F-B068F067E5A5}"/>
              </a:ext>
            </a:extLst>
          </p:cNvPr>
          <p:cNvSpPr txBox="1"/>
          <p:nvPr/>
        </p:nvSpPr>
        <p:spPr>
          <a:xfrm>
            <a:off x="7336536" y="1329621"/>
            <a:ext cx="321556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Visiting nodes for different types</a:t>
            </a:r>
          </a:p>
          <a:p>
            <a:r>
              <a:rPr lang="en-US" dirty="0"/>
              <a:t>of traversals:</a:t>
            </a:r>
          </a:p>
          <a:p>
            <a:endParaRPr lang="en-US" dirty="0"/>
          </a:p>
          <a:p>
            <a:r>
              <a:rPr lang="en-US" dirty="0"/>
              <a:t>     pre order?</a:t>
            </a:r>
          </a:p>
          <a:p>
            <a:r>
              <a:rPr lang="en-US" dirty="0"/>
              <a:t>     in order?</a:t>
            </a:r>
          </a:p>
          <a:p>
            <a:r>
              <a:rPr lang="en-US" dirty="0"/>
              <a:t>     post order</a:t>
            </a:r>
          </a:p>
        </p:txBody>
      </p:sp>
    </p:spTree>
    <p:extLst>
      <p:ext uri="{BB962C8B-B14F-4D97-AF65-F5344CB8AC3E}">
        <p14:creationId xmlns:p14="http://schemas.microsoft.com/office/powerpoint/2010/main" val="7193061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04618-023D-E4E8-012F-4D34836AF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618D7-5C01-CCB3-04E5-1022D088B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760" y="20107"/>
            <a:ext cx="10515600" cy="923330"/>
          </a:xfrm>
        </p:spPr>
        <p:txBody>
          <a:bodyPr/>
          <a:lstStyle/>
          <a:p>
            <a:r>
              <a:rPr lang="en-US" dirty="0"/>
              <a:t>Review: Possible Orders of Traversal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B062D6D-72D3-8D92-7BBA-94BC1783E2E8}"/>
              </a:ext>
            </a:extLst>
          </p:cNvPr>
          <p:cNvSpPr/>
          <p:nvPr/>
        </p:nvSpPr>
        <p:spPr>
          <a:xfrm>
            <a:off x="2380149" y="1836719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91408B-921D-A034-E7DC-D7D8352FC044}"/>
              </a:ext>
            </a:extLst>
          </p:cNvPr>
          <p:cNvSpPr/>
          <p:nvPr/>
        </p:nvSpPr>
        <p:spPr>
          <a:xfrm>
            <a:off x="1556442" y="2613959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1A67B96-A6F0-4D61-5E01-D4C7187F3D43}"/>
              </a:ext>
            </a:extLst>
          </p:cNvPr>
          <p:cNvCxnSpPr>
            <a:cxnSpLocks/>
            <a:stCxn id="4" idx="3"/>
            <a:endCxn id="5" idx="7"/>
          </p:cNvCxnSpPr>
          <p:nvPr/>
        </p:nvCxnSpPr>
        <p:spPr>
          <a:xfrm flipH="1">
            <a:off x="2219858" y="2500135"/>
            <a:ext cx="274115" cy="227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3B05600-99FC-8945-8D2D-609E459DBA3E}"/>
              </a:ext>
            </a:extLst>
          </p:cNvPr>
          <p:cNvCxnSpPr>
            <a:cxnSpLocks/>
            <a:stCxn id="5" idx="3"/>
            <a:endCxn id="3" idx="7"/>
          </p:cNvCxnSpPr>
          <p:nvPr/>
        </p:nvCxnSpPr>
        <p:spPr>
          <a:xfrm flipH="1">
            <a:off x="1341087" y="3277375"/>
            <a:ext cx="329179" cy="3092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55770C-1DC1-7AAC-2FFD-02A14AFC03CC}"/>
              </a:ext>
            </a:extLst>
          </p:cNvPr>
          <p:cNvCxnSpPr>
            <a:cxnSpLocks/>
            <a:stCxn id="5" idx="5"/>
            <a:endCxn id="11" idx="1"/>
          </p:cNvCxnSpPr>
          <p:nvPr/>
        </p:nvCxnSpPr>
        <p:spPr>
          <a:xfrm>
            <a:off x="2219858" y="3277375"/>
            <a:ext cx="285409" cy="3092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1370D0A6-74C4-ABF4-D387-CC13E4D7C45D}"/>
              </a:ext>
            </a:extLst>
          </p:cNvPr>
          <p:cNvSpPr/>
          <p:nvPr/>
        </p:nvSpPr>
        <p:spPr>
          <a:xfrm>
            <a:off x="677671" y="3472813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6D384C-B858-FD77-1910-1F2BFCD479E6}"/>
              </a:ext>
            </a:extLst>
          </p:cNvPr>
          <p:cNvSpPr/>
          <p:nvPr/>
        </p:nvSpPr>
        <p:spPr>
          <a:xfrm>
            <a:off x="2391443" y="3472813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3AC0135-2345-0DFB-E35A-9CB36CB28F08}"/>
              </a:ext>
            </a:extLst>
          </p:cNvPr>
          <p:cNvSpPr/>
          <p:nvPr/>
        </p:nvSpPr>
        <p:spPr>
          <a:xfrm>
            <a:off x="3197689" y="2613959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D924030-A9E1-F843-C464-460A8080810B}"/>
              </a:ext>
            </a:extLst>
          </p:cNvPr>
          <p:cNvCxnSpPr>
            <a:cxnSpLocks/>
            <a:stCxn id="4" idx="5"/>
            <a:endCxn id="33" idx="1"/>
          </p:cNvCxnSpPr>
          <p:nvPr/>
        </p:nvCxnSpPr>
        <p:spPr>
          <a:xfrm>
            <a:off x="3043565" y="2500135"/>
            <a:ext cx="267948" cy="227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2070BF0-2A34-9534-2BA6-3F4877E3EE6C}"/>
              </a:ext>
            </a:extLst>
          </p:cNvPr>
          <p:cNvCxnSpPr>
            <a:cxnSpLocks/>
            <a:stCxn id="33" idx="5"/>
            <a:endCxn id="37" idx="1"/>
          </p:cNvCxnSpPr>
          <p:nvPr/>
        </p:nvCxnSpPr>
        <p:spPr>
          <a:xfrm>
            <a:off x="3861105" y="3277375"/>
            <a:ext cx="324631" cy="3092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7D838BFB-DFE2-08C4-1A63-D84F2C9AB020}"/>
              </a:ext>
            </a:extLst>
          </p:cNvPr>
          <p:cNvSpPr/>
          <p:nvPr/>
        </p:nvSpPr>
        <p:spPr>
          <a:xfrm>
            <a:off x="4071912" y="3472813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ACAA0DB0-2FD7-B3CF-6D2F-0913BB66A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7293161"/>
              </p:ext>
            </p:extLst>
          </p:nvPr>
        </p:nvGraphicFramePr>
        <p:xfrm>
          <a:off x="5365557" y="1105949"/>
          <a:ext cx="5876677" cy="20994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887">
                  <a:extLst>
                    <a:ext uri="{9D8B030D-6E8A-4147-A177-3AD203B41FA5}">
                      <a16:colId xmlns:a16="http://schemas.microsoft.com/office/drawing/2014/main" val="4158862879"/>
                    </a:ext>
                  </a:extLst>
                </a:gridCol>
                <a:gridCol w="2928276">
                  <a:extLst>
                    <a:ext uri="{9D8B030D-6E8A-4147-A177-3AD203B41FA5}">
                      <a16:colId xmlns:a16="http://schemas.microsoft.com/office/drawing/2014/main" val="3112138583"/>
                    </a:ext>
                  </a:extLst>
                </a:gridCol>
                <a:gridCol w="1290514">
                  <a:extLst>
                    <a:ext uri="{9D8B030D-6E8A-4147-A177-3AD203B41FA5}">
                      <a16:colId xmlns:a16="http://schemas.microsoft.com/office/drawing/2014/main" val="3742667736"/>
                    </a:ext>
                  </a:extLst>
                </a:gridCol>
              </a:tblGrid>
              <a:tr h="615758">
                <a:tc>
                  <a:txBody>
                    <a:bodyPr/>
                    <a:lstStyle/>
                    <a:p>
                      <a:r>
                        <a:rPr lang="en-US" dirty="0"/>
                        <a:t>Traversal</a:t>
                      </a:r>
                    </a:p>
                    <a:p>
                      <a:r>
                        <a:rPr lang="en-US" dirty="0"/>
                        <a:t>    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Order Visited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Example</a:t>
                      </a:r>
                    </a:p>
                    <a:p>
                      <a:r>
                        <a:rPr lang="en-US" dirty="0"/>
                        <a:t>  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62617"/>
                  </a:ext>
                </a:extLst>
              </a:tr>
              <a:tr h="459581">
                <a:tc>
                  <a:txBody>
                    <a:bodyPr/>
                    <a:lstStyle/>
                    <a:p>
                      <a:r>
                        <a:rPr lang="en-US" dirty="0"/>
                        <a:t>pre-order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Top-Root-&gt;Left-Child-&gt;Right-Child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A B D E G H C F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5125202"/>
                  </a:ext>
                </a:extLst>
              </a:tr>
              <a:tr h="481616">
                <a:tc>
                  <a:txBody>
                    <a:bodyPr/>
                    <a:lstStyle/>
                    <a:p>
                      <a:r>
                        <a:rPr lang="en-US" dirty="0"/>
                        <a:t>in-order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Left/Bottom-&gt;Its-Root-&gt;Right/Bottom</a:t>
                      </a:r>
                    </a:p>
                    <a:p>
                      <a:r>
                        <a:rPr lang="en-US" sz="1400" dirty="0"/>
                        <a:t>Limited to binary 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D B G E H A C F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1630095"/>
                  </a:ext>
                </a:extLst>
              </a:tr>
              <a:tr h="481616">
                <a:tc>
                  <a:txBody>
                    <a:bodyPr/>
                    <a:lstStyle/>
                    <a:p>
                      <a:r>
                        <a:rPr lang="en-US" dirty="0"/>
                        <a:t>post-order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Left/Bottom-&gt;Right/Bottom-&gt;Its-Root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D G H E B F C 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215218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29B5500F-F2E5-0D0C-1CB2-9188FE31DE26}"/>
              </a:ext>
            </a:extLst>
          </p:cNvPr>
          <p:cNvSpPr txBox="1"/>
          <p:nvPr/>
        </p:nvSpPr>
        <p:spPr>
          <a:xfrm>
            <a:off x="5110631" y="3571871"/>
            <a:ext cx="66252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/>
              <a:t>    Pre-order Traversal (Root-Left-Right. Top to Bottom)</a:t>
            </a:r>
          </a:p>
          <a:p>
            <a:pPr>
              <a:buNone/>
            </a:pPr>
            <a:r>
              <a:rPr lang="en-US" b="1" dirty="0"/>
              <a:t>        </a:t>
            </a:r>
            <a:r>
              <a:rPr lang="en-US" dirty="0"/>
              <a:t>Prioritizes visits from top to bottom, and left to right</a:t>
            </a:r>
          </a:p>
          <a:p>
            <a:pPr>
              <a:buNone/>
            </a:pPr>
            <a:r>
              <a:rPr lang="en-US" dirty="0"/>
              <a:t>        Useful for serializing and copying trees.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0B616E-411D-9C38-7184-DC949C38A89B}"/>
              </a:ext>
            </a:extLst>
          </p:cNvPr>
          <p:cNvSpPr txBox="1"/>
          <p:nvPr/>
        </p:nvSpPr>
        <p:spPr>
          <a:xfrm>
            <a:off x="5110631" y="4436565"/>
            <a:ext cx="60503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/>
              <a:t>    In-order Traversal (Left-Root-Right, Bottom to Top)</a:t>
            </a:r>
          </a:p>
          <a:p>
            <a:pPr lvl="1"/>
            <a:r>
              <a:rPr lang="en-US" dirty="0"/>
              <a:t>Prioritizes visits from bottom left to right visiting parent nodes on the way.  Sometimes used for sorting.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AC9B3-3E7E-9100-5863-B3EE895C35D4}"/>
              </a:ext>
            </a:extLst>
          </p:cNvPr>
          <p:cNvSpPr txBox="1"/>
          <p:nvPr/>
        </p:nvSpPr>
        <p:spPr>
          <a:xfrm>
            <a:off x="5110631" y="5359895"/>
            <a:ext cx="56905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dirty="0"/>
              <a:t>    Post-order (or natural) Traversal (Left-Right-Root)</a:t>
            </a:r>
          </a:p>
          <a:p>
            <a:pPr lvl="1"/>
            <a:r>
              <a:rPr lang="en-US" dirty="0"/>
              <a:t>Prioritizes traversing subtrees by visiting lowest nodes first, and parent nodes later.  Useful for evaluating expression trees (e.g. parsing)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89E8DB9-C6D5-C51C-24DA-EE09E30CF5C8}"/>
              </a:ext>
            </a:extLst>
          </p:cNvPr>
          <p:cNvCxnSpPr>
            <a:cxnSpLocks/>
            <a:stCxn id="11" idx="5"/>
            <a:endCxn id="48" idx="1"/>
          </p:cNvCxnSpPr>
          <p:nvPr/>
        </p:nvCxnSpPr>
        <p:spPr>
          <a:xfrm>
            <a:off x="3054859" y="4136229"/>
            <a:ext cx="256654" cy="29485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A711FBBB-A7C7-A0D3-AB59-E40B8265030A}"/>
              </a:ext>
            </a:extLst>
          </p:cNvPr>
          <p:cNvSpPr/>
          <p:nvPr/>
        </p:nvSpPr>
        <p:spPr>
          <a:xfrm>
            <a:off x="3197689" y="4317261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D2E07CFF-605F-A06E-940D-837F6E56EA79}"/>
              </a:ext>
            </a:extLst>
          </p:cNvPr>
          <p:cNvSpPr/>
          <p:nvPr/>
        </p:nvSpPr>
        <p:spPr>
          <a:xfrm>
            <a:off x="1518298" y="4317261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</a:t>
            </a: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4D10A47-301E-0F2C-C181-E57C1140EF09}"/>
              </a:ext>
            </a:extLst>
          </p:cNvPr>
          <p:cNvCxnSpPr>
            <a:cxnSpLocks/>
            <a:stCxn id="11" idx="3"/>
            <a:endCxn id="89" idx="7"/>
          </p:cNvCxnSpPr>
          <p:nvPr/>
        </p:nvCxnSpPr>
        <p:spPr>
          <a:xfrm flipH="1">
            <a:off x="2181714" y="4136229"/>
            <a:ext cx="323553" cy="29485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721E3E0-DD0D-EDC3-FAF5-58BAEE60C8C5}"/>
              </a:ext>
            </a:extLst>
          </p:cNvPr>
          <p:cNvSpPr txBox="1"/>
          <p:nvPr/>
        </p:nvSpPr>
        <p:spPr>
          <a:xfrm>
            <a:off x="5301338" y="3238091"/>
            <a:ext cx="4851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Traversals never visit the same node twice.</a:t>
            </a:r>
          </a:p>
        </p:txBody>
      </p:sp>
    </p:spTree>
    <p:extLst>
      <p:ext uri="{BB962C8B-B14F-4D97-AF65-F5344CB8AC3E}">
        <p14:creationId xmlns:p14="http://schemas.microsoft.com/office/powerpoint/2010/main" val="35294126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CA2BD-471D-83B5-02C0-AD12BD32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99C9C-F2B6-FB1C-BAEC-D6CC642A9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Order Traversal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613C779-EDB2-8707-1052-E3BB70809B5E}"/>
              </a:ext>
            </a:extLst>
          </p:cNvPr>
          <p:cNvSpPr/>
          <p:nvPr/>
        </p:nvSpPr>
        <p:spPr>
          <a:xfrm>
            <a:off x="3348228" y="2697480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EDB0D29-FD4A-3312-96B8-394872F00F57}"/>
              </a:ext>
            </a:extLst>
          </p:cNvPr>
          <p:cNvSpPr/>
          <p:nvPr/>
        </p:nvSpPr>
        <p:spPr>
          <a:xfrm>
            <a:off x="1441704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71C626C-6A86-BEB1-EF31-995EEC1F6413}"/>
              </a:ext>
            </a:extLst>
          </p:cNvPr>
          <p:cNvSpPr/>
          <p:nvPr/>
        </p:nvSpPr>
        <p:spPr>
          <a:xfrm>
            <a:off x="3323844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404BAE2-9E5C-781C-6395-F713849EAE4B}"/>
              </a:ext>
            </a:extLst>
          </p:cNvPr>
          <p:cNvSpPr/>
          <p:nvPr/>
        </p:nvSpPr>
        <p:spPr>
          <a:xfrm>
            <a:off x="4920996" y="4028884"/>
            <a:ext cx="777240" cy="777240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1D61DED-87BF-E499-BF8E-ACD38034C834}"/>
              </a:ext>
            </a:extLst>
          </p:cNvPr>
          <p:cNvCxnSpPr>
            <a:stCxn id="4" idx="3"/>
            <a:endCxn id="5" idx="7"/>
          </p:cNvCxnSpPr>
          <p:nvPr/>
        </p:nvCxnSpPr>
        <p:spPr>
          <a:xfrm flipH="1">
            <a:off x="2105120" y="3360896"/>
            <a:ext cx="1356932" cy="78181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3BC7573-51AB-F2CE-5F6E-B64CD2B37BAA}"/>
              </a:ext>
            </a:extLst>
          </p:cNvPr>
          <p:cNvCxnSpPr>
            <a:cxnSpLocks/>
            <a:stCxn id="4" idx="4"/>
            <a:endCxn id="6" idx="0"/>
          </p:cNvCxnSpPr>
          <p:nvPr/>
        </p:nvCxnSpPr>
        <p:spPr>
          <a:xfrm flipH="1">
            <a:off x="3712464" y="3474720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817584A-E04C-A5E3-EB14-3C9A53FDD6EC}"/>
              </a:ext>
            </a:extLst>
          </p:cNvPr>
          <p:cNvCxnSpPr>
            <a:cxnSpLocks/>
            <a:stCxn id="4" idx="5"/>
            <a:endCxn id="7" idx="0"/>
          </p:cNvCxnSpPr>
          <p:nvPr/>
        </p:nvCxnSpPr>
        <p:spPr>
          <a:xfrm>
            <a:off x="4011644" y="3360896"/>
            <a:ext cx="1297972" cy="6679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A98B74-60AF-1437-23E5-A5BDFF2CF3D5}"/>
              </a:ext>
            </a:extLst>
          </p:cNvPr>
          <p:cNvCxnSpPr>
            <a:cxnSpLocks/>
          </p:cNvCxnSpPr>
          <p:nvPr/>
        </p:nvCxnSpPr>
        <p:spPr>
          <a:xfrm flipH="1">
            <a:off x="3748278" y="212731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ABECEB2-14D2-610B-6978-2BA6D9061384}"/>
              </a:ext>
            </a:extLst>
          </p:cNvPr>
          <p:cNvCxnSpPr>
            <a:cxnSpLocks/>
          </p:cNvCxnSpPr>
          <p:nvPr/>
        </p:nvCxnSpPr>
        <p:spPr>
          <a:xfrm flipH="1">
            <a:off x="172440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E7A0AF3-6198-0AA0-A2BB-706A9DC28BA7}"/>
              </a:ext>
            </a:extLst>
          </p:cNvPr>
          <p:cNvCxnSpPr>
            <a:cxnSpLocks/>
          </p:cNvCxnSpPr>
          <p:nvPr/>
        </p:nvCxnSpPr>
        <p:spPr>
          <a:xfrm flipH="1">
            <a:off x="373608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FE4BEAA-85E6-1DE7-2E65-DDA5E12DA4AF}"/>
              </a:ext>
            </a:extLst>
          </p:cNvPr>
          <p:cNvCxnSpPr>
            <a:cxnSpLocks/>
          </p:cNvCxnSpPr>
          <p:nvPr/>
        </p:nvCxnSpPr>
        <p:spPr>
          <a:xfrm flipH="1">
            <a:off x="5309616" y="4806124"/>
            <a:ext cx="24384" cy="5541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5BE4DAF-1229-09ED-F098-C93C7331B1CB}"/>
              </a:ext>
            </a:extLst>
          </p:cNvPr>
          <p:cNvSpPr txBox="1"/>
          <p:nvPr/>
        </p:nvSpPr>
        <p:spPr>
          <a:xfrm>
            <a:off x="6882386" y="2466112"/>
            <a:ext cx="360273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Post Order traversal defines the </a:t>
            </a:r>
          </a:p>
          <a:p>
            <a:r>
              <a:rPr lang="en-US" dirty="0"/>
              <a:t>desired type of structure </a:t>
            </a:r>
          </a:p>
          <a:p>
            <a:r>
              <a:rPr lang="en-US" dirty="0"/>
              <a:t>Considered for parse trees.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Similar to Reverse Polish Notation or Postfix, resources needed by each parent node are evaluated first, then the node.</a:t>
            </a:r>
          </a:p>
        </p:txBody>
      </p:sp>
    </p:spTree>
    <p:extLst>
      <p:ext uri="{BB962C8B-B14F-4D97-AF65-F5344CB8AC3E}">
        <p14:creationId xmlns:p14="http://schemas.microsoft.com/office/powerpoint/2010/main" val="9670491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299"/>
            <a:ext cx="10515600" cy="1325563"/>
          </a:xfrm>
        </p:spPr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C6140-750A-C341-A851-96CD68C9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594"/>
          </a:xfrm>
        </p:spPr>
        <p:txBody>
          <a:bodyPr>
            <a:normAutofit/>
          </a:bodyPr>
          <a:lstStyle/>
          <a:p>
            <a:r>
              <a:rPr lang="en-US" dirty="0"/>
              <a:t>What happens when different derivations have different parse trees?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2566219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1535136" y="5063070"/>
            <a:ext cx="790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7F6AB7-59B6-2D49-8916-A9763C18A618}"/>
              </a:ext>
            </a:extLst>
          </p:cNvPr>
          <p:cNvSpPr txBox="1"/>
          <p:nvPr/>
        </p:nvSpPr>
        <p:spPr>
          <a:xfrm>
            <a:off x="3677264" y="4322476"/>
            <a:ext cx="2567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derive this string?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F40FCA-756E-9744-9D4F-2998AD18650C}"/>
              </a:ext>
            </a:extLst>
          </p:cNvPr>
          <p:cNvSpPr txBox="1"/>
          <p:nvPr/>
        </p:nvSpPr>
        <p:spPr>
          <a:xfrm>
            <a:off x="320040" y="6254496"/>
            <a:ext cx="5379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Next few figures taken from the EAC book (Chapter 3.1)</a:t>
            </a:r>
          </a:p>
        </p:txBody>
      </p:sp>
    </p:spTree>
    <p:extLst>
      <p:ext uri="{BB962C8B-B14F-4D97-AF65-F5344CB8AC3E}">
        <p14:creationId xmlns:p14="http://schemas.microsoft.com/office/powerpoint/2010/main" val="2947992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325"/>
            <a:ext cx="10515600" cy="1325563"/>
          </a:xfrm>
        </p:spPr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9DD3283-057B-B94F-BBC4-5BC3C98603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84" t="6406" r="5462" b="59575"/>
          <a:stretch/>
        </p:blipFill>
        <p:spPr>
          <a:xfrm>
            <a:off x="198886" y="3887390"/>
            <a:ext cx="5484399" cy="931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7178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30"/>
            <a:ext cx="10515600" cy="1325563"/>
          </a:xfrm>
        </p:spPr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C031D4-A54A-1248-A500-F444FEB13D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D805E9-DA17-C644-97EF-452AA9E4FED0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</p:spTree>
    <p:extLst>
      <p:ext uri="{BB962C8B-B14F-4D97-AF65-F5344CB8AC3E}">
        <p14:creationId xmlns:p14="http://schemas.microsoft.com/office/powerpoint/2010/main" val="19331568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901" y="4730"/>
            <a:ext cx="10515600" cy="1325563"/>
          </a:xfrm>
        </p:spPr>
        <p:txBody>
          <a:bodyPr/>
          <a:lstStyle/>
          <a:p>
            <a:r>
              <a:rPr lang="en-US" dirty="0"/>
              <a:t>Ambiguous grammars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0E2E80-777D-EB49-9D24-DF1DB32EE4E4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44F2D-8AC9-8342-8940-15FFCC792056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C031D4-A54A-1248-A500-F444FEB13D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D805E9-DA17-C644-97EF-452AA9E4FED0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7C60B2-F2B8-664E-A0AD-2F89A5B2BB5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19" t="6406" r="4479" b="57543"/>
          <a:stretch/>
        </p:blipFill>
        <p:spPr>
          <a:xfrm>
            <a:off x="6327648" y="3987975"/>
            <a:ext cx="5665466" cy="931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307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901" y="60325"/>
            <a:ext cx="10515600" cy="1325563"/>
          </a:xfrm>
        </p:spPr>
        <p:txBody>
          <a:bodyPr/>
          <a:lstStyle/>
          <a:p>
            <a:r>
              <a:rPr lang="en-US" dirty="0"/>
              <a:t>Ambiguous grammars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F8BC30-E355-994F-9124-9AABF2C533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19" t="6406" r="4479" b="8352"/>
          <a:stretch/>
        </p:blipFill>
        <p:spPr>
          <a:xfrm>
            <a:off x="6327648" y="3987975"/>
            <a:ext cx="5665466" cy="22025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126ADA-331A-7A44-9C52-9B5C4D1EB5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3DBDE0-AF1F-7F46-9DD7-98AA6D57EE3C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81C74C-7CC7-A344-9B20-E535D9497129}"/>
              </a:ext>
            </a:extLst>
          </p:cNvPr>
          <p:cNvSpPr txBox="1"/>
          <p:nvPr/>
        </p:nvSpPr>
        <p:spPr>
          <a:xfrm>
            <a:off x="8298648" y="6308209"/>
            <a:ext cx="2250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Also a valid derivation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B98D52-B42C-E049-AF3E-9FC8C81EFF3C}"/>
              </a:ext>
            </a:extLst>
          </p:cNvPr>
          <p:cNvSpPr txBox="1"/>
          <p:nvPr/>
        </p:nvSpPr>
        <p:spPr>
          <a:xfrm>
            <a:off x="1535136" y="1576385"/>
            <a:ext cx="84561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1: Statement ::=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“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” Statement</a:t>
            </a:r>
          </a:p>
          <a:p>
            <a:r>
              <a:rPr lang="en-US" dirty="0">
                <a:latin typeface="Courier" pitchFamily="2" charset="0"/>
              </a:rPr>
              <a:t>2:           |   ”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” Expr “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” Statement </a:t>
            </a:r>
          </a:p>
          <a:p>
            <a:r>
              <a:rPr lang="en-US" dirty="0">
                <a:latin typeface="Courier" pitchFamily="2" charset="0"/>
              </a:rPr>
              <a:t>3:           |    Assignment</a:t>
            </a:r>
          </a:p>
          <a:p>
            <a:r>
              <a:rPr lang="en-US" dirty="0">
                <a:latin typeface="Courier" pitchFamily="2" charset="0"/>
              </a:rPr>
              <a:t>4:           |    ....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64E4E2-E31D-1F4B-BDF6-7861CAE5C010}"/>
              </a:ext>
            </a:extLst>
          </p:cNvPr>
          <p:cNvSpPr txBox="1"/>
          <p:nvPr/>
        </p:nvSpPr>
        <p:spPr>
          <a:xfrm>
            <a:off x="2266105" y="3059668"/>
            <a:ext cx="77251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" pitchFamily="2" charset="0"/>
              </a:rPr>
              <a:t>if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Expr</a:t>
            </a:r>
            <a:r>
              <a:rPr lang="en-US" i="1" baseline="-25000" dirty="0">
                <a:latin typeface="Courier" pitchFamily="2" charset="0"/>
              </a:rPr>
              <a:t>2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6"/>
                </a:solidFill>
                <a:latin typeface="Courier" pitchFamily="2" charset="0"/>
              </a:rPr>
              <a:t>then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1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" pitchFamily="2" charset="0"/>
              </a:rPr>
              <a:t>else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i="1" dirty="0">
                <a:latin typeface="Courier" pitchFamily="2" charset="0"/>
              </a:rPr>
              <a:t>Assignment</a:t>
            </a:r>
            <a:r>
              <a:rPr lang="en-US" i="1" baseline="-25000" dirty="0">
                <a:latin typeface="Courier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978286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79"/>
            <a:ext cx="10515600" cy="1325563"/>
          </a:xfrm>
        </p:spPr>
        <p:txBody>
          <a:bodyPr/>
          <a:lstStyle/>
          <a:p>
            <a:r>
              <a:rPr lang="en-US" dirty="0"/>
              <a:t>Ambiguous grammars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F8BC30-E355-994F-9124-9AABF2C533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19" t="6406" r="4479" b="8352"/>
          <a:stretch/>
        </p:blipFill>
        <p:spPr>
          <a:xfrm>
            <a:off x="6327648" y="3987975"/>
            <a:ext cx="5665466" cy="22025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126ADA-331A-7A44-9C52-9B5C4D1EB5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3DBDE0-AF1F-7F46-9DD7-98AA6D57EE3C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81C74C-7CC7-A344-9B20-E535D9497129}"/>
              </a:ext>
            </a:extLst>
          </p:cNvPr>
          <p:cNvSpPr txBox="1"/>
          <p:nvPr/>
        </p:nvSpPr>
        <p:spPr>
          <a:xfrm>
            <a:off x="8298648" y="6308209"/>
            <a:ext cx="2250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Also a valid derivation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1C6949-1EC6-7A43-BE4A-25A3D52F8645}"/>
              </a:ext>
            </a:extLst>
          </p:cNvPr>
          <p:cNvSpPr txBox="1"/>
          <p:nvPr/>
        </p:nvSpPr>
        <p:spPr>
          <a:xfrm>
            <a:off x="3300984" y="2284142"/>
            <a:ext cx="6688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Is this an issue? Don’t we only care if a grammar can derive a string?</a:t>
            </a:r>
          </a:p>
        </p:txBody>
      </p:sp>
    </p:spTree>
    <p:extLst>
      <p:ext uri="{BB962C8B-B14F-4D97-AF65-F5344CB8AC3E}">
        <p14:creationId xmlns:p14="http://schemas.microsoft.com/office/powerpoint/2010/main" val="223335673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22A2A-82F3-DE48-BEF3-F2BC60743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29"/>
            <a:ext cx="10515600" cy="1325563"/>
          </a:xfrm>
        </p:spPr>
        <p:txBody>
          <a:bodyPr/>
          <a:lstStyle/>
          <a:p>
            <a:r>
              <a:rPr lang="en-US" dirty="0"/>
              <a:t>Ambiguous grammars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FF8BC30-E355-994F-9124-9AABF2C533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19" t="6406" r="4479" b="8352"/>
          <a:stretch/>
        </p:blipFill>
        <p:spPr>
          <a:xfrm>
            <a:off x="6327648" y="3987975"/>
            <a:ext cx="5665466" cy="22025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7126ADA-331A-7A44-9C52-9B5C4D1EB50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284" t="6406" r="5462" b="13156"/>
          <a:stretch/>
        </p:blipFill>
        <p:spPr>
          <a:xfrm>
            <a:off x="142915" y="3987974"/>
            <a:ext cx="5484399" cy="220251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83DBDE0-AF1F-7F46-9DD7-98AA6D57EE3C}"/>
              </a:ext>
            </a:extLst>
          </p:cNvPr>
          <p:cNvSpPr txBox="1"/>
          <p:nvPr/>
        </p:nvSpPr>
        <p:spPr>
          <a:xfrm>
            <a:off x="1535136" y="6308209"/>
            <a:ext cx="1647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Valid derivation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81C74C-7CC7-A344-9B20-E535D9497129}"/>
              </a:ext>
            </a:extLst>
          </p:cNvPr>
          <p:cNvSpPr txBox="1"/>
          <p:nvPr/>
        </p:nvSpPr>
        <p:spPr>
          <a:xfrm>
            <a:off x="8298648" y="6308209"/>
            <a:ext cx="2250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Also a valid derivation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1C6949-1EC6-7A43-BE4A-25A3D52F8645}"/>
              </a:ext>
            </a:extLst>
          </p:cNvPr>
          <p:cNvSpPr txBox="1"/>
          <p:nvPr/>
        </p:nvSpPr>
        <p:spPr>
          <a:xfrm>
            <a:off x="2621665" y="2654665"/>
            <a:ext cx="7411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When we encode meaning into structure, these are very different programs</a:t>
            </a:r>
          </a:p>
        </p:txBody>
      </p:sp>
    </p:spTree>
    <p:extLst>
      <p:ext uri="{BB962C8B-B14F-4D97-AF65-F5344CB8AC3E}">
        <p14:creationId xmlns:p14="http://schemas.microsoft.com/office/powerpoint/2010/main" val="727719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2B140-AF64-B84F-B899-639CEB14C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will study how to eliminate ambiguity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09E1F-C961-E142-9EF2-E809540A0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I want to close out today with an interesting case study</a:t>
            </a:r>
          </a:p>
        </p:txBody>
      </p:sp>
    </p:spTree>
    <p:extLst>
      <p:ext uri="{BB962C8B-B14F-4D97-AF65-F5344CB8AC3E}">
        <p14:creationId xmlns:p14="http://schemas.microsoft.com/office/powerpoint/2010/main" val="33186684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BA562-479D-B446-AC79-C83AD32E9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74D81-571C-4248-B69A-376B12BB2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856295" cy="260007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Using a CFG, you can derive random strings in a language</a:t>
            </a:r>
          </a:p>
          <a:p>
            <a:pPr lvl="1"/>
            <a:r>
              <a:rPr lang="en-US" dirty="0"/>
              <a:t>This can be useful for testing compiler correctness.</a:t>
            </a:r>
          </a:p>
          <a:p>
            <a:endParaRPr lang="en-US" dirty="0"/>
          </a:p>
          <a:p>
            <a:r>
              <a:rPr lang="en-US" dirty="0"/>
              <a:t>C-Smith (from the University of Utah)</a:t>
            </a:r>
          </a:p>
          <a:p>
            <a:pPr lvl="1"/>
            <a:r>
              <a:rPr lang="en-US" dirty="0"/>
              <a:t>Generates random C programs</a:t>
            </a:r>
          </a:p>
          <a:p>
            <a:pPr lvl="1"/>
            <a:r>
              <a:rPr lang="en-US" dirty="0"/>
              <a:t>Used to test compiler correctness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71D398-E3F6-534C-A622-2941CDF9F37D}"/>
              </a:ext>
            </a:extLst>
          </p:cNvPr>
          <p:cNvSpPr/>
          <p:nvPr/>
        </p:nvSpPr>
        <p:spPr>
          <a:xfrm>
            <a:off x="1005840" y="5248656"/>
            <a:ext cx="1143000" cy="99669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Random C program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0AA59A5-1514-974F-B8D5-AC7EDE88B751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2176272" y="4855464"/>
            <a:ext cx="1496568" cy="694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1A018EC-787E-C644-BA85-43C1BDE1870A}"/>
              </a:ext>
            </a:extLst>
          </p:cNvPr>
          <p:cNvSpPr/>
          <p:nvPr/>
        </p:nvSpPr>
        <p:spPr>
          <a:xfrm>
            <a:off x="3672840" y="4583430"/>
            <a:ext cx="1143000" cy="5440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clang -00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950D6F-EB07-7941-8500-5E4EFE338911}"/>
              </a:ext>
            </a:extLst>
          </p:cNvPr>
          <p:cNvSpPr/>
          <p:nvPr/>
        </p:nvSpPr>
        <p:spPr>
          <a:xfrm>
            <a:off x="3672840" y="5367528"/>
            <a:ext cx="1143000" cy="54406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clang -03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C6CA71-E0CE-7D42-BA32-291AB7930E53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148840" y="5639562"/>
            <a:ext cx="1496568" cy="1074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C333B6EB-F34B-4140-A52D-981AB79D67CC}"/>
              </a:ext>
            </a:extLst>
          </p:cNvPr>
          <p:cNvSpPr/>
          <p:nvPr/>
        </p:nvSpPr>
        <p:spPr>
          <a:xfrm>
            <a:off x="3645408" y="6137910"/>
            <a:ext cx="1143000" cy="54406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gcc</a:t>
            </a:r>
            <a:r>
              <a:rPr lang="en-US" dirty="0"/>
              <a:t> ...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1B357F9-B0DD-4344-AE21-A318F2834B80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225040" y="5911596"/>
            <a:ext cx="1420368" cy="498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4D7C7A-2CE0-2E44-A875-B95BB83DE953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4815840" y="4855464"/>
            <a:ext cx="615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2C56543-195F-864A-96F2-70CB07E54FA4}"/>
              </a:ext>
            </a:extLst>
          </p:cNvPr>
          <p:cNvCxnSpPr>
            <a:cxnSpLocks/>
          </p:cNvCxnSpPr>
          <p:nvPr/>
        </p:nvCxnSpPr>
        <p:spPr>
          <a:xfrm flipV="1">
            <a:off x="4843272" y="5639562"/>
            <a:ext cx="652272" cy="1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9F38D40-565B-E449-9890-7C026D72A8A6}"/>
              </a:ext>
            </a:extLst>
          </p:cNvPr>
          <p:cNvCxnSpPr>
            <a:cxnSpLocks/>
          </p:cNvCxnSpPr>
          <p:nvPr/>
        </p:nvCxnSpPr>
        <p:spPr>
          <a:xfrm flipV="1">
            <a:off x="4788408" y="6391656"/>
            <a:ext cx="652272" cy="1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E34BD63-6E6C-EA48-B56D-2E8D94E107DA}"/>
              </a:ext>
            </a:extLst>
          </p:cNvPr>
          <p:cNvSpPr/>
          <p:nvPr/>
        </p:nvSpPr>
        <p:spPr>
          <a:xfrm>
            <a:off x="5541264" y="4574286"/>
            <a:ext cx="1143000" cy="54406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8F5CE3-BF00-2149-A97E-103547A42291}"/>
              </a:ext>
            </a:extLst>
          </p:cNvPr>
          <p:cNvSpPr/>
          <p:nvPr/>
        </p:nvSpPr>
        <p:spPr>
          <a:xfrm>
            <a:off x="5541264" y="5385816"/>
            <a:ext cx="1143000" cy="54406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14D1F0-5B34-B54A-A56B-EFD64025498D}"/>
              </a:ext>
            </a:extLst>
          </p:cNvPr>
          <p:cNvSpPr/>
          <p:nvPr/>
        </p:nvSpPr>
        <p:spPr>
          <a:xfrm>
            <a:off x="5541264" y="6160770"/>
            <a:ext cx="1143000" cy="54406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FF4FB8-7C51-3B41-855D-6DA6ED44E5B9}"/>
              </a:ext>
            </a:extLst>
          </p:cNvPr>
          <p:cNvSpPr txBox="1"/>
          <p:nvPr/>
        </p:nvSpPr>
        <p:spPr>
          <a:xfrm>
            <a:off x="7534656" y="5118354"/>
            <a:ext cx="3159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Check outcome. Is it the same?</a:t>
            </a:r>
            <a:br>
              <a:rPr lang="en-US" i="1" dirty="0"/>
            </a:br>
            <a:r>
              <a:rPr lang="en-US" i="1" dirty="0"/>
              <a:t>if not, then there is a bug in one</a:t>
            </a:r>
            <a:br>
              <a:rPr lang="en-US" i="1" dirty="0"/>
            </a:br>
            <a:r>
              <a:rPr lang="en-US" i="1" dirty="0"/>
              <a:t>of the compilers</a:t>
            </a:r>
          </a:p>
        </p:txBody>
      </p:sp>
    </p:spTree>
    <p:extLst>
      <p:ext uri="{BB962C8B-B14F-4D97-AF65-F5344CB8AC3E}">
        <p14:creationId xmlns:p14="http://schemas.microsoft.com/office/powerpoint/2010/main" val="18527901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BA562-479D-B446-AC79-C83AD32E9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74D81-571C-4248-B69A-376B12BB2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05954" cy="2600071"/>
          </a:xfrm>
        </p:spPr>
        <p:txBody>
          <a:bodyPr/>
          <a:lstStyle/>
          <a:p>
            <a:r>
              <a:rPr lang="en-US" dirty="0"/>
              <a:t>400+ compiler bugs were found</a:t>
            </a:r>
          </a:p>
          <a:p>
            <a:pPr lvl="1"/>
            <a:r>
              <a:rPr lang="en-US" dirty="0"/>
              <a:t>These days Google has a couple of servers running these tests 24/7 looking for bugs.</a:t>
            </a:r>
          </a:p>
          <a:p>
            <a:endParaRPr lang="en-US" dirty="0"/>
          </a:p>
          <a:p>
            <a:r>
              <a:rPr lang="en-US" dirty="0"/>
              <a:t>Run a Demo   </a:t>
            </a:r>
            <a:r>
              <a:rPr lang="en-US" sz="1200" dirty="0"/>
              <a:t>(</a:t>
            </a:r>
            <a:r>
              <a:rPr lang="en-US" sz="1200" dirty="0" err="1"/>
              <a:t>csmith</a:t>
            </a:r>
            <a:r>
              <a:rPr lang="en-US" sz="1200" dirty="0"/>
              <a:t>)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71D398-E3F6-534C-A622-2941CDF9F37D}"/>
              </a:ext>
            </a:extLst>
          </p:cNvPr>
          <p:cNvSpPr/>
          <p:nvPr/>
        </p:nvSpPr>
        <p:spPr>
          <a:xfrm>
            <a:off x="1005840" y="5248656"/>
            <a:ext cx="1143000" cy="99669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Random C program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0AA59A5-1514-974F-B8D5-AC7EDE88B751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2176272" y="4855464"/>
            <a:ext cx="1496568" cy="694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1A018EC-787E-C644-BA85-43C1BDE1870A}"/>
              </a:ext>
            </a:extLst>
          </p:cNvPr>
          <p:cNvSpPr/>
          <p:nvPr/>
        </p:nvSpPr>
        <p:spPr>
          <a:xfrm>
            <a:off x="3672840" y="4583430"/>
            <a:ext cx="1143000" cy="5440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clang -00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950D6F-EB07-7941-8500-5E4EFE338911}"/>
              </a:ext>
            </a:extLst>
          </p:cNvPr>
          <p:cNvSpPr/>
          <p:nvPr/>
        </p:nvSpPr>
        <p:spPr>
          <a:xfrm>
            <a:off x="3672840" y="5367528"/>
            <a:ext cx="1143000" cy="54406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clang -03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C6CA71-E0CE-7D42-BA32-291AB7930E53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148840" y="5639562"/>
            <a:ext cx="1496568" cy="1074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C333B6EB-F34B-4140-A52D-981AB79D67CC}"/>
              </a:ext>
            </a:extLst>
          </p:cNvPr>
          <p:cNvSpPr/>
          <p:nvPr/>
        </p:nvSpPr>
        <p:spPr>
          <a:xfrm>
            <a:off x="3645408" y="6137910"/>
            <a:ext cx="1143000" cy="54406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gcc</a:t>
            </a:r>
            <a:r>
              <a:rPr lang="en-US" dirty="0"/>
              <a:t> ...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1B357F9-B0DD-4344-AE21-A318F2834B80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225040" y="5911596"/>
            <a:ext cx="1420368" cy="498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4D7C7A-2CE0-2E44-A875-B95BB83DE953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4815840" y="4855464"/>
            <a:ext cx="615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2C56543-195F-864A-96F2-70CB07E54FA4}"/>
              </a:ext>
            </a:extLst>
          </p:cNvPr>
          <p:cNvCxnSpPr>
            <a:cxnSpLocks/>
          </p:cNvCxnSpPr>
          <p:nvPr/>
        </p:nvCxnSpPr>
        <p:spPr>
          <a:xfrm flipV="1">
            <a:off x="4843272" y="5639562"/>
            <a:ext cx="652272" cy="1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9F38D40-565B-E449-9890-7C026D72A8A6}"/>
              </a:ext>
            </a:extLst>
          </p:cNvPr>
          <p:cNvCxnSpPr>
            <a:cxnSpLocks/>
          </p:cNvCxnSpPr>
          <p:nvPr/>
        </p:nvCxnSpPr>
        <p:spPr>
          <a:xfrm flipV="1">
            <a:off x="4788408" y="6391656"/>
            <a:ext cx="652272" cy="1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E34BD63-6E6C-EA48-B56D-2E8D94E107DA}"/>
              </a:ext>
            </a:extLst>
          </p:cNvPr>
          <p:cNvSpPr/>
          <p:nvPr/>
        </p:nvSpPr>
        <p:spPr>
          <a:xfrm>
            <a:off x="5541264" y="4574286"/>
            <a:ext cx="1143000" cy="54406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8F5CE3-BF00-2149-A97E-103547A42291}"/>
              </a:ext>
            </a:extLst>
          </p:cNvPr>
          <p:cNvSpPr/>
          <p:nvPr/>
        </p:nvSpPr>
        <p:spPr>
          <a:xfrm>
            <a:off x="5541264" y="5385816"/>
            <a:ext cx="1143000" cy="54406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14D1F0-5B34-B54A-A56B-EFD64025498D}"/>
              </a:ext>
            </a:extLst>
          </p:cNvPr>
          <p:cNvSpPr/>
          <p:nvPr/>
        </p:nvSpPr>
        <p:spPr>
          <a:xfrm>
            <a:off x="5541264" y="6160770"/>
            <a:ext cx="1143000" cy="54406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FF4FB8-7C51-3B41-855D-6DA6ED44E5B9}"/>
              </a:ext>
            </a:extLst>
          </p:cNvPr>
          <p:cNvSpPr txBox="1"/>
          <p:nvPr/>
        </p:nvSpPr>
        <p:spPr>
          <a:xfrm>
            <a:off x="7534656" y="5118354"/>
            <a:ext cx="3159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Check outcome. Is it the same?</a:t>
            </a:r>
            <a:br>
              <a:rPr lang="en-US" i="1" dirty="0"/>
            </a:br>
            <a:r>
              <a:rPr lang="en-US" i="1" dirty="0"/>
              <a:t>if not, then there is a bug in one</a:t>
            </a:r>
            <a:br>
              <a:rPr lang="en-US" i="1" dirty="0"/>
            </a:br>
            <a:r>
              <a:rPr lang="en-US" i="1" dirty="0"/>
              <a:t>of the compilers</a:t>
            </a:r>
          </a:p>
        </p:txBody>
      </p:sp>
    </p:spTree>
    <p:extLst>
      <p:ext uri="{BB962C8B-B14F-4D97-AF65-F5344CB8AC3E}">
        <p14:creationId xmlns:p14="http://schemas.microsoft.com/office/powerpoint/2010/main" val="41132290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BA562-479D-B446-AC79-C83AD32E9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74D81-571C-4248-B69A-376B12BB2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56960" cy="2600071"/>
          </a:xfrm>
        </p:spPr>
        <p:txBody>
          <a:bodyPr/>
          <a:lstStyle/>
          <a:p>
            <a:r>
              <a:rPr lang="en-US" dirty="0"/>
              <a:t>Big challenge: Undefined behavior</a:t>
            </a:r>
          </a:p>
          <a:p>
            <a:endParaRPr lang="en-US" dirty="0"/>
          </a:p>
          <a:p>
            <a:r>
              <a:rPr lang="en-US" dirty="0"/>
              <a:t>Even though the program is syntactically valid, the behavior may be undefined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71D398-E3F6-534C-A622-2941CDF9F37D}"/>
              </a:ext>
            </a:extLst>
          </p:cNvPr>
          <p:cNvSpPr/>
          <p:nvPr/>
        </p:nvSpPr>
        <p:spPr>
          <a:xfrm>
            <a:off x="1005840" y="5248656"/>
            <a:ext cx="1143000" cy="99669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Random C program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0AA59A5-1514-974F-B8D5-AC7EDE88B751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2176272" y="4855464"/>
            <a:ext cx="1496568" cy="694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1A018EC-787E-C644-BA85-43C1BDE1870A}"/>
              </a:ext>
            </a:extLst>
          </p:cNvPr>
          <p:cNvSpPr/>
          <p:nvPr/>
        </p:nvSpPr>
        <p:spPr>
          <a:xfrm>
            <a:off x="3672840" y="4583430"/>
            <a:ext cx="1143000" cy="54406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clang -00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950D6F-EB07-7941-8500-5E4EFE338911}"/>
              </a:ext>
            </a:extLst>
          </p:cNvPr>
          <p:cNvSpPr/>
          <p:nvPr/>
        </p:nvSpPr>
        <p:spPr>
          <a:xfrm>
            <a:off x="3672840" y="5367528"/>
            <a:ext cx="1143000" cy="54406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clang -03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AC6CA71-E0CE-7D42-BA32-291AB7930E53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148840" y="5639562"/>
            <a:ext cx="1496568" cy="1074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C333B6EB-F34B-4140-A52D-981AB79D67CC}"/>
              </a:ext>
            </a:extLst>
          </p:cNvPr>
          <p:cNvSpPr/>
          <p:nvPr/>
        </p:nvSpPr>
        <p:spPr>
          <a:xfrm>
            <a:off x="3645408" y="6137910"/>
            <a:ext cx="1143000" cy="54406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gcc</a:t>
            </a:r>
            <a:r>
              <a:rPr lang="en-US" dirty="0"/>
              <a:t> ...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1B357F9-B0DD-4344-AE21-A318F2834B80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225040" y="5911596"/>
            <a:ext cx="1420368" cy="4983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D4D7C7A-2CE0-2E44-A875-B95BB83DE953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4815840" y="4855464"/>
            <a:ext cx="6156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2C56543-195F-864A-96F2-70CB07E54FA4}"/>
              </a:ext>
            </a:extLst>
          </p:cNvPr>
          <p:cNvCxnSpPr>
            <a:cxnSpLocks/>
          </p:cNvCxnSpPr>
          <p:nvPr/>
        </p:nvCxnSpPr>
        <p:spPr>
          <a:xfrm flipV="1">
            <a:off x="4843272" y="5639562"/>
            <a:ext cx="652272" cy="1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9F38D40-565B-E449-9890-7C026D72A8A6}"/>
              </a:ext>
            </a:extLst>
          </p:cNvPr>
          <p:cNvCxnSpPr>
            <a:cxnSpLocks/>
          </p:cNvCxnSpPr>
          <p:nvPr/>
        </p:nvCxnSpPr>
        <p:spPr>
          <a:xfrm flipV="1">
            <a:off x="4788408" y="6391656"/>
            <a:ext cx="652272" cy="1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E34BD63-6E6C-EA48-B56D-2E8D94E107DA}"/>
              </a:ext>
            </a:extLst>
          </p:cNvPr>
          <p:cNvSpPr/>
          <p:nvPr/>
        </p:nvSpPr>
        <p:spPr>
          <a:xfrm>
            <a:off x="5541264" y="4574286"/>
            <a:ext cx="1143000" cy="54406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8F5CE3-BF00-2149-A97E-103547A42291}"/>
              </a:ext>
            </a:extLst>
          </p:cNvPr>
          <p:cNvSpPr/>
          <p:nvPr/>
        </p:nvSpPr>
        <p:spPr>
          <a:xfrm>
            <a:off x="5541264" y="5385816"/>
            <a:ext cx="1143000" cy="54406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14D1F0-5B34-B54A-A56B-EFD64025498D}"/>
              </a:ext>
            </a:extLst>
          </p:cNvPr>
          <p:cNvSpPr/>
          <p:nvPr/>
        </p:nvSpPr>
        <p:spPr>
          <a:xfrm>
            <a:off x="5541264" y="6160770"/>
            <a:ext cx="1143000" cy="54406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run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FF4FB8-7C51-3B41-855D-6DA6ED44E5B9}"/>
              </a:ext>
            </a:extLst>
          </p:cNvPr>
          <p:cNvSpPr txBox="1"/>
          <p:nvPr/>
        </p:nvSpPr>
        <p:spPr>
          <a:xfrm>
            <a:off x="7534656" y="5118354"/>
            <a:ext cx="31598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Check outcome. Is it the same?</a:t>
            </a:r>
            <a:br>
              <a:rPr lang="en-US" i="1" dirty="0"/>
            </a:br>
            <a:r>
              <a:rPr lang="en-US" i="1" dirty="0"/>
              <a:t>if not, then there is a bug in one</a:t>
            </a:r>
            <a:br>
              <a:rPr lang="en-US" i="1" dirty="0"/>
            </a:br>
            <a:r>
              <a:rPr lang="en-US" i="1" dirty="0"/>
              <a:t>of the compilers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608816-ECFF-9344-97F8-C315706E5758}"/>
              </a:ext>
            </a:extLst>
          </p:cNvPr>
          <p:cNvSpPr/>
          <p:nvPr/>
        </p:nvSpPr>
        <p:spPr>
          <a:xfrm>
            <a:off x="7848600" y="1086961"/>
            <a:ext cx="333451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400BD9"/>
                </a:solidFill>
                <a:latin typeface="Menlo" panose="020B060903080402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() {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  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A01C"/>
                </a:solidFill>
                <a:latin typeface="Menlo" panose="020B060903080402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  </a:t>
            </a:r>
            <a:r>
              <a:rPr lang="en-US" dirty="0" err="1">
                <a:solidFill>
                  <a:srgbClr val="000000"/>
                </a:solidFill>
                <a:latin typeface="Menlo" panose="020B0609030804020204" pitchFamily="49" charset="0"/>
              </a:rPr>
              <a:t>printf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(</a:t>
            </a:r>
            <a:r>
              <a:rPr lang="en-US" dirty="0">
                <a:solidFill>
                  <a:srgbClr val="2FB41D"/>
                </a:solidFill>
                <a:latin typeface="Menlo" panose="020B0609030804020204" pitchFamily="49" charset="0"/>
              </a:rPr>
              <a:t>"%d\n"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, x);</a:t>
            </a: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    </a:t>
            </a:r>
            <a:r>
              <a:rPr lang="en-US" b="1" dirty="0">
                <a:solidFill>
                  <a:srgbClr val="2EAEBB"/>
                </a:solidFill>
                <a:latin typeface="Menlo" panose="020B060903080402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 0;</a:t>
            </a:r>
            <a:endParaRPr lang="en-US" dirty="0">
              <a:solidFill>
                <a:srgbClr val="2EAEBB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Menlo" panose="020B0609030804020204" pitchFamily="49" charset="0"/>
              </a:rPr>
              <a:t>}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3A1C52-1A54-C34C-BDE4-12E250028066}"/>
              </a:ext>
            </a:extLst>
          </p:cNvPr>
          <p:cNvSpPr txBox="1"/>
          <p:nvPr/>
        </p:nvSpPr>
        <p:spPr>
          <a:xfrm>
            <a:off x="8061232" y="2674086"/>
            <a:ext cx="32925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Uninitialized variables can return </a:t>
            </a:r>
          </a:p>
          <a:p>
            <a:r>
              <a:rPr lang="en-US" dirty="0"/>
              <a:t>anything!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1DF20A-C523-464B-ADAF-428639FF13E9}"/>
              </a:ext>
            </a:extLst>
          </p:cNvPr>
          <p:cNvSpPr txBox="1"/>
          <p:nvPr/>
        </p:nvSpPr>
        <p:spPr>
          <a:xfrm>
            <a:off x="8061232" y="3472436"/>
            <a:ext cx="31524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advanced compiler analysis</a:t>
            </a:r>
          </a:p>
          <a:p>
            <a:r>
              <a:rPr lang="en-US" dirty="0"/>
              <a:t>to catch these issues</a:t>
            </a:r>
          </a:p>
        </p:txBody>
      </p:sp>
    </p:spTree>
    <p:extLst>
      <p:ext uri="{BB962C8B-B14F-4D97-AF65-F5344CB8AC3E}">
        <p14:creationId xmlns:p14="http://schemas.microsoft.com/office/powerpoint/2010/main" val="17220489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2CCD-B8BC-B843-B90E-FF764E69C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Topic: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6CE13-5E20-3C4F-97D5-4A2A43A55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423708"/>
          </a:xfrm>
        </p:spPr>
        <p:txBody>
          <a:bodyPr>
            <a:normAutofit/>
          </a:bodyPr>
          <a:lstStyle/>
          <a:p>
            <a:r>
              <a:rPr lang="en-US" dirty="0"/>
              <a:t>How to remove ambiguity from grammars</a:t>
            </a:r>
          </a:p>
          <a:p>
            <a:pPr lvl="1"/>
            <a:r>
              <a:rPr lang="en-US" dirty="0"/>
              <a:t>Precedence</a:t>
            </a:r>
          </a:p>
          <a:p>
            <a:pPr lvl="1"/>
            <a:r>
              <a:rPr lang="en-US" dirty="0"/>
              <a:t>Associativity </a:t>
            </a:r>
          </a:p>
        </p:txBody>
      </p:sp>
    </p:spTree>
    <p:extLst>
      <p:ext uri="{BB962C8B-B14F-4D97-AF65-F5344CB8AC3E}">
        <p14:creationId xmlns:p14="http://schemas.microsoft.com/office/powerpoint/2010/main" val="2524048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29041</TotalTime>
  <Words>4405</Words>
  <Application>Microsoft Office PowerPoint</Application>
  <PresentationFormat>Widescreen</PresentationFormat>
  <Paragraphs>975</Paragraphs>
  <Slides>67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Arial</vt:lpstr>
      <vt:lpstr>Calibri</vt:lpstr>
      <vt:lpstr>Calibri Light</vt:lpstr>
      <vt:lpstr>Courier</vt:lpstr>
      <vt:lpstr>Menlo</vt:lpstr>
      <vt:lpstr>Office Theme</vt:lpstr>
      <vt:lpstr>CSE110A: Compilers </vt:lpstr>
      <vt:lpstr>Announcements </vt:lpstr>
      <vt:lpstr>Module 2:  CFG and Parsing</vt:lpstr>
      <vt:lpstr>Compiler Architecture</vt:lpstr>
      <vt:lpstr>PowerPoint Presentation</vt:lpstr>
      <vt:lpstr>PowerPoint Presentation</vt:lpstr>
      <vt:lpstr>PowerPoint Presentation</vt:lpstr>
      <vt:lpstr>PowerPoint Presentation</vt:lpstr>
      <vt:lpstr>Syntactic Analysis</vt:lpstr>
      <vt:lpstr>Syntactic Analysis</vt:lpstr>
      <vt:lpstr>How do we express a valid sentence?</vt:lpstr>
      <vt:lpstr>How do we express a valid sentence?</vt:lpstr>
      <vt:lpstr>How do we express a valid sentence?</vt:lpstr>
      <vt:lpstr>How do we express a valid sentence?</vt:lpstr>
      <vt:lpstr>How do we express a valid sentence?</vt:lpstr>
      <vt:lpstr>How do we express a valid sentence?</vt:lpstr>
      <vt:lpstr>Mathematical expressions</vt:lpstr>
      <vt:lpstr>Mathematical expressions</vt:lpstr>
      <vt:lpstr>Mathematical expressions</vt:lpstr>
      <vt:lpstr>Mathematical expressions</vt:lpstr>
      <vt:lpstr>Mathematical expressions</vt:lpstr>
      <vt:lpstr>Mathematical expressions</vt:lpstr>
      <vt:lpstr>Mathematical expressions</vt:lpstr>
      <vt:lpstr>Mathematical expressions</vt:lpstr>
      <vt:lpstr>Mathematical expressions</vt:lpstr>
      <vt:lpstr>Context Free Grammars: A new class of languages</vt:lpstr>
      <vt:lpstr>Recall: Language theory</vt:lpstr>
      <vt:lpstr>Recall: Language theory: Chomsky Hierarchy</vt:lpstr>
      <vt:lpstr>Context-Free Languages (CFG)</vt:lpstr>
      <vt:lpstr>Context-Free Languages</vt:lpstr>
      <vt:lpstr>Context-free grammar</vt:lpstr>
      <vt:lpstr>John Backus     (BNF)</vt:lpstr>
      <vt:lpstr>Peter Naur     (BNF)   </vt:lpstr>
      <vt:lpstr>Context-free grammar</vt:lpstr>
      <vt:lpstr>Deriving strings</vt:lpstr>
      <vt:lpstr>Deriving strings</vt:lpstr>
      <vt:lpstr>Deriving strings</vt:lpstr>
      <vt:lpstr>Mathematical expressions</vt:lpstr>
      <vt:lpstr>Mathematical expressions</vt:lpstr>
      <vt:lpstr>A more complicated example</vt:lpstr>
      <vt:lpstr>A more complicated example</vt:lpstr>
      <vt:lpstr>A more complicated example</vt:lpstr>
      <vt:lpstr>A more complicated example</vt:lpstr>
      <vt:lpstr>A more complicated example</vt:lpstr>
      <vt:lpstr>A more complicated example</vt:lpstr>
      <vt:lpstr>A more complicated example</vt:lpstr>
      <vt:lpstr>A more complicated example</vt:lpstr>
      <vt:lpstr>A more complicated example</vt:lpstr>
      <vt:lpstr>A more complicated example</vt:lpstr>
      <vt:lpstr>A more complicated example</vt:lpstr>
      <vt:lpstr>A more complicated example</vt:lpstr>
      <vt:lpstr>Meaning into structure</vt:lpstr>
      <vt:lpstr>Post order traversal</vt:lpstr>
      <vt:lpstr>Review: Possible Orders of Traversal</vt:lpstr>
      <vt:lpstr>Post Order Traversal</vt:lpstr>
      <vt:lpstr>Ambiguous grammars</vt:lpstr>
      <vt:lpstr>Ambiguous grammars</vt:lpstr>
      <vt:lpstr>Ambiguous grammars</vt:lpstr>
      <vt:lpstr>Ambiguous grammars</vt:lpstr>
      <vt:lpstr>Ambiguous grammars</vt:lpstr>
      <vt:lpstr>Ambiguous grammars</vt:lpstr>
      <vt:lpstr>Ambiguous grammars</vt:lpstr>
      <vt:lpstr>We will study how to eliminate ambiguity </vt:lpstr>
      <vt:lpstr>Interesting Case study</vt:lpstr>
      <vt:lpstr>Case study</vt:lpstr>
      <vt:lpstr>Case study</vt:lpstr>
      <vt:lpstr>Next Topic: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Tyler Sorensen</dc:creator>
  <cp:lastModifiedBy>Marcelo Siero</cp:lastModifiedBy>
  <cp:revision>461</cp:revision>
  <dcterms:created xsi:type="dcterms:W3CDTF">2021-03-23T23:59:42Z</dcterms:created>
  <dcterms:modified xsi:type="dcterms:W3CDTF">2026-01-22T11:10:11Z</dcterms:modified>
</cp:coreProperties>
</file>