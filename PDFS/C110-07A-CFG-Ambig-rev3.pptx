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4"/>
  </p:notesMasterIdLst>
  <p:sldIdLst>
    <p:sldId id="257" r:id="rId2"/>
    <p:sldId id="1131" r:id="rId3"/>
    <p:sldId id="1046" r:id="rId4"/>
    <p:sldId id="692" r:id="rId5"/>
    <p:sldId id="694" r:id="rId6"/>
    <p:sldId id="695" r:id="rId7"/>
    <p:sldId id="696" r:id="rId8"/>
    <p:sldId id="697" r:id="rId9"/>
    <p:sldId id="1047" r:id="rId10"/>
    <p:sldId id="1049" r:id="rId11"/>
    <p:sldId id="1050" r:id="rId12"/>
    <p:sldId id="1081" r:id="rId13"/>
    <p:sldId id="1080" r:id="rId14"/>
    <p:sldId id="1084" r:id="rId15"/>
    <p:sldId id="1083" r:id="rId16"/>
    <p:sldId id="1085" r:id="rId17"/>
    <p:sldId id="1051" r:id="rId18"/>
    <p:sldId id="1086" r:id="rId19"/>
    <p:sldId id="1088" r:id="rId20"/>
    <p:sldId id="1089" r:id="rId21"/>
    <p:sldId id="1091" r:id="rId22"/>
    <p:sldId id="1132" r:id="rId23"/>
    <p:sldId id="1092" r:id="rId24"/>
    <p:sldId id="1093" r:id="rId25"/>
    <p:sldId id="1094" r:id="rId26"/>
    <p:sldId id="1095" r:id="rId27"/>
    <p:sldId id="820" r:id="rId28"/>
    <p:sldId id="853" r:id="rId29"/>
    <p:sldId id="1125" r:id="rId30"/>
    <p:sldId id="1096" r:id="rId31"/>
    <p:sldId id="1097" r:id="rId32"/>
    <p:sldId id="1133" r:id="rId33"/>
    <p:sldId id="1098" r:id="rId34"/>
    <p:sldId id="1099" r:id="rId35"/>
    <p:sldId id="1100" r:id="rId36"/>
    <p:sldId id="1101" r:id="rId37"/>
    <p:sldId id="1129" r:id="rId38"/>
    <p:sldId id="1130" r:id="rId39"/>
    <p:sldId id="1102" r:id="rId40"/>
    <p:sldId id="1103" r:id="rId41"/>
    <p:sldId id="1104" r:id="rId42"/>
    <p:sldId id="1105" r:id="rId43"/>
    <p:sldId id="1106" r:id="rId44"/>
    <p:sldId id="1107" r:id="rId45"/>
    <p:sldId id="1108" r:id="rId46"/>
    <p:sldId id="1109" r:id="rId47"/>
    <p:sldId id="1110" r:id="rId48"/>
    <p:sldId id="1134" r:id="rId49"/>
    <p:sldId id="1135" r:id="rId50"/>
    <p:sldId id="1136" r:id="rId51"/>
    <p:sldId id="1138" r:id="rId52"/>
    <p:sldId id="1137" r:id="rId53"/>
    <p:sldId id="1118" r:id="rId54"/>
    <p:sldId id="1119" r:id="rId55"/>
    <p:sldId id="1392" r:id="rId56"/>
    <p:sldId id="1391" r:id="rId57"/>
    <p:sldId id="1393" r:id="rId58"/>
    <p:sldId id="1111" r:id="rId59"/>
    <p:sldId id="1112" r:id="rId60"/>
    <p:sldId id="1113" r:id="rId61"/>
    <p:sldId id="1060" r:id="rId62"/>
    <p:sldId id="1115" r:id="rId63"/>
    <p:sldId id="1116" r:id="rId64"/>
    <p:sldId id="1117" r:id="rId65"/>
    <p:sldId id="1114" r:id="rId66"/>
    <p:sldId id="1126" r:id="rId67"/>
    <p:sldId id="1120" r:id="rId68"/>
    <p:sldId id="1127" r:id="rId69"/>
    <p:sldId id="1122" r:id="rId70"/>
    <p:sldId id="1123" r:id="rId71"/>
    <p:sldId id="1124" r:id="rId72"/>
    <p:sldId id="78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/>
    <p:restoredTop sz="96405"/>
  </p:normalViewPr>
  <p:slideViewPr>
    <p:cSldViewPr snapToGrid="0" snapToObjects="1">
      <p:cViewPr varScale="1">
        <p:scale>
          <a:sx n="82" d="100"/>
          <a:sy n="82" d="100"/>
        </p:scale>
        <p:origin x="12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Structure and Find Errors (the earlier the better) – don’t propagate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7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trees – get to nodes are </a:t>
            </a:r>
            <a:r>
              <a:rPr lang="en-US" dirty="0" err="1"/>
              <a:t>aperators</a:t>
            </a:r>
            <a:r>
              <a:rPr lang="en-US" dirty="0"/>
              <a:t>, leaves are other nodes or tokens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27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an expression … an expression evaluates to something (RHS of assignment)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9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 some structure – but deeper meaning is not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98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introduce meaning.  RE’s finds matches. but does not do much about adding meaning.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9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F653-38D5-DBB2-D6DA-2D9CC7BBF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3F2FC-C10E-6EE2-60B3-AF9A22668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7744E-B6E8-B34F-9A1C-268792C55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introduce meaning.  RE’s finds matches. but does not do much about adding meaning.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34BAA-5EC0-2ED0-D5C0-12C9D5E26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50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 the issue of matching parenthesis as early as possible..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5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provable theorem in CSE103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87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the power of CFGs come from the use of recursion.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84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non-terminal is defined in terms of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12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call this a parse tree,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97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parse tree can be traversed (post-order) to create the original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75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B1048-F4FC-184A-BE58-7089A010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97885-4E5F-DAC8-2FF8-005811DAC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F1EA0B-43DF-8772-667F-5F340851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parse tree can be traversed (post-order) to create the original expression.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C7197-47E7-7779-857A-021C1B61D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26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7B7F8-0CD4-BB49-9045-2C974462FF1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665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Computer_scientist" TargetMode="External"/><Relationship Id="rId13" Type="http://schemas.openxmlformats.org/officeDocument/2006/relationships/image" Target="../media/image3.png"/><Relationship Id="rId18" Type="http://schemas.openxmlformats.org/officeDocument/2006/relationships/hyperlink" Target="https://en.wikipedia.org/wiki/Syntax_(programming_languages)" TargetMode="External"/><Relationship Id="rId3" Type="http://schemas.openxmlformats.org/officeDocument/2006/relationships/hyperlink" Target="https://en.wikipedia.org/wiki/Speedcoding" TargetMode="External"/><Relationship Id="rId7" Type="http://schemas.openxmlformats.org/officeDocument/2006/relationships/hyperlink" Target="https://en.wikipedia.org/wiki/Function-level_programming" TargetMode="External"/><Relationship Id="rId12" Type="http://schemas.openxmlformats.org/officeDocument/2006/relationships/hyperlink" Target="https://en.wikipedia.org/wiki/John_Backus#cite_note-can-1" TargetMode="External"/><Relationship Id="rId17" Type="http://schemas.openxmlformats.org/officeDocument/2006/relationships/hyperlink" Target="https://en.wikipedia.org/wiki/John_Backus" TargetMode="External"/><Relationship Id="rId2" Type="http://schemas.openxmlformats.org/officeDocument/2006/relationships/image" Target="../media/image2.png"/><Relationship Id="rId16" Type="http://schemas.openxmlformats.org/officeDocument/2006/relationships/hyperlink" Target="https://en.wikipedia.org/wiki/Turing_Award" TargetMode="External"/><Relationship Id="rId20" Type="http://schemas.openxmlformats.org/officeDocument/2006/relationships/hyperlink" Target="https://en.wikipedia.org/wiki/ALGOL_6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Backus%E2%80%93Naur_form" TargetMode="External"/><Relationship Id="rId11" Type="http://schemas.openxmlformats.org/officeDocument/2006/relationships/hyperlink" Target="https://en.wikipedia.org/wiki/Formal_language" TargetMode="External"/><Relationship Id="rId5" Type="http://schemas.openxmlformats.org/officeDocument/2006/relationships/hyperlink" Target="https://en.wikipedia.org/wiki/ALGOL" TargetMode="External"/><Relationship Id="rId15" Type="http://schemas.openxmlformats.org/officeDocument/2006/relationships/hyperlink" Target="https://en.wikipedia.org/wiki/Computer_science" TargetMode="External"/><Relationship Id="rId10" Type="http://schemas.openxmlformats.org/officeDocument/2006/relationships/hyperlink" Target="https://en.wikipedia.org/wiki/Syntax" TargetMode="External"/><Relationship Id="rId19" Type="http://schemas.openxmlformats.org/officeDocument/2006/relationships/hyperlink" Target="https://en.wikipedia.org/wiki/Programming_language" TargetMode="External"/><Relationship Id="rId4" Type="http://schemas.openxmlformats.org/officeDocument/2006/relationships/hyperlink" Target="https://en.wikipedia.org/wiki/Fortran" TargetMode="External"/><Relationship Id="rId9" Type="http://schemas.openxmlformats.org/officeDocument/2006/relationships/hyperlink" Target="https://en.wikipedia.org/wiki/High-level_programming_language" TargetMode="External"/><Relationship Id="rId14" Type="http://schemas.openxmlformats.org/officeDocument/2006/relationships/hyperlink" Target="https://en.wikipedia.org/wiki/Peter_Naur#cite_note-1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9" y="370459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br>
              <a:rPr lang="en-US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350" y="2242268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Starting Module 2: Parsing</a:t>
            </a:r>
          </a:p>
          <a:p>
            <a:pPr lvl="1"/>
            <a:r>
              <a:rPr lang="en-US" i="1" dirty="0"/>
              <a:t>Introduction</a:t>
            </a:r>
          </a:p>
          <a:p>
            <a:pPr lvl="1"/>
            <a:r>
              <a:rPr lang="en-US" i="1" dirty="0"/>
              <a:t>Production Rules</a:t>
            </a:r>
          </a:p>
          <a:p>
            <a:pPr lvl="1"/>
            <a:r>
              <a:rPr lang="en-US" i="1" dirty="0"/>
              <a:t>Derivations and Parse Trees</a:t>
            </a:r>
          </a:p>
          <a:p>
            <a:pPr lvl="1"/>
            <a:r>
              <a:rPr lang="en-US" i="1" dirty="0"/>
              <a:t>A Simple Expression Grammar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i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10097167" y="209080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10119752" y="2402657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471682" y="2402657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722652" y="2720674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512211" y="2727971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971844" y="3050112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367706" y="3039820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925639" y="336139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993191" y="335166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9" name="Snip Single Corner Rectangle 38">
            <a:extLst>
              <a:ext uri="{FF2B5EF4-FFF2-40B4-BE49-F238E27FC236}">
                <a16:creationId xmlns:a16="http://schemas.microsoft.com/office/drawing/2014/main" id="{F7AACD00-7B7A-7E4A-8E82-E00367CBE379}"/>
              </a:ext>
            </a:extLst>
          </p:cNvPr>
          <p:cNvSpPr/>
          <p:nvPr/>
        </p:nvSpPr>
        <p:spPr>
          <a:xfrm>
            <a:off x="7026095" y="2373274"/>
            <a:ext cx="1594022" cy="1235676"/>
          </a:xfrm>
          <a:prstGeom prst="snip1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int main() {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" pitchFamily="2" charset="0"/>
              </a:rPr>
              <a:t>printf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(““);</a:t>
            </a:r>
          </a:p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return 0;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D5C64FAD-A257-F54D-A462-4BA9F13CC36D}"/>
              </a:ext>
            </a:extLst>
          </p:cNvPr>
          <p:cNvSpPr/>
          <p:nvPr/>
        </p:nvSpPr>
        <p:spPr>
          <a:xfrm flipV="1">
            <a:off x="8796082" y="2700225"/>
            <a:ext cx="951875" cy="35445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CC03-2289-E425-2D86-C02B39A8C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0156-EAAD-09A3-0B30-821752DE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39" y="-26022"/>
            <a:ext cx="10515600" cy="1553757"/>
          </a:xfrm>
        </p:spPr>
        <p:txBody>
          <a:bodyPr/>
          <a:lstStyle/>
          <a:p>
            <a:r>
              <a:rPr lang="en-US" sz="5000" b="1" dirty="0"/>
              <a:t>Announcements</a:t>
            </a:r>
            <a:br>
              <a:rPr lang="en-US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05E07-8CE7-6894-7D02-B1534303A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039" y="1327234"/>
            <a:ext cx="6901683" cy="420353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/>
              <a:t>Homework 1</a:t>
            </a:r>
          </a:p>
          <a:p>
            <a:pPr marL="0" indent="0">
              <a:buNone/>
            </a:pPr>
            <a:r>
              <a:rPr lang="en-US" sz="3000" b="1" dirty="0"/>
              <a:t>      due Tue 1/27 at 11:59PM</a:t>
            </a:r>
          </a:p>
          <a:p>
            <a:pPr marL="0" indent="0">
              <a:buNone/>
            </a:pPr>
            <a:r>
              <a:rPr lang="en-US" sz="3000" b="1" dirty="0"/>
              <a:t>Quiz 5: Scanner EM-SOS-NG-Actions</a:t>
            </a:r>
          </a:p>
          <a:p>
            <a:pPr marL="0" indent="0">
              <a:buNone/>
            </a:pPr>
            <a:r>
              <a:rPr lang="en-US" sz="3000" b="1" dirty="0"/>
              <a:t>      due Tue 1/27 at 5PM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3000" b="1" dirty="0"/>
              <a:t>Module 2: Parsing Starting today.</a:t>
            </a:r>
            <a:r>
              <a:rPr lang="en-US" sz="3000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000" b="1" dirty="0"/>
              <a:t>Lots of Tutoring is Available, </a:t>
            </a:r>
          </a:p>
          <a:p>
            <a:pPr marL="0" indent="0">
              <a:buNone/>
            </a:pPr>
            <a:r>
              <a:rPr lang="en-US" sz="3000" b="1" dirty="0"/>
              <a:t>     See Calendar for Details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0212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Module 2:  CFG and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Parsing:</a:t>
            </a:r>
          </a:p>
          <a:p>
            <a:pPr lvl="1"/>
            <a:r>
              <a:rPr lang="en-US" sz="3200" dirty="0"/>
              <a:t>Often times scanning is also included in parsing</a:t>
            </a:r>
          </a:p>
          <a:p>
            <a:pPr lvl="1"/>
            <a:r>
              <a:rPr lang="en-US" sz="3200" dirty="0"/>
              <a:t>Specifically this module is about “Syntactic Analysis” </a:t>
            </a:r>
          </a:p>
        </p:txBody>
      </p:sp>
    </p:spTree>
    <p:extLst>
      <p:ext uri="{BB962C8B-B14F-4D97-AF65-F5344CB8AC3E}">
        <p14:creationId xmlns:p14="http://schemas.microsoft.com/office/powerpoint/2010/main" val="351971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71DE59F-C753-BF43-8241-72F9E8A22B16}"/>
              </a:ext>
            </a:extLst>
          </p:cNvPr>
          <p:cNvSpPr/>
          <p:nvPr/>
        </p:nvSpPr>
        <p:spPr>
          <a:xfrm>
            <a:off x="4494004" y="2470198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891F54-A6FD-BC4A-9CFD-9BB478DB73C1}"/>
              </a:ext>
            </a:extLst>
          </p:cNvPr>
          <p:cNvSpPr/>
          <p:nvPr/>
        </p:nvSpPr>
        <p:spPr>
          <a:xfrm>
            <a:off x="4618016" y="2632889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4A3AC4-D615-E74D-A086-484ABE441DB2}"/>
              </a:ext>
            </a:extLst>
          </p:cNvPr>
          <p:cNvSpPr/>
          <p:nvPr/>
        </p:nvSpPr>
        <p:spPr>
          <a:xfrm>
            <a:off x="4771189" y="2840074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7911C6-9A1D-8E46-9CEC-47222CC1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2369085" y="3008584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 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231012" y="3015049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10556083" y="2974888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743009" y="3428999"/>
            <a:ext cx="51898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BE4C43D-4464-9A4F-915B-1AF6600016A4}"/>
              </a:ext>
            </a:extLst>
          </p:cNvPr>
          <p:cNvSpPr/>
          <p:nvPr/>
        </p:nvSpPr>
        <p:spPr>
          <a:xfrm>
            <a:off x="9930007" y="3435472"/>
            <a:ext cx="51898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89613-6A59-1E42-A7A0-FE88862E8127}"/>
              </a:ext>
            </a:extLst>
          </p:cNvPr>
          <p:cNvSpPr txBox="1"/>
          <p:nvPr/>
        </p:nvSpPr>
        <p:spPr>
          <a:xfrm>
            <a:off x="2232577" y="5766577"/>
            <a:ext cx="3714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Still working in the front 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8452022" y="3015049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  <a:br>
              <a:rPr lang="en-US" dirty="0"/>
            </a:br>
            <a:r>
              <a:rPr lang="en-US" dirty="0"/>
              <a:t>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057D7B-6672-DC42-993E-959C20A7F0F1}"/>
              </a:ext>
            </a:extLst>
          </p:cNvPr>
          <p:cNvSpPr/>
          <p:nvPr/>
        </p:nvSpPr>
        <p:spPr>
          <a:xfrm>
            <a:off x="4894218" y="3015049"/>
            <a:ext cx="1976846" cy="12109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691963" y="3435471"/>
            <a:ext cx="768177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691B1CE3-AAAB-2F4A-93E1-46E70C081969}"/>
              </a:ext>
            </a:extLst>
          </p:cNvPr>
          <p:cNvSpPr/>
          <p:nvPr/>
        </p:nvSpPr>
        <p:spPr>
          <a:xfrm>
            <a:off x="7096549" y="3462694"/>
            <a:ext cx="1019373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A1853F-08A3-B94A-A039-400C7E67917F}"/>
              </a:ext>
            </a:extLst>
          </p:cNvPr>
          <p:cNvSpPr/>
          <p:nvPr/>
        </p:nvSpPr>
        <p:spPr>
          <a:xfrm>
            <a:off x="1959429" y="1837509"/>
            <a:ext cx="8107679" cy="37011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345F39-87B8-4048-B8D4-A577F1CD9348}"/>
              </a:ext>
            </a:extLst>
          </p:cNvPr>
          <p:cNvSpPr txBox="1"/>
          <p:nvPr/>
        </p:nvSpPr>
        <p:spPr>
          <a:xfrm>
            <a:off x="5240958" y="1871122"/>
            <a:ext cx="1283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compiler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ACCDB7-7FA2-5942-B45D-FD4218C019BE}"/>
              </a:ext>
            </a:extLst>
          </p:cNvPr>
          <p:cNvSpPr txBox="1"/>
          <p:nvPr/>
        </p:nvSpPr>
        <p:spPr>
          <a:xfrm>
            <a:off x="2447109" y="4299838"/>
            <a:ext cx="866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E094A-0FE9-2043-9F37-0659F8A260E8}"/>
              </a:ext>
            </a:extLst>
          </p:cNvPr>
          <p:cNvSpPr txBox="1"/>
          <p:nvPr/>
        </p:nvSpPr>
        <p:spPr>
          <a:xfrm>
            <a:off x="8541504" y="4226011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gen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53302D6-7755-6D4B-84A2-19AB17545C5A}"/>
              </a:ext>
            </a:extLst>
          </p:cNvPr>
          <p:cNvSpPr/>
          <p:nvPr/>
        </p:nvSpPr>
        <p:spPr>
          <a:xfrm rot="8848743">
            <a:off x="5884098" y="4443973"/>
            <a:ext cx="1019373" cy="302741"/>
          </a:xfrm>
          <a:prstGeom prst="rightArrow">
            <a:avLst>
              <a:gd name="adj1" fmla="val 55754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026B06C5-8D02-2E43-9B16-CA8BF2231F67}"/>
              </a:ext>
            </a:extLst>
          </p:cNvPr>
          <p:cNvSpPr/>
          <p:nvPr/>
        </p:nvSpPr>
        <p:spPr>
          <a:xfrm rot="12718130">
            <a:off x="5026115" y="4517799"/>
            <a:ext cx="1019373" cy="302741"/>
          </a:xfrm>
          <a:prstGeom prst="rightArrow">
            <a:avLst>
              <a:gd name="adj1" fmla="val 55754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C540AF-F8AB-1043-BE5B-D1675E9B18A6}"/>
              </a:ext>
            </a:extLst>
          </p:cNvPr>
          <p:cNvSpPr txBox="1"/>
          <p:nvPr/>
        </p:nvSpPr>
        <p:spPr>
          <a:xfrm>
            <a:off x="6465912" y="4775901"/>
            <a:ext cx="2020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optimizations</a:t>
            </a:r>
          </a:p>
          <a:p>
            <a:r>
              <a:rPr lang="en-US" dirty="0"/>
              <a:t>build on each other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CFEF8E-36DF-FB47-99C4-01EC345A7D76}"/>
              </a:ext>
            </a:extLst>
          </p:cNvPr>
          <p:cNvSpPr txBox="1"/>
          <p:nvPr/>
        </p:nvSpPr>
        <p:spPr>
          <a:xfrm>
            <a:off x="3454104" y="2296268"/>
            <a:ext cx="1039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creates</a:t>
            </a:r>
            <a:br>
              <a:rPr lang="en-US" dirty="0"/>
            </a:br>
            <a:r>
              <a:rPr lang="en-US" dirty="0"/>
              <a:t>structure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03DCD5-0038-B646-93C6-C85CBE640171}"/>
              </a:ext>
            </a:extLst>
          </p:cNvPr>
          <p:cNvSpPr txBox="1"/>
          <p:nvPr/>
        </p:nvSpPr>
        <p:spPr>
          <a:xfrm>
            <a:off x="287383" y="4336869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942029-AE5D-884E-8594-EAD473DCF4E3}"/>
              </a:ext>
            </a:extLst>
          </p:cNvPr>
          <p:cNvSpPr txBox="1"/>
          <p:nvPr/>
        </p:nvSpPr>
        <p:spPr>
          <a:xfrm>
            <a:off x="8115922" y="2252299"/>
            <a:ext cx="1707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produces</a:t>
            </a:r>
            <a:br>
              <a:rPr lang="en-US" dirty="0"/>
            </a:br>
            <a:r>
              <a:rPr lang="en-US" dirty="0"/>
              <a:t>executable code</a:t>
            </a:r>
          </a:p>
        </p:txBody>
      </p:sp>
    </p:spTree>
    <p:extLst>
      <p:ext uri="{BB962C8B-B14F-4D97-AF65-F5344CB8AC3E}">
        <p14:creationId xmlns:p14="http://schemas.microsoft.com/office/powerpoint/2010/main" val="778431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866B4-F713-2142-838D-8740AA78E81C}"/>
              </a:ext>
            </a:extLst>
          </p:cNvPr>
          <p:cNvSpPr txBox="1"/>
          <p:nvPr/>
        </p:nvSpPr>
        <p:spPr>
          <a:xfrm>
            <a:off x="7474179" y="3639324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</p:spTree>
    <p:extLst>
      <p:ext uri="{BB962C8B-B14F-4D97-AF65-F5344CB8AC3E}">
        <p14:creationId xmlns:p14="http://schemas.microsoft.com/office/powerpoint/2010/main" val="224003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6A2755-A0B7-D948-9779-9A1B3546B6B2}"/>
              </a:ext>
            </a:extLst>
          </p:cNvPr>
          <p:cNvSpPr txBox="1"/>
          <p:nvPr/>
        </p:nvSpPr>
        <p:spPr>
          <a:xfrm>
            <a:off x="4000931" y="6165543"/>
            <a:ext cx="2603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More detailed 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D866B4-F713-2142-838D-8740AA78E81C}"/>
              </a:ext>
            </a:extLst>
          </p:cNvPr>
          <p:cNvSpPr txBox="1"/>
          <p:nvPr/>
        </p:nvSpPr>
        <p:spPr>
          <a:xfrm>
            <a:off x="7474179" y="3639324"/>
            <a:ext cx="1331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</p:spTree>
    <p:extLst>
      <p:ext uri="{BB962C8B-B14F-4D97-AF65-F5344CB8AC3E}">
        <p14:creationId xmlns:p14="http://schemas.microsoft.com/office/powerpoint/2010/main" val="1011886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0751F0-E19A-D84D-9951-45201A881424}"/>
              </a:ext>
            </a:extLst>
          </p:cNvPr>
          <p:cNvSpPr txBox="1"/>
          <p:nvPr/>
        </p:nvSpPr>
        <p:spPr>
          <a:xfrm>
            <a:off x="6738970" y="5643770"/>
            <a:ext cx="2317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ISA program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EB4C4B-3719-574B-9A98-070FBBC9C369}"/>
              </a:ext>
            </a:extLst>
          </p:cNvPr>
          <p:cNvSpPr txBox="1"/>
          <p:nvPr/>
        </p:nvSpPr>
        <p:spPr>
          <a:xfrm>
            <a:off x="301294" y="2889479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916986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&lt;id,1&gt; &lt;assign,=&gt; &lt;id,2&gt;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&lt;id,3&gt;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3494960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</p:spTree>
    <p:extLst>
      <p:ext uri="{BB962C8B-B14F-4D97-AF65-F5344CB8AC3E}">
        <p14:creationId xmlns:p14="http://schemas.microsoft.com/office/powerpoint/2010/main" val="4059117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3C3FB4-8387-7740-8B88-F7681E85B088}"/>
              </a:ext>
            </a:extLst>
          </p:cNvPr>
          <p:cNvSpPr/>
          <p:nvPr/>
        </p:nvSpPr>
        <p:spPr>
          <a:xfrm>
            <a:off x="1922537" y="837898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Lexical </a:t>
            </a:r>
            <a:br>
              <a:rPr lang="en-US" dirty="0"/>
            </a:br>
            <a:r>
              <a:rPr lang="en-US" dirty="0"/>
              <a:t>Analysis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9A6023-EC82-A348-A446-E8B7B9D4A2B7}"/>
              </a:ext>
            </a:extLst>
          </p:cNvPr>
          <p:cNvSpPr/>
          <p:nvPr/>
        </p:nvSpPr>
        <p:spPr>
          <a:xfrm>
            <a:off x="47212" y="837898"/>
            <a:ext cx="1404904" cy="10605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input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69E972-31FB-0F46-9209-4DF577D2E41D}"/>
              </a:ext>
            </a:extLst>
          </p:cNvPr>
          <p:cNvSpPr/>
          <p:nvPr/>
        </p:nvSpPr>
        <p:spPr>
          <a:xfrm>
            <a:off x="9056912" y="5620832"/>
            <a:ext cx="1404904" cy="12109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machine code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0E88B5D4-B47A-AA4B-8096-1E8840A62035}"/>
              </a:ext>
            </a:extLst>
          </p:cNvPr>
          <p:cNvSpPr/>
          <p:nvPr/>
        </p:nvSpPr>
        <p:spPr>
          <a:xfrm>
            <a:off x="1500856" y="1258320"/>
            <a:ext cx="394616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73E7D-D501-6942-9579-E59C05EE34A5}"/>
              </a:ext>
            </a:extLst>
          </p:cNvPr>
          <p:cNvSpPr/>
          <p:nvPr/>
        </p:nvSpPr>
        <p:spPr>
          <a:xfrm>
            <a:off x="7081986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Intermediate code gen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6F6209B-87CB-9A4D-AC1B-B23FA21FDAEB}"/>
              </a:ext>
            </a:extLst>
          </p:cNvPr>
          <p:cNvSpPr/>
          <p:nvPr/>
        </p:nvSpPr>
        <p:spPr>
          <a:xfrm>
            <a:off x="3168554" y="1288507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C8487E-1082-0946-B393-D2E9537FF66C}"/>
              </a:ext>
            </a:extLst>
          </p:cNvPr>
          <p:cNvSpPr/>
          <p:nvPr/>
        </p:nvSpPr>
        <p:spPr>
          <a:xfrm>
            <a:off x="3607889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Syntactic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31FE463-D808-EC4B-841B-36407BEADCAD}"/>
              </a:ext>
            </a:extLst>
          </p:cNvPr>
          <p:cNvSpPr/>
          <p:nvPr/>
        </p:nvSpPr>
        <p:spPr>
          <a:xfrm>
            <a:off x="5293241" y="844261"/>
            <a:ext cx="1215787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 Analyzer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4880A007-364A-354C-B940-DE0450EBF6B0}"/>
              </a:ext>
            </a:extLst>
          </p:cNvPr>
          <p:cNvSpPr/>
          <p:nvPr/>
        </p:nvSpPr>
        <p:spPr>
          <a:xfrm>
            <a:off x="4881567" y="1258320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B59943-49F7-F944-AE1A-808C426ECB74}"/>
              </a:ext>
            </a:extLst>
          </p:cNvPr>
          <p:cNvSpPr/>
          <p:nvPr/>
        </p:nvSpPr>
        <p:spPr>
          <a:xfrm>
            <a:off x="8955658" y="844261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optimizations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0B9C32-F0CB-924E-B890-FDD2192B46F8}"/>
              </a:ext>
            </a:extLst>
          </p:cNvPr>
          <p:cNvSpPr/>
          <p:nvPr/>
        </p:nvSpPr>
        <p:spPr>
          <a:xfrm>
            <a:off x="8955658" y="2468664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gen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8FDD22-BE96-6841-8DF1-B72E4176D3BC}"/>
              </a:ext>
            </a:extLst>
          </p:cNvPr>
          <p:cNvSpPr/>
          <p:nvPr/>
        </p:nvSpPr>
        <p:spPr>
          <a:xfrm>
            <a:off x="8955658" y="4070875"/>
            <a:ext cx="1459518" cy="12109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code optimizations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30270E25-7519-9849-8A8A-55EDEC13CA28}"/>
              </a:ext>
            </a:extLst>
          </p:cNvPr>
          <p:cNvSpPr/>
          <p:nvPr/>
        </p:nvSpPr>
        <p:spPr>
          <a:xfrm>
            <a:off x="6604785" y="1258319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0B5584FA-4115-7746-BEA9-9A88F9BE9C9A}"/>
              </a:ext>
            </a:extLst>
          </p:cNvPr>
          <p:cNvSpPr/>
          <p:nvPr/>
        </p:nvSpPr>
        <p:spPr>
          <a:xfrm>
            <a:off x="8574214" y="125183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24E85ACC-A0A9-5B40-B04D-04D2E2D5F1B0}"/>
              </a:ext>
            </a:extLst>
          </p:cNvPr>
          <p:cNvSpPr/>
          <p:nvPr/>
        </p:nvSpPr>
        <p:spPr>
          <a:xfrm rot="5400000">
            <a:off x="9494694" y="212657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A4DC3868-88DC-A441-A2CD-782954D64A82}"/>
              </a:ext>
            </a:extLst>
          </p:cNvPr>
          <p:cNvSpPr/>
          <p:nvPr/>
        </p:nvSpPr>
        <p:spPr>
          <a:xfrm rot="5400000">
            <a:off x="9460816" y="3736112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E6E5538-E97A-8340-B25C-EC8500DCEC46}"/>
              </a:ext>
            </a:extLst>
          </p:cNvPr>
          <p:cNvSpPr/>
          <p:nvPr/>
        </p:nvSpPr>
        <p:spPr>
          <a:xfrm rot="5400000">
            <a:off x="9494694" y="5324966"/>
            <a:ext cx="381444" cy="30274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21F425-5E4D-5148-B4C9-0A4E542242CD}"/>
              </a:ext>
            </a:extLst>
          </p:cNvPr>
          <p:cNvSpPr txBox="1"/>
          <p:nvPr/>
        </p:nvSpPr>
        <p:spPr>
          <a:xfrm>
            <a:off x="10522267" y="125521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A8FD6D-0DD9-BB45-B8EF-80BED5F821C7}"/>
              </a:ext>
            </a:extLst>
          </p:cNvPr>
          <p:cNvSpPr txBox="1"/>
          <p:nvPr/>
        </p:nvSpPr>
        <p:spPr>
          <a:xfrm>
            <a:off x="10522267" y="4491690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loop!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8A2E6F-3120-F842-AA3F-EA00120F76FC}"/>
              </a:ext>
            </a:extLst>
          </p:cNvPr>
          <p:cNvSpPr txBox="1"/>
          <p:nvPr/>
        </p:nvSpPr>
        <p:spPr>
          <a:xfrm>
            <a:off x="259504" y="2099332"/>
            <a:ext cx="71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551A3-B151-DF4C-9EDD-7C069FE1AA46}"/>
              </a:ext>
            </a:extLst>
          </p:cNvPr>
          <p:cNvSpPr txBox="1"/>
          <p:nvPr/>
        </p:nvSpPr>
        <p:spPr>
          <a:xfrm>
            <a:off x="2649402" y="2123195"/>
            <a:ext cx="141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7F4CBF-B7BE-334B-A671-A40DCDC70253}"/>
              </a:ext>
            </a:extLst>
          </p:cNvPr>
          <p:cNvSpPr txBox="1"/>
          <p:nvPr/>
        </p:nvSpPr>
        <p:spPr>
          <a:xfrm>
            <a:off x="4362415" y="2123195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syntax tree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999271-EDD5-F34B-A188-723D908AC655}"/>
              </a:ext>
            </a:extLst>
          </p:cNvPr>
          <p:cNvSpPr txBox="1"/>
          <p:nvPr/>
        </p:nvSpPr>
        <p:spPr>
          <a:xfrm>
            <a:off x="6025873" y="2169361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 tree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9656A9-DC2E-4C41-B273-66D5C0257639}"/>
              </a:ext>
            </a:extLst>
          </p:cNvPr>
          <p:cNvSpPr txBox="1"/>
          <p:nvPr/>
        </p:nvSpPr>
        <p:spPr>
          <a:xfrm>
            <a:off x="8046930" y="406948"/>
            <a:ext cx="121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 program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5C77B-8A57-A24F-B30D-7A2E09E73D11}"/>
              </a:ext>
            </a:extLst>
          </p:cNvPr>
          <p:cNvSpPr txBox="1"/>
          <p:nvPr/>
        </p:nvSpPr>
        <p:spPr>
          <a:xfrm>
            <a:off x="10497484" y="1954776"/>
            <a:ext cx="14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optimized IR </a:t>
            </a:r>
            <a:br>
              <a:rPr lang="en-US" dirty="0"/>
            </a:br>
            <a:r>
              <a:rPr lang="en-US" dirty="0"/>
              <a:t>program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09C7E1-6830-D74A-882A-5334DD9C6C36}"/>
              </a:ext>
            </a:extLst>
          </p:cNvPr>
          <p:cNvSpPr txBox="1"/>
          <p:nvPr/>
        </p:nvSpPr>
        <p:spPr>
          <a:xfrm>
            <a:off x="282092" y="3118091"/>
            <a:ext cx="7787426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" pitchFamily="2" charset="0"/>
              </a:rPr>
              <a:t>&lt;id,1&gt; &lt;assign,=&gt; &lt;id,2&gt;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,+&gt; &lt;id,3&gt; &lt;</a:t>
            </a:r>
            <a:r>
              <a:rPr lang="en-US" sz="1400" dirty="0" err="1">
                <a:latin typeface="Courier" pitchFamily="2" charset="0"/>
              </a:rPr>
              <a:t>bin_op</a:t>
            </a:r>
            <a:r>
              <a:rPr lang="en-US" sz="1400" dirty="0">
                <a:latin typeface="Courier" pitchFamily="2" charset="0"/>
              </a:rPr>
              <a:t>,*&gt; &lt;num,60&gt; &lt;semi,;&gt;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521841-79C0-8947-92EF-856CC4A5279F}"/>
              </a:ext>
            </a:extLst>
          </p:cNvPr>
          <p:cNvSpPr txBox="1"/>
          <p:nvPr/>
        </p:nvSpPr>
        <p:spPr>
          <a:xfrm>
            <a:off x="231863" y="2696065"/>
            <a:ext cx="1436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Token 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CE3572-A9F2-CD40-BCBC-0F1BF82C20CE}"/>
              </a:ext>
            </a:extLst>
          </p:cNvPr>
          <p:cNvSpPr txBox="1"/>
          <p:nvPr/>
        </p:nvSpPr>
        <p:spPr>
          <a:xfrm>
            <a:off x="2156059" y="40811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37EFA-A985-5E4B-BF51-CA9839010ACF}"/>
              </a:ext>
            </a:extLst>
          </p:cNvPr>
          <p:cNvSpPr/>
          <p:nvPr/>
        </p:nvSpPr>
        <p:spPr>
          <a:xfrm>
            <a:off x="1006385" y="4736356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&lt;id,1&gt; 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346EB-B364-CC44-9F04-B53558C39F1F}"/>
              </a:ext>
            </a:extLst>
          </p:cNvPr>
          <p:cNvSpPr/>
          <p:nvPr/>
        </p:nvSpPr>
        <p:spPr>
          <a:xfrm>
            <a:off x="2563487" y="5157494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&lt;id,2&gt; 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907E75-D619-A24B-A223-B942CB7E7650}"/>
              </a:ext>
            </a:extLst>
          </p:cNvPr>
          <p:cNvSpPr/>
          <p:nvPr/>
        </p:nvSpPr>
        <p:spPr>
          <a:xfrm>
            <a:off x="3712972" y="5706749"/>
            <a:ext cx="11496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&lt;id,3&gt; 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899534-4AF5-E34A-AEFC-802204FE58C4}"/>
              </a:ext>
            </a:extLst>
          </p:cNvPr>
          <p:cNvSpPr/>
          <p:nvPr/>
        </p:nvSpPr>
        <p:spPr>
          <a:xfrm>
            <a:off x="5494611" y="5702276"/>
            <a:ext cx="46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urier" pitchFamily="2" charset="0"/>
              </a:rPr>
              <a:t>60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1A16F-C656-A54A-9D55-A5EBDD45F89E}"/>
              </a:ext>
            </a:extLst>
          </p:cNvPr>
          <p:cNvSpPr txBox="1"/>
          <p:nvPr/>
        </p:nvSpPr>
        <p:spPr>
          <a:xfrm>
            <a:off x="3731893" y="460823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D9A874-8086-DD47-BBCA-857779565924}"/>
              </a:ext>
            </a:extLst>
          </p:cNvPr>
          <p:cNvSpPr txBox="1"/>
          <p:nvPr/>
        </p:nvSpPr>
        <p:spPr>
          <a:xfrm>
            <a:off x="4993159" y="5157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BA2BA9-81B8-2A4D-8A97-083FA2498A20}"/>
              </a:ext>
            </a:extLst>
          </p:cNvPr>
          <p:cNvCxnSpPr>
            <a:endCxn id="15" idx="0"/>
          </p:cNvCxnSpPr>
          <p:nvPr/>
        </p:nvCxnSpPr>
        <p:spPr>
          <a:xfrm flipH="1">
            <a:off x="1581222" y="4450444"/>
            <a:ext cx="543031" cy="285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CCF0163-62D9-FB4A-ADC9-36B945C1033C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2530430" y="4433874"/>
            <a:ext cx="1201463" cy="35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16A2702-1B0D-754D-8F23-CB70C1E84C9A}"/>
              </a:ext>
            </a:extLst>
          </p:cNvPr>
          <p:cNvCxnSpPr>
            <a:cxnSpLocks/>
          </p:cNvCxnSpPr>
          <p:nvPr/>
        </p:nvCxnSpPr>
        <p:spPr>
          <a:xfrm flipH="1">
            <a:off x="3359276" y="4921022"/>
            <a:ext cx="372617" cy="236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4637A72-913A-BC49-B96B-D5577AFD921A}"/>
              </a:ext>
            </a:extLst>
          </p:cNvPr>
          <p:cNvCxnSpPr>
            <a:cxnSpLocks/>
          </p:cNvCxnSpPr>
          <p:nvPr/>
        </p:nvCxnSpPr>
        <p:spPr>
          <a:xfrm>
            <a:off x="4031975" y="4921022"/>
            <a:ext cx="901381" cy="238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C1B724E-D7BE-0C48-AEA0-C86B2121BC76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4439353" y="5342160"/>
            <a:ext cx="553806" cy="3645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1C5FA56-1BD7-6146-8DE1-60E574099ED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5250165" y="5430020"/>
            <a:ext cx="474637" cy="2722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CC61950-E22F-3B41-A672-E9BA7A152E4C}"/>
              </a:ext>
            </a:extLst>
          </p:cNvPr>
          <p:cNvSpPr txBox="1"/>
          <p:nvPr/>
        </p:nvSpPr>
        <p:spPr>
          <a:xfrm>
            <a:off x="253830" y="3765296"/>
            <a:ext cx="1136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parse tree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4F3A5F1-ECA3-434D-ABDC-93ADF533DB18}"/>
              </a:ext>
            </a:extLst>
          </p:cNvPr>
          <p:cNvSpPr txBox="1"/>
          <p:nvPr/>
        </p:nvSpPr>
        <p:spPr>
          <a:xfrm>
            <a:off x="76964" y="218697"/>
            <a:ext cx="44582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position = initial + rate * 60;</a:t>
            </a:r>
          </a:p>
        </p:txBody>
      </p:sp>
    </p:spTree>
    <p:extLst>
      <p:ext uri="{BB962C8B-B14F-4D97-AF65-F5344CB8AC3E}">
        <p14:creationId xmlns:p14="http://schemas.microsoft.com/office/powerpoint/2010/main" val="390870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Syntactic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Lexical Analysis turns a string into a stream of tokens</a:t>
            </a:r>
          </a:p>
          <a:p>
            <a:endParaRPr lang="en-US" dirty="0"/>
          </a:p>
          <a:p>
            <a:r>
              <a:rPr lang="en-US" dirty="0"/>
              <a:t>Syntactic Analysis determines if the tokens fit into the syntactic structure of the language</a:t>
            </a:r>
          </a:p>
          <a:p>
            <a:endParaRPr lang="en-US" dirty="0"/>
          </a:p>
          <a:p>
            <a:r>
              <a:rPr lang="en-US" dirty="0"/>
              <a:t>In our natural language example, it describes the structure of sentences</a:t>
            </a:r>
          </a:p>
        </p:txBody>
      </p:sp>
    </p:spTree>
    <p:extLst>
      <p:ext uri="{BB962C8B-B14F-4D97-AF65-F5344CB8AC3E}">
        <p14:creationId xmlns:p14="http://schemas.microsoft.com/office/powerpoint/2010/main" val="384175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Syntactic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9624"/>
          </a:xfrm>
        </p:spPr>
        <p:txBody>
          <a:bodyPr/>
          <a:lstStyle/>
          <a:p>
            <a:r>
              <a:rPr lang="en-US" dirty="0"/>
              <a:t>Natural language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917F90-17AF-014F-9F74-98438AE95E8E}"/>
              </a:ext>
            </a:extLst>
          </p:cNvPr>
          <p:cNvSpPr/>
          <p:nvPr/>
        </p:nvSpPr>
        <p:spPr>
          <a:xfrm>
            <a:off x="3398801" y="2710186"/>
            <a:ext cx="48690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dog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2"/>
                </a:solidFill>
              </a:rPr>
              <a:t>ran</a:t>
            </a:r>
            <a:r>
              <a:rPr lang="en-US" sz="3200" b="1" dirty="0"/>
              <a:t> across </a:t>
            </a:r>
            <a:r>
              <a:rPr lang="en-US" sz="3200" b="1" dirty="0">
                <a:solidFill>
                  <a:schemeClr val="accent6"/>
                </a:solidFill>
              </a:rPr>
              <a:t>the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accent5"/>
                </a:solidFill>
              </a:rPr>
              <a:t>park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D26D2B-3D4A-5241-8E72-ADC02D3946EE}"/>
              </a:ext>
            </a:extLst>
          </p:cNvPr>
          <p:cNvCxnSpPr>
            <a:cxnSpLocks/>
          </p:cNvCxnSpPr>
          <p:nvPr/>
        </p:nvCxnSpPr>
        <p:spPr>
          <a:xfrm flipH="1">
            <a:off x="2917971" y="3182011"/>
            <a:ext cx="883920" cy="594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DC5F02-3A6F-2240-A710-FEBFF6CC9816}"/>
              </a:ext>
            </a:extLst>
          </p:cNvPr>
          <p:cNvCxnSpPr>
            <a:cxnSpLocks/>
          </p:cNvCxnSpPr>
          <p:nvPr/>
        </p:nvCxnSpPr>
        <p:spPr>
          <a:xfrm flipH="1">
            <a:off x="3994931" y="3182011"/>
            <a:ext cx="4775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22DE27-1258-014A-8189-0BF677236F23}"/>
              </a:ext>
            </a:extLst>
          </p:cNvPr>
          <p:cNvCxnSpPr>
            <a:cxnSpLocks/>
          </p:cNvCxnSpPr>
          <p:nvPr/>
        </p:nvCxnSpPr>
        <p:spPr>
          <a:xfrm>
            <a:off x="5112531" y="3294961"/>
            <a:ext cx="0" cy="5830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A139D8-912D-B543-B22B-AB0B8C92F952}"/>
              </a:ext>
            </a:extLst>
          </p:cNvPr>
          <p:cNvCxnSpPr>
            <a:cxnSpLocks/>
          </p:cNvCxnSpPr>
          <p:nvPr/>
        </p:nvCxnSpPr>
        <p:spPr>
          <a:xfrm>
            <a:off x="6077731" y="3182011"/>
            <a:ext cx="528320" cy="695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AD99CB-5A32-9047-B175-651ADEA91901}"/>
              </a:ext>
            </a:extLst>
          </p:cNvPr>
          <p:cNvCxnSpPr>
            <a:cxnSpLocks/>
          </p:cNvCxnSpPr>
          <p:nvPr/>
        </p:nvCxnSpPr>
        <p:spPr>
          <a:xfrm>
            <a:off x="6941331" y="3182011"/>
            <a:ext cx="1534160" cy="601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11EF9A-AEA8-3A48-9431-7A232756956B}"/>
              </a:ext>
            </a:extLst>
          </p:cNvPr>
          <p:cNvCxnSpPr>
            <a:cxnSpLocks/>
          </p:cNvCxnSpPr>
          <p:nvPr/>
        </p:nvCxnSpPr>
        <p:spPr>
          <a:xfrm>
            <a:off x="8038611" y="3182011"/>
            <a:ext cx="1880383" cy="6486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AF659-DEB0-5E41-A6D5-C1324300EFD2}"/>
              </a:ext>
            </a:extLst>
          </p:cNvPr>
          <p:cNvSpPr/>
          <p:nvPr/>
        </p:nvSpPr>
        <p:spPr>
          <a:xfrm>
            <a:off x="2119054" y="3797763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4C8EE0-8BCE-8E44-8900-82A0E6DBB1B9}"/>
              </a:ext>
            </a:extLst>
          </p:cNvPr>
          <p:cNvSpPr/>
          <p:nvPr/>
        </p:nvSpPr>
        <p:spPr>
          <a:xfrm>
            <a:off x="7876512" y="3801205"/>
            <a:ext cx="121879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ARTICLE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A1127-EEF2-514A-A97B-8F34135190F3}"/>
              </a:ext>
            </a:extLst>
          </p:cNvPr>
          <p:cNvSpPr/>
          <p:nvPr/>
        </p:nvSpPr>
        <p:spPr>
          <a:xfrm>
            <a:off x="3489490" y="3877971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973CCF-4E29-6E42-AB9C-B3BBD78AD772}"/>
              </a:ext>
            </a:extLst>
          </p:cNvPr>
          <p:cNvSpPr/>
          <p:nvPr/>
        </p:nvSpPr>
        <p:spPr>
          <a:xfrm>
            <a:off x="4644930" y="3861843"/>
            <a:ext cx="86433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VERB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BFF8EB-0998-B24E-B649-77ABC41E8906}"/>
              </a:ext>
            </a:extLst>
          </p:cNvPr>
          <p:cNvSpPr/>
          <p:nvPr/>
        </p:nvSpPr>
        <p:spPr>
          <a:xfrm>
            <a:off x="5770409" y="3877970"/>
            <a:ext cx="191590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/>
              <a:t>PREPOSITION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44158B-2F14-6F4E-9C31-ABFB03DDD05C}"/>
              </a:ext>
            </a:extLst>
          </p:cNvPr>
          <p:cNvSpPr/>
          <p:nvPr/>
        </p:nvSpPr>
        <p:spPr>
          <a:xfrm>
            <a:off x="9480529" y="3833018"/>
            <a:ext cx="99738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NOUN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9EB80F-1DB4-8E41-917E-72B67E59FE01}"/>
              </a:ext>
            </a:extLst>
          </p:cNvPr>
          <p:cNvSpPr txBox="1"/>
          <p:nvPr/>
        </p:nvSpPr>
        <p:spPr>
          <a:xfrm>
            <a:off x="391517" y="4553883"/>
            <a:ext cx="79271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What are valid sentences?</a:t>
            </a:r>
          </a:p>
          <a:p>
            <a:br>
              <a:rPr lang="en-US" sz="2400" dirty="0"/>
            </a:br>
            <a:r>
              <a:rPr lang="en-US" sz="2400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2400" b="1" dirty="0">
                <a:latin typeface="Courier" pitchFamily="2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2400" b="1" dirty="0">
                <a:latin typeface="Courier" pitchFamily="2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sz="2400" b="1" dirty="0">
                <a:latin typeface="Courier" pitchFamily="2" charset="0"/>
              </a:rPr>
              <a:t> PREPOSITION </a:t>
            </a:r>
            <a:r>
              <a:rPr lang="en-US" sz="2400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sz="2400" b="1" dirty="0">
                <a:latin typeface="Courier" pitchFamily="2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</a:p>
          <a:p>
            <a:br>
              <a:rPr lang="en-US" sz="2400" b="1" dirty="0">
                <a:latin typeface="Courier" pitchFamily="2" charset="0"/>
              </a:rPr>
            </a:br>
            <a:r>
              <a:rPr lang="en-US" sz="2400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sz="2400" b="1" dirty="0">
                <a:latin typeface="Courier" pitchFamily="2" charset="0"/>
              </a:rPr>
              <a:t>ADJECTIVE </a:t>
            </a:r>
            <a:r>
              <a:rPr lang="en-US" sz="2400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sz="2400" b="1" dirty="0">
                <a:latin typeface="Courier" pitchFamily="2" charset="0"/>
              </a:rPr>
              <a:t> </a:t>
            </a:r>
            <a:r>
              <a:rPr lang="en-US" sz="2400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CD7A76-0EB9-FF48-97F9-129AD9C56089}"/>
              </a:ext>
            </a:extLst>
          </p:cNvPr>
          <p:cNvSpPr txBox="1"/>
          <p:nvPr/>
        </p:nvSpPr>
        <p:spPr>
          <a:xfrm>
            <a:off x="9165169" y="5318450"/>
            <a:ext cx="24169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Now we check</a:t>
            </a:r>
            <a:br>
              <a:rPr lang="en-US" i="1" dirty="0"/>
            </a:br>
            <a:r>
              <a:rPr lang="en-US" i="1" dirty="0"/>
              <a:t>if stream of lexemes fits</a:t>
            </a:r>
          </a:p>
          <a:p>
            <a:r>
              <a:rPr lang="en-US" i="1" dirty="0"/>
              <a:t>a sentence</a:t>
            </a:r>
          </a:p>
        </p:txBody>
      </p:sp>
    </p:spTree>
    <p:extLst>
      <p:ext uri="{BB962C8B-B14F-4D97-AF65-F5344CB8AC3E}">
        <p14:creationId xmlns:p14="http://schemas.microsoft.com/office/powerpoint/2010/main" val="2745614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express a valid sentence?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of tokens: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b="1" dirty="0">
                <a:latin typeface="Courier" pitchFamily="2" charset="0"/>
              </a:rPr>
              <a:t> PREPOSITION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</a:p>
          <a:p>
            <a:pPr lvl="1"/>
            <a:endParaRPr lang="en-US" b="1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US" dirty="0"/>
              <a:t>Pros? Cons?</a:t>
            </a:r>
          </a:p>
        </p:txBody>
      </p:sp>
    </p:spTree>
    <p:extLst>
      <p:ext uri="{BB962C8B-B14F-4D97-AF65-F5344CB8AC3E}">
        <p14:creationId xmlns:p14="http://schemas.microsoft.com/office/powerpoint/2010/main" val="158239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express a valid sentence?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of tokens (is this sufficient?):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b="1" dirty="0">
                <a:latin typeface="Courier" pitchFamily="2" charset="0"/>
              </a:rPr>
              <a:t> PREPOSITION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</a:p>
          <a:p>
            <a:pPr lvl="1"/>
            <a:endParaRPr lang="en-US" b="1" dirty="0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US" dirty="0"/>
              <a:t>Pros? Cons?</a:t>
            </a:r>
          </a:p>
          <a:p>
            <a:pPr lvl="1"/>
            <a:r>
              <a:rPr lang="en-US" dirty="0"/>
              <a:t>Simple, but probably too simple</a:t>
            </a:r>
          </a:p>
        </p:txBody>
      </p:sp>
    </p:spTree>
    <p:extLst>
      <p:ext uri="{BB962C8B-B14F-4D97-AF65-F5344CB8AC3E}">
        <p14:creationId xmlns:p14="http://schemas.microsoft.com/office/powerpoint/2010/main" val="202788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express a valid sentence?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lists of tokens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b="1" dirty="0">
                <a:latin typeface="Courier" pitchFamily="2" charset="0"/>
              </a:rPr>
              <a:t> PREPOSITION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Pros? Cons?</a:t>
            </a:r>
          </a:p>
        </p:txBody>
      </p:sp>
    </p:spTree>
    <p:extLst>
      <p:ext uri="{BB962C8B-B14F-4D97-AF65-F5344CB8AC3E}">
        <p14:creationId xmlns:p14="http://schemas.microsoft.com/office/powerpoint/2010/main" val="61420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express a valid sentence?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Several lists of tokens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r>
              <a:rPr lang="en-US" b="1" dirty="0">
                <a:latin typeface="Courier" pitchFamily="2" charset="0"/>
              </a:rPr>
              <a:t> PREPOSITION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</a:t>
            </a:r>
            <a:r>
              <a:rPr lang="en-US" b="1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endParaRPr lang="en-US" dirty="0"/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Pros? Cons?</a:t>
            </a:r>
          </a:p>
          <a:p>
            <a:pPr lvl="1"/>
            <a:r>
              <a:rPr lang="en-US" dirty="0"/>
              <a:t>Potentially infinite choices</a:t>
            </a:r>
          </a:p>
        </p:txBody>
      </p:sp>
    </p:spTree>
    <p:extLst>
      <p:ext uri="{BB962C8B-B14F-4D97-AF65-F5344CB8AC3E}">
        <p14:creationId xmlns:p14="http://schemas.microsoft.com/office/powerpoint/2010/main" val="2553931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express a valid sentence?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 over tokens (is this enough):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ADJECTIVE*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</a:p>
          <a:p>
            <a:pPr lvl="1"/>
            <a:endParaRPr lang="en-US" b="1" dirty="0">
              <a:solidFill>
                <a:schemeClr val="accent2"/>
              </a:solidFill>
              <a:latin typeface="Courier" pitchFamily="2" charset="0"/>
            </a:endParaRPr>
          </a:p>
          <a:p>
            <a:r>
              <a:rPr lang="en-US" dirty="0"/>
              <a:t>Pros? Cons?</a:t>
            </a:r>
            <a:endParaRPr lang="en-US" b="1" dirty="0">
              <a:solidFill>
                <a:schemeClr val="accent2"/>
              </a:solidFill>
              <a:latin typeface="Courier" pitchFamily="2" charset="0"/>
            </a:endParaRPr>
          </a:p>
          <a:p>
            <a:pPr lvl="1"/>
            <a:endParaRPr lang="en-US" b="1" dirty="0">
              <a:solidFill>
                <a:schemeClr val="accent2"/>
              </a:solidFill>
              <a:latin typeface="Courier" pitchFamily="2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8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express a valid sentence?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 over tokens:</a:t>
            </a:r>
          </a:p>
          <a:p>
            <a:pPr lvl="1"/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ARTICLE </a:t>
            </a:r>
            <a:r>
              <a:rPr lang="en-US" b="1" dirty="0">
                <a:solidFill>
                  <a:srgbClr val="7030A0"/>
                </a:solidFill>
                <a:latin typeface="Courier" pitchFamily="2" charset="0"/>
              </a:rPr>
              <a:t>ADJECTIVE*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NOUN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VERB</a:t>
            </a:r>
          </a:p>
          <a:p>
            <a:pPr lvl="1"/>
            <a:endParaRPr lang="en-US" b="1" dirty="0">
              <a:solidFill>
                <a:schemeClr val="accent2"/>
              </a:solidFill>
              <a:latin typeface="Courier" pitchFamily="2" charset="0"/>
            </a:endParaRPr>
          </a:p>
          <a:p>
            <a:r>
              <a:rPr lang="en-US" dirty="0"/>
              <a:t>Pros? Cons?</a:t>
            </a:r>
          </a:p>
          <a:p>
            <a:pPr lvl="1"/>
            <a:r>
              <a:rPr lang="en-US" dirty="0"/>
              <a:t>Regular expressions worked really well for tokens</a:t>
            </a:r>
          </a:p>
          <a:p>
            <a:pPr lvl="1"/>
            <a:r>
              <a:rPr lang="en-US" dirty="0"/>
              <a:t>Provides decent expressivity</a:t>
            </a:r>
          </a:p>
          <a:p>
            <a:pPr lvl="1"/>
            <a:r>
              <a:rPr lang="en-US" dirty="0"/>
              <a:t>But what might go wrong?</a:t>
            </a:r>
          </a:p>
          <a:p>
            <a:endParaRPr lang="en-US" dirty="0"/>
          </a:p>
          <a:p>
            <a:pPr lvl="1"/>
            <a:endParaRPr lang="en-US" b="1" dirty="0">
              <a:solidFill>
                <a:schemeClr val="accent2"/>
              </a:solidFill>
              <a:latin typeface="Courier" pitchFamily="2" charset="0"/>
            </a:endParaRPr>
          </a:p>
          <a:p>
            <a:pPr lvl="1"/>
            <a:endParaRPr lang="en-US" b="1" dirty="0">
              <a:solidFill>
                <a:schemeClr val="accent2"/>
              </a:solidFill>
              <a:latin typeface="Courier" pitchFamily="2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53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tokens: </a:t>
            </a:r>
          </a:p>
          <a:p>
            <a:pPr lvl="1"/>
            <a:r>
              <a:rPr lang="en-US" dirty="0">
                <a:latin typeface="Courier" pitchFamily="2" charset="0"/>
              </a:rPr>
              <a:t>NUM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= “\+”</a:t>
            </a:r>
          </a:p>
          <a:p>
            <a:pPr lvl="1"/>
            <a:r>
              <a:rPr lang="en-US" dirty="0">
                <a:latin typeface="Courier" pitchFamily="2" charset="0"/>
              </a:rPr>
              <a:t>MULT = “\*”</a:t>
            </a:r>
          </a:p>
          <a:p>
            <a:endParaRPr lang="en-US" dirty="0"/>
          </a:p>
          <a:p>
            <a:r>
              <a:rPr lang="en-US" dirty="0"/>
              <a:t>Can we describe expressions?</a:t>
            </a:r>
          </a:p>
        </p:txBody>
      </p:sp>
    </p:spTree>
    <p:extLst>
      <p:ext uri="{BB962C8B-B14F-4D97-AF65-F5344CB8AC3E}">
        <p14:creationId xmlns:p14="http://schemas.microsoft.com/office/powerpoint/2010/main" val="2715530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6E30-EF97-DD47-87BE-D0622460474F}"/>
              </a:ext>
            </a:extLst>
          </p:cNvPr>
          <p:cNvSpPr txBox="1"/>
          <p:nvPr/>
        </p:nvSpPr>
        <p:spPr>
          <a:xfrm>
            <a:off x="877262" y="1690688"/>
            <a:ext cx="460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NUM ((PLUS | MULT) NUM)*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2DFFC-344A-7E44-80EF-2F46198D604F}"/>
              </a:ext>
            </a:extLst>
          </p:cNvPr>
          <p:cNvSpPr txBox="1"/>
          <p:nvPr/>
        </p:nvSpPr>
        <p:spPr>
          <a:xfrm>
            <a:off x="838201" y="347893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809C4-0268-B54C-AEF6-40252F4FFED3}"/>
              </a:ext>
            </a:extLst>
          </p:cNvPr>
          <p:cNvSpPr txBox="1"/>
          <p:nvPr/>
        </p:nvSpPr>
        <p:spPr>
          <a:xfrm>
            <a:off x="838201" y="2700228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65BB3-CE78-4A48-82F3-36DC55ED5D0F}"/>
              </a:ext>
            </a:extLst>
          </p:cNvPr>
          <p:cNvSpPr txBox="1"/>
          <p:nvPr/>
        </p:nvSpPr>
        <p:spPr>
          <a:xfrm>
            <a:off x="838200" y="4387114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 * 3</a:t>
            </a:r>
          </a:p>
        </p:txBody>
      </p:sp>
    </p:spTree>
    <p:extLst>
      <p:ext uri="{BB962C8B-B14F-4D97-AF65-F5344CB8AC3E}">
        <p14:creationId xmlns:p14="http://schemas.microsoft.com/office/powerpoint/2010/main" val="577132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6E30-EF97-DD47-87BE-D0622460474F}"/>
              </a:ext>
            </a:extLst>
          </p:cNvPr>
          <p:cNvSpPr txBox="1"/>
          <p:nvPr/>
        </p:nvSpPr>
        <p:spPr>
          <a:xfrm>
            <a:off x="877262" y="1690688"/>
            <a:ext cx="460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NUM ((PLUS | MULT) NUM)*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2DFFC-344A-7E44-80EF-2F46198D604F}"/>
              </a:ext>
            </a:extLst>
          </p:cNvPr>
          <p:cNvSpPr txBox="1"/>
          <p:nvPr/>
        </p:nvSpPr>
        <p:spPr>
          <a:xfrm>
            <a:off x="838201" y="347893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809C4-0268-B54C-AEF6-40252F4FFED3}"/>
              </a:ext>
            </a:extLst>
          </p:cNvPr>
          <p:cNvSpPr txBox="1"/>
          <p:nvPr/>
        </p:nvSpPr>
        <p:spPr>
          <a:xfrm>
            <a:off x="838201" y="2700228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65BB3-CE78-4A48-82F3-36DC55ED5D0F}"/>
              </a:ext>
            </a:extLst>
          </p:cNvPr>
          <p:cNvSpPr txBox="1"/>
          <p:nvPr/>
        </p:nvSpPr>
        <p:spPr>
          <a:xfrm>
            <a:off x="838200" y="4387114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 *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4A3-8C81-AA48-88DC-249FCA71AC19}"/>
              </a:ext>
            </a:extLst>
          </p:cNvPr>
          <p:cNvSpPr txBox="1"/>
          <p:nvPr/>
        </p:nvSpPr>
        <p:spPr>
          <a:xfrm>
            <a:off x="3974841" y="4433280"/>
            <a:ext cx="5854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But what does this one mean? </a:t>
            </a:r>
          </a:p>
          <a:p>
            <a:r>
              <a:rPr lang="en-US" sz="2400" i="1" dirty="0"/>
              <a:t>     What if we want different precedence? </a:t>
            </a:r>
          </a:p>
        </p:txBody>
      </p:sp>
    </p:spTree>
    <p:extLst>
      <p:ext uri="{BB962C8B-B14F-4D97-AF65-F5344CB8AC3E}">
        <p14:creationId xmlns:p14="http://schemas.microsoft.com/office/powerpoint/2010/main" val="895815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6E30-EF97-DD47-87BE-D0622460474F}"/>
              </a:ext>
            </a:extLst>
          </p:cNvPr>
          <p:cNvSpPr txBox="1"/>
          <p:nvPr/>
        </p:nvSpPr>
        <p:spPr>
          <a:xfrm>
            <a:off x="877262" y="1690688"/>
            <a:ext cx="4608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NUM ((PLUS | MULT) NUM)*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2DFFC-344A-7E44-80EF-2F46198D604F}"/>
              </a:ext>
            </a:extLst>
          </p:cNvPr>
          <p:cNvSpPr txBox="1"/>
          <p:nvPr/>
        </p:nvSpPr>
        <p:spPr>
          <a:xfrm>
            <a:off x="838201" y="347893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809C4-0268-B54C-AEF6-40252F4FFED3}"/>
              </a:ext>
            </a:extLst>
          </p:cNvPr>
          <p:cNvSpPr txBox="1"/>
          <p:nvPr/>
        </p:nvSpPr>
        <p:spPr>
          <a:xfrm>
            <a:off x="838201" y="2700228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65BB3-CE78-4A48-82F3-36DC55ED5D0F}"/>
              </a:ext>
            </a:extLst>
          </p:cNvPr>
          <p:cNvSpPr txBox="1"/>
          <p:nvPr/>
        </p:nvSpPr>
        <p:spPr>
          <a:xfrm>
            <a:off x="838200" y="4387114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 *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335F0-A98A-2F45-8528-D945C9A5D366}"/>
              </a:ext>
            </a:extLst>
          </p:cNvPr>
          <p:cNvSpPr txBox="1"/>
          <p:nvPr/>
        </p:nvSpPr>
        <p:spPr>
          <a:xfrm>
            <a:off x="653854" y="5396654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(5 + 6) *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8779E1-C179-324C-8B2A-276035E36519}"/>
              </a:ext>
            </a:extLst>
          </p:cNvPr>
          <p:cNvSpPr txBox="1"/>
          <p:nvPr/>
        </p:nvSpPr>
        <p:spPr>
          <a:xfrm>
            <a:off x="3974841" y="5335099"/>
            <a:ext cx="3815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Can we do this one?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73EA8-F856-EEF4-4278-6A123E523F2A}"/>
              </a:ext>
            </a:extLst>
          </p:cNvPr>
          <p:cNvSpPr txBox="1"/>
          <p:nvPr/>
        </p:nvSpPr>
        <p:spPr>
          <a:xfrm>
            <a:off x="3974841" y="4387113"/>
            <a:ext cx="58549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But what does this one mean? </a:t>
            </a:r>
          </a:p>
          <a:p>
            <a:r>
              <a:rPr lang="en-US" sz="2400" i="1" dirty="0"/>
              <a:t>     What if we want different precedence? </a:t>
            </a:r>
          </a:p>
        </p:txBody>
      </p:sp>
    </p:spTree>
    <p:extLst>
      <p:ext uri="{BB962C8B-B14F-4D97-AF65-F5344CB8AC3E}">
        <p14:creationId xmlns:p14="http://schemas.microsoft.com/office/powerpoint/2010/main" val="1798538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tokens: </a:t>
            </a:r>
          </a:p>
          <a:p>
            <a:pPr lvl="1"/>
            <a:r>
              <a:rPr lang="en-US" dirty="0">
                <a:latin typeface="Courier" pitchFamily="2" charset="0"/>
              </a:rPr>
              <a:t>NUM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= “\+”</a:t>
            </a:r>
          </a:p>
          <a:p>
            <a:pPr lvl="1"/>
            <a:r>
              <a:rPr lang="en-US" dirty="0">
                <a:latin typeface="Courier" pitchFamily="2" charset="0"/>
              </a:rPr>
              <a:t>MULT = “\*”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OPAR = “\(“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CPAR = “\)”</a:t>
            </a:r>
          </a:p>
        </p:txBody>
      </p:sp>
    </p:spTree>
    <p:extLst>
      <p:ext uri="{BB962C8B-B14F-4D97-AF65-F5344CB8AC3E}">
        <p14:creationId xmlns:p14="http://schemas.microsoft.com/office/powerpoint/2010/main" val="660192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A73E5-6205-CA4D-22F0-5EE960891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FE9A4-686C-00A2-0408-E7F2E5321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020C5-E811-1D11-0A00-38C220943E77}"/>
              </a:ext>
            </a:extLst>
          </p:cNvPr>
          <p:cNvSpPr txBox="1"/>
          <p:nvPr/>
        </p:nvSpPr>
        <p:spPr>
          <a:xfrm>
            <a:off x="838201" y="3478935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7698F-2EE4-1792-890F-277F0C6D1E8F}"/>
              </a:ext>
            </a:extLst>
          </p:cNvPr>
          <p:cNvSpPr txBox="1"/>
          <p:nvPr/>
        </p:nvSpPr>
        <p:spPr>
          <a:xfrm>
            <a:off x="838201" y="2700228"/>
            <a:ext cx="369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8C090-04DA-EC8A-4268-5621C83755B4}"/>
              </a:ext>
            </a:extLst>
          </p:cNvPr>
          <p:cNvSpPr txBox="1"/>
          <p:nvPr/>
        </p:nvSpPr>
        <p:spPr>
          <a:xfrm>
            <a:off x="838200" y="4387114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5 + 6 *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9B3C2-145B-ECD9-A3F2-C041891FF936}"/>
              </a:ext>
            </a:extLst>
          </p:cNvPr>
          <p:cNvSpPr txBox="1"/>
          <p:nvPr/>
        </p:nvSpPr>
        <p:spPr>
          <a:xfrm>
            <a:off x="653854" y="5396654"/>
            <a:ext cx="2212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(5 + 6) *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55BAD-4591-6A56-A2A8-5369363C539C}"/>
              </a:ext>
            </a:extLst>
          </p:cNvPr>
          <p:cNvSpPr txBox="1"/>
          <p:nvPr/>
        </p:nvSpPr>
        <p:spPr>
          <a:xfrm>
            <a:off x="3974841" y="5335099"/>
            <a:ext cx="3815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Can we do this one?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A2994-462B-EEED-77A7-06CF2B97DF97}"/>
              </a:ext>
            </a:extLst>
          </p:cNvPr>
          <p:cNvSpPr txBox="1"/>
          <p:nvPr/>
        </p:nvSpPr>
        <p:spPr>
          <a:xfrm>
            <a:off x="8108303" y="2400145"/>
            <a:ext cx="2378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parenthesis tokens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34F0F-57C5-12F8-A341-FEB89ED22FDF}"/>
              </a:ext>
            </a:extLst>
          </p:cNvPr>
          <p:cNvSpPr txBox="1"/>
          <p:nvPr/>
        </p:nvSpPr>
        <p:spPr>
          <a:xfrm>
            <a:off x="877262" y="1690688"/>
            <a:ext cx="792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OPAR? NUM ((PLUS | MULT) OPAR? NUM CPAR?)*</a:t>
            </a:r>
          </a:p>
        </p:txBody>
      </p:sp>
    </p:spTree>
    <p:extLst>
      <p:ext uri="{BB962C8B-B14F-4D97-AF65-F5344CB8AC3E}">
        <p14:creationId xmlns:p14="http://schemas.microsoft.com/office/powerpoint/2010/main" val="3818283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6E30-EF97-DD47-87BE-D0622460474F}"/>
              </a:ext>
            </a:extLst>
          </p:cNvPr>
          <p:cNvSpPr txBox="1"/>
          <p:nvPr/>
        </p:nvSpPr>
        <p:spPr>
          <a:xfrm>
            <a:off x="877262" y="1690688"/>
            <a:ext cx="792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OPAR? NUM ((PLUS | MULT) OPAR? NUM CPAR?)*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2651D-8444-2C43-A5DB-6C3DFC42E459}"/>
              </a:ext>
            </a:extLst>
          </p:cNvPr>
          <p:cNvSpPr txBox="1"/>
          <p:nvPr/>
        </p:nvSpPr>
        <p:spPr>
          <a:xfrm>
            <a:off x="877262" y="2831585"/>
            <a:ext cx="5430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Seems like it works! But what is the issue?</a:t>
            </a:r>
          </a:p>
        </p:txBody>
      </p:sp>
    </p:spTree>
    <p:extLst>
      <p:ext uri="{BB962C8B-B14F-4D97-AF65-F5344CB8AC3E}">
        <p14:creationId xmlns:p14="http://schemas.microsoft.com/office/powerpoint/2010/main" val="2792337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6E30-EF97-DD47-87BE-D0622460474F}"/>
              </a:ext>
            </a:extLst>
          </p:cNvPr>
          <p:cNvSpPr txBox="1"/>
          <p:nvPr/>
        </p:nvSpPr>
        <p:spPr>
          <a:xfrm>
            <a:off x="877262" y="1690688"/>
            <a:ext cx="792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OPAR? NUM ((PLUS | MULT) OPAR? NUM CPAR?)*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2651D-8444-2C43-A5DB-6C3DFC42E459}"/>
              </a:ext>
            </a:extLst>
          </p:cNvPr>
          <p:cNvSpPr txBox="1"/>
          <p:nvPr/>
        </p:nvSpPr>
        <p:spPr>
          <a:xfrm>
            <a:off x="877262" y="2831585"/>
            <a:ext cx="5430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Seems like it works! But what is the issue?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768ED3-7851-D148-857E-A0A0B5AEBF56}"/>
              </a:ext>
            </a:extLst>
          </p:cNvPr>
          <p:cNvSpPr txBox="1"/>
          <p:nvPr/>
        </p:nvSpPr>
        <p:spPr>
          <a:xfrm>
            <a:off x="877262" y="3972482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(5 + 6 *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5C873-B515-2742-B51D-6BDFC9739860}"/>
              </a:ext>
            </a:extLst>
          </p:cNvPr>
          <p:cNvSpPr txBox="1"/>
          <p:nvPr/>
        </p:nvSpPr>
        <p:spPr>
          <a:xfrm>
            <a:off x="4376057" y="4018648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</p:spTree>
    <p:extLst>
      <p:ext uri="{BB962C8B-B14F-4D97-AF65-F5344CB8AC3E}">
        <p14:creationId xmlns:p14="http://schemas.microsoft.com/office/powerpoint/2010/main" val="2918058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E96E30-EF97-DD47-87BE-D0622460474F}"/>
              </a:ext>
            </a:extLst>
          </p:cNvPr>
          <p:cNvSpPr txBox="1"/>
          <p:nvPr/>
        </p:nvSpPr>
        <p:spPr>
          <a:xfrm>
            <a:off x="877262" y="1690688"/>
            <a:ext cx="792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OPAR? NUM ((PLUS | MULT) OPAR? NUM CPAR?)*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2651D-8444-2C43-A5DB-6C3DFC42E459}"/>
              </a:ext>
            </a:extLst>
          </p:cNvPr>
          <p:cNvSpPr txBox="1"/>
          <p:nvPr/>
        </p:nvSpPr>
        <p:spPr>
          <a:xfrm>
            <a:off x="877262" y="2831585"/>
            <a:ext cx="5430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Seems like it works! But what is the issue?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768ED3-7851-D148-857E-A0A0B5AEBF56}"/>
              </a:ext>
            </a:extLst>
          </p:cNvPr>
          <p:cNvSpPr txBox="1"/>
          <p:nvPr/>
        </p:nvSpPr>
        <p:spPr>
          <a:xfrm>
            <a:off x="877262" y="3972482"/>
            <a:ext cx="2028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(5 + 6 *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75C873-B515-2742-B51D-6BDFC9739860}"/>
              </a:ext>
            </a:extLst>
          </p:cNvPr>
          <p:cNvSpPr txBox="1"/>
          <p:nvPr/>
        </p:nvSpPr>
        <p:spPr>
          <a:xfrm>
            <a:off x="4376057" y="4018648"/>
            <a:ext cx="221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about this one?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D1D7B-24F5-F041-90DD-2FA37E3FBC1C}"/>
              </a:ext>
            </a:extLst>
          </p:cNvPr>
          <p:cNvSpPr txBox="1"/>
          <p:nvPr/>
        </p:nvSpPr>
        <p:spPr>
          <a:xfrm>
            <a:off x="801062" y="5469445"/>
            <a:ext cx="110269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()s are a key part of syntax. They are important for the structure we want to create and </a:t>
            </a:r>
          </a:p>
          <a:p>
            <a:r>
              <a:rPr lang="en-US" sz="2400" i="1" dirty="0"/>
              <a:t>we need to reliably </a:t>
            </a:r>
            <a:r>
              <a:rPr lang="en-US" sz="2400" b="1" i="1" dirty="0"/>
              <a:t>detect strings that are not syntactically valid!</a:t>
            </a:r>
          </a:p>
        </p:txBody>
      </p:sp>
    </p:spTree>
    <p:extLst>
      <p:ext uri="{BB962C8B-B14F-4D97-AF65-F5344CB8AC3E}">
        <p14:creationId xmlns:p14="http://schemas.microsoft.com/office/powerpoint/2010/main" val="41211054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1B689-80DE-974B-8046-54CBAC54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Context Free Grammars: A new class of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5F7D6-3BD0-E14A-9474-216095785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Regular expressions CANNOT match </a:t>
            </a:r>
          </a:p>
          <a:p>
            <a:pPr lvl="1"/>
            <a:r>
              <a:rPr lang="en-US" sz="3200" dirty="0"/>
              <a:t>(), </a:t>
            </a:r>
          </a:p>
          <a:p>
            <a:pPr lvl="1"/>
            <a:r>
              <a:rPr lang="en-US" sz="3200" dirty="0"/>
              <a:t>{}, </a:t>
            </a:r>
          </a:p>
          <a:p>
            <a:pPr lvl="1"/>
            <a:r>
              <a:rPr lang="en-US" sz="3200" dirty="0"/>
              <a:t>HTML start/end tags</a:t>
            </a:r>
          </a:p>
          <a:p>
            <a:pPr lvl="1"/>
            <a:r>
              <a:rPr lang="en-US" sz="3200" dirty="0"/>
              <a:t>etc.</a:t>
            </a:r>
          </a:p>
          <a:p>
            <a:endParaRPr lang="en-US" sz="3600" dirty="0"/>
          </a:p>
          <a:p>
            <a:r>
              <a:rPr lang="en-US" sz="3600" dirty="0"/>
              <a:t>We will use </a:t>
            </a:r>
            <a:r>
              <a:rPr lang="en-US" sz="3600" b="1" i="1" dirty="0"/>
              <a:t>context free grammars</a:t>
            </a:r>
          </a:p>
        </p:txBody>
      </p:sp>
    </p:spTree>
    <p:extLst>
      <p:ext uri="{BB962C8B-B14F-4D97-AF65-F5344CB8AC3E}">
        <p14:creationId xmlns:p14="http://schemas.microsoft.com/office/powerpoint/2010/main" val="3750311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Language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3C0E-BC8C-6646-8485-493A3F8FC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/>
              <a:t>Some theory:</a:t>
            </a:r>
          </a:p>
          <a:p>
            <a:pPr marL="0" indent="0">
              <a:buNone/>
            </a:pPr>
            <a:endParaRPr lang="en-US" sz="1400" dirty="0"/>
          </a:p>
          <a:p>
            <a:r>
              <a:rPr lang="en-US" dirty="0"/>
              <a:t>Given a language </a:t>
            </a:r>
            <a:r>
              <a:rPr lang="en-US" i="1" dirty="0"/>
              <a:t>L</a:t>
            </a:r>
            <a:r>
              <a:rPr lang="en-US" dirty="0"/>
              <a:t>, a string </a:t>
            </a:r>
            <a:r>
              <a:rPr lang="en-US" i="1" dirty="0"/>
              <a:t>s</a:t>
            </a:r>
            <a:r>
              <a:rPr lang="en-US" dirty="0"/>
              <a:t> is either part of that language or not</a:t>
            </a:r>
          </a:p>
          <a:p>
            <a:pPr lvl="1"/>
            <a:r>
              <a:rPr lang="en-US" dirty="0"/>
              <a:t>Integers are a language: “5”, “6”, “-7” is in the language. “</a:t>
            </a:r>
            <a:r>
              <a:rPr lang="en-US" dirty="0" err="1"/>
              <a:t>abc</a:t>
            </a:r>
            <a:r>
              <a:rPr lang="en-US" dirty="0"/>
              <a:t>” is not.</a:t>
            </a:r>
          </a:p>
          <a:p>
            <a:pPr lvl="1"/>
            <a:endParaRPr lang="en-US" dirty="0"/>
          </a:p>
          <a:p>
            <a:r>
              <a:rPr lang="en-US" dirty="0"/>
              <a:t>Languages are grouped into families depending on how “hard” it is to determine if a string is part of that language.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222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Language theory: Chomsky Hierarchy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D972A-82E3-4B40-A725-DCEECAB544D0}"/>
              </a:ext>
            </a:extLst>
          </p:cNvPr>
          <p:cNvSpPr txBox="1"/>
          <p:nvPr/>
        </p:nvSpPr>
        <p:spPr>
          <a:xfrm>
            <a:off x="172995" y="6308209"/>
            <a:ext cx="244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/>
              <a:t>wikipedia</a:t>
            </a:r>
            <a:endParaRPr lang="en-US" dirty="0"/>
          </a:p>
        </p:txBody>
      </p:sp>
      <p:pic>
        <p:nvPicPr>
          <p:cNvPr id="7" name="Picture 6" descr="The Chomsky hierarchy">
            <a:extLst>
              <a:ext uri="{FF2B5EF4-FFF2-40B4-BE49-F238E27FC236}">
                <a16:creationId xmlns:a16="http://schemas.microsoft.com/office/drawing/2014/main" id="{A3A24705-34E0-FC4E-874C-7D782A59C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03" y="2155955"/>
            <a:ext cx="4376763" cy="315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E29035-32FD-AA49-8F1B-F96F2A1DF6F8}"/>
              </a:ext>
            </a:extLst>
          </p:cNvPr>
          <p:cNvSpPr txBox="1"/>
          <p:nvPr/>
        </p:nvSpPr>
        <p:spPr>
          <a:xfrm>
            <a:off x="6662057" y="2551611"/>
            <a:ext cx="5277086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simplest languages are regular. We used </a:t>
            </a:r>
          </a:p>
          <a:p>
            <a:r>
              <a:rPr lang="en-US" dirty="0"/>
              <a:t>regular expressions for tokens.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They are fast, even in the general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level of abstraction for tokens</a:t>
            </a:r>
            <a:br>
              <a:rPr lang="en-US" dirty="0"/>
            </a:br>
            <a:endParaRPr lang="en-US" dirty="0"/>
          </a:p>
          <a:p>
            <a:r>
              <a:rPr lang="en-US" dirty="0"/>
              <a:t>We will now use context-free languages (CFG) for </a:t>
            </a:r>
          </a:p>
          <a:p>
            <a:r>
              <a:rPr lang="en-US" dirty="0"/>
              <a:t>Syntactic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 algorithms exist in many cases (not all)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Determining membership can be even inefficient </a:t>
            </a:r>
          </a:p>
          <a:p>
            <a:r>
              <a:rPr lang="en-US" dirty="0"/>
              <a:t>or even undecidable at higher levels (context-sensitive</a:t>
            </a:r>
            <a:br>
              <a:rPr lang="en-US" dirty="0"/>
            </a:br>
            <a:r>
              <a:rPr lang="en-US" dirty="0"/>
              <a:t>and recursively enumerable)</a:t>
            </a:r>
          </a:p>
        </p:txBody>
      </p:sp>
    </p:spTree>
    <p:extLst>
      <p:ext uri="{BB962C8B-B14F-4D97-AF65-F5344CB8AC3E}">
        <p14:creationId xmlns:p14="http://schemas.microsoft.com/office/powerpoint/2010/main" val="3698427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Languages (CFG)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AFF6-E7E3-D24B-A637-08064E0D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define similar to regular languages</a:t>
            </a:r>
          </a:p>
          <a:p>
            <a:r>
              <a:rPr lang="en-US" dirty="0"/>
              <a:t>In this </a:t>
            </a:r>
            <a:r>
              <a:rPr lang="en-US" i="1" dirty="0"/>
              <a:t>class a context-free language is a language that can be recognized by a context-free grammar</a:t>
            </a:r>
          </a:p>
        </p:txBody>
      </p:sp>
    </p:spTree>
    <p:extLst>
      <p:ext uri="{BB962C8B-B14F-4D97-AF65-F5344CB8AC3E}">
        <p14:creationId xmlns:p14="http://schemas.microsoft.com/office/powerpoint/2010/main" val="1765643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AFF6-E7E3-D24B-A637-08064E0DD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define similar to regular languages</a:t>
            </a:r>
          </a:p>
          <a:p>
            <a:r>
              <a:rPr lang="en-US" dirty="0"/>
              <a:t>In this </a:t>
            </a:r>
            <a:r>
              <a:rPr lang="en-US" i="1" dirty="0"/>
              <a:t>class a context-free language is a language that can be recognized by a context-free grammar</a:t>
            </a:r>
          </a:p>
          <a:p>
            <a:endParaRPr lang="en-US" dirty="0"/>
          </a:p>
          <a:p>
            <a:r>
              <a:rPr lang="en-US" dirty="0"/>
              <a:t>....</a:t>
            </a:r>
          </a:p>
          <a:p>
            <a:endParaRPr lang="en-US" dirty="0"/>
          </a:p>
          <a:p>
            <a:r>
              <a:rPr lang="en-US" dirty="0"/>
              <a:t>What is a context-free grammar?</a:t>
            </a:r>
          </a:p>
        </p:txBody>
      </p:sp>
    </p:spTree>
    <p:extLst>
      <p:ext uri="{BB962C8B-B14F-4D97-AF65-F5344CB8AC3E}">
        <p14:creationId xmlns:p14="http://schemas.microsoft.com/office/powerpoint/2010/main" val="984642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AFF6-E7E3-D24B-A637-08064E0D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36337"/>
            <a:ext cx="5814527" cy="459103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We will use </a:t>
            </a:r>
            <a:r>
              <a:rPr lang="en-US" i="1" dirty="0"/>
              <a:t>Backus–</a:t>
            </a:r>
            <a:r>
              <a:rPr lang="en-US" i="1" dirty="0" err="1"/>
              <a:t>Naur</a:t>
            </a:r>
            <a:r>
              <a:rPr lang="en-US" i="1" dirty="0"/>
              <a:t> form </a:t>
            </a:r>
            <a:r>
              <a:rPr lang="en-US" dirty="0"/>
              <a:t>(BNF) form</a:t>
            </a:r>
            <a:endParaRPr lang="en-US" i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non-terminals are language ids. You can have as many as you need.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each non-terminal maps to one or more production rules.</a:t>
            </a:r>
          </a:p>
          <a:p>
            <a:endParaRPr lang="en-US" dirty="0"/>
          </a:p>
          <a:p>
            <a:r>
              <a:rPr lang="en-US" dirty="0"/>
              <a:t>one non-terminal is designated as the </a:t>
            </a:r>
            <a:r>
              <a:rPr lang="en-US" i="1" dirty="0"/>
              <a:t>start</a:t>
            </a:r>
            <a:r>
              <a:rPr lang="en-US" dirty="0"/>
              <a:t> or </a:t>
            </a:r>
            <a:r>
              <a:rPr lang="en-US" i="1" dirty="0"/>
              <a:t>goal</a:t>
            </a:r>
            <a:r>
              <a:rPr lang="en-US" dirty="0"/>
              <a:t> symbol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A638A-73EE-014C-A72D-AE02C9B96026}"/>
              </a:ext>
            </a:extLst>
          </p:cNvPr>
          <p:cNvSpPr txBox="1"/>
          <p:nvPr/>
        </p:nvSpPr>
        <p:spPr>
          <a:xfrm>
            <a:off x="6859380" y="2644669"/>
            <a:ext cx="514756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non-terminal-1 ::= production-rule-1</a:t>
            </a:r>
          </a:p>
          <a:p>
            <a:r>
              <a:rPr lang="en-US" dirty="0">
                <a:latin typeface="Courier" pitchFamily="2" charset="0"/>
              </a:rPr>
              <a:t>               |   production-rule-2</a:t>
            </a:r>
          </a:p>
          <a:p>
            <a:r>
              <a:rPr lang="en-US" dirty="0">
                <a:latin typeface="Courier" pitchFamily="2" charset="0"/>
              </a:rPr>
              <a:t>               |   ...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non-terminal-2 ::= production-rule-1</a:t>
            </a:r>
          </a:p>
          <a:p>
            <a:r>
              <a:rPr lang="en-US" dirty="0">
                <a:latin typeface="Courier" pitchFamily="2" charset="0"/>
              </a:rPr>
              <a:t>               |   production-rule-2</a:t>
            </a:r>
          </a:p>
          <a:p>
            <a:r>
              <a:rPr lang="en-US" dirty="0">
                <a:latin typeface="Courier" pitchFamily="2" charset="0"/>
              </a:rPr>
              <a:t>               |   ...</a:t>
            </a:r>
          </a:p>
          <a:p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....</a:t>
            </a:r>
          </a:p>
        </p:txBody>
      </p:sp>
    </p:spTree>
    <p:extLst>
      <p:ext uri="{BB962C8B-B14F-4D97-AF65-F5344CB8AC3E}">
        <p14:creationId xmlns:p14="http://schemas.microsoft.com/office/powerpoint/2010/main" val="1711997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488EA-AEA5-4D44-FDC3-4DE08FCC4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A804-DD44-F9BE-9A22-39A89E66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John Backus and Peter Naur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C35937-A894-026C-1947-FF16C70EF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166" y="662781"/>
            <a:ext cx="1947510" cy="291416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319095-6712-ECD7-7C99-80A0F9DD6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48316"/>
              </p:ext>
            </p:extLst>
          </p:nvPr>
        </p:nvGraphicFramePr>
        <p:xfrm>
          <a:off x="9022114" y="3577375"/>
          <a:ext cx="3169886" cy="146304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408745183"/>
                    </a:ext>
                  </a:extLst>
                </a:gridCol>
                <a:gridCol w="2961606">
                  <a:extLst>
                    <a:ext uri="{9D8B030D-6E8A-4147-A177-3AD203B41FA5}">
                      <a16:colId xmlns:a16="http://schemas.microsoft.com/office/drawing/2014/main" val="2790205873"/>
                    </a:ext>
                  </a:extLst>
                </a:gridCol>
              </a:tblGrid>
              <a:tr h="59237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u="none" strike="noStrike" dirty="0" err="1">
                          <a:solidFill>
                            <a:srgbClr val="3366CC"/>
                          </a:solidFill>
                          <a:effectLst/>
                          <a:hlinkClick r:id="rId3" tooltip="Speedcoding"/>
                        </a:rPr>
                        <a:t>Speedcoding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u="none" strike="noStrike" dirty="0">
                          <a:solidFill>
                            <a:srgbClr val="3366CC"/>
                          </a:solidFill>
                          <a:effectLst/>
                          <a:hlinkClick r:id="rId4" tooltip="Fortran"/>
                        </a:rPr>
                        <a:t>FORTRAN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u="none" strike="noStrike" dirty="0">
                          <a:solidFill>
                            <a:srgbClr val="3366CC"/>
                          </a:solidFill>
                          <a:effectLst/>
                          <a:hlinkClick r:id="rId5" tooltip="ALGOL"/>
                        </a:rPr>
                        <a:t>ALGOL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u="none" strike="noStrike" dirty="0">
                          <a:solidFill>
                            <a:srgbClr val="3366CC"/>
                          </a:solidFill>
                          <a:effectLst/>
                          <a:hlinkClick r:id="rId6" tooltip="Backus–Naur form"/>
                        </a:rPr>
                        <a:t>Backus–Naur form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u="none" strike="noStrike" dirty="0">
                          <a:solidFill>
                            <a:srgbClr val="3366CC"/>
                          </a:solidFill>
                          <a:effectLst/>
                          <a:hlinkClick r:id="rId7" tooltip="Function-level programming"/>
                        </a:rPr>
                        <a:t>Function-level programming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0315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181D3B3-98A6-E044-CF0F-C210755F9E33}"/>
              </a:ext>
            </a:extLst>
          </p:cNvPr>
          <p:cNvSpPr txBox="1"/>
          <p:nvPr/>
        </p:nvSpPr>
        <p:spPr>
          <a:xfrm>
            <a:off x="905324" y="1325563"/>
            <a:ext cx="57506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John Warner Backus </a:t>
            </a:r>
            <a:r>
              <a:rPr lang="en-US" dirty="0"/>
              <a:t>(December 3, 1924 – March 17, 2007) was an American </a:t>
            </a:r>
            <a:r>
              <a:rPr lang="en-US" dirty="0">
                <a:hlinkClick r:id="rId8" tooltip="Computer scientist"/>
              </a:rPr>
              <a:t>computer scientist</a:t>
            </a:r>
            <a:r>
              <a:rPr lang="en-US" dirty="0"/>
              <a:t>. He led the team that invented and implemented </a:t>
            </a:r>
            <a:r>
              <a:rPr lang="en-US" dirty="0">
                <a:hlinkClick r:id="rId4" tooltip="Fortran"/>
              </a:rPr>
              <a:t>FORTRAN</a:t>
            </a:r>
            <a:r>
              <a:rPr lang="en-US" dirty="0"/>
              <a:t>, the first widely used </a:t>
            </a:r>
            <a:r>
              <a:rPr lang="en-US" dirty="0">
                <a:hlinkClick r:id="rId9" tooltip="High-level programming language"/>
              </a:rPr>
              <a:t>high-level programming language</a:t>
            </a:r>
            <a:r>
              <a:rPr lang="en-US" dirty="0"/>
              <a:t>, and was the inventor of the </a:t>
            </a:r>
            <a:r>
              <a:rPr lang="en-US" dirty="0">
                <a:hlinkClick r:id="rId6" tooltip="Backus–Naur form"/>
              </a:rPr>
              <a:t>Backus–Naur form</a:t>
            </a:r>
            <a:r>
              <a:rPr lang="en-US" dirty="0"/>
              <a:t> (BNF), a widely used notation to define </a:t>
            </a:r>
            <a:r>
              <a:rPr lang="en-US" dirty="0">
                <a:hlinkClick r:id="rId10" tooltip="Syntax"/>
              </a:rPr>
              <a:t>syntaxes</a:t>
            </a:r>
            <a:r>
              <a:rPr lang="en-US" dirty="0"/>
              <a:t> of </a:t>
            </a:r>
            <a:r>
              <a:rPr lang="en-US" dirty="0">
                <a:hlinkClick r:id="rId11" tooltip="Formal language"/>
              </a:rPr>
              <a:t>formal languages</a:t>
            </a:r>
            <a:r>
              <a:rPr lang="en-US" dirty="0"/>
              <a:t>. He also contributed to the design of </a:t>
            </a:r>
            <a:r>
              <a:rPr lang="en-US" dirty="0">
                <a:hlinkClick r:id="rId5" tooltip="ALGOL"/>
              </a:rPr>
              <a:t>ALGOL</a:t>
            </a:r>
            <a:r>
              <a:rPr lang="en-US" dirty="0"/>
              <a:t>, and later researched the </a:t>
            </a:r>
            <a:r>
              <a:rPr lang="en-US" dirty="0">
                <a:hlinkClick r:id="rId7" tooltip="Function-level programming"/>
              </a:rPr>
              <a:t>function-level programming</a:t>
            </a:r>
            <a:r>
              <a:rPr lang="en-US" dirty="0"/>
              <a:t> paradigm, presenting his findings in his influential 1977 Turing Award lecture "Can Programming Be Liberated from the von Neumann Style?"</a:t>
            </a:r>
            <a:r>
              <a:rPr lang="en-US" baseline="30000" dirty="0">
                <a:hlinkClick r:id="rId12"/>
              </a:rPr>
              <a:t>[1]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49488-BD15-C379-EDBD-A7ACE12CA47D}"/>
              </a:ext>
            </a:extLst>
          </p:cNvPr>
          <p:cNvSpPr txBox="1"/>
          <p:nvPr/>
        </p:nvSpPr>
        <p:spPr>
          <a:xfrm>
            <a:off x="1125415" y="6308209"/>
            <a:ext cx="6682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Wikipedia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E19F9C-4369-8090-D7BC-483C0BC4C45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94374" y="662781"/>
            <a:ext cx="2019462" cy="291416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BD7378E-EFF8-9F2B-EDFC-D7C8AC908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352344"/>
              </p:ext>
            </p:extLst>
          </p:nvPr>
        </p:nvGraphicFramePr>
        <p:xfrm>
          <a:off x="6711964" y="3577375"/>
          <a:ext cx="2234069" cy="710202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408745183"/>
                    </a:ext>
                  </a:extLst>
                </a:gridCol>
                <a:gridCol w="2025789">
                  <a:extLst>
                    <a:ext uri="{9D8B030D-6E8A-4147-A177-3AD203B41FA5}">
                      <a16:colId xmlns:a16="http://schemas.microsoft.com/office/drawing/2014/main" val="2790205873"/>
                    </a:ext>
                  </a:extLst>
                </a:gridCol>
              </a:tblGrid>
              <a:tr h="7102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u="none" strike="noStrike" dirty="0">
                          <a:solidFill>
                            <a:srgbClr val="3366CC"/>
                          </a:solidFill>
                          <a:effectLst/>
                          <a:hlinkClick r:id="rId5" tooltip="ALGOL"/>
                        </a:rPr>
                        <a:t>ALGOL</a:t>
                      </a:r>
                      <a:br>
                        <a:rPr lang="en-US" dirty="0">
                          <a:effectLst/>
                        </a:rPr>
                      </a:br>
                      <a:r>
                        <a:rPr lang="en-US" u="none" strike="noStrike" dirty="0">
                          <a:solidFill>
                            <a:srgbClr val="3366CC"/>
                          </a:solidFill>
                          <a:effectLst/>
                          <a:hlinkClick r:id="rId6" tooltip="Backus–Naur form"/>
                        </a:rPr>
                        <a:t>Backus–Naur form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03153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15098A0-DE4D-2895-3C07-8F4A317AFEE1}"/>
              </a:ext>
            </a:extLst>
          </p:cNvPr>
          <p:cNvSpPr txBox="1"/>
          <p:nvPr/>
        </p:nvSpPr>
        <p:spPr>
          <a:xfrm>
            <a:off x="905324" y="4559229"/>
            <a:ext cx="80938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Peter Naur</a:t>
            </a:r>
            <a:r>
              <a:rPr lang="en-US" dirty="0"/>
              <a:t> (25 October 1928 – 3 January 2016)</a:t>
            </a:r>
            <a:r>
              <a:rPr lang="en-US" baseline="30000" dirty="0">
                <a:hlinkClick r:id="rId14"/>
              </a:rPr>
              <a:t>[1]</a:t>
            </a:r>
            <a:r>
              <a:rPr lang="en-US" dirty="0"/>
              <a:t> was a Danish </a:t>
            </a:r>
            <a:r>
              <a:rPr lang="en-US" dirty="0">
                <a:hlinkClick r:id="rId15" tooltip="Computer science"/>
              </a:rPr>
              <a:t>computer science</a:t>
            </a:r>
            <a:r>
              <a:rPr lang="en-US" dirty="0"/>
              <a:t> pioneer and 2005 </a:t>
            </a:r>
            <a:r>
              <a:rPr lang="en-US" dirty="0">
                <a:hlinkClick r:id="rId16" tooltip="Turing Award"/>
              </a:rPr>
              <a:t>Turing Award</a:t>
            </a:r>
            <a:r>
              <a:rPr lang="en-US" dirty="0"/>
              <a:t> winner. He is best remembered as a contributor, with </a:t>
            </a:r>
            <a:r>
              <a:rPr lang="en-US" dirty="0">
                <a:hlinkClick r:id="rId17" tooltip="John Backus"/>
              </a:rPr>
              <a:t>John Backus</a:t>
            </a:r>
            <a:r>
              <a:rPr lang="en-US" dirty="0"/>
              <a:t>, to the </a:t>
            </a:r>
            <a:r>
              <a:rPr lang="en-US" dirty="0">
                <a:hlinkClick r:id="rId6" tooltip="Backus–Naur form"/>
              </a:rPr>
              <a:t>Backus–Naur form</a:t>
            </a:r>
            <a:r>
              <a:rPr lang="en-US" dirty="0"/>
              <a:t> (BNF) notation used in describing the </a:t>
            </a:r>
            <a:r>
              <a:rPr lang="en-US" dirty="0">
                <a:hlinkClick r:id="rId18" tooltip="Syntax (programming languages)"/>
              </a:rPr>
              <a:t>syntax</a:t>
            </a:r>
            <a:r>
              <a:rPr lang="en-US" dirty="0"/>
              <a:t> for most </a:t>
            </a:r>
            <a:r>
              <a:rPr lang="en-US" dirty="0">
                <a:hlinkClick r:id="rId19" tooltip="Programming language"/>
              </a:rPr>
              <a:t>programming languages</a:t>
            </a:r>
            <a:r>
              <a:rPr lang="en-US" dirty="0"/>
              <a:t>. He also contributed to creating the language </a:t>
            </a:r>
            <a:r>
              <a:rPr lang="en-US" dirty="0">
                <a:hlinkClick r:id="rId20" tooltip="ALGOL 60"/>
              </a:rPr>
              <a:t>ALGOL 60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929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Context-free grammar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AFF6-E7E3-D24B-A637-08064E0D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136337"/>
            <a:ext cx="6008077" cy="31214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will use </a:t>
            </a:r>
            <a:r>
              <a:rPr lang="en-US" i="1" dirty="0"/>
              <a:t>Backus–</a:t>
            </a:r>
            <a:r>
              <a:rPr lang="en-US" i="1" dirty="0" err="1"/>
              <a:t>Naur</a:t>
            </a:r>
            <a:r>
              <a:rPr lang="en-US" i="1" dirty="0"/>
              <a:t> form </a:t>
            </a:r>
            <a:r>
              <a:rPr lang="en-US" dirty="0"/>
              <a:t>(BNF) form</a:t>
            </a:r>
            <a:endParaRPr lang="en-US" i="1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Production rules contain a sequence of either non-terminals or terminals</a:t>
            </a:r>
          </a:p>
          <a:p>
            <a:endParaRPr lang="en-US" dirty="0"/>
          </a:p>
          <a:p>
            <a:r>
              <a:rPr lang="en-US" dirty="0"/>
              <a:t>In our class, terminals will either be tokens or a string constants as a short-cut for a token e.g. `+’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A638A-73EE-014C-A72D-AE02C9B96026}"/>
              </a:ext>
            </a:extLst>
          </p:cNvPr>
          <p:cNvSpPr txBox="1"/>
          <p:nvPr/>
        </p:nvSpPr>
        <p:spPr>
          <a:xfrm>
            <a:off x="6819615" y="2807729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add_expr</a:t>
            </a:r>
            <a:r>
              <a:rPr lang="en-US" dirty="0">
                <a:latin typeface="Courier" pitchFamily="2" charset="0"/>
              </a:rPr>
              <a:t> ::= NUM ‘+’ NUM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F05F9-412B-8643-B54B-7C01C9900B83}"/>
              </a:ext>
            </a:extLst>
          </p:cNvPr>
          <p:cNvSpPr txBox="1"/>
          <p:nvPr/>
        </p:nvSpPr>
        <p:spPr>
          <a:xfrm>
            <a:off x="6819615" y="3592073"/>
            <a:ext cx="363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mult_expr</a:t>
            </a:r>
            <a:r>
              <a:rPr lang="en-US" dirty="0">
                <a:latin typeface="Courier" pitchFamily="2" charset="0"/>
              </a:rPr>
              <a:t> ::= NUM ‘*’ NUM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14E7C-5E9A-2845-9745-7A000B4ED0E6}"/>
              </a:ext>
            </a:extLst>
          </p:cNvPr>
          <p:cNvSpPr txBox="1"/>
          <p:nvPr/>
        </p:nvSpPr>
        <p:spPr>
          <a:xfrm>
            <a:off x="6819615" y="4515829"/>
            <a:ext cx="51475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joint_expr</a:t>
            </a:r>
            <a:r>
              <a:rPr lang="en-US" dirty="0">
                <a:latin typeface="Courier" pitchFamily="2" charset="0"/>
              </a:rPr>
              <a:t> ::= </a:t>
            </a:r>
            <a:r>
              <a:rPr lang="en-US" dirty="0" err="1">
                <a:latin typeface="Courier" pitchFamily="2" charset="0"/>
              </a:rPr>
              <a:t>add_expr</a:t>
            </a:r>
            <a:r>
              <a:rPr lang="en-US" dirty="0">
                <a:latin typeface="Courier" pitchFamily="2" charset="0"/>
              </a:rPr>
              <a:t> ‘*’ </a:t>
            </a:r>
            <a:r>
              <a:rPr lang="en-US" dirty="0" err="1">
                <a:latin typeface="Courier" pitchFamily="2" charset="0"/>
              </a:rPr>
              <a:t>add_expr</a:t>
            </a:r>
            <a:br>
              <a:rPr lang="en-US" dirty="0">
                <a:latin typeface="Courier" pitchFamily="2" charset="0"/>
              </a:rPr>
            </a:br>
            <a:endParaRPr lang="en-US" dirty="0">
              <a:latin typeface="Courier" pitchFamily="2" charset="0"/>
            </a:endParaRPr>
          </a:p>
          <a:p>
            <a:br>
              <a:rPr lang="en-US" dirty="0">
                <a:latin typeface="Courier" pitchFamily="2" charset="0"/>
              </a:rPr>
            </a:br>
            <a:r>
              <a:rPr lang="en-US" dirty="0" err="1">
                <a:latin typeface="Courier" pitchFamily="2" charset="0"/>
              </a:rPr>
              <a:t>simple_expr</a:t>
            </a:r>
            <a:r>
              <a:rPr lang="en-US" dirty="0">
                <a:latin typeface="Courier" pitchFamily="2" charset="0"/>
              </a:rPr>
              <a:t> ::= NUM ‘+’ NUM</a:t>
            </a:r>
          </a:p>
          <a:p>
            <a:r>
              <a:rPr lang="en-US" dirty="0">
                <a:latin typeface="Courier" pitchFamily="2" charset="0"/>
              </a:rPr>
              <a:t>            |   NUM ‘*’ NUM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823D0-3FD4-254C-89FD-F8F4B64E5477}"/>
              </a:ext>
            </a:extLst>
          </p:cNvPr>
          <p:cNvSpPr txBox="1"/>
          <p:nvPr/>
        </p:nvSpPr>
        <p:spPr>
          <a:xfrm>
            <a:off x="6819615" y="208738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24483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AFF6-E7E3-D24B-A637-08064E0D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249" y="1828427"/>
            <a:ext cx="10209245" cy="18198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CFG </a:t>
            </a:r>
            <a:r>
              <a:rPr lang="en-US" i="1" dirty="0"/>
              <a:t>G</a:t>
            </a:r>
            <a:r>
              <a:rPr lang="en-US" dirty="0"/>
              <a:t> is said to derive a string </a:t>
            </a:r>
            <a:r>
              <a:rPr lang="en-US" i="1" dirty="0"/>
              <a:t>s</a:t>
            </a:r>
            <a:r>
              <a:rPr lang="en-US" dirty="0"/>
              <a:t> if </a:t>
            </a:r>
            <a:r>
              <a:rPr lang="en-US" i="1" dirty="0"/>
              <a:t>s</a:t>
            </a:r>
            <a:r>
              <a:rPr lang="en-US" dirty="0"/>
              <a:t> is in the language of </a:t>
            </a:r>
            <a:r>
              <a:rPr lang="en-US" i="1" dirty="0"/>
              <a:t>G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We can show a string </a:t>
            </a:r>
            <a:r>
              <a:rPr lang="en-US" i="1" dirty="0"/>
              <a:t>s</a:t>
            </a:r>
            <a:r>
              <a:rPr lang="en-US" dirty="0"/>
              <a:t> belongs to </a:t>
            </a:r>
            <a:r>
              <a:rPr lang="en-US" i="1" dirty="0"/>
              <a:t>G </a:t>
            </a:r>
            <a:r>
              <a:rPr lang="en-US" dirty="0"/>
              <a:t>by </a:t>
            </a:r>
            <a:r>
              <a:rPr lang="en-US" sz="3200" dirty="0"/>
              <a:t>providing a derivation</a:t>
            </a:r>
            <a:endParaRPr lang="en-US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746449" y="3786008"/>
            <a:ext cx="4596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" pitchFamily="2" charset="0"/>
              </a:rPr>
              <a:t>SheepNoise</a:t>
            </a:r>
            <a:r>
              <a:rPr lang="en-US" dirty="0">
                <a:latin typeface="Courier" pitchFamily="2" charset="0"/>
              </a:rPr>
              <a:t> ::= ‘baa’ </a:t>
            </a:r>
            <a:r>
              <a:rPr lang="en-US" dirty="0" err="1">
                <a:latin typeface="Courier" pitchFamily="2" charset="0"/>
              </a:rPr>
              <a:t>SheepNoise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           |   ‘baa’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32C73-DBA7-6148-A7EF-3A81469174A3}"/>
              </a:ext>
            </a:extLst>
          </p:cNvPr>
          <p:cNvSpPr txBox="1"/>
          <p:nvPr/>
        </p:nvSpPr>
        <p:spPr>
          <a:xfrm>
            <a:off x="6755363" y="4190928"/>
            <a:ext cx="481138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 with a sentinel string: a string containing</a:t>
            </a:r>
            <a:br>
              <a:rPr lang="en-US" dirty="0"/>
            </a:br>
            <a:r>
              <a:rPr lang="en-US" dirty="0"/>
              <a:t>terminals and non-terminals: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dirty="0" err="1"/>
              <a:t>SheepNoise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Then pick one of the non-terminals and expand it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2CD8FA-6A37-178C-693D-6C19E3E866A3}"/>
              </a:ext>
            </a:extLst>
          </p:cNvPr>
          <p:cNvSpPr txBox="1"/>
          <p:nvPr/>
        </p:nvSpPr>
        <p:spPr>
          <a:xfrm>
            <a:off x="858655" y="5575922"/>
            <a:ext cx="589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find a derivation using the table method, </a:t>
            </a:r>
          </a:p>
          <a:p>
            <a:r>
              <a:rPr lang="en-US" dirty="0"/>
              <a:t>Always starting with the “start” NT:  here it is </a:t>
            </a:r>
            <a:r>
              <a:rPr lang="en-US" dirty="0" err="1"/>
              <a:t>SheepNoise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4468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3508311" y="2077574"/>
            <a:ext cx="4871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SheepNoise</a:t>
            </a:r>
            <a:r>
              <a:rPr lang="en-US" dirty="0">
                <a:latin typeface="Courier" pitchFamily="2" charset="0"/>
              </a:rPr>
              <a:t> ::= ‘baa’ </a:t>
            </a:r>
            <a:r>
              <a:rPr lang="en-US" dirty="0" err="1">
                <a:latin typeface="Courier" pitchFamily="2" charset="0"/>
              </a:rPr>
              <a:t>SheepNoise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           |   ‘baa’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47558"/>
              </p:ext>
            </p:extLst>
          </p:nvPr>
        </p:nvGraphicFramePr>
        <p:xfrm>
          <a:off x="297024" y="3964915"/>
          <a:ext cx="5105400" cy="11125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SheepNoise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3F1839C-3C88-1E48-8002-D9C483686501}"/>
              </a:ext>
            </a:extLst>
          </p:cNvPr>
          <p:cNvSpPr txBox="1"/>
          <p:nvPr/>
        </p:nvSpPr>
        <p:spPr>
          <a:xfrm>
            <a:off x="4338735" y="1614197"/>
            <a:ext cx="382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Give each production rule a numeric id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EED4C2B-A683-DA40-8CCE-E41DEC16F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27794"/>
              </p:ext>
            </p:extLst>
          </p:nvPr>
        </p:nvGraphicFramePr>
        <p:xfrm>
          <a:off x="6644950" y="3955583"/>
          <a:ext cx="5105400" cy="1483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SheepNoise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51787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6ECEA7D-405A-DB32-061B-1B55D136523A}"/>
              </a:ext>
            </a:extLst>
          </p:cNvPr>
          <p:cNvSpPr txBox="1"/>
          <p:nvPr/>
        </p:nvSpPr>
        <p:spPr>
          <a:xfrm>
            <a:off x="2132220" y="330925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String:  “baa”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8382F-B6DF-EB15-8FA0-3FD86A60B13C}"/>
              </a:ext>
            </a:extLst>
          </p:cNvPr>
          <p:cNvSpPr txBox="1"/>
          <p:nvPr/>
        </p:nvSpPr>
        <p:spPr>
          <a:xfrm>
            <a:off x="8475348" y="330925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String:  “baa baa”</a:t>
            </a:r>
          </a:p>
        </p:txBody>
      </p:sp>
    </p:spTree>
    <p:extLst>
      <p:ext uri="{BB962C8B-B14F-4D97-AF65-F5344CB8AC3E}">
        <p14:creationId xmlns:p14="http://schemas.microsoft.com/office/powerpoint/2010/main" val="328523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Deriving strings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3508311" y="2077574"/>
            <a:ext cx="4871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SheepNoise</a:t>
            </a:r>
            <a:r>
              <a:rPr lang="en-US" dirty="0">
                <a:latin typeface="Courier" pitchFamily="2" charset="0"/>
              </a:rPr>
              <a:t> ::= ‘baa’ </a:t>
            </a:r>
            <a:r>
              <a:rPr lang="en-US" dirty="0" err="1">
                <a:latin typeface="Courier" pitchFamily="2" charset="0"/>
              </a:rPr>
              <a:t>SheepNoise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           |   ‘baa’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870432"/>
              </p:ext>
            </p:extLst>
          </p:nvPr>
        </p:nvGraphicFramePr>
        <p:xfrm>
          <a:off x="297024" y="3964915"/>
          <a:ext cx="5105400" cy="11125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SheepNoise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“baa”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3F1839C-3C88-1E48-8002-D9C483686501}"/>
              </a:ext>
            </a:extLst>
          </p:cNvPr>
          <p:cNvSpPr txBox="1"/>
          <p:nvPr/>
        </p:nvSpPr>
        <p:spPr>
          <a:xfrm>
            <a:off x="4338735" y="1614197"/>
            <a:ext cx="382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Give each production rule a numeric id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BEED4C2B-A683-DA40-8CCE-E41DEC16F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18879"/>
              </p:ext>
            </p:extLst>
          </p:nvPr>
        </p:nvGraphicFramePr>
        <p:xfrm>
          <a:off x="6644950" y="3955583"/>
          <a:ext cx="5105400" cy="14833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SheepNoise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“baa” </a:t>
                      </a:r>
                      <a:r>
                        <a:rPr lang="en-US" dirty="0" err="1"/>
                        <a:t>SheepNoise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“baa baa”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5178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C3815D-F872-4EEA-D98B-E24C3B55BD7F}"/>
              </a:ext>
            </a:extLst>
          </p:cNvPr>
          <p:cNvSpPr txBox="1"/>
          <p:nvPr/>
        </p:nvSpPr>
        <p:spPr>
          <a:xfrm>
            <a:off x="2132220" y="3309257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String:  “baa”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A1404-BFC8-960E-4207-0DB2B7AF46BE}"/>
              </a:ext>
            </a:extLst>
          </p:cNvPr>
          <p:cNvSpPr txBox="1"/>
          <p:nvPr/>
        </p:nvSpPr>
        <p:spPr>
          <a:xfrm>
            <a:off x="8475348" y="330925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String:  “baa baa”</a:t>
            </a:r>
          </a:p>
        </p:txBody>
      </p:sp>
    </p:spTree>
    <p:extLst>
      <p:ext uri="{BB962C8B-B14F-4D97-AF65-F5344CB8AC3E}">
        <p14:creationId xmlns:p14="http://schemas.microsoft.com/office/powerpoint/2010/main" val="27852707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5846" cy="4351338"/>
          </a:xfrm>
        </p:spPr>
        <p:txBody>
          <a:bodyPr/>
          <a:lstStyle/>
          <a:p>
            <a:r>
              <a:rPr lang="en-US" dirty="0"/>
              <a:t>tokens: </a:t>
            </a:r>
          </a:p>
          <a:p>
            <a:pPr lvl="1"/>
            <a:r>
              <a:rPr lang="en-US" dirty="0">
                <a:latin typeface="Courier" pitchFamily="2" charset="0"/>
              </a:rPr>
              <a:t>NUM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OPAR = “\(“</a:t>
            </a:r>
          </a:p>
          <a:p>
            <a:pPr lvl="1"/>
            <a:r>
              <a:rPr lang="en-US" dirty="0">
                <a:latin typeface="Courier" pitchFamily="2" charset="0"/>
              </a:rPr>
              <a:t>CPAR = “\)”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1E67E-776B-C359-A9AC-97C57EDDE8DE}"/>
              </a:ext>
            </a:extLst>
          </p:cNvPr>
          <p:cNvSpPr txBox="1"/>
          <p:nvPr/>
        </p:nvSpPr>
        <p:spPr>
          <a:xfrm>
            <a:off x="7587031" y="2398548"/>
            <a:ext cx="24800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</a:t>
            </a:r>
          </a:p>
          <a:p>
            <a:r>
              <a:rPr lang="en-US" dirty="0">
                <a:latin typeface="Courier" pitchFamily="2" charset="0"/>
              </a:rPr>
              <a:t>2:</a:t>
            </a:r>
          </a:p>
          <a:p>
            <a:r>
              <a:rPr lang="en-US" dirty="0">
                <a:latin typeface="Courier" pitchFamily="2" charset="0"/>
              </a:rPr>
              <a:t>3:</a:t>
            </a:r>
          </a:p>
          <a:p>
            <a:r>
              <a:rPr lang="en-US" dirty="0">
                <a:latin typeface="Courier" pitchFamily="2" charset="0"/>
              </a:rPr>
              <a:t>4:</a:t>
            </a:r>
          </a:p>
          <a:p>
            <a:r>
              <a:rPr lang="en-US" dirty="0">
                <a:latin typeface="Courier" pitchFamily="2" charset="0"/>
              </a:rPr>
              <a:t>5:</a:t>
            </a:r>
          </a:p>
        </p:txBody>
      </p:sp>
    </p:spTree>
    <p:extLst>
      <p:ext uri="{BB962C8B-B14F-4D97-AF65-F5344CB8AC3E}">
        <p14:creationId xmlns:p14="http://schemas.microsoft.com/office/powerpoint/2010/main" val="3674332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5846" cy="4351338"/>
          </a:xfrm>
        </p:spPr>
        <p:txBody>
          <a:bodyPr/>
          <a:lstStyle/>
          <a:p>
            <a:r>
              <a:rPr lang="en-US" dirty="0"/>
              <a:t>tokens: </a:t>
            </a:r>
          </a:p>
          <a:p>
            <a:pPr lvl="1"/>
            <a:r>
              <a:rPr lang="en-US" dirty="0">
                <a:latin typeface="Courier" pitchFamily="2" charset="0"/>
              </a:rPr>
              <a:t>NUM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OPAR = “\(“</a:t>
            </a:r>
          </a:p>
          <a:p>
            <a:pPr lvl="1"/>
            <a:r>
              <a:rPr lang="en-US" dirty="0">
                <a:latin typeface="Courier" pitchFamily="2" charset="0"/>
              </a:rPr>
              <a:t>CPAR = “\)”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1E67E-776B-C359-A9AC-97C57EDDE8DE}"/>
              </a:ext>
            </a:extLst>
          </p:cNvPr>
          <p:cNvSpPr txBox="1"/>
          <p:nvPr/>
        </p:nvSpPr>
        <p:spPr>
          <a:xfrm>
            <a:off x="7587032" y="2398548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NUM</a:t>
            </a:r>
          </a:p>
          <a:p>
            <a:r>
              <a:rPr lang="en-US" dirty="0">
                <a:latin typeface="Courier" pitchFamily="2" charset="0"/>
              </a:rPr>
              <a:t>3:      |    NUM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6194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 (let’s explore)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080055"/>
              </p:ext>
            </p:extLst>
          </p:nvPr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</p:spTree>
    <p:extLst>
      <p:ext uri="{BB962C8B-B14F-4D97-AF65-F5344CB8AC3E}">
        <p14:creationId xmlns:p14="http://schemas.microsoft.com/office/powerpoint/2010/main" val="2732314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637342"/>
              </p:ext>
            </p:extLst>
          </p:nvPr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</p:spTree>
    <p:extLst>
      <p:ext uri="{BB962C8B-B14F-4D97-AF65-F5344CB8AC3E}">
        <p14:creationId xmlns:p14="http://schemas.microsoft.com/office/powerpoint/2010/main" val="35762825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174653"/>
              </p:ext>
            </p:extLst>
          </p:nvPr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83242-6EC9-1440-BCBA-C5AD8360A666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F7B6E-E6AB-7F4B-8A1B-954455F1338C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Expr</a:t>
            </a:r>
          </a:p>
        </p:txBody>
      </p:sp>
    </p:spTree>
    <p:extLst>
      <p:ext uri="{BB962C8B-B14F-4D97-AF65-F5344CB8AC3E}">
        <p14:creationId xmlns:p14="http://schemas.microsoft.com/office/powerpoint/2010/main" val="792390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212485"/>
              </p:ext>
            </p:extLst>
          </p:nvPr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83242-6EC9-1440-BCBA-C5AD8360A666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F7B6E-E6AB-7F4B-8A1B-954455F1338C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BF37B-9B18-A543-AFBD-9053A85FF471}"/>
              </a:ext>
            </a:extLst>
          </p:cNvPr>
          <p:cNvCxnSpPr/>
          <p:nvPr/>
        </p:nvCxnSpPr>
        <p:spPr>
          <a:xfrm flipH="1">
            <a:off x="7343192" y="3488792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25A655-3056-8840-817D-E9ABECF24E7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212272" y="3488792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D03CFF-32B0-DC45-AF44-B8F9FB5C4A68}"/>
              </a:ext>
            </a:extLst>
          </p:cNvPr>
          <p:cNvCxnSpPr>
            <a:cxnSpLocks/>
          </p:cNvCxnSpPr>
          <p:nvPr/>
        </p:nvCxnSpPr>
        <p:spPr>
          <a:xfrm>
            <a:off x="9435192" y="3488792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F898E0-9554-6349-8C9F-FD8A9F2FE0D2}"/>
              </a:ext>
            </a:extLst>
          </p:cNvPr>
          <p:cNvSpPr txBox="1"/>
          <p:nvPr/>
        </p:nvSpPr>
        <p:spPr>
          <a:xfrm>
            <a:off x="10226351" y="407747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0C00C-5507-4245-BD49-A3F03C0A0A95}"/>
              </a:ext>
            </a:extLst>
          </p:cNvPr>
          <p:cNvSpPr txBox="1"/>
          <p:nvPr/>
        </p:nvSpPr>
        <p:spPr>
          <a:xfrm>
            <a:off x="9023483" y="408696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E47C6-FD7B-644C-8AD2-C8F1A283710B}"/>
              </a:ext>
            </a:extLst>
          </p:cNvPr>
          <p:cNvSpPr txBox="1"/>
          <p:nvPr/>
        </p:nvSpPr>
        <p:spPr>
          <a:xfrm>
            <a:off x="6984262" y="40915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</p:spTree>
    <p:extLst>
      <p:ext uri="{BB962C8B-B14F-4D97-AF65-F5344CB8AC3E}">
        <p14:creationId xmlns:p14="http://schemas.microsoft.com/office/powerpoint/2010/main" val="5099728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/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83242-6EC9-1440-BCBA-C5AD8360A666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F7B6E-E6AB-7F4B-8A1B-954455F1338C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BF37B-9B18-A543-AFBD-9053A85FF471}"/>
              </a:ext>
            </a:extLst>
          </p:cNvPr>
          <p:cNvCxnSpPr/>
          <p:nvPr/>
        </p:nvCxnSpPr>
        <p:spPr>
          <a:xfrm flipH="1">
            <a:off x="7343192" y="3488792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25A655-3056-8840-817D-E9ABECF24E7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212272" y="3488792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D03CFF-32B0-DC45-AF44-B8F9FB5C4A68}"/>
              </a:ext>
            </a:extLst>
          </p:cNvPr>
          <p:cNvCxnSpPr>
            <a:cxnSpLocks/>
          </p:cNvCxnSpPr>
          <p:nvPr/>
        </p:nvCxnSpPr>
        <p:spPr>
          <a:xfrm>
            <a:off x="9435192" y="3488792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F898E0-9554-6349-8C9F-FD8A9F2FE0D2}"/>
              </a:ext>
            </a:extLst>
          </p:cNvPr>
          <p:cNvSpPr txBox="1"/>
          <p:nvPr/>
        </p:nvSpPr>
        <p:spPr>
          <a:xfrm>
            <a:off x="10226351" y="407747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0C00C-5507-4245-BD49-A3F03C0A0A95}"/>
              </a:ext>
            </a:extLst>
          </p:cNvPr>
          <p:cNvSpPr txBox="1"/>
          <p:nvPr/>
        </p:nvSpPr>
        <p:spPr>
          <a:xfrm>
            <a:off x="9023483" y="408696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E47C6-FD7B-644C-8AD2-C8F1A283710B}"/>
              </a:ext>
            </a:extLst>
          </p:cNvPr>
          <p:cNvSpPr txBox="1"/>
          <p:nvPr/>
        </p:nvSpPr>
        <p:spPr>
          <a:xfrm>
            <a:off x="6984262" y="40915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9008A0-E77A-C445-8485-71360933691C}"/>
              </a:ext>
            </a:extLst>
          </p:cNvPr>
          <p:cNvCxnSpPr>
            <a:cxnSpLocks/>
          </p:cNvCxnSpPr>
          <p:nvPr/>
        </p:nvCxnSpPr>
        <p:spPr>
          <a:xfrm>
            <a:off x="9212272" y="4456297"/>
            <a:ext cx="0" cy="395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4AEC69-022D-4640-88BC-F4A5FB47CE6D}"/>
              </a:ext>
            </a:extLst>
          </p:cNvPr>
          <p:cNvSpPr txBox="1"/>
          <p:nvPr/>
        </p:nvSpPr>
        <p:spPr>
          <a:xfrm>
            <a:off x="9062230" y="48698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5873292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/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83242-6EC9-1440-BCBA-C5AD8360A666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F7B6E-E6AB-7F4B-8A1B-954455F1338C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BF37B-9B18-A543-AFBD-9053A85FF471}"/>
              </a:ext>
            </a:extLst>
          </p:cNvPr>
          <p:cNvCxnSpPr/>
          <p:nvPr/>
        </p:nvCxnSpPr>
        <p:spPr>
          <a:xfrm flipH="1">
            <a:off x="7343192" y="3488792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25A655-3056-8840-817D-E9ABECF24E7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212272" y="3488792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D03CFF-32B0-DC45-AF44-B8F9FB5C4A68}"/>
              </a:ext>
            </a:extLst>
          </p:cNvPr>
          <p:cNvCxnSpPr>
            <a:cxnSpLocks/>
          </p:cNvCxnSpPr>
          <p:nvPr/>
        </p:nvCxnSpPr>
        <p:spPr>
          <a:xfrm>
            <a:off x="9435192" y="3488792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F898E0-9554-6349-8C9F-FD8A9F2FE0D2}"/>
              </a:ext>
            </a:extLst>
          </p:cNvPr>
          <p:cNvSpPr txBox="1"/>
          <p:nvPr/>
        </p:nvSpPr>
        <p:spPr>
          <a:xfrm>
            <a:off x="10226351" y="407747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0C00C-5507-4245-BD49-A3F03C0A0A95}"/>
              </a:ext>
            </a:extLst>
          </p:cNvPr>
          <p:cNvSpPr txBox="1"/>
          <p:nvPr/>
        </p:nvSpPr>
        <p:spPr>
          <a:xfrm>
            <a:off x="9023483" y="408696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E47C6-FD7B-644C-8AD2-C8F1A283710B}"/>
              </a:ext>
            </a:extLst>
          </p:cNvPr>
          <p:cNvSpPr txBox="1"/>
          <p:nvPr/>
        </p:nvSpPr>
        <p:spPr>
          <a:xfrm>
            <a:off x="6984262" y="40915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9008A0-E77A-C445-8485-71360933691C}"/>
              </a:ext>
            </a:extLst>
          </p:cNvPr>
          <p:cNvCxnSpPr>
            <a:cxnSpLocks/>
          </p:cNvCxnSpPr>
          <p:nvPr/>
        </p:nvCxnSpPr>
        <p:spPr>
          <a:xfrm>
            <a:off x="9212272" y="4456297"/>
            <a:ext cx="0" cy="395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4AEC69-022D-4640-88BC-F4A5FB47CE6D}"/>
              </a:ext>
            </a:extLst>
          </p:cNvPr>
          <p:cNvSpPr txBox="1"/>
          <p:nvPr/>
        </p:nvSpPr>
        <p:spPr>
          <a:xfrm>
            <a:off x="9062230" y="48698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EF108F-0117-1248-A584-F76E6CCD9EF4}"/>
              </a:ext>
            </a:extLst>
          </p:cNvPr>
          <p:cNvCxnSpPr>
            <a:cxnSpLocks/>
          </p:cNvCxnSpPr>
          <p:nvPr/>
        </p:nvCxnSpPr>
        <p:spPr>
          <a:xfrm flipH="1">
            <a:off x="6650371" y="4475004"/>
            <a:ext cx="309835" cy="218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92A418-BC89-2A42-AA8A-E900AF017208}"/>
              </a:ext>
            </a:extLst>
          </p:cNvPr>
          <p:cNvCxnSpPr>
            <a:cxnSpLocks/>
          </p:cNvCxnSpPr>
          <p:nvPr/>
        </p:nvCxnSpPr>
        <p:spPr>
          <a:xfrm>
            <a:off x="7516087" y="4456297"/>
            <a:ext cx="255205" cy="2863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81A23F6-DEF6-A34E-BBB9-7B191CFBB668}"/>
              </a:ext>
            </a:extLst>
          </p:cNvPr>
          <p:cNvSpPr txBox="1"/>
          <p:nvPr/>
        </p:nvSpPr>
        <p:spPr>
          <a:xfrm>
            <a:off x="6395173" y="469345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42F436-97B5-F348-919A-03E52F8E3C4D}"/>
              </a:ext>
            </a:extLst>
          </p:cNvPr>
          <p:cNvSpPr txBox="1"/>
          <p:nvPr/>
        </p:nvSpPr>
        <p:spPr>
          <a:xfrm>
            <a:off x="7639520" y="468513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065F7-B662-C645-B6AD-CB6468927D5E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246097" y="4460907"/>
            <a:ext cx="37286" cy="281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33B99C-0355-5E46-B117-E63E40250D7B}"/>
              </a:ext>
            </a:extLst>
          </p:cNvPr>
          <p:cNvSpPr txBox="1"/>
          <p:nvPr/>
        </p:nvSpPr>
        <p:spPr>
          <a:xfrm>
            <a:off x="6911073" y="46672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</p:spTree>
    <p:extLst>
      <p:ext uri="{BB962C8B-B14F-4D97-AF65-F5344CB8AC3E}">
        <p14:creationId xmlns:p14="http://schemas.microsoft.com/office/powerpoint/2010/main" val="1508613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/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83242-6EC9-1440-BCBA-C5AD8360A666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F7B6E-E6AB-7F4B-8A1B-954455F1338C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BF37B-9B18-A543-AFBD-9053A85FF471}"/>
              </a:ext>
            </a:extLst>
          </p:cNvPr>
          <p:cNvCxnSpPr/>
          <p:nvPr/>
        </p:nvCxnSpPr>
        <p:spPr>
          <a:xfrm flipH="1">
            <a:off x="7343192" y="3488792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25A655-3056-8840-817D-E9ABECF24E7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212272" y="3488792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D03CFF-32B0-DC45-AF44-B8F9FB5C4A68}"/>
              </a:ext>
            </a:extLst>
          </p:cNvPr>
          <p:cNvCxnSpPr>
            <a:cxnSpLocks/>
          </p:cNvCxnSpPr>
          <p:nvPr/>
        </p:nvCxnSpPr>
        <p:spPr>
          <a:xfrm>
            <a:off x="9435192" y="3488792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F898E0-9554-6349-8C9F-FD8A9F2FE0D2}"/>
              </a:ext>
            </a:extLst>
          </p:cNvPr>
          <p:cNvSpPr txBox="1"/>
          <p:nvPr/>
        </p:nvSpPr>
        <p:spPr>
          <a:xfrm>
            <a:off x="10226351" y="407747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0C00C-5507-4245-BD49-A3F03C0A0A95}"/>
              </a:ext>
            </a:extLst>
          </p:cNvPr>
          <p:cNvSpPr txBox="1"/>
          <p:nvPr/>
        </p:nvSpPr>
        <p:spPr>
          <a:xfrm>
            <a:off x="9023483" y="408696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E47C6-FD7B-644C-8AD2-C8F1A283710B}"/>
              </a:ext>
            </a:extLst>
          </p:cNvPr>
          <p:cNvSpPr txBox="1"/>
          <p:nvPr/>
        </p:nvSpPr>
        <p:spPr>
          <a:xfrm>
            <a:off x="6984262" y="40915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9008A0-E77A-C445-8485-71360933691C}"/>
              </a:ext>
            </a:extLst>
          </p:cNvPr>
          <p:cNvCxnSpPr>
            <a:cxnSpLocks/>
          </p:cNvCxnSpPr>
          <p:nvPr/>
        </p:nvCxnSpPr>
        <p:spPr>
          <a:xfrm>
            <a:off x="9212272" y="4456297"/>
            <a:ext cx="0" cy="395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4AEC69-022D-4640-88BC-F4A5FB47CE6D}"/>
              </a:ext>
            </a:extLst>
          </p:cNvPr>
          <p:cNvSpPr txBox="1"/>
          <p:nvPr/>
        </p:nvSpPr>
        <p:spPr>
          <a:xfrm>
            <a:off x="9062230" y="48698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EF108F-0117-1248-A584-F76E6CCD9EF4}"/>
              </a:ext>
            </a:extLst>
          </p:cNvPr>
          <p:cNvCxnSpPr>
            <a:cxnSpLocks/>
          </p:cNvCxnSpPr>
          <p:nvPr/>
        </p:nvCxnSpPr>
        <p:spPr>
          <a:xfrm flipH="1">
            <a:off x="6650371" y="4475004"/>
            <a:ext cx="309835" cy="218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92A418-BC89-2A42-AA8A-E900AF017208}"/>
              </a:ext>
            </a:extLst>
          </p:cNvPr>
          <p:cNvCxnSpPr>
            <a:cxnSpLocks/>
          </p:cNvCxnSpPr>
          <p:nvPr/>
        </p:nvCxnSpPr>
        <p:spPr>
          <a:xfrm>
            <a:off x="7516087" y="4456297"/>
            <a:ext cx="255205" cy="2863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81A23F6-DEF6-A34E-BBB9-7B191CFBB668}"/>
              </a:ext>
            </a:extLst>
          </p:cNvPr>
          <p:cNvSpPr txBox="1"/>
          <p:nvPr/>
        </p:nvSpPr>
        <p:spPr>
          <a:xfrm>
            <a:off x="6395173" y="469345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42F436-97B5-F348-919A-03E52F8E3C4D}"/>
              </a:ext>
            </a:extLst>
          </p:cNvPr>
          <p:cNvSpPr txBox="1"/>
          <p:nvPr/>
        </p:nvSpPr>
        <p:spPr>
          <a:xfrm>
            <a:off x="7639520" y="468513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065F7-B662-C645-B6AD-CB6468927D5E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246097" y="4460907"/>
            <a:ext cx="37286" cy="281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33B99C-0355-5E46-B117-E63E40250D7B}"/>
              </a:ext>
            </a:extLst>
          </p:cNvPr>
          <p:cNvSpPr txBox="1"/>
          <p:nvPr/>
        </p:nvSpPr>
        <p:spPr>
          <a:xfrm>
            <a:off x="6911073" y="46672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DB9778-1A2E-2F44-A363-90B85321FBD9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210193" y="5036584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6EBECC-5E5E-6E41-9D34-8D088E3DECC9}"/>
              </a:ext>
            </a:extLst>
          </p:cNvPr>
          <p:cNvSpPr txBox="1"/>
          <p:nvPr/>
        </p:nvSpPr>
        <p:spPr>
          <a:xfrm>
            <a:off x="6984262" y="5510756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8AAABF-C52D-AF4A-936A-0058BF4F4506}"/>
              </a:ext>
            </a:extLst>
          </p:cNvPr>
          <p:cNvCxnSpPr>
            <a:cxnSpLocks/>
          </p:cNvCxnSpPr>
          <p:nvPr/>
        </p:nvCxnSpPr>
        <p:spPr>
          <a:xfrm flipH="1" flipV="1">
            <a:off x="7359753" y="5033397"/>
            <a:ext cx="458130" cy="4773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A075343-2128-4548-9BEB-90B7DDAC05FA}"/>
              </a:ext>
            </a:extLst>
          </p:cNvPr>
          <p:cNvSpPr txBox="1"/>
          <p:nvPr/>
        </p:nvSpPr>
        <p:spPr>
          <a:xfrm>
            <a:off x="7582503" y="5529359"/>
            <a:ext cx="75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b)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24C29B7-E30D-7A4C-9CC1-B3D1BAC8AE72}"/>
              </a:ext>
            </a:extLst>
          </p:cNvPr>
          <p:cNvCxnSpPr>
            <a:cxnSpLocks/>
          </p:cNvCxnSpPr>
          <p:nvPr/>
        </p:nvCxnSpPr>
        <p:spPr>
          <a:xfrm flipV="1">
            <a:off x="6522772" y="5033397"/>
            <a:ext cx="533137" cy="559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6EC8304-058E-2B49-8857-2DE238B17127}"/>
              </a:ext>
            </a:extLst>
          </p:cNvPr>
          <p:cNvSpPr txBox="1"/>
          <p:nvPr/>
        </p:nvSpPr>
        <p:spPr>
          <a:xfrm>
            <a:off x="6052130" y="55062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</p:spTree>
    <p:extLst>
      <p:ext uri="{BB962C8B-B14F-4D97-AF65-F5344CB8AC3E}">
        <p14:creationId xmlns:p14="http://schemas.microsoft.com/office/powerpoint/2010/main" val="34672629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/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4655975" y="1604370"/>
            <a:ext cx="3478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the string 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a+b</a:t>
            </a:r>
            <a:r>
              <a:rPr lang="en-US" dirty="0">
                <a:latin typeface="Courier" pitchFamily="2" charset="0"/>
              </a:rPr>
              <a:t>)*c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83242-6EC9-1440-BCBA-C5AD8360A666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F7B6E-E6AB-7F4B-8A1B-954455F1338C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BF37B-9B18-A543-AFBD-9053A85FF471}"/>
              </a:ext>
            </a:extLst>
          </p:cNvPr>
          <p:cNvCxnSpPr/>
          <p:nvPr/>
        </p:nvCxnSpPr>
        <p:spPr>
          <a:xfrm flipH="1">
            <a:off x="7343192" y="3488792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25A655-3056-8840-817D-E9ABECF24E7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212272" y="3488792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D03CFF-32B0-DC45-AF44-B8F9FB5C4A68}"/>
              </a:ext>
            </a:extLst>
          </p:cNvPr>
          <p:cNvCxnSpPr>
            <a:cxnSpLocks/>
          </p:cNvCxnSpPr>
          <p:nvPr/>
        </p:nvCxnSpPr>
        <p:spPr>
          <a:xfrm>
            <a:off x="9435192" y="3488792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F898E0-9554-6349-8C9F-FD8A9F2FE0D2}"/>
              </a:ext>
            </a:extLst>
          </p:cNvPr>
          <p:cNvSpPr txBox="1"/>
          <p:nvPr/>
        </p:nvSpPr>
        <p:spPr>
          <a:xfrm>
            <a:off x="10226351" y="407747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0C00C-5507-4245-BD49-A3F03C0A0A95}"/>
              </a:ext>
            </a:extLst>
          </p:cNvPr>
          <p:cNvSpPr txBox="1"/>
          <p:nvPr/>
        </p:nvSpPr>
        <p:spPr>
          <a:xfrm>
            <a:off x="9023483" y="408696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E47C6-FD7B-644C-8AD2-C8F1A283710B}"/>
              </a:ext>
            </a:extLst>
          </p:cNvPr>
          <p:cNvSpPr txBox="1"/>
          <p:nvPr/>
        </p:nvSpPr>
        <p:spPr>
          <a:xfrm>
            <a:off x="6984262" y="40915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9008A0-E77A-C445-8485-71360933691C}"/>
              </a:ext>
            </a:extLst>
          </p:cNvPr>
          <p:cNvCxnSpPr>
            <a:cxnSpLocks/>
          </p:cNvCxnSpPr>
          <p:nvPr/>
        </p:nvCxnSpPr>
        <p:spPr>
          <a:xfrm>
            <a:off x="9212272" y="4456297"/>
            <a:ext cx="0" cy="395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4AEC69-022D-4640-88BC-F4A5FB47CE6D}"/>
              </a:ext>
            </a:extLst>
          </p:cNvPr>
          <p:cNvSpPr txBox="1"/>
          <p:nvPr/>
        </p:nvSpPr>
        <p:spPr>
          <a:xfrm>
            <a:off x="9062230" y="48698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EF108F-0117-1248-A584-F76E6CCD9EF4}"/>
              </a:ext>
            </a:extLst>
          </p:cNvPr>
          <p:cNvCxnSpPr>
            <a:cxnSpLocks/>
          </p:cNvCxnSpPr>
          <p:nvPr/>
        </p:nvCxnSpPr>
        <p:spPr>
          <a:xfrm flipH="1">
            <a:off x="6650371" y="4475004"/>
            <a:ext cx="309835" cy="218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92A418-BC89-2A42-AA8A-E900AF017208}"/>
              </a:ext>
            </a:extLst>
          </p:cNvPr>
          <p:cNvCxnSpPr>
            <a:cxnSpLocks/>
          </p:cNvCxnSpPr>
          <p:nvPr/>
        </p:nvCxnSpPr>
        <p:spPr>
          <a:xfrm>
            <a:off x="7516087" y="4456297"/>
            <a:ext cx="255205" cy="2863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81A23F6-DEF6-A34E-BBB9-7B191CFBB668}"/>
              </a:ext>
            </a:extLst>
          </p:cNvPr>
          <p:cNvSpPr txBox="1"/>
          <p:nvPr/>
        </p:nvSpPr>
        <p:spPr>
          <a:xfrm>
            <a:off x="6395173" y="469345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42F436-97B5-F348-919A-03E52F8E3C4D}"/>
              </a:ext>
            </a:extLst>
          </p:cNvPr>
          <p:cNvSpPr txBox="1"/>
          <p:nvPr/>
        </p:nvSpPr>
        <p:spPr>
          <a:xfrm>
            <a:off x="7639520" y="468513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065F7-B662-C645-B6AD-CB6468927D5E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246097" y="4460907"/>
            <a:ext cx="37286" cy="281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33B99C-0355-5E46-B117-E63E40250D7B}"/>
              </a:ext>
            </a:extLst>
          </p:cNvPr>
          <p:cNvSpPr txBox="1"/>
          <p:nvPr/>
        </p:nvSpPr>
        <p:spPr>
          <a:xfrm>
            <a:off x="6911073" y="46672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DB9778-1A2E-2F44-A363-90B85321FBD9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210193" y="5036584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6EBECC-5E5E-6E41-9D34-8D088E3DECC9}"/>
              </a:ext>
            </a:extLst>
          </p:cNvPr>
          <p:cNvSpPr txBox="1"/>
          <p:nvPr/>
        </p:nvSpPr>
        <p:spPr>
          <a:xfrm>
            <a:off x="6984262" y="5510756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8AAABF-C52D-AF4A-936A-0058BF4F4506}"/>
              </a:ext>
            </a:extLst>
          </p:cNvPr>
          <p:cNvCxnSpPr>
            <a:cxnSpLocks/>
          </p:cNvCxnSpPr>
          <p:nvPr/>
        </p:nvCxnSpPr>
        <p:spPr>
          <a:xfrm flipH="1" flipV="1">
            <a:off x="7359753" y="5033397"/>
            <a:ext cx="458130" cy="4773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A075343-2128-4548-9BEB-90B7DDAC05FA}"/>
              </a:ext>
            </a:extLst>
          </p:cNvPr>
          <p:cNvSpPr txBox="1"/>
          <p:nvPr/>
        </p:nvSpPr>
        <p:spPr>
          <a:xfrm>
            <a:off x="7582503" y="5529359"/>
            <a:ext cx="75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b)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24C29B7-E30D-7A4C-9CC1-B3D1BAC8AE72}"/>
              </a:ext>
            </a:extLst>
          </p:cNvPr>
          <p:cNvCxnSpPr>
            <a:cxnSpLocks/>
          </p:cNvCxnSpPr>
          <p:nvPr/>
        </p:nvCxnSpPr>
        <p:spPr>
          <a:xfrm flipV="1">
            <a:off x="6522772" y="5033397"/>
            <a:ext cx="533137" cy="559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6EC8304-058E-2B49-8857-2DE238B17127}"/>
              </a:ext>
            </a:extLst>
          </p:cNvPr>
          <p:cNvSpPr txBox="1"/>
          <p:nvPr/>
        </p:nvSpPr>
        <p:spPr>
          <a:xfrm>
            <a:off x="6052130" y="55062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22CB48-CF3D-4144-9D2E-D278550DB1F5}"/>
              </a:ext>
            </a:extLst>
          </p:cNvPr>
          <p:cNvCxnSpPr>
            <a:cxnSpLocks/>
          </p:cNvCxnSpPr>
          <p:nvPr/>
        </p:nvCxnSpPr>
        <p:spPr>
          <a:xfrm flipV="1">
            <a:off x="7204205" y="5865371"/>
            <a:ext cx="0" cy="393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586A87-2C40-C94F-8A6C-F9FA768B0CD2}"/>
              </a:ext>
            </a:extLst>
          </p:cNvPr>
          <p:cNvSpPr txBox="1"/>
          <p:nvPr/>
        </p:nvSpPr>
        <p:spPr>
          <a:xfrm>
            <a:off x="7042352" y="62592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8448480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/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5434763" y="1377983"/>
            <a:ext cx="414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Are there other ways to derive</a:t>
            </a:r>
            <a:r>
              <a:rPr lang="en-US" i="1" dirty="0">
                <a:latin typeface="Courier" pitchFamily="2" charset="0"/>
              </a:rPr>
              <a:t>(</a:t>
            </a:r>
            <a:r>
              <a:rPr lang="en-US" i="1" dirty="0" err="1">
                <a:latin typeface="Courier" pitchFamily="2" charset="0"/>
              </a:rPr>
              <a:t>a+b</a:t>
            </a:r>
            <a:r>
              <a:rPr lang="en-US" i="1" dirty="0">
                <a:latin typeface="Courier" pitchFamily="2" charset="0"/>
              </a:rPr>
              <a:t>)*c?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683242-6EC9-1440-BCBA-C5AD8360A666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CF7B6E-E6AB-7F4B-8A1B-954455F1338C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BF37B-9B18-A543-AFBD-9053A85FF471}"/>
              </a:ext>
            </a:extLst>
          </p:cNvPr>
          <p:cNvCxnSpPr/>
          <p:nvPr/>
        </p:nvCxnSpPr>
        <p:spPr>
          <a:xfrm flipH="1">
            <a:off x="7343192" y="3488792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25A655-3056-8840-817D-E9ABECF24E7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212272" y="3488792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D03CFF-32B0-DC45-AF44-B8F9FB5C4A68}"/>
              </a:ext>
            </a:extLst>
          </p:cNvPr>
          <p:cNvCxnSpPr>
            <a:cxnSpLocks/>
          </p:cNvCxnSpPr>
          <p:nvPr/>
        </p:nvCxnSpPr>
        <p:spPr>
          <a:xfrm>
            <a:off x="9435192" y="3488792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F898E0-9554-6349-8C9F-FD8A9F2FE0D2}"/>
              </a:ext>
            </a:extLst>
          </p:cNvPr>
          <p:cNvSpPr txBox="1"/>
          <p:nvPr/>
        </p:nvSpPr>
        <p:spPr>
          <a:xfrm>
            <a:off x="10226351" y="407747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50C00C-5507-4245-BD49-A3F03C0A0A95}"/>
              </a:ext>
            </a:extLst>
          </p:cNvPr>
          <p:cNvSpPr txBox="1"/>
          <p:nvPr/>
        </p:nvSpPr>
        <p:spPr>
          <a:xfrm>
            <a:off x="9023483" y="408696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4E47C6-FD7B-644C-8AD2-C8F1A283710B}"/>
              </a:ext>
            </a:extLst>
          </p:cNvPr>
          <p:cNvSpPr txBox="1"/>
          <p:nvPr/>
        </p:nvSpPr>
        <p:spPr>
          <a:xfrm>
            <a:off x="6984262" y="40915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9008A0-E77A-C445-8485-71360933691C}"/>
              </a:ext>
            </a:extLst>
          </p:cNvPr>
          <p:cNvCxnSpPr>
            <a:cxnSpLocks/>
          </p:cNvCxnSpPr>
          <p:nvPr/>
        </p:nvCxnSpPr>
        <p:spPr>
          <a:xfrm>
            <a:off x="9212272" y="4456297"/>
            <a:ext cx="0" cy="395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B4AEC69-022D-4640-88BC-F4A5FB47CE6D}"/>
              </a:ext>
            </a:extLst>
          </p:cNvPr>
          <p:cNvSpPr txBox="1"/>
          <p:nvPr/>
        </p:nvSpPr>
        <p:spPr>
          <a:xfrm>
            <a:off x="9062230" y="48698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EF108F-0117-1248-A584-F76E6CCD9EF4}"/>
              </a:ext>
            </a:extLst>
          </p:cNvPr>
          <p:cNvCxnSpPr>
            <a:cxnSpLocks/>
          </p:cNvCxnSpPr>
          <p:nvPr/>
        </p:nvCxnSpPr>
        <p:spPr>
          <a:xfrm flipH="1">
            <a:off x="6650371" y="4475004"/>
            <a:ext cx="309835" cy="218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92A418-BC89-2A42-AA8A-E900AF017208}"/>
              </a:ext>
            </a:extLst>
          </p:cNvPr>
          <p:cNvCxnSpPr>
            <a:cxnSpLocks/>
          </p:cNvCxnSpPr>
          <p:nvPr/>
        </p:nvCxnSpPr>
        <p:spPr>
          <a:xfrm>
            <a:off x="7516087" y="4456297"/>
            <a:ext cx="255205" cy="2863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81A23F6-DEF6-A34E-BBB9-7B191CFBB668}"/>
              </a:ext>
            </a:extLst>
          </p:cNvPr>
          <p:cNvSpPr txBox="1"/>
          <p:nvPr/>
        </p:nvSpPr>
        <p:spPr>
          <a:xfrm>
            <a:off x="6395173" y="469345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42F436-97B5-F348-919A-03E52F8E3C4D}"/>
              </a:ext>
            </a:extLst>
          </p:cNvPr>
          <p:cNvSpPr txBox="1"/>
          <p:nvPr/>
        </p:nvSpPr>
        <p:spPr>
          <a:xfrm>
            <a:off x="7639520" y="468513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B065F7-B662-C645-B6AD-CB6468927D5E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246097" y="4460907"/>
            <a:ext cx="37286" cy="281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33B99C-0355-5E46-B117-E63E40250D7B}"/>
              </a:ext>
            </a:extLst>
          </p:cNvPr>
          <p:cNvSpPr txBox="1"/>
          <p:nvPr/>
        </p:nvSpPr>
        <p:spPr>
          <a:xfrm>
            <a:off x="6911073" y="46672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DB9778-1A2E-2F44-A363-90B85321FBD9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210193" y="5036584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6EBECC-5E5E-6E41-9D34-8D088E3DECC9}"/>
              </a:ext>
            </a:extLst>
          </p:cNvPr>
          <p:cNvSpPr txBox="1"/>
          <p:nvPr/>
        </p:nvSpPr>
        <p:spPr>
          <a:xfrm>
            <a:off x="6984262" y="5510756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8AAABF-C52D-AF4A-936A-0058BF4F4506}"/>
              </a:ext>
            </a:extLst>
          </p:cNvPr>
          <p:cNvCxnSpPr>
            <a:cxnSpLocks/>
          </p:cNvCxnSpPr>
          <p:nvPr/>
        </p:nvCxnSpPr>
        <p:spPr>
          <a:xfrm flipH="1" flipV="1">
            <a:off x="7359753" y="5033397"/>
            <a:ext cx="458130" cy="4773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A075343-2128-4548-9BEB-90B7DDAC05FA}"/>
              </a:ext>
            </a:extLst>
          </p:cNvPr>
          <p:cNvSpPr txBox="1"/>
          <p:nvPr/>
        </p:nvSpPr>
        <p:spPr>
          <a:xfrm>
            <a:off x="7582503" y="5529359"/>
            <a:ext cx="75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b)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24C29B7-E30D-7A4C-9CC1-B3D1BAC8AE72}"/>
              </a:ext>
            </a:extLst>
          </p:cNvPr>
          <p:cNvCxnSpPr>
            <a:cxnSpLocks/>
          </p:cNvCxnSpPr>
          <p:nvPr/>
        </p:nvCxnSpPr>
        <p:spPr>
          <a:xfrm flipV="1">
            <a:off x="6522772" y="5033397"/>
            <a:ext cx="533137" cy="559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6EC8304-058E-2B49-8857-2DE238B17127}"/>
              </a:ext>
            </a:extLst>
          </p:cNvPr>
          <p:cNvSpPr txBox="1"/>
          <p:nvPr/>
        </p:nvSpPr>
        <p:spPr>
          <a:xfrm>
            <a:off x="6052130" y="55062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22CB48-CF3D-4144-9D2E-D278550DB1F5}"/>
              </a:ext>
            </a:extLst>
          </p:cNvPr>
          <p:cNvCxnSpPr>
            <a:cxnSpLocks/>
          </p:cNvCxnSpPr>
          <p:nvPr/>
        </p:nvCxnSpPr>
        <p:spPr>
          <a:xfrm flipV="1">
            <a:off x="7204205" y="5865371"/>
            <a:ext cx="0" cy="393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586A87-2C40-C94F-8A6C-F9FA768B0CD2}"/>
              </a:ext>
            </a:extLst>
          </p:cNvPr>
          <p:cNvSpPr txBox="1"/>
          <p:nvPr/>
        </p:nvSpPr>
        <p:spPr>
          <a:xfrm>
            <a:off x="7042352" y="62592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CD354E5-2F17-C54D-BD84-31CD7E71D96E}"/>
              </a:ext>
            </a:extLst>
          </p:cNvPr>
          <p:cNvCxnSpPr>
            <a:cxnSpLocks/>
          </p:cNvCxnSpPr>
          <p:nvPr/>
        </p:nvCxnSpPr>
        <p:spPr>
          <a:xfrm flipV="1">
            <a:off x="6306522" y="5884387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E0CC0D9-856B-1145-A251-3E7F5D47D887}"/>
              </a:ext>
            </a:extLst>
          </p:cNvPr>
          <p:cNvSpPr txBox="1"/>
          <p:nvPr/>
        </p:nvSpPr>
        <p:spPr>
          <a:xfrm>
            <a:off x="5909271" y="6319096"/>
            <a:ext cx="74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12F43-39DE-A0D7-B09B-B17F2B7008F9}"/>
              </a:ext>
            </a:extLst>
          </p:cNvPr>
          <p:cNvSpPr txBox="1"/>
          <p:nvPr/>
        </p:nvSpPr>
        <p:spPr>
          <a:xfrm>
            <a:off x="9959151" y="6176814"/>
            <a:ext cx="90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9812143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4484" y="48602"/>
            <a:ext cx="8423031" cy="1325563"/>
          </a:xfrm>
        </p:spPr>
        <p:txBody>
          <a:bodyPr/>
          <a:lstStyle/>
          <a:p>
            <a:r>
              <a:rPr lang="en-US" dirty="0"/>
              <a:t>Converting Meaning into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69" y="2036641"/>
            <a:ext cx="10515600" cy="3977298"/>
          </a:xfrm>
        </p:spPr>
        <p:txBody>
          <a:bodyPr>
            <a:normAutofit fontScale="62500" lnSpcReduction="20000"/>
          </a:bodyPr>
          <a:lstStyle/>
          <a:p>
            <a:r>
              <a:rPr lang="en-US" sz="6500" dirty="0"/>
              <a:t>The aim is to start encoding meaning into the parse structure, as early as possible as we continue through the phases of the compiler</a:t>
            </a:r>
          </a:p>
          <a:p>
            <a:pPr marL="0" indent="0">
              <a:buNone/>
            </a:pPr>
            <a:endParaRPr lang="en-US" sz="6500" dirty="0"/>
          </a:p>
          <a:p>
            <a:r>
              <a:rPr lang="en-US" sz="6500" dirty="0"/>
              <a:t>The structures corresponding to expressions will be </a:t>
            </a:r>
            <a:r>
              <a:rPr lang="en-US" sz="6500" b="1" dirty="0"/>
              <a:t>evaluated as a post-order traversal of the parse tree </a:t>
            </a:r>
            <a:r>
              <a:rPr lang="en-US" sz="6500" dirty="0"/>
              <a:t>(also called the natural traversal)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75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238" y="56535"/>
            <a:ext cx="7250723" cy="1325563"/>
          </a:xfrm>
        </p:spPr>
        <p:txBody>
          <a:bodyPr/>
          <a:lstStyle/>
          <a:p>
            <a:r>
              <a:rPr lang="en-US" dirty="0"/>
              <a:t>An Aside: Tree Traversal Orders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6607588" y="2022068"/>
            <a:ext cx="50845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review different type of</a:t>
            </a:r>
          </a:p>
          <a:p>
            <a:r>
              <a:rPr lang="en-US" sz="2800" dirty="0"/>
              <a:t>tree traversal algorithms: </a:t>
            </a:r>
          </a:p>
          <a:p>
            <a:endParaRPr lang="en-US" sz="2800" dirty="0"/>
          </a:p>
          <a:p>
            <a:r>
              <a:rPr lang="en-US" sz="2800" dirty="0"/>
              <a:t>     pre-order?</a:t>
            </a:r>
          </a:p>
          <a:p>
            <a:r>
              <a:rPr lang="en-US" sz="2800" dirty="0"/>
              <a:t>     in-order?</a:t>
            </a:r>
          </a:p>
          <a:p>
            <a:r>
              <a:rPr lang="en-US" sz="2800" dirty="0"/>
              <a:t>     post-order?</a:t>
            </a:r>
          </a:p>
        </p:txBody>
      </p:sp>
    </p:spTree>
    <p:extLst>
      <p:ext uri="{BB962C8B-B14F-4D97-AF65-F5344CB8AC3E}">
        <p14:creationId xmlns:p14="http://schemas.microsoft.com/office/powerpoint/2010/main" val="8101234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4618-023D-E4E8-012F-4D34836A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18D7-5C01-CCB3-04E5-1022D088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0107"/>
            <a:ext cx="10515600" cy="923330"/>
          </a:xfrm>
        </p:spPr>
        <p:txBody>
          <a:bodyPr/>
          <a:lstStyle/>
          <a:p>
            <a:r>
              <a:rPr lang="en-US" dirty="0"/>
              <a:t>Possible Tree Traversal Orders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062D6D-72D3-8D92-7BBA-94BC1783E2E8}"/>
              </a:ext>
            </a:extLst>
          </p:cNvPr>
          <p:cNvSpPr/>
          <p:nvPr/>
        </p:nvSpPr>
        <p:spPr>
          <a:xfrm>
            <a:off x="2384505" y="195602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1408B-921D-A034-E7DC-D7D8352FC044}"/>
              </a:ext>
            </a:extLst>
          </p:cNvPr>
          <p:cNvSpPr/>
          <p:nvPr/>
        </p:nvSpPr>
        <p:spPr>
          <a:xfrm>
            <a:off x="1560798" y="273326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67B96-A6F0-4D61-5E01-D4C7187F3D43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2224214" y="2619439"/>
            <a:ext cx="274115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B05600-99FC-8945-8D2D-609E459DBA3E}"/>
              </a:ext>
            </a:extLst>
          </p:cNvPr>
          <p:cNvCxnSpPr>
            <a:cxnSpLocks/>
            <a:stCxn id="5" idx="3"/>
            <a:endCxn id="3" idx="7"/>
          </p:cNvCxnSpPr>
          <p:nvPr/>
        </p:nvCxnSpPr>
        <p:spPr>
          <a:xfrm flipH="1">
            <a:off x="1345443" y="3396679"/>
            <a:ext cx="32917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55770C-1DC1-7AAC-2FFD-02A14AFC03CC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2224214" y="3396679"/>
            <a:ext cx="28540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370D0A6-74C4-ABF4-D387-CC13E4D7C45D}"/>
              </a:ext>
            </a:extLst>
          </p:cNvPr>
          <p:cNvSpPr/>
          <p:nvPr/>
        </p:nvSpPr>
        <p:spPr>
          <a:xfrm>
            <a:off x="682027" y="359211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6D384C-B858-FD77-1910-1F2BFCD479E6}"/>
              </a:ext>
            </a:extLst>
          </p:cNvPr>
          <p:cNvSpPr/>
          <p:nvPr/>
        </p:nvSpPr>
        <p:spPr>
          <a:xfrm>
            <a:off x="2395799" y="359211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3AC0135-2345-0DFB-E35A-9CB36CB28F08}"/>
              </a:ext>
            </a:extLst>
          </p:cNvPr>
          <p:cNvSpPr/>
          <p:nvPr/>
        </p:nvSpPr>
        <p:spPr>
          <a:xfrm>
            <a:off x="3202045" y="273326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924030-A9E1-F843-C464-460A8080810B}"/>
              </a:ext>
            </a:extLst>
          </p:cNvPr>
          <p:cNvCxnSpPr>
            <a:cxnSpLocks/>
            <a:stCxn id="4" idx="5"/>
            <a:endCxn id="33" idx="1"/>
          </p:cNvCxnSpPr>
          <p:nvPr/>
        </p:nvCxnSpPr>
        <p:spPr>
          <a:xfrm>
            <a:off x="3047921" y="2619439"/>
            <a:ext cx="267948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070BF0-2A34-9534-2BA6-3F4877E3EE6C}"/>
              </a:ext>
            </a:extLst>
          </p:cNvPr>
          <p:cNvCxnSpPr>
            <a:cxnSpLocks/>
            <a:stCxn id="33" idx="5"/>
            <a:endCxn id="37" idx="1"/>
          </p:cNvCxnSpPr>
          <p:nvPr/>
        </p:nvCxnSpPr>
        <p:spPr>
          <a:xfrm>
            <a:off x="3865461" y="3396679"/>
            <a:ext cx="324631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D838BFB-DFE2-08C4-1A63-D84F2C9AB020}"/>
              </a:ext>
            </a:extLst>
          </p:cNvPr>
          <p:cNvSpPr/>
          <p:nvPr/>
        </p:nvSpPr>
        <p:spPr>
          <a:xfrm>
            <a:off x="4076268" y="3592117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ACAA0DB0-2FD7-B3CF-6D2F-0913BB66A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398987"/>
              </p:ext>
            </p:extLst>
          </p:nvPr>
        </p:nvGraphicFramePr>
        <p:xfrm>
          <a:off x="5358298" y="951201"/>
          <a:ext cx="6129912" cy="231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887">
                  <a:extLst>
                    <a:ext uri="{9D8B030D-6E8A-4147-A177-3AD203B41FA5}">
                      <a16:colId xmlns:a16="http://schemas.microsoft.com/office/drawing/2014/main" val="4158862879"/>
                    </a:ext>
                  </a:extLst>
                </a:gridCol>
                <a:gridCol w="3060586">
                  <a:extLst>
                    <a:ext uri="{9D8B030D-6E8A-4147-A177-3AD203B41FA5}">
                      <a16:colId xmlns:a16="http://schemas.microsoft.com/office/drawing/2014/main" val="3112138583"/>
                    </a:ext>
                  </a:extLst>
                </a:gridCol>
                <a:gridCol w="1411439">
                  <a:extLst>
                    <a:ext uri="{9D8B030D-6E8A-4147-A177-3AD203B41FA5}">
                      <a16:colId xmlns:a16="http://schemas.microsoft.com/office/drawing/2014/main" val="3742667736"/>
                    </a:ext>
                  </a:extLst>
                </a:gridCol>
              </a:tblGrid>
              <a:tr h="615758">
                <a:tc>
                  <a:txBody>
                    <a:bodyPr/>
                    <a:lstStyle/>
                    <a:p>
                      <a:r>
                        <a:rPr lang="en-US" dirty="0"/>
                        <a:t>Traversal</a:t>
                      </a:r>
                    </a:p>
                    <a:p>
                      <a:r>
                        <a:rPr lang="en-US" dirty="0"/>
                        <a:t>    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  <a:p>
                      <a:r>
                        <a:rPr lang="en-US" dirty="0"/>
                        <a:t>  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62617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r>
                        <a:rPr lang="en-US" dirty="0"/>
                        <a:t>pre-order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Top-Root-&gt;Left-Child-&gt;Right-Child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 B D E G H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25202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in-order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Left/Bottom-&gt;Its-Root-&gt;Right/Bottom</a:t>
                      </a:r>
                    </a:p>
                    <a:p>
                      <a:r>
                        <a:rPr lang="en-US" sz="1400" dirty="0"/>
                        <a:t>Caveat: for binary trees only, not used in compilers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B G E H A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630095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post-order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Left/Bottom-&gt;Right/Bottom-&gt;Its-Root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G H E B F C 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1521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9B5500F-F2E5-0D0C-1CB2-9188FE31DE26}"/>
              </a:ext>
            </a:extLst>
          </p:cNvPr>
          <p:cNvSpPr txBox="1"/>
          <p:nvPr/>
        </p:nvSpPr>
        <p:spPr>
          <a:xfrm>
            <a:off x="5110631" y="3665655"/>
            <a:ext cx="6625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Pre-order Traversal (Root-Left-Right. Top to Bottom)</a:t>
            </a:r>
          </a:p>
          <a:p>
            <a:pPr>
              <a:buNone/>
            </a:pPr>
            <a:r>
              <a:rPr lang="en-US" b="1" dirty="0"/>
              <a:t>        </a:t>
            </a:r>
            <a:r>
              <a:rPr lang="en-US" dirty="0"/>
              <a:t>Prioritizes visits from top to bottom, and left to right</a:t>
            </a:r>
          </a:p>
          <a:p>
            <a:pPr>
              <a:buNone/>
            </a:pPr>
            <a:r>
              <a:rPr lang="en-US" dirty="0"/>
              <a:t>        Useful for serializing and copying trees.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B616E-411D-9C38-7184-DC949C38A89B}"/>
              </a:ext>
            </a:extLst>
          </p:cNvPr>
          <p:cNvSpPr txBox="1"/>
          <p:nvPr/>
        </p:nvSpPr>
        <p:spPr>
          <a:xfrm>
            <a:off x="5110631" y="4530349"/>
            <a:ext cx="605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In-order Traversal (Left-Root-Right, Bottom to Top)</a:t>
            </a:r>
          </a:p>
          <a:p>
            <a:pPr lvl="1"/>
            <a:r>
              <a:rPr lang="en-US" dirty="0"/>
              <a:t>Prioritizes visits from bottom left to right visiting parent nodes on the way.  Sometimes used for sorting.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AC9B3-3E7E-9100-5863-B3EE895C35D4}"/>
              </a:ext>
            </a:extLst>
          </p:cNvPr>
          <p:cNvSpPr txBox="1"/>
          <p:nvPr/>
        </p:nvSpPr>
        <p:spPr>
          <a:xfrm>
            <a:off x="5110631" y="5453679"/>
            <a:ext cx="569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Post-order (or natural) Traversal (Left-Right-Root)</a:t>
            </a:r>
          </a:p>
          <a:p>
            <a:pPr lvl="1"/>
            <a:r>
              <a:rPr lang="en-US" dirty="0"/>
              <a:t>Prioritizes traversing subtrees by visiting lowest nodes first, and parent nodes later.  Useful for evaluating expression trees (e.g. parsing)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9E8DB9-C6D5-C51C-24DA-EE09E30CF5C8}"/>
              </a:ext>
            </a:extLst>
          </p:cNvPr>
          <p:cNvCxnSpPr>
            <a:cxnSpLocks/>
            <a:stCxn id="11" idx="5"/>
            <a:endCxn id="48" idx="1"/>
          </p:cNvCxnSpPr>
          <p:nvPr/>
        </p:nvCxnSpPr>
        <p:spPr>
          <a:xfrm>
            <a:off x="3059215" y="4255533"/>
            <a:ext cx="256654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711FBBB-A7C7-A0D3-AB59-E40B8265030A}"/>
              </a:ext>
            </a:extLst>
          </p:cNvPr>
          <p:cNvSpPr/>
          <p:nvPr/>
        </p:nvSpPr>
        <p:spPr>
          <a:xfrm>
            <a:off x="3202045" y="4436565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E07CFF-605F-A06E-940D-837F6E56EA79}"/>
              </a:ext>
            </a:extLst>
          </p:cNvPr>
          <p:cNvSpPr/>
          <p:nvPr/>
        </p:nvSpPr>
        <p:spPr>
          <a:xfrm>
            <a:off x="1522654" y="4436565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4D10A47-301E-0F2C-C181-E57C1140EF09}"/>
              </a:ext>
            </a:extLst>
          </p:cNvPr>
          <p:cNvCxnSpPr>
            <a:cxnSpLocks/>
            <a:stCxn id="11" idx="3"/>
            <a:endCxn id="89" idx="7"/>
          </p:cNvCxnSpPr>
          <p:nvPr/>
        </p:nvCxnSpPr>
        <p:spPr>
          <a:xfrm flipH="1">
            <a:off x="2186070" y="4255533"/>
            <a:ext cx="323553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721E3E0-DD0D-EDC3-FAF5-58BAEE60C8C5}"/>
              </a:ext>
            </a:extLst>
          </p:cNvPr>
          <p:cNvSpPr txBox="1"/>
          <p:nvPr/>
        </p:nvSpPr>
        <p:spPr>
          <a:xfrm>
            <a:off x="5301338" y="3331875"/>
            <a:ext cx="485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Traversals never visit the same node twice.</a:t>
            </a:r>
          </a:p>
        </p:txBody>
      </p:sp>
    </p:spTree>
    <p:extLst>
      <p:ext uri="{BB962C8B-B14F-4D97-AF65-F5344CB8AC3E}">
        <p14:creationId xmlns:p14="http://schemas.microsoft.com/office/powerpoint/2010/main" val="35294126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F6A7-28A0-BDA5-429D-392C9314C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BEC8-7C52-8CD2-7763-84C4BDD2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5C40A2-4813-83B0-94DA-A21F7AA1885E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6CDCB5C-0D31-DA56-B754-8730EA27161B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68EC88-644E-4C9B-164E-9ECB284C02AD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D9536C3-C9D7-D2B4-1879-BBA39446EFAB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857A45-CF46-49A7-08B5-D6D2461B5C7B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ADCA16-8BF9-54B6-E9BA-4D7AEF20B68F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8A0D1F-E530-BA0B-B4E7-742E020AB099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0440E4-845C-6074-05CC-21AD7C0F4E57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C0F8903-C6A2-2EBC-BF77-96FAD277FB72}"/>
              </a:ext>
            </a:extLst>
          </p:cNvPr>
          <p:cNvSpPr txBox="1"/>
          <p:nvPr/>
        </p:nvSpPr>
        <p:spPr>
          <a:xfrm>
            <a:off x="7065290" y="2767598"/>
            <a:ext cx="37162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C0C0C0"/>
                </a:highlight>
              </a:rPr>
              <a:t>Post order traversal </a:t>
            </a:r>
          </a:p>
          <a:p>
            <a:r>
              <a:rPr lang="en-US" sz="3200" dirty="0">
                <a:highlight>
                  <a:srgbClr val="C0C0C0"/>
                </a:highlight>
              </a:rPr>
              <a:t>For 2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6975475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7065290" y="2779321"/>
            <a:ext cx="35800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Post order traversal</a:t>
            </a:r>
          </a:p>
          <a:p>
            <a:r>
              <a:rPr lang="en-US" sz="3200" dirty="0">
                <a:highlight>
                  <a:srgbClr val="FFFF00"/>
                </a:highlight>
              </a:rPr>
              <a:t>For 2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1578560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454356-A001-724F-BDCE-A46913D56295}"/>
              </a:ext>
            </a:extLst>
          </p:cNvPr>
          <p:cNvSpPr/>
          <p:nvPr/>
        </p:nvSpPr>
        <p:spPr>
          <a:xfrm>
            <a:off x="332384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E8FDA7-16F0-9D47-B6B8-3911461DC65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3712464" y="3474720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2C931-53BF-E34A-9AC7-174E009B1AF0}"/>
              </a:ext>
            </a:extLst>
          </p:cNvPr>
          <p:cNvCxnSpPr>
            <a:cxnSpLocks/>
          </p:cNvCxnSpPr>
          <p:nvPr/>
        </p:nvCxnSpPr>
        <p:spPr>
          <a:xfrm flipH="1">
            <a:off x="373608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290753-76CB-23D5-28A8-B00F1212EC29}"/>
              </a:ext>
            </a:extLst>
          </p:cNvPr>
          <p:cNvSpPr txBox="1"/>
          <p:nvPr/>
        </p:nvSpPr>
        <p:spPr>
          <a:xfrm>
            <a:off x="7065290" y="2767598"/>
            <a:ext cx="35800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C0C0C0"/>
                </a:highlight>
              </a:rPr>
              <a:t>Post order traversal</a:t>
            </a:r>
          </a:p>
          <a:p>
            <a:r>
              <a:rPr lang="en-US" sz="3200" dirty="0">
                <a:highlight>
                  <a:srgbClr val="C0C0C0"/>
                </a:highlight>
              </a:rPr>
              <a:t>For 3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15579191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454356-A001-724F-BDCE-A46913D56295}"/>
              </a:ext>
            </a:extLst>
          </p:cNvPr>
          <p:cNvSpPr/>
          <p:nvPr/>
        </p:nvSpPr>
        <p:spPr>
          <a:xfrm>
            <a:off x="332384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E8FDA7-16F0-9D47-B6B8-3911461DC65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3712464" y="3474720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2C931-53BF-E34A-9AC7-174E009B1AF0}"/>
              </a:ext>
            </a:extLst>
          </p:cNvPr>
          <p:cNvCxnSpPr>
            <a:cxnSpLocks/>
          </p:cNvCxnSpPr>
          <p:nvPr/>
        </p:nvCxnSpPr>
        <p:spPr>
          <a:xfrm flipH="1">
            <a:off x="373608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5F9A75-76B4-E220-B240-EEA9EC5C5B18}"/>
              </a:ext>
            </a:extLst>
          </p:cNvPr>
          <p:cNvSpPr txBox="1"/>
          <p:nvPr/>
        </p:nvSpPr>
        <p:spPr>
          <a:xfrm>
            <a:off x="7065290" y="2755875"/>
            <a:ext cx="35800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</a:rPr>
              <a:t>Post order traversal</a:t>
            </a:r>
          </a:p>
          <a:p>
            <a:r>
              <a:rPr lang="en-US" sz="3200" dirty="0">
                <a:highlight>
                  <a:srgbClr val="FFFF00"/>
                </a:highlight>
              </a:rPr>
              <a:t>For 3 children nodes</a:t>
            </a:r>
          </a:p>
        </p:txBody>
      </p:sp>
    </p:spTree>
    <p:extLst>
      <p:ext uri="{BB962C8B-B14F-4D97-AF65-F5344CB8AC3E}">
        <p14:creationId xmlns:p14="http://schemas.microsoft.com/office/powerpoint/2010/main" val="22943906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C737B-B2FF-9CF9-F534-6EB2690A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A9EE-4EA2-4698-57F0-1D377E10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764" y="59938"/>
            <a:ext cx="10515600" cy="1325563"/>
          </a:xfrm>
        </p:spPr>
        <p:txBody>
          <a:bodyPr/>
          <a:lstStyle/>
          <a:p>
            <a:r>
              <a:rPr lang="en-US" dirty="0"/>
              <a:t>Post order Traversal == Postfix Notation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EC7AEA-A0E4-8BD4-1315-8D0E46C86348}"/>
              </a:ext>
            </a:extLst>
          </p:cNvPr>
          <p:cNvSpPr/>
          <p:nvPr/>
        </p:nvSpPr>
        <p:spPr>
          <a:xfrm>
            <a:off x="2419350" y="2469832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9C1730-3A1E-1743-F50A-DDF5FB17DE7D}"/>
              </a:ext>
            </a:extLst>
          </p:cNvPr>
          <p:cNvSpPr/>
          <p:nvPr/>
        </p:nvSpPr>
        <p:spPr>
          <a:xfrm>
            <a:off x="512826" y="3801236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78B455-9133-1468-E23E-9BEC1F04DF30}"/>
              </a:ext>
            </a:extLst>
          </p:cNvPr>
          <p:cNvSpPr/>
          <p:nvPr/>
        </p:nvSpPr>
        <p:spPr>
          <a:xfrm>
            <a:off x="2394966" y="3801236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31C224-7B67-3DAE-4F26-848B12253E8F}"/>
              </a:ext>
            </a:extLst>
          </p:cNvPr>
          <p:cNvSpPr/>
          <p:nvPr/>
        </p:nvSpPr>
        <p:spPr>
          <a:xfrm>
            <a:off x="3992118" y="3801236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CA284A-8860-0E2D-D1D7-01AC94FF14F0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1176242" y="3133248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99E33A-78EF-A796-8558-DE5EC0F82315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2783586" y="3247072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B084C6-3233-2B00-AE25-E5B163CFB2E5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3082766" y="3133248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B1FF1E-2747-8E5A-AB03-AC642E76C34B}"/>
              </a:ext>
            </a:extLst>
          </p:cNvPr>
          <p:cNvCxnSpPr>
            <a:cxnSpLocks/>
          </p:cNvCxnSpPr>
          <p:nvPr/>
        </p:nvCxnSpPr>
        <p:spPr>
          <a:xfrm flipH="1">
            <a:off x="2819400" y="189966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0FE442-A49B-277C-98E5-CEA706F0459D}"/>
              </a:ext>
            </a:extLst>
          </p:cNvPr>
          <p:cNvCxnSpPr>
            <a:cxnSpLocks/>
          </p:cNvCxnSpPr>
          <p:nvPr/>
        </p:nvCxnSpPr>
        <p:spPr>
          <a:xfrm flipH="1">
            <a:off x="795528" y="457847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5D0543-11C0-E523-2371-642FC6C6666F}"/>
              </a:ext>
            </a:extLst>
          </p:cNvPr>
          <p:cNvCxnSpPr>
            <a:cxnSpLocks/>
          </p:cNvCxnSpPr>
          <p:nvPr/>
        </p:nvCxnSpPr>
        <p:spPr>
          <a:xfrm flipH="1">
            <a:off x="2807208" y="457847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DD3C06F-2A5B-CE36-434C-66643C105FD4}"/>
              </a:ext>
            </a:extLst>
          </p:cNvPr>
          <p:cNvCxnSpPr>
            <a:cxnSpLocks/>
          </p:cNvCxnSpPr>
          <p:nvPr/>
        </p:nvCxnSpPr>
        <p:spPr>
          <a:xfrm flipH="1">
            <a:off x="4380738" y="4578476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54C4CC-FA43-6F8A-80C2-B67B52F90347}"/>
              </a:ext>
            </a:extLst>
          </p:cNvPr>
          <p:cNvSpPr txBox="1"/>
          <p:nvPr/>
        </p:nvSpPr>
        <p:spPr>
          <a:xfrm>
            <a:off x="5346661" y="1908410"/>
            <a:ext cx="632870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Post-order traversal of a tree ensures that all </a:t>
            </a:r>
            <a:r>
              <a:rPr lang="en-US" sz="2400" i="1" dirty="0"/>
              <a:t>required semantic information</a:t>
            </a:r>
            <a:r>
              <a:rPr lang="en-US" sz="2400" dirty="0"/>
              <a:t> for a node is available before the node is processed.</a:t>
            </a:r>
          </a:p>
          <a:p>
            <a:endParaRPr lang="en-US" sz="2400" dirty="0"/>
          </a:p>
          <a:p>
            <a:r>
              <a:rPr lang="en-US" sz="2400" dirty="0"/>
              <a:t>The information is stored in the node’s children. </a:t>
            </a:r>
          </a:p>
          <a:p>
            <a:r>
              <a:rPr lang="en-US" sz="2400" dirty="0"/>
              <a:t>For expressions this is similar to postfix notation (RPN, reverse polish notation).</a:t>
            </a:r>
          </a:p>
          <a:p>
            <a:endParaRPr lang="en-US" sz="2400" dirty="0"/>
          </a:p>
          <a:p>
            <a:r>
              <a:rPr lang="en-US" sz="2400" b="1" dirty="0"/>
              <a:t>Example:</a:t>
            </a:r>
            <a:r>
              <a:rPr lang="en-US" sz="2400" dirty="0"/>
              <a:t> For an N-</a:t>
            </a:r>
            <a:r>
              <a:rPr lang="en-US" sz="2400" dirty="0" err="1"/>
              <a:t>ary</a:t>
            </a:r>
            <a:r>
              <a:rPr lang="en-US" sz="2400" dirty="0"/>
              <a:t> operator, evaluate all N arguments first, then invoke the operator.</a:t>
            </a:r>
          </a:p>
        </p:txBody>
      </p:sp>
    </p:spTree>
    <p:extLst>
      <p:ext uri="{BB962C8B-B14F-4D97-AF65-F5344CB8AC3E}">
        <p14:creationId xmlns:p14="http://schemas.microsoft.com/office/powerpoint/2010/main" val="8566164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2C715-C983-EBE7-6BEB-CF0CD917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AA3951-0147-434D-E2FF-80C3D12AF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1" y="824170"/>
            <a:ext cx="3432312" cy="57450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C40FBC-28C2-D36E-220C-892B28649478}"/>
              </a:ext>
            </a:extLst>
          </p:cNvPr>
          <p:cNvSpPr txBox="1"/>
          <p:nvPr/>
        </p:nvSpPr>
        <p:spPr>
          <a:xfrm>
            <a:off x="3551583" y="1176649"/>
            <a:ext cx="721658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Traversal:</a:t>
            </a:r>
          </a:p>
          <a:p>
            <a:r>
              <a:rPr lang="pt-BR" sz="2800" dirty="0"/>
              <a:t>       B → </a:t>
            </a:r>
          </a:p>
          <a:p>
            <a:r>
              <a:rPr lang="pt-BR" sz="2800" dirty="0"/>
              <a:t>               J → I → F →</a:t>
            </a:r>
          </a:p>
          <a:p>
            <a:r>
              <a:rPr lang="pt-BR" sz="2800" dirty="0"/>
              <a:t>                                     H → G →  </a:t>
            </a:r>
          </a:p>
          <a:p>
            <a:r>
              <a:rPr lang="pt-BR" sz="2800" dirty="0"/>
              <a:t>                                                       E → C → </a:t>
            </a:r>
          </a:p>
          <a:p>
            <a:r>
              <a:rPr lang="pt-BR" sz="2800" dirty="0"/>
              <a:t>                                                                        D → </a:t>
            </a:r>
          </a:p>
          <a:p>
            <a:r>
              <a:rPr lang="pt-BR" sz="2800" dirty="0"/>
              <a:t>                                                                                  A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71FBC-3F19-ED47-5372-BFA99675B939}"/>
              </a:ext>
            </a:extLst>
          </p:cNvPr>
          <p:cNvSpPr txBox="1"/>
          <p:nvPr/>
        </p:nvSpPr>
        <p:spPr>
          <a:xfrm>
            <a:off x="3943805" y="4002133"/>
            <a:ext cx="7383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Visit children</a:t>
            </a:r>
          </a:p>
          <a:p>
            <a:r>
              <a:rPr lang="en-US" sz="2400" b="1" dirty="0"/>
              <a:t>               bottom-up </a:t>
            </a:r>
          </a:p>
          <a:p>
            <a:r>
              <a:rPr lang="en-US" sz="2400" b="1" dirty="0"/>
              <a:t>                            left to right, </a:t>
            </a:r>
          </a:p>
          <a:p>
            <a:r>
              <a:rPr lang="en-US" sz="2400" b="1" dirty="0"/>
              <a:t>                                            then parent</a:t>
            </a:r>
            <a:r>
              <a:rPr lang="en-US" sz="1400" dirty="0"/>
              <a:t>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F65418C-D993-21E4-7ED1-E8372D81F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3808" y="-30317"/>
            <a:ext cx="8124359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Post-Order Traversal : Another Example</a:t>
            </a:r>
          </a:p>
        </p:txBody>
      </p:sp>
    </p:spTree>
    <p:extLst>
      <p:ext uri="{BB962C8B-B14F-4D97-AF65-F5344CB8AC3E}">
        <p14:creationId xmlns:p14="http://schemas.microsoft.com/office/powerpoint/2010/main" val="15602381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C8CE-FCF3-505E-FE99-23ACACE3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6942-C59B-C404-7EEE-CE938BAC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498" y="-19285"/>
            <a:ext cx="10515600" cy="1325563"/>
          </a:xfrm>
        </p:spPr>
        <p:txBody>
          <a:bodyPr/>
          <a:lstStyle/>
          <a:p>
            <a:r>
              <a:rPr lang="en-US" dirty="0"/>
              <a:t>Back to our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DA06AA-4FC7-28A8-0169-56FB0221552E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F94C837-42FC-2CB0-DFE2-6D06074342C5}"/>
              </a:ext>
            </a:extLst>
          </p:cNvPr>
          <p:cNvGraphicFramePr>
            <a:graphicFrameLocks noGrp="1"/>
          </p:cNvGraphicFramePr>
          <p:nvPr/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501890D-7A53-4866-CD23-AC4AF34C0341}"/>
              </a:ext>
            </a:extLst>
          </p:cNvPr>
          <p:cNvSpPr txBox="1"/>
          <p:nvPr/>
        </p:nvSpPr>
        <p:spPr>
          <a:xfrm>
            <a:off x="5434763" y="1377983"/>
            <a:ext cx="414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Are there other ways to derive</a:t>
            </a:r>
            <a:r>
              <a:rPr lang="en-US" i="1" dirty="0">
                <a:latin typeface="Courier" pitchFamily="2" charset="0"/>
              </a:rPr>
              <a:t>(</a:t>
            </a:r>
            <a:r>
              <a:rPr lang="en-US" i="1" dirty="0" err="1">
                <a:latin typeface="Courier" pitchFamily="2" charset="0"/>
              </a:rPr>
              <a:t>a+b</a:t>
            </a:r>
            <a:r>
              <a:rPr lang="en-US" i="1" dirty="0">
                <a:latin typeface="Courier" pitchFamily="2" charset="0"/>
              </a:rPr>
              <a:t>)*c?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D42DC-943B-ED8E-2EB6-C6AF97E876EB}"/>
              </a:ext>
            </a:extLst>
          </p:cNvPr>
          <p:cNvSpPr txBox="1"/>
          <p:nvPr/>
        </p:nvSpPr>
        <p:spPr>
          <a:xfrm>
            <a:off x="7697755" y="2454248"/>
            <a:ext cx="3029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visualize this as a tree: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171444-55E4-AA3D-038D-4CE13120FD55}"/>
              </a:ext>
            </a:extLst>
          </p:cNvPr>
          <p:cNvSpPr/>
          <p:nvPr/>
        </p:nvSpPr>
        <p:spPr>
          <a:xfrm>
            <a:off x="8913151" y="3119460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1B82BA-1C8F-5C37-E7C2-258EC9D6B153}"/>
              </a:ext>
            </a:extLst>
          </p:cNvPr>
          <p:cNvCxnSpPr/>
          <p:nvPr/>
        </p:nvCxnSpPr>
        <p:spPr>
          <a:xfrm flipH="1">
            <a:off x="7343192" y="3488792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75493D-4063-0296-F4F4-604984D55A2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212272" y="3488792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3D0555-FDCD-F2C5-5D7C-55A96FF5287A}"/>
              </a:ext>
            </a:extLst>
          </p:cNvPr>
          <p:cNvCxnSpPr>
            <a:cxnSpLocks/>
          </p:cNvCxnSpPr>
          <p:nvPr/>
        </p:nvCxnSpPr>
        <p:spPr>
          <a:xfrm>
            <a:off x="9435192" y="3488792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669C60-A362-36A2-5872-BC1F88B30BCE}"/>
              </a:ext>
            </a:extLst>
          </p:cNvPr>
          <p:cNvSpPr txBox="1"/>
          <p:nvPr/>
        </p:nvSpPr>
        <p:spPr>
          <a:xfrm>
            <a:off x="10226351" y="4077478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B10692-3E57-35D5-9D44-BB26CD95631F}"/>
              </a:ext>
            </a:extLst>
          </p:cNvPr>
          <p:cNvSpPr txBox="1"/>
          <p:nvPr/>
        </p:nvSpPr>
        <p:spPr>
          <a:xfrm>
            <a:off x="9023483" y="4086965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76F2AE-2AE7-53D2-66E4-31B7BC02F8E1}"/>
              </a:ext>
            </a:extLst>
          </p:cNvPr>
          <p:cNvSpPr txBox="1"/>
          <p:nvPr/>
        </p:nvSpPr>
        <p:spPr>
          <a:xfrm>
            <a:off x="6984262" y="40915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8131C9-CD95-9651-70DE-528C15E56760}"/>
              </a:ext>
            </a:extLst>
          </p:cNvPr>
          <p:cNvCxnSpPr>
            <a:cxnSpLocks/>
          </p:cNvCxnSpPr>
          <p:nvPr/>
        </p:nvCxnSpPr>
        <p:spPr>
          <a:xfrm>
            <a:off x="9212272" y="4456297"/>
            <a:ext cx="0" cy="395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4EC0D8-11DB-F90F-F245-1C170A6ADC34}"/>
              </a:ext>
            </a:extLst>
          </p:cNvPr>
          <p:cNvSpPr txBox="1"/>
          <p:nvPr/>
        </p:nvSpPr>
        <p:spPr>
          <a:xfrm>
            <a:off x="9062230" y="486980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D33B88A-A0F1-EA48-55C1-74256E591942}"/>
              </a:ext>
            </a:extLst>
          </p:cNvPr>
          <p:cNvCxnSpPr>
            <a:cxnSpLocks/>
          </p:cNvCxnSpPr>
          <p:nvPr/>
        </p:nvCxnSpPr>
        <p:spPr>
          <a:xfrm flipH="1">
            <a:off x="6650371" y="4475004"/>
            <a:ext cx="309835" cy="218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2355F78-CEED-2608-3DDF-976159DB88D4}"/>
              </a:ext>
            </a:extLst>
          </p:cNvPr>
          <p:cNvCxnSpPr>
            <a:cxnSpLocks/>
          </p:cNvCxnSpPr>
          <p:nvPr/>
        </p:nvCxnSpPr>
        <p:spPr>
          <a:xfrm>
            <a:off x="7516087" y="4456297"/>
            <a:ext cx="255205" cy="2863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4569292-C186-85BA-5CB3-67CCE09C3615}"/>
              </a:ext>
            </a:extLst>
          </p:cNvPr>
          <p:cNvSpPr txBox="1"/>
          <p:nvPr/>
        </p:nvSpPr>
        <p:spPr>
          <a:xfrm>
            <a:off x="6395173" y="4693454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6010E6-076B-E6D7-A5FC-F7FBA0089728}"/>
              </a:ext>
            </a:extLst>
          </p:cNvPr>
          <p:cNvSpPr txBox="1"/>
          <p:nvPr/>
        </p:nvSpPr>
        <p:spPr>
          <a:xfrm>
            <a:off x="7639520" y="4685138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A661D6-61F7-2809-4ACF-EF59100B6E9C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246097" y="4460907"/>
            <a:ext cx="37286" cy="281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64A8311-DCC0-9C9B-D5F4-349AA51A8B3B}"/>
              </a:ext>
            </a:extLst>
          </p:cNvPr>
          <p:cNvSpPr txBox="1"/>
          <p:nvPr/>
        </p:nvSpPr>
        <p:spPr>
          <a:xfrm>
            <a:off x="6911073" y="466725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A6F0A8-07E3-E060-1B86-940B882B0359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210193" y="5036584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A395598-45A1-18F5-536A-8B1BC7972668}"/>
              </a:ext>
            </a:extLst>
          </p:cNvPr>
          <p:cNvSpPr txBox="1"/>
          <p:nvPr/>
        </p:nvSpPr>
        <p:spPr>
          <a:xfrm>
            <a:off x="6984262" y="5510756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D378E04-9D21-758F-2A08-A8E607AE0EC8}"/>
              </a:ext>
            </a:extLst>
          </p:cNvPr>
          <p:cNvCxnSpPr>
            <a:cxnSpLocks/>
          </p:cNvCxnSpPr>
          <p:nvPr/>
        </p:nvCxnSpPr>
        <p:spPr>
          <a:xfrm flipH="1" flipV="1">
            <a:off x="7359753" y="5033397"/>
            <a:ext cx="458130" cy="4773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0D65A1F-2B6A-CEC1-BE65-9504F6C28514}"/>
              </a:ext>
            </a:extLst>
          </p:cNvPr>
          <p:cNvSpPr txBox="1"/>
          <p:nvPr/>
        </p:nvSpPr>
        <p:spPr>
          <a:xfrm>
            <a:off x="7582503" y="5529359"/>
            <a:ext cx="75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b)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6F7863-C64D-183D-8FCC-9B15A66F3C83}"/>
              </a:ext>
            </a:extLst>
          </p:cNvPr>
          <p:cNvCxnSpPr>
            <a:cxnSpLocks/>
          </p:cNvCxnSpPr>
          <p:nvPr/>
        </p:nvCxnSpPr>
        <p:spPr>
          <a:xfrm flipV="1">
            <a:off x="6522772" y="5033397"/>
            <a:ext cx="533137" cy="559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6FFF8A8-3B31-543C-FC9B-DEE704B96E7A}"/>
              </a:ext>
            </a:extLst>
          </p:cNvPr>
          <p:cNvSpPr txBox="1"/>
          <p:nvPr/>
        </p:nvSpPr>
        <p:spPr>
          <a:xfrm>
            <a:off x="6052130" y="550627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8ECFFD7-7239-5624-76DE-BB96712AC8D5}"/>
              </a:ext>
            </a:extLst>
          </p:cNvPr>
          <p:cNvCxnSpPr>
            <a:cxnSpLocks/>
          </p:cNvCxnSpPr>
          <p:nvPr/>
        </p:nvCxnSpPr>
        <p:spPr>
          <a:xfrm flipV="1">
            <a:off x="7204205" y="5865371"/>
            <a:ext cx="0" cy="393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9E54E04-F2BF-1CD7-8B92-88780BF7D6F8}"/>
              </a:ext>
            </a:extLst>
          </p:cNvPr>
          <p:cNvSpPr txBox="1"/>
          <p:nvPr/>
        </p:nvSpPr>
        <p:spPr>
          <a:xfrm>
            <a:off x="7042352" y="62592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FE68B7D-8A5F-4D17-08D1-D332CBA431C1}"/>
              </a:ext>
            </a:extLst>
          </p:cNvPr>
          <p:cNvCxnSpPr>
            <a:cxnSpLocks/>
          </p:cNvCxnSpPr>
          <p:nvPr/>
        </p:nvCxnSpPr>
        <p:spPr>
          <a:xfrm flipV="1">
            <a:off x="6306522" y="5884387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36C4EF-F2D0-A3B3-3AC6-845FFF0ADA2F}"/>
              </a:ext>
            </a:extLst>
          </p:cNvPr>
          <p:cNvSpPr txBox="1"/>
          <p:nvPr/>
        </p:nvSpPr>
        <p:spPr>
          <a:xfrm>
            <a:off x="5909271" y="6319096"/>
            <a:ext cx="74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A7320-C25B-B9DA-A1F8-6BD4BC09624D}"/>
              </a:ext>
            </a:extLst>
          </p:cNvPr>
          <p:cNvSpPr txBox="1"/>
          <p:nvPr/>
        </p:nvSpPr>
        <p:spPr>
          <a:xfrm>
            <a:off x="9959151" y="6176814"/>
            <a:ext cx="90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40695471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2B18-381A-7748-8495-B8BAD63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06" y="0"/>
            <a:ext cx="10515600" cy="114451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/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Op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5434763" y="1377983"/>
            <a:ext cx="414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Are there other ways to derive</a:t>
            </a:r>
            <a:r>
              <a:rPr lang="en-US" i="1" dirty="0"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i="1" dirty="0" err="1">
                <a:highlight>
                  <a:srgbClr val="FFFF00"/>
                </a:highlight>
                <a:latin typeface="Courier" pitchFamily="2" charset="0"/>
              </a:rPr>
              <a:t>a+b</a:t>
            </a:r>
            <a:r>
              <a:rPr lang="en-US" i="1" dirty="0">
                <a:highlight>
                  <a:srgbClr val="FFFF00"/>
                </a:highlight>
                <a:latin typeface="Courier" pitchFamily="2" charset="0"/>
              </a:rPr>
              <a:t>)*c?</a:t>
            </a:r>
          </a:p>
        </p:txBody>
      </p:sp>
      <p:graphicFrame>
        <p:nvGraphicFramePr>
          <p:cNvPr id="35" name="Table 9">
            <a:extLst>
              <a:ext uri="{FF2B5EF4-FFF2-40B4-BE49-F238E27FC236}">
                <a16:creationId xmlns:a16="http://schemas.microsoft.com/office/drawing/2014/main" id="{C69023E5-D8E3-1846-8106-0E12306AC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507193"/>
              </p:ext>
            </p:extLst>
          </p:nvPr>
        </p:nvGraphicFramePr>
        <p:xfrm>
          <a:off x="6367691" y="322470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0765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C444BAA-AD34-9E49-A40A-A8F6D8B88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228244"/>
              </p:ext>
            </p:extLst>
          </p:nvPr>
        </p:nvGraphicFramePr>
        <p:xfrm>
          <a:off x="158621" y="32100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Op</a:t>
                      </a:r>
                      <a:r>
                        <a:rPr lang="en-US" dirty="0"/>
                        <a:t>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 </a:t>
                      </a:r>
                      <a:r>
                        <a:rPr lang="en-US" dirty="0"/>
                        <a:t>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  <a:r>
                        <a:rPr lang="en-US" dirty="0"/>
                        <a:t>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Op</a:t>
                      </a:r>
                      <a:r>
                        <a:rPr lang="en-US" dirty="0"/>
                        <a:t>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  <a:r>
                        <a:rPr lang="en-US" dirty="0"/>
                        <a:t>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(ID + ID) *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5434763" y="1377983"/>
            <a:ext cx="414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Are there other ways to derive</a:t>
            </a:r>
            <a:r>
              <a:rPr lang="en-US" i="1" dirty="0">
                <a:latin typeface="Courier" pitchFamily="2" charset="0"/>
              </a:rPr>
              <a:t>(</a:t>
            </a:r>
            <a:r>
              <a:rPr lang="en-US" i="1" dirty="0" err="1">
                <a:latin typeface="Courier" pitchFamily="2" charset="0"/>
              </a:rPr>
              <a:t>a+b</a:t>
            </a:r>
            <a:r>
              <a:rPr lang="en-US" i="1" dirty="0">
                <a:latin typeface="Courier" pitchFamily="2" charset="0"/>
              </a:rPr>
              <a:t>)*c?</a:t>
            </a:r>
          </a:p>
        </p:txBody>
      </p:sp>
      <p:graphicFrame>
        <p:nvGraphicFramePr>
          <p:cNvPr id="35" name="Table 9">
            <a:extLst>
              <a:ext uri="{FF2B5EF4-FFF2-40B4-BE49-F238E27FC236}">
                <a16:creationId xmlns:a16="http://schemas.microsoft.com/office/drawing/2014/main" id="{C69023E5-D8E3-1846-8106-0E12306AC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170643"/>
              </p:ext>
            </p:extLst>
          </p:nvPr>
        </p:nvGraphicFramePr>
        <p:xfrm>
          <a:off x="6367691" y="322470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  <a:r>
                        <a:rPr lang="en-US" dirty="0"/>
                        <a:t>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  <a:r>
                        <a:rPr lang="en-US" dirty="0"/>
                        <a:t>)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</a:t>
                      </a:r>
                      <a:r>
                        <a:rPr lang="en-US" dirty="0"/>
                        <a:t> Op ID)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(ID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Op</a:t>
                      </a:r>
                      <a:r>
                        <a:rPr lang="en-US" dirty="0"/>
                        <a:t> ID)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(ID + ID)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Op</a:t>
                      </a:r>
                      <a:r>
                        <a:rPr lang="en-US" dirty="0"/>
                        <a:t>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(ID + ID) +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298F10-7513-584A-BB47-4601B264795C}"/>
              </a:ext>
            </a:extLst>
          </p:cNvPr>
          <p:cNvSpPr txBox="1"/>
          <p:nvPr/>
        </p:nvSpPr>
        <p:spPr>
          <a:xfrm>
            <a:off x="1032387" y="6381135"/>
            <a:ext cx="1691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right derivation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9C8FA7-83AC-9044-A9D4-591B4BFD32CF}"/>
              </a:ext>
            </a:extLst>
          </p:cNvPr>
          <p:cNvSpPr txBox="1"/>
          <p:nvPr/>
        </p:nvSpPr>
        <p:spPr>
          <a:xfrm>
            <a:off x="8168198" y="6381135"/>
            <a:ext cx="1504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left derivation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792457-3F6D-5CB2-75C3-62BDA5609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06" y="0"/>
            <a:ext cx="10515600" cy="114451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</p:spTree>
    <p:extLst>
      <p:ext uri="{BB962C8B-B14F-4D97-AF65-F5344CB8AC3E}">
        <p14:creationId xmlns:p14="http://schemas.microsoft.com/office/powerpoint/2010/main" val="3609434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EEBBE4-9135-FF43-B480-CD35FA3FC8AC}"/>
              </a:ext>
            </a:extLst>
          </p:cNvPr>
          <p:cNvSpPr txBox="1"/>
          <p:nvPr/>
        </p:nvSpPr>
        <p:spPr>
          <a:xfrm>
            <a:off x="158621" y="1144513"/>
            <a:ext cx="34932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Expr ::= ‘(’ Expr ‘)’</a:t>
            </a:r>
          </a:p>
          <a:p>
            <a:r>
              <a:rPr lang="en-US" dirty="0">
                <a:latin typeface="Courier" pitchFamily="2" charset="0"/>
              </a:rPr>
              <a:t>2:      |    Expr Op ID</a:t>
            </a:r>
          </a:p>
          <a:p>
            <a:r>
              <a:rPr lang="en-US" dirty="0">
                <a:latin typeface="Courier" pitchFamily="2" charset="0"/>
              </a:rPr>
              <a:t>3:      |    ID</a:t>
            </a:r>
          </a:p>
          <a:p>
            <a:r>
              <a:rPr lang="en-US" dirty="0">
                <a:latin typeface="Courier" pitchFamily="2" charset="0"/>
              </a:rPr>
              <a:t>4: Op   ::= ‘+’</a:t>
            </a:r>
          </a:p>
          <a:p>
            <a:r>
              <a:rPr lang="en-US" dirty="0">
                <a:latin typeface="Courier" pitchFamily="2" charset="0"/>
              </a:rPr>
              <a:t>5: Op   |   ‘*’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AEEBE-5033-D541-BF43-8E378DE2AA6B}"/>
              </a:ext>
            </a:extLst>
          </p:cNvPr>
          <p:cNvSpPr txBox="1"/>
          <p:nvPr/>
        </p:nvSpPr>
        <p:spPr>
          <a:xfrm>
            <a:off x="5434763" y="1377983"/>
            <a:ext cx="4145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Are there other ways to derive</a:t>
            </a:r>
            <a:r>
              <a:rPr lang="en-US" i="1" dirty="0">
                <a:latin typeface="Courier" pitchFamily="2" charset="0"/>
              </a:rPr>
              <a:t>(</a:t>
            </a:r>
            <a:r>
              <a:rPr lang="en-US" i="1" dirty="0" err="1">
                <a:latin typeface="Courier" pitchFamily="2" charset="0"/>
              </a:rPr>
              <a:t>a+b</a:t>
            </a:r>
            <a:r>
              <a:rPr lang="en-US" i="1" dirty="0">
                <a:latin typeface="Courier" pitchFamily="2" charset="0"/>
              </a:rPr>
              <a:t>)*c?</a:t>
            </a:r>
          </a:p>
        </p:txBody>
      </p:sp>
      <p:graphicFrame>
        <p:nvGraphicFramePr>
          <p:cNvPr id="35" name="Table 9">
            <a:extLst>
              <a:ext uri="{FF2B5EF4-FFF2-40B4-BE49-F238E27FC236}">
                <a16:creationId xmlns:a16="http://schemas.microsoft.com/office/drawing/2014/main" id="{C69023E5-D8E3-1846-8106-0E12306ACEF6}"/>
              </a:ext>
            </a:extLst>
          </p:cNvPr>
          <p:cNvGraphicFramePr>
            <a:graphicFrameLocks noGrp="1"/>
          </p:cNvGraphicFramePr>
          <p:nvPr/>
        </p:nvGraphicFramePr>
        <p:xfrm>
          <a:off x="6367691" y="322470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Expr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(Expr)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(Expr Op ID)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(ID Op ID)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(ID + ID) Op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(ID + ID) +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9C8FA7-83AC-9044-A9D4-591B4BFD32CF}"/>
              </a:ext>
            </a:extLst>
          </p:cNvPr>
          <p:cNvSpPr txBox="1"/>
          <p:nvPr/>
        </p:nvSpPr>
        <p:spPr>
          <a:xfrm>
            <a:off x="8168198" y="6381135"/>
            <a:ext cx="1504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left derivation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09E244-E717-C345-B037-2E85F57FC6E1}"/>
              </a:ext>
            </a:extLst>
          </p:cNvPr>
          <p:cNvSpPr/>
          <p:nvPr/>
        </p:nvSpPr>
        <p:spPr>
          <a:xfrm>
            <a:off x="3156910" y="2993007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F56ACE-84B4-2144-B6B6-8DEDBC8096CD}"/>
              </a:ext>
            </a:extLst>
          </p:cNvPr>
          <p:cNvCxnSpPr/>
          <p:nvPr/>
        </p:nvCxnSpPr>
        <p:spPr>
          <a:xfrm flipH="1">
            <a:off x="1586951" y="3362339"/>
            <a:ext cx="1569959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2526C4-7B61-9C44-8B04-F56CEC8A79CC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456031" y="3362339"/>
            <a:ext cx="0" cy="588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827A20-451D-6E41-B32C-B469F4D4F9EA}"/>
              </a:ext>
            </a:extLst>
          </p:cNvPr>
          <p:cNvCxnSpPr>
            <a:cxnSpLocks/>
          </p:cNvCxnSpPr>
          <p:nvPr/>
        </p:nvCxnSpPr>
        <p:spPr>
          <a:xfrm>
            <a:off x="3678951" y="3362339"/>
            <a:ext cx="1047918" cy="545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7A9D461-0E4A-D84E-B14F-71BA91EE3FA9}"/>
              </a:ext>
            </a:extLst>
          </p:cNvPr>
          <p:cNvSpPr txBox="1"/>
          <p:nvPr/>
        </p:nvSpPr>
        <p:spPr>
          <a:xfrm>
            <a:off x="4470110" y="3951025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c)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56A6C4-B4B1-594C-AABE-24B71AA879CB}"/>
              </a:ext>
            </a:extLst>
          </p:cNvPr>
          <p:cNvSpPr txBox="1"/>
          <p:nvPr/>
        </p:nvSpPr>
        <p:spPr>
          <a:xfrm>
            <a:off x="3267242" y="3960512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C7C819-61FE-9046-8015-9682104331CA}"/>
              </a:ext>
            </a:extLst>
          </p:cNvPr>
          <p:cNvSpPr txBox="1"/>
          <p:nvPr/>
        </p:nvSpPr>
        <p:spPr>
          <a:xfrm>
            <a:off x="1228021" y="39651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CC5BD8-3B82-FB48-B311-8A913A4BDCB4}"/>
              </a:ext>
            </a:extLst>
          </p:cNvPr>
          <p:cNvCxnSpPr>
            <a:cxnSpLocks/>
          </p:cNvCxnSpPr>
          <p:nvPr/>
        </p:nvCxnSpPr>
        <p:spPr>
          <a:xfrm>
            <a:off x="3456031" y="4329844"/>
            <a:ext cx="0" cy="3956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13449E-75E2-A943-8554-103653E70176}"/>
              </a:ext>
            </a:extLst>
          </p:cNvPr>
          <p:cNvSpPr txBox="1"/>
          <p:nvPr/>
        </p:nvSpPr>
        <p:spPr>
          <a:xfrm>
            <a:off x="3305989" y="47433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0C50-4B82-044D-9FC3-B613C79948A2}"/>
              </a:ext>
            </a:extLst>
          </p:cNvPr>
          <p:cNvCxnSpPr>
            <a:cxnSpLocks/>
          </p:cNvCxnSpPr>
          <p:nvPr/>
        </p:nvCxnSpPr>
        <p:spPr>
          <a:xfrm flipH="1">
            <a:off x="894130" y="4348551"/>
            <a:ext cx="309835" cy="218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F686A5-8BEF-7543-B989-890000056A25}"/>
              </a:ext>
            </a:extLst>
          </p:cNvPr>
          <p:cNvCxnSpPr>
            <a:cxnSpLocks/>
          </p:cNvCxnSpPr>
          <p:nvPr/>
        </p:nvCxnSpPr>
        <p:spPr>
          <a:xfrm>
            <a:off x="1759846" y="4329844"/>
            <a:ext cx="255205" cy="2863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BC93BF5-E908-524E-AF2D-6D7E7F793E80}"/>
              </a:ext>
            </a:extLst>
          </p:cNvPr>
          <p:cNvSpPr txBox="1"/>
          <p:nvPr/>
        </p:nvSpPr>
        <p:spPr>
          <a:xfrm>
            <a:off x="638932" y="4567001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4A37E0-0E6B-5148-A0AE-E1031217CA6C}"/>
              </a:ext>
            </a:extLst>
          </p:cNvPr>
          <p:cNvSpPr txBox="1"/>
          <p:nvPr/>
        </p:nvSpPr>
        <p:spPr>
          <a:xfrm>
            <a:off x="1883279" y="455868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CF5E9B-30CB-784C-95A7-9CB80A68285B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1489856" y="4334454"/>
            <a:ext cx="37286" cy="281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94D3A5C-759D-7E49-8B83-638DA64E708A}"/>
              </a:ext>
            </a:extLst>
          </p:cNvPr>
          <p:cNvSpPr txBox="1"/>
          <p:nvPr/>
        </p:nvSpPr>
        <p:spPr>
          <a:xfrm>
            <a:off x="1154832" y="454079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FFF23F-FF94-9644-9F5F-4ECEE0809BA6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1453952" y="4910131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32361E7-6608-6B4A-BC60-CE4C0FEBB158}"/>
              </a:ext>
            </a:extLst>
          </p:cNvPr>
          <p:cNvSpPr txBox="1"/>
          <p:nvPr/>
        </p:nvSpPr>
        <p:spPr>
          <a:xfrm>
            <a:off x="1228021" y="5384303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336962-AF0D-964E-89EB-DE50B1375B1A}"/>
              </a:ext>
            </a:extLst>
          </p:cNvPr>
          <p:cNvCxnSpPr>
            <a:cxnSpLocks/>
          </p:cNvCxnSpPr>
          <p:nvPr/>
        </p:nvCxnSpPr>
        <p:spPr>
          <a:xfrm flipH="1" flipV="1">
            <a:off x="1603512" y="4906944"/>
            <a:ext cx="458130" cy="4773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863D82-CF83-7745-98E6-0ED6F37CCE4D}"/>
              </a:ext>
            </a:extLst>
          </p:cNvPr>
          <p:cNvSpPr txBox="1"/>
          <p:nvPr/>
        </p:nvSpPr>
        <p:spPr>
          <a:xfrm>
            <a:off x="1826262" y="5402906"/>
            <a:ext cx="75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b)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AE1D91-B362-CB4B-A4D6-C1FFF786BF0C}"/>
              </a:ext>
            </a:extLst>
          </p:cNvPr>
          <p:cNvCxnSpPr>
            <a:cxnSpLocks/>
          </p:cNvCxnSpPr>
          <p:nvPr/>
        </p:nvCxnSpPr>
        <p:spPr>
          <a:xfrm flipV="1">
            <a:off x="766531" y="4906944"/>
            <a:ext cx="533137" cy="5591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F753143-B5C4-F344-875E-FE1EED38CCD4}"/>
              </a:ext>
            </a:extLst>
          </p:cNvPr>
          <p:cNvSpPr txBox="1"/>
          <p:nvPr/>
        </p:nvSpPr>
        <p:spPr>
          <a:xfrm>
            <a:off x="295889" y="53798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9158D6-A312-4842-BDF0-0E95E88A49AA}"/>
              </a:ext>
            </a:extLst>
          </p:cNvPr>
          <p:cNvCxnSpPr>
            <a:cxnSpLocks/>
          </p:cNvCxnSpPr>
          <p:nvPr/>
        </p:nvCxnSpPr>
        <p:spPr>
          <a:xfrm flipV="1">
            <a:off x="1447964" y="5738918"/>
            <a:ext cx="0" cy="393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A246D92-CA57-AC41-B9CE-5F301B9F2B86}"/>
              </a:ext>
            </a:extLst>
          </p:cNvPr>
          <p:cNvSpPr txBox="1"/>
          <p:nvPr/>
        </p:nvSpPr>
        <p:spPr>
          <a:xfrm>
            <a:off x="1286111" y="613280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5230A4-52EA-1D4E-BD41-67073BAE9A77}"/>
              </a:ext>
            </a:extLst>
          </p:cNvPr>
          <p:cNvCxnSpPr>
            <a:cxnSpLocks/>
          </p:cNvCxnSpPr>
          <p:nvPr/>
        </p:nvCxnSpPr>
        <p:spPr>
          <a:xfrm flipV="1">
            <a:off x="550281" y="5757934"/>
            <a:ext cx="1" cy="4805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748A994-8C46-3F4A-96F5-46AEE810AC76}"/>
              </a:ext>
            </a:extLst>
          </p:cNvPr>
          <p:cNvSpPr txBox="1"/>
          <p:nvPr/>
        </p:nvSpPr>
        <p:spPr>
          <a:xfrm>
            <a:off x="153030" y="6192643"/>
            <a:ext cx="74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(ID, 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818E9-FB8C-494C-99A8-8D97EC40DF79}"/>
              </a:ext>
            </a:extLst>
          </p:cNvPr>
          <p:cNvSpPr txBox="1"/>
          <p:nvPr/>
        </p:nvSpPr>
        <p:spPr>
          <a:xfrm>
            <a:off x="3598606" y="5899355"/>
            <a:ext cx="1689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same parse tree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E10517-8186-7404-6A65-E986EB80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06" y="0"/>
            <a:ext cx="10515600" cy="1144513"/>
          </a:xfrm>
        </p:spPr>
        <p:txBody>
          <a:bodyPr/>
          <a:lstStyle/>
          <a:p>
            <a:r>
              <a:rPr lang="en-US" dirty="0"/>
              <a:t>A more complicated example</a:t>
            </a:r>
          </a:p>
        </p:txBody>
      </p:sp>
    </p:spTree>
    <p:extLst>
      <p:ext uri="{BB962C8B-B14F-4D97-AF65-F5344CB8AC3E}">
        <p14:creationId xmlns:p14="http://schemas.microsoft.com/office/powerpoint/2010/main" val="15144999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299"/>
            <a:ext cx="10515600" cy="1325563"/>
          </a:xfrm>
        </p:spPr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594"/>
          </a:xfrm>
        </p:spPr>
        <p:txBody>
          <a:bodyPr>
            <a:normAutofit/>
          </a:bodyPr>
          <a:lstStyle/>
          <a:p>
            <a:r>
              <a:rPr lang="en-US" dirty="0"/>
              <a:t>What happens when different derivations have different parse trees?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2566219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1535136" y="5063070"/>
            <a:ext cx="790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F6AB7-59B6-2D49-8916-A9763C18A618}"/>
              </a:ext>
            </a:extLst>
          </p:cNvPr>
          <p:cNvSpPr txBox="1"/>
          <p:nvPr/>
        </p:nvSpPr>
        <p:spPr>
          <a:xfrm>
            <a:off x="3677264" y="4322476"/>
            <a:ext cx="2567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this string?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40FCA-756E-9744-9D4F-2998AD18650C}"/>
              </a:ext>
            </a:extLst>
          </p:cNvPr>
          <p:cNvSpPr txBox="1"/>
          <p:nvPr/>
        </p:nvSpPr>
        <p:spPr>
          <a:xfrm>
            <a:off x="320040" y="6254496"/>
            <a:ext cx="537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Next few figures taken from the EAC book (Chapter 3.1)</a:t>
            </a:r>
          </a:p>
        </p:txBody>
      </p:sp>
    </p:spTree>
    <p:extLst>
      <p:ext uri="{BB962C8B-B14F-4D97-AF65-F5344CB8AC3E}">
        <p14:creationId xmlns:p14="http://schemas.microsoft.com/office/powerpoint/2010/main" val="2947992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DD3283-057B-B94F-BBC4-5BC3C98603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59575"/>
          <a:stretch/>
        </p:blipFill>
        <p:spPr>
          <a:xfrm>
            <a:off x="198886" y="3887390"/>
            <a:ext cx="5484399" cy="93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78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0"/>
            <a:ext cx="10515600" cy="1325563"/>
          </a:xfrm>
        </p:spPr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</p:spTree>
    <p:extLst>
      <p:ext uri="{BB962C8B-B14F-4D97-AF65-F5344CB8AC3E}">
        <p14:creationId xmlns:p14="http://schemas.microsoft.com/office/powerpoint/2010/main" val="19331568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01" y="4730"/>
            <a:ext cx="10515600" cy="1325563"/>
          </a:xfrm>
        </p:spPr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C60B2-F2B8-664E-A0AD-2F89A5B2BB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9" t="6406" r="4479" b="57543"/>
          <a:stretch/>
        </p:blipFill>
        <p:spPr>
          <a:xfrm>
            <a:off x="6327648" y="3987975"/>
            <a:ext cx="5665466" cy="93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307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901" y="60325"/>
            <a:ext cx="10515600" cy="1325563"/>
          </a:xfrm>
        </p:spPr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8298648" y="6308209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Also a valid derivation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98D52-B42C-E049-AF3E-9FC8C81EFF3C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64E4E2-E31D-1F4B-BDF6-7861CAE5C010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978286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79"/>
            <a:ext cx="10515600" cy="1325563"/>
          </a:xfrm>
        </p:spPr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8298648" y="6308209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Also a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3300984" y="2284142"/>
            <a:ext cx="668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 this an issue? Don’t we only care if a grammar can derive a string?</a:t>
            </a:r>
          </a:p>
        </p:txBody>
      </p:sp>
    </p:spTree>
    <p:extLst>
      <p:ext uri="{BB962C8B-B14F-4D97-AF65-F5344CB8AC3E}">
        <p14:creationId xmlns:p14="http://schemas.microsoft.com/office/powerpoint/2010/main" val="22333567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9"/>
            <a:ext cx="10515600" cy="1325563"/>
          </a:xfrm>
        </p:spPr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8298648" y="6308209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Also a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2621665" y="2654665"/>
            <a:ext cx="741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When we encode meaning into structure, these are very different programs</a:t>
            </a:r>
          </a:p>
        </p:txBody>
      </p:sp>
    </p:spTree>
    <p:extLst>
      <p:ext uri="{BB962C8B-B14F-4D97-AF65-F5344CB8AC3E}">
        <p14:creationId xmlns:p14="http://schemas.microsoft.com/office/powerpoint/2010/main" val="727719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B140-AF64-B84F-B899-639CEB14C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will study how to eliminate ambiguity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09E1F-C961-E142-9EF2-E809540A0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I want to close out today with an interesting case study</a:t>
            </a:r>
          </a:p>
        </p:txBody>
      </p:sp>
    </p:spTree>
    <p:extLst>
      <p:ext uri="{BB962C8B-B14F-4D97-AF65-F5344CB8AC3E}">
        <p14:creationId xmlns:p14="http://schemas.microsoft.com/office/powerpoint/2010/main" val="33186684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A562-479D-B446-AC79-C83AD32E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Interesting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4D81-571C-4248-B69A-376B12BB2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856295" cy="26000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Using a CFG, you can derive random strings in a language</a:t>
            </a:r>
          </a:p>
          <a:p>
            <a:pPr lvl="1"/>
            <a:r>
              <a:rPr lang="en-US" dirty="0"/>
              <a:t>This can be useful for testing compiler correctness.</a:t>
            </a:r>
          </a:p>
          <a:p>
            <a:endParaRPr lang="en-US" dirty="0"/>
          </a:p>
          <a:p>
            <a:r>
              <a:rPr lang="en-US" dirty="0"/>
              <a:t>C-Smith (from the University of Utah)</a:t>
            </a:r>
          </a:p>
          <a:p>
            <a:pPr lvl="1"/>
            <a:r>
              <a:rPr lang="en-US" dirty="0"/>
              <a:t>Generates random C programs</a:t>
            </a:r>
          </a:p>
          <a:p>
            <a:pPr lvl="1"/>
            <a:r>
              <a:rPr lang="en-US" dirty="0"/>
              <a:t>Used to test compiler correctness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1D398-E3F6-534C-A622-2941CDF9F37D}"/>
              </a:ext>
            </a:extLst>
          </p:cNvPr>
          <p:cNvSpPr/>
          <p:nvPr/>
        </p:nvSpPr>
        <p:spPr>
          <a:xfrm>
            <a:off x="1005840" y="5248656"/>
            <a:ext cx="1143000" cy="9966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Random C program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AA59A5-1514-974F-B8D5-AC7EDE88B751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2176272" y="4855464"/>
            <a:ext cx="1496568" cy="69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1A018EC-787E-C644-BA85-43C1BDE1870A}"/>
              </a:ext>
            </a:extLst>
          </p:cNvPr>
          <p:cNvSpPr/>
          <p:nvPr/>
        </p:nvSpPr>
        <p:spPr>
          <a:xfrm>
            <a:off x="3672840" y="4583430"/>
            <a:ext cx="1143000" cy="5440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 -00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50D6F-EB07-7941-8500-5E4EFE338911}"/>
              </a:ext>
            </a:extLst>
          </p:cNvPr>
          <p:cNvSpPr/>
          <p:nvPr/>
        </p:nvSpPr>
        <p:spPr>
          <a:xfrm>
            <a:off x="3672840" y="5367528"/>
            <a:ext cx="1143000" cy="54406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 -03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C6CA71-E0CE-7D42-BA32-291AB7930E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148840" y="5639562"/>
            <a:ext cx="1496568" cy="107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333B6EB-F34B-4140-A52D-981AB79D67CC}"/>
              </a:ext>
            </a:extLst>
          </p:cNvPr>
          <p:cNvSpPr/>
          <p:nvPr/>
        </p:nvSpPr>
        <p:spPr>
          <a:xfrm>
            <a:off x="3645408" y="6137910"/>
            <a:ext cx="1143000" cy="5440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gcc</a:t>
            </a:r>
            <a:r>
              <a:rPr lang="en-US" dirty="0"/>
              <a:t> ...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B357F9-B0DD-4344-AE21-A318F2834B8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225040" y="5911596"/>
            <a:ext cx="1420368" cy="498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4D7C7A-2CE0-2E44-A875-B95BB83DE95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815840" y="4855464"/>
            <a:ext cx="615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C56543-195F-864A-96F2-70CB07E54FA4}"/>
              </a:ext>
            </a:extLst>
          </p:cNvPr>
          <p:cNvCxnSpPr>
            <a:cxnSpLocks/>
          </p:cNvCxnSpPr>
          <p:nvPr/>
        </p:nvCxnSpPr>
        <p:spPr>
          <a:xfrm flipV="1">
            <a:off x="4843272" y="5639562"/>
            <a:ext cx="652272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9F38D40-565B-E449-9890-7C026D72A8A6}"/>
              </a:ext>
            </a:extLst>
          </p:cNvPr>
          <p:cNvCxnSpPr>
            <a:cxnSpLocks/>
          </p:cNvCxnSpPr>
          <p:nvPr/>
        </p:nvCxnSpPr>
        <p:spPr>
          <a:xfrm flipV="1">
            <a:off x="4788408" y="6391656"/>
            <a:ext cx="652272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E34BD63-6E6C-EA48-B56D-2E8D94E107DA}"/>
              </a:ext>
            </a:extLst>
          </p:cNvPr>
          <p:cNvSpPr/>
          <p:nvPr/>
        </p:nvSpPr>
        <p:spPr>
          <a:xfrm>
            <a:off x="5541264" y="4574286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8F5CE3-BF00-2149-A97E-103547A42291}"/>
              </a:ext>
            </a:extLst>
          </p:cNvPr>
          <p:cNvSpPr/>
          <p:nvPr/>
        </p:nvSpPr>
        <p:spPr>
          <a:xfrm>
            <a:off x="5541264" y="5385816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14D1F0-5B34-B54A-A56B-EFD64025498D}"/>
              </a:ext>
            </a:extLst>
          </p:cNvPr>
          <p:cNvSpPr/>
          <p:nvPr/>
        </p:nvSpPr>
        <p:spPr>
          <a:xfrm>
            <a:off x="5541264" y="6160770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FF4FB8-7C51-3B41-855D-6DA6ED44E5B9}"/>
              </a:ext>
            </a:extLst>
          </p:cNvPr>
          <p:cNvSpPr txBox="1"/>
          <p:nvPr/>
        </p:nvSpPr>
        <p:spPr>
          <a:xfrm>
            <a:off x="7534656" y="5118354"/>
            <a:ext cx="3159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Check outcome. Is it the same?</a:t>
            </a:r>
            <a:br>
              <a:rPr lang="en-US" i="1" dirty="0"/>
            </a:br>
            <a:r>
              <a:rPr lang="en-US" i="1" dirty="0"/>
              <a:t>if not, then there is a bug in one</a:t>
            </a:r>
            <a:br>
              <a:rPr lang="en-US" i="1" dirty="0"/>
            </a:br>
            <a:r>
              <a:rPr lang="en-US" i="1" dirty="0"/>
              <a:t>of the compilers</a:t>
            </a:r>
          </a:p>
        </p:txBody>
      </p:sp>
    </p:spTree>
    <p:extLst>
      <p:ext uri="{BB962C8B-B14F-4D97-AF65-F5344CB8AC3E}">
        <p14:creationId xmlns:p14="http://schemas.microsoft.com/office/powerpoint/2010/main" val="18527901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A562-479D-B446-AC79-C83AD32E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4D81-571C-4248-B69A-376B12BB2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5954" cy="2600071"/>
          </a:xfrm>
        </p:spPr>
        <p:txBody>
          <a:bodyPr/>
          <a:lstStyle/>
          <a:p>
            <a:r>
              <a:rPr lang="en-US" dirty="0"/>
              <a:t>400+ compiler bugs were found</a:t>
            </a:r>
          </a:p>
          <a:p>
            <a:pPr lvl="1"/>
            <a:r>
              <a:rPr lang="en-US" dirty="0"/>
              <a:t>These days Google has a couple of servers running these tests 24/7 looking for bugs.</a:t>
            </a:r>
          </a:p>
          <a:p>
            <a:endParaRPr lang="en-US" dirty="0"/>
          </a:p>
          <a:p>
            <a:r>
              <a:rPr lang="en-US" dirty="0"/>
              <a:t>Run a Demo   </a:t>
            </a:r>
            <a:r>
              <a:rPr lang="en-US" sz="1200" dirty="0"/>
              <a:t>(</a:t>
            </a:r>
            <a:r>
              <a:rPr lang="en-US" sz="1200" dirty="0" err="1"/>
              <a:t>csmith</a:t>
            </a:r>
            <a:r>
              <a:rPr lang="en-US" sz="1200" dirty="0"/>
              <a:t>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1D398-E3F6-534C-A622-2941CDF9F37D}"/>
              </a:ext>
            </a:extLst>
          </p:cNvPr>
          <p:cNvSpPr/>
          <p:nvPr/>
        </p:nvSpPr>
        <p:spPr>
          <a:xfrm>
            <a:off x="1005840" y="5248656"/>
            <a:ext cx="1143000" cy="9966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Random C program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AA59A5-1514-974F-B8D5-AC7EDE88B751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2176272" y="4855464"/>
            <a:ext cx="1496568" cy="69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1A018EC-787E-C644-BA85-43C1BDE1870A}"/>
              </a:ext>
            </a:extLst>
          </p:cNvPr>
          <p:cNvSpPr/>
          <p:nvPr/>
        </p:nvSpPr>
        <p:spPr>
          <a:xfrm>
            <a:off x="3672840" y="4583430"/>
            <a:ext cx="1143000" cy="5440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 -00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50D6F-EB07-7941-8500-5E4EFE338911}"/>
              </a:ext>
            </a:extLst>
          </p:cNvPr>
          <p:cNvSpPr/>
          <p:nvPr/>
        </p:nvSpPr>
        <p:spPr>
          <a:xfrm>
            <a:off x="3672840" y="5367528"/>
            <a:ext cx="1143000" cy="54406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 -03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C6CA71-E0CE-7D42-BA32-291AB7930E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148840" y="5639562"/>
            <a:ext cx="1496568" cy="107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333B6EB-F34B-4140-A52D-981AB79D67CC}"/>
              </a:ext>
            </a:extLst>
          </p:cNvPr>
          <p:cNvSpPr/>
          <p:nvPr/>
        </p:nvSpPr>
        <p:spPr>
          <a:xfrm>
            <a:off x="3645408" y="6137910"/>
            <a:ext cx="1143000" cy="5440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gcc</a:t>
            </a:r>
            <a:r>
              <a:rPr lang="en-US" dirty="0"/>
              <a:t> ...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B357F9-B0DD-4344-AE21-A318F2834B8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225040" y="5911596"/>
            <a:ext cx="1420368" cy="498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4D7C7A-2CE0-2E44-A875-B95BB83DE95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815840" y="4855464"/>
            <a:ext cx="615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C56543-195F-864A-96F2-70CB07E54FA4}"/>
              </a:ext>
            </a:extLst>
          </p:cNvPr>
          <p:cNvCxnSpPr>
            <a:cxnSpLocks/>
          </p:cNvCxnSpPr>
          <p:nvPr/>
        </p:nvCxnSpPr>
        <p:spPr>
          <a:xfrm flipV="1">
            <a:off x="4843272" y="5639562"/>
            <a:ext cx="652272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9F38D40-565B-E449-9890-7C026D72A8A6}"/>
              </a:ext>
            </a:extLst>
          </p:cNvPr>
          <p:cNvCxnSpPr>
            <a:cxnSpLocks/>
          </p:cNvCxnSpPr>
          <p:nvPr/>
        </p:nvCxnSpPr>
        <p:spPr>
          <a:xfrm flipV="1">
            <a:off x="4788408" y="6391656"/>
            <a:ext cx="652272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E34BD63-6E6C-EA48-B56D-2E8D94E107DA}"/>
              </a:ext>
            </a:extLst>
          </p:cNvPr>
          <p:cNvSpPr/>
          <p:nvPr/>
        </p:nvSpPr>
        <p:spPr>
          <a:xfrm>
            <a:off x="5541264" y="4574286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8F5CE3-BF00-2149-A97E-103547A42291}"/>
              </a:ext>
            </a:extLst>
          </p:cNvPr>
          <p:cNvSpPr/>
          <p:nvPr/>
        </p:nvSpPr>
        <p:spPr>
          <a:xfrm>
            <a:off x="5541264" y="5385816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14D1F0-5B34-B54A-A56B-EFD64025498D}"/>
              </a:ext>
            </a:extLst>
          </p:cNvPr>
          <p:cNvSpPr/>
          <p:nvPr/>
        </p:nvSpPr>
        <p:spPr>
          <a:xfrm>
            <a:off x="5541264" y="6160770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FF4FB8-7C51-3B41-855D-6DA6ED44E5B9}"/>
              </a:ext>
            </a:extLst>
          </p:cNvPr>
          <p:cNvSpPr txBox="1"/>
          <p:nvPr/>
        </p:nvSpPr>
        <p:spPr>
          <a:xfrm>
            <a:off x="7534656" y="5118354"/>
            <a:ext cx="3159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Check outcome. Is it the same?</a:t>
            </a:r>
            <a:br>
              <a:rPr lang="en-US" i="1" dirty="0"/>
            </a:br>
            <a:r>
              <a:rPr lang="en-US" i="1" dirty="0"/>
              <a:t>if not, then there is a bug in one</a:t>
            </a:r>
            <a:br>
              <a:rPr lang="en-US" i="1" dirty="0"/>
            </a:br>
            <a:r>
              <a:rPr lang="en-US" i="1" dirty="0"/>
              <a:t>of the compilers</a:t>
            </a:r>
          </a:p>
        </p:txBody>
      </p:sp>
    </p:spTree>
    <p:extLst>
      <p:ext uri="{BB962C8B-B14F-4D97-AF65-F5344CB8AC3E}">
        <p14:creationId xmlns:p14="http://schemas.microsoft.com/office/powerpoint/2010/main" val="41132290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A562-479D-B446-AC79-C83AD32E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4D81-571C-4248-B69A-376B12BB2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56960" cy="2600071"/>
          </a:xfrm>
        </p:spPr>
        <p:txBody>
          <a:bodyPr/>
          <a:lstStyle/>
          <a:p>
            <a:r>
              <a:rPr lang="en-US" dirty="0"/>
              <a:t>Big challenge: Undefined behavior</a:t>
            </a:r>
          </a:p>
          <a:p>
            <a:endParaRPr lang="en-US" dirty="0"/>
          </a:p>
          <a:p>
            <a:r>
              <a:rPr lang="en-US" dirty="0"/>
              <a:t>Even though the program is syntactically valid, the behavior may be undefined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1D398-E3F6-534C-A622-2941CDF9F37D}"/>
              </a:ext>
            </a:extLst>
          </p:cNvPr>
          <p:cNvSpPr/>
          <p:nvPr/>
        </p:nvSpPr>
        <p:spPr>
          <a:xfrm>
            <a:off x="1005840" y="5248656"/>
            <a:ext cx="1143000" cy="9966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Random C program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AA59A5-1514-974F-B8D5-AC7EDE88B751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2176272" y="4855464"/>
            <a:ext cx="1496568" cy="69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1A018EC-787E-C644-BA85-43C1BDE1870A}"/>
              </a:ext>
            </a:extLst>
          </p:cNvPr>
          <p:cNvSpPr/>
          <p:nvPr/>
        </p:nvSpPr>
        <p:spPr>
          <a:xfrm>
            <a:off x="3672840" y="4583430"/>
            <a:ext cx="1143000" cy="5440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 -00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950D6F-EB07-7941-8500-5E4EFE338911}"/>
              </a:ext>
            </a:extLst>
          </p:cNvPr>
          <p:cNvSpPr/>
          <p:nvPr/>
        </p:nvSpPr>
        <p:spPr>
          <a:xfrm>
            <a:off x="3672840" y="5367528"/>
            <a:ext cx="1143000" cy="54406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clang -03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C6CA71-E0CE-7D42-BA32-291AB7930E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148840" y="5639562"/>
            <a:ext cx="1496568" cy="107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333B6EB-F34B-4140-A52D-981AB79D67CC}"/>
              </a:ext>
            </a:extLst>
          </p:cNvPr>
          <p:cNvSpPr/>
          <p:nvPr/>
        </p:nvSpPr>
        <p:spPr>
          <a:xfrm>
            <a:off x="3645408" y="6137910"/>
            <a:ext cx="1143000" cy="5440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gcc</a:t>
            </a:r>
            <a:r>
              <a:rPr lang="en-US" dirty="0"/>
              <a:t> ...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B357F9-B0DD-4344-AE21-A318F2834B80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225040" y="5911596"/>
            <a:ext cx="1420368" cy="498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4D7C7A-2CE0-2E44-A875-B95BB83DE953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815840" y="4855464"/>
            <a:ext cx="6156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C56543-195F-864A-96F2-70CB07E54FA4}"/>
              </a:ext>
            </a:extLst>
          </p:cNvPr>
          <p:cNvCxnSpPr>
            <a:cxnSpLocks/>
          </p:cNvCxnSpPr>
          <p:nvPr/>
        </p:nvCxnSpPr>
        <p:spPr>
          <a:xfrm flipV="1">
            <a:off x="4843272" y="5639562"/>
            <a:ext cx="652272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9F38D40-565B-E449-9890-7C026D72A8A6}"/>
              </a:ext>
            </a:extLst>
          </p:cNvPr>
          <p:cNvCxnSpPr>
            <a:cxnSpLocks/>
          </p:cNvCxnSpPr>
          <p:nvPr/>
        </p:nvCxnSpPr>
        <p:spPr>
          <a:xfrm flipV="1">
            <a:off x="4788408" y="6391656"/>
            <a:ext cx="652272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E34BD63-6E6C-EA48-B56D-2E8D94E107DA}"/>
              </a:ext>
            </a:extLst>
          </p:cNvPr>
          <p:cNvSpPr/>
          <p:nvPr/>
        </p:nvSpPr>
        <p:spPr>
          <a:xfrm>
            <a:off x="5541264" y="4574286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8F5CE3-BF00-2149-A97E-103547A42291}"/>
              </a:ext>
            </a:extLst>
          </p:cNvPr>
          <p:cNvSpPr/>
          <p:nvPr/>
        </p:nvSpPr>
        <p:spPr>
          <a:xfrm>
            <a:off x="5541264" y="5385816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14D1F0-5B34-B54A-A56B-EFD64025498D}"/>
              </a:ext>
            </a:extLst>
          </p:cNvPr>
          <p:cNvSpPr/>
          <p:nvPr/>
        </p:nvSpPr>
        <p:spPr>
          <a:xfrm>
            <a:off x="5541264" y="6160770"/>
            <a:ext cx="1143000" cy="5440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FF4FB8-7C51-3B41-855D-6DA6ED44E5B9}"/>
              </a:ext>
            </a:extLst>
          </p:cNvPr>
          <p:cNvSpPr txBox="1"/>
          <p:nvPr/>
        </p:nvSpPr>
        <p:spPr>
          <a:xfrm>
            <a:off x="7534656" y="5118354"/>
            <a:ext cx="3159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Check outcome. Is it the same?</a:t>
            </a:r>
            <a:br>
              <a:rPr lang="en-US" i="1" dirty="0"/>
            </a:br>
            <a:r>
              <a:rPr lang="en-US" i="1" dirty="0"/>
              <a:t>if not, then there is a bug in one</a:t>
            </a:r>
            <a:br>
              <a:rPr lang="en-US" i="1" dirty="0"/>
            </a:br>
            <a:r>
              <a:rPr lang="en-US" i="1" dirty="0"/>
              <a:t>of the compilers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08816-ECFF-9344-97F8-C315706E5758}"/>
              </a:ext>
            </a:extLst>
          </p:cNvPr>
          <p:cNvSpPr/>
          <p:nvPr/>
        </p:nvSpPr>
        <p:spPr>
          <a:xfrm>
            <a:off x="7848600" y="1086961"/>
            <a:ext cx="33345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b="1" dirty="0">
                <a:solidFill>
                  <a:srgbClr val="400BD9"/>
                </a:solidFill>
                <a:latin typeface="Menlo" panose="020B0609030804020204" pitchFamily="49" charset="0"/>
              </a:rPr>
              <a:t>main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() {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</a:t>
            </a:r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"%d\n"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x);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 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0;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A1C52-1A54-C34C-BDE4-12E250028066}"/>
              </a:ext>
            </a:extLst>
          </p:cNvPr>
          <p:cNvSpPr txBox="1"/>
          <p:nvPr/>
        </p:nvSpPr>
        <p:spPr>
          <a:xfrm>
            <a:off x="8061232" y="2674086"/>
            <a:ext cx="32925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Uninitialized variables can return </a:t>
            </a:r>
          </a:p>
          <a:p>
            <a:r>
              <a:rPr lang="en-US" dirty="0"/>
              <a:t>anything!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1DF20A-C523-464B-ADAF-428639FF13E9}"/>
              </a:ext>
            </a:extLst>
          </p:cNvPr>
          <p:cNvSpPr txBox="1"/>
          <p:nvPr/>
        </p:nvSpPr>
        <p:spPr>
          <a:xfrm>
            <a:off x="8061232" y="3472436"/>
            <a:ext cx="3152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advanced compiler analysis</a:t>
            </a:r>
          </a:p>
          <a:p>
            <a:r>
              <a:rPr lang="en-US" dirty="0"/>
              <a:t>to catch these issues</a:t>
            </a:r>
          </a:p>
        </p:txBody>
      </p:sp>
    </p:spTree>
    <p:extLst>
      <p:ext uri="{BB962C8B-B14F-4D97-AF65-F5344CB8AC3E}">
        <p14:creationId xmlns:p14="http://schemas.microsoft.com/office/powerpoint/2010/main" val="17220489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CE13-5E20-3C4F-97D5-4A2A43A5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3708"/>
          </a:xfrm>
        </p:spPr>
        <p:txBody>
          <a:bodyPr>
            <a:normAutofit/>
          </a:bodyPr>
          <a:lstStyle/>
          <a:p>
            <a:r>
              <a:rPr lang="en-US" dirty="0"/>
              <a:t>How to remove ambiguity from grammars</a:t>
            </a:r>
          </a:p>
          <a:p>
            <a:pPr lvl="1"/>
            <a:r>
              <a:rPr lang="en-US" dirty="0"/>
              <a:t>Precedence</a:t>
            </a:r>
          </a:p>
          <a:p>
            <a:pPr lvl="1"/>
            <a:r>
              <a:rPr lang="en-US" dirty="0"/>
              <a:t>Associativity </a:t>
            </a:r>
          </a:p>
        </p:txBody>
      </p:sp>
    </p:spTree>
    <p:extLst>
      <p:ext uri="{BB962C8B-B14F-4D97-AF65-F5344CB8AC3E}">
        <p14:creationId xmlns:p14="http://schemas.microsoft.com/office/powerpoint/2010/main" val="252404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28943</TotalTime>
  <Words>4427</Words>
  <Application>Microsoft Office PowerPoint</Application>
  <PresentationFormat>Widescreen</PresentationFormat>
  <Paragraphs>1012</Paragraphs>
  <Slides>72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Calibri Light</vt:lpstr>
      <vt:lpstr>Courier</vt:lpstr>
      <vt:lpstr>Menlo</vt:lpstr>
      <vt:lpstr>Office Theme</vt:lpstr>
      <vt:lpstr>CSE110A: Compilers </vt:lpstr>
      <vt:lpstr>Announcements </vt:lpstr>
      <vt:lpstr>Module 2:  CFG and Parsing</vt:lpstr>
      <vt:lpstr>Compiler Architecture</vt:lpstr>
      <vt:lpstr>PowerPoint Presentation</vt:lpstr>
      <vt:lpstr>PowerPoint Presentation</vt:lpstr>
      <vt:lpstr>PowerPoint Presentation</vt:lpstr>
      <vt:lpstr>PowerPoint Presentation</vt:lpstr>
      <vt:lpstr>Syntactic Analysis</vt:lpstr>
      <vt:lpstr>Syntactic Analysis</vt:lpstr>
      <vt:lpstr>How do we express a valid sentence?</vt:lpstr>
      <vt:lpstr>How do we express a valid sentence?</vt:lpstr>
      <vt:lpstr>How do we express a valid sentence?</vt:lpstr>
      <vt:lpstr>How do we express a valid sentence?</vt:lpstr>
      <vt:lpstr>How do we express a valid sentence?</vt:lpstr>
      <vt:lpstr>How do we express a valid sentence?</vt:lpstr>
      <vt:lpstr>Mathematical expressions</vt:lpstr>
      <vt:lpstr>Mathematical expressions</vt:lpstr>
      <vt:lpstr>Mathematical expressions</vt:lpstr>
      <vt:lpstr>Mathematical expressions</vt:lpstr>
      <vt:lpstr>Mathematical expressions</vt:lpstr>
      <vt:lpstr>Mathematical expressions</vt:lpstr>
      <vt:lpstr>Mathematical expressions</vt:lpstr>
      <vt:lpstr>Mathematical expressions</vt:lpstr>
      <vt:lpstr>Mathematical expressions</vt:lpstr>
      <vt:lpstr>Context Free Grammars: A new class of languages</vt:lpstr>
      <vt:lpstr>Recall: Language theory</vt:lpstr>
      <vt:lpstr>Recall: Language theory: Chomsky Hierarchy</vt:lpstr>
      <vt:lpstr>Context-Free Languages (CFG)</vt:lpstr>
      <vt:lpstr>Context-Free Languages</vt:lpstr>
      <vt:lpstr>Context-free grammar</vt:lpstr>
      <vt:lpstr>John Backus and Peter Naur</vt:lpstr>
      <vt:lpstr>Context-free grammar</vt:lpstr>
      <vt:lpstr>Deriving strings</vt:lpstr>
      <vt:lpstr>Deriving strings</vt:lpstr>
      <vt:lpstr>Deriving strings</vt:lpstr>
      <vt:lpstr>Mathematical expressions</vt:lpstr>
      <vt:lpstr>Mathematical expressions</vt:lpstr>
      <vt:lpstr>A more complicated example (let’s explore)</vt:lpstr>
      <vt:lpstr>A more complicated example</vt:lpstr>
      <vt:lpstr>A more complicated example</vt:lpstr>
      <vt:lpstr>A more complicated example</vt:lpstr>
      <vt:lpstr>A more complicated example</vt:lpstr>
      <vt:lpstr>A more complicated example</vt:lpstr>
      <vt:lpstr>A more complicated example</vt:lpstr>
      <vt:lpstr>A more complicated example</vt:lpstr>
      <vt:lpstr>A more complicated example</vt:lpstr>
      <vt:lpstr>Converting Meaning into Structure</vt:lpstr>
      <vt:lpstr>An Aside: Tree Traversal Orders</vt:lpstr>
      <vt:lpstr>Possible Tree Traversal Orders</vt:lpstr>
      <vt:lpstr>Post-Order Traversal</vt:lpstr>
      <vt:lpstr>Post order traversal</vt:lpstr>
      <vt:lpstr>Post order traversal</vt:lpstr>
      <vt:lpstr>Post order traversal</vt:lpstr>
      <vt:lpstr>Post order Traversal == Postfix Notation</vt:lpstr>
      <vt:lpstr>Post-Order Traversal : Another Example</vt:lpstr>
      <vt:lpstr>Back to our more complicated example</vt:lpstr>
      <vt:lpstr>A more complicated example</vt:lpstr>
      <vt:lpstr>A more complicated example</vt:lpstr>
      <vt:lpstr>A more complicated example</vt:lpstr>
      <vt:lpstr>Ambiguous grammars</vt:lpstr>
      <vt:lpstr>Ambiguous grammars</vt:lpstr>
      <vt:lpstr>Ambiguous grammars</vt:lpstr>
      <vt:lpstr>Ambiguous grammars</vt:lpstr>
      <vt:lpstr>Ambiguous grammars</vt:lpstr>
      <vt:lpstr>Ambiguous grammars</vt:lpstr>
      <vt:lpstr>Ambiguous grammars</vt:lpstr>
      <vt:lpstr>We will study how to eliminate ambiguity </vt:lpstr>
      <vt:lpstr>Interesting Case study</vt:lpstr>
      <vt:lpstr>Case study</vt:lpstr>
      <vt:lpstr>Case study</vt:lpstr>
      <vt:lpstr>Next Topic: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460</cp:revision>
  <dcterms:created xsi:type="dcterms:W3CDTF">2021-03-23T23:59:42Z</dcterms:created>
  <dcterms:modified xsi:type="dcterms:W3CDTF">2026-01-22T09:31:33Z</dcterms:modified>
</cp:coreProperties>
</file>