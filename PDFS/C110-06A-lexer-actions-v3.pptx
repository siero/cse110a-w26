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994" r:id="rId2"/>
    <p:sldId id="1131" r:id="rId3"/>
    <p:sldId id="1132" r:id="rId4"/>
    <p:sldId id="1018" r:id="rId5"/>
    <p:sldId id="1069" r:id="rId6"/>
    <p:sldId id="1022" r:id="rId7"/>
    <p:sldId id="1070" r:id="rId8"/>
    <p:sldId id="1023" r:id="rId9"/>
    <p:sldId id="997" r:id="rId10"/>
    <p:sldId id="999" r:id="rId11"/>
    <p:sldId id="1024" r:id="rId12"/>
    <p:sldId id="1025" r:id="rId13"/>
    <p:sldId id="1000" r:id="rId14"/>
    <p:sldId id="800" r:id="rId15"/>
    <p:sldId id="1071" r:id="rId16"/>
    <p:sldId id="1026" r:id="rId17"/>
    <p:sldId id="1072" r:id="rId18"/>
    <p:sldId id="1029" r:id="rId19"/>
    <p:sldId id="1075" r:id="rId20"/>
    <p:sldId id="1074" r:id="rId21"/>
    <p:sldId id="1073" r:id="rId22"/>
    <p:sldId id="1006" r:id="rId23"/>
    <p:sldId id="1031" r:id="rId24"/>
    <p:sldId id="1007" r:id="rId25"/>
    <p:sldId id="1009" r:id="rId26"/>
    <p:sldId id="1010" r:id="rId27"/>
    <p:sldId id="1012" r:id="rId28"/>
    <p:sldId id="1013" r:id="rId29"/>
    <p:sldId id="263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8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09"/>
    <p:restoredTop sz="96405"/>
  </p:normalViewPr>
  <p:slideViewPr>
    <p:cSldViewPr snapToGrid="0" snapToObjects="1">
      <p:cViewPr varScale="1">
        <p:scale>
          <a:sx n="59" d="100"/>
          <a:sy n="59" d="100"/>
        </p:scale>
        <p:origin x="57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50" y="208165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0" y="4040340"/>
            <a:ext cx="6901683" cy="2405459"/>
          </a:xfrm>
        </p:spPr>
        <p:txBody>
          <a:bodyPr>
            <a:normAutofit/>
          </a:bodyPr>
          <a:lstStyle/>
          <a:p>
            <a:r>
              <a:rPr lang="en-US" b="1" dirty="0"/>
              <a:t>Topics</a:t>
            </a:r>
            <a:r>
              <a:rPr lang="en-US" dirty="0"/>
              <a:t>: </a:t>
            </a:r>
          </a:p>
          <a:p>
            <a:pPr lvl="1"/>
            <a:r>
              <a:rPr lang="en-US" i="1" dirty="0"/>
              <a:t>Finishing up Scanners</a:t>
            </a:r>
          </a:p>
          <a:p>
            <a:pPr lvl="2"/>
            <a:r>
              <a:rPr lang="en-US" i="1" dirty="0"/>
              <a:t>Token actions</a:t>
            </a:r>
          </a:p>
          <a:p>
            <a:pPr lvl="2"/>
            <a:r>
              <a:rPr lang="en-US" i="1" dirty="0"/>
              <a:t>PLY Scanner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1714B3-537B-5C42-AD19-F844B17759C3}"/>
              </a:ext>
            </a:extLst>
          </p:cNvPr>
          <p:cNvSpPr/>
          <p:nvPr/>
        </p:nvSpPr>
        <p:spPr>
          <a:xfrm>
            <a:off x="4649103" y="1924216"/>
            <a:ext cx="48690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dog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2"/>
                </a:solidFill>
              </a:rPr>
              <a:t>ran</a:t>
            </a:r>
            <a:r>
              <a:rPr lang="en-US" sz="3200" b="1" dirty="0"/>
              <a:t> across </a:t>
            </a:r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park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E891319-2C73-B54C-B35D-159A9AA498AF}"/>
              </a:ext>
            </a:extLst>
          </p:cNvPr>
          <p:cNvCxnSpPr>
            <a:cxnSpLocks/>
          </p:cNvCxnSpPr>
          <p:nvPr/>
        </p:nvCxnSpPr>
        <p:spPr>
          <a:xfrm flipH="1">
            <a:off x="4168273" y="2396041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C3EA9F5-08D1-284D-B035-0D8D50D39BA8}"/>
              </a:ext>
            </a:extLst>
          </p:cNvPr>
          <p:cNvCxnSpPr>
            <a:cxnSpLocks/>
          </p:cNvCxnSpPr>
          <p:nvPr/>
        </p:nvCxnSpPr>
        <p:spPr>
          <a:xfrm flipH="1">
            <a:off x="5245233" y="2396041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465DA11-333F-0846-BFA3-5313C2D4AD6F}"/>
              </a:ext>
            </a:extLst>
          </p:cNvPr>
          <p:cNvCxnSpPr>
            <a:cxnSpLocks/>
          </p:cNvCxnSpPr>
          <p:nvPr/>
        </p:nvCxnSpPr>
        <p:spPr>
          <a:xfrm>
            <a:off x="6362833" y="2508991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32F45E6-893A-E444-A5E7-C51559334FC6}"/>
              </a:ext>
            </a:extLst>
          </p:cNvPr>
          <p:cNvCxnSpPr>
            <a:cxnSpLocks/>
          </p:cNvCxnSpPr>
          <p:nvPr/>
        </p:nvCxnSpPr>
        <p:spPr>
          <a:xfrm>
            <a:off x="7328033" y="2396041"/>
            <a:ext cx="5283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1F50CC5-BFE2-F544-B8CB-F0D34782591E}"/>
              </a:ext>
            </a:extLst>
          </p:cNvPr>
          <p:cNvCxnSpPr>
            <a:cxnSpLocks/>
          </p:cNvCxnSpPr>
          <p:nvPr/>
        </p:nvCxnSpPr>
        <p:spPr>
          <a:xfrm>
            <a:off x="8191633" y="2396041"/>
            <a:ext cx="1534160" cy="601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236746-7C04-9240-BF01-282709C0DBD9}"/>
              </a:ext>
            </a:extLst>
          </p:cNvPr>
          <p:cNvCxnSpPr>
            <a:cxnSpLocks/>
          </p:cNvCxnSpPr>
          <p:nvPr/>
        </p:nvCxnSpPr>
        <p:spPr>
          <a:xfrm>
            <a:off x="9288913" y="2396041"/>
            <a:ext cx="1880383" cy="648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D871749-56FA-A64F-BE8B-A85DC581410C}"/>
              </a:ext>
            </a:extLst>
          </p:cNvPr>
          <p:cNvSpPr/>
          <p:nvPr/>
        </p:nvSpPr>
        <p:spPr>
          <a:xfrm>
            <a:off x="3369356" y="3011793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EE2DC9-CB4F-FE45-9A12-53D1ACF8CE7E}"/>
              </a:ext>
            </a:extLst>
          </p:cNvPr>
          <p:cNvSpPr/>
          <p:nvPr/>
        </p:nvSpPr>
        <p:spPr>
          <a:xfrm>
            <a:off x="9126814" y="3015235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74B643-0EEA-FD4C-9AD7-B1668FA027B3}"/>
              </a:ext>
            </a:extLst>
          </p:cNvPr>
          <p:cNvSpPr/>
          <p:nvPr/>
        </p:nvSpPr>
        <p:spPr>
          <a:xfrm>
            <a:off x="4739792" y="3092001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DD3D7F-CEC2-934C-82BE-C20FADB762E6}"/>
              </a:ext>
            </a:extLst>
          </p:cNvPr>
          <p:cNvSpPr/>
          <p:nvPr/>
        </p:nvSpPr>
        <p:spPr>
          <a:xfrm>
            <a:off x="5895232" y="3075873"/>
            <a:ext cx="86433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C233AD-020A-E940-9574-ABCC9F87FD1A}"/>
              </a:ext>
            </a:extLst>
          </p:cNvPr>
          <p:cNvSpPr/>
          <p:nvPr/>
        </p:nvSpPr>
        <p:spPr>
          <a:xfrm>
            <a:off x="7020711" y="3092000"/>
            <a:ext cx="191590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PREPOSITION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D4542D-EF33-3F4D-BC9C-4EAB7ABF0FB9}"/>
              </a:ext>
            </a:extLst>
          </p:cNvPr>
          <p:cNvSpPr/>
          <p:nvPr/>
        </p:nvSpPr>
        <p:spPr>
          <a:xfrm>
            <a:off x="10730831" y="3047048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</p:spTree>
    <p:extLst>
      <p:ext uri="{BB962C8B-B14F-4D97-AF65-F5344CB8AC3E}">
        <p14:creationId xmlns:p14="http://schemas.microsoft.com/office/powerpoint/2010/main" val="387612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22D62-F1BF-EAF1-4422-9C766FE73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BA17-65A9-9FD0-BD69-3C2E686A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54" y="271514"/>
            <a:ext cx="10515600" cy="942244"/>
          </a:xfrm>
        </p:spPr>
        <p:txBody>
          <a:bodyPr>
            <a:normAutofit fontScale="90000"/>
          </a:bodyPr>
          <a:lstStyle/>
          <a:p>
            <a:r>
              <a:rPr lang="en-US" sz="7300" b="1" dirty="0"/>
              <a:t>Announcements</a:t>
            </a:r>
            <a:br>
              <a:rPr lang="en-US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A4BC6-AA2E-D61B-D35B-B8BB13295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08" y="3579950"/>
            <a:ext cx="10954906" cy="28223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/>
              <a:t>Homework Clarification</a:t>
            </a:r>
            <a:r>
              <a:rPr lang="en-US" sz="4000" dirty="0"/>
              <a:t>: </a:t>
            </a:r>
          </a:p>
          <a:p>
            <a:r>
              <a:rPr lang="en-US" sz="4000" i="1" dirty="0"/>
              <a:t>Starting Module 2: Parsing</a:t>
            </a:r>
          </a:p>
          <a:p>
            <a:pPr lvl="1"/>
            <a:r>
              <a:rPr lang="en-US" sz="3600" i="1" dirty="0"/>
              <a:t>For Part 2</a:t>
            </a:r>
          </a:p>
          <a:p>
            <a:pPr lvl="2"/>
            <a:r>
              <a:rPr lang="en-US" sz="3200" i="1" dirty="0"/>
              <a:t>HNUM:  a hex number, like in C, should start with a 0x followed by digits which include a-f </a:t>
            </a:r>
          </a:p>
          <a:p>
            <a:pPr marL="914400" lvl="2" indent="0">
              <a:buNone/>
            </a:pPr>
            <a:r>
              <a:rPr lang="en-US" sz="3200" i="1" dirty="0"/>
              <a:t>  (case insensitive)</a:t>
            </a:r>
            <a:endParaRPr lang="en-US" sz="3200" dirty="0"/>
          </a:p>
          <a:p>
            <a:pPr marL="457200" lvl="1" indent="0">
              <a:buNone/>
            </a:pPr>
            <a:endParaRPr lang="en-US" sz="4000" i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AA101E-632F-E51A-EA4E-3D0D76E1053F}"/>
              </a:ext>
            </a:extLst>
          </p:cNvPr>
          <p:cNvSpPr txBox="1">
            <a:spLocks/>
          </p:cNvSpPr>
          <p:nvPr/>
        </p:nvSpPr>
        <p:spPr>
          <a:xfrm>
            <a:off x="654708" y="1538877"/>
            <a:ext cx="10954906" cy="1739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/>
              <a:t>Office Hours for me</a:t>
            </a:r>
            <a:r>
              <a:rPr lang="en-US" sz="4000" dirty="0"/>
              <a:t>: </a:t>
            </a:r>
          </a:p>
          <a:p>
            <a:r>
              <a:rPr lang="en-US" sz="4000" i="1" dirty="0"/>
              <a:t>Starting on Thursday,  please see calendar.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1089680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1600-F717-4901-5473-6B93D325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1A36-5759-2DC0-5FA4-EC51E041E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54" y="271514"/>
            <a:ext cx="10515600" cy="942244"/>
          </a:xfrm>
        </p:spPr>
        <p:txBody>
          <a:bodyPr>
            <a:normAutofit fontScale="90000"/>
          </a:bodyPr>
          <a:lstStyle/>
          <a:p>
            <a:r>
              <a:rPr lang="en-US" sz="7300" b="1" dirty="0"/>
              <a:t>Announcements</a:t>
            </a:r>
            <a:br>
              <a:rPr lang="en-US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ABA95-E6B2-5199-DD3A-7C71C41B4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554" y="1360715"/>
            <a:ext cx="10954906" cy="45843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000" b="1" dirty="0"/>
              <a:t>Homework Clarification</a:t>
            </a:r>
            <a:r>
              <a:rPr lang="en-US" sz="4000" dirty="0"/>
              <a:t>: </a:t>
            </a:r>
          </a:p>
          <a:p>
            <a:r>
              <a:rPr lang="en-US" sz="4000" i="1" dirty="0"/>
              <a:t>For Part 4: You should not hard code the RedEx, you should generate it given the list of tokens.</a:t>
            </a:r>
          </a:p>
          <a:p>
            <a:r>
              <a:rPr lang="en-US" sz="4000" i="1" dirty="0"/>
              <a:t>How we will grade:</a:t>
            </a:r>
          </a:p>
          <a:p>
            <a:pPr lvl="1"/>
            <a:r>
              <a:rPr lang="en-US" sz="3600" i="1" dirty="0"/>
              <a:t>Your </a:t>
            </a:r>
            <a:r>
              <a:rPr lang="en-US" sz="3600" i="1" dirty="0" err="1"/>
              <a:t>tiokens</a:t>
            </a:r>
            <a:r>
              <a:rPr lang="en-US" sz="3600" i="1" dirty="0"/>
              <a:t> will be graded using our solution scanner importing your tokens.</a:t>
            </a:r>
          </a:p>
          <a:p>
            <a:pPr lvl="1"/>
            <a:r>
              <a:rPr lang="en-US" sz="3600" i="1" dirty="0"/>
              <a:t>We will put in our own tokens to grade your SOS and NG scanners</a:t>
            </a:r>
          </a:p>
          <a:p>
            <a:pPr lvl="1"/>
            <a:r>
              <a:rPr lang="en-US" sz="3600" i="1" dirty="0"/>
              <a:t>You don’t need to reorder the tokens, you  can assume they are given to you in a good order.</a:t>
            </a:r>
          </a:p>
          <a:p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177795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4AF00-3672-3247-B5B1-6625C081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Finishing up scanner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3131580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6389-520F-1B42-9996-38A8FC71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Scanners we have discussed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AB06-306D-DE47-A12E-C77366BC6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47975"/>
          </a:xfrm>
        </p:spPr>
        <p:txBody>
          <a:bodyPr/>
          <a:lstStyle/>
          <a:p>
            <a:r>
              <a:rPr lang="en-US" i="1" dirty="0"/>
              <a:t>Naïve Scanner</a:t>
            </a:r>
          </a:p>
          <a:p>
            <a:endParaRPr lang="en-US" i="1" dirty="0"/>
          </a:p>
          <a:p>
            <a:r>
              <a:rPr lang="en-US" i="1" dirty="0"/>
              <a:t>RE based scanners</a:t>
            </a:r>
          </a:p>
          <a:p>
            <a:pPr lvl="1"/>
            <a:r>
              <a:rPr lang="en-US" dirty="0"/>
              <a:t>Exact match (EM) scanners</a:t>
            </a:r>
          </a:p>
          <a:p>
            <a:pPr lvl="1"/>
            <a:r>
              <a:rPr lang="en-US" dirty="0"/>
              <a:t>Start-of-string (SOS) scanners</a:t>
            </a:r>
          </a:p>
          <a:p>
            <a:pPr lvl="1"/>
            <a:r>
              <a:rPr lang="en-US" dirty="0"/>
              <a:t>named group (NG) scanners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5431E-54D7-1741-BE4B-FBA96DFB9AFE}"/>
              </a:ext>
            </a:extLst>
          </p:cNvPr>
          <p:cNvSpPr txBox="1"/>
          <p:nvPr/>
        </p:nvSpPr>
        <p:spPr>
          <a:xfrm>
            <a:off x="1227667" y="5427133"/>
            <a:ext cx="7177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Which one to use?</a:t>
            </a:r>
          </a:p>
          <a:p>
            <a:r>
              <a:rPr lang="en-US" i="1" dirty="0"/>
              <a:t>Complex decision with performance, expressivity, and token requirements </a:t>
            </a:r>
          </a:p>
        </p:txBody>
      </p:sp>
    </p:spTree>
    <p:extLst>
      <p:ext uri="{BB962C8B-B14F-4D97-AF65-F5344CB8AC3E}">
        <p14:creationId xmlns:p14="http://schemas.microsoft.com/office/powerpoint/2010/main" val="328014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3203D-3973-4E4A-996D-F90DFE7A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DC1A2-A181-754E-8A17-935013A84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scanner generators systems have SOS semantics</a:t>
            </a:r>
          </a:p>
          <a:p>
            <a:pPr lvl="1"/>
            <a:r>
              <a:rPr lang="en-US" dirty="0"/>
              <a:t>You can reason about tokens independently </a:t>
            </a:r>
          </a:p>
          <a:p>
            <a:pPr lvl="1"/>
            <a:r>
              <a:rPr lang="en-US" dirty="0"/>
              <a:t>Use fast ”match” implementations under the hood</a:t>
            </a:r>
          </a:p>
          <a:p>
            <a:pPr lvl="1"/>
            <a:endParaRPr lang="en-US" dirty="0"/>
          </a:p>
          <a:p>
            <a:r>
              <a:rPr lang="en-US" dirty="0"/>
              <a:t>Mainstream compilers:</a:t>
            </a:r>
          </a:p>
          <a:p>
            <a:pPr lvl="1"/>
            <a:r>
              <a:rPr lang="en-US" dirty="0"/>
              <a:t>have hand coded and hand optimized scanners</a:t>
            </a:r>
          </a:p>
          <a:p>
            <a:pPr lvl="1"/>
            <a:r>
              <a:rPr lang="en-US" dirty="0"/>
              <a:t>Very  fast</a:t>
            </a:r>
          </a:p>
          <a:p>
            <a:pPr lvl="1"/>
            <a:r>
              <a:rPr lang="en-US" dirty="0"/>
              <a:t>Hard to modify</a:t>
            </a:r>
          </a:p>
          <a:p>
            <a:pPr lvl="1"/>
            <a:r>
              <a:rPr lang="en-US" i="1" dirty="0"/>
              <a:t>Only worth it to do this if you have the need and time</a:t>
            </a:r>
          </a:p>
        </p:txBody>
      </p:sp>
    </p:spTree>
    <p:extLst>
      <p:ext uri="{BB962C8B-B14F-4D97-AF65-F5344CB8AC3E}">
        <p14:creationId xmlns:p14="http://schemas.microsoft.com/office/powerpoint/2010/main" val="74083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CDF9F-67E2-BA47-81FA-B9C1D1B7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2B261-E7B0-D14E-A321-A181704C8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 actions</a:t>
            </a:r>
          </a:p>
          <a:p>
            <a:pPr lvl="1"/>
            <a:r>
              <a:rPr lang="en-US" dirty="0"/>
              <a:t>Replacement</a:t>
            </a:r>
          </a:p>
          <a:p>
            <a:pPr lvl="1"/>
            <a:r>
              <a:rPr lang="en-US" dirty="0"/>
              <a:t>Keywords</a:t>
            </a:r>
          </a:p>
          <a:p>
            <a:pPr lvl="1"/>
            <a:r>
              <a:rPr lang="en-US" dirty="0"/>
              <a:t>Error reporting</a:t>
            </a:r>
          </a:p>
          <a:p>
            <a:pPr lvl="1"/>
            <a:endParaRPr lang="en-US" dirty="0"/>
          </a:p>
          <a:p>
            <a:r>
              <a:rPr lang="en-US" dirty="0"/>
              <a:t>Scanner error recovery</a:t>
            </a:r>
          </a:p>
        </p:txBody>
      </p:sp>
    </p:spTree>
    <p:extLst>
      <p:ext uri="{BB962C8B-B14F-4D97-AF65-F5344CB8AC3E}">
        <p14:creationId xmlns:p14="http://schemas.microsoft.com/office/powerpoint/2010/main" val="1630524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CDF9F-67E2-BA47-81FA-B9C1D1B7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2B261-E7B0-D14E-A321-A181704C8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Token actions</a:t>
            </a:r>
          </a:p>
          <a:p>
            <a:pPr lvl="1"/>
            <a:r>
              <a:rPr lang="en-US" dirty="0"/>
              <a:t>Replacement</a:t>
            </a:r>
          </a:p>
          <a:p>
            <a:pPr lvl="1"/>
            <a:r>
              <a:rPr lang="en-US" dirty="0"/>
              <a:t>Keywords</a:t>
            </a:r>
          </a:p>
          <a:p>
            <a:pPr lvl="1"/>
            <a:r>
              <a:rPr lang="en-US" dirty="0"/>
              <a:t>Error reporting</a:t>
            </a:r>
          </a:p>
          <a:p>
            <a:pPr lvl="1"/>
            <a:endParaRPr lang="en-US" dirty="0"/>
          </a:p>
          <a:p>
            <a:r>
              <a:rPr lang="en-US" dirty="0"/>
              <a:t>Scanner error recovery</a:t>
            </a:r>
          </a:p>
        </p:txBody>
      </p:sp>
    </p:spTree>
    <p:extLst>
      <p:ext uri="{BB962C8B-B14F-4D97-AF65-F5344CB8AC3E}">
        <p14:creationId xmlns:p14="http://schemas.microsoft.com/office/powerpoint/2010/main" val="4143829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4BE5C-8A6F-8240-90E7-7E933BCB4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1325563"/>
          </a:xfrm>
        </p:spPr>
        <p:txBody>
          <a:bodyPr/>
          <a:lstStyle/>
          <a:p>
            <a:r>
              <a:rPr lang="en-US" dirty="0"/>
              <a:t>First class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7FB22-8E25-F345-8868-C9B303DE8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724"/>
            <a:ext cx="10515600" cy="5211989"/>
          </a:xfrm>
        </p:spPr>
        <p:txBody>
          <a:bodyPr>
            <a:normAutofit fontScale="92500" lnSpcReduction="20000"/>
          </a:bodyPr>
          <a:lstStyle/>
          <a:p>
            <a:r>
              <a:rPr lang="en-US" sz="3600" dirty="0"/>
              <a:t>A programming language is said to have first class functions if functions can be stored as variables</a:t>
            </a:r>
          </a:p>
          <a:p>
            <a:endParaRPr lang="en-US" sz="3600" dirty="0"/>
          </a:p>
          <a:p>
            <a:r>
              <a:rPr lang="en-US" sz="3600" dirty="0"/>
              <a:t>Python has great support for this</a:t>
            </a:r>
          </a:p>
          <a:p>
            <a:endParaRPr lang="en-US" sz="3600" dirty="0"/>
          </a:p>
          <a:p>
            <a:r>
              <a:rPr lang="en-US" sz="3600" dirty="0"/>
              <a:t>Functional languages have great support (and compiler helps out by checking types in static languages)</a:t>
            </a:r>
          </a:p>
          <a:p>
            <a:endParaRPr lang="en-US" sz="3600" dirty="0"/>
          </a:p>
          <a:p>
            <a:r>
              <a:rPr lang="en-US" sz="3600" dirty="0"/>
              <a:t>In C++</a:t>
            </a:r>
          </a:p>
          <a:p>
            <a:pPr lvl="1"/>
            <a:r>
              <a:rPr lang="en-US" sz="3100" dirty="0"/>
              <a:t>Classically: function pointers</a:t>
            </a:r>
          </a:p>
          <a:p>
            <a:pPr lvl="1"/>
            <a:r>
              <a:rPr lang="en-US" sz="3100" dirty="0"/>
              <a:t>Newer: supports lambdas and improvements</a:t>
            </a:r>
          </a:p>
          <a:p>
            <a:pPr lvl="2"/>
            <a:r>
              <a:rPr lang="en-US" sz="2700" dirty="0"/>
              <a:t> (starting on C++11 (2011), C++14, C++17, C++20)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941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4BE5C-8A6F-8240-90E7-7E933BCB4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882"/>
            <a:ext cx="10515600" cy="1325563"/>
          </a:xfrm>
        </p:spPr>
        <p:txBody>
          <a:bodyPr/>
          <a:lstStyle/>
          <a:p>
            <a:r>
              <a:rPr lang="en-US" dirty="0"/>
              <a:t>      Functions as part of a token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7FB22-8E25-F345-8868-C9B303DE8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444"/>
            <a:ext cx="10515600" cy="5477555"/>
          </a:xfrm>
        </p:spPr>
        <p:txBody>
          <a:bodyPr>
            <a:normAutofit/>
          </a:bodyPr>
          <a:lstStyle/>
          <a:p>
            <a:r>
              <a:rPr lang="en-US" sz="3600" dirty="0"/>
              <a:t>In our scanners, we give them as the 3rd element in the token tuple definition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3600" dirty="0"/>
              <a:t>A token action takes in a lexeme and returns a lexeme. </a:t>
            </a:r>
          </a:p>
          <a:p>
            <a:pPr lvl="1"/>
            <a:r>
              <a:rPr lang="en-US" sz="3200" dirty="0"/>
              <a:t>Possibly the same lexeme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3600" dirty="0"/>
              <a:t>They generally do three things:</a:t>
            </a:r>
          </a:p>
          <a:p>
            <a:pPr lvl="1"/>
            <a:r>
              <a:rPr lang="en-US" sz="3200" dirty="0"/>
              <a:t>modify a value </a:t>
            </a:r>
          </a:p>
          <a:p>
            <a:pPr lvl="1"/>
            <a:r>
              <a:rPr lang="en-US" sz="3200" dirty="0"/>
              <a:t>refine a token </a:t>
            </a:r>
          </a:p>
          <a:p>
            <a:pPr lvl="1"/>
            <a:r>
              <a:rPr lang="en-US" sz="3200" dirty="0"/>
              <a:t>modify the scanner state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464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4BE5C-8A6F-8240-90E7-7E933BCB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Functions as part of a token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7FB22-8E25-F345-8868-C9B303DE8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4700" cy="4351338"/>
          </a:xfrm>
        </p:spPr>
        <p:txBody>
          <a:bodyPr>
            <a:normAutofit/>
          </a:bodyPr>
          <a:lstStyle/>
          <a:p>
            <a:r>
              <a:rPr lang="en-US" sz="3600" dirty="0"/>
              <a:t>Once a token is matched, its token action is called on its lexeme, </a:t>
            </a:r>
          </a:p>
          <a:p>
            <a:endParaRPr lang="en-US" sz="3600" dirty="0"/>
          </a:p>
          <a:p>
            <a:r>
              <a:rPr lang="en-US" sz="3600" dirty="0"/>
              <a:t>and the lexeme it returns is returned from the scanner,</a:t>
            </a:r>
          </a:p>
          <a:p>
            <a:endParaRPr lang="en-US" sz="3600" dirty="0"/>
          </a:p>
          <a:p>
            <a:r>
              <a:rPr lang="en-US" sz="3600" b="1" dirty="0"/>
              <a:t>Code example </a:t>
            </a:r>
            <a:r>
              <a:rPr lang="en-US" sz="3600" dirty="0"/>
              <a:t>in the EM (see code in homework 1)</a:t>
            </a:r>
            <a:endParaRPr lang="en-US" sz="3600" b="1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138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FDB5-6A29-8846-82E1-53D87AB1D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				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96801-3EE8-F544-B41F-AAB044B51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3686" cy="4351338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/>
              <a:t>Token actions generally do three things:</a:t>
            </a:r>
            <a:endParaRPr lang="en-US" sz="4400" dirty="0"/>
          </a:p>
          <a:p>
            <a:pPr lvl="1"/>
            <a:r>
              <a:rPr lang="en-US" sz="4800" b="1" dirty="0"/>
              <a:t>modify a value </a:t>
            </a:r>
          </a:p>
          <a:p>
            <a:pPr lvl="1"/>
            <a:r>
              <a:rPr lang="en-US" sz="4800" dirty="0"/>
              <a:t>refine a token </a:t>
            </a:r>
          </a:p>
          <a:p>
            <a:pPr lvl="1"/>
            <a:r>
              <a:rPr lang="en-US" sz="4800" dirty="0"/>
              <a:t>modify the scanner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676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F286-900E-CC40-9ED5-88B81BBE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 a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4C9B6-AE22-4E4F-BBAE-567BB8BE2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32908"/>
          </a:xfrm>
        </p:spPr>
        <p:txBody>
          <a:bodyPr/>
          <a:lstStyle/>
          <a:p>
            <a:r>
              <a:rPr lang="en-US" dirty="0"/>
              <a:t>Example using natural language</a:t>
            </a:r>
          </a:p>
        </p:txBody>
      </p:sp>
    </p:spTree>
    <p:extLst>
      <p:ext uri="{BB962C8B-B14F-4D97-AF65-F5344CB8AC3E}">
        <p14:creationId xmlns:p14="http://schemas.microsoft.com/office/powerpoint/2010/main" val="3294889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B62D-78EA-F547-9CA8-4CAA377A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 a value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E0EBAC-48FF-7746-8746-AF4922AD948E}"/>
              </a:ext>
            </a:extLst>
          </p:cNvPr>
          <p:cNvSpPr txBox="1">
            <a:spLocks/>
          </p:cNvSpPr>
          <p:nvPr/>
        </p:nvSpPr>
        <p:spPr>
          <a:xfrm>
            <a:off x="838200" y="1943813"/>
            <a:ext cx="10319951" cy="234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PRONOUN    =     {His, Her, Their}</a:t>
            </a:r>
          </a:p>
          <a:p>
            <a:r>
              <a:rPr lang="en-US" dirty="0">
                <a:solidFill>
                  <a:schemeClr val="accent5"/>
                </a:solidFill>
              </a:rPr>
              <a:t>NOUN            =    {Dog, Cat, Car, Park}</a:t>
            </a:r>
          </a:p>
          <a:p>
            <a:r>
              <a:rPr lang="en-US" dirty="0">
                <a:solidFill>
                  <a:schemeClr val="accent2"/>
                </a:solidFill>
              </a:rPr>
              <a:t>VERB              =    {Slept, Ate, Ran}</a:t>
            </a:r>
          </a:p>
          <a:p>
            <a:r>
              <a:rPr lang="en-US" dirty="0"/>
              <a:t>ADJECTIVE     =    {Purple, Spotted, Old}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29CDA-E251-6B4C-9B36-26FDCE1D7AF3}"/>
              </a:ext>
            </a:extLst>
          </p:cNvPr>
          <p:cNvSpPr txBox="1"/>
          <p:nvPr/>
        </p:nvSpPr>
        <p:spPr>
          <a:xfrm>
            <a:off x="1241658" y="4516657"/>
            <a:ext cx="82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BAEDA7-C7A1-9045-AD0B-60FFA3113174}"/>
              </a:ext>
            </a:extLst>
          </p:cNvPr>
          <p:cNvSpPr/>
          <p:nvPr/>
        </p:nvSpPr>
        <p:spPr>
          <a:xfrm>
            <a:off x="741145" y="1808876"/>
            <a:ext cx="216568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85B44-F4E9-844F-B5BB-65DEA47F8D9A}"/>
              </a:ext>
            </a:extLst>
          </p:cNvPr>
          <p:cNvSpPr/>
          <p:nvPr/>
        </p:nvSpPr>
        <p:spPr>
          <a:xfrm>
            <a:off x="3396114" y="1808876"/>
            <a:ext cx="420784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248E9-7178-E44A-A3DB-19C8162611C5}"/>
              </a:ext>
            </a:extLst>
          </p:cNvPr>
          <p:cNvSpPr txBox="1"/>
          <p:nvPr/>
        </p:nvSpPr>
        <p:spPr>
          <a:xfrm>
            <a:off x="4203687" y="4516657"/>
            <a:ext cx="1892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 Definitions</a:t>
            </a:r>
          </a:p>
        </p:txBody>
      </p:sp>
    </p:spTree>
    <p:extLst>
      <p:ext uri="{BB962C8B-B14F-4D97-AF65-F5344CB8AC3E}">
        <p14:creationId xmlns:p14="http://schemas.microsoft.com/office/powerpoint/2010/main" val="1369775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B62D-78EA-F547-9CA8-4CAA377A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 a value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E0EBAC-48FF-7746-8746-AF4922AD948E}"/>
              </a:ext>
            </a:extLst>
          </p:cNvPr>
          <p:cNvSpPr txBox="1">
            <a:spLocks/>
          </p:cNvSpPr>
          <p:nvPr/>
        </p:nvSpPr>
        <p:spPr>
          <a:xfrm>
            <a:off x="838200" y="1943813"/>
            <a:ext cx="10319951" cy="234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PRONOUN    =     {His, Her, Their}</a:t>
            </a:r>
          </a:p>
          <a:p>
            <a:r>
              <a:rPr lang="en-US" dirty="0">
                <a:solidFill>
                  <a:schemeClr val="accent5"/>
                </a:solidFill>
              </a:rPr>
              <a:t>NOUN            =    {Dog, Cat, Car, Park}</a:t>
            </a:r>
          </a:p>
          <a:p>
            <a:r>
              <a:rPr lang="en-US" dirty="0">
                <a:solidFill>
                  <a:schemeClr val="accent2"/>
                </a:solidFill>
              </a:rPr>
              <a:t>VERB              =    {Slept, Ate, Ran}</a:t>
            </a:r>
          </a:p>
          <a:p>
            <a:r>
              <a:rPr lang="en-US" dirty="0"/>
              <a:t>ADJECTIVE     =    {Purple, Spotted, Old}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29CDA-E251-6B4C-9B36-26FDCE1D7AF3}"/>
              </a:ext>
            </a:extLst>
          </p:cNvPr>
          <p:cNvSpPr txBox="1"/>
          <p:nvPr/>
        </p:nvSpPr>
        <p:spPr>
          <a:xfrm>
            <a:off x="1241658" y="4516657"/>
            <a:ext cx="82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BAEDA7-C7A1-9045-AD0B-60FFA3113174}"/>
              </a:ext>
            </a:extLst>
          </p:cNvPr>
          <p:cNvSpPr/>
          <p:nvPr/>
        </p:nvSpPr>
        <p:spPr>
          <a:xfrm>
            <a:off x="741145" y="1808876"/>
            <a:ext cx="216568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85B44-F4E9-844F-B5BB-65DEA47F8D9A}"/>
              </a:ext>
            </a:extLst>
          </p:cNvPr>
          <p:cNvSpPr/>
          <p:nvPr/>
        </p:nvSpPr>
        <p:spPr>
          <a:xfrm>
            <a:off x="3396114" y="1808876"/>
            <a:ext cx="420784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248E9-7178-E44A-A3DB-19C8162611C5}"/>
              </a:ext>
            </a:extLst>
          </p:cNvPr>
          <p:cNvSpPr txBox="1"/>
          <p:nvPr/>
        </p:nvSpPr>
        <p:spPr>
          <a:xfrm>
            <a:off x="4203687" y="4516657"/>
            <a:ext cx="1892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 Definitions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9C1691-8EDA-9966-2335-0CA8B65CFAB1}"/>
              </a:ext>
            </a:extLst>
          </p:cNvPr>
          <p:cNvSpPr txBox="1"/>
          <p:nvPr/>
        </p:nvSpPr>
        <p:spPr>
          <a:xfrm>
            <a:off x="7950973" y="2228671"/>
            <a:ext cx="4015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Example: </a:t>
            </a:r>
            <a:br>
              <a:rPr lang="en-US" sz="2400" dirty="0"/>
            </a:br>
            <a:r>
              <a:rPr lang="en-US" sz="2400" dirty="0"/>
              <a:t>Can change any pronoun value</a:t>
            </a:r>
          </a:p>
          <a:p>
            <a:r>
              <a:rPr lang="en-US" sz="2400" dirty="0"/>
              <a:t>to gender neutral (“Their”)</a:t>
            </a:r>
          </a:p>
          <a:p>
            <a:endParaRPr lang="en-US" sz="2400" dirty="0"/>
          </a:p>
          <a:p>
            <a:r>
              <a:rPr lang="en-US" sz="2400" dirty="0"/>
              <a:t>              (demo3b)</a:t>
            </a:r>
          </a:p>
        </p:txBody>
      </p:sp>
    </p:spTree>
    <p:extLst>
      <p:ext uri="{BB962C8B-B14F-4D97-AF65-F5344CB8AC3E}">
        <p14:creationId xmlns:p14="http://schemas.microsoft.com/office/powerpoint/2010/main" val="3815016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F286-900E-CC40-9ED5-88B81BBE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520" y="0"/>
            <a:ext cx="10515600" cy="1325563"/>
          </a:xfrm>
        </p:spPr>
        <p:txBody>
          <a:bodyPr/>
          <a:lstStyle/>
          <a:p>
            <a:r>
              <a:rPr lang="en-US" dirty="0"/>
              <a:t>                        Modify a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4C9B6-AE22-4E4F-BBAE-567BB8BE2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322050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300" dirty="0"/>
              <a:t>Example using types:</a:t>
            </a:r>
          </a:p>
          <a:p>
            <a:pPr marL="0" indent="0">
              <a:buNone/>
            </a:pPr>
            <a:endParaRPr lang="en-US" sz="4300" dirty="0"/>
          </a:p>
          <a:p>
            <a:pPr lvl="1"/>
            <a:r>
              <a:rPr lang="en-US" sz="3900" dirty="0"/>
              <a:t>Some ML frameworks experiment with lower precision, e.g., </a:t>
            </a:r>
            <a:r>
              <a:rPr lang="en-US" sz="3900" b="1" dirty="0">
                <a:latin typeface="Courier" pitchFamily="2" charset="0"/>
              </a:rPr>
              <a:t>float16</a:t>
            </a:r>
          </a:p>
          <a:p>
            <a:endParaRPr lang="en-US" sz="4300" b="1" dirty="0">
              <a:latin typeface="Courier" pitchFamily="2" charset="0"/>
            </a:endParaRPr>
          </a:p>
          <a:p>
            <a:pPr lvl="1"/>
            <a:r>
              <a:rPr lang="en-US" sz="3900" dirty="0"/>
              <a:t>Change code to use lower precision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2A7E7-0812-9F4A-B612-118E98135A2D}"/>
              </a:ext>
            </a:extLst>
          </p:cNvPr>
          <p:cNvSpPr txBox="1"/>
          <p:nvPr/>
        </p:nvSpPr>
        <p:spPr>
          <a:xfrm>
            <a:off x="708880" y="4840787"/>
            <a:ext cx="323518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ourier" pitchFamily="2" charset="0"/>
              </a:rPr>
              <a:t>float</a:t>
            </a:r>
            <a:r>
              <a:rPr lang="en-US" sz="3600" dirty="0">
                <a:latin typeface="Courier" pitchFamily="2" charset="0"/>
              </a:rPr>
              <a:t> x, y;</a:t>
            </a:r>
          </a:p>
          <a:p>
            <a:r>
              <a:rPr lang="en-US" sz="3600" b="1" dirty="0">
                <a:latin typeface="Courier" pitchFamily="2" charset="0"/>
              </a:rPr>
              <a:t>return</a:t>
            </a:r>
            <a:r>
              <a:rPr lang="en-US" sz="3600" dirty="0">
                <a:latin typeface="Courier" pitchFamily="2" charset="0"/>
              </a:rPr>
              <a:t> </a:t>
            </a:r>
            <a:r>
              <a:rPr lang="en-US" sz="3600" dirty="0" err="1">
                <a:latin typeface="Courier" pitchFamily="2" charset="0"/>
              </a:rPr>
              <a:t>x+y</a:t>
            </a:r>
            <a:r>
              <a:rPr lang="en-US" sz="3600" dirty="0">
                <a:latin typeface="Courier" pitchFamily="2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4F41A-6293-B54B-8A58-DB16A8A414C5}"/>
              </a:ext>
            </a:extLst>
          </p:cNvPr>
          <p:cNvSpPr txBox="1"/>
          <p:nvPr/>
        </p:nvSpPr>
        <p:spPr>
          <a:xfrm>
            <a:off x="7693300" y="4856072"/>
            <a:ext cx="378982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ourier" pitchFamily="2" charset="0"/>
              </a:rPr>
              <a:t>float16</a:t>
            </a:r>
            <a:r>
              <a:rPr lang="en-US" sz="3600" dirty="0">
                <a:latin typeface="Courier" pitchFamily="2" charset="0"/>
              </a:rPr>
              <a:t> x, y;</a:t>
            </a:r>
          </a:p>
          <a:p>
            <a:r>
              <a:rPr lang="en-US" sz="3600" b="1" dirty="0">
                <a:latin typeface="Courier" pitchFamily="2" charset="0"/>
              </a:rPr>
              <a:t>return</a:t>
            </a:r>
            <a:r>
              <a:rPr lang="en-US" sz="3600" dirty="0">
                <a:latin typeface="Courier" pitchFamily="2" charset="0"/>
              </a:rPr>
              <a:t> </a:t>
            </a:r>
            <a:r>
              <a:rPr lang="en-US" sz="3600" dirty="0" err="1">
                <a:latin typeface="Courier" pitchFamily="2" charset="0"/>
              </a:rPr>
              <a:t>x+y</a:t>
            </a:r>
            <a:r>
              <a:rPr lang="en-US" sz="3600" dirty="0">
                <a:latin typeface="Courier" pitchFamily="2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A0543-592A-D343-92C2-F5694A0EE976}"/>
              </a:ext>
            </a:extLst>
          </p:cNvPr>
          <p:cNvSpPr txBox="1"/>
          <p:nvPr/>
        </p:nvSpPr>
        <p:spPr>
          <a:xfrm>
            <a:off x="4498701" y="4624495"/>
            <a:ext cx="283943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Scanner can easily</a:t>
            </a:r>
            <a:br>
              <a:rPr lang="en-US" sz="2800" i="1" dirty="0"/>
            </a:br>
            <a:r>
              <a:rPr lang="en-US" sz="2800" i="1" dirty="0"/>
              <a:t>change float16 to </a:t>
            </a:r>
            <a:br>
              <a:rPr lang="en-US" sz="2800" i="1" dirty="0"/>
            </a:br>
            <a:r>
              <a:rPr lang="en-US" sz="2800" i="1" dirty="0"/>
              <a:t>float with a token</a:t>
            </a:r>
            <a:br>
              <a:rPr lang="en-US" sz="2800" i="1" dirty="0"/>
            </a:br>
            <a:r>
              <a:rPr lang="en-US" sz="2800" i="1" dirty="0"/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3934771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E447B-46CE-BAD1-4608-5CF893703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F6CC-4283-D289-96BE-E20B6BC6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				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D4858-627A-AB6E-220C-ECC4A0006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3686" cy="4351338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/>
              <a:t>Token actions generally do three things:</a:t>
            </a:r>
            <a:endParaRPr lang="en-US" sz="4400" dirty="0"/>
          </a:p>
          <a:p>
            <a:pPr lvl="1"/>
            <a:r>
              <a:rPr lang="en-US" sz="4800" dirty="0"/>
              <a:t>modify a value </a:t>
            </a:r>
          </a:p>
          <a:p>
            <a:pPr lvl="1"/>
            <a:r>
              <a:rPr lang="en-US" sz="4800" b="1" dirty="0"/>
              <a:t>refine a token </a:t>
            </a:r>
          </a:p>
          <a:p>
            <a:pPr lvl="1"/>
            <a:r>
              <a:rPr lang="en-US" sz="4800" dirty="0"/>
              <a:t>modify the scanner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54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34BC40-F43B-D542-9D91-68B6425CC4A2}"/>
              </a:ext>
            </a:extLst>
          </p:cNvPr>
          <p:cNvSpPr txBox="1"/>
          <p:nvPr/>
        </p:nvSpPr>
        <p:spPr>
          <a:xfrm>
            <a:off x="501852" y="2124039"/>
            <a:ext cx="6636753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u="sng" dirty="0">
                <a:latin typeface="Courier" pitchFamily="2" charset="0"/>
              </a:rPr>
              <a:t>TOKENS</a:t>
            </a:r>
          </a:p>
          <a:p>
            <a:r>
              <a:rPr lang="en-US" sz="2400" dirty="0">
                <a:latin typeface="Courier" pitchFamily="2" charset="0"/>
              </a:rPr>
              <a:t>ID     = [a-z]+</a:t>
            </a:r>
          </a:p>
          <a:p>
            <a:r>
              <a:rPr lang="en-US" sz="2400" dirty="0">
                <a:latin typeface="Courier" pitchFamily="2" charset="0"/>
              </a:rPr>
              <a:t>NUM    = [0-9]+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“, “\n”]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b="1" u="sng" dirty="0">
                <a:highlight>
                  <a:srgbClr val="FFFF00"/>
                </a:highlight>
                <a:latin typeface="Courier" pitchFamily="2" charset="0"/>
              </a:rPr>
              <a:t>KEYWORDS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[(</a:t>
            </a:r>
            <a:r>
              <a:rPr lang="en-US" sz="2400" dirty="0" err="1">
                <a:highlight>
                  <a:srgbClr val="FFFF00"/>
                </a:highlight>
                <a:latin typeface="Courier" pitchFamily="2" charset="0"/>
              </a:rPr>
              <a:t>INT,“int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”), (FLOAT, “float”) ...]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CCFF5-34C7-6203-A20C-E83E9EAFF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63" y="319394"/>
            <a:ext cx="8815110" cy="1325563"/>
          </a:xfrm>
        </p:spPr>
        <p:txBody>
          <a:bodyPr>
            <a:normAutofit/>
          </a:bodyPr>
          <a:lstStyle/>
          <a:p>
            <a:r>
              <a:rPr lang="en-US" sz="6000" b="1" dirty="0"/>
              <a:t>Keywords: Reserved Words </a:t>
            </a:r>
          </a:p>
        </p:txBody>
      </p:sp>
    </p:spTree>
    <p:extLst>
      <p:ext uri="{BB962C8B-B14F-4D97-AF65-F5344CB8AC3E}">
        <p14:creationId xmlns:p14="http://schemas.microsoft.com/office/powerpoint/2010/main" val="2095878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DDDEA-20AD-E3B8-C4DE-C46511D1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93AD7D-DC53-1CB8-5AC1-EAC9F18623D2}"/>
              </a:ext>
            </a:extLst>
          </p:cNvPr>
          <p:cNvSpPr txBox="1"/>
          <p:nvPr/>
        </p:nvSpPr>
        <p:spPr>
          <a:xfrm>
            <a:off x="501852" y="2124039"/>
            <a:ext cx="6636753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u="sng" dirty="0">
                <a:latin typeface="Courier" pitchFamily="2" charset="0"/>
              </a:rPr>
              <a:t>TOKENS</a:t>
            </a:r>
          </a:p>
          <a:p>
            <a:r>
              <a:rPr lang="en-US" sz="2400" b="1" u="sng" dirty="0">
                <a:latin typeface="Courier" pitchFamily="2" charset="0"/>
              </a:rPr>
              <a:t>INT    = “int”</a:t>
            </a:r>
          </a:p>
          <a:p>
            <a:r>
              <a:rPr lang="en-US" sz="2400" dirty="0">
                <a:latin typeface="Courier" pitchFamily="2" charset="0"/>
              </a:rPr>
              <a:t>ID     = [a-z]+</a:t>
            </a:r>
          </a:p>
          <a:p>
            <a:r>
              <a:rPr lang="en-US" sz="2400" dirty="0">
                <a:latin typeface="Courier" pitchFamily="2" charset="0"/>
              </a:rPr>
              <a:t>NUM    = [0-9]+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“, “\n”]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b="1" u="sng" dirty="0">
                <a:highlight>
                  <a:srgbClr val="FFFF00"/>
                </a:highlight>
                <a:latin typeface="Courier" pitchFamily="2" charset="0"/>
              </a:rPr>
              <a:t>KEYWORDS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[(</a:t>
            </a:r>
            <a:r>
              <a:rPr lang="en-US" sz="2400" dirty="0" err="1">
                <a:highlight>
                  <a:srgbClr val="FFFF00"/>
                </a:highlight>
                <a:latin typeface="Courier" pitchFamily="2" charset="0"/>
              </a:rPr>
              <a:t>INT,“int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”), (FLOAT, “float”) ...]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E01EC2-BB1F-694D-1507-8ABCA8D4E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63" y="319394"/>
            <a:ext cx="8815110" cy="1325563"/>
          </a:xfrm>
        </p:spPr>
        <p:txBody>
          <a:bodyPr>
            <a:normAutofit/>
          </a:bodyPr>
          <a:lstStyle/>
          <a:p>
            <a:r>
              <a:rPr lang="en-US" sz="6000" b="1" dirty="0"/>
              <a:t>Keywords: Reserved Words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4934FC-341E-DFEB-2D34-CB73F7068F6B}"/>
              </a:ext>
            </a:extLst>
          </p:cNvPr>
          <p:cNvSpPr txBox="1"/>
          <p:nvPr/>
        </p:nvSpPr>
        <p:spPr>
          <a:xfrm>
            <a:off x="7658100" y="2498271"/>
            <a:ext cx="35759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ABOUT  </a:t>
            </a:r>
          </a:p>
          <a:p>
            <a:r>
              <a:rPr lang="en-US" sz="3200" b="1" dirty="0"/>
              <a:t>THIS APPROACH?</a:t>
            </a:r>
          </a:p>
          <a:p>
            <a:endParaRPr lang="en-US" sz="3200" b="1" dirty="0"/>
          </a:p>
          <a:p>
            <a:r>
              <a:rPr lang="en-US" sz="3200" b="1" dirty="0"/>
              <a:t>Note: Modern C has about 44 keywords,</a:t>
            </a:r>
          </a:p>
          <a:p>
            <a:r>
              <a:rPr lang="en-US" sz="3200" b="1" dirty="0"/>
              <a:t>Modern C++ about 90 keywords.</a:t>
            </a:r>
          </a:p>
        </p:txBody>
      </p:sp>
    </p:spTree>
    <p:extLst>
      <p:ext uri="{BB962C8B-B14F-4D97-AF65-F5344CB8AC3E}">
        <p14:creationId xmlns:p14="http://schemas.microsoft.com/office/powerpoint/2010/main" val="1601045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DAE30-590F-6A13-954F-1CD2D807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4DF83F-64A4-1313-A7E7-4D9D9B5A2911}"/>
              </a:ext>
            </a:extLst>
          </p:cNvPr>
          <p:cNvSpPr txBox="1"/>
          <p:nvPr/>
        </p:nvSpPr>
        <p:spPr>
          <a:xfrm>
            <a:off x="501852" y="2124039"/>
            <a:ext cx="6636753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u="sng" dirty="0">
                <a:latin typeface="Courier" pitchFamily="2" charset="0"/>
              </a:rPr>
              <a:t>TOKENS</a:t>
            </a:r>
          </a:p>
          <a:p>
            <a:r>
              <a:rPr lang="en-US" sz="2400" dirty="0">
                <a:latin typeface="Courier" pitchFamily="2" charset="0"/>
              </a:rPr>
              <a:t>ID     = [a-z]+</a:t>
            </a:r>
          </a:p>
          <a:p>
            <a:r>
              <a:rPr lang="en-US" sz="2400" dirty="0">
                <a:latin typeface="Courier" pitchFamily="2" charset="0"/>
              </a:rPr>
              <a:t>NUM    = [0-9]+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“, “\n”]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b="1" u="sng" dirty="0">
                <a:highlight>
                  <a:srgbClr val="FFFF00"/>
                </a:highlight>
                <a:latin typeface="Courier" pitchFamily="2" charset="0"/>
              </a:rPr>
              <a:t>KEYWORDS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[(</a:t>
            </a:r>
            <a:r>
              <a:rPr lang="en-US" sz="2400" dirty="0" err="1">
                <a:highlight>
                  <a:srgbClr val="FFFF00"/>
                </a:highlight>
                <a:latin typeface="Courier" pitchFamily="2" charset="0"/>
              </a:rPr>
              <a:t>INT,“int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”), (FLOAT, “float”) ...]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171FA3-2865-E4E6-7C6E-041596AE9EC2}"/>
              </a:ext>
            </a:extLst>
          </p:cNvPr>
          <p:cNvSpPr txBox="1"/>
          <p:nvPr/>
        </p:nvSpPr>
        <p:spPr>
          <a:xfrm>
            <a:off x="7797800" y="3700733"/>
            <a:ext cx="26607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Code example using</a:t>
            </a:r>
          </a:p>
          <a:p>
            <a:r>
              <a:rPr lang="en-US" sz="2400" i="1" dirty="0"/>
              <a:t> EM Scanner</a:t>
            </a:r>
          </a:p>
          <a:p>
            <a:endParaRPr lang="en-US" sz="2400" i="1" dirty="0"/>
          </a:p>
          <a:p>
            <a:r>
              <a:rPr lang="en-US" sz="2400" i="1" dirty="0"/>
              <a:t>        (demo3c)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D0AED-10D5-A614-B30E-C2886AF03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63" y="319394"/>
            <a:ext cx="8815110" cy="1325563"/>
          </a:xfrm>
        </p:spPr>
        <p:txBody>
          <a:bodyPr>
            <a:normAutofit/>
          </a:bodyPr>
          <a:lstStyle/>
          <a:p>
            <a:r>
              <a:rPr lang="en-US" sz="6000" b="1" dirty="0"/>
              <a:t>Keywords: Reserved Words </a:t>
            </a:r>
          </a:p>
        </p:txBody>
      </p:sp>
    </p:spTree>
    <p:extLst>
      <p:ext uri="{BB962C8B-B14F-4D97-AF65-F5344CB8AC3E}">
        <p14:creationId xmlns:p14="http://schemas.microsoft.com/office/powerpoint/2010/main" val="2073743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641F2-063F-24BA-0024-D4BF491D7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7881D-2351-116D-396A-AD860DE6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				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64E86-3A54-FA3E-4AAE-5425E4B10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3686" cy="4351338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/>
              <a:t>Token actions generally do three things:</a:t>
            </a:r>
            <a:endParaRPr lang="en-US" sz="4400" dirty="0"/>
          </a:p>
          <a:p>
            <a:pPr lvl="1"/>
            <a:r>
              <a:rPr lang="en-US" sz="4800" dirty="0"/>
              <a:t>modify a value </a:t>
            </a:r>
          </a:p>
          <a:p>
            <a:pPr lvl="1"/>
            <a:r>
              <a:rPr lang="en-US" sz="4800" dirty="0"/>
              <a:t>refine a token </a:t>
            </a:r>
          </a:p>
          <a:p>
            <a:pPr lvl="1"/>
            <a:r>
              <a:rPr lang="en-US" sz="4800" b="1" dirty="0"/>
              <a:t>modify the scanner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121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CD9A-CA58-DC41-A171-0C742AD73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114" y="22225"/>
            <a:ext cx="3831771" cy="1325563"/>
          </a:xfrm>
        </p:spPr>
        <p:txBody>
          <a:bodyPr/>
          <a:lstStyle/>
          <a:p>
            <a:r>
              <a:rPr lang="en-US" b="1" dirty="0"/>
              <a:t>Modifying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C3FCB-93F9-7B43-8FBA-2311E3EDF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0942"/>
            <a:ext cx="10515600" cy="50888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dirty="0"/>
              <a:t>Our big use case here is error reporting:</a:t>
            </a:r>
          </a:p>
          <a:p>
            <a:pPr lvl="1"/>
            <a:r>
              <a:rPr lang="en-US" sz="3600" dirty="0"/>
              <a:t>Line number</a:t>
            </a:r>
          </a:p>
          <a:p>
            <a:pPr lvl="1"/>
            <a:r>
              <a:rPr lang="en-US" sz="3600" dirty="0"/>
              <a:t>Column number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Doesn’t work in our homework:</a:t>
            </a:r>
          </a:p>
          <a:p>
            <a:pPr lvl="1"/>
            <a:r>
              <a:rPr lang="en-US" sz="3600" dirty="0"/>
              <a:t>Our homework has scanners import tokens</a:t>
            </a:r>
          </a:p>
          <a:p>
            <a:pPr lvl="1"/>
            <a:r>
              <a:rPr lang="en-US" sz="3600" dirty="0"/>
              <a:t>More commonly you write tokens and import scanners</a:t>
            </a:r>
          </a:p>
          <a:p>
            <a:pPr marL="0" indent="0">
              <a:buNone/>
            </a:pPr>
            <a:endParaRPr lang="en-US" sz="4000" dirty="0"/>
          </a:p>
          <a:p>
            <a:pPr lvl="1"/>
            <a:r>
              <a:rPr lang="en-US" sz="3600" i="1" dirty="0"/>
              <a:t>Maybe some of you can think of a design where it does work in our homework</a:t>
            </a:r>
          </a:p>
        </p:txBody>
      </p:sp>
    </p:spTree>
    <p:extLst>
      <p:ext uri="{BB962C8B-B14F-4D97-AF65-F5344CB8AC3E}">
        <p14:creationId xmlns:p14="http://schemas.microsoft.com/office/powerpoint/2010/main" val="3451245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CD9A-CA58-DC41-A171-0C742AD73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7486" y="22225"/>
            <a:ext cx="4631871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Modifying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C3FCB-93F9-7B43-8FBA-2311E3EDF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In the common case, we can create a scanner and then update a class member in a token action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400" b="1" i="1" dirty="0"/>
              <a:t>EM Scanner example:</a:t>
            </a:r>
          </a:p>
        </p:txBody>
      </p:sp>
    </p:spTree>
    <p:extLst>
      <p:ext uri="{BB962C8B-B14F-4D97-AF65-F5344CB8AC3E}">
        <p14:creationId xmlns:p14="http://schemas.microsoft.com/office/powerpoint/2010/main" val="67043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CD9A-CA58-DC41-A171-0C742AD73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9372" y="0"/>
            <a:ext cx="4256314" cy="1325563"/>
          </a:xfrm>
        </p:spPr>
        <p:txBody>
          <a:bodyPr/>
          <a:lstStyle/>
          <a:p>
            <a:r>
              <a:rPr lang="en-US" b="1" dirty="0"/>
              <a:t>Advanced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C3FCB-93F9-7B43-8FBA-2311E3EDF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4526"/>
            <a:ext cx="10515600" cy="4869089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Recovering from errors (syntax highlighting)</a:t>
            </a:r>
          </a:p>
          <a:p>
            <a:pPr lvl="1"/>
            <a:r>
              <a:rPr lang="en-US" sz="3200" dirty="0"/>
              <a:t>Show clang example:</a:t>
            </a:r>
          </a:p>
          <a:p>
            <a:pPr lvl="1"/>
            <a:r>
              <a:rPr lang="en-US" sz="3200" dirty="0"/>
              <a:t>use the command line option: -</a:t>
            </a:r>
            <a:r>
              <a:rPr lang="en-US" sz="3200" dirty="0" err="1"/>
              <a:t>fsyntax</a:t>
            </a:r>
            <a:r>
              <a:rPr lang="en-US" sz="3200" dirty="0"/>
              <a:t>-only -</a:t>
            </a:r>
            <a:r>
              <a:rPr lang="en-US" sz="3200" dirty="0" err="1"/>
              <a:t>Xclang</a:t>
            </a:r>
            <a:r>
              <a:rPr lang="en-US" sz="3200" dirty="0"/>
              <a:t> -dump-tokens</a:t>
            </a:r>
          </a:p>
          <a:p>
            <a:pPr lvl="1"/>
            <a:r>
              <a:rPr lang="en-US" sz="3200" dirty="0"/>
              <a:t>try to tokenize weird symbols, such as `</a:t>
            </a:r>
          </a:p>
          <a:p>
            <a:endParaRPr lang="en-US" sz="3600" dirty="0"/>
          </a:p>
          <a:p>
            <a:r>
              <a:rPr lang="en-US" sz="3600" dirty="0"/>
              <a:t>return an error token and try to recover</a:t>
            </a:r>
          </a:p>
          <a:p>
            <a:pPr lvl="1"/>
            <a:r>
              <a:rPr lang="en-US" sz="3200" dirty="0"/>
              <a:t>eating one character</a:t>
            </a:r>
          </a:p>
          <a:p>
            <a:pPr lvl="1"/>
            <a:r>
              <a:rPr lang="en-US" sz="3200" dirty="0"/>
              <a:t>eating until a space</a:t>
            </a:r>
          </a:p>
          <a:p>
            <a:pPr lvl="1"/>
            <a:r>
              <a:rPr lang="en-US" sz="3200" dirty="0"/>
              <a:t>eating until a newline</a:t>
            </a:r>
          </a:p>
        </p:txBody>
      </p:sp>
    </p:spTree>
    <p:extLst>
      <p:ext uri="{BB962C8B-B14F-4D97-AF65-F5344CB8AC3E}">
        <p14:creationId xmlns:p14="http://schemas.microsoft.com/office/powerpoint/2010/main" val="3709813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CD9A-CA58-DC41-A171-0C742AD73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529" y="34584"/>
            <a:ext cx="3292929" cy="1325563"/>
          </a:xfrm>
        </p:spPr>
        <p:txBody>
          <a:bodyPr/>
          <a:lstStyle/>
          <a:p>
            <a:r>
              <a:rPr lang="en-US" b="1" dirty="0"/>
              <a:t>Next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C3FCB-93F9-7B43-8FBA-2311E3EDF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389628"/>
            <a:ext cx="10515600" cy="5288757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Using a scanner generator:</a:t>
            </a:r>
          </a:p>
          <a:p>
            <a:pPr lvl="1"/>
            <a:r>
              <a:rPr lang="en-US" sz="2800" dirty="0"/>
              <a:t>They have their own designs and it is important to understand trade-offs and design decisions</a:t>
            </a:r>
          </a:p>
          <a:p>
            <a:endParaRPr lang="en-US" sz="3200" dirty="0"/>
          </a:p>
          <a:p>
            <a:r>
              <a:rPr lang="en-US" sz="3200" dirty="0"/>
              <a:t>Classically: </a:t>
            </a:r>
          </a:p>
          <a:p>
            <a:pPr lvl="1"/>
            <a:r>
              <a:rPr lang="en-US" sz="2800" dirty="0"/>
              <a:t>Lex and Flex</a:t>
            </a:r>
          </a:p>
          <a:p>
            <a:pPr lvl="1"/>
            <a:endParaRPr lang="en-US" sz="2800" dirty="0"/>
          </a:p>
          <a:p>
            <a:r>
              <a:rPr lang="en-US" sz="3200" dirty="0"/>
              <a:t>Modern:</a:t>
            </a:r>
          </a:p>
          <a:p>
            <a:pPr lvl="1"/>
            <a:r>
              <a:rPr lang="en-US" sz="2800" dirty="0" err="1"/>
              <a:t>Antlr</a:t>
            </a:r>
            <a:r>
              <a:rPr lang="en-US" sz="2800" dirty="0"/>
              <a:t> (</a:t>
            </a:r>
            <a:r>
              <a:rPr lang="en-US" sz="2800" dirty="0" err="1"/>
              <a:t>ANother</a:t>
            </a:r>
            <a:r>
              <a:rPr lang="en-US" sz="2800" dirty="0"/>
              <a:t> Tool for Language Recognition)</a:t>
            </a:r>
          </a:p>
          <a:p>
            <a:pPr lvl="1"/>
            <a:endParaRPr lang="en-US" sz="2800" dirty="0"/>
          </a:p>
          <a:p>
            <a:r>
              <a:rPr lang="en-US" sz="3200" dirty="0"/>
              <a:t>A good in-between:</a:t>
            </a:r>
          </a:p>
          <a:p>
            <a:pPr lvl="1"/>
            <a:r>
              <a:rPr lang="en-US" sz="2800" dirty="0"/>
              <a:t>PLY - a Lex and </a:t>
            </a:r>
            <a:r>
              <a:rPr lang="en-US" sz="2800" dirty="0" err="1"/>
              <a:t>Yacc</a:t>
            </a:r>
            <a:r>
              <a:rPr lang="en-US" sz="2800" dirty="0"/>
              <a:t> implementation in Python</a:t>
            </a:r>
          </a:p>
        </p:txBody>
      </p:sp>
    </p:spTree>
    <p:extLst>
      <p:ext uri="{BB962C8B-B14F-4D97-AF65-F5344CB8AC3E}">
        <p14:creationId xmlns:p14="http://schemas.microsoft.com/office/powerpoint/2010/main" val="671532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CD9A-CA58-DC41-A171-0C742AD73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00" y="18255"/>
            <a:ext cx="2411186" cy="1325563"/>
          </a:xfrm>
        </p:spPr>
        <p:txBody>
          <a:bodyPr/>
          <a:lstStyle/>
          <a:p>
            <a:r>
              <a:rPr lang="en-US" b="1" dirty="0"/>
              <a:t>Lex/Flex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C3FCB-93F9-7B43-8FBA-2311E3EDF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585" y="1343817"/>
            <a:ext cx="10918371" cy="5073311"/>
          </a:xfrm>
        </p:spPr>
        <p:txBody>
          <a:bodyPr>
            <a:normAutofit/>
          </a:bodyPr>
          <a:lstStyle/>
          <a:p>
            <a:r>
              <a:rPr lang="en-US" sz="4000" dirty="0"/>
              <a:t>Old tools - input is a token specification file. Produces a complicated C file that you would include in your project</a:t>
            </a:r>
          </a:p>
          <a:p>
            <a:endParaRPr lang="en-US" sz="4000" dirty="0"/>
          </a:p>
          <a:p>
            <a:r>
              <a:rPr lang="en-US" sz="4000" dirty="0"/>
              <a:t>New language technology makes things a lot easier (higher order functions, fast RE matchers, etc.)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231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CD9A-CA58-DC41-A171-0C742AD73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1843" y="71211"/>
            <a:ext cx="1627414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C3FCB-93F9-7B43-8FBA-2311E3EDF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291"/>
            <a:ext cx="10515600" cy="5121501"/>
          </a:xfrm>
        </p:spPr>
        <p:txBody>
          <a:bodyPr>
            <a:normAutofit/>
          </a:bodyPr>
          <a:lstStyle/>
          <a:p>
            <a:r>
              <a:rPr lang="en-US" sz="4000" dirty="0"/>
              <a:t>written mostly for education purposes. Uses only core python features</a:t>
            </a:r>
          </a:p>
          <a:p>
            <a:endParaRPr lang="en-US" sz="4000" dirty="0"/>
          </a:p>
          <a:p>
            <a:r>
              <a:rPr lang="en-US" sz="4000" dirty="0"/>
              <a:t>Personally, I have used it many times for little compiler projects</a:t>
            </a:r>
          </a:p>
          <a:p>
            <a:endParaRPr lang="en-US" sz="4000" dirty="0"/>
          </a:p>
          <a:p>
            <a:r>
              <a:rPr lang="en-US" sz="4000" dirty="0"/>
              <a:t>Documented to be a python implementation of Lex, but uses a much nicer interface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216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F2887-3A79-BC45-BB75-3CDD1D309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057" y="2324554"/>
            <a:ext cx="77343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How to use PLY’s Scanner</a:t>
            </a:r>
          </a:p>
        </p:txBody>
      </p:sp>
    </p:spTree>
    <p:extLst>
      <p:ext uri="{BB962C8B-B14F-4D97-AF65-F5344CB8AC3E}">
        <p14:creationId xmlns:p14="http://schemas.microsoft.com/office/powerpoint/2010/main" val="709828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5743-DDBE-124F-8B43-C63548BA4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4470"/>
            <a:ext cx="3358243" cy="601392"/>
          </a:xfrm>
        </p:spPr>
        <p:txBody>
          <a:bodyPr>
            <a:normAutofit/>
          </a:bodyPr>
          <a:lstStyle/>
          <a:p>
            <a:r>
              <a:rPr lang="en-US" sz="3600" i="1" dirty="0"/>
              <a:t>Library import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AAC30E-F5EB-E546-B541-67242B155A47}"/>
              </a:ext>
            </a:extLst>
          </p:cNvPr>
          <p:cNvSpPr/>
          <p:nvPr/>
        </p:nvSpPr>
        <p:spPr>
          <a:xfrm>
            <a:off x="1484837" y="1803888"/>
            <a:ext cx="42628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ply.lex</a:t>
            </a:r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36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lex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74D6CF-DE25-504E-8221-56BEA492C38C}"/>
              </a:ext>
            </a:extLst>
          </p:cNvPr>
          <p:cNvSpPr txBox="1">
            <a:spLocks/>
          </p:cNvSpPr>
          <p:nvPr/>
        </p:nvSpPr>
        <p:spPr>
          <a:xfrm>
            <a:off x="838200" y="3680366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i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DF508D-7477-3548-981F-FC418D9E9439}"/>
              </a:ext>
            </a:extLst>
          </p:cNvPr>
          <p:cNvSpPr txBox="1">
            <a:spLocks/>
          </p:cNvSpPr>
          <p:nvPr/>
        </p:nvSpPr>
        <p:spPr>
          <a:xfrm>
            <a:off x="838200" y="2691092"/>
            <a:ext cx="10515600" cy="601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i="1" dirty="0"/>
              <a:t>Token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524C2-E2F1-5D47-9892-6263274AACB1}"/>
              </a:ext>
            </a:extLst>
          </p:cNvPr>
          <p:cNvSpPr/>
          <p:nvPr/>
        </p:nvSpPr>
        <p:spPr>
          <a:xfrm>
            <a:off x="1484838" y="3344114"/>
            <a:ext cx="94389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tokens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"ADJECTIVE"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"NOUN"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"VERB"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"ARTICLE"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 </a:t>
            </a:r>
            <a:endParaRPr lang="en-US" sz="32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4C2CB10-C06A-184A-83DF-56F1298E53EF}"/>
              </a:ext>
            </a:extLst>
          </p:cNvPr>
          <p:cNvSpPr txBox="1">
            <a:spLocks/>
          </p:cNvSpPr>
          <p:nvPr/>
        </p:nvSpPr>
        <p:spPr>
          <a:xfrm>
            <a:off x="833161" y="4103262"/>
            <a:ext cx="4158343" cy="601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i="1" dirty="0"/>
              <a:t>Token specification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C9598B-60CE-BA49-AAB5-EE7B8F72E39A}"/>
              </a:ext>
            </a:extLst>
          </p:cNvPr>
          <p:cNvSpPr/>
          <p:nvPr/>
        </p:nvSpPr>
        <p:spPr>
          <a:xfrm>
            <a:off x="1484837" y="4720761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 err="1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t_ADJECTIVE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8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old|purple|spotted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r>
              <a:rPr lang="en-US" sz="2800" dirty="0" err="1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t_NOUN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8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dog|computer|car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r>
              <a:rPr lang="en-US" sz="2800" dirty="0" err="1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t_ARTICLE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8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the|my|a|your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r>
              <a:rPr lang="en-US" sz="2800" dirty="0" err="1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t_VERB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8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ran|crashed|accelerated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372FCBA-2C0C-5D67-5CA3-6D2D97341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800" y="22225"/>
            <a:ext cx="40767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Scanner Demo</a:t>
            </a:r>
          </a:p>
        </p:txBody>
      </p:sp>
    </p:spTree>
    <p:extLst>
      <p:ext uri="{BB962C8B-B14F-4D97-AF65-F5344CB8AC3E}">
        <p14:creationId xmlns:p14="http://schemas.microsoft.com/office/powerpoint/2010/main" val="3120866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DF35A-C7AA-6E49-959D-4E0B6990A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800" y="22225"/>
            <a:ext cx="40767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Scanner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5743-DDBE-124F-8B43-C63548BA4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472" y="1347788"/>
            <a:ext cx="10515600" cy="975941"/>
          </a:xfrm>
        </p:spPr>
        <p:txBody>
          <a:bodyPr>
            <a:normAutofit/>
          </a:bodyPr>
          <a:lstStyle/>
          <a:p>
            <a:r>
              <a:rPr lang="en-US" sz="4400" i="1" dirty="0"/>
              <a:t>Build the </a:t>
            </a:r>
            <a:r>
              <a:rPr lang="en-US" sz="4400" i="1" dirty="0" err="1"/>
              <a:t>lexer</a:t>
            </a:r>
            <a:endParaRPr lang="en-US" sz="4400" i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74D6CF-DE25-504E-8221-56BEA492C38C}"/>
              </a:ext>
            </a:extLst>
          </p:cNvPr>
          <p:cNvSpPr txBox="1">
            <a:spLocks/>
          </p:cNvSpPr>
          <p:nvPr/>
        </p:nvSpPr>
        <p:spPr>
          <a:xfrm>
            <a:off x="1050472" y="3680366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4400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8D263-BEDB-894D-AD60-AD74113A01F4}"/>
              </a:ext>
            </a:extLst>
          </p:cNvPr>
          <p:cNvSpPr/>
          <p:nvPr/>
        </p:nvSpPr>
        <p:spPr>
          <a:xfrm>
            <a:off x="1661568" y="2126424"/>
            <a:ext cx="32929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err="1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lexer</a:t>
            </a:r>
            <a:r>
              <a:rPr lang="en-US" sz="4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4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lex.lex</a:t>
            </a:r>
            <a:r>
              <a:rPr lang="en-US" sz="4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1E087D-1A48-0F41-9856-1AC430353867}"/>
              </a:ext>
            </a:extLst>
          </p:cNvPr>
          <p:cNvSpPr txBox="1"/>
          <p:nvPr/>
        </p:nvSpPr>
        <p:spPr>
          <a:xfrm>
            <a:off x="5214718" y="2141661"/>
            <a:ext cx="3373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what happens?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7AA8FAA-9ADA-AC44-8487-804A2FCB4261}"/>
              </a:ext>
            </a:extLst>
          </p:cNvPr>
          <p:cNvSpPr txBox="1">
            <a:spLocks/>
          </p:cNvSpPr>
          <p:nvPr/>
        </p:nvSpPr>
        <p:spPr>
          <a:xfrm>
            <a:off x="1050472" y="3011905"/>
            <a:ext cx="10515600" cy="8041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i="1" dirty="0"/>
              <a:t>Need an error function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E0B486-FBB7-064C-95D8-D6A17AE02A4C}"/>
              </a:ext>
            </a:extLst>
          </p:cNvPr>
          <p:cNvSpPr/>
          <p:nvPr/>
        </p:nvSpPr>
        <p:spPr>
          <a:xfrm>
            <a:off x="1553171" y="3816024"/>
            <a:ext cx="693257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# Error handling rule</a:t>
            </a:r>
          </a:p>
          <a:p>
            <a:r>
              <a:rPr lang="en-US" sz="36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3600" b="1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t_error</a:t>
            </a:r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(t):</a:t>
            </a:r>
            <a:endParaRPr lang="en-US" sz="3600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36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3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"Illegal character '%s'"</a:t>
            </a:r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% </a:t>
            </a:r>
            <a:r>
              <a:rPr lang="en-US" sz="3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t.value</a:t>
            </a:r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[0])</a:t>
            </a:r>
            <a:endParaRPr lang="en-US" sz="3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3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exit</a:t>
            </a:r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2311991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5743-DDBE-124F-8B43-C63548BA4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5359"/>
            <a:ext cx="10515600" cy="975941"/>
          </a:xfrm>
        </p:spPr>
        <p:txBody>
          <a:bodyPr>
            <a:normAutofit/>
          </a:bodyPr>
          <a:lstStyle/>
          <a:p>
            <a:r>
              <a:rPr lang="en-US" sz="3600" i="1" dirty="0"/>
              <a:t>Now give the </a:t>
            </a:r>
            <a:r>
              <a:rPr lang="en-US" sz="3600" i="1" dirty="0" err="1"/>
              <a:t>lexer</a:t>
            </a:r>
            <a:r>
              <a:rPr lang="en-US" sz="3600" i="1" dirty="0"/>
              <a:t> some input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74D6CF-DE25-504E-8221-56BEA492C38C}"/>
              </a:ext>
            </a:extLst>
          </p:cNvPr>
          <p:cNvSpPr txBox="1">
            <a:spLocks/>
          </p:cNvSpPr>
          <p:nvPr/>
        </p:nvSpPr>
        <p:spPr>
          <a:xfrm>
            <a:off x="838200" y="3680366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i="1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7AA8FAA-9ADA-AC44-8487-804A2FCB4261}"/>
              </a:ext>
            </a:extLst>
          </p:cNvPr>
          <p:cNvSpPr txBox="1">
            <a:spLocks/>
          </p:cNvSpPr>
          <p:nvPr/>
        </p:nvSpPr>
        <p:spPr>
          <a:xfrm>
            <a:off x="838200" y="2794244"/>
            <a:ext cx="10515600" cy="784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i="1" dirty="0"/>
              <a:t>The </a:t>
            </a:r>
            <a:r>
              <a:rPr lang="en-US" sz="3200" i="1" dirty="0" err="1"/>
              <a:t>lexer</a:t>
            </a:r>
            <a:r>
              <a:rPr lang="en-US" sz="3200" i="1" dirty="0"/>
              <a:t> streams the input, we need to stream the tokens: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11EBB4-1E32-AA48-9583-6E5808320554}"/>
              </a:ext>
            </a:extLst>
          </p:cNvPr>
          <p:cNvSpPr/>
          <p:nvPr/>
        </p:nvSpPr>
        <p:spPr>
          <a:xfrm>
            <a:off x="2668371" y="2032105"/>
            <a:ext cx="4076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lexer.</a:t>
            </a:r>
            <a:r>
              <a:rPr lang="en-US" sz="3600" b="1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3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"dog"</a:t>
            </a:r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B30BB0-EA2D-BC49-BE1B-7B0C9FD4C02C}"/>
              </a:ext>
            </a:extLst>
          </p:cNvPr>
          <p:cNvSpPr/>
          <p:nvPr/>
        </p:nvSpPr>
        <p:spPr>
          <a:xfrm>
            <a:off x="2404843" y="3424434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# Tokenize</a:t>
            </a:r>
          </a:p>
          <a:p>
            <a:r>
              <a:rPr lang="en-US" sz="32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3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3200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3200" dirty="0" err="1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tok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lexer.token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32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32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tok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US" sz="32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3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# No more input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32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tok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FEAB94-8314-39DA-07DB-77E98214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800" y="22225"/>
            <a:ext cx="40767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Scanner Demo</a:t>
            </a:r>
          </a:p>
        </p:txBody>
      </p:sp>
    </p:spTree>
    <p:extLst>
      <p:ext uri="{BB962C8B-B14F-4D97-AF65-F5344CB8AC3E}">
        <p14:creationId xmlns:p14="http://schemas.microsoft.com/office/powerpoint/2010/main" val="1299659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5743-DDBE-124F-8B43-C63548BA4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060"/>
            <a:ext cx="10515600" cy="975941"/>
          </a:xfrm>
        </p:spPr>
        <p:txBody>
          <a:bodyPr>
            <a:normAutofit/>
          </a:bodyPr>
          <a:lstStyle/>
          <a:p>
            <a:r>
              <a:rPr lang="en-US" sz="4400" i="1" dirty="0"/>
              <a:t>output: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74D6CF-DE25-504E-8221-56BEA492C38C}"/>
              </a:ext>
            </a:extLst>
          </p:cNvPr>
          <p:cNvSpPr txBox="1">
            <a:spLocks/>
          </p:cNvSpPr>
          <p:nvPr/>
        </p:nvSpPr>
        <p:spPr>
          <a:xfrm>
            <a:off x="838200" y="3275801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44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11EBB4-1E32-AA48-9583-6E5808320554}"/>
              </a:ext>
            </a:extLst>
          </p:cNvPr>
          <p:cNvSpPr/>
          <p:nvPr/>
        </p:nvSpPr>
        <p:spPr>
          <a:xfrm>
            <a:off x="3278466" y="2132925"/>
            <a:ext cx="84946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err="1">
                <a:latin typeface="Courier" pitchFamily="2" charset="0"/>
              </a:rPr>
              <a:t>LexToken</a:t>
            </a:r>
            <a:r>
              <a:rPr lang="en-US" sz="4000" dirty="0">
                <a:latin typeface="Courier" pitchFamily="2" charset="0"/>
              </a:rPr>
              <a:t>(NOUN, 'dog’, 1, 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3FEE52-B4B7-D84B-BFD4-7ACE1570AC42}"/>
              </a:ext>
            </a:extLst>
          </p:cNvPr>
          <p:cNvSpPr txBox="1"/>
          <p:nvPr/>
        </p:nvSpPr>
        <p:spPr>
          <a:xfrm>
            <a:off x="6752482" y="1128673"/>
            <a:ext cx="4167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line number (1 indexed)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04015B-F727-3940-A90C-754BBE1BF3ED}"/>
              </a:ext>
            </a:extLst>
          </p:cNvPr>
          <p:cNvSpPr txBox="1"/>
          <p:nvPr/>
        </p:nvSpPr>
        <p:spPr>
          <a:xfrm>
            <a:off x="4158515" y="3014067"/>
            <a:ext cx="7761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number of characters streamed (0 indexed)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864134-E5C6-3C49-A36F-80906B843B8F}"/>
              </a:ext>
            </a:extLst>
          </p:cNvPr>
          <p:cNvCxnSpPr/>
          <p:nvPr/>
        </p:nvCxnSpPr>
        <p:spPr>
          <a:xfrm flipV="1">
            <a:off x="10185881" y="1776993"/>
            <a:ext cx="369651" cy="3879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B21F91-86C7-F245-8A81-8FB44486065E}"/>
              </a:ext>
            </a:extLst>
          </p:cNvPr>
          <p:cNvCxnSpPr>
            <a:cxnSpLocks/>
          </p:cNvCxnSpPr>
          <p:nvPr/>
        </p:nvCxnSpPr>
        <p:spPr>
          <a:xfrm flipH="1">
            <a:off x="8033230" y="2488859"/>
            <a:ext cx="1" cy="2852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35E3817-7529-C444-8387-1FDB6E3551AD}"/>
              </a:ext>
            </a:extLst>
          </p:cNvPr>
          <p:cNvSpPr txBox="1">
            <a:spLocks/>
          </p:cNvSpPr>
          <p:nvPr/>
        </p:nvSpPr>
        <p:spPr>
          <a:xfrm>
            <a:off x="838200" y="3869001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i="1" dirty="0"/>
              <a:t>try a longer string: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100CE-54BB-D146-94E2-E649D82AB517}"/>
              </a:ext>
            </a:extLst>
          </p:cNvPr>
          <p:cNvSpPr/>
          <p:nvPr/>
        </p:nvSpPr>
        <p:spPr>
          <a:xfrm>
            <a:off x="3396618" y="4566243"/>
            <a:ext cx="66420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lexer.</a:t>
            </a:r>
            <a:r>
              <a:rPr lang="en-US" sz="4400" b="1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en-US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4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"dog computer"</a:t>
            </a:r>
            <a:r>
              <a:rPr lang="en-US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44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43B01A-E940-914A-BAD2-71FD6E4717C3}"/>
              </a:ext>
            </a:extLst>
          </p:cNvPr>
          <p:cNvSpPr txBox="1"/>
          <p:nvPr/>
        </p:nvSpPr>
        <p:spPr>
          <a:xfrm>
            <a:off x="7152185" y="5540528"/>
            <a:ext cx="37861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What happens?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82861A9-7118-6541-DEDA-398CA4C81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800" y="22225"/>
            <a:ext cx="40767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Scanner Demo</a:t>
            </a:r>
          </a:p>
        </p:txBody>
      </p:sp>
    </p:spTree>
    <p:extLst>
      <p:ext uri="{BB962C8B-B14F-4D97-AF65-F5344CB8AC3E}">
        <p14:creationId xmlns:p14="http://schemas.microsoft.com/office/powerpoint/2010/main" val="928052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5743-DDBE-124F-8B43-C63548BA4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654"/>
            <a:ext cx="10515600" cy="975941"/>
          </a:xfrm>
        </p:spPr>
        <p:txBody>
          <a:bodyPr>
            <a:normAutofit/>
          </a:bodyPr>
          <a:lstStyle/>
          <a:p>
            <a:r>
              <a:rPr lang="en-US" sz="4000" i="1" dirty="0"/>
              <a:t>Need to add a token for whitespace!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74D6CF-DE25-504E-8221-56BEA492C38C}"/>
              </a:ext>
            </a:extLst>
          </p:cNvPr>
          <p:cNvSpPr txBox="1">
            <a:spLocks/>
          </p:cNvSpPr>
          <p:nvPr/>
        </p:nvSpPr>
        <p:spPr>
          <a:xfrm>
            <a:off x="838200" y="3192395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4000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F4F1C7-63EF-C14C-951D-A56AA84E9ADA}"/>
              </a:ext>
            </a:extLst>
          </p:cNvPr>
          <p:cNvSpPr/>
          <p:nvPr/>
        </p:nvSpPr>
        <p:spPr>
          <a:xfrm>
            <a:off x="838200" y="2313595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tokens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"ADJECTIVE"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"NOUN"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"VERB"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"ARTICLE"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"WHITESPACE"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  <a:endParaRPr lang="en-US" sz="28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A77C6C-A75A-C843-966F-8BFEBE91867C}"/>
              </a:ext>
            </a:extLst>
          </p:cNvPr>
          <p:cNvSpPr/>
          <p:nvPr/>
        </p:nvSpPr>
        <p:spPr>
          <a:xfrm>
            <a:off x="838200" y="3192395"/>
            <a:ext cx="3080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t_WHITESPACE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'\ '</a:t>
            </a:r>
            <a:endParaRPr lang="en-US" sz="2800" dirty="0">
              <a:solidFill>
                <a:srgbClr val="9FA0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EA4522-CBB5-EA4A-AFFE-30BE77FC3565}"/>
              </a:ext>
            </a:extLst>
          </p:cNvPr>
          <p:cNvSpPr txBox="1"/>
          <p:nvPr/>
        </p:nvSpPr>
        <p:spPr>
          <a:xfrm>
            <a:off x="914399" y="2746829"/>
            <a:ext cx="4587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...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3DD9EDD-B7C9-E241-B033-E38377C2F553}"/>
              </a:ext>
            </a:extLst>
          </p:cNvPr>
          <p:cNvSpPr txBox="1">
            <a:spLocks/>
          </p:cNvSpPr>
          <p:nvPr/>
        </p:nvSpPr>
        <p:spPr>
          <a:xfrm>
            <a:off x="838200" y="4013166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i="1" dirty="0"/>
              <a:t>Now we can lex: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AEF510-1745-9F4B-A1C2-A5093639DE6F}"/>
              </a:ext>
            </a:extLst>
          </p:cNvPr>
          <p:cNvSpPr/>
          <p:nvPr/>
        </p:nvSpPr>
        <p:spPr>
          <a:xfrm>
            <a:off x="914399" y="4886548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(NOUN,'dog',1,0)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(WHITESPACE,' ',1,3)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(NOUN,'computer',1,4)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F4BC8E-7A5D-63AB-04F2-5122DF0A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800" y="22225"/>
            <a:ext cx="40767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Scanner Demo</a:t>
            </a:r>
          </a:p>
        </p:txBody>
      </p:sp>
    </p:spTree>
    <p:extLst>
      <p:ext uri="{BB962C8B-B14F-4D97-AF65-F5344CB8AC3E}">
        <p14:creationId xmlns:p14="http://schemas.microsoft.com/office/powerpoint/2010/main" val="36234054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5743-DDBE-124F-8B43-C63548BA4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396"/>
            <a:ext cx="10515600" cy="975941"/>
          </a:xfrm>
        </p:spPr>
        <p:txBody>
          <a:bodyPr>
            <a:normAutofit/>
          </a:bodyPr>
          <a:lstStyle/>
          <a:p>
            <a:r>
              <a:rPr lang="en-US" sz="4000" i="1" dirty="0"/>
              <a:t>Now we can do a sentence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74D6CF-DE25-504E-8221-56BEA492C38C}"/>
              </a:ext>
            </a:extLst>
          </p:cNvPr>
          <p:cNvSpPr txBox="1">
            <a:spLocks/>
          </p:cNvSpPr>
          <p:nvPr/>
        </p:nvSpPr>
        <p:spPr>
          <a:xfrm>
            <a:off x="838200" y="3321137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40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81D126-92D8-4A44-9777-C577A2E1DCDA}"/>
              </a:ext>
            </a:extLst>
          </p:cNvPr>
          <p:cNvSpPr/>
          <p:nvPr/>
        </p:nvSpPr>
        <p:spPr>
          <a:xfrm>
            <a:off x="838200" y="2424697"/>
            <a:ext cx="50703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lexer.</a:t>
            </a:r>
            <a:r>
              <a:rPr lang="en-US" sz="2800" b="1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"my spotted dog ran"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28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1E05E0-0533-8F48-975E-E0DE66095E54}"/>
              </a:ext>
            </a:extLst>
          </p:cNvPr>
          <p:cNvSpPr/>
          <p:nvPr/>
        </p:nvSpPr>
        <p:spPr>
          <a:xfrm>
            <a:off x="838200" y="3303680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(ARTICLE,'my',1,0)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(WHITESPACE,' ',1,2)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(ADJECTIVE,'spotted',1,3)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(WHITESPACE,' ',1,10)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(NOUN,'dog',1,11)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(WHITESPACE,' ',1,14)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(VERB,'ran',1,15)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65930F-B205-2646-B2C9-91BCF695A5D9}"/>
              </a:ext>
            </a:extLst>
          </p:cNvPr>
          <p:cNvSpPr txBox="1"/>
          <p:nvPr/>
        </p:nvSpPr>
        <p:spPr>
          <a:xfrm>
            <a:off x="7276289" y="5282814"/>
            <a:ext cx="3344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Can we clean this up?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E26506-6B77-095C-CE30-73103F1A7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800" y="22225"/>
            <a:ext cx="40767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Scanner Demo</a:t>
            </a:r>
          </a:p>
        </p:txBody>
      </p:sp>
    </p:spTree>
    <p:extLst>
      <p:ext uri="{BB962C8B-B14F-4D97-AF65-F5344CB8AC3E}">
        <p14:creationId xmlns:p14="http://schemas.microsoft.com/office/powerpoint/2010/main" val="2810000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5743-DDBE-124F-8B43-C63548BA4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654"/>
            <a:ext cx="10515600" cy="975941"/>
          </a:xfrm>
        </p:spPr>
        <p:txBody>
          <a:bodyPr>
            <a:normAutofit/>
          </a:bodyPr>
          <a:lstStyle/>
          <a:p>
            <a:r>
              <a:rPr lang="en-US" sz="4000" i="1" dirty="0"/>
              <a:t>We can ignore whitespace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74D6CF-DE25-504E-8221-56BEA492C38C}"/>
              </a:ext>
            </a:extLst>
          </p:cNvPr>
          <p:cNvSpPr txBox="1">
            <a:spLocks/>
          </p:cNvSpPr>
          <p:nvPr/>
        </p:nvSpPr>
        <p:spPr>
          <a:xfrm>
            <a:off x="838200" y="3192395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4000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7830C0-336C-B74D-8573-286A7572A6F5}"/>
              </a:ext>
            </a:extLst>
          </p:cNvPr>
          <p:cNvSpPr/>
          <p:nvPr/>
        </p:nvSpPr>
        <p:spPr>
          <a:xfrm>
            <a:off x="838200" y="2007886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en-US" sz="28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t_WHITESPACE</a:t>
            </a:r>
            <a:r>
              <a:rPr lang="en-US" sz="2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= '\</a:t>
            </a:r>
          </a:p>
          <a:p>
            <a:r>
              <a:rPr lang="en-US" sz="2800" dirty="0" err="1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t_ignore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' '</a:t>
            </a:r>
            <a:endParaRPr lang="en-US" sz="2800" dirty="0">
              <a:solidFill>
                <a:srgbClr val="9FA0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210A8-0D26-A24C-A7AB-1AEEAF856602}"/>
              </a:ext>
            </a:extLst>
          </p:cNvPr>
          <p:cNvSpPr/>
          <p:nvPr/>
        </p:nvSpPr>
        <p:spPr>
          <a:xfrm>
            <a:off x="6760955" y="3588049"/>
            <a:ext cx="500650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(ARTICLE,'my',1,0)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(ADJECTIVE,'spotted',1,3)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(NOUN,'dog',1,11)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(VERB,'ran',1,15)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D29DD1-9F21-1D49-B598-9A978E7AF0AE}"/>
              </a:ext>
            </a:extLst>
          </p:cNvPr>
          <p:cNvSpPr/>
          <p:nvPr/>
        </p:nvSpPr>
        <p:spPr>
          <a:xfrm>
            <a:off x="838200" y="3269951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(ARTICLE,'my',1,0)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(WHITESPACE,' ',1,2)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(ADJECTIVE,'spotted',1,3)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(WHITESPACE,' ',1,10)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(NOUN,'dog',1,11)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(WHITESPACE,' ',1,14)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(VERB,'ran',1,15)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FD3761-CDBD-C743-A48A-446BE3BC6F16}"/>
              </a:ext>
            </a:extLst>
          </p:cNvPr>
          <p:cNvSpPr txBox="1"/>
          <p:nvPr/>
        </p:nvSpPr>
        <p:spPr>
          <a:xfrm>
            <a:off x="6096000" y="2884421"/>
            <a:ext cx="2757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gets simplified to: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279825C-E745-B00D-FFE7-B85B00916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800" y="22225"/>
            <a:ext cx="40767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Scanner Demo</a:t>
            </a:r>
          </a:p>
        </p:txBody>
      </p:sp>
    </p:spTree>
    <p:extLst>
      <p:ext uri="{BB962C8B-B14F-4D97-AF65-F5344CB8AC3E}">
        <p14:creationId xmlns:p14="http://schemas.microsoft.com/office/powerpoint/2010/main" val="34659279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5743-DDBE-124F-8B43-C63548BA4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148"/>
            <a:ext cx="10515600" cy="975941"/>
          </a:xfrm>
        </p:spPr>
        <p:txBody>
          <a:bodyPr>
            <a:normAutofit/>
          </a:bodyPr>
          <a:lstStyle/>
          <a:p>
            <a:r>
              <a:rPr lang="en-US" sz="4400" i="1" dirty="0"/>
              <a:t>What about newlines?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74D6CF-DE25-504E-8221-56BEA492C38C}"/>
              </a:ext>
            </a:extLst>
          </p:cNvPr>
          <p:cNvSpPr txBox="1">
            <a:spLocks/>
          </p:cNvSpPr>
          <p:nvPr/>
        </p:nvSpPr>
        <p:spPr>
          <a:xfrm>
            <a:off x="838200" y="3680366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44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FE4231-F503-C146-8587-BE0D63D1A9AC}"/>
              </a:ext>
            </a:extLst>
          </p:cNvPr>
          <p:cNvSpPr/>
          <p:nvPr/>
        </p:nvSpPr>
        <p:spPr>
          <a:xfrm>
            <a:off x="1328057" y="2560967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lexer.</a:t>
            </a:r>
            <a:r>
              <a:rPr lang="en-US" sz="3600" b="1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3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"""                           </a:t>
            </a:r>
          </a:p>
          <a:p>
            <a:r>
              <a:rPr lang="en-US" sz="3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my spotted dog ran</a:t>
            </a:r>
          </a:p>
          <a:p>
            <a:r>
              <a:rPr lang="en-US" sz="3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the old computer crashed  </a:t>
            </a:r>
          </a:p>
          <a:p>
            <a:r>
              <a:rPr lang="en-US" sz="3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"""</a:t>
            </a:r>
            <a:r>
              <a:rPr lang="en-US" sz="3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3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34784E3-DD9E-B549-81F0-E4064AAC544D}"/>
              </a:ext>
            </a:extLst>
          </p:cNvPr>
          <p:cNvSpPr txBox="1">
            <a:spLocks/>
          </p:cNvSpPr>
          <p:nvPr/>
        </p:nvSpPr>
        <p:spPr>
          <a:xfrm>
            <a:off x="838200" y="5407613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i="1" dirty="0"/>
              <a:t>Need to add a newline token!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5E32D6C-B28A-8073-A1D0-7469FAD1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800" y="22225"/>
            <a:ext cx="40767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Scanner Demo</a:t>
            </a:r>
          </a:p>
        </p:txBody>
      </p:sp>
    </p:spTree>
    <p:extLst>
      <p:ext uri="{BB962C8B-B14F-4D97-AF65-F5344CB8AC3E}">
        <p14:creationId xmlns:p14="http://schemas.microsoft.com/office/powerpoint/2010/main" val="21929315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5743-DDBE-124F-8B43-C63548BA4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558"/>
            <a:ext cx="10515600" cy="975941"/>
          </a:xfrm>
        </p:spPr>
        <p:txBody>
          <a:bodyPr>
            <a:normAutofit/>
          </a:bodyPr>
          <a:lstStyle/>
          <a:p>
            <a:r>
              <a:rPr lang="en-US" sz="4000" i="1" dirty="0"/>
              <a:t>What about newlines?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74D6CF-DE25-504E-8221-56BEA492C38C}"/>
              </a:ext>
            </a:extLst>
          </p:cNvPr>
          <p:cNvSpPr txBox="1">
            <a:spLocks/>
          </p:cNvSpPr>
          <p:nvPr/>
        </p:nvSpPr>
        <p:spPr>
          <a:xfrm>
            <a:off x="838200" y="3680366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40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FE4231-F503-C146-8587-BE0D63D1A9AC}"/>
              </a:ext>
            </a:extLst>
          </p:cNvPr>
          <p:cNvSpPr/>
          <p:nvPr/>
        </p:nvSpPr>
        <p:spPr>
          <a:xfrm>
            <a:off x="1115786" y="2262611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lexer.</a:t>
            </a:r>
            <a:r>
              <a:rPr lang="en-US" sz="3200" b="1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"""                           </a:t>
            </a:r>
          </a:p>
          <a:p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my spotted dog ran</a:t>
            </a:r>
          </a:p>
          <a:p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the old computer crashed  </a:t>
            </a:r>
          </a:p>
          <a:p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"""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32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34784E3-DD9E-B549-81F0-E4064AAC544D}"/>
              </a:ext>
            </a:extLst>
          </p:cNvPr>
          <p:cNvSpPr txBox="1">
            <a:spLocks/>
          </p:cNvSpPr>
          <p:nvPr/>
        </p:nvSpPr>
        <p:spPr>
          <a:xfrm>
            <a:off x="963039" y="4473501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i="1" dirty="0"/>
              <a:t>Need to add a newline token!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1CA5F2-9BA7-7140-8F11-874A5C628338}"/>
              </a:ext>
            </a:extLst>
          </p:cNvPr>
          <p:cNvSpPr/>
          <p:nvPr/>
        </p:nvSpPr>
        <p:spPr>
          <a:xfrm>
            <a:off x="1306632" y="5288470"/>
            <a:ext cx="100471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tokens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"ADJECTIVE"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"NOUN"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"VERB"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"ARTICLE"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"NEWLINE"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r>
              <a:rPr lang="en-US" sz="2800" dirty="0" err="1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t_NEWLINE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"\\n"</a:t>
            </a:r>
            <a:endParaRPr lang="en-US" sz="2800" dirty="0">
              <a:solidFill>
                <a:srgbClr val="9FA0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05154D4-9CA5-5055-5C96-3C47B185D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800" y="22225"/>
            <a:ext cx="40767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Scanner Demo</a:t>
            </a:r>
          </a:p>
        </p:txBody>
      </p:sp>
    </p:spTree>
    <p:extLst>
      <p:ext uri="{BB962C8B-B14F-4D97-AF65-F5344CB8AC3E}">
        <p14:creationId xmlns:p14="http://schemas.microsoft.com/office/powerpoint/2010/main" val="2308032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74D6CF-DE25-504E-8221-56BEA492C38C}"/>
              </a:ext>
            </a:extLst>
          </p:cNvPr>
          <p:cNvSpPr txBox="1">
            <a:spLocks/>
          </p:cNvSpPr>
          <p:nvPr/>
        </p:nvSpPr>
        <p:spPr>
          <a:xfrm>
            <a:off x="838200" y="3680366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4000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8E3651-72E0-3A45-9D6C-43B2EC369887}"/>
              </a:ext>
            </a:extLst>
          </p:cNvPr>
          <p:cNvSpPr/>
          <p:nvPr/>
        </p:nvSpPr>
        <p:spPr>
          <a:xfrm>
            <a:off x="838200" y="1690688"/>
            <a:ext cx="63627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(NEWLINE,'\n',1,0)</a:t>
            </a:r>
          </a:p>
          <a:p>
            <a:r>
              <a:rPr lang="en-US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(ARTICLE,'my',1,1)</a:t>
            </a:r>
          </a:p>
          <a:p>
            <a:r>
              <a:rPr lang="en-US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(ADJECTIVE,'spotted',1,4)</a:t>
            </a:r>
          </a:p>
          <a:p>
            <a:r>
              <a:rPr lang="en-US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(NOUN,'dog',1,12)</a:t>
            </a:r>
          </a:p>
          <a:p>
            <a:r>
              <a:rPr lang="en-US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(VERB,'ran',1,16)</a:t>
            </a:r>
          </a:p>
          <a:p>
            <a:r>
              <a:rPr lang="en-US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(NEWLINE,'\n',1,19)</a:t>
            </a:r>
          </a:p>
          <a:p>
            <a:r>
              <a:rPr lang="en-US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LexToken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(ARTICLE,'the',1,20)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803514-11BC-1E4D-A325-B1397DEBE66F}"/>
              </a:ext>
            </a:extLst>
          </p:cNvPr>
          <p:cNvSpPr txBox="1"/>
          <p:nvPr/>
        </p:nvSpPr>
        <p:spPr>
          <a:xfrm>
            <a:off x="838200" y="5707561"/>
            <a:ext cx="46474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Line numbers are not updating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9C6AAE3-7206-7741-7093-1F6BC8BC1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800" y="22225"/>
            <a:ext cx="40767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Scanner Demo</a:t>
            </a:r>
          </a:p>
        </p:txBody>
      </p:sp>
    </p:spTree>
    <p:extLst>
      <p:ext uri="{BB962C8B-B14F-4D97-AF65-F5344CB8AC3E}">
        <p14:creationId xmlns:p14="http://schemas.microsoft.com/office/powerpoint/2010/main" val="15737136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74D6CF-DE25-504E-8221-56BEA492C38C}"/>
              </a:ext>
            </a:extLst>
          </p:cNvPr>
          <p:cNvSpPr txBox="1">
            <a:spLocks/>
          </p:cNvSpPr>
          <p:nvPr/>
        </p:nvSpPr>
        <p:spPr>
          <a:xfrm>
            <a:off x="838200" y="3680366"/>
            <a:ext cx="10515600" cy="975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4400" i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760E6D-4937-DA43-881D-DD8AE6B7A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1203416"/>
            <a:ext cx="10515600" cy="975941"/>
          </a:xfrm>
        </p:spPr>
        <p:txBody>
          <a:bodyPr>
            <a:normAutofit/>
          </a:bodyPr>
          <a:lstStyle/>
          <a:p>
            <a:r>
              <a:rPr lang="en-US" sz="4400" i="1" dirty="0"/>
              <a:t>Token actions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19E5D6-4263-8C45-BD5A-F7A0C5F3B8BF}"/>
              </a:ext>
            </a:extLst>
          </p:cNvPr>
          <p:cNvSpPr/>
          <p:nvPr/>
        </p:nvSpPr>
        <p:spPr>
          <a:xfrm>
            <a:off x="914401" y="3868895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3200" b="1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t_NEWLINE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(t):</a:t>
            </a:r>
            <a:endParaRPr lang="en-US" sz="3200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"\\n"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3200" dirty="0" err="1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t.lexer.lineno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+= 1</a:t>
            </a:r>
            <a:endParaRPr lang="en-US" sz="3200" dirty="0">
              <a:solidFill>
                <a:srgbClr val="9FA0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32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</a:t>
            </a:r>
            <a:endParaRPr lang="en-US" sz="3200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39D64-86C4-A34C-BB92-C9A10393A1AD}"/>
              </a:ext>
            </a:extLst>
          </p:cNvPr>
          <p:cNvSpPr/>
          <p:nvPr/>
        </p:nvSpPr>
        <p:spPr>
          <a:xfrm>
            <a:off x="914401" y="2204615"/>
            <a:ext cx="33554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err="1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t_NEWLINE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"\\n"</a:t>
            </a:r>
            <a:endParaRPr lang="en-US" sz="3200" dirty="0">
              <a:solidFill>
                <a:srgbClr val="9FA0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B5F755-4962-1949-A8BC-36E25A6D10FE}"/>
              </a:ext>
            </a:extLst>
          </p:cNvPr>
          <p:cNvSpPr txBox="1"/>
          <p:nvPr/>
        </p:nvSpPr>
        <p:spPr>
          <a:xfrm>
            <a:off x="914401" y="2988351"/>
            <a:ext cx="24497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Changes into: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9DC92C-F6AA-2B47-9ADD-C65CC516CE80}"/>
              </a:ext>
            </a:extLst>
          </p:cNvPr>
          <p:cNvSpPr txBox="1"/>
          <p:nvPr/>
        </p:nvSpPr>
        <p:spPr>
          <a:xfrm>
            <a:off x="6433676" y="2564980"/>
            <a:ext cx="571013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docstring is the regex, </a:t>
            </a:r>
            <a:r>
              <a:rPr lang="en-US" sz="3200" dirty="0" err="1"/>
              <a:t>lexer</a:t>
            </a:r>
            <a:r>
              <a:rPr lang="en-US" sz="3200" dirty="0"/>
              <a:t> object which has a </a:t>
            </a:r>
            <a:r>
              <a:rPr lang="en-US" sz="3200" dirty="0" err="1"/>
              <a:t>linenumber</a:t>
            </a:r>
            <a:br>
              <a:rPr lang="en-US" sz="3200" dirty="0"/>
            </a:br>
            <a:r>
              <a:rPr lang="en-US" sz="3200" dirty="0"/>
              <a:t>attribute.</a:t>
            </a:r>
          </a:p>
          <a:p>
            <a:endParaRPr lang="en-US" sz="3200" dirty="0"/>
          </a:p>
          <a:p>
            <a:r>
              <a:rPr lang="en-US" sz="3200" dirty="0"/>
              <a:t>If we don’t return anything, then it is ignored.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0C498A1-78D7-3563-3379-5D076B383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800" y="22225"/>
            <a:ext cx="40767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Scanner Demo</a:t>
            </a:r>
          </a:p>
        </p:txBody>
      </p:sp>
    </p:spTree>
    <p:extLst>
      <p:ext uri="{BB962C8B-B14F-4D97-AF65-F5344CB8AC3E}">
        <p14:creationId xmlns:p14="http://schemas.microsoft.com/office/powerpoint/2010/main" val="10886829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760E6D-4937-DA43-881D-DD8AE6B7A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433" y="1312240"/>
            <a:ext cx="10515600" cy="975941"/>
          </a:xfrm>
        </p:spPr>
        <p:txBody>
          <a:bodyPr>
            <a:noAutofit/>
          </a:bodyPr>
          <a:lstStyle/>
          <a:p>
            <a:r>
              <a:rPr lang="en-US" sz="4000" i="1" dirty="0"/>
              <a:t>Example: changing gendered pronouns into gender neutral pronouns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445C17-AB83-9D4B-A1C4-FFA8604DBA5E}"/>
              </a:ext>
            </a:extLst>
          </p:cNvPr>
          <p:cNvSpPr/>
          <p:nvPr/>
        </p:nvSpPr>
        <p:spPr>
          <a:xfrm>
            <a:off x="542433" y="3001373"/>
            <a:ext cx="1024160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tokens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"ADJECTIVE"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"NOUN"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"VERB"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"ARTICLE"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"NEWLINE"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"PRONOUN"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  <a:endParaRPr lang="en-US" sz="28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800" dirty="0" err="1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t_PRONOUN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8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her|his|their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16A648-E404-FE44-952A-77DC3AFFC9EC}"/>
              </a:ext>
            </a:extLst>
          </p:cNvPr>
          <p:cNvSpPr/>
          <p:nvPr/>
        </p:nvSpPr>
        <p:spPr>
          <a:xfrm>
            <a:off x="542433" y="4386368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lexer.</a:t>
            </a:r>
            <a:r>
              <a:rPr lang="en-US" sz="2800" b="1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"""</a:t>
            </a:r>
          </a:p>
          <a:p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his spotted dog ran</a:t>
            </a:r>
          </a:p>
          <a:p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her old computer crashed  </a:t>
            </a:r>
          </a:p>
          <a:p>
            <a:r>
              <a:rPr lang="en-US" sz="2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"""</a:t>
            </a:r>
            <a:r>
              <a:rPr lang="en-US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28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4D555E-B7A0-4AE8-9E1B-6F2D7063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800" y="22225"/>
            <a:ext cx="40767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Scanner Demo</a:t>
            </a:r>
          </a:p>
        </p:txBody>
      </p:sp>
    </p:spTree>
    <p:extLst>
      <p:ext uri="{BB962C8B-B14F-4D97-AF65-F5344CB8AC3E}">
        <p14:creationId xmlns:p14="http://schemas.microsoft.com/office/powerpoint/2010/main" val="1179745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760E6D-4937-DA43-881D-DD8AE6B7A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237"/>
            <a:ext cx="10515600" cy="975941"/>
          </a:xfrm>
        </p:spPr>
        <p:txBody>
          <a:bodyPr>
            <a:normAutofit/>
          </a:bodyPr>
          <a:lstStyle/>
          <a:p>
            <a:r>
              <a:rPr lang="en-US" sz="4400" i="1" dirty="0"/>
              <a:t>Add a token action: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E61FE1-3592-9B44-B00D-97D7B2F9007E}"/>
              </a:ext>
            </a:extLst>
          </p:cNvPr>
          <p:cNvSpPr/>
          <p:nvPr/>
        </p:nvSpPr>
        <p:spPr>
          <a:xfrm>
            <a:off x="838200" y="2509178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3200" b="1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t_PRONOUN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(t):</a:t>
            </a:r>
            <a:endParaRPr lang="en-US" sz="3200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32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her|his|their</a:t>
            </a:r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32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t.value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32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"his"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"her"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]: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US" sz="3200" dirty="0" err="1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t.value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3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"their"</a:t>
            </a:r>
            <a:endParaRPr lang="en-US" sz="3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3200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</a:t>
            </a:r>
            <a:endParaRPr lang="en-US" sz="3200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75601-F6F1-F14F-B788-EB16E58E8969}"/>
              </a:ext>
            </a:extLst>
          </p:cNvPr>
          <p:cNvSpPr txBox="1"/>
          <p:nvPr/>
        </p:nvSpPr>
        <p:spPr>
          <a:xfrm>
            <a:off x="1207619" y="5223752"/>
            <a:ext cx="8606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Now output will have all gender neutral pronouns!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17ECBAA-A03E-3C16-5839-50148029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800" y="22225"/>
            <a:ext cx="40767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Scanner Demo</a:t>
            </a:r>
          </a:p>
        </p:txBody>
      </p:sp>
    </p:spTree>
    <p:extLst>
      <p:ext uri="{BB962C8B-B14F-4D97-AF65-F5344CB8AC3E}">
        <p14:creationId xmlns:p14="http://schemas.microsoft.com/office/powerpoint/2010/main" val="1300602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19581</TotalTime>
  <Words>1906</Words>
  <Application>Microsoft Office PowerPoint</Application>
  <PresentationFormat>Widescreen</PresentationFormat>
  <Paragraphs>349</Paragraphs>
  <Slides>41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Courier</vt:lpstr>
      <vt:lpstr>Menlo</vt:lpstr>
      <vt:lpstr>Office Theme</vt:lpstr>
      <vt:lpstr>CSE110A: Compilers</vt:lpstr>
      <vt:lpstr>Announcements </vt:lpstr>
      <vt:lpstr>Announcements </vt:lpstr>
      <vt:lpstr>Finishing up scanner implementations</vt:lpstr>
      <vt:lpstr>Scanners we have discussed</vt:lpstr>
      <vt:lpstr>In practice</vt:lpstr>
      <vt:lpstr>Moving on</vt:lpstr>
      <vt:lpstr>Moving on</vt:lpstr>
      <vt:lpstr>First class functions</vt:lpstr>
      <vt:lpstr>      Functions as part of a token definition</vt:lpstr>
      <vt:lpstr>     Functions as part of a token definition</vt:lpstr>
      <vt:lpstr>    Examples</vt:lpstr>
      <vt:lpstr>Modify a value</vt:lpstr>
      <vt:lpstr>Modify a value</vt:lpstr>
      <vt:lpstr>Modify a value</vt:lpstr>
      <vt:lpstr>                        Modify a Value</vt:lpstr>
      <vt:lpstr>    Examples</vt:lpstr>
      <vt:lpstr>Keywords: Reserved Words </vt:lpstr>
      <vt:lpstr>Keywords: Reserved Words </vt:lpstr>
      <vt:lpstr>Keywords: Reserved Words </vt:lpstr>
      <vt:lpstr>    Examples</vt:lpstr>
      <vt:lpstr>Modifying State</vt:lpstr>
      <vt:lpstr>Modifying State</vt:lpstr>
      <vt:lpstr>Advanced Topic</vt:lpstr>
      <vt:lpstr>Next Topics</vt:lpstr>
      <vt:lpstr>Lex/Flex</vt:lpstr>
      <vt:lpstr>PLY</vt:lpstr>
      <vt:lpstr>How to use PLY’s Scanner</vt:lpstr>
      <vt:lpstr>Scanner Demo</vt:lpstr>
      <vt:lpstr>Scanner Demo</vt:lpstr>
      <vt:lpstr>Scanner Demo</vt:lpstr>
      <vt:lpstr>Scanner Demo</vt:lpstr>
      <vt:lpstr>Scanner Demo</vt:lpstr>
      <vt:lpstr>Scanner Demo</vt:lpstr>
      <vt:lpstr>Scanner Demo</vt:lpstr>
      <vt:lpstr>Scanner Demo</vt:lpstr>
      <vt:lpstr>Scanner Demo</vt:lpstr>
      <vt:lpstr>Scanner Demo</vt:lpstr>
      <vt:lpstr>Scanner Demo</vt:lpstr>
      <vt:lpstr>Scanner Demo</vt:lpstr>
      <vt:lpstr>Scanner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225</cp:revision>
  <dcterms:created xsi:type="dcterms:W3CDTF">2021-03-23T23:59:42Z</dcterms:created>
  <dcterms:modified xsi:type="dcterms:W3CDTF">2026-01-21T10:49:21Z</dcterms:modified>
</cp:coreProperties>
</file>