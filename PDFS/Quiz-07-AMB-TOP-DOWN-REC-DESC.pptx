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1372" r:id="rId3"/>
    <p:sldId id="656" r:id="rId4"/>
    <p:sldId id="1371" r:id="rId5"/>
    <p:sldId id="1337" r:id="rId6"/>
    <p:sldId id="1339" r:id="rId7"/>
    <p:sldId id="1340" r:id="rId8"/>
    <p:sldId id="1341" r:id="rId9"/>
    <p:sldId id="1373" r:id="rId10"/>
    <p:sldId id="1342" r:id="rId11"/>
    <p:sldId id="1343" r:id="rId12"/>
    <p:sldId id="1344" r:id="rId13"/>
    <p:sldId id="1345" r:id="rId14"/>
    <p:sldId id="1346" r:id="rId15"/>
    <p:sldId id="1347" r:id="rId16"/>
    <p:sldId id="1348" r:id="rId17"/>
    <p:sldId id="1374" r:id="rId18"/>
    <p:sldId id="1349" r:id="rId19"/>
    <p:sldId id="1350" r:id="rId20"/>
    <p:sldId id="1351" r:id="rId21"/>
    <p:sldId id="1352" r:id="rId22"/>
    <p:sldId id="1353" r:id="rId23"/>
    <p:sldId id="1357" r:id="rId24"/>
    <p:sldId id="1354" r:id="rId25"/>
    <p:sldId id="1360" r:id="rId26"/>
    <p:sldId id="1359" r:id="rId27"/>
    <p:sldId id="1355" r:id="rId28"/>
    <p:sldId id="1361" r:id="rId29"/>
    <p:sldId id="1362" r:id="rId30"/>
    <p:sldId id="1363" r:id="rId31"/>
    <p:sldId id="1364" r:id="rId32"/>
    <p:sldId id="1365" r:id="rId33"/>
    <p:sldId id="1366" r:id="rId34"/>
    <p:sldId id="1367" r:id="rId35"/>
    <p:sldId id="1368" r:id="rId36"/>
    <p:sldId id="1369" r:id="rId37"/>
    <p:sldId id="1370" r:id="rId38"/>
    <p:sldId id="1356" r:id="rId39"/>
    <p:sldId id="13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11" autoAdjust="0"/>
    <p:restoredTop sz="94660"/>
  </p:normalViewPr>
  <p:slideViewPr>
    <p:cSldViewPr snapToGrid="0">
      <p:cViewPr varScale="1">
        <p:scale>
          <a:sx n="72" d="100"/>
          <a:sy n="72" d="100"/>
        </p:scale>
        <p:origin x="60"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7052D-C60E-7827-AB93-7E2124EFBF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646BBB-89DC-F827-81D6-FE671637B5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B87B0E-A2C6-AB05-D770-C27178661D91}"/>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96264700-E001-B583-FFE9-E31FB6471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84AF3-AFD9-0C11-867B-C945C5A975B3}"/>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223901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F3535-2898-7B7C-8086-E9F74F48B8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2532D-1E0D-06A0-FEF3-29F2FEF92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56EB7-9A57-5D54-CFD3-3D82C9C626CC}"/>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FFA1F44D-F14D-CB47-EC8C-7A2DDE3744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5A5EE-B536-6C9E-0975-39D15F1E4751}"/>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4244732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6FAA-1E81-8BF9-A929-33B20D5EF4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3F4308-7AEF-A1E5-6C8C-C67AE1E83C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BFD66C-818A-64EC-F24B-546835F49FE9}"/>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D66325F0-F72D-E232-D522-945C9349A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7A9003-1E02-D76F-D1B4-9806D8B422A4}"/>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4084840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A5E4-1C7F-D11C-BC56-C1AF990848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FC90DA-90A5-8779-7123-8E09F3751B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F8E439-FC22-6D85-9A91-304E6054D5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765B12-BEDF-5D57-5615-A248D76AC8F6}"/>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6" name="Footer Placeholder 5">
            <a:extLst>
              <a:ext uri="{FF2B5EF4-FFF2-40B4-BE49-F238E27FC236}">
                <a16:creationId xmlns:a16="http://schemas.microsoft.com/office/drawing/2014/main" id="{58656714-062E-9BB7-14D8-42D4C591A4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D8025B-2BB0-43DA-05C0-3C7BA5271170}"/>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1042250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E562-A409-2899-9B3D-6045D9BBCA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C94F8F-6F17-0AC6-B524-AFE049BEA1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698AF1-0F80-9CE8-9D6F-AA21F89DF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8E799D-F36A-27F7-3163-AF78230696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B5C108-A066-6572-5EDE-DC4EE62AE3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4D264C-A104-65AA-AC55-6F4386BE79D7}"/>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8" name="Footer Placeholder 7">
            <a:extLst>
              <a:ext uri="{FF2B5EF4-FFF2-40B4-BE49-F238E27FC236}">
                <a16:creationId xmlns:a16="http://schemas.microsoft.com/office/drawing/2014/main" id="{F1933D52-77D5-4C1A-6F00-CC012C9D36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54627D-E131-86C7-F364-C8B766F376FC}"/>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3198807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E745-F2D5-89FC-F803-D7B7F5EF19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9FBCAD-E397-90B2-BEA7-177B278C8411}"/>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4" name="Footer Placeholder 3">
            <a:extLst>
              <a:ext uri="{FF2B5EF4-FFF2-40B4-BE49-F238E27FC236}">
                <a16:creationId xmlns:a16="http://schemas.microsoft.com/office/drawing/2014/main" id="{C5FC5EB9-6D4D-D8B7-E7E0-CB4D8F9081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122C1C-0A7B-E674-A637-753A796AC102}"/>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145045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1970E0-010A-9EAF-2663-EE223AB4DDA4}"/>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3" name="Footer Placeholder 2">
            <a:extLst>
              <a:ext uri="{FF2B5EF4-FFF2-40B4-BE49-F238E27FC236}">
                <a16:creationId xmlns:a16="http://schemas.microsoft.com/office/drawing/2014/main" id="{2075ECAD-77FD-D353-880E-3BA3D051EB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EFDA33-2A2F-6B00-F137-A9FBB8CD2659}"/>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2258680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473F-8F79-7D6C-33A0-8AC76F3ADD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A0E6B6-1994-263F-4735-F6EB72F5A1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F3228C-EF91-A43E-5855-ACD38833B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BA7E1A-6CAA-458C-CF5D-9E6384305635}"/>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6" name="Footer Placeholder 5">
            <a:extLst>
              <a:ext uri="{FF2B5EF4-FFF2-40B4-BE49-F238E27FC236}">
                <a16:creationId xmlns:a16="http://schemas.microsoft.com/office/drawing/2014/main" id="{B70B7BAA-A3B8-B79F-AE34-7DC8C3138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308EF-0091-C975-856B-7C8CE25ED6DD}"/>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75486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6B765-3441-2576-D318-E523DDF3FB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967DAF-777E-0E69-6B60-EA459A4520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126891-B70E-FDBD-5C20-CB4CC9F3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00F09-B430-1EFD-BD64-59F54EFE0E59}"/>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6" name="Footer Placeholder 5">
            <a:extLst>
              <a:ext uri="{FF2B5EF4-FFF2-40B4-BE49-F238E27FC236}">
                <a16:creationId xmlns:a16="http://schemas.microsoft.com/office/drawing/2014/main" id="{96DEE1C2-B1CB-6CE7-BBCD-597BD3EA22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0E98F4-14F0-60B3-1BB3-B99AE15802A4}"/>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1373959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5EEA3-0C75-4552-D106-1279091572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B00FE1-0396-B104-22AF-E8B04A6B4E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DA175-6849-32CD-03EB-46A5D291818B}"/>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36573005-AC6F-4941-FF5C-16336A43B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49B90-D384-4816-9126-D59056999455}"/>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2174788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E22C5-66BE-B055-0529-19588A2D93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0891F3-67DD-3E49-119A-975924980B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AF69AF-9764-05CD-5CFD-844501918C10}"/>
              </a:ext>
            </a:extLst>
          </p:cNvPr>
          <p:cNvSpPr>
            <a:spLocks noGrp="1"/>
          </p:cNvSpPr>
          <p:nvPr>
            <p:ph type="dt" sz="half" idx="10"/>
          </p:nvPr>
        </p:nvSpPr>
        <p:spPr/>
        <p:txBody>
          <a:body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87CCB554-1C07-CAD5-C7FB-DEA6A7710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5D331A-AEE0-7BEA-1662-344A863D90DC}"/>
              </a:ext>
            </a:extLst>
          </p:cNvPr>
          <p:cNvSpPr>
            <a:spLocks noGrp="1"/>
          </p:cNvSpPr>
          <p:nvPr>
            <p:ph type="sldNum" sz="quarter" idx="12"/>
          </p:nvPr>
        </p:nvSpPr>
        <p:spPr/>
        <p:txBody>
          <a:bodyPr/>
          <a:lstStyle/>
          <a:p>
            <a:fld id="{E585ECC8-B381-41FF-AA1B-2B3CBA1B20B6}" type="slidenum">
              <a:rPr lang="en-US" smtClean="0"/>
              <a:t>‹#›</a:t>
            </a:fld>
            <a:endParaRPr lang="en-US"/>
          </a:p>
        </p:txBody>
      </p:sp>
    </p:spTree>
    <p:extLst>
      <p:ext uri="{BB962C8B-B14F-4D97-AF65-F5344CB8AC3E}">
        <p14:creationId xmlns:p14="http://schemas.microsoft.com/office/powerpoint/2010/main" val="156734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9D8195-4552-3B90-54CD-C9DE666A21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04EB84-8BF1-6BD0-3F96-48C22994C8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9F42E-31D3-C44F-5955-2B622EE577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803541-7283-4FDF-94E3-5087E1B1DFB9}" type="datetimeFigureOut">
              <a:rPr lang="en-US" smtClean="0"/>
              <a:t>2/5/2026</a:t>
            </a:fld>
            <a:endParaRPr lang="en-US"/>
          </a:p>
        </p:txBody>
      </p:sp>
      <p:sp>
        <p:nvSpPr>
          <p:cNvPr id="5" name="Footer Placeholder 4">
            <a:extLst>
              <a:ext uri="{FF2B5EF4-FFF2-40B4-BE49-F238E27FC236}">
                <a16:creationId xmlns:a16="http://schemas.microsoft.com/office/drawing/2014/main" id="{37B79F28-BDC6-E001-A8EB-6D370397E8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797CD8-5764-FDAF-C664-1819664DB5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85ECC8-B381-41FF-AA1B-2B3CBA1B20B6}" type="slidenum">
              <a:rPr lang="en-US" smtClean="0"/>
              <a:t>‹#›</a:t>
            </a:fld>
            <a:endParaRPr lang="en-US"/>
          </a:p>
        </p:txBody>
      </p:sp>
    </p:spTree>
    <p:extLst>
      <p:ext uri="{BB962C8B-B14F-4D97-AF65-F5344CB8AC3E}">
        <p14:creationId xmlns:p14="http://schemas.microsoft.com/office/powerpoint/2010/main" val="493417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8CDA-2EF8-264B-1E6E-5C0B6EC813C2}"/>
              </a:ext>
            </a:extLst>
          </p:cNvPr>
          <p:cNvSpPr>
            <a:spLocks noGrp="1"/>
          </p:cNvSpPr>
          <p:nvPr>
            <p:ph type="ctrTitle"/>
          </p:nvPr>
        </p:nvSpPr>
        <p:spPr>
          <a:xfrm>
            <a:off x="1111045" y="1032388"/>
            <a:ext cx="10264877" cy="5191432"/>
          </a:xfrm>
        </p:spPr>
        <p:txBody>
          <a:bodyPr>
            <a:normAutofit fontScale="90000"/>
          </a:bodyPr>
          <a:lstStyle/>
          <a:p>
            <a:pPr algn="l"/>
            <a:r>
              <a:rPr lang="en-US" sz="4800" dirty="0"/>
              <a:t>Quiz-07-AMB-TOP-DOWN-REC-DESC</a:t>
            </a:r>
            <a:br>
              <a:rPr lang="en-US" sz="4800" dirty="0"/>
            </a:br>
            <a:br>
              <a:rPr lang="en-US" sz="4800" dirty="0"/>
            </a:br>
            <a:r>
              <a:rPr lang="en-US" sz="4800" dirty="0"/>
              <a:t>Topics: </a:t>
            </a:r>
            <a:br>
              <a:rPr lang="en-US" sz="4800" dirty="0"/>
            </a:br>
            <a:r>
              <a:rPr lang="en-US" sz="4800" dirty="0"/>
              <a:t>	Ambiguity</a:t>
            </a:r>
            <a:br>
              <a:rPr lang="en-US" sz="4800" dirty="0"/>
            </a:br>
            <a:r>
              <a:rPr lang="en-US" sz="4800" dirty="0"/>
              <a:t>	HW2</a:t>
            </a:r>
            <a:br>
              <a:rPr lang="en-US" sz="4800" dirty="0"/>
            </a:br>
            <a:r>
              <a:rPr lang="en-US" sz="4800" dirty="0"/>
              <a:t>	Top-Down Parsing</a:t>
            </a:r>
            <a:br>
              <a:rPr lang="en-US" sz="4800" dirty="0"/>
            </a:br>
            <a:r>
              <a:rPr lang="en-US" sz="4800" dirty="0"/>
              <a:t>	Recursive Descent Parsing</a:t>
            </a:r>
            <a:br>
              <a:rPr lang="en-US" sz="4800" dirty="0"/>
            </a:br>
            <a:endParaRPr lang="en-US" sz="4800" dirty="0"/>
          </a:p>
        </p:txBody>
      </p:sp>
    </p:spTree>
    <p:extLst>
      <p:ext uri="{BB962C8B-B14F-4D97-AF65-F5344CB8AC3E}">
        <p14:creationId xmlns:p14="http://schemas.microsoft.com/office/powerpoint/2010/main" val="1259776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4E6452C0-A175-082C-61E3-8D8F2DFA6153}"/>
              </a:ext>
            </a:extLst>
          </p:cNvPr>
          <p:cNvPicPr>
            <a:picLocks noChangeAspect="1"/>
          </p:cNvPicPr>
          <p:nvPr/>
        </p:nvPicPr>
        <p:blipFill>
          <a:blip r:embed="rId2"/>
          <a:stretch>
            <a:fillRect/>
          </a:stretch>
        </p:blipFill>
        <p:spPr>
          <a:xfrm>
            <a:off x="2933700" y="1469571"/>
            <a:ext cx="7137400" cy="3251200"/>
          </a:xfrm>
          <a:prstGeom prst="rect">
            <a:avLst/>
          </a:prstGeom>
        </p:spPr>
      </p:pic>
    </p:spTree>
    <p:extLst>
      <p:ext uri="{BB962C8B-B14F-4D97-AF65-F5344CB8AC3E}">
        <p14:creationId xmlns:p14="http://schemas.microsoft.com/office/powerpoint/2010/main" val="37906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4E6452C0-A175-082C-61E3-8D8F2DFA6153}"/>
              </a:ext>
            </a:extLst>
          </p:cNvPr>
          <p:cNvPicPr>
            <a:picLocks noChangeAspect="1"/>
          </p:cNvPicPr>
          <p:nvPr/>
        </p:nvPicPr>
        <p:blipFill>
          <a:blip r:embed="rId2"/>
          <a:stretch>
            <a:fillRect/>
          </a:stretch>
        </p:blipFill>
        <p:spPr>
          <a:xfrm>
            <a:off x="2933700" y="1469571"/>
            <a:ext cx="7137400" cy="3251200"/>
          </a:xfrm>
          <a:prstGeom prst="rect">
            <a:avLst/>
          </a:prstGeom>
        </p:spPr>
      </p:pic>
      <p:sp>
        <p:nvSpPr>
          <p:cNvPr id="4" name="TextBox 3">
            <a:extLst>
              <a:ext uri="{FF2B5EF4-FFF2-40B4-BE49-F238E27FC236}">
                <a16:creationId xmlns:a16="http://schemas.microsoft.com/office/drawing/2014/main" id="{0EBE888E-7BBB-6497-BE4B-FF61DD8CEBFF}"/>
              </a:ext>
            </a:extLst>
          </p:cNvPr>
          <p:cNvSpPr txBox="1"/>
          <p:nvPr/>
        </p:nvSpPr>
        <p:spPr>
          <a:xfrm>
            <a:off x="2966224" y="5163015"/>
            <a:ext cx="7159083" cy="923330"/>
          </a:xfrm>
          <a:prstGeom prst="rect">
            <a:avLst/>
          </a:prstGeom>
          <a:noFill/>
        </p:spPr>
        <p:txBody>
          <a:bodyPr wrap="square" rtlCol="0">
            <a:spAutoFit/>
          </a:bodyPr>
          <a:lstStyle/>
          <a:p>
            <a:r>
              <a:rPr lang="en-US" dirty="0"/>
              <a:t>ANSWER:</a:t>
            </a:r>
          </a:p>
          <a:p>
            <a:r>
              <a:rPr lang="en-US" dirty="0"/>
              <a:t>    Both operator associativity and operator precedence need to be addressed to avoid ambiguity in grammars.</a:t>
            </a:r>
          </a:p>
        </p:txBody>
      </p:sp>
    </p:spTree>
    <p:extLst>
      <p:ext uri="{BB962C8B-B14F-4D97-AF65-F5344CB8AC3E}">
        <p14:creationId xmlns:p14="http://schemas.microsoft.com/office/powerpoint/2010/main" val="303488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7B8-2BF5-50F8-2FC3-9D7938B5A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269F5-478A-9170-F47F-FE8AE0D987AF}"/>
              </a:ext>
            </a:extLst>
          </p:cNvPr>
          <p:cNvSpPr>
            <a:spLocks noGrp="1"/>
          </p:cNvSpPr>
          <p:nvPr>
            <p:ph type="ctrTitle"/>
          </p:nvPr>
        </p:nvSpPr>
        <p:spPr/>
        <p:txBody>
          <a:bodyPr/>
          <a:lstStyle/>
          <a:p>
            <a:r>
              <a:rPr lang="en-US" dirty="0"/>
              <a:t>Homework 2</a:t>
            </a:r>
          </a:p>
        </p:txBody>
      </p:sp>
    </p:spTree>
    <p:extLst>
      <p:ext uri="{BB962C8B-B14F-4D97-AF65-F5344CB8AC3E}">
        <p14:creationId xmlns:p14="http://schemas.microsoft.com/office/powerpoint/2010/main" val="2092936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83DEB6FB-CC68-9398-4807-E3A3DCC6A6A2}"/>
              </a:ext>
            </a:extLst>
          </p:cNvPr>
          <p:cNvPicPr>
            <a:picLocks noChangeAspect="1"/>
          </p:cNvPicPr>
          <p:nvPr/>
        </p:nvPicPr>
        <p:blipFill>
          <a:blip r:embed="rId2"/>
          <a:stretch>
            <a:fillRect/>
          </a:stretch>
        </p:blipFill>
        <p:spPr>
          <a:xfrm>
            <a:off x="2209800" y="2099979"/>
            <a:ext cx="7772400" cy="1329021"/>
          </a:xfrm>
          <a:prstGeom prst="rect">
            <a:avLst/>
          </a:prstGeom>
        </p:spPr>
      </p:pic>
    </p:spTree>
    <p:extLst>
      <p:ext uri="{BB962C8B-B14F-4D97-AF65-F5344CB8AC3E}">
        <p14:creationId xmlns:p14="http://schemas.microsoft.com/office/powerpoint/2010/main" val="1616606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3" name="TextBox 2">
            <a:extLst>
              <a:ext uri="{FF2B5EF4-FFF2-40B4-BE49-F238E27FC236}">
                <a16:creationId xmlns:a16="http://schemas.microsoft.com/office/drawing/2014/main" id="{E370F97D-A381-940E-5E3A-E9BD47E243DA}"/>
              </a:ext>
            </a:extLst>
          </p:cNvPr>
          <p:cNvSpPr txBox="1"/>
          <p:nvPr/>
        </p:nvSpPr>
        <p:spPr>
          <a:xfrm>
            <a:off x="2820359" y="1903478"/>
            <a:ext cx="6916637" cy="1477328"/>
          </a:xfrm>
          <a:prstGeom prst="rect">
            <a:avLst/>
          </a:prstGeom>
          <a:noFill/>
        </p:spPr>
        <p:txBody>
          <a:bodyPr wrap="none" rtlCol="0">
            <a:spAutoFit/>
          </a:bodyPr>
          <a:lstStyle/>
          <a:p>
            <a:endParaRPr lang="en-US" dirty="0"/>
          </a:p>
          <a:p>
            <a:r>
              <a:rPr lang="en-US" dirty="0"/>
              <a:t>Has everyone seen the new program on FIRST, FOLLOW, FIRST+?</a:t>
            </a:r>
          </a:p>
          <a:p>
            <a:endParaRPr lang="en-US" dirty="0"/>
          </a:p>
          <a:p>
            <a:r>
              <a:rPr lang="en-US" dirty="0"/>
              <a:t>A shout out to our student Laurel Willey for the great work on helping</a:t>
            </a:r>
          </a:p>
          <a:p>
            <a:r>
              <a:rPr lang="en-US" dirty="0"/>
              <a:t>Make this happen.</a:t>
            </a:r>
          </a:p>
        </p:txBody>
      </p:sp>
    </p:spTree>
    <p:extLst>
      <p:ext uri="{BB962C8B-B14F-4D97-AF65-F5344CB8AC3E}">
        <p14:creationId xmlns:p14="http://schemas.microsoft.com/office/powerpoint/2010/main" val="1784980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1892-12B4-1AE0-6F83-24FCA0ADFB94}"/>
              </a:ext>
            </a:extLst>
          </p:cNvPr>
          <p:cNvSpPr>
            <a:spLocks noGrp="1"/>
          </p:cNvSpPr>
          <p:nvPr>
            <p:ph type="ctrTitle"/>
          </p:nvPr>
        </p:nvSpPr>
        <p:spPr/>
        <p:txBody>
          <a:bodyPr/>
          <a:lstStyle/>
          <a:p>
            <a:r>
              <a:rPr lang="en-US" dirty="0"/>
              <a:t>Top-Down Parsing</a:t>
            </a:r>
          </a:p>
        </p:txBody>
      </p:sp>
    </p:spTree>
    <p:extLst>
      <p:ext uri="{BB962C8B-B14F-4D97-AF65-F5344CB8AC3E}">
        <p14:creationId xmlns:p14="http://schemas.microsoft.com/office/powerpoint/2010/main" val="2424034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A6FA8DD9-AA39-3037-72D4-F2AF8CC23556}"/>
              </a:ext>
            </a:extLst>
          </p:cNvPr>
          <p:cNvPicPr>
            <a:picLocks noChangeAspect="1"/>
          </p:cNvPicPr>
          <p:nvPr/>
        </p:nvPicPr>
        <p:blipFill>
          <a:blip r:embed="rId2"/>
          <a:stretch>
            <a:fillRect/>
          </a:stretch>
        </p:blipFill>
        <p:spPr>
          <a:xfrm>
            <a:off x="2310161" y="1690688"/>
            <a:ext cx="7772400" cy="2170670"/>
          </a:xfrm>
          <a:prstGeom prst="rect">
            <a:avLst/>
          </a:prstGeom>
        </p:spPr>
      </p:pic>
    </p:spTree>
    <p:extLst>
      <p:ext uri="{BB962C8B-B14F-4D97-AF65-F5344CB8AC3E}">
        <p14:creationId xmlns:p14="http://schemas.microsoft.com/office/powerpoint/2010/main" val="258038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DF286-6FE6-F366-8CD2-6EF5AEF66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554A0-8E31-6515-BE04-73E3A177E0A4}"/>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C1D141FC-0839-EEAC-3AA0-93733A7BD396}"/>
              </a:ext>
            </a:extLst>
          </p:cNvPr>
          <p:cNvPicPr>
            <a:picLocks noChangeAspect="1"/>
          </p:cNvPicPr>
          <p:nvPr/>
        </p:nvPicPr>
        <p:blipFill>
          <a:blip r:embed="rId2"/>
          <a:stretch>
            <a:fillRect/>
          </a:stretch>
        </p:blipFill>
        <p:spPr>
          <a:xfrm>
            <a:off x="2310161" y="1690688"/>
            <a:ext cx="7772400" cy="2170670"/>
          </a:xfrm>
          <a:prstGeom prst="rect">
            <a:avLst/>
          </a:prstGeom>
        </p:spPr>
      </p:pic>
      <p:sp>
        <p:nvSpPr>
          <p:cNvPr id="3" name="TextBox 2">
            <a:extLst>
              <a:ext uri="{FF2B5EF4-FFF2-40B4-BE49-F238E27FC236}">
                <a16:creationId xmlns:a16="http://schemas.microsoft.com/office/drawing/2014/main" id="{D2A6AD6C-142C-E58D-7BC5-7045F8A503C4}"/>
              </a:ext>
            </a:extLst>
          </p:cNvPr>
          <p:cNvSpPr txBox="1"/>
          <p:nvPr/>
        </p:nvSpPr>
        <p:spPr>
          <a:xfrm>
            <a:off x="2486723" y="4151649"/>
            <a:ext cx="7002965" cy="2031325"/>
          </a:xfrm>
          <a:prstGeom prst="rect">
            <a:avLst/>
          </a:prstGeom>
          <a:noFill/>
        </p:spPr>
        <p:txBody>
          <a:bodyPr wrap="square" rtlCol="0">
            <a:spAutoFit/>
          </a:bodyPr>
          <a:lstStyle/>
          <a:p>
            <a:r>
              <a:rPr lang="en-US" dirty="0"/>
              <a:t>False.  You do have to get rid of left recursion to avoid infinite recursion.  But that said you can have more than one recursion in the RHS side.  e.g. </a:t>
            </a:r>
          </a:p>
          <a:p>
            <a:r>
              <a:rPr lang="en-US" dirty="0"/>
              <a:t>        a ::= B a C a D</a:t>
            </a:r>
          </a:p>
          <a:p>
            <a:r>
              <a:rPr lang="en-US" dirty="0"/>
              <a:t>Above shows two points of recursion on the RHS of the production, however it does not have left-recursion.   We next elaborate on we can </a:t>
            </a:r>
          </a:p>
          <a:p>
            <a:r>
              <a:rPr lang="en-US" dirty="0"/>
              <a:t>Get rid of left-recursion.</a:t>
            </a:r>
          </a:p>
        </p:txBody>
      </p:sp>
    </p:spTree>
    <p:extLst>
      <p:ext uri="{BB962C8B-B14F-4D97-AF65-F5344CB8AC3E}">
        <p14:creationId xmlns:p14="http://schemas.microsoft.com/office/powerpoint/2010/main" val="3053594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D458F6-26A2-3640-B99D-62BD1F3DF87F}"/>
              </a:ext>
            </a:extLst>
          </p:cNvPr>
          <p:cNvSpPr txBox="1"/>
          <p:nvPr/>
        </p:nvSpPr>
        <p:spPr>
          <a:xfrm>
            <a:off x="84667" y="96377"/>
            <a:ext cx="5985934" cy="5016758"/>
          </a:xfrm>
          <a:prstGeom prst="rect">
            <a:avLst/>
          </a:prstGeom>
          <a:noFill/>
        </p:spPr>
        <p:txBody>
          <a:bodyPr wrap="none" rtlCol="0">
            <a:spAutoFit/>
          </a:bodyPr>
          <a:lstStyle/>
          <a:p>
            <a:r>
              <a:rPr lang="en-US" sz="1600" dirty="0">
                <a:latin typeface="Courier" pitchFamily="2" charset="0"/>
              </a:rPr>
              <a:t>root = start symbol;</a:t>
            </a:r>
            <a:br>
              <a:rPr lang="en-US" sz="1600" dirty="0">
                <a:latin typeface="Courier" pitchFamily="2" charset="0"/>
              </a:rPr>
            </a:br>
            <a:r>
              <a:rPr lang="en-US" sz="1600" dirty="0">
                <a:latin typeface="Courier" pitchFamily="2" charset="0"/>
              </a:rPr>
              <a:t>focus = root;</a:t>
            </a:r>
          </a:p>
          <a:p>
            <a:r>
              <a:rPr lang="en-US" sz="1600" dirty="0">
                <a:latin typeface="Courier" pitchFamily="2" charset="0"/>
              </a:rPr>
              <a:t>push(None);</a:t>
            </a:r>
          </a:p>
          <a:p>
            <a:r>
              <a:rPr lang="en-US" sz="1600" dirty="0" err="1">
                <a:latin typeface="Courier" pitchFamily="2" charset="0"/>
              </a:rPr>
              <a:t>to_match</a:t>
            </a:r>
            <a:r>
              <a:rPr lang="en-US" sz="1600" dirty="0">
                <a:latin typeface="Courier" pitchFamily="2" charset="0"/>
              </a:rPr>
              <a:t> = </a:t>
            </a:r>
            <a:r>
              <a:rPr lang="en-US" sz="1600" dirty="0" err="1">
                <a:latin typeface="Courier" pitchFamily="2" charset="0"/>
              </a:rPr>
              <a:t>s.token</a:t>
            </a:r>
            <a:r>
              <a:rPr lang="en-US" sz="1600" dirty="0">
                <a:latin typeface="Courier" pitchFamily="2" charset="0"/>
              </a:rPr>
              <a:t>();</a:t>
            </a:r>
          </a:p>
          <a:p>
            <a:endParaRPr lang="en-US" sz="1600" dirty="0">
              <a:latin typeface="Courier" pitchFamily="2" charset="0"/>
            </a:endParaRPr>
          </a:p>
          <a:p>
            <a:r>
              <a:rPr lang="en-US" sz="1600" b="1" dirty="0">
                <a:latin typeface="Courier" pitchFamily="2" charset="0"/>
              </a:rPr>
              <a:t>while</a:t>
            </a:r>
            <a:r>
              <a:rPr lang="en-US" sz="1600" dirty="0">
                <a:latin typeface="Courier" pitchFamily="2" charset="0"/>
              </a:rPr>
              <a:t> (true):</a:t>
            </a:r>
          </a:p>
          <a:p>
            <a:r>
              <a:rPr lang="en-US" sz="1600" dirty="0">
                <a:latin typeface="Courier" pitchFamily="2" charset="0"/>
              </a:rPr>
              <a:t>  </a:t>
            </a:r>
            <a:r>
              <a:rPr lang="en-US" sz="1600" b="1" dirty="0">
                <a:latin typeface="Courier" pitchFamily="2" charset="0"/>
              </a:rPr>
              <a:t>if</a:t>
            </a:r>
            <a:r>
              <a:rPr lang="en-US" sz="1600" dirty="0">
                <a:latin typeface="Courier" pitchFamily="2" charset="0"/>
              </a:rPr>
              <a:t> (focus is a nonterminal)</a:t>
            </a:r>
          </a:p>
          <a:p>
            <a:r>
              <a:rPr lang="en-US" sz="1600" dirty="0">
                <a:latin typeface="Courier" pitchFamily="2" charset="0"/>
              </a:rPr>
              <a:t>    </a:t>
            </a:r>
            <a:r>
              <a:rPr lang="en-US" sz="1600" dirty="0">
                <a:highlight>
                  <a:srgbClr val="FFFF00"/>
                </a:highlight>
                <a:latin typeface="Courier" pitchFamily="2" charset="0"/>
              </a:rPr>
              <a:t>pick next rule (A ::= B1,B2,B3...BN);</a:t>
            </a:r>
          </a:p>
          <a:p>
            <a:r>
              <a:rPr lang="en-US" sz="1600" dirty="0">
                <a:latin typeface="Courier" pitchFamily="2" charset="0"/>
              </a:rPr>
              <a:t>    push(BN... B3, B2);</a:t>
            </a:r>
          </a:p>
          <a:p>
            <a:r>
              <a:rPr lang="en-US" sz="1600" dirty="0">
                <a:latin typeface="Courier" pitchFamily="2" charset="0"/>
              </a:rPr>
              <a:t>    focus = B1</a:t>
            </a:r>
          </a:p>
          <a:p>
            <a:endParaRPr lang="en-US" sz="1600" dirty="0">
              <a:latin typeface="Courier" pitchFamily="2" charset="0"/>
            </a:endParaRPr>
          </a:p>
          <a:p>
            <a:r>
              <a:rPr lang="en-US" sz="1600" b="1" dirty="0">
                <a:latin typeface="Courier" pitchFamily="2" charset="0"/>
              </a:rPr>
              <a:t>  else if </a:t>
            </a:r>
            <a:r>
              <a:rPr lang="en-US" sz="1600" dirty="0">
                <a:latin typeface="Courier" pitchFamily="2" charset="0"/>
              </a:rPr>
              <a:t>(focus == </a:t>
            </a:r>
            <a:r>
              <a:rPr lang="en-US" sz="1600" dirty="0" err="1">
                <a:latin typeface="Courier" pitchFamily="2" charset="0"/>
              </a:rPr>
              <a:t>to_match</a:t>
            </a:r>
            <a:r>
              <a:rPr lang="en-US" sz="1600" dirty="0">
                <a:latin typeface="Courier" pitchFamily="2" charset="0"/>
              </a:rPr>
              <a:t>)</a:t>
            </a:r>
          </a:p>
          <a:p>
            <a:r>
              <a:rPr lang="en-US" sz="1600" dirty="0">
                <a:latin typeface="Courier" pitchFamily="2" charset="0"/>
              </a:rPr>
              <a:t>    </a:t>
            </a:r>
            <a:r>
              <a:rPr lang="en-US" sz="1600" dirty="0" err="1">
                <a:latin typeface="Courier" pitchFamily="2" charset="0"/>
              </a:rPr>
              <a:t>to_match</a:t>
            </a:r>
            <a:r>
              <a:rPr lang="en-US" sz="1600" dirty="0">
                <a:latin typeface="Courier" pitchFamily="2" charset="0"/>
              </a:rPr>
              <a:t> = </a:t>
            </a:r>
            <a:r>
              <a:rPr lang="en-US" sz="1600" dirty="0" err="1">
                <a:latin typeface="Courier" pitchFamily="2" charset="0"/>
              </a:rPr>
              <a:t>s.token</a:t>
            </a:r>
            <a:r>
              <a:rPr lang="en-US" sz="1600" dirty="0">
                <a:latin typeface="Courier" pitchFamily="2" charset="0"/>
              </a:rPr>
              <a:t>()</a:t>
            </a:r>
          </a:p>
          <a:p>
            <a:r>
              <a:rPr lang="en-US" sz="1600" dirty="0">
                <a:latin typeface="Courier" pitchFamily="2" charset="0"/>
              </a:rPr>
              <a:t>    focus = pop()</a:t>
            </a:r>
          </a:p>
          <a:p>
            <a:endParaRPr lang="en-US" sz="1600" dirty="0">
              <a:latin typeface="Courier" pitchFamily="2" charset="0"/>
            </a:endParaRPr>
          </a:p>
          <a:p>
            <a:r>
              <a:rPr lang="en-US" sz="1600" b="1" dirty="0">
                <a:latin typeface="Courier" pitchFamily="2" charset="0"/>
              </a:rPr>
              <a:t>  else if </a:t>
            </a:r>
            <a:r>
              <a:rPr lang="en-US" sz="1600" dirty="0">
                <a:latin typeface="Courier" pitchFamily="2" charset="0"/>
              </a:rPr>
              <a:t>(</a:t>
            </a:r>
            <a:r>
              <a:rPr lang="en-US" sz="1600" dirty="0" err="1">
                <a:latin typeface="Courier" pitchFamily="2" charset="0"/>
              </a:rPr>
              <a:t>to_match</a:t>
            </a:r>
            <a:r>
              <a:rPr lang="en-US" sz="1600" dirty="0">
                <a:latin typeface="Courier" pitchFamily="2" charset="0"/>
              </a:rPr>
              <a:t> == None and focus == None) </a:t>
            </a:r>
          </a:p>
          <a:p>
            <a:r>
              <a:rPr lang="en-US" sz="1600" dirty="0">
                <a:latin typeface="Courier" pitchFamily="2" charset="0"/>
              </a:rPr>
              <a:t>    Accept</a:t>
            </a:r>
          </a:p>
          <a:p>
            <a:r>
              <a:rPr lang="en-US" sz="1600" dirty="0">
                <a:latin typeface="Courier" pitchFamily="2" charset="0"/>
              </a:rPr>
              <a:t>  </a:t>
            </a:r>
          </a:p>
          <a:p>
            <a:endParaRPr lang="en-US" sz="1600" dirty="0">
              <a:latin typeface="Courier" pitchFamily="2" charset="0"/>
            </a:endParaRPr>
          </a:p>
          <a:p>
            <a:endParaRPr lang="en-US" sz="1600" dirty="0">
              <a:latin typeface="Courier" pitchFamily="2" charset="0"/>
            </a:endParaRPr>
          </a:p>
        </p:txBody>
      </p:sp>
      <p:sp>
        <p:nvSpPr>
          <p:cNvPr id="9" name="TextBox 8">
            <a:extLst>
              <a:ext uri="{FF2B5EF4-FFF2-40B4-BE49-F238E27FC236}">
                <a16:creationId xmlns:a16="http://schemas.microsoft.com/office/drawing/2014/main" id="{61EBA916-C199-4C48-867A-1F1254B20D21}"/>
              </a:ext>
            </a:extLst>
          </p:cNvPr>
          <p:cNvSpPr txBox="1"/>
          <p:nvPr/>
        </p:nvSpPr>
        <p:spPr>
          <a:xfrm>
            <a:off x="7131606" y="2157047"/>
            <a:ext cx="4569328" cy="461665"/>
          </a:xfrm>
          <a:prstGeom prst="rect">
            <a:avLst/>
          </a:prstGeom>
          <a:noFill/>
        </p:spPr>
        <p:txBody>
          <a:bodyPr wrap="none" rtlCol="0">
            <a:spAutoFit/>
          </a:bodyPr>
          <a:lstStyle/>
          <a:p>
            <a:r>
              <a:rPr lang="en-US" sz="2400" i="1" dirty="0"/>
              <a:t>Can we derive the string </a:t>
            </a:r>
            <a:r>
              <a:rPr lang="en-US" sz="2400" i="1" dirty="0">
                <a:latin typeface="Courier" pitchFamily="2" charset="0"/>
              </a:rPr>
              <a:t>(</a:t>
            </a:r>
            <a:r>
              <a:rPr lang="en-US" sz="2400" i="1" dirty="0" err="1">
                <a:latin typeface="Courier" pitchFamily="2" charset="0"/>
              </a:rPr>
              <a:t>a+b</a:t>
            </a:r>
            <a:r>
              <a:rPr lang="en-US" sz="2400" i="1" dirty="0">
                <a:latin typeface="Courier" pitchFamily="2" charset="0"/>
              </a:rPr>
              <a:t>)*c</a:t>
            </a:r>
          </a:p>
        </p:txBody>
      </p:sp>
      <p:sp>
        <p:nvSpPr>
          <p:cNvPr id="2" name="TextBox 1">
            <a:extLst>
              <a:ext uri="{FF2B5EF4-FFF2-40B4-BE49-F238E27FC236}">
                <a16:creationId xmlns:a16="http://schemas.microsoft.com/office/drawing/2014/main" id="{534E27C5-B53C-4A47-8952-00794A7B5C2A}"/>
              </a:ext>
            </a:extLst>
          </p:cNvPr>
          <p:cNvSpPr txBox="1"/>
          <p:nvPr/>
        </p:nvSpPr>
        <p:spPr>
          <a:xfrm>
            <a:off x="4133348" y="632345"/>
            <a:ext cx="2565568" cy="369332"/>
          </a:xfrm>
          <a:prstGeom prst="rect">
            <a:avLst/>
          </a:prstGeom>
          <a:noFill/>
        </p:spPr>
        <p:txBody>
          <a:bodyPr wrap="square" rtlCol="0">
            <a:spAutoFit/>
          </a:bodyPr>
          <a:lstStyle/>
          <a:p>
            <a:r>
              <a:rPr lang="en-US" i="1" dirty="0"/>
              <a:t>What can go wrong</a:t>
            </a:r>
          </a:p>
        </p:txBody>
      </p:sp>
      <p:sp>
        <p:nvSpPr>
          <p:cNvPr id="3" name="TextBox 2">
            <a:extLst>
              <a:ext uri="{FF2B5EF4-FFF2-40B4-BE49-F238E27FC236}">
                <a16:creationId xmlns:a16="http://schemas.microsoft.com/office/drawing/2014/main" id="{660BA1AC-DDC4-D74C-81BB-A663DCCA4C4C}"/>
              </a:ext>
            </a:extLst>
          </p:cNvPr>
          <p:cNvSpPr txBox="1"/>
          <p:nvPr/>
        </p:nvSpPr>
        <p:spPr>
          <a:xfrm>
            <a:off x="6866467" y="6375400"/>
            <a:ext cx="1853777" cy="369332"/>
          </a:xfrm>
          <a:prstGeom prst="rect">
            <a:avLst/>
          </a:prstGeom>
          <a:noFill/>
        </p:spPr>
        <p:txBody>
          <a:bodyPr wrap="none" rtlCol="0">
            <a:spAutoFit/>
          </a:bodyPr>
          <a:lstStyle/>
          <a:p>
            <a:r>
              <a:rPr lang="en-US" i="1" dirty="0"/>
              <a:t>Infinite recursion!</a:t>
            </a:r>
          </a:p>
        </p:txBody>
      </p:sp>
      <p:sp>
        <p:nvSpPr>
          <p:cNvPr id="10" name="Rectangle 9">
            <a:extLst>
              <a:ext uri="{FF2B5EF4-FFF2-40B4-BE49-F238E27FC236}">
                <a16:creationId xmlns:a16="http://schemas.microsoft.com/office/drawing/2014/main" id="{CA3A5D3E-694E-8E44-BAA2-581D3A8BE1E3}"/>
              </a:ext>
            </a:extLst>
          </p:cNvPr>
          <p:cNvSpPr/>
          <p:nvPr/>
        </p:nvSpPr>
        <p:spPr>
          <a:xfrm>
            <a:off x="7131606" y="157830"/>
            <a:ext cx="3911601" cy="1754326"/>
          </a:xfrm>
          <a:prstGeom prst="rect">
            <a:avLst/>
          </a:prstGeom>
        </p:spPr>
        <p:txBody>
          <a:bodyPr wrap="square">
            <a:spAutoFit/>
          </a:bodyPr>
          <a:lstStyle/>
          <a:p>
            <a:r>
              <a:rPr lang="en-US" dirty="0">
                <a:latin typeface="Courier" pitchFamily="2" charset="0"/>
              </a:rPr>
              <a:t>1: Expr  ::= Expr Op Unit</a:t>
            </a:r>
          </a:p>
          <a:p>
            <a:r>
              <a:rPr lang="en-US" dirty="0">
                <a:latin typeface="Courier" pitchFamily="2" charset="0"/>
              </a:rPr>
              <a:t>2:       |   Unit</a:t>
            </a:r>
            <a:br>
              <a:rPr lang="en-US" dirty="0">
                <a:latin typeface="Courier" pitchFamily="2" charset="0"/>
              </a:rPr>
            </a:br>
            <a:r>
              <a:rPr lang="en-US" dirty="0">
                <a:latin typeface="Courier" pitchFamily="2" charset="0"/>
              </a:rPr>
              <a:t>3: Unit  ::= ‘(‘ Expr ‘)’</a:t>
            </a:r>
          </a:p>
          <a:p>
            <a:r>
              <a:rPr lang="en-US" dirty="0">
                <a:latin typeface="Courier" pitchFamily="2" charset="0"/>
              </a:rPr>
              <a:t>4:       |    ID</a:t>
            </a:r>
          </a:p>
          <a:p>
            <a:r>
              <a:rPr lang="en-US" dirty="0">
                <a:latin typeface="Courier" pitchFamily="2" charset="0"/>
              </a:rPr>
              <a:t>5: Op    ::= ‘+’</a:t>
            </a:r>
          </a:p>
          <a:p>
            <a:r>
              <a:rPr lang="en-US" dirty="0">
                <a:latin typeface="Courier" pitchFamily="2" charset="0"/>
              </a:rPr>
              <a:t>6:       |   ‘*’</a:t>
            </a:r>
          </a:p>
        </p:txBody>
      </p:sp>
      <p:graphicFrame>
        <p:nvGraphicFramePr>
          <p:cNvPr id="12" name="Table 9">
            <a:extLst>
              <a:ext uri="{FF2B5EF4-FFF2-40B4-BE49-F238E27FC236}">
                <a16:creationId xmlns:a16="http://schemas.microsoft.com/office/drawing/2014/main" id="{3AD9D6F1-54C0-6644-8155-B899D4685D6A}"/>
              </a:ext>
            </a:extLst>
          </p:cNvPr>
          <p:cNvGraphicFramePr>
            <a:graphicFrameLocks noGrp="1"/>
          </p:cNvGraphicFramePr>
          <p:nvPr/>
        </p:nvGraphicFramePr>
        <p:xfrm>
          <a:off x="6796487" y="3108494"/>
          <a:ext cx="5105400" cy="2966720"/>
        </p:xfrm>
        <a:graphic>
          <a:graphicData uri="http://schemas.openxmlformats.org/drawingml/2006/table">
            <a:tbl>
              <a:tblPr firstRow="1" bandRow="1">
                <a:tableStyleId>{16D9F66E-5EB9-4882-86FB-DCBF35E3C3E4}</a:tableStyleId>
              </a:tblPr>
              <a:tblGrid>
                <a:gridCol w="2000380">
                  <a:extLst>
                    <a:ext uri="{9D8B030D-6E8A-4147-A177-3AD203B41FA5}">
                      <a16:colId xmlns:a16="http://schemas.microsoft.com/office/drawing/2014/main" val="3057982666"/>
                    </a:ext>
                  </a:extLst>
                </a:gridCol>
                <a:gridCol w="3105020">
                  <a:extLst>
                    <a:ext uri="{9D8B030D-6E8A-4147-A177-3AD203B41FA5}">
                      <a16:colId xmlns:a16="http://schemas.microsoft.com/office/drawing/2014/main" val="1885399885"/>
                    </a:ext>
                  </a:extLst>
                </a:gridCol>
              </a:tblGrid>
              <a:tr h="370840">
                <a:tc>
                  <a:txBody>
                    <a:bodyPr/>
                    <a:lstStyle/>
                    <a:p>
                      <a:r>
                        <a:rPr lang="en-US" dirty="0"/>
                        <a:t>Expanded 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Expr</a:t>
                      </a:r>
                    </a:p>
                  </a:txBody>
                  <a:tcPr/>
                </a:tc>
                <a:extLst>
                  <a:ext uri="{0D108BD9-81ED-4DB2-BD59-A6C34878D82A}">
                    <a16:rowId xmlns:a16="http://schemas.microsoft.com/office/drawing/2014/main" val="1765063534"/>
                  </a:ext>
                </a:extLst>
              </a:tr>
              <a:tr h="370840">
                <a:tc>
                  <a:txBody>
                    <a:bodyPr/>
                    <a:lstStyle/>
                    <a:p>
                      <a:r>
                        <a:rPr lang="en-US" dirty="0"/>
                        <a:t>2</a:t>
                      </a:r>
                    </a:p>
                  </a:txBody>
                  <a:tcPr/>
                </a:tc>
                <a:tc>
                  <a:txBody>
                    <a:bodyPr/>
                    <a:lstStyle/>
                    <a:p>
                      <a:r>
                        <a:rPr lang="en-US" dirty="0"/>
                        <a:t>Expr Op Unit</a:t>
                      </a:r>
                    </a:p>
                  </a:txBody>
                  <a:tcPr/>
                </a:tc>
                <a:extLst>
                  <a:ext uri="{0D108BD9-81ED-4DB2-BD59-A6C34878D82A}">
                    <a16:rowId xmlns:a16="http://schemas.microsoft.com/office/drawing/2014/main" val="3257291248"/>
                  </a:ext>
                </a:extLst>
              </a:tr>
              <a:tr h="370840">
                <a:tc>
                  <a:txBody>
                    <a:bodyPr/>
                    <a:lstStyle/>
                    <a:p>
                      <a:r>
                        <a:rPr lang="en-US" dirty="0"/>
                        <a:t>2</a:t>
                      </a:r>
                    </a:p>
                  </a:txBody>
                  <a:tcPr/>
                </a:tc>
                <a:tc>
                  <a:txBody>
                    <a:bodyPr/>
                    <a:lstStyle/>
                    <a:p>
                      <a:r>
                        <a:rPr lang="en-US" dirty="0"/>
                        <a:t>Expr Op Unit Op Unit</a:t>
                      </a:r>
                    </a:p>
                  </a:txBody>
                  <a:tcPr/>
                </a:tc>
                <a:extLst>
                  <a:ext uri="{0D108BD9-81ED-4DB2-BD59-A6C34878D82A}">
                    <a16:rowId xmlns:a16="http://schemas.microsoft.com/office/drawing/2014/main" val="4187378107"/>
                  </a:ext>
                </a:extLst>
              </a:tr>
              <a:tr h="370840">
                <a:tc>
                  <a:txBody>
                    <a:bodyPr/>
                    <a:lstStyle/>
                    <a:p>
                      <a:r>
                        <a:rPr lang="en-US"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Expr Op Unit Op Unit Op Unit</a:t>
                      </a:r>
                    </a:p>
                  </a:txBody>
                  <a:tcPr/>
                </a:tc>
                <a:extLst>
                  <a:ext uri="{0D108BD9-81ED-4DB2-BD59-A6C34878D82A}">
                    <a16:rowId xmlns:a16="http://schemas.microsoft.com/office/drawing/2014/main" val="249962200"/>
                  </a:ext>
                </a:extLst>
              </a:tr>
              <a:tr h="370840">
                <a:tc>
                  <a:txBody>
                    <a:bodyPr/>
                    <a:lstStyle/>
                    <a:p>
                      <a:r>
                        <a:rPr lang="en-US" dirty="0"/>
                        <a:t>2</a:t>
                      </a:r>
                    </a:p>
                  </a:txBody>
                  <a:tcPr/>
                </a:tc>
                <a:tc>
                  <a:txBody>
                    <a:bodyPr/>
                    <a:lstStyle/>
                    <a:p>
                      <a:r>
                        <a:rPr lang="en-US" dirty="0"/>
                        <a:t>Expr Op Unit ....</a:t>
                      </a:r>
                    </a:p>
                  </a:txBody>
                  <a:tcPr/>
                </a:tc>
                <a:extLst>
                  <a:ext uri="{0D108BD9-81ED-4DB2-BD59-A6C34878D82A}">
                    <a16:rowId xmlns:a16="http://schemas.microsoft.com/office/drawing/2014/main" val="422851656"/>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89639675"/>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7929062"/>
                  </a:ext>
                </a:extLst>
              </a:tr>
            </a:tbl>
          </a:graphicData>
        </a:graphic>
      </p:graphicFrame>
      <p:graphicFrame>
        <p:nvGraphicFramePr>
          <p:cNvPr id="13" name="Table 11">
            <a:extLst>
              <a:ext uri="{FF2B5EF4-FFF2-40B4-BE49-F238E27FC236}">
                <a16:creationId xmlns:a16="http://schemas.microsoft.com/office/drawing/2014/main" id="{FBDE198E-96F7-D54F-A00B-E4780FCEFB5A}"/>
              </a:ext>
            </a:extLst>
          </p:cNvPr>
          <p:cNvGraphicFramePr>
            <a:graphicFrameLocks noGrp="1"/>
          </p:cNvGraphicFramePr>
          <p:nvPr/>
        </p:nvGraphicFramePr>
        <p:xfrm>
          <a:off x="631026" y="4742295"/>
          <a:ext cx="4764488" cy="1818640"/>
        </p:xfrm>
        <a:graphic>
          <a:graphicData uri="http://schemas.openxmlformats.org/drawingml/2006/table">
            <a:tbl>
              <a:tblPr firstRow="1" bandRow="1">
                <a:tableStyleId>{5C22544A-7EE6-4342-B048-85BDC9FD1C3A}</a:tableStyleId>
              </a:tblPr>
              <a:tblGrid>
                <a:gridCol w="2382244">
                  <a:extLst>
                    <a:ext uri="{9D8B030D-6E8A-4147-A177-3AD203B41FA5}">
                      <a16:colId xmlns:a16="http://schemas.microsoft.com/office/drawing/2014/main" val="2154415494"/>
                    </a:ext>
                  </a:extLst>
                </a:gridCol>
                <a:gridCol w="2382244">
                  <a:extLst>
                    <a:ext uri="{9D8B030D-6E8A-4147-A177-3AD203B41FA5}">
                      <a16:colId xmlns:a16="http://schemas.microsoft.com/office/drawing/2014/main" val="4203313102"/>
                    </a:ext>
                  </a:extLst>
                </a:gridCol>
              </a:tblGrid>
              <a:tr h="370840">
                <a:tc>
                  <a:txBody>
                    <a:bodyPr/>
                    <a:lstStyle/>
                    <a:p>
                      <a:r>
                        <a:rPr lang="en-US" sz="1600" dirty="0">
                          <a:solidFill>
                            <a:schemeClr val="tx1"/>
                          </a:solidFill>
                        </a:rPr>
                        <a:t>Variable</a:t>
                      </a:r>
                    </a:p>
                  </a:txBody>
                  <a:tcPr>
                    <a:solidFill>
                      <a:schemeClr val="bg1"/>
                    </a:solidFill>
                  </a:tcPr>
                </a:tc>
                <a:tc>
                  <a:txBody>
                    <a:bodyPr/>
                    <a:lstStyle/>
                    <a:p>
                      <a:r>
                        <a:rPr lang="en-US" sz="1600" dirty="0">
                          <a:solidFill>
                            <a:schemeClr val="tx1"/>
                          </a:solidFill>
                        </a:rPr>
                        <a:t>Value</a:t>
                      </a:r>
                    </a:p>
                  </a:txBody>
                  <a:tcPr>
                    <a:solidFill>
                      <a:schemeClr val="bg1"/>
                    </a:solidFill>
                  </a:tcPr>
                </a:tc>
                <a:extLst>
                  <a:ext uri="{0D108BD9-81ED-4DB2-BD59-A6C34878D82A}">
                    <a16:rowId xmlns:a16="http://schemas.microsoft.com/office/drawing/2014/main" val="3896407965"/>
                  </a:ext>
                </a:extLst>
              </a:tr>
              <a:tr h="370840">
                <a:tc>
                  <a:txBody>
                    <a:bodyPr/>
                    <a:lstStyle/>
                    <a:p>
                      <a:r>
                        <a:rPr lang="en-US" sz="1600" dirty="0"/>
                        <a:t>focus</a:t>
                      </a:r>
                    </a:p>
                  </a:txBody>
                  <a:tcPr/>
                </a:tc>
                <a:tc>
                  <a:txBody>
                    <a:bodyPr/>
                    <a:lstStyle/>
                    <a:p>
                      <a:endParaRPr lang="en-US" sz="1600" dirty="0"/>
                    </a:p>
                  </a:txBody>
                  <a:tcPr/>
                </a:tc>
                <a:extLst>
                  <a:ext uri="{0D108BD9-81ED-4DB2-BD59-A6C34878D82A}">
                    <a16:rowId xmlns:a16="http://schemas.microsoft.com/office/drawing/2014/main" val="1007912806"/>
                  </a:ext>
                </a:extLst>
              </a:tr>
              <a:tr h="370840">
                <a:tc>
                  <a:txBody>
                    <a:bodyPr/>
                    <a:lstStyle/>
                    <a:p>
                      <a:r>
                        <a:rPr lang="en-US" sz="1600" dirty="0" err="1"/>
                        <a:t>to_match</a:t>
                      </a:r>
                      <a:endParaRPr lang="en-US" sz="1600" dirty="0"/>
                    </a:p>
                  </a:txBody>
                  <a:tcPr/>
                </a:tc>
                <a:tc>
                  <a:txBody>
                    <a:bodyPr/>
                    <a:lstStyle/>
                    <a:p>
                      <a:endParaRPr lang="en-US" sz="1600" dirty="0"/>
                    </a:p>
                  </a:txBody>
                  <a:tcPr/>
                </a:tc>
                <a:extLst>
                  <a:ext uri="{0D108BD9-81ED-4DB2-BD59-A6C34878D82A}">
                    <a16:rowId xmlns:a16="http://schemas.microsoft.com/office/drawing/2014/main" val="3763777716"/>
                  </a:ext>
                </a:extLst>
              </a:tr>
              <a:tr h="370840">
                <a:tc>
                  <a:txBody>
                    <a:bodyPr/>
                    <a:lstStyle/>
                    <a:p>
                      <a:r>
                        <a:rPr lang="en-US" sz="1600" dirty="0" err="1"/>
                        <a:t>s.istring</a:t>
                      </a:r>
                      <a:endParaRPr lang="en-US" sz="1600" dirty="0"/>
                    </a:p>
                  </a:txBody>
                  <a:tcPr/>
                </a:tc>
                <a:tc>
                  <a:txBody>
                    <a:bodyPr/>
                    <a:lstStyle/>
                    <a:p>
                      <a:endParaRPr lang="en-US" sz="1600" dirty="0"/>
                    </a:p>
                  </a:txBody>
                  <a:tcPr/>
                </a:tc>
                <a:extLst>
                  <a:ext uri="{0D108BD9-81ED-4DB2-BD59-A6C34878D82A}">
                    <a16:rowId xmlns:a16="http://schemas.microsoft.com/office/drawing/2014/main" val="910741957"/>
                  </a:ext>
                </a:extLst>
              </a:tr>
              <a:tr h="259812">
                <a:tc>
                  <a:txBody>
                    <a:bodyPr/>
                    <a:lstStyle/>
                    <a:p>
                      <a:r>
                        <a:rPr lang="en-US" sz="1600" dirty="0"/>
                        <a:t>stack</a:t>
                      </a:r>
                    </a:p>
                  </a:txBody>
                  <a:tcPr/>
                </a:tc>
                <a:tc>
                  <a:txBody>
                    <a:bodyPr/>
                    <a:lstStyle/>
                    <a:p>
                      <a:endParaRPr lang="en-US" sz="1600" dirty="0"/>
                    </a:p>
                  </a:txBody>
                  <a:tcPr/>
                </a:tc>
                <a:extLst>
                  <a:ext uri="{0D108BD9-81ED-4DB2-BD59-A6C34878D82A}">
                    <a16:rowId xmlns:a16="http://schemas.microsoft.com/office/drawing/2014/main" val="2837999951"/>
                  </a:ext>
                </a:extLst>
              </a:tr>
            </a:tbl>
          </a:graphicData>
        </a:graphic>
      </p:graphicFrame>
    </p:spTree>
    <p:extLst>
      <p:ext uri="{BB962C8B-B14F-4D97-AF65-F5344CB8AC3E}">
        <p14:creationId xmlns:p14="http://schemas.microsoft.com/office/powerpoint/2010/main" val="92495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3" name="TextBox 2">
            <a:extLst>
              <a:ext uri="{FF2B5EF4-FFF2-40B4-BE49-F238E27FC236}">
                <a16:creationId xmlns:a16="http://schemas.microsoft.com/office/drawing/2014/main" id="{9B32B993-57C7-DF49-A59B-C01E6BC17AF2}"/>
              </a:ext>
            </a:extLst>
          </p:cNvPr>
          <p:cNvSpPr txBox="1"/>
          <p:nvPr/>
        </p:nvSpPr>
        <p:spPr>
          <a:xfrm>
            <a:off x="1219200" y="2819400"/>
            <a:ext cx="2949846" cy="830997"/>
          </a:xfrm>
          <a:prstGeom prst="rect">
            <a:avLst/>
          </a:prstGeom>
          <a:noFill/>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9" name="TextBox 8">
            <a:extLst>
              <a:ext uri="{FF2B5EF4-FFF2-40B4-BE49-F238E27FC236}">
                <a16:creationId xmlns:a16="http://schemas.microsoft.com/office/drawing/2014/main" id="{A22CD5CB-B832-384A-BF16-C0F97F7E513E}"/>
              </a:ext>
            </a:extLst>
          </p:cNvPr>
          <p:cNvSpPr txBox="1"/>
          <p:nvPr/>
        </p:nvSpPr>
        <p:spPr>
          <a:xfrm>
            <a:off x="1219200" y="4548276"/>
            <a:ext cx="4546437" cy="461665"/>
          </a:xfrm>
          <a:prstGeom prst="rect">
            <a:avLst/>
          </a:prstGeom>
          <a:noFill/>
        </p:spPr>
        <p:txBody>
          <a:bodyPr wrap="none" rtlCol="0">
            <a:spAutoFit/>
          </a:bodyPr>
          <a:lstStyle/>
          <a:p>
            <a:r>
              <a:rPr lang="en-US" sz="2400" i="1" dirty="0"/>
              <a:t>What does this grammar describe?</a:t>
            </a:r>
          </a:p>
        </p:txBody>
      </p:sp>
    </p:spTree>
    <p:extLst>
      <p:ext uri="{BB962C8B-B14F-4D97-AF65-F5344CB8AC3E}">
        <p14:creationId xmlns:p14="http://schemas.microsoft.com/office/powerpoint/2010/main" val="350895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3" name="TextBox 2">
            <a:extLst>
              <a:ext uri="{FF2B5EF4-FFF2-40B4-BE49-F238E27FC236}">
                <a16:creationId xmlns:a16="http://schemas.microsoft.com/office/drawing/2014/main" id="{9B32B993-57C7-DF49-A59B-C01E6BC17AF2}"/>
              </a:ext>
            </a:extLst>
          </p:cNvPr>
          <p:cNvSpPr txBox="1"/>
          <p:nvPr/>
        </p:nvSpPr>
        <p:spPr>
          <a:xfrm>
            <a:off x="1219200" y="2819400"/>
            <a:ext cx="2949846" cy="830997"/>
          </a:xfrm>
          <a:prstGeom prst="rect">
            <a:avLst/>
          </a:prstGeom>
          <a:noFill/>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5" name="TextBox 4">
            <a:extLst>
              <a:ext uri="{FF2B5EF4-FFF2-40B4-BE49-F238E27FC236}">
                <a16:creationId xmlns:a16="http://schemas.microsoft.com/office/drawing/2014/main" id="{5A143177-05B6-7D4C-AEF7-3B1F5AA777F8}"/>
              </a:ext>
            </a:extLst>
          </p:cNvPr>
          <p:cNvSpPr txBox="1"/>
          <p:nvPr/>
        </p:nvSpPr>
        <p:spPr>
          <a:xfrm>
            <a:off x="6248400" y="2819399"/>
            <a:ext cx="3683000" cy="1569660"/>
          </a:xfrm>
          <a:prstGeom prst="rect">
            <a:avLst/>
          </a:prstGeom>
          <a:noFill/>
        </p:spPr>
        <p:txBody>
          <a:bodyPr wrap="square" rtlCol="0">
            <a:spAutoFit/>
          </a:bodyPr>
          <a:lstStyle/>
          <a:p>
            <a:r>
              <a:rPr lang="en-US" sz="2400" dirty="0">
                <a:latin typeface="Courier" pitchFamily="2" charset="0"/>
              </a:rPr>
              <a:t>Fee  ::= “b” Fee2</a:t>
            </a:r>
          </a:p>
          <a:p>
            <a:endParaRPr lang="en-US" sz="2400" dirty="0">
              <a:latin typeface="Courier" pitchFamily="2" charset="0"/>
            </a:endParaRPr>
          </a:p>
          <a:p>
            <a:r>
              <a:rPr lang="en-US" sz="2400" dirty="0">
                <a:latin typeface="Courier" pitchFamily="2" charset="0"/>
              </a:rPr>
              <a:t>Fee2 ::= “a” Fee2</a:t>
            </a:r>
          </a:p>
          <a:p>
            <a:r>
              <a:rPr lang="en-US" sz="2400" dirty="0">
                <a:latin typeface="Courier" pitchFamily="2" charset="0"/>
              </a:rPr>
              <a:t>     |    “”</a:t>
            </a:r>
          </a:p>
        </p:txBody>
      </p:sp>
      <p:sp>
        <p:nvSpPr>
          <p:cNvPr id="6" name="TextBox 5">
            <a:extLst>
              <a:ext uri="{FF2B5EF4-FFF2-40B4-BE49-F238E27FC236}">
                <a16:creationId xmlns:a16="http://schemas.microsoft.com/office/drawing/2014/main" id="{C3B09FD4-A8EF-DC46-9E43-29C7CF1D9528}"/>
              </a:ext>
            </a:extLst>
          </p:cNvPr>
          <p:cNvSpPr txBox="1"/>
          <p:nvPr/>
        </p:nvSpPr>
        <p:spPr>
          <a:xfrm>
            <a:off x="6096000" y="2070377"/>
            <a:ext cx="3293915" cy="369332"/>
          </a:xfrm>
          <a:prstGeom prst="rect">
            <a:avLst/>
          </a:prstGeom>
          <a:noFill/>
        </p:spPr>
        <p:txBody>
          <a:bodyPr wrap="none" rtlCol="0">
            <a:spAutoFit/>
          </a:bodyPr>
          <a:lstStyle/>
          <a:p>
            <a:r>
              <a:rPr lang="en-US" i="1" dirty="0"/>
              <a:t>The grammar can be rewritten as</a:t>
            </a:r>
          </a:p>
        </p:txBody>
      </p:sp>
    </p:spTree>
    <p:extLst>
      <p:ext uri="{BB962C8B-B14F-4D97-AF65-F5344CB8AC3E}">
        <p14:creationId xmlns:p14="http://schemas.microsoft.com/office/powerpoint/2010/main" val="4026347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3" name="TextBox 2">
            <a:extLst>
              <a:ext uri="{FF2B5EF4-FFF2-40B4-BE49-F238E27FC236}">
                <a16:creationId xmlns:a16="http://schemas.microsoft.com/office/drawing/2014/main" id="{9B32B993-57C7-DF49-A59B-C01E6BC17AF2}"/>
              </a:ext>
            </a:extLst>
          </p:cNvPr>
          <p:cNvSpPr txBox="1"/>
          <p:nvPr/>
        </p:nvSpPr>
        <p:spPr>
          <a:xfrm>
            <a:off x="1219200" y="2819400"/>
            <a:ext cx="2581156" cy="830997"/>
          </a:xfrm>
          <a:prstGeom prst="rect">
            <a:avLst/>
          </a:prstGeom>
          <a:noFill/>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5" name="TextBox 4">
            <a:extLst>
              <a:ext uri="{FF2B5EF4-FFF2-40B4-BE49-F238E27FC236}">
                <a16:creationId xmlns:a16="http://schemas.microsoft.com/office/drawing/2014/main" id="{5A143177-05B6-7D4C-AEF7-3B1F5AA777F8}"/>
              </a:ext>
            </a:extLst>
          </p:cNvPr>
          <p:cNvSpPr txBox="1"/>
          <p:nvPr/>
        </p:nvSpPr>
        <p:spPr>
          <a:xfrm>
            <a:off x="6248400" y="2819399"/>
            <a:ext cx="3683000" cy="1569660"/>
          </a:xfrm>
          <a:prstGeom prst="rect">
            <a:avLst/>
          </a:prstGeom>
          <a:noFill/>
        </p:spPr>
        <p:txBody>
          <a:bodyPr wrap="square" rtlCol="0">
            <a:spAutoFit/>
          </a:bodyPr>
          <a:lstStyle/>
          <a:p>
            <a:r>
              <a:rPr lang="en-US" sz="2400" dirty="0">
                <a:latin typeface="Courier" pitchFamily="2" charset="0"/>
              </a:rPr>
              <a:t>Fee  ::= B Fee2</a:t>
            </a:r>
          </a:p>
          <a:p>
            <a:endParaRPr lang="en-US" sz="2400" dirty="0">
              <a:latin typeface="Courier" pitchFamily="2" charset="0"/>
            </a:endParaRPr>
          </a:p>
          <a:p>
            <a:r>
              <a:rPr lang="en-US" sz="2400" dirty="0">
                <a:latin typeface="Courier" pitchFamily="2" charset="0"/>
              </a:rPr>
              <a:t>Fee2 ::= A Fee2</a:t>
            </a:r>
          </a:p>
          <a:p>
            <a:r>
              <a:rPr lang="en-US" sz="2400" dirty="0">
                <a:latin typeface="Courier" pitchFamily="2" charset="0"/>
              </a:rPr>
              <a:t>     |   “”</a:t>
            </a:r>
          </a:p>
        </p:txBody>
      </p:sp>
      <p:sp>
        <p:nvSpPr>
          <p:cNvPr id="6" name="TextBox 5">
            <a:extLst>
              <a:ext uri="{FF2B5EF4-FFF2-40B4-BE49-F238E27FC236}">
                <a16:creationId xmlns:a16="http://schemas.microsoft.com/office/drawing/2014/main" id="{C3B09FD4-A8EF-DC46-9E43-29C7CF1D9528}"/>
              </a:ext>
            </a:extLst>
          </p:cNvPr>
          <p:cNvSpPr txBox="1"/>
          <p:nvPr/>
        </p:nvSpPr>
        <p:spPr>
          <a:xfrm>
            <a:off x="2438400" y="1960310"/>
            <a:ext cx="6874702" cy="369332"/>
          </a:xfrm>
          <a:prstGeom prst="rect">
            <a:avLst/>
          </a:prstGeom>
          <a:noFill/>
        </p:spPr>
        <p:txBody>
          <a:bodyPr wrap="none" rtlCol="0">
            <a:spAutoFit/>
          </a:bodyPr>
          <a:lstStyle/>
          <a:p>
            <a:r>
              <a:rPr lang="en-US" i="1" dirty="0"/>
              <a:t>In general, A and B can be any sequence of non-terminals and terminals</a:t>
            </a:r>
          </a:p>
        </p:txBody>
      </p:sp>
    </p:spTree>
    <p:extLst>
      <p:ext uri="{BB962C8B-B14F-4D97-AF65-F5344CB8AC3E}">
        <p14:creationId xmlns:p14="http://schemas.microsoft.com/office/powerpoint/2010/main" val="1014360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4" name="TextBox 3">
            <a:extLst>
              <a:ext uri="{FF2B5EF4-FFF2-40B4-BE49-F238E27FC236}">
                <a16:creationId xmlns:a16="http://schemas.microsoft.com/office/drawing/2014/main" id="{E6726824-AA59-4F45-A39C-0D55DB172730}"/>
              </a:ext>
            </a:extLst>
          </p:cNvPr>
          <p:cNvSpPr txBox="1"/>
          <p:nvPr/>
        </p:nvSpPr>
        <p:spPr>
          <a:xfrm>
            <a:off x="838200" y="4019727"/>
            <a:ext cx="3112519" cy="369332"/>
          </a:xfrm>
          <a:prstGeom prst="rect">
            <a:avLst/>
          </a:prstGeom>
          <a:noFill/>
        </p:spPr>
        <p:txBody>
          <a:bodyPr wrap="none" rtlCol="0">
            <a:spAutoFit/>
          </a:bodyPr>
          <a:lstStyle/>
          <a:p>
            <a:r>
              <a:rPr lang="en-US" i="1" dirty="0"/>
              <a:t>Lets do this one as an example:</a:t>
            </a:r>
          </a:p>
        </p:txBody>
      </p:sp>
      <p:sp>
        <p:nvSpPr>
          <p:cNvPr id="9" name="TextBox 8">
            <a:extLst>
              <a:ext uri="{FF2B5EF4-FFF2-40B4-BE49-F238E27FC236}">
                <a16:creationId xmlns:a16="http://schemas.microsoft.com/office/drawing/2014/main" id="{A8676F00-A4BC-1E49-9855-9D9EE1AC37CF}"/>
              </a:ext>
            </a:extLst>
          </p:cNvPr>
          <p:cNvSpPr txBox="1"/>
          <p:nvPr/>
        </p:nvSpPr>
        <p:spPr>
          <a:xfrm>
            <a:off x="838200" y="4958265"/>
            <a:ext cx="2581156" cy="830997"/>
          </a:xfrm>
          <a:prstGeom prst="rect">
            <a:avLst/>
          </a:prstGeom>
          <a:noFill/>
          <a:ln>
            <a:solidFill>
              <a:schemeClr val="tx1"/>
            </a:solidFill>
          </a:ln>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10" name="TextBox 9">
            <a:extLst>
              <a:ext uri="{FF2B5EF4-FFF2-40B4-BE49-F238E27FC236}">
                <a16:creationId xmlns:a16="http://schemas.microsoft.com/office/drawing/2014/main" id="{1C55BAF3-3D30-DC48-AF36-D594694AF4E7}"/>
              </a:ext>
            </a:extLst>
          </p:cNvPr>
          <p:cNvSpPr txBox="1"/>
          <p:nvPr/>
        </p:nvSpPr>
        <p:spPr>
          <a:xfrm>
            <a:off x="4961466" y="4588934"/>
            <a:ext cx="3683000" cy="1569660"/>
          </a:xfrm>
          <a:prstGeom prst="rect">
            <a:avLst/>
          </a:prstGeom>
          <a:noFill/>
          <a:ln>
            <a:solidFill>
              <a:schemeClr val="tx1"/>
            </a:solidFill>
          </a:ln>
        </p:spPr>
        <p:txBody>
          <a:bodyPr wrap="square" rtlCol="0">
            <a:spAutoFit/>
          </a:bodyPr>
          <a:lstStyle/>
          <a:p>
            <a:r>
              <a:rPr lang="en-US" sz="2400" dirty="0">
                <a:latin typeface="Courier" pitchFamily="2" charset="0"/>
              </a:rPr>
              <a:t>Fee  ::= B Fee2</a:t>
            </a:r>
          </a:p>
          <a:p>
            <a:endParaRPr lang="en-US" sz="2400" dirty="0">
              <a:latin typeface="Courier" pitchFamily="2" charset="0"/>
            </a:endParaRPr>
          </a:p>
          <a:p>
            <a:r>
              <a:rPr lang="en-US" sz="2400" dirty="0">
                <a:latin typeface="Courier" pitchFamily="2" charset="0"/>
              </a:rPr>
              <a:t>Fee2 ::= A Fee2</a:t>
            </a:r>
          </a:p>
          <a:p>
            <a:r>
              <a:rPr lang="en-US" sz="2400" dirty="0">
                <a:latin typeface="Courier" pitchFamily="2" charset="0"/>
              </a:rPr>
              <a:t>     |    “”</a:t>
            </a:r>
          </a:p>
        </p:txBody>
      </p:sp>
      <p:sp>
        <p:nvSpPr>
          <p:cNvPr id="11" name="Right Arrow 10">
            <a:extLst>
              <a:ext uri="{FF2B5EF4-FFF2-40B4-BE49-F238E27FC236}">
                <a16:creationId xmlns:a16="http://schemas.microsoft.com/office/drawing/2014/main" id="{644EF493-F4D3-F74D-B9B3-FA8A993CFF5D}"/>
              </a:ext>
            </a:extLst>
          </p:cNvPr>
          <p:cNvSpPr/>
          <p:nvPr/>
        </p:nvSpPr>
        <p:spPr>
          <a:xfrm>
            <a:off x="3950719" y="5308600"/>
            <a:ext cx="765214" cy="22013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6F71058-3D02-354A-8EB9-782ACBD8786D}"/>
              </a:ext>
            </a:extLst>
          </p:cNvPr>
          <p:cNvSpPr/>
          <p:nvPr/>
        </p:nvSpPr>
        <p:spPr>
          <a:xfrm>
            <a:off x="931331" y="1867006"/>
            <a:ext cx="3911601" cy="1754326"/>
          </a:xfrm>
          <a:prstGeom prst="rect">
            <a:avLst/>
          </a:prstGeom>
        </p:spPr>
        <p:txBody>
          <a:bodyPr wrap="square">
            <a:spAutoFit/>
          </a:bodyPr>
          <a:lstStyle/>
          <a:p>
            <a:r>
              <a:rPr lang="en-US" dirty="0">
                <a:latin typeface="Courier" pitchFamily="2" charset="0"/>
              </a:rPr>
              <a:t>1: Expr  ::= Expr Op Unit</a:t>
            </a:r>
          </a:p>
          <a:p>
            <a:r>
              <a:rPr lang="en-US" dirty="0">
                <a:latin typeface="Courier" pitchFamily="2" charset="0"/>
              </a:rPr>
              <a:t>2:       |   Unit</a:t>
            </a:r>
            <a:br>
              <a:rPr lang="en-US" dirty="0">
                <a:latin typeface="Courier" pitchFamily="2" charset="0"/>
              </a:rPr>
            </a:br>
            <a:r>
              <a:rPr lang="en-US" dirty="0">
                <a:latin typeface="Courier" pitchFamily="2" charset="0"/>
              </a:rPr>
              <a:t>3: Unit  ::= ‘(‘ Expr ‘)’</a:t>
            </a:r>
          </a:p>
          <a:p>
            <a:r>
              <a:rPr lang="en-US" dirty="0">
                <a:latin typeface="Courier" pitchFamily="2" charset="0"/>
              </a:rPr>
              <a:t>4:       |    ID</a:t>
            </a:r>
          </a:p>
          <a:p>
            <a:r>
              <a:rPr lang="en-US" dirty="0">
                <a:latin typeface="Courier" pitchFamily="2" charset="0"/>
              </a:rPr>
              <a:t>5: Op    ::= ‘+’</a:t>
            </a:r>
          </a:p>
          <a:p>
            <a:r>
              <a:rPr lang="en-US" dirty="0">
                <a:latin typeface="Courier" pitchFamily="2" charset="0"/>
              </a:rPr>
              <a:t>6:       |   ‘*’</a:t>
            </a:r>
          </a:p>
        </p:txBody>
      </p:sp>
    </p:spTree>
    <p:extLst>
      <p:ext uri="{BB962C8B-B14F-4D97-AF65-F5344CB8AC3E}">
        <p14:creationId xmlns:p14="http://schemas.microsoft.com/office/powerpoint/2010/main" val="757079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4" name="TextBox 3">
            <a:extLst>
              <a:ext uri="{FF2B5EF4-FFF2-40B4-BE49-F238E27FC236}">
                <a16:creationId xmlns:a16="http://schemas.microsoft.com/office/drawing/2014/main" id="{E6726824-AA59-4F45-A39C-0D55DB172730}"/>
              </a:ext>
            </a:extLst>
          </p:cNvPr>
          <p:cNvSpPr txBox="1"/>
          <p:nvPr/>
        </p:nvSpPr>
        <p:spPr>
          <a:xfrm>
            <a:off x="838200" y="4019727"/>
            <a:ext cx="3112519" cy="369332"/>
          </a:xfrm>
          <a:prstGeom prst="rect">
            <a:avLst/>
          </a:prstGeom>
          <a:noFill/>
        </p:spPr>
        <p:txBody>
          <a:bodyPr wrap="none" rtlCol="0">
            <a:spAutoFit/>
          </a:bodyPr>
          <a:lstStyle/>
          <a:p>
            <a:r>
              <a:rPr lang="en-US" i="1" dirty="0"/>
              <a:t>Lets do this one as an example:</a:t>
            </a:r>
          </a:p>
        </p:txBody>
      </p:sp>
      <p:sp>
        <p:nvSpPr>
          <p:cNvPr id="9" name="TextBox 8">
            <a:extLst>
              <a:ext uri="{FF2B5EF4-FFF2-40B4-BE49-F238E27FC236}">
                <a16:creationId xmlns:a16="http://schemas.microsoft.com/office/drawing/2014/main" id="{A8676F00-A4BC-1E49-9855-9D9EE1AC37CF}"/>
              </a:ext>
            </a:extLst>
          </p:cNvPr>
          <p:cNvSpPr txBox="1"/>
          <p:nvPr/>
        </p:nvSpPr>
        <p:spPr>
          <a:xfrm>
            <a:off x="838200" y="4958265"/>
            <a:ext cx="2581156" cy="830997"/>
          </a:xfrm>
          <a:prstGeom prst="rect">
            <a:avLst/>
          </a:prstGeom>
          <a:noFill/>
          <a:ln>
            <a:solidFill>
              <a:schemeClr val="tx1"/>
            </a:solidFill>
          </a:ln>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10" name="TextBox 9">
            <a:extLst>
              <a:ext uri="{FF2B5EF4-FFF2-40B4-BE49-F238E27FC236}">
                <a16:creationId xmlns:a16="http://schemas.microsoft.com/office/drawing/2014/main" id="{1C55BAF3-3D30-DC48-AF36-D594694AF4E7}"/>
              </a:ext>
            </a:extLst>
          </p:cNvPr>
          <p:cNvSpPr txBox="1"/>
          <p:nvPr/>
        </p:nvSpPr>
        <p:spPr>
          <a:xfrm>
            <a:off x="4961466" y="4588934"/>
            <a:ext cx="3683000" cy="1569660"/>
          </a:xfrm>
          <a:prstGeom prst="rect">
            <a:avLst/>
          </a:prstGeom>
          <a:noFill/>
          <a:ln>
            <a:solidFill>
              <a:schemeClr val="tx1"/>
            </a:solidFill>
          </a:ln>
        </p:spPr>
        <p:txBody>
          <a:bodyPr wrap="square" rtlCol="0">
            <a:spAutoFit/>
          </a:bodyPr>
          <a:lstStyle/>
          <a:p>
            <a:r>
              <a:rPr lang="en-US" sz="2400" dirty="0">
                <a:latin typeface="Courier" pitchFamily="2" charset="0"/>
              </a:rPr>
              <a:t>Fee  ::= B Fee2</a:t>
            </a:r>
          </a:p>
          <a:p>
            <a:endParaRPr lang="en-US" sz="2400" dirty="0">
              <a:latin typeface="Courier" pitchFamily="2" charset="0"/>
            </a:endParaRPr>
          </a:p>
          <a:p>
            <a:r>
              <a:rPr lang="en-US" sz="2400" dirty="0">
                <a:latin typeface="Courier" pitchFamily="2" charset="0"/>
              </a:rPr>
              <a:t>Fee2 ::= A Fee2</a:t>
            </a:r>
          </a:p>
          <a:p>
            <a:r>
              <a:rPr lang="en-US" sz="2400" dirty="0">
                <a:latin typeface="Courier" pitchFamily="2" charset="0"/>
              </a:rPr>
              <a:t>     |    “”</a:t>
            </a:r>
          </a:p>
        </p:txBody>
      </p:sp>
      <p:sp>
        <p:nvSpPr>
          <p:cNvPr id="11" name="Right Arrow 10">
            <a:extLst>
              <a:ext uri="{FF2B5EF4-FFF2-40B4-BE49-F238E27FC236}">
                <a16:creationId xmlns:a16="http://schemas.microsoft.com/office/drawing/2014/main" id="{644EF493-F4D3-F74D-B9B3-FA8A993CFF5D}"/>
              </a:ext>
            </a:extLst>
          </p:cNvPr>
          <p:cNvSpPr/>
          <p:nvPr/>
        </p:nvSpPr>
        <p:spPr>
          <a:xfrm>
            <a:off x="3950719" y="5308600"/>
            <a:ext cx="765214" cy="22013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C864E2-A02E-2444-AE31-D5DF5CC6D686}"/>
              </a:ext>
            </a:extLst>
          </p:cNvPr>
          <p:cNvSpPr/>
          <p:nvPr/>
        </p:nvSpPr>
        <p:spPr>
          <a:xfrm>
            <a:off x="7518398" y="1745318"/>
            <a:ext cx="3911601" cy="2031325"/>
          </a:xfrm>
          <a:prstGeom prst="rect">
            <a:avLst/>
          </a:prstGeom>
        </p:spPr>
        <p:txBody>
          <a:bodyPr wrap="square">
            <a:spAutoFit/>
          </a:bodyPr>
          <a:lstStyle/>
          <a:p>
            <a:r>
              <a:rPr lang="en-US" dirty="0">
                <a:latin typeface="Courier" pitchFamily="2" charset="0"/>
              </a:rPr>
              <a:t>1: Expr  ::= ??</a:t>
            </a:r>
          </a:p>
          <a:p>
            <a:r>
              <a:rPr lang="en-US" dirty="0">
                <a:latin typeface="Courier" pitchFamily="2" charset="0"/>
              </a:rPr>
              <a:t>2: Expr2 ::= ??</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13" name="Rectangle 12">
            <a:extLst>
              <a:ext uri="{FF2B5EF4-FFF2-40B4-BE49-F238E27FC236}">
                <a16:creationId xmlns:a16="http://schemas.microsoft.com/office/drawing/2014/main" id="{01E259B4-7C64-2F4C-880F-61DEB51B60A5}"/>
              </a:ext>
            </a:extLst>
          </p:cNvPr>
          <p:cNvSpPr/>
          <p:nvPr/>
        </p:nvSpPr>
        <p:spPr>
          <a:xfrm>
            <a:off x="931331" y="1867006"/>
            <a:ext cx="3911601" cy="1754326"/>
          </a:xfrm>
          <a:prstGeom prst="rect">
            <a:avLst/>
          </a:prstGeom>
        </p:spPr>
        <p:txBody>
          <a:bodyPr wrap="square">
            <a:spAutoFit/>
          </a:bodyPr>
          <a:lstStyle/>
          <a:p>
            <a:r>
              <a:rPr lang="en-US" dirty="0">
                <a:latin typeface="Courier" pitchFamily="2" charset="0"/>
              </a:rPr>
              <a:t>1: Expr  ::= Expr Op Unit</a:t>
            </a:r>
          </a:p>
          <a:p>
            <a:r>
              <a:rPr lang="en-US" dirty="0">
                <a:latin typeface="Courier" pitchFamily="2" charset="0"/>
              </a:rPr>
              <a:t>2:       |   Unit</a:t>
            </a:r>
            <a:br>
              <a:rPr lang="en-US" dirty="0">
                <a:latin typeface="Courier" pitchFamily="2" charset="0"/>
              </a:rPr>
            </a:br>
            <a:r>
              <a:rPr lang="en-US" dirty="0">
                <a:latin typeface="Courier" pitchFamily="2" charset="0"/>
              </a:rPr>
              <a:t>3: Unit  ::= ‘(‘ Expr ‘)’</a:t>
            </a:r>
          </a:p>
          <a:p>
            <a:r>
              <a:rPr lang="en-US" dirty="0">
                <a:latin typeface="Courier" pitchFamily="2" charset="0"/>
              </a:rPr>
              <a:t>4:       |    ID</a:t>
            </a:r>
          </a:p>
          <a:p>
            <a:r>
              <a:rPr lang="en-US" dirty="0">
                <a:latin typeface="Courier" pitchFamily="2" charset="0"/>
              </a:rPr>
              <a:t>5: Op    ::= ‘+’</a:t>
            </a:r>
          </a:p>
          <a:p>
            <a:r>
              <a:rPr lang="en-US" dirty="0">
                <a:latin typeface="Courier" pitchFamily="2" charset="0"/>
              </a:rPr>
              <a:t>6:       |   ‘*’</a:t>
            </a:r>
          </a:p>
        </p:txBody>
      </p:sp>
      <p:sp>
        <p:nvSpPr>
          <p:cNvPr id="5" name="TextBox 4">
            <a:extLst>
              <a:ext uri="{FF2B5EF4-FFF2-40B4-BE49-F238E27FC236}">
                <a16:creationId xmlns:a16="http://schemas.microsoft.com/office/drawing/2014/main" id="{7624AE47-F185-4846-AD7D-D588580EC039}"/>
              </a:ext>
            </a:extLst>
          </p:cNvPr>
          <p:cNvSpPr txBox="1"/>
          <p:nvPr/>
        </p:nvSpPr>
        <p:spPr>
          <a:xfrm>
            <a:off x="9474198" y="809351"/>
            <a:ext cx="1011815" cy="646331"/>
          </a:xfrm>
          <a:prstGeom prst="rect">
            <a:avLst/>
          </a:prstGeom>
          <a:noFill/>
        </p:spPr>
        <p:txBody>
          <a:bodyPr wrap="none" rtlCol="0">
            <a:spAutoFit/>
          </a:bodyPr>
          <a:lstStyle/>
          <a:p>
            <a:r>
              <a:rPr lang="en-US" dirty="0">
                <a:latin typeface="Courier" pitchFamily="2" charset="0"/>
              </a:rPr>
              <a:t>A = ??</a:t>
            </a:r>
          </a:p>
          <a:p>
            <a:r>
              <a:rPr lang="en-US" dirty="0">
                <a:latin typeface="Courier" pitchFamily="2" charset="0"/>
              </a:rPr>
              <a:t>B = ??</a:t>
            </a:r>
          </a:p>
        </p:txBody>
      </p:sp>
    </p:spTree>
    <p:extLst>
      <p:ext uri="{BB962C8B-B14F-4D97-AF65-F5344CB8AC3E}">
        <p14:creationId xmlns:p14="http://schemas.microsoft.com/office/powerpoint/2010/main" val="588272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516FBAA2-F3E5-91FD-07FF-7B0C7EFA9751}"/>
              </a:ext>
            </a:extLst>
          </p:cNvPr>
          <p:cNvPicPr>
            <a:picLocks noChangeAspect="1"/>
          </p:cNvPicPr>
          <p:nvPr/>
        </p:nvPicPr>
        <p:blipFill>
          <a:blip r:embed="rId2"/>
          <a:stretch>
            <a:fillRect/>
          </a:stretch>
        </p:blipFill>
        <p:spPr>
          <a:xfrm>
            <a:off x="2354766" y="1599854"/>
            <a:ext cx="7772400" cy="2141728"/>
          </a:xfrm>
          <a:prstGeom prst="rect">
            <a:avLst/>
          </a:prstGeom>
        </p:spPr>
      </p:pic>
    </p:spTree>
    <p:extLst>
      <p:ext uri="{BB962C8B-B14F-4D97-AF65-F5344CB8AC3E}">
        <p14:creationId xmlns:p14="http://schemas.microsoft.com/office/powerpoint/2010/main" val="311245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C9EBB-6E9C-0CE4-0E80-472321817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4C667-70AB-5241-C516-88742BD29801}"/>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E862D4EA-7876-A79B-34A2-5613D303E99C}"/>
              </a:ext>
            </a:extLst>
          </p:cNvPr>
          <p:cNvPicPr>
            <a:picLocks noChangeAspect="1"/>
          </p:cNvPicPr>
          <p:nvPr/>
        </p:nvPicPr>
        <p:blipFill>
          <a:blip r:embed="rId2"/>
          <a:stretch>
            <a:fillRect/>
          </a:stretch>
        </p:blipFill>
        <p:spPr>
          <a:xfrm>
            <a:off x="2354766" y="1599854"/>
            <a:ext cx="7772400" cy="2141728"/>
          </a:xfrm>
          <a:prstGeom prst="rect">
            <a:avLst/>
          </a:prstGeom>
        </p:spPr>
      </p:pic>
      <p:sp>
        <p:nvSpPr>
          <p:cNvPr id="4" name="TextBox 3">
            <a:extLst>
              <a:ext uri="{FF2B5EF4-FFF2-40B4-BE49-F238E27FC236}">
                <a16:creationId xmlns:a16="http://schemas.microsoft.com/office/drawing/2014/main" id="{361FFF67-5045-927F-D44B-B78B2FEE0C67}"/>
              </a:ext>
            </a:extLst>
          </p:cNvPr>
          <p:cNvSpPr txBox="1"/>
          <p:nvPr/>
        </p:nvSpPr>
        <p:spPr>
          <a:xfrm>
            <a:off x="2509024" y="4270917"/>
            <a:ext cx="7114478" cy="1200329"/>
          </a:xfrm>
          <a:prstGeom prst="rect">
            <a:avLst/>
          </a:prstGeom>
          <a:noFill/>
        </p:spPr>
        <p:txBody>
          <a:bodyPr wrap="square" rtlCol="0">
            <a:spAutoFit/>
          </a:bodyPr>
          <a:lstStyle/>
          <a:p>
            <a:r>
              <a:rPr lang="en-US" b="1" dirty="0"/>
              <a:t>This is FALSE.  You can write a parser that does not know which production option to apply if you are willing to do backtracking.  That said this is not ideal since backtracking can lead to much slower parsing.</a:t>
            </a:r>
          </a:p>
        </p:txBody>
      </p:sp>
    </p:spTree>
    <p:extLst>
      <p:ext uri="{BB962C8B-B14F-4D97-AF65-F5344CB8AC3E}">
        <p14:creationId xmlns:p14="http://schemas.microsoft.com/office/powerpoint/2010/main" val="1157619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D1F5A85-E49B-0F45-99DD-0A4464DDCB81}"/>
              </a:ext>
            </a:extLst>
          </p:cNvPr>
          <p:cNvSpPr txBox="1"/>
          <p:nvPr/>
        </p:nvSpPr>
        <p:spPr>
          <a:xfrm>
            <a:off x="400591" y="291110"/>
            <a:ext cx="5862502" cy="6494085"/>
          </a:xfrm>
          <a:prstGeom prst="rect">
            <a:avLst/>
          </a:prstGeom>
          <a:noFill/>
        </p:spPr>
        <p:txBody>
          <a:bodyPr wrap="none" rtlCol="0">
            <a:spAutoFit/>
          </a:bodyPr>
          <a:lstStyle/>
          <a:p>
            <a:r>
              <a:rPr lang="en-US" sz="1600" dirty="0">
                <a:latin typeface="Courier" pitchFamily="2" charset="0"/>
              </a:rPr>
              <a:t>root = start symbol;</a:t>
            </a:r>
            <a:br>
              <a:rPr lang="en-US" sz="1600" dirty="0">
                <a:latin typeface="Courier" pitchFamily="2" charset="0"/>
              </a:rPr>
            </a:br>
            <a:r>
              <a:rPr lang="en-US" sz="1600" dirty="0">
                <a:latin typeface="Courier" pitchFamily="2" charset="0"/>
              </a:rPr>
              <a:t>focus = root;</a:t>
            </a:r>
          </a:p>
          <a:p>
            <a:r>
              <a:rPr lang="en-US" sz="1600" dirty="0">
                <a:latin typeface="Courier" pitchFamily="2" charset="0"/>
              </a:rPr>
              <a:t>push(None);</a:t>
            </a:r>
          </a:p>
          <a:p>
            <a:r>
              <a:rPr lang="en-US" sz="1600" dirty="0" err="1">
                <a:latin typeface="Courier" pitchFamily="2" charset="0"/>
              </a:rPr>
              <a:t>to_match</a:t>
            </a:r>
            <a:r>
              <a:rPr lang="en-US" sz="1600" dirty="0">
                <a:latin typeface="Courier" pitchFamily="2" charset="0"/>
              </a:rPr>
              <a:t> = </a:t>
            </a:r>
            <a:r>
              <a:rPr lang="en-US" sz="1600" dirty="0" err="1">
                <a:latin typeface="Courier" pitchFamily="2" charset="0"/>
              </a:rPr>
              <a:t>s.token</a:t>
            </a:r>
            <a:r>
              <a:rPr lang="en-US" sz="1600" dirty="0">
                <a:latin typeface="Courier" pitchFamily="2" charset="0"/>
              </a:rPr>
              <a:t>();</a:t>
            </a:r>
          </a:p>
          <a:p>
            <a:endParaRPr lang="en-US" sz="1600" dirty="0">
              <a:latin typeface="Courier" pitchFamily="2" charset="0"/>
            </a:endParaRPr>
          </a:p>
          <a:p>
            <a:r>
              <a:rPr lang="en-US" sz="1600" b="1" dirty="0">
                <a:latin typeface="Courier" pitchFamily="2" charset="0"/>
              </a:rPr>
              <a:t>while</a:t>
            </a:r>
            <a:r>
              <a:rPr lang="en-US" sz="1600" dirty="0">
                <a:latin typeface="Courier" pitchFamily="2" charset="0"/>
              </a:rPr>
              <a:t> (true):</a:t>
            </a:r>
          </a:p>
          <a:p>
            <a:r>
              <a:rPr lang="en-US" sz="1600" dirty="0">
                <a:latin typeface="Courier" pitchFamily="2" charset="0"/>
              </a:rPr>
              <a:t>  </a:t>
            </a:r>
            <a:r>
              <a:rPr lang="en-US" sz="1600" b="1" dirty="0">
                <a:latin typeface="Courier" pitchFamily="2" charset="0"/>
              </a:rPr>
              <a:t>if</a:t>
            </a:r>
            <a:r>
              <a:rPr lang="en-US" sz="1600" dirty="0">
                <a:latin typeface="Courier" pitchFamily="2" charset="0"/>
              </a:rPr>
              <a:t> (focus is a nonterminal)</a:t>
            </a:r>
          </a:p>
          <a:p>
            <a:r>
              <a:rPr lang="en-US" sz="1600" dirty="0">
                <a:latin typeface="Courier" pitchFamily="2" charset="0"/>
              </a:rPr>
              <a:t>    </a:t>
            </a:r>
            <a:r>
              <a:rPr lang="en-US" sz="1600" dirty="0" err="1">
                <a:highlight>
                  <a:srgbClr val="FFFF00"/>
                </a:highlight>
                <a:latin typeface="Courier" pitchFamily="2" charset="0"/>
              </a:rPr>
              <a:t>cache_state</a:t>
            </a:r>
            <a:r>
              <a:rPr lang="en-US" sz="1600" dirty="0">
                <a:highlight>
                  <a:srgbClr val="FFFF00"/>
                </a:highlight>
                <a:latin typeface="Courier" pitchFamily="2" charset="0"/>
              </a:rPr>
              <a:t>();</a:t>
            </a:r>
          </a:p>
          <a:p>
            <a:r>
              <a:rPr lang="en-US" sz="1600" dirty="0">
                <a:highlight>
                  <a:srgbClr val="FFFF00"/>
                </a:highlight>
                <a:latin typeface="Courier" pitchFamily="2" charset="0"/>
              </a:rPr>
              <a:t>    pick next rule (A ::= B1,B2,B3...BN);</a:t>
            </a:r>
          </a:p>
          <a:p>
            <a:r>
              <a:rPr lang="en-US" sz="1600" dirty="0">
                <a:latin typeface="Courier" pitchFamily="2" charset="0"/>
              </a:rPr>
              <a:t>    if B1 == “”: focus=pop(); continue;</a:t>
            </a:r>
          </a:p>
          <a:p>
            <a:r>
              <a:rPr lang="en-US" sz="1600" dirty="0">
                <a:latin typeface="Courier" pitchFamily="2" charset="0"/>
              </a:rPr>
              <a:t>    push(BN... B3, B2);</a:t>
            </a:r>
          </a:p>
          <a:p>
            <a:r>
              <a:rPr lang="en-US" sz="1600" dirty="0">
                <a:latin typeface="Courier" pitchFamily="2" charset="0"/>
              </a:rPr>
              <a:t>    focus = B1</a:t>
            </a:r>
          </a:p>
          <a:p>
            <a:endParaRPr lang="en-US" sz="1600" dirty="0">
              <a:latin typeface="Courier" pitchFamily="2" charset="0"/>
            </a:endParaRPr>
          </a:p>
          <a:p>
            <a:r>
              <a:rPr lang="en-US" sz="1600" b="1" dirty="0">
                <a:latin typeface="Courier" pitchFamily="2" charset="0"/>
              </a:rPr>
              <a:t> else if </a:t>
            </a:r>
            <a:r>
              <a:rPr lang="en-US" sz="1600" dirty="0">
                <a:latin typeface="Courier" pitchFamily="2" charset="0"/>
              </a:rPr>
              <a:t>(</a:t>
            </a:r>
            <a:r>
              <a:rPr lang="en-US" sz="1600" dirty="0" err="1">
                <a:latin typeface="Courier" pitchFamily="2" charset="0"/>
              </a:rPr>
              <a:t>to_match</a:t>
            </a:r>
            <a:r>
              <a:rPr lang="en-US" sz="1600" dirty="0">
                <a:latin typeface="Courier" pitchFamily="2" charset="0"/>
              </a:rPr>
              <a:t> == None and focus == None) </a:t>
            </a:r>
          </a:p>
          <a:p>
            <a:r>
              <a:rPr lang="en-US" sz="1600" dirty="0">
                <a:latin typeface="Courier" pitchFamily="2" charset="0"/>
              </a:rPr>
              <a:t>    Accept</a:t>
            </a:r>
          </a:p>
          <a:p>
            <a:endParaRPr lang="en-US" sz="1600" dirty="0">
              <a:latin typeface="Courier" pitchFamily="2" charset="0"/>
            </a:endParaRPr>
          </a:p>
          <a:p>
            <a:r>
              <a:rPr lang="en-US" sz="1600" b="1" dirty="0">
                <a:latin typeface="Courier" pitchFamily="2" charset="0"/>
              </a:rPr>
              <a:t>  else if </a:t>
            </a:r>
            <a:r>
              <a:rPr lang="en-US" sz="1600" dirty="0">
                <a:latin typeface="Courier" pitchFamily="2" charset="0"/>
              </a:rPr>
              <a:t>(focus == </a:t>
            </a:r>
            <a:r>
              <a:rPr lang="en-US" sz="1600" dirty="0" err="1">
                <a:latin typeface="Courier" pitchFamily="2" charset="0"/>
              </a:rPr>
              <a:t>to_match</a:t>
            </a:r>
            <a:r>
              <a:rPr lang="en-US" sz="1600" dirty="0">
                <a:latin typeface="Courier" pitchFamily="2" charset="0"/>
              </a:rPr>
              <a:t>)</a:t>
            </a:r>
          </a:p>
          <a:p>
            <a:r>
              <a:rPr lang="en-US" sz="1600" dirty="0">
                <a:latin typeface="Courier" pitchFamily="2" charset="0"/>
              </a:rPr>
              <a:t>    </a:t>
            </a:r>
            <a:r>
              <a:rPr lang="en-US" sz="1600" dirty="0" err="1">
                <a:latin typeface="Courier" pitchFamily="2" charset="0"/>
              </a:rPr>
              <a:t>to_match</a:t>
            </a:r>
            <a:r>
              <a:rPr lang="en-US" sz="1600" dirty="0">
                <a:latin typeface="Courier" pitchFamily="2" charset="0"/>
              </a:rPr>
              <a:t> = </a:t>
            </a:r>
            <a:r>
              <a:rPr lang="en-US" sz="1600" dirty="0" err="1">
                <a:latin typeface="Courier" pitchFamily="2" charset="0"/>
              </a:rPr>
              <a:t>s.token</a:t>
            </a:r>
            <a:r>
              <a:rPr lang="en-US" sz="1600" dirty="0">
                <a:latin typeface="Courier" pitchFamily="2" charset="0"/>
              </a:rPr>
              <a:t>()</a:t>
            </a:r>
          </a:p>
          <a:p>
            <a:r>
              <a:rPr lang="en-US" sz="1600" dirty="0">
                <a:latin typeface="Courier" pitchFamily="2" charset="0"/>
              </a:rPr>
              <a:t>    focus = pop()</a:t>
            </a:r>
          </a:p>
          <a:p>
            <a:endParaRPr lang="en-US" sz="1600" dirty="0">
              <a:latin typeface="Courier" pitchFamily="2" charset="0"/>
            </a:endParaRPr>
          </a:p>
          <a:p>
            <a:r>
              <a:rPr lang="en-US" sz="1600" dirty="0">
                <a:latin typeface="Courier" pitchFamily="2" charset="0"/>
              </a:rPr>
              <a:t>  </a:t>
            </a:r>
            <a:r>
              <a:rPr lang="en-US" sz="1600" b="1" dirty="0">
                <a:highlight>
                  <a:srgbClr val="FFFF00"/>
                </a:highlight>
                <a:latin typeface="Courier" pitchFamily="2" charset="0"/>
              </a:rPr>
              <a:t>else if </a:t>
            </a:r>
            <a:r>
              <a:rPr lang="en-US" sz="1600" dirty="0">
                <a:highlight>
                  <a:srgbClr val="FFFF00"/>
                </a:highlight>
                <a:latin typeface="Courier" pitchFamily="2" charset="0"/>
              </a:rPr>
              <a:t>(we have a cached state)</a:t>
            </a:r>
          </a:p>
          <a:p>
            <a:r>
              <a:rPr lang="en-US" sz="1600" dirty="0">
                <a:highlight>
                  <a:srgbClr val="FFFF00"/>
                </a:highlight>
                <a:latin typeface="Courier" pitchFamily="2" charset="0"/>
              </a:rPr>
              <a:t>     backtrack();</a:t>
            </a:r>
          </a:p>
          <a:p>
            <a:r>
              <a:rPr lang="en-US" sz="1600" dirty="0">
                <a:latin typeface="Courier" pitchFamily="2" charset="0"/>
              </a:rPr>
              <a:t>  </a:t>
            </a:r>
          </a:p>
          <a:p>
            <a:r>
              <a:rPr lang="en-US" sz="1600" dirty="0">
                <a:latin typeface="Courier" pitchFamily="2" charset="0"/>
              </a:rPr>
              <a:t>  </a:t>
            </a:r>
            <a:r>
              <a:rPr lang="en-US" sz="1600" b="1" dirty="0">
                <a:latin typeface="Courier" pitchFamily="2" charset="0"/>
              </a:rPr>
              <a:t>else</a:t>
            </a:r>
          </a:p>
          <a:p>
            <a:r>
              <a:rPr lang="en-US" sz="1600" dirty="0">
                <a:latin typeface="Courier" pitchFamily="2" charset="0"/>
              </a:rPr>
              <a:t>    </a:t>
            </a:r>
            <a:r>
              <a:rPr lang="en-US" sz="1600" dirty="0" err="1">
                <a:latin typeface="Courier" pitchFamily="2" charset="0"/>
              </a:rPr>
              <a:t>parser_error</a:t>
            </a:r>
            <a:r>
              <a:rPr lang="en-US" sz="1600" dirty="0">
                <a:latin typeface="Courier" pitchFamily="2" charset="0"/>
              </a:rPr>
              <a:t>()</a:t>
            </a:r>
          </a:p>
          <a:p>
            <a:endParaRPr lang="en-US" sz="1600" dirty="0">
              <a:latin typeface="Courier" pitchFamily="2" charset="0"/>
            </a:endParaRPr>
          </a:p>
        </p:txBody>
      </p:sp>
      <p:graphicFrame>
        <p:nvGraphicFramePr>
          <p:cNvPr id="15" name="Table 9">
            <a:extLst>
              <a:ext uri="{FF2B5EF4-FFF2-40B4-BE49-F238E27FC236}">
                <a16:creationId xmlns:a16="http://schemas.microsoft.com/office/drawing/2014/main" id="{C29E8994-1FD5-DB4F-94F8-6AE5D164BF00}"/>
              </a:ext>
            </a:extLst>
          </p:cNvPr>
          <p:cNvGraphicFramePr>
            <a:graphicFrameLocks noGrp="1"/>
          </p:cNvGraphicFramePr>
          <p:nvPr/>
        </p:nvGraphicFramePr>
        <p:xfrm>
          <a:off x="6796487" y="3108494"/>
          <a:ext cx="5105400" cy="296672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Expanded 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Expr</a:t>
                      </a:r>
                    </a:p>
                  </a:txBody>
                  <a:tcPr/>
                </a:tc>
                <a:extLst>
                  <a:ext uri="{0D108BD9-81ED-4DB2-BD59-A6C34878D82A}">
                    <a16:rowId xmlns:a16="http://schemas.microsoft.com/office/drawing/2014/main" val="1765063534"/>
                  </a:ext>
                </a:extLst>
              </a:tr>
              <a:tr h="370840">
                <a:tc>
                  <a:txBody>
                    <a:bodyPr/>
                    <a:lstStyle/>
                    <a:p>
                      <a:r>
                        <a:rPr lang="en-US" dirty="0"/>
                        <a:t>1</a:t>
                      </a:r>
                    </a:p>
                  </a:txBody>
                  <a:tcPr/>
                </a:tc>
                <a:tc>
                  <a:txBody>
                    <a:bodyPr/>
                    <a:lstStyle/>
                    <a:p>
                      <a:r>
                        <a:rPr lang="en-US" dirty="0"/>
                        <a:t>ID Expr2</a:t>
                      </a:r>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87378107"/>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962200"/>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2851656"/>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89639675"/>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7929062"/>
                  </a:ext>
                </a:extLst>
              </a:tr>
            </a:tbl>
          </a:graphicData>
        </a:graphic>
      </p:graphicFrame>
      <p:sp>
        <p:nvSpPr>
          <p:cNvPr id="10" name="Rectangle 9">
            <a:extLst>
              <a:ext uri="{FF2B5EF4-FFF2-40B4-BE49-F238E27FC236}">
                <a16:creationId xmlns:a16="http://schemas.microsoft.com/office/drawing/2014/main" id="{E9CD21B2-65B0-9B4E-AC9C-7BAEF1C50F5F}"/>
              </a:ext>
            </a:extLst>
          </p:cNvPr>
          <p:cNvSpPr/>
          <p:nvPr/>
        </p:nvSpPr>
        <p:spPr>
          <a:xfrm>
            <a:off x="8280399" y="463670"/>
            <a:ext cx="3911601" cy="923330"/>
          </a:xfrm>
          <a:prstGeom prst="rect">
            <a:avLst/>
          </a:prstGeom>
        </p:spPr>
        <p:txBody>
          <a:bodyPr wrap="square">
            <a:spAutoFit/>
          </a:bodyPr>
          <a:lstStyle/>
          <a:p>
            <a:r>
              <a:rPr lang="en-US" dirty="0">
                <a:latin typeface="Courier" pitchFamily="2" charset="0"/>
              </a:rPr>
              <a:t>1: Expr  ::= ID Expr2</a:t>
            </a:r>
          </a:p>
          <a:p>
            <a:r>
              <a:rPr lang="en-US" dirty="0">
                <a:latin typeface="Courier" pitchFamily="2" charset="0"/>
              </a:rPr>
              <a:t>2: Expr2 ::= ‘+’ Expr2</a:t>
            </a:r>
          </a:p>
          <a:p>
            <a:r>
              <a:rPr lang="en-US" dirty="0">
                <a:latin typeface="Courier" pitchFamily="2" charset="0"/>
              </a:rPr>
              <a:t>         |   ””</a:t>
            </a:r>
          </a:p>
        </p:txBody>
      </p:sp>
      <p:sp>
        <p:nvSpPr>
          <p:cNvPr id="7" name="TextBox 6">
            <a:extLst>
              <a:ext uri="{FF2B5EF4-FFF2-40B4-BE49-F238E27FC236}">
                <a16:creationId xmlns:a16="http://schemas.microsoft.com/office/drawing/2014/main" id="{F868CC11-C9DC-2E46-B941-9611D27EC8E8}"/>
              </a:ext>
            </a:extLst>
          </p:cNvPr>
          <p:cNvSpPr txBox="1"/>
          <p:nvPr/>
        </p:nvSpPr>
        <p:spPr>
          <a:xfrm>
            <a:off x="8237551" y="2202511"/>
            <a:ext cx="2031518" cy="369332"/>
          </a:xfrm>
          <a:prstGeom prst="rect">
            <a:avLst/>
          </a:prstGeom>
          <a:noFill/>
        </p:spPr>
        <p:txBody>
          <a:bodyPr wrap="none" rtlCol="0">
            <a:spAutoFit/>
          </a:bodyPr>
          <a:lstStyle/>
          <a:p>
            <a:r>
              <a:rPr lang="en-US" dirty="0"/>
              <a:t>Can we match: “a”?</a:t>
            </a:r>
          </a:p>
        </p:txBody>
      </p:sp>
      <p:sp>
        <p:nvSpPr>
          <p:cNvPr id="2" name="TextBox 1">
            <a:extLst>
              <a:ext uri="{FF2B5EF4-FFF2-40B4-BE49-F238E27FC236}">
                <a16:creationId xmlns:a16="http://schemas.microsoft.com/office/drawing/2014/main" id="{B963F9CC-4365-1E43-A4CB-5ECA71BF265F}"/>
              </a:ext>
            </a:extLst>
          </p:cNvPr>
          <p:cNvSpPr txBox="1"/>
          <p:nvPr/>
        </p:nvSpPr>
        <p:spPr>
          <a:xfrm>
            <a:off x="5149351" y="1278251"/>
            <a:ext cx="2474348" cy="646331"/>
          </a:xfrm>
          <a:prstGeom prst="rect">
            <a:avLst/>
          </a:prstGeom>
          <a:noFill/>
        </p:spPr>
        <p:txBody>
          <a:bodyPr wrap="square" rtlCol="0">
            <a:spAutoFit/>
          </a:bodyPr>
          <a:lstStyle/>
          <a:p>
            <a:r>
              <a:rPr lang="en-US" i="1" dirty="0"/>
              <a:t>Keep track of what choices we’ve done</a:t>
            </a:r>
          </a:p>
        </p:txBody>
      </p:sp>
    </p:spTree>
    <p:extLst>
      <p:ext uri="{BB962C8B-B14F-4D97-AF65-F5344CB8AC3E}">
        <p14:creationId xmlns:p14="http://schemas.microsoft.com/office/powerpoint/2010/main" val="1151593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F99E1D0F-2419-64EB-3D37-2399734D5CF8}"/>
              </a:ext>
            </a:extLst>
          </p:cNvPr>
          <p:cNvPicPr>
            <a:picLocks noChangeAspect="1"/>
          </p:cNvPicPr>
          <p:nvPr/>
        </p:nvPicPr>
        <p:blipFill>
          <a:blip r:embed="rId2"/>
          <a:stretch>
            <a:fillRect/>
          </a:stretch>
        </p:blipFill>
        <p:spPr>
          <a:xfrm>
            <a:off x="2209800" y="2803702"/>
            <a:ext cx="7772400" cy="1250596"/>
          </a:xfrm>
          <a:prstGeom prst="rect">
            <a:avLst/>
          </a:prstGeom>
        </p:spPr>
      </p:pic>
    </p:spTree>
    <p:extLst>
      <p:ext uri="{BB962C8B-B14F-4D97-AF65-F5344CB8AC3E}">
        <p14:creationId xmlns:p14="http://schemas.microsoft.com/office/powerpoint/2010/main" val="466353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A59A-E87C-DB44-8041-2F4EE8D45551}"/>
              </a:ext>
            </a:extLst>
          </p:cNvPr>
          <p:cNvSpPr>
            <a:spLocks noGrp="1"/>
          </p:cNvSpPr>
          <p:nvPr>
            <p:ph type="title"/>
          </p:nvPr>
        </p:nvSpPr>
        <p:spPr>
          <a:xfrm>
            <a:off x="838200" y="365125"/>
            <a:ext cx="10820400" cy="1325563"/>
          </a:xfrm>
        </p:spPr>
        <p:txBody>
          <a:bodyPr/>
          <a:lstStyle/>
          <a:p>
            <a:r>
              <a:rPr lang="en-US" dirty="0"/>
              <a:t>Eliminating direct left recursion</a:t>
            </a:r>
          </a:p>
        </p:txBody>
      </p:sp>
      <p:sp>
        <p:nvSpPr>
          <p:cNvPr id="4" name="TextBox 3">
            <a:extLst>
              <a:ext uri="{FF2B5EF4-FFF2-40B4-BE49-F238E27FC236}">
                <a16:creationId xmlns:a16="http://schemas.microsoft.com/office/drawing/2014/main" id="{E6726824-AA59-4F45-A39C-0D55DB172730}"/>
              </a:ext>
            </a:extLst>
          </p:cNvPr>
          <p:cNvSpPr txBox="1"/>
          <p:nvPr/>
        </p:nvSpPr>
        <p:spPr>
          <a:xfrm>
            <a:off x="838200" y="4019727"/>
            <a:ext cx="3112519" cy="369332"/>
          </a:xfrm>
          <a:prstGeom prst="rect">
            <a:avLst/>
          </a:prstGeom>
          <a:noFill/>
        </p:spPr>
        <p:txBody>
          <a:bodyPr wrap="none" rtlCol="0">
            <a:spAutoFit/>
          </a:bodyPr>
          <a:lstStyle/>
          <a:p>
            <a:r>
              <a:rPr lang="en-US" i="1" dirty="0"/>
              <a:t>Lets do this one as an example:</a:t>
            </a:r>
          </a:p>
        </p:txBody>
      </p:sp>
      <p:sp>
        <p:nvSpPr>
          <p:cNvPr id="9" name="TextBox 8">
            <a:extLst>
              <a:ext uri="{FF2B5EF4-FFF2-40B4-BE49-F238E27FC236}">
                <a16:creationId xmlns:a16="http://schemas.microsoft.com/office/drawing/2014/main" id="{A8676F00-A4BC-1E49-9855-9D9EE1AC37CF}"/>
              </a:ext>
            </a:extLst>
          </p:cNvPr>
          <p:cNvSpPr txBox="1"/>
          <p:nvPr/>
        </p:nvSpPr>
        <p:spPr>
          <a:xfrm>
            <a:off x="838200" y="4958265"/>
            <a:ext cx="2581156" cy="830997"/>
          </a:xfrm>
          <a:prstGeom prst="rect">
            <a:avLst/>
          </a:prstGeom>
          <a:noFill/>
          <a:ln>
            <a:solidFill>
              <a:schemeClr val="tx1"/>
            </a:solidFill>
          </a:ln>
        </p:spPr>
        <p:txBody>
          <a:bodyPr wrap="none" rtlCol="0">
            <a:spAutoFit/>
          </a:bodyPr>
          <a:lstStyle/>
          <a:p>
            <a:r>
              <a:rPr lang="en-US" sz="2400" dirty="0">
                <a:latin typeface="Courier" pitchFamily="2" charset="0"/>
              </a:rPr>
              <a:t>Fee ::= Fee A</a:t>
            </a:r>
          </a:p>
          <a:p>
            <a:r>
              <a:rPr lang="en-US" sz="2400" dirty="0">
                <a:latin typeface="Courier" pitchFamily="2" charset="0"/>
              </a:rPr>
              <a:t>    |   B</a:t>
            </a:r>
          </a:p>
        </p:txBody>
      </p:sp>
      <p:sp>
        <p:nvSpPr>
          <p:cNvPr id="10" name="TextBox 9">
            <a:extLst>
              <a:ext uri="{FF2B5EF4-FFF2-40B4-BE49-F238E27FC236}">
                <a16:creationId xmlns:a16="http://schemas.microsoft.com/office/drawing/2014/main" id="{1C55BAF3-3D30-DC48-AF36-D594694AF4E7}"/>
              </a:ext>
            </a:extLst>
          </p:cNvPr>
          <p:cNvSpPr txBox="1"/>
          <p:nvPr/>
        </p:nvSpPr>
        <p:spPr>
          <a:xfrm>
            <a:off x="4961466" y="4588934"/>
            <a:ext cx="3683000" cy="1569660"/>
          </a:xfrm>
          <a:prstGeom prst="rect">
            <a:avLst/>
          </a:prstGeom>
          <a:noFill/>
          <a:ln>
            <a:solidFill>
              <a:schemeClr val="tx1"/>
            </a:solidFill>
          </a:ln>
        </p:spPr>
        <p:txBody>
          <a:bodyPr wrap="square" rtlCol="0">
            <a:spAutoFit/>
          </a:bodyPr>
          <a:lstStyle/>
          <a:p>
            <a:r>
              <a:rPr lang="en-US" sz="2400" dirty="0">
                <a:latin typeface="Courier" pitchFamily="2" charset="0"/>
              </a:rPr>
              <a:t>Fee  ::= B Fee2</a:t>
            </a:r>
          </a:p>
          <a:p>
            <a:endParaRPr lang="en-US" sz="2400" dirty="0">
              <a:latin typeface="Courier" pitchFamily="2" charset="0"/>
            </a:endParaRPr>
          </a:p>
          <a:p>
            <a:r>
              <a:rPr lang="en-US" sz="2400" dirty="0">
                <a:latin typeface="Courier" pitchFamily="2" charset="0"/>
              </a:rPr>
              <a:t>Fee2 ::= A Fee2</a:t>
            </a:r>
          </a:p>
          <a:p>
            <a:r>
              <a:rPr lang="en-US" sz="2400" dirty="0">
                <a:latin typeface="Courier" pitchFamily="2" charset="0"/>
              </a:rPr>
              <a:t>     |    “”</a:t>
            </a:r>
          </a:p>
        </p:txBody>
      </p:sp>
      <p:sp>
        <p:nvSpPr>
          <p:cNvPr id="11" name="Right Arrow 10">
            <a:extLst>
              <a:ext uri="{FF2B5EF4-FFF2-40B4-BE49-F238E27FC236}">
                <a16:creationId xmlns:a16="http://schemas.microsoft.com/office/drawing/2014/main" id="{644EF493-F4D3-F74D-B9B3-FA8A993CFF5D}"/>
              </a:ext>
            </a:extLst>
          </p:cNvPr>
          <p:cNvSpPr/>
          <p:nvPr/>
        </p:nvSpPr>
        <p:spPr>
          <a:xfrm>
            <a:off x="3950719" y="5308600"/>
            <a:ext cx="765214" cy="22013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C864E2-A02E-2444-AE31-D5DF5CC6D686}"/>
              </a:ext>
            </a:extLst>
          </p:cNvPr>
          <p:cNvSpPr/>
          <p:nvPr/>
        </p:nvSpPr>
        <p:spPr>
          <a:xfrm>
            <a:off x="7518398" y="1745318"/>
            <a:ext cx="3911601" cy="2031325"/>
          </a:xfrm>
          <a:prstGeom prst="rect">
            <a:avLst/>
          </a:prstGeom>
          <a:solidFill>
            <a:srgbClr val="FF0900">
              <a:alpha val="18039"/>
            </a:srgbClr>
          </a:solidFill>
          <a:ln>
            <a:solidFill>
              <a:schemeClr val="tx1"/>
            </a:solidFill>
          </a:ln>
        </p:spPr>
        <p:txBody>
          <a:bodyPr wrap="square">
            <a:spAutoFit/>
          </a:bodyPr>
          <a:lstStyle/>
          <a:p>
            <a:r>
              <a:rPr lang="en-US" dirty="0">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13" name="Rectangle 12">
            <a:extLst>
              <a:ext uri="{FF2B5EF4-FFF2-40B4-BE49-F238E27FC236}">
                <a16:creationId xmlns:a16="http://schemas.microsoft.com/office/drawing/2014/main" id="{01E259B4-7C64-2F4C-880F-61DEB51B60A5}"/>
              </a:ext>
            </a:extLst>
          </p:cNvPr>
          <p:cNvSpPr/>
          <p:nvPr/>
        </p:nvSpPr>
        <p:spPr>
          <a:xfrm>
            <a:off x="931331" y="1867006"/>
            <a:ext cx="3911601" cy="1754326"/>
          </a:xfrm>
          <a:prstGeom prst="rect">
            <a:avLst/>
          </a:prstGeom>
        </p:spPr>
        <p:txBody>
          <a:bodyPr wrap="square">
            <a:spAutoFit/>
          </a:bodyPr>
          <a:lstStyle/>
          <a:p>
            <a:r>
              <a:rPr lang="en-US" dirty="0">
                <a:latin typeface="Courier" pitchFamily="2" charset="0"/>
              </a:rPr>
              <a:t>1: Expr  ::= Expr Op Unit</a:t>
            </a:r>
          </a:p>
          <a:p>
            <a:r>
              <a:rPr lang="en-US" dirty="0">
                <a:latin typeface="Courier" pitchFamily="2" charset="0"/>
              </a:rPr>
              <a:t>2:       |   Unit</a:t>
            </a:r>
            <a:br>
              <a:rPr lang="en-US" dirty="0">
                <a:latin typeface="Courier" pitchFamily="2" charset="0"/>
              </a:rPr>
            </a:br>
            <a:r>
              <a:rPr lang="en-US" dirty="0">
                <a:latin typeface="Courier" pitchFamily="2" charset="0"/>
              </a:rPr>
              <a:t>3: Unit  ::= ‘(‘ Expr ‘)’</a:t>
            </a:r>
          </a:p>
          <a:p>
            <a:r>
              <a:rPr lang="en-US" dirty="0">
                <a:latin typeface="Courier" pitchFamily="2" charset="0"/>
              </a:rPr>
              <a:t>4:       |    ID</a:t>
            </a:r>
          </a:p>
          <a:p>
            <a:r>
              <a:rPr lang="en-US" dirty="0">
                <a:latin typeface="Courier" pitchFamily="2" charset="0"/>
              </a:rPr>
              <a:t>5: Op    ::= ‘+’</a:t>
            </a:r>
          </a:p>
          <a:p>
            <a:r>
              <a:rPr lang="en-US" dirty="0">
                <a:latin typeface="Courier" pitchFamily="2" charset="0"/>
              </a:rPr>
              <a:t>6:       |   ‘*’</a:t>
            </a:r>
          </a:p>
        </p:txBody>
      </p:sp>
      <p:sp>
        <p:nvSpPr>
          <p:cNvPr id="5" name="TextBox 4">
            <a:extLst>
              <a:ext uri="{FF2B5EF4-FFF2-40B4-BE49-F238E27FC236}">
                <a16:creationId xmlns:a16="http://schemas.microsoft.com/office/drawing/2014/main" id="{7624AE47-F185-4846-AD7D-D588580EC039}"/>
              </a:ext>
            </a:extLst>
          </p:cNvPr>
          <p:cNvSpPr txBox="1"/>
          <p:nvPr/>
        </p:nvSpPr>
        <p:spPr>
          <a:xfrm>
            <a:off x="9474198" y="809351"/>
            <a:ext cx="1701107" cy="646331"/>
          </a:xfrm>
          <a:prstGeom prst="rect">
            <a:avLst/>
          </a:prstGeom>
          <a:noFill/>
        </p:spPr>
        <p:txBody>
          <a:bodyPr wrap="none" rtlCol="0">
            <a:spAutoFit/>
          </a:bodyPr>
          <a:lstStyle/>
          <a:p>
            <a:r>
              <a:rPr lang="en-US" dirty="0">
                <a:latin typeface="Courier" pitchFamily="2" charset="0"/>
              </a:rPr>
              <a:t>A = OP Unit</a:t>
            </a:r>
          </a:p>
          <a:p>
            <a:r>
              <a:rPr lang="en-US" dirty="0">
                <a:latin typeface="Courier" pitchFamily="2" charset="0"/>
              </a:rPr>
              <a:t>B = Unit</a:t>
            </a:r>
          </a:p>
        </p:txBody>
      </p:sp>
    </p:spTree>
    <p:extLst>
      <p:ext uri="{BB962C8B-B14F-4D97-AF65-F5344CB8AC3E}">
        <p14:creationId xmlns:p14="http://schemas.microsoft.com/office/powerpoint/2010/main" val="401876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B9E30-781D-E304-E4E2-2D066199C18E}"/>
              </a:ext>
            </a:extLst>
          </p:cNvPr>
          <p:cNvSpPr>
            <a:spLocks noGrp="1"/>
          </p:cNvSpPr>
          <p:nvPr>
            <p:ph type="ctrTitle"/>
          </p:nvPr>
        </p:nvSpPr>
        <p:spPr/>
        <p:txBody>
          <a:bodyPr/>
          <a:lstStyle/>
          <a:p>
            <a:r>
              <a:rPr lang="en-US" dirty="0"/>
              <a:t>Recursive Descent</a:t>
            </a:r>
            <a:br>
              <a:rPr lang="en-US" dirty="0"/>
            </a:br>
            <a:r>
              <a:rPr lang="en-US" dirty="0"/>
              <a:t>and LL Parsing</a:t>
            </a:r>
          </a:p>
        </p:txBody>
      </p:sp>
    </p:spTree>
    <p:extLst>
      <p:ext uri="{BB962C8B-B14F-4D97-AF65-F5344CB8AC3E}">
        <p14:creationId xmlns:p14="http://schemas.microsoft.com/office/powerpoint/2010/main" val="3394526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9B36ACF6-8C39-77DF-C950-546116E4BFE2}"/>
              </a:ext>
            </a:extLst>
          </p:cNvPr>
          <p:cNvPicPr>
            <a:picLocks noChangeAspect="1"/>
          </p:cNvPicPr>
          <p:nvPr/>
        </p:nvPicPr>
        <p:blipFill>
          <a:blip r:embed="rId2"/>
          <a:stretch>
            <a:fillRect/>
          </a:stretch>
        </p:blipFill>
        <p:spPr>
          <a:xfrm>
            <a:off x="3618982" y="1885950"/>
            <a:ext cx="5727700" cy="3086100"/>
          </a:xfrm>
          <a:prstGeom prst="rect">
            <a:avLst/>
          </a:prstGeom>
        </p:spPr>
      </p:pic>
    </p:spTree>
    <p:extLst>
      <p:ext uri="{BB962C8B-B14F-4D97-AF65-F5344CB8AC3E}">
        <p14:creationId xmlns:p14="http://schemas.microsoft.com/office/powerpoint/2010/main" val="3369027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a:xfrm>
            <a:off x="1430350" y="-989664"/>
            <a:ext cx="10515600" cy="1325563"/>
          </a:xfrm>
        </p:spPr>
        <p:txBody>
          <a:bodyPr/>
          <a:lstStyle/>
          <a:p>
            <a:r>
              <a:rPr lang="en-US" dirty="0"/>
              <a:t>Quiz</a:t>
            </a:r>
          </a:p>
        </p:txBody>
      </p:sp>
      <p:pic>
        <p:nvPicPr>
          <p:cNvPr id="3" name="Picture 2">
            <a:extLst>
              <a:ext uri="{FF2B5EF4-FFF2-40B4-BE49-F238E27FC236}">
                <a16:creationId xmlns:a16="http://schemas.microsoft.com/office/drawing/2014/main" id="{9B36ACF6-8C39-77DF-C950-546116E4BFE2}"/>
              </a:ext>
            </a:extLst>
          </p:cNvPr>
          <p:cNvPicPr>
            <a:picLocks noChangeAspect="1"/>
          </p:cNvPicPr>
          <p:nvPr/>
        </p:nvPicPr>
        <p:blipFill rotWithShape="1">
          <a:blip r:embed="rId2"/>
          <a:srcRect t="18264"/>
          <a:stretch/>
        </p:blipFill>
        <p:spPr>
          <a:xfrm>
            <a:off x="2483693" y="2564834"/>
            <a:ext cx="5692286" cy="2522450"/>
          </a:xfrm>
          <a:prstGeom prst="rect">
            <a:avLst/>
          </a:prstGeom>
        </p:spPr>
      </p:pic>
      <p:sp>
        <p:nvSpPr>
          <p:cNvPr id="4" name="TextBox 3">
            <a:extLst>
              <a:ext uri="{FF2B5EF4-FFF2-40B4-BE49-F238E27FC236}">
                <a16:creationId xmlns:a16="http://schemas.microsoft.com/office/drawing/2014/main" id="{2A4E3091-7587-10FA-AA1B-97AE2672B2A2}"/>
              </a:ext>
            </a:extLst>
          </p:cNvPr>
          <p:cNvSpPr txBox="1"/>
          <p:nvPr/>
        </p:nvSpPr>
        <p:spPr>
          <a:xfrm>
            <a:off x="4078603" y="2673245"/>
            <a:ext cx="646524" cy="369332"/>
          </a:xfrm>
          <a:prstGeom prst="rect">
            <a:avLst/>
          </a:prstGeom>
          <a:noFill/>
        </p:spPr>
        <p:txBody>
          <a:bodyPr wrap="none" rtlCol="0">
            <a:spAutoFit/>
          </a:bodyPr>
          <a:lstStyle/>
          <a:p>
            <a:r>
              <a:rPr lang="en-US" dirty="0"/>
              <a:t>{D,C}</a:t>
            </a:r>
          </a:p>
        </p:txBody>
      </p:sp>
      <p:sp>
        <p:nvSpPr>
          <p:cNvPr id="5" name="TextBox 4">
            <a:extLst>
              <a:ext uri="{FF2B5EF4-FFF2-40B4-BE49-F238E27FC236}">
                <a16:creationId xmlns:a16="http://schemas.microsoft.com/office/drawing/2014/main" id="{7D2EE5AB-8886-F84F-47D2-EAF912A0FBCA}"/>
              </a:ext>
            </a:extLst>
          </p:cNvPr>
          <p:cNvSpPr txBox="1"/>
          <p:nvPr/>
        </p:nvSpPr>
        <p:spPr>
          <a:xfrm>
            <a:off x="4078603" y="3100336"/>
            <a:ext cx="478016" cy="369332"/>
          </a:xfrm>
          <a:prstGeom prst="rect">
            <a:avLst/>
          </a:prstGeom>
          <a:noFill/>
        </p:spPr>
        <p:txBody>
          <a:bodyPr wrap="none" rtlCol="0">
            <a:spAutoFit/>
          </a:bodyPr>
          <a:lstStyle/>
          <a:p>
            <a:r>
              <a:rPr lang="en-US" dirty="0"/>
              <a:t>{</a:t>
            </a:r>
            <a:r>
              <a:rPr lang="en-US" dirty="0">
                <a:highlight>
                  <a:srgbClr val="00FFFF"/>
                </a:highlight>
              </a:rPr>
              <a:t>D</a:t>
            </a:r>
            <a:r>
              <a:rPr lang="en-US" dirty="0"/>
              <a:t>}</a:t>
            </a:r>
          </a:p>
        </p:txBody>
      </p:sp>
      <p:sp>
        <p:nvSpPr>
          <p:cNvPr id="6" name="TextBox 5">
            <a:extLst>
              <a:ext uri="{FF2B5EF4-FFF2-40B4-BE49-F238E27FC236}">
                <a16:creationId xmlns:a16="http://schemas.microsoft.com/office/drawing/2014/main" id="{362657C3-118D-26D4-5F0C-AFB4D827F2C3}"/>
              </a:ext>
            </a:extLst>
          </p:cNvPr>
          <p:cNvSpPr txBox="1"/>
          <p:nvPr/>
        </p:nvSpPr>
        <p:spPr>
          <a:xfrm>
            <a:off x="4078603" y="3585187"/>
            <a:ext cx="697050" cy="369332"/>
          </a:xfrm>
          <a:prstGeom prst="rect">
            <a:avLst/>
          </a:prstGeom>
          <a:noFill/>
        </p:spPr>
        <p:txBody>
          <a:bodyPr wrap="none" rtlCol="0">
            <a:spAutoFit/>
          </a:bodyPr>
          <a:lstStyle/>
          <a:p>
            <a:r>
              <a:rPr lang="en-US" dirty="0"/>
              <a:t>{C,</a:t>
            </a:r>
            <a:r>
              <a:rPr lang="en-US" dirty="0">
                <a:highlight>
                  <a:srgbClr val="00FFFF"/>
                </a:highlight>
              </a:rPr>
              <a:t>D</a:t>
            </a:r>
            <a:r>
              <a:rPr lang="en-US" dirty="0"/>
              <a:t>}</a:t>
            </a:r>
          </a:p>
        </p:txBody>
      </p:sp>
      <p:sp>
        <p:nvSpPr>
          <p:cNvPr id="7" name="TextBox 6">
            <a:extLst>
              <a:ext uri="{FF2B5EF4-FFF2-40B4-BE49-F238E27FC236}">
                <a16:creationId xmlns:a16="http://schemas.microsoft.com/office/drawing/2014/main" id="{0A57EF8B-AA85-EFEE-727C-B7859C992C9B}"/>
              </a:ext>
            </a:extLst>
          </p:cNvPr>
          <p:cNvSpPr txBox="1"/>
          <p:nvPr/>
        </p:nvSpPr>
        <p:spPr>
          <a:xfrm>
            <a:off x="4061672" y="4056980"/>
            <a:ext cx="479618" cy="369332"/>
          </a:xfrm>
          <a:prstGeom prst="rect">
            <a:avLst/>
          </a:prstGeom>
          <a:noFill/>
        </p:spPr>
        <p:txBody>
          <a:bodyPr wrap="none" rtlCol="0">
            <a:spAutoFit/>
          </a:bodyPr>
          <a:lstStyle/>
          <a:p>
            <a:r>
              <a:rPr lang="en-US" dirty="0"/>
              <a:t>{</a:t>
            </a:r>
            <a:r>
              <a:rPr lang="en-US" dirty="0">
                <a:highlight>
                  <a:srgbClr val="FFFF00"/>
                </a:highlight>
              </a:rPr>
              <a:t>C</a:t>
            </a:r>
            <a:r>
              <a:rPr lang="en-US" dirty="0"/>
              <a:t>}</a:t>
            </a:r>
          </a:p>
        </p:txBody>
      </p:sp>
      <p:sp>
        <p:nvSpPr>
          <p:cNvPr id="8" name="TextBox 7">
            <a:extLst>
              <a:ext uri="{FF2B5EF4-FFF2-40B4-BE49-F238E27FC236}">
                <a16:creationId xmlns:a16="http://schemas.microsoft.com/office/drawing/2014/main" id="{601DE208-3FFD-BABE-F482-27DFF2B7D7D7}"/>
              </a:ext>
            </a:extLst>
          </p:cNvPr>
          <p:cNvSpPr txBox="1"/>
          <p:nvPr/>
        </p:nvSpPr>
        <p:spPr>
          <a:xfrm>
            <a:off x="4061672" y="4469508"/>
            <a:ext cx="695383" cy="369332"/>
          </a:xfrm>
          <a:prstGeom prst="rect">
            <a:avLst/>
          </a:prstGeom>
          <a:noFill/>
        </p:spPr>
        <p:txBody>
          <a:bodyPr wrap="none" rtlCol="0">
            <a:spAutoFit/>
          </a:bodyPr>
          <a:lstStyle/>
          <a:p>
            <a:r>
              <a:rPr lang="en-US" dirty="0"/>
              <a:t>{D,</a:t>
            </a:r>
            <a:r>
              <a:rPr lang="en-US" dirty="0">
                <a:highlight>
                  <a:srgbClr val="FFFF00"/>
                </a:highlight>
              </a:rPr>
              <a:t>C</a:t>
            </a:r>
            <a:r>
              <a:rPr lang="en-US" dirty="0"/>
              <a:t>}</a:t>
            </a:r>
          </a:p>
        </p:txBody>
      </p:sp>
      <p:sp>
        <p:nvSpPr>
          <p:cNvPr id="9" name="TextBox 8">
            <a:extLst>
              <a:ext uri="{FF2B5EF4-FFF2-40B4-BE49-F238E27FC236}">
                <a16:creationId xmlns:a16="http://schemas.microsoft.com/office/drawing/2014/main" id="{743DB240-5BFD-09E5-C8D7-599737A51FB4}"/>
              </a:ext>
            </a:extLst>
          </p:cNvPr>
          <p:cNvSpPr txBox="1"/>
          <p:nvPr/>
        </p:nvSpPr>
        <p:spPr>
          <a:xfrm>
            <a:off x="3739439" y="2009305"/>
            <a:ext cx="1007263" cy="369332"/>
          </a:xfrm>
          <a:prstGeom prst="rect">
            <a:avLst/>
          </a:prstGeom>
          <a:noFill/>
        </p:spPr>
        <p:txBody>
          <a:bodyPr wrap="none" rtlCol="0">
            <a:spAutoFit/>
          </a:bodyPr>
          <a:lstStyle/>
          <a:p>
            <a:r>
              <a:rPr lang="en-US" dirty="0"/>
              <a:t>First sets</a:t>
            </a:r>
          </a:p>
        </p:txBody>
      </p:sp>
      <p:sp>
        <p:nvSpPr>
          <p:cNvPr id="12" name="TextBox 11">
            <a:extLst>
              <a:ext uri="{FF2B5EF4-FFF2-40B4-BE49-F238E27FC236}">
                <a16:creationId xmlns:a16="http://schemas.microsoft.com/office/drawing/2014/main" id="{A58C5159-64D4-6DDF-E2E5-6F3405C1F9DE}"/>
              </a:ext>
            </a:extLst>
          </p:cNvPr>
          <p:cNvSpPr txBox="1"/>
          <p:nvPr/>
        </p:nvSpPr>
        <p:spPr>
          <a:xfrm>
            <a:off x="6584968" y="2487231"/>
            <a:ext cx="4811577" cy="2677656"/>
          </a:xfrm>
          <a:prstGeom prst="rect">
            <a:avLst/>
          </a:prstGeom>
          <a:noFill/>
        </p:spPr>
        <p:txBody>
          <a:bodyPr wrap="square" rtlCol="0">
            <a:spAutoFit/>
          </a:bodyPr>
          <a:lstStyle/>
          <a:p>
            <a:r>
              <a:rPr lang="en-US" sz="2400" b="1" dirty="0"/>
              <a:t>There are no empty productions so the First Set+ shown for each option is the same as the First Set but some production options do NOT have a disjoint First Set+ (i.e. unique terminals) so this grammar is NOT backtrack-free.</a:t>
            </a:r>
          </a:p>
        </p:txBody>
      </p:sp>
    </p:spTree>
    <p:extLst>
      <p:ext uri="{BB962C8B-B14F-4D97-AF65-F5344CB8AC3E}">
        <p14:creationId xmlns:p14="http://schemas.microsoft.com/office/powerpoint/2010/main" val="1891128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6F298B30-8903-ECC1-7D63-EEFE21EE0B3C}"/>
              </a:ext>
            </a:extLst>
          </p:cNvPr>
          <p:cNvPicPr>
            <a:picLocks noChangeAspect="1"/>
          </p:cNvPicPr>
          <p:nvPr/>
        </p:nvPicPr>
        <p:blipFill>
          <a:blip r:embed="rId2"/>
          <a:stretch>
            <a:fillRect/>
          </a:stretch>
        </p:blipFill>
        <p:spPr>
          <a:xfrm>
            <a:off x="3511550" y="1828800"/>
            <a:ext cx="5168900" cy="3200400"/>
          </a:xfrm>
          <a:prstGeom prst="rect">
            <a:avLst/>
          </a:prstGeom>
        </p:spPr>
      </p:pic>
    </p:spTree>
    <p:extLst>
      <p:ext uri="{BB962C8B-B14F-4D97-AF65-F5344CB8AC3E}">
        <p14:creationId xmlns:p14="http://schemas.microsoft.com/office/powerpoint/2010/main" val="1668707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6F298B30-8903-ECC1-7D63-EEFE21EE0B3C}"/>
              </a:ext>
            </a:extLst>
          </p:cNvPr>
          <p:cNvPicPr>
            <a:picLocks noChangeAspect="1"/>
          </p:cNvPicPr>
          <p:nvPr/>
        </p:nvPicPr>
        <p:blipFill rotWithShape="1">
          <a:blip r:embed="rId2"/>
          <a:srcRect t="17444"/>
          <a:stretch/>
        </p:blipFill>
        <p:spPr>
          <a:xfrm>
            <a:off x="3511550" y="2387064"/>
            <a:ext cx="5168900" cy="2642135"/>
          </a:xfrm>
          <a:prstGeom prst="rect">
            <a:avLst/>
          </a:prstGeom>
        </p:spPr>
      </p:pic>
      <p:sp>
        <p:nvSpPr>
          <p:cNvPr id="3" name="TextBox 2">
            <a:extLst>
              <a:ext uri="{FF2B5EF4-FFF2-40B4-BE49-F238E27FC236}">
                <a16:creationId xmlns:a16="http://schemas.microsoft.com/office/drawing/2014/main" id="{23A5297B-AC30-0321-FF74-4F0C3DED3208}"/>
              </a:ext>
            </a:extLst>
          </p:cNvPr>
          <p:cNvSpPr txBox="1"/>
          <p:nvPr/>
        </p:nvSpPr>
        <p:spPr>
          <a:xfrm>
            <a:off x="5427901" y="2463454"/>
            <a:ext cx="328936" cy="369332"/>
          </a:xfrm>
          <a:prstGeom prst="rect">
            <a:avLst/>
          </a:prstGeom>
          <a:noFill/>
        </p:spPr>
        <p:txBody>
          <a:bodyPr wrap="none" rtlCol="0">
            <a:spAutoFit/>
          </a:bodyPr>
          <a:lstStyle/>
          <a:p>
            <a:r>
              <a:rPr lang="en-US" dirty="0"/>
              <a:t>{}</a:t>
            </a:r>
          </a:p>
        </p:txBody>
      </p:sp>
      <p:sp>
        <p:nvSpPr>
          <p:cNvPr id="5" name="TextBox 4">
            <a:extLst>
              <a:ext uri="{FF2B5EF4-FFF2-40B4-BE49-F238E27FC236}">
                <a16:creationId xmlns:a16="http://schemas.microsoft.com/office/drawing/2014/main" id="{69EEF741-C9CF-E30D-85B1-F7AA422CFAE7}"/>
              </a:ext>
            </a:extLst>
          </p:cNvPr>
          <p:cNvSpPr txBox="1"/>
          <p:nvPr/>
        </p:nvSpPr>
        <p:spPr>
          <a:xfrm>
            <a:off x="5427901" y="2890545"/>
            <a:ext cx="328936"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3A428D2A-1DED-5896-DFF7-C70B8FE68B1F}"/>
              </a:ext>
            </a:extLst>
          </p:cNvPr>
          <p:cNvSpPr txBox="1"/>
          <p:nvPr/>
        </p:nvSpPr>
        <p:spPr>
          <a:xfrm>
            <a:off x="5427901" y="3375396"/>
            <a:ext cx="328936" cy="369332"/>
          </a:xfrm>
          <a:prstGeom prst="rect">
            <a:avLst/>
          </a:prstGeom>
          <a:noFill/>
        </p:spPr>
        <p:txBody>
          <a:bodyPr wrap="none" rtlCol="0">
            <a:spAutoFit/>
          </a:bodyPr>
          <a:lstStyle/>
          <a:p>
            <a:r>
              <a:rPr lang="en-US" dirty="0"/>
              <a:t>{}</a:t>
            </a:r>
          </a:p>
        </p:txBody>
      </p:sp>
      <p:sp>
        <p:nvSpPr>
          <p:cNvPr id="7" name="TextBox 6">
            <a:extLst>
              <a:ext uri="{FF2B5EF4-FFF2-40B4-BE49-F238E27FC236}">
                <a16:creationId xmlns:a16="http://schemas.microsoft.com/office/drawing/2014/main" id="{497140A0-6859-8A1C-E6F8-6636A17A7127}"/>
              </a:ext>
            </a:extLst>
          </p:cNvPr>
          <p:cNvSpPr txBox="1"/>
          <p:nvPr/>
        </p:nvSpPr>
        <p:spPr>
          <a:xfrm>
            <a:off x="5410970" y="3847189"/>
            <a:ext cx="328936" cy="369332"/>
          </a:xfrm>
          <a:prstGeom prst="rect">
            <a:avLst/>
          </a:prstGeom>
          <a:noFill/>
        </p:spPr>
        <p:txBody>
          <a:bodyPr wrap="none" rtlCol="0">
            <a:spAutoFit/>
          </a:bodyPr>
          <a:lstStyle/>
          <a:p>
            <a:r>
              <a:rPr lang="en-US" dirty="0"/>
              <a:t>{}</a:t>
            </a:r>
          </a:p>
        </p:txBody>
      </p:sp>
      <p:sp>
        <p:nvSpPr>
          <p:cNvPr id="8" name="TextBox 7">
            <a:extLst>
              <a:ext uri="{FF2B5EF4-FFF2-40B4-BE49-F238E27FC236}">
                <a16:creationId xmlns:a16="http://schemas.microsoft.com/office/drawing/2014/main" id="{B8EE120E-D7A5-FE8C-0580-3B418EB0BB2D}"/>
              </a:ext>
            </a:extLst>
          </p:cNvPr>
          <p:cNvSpPr txBox="1"/>
          <p:nvPr/>
        </p:nvSpPr>
        <p:spPr>
          <a:xfrm>
            <a:off x="5410970" y="4259717"/>
            <a:ext cx="328936" cy="369332"/>
          </a:xfrm>
          <a:prstGeom prst="rect">
            <a:avLst/>
          </a:prstGeom>
          <a:noFill/>
        </p:spPr>
        <p:txBody>
          <a:bodyPr wrap="none" rtlCol="0">
            <a:spAutoFit/>
          </a:bodyPr>
          <a:lstStyle/>
          <a:p>
            <a:r>
              <a:rPr lang="en-US" dirty="0"/>
              <a:t>{}</a:t>
            </a:r>
          </a:p>
        </p:txBody>
      </p:sp>
      <p:sp>
        <p:nvSpPr>
          <p:cNvPr id="9" name="TextBox 8">
            <a:extLst>
              <a:ext uri="{FF2B5EF4-FFF2-40B4-BE49-F238E27FC236}">
                <a16:creationId xmlns:a16="http://schemas.microsoft.com/office/drawing/2014/main" id="{8D008348-921D-EB86-AB07-696414BDF37C}"/>
              </a:ext>
            </a:extLst>
          </p:cNvPr>
          <p:cNvSpPr txBox="1"/>
          <p:nvPr/>
        </p:nvSpPr>
        <p:spPr>
          <a:xfrm>
            <a:off x="5088737" y="1876514"/>
            <a:ext cx="1007263" cy="369332"/>
          </a:xfrm>
          <a:prstGeom prst="rect">
            <a:avLst/>
          </a:prstGeom>
          <a:noFill/>
        </p:spPr>
        <p:txBody>
          <a:bodyPr wrap="none" rtlCol="0">
            <a:spAutoFit/>
          </a:bodyPr>
          <a:lstStyle/>
          <a:p>
            <a:r>
              <a:rPr lang="en-US" dirty="0"/>
              <a:t>First sets</a:t>
            </a:r>
          </a:p>
        </p:txBody>
      </p:sp>
      <p:sp>
        <p:nvSpPr>
          <p:cNvPr id="10" name="TextBox 9">
            <a:extLst>
              <a:ext uri="{FF2B5EF4-FFF2-40B4-BE49-F238E27FC236}">
                <a16:creationId xmlns:a16="http://schemas.microsoft.com/office/drawing/2014/main" id="{9BA1DF29-E15B-0709-D59B-409446D1D3B5}"/>
              </a:ext>
            </a:extLst>
          </p:cNvPr>
          <p:cNvSpPr txBox="1"/>
          <p:nvPr/>
        </p:nvSpPr>
        <p:spPr>
          <a:xfrm>
            <a:off x="5410970" y="4543565"/>
            <a:ext cx="328936"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474777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a:xfrm>
            <a:off x="1061225" y="310964"/>
            <a:ext cx="10515600" cy="1325563"/>
          </a:xfrm>
        </p:spPr>
        <p:txBody>
          <a:bodyPr/>
          <a:lstStyle/>
          <a:p>
            <a:r>
              <a:rPr lang="en-US" dirty="0"/>
              <a:t>Quiz</a:t>
            </a:r>
          </a:p>
        </p:txBody>
      </p:sp>
      <p:pic>
        <p:nvPicPr>
          <p:cNvPr id="4" name="Picture 3">
            <a:extLst>
              <a:ext uri="{FF2B5EF4-FFF2-40B4-BE49-F238E27FC236}">
                <a16:creationId xmlns:a16="http://schemas.microsoft.com/office/drawing/2014/main" id="{6F298B30-8903-ECC1-7D63-EEFE21EE0B3C}"/>
              </a:ext>
            </a:extLst>
          </p:cNvPr>
          <p:cNvPicPr>
            <a:picLocks noChangeAspect="1"/>
          </p:cNvPicPr>
          <p:nvPr/>
        </p:nvPicPr>
        <p:blipFill rotWithShape="1">
          <a:blip r:embed="rId2"/>
          <a:srcRect t="17444"/>
          <a:stretch/>
        </p:blipFill>
        <p:spPr>
          <a:xfrm>
            <a:off x="2745348" y="2538595"/>
            <a:ext cx="6253688" cy="2642135"/>
          </a:xfrm>
          <a:prstGeom prst="rect">
            <a:avLst/>
          </a:prstGeom>
        </p:spPr>
      </p:pic>
      <p:sp>
        <p:nvSpPr>
          <p:cNvPr id="3" name="TextBox 2">
            <a:extLst>
              <a:ext uri="{FF2B5EF4-FFF2-40B4-BE49-F238E27FC236}">
                <a16:creationId xmlns:a16="http://schemas.microsoft.com/office/drawing/2014/main" id="{23A5297B-AC30-0321-FF74-4F0C3DED3208}"/>
              </a:ext>
            </a:extLst>
          </p:cNvPr>
          <p:cNvSpPr txBox="1"/>
          <p:nvPr/>
        </p:nvSpPr>
        <p:spPr>
          <a:xfrm>
            <a:off x="4339300" y="2582391"/>
            <a:ext cx="651717" cy="369332"/>
          </a:xfrm>
          <a:prstGeom prst="rect">
            <a:avLst/>
          </a:prstGeom>
          <a:noFill/>
        </p:spPr>
        <p:txBody>
          <a:bodyPr wrap="none" rtlCol="0">
            <a:spAutoFit/>
          </a:bodyPr>
          <a:lstStyle/>
          <a:p>
            <a:r>
              <a:rPr lang="en-US" dirty="0"/>
              <a:t>{C,D}</a:t>
            </a:r>
          </a:p>
        </p:txBody>
      </p:sp>
      <p:sp>
        <p:nvSpPr>
          <p:cNvPr id="5" name="TextBox 4">
            <a:extLst>
              <a:ext uri="{FF2B5EF4-FFF2-40B4-BE49-F238E27FC236}">
                <a16:creationId xmlns:a16="http://schemas.microsoft.com/office/drawing/2014/main" id="{69EEF741-C9CF-E30D-85B1-F7AA422CFAE7}"/>
              </a:ext>
            </a:extLst>
          </p:cNvPr>
          <p:cNvSpPr txBox="1"/>
          <p:nvPr/>
        </p:nvSpPr>
        <p:spPr>
          <a:xfrm>
            <a:off x="4339300" y="3009482"/>
            <a:ext cx="478016" cy="369332"/>
          </a:xfrm>
          <a:prstGeom prst="rect">
            <a:avLst/>
          </a:prstGeom>
          <a:noFill/>
        </p:spPr>
        <p:txBody>
          <a:bodyPr wrap="none" rtlCol="0">
            <a:spAutoFit/>
          </a:bodyPr>
          <a:lstStyle/>
          <a:p>
            <a:r>
              <a:rPr lang="en-US" dirty="0"/>
              <a:t>{</a:t>
            </a:r>
            <a:r>
              <a:rPr lang="en-US" dirty="0">
                <a:highlight>
                  <a:srgbClr val="00FFFF"/>
                </a:highlight>
              </a:rPr>
              <a:t>D</a:t>
            </a:r>
            <a:r>
              <a:rPr lang="en-US" dirty="0"/>
              <a:t>}</a:t>
            </a:r>
          </a:p>
        </p:txBody>
      </p:sp>
      <p:sp>
        <p:nvSpPr>
          <p:cNvPr id="6" name="TextBox 5">
            <a:extLst>
              <a:ext uri="{FF2B5EF4-FFF2-40B4-BE49-F238E27FC236}">
                <a16:creationId xmlns:a16="http://schemas.microsoft.com/office/drawing/2014/main" id="{3A428D2A-1DED-5896-DFF7-C70B8FE68B1F}"/>
              </a:ext>
            </a:extLst>
          </p:cNvPr>
          <p:cNvSpPr txBox="1"/>
          <p:nvPr/>
        </p:nvSpPr>
        <p:spPr>
          <a:xfrm>
            <a:off x="4339300" y="3494333"/>
            <a:ext cx="697050" cy="369332"/>
          </a:xfrm>
          <a:prstGeom prst="rect">
            <a:avLst/>
          </a:prstGeom>
          <a:noFill/>
        </p:spPr>
        <p:txBody>
          <a:bodyPr wrap="none" rtlCol="0">
            <a:spAutoFit/>
          </a:bodyPr>
          <a:lstStyle/>
          <a:p>
            <a:r>
              <a:rPr lang="en-US" dirty="0"/>
              <a:t>{C,</a:t>
            </a:r>
            <a:r>
              <a:rPr lang="en-US" dirty="0">
                <a:highlight>
                  <a:srgbClr val="00FFFF"/>
                </a:highlight>
              </a:rPr>
              <a:t>D</a:t>
            </a:r>
            <a:r>
              <a:rPr lang="en-US" dirty="0"/>
              <a:t>}</a:t>
            </a:r>
          </a:p>
        </p:txBody>
      </p:sp>
      <p:sp>
        <p:nvSpPr>
          <p:cNvPr id="7" name="TextBox 6">
            <a:extLst>
              <a:ext uri="{FF2B5EF4-FFF2-40B4-BE49-F238E27FC236}">
                <a16:creationId xmlns:a16="http://schemas.microsoft.com/office/drawing/2014/main" id="{497140A0-6859-8A1C-E6F8-6636A17A7127}"/>
              </a:ext>
            </a:extLst>
          </p:cNvPr>
          <p:cNvSpPr txBox="1"/>
          <p:nvPr/>
        </p:nvSpPr>
        <p:spPr>
          <a:xfrm>
            <a:off x="4322369" y="3966126"/>
            <a:ext cx="452368" cy="369332"/>
          </a:xfrm>
          <a:prstGeom prst="rect">
            <a:avLst/>
          </a:prstGeom>
          <a:noFill/>
        </p:spPr>
        <p:txBody>
          <a:bodyPr wrap="none" rtlCol="0">
            <a:spAutoFit/>
          </a:bodyPr>
          <a:lstStyle/>
          <a:p>
            <a:r>
              <a:rPr lang="en-US" dirty="0"/>
              <a:t>{C}</a:t>
            </a:r>
          </a:p>
        </p:txBody>
      </p:sp>
      <p:sp>
        <p:nvSpPr>
          <p:cNvPr id="8" name="TextBox 7">
            <a:extLst>
              <a:ext uri="{FF2B5EF4-FFF2-40B4-BE49-F238E27FC236}">
                <a16:creationId xmlns:a16="http://schemas.microsoft.com/office/drawing/2014/main" id="{B8EE120E-D7A5-FE8C-0580-3B418EB0BB2D}"/>
              </a:ext>
            </a:extLst>
          </p:cNvPr>
          <p:cNvSpPr txBox="1"/>
          <p:nvPr/>
        </p:nvSpPr>
        <p:spPr>
          <a:xfrm>
            <a:off x="4322369" y="4378654"/>
            <a:ext cx="471604" cy="369332"/>
          </a:xfrm>
          <a:prstGeom prst="rect">
            <a:avLst/>
          </a:prstGeom>
          <a:noFill/>
        </p:spPr>
        <p:txBody>
          <a:bodyPr wrap="none" rtlCol="0">
            <a:spAutoFit/>
          </a:bodyPr>
          <a:lstStyle/>
          <a:p>
            <a:r>
              <a:rPr lang="en-US" dirty="0"/>
              <a:t>{D}</a:t>
            </a:r>
          </a:p>
        </p:txBody>
      </p:sp>
      <p:sp>
        <p:nvSpPr>
          <p:cNvPr id="9" name="TextBox 8">
            <a:extLst>
              <a:ext uri="{FF2B5EF4-FFF2-40B4-BE49-F238E27FC236}">
                <a16:creationId xmlns:a16="http://schemas.microsoft.com/office/drawing/2014/main" id="{8D008348-921D-EB86-AB07-696414BDF37C}"/>
              </a:ext>
            </a:extLst>
          </p:cNvPr>
          <p:cNvSpPr txBox="1"/>
          <p:nvPr/>
        </p:nvSpPr>
        <p:spPr>
          <a:xfrm>
            <a:off x="4000136" y="1995451"/>
            <a:ext cx="1007263" cy="369332"/>
          </a:xfrm>
          <a:prstGeom prst="rect">
            <a:avLst/>
          </a:prstGeom>
          <a:noFill/>
        </p:spPr>
        <p:txBody>
          <a:bodyPr wrap="none" rtlCol="0">
            <a:spAutoFit/>
          </a:bodyPr>
          <a:lstStyle/>
          <a:p>
            <a:r>
              <a:rPr lang="en-US" dirty="0"/>
              <a:t>First sets</a:t>
            </a:r>
          </a:p>
        </p:txBody>
      </p:sp>
      <p:sp>
        <p:nvSpPr>
          <p:cNvPr id="10" name="TextBox 9">
            <a:extLst>
              <a:ext uri="{FF2B5EF4-FFF2-40B4-BE49-F238E27FC236}">
                <a16:creationId xmlns:a16="http://schemas.microsoft.com/office/drawing/2014/main" id="{9BA1DF29-E15B-0709-D59B-409446D1D3B5}"/>
              </a:ext>
            </a:extLst>
          </p:cNvPr>
          <p:cNvSpPr txBox="1"/>
          <p:nvPr/>
        </p:nvSpPr>
        <p:spPr>
          <a:xfrm>
            <a:off x="4322369" y="4662502"/>
            <a:ext cx="471604" cy="369332"/>
          </a:xfrm>
          <a:prstGeom prst="rect">
            <a:avLst/>
          </a:prstGeom>
          <a:noFill/>
        </p:spPr>
        <p:txBody>
          <a:bodyPr wrap="none" rtlCol="0">
            <a:spAutoFit/>
          </a:bodyPr>
          <a:lstStyle/>
          <a:p>
            <a:r>
              <a:rPr lang="en-US" dirty="0"/>
              <a:t>{D}</a:t>
            </a:r>
          </a:p>
        </p:txBody>
      </p:sp>
      <p:sp>
        <p:nvSpPr>
          <p:cNvPr id="13" name="TextBox 12">
            <a:extLst>
              <a:ext uri="{FF2B5EF4-FFF2-40B4-BE49-F238E27FC236}">
                <a16:creationId xmlns:a16="http://schemas.microsoft.com/office/drawing/2014/main" id="{B7057CCE-1F02-33DB-DC55-4E5C16479406}"/>
              </a:ext>
            </a:extLst>
          </p:cNvPr>
          <p:cNvSpPr txBox="1"/>
          <p:nvPr/>
        </p:nvSpPr>
        <p:spPr>
          <a:xfrm>
            <a:off x="6584968" y="2487231"/>
            <a:ext cx="4811577" cy="2677656"/>
          </a:xfrm>
          <a:prstGeom prst="rect">
            <a:avLst/>
          </a:prstGeom>
          <a:noFill/>
        </p:spPr>
        <p:txBody>
          <a:bodyPr wrap="square" rtlCol="0">
            <a:spAutoFit/>
          </a:bodyPr>
          <a:lstStyle/>
          <a:p>
            <a:r>
              <a:rPr lang="en-US" sz="2400" b="1" dirty="0"/>
              <a:t>There are no empty productions so the First Set+ shown for each option is the same as the First Set but some production options do NOT have a disjoint First Set+ (i.e. unique terminals) so this grammar is NOT backtrack-free.</a:t>
            </a:r>
          </a:p>
        </p:txBody>
      </p:sp>
    </p:spTree>
    <p:extLst>
      <p:ext uri="{BB962C8B-B14F-4D97-AF65-F5344CB8AC3E}">
        <p14:creationId xmlns:p14="http://schemas.microsoft.com/office/powerpoint/2010/main" val="3896958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D8A94B8F-E47D-1D8E-2ED0-0110B996BDC0}"/>
              </a:ext>
            </a:extLst>
          </p:cNvPr>
          <p:cNvPicPr>
            <a:picLocks noChangeAspect="1"/>
          </p:cNvPicPr>
          <p:nvPr/>
        </p:nvPicPr>
        <p:blipFill>
          <a:blip r:embed="rId2"/>
          <a:stretch>
            <a:fillRect/>
          </a:stretch>
        </p:blipFill>
        <p:spPr>
          <a:xfrm>
            <a:off x="2209800" y="1996035"/>
            <a:ext cx="7772400" cy="2865929"/>
          </a:xfrm>
          <a:prstGeom prst="rect">
            <a:avLst/>
          </a:prstGeom>
        </p:spPr>
      </p:pic>
      <p:sp>
        <p:nvSpPr>
          <p:cNvPr id="4" name="TextBox 3">
            <a:extLst>
              <a:ext uri="{FF2B5EF4-FFF2-40B4-BE49-F238E27FC236}">
                <a16:creationId xmlns:a16="http://schemas.microsoft.com/office/drawing/2014/main" id="{1F026E39-AFC5-1939-B2AF-002926D5F241}"/>
              </a:ext>
            </a:extLst>
          </p:cNvPr>
          <p:cNvSpPr txBox="1"/>
          <p:nvPr/>
        </p:nvSpPr>
        <p:spPr>
          <a:xfrm>
            <a:off x="6612672" y="3010829"/>
            <a:ext cx="4215161" cy="1569660"/>
          </a:xfrm>
          <a:prstGeom prst="rect">
            <a:avLst/>
          </a:prstGeom>
          <a:noFill/>
        </p:spPr>
        <p:txBody>
          <a:bodyPr wrap="square" rtlCol="0">
            <a:spAutoFit/>
          </a:bodyPr>
          <a:lstStyle/>
          <a:p>
            <a:r>
              <a:rPr lang="en-US" sz="2400" b="1" dirty="0"/>
              <a:t>We create a function for each non-terminal.  We elaborate how this is done in the next few slides.</a:t>
            </a:r>
          </a:p>
        </p:txBody>
      </p:sp>
    </p:spTree>
    <p:extLst>
      <p:ext uri="{BB962C8B-B14F-4D97-AF65-F5344CB8AC3E}">
        <p14:creationId xmlns:p14="http://schemas.microsoft.com/office/powerpoint/2010/main" val="4166858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5" name="Rectangle 4">
            <a:extLst>
              <a:ext uri="{FF2B5EF4-FFF2-40B4-BE49-F238E27FC236}">
                <a16:creationId xmlns:a16="http://schemas.microsoft.com/office/drawing/2014/main" id="{7F6A4130-5D0E-DA48-B73C-8392BB9ECB07}"/>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Tree>
    <p:extLst>
      <p:ext uri="{BB962C8B-B14F-4D97-AF65-F5344CB8AC3E}">
        <p14:creationId xmlns:p14="http://schemas.microsoft.com/office/powerpoint/2010/main" val="206575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3" name="TextBox 2">
            <a:extLst>
              <a:ext uri="{FF2B5EF4-FFF2-40B4-BE49-F238E27FC236}">
                <a16:creationId xmlns:a16="http://schemas.microsoft.com/office/drawing/2014/main" id="{47A281E4-6231-B242-A075-00A0A288D10F}"/>
              </a:ext>
            </a:extLst>
          </p:cNvPr>
          <p:cNvSpPr txBox="1"/>
          <p:nvPr/>
        </p:nvSpPr>
        <p:spPr>
          <a:xfrm>
            <a:off x="6764866" y="1585480"/>
            <a:ext cx="2668808" cy="369332"/>
          </a:xfrm>
          <a:prstGeom prst="rect">
            <a:avLst/>
          </a:prstGeom>
          <a:noFill/>
        </p:spPr>
        <p:txBody>
          <a:bodyPr wrap="none" rtlCol="0">
            <a:spAutoFit/>
          </a:bodyPr>
          <a:lstStyle/>
          <a:p>
            <a:r>
              <a:rPr lang="en-US" i="1" dirty="0"/>
              <a:t>How do we parse an Expr?</a:t>
            </a:r>
          </a:p>
        </p:txBody>
      </p:sp>
      <p:sp>
        <p:nvSpPr>
          <p:cNvPr id="5" name="Rectangle 4">
            <a:extLst>
              <a:ext uri="{FF2B5EF4-FFF2-40B4-BE49-F238E27FC236}">
                <a16:creationId xmlns:a16="http://schemas.microsoft.com/office/drawing/2014/main" id="{829B6BAF-6944-CE4E-BE10-9856E223EC13}"/>
              </a:ext>
            </a:extLst>
          </p:cNvPr>
          <p:cNvSpPr/>
          <p:nvPr/>
        </p:nvSpPr>
        <p:spPr>
          <a:xfrm>
            <a:off x="838200" y="1507736"/>
            <a:ext cx="3911601" cy="2031325"/>
          </a:xfrm>
          <a:prstGeom prst="rect">
            <a:avLst/>
          </a:prstGeom>
        </p:spPr>
        <p:txBody>
          <a:bodyPr wrap="square">
            <a:spAutoFit/>
          </a:bodyPr>
          <a:lstStyle/>
          <a:p>
            <a:r>
              <a:rPr lang="en-US" dirty="0">
                <a:highlight>
                  <a:srgbClr val="FFFF00"/>
                </a:highlight>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Tree>
    <p:extLst>
      <p:ext uri="{BB962C8B-B14F-4D97-AF65-F5344CB8AC3E}">
        <p14:creationId xmlns:p14="http://schemas.microsoft.com/office/powerpoint/2010/main" val="3621224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3" name="TextBox 2">
            <a:extLst>
              <a:ext uri="{FF2B5EF4-FFF2-40B4-BE49-F238E27FC236}">
                <a16:creationId xmlns:a16="http://schemas.microsoft.com/office/drawing/2014/main" id="{47A281E4-6231-B242-A075-00A0A288D10F}"/>
              </a:ext>
            </a:extLst>
          </p:cNvPr>
          <p:cNvSpPr txBox="1"/>
          <p:nvPr/>
        </p:nvSpPr>
        <p:spPr>
          <a:xfrm>
            <a:off x="6764866" y="1585480"/>
            <a:ext cx="3679277" cy="646331"/>
          </a:xfrm>
          <a:prstGeom prst="rect">
            <a:avLst/>
          </a:prstGeom>
          <a:noFill/>
        </p:spPr>
        <p:txBody>
          <a:bodyPr wrap="none" rtlCol="0">
            <a:spAutoFit/>
          </a:bodyPr>
          <a:lstStyle/>
          <a:p>
            <a:r>
              <a:rPr lang="en-US" i="1" dirty="0"/>
              <a:t>How do we parse an Expr? </a:t>
            </a:r>
          </a:p>
          <a:p>
            <a:r>
              <a:rPr lang="en-US" i="1" dirty="0"/>
              <a:t>We parse a Unit followed by an Expr2</a:t>
            </a:r>
          </a:p>
        </p:txBody>
      </p:sp>
      <p:sp>
        <p:nvSpPr>
          <p:cNvPr id="5" name="Rectangle 4">
            <a:extLst>
              <a:ext uri="{FF2B5EF4-FFF2-40B4-BE49-F238E27FC236}">
                <a16:creationId xmlns:a16="http://schemas.microsoft.com/office/drawing/2014/main" id="{AF97C993-0880-7440-AC56-90CDB9F6C996}"/>
              </a:ext>
            </a:extLst>
          </p:cNvPr>
          <p:cNvSpPr/>
          <p:nvPr/>
        </p:nvSpPr>
        <p:spPr>
          <a:xfrm>
            <a:off x="838200" y="1507736"/>
            <a:ext cx="3911601" cy="2031325"/>
          </a:xfrm>
          <a:prstGeom prst="rect">
            <a:avLst/>
          </a:prstGeom>
        </p:spPr>
        <p:txBody>
          <a:bodyPr wrap="square">
            <a:spAutoFit/>
          </a:bodyPr>
          <a:lstStyle/>
          <a:p>
            <a:r>
              <a:rPr lang="en-US" dirty="0">
                <a:highlight>
                  <a:srgbClr val="FFFF00"/>
                </a:highlight>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Tree>
    <p:extLst>
      <p:ext uri="{BB962C8B-B14F-4D97-AF65-F5344CB8AC3E}">
        <p14:creationId xmlns:p14="http://schemas.microsoft.com/office/powerpoint/2010/main" val="837931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7" name="TextBox 6">
            <a:extLst>
              <a:ext uri="{FF2B5EF4-FFF2-40B4-BE49-F238E27FC236}">
                <a16:creationId xmlns:a16="http://schemas.microsoft.com/office/drawing/2014/main" id="{4829D35E-DBDD-6144-A7D9-5D93088C5744}"/>
              </a:ext>
            </a:extLst>
          </p:cNvPr>
          <p:cNvSpPr txBox="1"/>
          <p:nvPr/>
        </p:nvSpPr>
        <p:spPr>
          <a:xfrm>
            <a:off x="6764866" y="3546601"/>
            <a:ext cx="3027239" cy="369332"/>
          </a:xfrm>
          <a:prstGeom prst="rect">
            <a:avLst/>
          </a:prstGeom>
          <a:noFill/>
        </p:spPr>
        <p:txBody>
          <a:bodyPr wrap="none" rtlCol="0">
            <a:spAutoFit/>
          </a:bodyPr>
          <a:lstStyle/>
          <a:p>
            <a:r>
              <a:rPr lang="en-US" dirty="0"/>
              <a:t>We can just write exactly that!</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3679277" cy="646331"/>
          </a:xfrm>
          <a:prstGeom prst="rect">
            <a:avLst/>
          </a:prstGeom>
          <a:noFill/>
        </p:spPr>
        <p:txBody>
          <a:bodyPr wrap="none" rtlCol="0">
            <a:spAutoFit/>
          </a:bodyPr>
          <a:lstStyle/>
          <a:p>
            <a:r>
              <a:rPr lang="en-US" i="1" dirty="0"/>
              <a:t>How do we parse an Expr? </a:t>
            </a:r>
          </a:p>
          <a:p>
            <a:r>
              <a:rPr lang="en-US" i="1" dirty="0"/>
              <a:t>We parse a Unit followed by an Expr2</a:t>
            </a:r>
          </a:p>
        </p:txBody>
      </p:sp>
      <p:sp>
        <p:nvSpPr>
          <p:cNvPr id="9" name="Rectangle 8">
            <a:extLst>
              <a:ext uri="{FF2B5EF4-FFF2-40B4-BE49-F238E27FC236}">
                <a16:creationId xmlns:a16="http://schemas.microsoft.com/office/drawing/2014/main" id="{0166F378-5647-AF40-9B86-498B4156AD4E}"/>
              </a:ext>
            </a:extLst>
          </p:cNvPr>
          <p:cNvSpPr/>
          <p:nvPr/>
        </p:nvSpPr>
        <p:spPr>
          <a:xfrm>
            <a:off x="838200" y="1507736"/>
            <a:ext cx="3911601" cy="2031325"/>
          </a:xfrm>
          <a:prstGeom prst="rect">
            <a:avLst/>
          </a:prstGeom>
        </p:spPr>
        <p:txBody>
          <a:bodyPr wrap="square">
            <a:spAutoFit/>
          </a:bodyPr>
          <a:lstStyle/>
          <a:p>
            <a:r>
              <a:rPr lang="en-US" dirty="0">
                <a:highlight>
                  <a:srgbClr val="FFFF00"/>
                </a:highlight>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10" name="Rectangle 9">
            <a:extLst>
              <a:ext uri="{FF2B5EF4-FFF2-40B4-BE49-F238E27FC236}">
                <a16:creationId xmlns:a16="http://schemas.microsoft.com/office/drawing/2014/main" id="{9D67A2B4-768D-7A4A-B20F-620EAF5DDB35}"/>
              </a:ext>
            </a:extLst>
          </p:cNvPr>
          <p:cNvSpPr/>
          <p:nvPr/>
        </p:nvSpPr>
        <p:spPr>
          <a:xfrm>
            <a:off x="6764866" y="4053044"/>
            <a:ext cx="4461933" cy="1200329"/>
          </a:xfrm>
          <a:prstGeom prst="rect">
            <a:avLst/>
          </a:prstGeom>
        </p:spPr>
        <p:txBody>
          <a:bodyPr wrap="square">
            <a:spAutoFit/>
          </a:bodyPr>
          <a:lstStyle/>
          <a:p>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parse_Expr</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latin typeface="Menlo" panose="020B0609030804020204" pitchFamily="49" charset="0"/>
            </a:endParaRPr>
          </a:p>
          <a:p>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.parse_Unit</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.parse_Expr2();</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endParaRPr lang="en-US"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393053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828467" cy="369332"/>
          </a:xfrm>
          <a:prstGeom prst="rect">
            <a:avLst/>
          </a:prstGeom>
          <a:noFill/>
        </p:spPr>
        <p:txBody>
          <a:bodyPr wrap="none" rtlCol="0">
            <a:spAutoFit/>
          </a:bodyPr>
          <a:lstStyle/>
          <a:p>
            <a:r>
              <a:rPr lang="en-US" i="1" dirty="0"/>
              <a:t>How do we parse an Expr2? </a:t>
            </a:r>
          </a:p>
        </p:txBody>
      </p:sp>
      <p:sp>
        <p:nvSpPr>
          <p:cNvPr id="9" name="Rectangle 8">
            <a:extLst>
              <a:ext uri="{FF2B5EF4-FFF2-40B4-BE49-F238E27FC236}">
                <a16:creationId xmlns:a16="http://schemas.microsoft.com/office/drawing/2014/main" id="{10957C6A-893E-694F-B916-8039152D7645}"/>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highlight>
                  <a:srgbClr val="FFFF00"/>
                </a:highlight>
                <a:latin typeface="Courier" pitchFamily="2" charset="0"/>
              </a:rPr>
              <a:t>2: Expr2 ::= Op Unit Expr2</a:t>
            </a:r>
          </a:p>
          <a:p>
            <a:r>
              <a:rPr lang="en-US" dirty="0">
                <a:highlight>
                  <a:srgbClr val="FFFF00"/>
                </a:highlight>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Tree>
    <p:extLst>
      <p:ext uri="{BB962C8B-B14F-4D97-AF65-F5344CB8AC3E}">
        <p14:creationId xmlns:p14="http://schemas.microsoft.com/office/powerpoint/2010/main" val="18827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4" name="Rectangle 3">
            <a:extLst>
              <a:ext uri="{FF2B5EF4-FFF2-40B4-BE49-F238E27FC236}">
                <a16:creationId xmlns:a16="http://schemas.microsoft.com/office/drawing/2014/main" id="{C95AD811-DA94-934C-A22D-0CC1576CD299}"/>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highlight>
                  <a:srgbClr val="FFFF00"/>
                </a:highlight>
                <a:latin typeface="Courier" pitchFamily="2" charset="0"/>
              </a:rPr>
              <a:t>2: Expr2 ::= Op Unit Expr2</a:t>
            </a:r>
          </a:p>
          <a:p>
            <a:r>
              <a:rPr lang="en-US" dirty="0">
                <a:highlight>
                  <a:srgbClr val="FFFF00"/>
                </a:highlight>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828467" cy="369332"/>
          </a:xfrm>
          <a:prstGeom prst="rect">
            <a:avLst/>
          </a:prstGeom>
          <a:noFill/>
        </p:spPr>
        <p:txBody>
          <a:bodyPr wrap="none" rtlCol="0">
            <a:spAutoFit/>
          </a:bodyPr>
          <a:lstStyle/>
          <a:p>
            <a:r>
              <a:rPr lang="en-US" i="1" dirty="0"/>
              <a:t>How do we parse an Expr2? </a:t>
            </a:r>
          </a:p>
        </p:txBody>
      </p:sp>
      <p:sp>
        <p:nvSpPr>
          <p:cNvPr id="5" name="Rectangle 4">
            <a:extLst>
              <a:ext uri="{FF2B5EF4-FFF2-40B4-BE49-F238E27FC236}">
                <a16:creationId xmlns:a16="http://schemas.microsoft.com/office/drawing/2014/main" id="{8C35DCA6-16D2-F54F-A22A-3EFA1E6D8A47}"/>
              </a:ext>
            </a:extLst>
          </p:cNvPr>
          <p:cNvSpPr/>
          <p:nvPr/>
        </p:nvSpPr>
        <p:spPr>
          <a:xfrm>
            <a:off x="838200" y="4184551"/>
            <a:ext cx="2275544" cy="2308324"/>
          </a:xfrm>
          <a:prstGeom prst="rect">
            <a:avLst/>
          </a:prstGeom>
        </p:spPr>
        <p:txBody>
          <a:bodyPr wrap="square">
            <a:spAutoFit/>
          </a:bodyPr>
          <a:lstStyle/>
          <a:p>
            <a:r>
              <a:rPr lang="en-US" dirty="0">
                <a:latin typeface="Courier" pitchFamily="2" charset="0"/>
              </a:rPr>
              <a:t>First+ sets:</a:t>
            </a:r>
            <a:br>
              <a:rPr lang="en-US" dirty="0">
                <a:latin typeface="Courier" pitchFamily="2" charset="0"/>
              </a:rPr>
            </a:br>
            <a:r>
              <a:rPr lang="en-US" dirty="0">
                <a:latin typeface="Courier" pitchFamily="2" charset="0"/>
              </a:rPr>
              <a:t>1: {‘(‘, ID}</a:t>
            </a:r>
          </a:p>
          <a:p>
            <a:r>
              <a:rPr lang="en-US" dirty="0">
                <a:latin typeface="Courier" pitchFamily="2" charset="0"/>
              </a:rPr>
              <a:t>2: {‘+’, ‘*’}</a:t>
            </a:r>
          </a:p>
          <a:p>
            <a:r>
              <a:rPr lang="en-US" dirty="0">
                <a:latin typeface="Courier" pitchFamily="2" charset="0"/>
              </a:rPr>
              <a:t>3: {None, ’)’}</a:t>
            </a:r>
            <a:br>
              <a:rPr lang="en-US" dirty="0">
                <a:latin typeface="Courier" pitchFamily="2" charset="0"/>
              </a:rPr>
            </a:br>
            <a:r>
              <a:rPr lang="en-US" dirty="0">
                <a:latin typeface="Courier" pitchFamily="2" charset="0"/>
              </a:rPr>
              <a:t>4: {‘(‘}</a:t>
            </a:r>
          </a:p>
          <a:p>
            <a:r>
              <a:rPr lang="en-US" dirty="0">
                <a:latin typeface="Courier" pitchFamily="2" charset="0"/>
              </a:rPr>
              <a:t>5: {ID}</a:t>
            </a:r>
          </a:p>
          <a:p>
            <a:r>
              <a:rPr lang="en-US" dirty="0">
                <a:latin typeface="Courier" pitchFamily="2" charset="0"/>
              </a:rPr>
              <a:t>6: {‘+’}</a:t>
            </a:r>
          </a:p>
          <a:p>
            <a:r>
              <a:rPr lang="en-US" dirty="0">
                <a:latin typeface="Courier" pitchFamily="2" charset="0"/>
              </a:rPr>
              <a:t>7: {‘*’}</a:t>
            </a:r>
          </a:p>
        </p:txBody>
      </p:sp>
    </p:spTree>
    <p:extLst>
      <p:ext uri="{BB962C8B-B14F-4D97-AF65-F5344CB8AC3E}">
        <p14:creationId xmlns:p14="http://schemas.microsoft.com/office/powerpoint/2010/main" val="2756707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4" name="Rectangle 3">
            <a:extLst>
              <a:ext uri="{FF2B5EF4-FFF2-40B4-BE49-F238E27FC236}">
                <a16:creationId xmlns:a16="http://schemas.microsoft.com/office/drawing/2014/main" id="{C95AD811-DA94-934C-A22D-0CC1576CD299}"/>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highlight>
                  <a:srgbClr val="FFFF00"/>
                </a:highlight>
                <a:latin typeface="Courier" pitchFamily="2" charset="0"/>
              </a:rPr>
              <a:t>2: Expr2 ::= Op Unit Expr2</a:t>
            </a:r>
          </a:p>
          <a:p>
            <a:r>
              <a:rPr lang="en-US" dirty="0">
                <a:highlight>
                  <a:srgbClr val="FFFF00"/>
                </a:highlight>
                <a:latin typeface="Courier" pitchFamily="2" charset="0"/>
              </a:rPr>
              <a:t>3:       | “”</a:t>
            </a:r>
            <a:br>
              <a:rPr lang="en-US" dirty="0">
                <a:latin typeface="Courier" pitchFamily="2" charset="0"/>
              </a:rPr>
            </a:br>
            <a:r>
              <a:rPr lang="en-US" dirty="0">
                <a:latin typeface="Courier" pitchFamily="2" charset="0"/>
              </a:rPr>
              <a:t>4: Unit  ::= ‘(‘ Expr ‘)’</a:t>
            </a:r>
          </a:p>
          <a:p>
            <a:r>
              <a:rPr lang="en-US" dirty="0">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828467" cy="369332"/>
          </a:xfrm>
          <a:prstGeom prst="rect">
            <a:avLst/>
          </a:prstGeom>
          <a:noFill/>
        </p:spPr>
        <p:txBody>
          <a:bodyPr wrap="none" rtlCol="0">
            <a:spAutoFit/>
          </a:bodyPr>
          <a:lstStyle/>
          <a:p>
            <a:r>
              <a:rPr lang="en-US" i="1" dirty="0"/>
              <a:t>How do we parse an Expr2? </a:t>
            </a:r>
          </a:p>
        </p:txBody>
      </p:sp>
      <p:sp>
        <p:nvSpPr>
          <p:cNvPr id="5" name="Rectangle 4">
            <a:extLst>
              <a:ext uri="{FF2B5EF4-FFF2-40B4-BE49-F238E27FC236}">
                <a16:creationId xmlns:a16="http://schemas.microsoft.com/office/drawing/2014/main" id="{8C35DCA6-16D2-F54F-A22A-3EFA1E6D8A47}"/>
              </a:ext>
            </a:extLst>
          </p:cNvPr>
          <p:cNvSpPr/>
          <p:nvPr/>
        </p:nvSpPr>
        <p:spPr>
          <a:xfrm>
            <a:off x="838200" y="4184551"/>
            <a:ext cx="2275544" cy="2308324"/>
          </a:xfrm>
          <a:prstGeom prst="rect">
            <a:avLst/>
          </a:prstGeom>
        </p:spPr>
        <p:txBody>
          <a:bodyPr wrap="square">
            <a:spAutoFit/>
          </a:bodyPr>
          <a:lstStyle/>
          <a:p>
            <a:r>
              <a:rPr lang="en-US" dirty="0">
                <a:latin typeface="Courier" pitchFamily="2" charset="0"/>
              </a:rPr>
              <a:t>First+ sets:</a:t>
            </a:r>
            <a:br>
              <a:rPr lang="en-US" dirty="0">
                <a:latin typeface="Courier" pitchFamily="2" charset="0"/>
              </a:rPr>
            </a:br>
            <a:r>
              <a:rPr lang="en-US" dirty="0">
                <a:latin typeface="Courier" pitchFamily="2" charset="0"/>
              </a:rPr>
              <a:t>1: {‘(‘, ID}</a:t>
            </a:r>
          </a:p>
          <a:p>
            <a:r>
              <a:rPr lang="en-US" dirty="0">
                <a:latin typeface="Courier" pitchFamily="2" charset="0"/>
              </a:rPr>
              <a:t>2: {‘+’, ‘*’}</a:t>
            </a:r>
          </a:p>
          <a:p>
            <a:r>
              <a:rPr lang="en-US" dirty="0">
                <a:latin typeface="Courier" pitchFamily="2" charset="0"/>
              </a:rPr>
              <a:t>3: {None, ’)’}</a:t>
            </a:r>
            <a:br>
              <a:rPr lang="en-US" dirty="0">
                <a:latin typeface="Courier" pitchFamily="2" charset="0"/>
              </a:rPr>
            </a:br>
            <a:r>
              <a:rPr lang="en-US" dirty="0">
                <a:latin typeface="Courier" pitchFamily="2" charset="0"/>
              </a:rPr>
              <a:t>4: {‘(‘}</a:t>
            </a:r>
          </a:p>
          <a:p>
            <a:r>
              <a:rPr lang="en-US" dirty="0">
                <a:latin typeface="Courier" pitchFamily="2" charset="0"/>
              </a:rPr>
              <a:t>5: {ID}</a:t>
            </a:r>
          </a:p>
          <a:p>
            <a:r>
              <a:rPr lang="en-US" dirty="0">
                <a:latin typeface="Courier" pitchFamily="2" charset="0"/>
              </a:rPr>
              <a:t>6: {‘+’}</a:t>
            </a:r>
          </a:p>
          <a:p>
            <a:r>
              <a:rPr lang="en-US" dirty="0">
                <a:latin typeface="Courier" pitchFamily="2" charset="0"/>
              </a:rPr>
              <a:t>7: {‘*’}</a:t>
            </a:r>
          </a:p>
        </p:txBody>
      </p:sp>
      <p:sp>
        <p:nvSpPr>
          <p:cNvPr id="3" name="Rectangle 2">
            <a:extLst>
              <a:ext uri="{FF2B5EF4-FFF2-40B4-BE49-F238E27FC236}">
                <a16:creationId xmlns:a16="http://schemas.microsoft.com/office/drawing/2014/main" id="{818E83A0-ADF9-E849-B701-B2AE97232197}"/>
              </a:ext>
            </a:extLst>
          </p:cNvPr>
          <p:cNvSpPr/>
          <p:nvPr/>
        </p:nvSpPr>
        <p:spPr>
          <a:xfrm>
            <a:off x="3581401" y="3020478"/>
            <a:ext cx="8542868" cy="3416320"/>
          </a:xfrm>
          <a:prstGeom prst="rect">
            <a:avLst/>
          </a:prstGeom>
        </p:spPr>
        <p:txBody>
          <a:bodyPr wrap="square">
            <a:spAutoFit/>
          </a:bodyPr>
          <a:lstStyle/>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def</a:t>
            </a:r>
            <a:r>
              <a:rPr lang="en-US" sz="1200" dirty="0">
                <a:solidFill>
                  <a:srgbClr val="000000"/>
                </a:solidFill>
                <a:latin typeface="Menlo" panose="020B0609030804020204" pitchFamily="49" charset="0"/>
              </a:rPr>
              <a:t> </a:t>
            </a:r>
            <a:r>
              <a:rPr lang="en-US" sz="1200" b="1" dirty="0">
                <a:solidFill>
                  <a:srgbClr val="400BD9"/>
                </a:solidFill>
                <a:latin typeface="Menlo" panose="020B0609030804020204" pitchFamily="49" charset="0"/>
              </a:rPr>
              <a:t>parse_Expr2</a:t>
            </a:r>
            <a:r>
              <a:rPr lang="en-US" sz="1200" dirty="0">
                <a:solidFill>
                  <a:srgbClr val="000000"/>
                </a:solidFill>
                <a:latin typeface="Menlo" panose="020B0609030804020204" pitchFamily="49" charset="0"/>
              </a:rPr>
              <a:t>(</a:t>
            </a:r>
            <a:r>
              <a:rPr lang="en-US" sz="1200" b="1" dirty="0">
                <a:solidFill>
                  <a:srgbClr val="2EAEBB"/>
                </a:solidFill>
                <a:latin typeface="Menlo" panose="020B0609030804020204" pitchFamily="49" charset="0"/>
              </a:rPr>
              <a:t>self</a:t>
            </a:r>
            <a:r>
              <a:rPr lang="en-US" sz="1200" dirty="0">
                <a:solidFill>
                  <a:srgbClr val="000000"/>
                </a:solidFill>
                <a:latin typeface="Menlo" panose="020B0609030804020204" pitchFamily="49" charset="0"/>
              </a:rPr>
              <a:t>):</a:t>
            </a:r>
            <a:br>
              <a:rPr lang="en-US" sz="1200" dirty="0">
                <a:solidFill>
                  <a:srgbClr val="000000"/>
                </a:solidFill>
                <a:latin typeface="Menlo" panose="020B0609030804020204" pitchFamily="49" charset="0"/>
              </a:rPr>
            </a:b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err="1">
                <a:solidFill>
                  <a:srgbClr val="9FA01C"/>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err="1">
                <a:solidFill>
                  <a:srgbClr val="000000"/>
                </a:solidFill>
                <a:latin typeface="Menlo" panose="020B0609030804020204" pitchFamily="49" charset="0"/>
              </a:rPr>
              <a:t>get_token_id</a:t>
            </a:r>
            <a:r>
              <a:rPr lang="en-US" sz="1200" dirty="0">
                <a:solidFill>
                  <a:srgbClr val="000000"/>
                </a:solidFill>
                <a:latin typeface="Menlo" panose="020B0609030804020204" pitchFamily="49" charset="0"/>
              </a:rPr>
              <a:t>(</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a:t>
            </a:r>
          </a:p>
          <a:p>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Expr2 ::= Op Unit Expr2</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in</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"PLUS"</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"MULT"</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.parse_Op</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.parse_Unit</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self</a:t>
            </a:r>
            <a:r>
              <a:rPr lang="en-US" sz="1200" dirty="0">
                <a:solidFill>
                  <a:srgbClr val="000000"/>
                </a:solidFill>
                <a:latin typeface="Menlo" panose="020B0609030804020204" pitchFamily="49" charset="0"/>
              </a:rPr>
              <a:t>.parse_Expr2()</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endParaRPr lang="en-US" sz="1200" dirty="0">
              <a:solidFill>
                <a:srgbClr val="000000"/>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Expr2 ::= "" </a:t>
            </a:r>
            <a:r>
              <a:rPr lang="en-US" sz="1200" dirty="0">
                <a:solidFill>
                  <a:srgbClr val="000000"/>
                </a:solidFill>
                <a:latin typeface="Menlo" panose="020B0609030804020204" pitchFamily="49" charset="0"/>
              </a:rPr>
              <a:t>   </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in</a:t>
            </a:r>
            <a:r>
              <a:rPr lang="en-US" sz="1200" dirty="0">
                <a:solidFill>
                  <a:srgbClr val="000000"/>
                </a:solidFill>
                <a:latin typeface="Menlo" panose="020B0609030804020204" pitchFamily="49" charset="0"/>
              </a:rPr>
              <a:t> [</a:t>
            </a:r>
            <a:r>
              <a:rPr lang="en-US" sz="1200" dirty="0">
                <a:solidFill>
                  <a:srgbClr val="C814C9"/>
                </a:solidFill>
                <a:latin typeface="Menlo" panose="020B0609030804020204" pitchFamily="49" charset="0"/>
              </a:rPr>
              <a:t>None</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”RPAR"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endParaRPr lang="en-US" sz="1200" dirty="0">
              <a:solidFill>
                <a:srgbClr val="000000"/>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raise</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ParserException</a:t>
            </a:r>
            <a:r>
              <a:rPr lang="en-US" sz="1200" dirty="0">
                <a:solidFill>
                  <a:srgbClr val="000000"/>
                </a:solidFill>
                <a:latin typeface="Menlo" panose="020B0609030804020204" pitchFamily="49" charset="0"/>
              </a:rPr>
              <a:t>(-1,                         </a:t>
            </a:r>
            <a:r>
              <a:rPr lang="en-US" sz="1200" dirty="0">
                <a:solidFill>
                  <a:srgbClr val="B42419"/>
                </a:solidFill>
                <a:latin typeface="Menlo" panose="020B0609030804020204" pitchFamily="49" charset="0"/>
              </a:rPr>
              <a:t># line number (for you to do)</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observed token</a:t>
            </a:r>
          </a:p>
          <a:p>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"PLUS"</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"MULT"</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”RPAR"</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expected token </a:t>
            </a:r>
            <a:endParaRPr lang="en-US" sz="12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975058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4" name="Rectangle 3">
            <a:extLst>
              <a:ext uri="{FF2B5EF4-FFF2-40B4-BE49-F238E27FC236}">
                <a16:creationId xmlns:a16="http://schemas.microsoft.com/office/drawing/2014/main" id="{C95AD811-DA94-934C-A22D-0CC1576CD299}"/>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highlight>
                  <a:srgbClr val="FFFF00"/>
                </a:highlight>
                <a:latin typeface="Courier" pitchFamily="2" charset="0"/>
              </a:rPr>
              <a:t>4: Unit  ::= ‘(‘ Expr ‘)’</a:t>
            </a:r>
          </a:p>
          <a:p>
            <a:r>
              <a:rPr lang="en-US" dirty="0">
                <a:highlight>
                  <a:srgbClr val="FFFF00"/>
                </a:highlight>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580002" cy="369332"/>
          </a:xfrm>
          <a:prstGeom prst="rect">
            <a:avLst/>
          </a:prstGeom>
          <a:noFill/>
        </p:spPr>
        <p:txBody>
          <a:bodyPr wrap="none" rtlCol="0">
            <a:spAutoFit/>
          </a:bodyPr>
          <a:lstStyle/>
          <a:p>
            <a:r>
              <a:rPr lang="en-US" i="1" dirty="0"/>
              <a:t>How do we parse a Unit? </a:t>
            </a:r>
          </a:p>
        </p:txBody>
      </p:sp>
      <p:sp>
        <p:nvSpPr>
          <p:cNvPr id="5" name="Rectangle 4">
            <a:extLst>
              <a:ext uri="{FF2B5EF4-FFF2-40B4-BE49-F238E27FC236}">
                <a16:creationId xmlns:a16="http://schemas.microsoft.com/office/drawing/2014/main" id="{8C35DCA6-16D2-F54F-A22A-3EFA1E6D8A47}"/>
              </a:ext>
            </a:extLst>
          </p:cNvPr>
          <p:cNvSpPr/>
          <p:nvPr/>
        </p:nvSpPr>
        <p:spPr>
          <a:xfrm>
            <a:off x="838200" y="4184551"/>
            <a:ext cx="2275544" cy="2308324"/>
          </a:xfrm>
          <a:prstGeom prst="rect">
            <a:avLst/>
          </a:prstGeom>
        </p:spPr>
        <p:txBody>
          <a:bodyPr wrap="square">
            <a:spAutoFit/>
          </a:bodyPr>
          <a:lstStyle/>
          <a:p>
            <a:r>
              <a:rPr lang="en-US" dirty="0">
                <a:latin typeface="Courier" pitchFamily="2" charset="0"/>
              </a:rPr>
              <a:t>First+ sets:</a:t>
            </a:r>
            <a:br>
              <a:rPr lang="en-US" dirty="0">
                <a:latin typeface="Courier" pitchFamily="2" charset="0"/>
              </a:rPr>
            </a:br>
            <a:r>
              <a:rPr lang="en-US" dirty="0">
                <a:latin typeface="Courier" pitchFamily="2" charset="0"/>
              </a:rPr>
              <a:t>1: {‘(‘, ID}</a:t>
            </a:r>
          </a:p>
          <a:p>
            <a:r>
              <a:rPr lang="en-US" dirty="0">
                <a:latin typeface="Courier" pitchFamily="2" charset="0"/>
              </a:rPr>
              <a:t>2: {‘+’, ‘*’}</a:t>
            </a:r>
          </a:p>
          <a:p>
            <a:r>
              <a:rPr lang="en-US" dirty="0">
                <a:latin typeface="Courier" pitchFamily="2" charset="0"/>
              </a:rPr>
              <a:t>3: {None, ’)’}</a:t>
            </a:r>
            <a:br>
              <a:rPr lang="en-US" dirty="0">
                <a:latin typeface="Courier" pitchFamily="2" charset="0"/>
              </a:rPr>
            </a:br>
            <a:r>
              <a:rPr lang="en-US" dirty="0">
                <a:latin typeface="Courier" pitchFamily="2" charset="0"/>
              </a:rPr>
              <a:t>4: {‘(‘}</a:t>
            </a:r>
          </a:p>
          <a:p>
            <a:r>
              <a:rPr lang="en-US" dirty="0">
                <a:latin typeface="Courier" pitchFamily="2" charset="0"/>
              </a:rPr>
              <a:t>5: {ID}</a:t>
            </a:r>
          </a:p>
          <a:p>
            <a:r>
              <a:rPr lang="en-US" dirty="0">
                <a:latin typeface="Courier" pitchFamily="2" charset="0"/>
              </a:rPr>
              <a:t>6: {‘+’}</a:t>
            </a:r>
          </a:p>
          <a:p>
            <a:r>
              <a:rPr lang="en-US" dirty="0">
                <a:latin typeface="Courier" pitchFamily="2" charset="0"/>
              </a:rPr>
              <a:t>7: {‘*’}</a:t>
            </a:r>
          </a:p>
        </p:txBody>
      </p:sp>
    </p:spTree>
    <p:extLst>
      <p:ext uri="{BB962C8B-B14F-4D97-AF65-F5344CB8AC3E}">
        <p14:creationId xmlns:p14="http://schemas.microsoft.com/office/powerpoint/2010/main" val="2415029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4" name="Rectangle 3">
            <a:extLst>
              <a:ext uri="{FF2B5EF4-FFF2-40B4-BE49-F238E27FC236}">
                <a16:creationId xmlns:a16="http://schemas.microsoft.com/office/drawing/2014/main" id="{C95AD811-DA94-934C-A22D-0CC1576CD299}"/>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highlight>
                  <a:srgbClr val="FFFF00"/>
                </a:highlight>
                <a:latin typeface="Courier" pitchFamily="2" charset="0"/>
              </a:rPr>
              <a:t>4: Unit  ::= ‘(‘ Expr ‘)’</a:t>
            </a:r>
          </a:p>
          <a:p>
            <a:r>
              <a:rPr lang="en-US" dirty="0">
                <a:highlight>
                  <a:srgbClr val="FFFF00"/>
                </a:highlight>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580002" cy="369332"/>
          </a:xfrm>
          <a:prstGeom prst="rect">
            <a:avLst/>
          </a:prstGeom>
          <a:noFill/>
        </p:spPr>
        <p:txBody>
          <a:bodyPr wrap="none" rtlCol="0">
            <a:spAutoFit/>
          </a:bodyPr>
          <a:lstStyle/>
          <a:p>
            <a:r>
              <a:rPr lang="en-US" i="1" dirty="0"/>
              <a:t>How do we parse a Unit? </a:t>
            </a:r>
          </a:p>
        </p:txBody>
      </p:sp>
      <p:sp>
        <p:nvSpPr>
          <p:cNvPr id="5" name="Rectangle 4">
            <a:extLst>
              <a:ext uri="{FF2B5EF4-FFF2-40B4-BE49-F238E27FC236}">
                <a16:creationId xmlns:a16="http://schemas.microsoft.com/office/drawing/2014/main" id="{8C35DCA6-16D2-F54F-A22A-3EFA1E6D8A47}"/>
              </a:ext>
            </a:extLst>
          </p:cNvPr>
          <p:cNvSpPr/>
          <p:nvPr/>
        </p:nvSpPr>
        <p:spPr>
          <a:xfrm>
            <a:off x="838200" y="4184551"/>
            <a:ext cx="2275544" cy="2308324"/>
          </a:xfrm>
          <a:prstGeom prst="rect">
            <a:avLst/>
          </a:prstGeom>
        </p:spPr>
        <p:txBody>
          <a:bodyPr wrap="square">
            <a:spAutoFit/>
          </a:bodyPr>
          <a:lstStyle/>
          <a:p>
            <a:r>
              <a:rPr lang="en-US" dirty="0">
                <a:latin typeface="Courier" pitchFamily="2" charset="0"/>
              </a:rPr>
              <a:t>First+ sets:</a:t>
            </a:r>
            <a:br>
              <a:rPr lang="en-US" dirty="0">
                <a:latin typeface="Courier" pitchFamily="2" charset="0"/>
              </a:rPr>
            </a:br>
            <a:r>
              <a:rPr lang="en-US" dirty="0">
                <a:latin typeface="Courier" pitchFamily="2" charset="0"/>
              </a:rPr>
              <a:t>1: {‘(‘, ID}</a:t>
            </a:r>
          </a:p>
          <a:p>
            <a:r>
              <a:rPr lang="en-US" dirty="0">
                <a:latin typeface="Courier" pitchFamily="2" charset="0"/>
              </a:rPr>
              <a:t>2: {‘+’, ‘*’}</a:t>
            </a:r>
          </a:p>
          <a:p>
            <a:r>
              <a:rPr lang="en-US" dirty="0">
                <a:latin typeface="Courier" pitchFamily="2" charset="0"/>
              </a:rPr>
              <a:t>3: {None, ’)’}</a:t>
            </a:r>
            <a:br>
              <a:rPr lang="en-US" dirty="0">
                <a:latin typeface="Courier" pitchFamily="2" charset="0"/>
              </a:rPr>
            </a:br>
            <a:r>
              <a:rPr lang="en-US" dirty="0">
                <a:latin typeface="Courier" pitchFamily="2" charset="0"/>
              </a:rPr>
              <a:t>4: {‘(‘}</a:t>
            </a:r>
          </a:p>
          <a:p>
            <a:r>
              <a:rPr lang="en-US" dirty="0">
                <a:latin typeface="Courier" pitchFamily="2" charset="0"/>
              </a:rPr>
              <a:t>5: {ID}</a:t>
            </a:r>
          </a:p>
          <a:p>
            <a:r>
              <a:rPr lang="en-US" dirty="0">
                <a:latin typeface="Courier" pitchFamily="2" charset="0"/>
              </a:rPr>
              <a:t>6: {‘+’}</a:t>
            </a:r>
          </a:p>
          <a:p>
            <a:r>
              <a:rPr lang="en-US" dirty="0">
                <a:latin typeface="Courier" pitchFamily="2" charset="0"/>
              </a:rPr>
              <a:t>7: {‘*’}</a:t>
            </a:r>
          </a:p>
        </p:txBody>
      </p:sp>
      <p:sp>
        <p:nvSpPr>
          <p:cNvPr id="3" name="Rectangle 2">
            <a:extLst>
              <a:ext uri="{FF2B5EF4-FFF2-40B4-BE49-F238E27FC236}">
                <a16:creationId xmlns:a16="http://schemas.microsoft.com/office/drawing/2014/main" id="{B8016679-012E-6C4D-A40D-A3A31CC3C26D}"/>
              </a:ext>
            </a:extLst>
          </p:cNvPr>
          <p:cNvSpPr/>
          <p:nvPr/>
        </p:nvSpPr>
        <p:spPr>
          <a:xfrm>
            <a:off x="4292600" y="2841792"/>
            <a:ext cx="8094134" cy="3600986"/>
          </a:xfrm>
          <a:prstGeom prst="rect">
            <a:avLst/>
          </a:prstGeom>
        </p:spPr>
        <p:txBody>
          <a:bodyPr wrap="square">
            <a:spAutoFit/>
          </a:bodyPr>
          <a:lstStyle/>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def</a:t>
            </a:r>
            <a:r>
              <a:rPr lang="en-US" sz="1200" dirty="0">
                <a:solidFill>
                  <a:srgbClr val="000000"/>
                </a:solidFill>
                <a:latin typeface="Menlo" panose="020B0609030804020204" pitchFamily="49" charset="0"/>
              </a:rPr>
              <a:t> </a:t>
            </a:r>
            <a:r>
              <a:rPr lang="en-US" sz="1200" b="1" dirty="0" err="1">
                <a:solidFill>
                  <a:srgbClr val="400BD9"/>
                </a:solidFill>
                <a:latin typeface="Menlo" panose="020B0609030804020204" pitchFamily="49" charset="0"/>
              </a:rPr>
              <a:t>parse_Unit</a:t>
            </a:r>
            <a:r>
              <a:rPr lang="en-US" sz="1200" dirty="0">
                <a:solidFill>
                  <a:srgbClr val="000000"/>
                </a:solidFill>
                <a:latin typeface="Menlo" panose="020B0609030804020204" pitchFamily="49" charset="0"/>
              </a:rPr>
              <a:t>(</a:t>
            </a:r>
            <a:r>
              <a:rPr lang="en-US" sz="1200" b="1" dirty="0">
                <a:solidFill>
                  <a:srgbClr val="2EAEBB"/>
                </a:solidFill>
                <a:latin typeface="Menlo" panose="020B0609030804020204" pitchFamily="49" charset="0"/>
              </a:rPr>
              <a:t>self</a:t>
            </a:r>
            <a:r>
              <a:rPr lang="en-US" sz="1200" dirty="0">
                <a:solidFill>
                  <a:srgbClr val="000000"/>
                </a:solidFill>
                <a:latin typeface="Menlo" panose="020B0609030804020204" pitchFamily="49" charset="0"/>
              </a:rPr>
              <a:t>):</a:t>
            </a:r>
            <a:endParaRPr lang="en-US" sz="1200" dirty="0">
              <a:solidFill>
                <a:srgbClr val="400BD9"/>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9FA01C"/>
                </a:solidFill>
                <a:latin typeface="Menlo" panose="020B0609030804020204" pitchFamily="49" charset="0"/>
              </a:rPr>
              <a:t>        </a:t>
            </a:r>
            <a:r>
              <a:rPr lang="en-US" sz="1200" dirty="0" err="1">
                <a:solidFill>
                  <a:srgbClr val="9FA01C"/>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err="1">
                <a:solidFill>
                  <a:srgbClr val="000000"/>
                </a:solidFill>
                <a:latin typeface="Menlo" panose="020B0609030804020204" pitchFamily="49" charset="0"/>
              </a:rPr>
              <a:t>get_token_id</a:t>
            </a:r>
            <a:r>
              <a:rPr lang="en-US" sz="1200" dirty="0">
                <a:solidFill>
                  <a:srgbClr val="000000"/>
                </a:solidFill>
                <a:latin typeface="Menlo" panose="020B0609030804020204" pitchFamily="49" charset="0"/>
              </a:rPr>
              <a:t>(</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a:t>
            </a:r>
            <a:br>
              <a:rPr lang="en-US" sz="1200" dirty="0">
                <a:solidFill>
                  <a:srgbClr val="000000"/>
                </a:solidFill>
                <a:latin typeface="Menlo" panose="020B0609030804020204" pitchFamily="49" charset="0"/>
              </a:rPr>
            </a:b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Unit  ::= ‘(‘ Expr ‘)’ </a:t>
            </a:r>
            <a:r>
              <a:rPr lang="en-US" sz="1200" dirty="0">
                <a:solidFill>
                  <a:srgbClr val="000000"/>
                </a:solidFill>
                <a:latin typeface="Menlo" panose="020B0609030804020204" pitchFamily="49" charset="0"/>
              </a:rPr>
              <a:t>                       </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a:solidFill>
                  <a:srgbClr val="2FB41D"/>
                </a:solidFill>
                <a:latin typeface="Menlo" panose="020B0609030804020204" pitchFamily="49" charset="0"/>
              </a:rPr>
              <a:t>"LPAR"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.eat</a:t>
            </a:r>
            <a:r>
              <a:rPr lang="en-US" sz="1200" dirty="0">
                <a:solidFill>
                  <a:srgbClr val="000000"/>
                </a:solidFill>
                <a:latin typeface="Menlo" panose="020B0609030804020204" pitchFamily="49" charset="0"/>
              </a:rPr>
              <a:t>(</a:t>
            </a:r>
            <a:r>
              <a:rPr lang="en-US" sz="1200" dirty="0">
                <a:solidFill>
                  <a:srgbClr val="2FB41D"/>
                </a:solidFill>
                <a:latin typeface="Menlo" panose="020B0609030804020204" pitchFamily="49" charset="0"/>
              </a:rPr>
              <a:t>"LPAR"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.parse_Expr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.eat</a:t>
            </a:r>
            <a:r>
              <a:rPr lang="en-US" sz="1200" dirty="0">
                <a:solidFill>
                  <a:srgbClr val="000000"/>
                </a:solidFill>
                <a:latin typeface="Menlo" panose="020B0609030804020204" pitchFamily="49" charset="0"/>
              </a:rPr>
              <a:t>(</a:t>
            </a:r>
            <a:r>
              <a:rPr lang="en-US" sz="1200" dirty="0">
                <a:solidFill>
                  <a:srgbClr val="2FB41D"/>
                </a:solidFill>
                <a:latin typeface="Menlo" panose="020B0609030804020204" pitchFamily="49" charset="0"/>
              </a:rPr>
              <a:t>"RPAR"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br>
              <a:rPr lang="en-US" sz="1200" dirty="0">
                <a:solidFill>
                  <a:srgbClr val="000000"/>
                </a:solidFill>
                <a:latin typeface="Menlo" panose="020B0609030804020204" pitchFamily="49" charset="0"/>
              </a:rPr>
            </a:br>
            <a:endParaRPr lang="en-US" sz="1200" dirty="0">
              <a:solidFill>
                <a:srgbClr val="000000"/>
              </a:solidFill>
              <a:latin typeface="Menlo" panose="020B0609030804020204" pitchFamily="49" charset="0"/>
            </a:endParaRPr>
          </a:p>
          <a:p>
            <a:r>
              <a:rPr lang="en-US" sz="1200" dirty="0">
                <a:solidFill>
                  <a:srgbClr val="B42419"/>
                </a:solidFill>
                <a:latin typeface="Menlo" panose="020B0609030804020204" pitchFamily="49" charset="0"/>
              </a:rPr>
              <a:t>        # Unit :: = ID</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.eat</a:t>
            </a:r>
            <a:r>
              <a:rPr lang="en-US" sz="1200" dirty="0">
                <a:solidFill>
                  <a:srgbClr val="000000"/>
                </a:solidFill>
                <a:latin typeface="Menlo" panose="020B0609030804020204" pitchFamily="49" charset="0"/>
              </a:rPr>
              <a:t>(</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endParaRPr lang="en-US" sz="1200" dirty="0">
              <a:solidFill>
                <a:srgbClr val="000000"/>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raise</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ParserException</a:t>
            </a:r>
            <a:r>
              <a:rPr lang="en-US" sz="1200" dirty="0">
                <a:solidFill>
                  <a:srgbClr val="000000"/>
                </a:solidFill>
                <a:latin typeface="Menlo" panose="020B0609030804020204" pitchFamily="49" charset="0"/>
              </a:rPr>
              <a:t>(-1,               </a:t>
            </a:r>
            <a:r>
              <a:rPr lang="en-US" sz="1200" dirty="0">
                <a:solidFill>
                  <a:srgbClr val="B42419"/>
                </a:solidFill>
                <a:latin typeface="Menlo" panose="020B0609030804020204" pitchFamily="49" charset="0"/>
              </a:rPr>
              <a:t># line number (for you to do)</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observed token</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"LPAR"</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expected token</a:t>
            </a:r>
            <a:endParaRPr lang="en-US" sz="12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262133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1F96-7461-874D-8EA3-B6DFAA688889}"/>
              </a:ext>
            </a:extLst>
          </p:cNvPr>
          <p:cNvSpPr>
            <a:spLocks noGrp="1"/>
          </p:cNvSpPr>
          <p:nvPr>
            <p:ph type="title"/>
          </p:nvPr>
        </p:nvSpPr>
        <p:spPr/>
        <p:txBody>
          <a:bodyPr/>
          <a:lstStyle/>
          <a:p>
            <a:r>
              <a:rPr lang="en-US" dirty="0"/>
              <a:t>Let’s look at the grammar</a:t>
            </a:r>
          </a:p>
        </p:txBody>
      </p:sp>
      <p:sp>
        <p:nvSpPr>
          <p:cNvPr id="4" name="Rectangle 3">
            <a:extLst>
              <a:ext uri="{FF2B5EF4-FFF2-40B4-BE49-F238E27FC236}">
                <a16:creationId xmlns:a16="http://schemas.microsoft.com/office/drawing/2014/main" id="{C95AD811-DA94-934C-A22D-0CC1576CD299}"/>
              </a:ext>
            </a:extLst>
          </p:cNvPr>
          <p:cNvSpPr/>
          <p:nvPr/>
        </p:nvSpPr>
        <p:spPr>
          <a:xfrm>
            <a:off x="838200" y="1507736"/>
            <a:ext cx="3911601" cy="2031325"/>
          </a:xfrm>
          <a:prstGeom prst="rect">
            <a:avLst/>
          </a:prstGeom>
        </p:spPr>
        <p:txBody>
          <a:bodyPr wrap="square">
            <a:spAutoFit/>
          </a:bodyPr>
          <a:lstStyle/>
          <a:p>
            <a:r>
              <a:rPr lang="en-US" dirty="0">
                <a:latin typeface="Courier" pitchFamily="2" charset="0"/>
              </a:rPr>
              <a:t>1: Expr  ::= Unit Expr2</a:t>
            </a:r>
          </a:p>
          <a:p>
            <a:r>
              <a:rPr lang="en-US" dirty="0">
                <a:latin typeface="Courier" pitchFamily="2" charset="0"/>
              </a:rPr>
              <a:t>2: Expr2 ::= Op Unit Expr2</a:t>
            </a:r>
          </a:p>
          <a:p>
            <a:r>
              <a:rPr lang="en-US" dirty="0">
                <a:latin typeface="Courier" pitchFamily="2" charset="0"/>
              </a:rPr>
              <a:t>3:       | “”</a:t>
            </a:r>
            <a:br>
              <a:rPr lang="en-US" dirty="0">
                <a:latin typeface="Courier" pitchFamily="2" charset="0"/>
              </a:rPr>
            </a:br>
            <a:r>
              <a:rPr lang="en-US" dirty="0">
                <a:highlight>
                  <a:srgbClr val="FFFF00"/>
                </a:highlight>
                <a:latin typeface="Courier" pitchFamily="2" charset="0"/>
              </a:rPr>
              <a:t>4: Unit  ::= ‘(‘ Expr ‘)’</a:t>
            </a:r>
          </a:p>
          <a:p>
            <a:r>
              <a:rPr lang="en-US" dirty="0">
                <a:highlight>
                  <a:srgbClr val="FFFF00"/>
                </a:highlight>
                <a:latin typeface="Courier" pitchFamily="2" charset="0"/>
              </a:rPr>
              <a:t>5:       |    ID</a:t>
            </a:r>
          </a:p>
          <a:p>
            <a:r>
              <a:rPr lang="en-US" dirty="0">
                <a:latin typeface="Courier" pitchFamily="2" charset="0"/>
              </a:rPr>
              <a:t>6: Op    ::= ‘+’</a:t>
            </a:r>
          </a:p>
          <a:p>
            <a:r>
              <a:rPr lang="en-US" dirty="0">
                <a:latin typeface="Courier" pitchFamily="2" charset="0"/>
              </a:rPr>
              <a:t>7:       |   ‘*’</a:t>
            </a:r>
          </a:p>
        </p:txBody>
      </p:sp>
      <p:sp>
        <p:nvSpPr>
          <p:cNvPr id="8" name="TextBox 7">
            <a:extLst>
              <a:ext uri="{FF2B5EF4-FFF2-40B4-BE49-F238E27FC236}">
                <a16:creationId xmlns:a16="http://schemas.microsoft.com/office/drawing/2014/main" id="{436689AF-BA26-3347-BA19-B7CDF8BA594D}"/>
              </a:ext>
            </a:extLst>
          </p:cNvPr>
          <p:cNvSpPr txBox="1"/>
          <p:nvPr/>
        </p:nvSpPr>
        <p:spPr>
          <a:xfrm>
            <a:off x="6764866" y="1585480"/>
            <a:ext cx="2580002" cy="369332"/>
          </a:xfrm>
          <a:prstGeom prst="rect">
            <a:avLst/>
          </a:prstGeom>
          <a:noFill/>
        </p:spPr>
        <p:txBody>
          <a:bodyPr wrap="none" rtlCol="0">
            <a:spAutoFit/>
          </a:bodyPr>
          <a:lstStyle/>
          <a:p>
            <a:r>
              <a:rPr lang="en-US" i="1" dirty="0"/>
              <a:t>How do we parse a Unit? </a:t>
            </a:r>
          </a:p>
        </p:txBody>
      </p:sp>
      <p:sp>
        <p:nvSpPr>
          <p:cNvPr id="5" name="Rectangle 4">
            <a:extLst>
              <a:ext uri="{FF2B5EF4-FFF2-40B4-BE49-F238E27FC236}">
                <a16:creationId xmlns:a16="http://schemas.microsoft.com/office/drawing/2014/main" id="{8C35DCA6-16D2-F54F-A22A-3EFA1E6D8A47}"/>
              </a:ext>
            </a:extLst>
          </p:cNvPr>
          <p:cNvSpPr/>
          <p:nvPr/>
        </p:nvSpPr>
        <p:spPr>
          <a:xfrm>
            <a:off x="838200" y="4184551"/>
            <a:ext cx="2275544" cy="2308324"/>
          </a:xfrm>
          <a:prstGeom prst="rect">
            <a:avLst/>
          </a:prstGeom>
        </p:spPr>
        <p:txBody>
          <a:bodyPr wrap="square">
            <a:spAutoFit/>
          </a:bodyPr>
          <a:lstStyle/>
          <a:p>
            <a:r>
              <a:rPr lang="en-US" dirty="0">
                <a:latin typeface="Courier" pitchFamily="2" charset="0"/>
              </a:rPr>
              <a:t>First+ sets:</a:t>
            </a:r>
            <a:br>
              <a:rPr lang="en-US" dirty="0">
                <a:latin typeface="Courier" pitchFamily="2" charset="0"/>
              </a:rPr>
            </a:br>
            <a:r>
              <a:rPr lang="en-US" dirty="0">
                <a:latin typeface="Courier" pitchFamily="2" charset="0"/>
              </a:rPr>
              <a:t>1: {‘(‘, ID}</a:t>
            </a:r>
          </a:p>
          <a:p>
            <a:r>
              <a:rPr lang="en-US" dirty="0">
                <a:latin typeface="Courier" pitchFamily="2" charset="0"/>
              </a:rPr>
              <a:t>2: {‘+’, ‘*’}</a:t>
            </a:r>
          </a:p>
          <a:p>
            <a:r>
              <a:rPr lang="en-US" dirty="0">
                <a:latin typeface="Courier" pitchFamily="2" charset="0"/>
              </a:rPr>
              <a:t>3: {None, ’)’}</a:t>
            </a:r>
            <a:br>
              <a:rPr lang="en-US" dirty="0">
                <a:latin typeface="Courier" pitchFamily="2" charset="0"/>
              </a:rPr>
            </a:br>
            <a:r>
              <a:rPr lang="en-US" dirty="0">
                <a:latin typeface="Courier" pitchFamily="2" charset="0"/>
              </a:rPr>
              <a:t>4: {‘(‘}</a:t>
            </a:r>
          </a:p>
          <a:p>
            <a:r>
              <a:rPr lang="en-US" dirty="0">
                <a:latin typeface="Courier" pitchFamily="2" charset="0"/>
              </a:rPr>
              <a:t>5: {ID}</a:t>
            </a:r>
          </a:p>
          <a:p>
            <a:r>
              <a:rPr lang="en-US" dirty="0">
                <a:latin typeface="Courier" pitchFamily="2" charset="0"/>
              </a:rPr>
              <a:t>6: {‘+’}</a:t>
            </a:r>
          </a:p>
          <a:p>
            <a:r>
              <a:rPr lang="en-US" dirty="0">
                <a:latin typeface="Courier" pitchFamily="2" charset="0"/>
              </a:rPr>
              <a:t>7: {‘*’}</a:t>
            </a:r>
          </a:p>
        </p:txBody>
      </p:sp>
      <p:sp>
        <p:nvSpPr>
          <p:cNvPr id="3" name="Rectangle 2">
            <a:extLst>
              <a:ext uri="{FF2B5EF4-FFF2-40B4-BE49-F238E27FC236}">
                <a16:creationId xmlns:a16="http://schemas.microsoft.com/office/drawing/2014/main" id="{B8016679-012E-6C4D-A40D-A3A31CC3C26D}"/>
              </a:ext>
            </a:extLst>
          </p:cNvPr>
          <p:cNvSpPr/>
          <p:nvPr/>
        </p:nvSpPr>
        <p:spPr>
          <a:xfrm>
            <a:off x="4191000" y="2841792"/>
            <a:ext cx="8195734" cy="3600986"/>
          </a:xfrm>
          <a:prstGeom prst="rect">
            <a:avLst/>
          </a:prstGeom>
        </p:spPr>
        <p:txBody>
          <a:bodyPr wrap="square">
            <a:spAutoFit/>
          </a:bodyPr>
          <a:lstStyle/>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def</a:t>
            </a:r>
            <a:r>
              <a:rPr lang="en-US" sz="1200" dirty="0">
                <a:solidFill>
                  <a:srgbClr val="000000"/>
                </a:solidFill>
                <a:latin typeface="Menlo" panose="020B0609030804020204" pitchFamily="49" charset="0"/>
              </a:rPr>
              <a:t> </a:t>
            </a:r>
            <a:r>
              <a:rPr lang="en-US" sz="1200" b="1" dirty="0" err="1">
                <a:solidFill>
                  <a:srgbClr val="400BD9"/>
                </a:solidFill>
                <a:latin typeface="Menlo" panose="020B0609030804020204" pitchFamily="49" charset="0"/>
              </a:rPr>
              <a:t>parse_Unit</a:t>
            </a:r>
            <a:r>
              <a:rPr lang="en-US" sz="1200" dirty="0">
                <a:solidFill>
                  <a:srgbClr val="000000"/>
                </a:solidFill>
                <a:latin typeface="Menlo" panose="020B0609030804020204" pitchFamily="49" charset="0"/>
              </a:rPr>
              <a:t>(</a:t>
            </a:r>
            <a:r>
              <a:rPr lang="en-US" sz="1200" b="1" dirty="0">
                <a:solidFill>
                  <a:srgbClr val="2EAEBB"/>
                </a:solidFill>
                <a:latin typeface="Menlo" panose="020B0609030804020204" pitchFamily="49" charset="0"/>
              </a:rPr>
              <a:t>self</a:t>
            </a:r>
            <a:r>
              <a:rPr lang="en-US" sz="1200" dirty="0">
                <a:solidFill>
                  <a:srgbClr val="000000"/>
                </a:solidFill>
                <a:latin typeface="Menlo" panose="020B0609030804020204" pitchFamily="49" charset="0"/>
              </a:rPr>
              <a:t>):</a:t>
            </a:r>
            <a:endParaRPr lang="en-US" sz="1200" dirty="0">
              <a:solidFill>
                <a:srgbClr val="400BD9"/>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9FA01C"/>
                </a:solidFill>
                <a:latin typeface="Menlo" panose="020B0609030804020204" pitchFamily="49" charset="0"/>
              </a:rPr>
              <a:t>        </a:t>
            </a:r>
            <a:r>
              <a:rPr lang="en-US" sz="1200" dirty="0" err="1">
                <a:solidFill>
                  <a:srgbClr val="9FA01C"/>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err="1">
                <a:solidFill>
                  <a:srgbClr val="000000"/>
                </a:solidFill>
                <a:latin typeface="Menlo" panose="020B0609030804020204" pitchFamily="49" charset="0"/>
              </a:rPr>
              <a:t>get_token_id</a:t>
            </a:r>
            <a:r>
              <a:rPr lang="en-US" sz="1200" dirty="0">
                <a:solidFill>
                  <a:srgbClr val="000000"/>
                </a:solidFill>
                <a:latin typeface="Menlo" panose="020B0609030804020204" pitchFamily="49" charset="0"/>
              </a:rPr>
              <a:t>(</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a:t>
            </a:r>
            <a:br>
              <a:rPr lang="en-US" sz="1200" dirty="0">
                <a:solidFill>
                  <a:srgbClr val="000000"/>
                </a:solidFill>
                <a:latin typeface="Menlo" panose="020B0609030804020204" pitchFamily="49" charset="0"/>
              </a:rPr>
            </a:b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Unit  ::= ‘(‘ Expr ‘)’ </a:t>
            </a:r>
            <a:r>
              <a:rPr lang="en-US" sz="1200" dirty="0">
                <a:solidFill>
                  <a:srgbClr val="000000"/>
                </a:solidFill>
                <a:latin typeface="Menlo" panose="020B0609030804020204" pitchFamily="49" charset="0"/>
              </a:rPr>
              <a:t>                       </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a:solidFill>
                  <a:srgbClr val="2FB41D"/>
                </a:solidFill>
                <a:latin typeface="Menlo" panose="020B0609030804020204" pitchFamily="49" charset="0"/>
              </a:rPr>
              <a:t>"LPAR"</a:t>
            </a:r>
            <a:r>
              <a:rPr lang="en-US" sz="1200" dirty="0">
                <a:solidFill>
                  <a:srgbClr val="000000"/>
                </a:solidFill>
                <a:latin typeface="Menlo" panose="020B0609030804020204" pitchFamily="49" charset="0"/>
              </a:rPr>
              <a:t>:</a:t>
            </a:r>
          </a:p>
          <a:p>
            <a:r>
              <a:rPr lang="en-US" sz="1200" dirty="0">
                <a:solidFill>
                  <a:srgbClr val="000000"/>
                </a:solidFill>
                <a:highlight>
                  <a:srgbClr val="FFFF00"/>
                </a:highlight>
                <a:latin typeface="Menlo" panose="020B0609030804020204" pitchFamily="49" charset="0"/>
              </a:rPr>
              <a:t>            </a:t>
            </a:r>
            <a:r>
              <a:rPr lang="en-US" sz="1200" b="1" dirty="0" err="1">
                <a:solidFill>
                  <a:srgbClr val="2EAEBB"/>
                </a:solidFill>
                <a:highlight>
                  <a:srgbClr val="FFFF00"/>
                </a:highlight>
                <a:latin typeface="Menlo" panose="020B0609030804020204" pitchFamily="49" charset="0"/>
              </a:rPr>
              <a:t>self</a:t>
            </a:r>
            <a:r>
              <a:rPr lang="en-US" sz="1200" dirty="0" err="1">
                <a:solidFill>
                  <a:srgbClr val="000000"/>
                </a:solidFill>
                <a:highlight>
                  <a:srgbClr val="FFFF00"/>
                </a:highlight>
                <a:latin typeface="Menlo" panose="020B0609030804020204" pitchFamily="49" charset="0"/>
              </a:rPr>
              <a:t>.eat</a:t>
            </a:r>
            <a:r>
              <a:rPr lang="en-US" sz="1200" dirty="0">
                <a:solidFill>
                  <a:srgbClr val="000000"/>
                </a:solidFill>
                <a:highlight>
                  <a:srgbClr val="FFFF00"/>
                </a:highlight>
                <a:latin typeface="Menlo" panose="020B0609030804020204" pitchFamily="49" charset="0"/>
              </a:rPr>
              <a:t>(</a:t>
            </a:r>
            <a:r>
              <a:rPr lang="en-US" sz="1200" dirty="0">
                <a:solidFill>
                  <a:srgbClr val="2FB41D"/>
                </a:solidFill>
                <a:highlight>
                  <a:srgbClr val="FFFF00"/>
                </a:highlight>
                <a:latin typeface="Menlo" panose="020B0609030804020204" pitchFamily="49" charset="0"/>
              </a:rPr>
              <a:t>"LPAR"</a:t>
            </a:r>
            <a:r>
              <a:rPr lang="en-US" sz="1200" dirty="0">
                <a:solidFill>
                  <a:srgbClr val="000000"/>
                </a:solidFill>
                <a:highlight>
                  <a:srgbClr val="FFFF00"/>
                </a:highlight>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.parse_Expr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.eat</a:t>
            </a:r>
            <a:r>
              <a:rPr lang="en-US" sz="1200" dirty="0">
                <a:solidFill>
                  <a:srgbClr val="000000"/>
                </a:solidFill>
                <a:latin typeface="Menlo" panose="020B0609030804020204" pitchFamily="49" charset="0"/>
              </a:rPr>
              <a:t>(</a:t>
            </a:r>
            <a:r>
              <a:rPr lang="en-US" sz="1200" dirty="0">
                <a:solidFill>
                  <a:srgbClr val="2FB41D"/>
                </a:solidFill>
                <a:latin typeface="Menlo" panose="020B0609030804020204" pitchFamily="49" charset="0"/>
              </a:rPr>
              <a:t>"RPAR"</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br>
              <a:rPr lang="en-US" sz="1200" dirty="0">
                <a:solidFill>
                  <a:srgbClr val="000000"/>
                </a:solidFill>
                <a:latin typeface="Menlo" panose="020B0609030804020204" pitchFamily="49" charset="0"/>
              </a:rPr>
            </a:br>
            <a:endParaRPr lang="en-US" sz="1200" dirty="0">
              <a:solidFill>
                <a:srgbClr val="000000"/>
              </a:solidFill>
              <a:latin typeface="Menlo" panose="020B0609030804020204" pitchFamily="49" charset="0"/>
            </a:endParaRPr>
          </a:p>
          <a:p>
            <a:r>
              <a:rPr lang="en-US" sz="1200" dirty="0">
                <a:solidFill>
                  <a:srgbClr val="B42419"/>
                </a:solidFill>
                <a:latin typeface="Menlo" panose="020B0609030804020204" pitchFamily="49" charset="0"/>
              </a:rPr>
              <a:t>        # Unit :: = ID</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if</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token_id</a:t>
            </a:r>
            <a:r>
              <a:rPr lang="en-US" sz="1200" dirty="0">
                <a:solidFill>
                  <a:srgbClr val="000000"/>
                </a:solidFill>
                <a:latin typeface="Menlo" panose="020B0609030804020204" pitchFamily="49" charset="0"/>
              </a:rPr>
              <a:t> == </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.eat</a:t>
            </a:r>
            <a:r>
              <a:rPr lang="en-US" sz="1200" dirty="0">
                <a:solidFill>
                  <a:srgbClr val="000000"/>
                </a:solidFill>
                <a:latin typeface="Menlo" panose="020B0609030804020204" pitchFamily="49" charset="0"/>
              </a:rPr>
              <a:t>(</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a:t>
            </a: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return</a:t>
            </a:r>
            <a:endParaRPr lang="en-US" sz="1200" dirty="0">
              <a:solidFill>
                <a:srgbClr val="000000"/>
              </a:solidFill>
              <a:latin typeface="Menlo" panose="020B0609030804020204" pitchFamily="49" charset="0"/>
            </a:endParaRPr>
          </a:p>
          <a:p>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a:solidFill>
                  <a:srgbClr val="2EAEBB"/>
                </a:solidFill>
                <a:latin typeface="Menlo" panose="020B0609030804020204" pitchFamily="49" charset="0"/>
              </a:rPr>
              <a:t>raise</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ParserException</a:t>
            </a:r>
            <a:r>
              <a:rPr lang="en-US" sz="1200" dirty="0">
                <a:solidFill>
                  <a:srgbClr val="000000"/>
                </a:solidFill>
                <a:latin typeface="Menlo" panose="020B0609030804020204" pitchFamily="49" charset="0"/>
              </a:rPr>
              <a:t>(-1,               </a:t>
            </a:r>
            <a:r>
              <a:rPr lang="en-US" sz="1200" dirty="0">
                <a:solidFill>
                  <a:srgbClr val="B42419"/>
                </a:solidFill>
                <a:latin typeface="Menlo" panose="020B0609030804020204" pitchFamily="49" charset="0"/>
              </a:rPr>
              <a:t># line number (for you to do)</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b="1" dirty="0" err="1">
                <a:solidFill>
                  <a:srgbClr val="2EAEBB"/>
                </a:solidFill>
                <a:latin typeface="Menlo" panose="020B0609030804020204" pitchFamily="49" charset="0"/>
              </a:rPr>
              <a:t>self</a:t>
            </a:r>
            <a:r>
              <a:rPr lang="en-US" sz="1200" dirty="0" err="1">
                <a:solidFill>
                  <a:srgbClr val="000000"/>
                </a:solidFill>
                <a:latin typeface="Menlo" panose="020B0609030804020204" pitchFamily="49" charset="0"/>
              </a:rPr>
              <a:t>.to_match</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observed token</a:t>
            </a:r>
            <a:endParaRPr lang="en-US" sz="1200" dirty="0">
              <a:solidFill>
                <a:srgbClr val="000000"/>
              </a:solidFill>
              <a:latin typeface="Menlo" panose="020B0609030804020204" pitchFamily="49" charset="0"/>
            </a:endParaRPr>
          </a:p>
          <a:p>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"LPAR"</a:t>
            </a:r>
            <a:r>
              <a:rPr lang="en-US" sz="1200" dirty="0">
                <a:solidFill>
                  <a:srgbClr val="000000"/>
                </a:solidFill>
                <a:latin typeface="Menlo" panose="020B0609030804020204" pitchFamily="49" charset="0"/>
              </a:rPr>
              <a:t>, </a:t>
            </a:r>
            <a:r>
              <a:rPr lang="en-US" sz="1200" dirty="0">
                <a:solidFill>
                  <a:srgbClr val="2FB41D"/>
                </a:solidFill>
                <a:latin typeface="Menlo" panose="020B0609030804020204" pitchFamily="49" charset="0"/>
              </a:rPr>
              <a:t>"ID"</a:t>
            </a:r>
            <a:r>
              <a:rPr lang="en-US" sz="1200" dirty="0">
                <a:solidFill>
                  <a:srgbClr val="000000"/>
                </a:solidFill>
                <a:latin typeface="Menlo" panose="020B0609030804020204" pitchFamily="49" charset="0"/>
              </a:rPr>
              <a:t>])   </a:t>
            </a:r>
            <a:r>
              <a:rPr lang="en-US" sz="1200" dirty="0">
                <a:solidFill>
                  <a:srgbClr val="B42419"/>
                </a:solidFill>
                <a:latin typeface="Menlo" panose="020B0609030804020204" pitchFamily="49" charset="0"/>
              </a:rPr>
              <a:t># expected token</a:t>
            </a:r>
            <a:endParaRPr lang="en-US" sz="1200" dirty="0">
              <a:solidFill>
                <a:srgbClr val="000000"/>
              </a:solidFill>
              <a:effectLst/>
              <a:latin typeface="Menlo" panose="020B0609030804020204" pitchFamily="49" charset="0"/>
            </a:endParaRPr>
          </a:p>
        </p:txBody>
      </p:sp>
      <p:sp>
        <p:nvSpPr>
          <p:cNvPr id="6" name="TextBox 5">
            <a:extLst>
              <a:ext uri="{FF2B5EF4-FFF2-40B4-BE49-F238E27FC236}">
                <a16:creationId xmlns:a16="http://schemas.microsoft.com/office/drawing/2014/main" id="{B178840E-451F-D943-A095-834E80AE3D30}"/>
              </a:ext>
            </a:extLst>
          </p:cNvPr>
          <p:cNvSpPr txBox="1"/>
          <p:nvPr/>
        </p:nvSpPr>
        <p:spPr>
          <a:xfrm>
            <a:off x="8114178" y="3623734"/>
            <a:ext cx="3136308" cy="461665"/>
          </a:xfrm>
          <a:prstGeom prst="rect">
            <a:avLst/>
          </a:prstGeom>
          <a:noFill/>
        </p:spPr>
        <p:txBody>
          <a:bodyPr wrap="none" rtlCol="0">
            <a:spAutoFit/>
          </a:bodyPr>
          <a:lstStyle/>
          <a:p>
            <a:r>
              <a:rPr lang="en-US" sz="1200" i="1" dirty="0"/>
              <a:t>ensure that </a:t>
            </a:r>
            <a:r>
              <a:rPr lang="en-US" sz="1200" i="1" dirty="0" err="1"/>
              <a:t>to_match</a:t>
            </a:r>
            <a:r>
              <a:rPr lang="en-US" sz="1200" i="1" dirty="0"/>
              <a:t> has token ID of “LPAREN”</a:t>
            </a:r>
          </a:p>
          <a:p>
            <a:r>
              <a:rPr lang="en-US" sz="1200" i="1" dirty="0"/>
              <a:t>and get the next token</a:t>
            </a:r>
          </a:p>
        </p:txBody>
      </p:sp>
    </p:spTree>
    <p:extLst>
      <p:ext uri="{BB962C8B-B14F-4D97-AF65-F5344CB8AC3E}">
        <p14:creationId xmlns:p14="http://schemas.microsoft.com/office/powerpoint/2010/main" val="976338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893D32ED-5D72-12B1-3ABA-94FAE18A7F83}"/>
              </a:ext>
            </a:extLst>
          </p:cNvPr>
          <p:cNvPicPr>
            <a:picLocks noChangeAspect="1"/>
          </p:cNvPicPr>
          <p:nvPr/>
        </p:nvPicPr>
        <p:blipFill>
          <a:blip r:embed="rId2"/>
          <a:stretch>
            <a:fillRect/>
          </a:stretch>
        </p:blipFill>
        <p:spPr>
          <a:xfrm>
            <a:off x="1542586" y="1925134"/>
            <a:ext cx="7010400" cy="2959100"/>
          </a:xfrm>
          <a:prstGeom prst="rect">
            <a:avLst/>
          </a:prstGeom>
        </p:spPr>
      </p:pic>
    </p:spTree>
    <p:extLst>
      <p:ext uri="{BB962C8B-B14F-4D97-AF65-F5344CB8AC3E}">
        <p14:creationId xmlns:p14="http://schemas.microsoft.com/office/powerpoint/2010/main" val="3796756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F0881-3228-F88B-DC32-4D352C509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74DD1-D666-3BB9-2AFC-4131DC3FB478}"/>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3C21AC04-C7F4-AAEC-8147-AF69237B5FC3}"/>
              </a:ext>
            </a:extLst>
          </p:cNvPr>
          <p:cNvPicPr>
            <a:picLocks noChangeAspect="1"/>
          </p:cNvPicPr>
          <p:nvPr/>
        </p:nvPicPr>
        <p:blipFill>
          <a:blip r:embed="rId2"/>
          <a:stretch>
            <a:fillRect/>
          </a:stretch>
        </p:blipFill>
        <p:spPr>
          <a:xfrm>
            <a:off x="1542586" y="1925134"/>
            <a:ext cx="7010400" cy="2959100"/>
          </a:xfrm>
          <a:prstGeom prst="rect">
            <a:avLst/>
          </a:prstGeom>
        </p:spPr>
      </p:pic>
      <p:sp>
        <p:nvSpPr>
          <p:cNvPr id="3" name="TextBox 2">
            <a:extLst>
              <a:ext uri="{FF2B5EF4-FFF2-40B4-BE49-F238E27FC236}">
                <a16:creationId xmlns:a16="http://schemas.microsoft.com/office/drawing/2014/main" id="{BBD3872D-1E18-A41E-EB39-3E386E6FC4F8}"/>
              </a:ext>
            </a:extLst>
          </p:cNvPr>
          <p:cNvSpPr txBox="1"/>
          <p:nvPr/>
        </p:nvSpPr>
        <p:spPr>
          <a:xfrm>
            <a:off x="6880303" y="2206578"/>
            <a:ext cx="4360127" cy="2677656"/>
          </a:xfrm>
          <a:prstGeom prst="rect">
            <a:avLst/>
          </a:prstGeom>
          <a:noFill/>
        </p:spPr>
        <p:txBody>
          <a:bodyPr wrap="square" rtlCol="0">
            <a:spAutoFit/>
          </a:bodyPr>
          <a:lstStyle/>
          <a:p>
            <a:r>
              <a:rPr lang="en-US" sz="2400" b="1" dirty="0"/>
              <a:t>The number of tokens will proportionally affect the parsing time.   If backtracks can occur it would definitely have an effect that would slow down parsing, not necessarily proportional.</a:t>
            </a:r>
          </a:p>
        </p:txBody>
      </p:sp>
    </p:spTree>
    <p:extLst>
      <p:ext uri="{BB962C8B-B14F-4D97-AF65-F5344CB8AC3E}">
        <p14:creationId xmlns:p14="http://schemas.microsoft.com/office/powerpoint/2010/main" val="3329959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541</TotalTime>
  <Words>2255</Words>
  <Application>Microsoft Office PowerPoint</Application>
  <PresentationFormat>Widescreen</PresentationFormat>
  <Paragraphs>379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Courier</vt:lpstr>
      <vt:lpstr>Menlo</vt:lpstr>
      <vt:lpstr>Office Theme</vt:lpstr>
      <vt:lpstr>Quiz-07-AMB-TOP-DOWN-REC-DESC  Topics:   Ambiguity  HW2  Top-Down Parsing  Recursive Descent Parsing </vt:lpstr>
      <vt:lpstr>Quiz</vt:lpstr>
      <vt:lpstr>Quiz</vt:lpstr>
      <vt:lpstr>Homework 2</vt:lpstr>
      <vt:lpstr>Quiz</vt:lpstr>
      <vt:lpstr>Quiz</vt:lpstr>
      <vt:lpstr>Top-Down Parsing</vt:lpstr>
      <vt:lpstr>Quiz</vt:lpstr>
      <vt:lpstr>Quiz</vt:lpstr>
      <vt:lpstr>PowerPoint Presentation</vt:lpstr>
      <vt:lpstr>Eliminating direct left recursion</vt:lpstr>
      <vt:lpstr>Eliminating direct left recursion</vt:lpstr>
      <vt:lpstr>Eliminating direct left recursion</vt:lpstr>
      <vt:lpstr>Eliminating direct left recursion</vt:lpstr>
      <vt:lpstr>Eliminating direct left recursion</vt:lpstr>
      <vt:lpstr>Quiz</vt:lpstr>
      <vt:lpstr>Quiz</vt:lpstr>
      <vt:lpstr>PowerPoint Presentation</vt:lpstr>
      <vt:lpstr>Quiz</vt:lpstr>
      <vt:lpstr>Eliminating direct left recursion</vt:lpstr>
      <vt:lpstr>Recursive Descent and LL Parsing</vt:lpstr>
      <vt:lpstr>Quiz</vt:lpstr>
      <vt:lpstr>Quiz</vt:lpstr>
      <vt:lpstr>Quiz</vt:lpstr>
      <vt:lpstr>Quiz</vt:lpstr>
      <vt:lpstr>Quiz</vt:lpstr>
      <vt:lpstr>Quiz</vt:lpstr>
      <vt:lpstr>Let’s look at the grammar</vt:lpstr>
      <vt:lpstr>Let’s look at the grammar</vt:lpstr>
      <vt:lpstr>Let’s look at the grammar</vt:lpstr>
      <vt:lpstr>Let’s look at the grammar</vt:lpstr>
      <vt:lpstr>Let’s look at the grammar</vt:lpstr>
      <vt:lpstr>Let’s look at the grammar</vt:lpstr>
      <vt:lpstr>Let’s look at the grammar</vt:lpstr>
      <vt:lpstr>Let’s look at the grammar</vt:lpstr>
      <vt:lpstr>Let’s look at the grammar</vt:lpstr>
      <vt:lpstr>Let’s look at the grammar</vt:lpstr>
      <vt:lpstr>Quiz</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Marcelo Siero</dc:creator>
  <cp:lastModifiedBy>Marcelo Siero</cp:lastModifiedBy>
  <cp:revision>7</cp:revision>
  <dcterms:created xsi:type="dcterms:W3CDTF">2025-03-30T05:00:14Z</dcterms:created>
  <dcterms:modified xsi:type="dcterms:W3CDTF">2026-02-06T10:32:33Z</dcterms:modified>
</cp:coreProperties>
</file>