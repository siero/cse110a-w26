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2"/>
  </p:notesMasterIdLst>
  <p:sldIdLst>
    <p:sldId id="257" r:id="rId2"/>
    <p:sldId id="1349" r:id="rId3"/>
    <p:sldId id="1060" r:id="rId4"/>
    <p:sldId id="1115" r:id="rId5"/>
    <p:sldId id="1116" r:id="rId6"/>
    <p:sldId id="1117" r:id="rId7"/>
    <p:sldId id="1114" r:id="rId8"/>
    <p:sldId id="1126" r:id="rId9"/>
    <p:sldId id="1061" r:id="rId10"/>
    <p:sldId id="1118" r:id="rId11"/>
    <p:sldId id="1134" r:id="rId12"/>
    <p:sldId id="1119" r:id="rId13"/>
    <p:sldId id="1120" r:id="rId14"/>
    <p:sldId id="1155" r:id="rId15"/>
    <p:sldId id="1156" r:id="rId16"/>
    <p:sldId id="1157" r:id="rId17"/>
    <p:sldId id="423" r:id="rId18"/>
    <p:sldId id="429" r:id="rId19"/>
    <p:sldId id="377" r:id="rId20"/>
    <p:sldId id="342" r:id="rId21"/>
    <p:sldId id="378" r:id="rId22"/>
    <p:sldId id="379" r:id="rId23"/>
    <p:sldId id="380" r:id="rId24"/>
    <p:sldId id="381" r:id="rId25"/>
    <p:sldId id="382" r:id="rId26"/>
    <p:sldId id="383" r:id="rId27"/>
    <p:sldId id="343" r:id="rId28"/>
    <p:sldId id="1350" r:id="rId29"/>
    <p:sldId id="1351" r:id="rId30"/>
    <p:sldId id="1352" r:id="rId31"/>
    <p:sldId id="1353" r:id="rId32"/>
    <p:sldId id="1354" r:id="rId33"/>
    <p:sldId id="1355" r:id="rId34"/>
    <p:sldId id="1356" r:id="rId35"/>
    <p:sldId id="345" r:id="rId36"/>
    <p:sldId id="391" r:id="rId37"/>
    <p:sldId id="1342" r:id="rId38"/>
    <p:sldId id="392" r:id="rId39"/>
    <p:sldId id="1171" r:id="rId40"/>
    <p:sldId id="348" r:id="rId41"/>
    <p:sldId id="350" r:id="rId42"/>
    <p:sldId id="398" r:id="rId43"/>
    <p:sldId id="352" r:id="rId44"/>
    <p:sldId id="400" r:id="rId45"/>
    <p:sldId id="401" r:id="rId46"/>
    <p:sldId id="402" r:id="rId47"/>
    <p:sldId id="403" r:id="rId48"/>
    <p:sldId id="404" r:id="rId49"/>
    <p:sldId id="405" r:id="rId50"/>
    <p:sldId id="434" r:id="rId51"/>
    <p:sldId id="1162" r:id="rId52"/>
    <p:sldId id="1163" r:id="rId53"/>
    <p:sldId id="406" r:id="rId54"/>
    <p:sldId id="1164" r:id="rId55"/>
    <p:sldId id="256" r:id="rId56"/>
    <p:sldId id="354" r:id="rId57"/>
    <p:sldId id="407" r:id="rId58"/>
    <p:sldId id="408" r:id="rId59"/>
    <p:sldId id="427" r:id="rId60"/>
    <p:sldId id="409" r:id="rId61"/>
    <p:sldId id="1206" r:id="rId62"/>
    <p:sldId id="428" r:id="rId63"/>
    <p:sldId id="1168" r:id="rId64"/>
    <p:sldId id="431" r:id="rId65"/>
    <p:sldId id="432" r:id="rId66"/>
    <p:sldId id="433" r:id="rId67"/>
    <p:sldId id="1166" r:id="rId68"/>
    <p:sldId id="435" r:id="rId69"/>
    <p:sldId id="436" r:id="rId70"/>
    <p:sldId id="437" r:id="rId71"/>
    <p:sldId id="438" r:id="rId72"/>
    <p:sldId id="439" r:id="rId73"/>
    <p:sldId id="440" r:id="rId74"/>
    <p:sldId id="1169" r:id="rId75"/>
    <p:sldId id="1170" r:id="rId76"/>
    <p:sldId id="1207" r:id="rId77"/>
    <p:sldId id="1215" r:id="rId78"/>
    <p:sldId id="1214" r:id="rId79"/>
    <p:sldId id="1216" r:id="rId80"/>
    <p:sldId id="1217" r:id="rId81"/>
    <p:sldId id="1210" r:id="rId82"/>
    <p:sldId id="1219" r:id="rId83"/>
    <p:sldId id="1221" r:id="rId84"/>
    <p:sldId id="1222" r:id="rId85"/>
    <p:sldId id="1223" r:id="rId86"/>
    <p:sldId id="1211" r:id="rId87"/>
    <p:sldId id="1212" r:id="rId88"/>
    <p:sldId id="1224" r:id="rId89"/>
    <p:sldId id="1225" r:id="rId90"/>
    <p:sldId id="1239" r:id="rId91"/>
    <p:sldId id="1226" r:id="rId92"/>
    <p:sldId id="1227" r:id="rId93"/>
    <p:sldId id="1213" r:id="rId94"/>
    <p:sldId id="1229" r:id="rId95"/>
    <p:sldId id="1228" r:id="rId96"/>
    <p:sldId id="1231" r:id="rId97"/>
    <p:sldId id="1232" r:id="rId98"/>
    <p:sldId id="1233" r:id="rId99"/>
    <p:sldId id="1235" r:id="rId100"/>
    <p:sldId id="1245" r:id="rId101"/>
    <p:sldId id="1236" r:id="rId102"/>
    <p:sldId id="1237" r:id="rId103"/>
    <p:sldId id="1238" r:id="rId104"/>
    <p:sldId id="1240" r:id="rId105"/>
    <p:sldId id="1241" r:id="rId106"/>
    <p:sldId id="1242" r:id="rId107"/>
    <p:sldId id="1243" r:id="rId108"/>
    <p:sldId id="1244" r:id="rId109"/>
    <p:sldId id="1346" r:id="rId110"/>
    <p:sldId id="1345" r:id="rId111"/>
    <p:sldId id="1344" r:id="rId112"/>
    <p:sldId id="1338" r:id="rId113"/>
    <p:sldId id="1293" r:id="rId114"/>
    <p:sldId id="1286" r:id="rId115"/>
    <p:sldId id="1287" r:id="rId116"/>
    <p:sldId id="1288" r:id="rId117"/>
    <p:sldId id="1292" r:id="rId118"/>
    <p:sldId id="1347" r:id="rId119"/>
    <p:sldId id="1343" r:id="rId120"/>
    <p:sldId id="1348" r:id="rId121"/>
    <p:sldId id="1290" r:id="rId122"/>
    <p:sldId id="1294" r:id="rId123"/>
    <p:sldId id="1295" r:id="rId124"/>
    <p:sldId id="1296" r:id="rId125"/>
    <p:sldId id="1297" r:id="rId126"/>
    <p:sldId id="1340" r:id="rId127"/>
    <p:sldId id="1262" r:id="rId128"/>
    <p:sldId id="1298" r:id="rId129"/>
    <p:sldId id="1339" r:id="rId130"/>
    <p:sldId id="1299" r:id="rId131"/>
    <p:sldId id="1300" r:id="rId132"/>
    <p:sldId id="1301" r:id="rId133"/>
    <p:sldId id="1302" r:id="rId134"/>
    <p:sldId id="264" r:id="rId135"/>
    <p:sldId id="1264" r:id="rId136"/>
    <p:sldId id="1265" r:id="rId137"/>
    <p:sldId id="787" r:id="rId138"/>
    <p:sldId id="1315" r:id="rId139"/>
    <p:sldId id="1316" r:id="rId140"/>
    <p:sldId id="1317" r:id="rId141"/>
    <p:sldId id="1318" r:id="rId142"/>
    <p:sldId id="1319" r:id="rId143"/>
    <p:sldId id="1328" r:id="rId144"/>
    <p:sldId id="1329" r:id="rId145"/>
    <p:sldId id="1330" r:id="rId146"/>
    <p:sldId id="1331" r:id="rId147"/>
    <p:sldId id="1332" r:id="rId148"/>
    <p:sldId id="1333" r:id="rId149"/>
    <p:sldId id="1334" r:id="rId150"/>
    <p:sldId id="1335" r:id="rId15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6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020" y="3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heme" Target="theme/theme1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slide" Target="slides/slide150.xml"/><Relationship Id="rId156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viewProps" Target="viewProps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FE7AC-D9FE-49F3-9985-40B7A120EDAB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54575B-F7A4-4590-BDD2-43095CD716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20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94289-6C26-F046-8A9C-B611FE64EF1F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77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D94289-6C26-F046-8A9C-B611FE64EF1F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63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54575B-F7A4-4590-BDD2-43095CD71696}" type="slidenum">
              <a:rPr lang="en-US" smtClean="0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1065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4348-80B9-FA97-6ABE-C7C513B1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5660A-5E97-E673-5A67-886947623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489BE-66C8-FD65-F816-8B6F214B2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A9F7D-3258-D8D6-FBB9-757470886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5D850-192C-4A74-9ED8-83EA308A700E}" type="slidenum">
              <a:rPr lang="en-US" smtClean="0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183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64348-80B9-FA97-6ABE-C7C513B1F9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35660A-5E97-E673-5A67-8869476238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2489BE-66C8-FD65-F816-8B6F214B2C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A9F7D-3258-D8D6-FBB9-7574708867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E5D850-192C-4A74-9ED8-83EA308A700E}" type="slidenum">
              <a:rPr lang="en-US" smtClean="0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183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1ECB7-CE54-7A8E-2047-31ECD8AEF3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CB0789-F959-88B0-BF85-7196F8C38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2C3AE3-F56F-7325-FF3D-70647B839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D940E-2875-15B9-C41C-C8EBB640B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27F298-8A6E-3FB6-F1E3-431AA2B6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375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28010-FE3F-B074-318B-D45441741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8A03DA-5CE2-ABD2-917A-0DB7F618A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0D6B51-6A5A-891A-8EA9-AFBBE2381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903AED-CDA7-1832-4F6D-953F0710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DD69F2-3B4E-DF21-6B0C-13CF706B4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103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FF97C-CC7A-AAD7-60F0-E18012925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FCC020-D37F-8393-8117-56631FBCE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A7305-A480-DA41-A7D5-0565C9182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34099B-6BDD-4858-EBB0-EE702A531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9FCB2-648B-C962-60FF-D2E6CF9BF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628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CF1D7-DE14-4810-B3A9-A7F8B91ED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8D218A-3B91-C95D-1F9F-4AF88EC562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4DC3E-D910-B53C-7E97-7068097779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D47FB-8A30-92B8-9805-7E2CE81E8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8773B5-AC1D-16A5-B147-E90B71040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6E6A84-7A5D-5626-FA08-51C614066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14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25EED-E496-9C11-2CA6-6C6F97D9B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D805B-2649-B13F-E19E-1840B1EBB5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898C76-48B4-92AB-D606-32D7A3597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51E08A-8784-E984-F91C-0CBD0CA4CD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48E96F-3247-721A-84A8-E85E34F041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A2E2E0-2418-DDE8-4852-B88BB082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A313CD-78DA-A9C9-565E-44A50D8F0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BB22B9-562D-44EB-C661-C19EFCB3C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872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F2007-EADC-2710-3F97-EF1746FE3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71993-49ED-194D-1132-84C239A3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94CD9F-EA9F-5F2C-0D0A-B8E74C06C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383391-9AEA-783C-EFAD-353DED96A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805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1A373D-E02B-24B2-5DC4-42A1BF54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4CBD4F-218C-9C92-4EA2-12FE7F6751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C6E59-4B1B-86CF-1580-A10B39966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974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8B3F0-5775-DFEA-2EA9-823BDD0FC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89B40D-31D8-B6CF-8EB5-C36598B66A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5FD08-CBB2-AF46-B007-F09691A31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E7BB1-CB74-D90F-90AF-4A1528A47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35961-C248-B0E9-1335-1B877F2A1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D2352-EB13-773F-1A89-0363B27F5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7975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7A2C8-EE78-4355-0A63-EAA07C17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ADB355-84C4-2662-65A2-13840E084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7F7EA-FB63-B880-050A-1C54F4ED4A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39BD8E-81B5-666A-8406-8D24F46A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63608-F2BF-8D74-F495-7A9176AD1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5CDE42-7AA6-9909-8978-C46F13170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419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19D20-CD98-642D-9E8A-E6A41207B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69C43D-0384-7803-7362-9E0C472BB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AF40D-4D8B-F293-3787-5514C5668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4A4E78-5665-B2DB-33CF-05CDB37AF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B9F5D-A10F-B8FA-F725-417B27370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43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630C298-1C6F-DA17-9D0E-0479478740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B9E6BB-40BA-B72B-F3B4-8896B00A5A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345B9A-FF13-7B48-3D2E-D9BCDD727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43FD22-738B-757F-BC53-41F783FE4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DFC58-1826-D9D4-7C97-5A68BDBD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738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439B48-6B68-BCBB-73F5-6D629711B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DD87CA-E82C-3A67-39B5-907EADB712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0DD66-78B7-97EF-B48F-C220837B9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5C1EC0-1DA8-4D9E-AE48-10EDA77EAC78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0636F-3D89-97C6-6733-AFABC6E109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6FA63E-1BCD-7A51-F728-22C07ACB2E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F3982E-11C3-492A-9F2A-359882E7A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152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/language/operator_precedence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hyperlink" Target="https://en.cppreference.com/w/c/language/operator_precedence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github.com/Ant-28/first-follow.git" TargetMode="External"/><Relationship Id="rId4" Type="http://schemas.openxmlformats.org/officeDocument/2006/relationships/hyperlink" Target="https://www.youtube.com/watch?v=JhEmguMmfLU" TargetMode="Externa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0.png"/><Relationship Id="rId4" Type="http://schemas.openxmlformats.org/officeDocument/2006/relationships/image" Target="../media/image20.png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55987-81F9-C64A-BD1F-BC0CF5D7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597" y="0"/>
            <a:ext cx="10515600" cy="1553757"/>
          </a:xfrm>
        </p:spPr>
        <p:txBody>
          <a:bodyPr/>
          <a:lstStyle/>
          <a:p>
            <a:r>
              <a:rPr lang="en-US" sz="5000" b="1" dirty="0"/>
              <a:t>CSE110A: Compilers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56C47-D610-254E-AA36-5D7C3512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217" y="1764596"/>
            <a:ext cx="6901683" cy="4203531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b="1" dirty="0"/>
              <a:t>Topics</a:t>
            </a:r>
            <a:r>
              <a:rPr lang="en-US" dirty="0"/>
              <a:t>:  </a:t>
            </a:r>
            <a:r>
              <a:rPr lang="en-US" sz="3500" b="1" dirty="0"/>
              <a:t>Midterm Review of Parsing</a:t>
            </a:r>
            <a:endParaRPr lang="en-US" b="1" dirty="0"/>
          </a:p>
          <a:p>
            <a:r>
              <a:rPr lang="en-US" i="1" dirty="0"/>
              <a:t>Ambiguous Grammars and Parse Trees  1</a:t>
            </a:r>
          </a:p>
          <a:p>
            <a:r>
              <a:rPr lang="en-US" i="1" dirty="0"/>
              <a:t>Post-Order Traversals   9</a:t>
            </a:r>
          </a:p>
          <a:p>
            <a:r>
              <a:rPr lang="en-US" i="1" dirty="0"/>
              <a:t>Ambiguous Grammars and Precedence  36 </a:t>
            </a:r>
          </a:p>
          <a:p>
            <a:r>
              <a:rPr lang="en-US" i="1" dirty="0"/>
              <a:t>Fixing  Grammar for Associativity 54</a:t>
            </a:r>
          </a:p>
          <a:p>
            <a:r>
              <a:rPr lang="en-US" i="1" dirty="0"/>
              <a:t>Top-Down / Bottom-Up Parsers  75</a:t>
            </a:r>
          </a:p>
          <a:p>
            <a:r>
              <a:rPr lang="en-US" i="1" dirty="0"/>
              <a:t>LL(1) Top-Down Parsing    86 </a:t>
            </a:r>
          </a:p>
          <a:p>
            <a:r>
              <a:rPr lang="en-US" i="1" dirty="0"/>
              <a:t>Eliminating Left Recursion  92</a:t>
            </a:r>
          </a:p>
          <a:p>
            <a:r>
              <a:rPr lang="en-US" i="1" dirty="0"/>
              <a:t>Oracularity </a:t>
            </a:r>
            <a:r>
              <a:rPr lang="en-US" i="1" dirty="0" err="1"/>
              <a:t>wth</a:t>
            </a:r>
            <a:r>
              <a:rPr lang="en-US" i="1" dirty="0"/>
              <a:t> First, Follow, Follow+ Sets  111</a:t>
            </a:r>
          </a:p>
          <a:p>
            <a:pPr lvl="1"/>
            <a:r>
              <a:rPr lang="en-US" i="1" dirty="0"/>
              <a:t>Making a backtrack-free top-down parser</a:t>
            </a:r>
          </a:p>
          <a:p>
            <a:r>
              <a:rPr lang="en-US" i="1" dirty="0"/>
              <a:t>Left Factoring   123</a:t>
            </a:r>
          </a:p>
          <a:p>
            <a:r>
              <a:rPr lang="en-US" i="1" dirty="0"/>
              <a:t>Recursive Descent    134</a:t>
            </a:r>
          </a:p>
          <a:p>
            <a:pPr marL="0" indent="0">
              <a:buNone/>
            </a:pPr>
            <a:endParaRPr lang="en-US" i="1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5BF4810-9B5C-0A4D-B2CE-2BC37B86A354}"/>
              </a:ext>
            </a:extLst>
          </p:cNvPr>
          <p:cNvSpPr/>
          <p:nvPr/>
        </p:nvSpPr>
        <p:spPr>
          <a:xfrm>
            <a:off x="10097167" y="209080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FA286D8F-6730-F04B-9B5A-A73EFAB4D4E7}"/>
              </a:ext>
            </a:extLst>
          </p:cNvPr>
          <p:cNvCxnSpPr>
            <a:cxnSpLocks/>
            <a:stCxn id="17" idx="4"/>
          </p:cNvCxnSpPr>
          <p:nvPr/>
        </p:nvCxnSpPr>
        <p:spPr>
          <a:xfrm flipH="1">
            <a:off x="10119752" y="2402657"/>
            <a:ext cx="351930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6B12D8AA-0409-864E-9890-3FFB88503A5E}"/>
              </a:ext>
            </a:extLst>
          </p:cNvPr>
          <p:cNvCxnSpPr>
            <a:cxnSpLocks/>
            <a:stCxn id="17" idx="4"/>
          </p:cNvCxnSpPr>
          <p:nvPr/>
        </p:nvCxnSpPr>
        <p:spPr>
          <a:xfrm>
            <a:off x="10471682" y="2402657"/>
            <a:ext cx="277238" cy="2918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595DC5A4-90C6-B14B-A382-11D393C99C64}"/>
              </a:ext>
            </a:extLst>
          </p:cNvPr>
          <p:cNvSpPr/>
          <p:nvPr/>
        </p:nvSpPr>
        <p:spPr>
          <a:xfrm>
            <a:off x="9722652" y="2720674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7B8E1B2B-5DF2-E645-BAE4-3348D9F473F8}"/>
              </a:ext>
            </a:extLst>
          </p:cNvPr>
          <p:cNvSpPr/>
          <p:nvPr/>
        </p:nvSpPr>
        <p:spPr>
          <a:xfrm>
            <a:off x="10512211" y="2727971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4F2426A8-2722-164F-9E46-19F9E98727B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971844" y="3050112"/>
            <a:ext cx="328310" cy="3112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9AC218C-0E06-3C47-904B-D63E5F792510}"/>
              </a:ext>
            </a:extLst>
          </p:cNvPr>
          <p:cNvCxnSpPr>
            <a:cxnSpLocks/>
            <a:stCxn id="21" idx="4"/>
            <a:endCxn id="38" idx="0"/>
          </p:cNvCxnSpPr>
          <p:nvPr/>
        </p:nvCxnSpPr>
        <p:spPr>
          <a:xfrm flipH="1">
            <a:off x="10367706" y="3039820"/>
            <a:ext cx="519020" cy="3118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FD89F16C-A8D3-904A-8BD9-E3C751C9AD48}"/>
              </a:ext>
            </a:extLst>
          </p:cNvPr>
          <p:cNvSpPr/>
          <p:nvPr/>
        </p:nvSpPr>
        <p:spPr>
          <a:xfrm>
            <a:off x="10925639" y="3361398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AD5099B9-D9EF-0A4E-8009-19E283A17159}"/>
              </a:ext>
            </a:extLst>
          </p:cNvPr>
          <p:cNvSpPr/>
          <p:nvPr/>
        </p:nvSpPr>
        <p:spPr>
          <a:xfrm>
            <a:off x="9993191" y="3351669"/>
            <a:ext cx="749030" cy="31184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..</a:t>
            </a:r>
          </a:p>
        </p:txBody>
      </p:sp>
      <p:sp>
        <p:nvSpPr>
          <p:cNvPr id="39" name="Snip Single Corner Rectangle 38">
            <a:extLst>
              <a:ext uri="{FF2B5EF4-FFF2-40B4-BE49-F238E27FC236}">
                <a16:creationId xmlns:a16="http://schemas.microsoft.com/office/drawing/2014/main" id="{F7AACD00-7B7A-7E4A-8E82-E00367CBE379}"/>
              </a:ext>
            </a:extLst>
          </p:cNvPr>
          <p:cNvSpPr/>
          <p:nvPr/>
        </p:nvSpPr>
        <p:spPr>
          <a:xfrm>
            <a:off x="7026095" y="2373274"/>
            <a:ext cx="1594022" cy="1235676"/>
          </a:xfrm>
          <a:prstGeom prst="snip1Rect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int main() {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</a:t>
            </a:r>
            <a:r>
              <a:rPr lang="en-US" sz="1400" dirty="0" err="1">
                <a:solidFill>
                  <a:schemeClr val="tx1"/>
                </a:solidFill>
                <a:latin typeface="Courier" pitchFamily="2" charset="0"/>
              </a:rPr>
              <a:t>printf</a:t>
            </a: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(““);</a:t>
            </a:r>
          </a:p>
          <a:p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 return 0;</a:t>
            </a:r>
            <a:br>
              <a:rPr lang="en-US" sz="1400" dirty="0">
                <a:solidFill>
                  <a:schemeClr val="tx1"/>
                </a:solidFill>
                <a:latin typeface="Courier" pitchFamily="2" charset="0"/>
              </a:rPr>
            </a:br>
            <a:r>
              <a:rPr lang="en-US" sz="1400" dirty="0">
                <a:solidFill>
                  <a:schemeClr val="tx1"/>
                </a:solidFill>
                <a:latin typeface="Courier" pitchFamily="2" charset="0"/>
              </a:rPr>
              <a:t>}</a:t>
            </a:r>
          </a:p>
        </p:txBody>
      </p:sp>
      <p:sp>
        <p:nvSpPr>
          <p:cNvPr id="40" name="Right Arrow 39">
            <a:extLst>
              <a:ext uri="{FF2B5EF4-FFF2-40B4-BE49-F238E27FC236}">
                <a16:creationId xmlns:a16="http://schemas.microsoft.com/office/drawing/2014/main" id="{D5C64FAD-A257-F54D-A462-4BA9F13CC36D}"/>
              </a:ext>
            </a:extLst>
          </p:cNvPr>
          <p:cNvSpPr/>
          <p:nvPr/>
        </p:nvSpPr>
        <p:spPr>
          <a:xfrm flipV="1">
            <a:off x="8796082" y="2700225"/>
            <a:ext cx="951875" cy="35445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0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AE8AB-AA7D-B3BA-F330-31D19B98D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D8663-E02A-EABE-61BD-824339DF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Midterm Tips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0DF84-7BA7-5690-4FAD-EE91BD047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08711"/>
            <a:ext cx="10515600" cy="4576341"/>
          </a:xfrm>
        </p:spPr>
        <p:txBody>
          <a:bodyPr>
            <a:normAutofit/>
          </a:bodyPr>
          <a:lstStyle/>
          <a:p>
            <a:r>
              <a:rPr lang="en-US" dirty="0"/>
              <a:t>Review  various techniques for scanning:</a:t>
            </a:r>
          </a:p>
          <a:p>
            <a:pPr lvl="1"/>
            <a:r>
              <a:rPr lang="en-US" dirty="0"/>
              <a:t>Exact Match (EM)</a:t>
            </a:r>
          </a:p>
          <a:p>
            <a:pPr lvl="1"/>
            <a:r>
              <a:rPr lang="en-US" dirty="0"/>
              <a:t>Start of String (SOS)</a:t>
            </a:r>
          </a:p>
          <a:p>
            <a:pPr lvl="1"/>
            <a:r>
              <a:rPr lang="en-US" dirty="0"/>
              <a:t>Named Group (NG)</a:t>
            </a:r>
          </a:p>
          <a:p>
            <a:r>
              <a:rPr lang="en-US" dirty="0"/>
              <a:t>Review basic Regular Expressions.</a:t>
            </a:r>
          </a:p>
          <a:p>
            <a:r>
              <a:rPr lang="en-US" dirty="0"/>
              <a:t>Make sure you feel confident in their use, and the</a:t>
            </a:r>
          </a:p>
          <a:p>
            <a:pPr lvl="1"/>
            <a:r>
              <a:rPr lang="en-US" dirty="0"/>
              <a:t>the various operators involved</a:t>
            </a:r>
          </a:p>
          <a:p>
            <a:r>
              <a:rPr lang="en-US" dirty="0"/>
              <a:t>Token Actions</a:t>
            </a:r>
          </a:p>
          <a:p>
            <a:pPr lvl="1"/>
            <a:r>
              <a:rPr lang="en-US" dirty="0"/>
              <a:t>First class functions</a:t>
            </a:r>
          </a:p>
        </p:txBody>
      </p:sp>
    </p:spTree>
    <p:extLst>
      <p:ext uri="{BB962C8B-B14F-4D97-AF65-F5344CB8AC3E}">
        <p14:creationId xmlns:p14="http://schemas.microsoft.com/office/powerpoint/2010/main" val="3475966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0594"/>
          </a:xfrm>
        </p:spPr>
        <p:txBody>
          <a:bodyPr>
            <a:normAutofit fontScale="92500"/>
          </a:bodyPr>
          <a:lstStyle/>
          <a:p>
            <a:r>
              <a:rPr lang="en-US" dirty="0"/>
              <a:t>What happens when different derivations have different parse trees?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2566219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7F6AB7-59B6-2D49-8916-A9763C18A618}"/>
              </a:ext>
            </a:extLst>
          </p:cNvPr>
          <p:cNvSpPr txBox="1"/>
          <p:nvPr/>
        </p:nvSpPr>
        <p:spPr>
          <a:xfrm>
            <a:off x="3677264" y="4322476"/>
            <a:ext cx="25675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derive this string?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F40FCA-756E-9744-9D4F-2998AD18650C}"/>
              </a:ext>
            </a:extLst>
          </p:cNvPr>
          <p:cNvSpPr txBox="1"/>
          <p:nvPr/>
        </p:nvSpPr>
        <p:spPr>
          <a:xfrm>
            <a:off x="320040" y="6254496"/>
            <a:ext cx="53792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Next few figures taken from the EAC book (Chapter 3.1)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F74D19-CDF7-0041-AB04-53ECA72AE6DE}"/>
              </a:ext>
            </a:extLst>
          </p:cNvPr>
          <p:cNvSpPr txBox="1"/>
          <p:nvPr/>
        </p:nvSpPr>
        <p:spPr>
          <a:xfrm>
            <a:off x="1621671" y="5054167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6923372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4C7899-8E10-AB48-A698-616B11AFE2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61579"/>
          <a:stretch/>
        </p:blipFill>
        <p:spPr>
          <a:xfrm>
            <a:off x="142915" y="3987974"/>
            <a:ext cx="5484399" cy="8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028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</p:spTree>
    <p:extLst>
      <p:ext uri="{BB962C8B-B14F-4D97-AF65-F5344CB8AC3E}">
        <p14:creationId xmlns:p14="http://schemas.microsoft.com/office/powerpoint/2010/main" val="4073676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0E2E80-777D-EB49-9D24-DF1DB32EE4E4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44F2D-8AC9-8342-8940-15FFCC792056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EC031D4-A54A-1248-A500-F444FEB13D1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5D805E9-DA17-C644-97EF-452AA9E4FED0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7C60B2-F2B8-664E-A0AD-2F89A5B2BB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619" t="6406" r="4479" b="57543"/>
          <a:stretch/>
        </p:blipFill>
        <p:spPr>
          <a:xfrm>
            <a:off x="6327648" y="3987975"/>
            <a:ext cx="5665466" cy="93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25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3B98D52-B42C-E049-AF3E-9FC8C81EFF3C}"/>
              </a:ext>
            </a:extLst>
          </p:cNvPr>
          <p:cNvSpPr txBox="1"/>
          <p:nvPr/>
        </p:nvSpPr>
        <p:spPr>
          <a:xfrm>
            <a:off x="1535136" y="1576385"/>
            <a:ext cx="845616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1: Statement ::=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“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” Statement</a:t>
            </a:r>
          </a:p>
          <a:p>
            <a:r>
              <a:rPr lang="en-US" dirty="0">
                <a:latin typeface="Courier" pitchFamily="2" charset="0"/>
              </a:rPr>
              <a:t>2:           |   ”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” Expr “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” Statement </a:t>
            </a:r>
          </a:p>
          <a:p>
            <a:r>
              <a:rPr lang="en-US" dirty="0">
                <a:latin typeface="Courier" pitchFamily="2" charset="0"/>
              </a:rPr>
              <a:t>3:           |    Assignment</a:t>
            </a:r>
          </a:p>
          <a:p>
            <a:r>
              <a:rPr lang="en-US" dirty="0">
                <a:latin typeface="Courier" pitchFamily="2" charset="0"/>
              </a:rPr>
              <a:t>4:           |    ....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164E4E2-E31D-1F4B-BDF6-7861CAE5C010}"/>
              </a:ext>
            </a:extLst>
          </p:cNvPr>
          <p:cNvSpPr txBox="1"/>
          <p:nvPr/>
        </p:nvSpPr>
        <p:spPr>
          <a:xfrm>
            <a:off x="2266105" y="3059668"/>
            <a:ext cx="77251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1"/>
                </a:solidFill>
                <a:latin typeface="Courier" pitchFamily="2" charset="0"/>
              </a:rPr>
              <a:t>if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Expr</a:t>
            </a:r>
            <a:r>
              <a:rPr lang="en-US" i="1" baseline="-25000" dirty="0">
                <a:latin typeface="Courier" pitchFamily="2" charset="0"/>
              </a:rPr>
              <a:t>2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6"/>
                </a:solidFill>
                <a:latin typeface="Courier" pitchFamily="2" charset="0"/>
              </a:rPr>
              <a:t>then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1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else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i="1" dirty="0">
                <a:latin typeface="Courier" pitchFamily="2" charset="0"/>
              </a:rPr>
              <a:t>Assignment</a:t>
            </a:r>
            <a:r>
              <a:rPr lang="en-US" i="1" baseline="-25000" dirty="0">
                <a:latin typeface="Courier" pitchFamily="2" charset="0"/>
              </a:rPr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FE2A85-D1AC-6DAE-1D5A-179EE566FC9E}"/>
              </a:ext>
            </a:extLst>
          </p:cNvPr>
          <p:cNvSpPr txBox="1"/>
          <p:nvPr/>
        </p:nvSpPr>
        <p:spPr>
          <a:xfrm>
            <a:off x="7558486" y="6289759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And another valid derivation</a:t>
            </a:r>
          </a:p>
        </p:txBody>
      </p:sp>
    </p:spTree>
    <p:extLst>
      <p:ext uri="{BB962C8B-B14F-4D97-AF65-F5344CB8AC3E}">
        <p14:creationId xmlns:p14="http://schemas.microsoft.com/office/powerpoint/2010/main" val="20715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7558486" y="6308209"/>
            <a:ext cx="29017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And another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3300984" y="2284142"/>
            <a:ext cx="66888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Is this an issue? Don’t we only care if a grammar can derive a string?</a:t>
            </a:r>
          </a:p>
        </p:txBody>
      </p:sp>
    </p:spTree>
    <p:extLst>
      <p:ext uri="{BB962C8B-B14F-4D97-AF65-F5344CB8AC3E}">
        <p14:creationId xmlns:p14="http://schemas.microsoft.com/office/powerpoint/2010/main" val="2622537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Converting Meaning into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C6140-750A-C341-A851-96CD68C9E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68167"/>
          </a:xfrm>
        </p:spPr>
        <p:txBody>
          <a:bodyPr>
            <a:normAutofit/>
          </a:bodyPr>
          <a:lstStyle/>
          <a:p>
            <a:r>
              <a:rPr lang="en-US" dirty="0"/>
              <a:t>We want to start encoding meaning into the parse structure. We want as much structure as early as possible as we continue through the phases of the compiler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structure wanted is that an evaluation of the program corresponds to a post order traversal of the parse tree (also called the natural traversal)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7758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6607588" y="1465052"/>
            <a:ext cx="50845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Let’s review the different type of</a:t>
            </a:r>
          </a:p>
          <a:p>
            <a:r>
              <a:rPr lang="en-US" sz="2800" dirty="0"/>
              <a:t>tree traversal algorithms: </a:t>
            </a:r>
          </a:p>
          <a:p>
            <a:endParaRPr lang="en-US" sz="2800" dirty="0"/>
          </a:p>
          <a:p>
            <a:r>
              <a:rPr lang="en-US" sz="2800" dirty="0"/>
              <a:t>     pre order?</a:t>
            </a:r>
          </a:p>
          <a:p>
            <a:r>
              <a:rPr lang="en-US" sz="2800" dirty="0"/>
              <a:t>     in order?</a:t>
            </a:r>
          </a:p>
          <a:p>
            <a:r>
              <a:rPr lang="en-US" sz="2800" dirty="0"/>
              <a:t>     post order?</a:t>
            </a:r>
          </a:p>
        </p:txBody>
      </p:sp>
    </p:spTree>
    <p:extLst>
      <p:ext uri="{BB962C8B-B14F-4D97-AF65-F5344CB8AC3E}">
        <p14:creationId xmlns:p14="http://schemas.microsoft.com/office/powerpoint/2010/main" val="8101234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D04618-023D-E4E8-012F-4D34836AFF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18D7-5C01-CCB3-04E5-1022D088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20107"/>
            <a:ext cx="10515600" cy="923330"/>
          </a:xfrm>
        </p:spPr>
        <p:txBody>
          <a:bodyPr/>
          <a:lstStyle/>
          <a:p>
            <a:r>
              <a:rPr lang="en-US" dirty="0"/>
              <a:t>Review: Possible Orders of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4B062D6D-72D3-8D92-7BBA-94BC1783E2E8}"/>
              </a:ext>
            </a:extLst>
          </p:cNvPr>
          <p:cNvSpPr/>
          <p:nvPr/>
        </p:nvSpPr>
        <p:spPr>
          <a:xfrm>
            <a:off x="2380149" y="1448099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E91408B-921D-A034-E7DC-D7D8352FC044}"/>
              </a:ext>
            </a:extLst>
          </p:cNvPr>
          <p:cNvSpPr/>
          <p:nvPr/>
        </p:nvSpPr>
        <p:spPr>
          <a:xfrm>
            <a:off x="1556442" y="2225339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1A67B96-A6F0-4D61-5E01-D4C7187F3D43}"/>
              </a:ext>
            </a:extLst>
          </p:cNvPr>
          <p:cNvCxnSpPr>
            <a:cxnSpLocks/>
            <a:stCxn id="4" idx="3"/>
            <a:endCxn id="5" idx="7"/>
          </p:cNvCxnSpPr>
          <p:nvPr/>
        </p:nvCxnSpPr>
        <p:spPr>
          <a:xfrm flipH="1">
            <a:off x="2219858" y="2111515"/>
            <a:ext cx="274115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B05600-99FC-8945-8D2D-609E459DBA3E}"/>
              </a:ext>
            </a:extLst>
          </p:cNvPr>
          <p:cNvCxnSpPr>
            <a:cxnSpLocks/>
            <a:stCxn id="5" idx="3"/>
            <a:endCxn id="3" idx="7"/>
          </p:cNvCxnSpPr>
          <p:nvPr/>
        </p:nvCxnSpPr>
        <p:spPr>
          <a:xfrm flipH="1">
            <a:off x="1341087" y="2888755"/>
            <a:ext cx="32917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255770C-1DC1-7AAC-2FFD-02A14AFC03CC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2219858" y="2888755"/>
            <a:ext cx="285409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Oval 2">
            <a:extLst>
              <a:ext uri="{FF2B5EF4-FFF2-40B4-BE49-F238E27FC236}">
                <a16:creationId xmlns:a16="http://schemas.microsoft.com/office/drawing/2014/main" id="{1370D0A6-74C4-ABF4-D387-CC13E4D7C45D}"/>
              </a:ext>
            </a:extLst>
          </p:cNvPr>
          <p:cNvSpPr/>
          <p:nvPr/>
        </p:nvSpPr>
        <p:spPr>
          <a:xfrm>
            <a:off x="677671" y="308419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36D384C-B858-FD77-1910-1F2BFCD479E6}"/>
              </a:ext>
            </a:extLst>
          </p:cNvPr>
          <p:cNvSpPr/>
          <p:nvPr/>
        </p:nvSpPr>
        <p:spPr>
          <a:xfrm>
            <a:off x="2391443" y="308419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3AC0135-2345-0DFB-E35A-9CB36CB28F08}"/>
              </a:ext>
            </a:extLst>
          </p:cNvPr>
          <p:cNvSpPr/>
          <p:nvPr/>
        </p:nvSpPr>
        <p:spPr>
          <a:xfrm>
            <a:off x="3197689" y="2225339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D924030-A9E1-F843-C464-460A8080810B}"/>
              </a:ext>
            </a:extLst>
          </p:cNvPr>
          <p:cNvCxnSpPr>
            <a:cxnSpLocks/>
            <a:stCxn id="4" idx="5"/>
            <a:endCxn id="33" idx="1"/>
          </p:cNvCxnSpPr>
          <p:nvPr/>
        </p:nvCxnSpPr>
        <p:spPr>
          <a:xfrm>
            <a:off x="3043565" y="2111515"/>
            <a:ext cx="267948" cy="22764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070BF0-2A34-9534-2BA6-3F4877E3EE6C}"/>
              </a:ext>
            </a:extLst>
          </p:cNvPr>
          <p:cNvCxnSpPr>
            <a:cxnSpLocks/>
            <a:stCxn id="33" idx="5"/>
            <a:endCxn id="37" idx="1"/>
          </p:cNvCxnSpPr>
          <p:nvPr/>
        </p:nvCxnSpPr>
        <p:spPr>
          <a:xfrm>
            <a:off x="3861105" y="2888755"/>
            <a:ext cx="324631" cy="30926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7D838BFB-DFE2-08C4-1A63-D84F2C9AB020}"/>
              </a:ext>
            </a:extLst>
          </p:cNvPr>
          <p:cNvSpPr/>
          <p:nvPr/>
        </p:nvSpPr>
        <p:spPr>
          <a:xfrm>
            <a:off x="4071912" y="3084193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ACAA0DB0-2FD7-B3CF-6D2F-0913BB66A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462304"/>
              </p:ext>
            </p:extLst>
          </p:nvPr>
        </p:nvGraphicFramePr>
        <p:xfrm>
          <a:off x="5410047" y="1014235"/>
          <a:ext cx="6129912" cy="20628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7887">
                  <a:extLst>
                    <a:ext uri="{9D8B030D-6E8A-4147-A177-3AD203B41FA5}">
                      <a16:colId xmlns:a16="http://schemas.microsoft.com/office/drawing/2014/main" val="4158862879"/>
                    </a:ext>
                  </a:extLst>
                </a:gridCol>
                <a:gridCol w="3060586">
                  <a:extLst>
                    <a:ext uri="{9D8B030D-6E8A-4147-A177-3AD203B41FA5}">
                      <a16:colId xmlns:a16="http://schemas.microsoft.com/office/drawing/2014/main" val="3112138583"/>
                    </a:ext>
                  </a:extLst>
                </a:gridCol>
                <a:gridCol w="1411439">
                  <a:extLst>
                    <a:ext uri="{9D8B030D-6E8A-4147-A177-3AD203B41FA5}">
                      <a16:colId xmlns:a16="http://schemas.microsoft.com/office/drawing/2014/main" val="3742667736"/>
                    </a:ext>
                  </a:extLst>
                </a:gridCol>
              </a:tblGrid>
              <a:tr h="615758">
                <a:tc>
                  <a:txBody>
                    <a:bodyPr/>
                    <a:lstStyle/>
                    <a:p>
                      <a:r>
                        <a:rPr lang="en-US" dirty="0"/>
                        <a:t>Traversal</a:t>
                      </a:r>
                    </a:p>
                    <a:p>
                      <a:r>
                        <a:rPr lang="en-US" dirty="0"/>
                        <a:t>    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Order 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Example</a:t>
                      </a:r>
                    </a:p>
                    <a:p>
                      <a:r>
                        <a:rPr lang="en-US" dirty="0"/>
                        <a:t>   Output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062617"/>
                  </a:ext>
                </a:extLst>
              </a:tr>
              <a:tr h="459581">
                <a:tc>
                  <a:txBody>
                    <a:bodyPr/>
                    <a:lstStyle/>
                    <a:p>
                      <a:r>
                        <a:rPr lang="en-US" dirty="0"/>
                        <a:t>pre-order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Top-Root-&gt;Left-Child-&gt;Right-Child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A B D E G H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125202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in-order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Left/Bottom-&gt;Its-Root-&gt;Right/Bottom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B G E H A C F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1630095"/>
                  </a:ext>
                </a:extLst>
              </a:tr>
              <a:tr h="481616">
                <a:tc>
                  <a:txBody>
                    <a:bodyPr/>
                    <a:lstStyle/>
                    <a:p>
                      <a:r>
                        <a:rPr lang="en-US" dirty="0"/>
                        <a:t>post-order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Left/Bottom-&gt;Right/Bottom-&gt;Its-Root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400" dirty="0"/>
                        <a:t>D G H E B F C A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215218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29B5500F-F2E5-0D0C-1CB2-9188FE31DE26}"/>
              </a:ext>
            </a:extLst>
          </p:cNvPr>
          <p:cNvSpPr txBox="1"/>
          <p:nvPr/>
        </p:nvSpPr>
        <p:spPr>
          <a:xfrm>
            <a:off x="5110631" y="3571871"/>
            <a:ext cx="66252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Pre-order Traversal (Root-Left-Right. Top to Bottom)</a:t>
            </a:r>
          </a:p>
          <a:p>
            <a:pPr>
              <a:buNone/>
            </a:pPr>
            <a:r>
              <a:rPr lang="en-US" b="1" dirty="0"/>
              <a:t>        </a:t>
            </a:r>
            <a:r>
              <a:rPr lang="en-US" dirty="0"/>
              <a:t>Prioritizes visits from top to bottom, and left to right</a:t>
            </a:r>
          </a:p>
          <a:p>
            <a:pPr>
              <a:buNone/>
            </a:pPr>
            <a:r>
              <a:rPr lang="en-US" dirty="0"/>
              <a:t>        Useful for serializing and copying trees.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0B616E-411D-9C38-7184-DC949C38A89B}"/>
              </a:ext>
            </a:extLst>
          </p:cNvPr>
          <p:cNvSpPr txBox="1"/>
          <p:nvPr/>
        </p:nvSpPr>
        <p:spPr>
          <a:xfrm>
            <a:off x="5110631" y="4436565"/>
            <a:ext cx="60503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In-order Traversal (Left-Root-Right, Bottom to Top)</a:t>
            </a:r>
          </a:p>
          <a:p>
            <a:pPr lvl="1"/>
            <a:r>
              <a:rPr lang="en-US" dirty="0"/>
              <a:t>Prioritizes visits from bottom left to right visiting parent nodes on the way.  Sometimes used for sorting.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AAC9B3-3E7E-9100-5863-B3EE895C35D4}"/>
              </a:ext>
            </a:extLst>
          </p:cNvPr>
          <p:cNvSpPr txBox="1"/>
          <p:nvPr/>
        </p:nvSpPr>
        <p:spPr>
          <a:xfrm>
            <a:off x="5110631" y="5359895"/>
            <a:ext cx="56905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b="1" dirty="0"/>
              <a:t>    Post-order (or natural) Traversal (Left-Right-Root)</a:t>
            </a:r>
          </a:p>
          <a:p>
            <a:pPr lvl="1"/>
            <a:r>
              <a:rPr lang="en-US" dirty="0"/>
              <a:t>Prioritizes traversing subtrees by visiting lowest nodes first, and parent nodes later.  Useful for evaluating expression trees (e.g. parsing)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89E8DB9-C6D5-C51C-24DA-EE09E30CF5C8}"/>
              </a:ext>
            </a:extLst>
          </p:cNvPr>
          <p:cNvCxnSpPr>
            <a:cxnSpLocks/>
            <a:stCxn id="11" idx="5"/>
            <a:endCxn id="48" idx="1"/>
          </p:cNvCxnSpPr>
          <p:nvPr/>
        </p:nvCxnSpPr>
        <p:spPr>
          <a:xfrm>
            <a:off x="3054859" y="3747609"/>
            <a:ext cx="256654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>
            <a:extLst>
              <a:ext uri="{FF2B5EF4-FFF2-40B4-BE49-F238E27FC236}">
                <a16:creationId xmlns:a16="http://schemas.microsoft.com/office/drawing/2014/main" id="{A711FBBB-A7C7-A0D3-AB59-E40B8265030A}"/>
              </a:ext>
            </a:extLst>
          </p:cNvPr>
          <p:cNvSpPr/>
          <p:nvPr/>
        </p:nvSpPr>
        <p:spPr>
          <a:xfrm>
            <a:off x="3197689" y="392864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D2E07CFF-605F-A06E-940D-837F6E56EA79}"/>
              </a:ext>
            </a:extLst>
          </p:cNvPr>
          <p:cNvSpPr/>
          <p:nvPr/>
        </p:nvSpPr>
        <p:spPr>
          <a:xfrm>
            <a:off x="1518298" y="3928641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</a:t>
            </a:r>
          </a:p>
        </p:txBody>
      </p: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D4D10A47-301E-0F2C-C181-E57C1140EF09}"/>
              </a:ext>
            </a:extLst>
          </p:cNvPr>
          <p:cNvCxnSpPr>
            <a:cxnSpLocks/>
            <a:stCxn id="11" idx="3"/>
            <a:endCxn id="89" idx="7"/>
          </p:cNvCxnSpPr>
          <p:nvPr/>
        </p:nvCxnSpPr>
        <p:spPr>
          <a:xfrm flipH="1">
            <a:off x="2181714" y="3747609"/>
            <a:ext cx="323553" cy="29485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4721E3E0-DD0D-EDC3-FAF5-58BAEE60C8C5}"/>
              </a:ext>
            </a:extLst>
          </p:cNvPr>
          <p:cNvSpPr txBox="1"/>
          <p:nvPr/>
        </p:nvSpPr>
        <p:spPr>
          <a:xfrm>
            <a:off x="5301338" y="3238091"/>
            <a:ext cx="4851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Traversals never visit the same node twice.</a:t>
            </a:r>
          </a:p>
        </p:txBody>
      </p:sp>
    </p:spTree>
    <p:extLst>
      <p:ext uri="{BB962C8B-B14F-4D97-AF65-F5344CB8AC3E}">
        <p14:creationId xmlns:p14="http://schemas.microsoft.com/office/powerpoint/2010/main" val="3529412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 order traversal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318E3F6C-A743-8A4D-9EE8-2834469CE690}"/>
              </a:ext>
            </a:extLst>
          </p:cNvPr>
          <p:cNvSpPr/>
          <p:nvPr/>
        </p:nvSpPr>
        <p:spPr>
          <a:xfrm>
            <a:off x="3348228" y="2697480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52AEBBA-F12C-B341-98FC-EBB4B11DB1CE}"/>
              </a:ext>
            </a:extLst>
          </p:cNvPr>
          <p:cNvSpPr/>
          <p:nvPr/>
        </p:nvSpPr>
        <p:spPr>
          <a:xfrm>
            <a:off x="1441704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D936F8-A834-0B42-95CA-6AE1E67B666F}"/>
              </a:ext>
            </a:extLst>
          </p:cNvPr>
          <p:cNvSpPr/>
          <p:nvPr/>
        </p:nvSpPr>
        <p:spPr>
          <a:xfrm>
            <a:off x="4920996" y="4028884"/>
            <a:ext cx="777240" cy="777240"/>
          </a:xfrm>
          <a:prstGeom prst="ellipse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821868-82EE-504D-8067-1F861B330C2F}"/>
              </a:ext>
            </a:extLst>
          </p:cNvPr>
          <p:cNvCxnSpPr>
            <a:stCxn id="4" idx="3"/>
            <a:endCxn id="5" idx="7"/>
          </p:cNvCxnSpPr>
          <p:nvPr/>
        </p:nvCxnSpPr>
        <p:spPr>
          <a:xfrm flipH="1">
            <a:off x="2105120" y="3360896"/>
            <a:ext cx="1356932" cy="7818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2C2FBC-B548-654A-8FF6-7EED20BB66CD}"/>
              </a:ext>
            </a:extLst>
          </p:cNvPr>
          <p:cNvCxnSpPr>
            <a:cxnSpLocks/>
            <a:stCxn id="4" idx="5"/>
            <a:endCxn id="7" idx="0"/>
          </p:cNvCxnSpPr>
          <p:nvPr/>
        </p:nvCxnSpPr>
        <p:spPr>
          <a:xfrm>
            <a:off x="4011644" y="3360896"/>
            <a:ext cx="1297972" cy="6679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17227F8-0456-9348-811A-BBD396F72331}"/>
              </a:ext>
            </a:extLst>
          </p:cNvPr>
          <p:cNvCxnSpPr>
            <a:cxnSpLocks/>
          </p:cNvCxnSpPr>
          <p:nvPr/>
        </p:nvCxnSpPr>
        <p:spPr>
          <a:xfrm flipH="1">
            <a:off x="3748278" y="212731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49E9CF-B3CA-2747-B757-7A400D2D845C}"/>
              </a:ext>
            </a:extLst>
          </p:cNvPr>
          <p:cNvCxnSpPr>
            <a:cxnSpLocks/>
          </p:cNvCxnSpPr>
          <p:nvPr/>
        </p:nvCxnSpPr>
        <p:spPr>
          <a:xfrm flipH="1">
            <a:off x="172440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0171047-9828-0449-B921-DB0859E7B6BD}"/>
              </a:ext>
            </a:extLst>
          </p:cNvPr>
          <p:cNvCxnSpPr>
            <a:cxnSpLocks/>
          </p:cNvCxnSpPr>
          <p:nvPr/>
        </p:nvCxnSpPr>
        <p:spPr>
          <a:xfrm flipH="1">
            <a:off x="5309616" y="4806124"/>
            <a:ext cx="24384" cy="55416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D5E697B-32DE-874A-8FF9-50BC1AE5F75D}"/>
              </a:ext>
            </a:extLst>
          </p:cNvPr>
          <p:cNvSpPr txBox="1"/>
          <p:nvPr/>
        </p:nvSpPr>
        <p:spPr>
          <a:xfrm>
            <a:off x="8311896" y="3090672"/>
            <a:ext cx="266989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visiting for different types</a:t>
            </a:r>
          </a:p>
          <a:p>
            <a:r>
              <a:rPr lang="en-US" dirty="0"/>
              <a:t>of traversals:</a:t>
            </a:r>
          </a:p>
          <a:p>
            <a:endParaRPr lang="en-US" dirty="0"/>
          </a:p>
          <a:p>
            <a:r>
              <a:rPr lang="en-US" dirty="0">
                <a:highlight>
                  <a:srgbClr val="FFFF00"/>
                </a:highlight>
              </a:rPr>
              <a:t>post order</a:t>
            </a:r>
          </a:p>
        </p:txBody>
      </p:sp>
    </p:spTree>
    <p:extLst>
      <p:ext uri="{BB962C8B-B14F-4D97-AF65-F5344CB8AC3E}">
        <p14:creationId xmlns:p14="http://schemas.microsoft.com/office/powerpoint/2010/main" val="157856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22A2A-82F3-DE48-BEF3-F2BC607438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Ambiguous grammars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FF8BC30-E355-994F-9124-9AABF2C5331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619" t="6406" r="4479" b="8352"/>
          <a:stretch/>
        </p:blipFill>
        <p:spPr>
          <a:xfrm>
            <a:off x="6327648" y="3987975"/>
            <a:ext cx="5665466" cy="22025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7126ADA-331A-7A44-9C52-9B5C4D1EB5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284" t="6406" r="5462" b="13156"/>
          <a:stretch/>
        </p:blipFill>
        <p:spPr>
          <a:xfrm>
            <a:off x="142915" y="3987974"/>
            <a:ext cx="5484399" cy="220251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183DBDE0-AF1F-7F46-9DD7-98AA6D57EE3C}"/>
              </a:ext>
            </a:extLst>
          </p:cNvPr>
          <p:cNvSpPr txBox="1"/>
          <p:nvPr/>
        </p:nvSpPr>
        <p:spPr>
          <a:xfrm>
            <a:off x="1535136" y="6308209"/>
            <a:ext cx="16475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Valid derivation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81C74C-7CC7-A344-9B20-E535D9497129}"/>
              </a:ext>
            </a:extLst>
          </p:cNvPr>
          <p:cNvSpPr txBox="1"/>
          <p:nvPr/>
        </p:nvSpPr>
        <p:spPr>
          <a:xfrm>
            <a:off x="8298648" y="6308209"/>
            <a:ext cx="2250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Also a valid derivation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21C6949-1EC6-7A43-BE4A-25A3D52F8645}"/>
              </a:ext>
            </a:extLst>
          </p:cNvPr>
          <p:cNvSpPr txBox="1"/>
          <p:nvPr/>
        </p:nvSpPr>
        <p:spPr>
          <a:xfrm>
            <a:off x="381070" y="2037218"/>
            <a:ext cx="105280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Encoding meaning into structure can result in very different programs</a:t>
            </a:r>
          </a:p>
        </p:txBody>
      </p:sp>
    </p:spTree>
    <p:extLst>
      <p:ext uri="{BB962C8B-B14F-4D97-AF65-F5344CB8AC3E}">
        <p14:creationId xmlns:p14="http://schemas.microsoft.com/office/powerpoint/2010/main" val="2348603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9CE95CD-ACA3-9740-B0FD-FDCCEACF65BF}"/>
              </a:ext>
            </a:extLst>
          </p:cNvPr>
          <p:cNvSpPr/>
          <p:nvPr/>
        </p:nvSpPr>
        <p:spPr>
          <a:xfrm>
            <a:off x="3404616" y="1796671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1; //true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 //false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0;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pass();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check0 = 1;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2468880" y="5202936"/>
            <a:ext cx="47728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pop quiz: what is the value of check0 at the end?</a:t>
            </a:r>
          </a:p>
        </p:txBody>
      </p:sp>
    </p:spTree>
    <p:extLst>
      <p:ext uri="{BB962C8B-B14F-4D97-AF65-F5344CB8AC3E}">
        <p14:creationId xmlns:p14="http://schemas.microsoft.com/office/powerpoint/2010/main" val="10700405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1054007" y="6308208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does Python handle this?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DD96-650D-EC41-93DE-9A61F7F69E37}"/>
              </a:ext>
            </a:extLst>
          </p:cNvPr>
          <p:cNvSpPr/>
          <p:nvPr/>
        </p:nvSpPr>
        <p:spPr>
          <a:xfrm>
            <a:off x="1042416" y="18932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057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7A923-0834-AA46-AC5E-5E0B2AA38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Programming language structure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1D824B-10BA-964B-88A6-3B8FD74D22C9}"/>
              </a:ext>
            </a:extLst>
          </p:cNvPr>
          <p:cNvSpPr txBox="1"/>
          <p:nvPr/>
        </p:nvSpPr>
        <p:spPr>
          <a:xfrm>
            <a:off x="1054007" y="6308208"/>
            <a:ext cx="3036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How does Python handle this?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348DD96-650D-EC41-93DE-9A61F7F69E37}"/>
              </a:ext>
            </a:extLst>
          </p:cNvPr>
          <p:cNvSpPr/>
          <p:nvPr/>
        </p:nvSpPr>
        <p:spPr>
          <a:xfrm>
            <a:off x="1042416" y="1893236"/>
            <a:ext cx="6096000" cy="369331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  <a:endParaRPr lang="en-US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386D56-B8B8-6B45-94E8-293913FAA331}"/>
              </a:ext>
            </a:extLst>
          </p:cNvPr>
          <p:cNvSpPr/>
          <p:nvPr/>
        </p:nvSpPr>
        <p:spPr>
          <a:xfrm>
            <a:off x="7693152" y="1708548"/>
            <a:ext cx="318820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</a:p>
          <a:p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0</a:t>
            </a:r>
            <a:endParaRPr lang="en-US" dirty="0">
              <a:solidFill>
                <a:srgbClr val="9FA01C"/>
              </a:solidFill>
              <a:latin typeface="Menlo" panose="020B0609030804020204" pitchFamily="49" charset="0"/>
            </a:endParaRP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(x):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(y):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pass</a:t>
            </a: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else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dirty="0">
                <a:solidFill>
                  <a:srgbClr val="9FA01C"/>
                </a:solidFill>
                <a:latin typeface="Menlo" panose="020B0609030804020204" pitchFamily="49" charset="0"/>
              </a:rPr>
              <a:t>check0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= 1</a:t>
            </a:r>
          </a:p>
          <a:p>
            <a:b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(check0)</a:t>
            </a:r>
            <a:endParaRPr lang="en-US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BF078F-629C-FF42-B3A6-E9DCAE24B57E}"/>
              </a:ext>
            </a:extLst>
          </p:cNvPr>
          <p:cNvSpPr txBox="1"/>
          <p:nvPr/>
        </p:nvSpPr>
        <p:spPr>
          <a:xfrm>
            <a:off x="6866543" y="5985042"/>
            <a:ext cx="46577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Invalid syntax, you need to indent, which makes</a:t>
            </a:r>
            <a:br>
              <a:rPr lang="en-US" dirty="0"/>
            </a:br>
            <a:r>
              <a:rPr lang="en-US" dirty="0"/>
              <a:t>it clear</a:t>
            </a:r>
          </a:p>
        </p:txBody>
      </p:sp>
    </p:spTree>
    <p:extLst>
      <p:ext uri="{BB962C8B-B14F-4D97-AF65-F5344CB8AC3E}">
        <p14:creationId xmlns:p14="http://schemas.microsoft.com/office/powerpoint/2010/main" val="2921293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074" y="0"/>
            <a:ext cx="10515600" cy="1325563"/>
          </a:xfrm>
        </p:spPr>
        <p:txBody>
          <a:bodyPr/>
          <a:lstStyle/>
          <a:p>
            <a:r>
              <a:rPr lang="en-US" dirty="0"/>
              <a:t>Ambiguous expressions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5FB140A-8CB5-D443-A901-D8A848887F1A}"/>
              </a:ext>
            </a:extLst>
          </p:cNvPr>
          <p:cNvSpPr txBox="1">
            <a:spLocks/>
          </p:cNvSpPr>
          <p:nvPr/>
        </p:nvSpPr>
        <p:spPr>
          <a:xfrm>
            <a:off x="812074" y="1530555"/>
            <a:ext cx="10515600" cy="50246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First lets define tokens:</a:t>
            </a:r>
            <a:br>
              <a:rPr lang="en-US" dirty="0"/>
            </a:br>
            <a:r>
              <a:rPr lang="en-US" sz="900" dirty="0"/>
              <a:t> </a:t>
            </a:r>
            <a:endParaRPr lang="en-US" sz="1000" dirty="0"/>
          </a:p>
          <a:p>
            <a:pPr lvl="1"/>
            <a:r>
              <a:rPr lang="en-US" dirty="0">
                <a:latin typeface="Courier" pitchFamily="2" charset="0"/>
              </a:rPr>
              <a:t>NUM = ”[0-9]+”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= \)’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latin typeface="Courier" pitchFamily="2" charset="0"/>
              </a:rPr>
              <a:t>Expr :== NUM 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dirty="0">
                <a:latin typeface="Courier" pitchFamily="2" charset="0"/>
              </a:rPr>
              <a:t>     | LP Expr RP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EA4C9-C9BB-6A49-9EA1-8035844B2E65}"/>
              </a:ext>
            </a:extLst>
          </p:cNvPr>
          <p:cNvSpPr txBox="1"/>
          <p:nvPr/>
        </p:nvSpPr>
        <p:spPr>
          <a:xfrm>
            <a:off x="6069874" y="1968137"/>
            <a:ext cx="4002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define a simple expression language</a:t>
            </a:r>
          </a:p>
        </p:txBody>
      </p:sp>
    </p:spTree>
    <p:extLst>
      <p:ext uri="{BB962C8B-B14F-4D97-AF65-F5344CB8AC3E}">
        <p14:creationId xmlns:p14="http://schemas.microsoft.com/office/powerpoint/2010/main" val="37329997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536153F6-347B-B24A-947D-5538BFBD9E75}"/>
              </a:ext>
            </a:extLst>
          </p:cNvPr>
          <p:cNvSpPr txBox="1"/>
          <p:nvPr/>
        </p:nvSpPr>
        <p:spPr>
          <a:xfrm>
            <a:off x="7982465" y="299003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1081947-D9AE-8547-82EB-3025A774AF02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7538696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</p:cNvCxnSpPr>
          <p:nvPr/>
        </p:nvCxnSpPr>
        <p:spPr>
          <a:xfrm>
            <a:off x="8611267" y="4213808"/>
            <a:ext cx="0" cy="64102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8042842" y="486582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153F6-347B-B24A-947D-5538BFBD9E75}"/>
              </a:ext>
            </a:extLst>
          </p:cNvPr>
          <p:cNvSpPr txBox="1"/>
          <p:nvPr/>
        </p:nvSpPr>
        <p:spPr>
          <a:xfrm>
            <a:off x="7982465" y="2990033"/>
            <a:ext cx="1287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40CF4B98-C770-0B41-9B89-C082E082D43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02443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C733FBD-D5E6-C944-BEC7-8D0594914478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303511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BCD0CAFE-3EA8-AF4B-93F5-BF4677AEF00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6464594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9A73C6B-B655-6643-A3CA-7ED809B8A8A0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779057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6808839" y="552766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58087E-A6F1-B240-B47D-E17FCAEF59C0}"/>
              </a:ext>
            </a:extLst>
          </p:cNvPr>
          <p:cNvSpPr txBox="1"/>
          <p:nvPr/>
        </p:nvSpPr>
        <p:spPr>
          <a:xfrm>
            <a:off x="9159846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623837-D8C3-2641-82CB-E92A04939DA5}"/>
              </a:ext>
            </a:extLst>
          </p:cNvPr>
          <p:cNvCxnSpPr>
            <a:cxnSpLocks/>
          </p:cNvCxnSpPr>
          <p:nvPr/>
        </p:nvCxnSpPr>
        <p:spPr>
          <a:xfrm>
            <a:off x="7377264" y="504155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3429BD-BA29-2246-82F8-D2BA8FCE0FA5}"/>
              </a:ext>
            </a:extLst>
          </p:cNvPr>
          <p:cNvCxnSpPr>
            <a:cxnSpLocks/>
          </p:cNvCxnSpPr>
          <p:nvPr/>
        </p:nvCxnSpPr>
        <p:spPr>
          <a:xfrm>
            <a:off x="9708426" y="505826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8512133-7B6F-0644-B9F8-6AA33EB569C3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0955811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B8B602-BDE3-F94D-A428-492444E578F2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E3E2233-085D-3C47-9EDD-D6602A0D7BBB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7452801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8FA7A3-8CB7-124A-92C9-1172E76F1DF5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A761EB1-49D6-7C41-8B40-09621FB535B8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4587744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365F6B-8F17-EB43-9516-24BC20625703}"/>
              </a:ext>
            </a:extLst>
          </p:cNvPr>
          <p:cNvSpPr txBox="1"/>
          <p:nvPr/>
        </p:nvSpPr>
        <p:spPr>
          <a:xfrm>
            <a:off x="8312275" y="384447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336DFAF-C4E9-9B4C-A61A-9D887C7CFE72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0"/>
          </a:xfrm>
          <a:prstGeom prst="line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10315AA-FF5F-034F-9F25-0BF885E8F3F3}"/>
              </a:ext>
            </a:extLst>
          </p:cNvPr>
          <p:cNvCxnSpPr>
            <a:cxnSpLocks/>
            <a:endCxn id="10" idx="0"/>
          </p:cNvCxnSpPr>
          <p:nvPr/>
        </p:nvCxnSpPr>
        <p:spPr>
          <a:xfrm flipH="1">
            <a:off x="7386894" y="42138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1CA9870-EADA-E843-AAA1-5944386C1583}"/>
              </a:ext>
            </a:extLst>
          </p:cNvPr>
          <p:cNvSpPr txBox="1"/>
          <p:nvPr/>
        </p:nvSpPr>
        <p:spPr>
          <a:xfrm>
            <a:off x="7079078" y="5527888"/>
            <a:ext cx="1011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&lt;TIMES&gt;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0D8A41-2245-E242-8D41-9562DD928834}"/>
              </a:ext>
            </a:extLst>
          </p:cNvPr>
          <p:cNvSpPr txBox="1"/>
          <p:nvPr/>
        </p:nvSpPr>
        <p:spPr>
          <a:xfrm>
            <a:off x="7087902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3C0127C-A983-F04C-9C46-031555DF1C7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8611267" y="42138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EE46C89-9597-A14F-B77F-A58DFB112A10}"/>
              </a:ext>
            </a:extLst>
          </p:cNvPr>
          <p:cNvCxnSpPr>
            <a:cxnSpLocks/>
            <a:stCxn id="6" idx="2"/>
            <a:endCxn id="23" idx="0"/>
          </p:cNvCxnSpPr>
          <p:nvPr/>
        </p:nvCxnSpPr>
        <p:spPr>
          <a:xfrm>
            <a:off x="8611267" y="42138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058087E-A6F1-B240-B47D-E17FCAEF59C0}"/>
              </a:ext>
            </a:extLst>
          </p:cNvPr>
          <p:cNvSpPr txBox="1"/>
          <p:nvPr/>
        </p:nvSpPr>
        <p:spPr>
          <a:xfrm>
            <a:off x="9159846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5C4C8F-0207-D442-BE44-1EED2F41E3B7}"/>
              </a:ext>
            </a:extLst>
          </p:cNvPr>
          <p:cNvSpPr txBox="1"/>
          <p:nvPr/>
        </p:nvSpPr>
        <p:spPr>
          <a:xfrm>
            <a:off x="8112092" y="472283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9A2BFC8-D2BB-A84A-A04F-72F52DFC8C10}"/>
              </a:ext>
            </a:extLst>
          </p:cNvPr>
          <p:cNvSpPr txBox="1"/>
          <p:nvPr/>
        </p:nvSpPr>
        <p:spPr>
          <a:xfrm>
            <a:off x="7982465" y="2990033"/>
            <a:ext cx="1701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5**6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8186A24-AEE9-804E-B514-7522889CE1C6}"/>
              </a:ext>
            </a:extLst>
          </p:cNvPr>
          <p:cNvSpPr txBox="1"/>
          <p:nvPr/>
        </p:nvSpPr>
        <p:spPr>
          <a:xfrm>
            <a:off x="9409434" y="467222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C623837-D8C3-2641-82CB-E92A04939DA5}"/>
              </a:ext>
            </a:extLst>
          </p:cNvPr>
          <p:cNvCxnSpPr>
            <a:cxnSpLocks/>
          </p:cNvCxnSpPr>
          <p:nvPr/>
        </p:nvCxnSpPr>
        <p:spPr>
          <a:xfrm>
            <a:off x="7377264" y="5041558"/>
            <a:ext cx="166403" cy="35834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43429BD-BA29-2246-82F8-D2BA8FCE0FA5}"/>
              </a:ext>
            </a:extLst>
          </p:cNvPr>
          <p:cNvCxnSpPr>
            <a:cxnSpLocks/>
          </p:cNvCxnSpPr>
          <p:nvPr/>
        </p:nvCxnSpPr>
        <p:spPr>
          <a:xfrm>
            <a:off x="9708426" y="505826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2F83BBB-D175-B141-8465-F6BC64916652}"/>
              </a:ext>
            </a:extLst>
          </p:cNvPr>
          <p:cNvCxnSpPr>
            <a:cxnSpLocks/>
            <a:stCxn id="10" idx="2"/>
          </p:cNvCxnSpPr>
          <p:nvPr/>
        </p:nvCxnSpPr>
        <p:spPr>
          <a:xfrm flipH="1">
            <a:off x="6711389" y="5041558"/>
            <a:ext cx="675505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D82C45F-E3A7-6743-8269-97A48E47547F}"/>
              </a:ext>
            </a:extLst>
          </p:cNvPr>
          <p:cNvSpPr txBox="1"/>
          <p:nvPr/>
        </p:nvSpPr>
        <p:spPr>
          <a:xfrm>
            <a:off x="5996660" y="552666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31FEB3-D759-E34E-8F9F-CC94B8486E0E}"/>
              </a:ext>
            </a:extLst>
          </p:cNvPr>
          <p:cNvSpPr txBox="1"/>
          <p:nvPr/>
        </p:nvSpPr>
        <p:spPr>
          <a:xfrm>
            <a:off x="7327557" y="6203092"/>
            <a:ext cx="14269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Not possible!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A39D555-A499-C24B-960E-256BF89118A1}"/>
              </a:ext>
            </a:extLst>
          </p:cNvPr>
          <p:cNvSpPr txBox="1"/>
          <p:nvPr/>
        </p:nvSpPr>
        <p:spPr>
          <a:xfrm>
            <a:off x="10206681" y="3336324"/>
            <a:ext cx="1553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happens</a:t>
            </a:r>
            <a:br>
              <a:rPr lang="en-US" dirty="0"/>
            </a:br>
            <a:r>
              <a:rPr lang="en-US" dirty="0"/>
              <a:t>in an error?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E54E0EE-4065-164C-A908-8A2D737A4044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14622218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F9D3F17-5BD9-C249-AB31-B4186A52A3E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E5C8FF-8086-2B63-11B2-8BF146B12DAD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</p:spTree>
    <p:extLst>
      <p:ext uri="{BB962C8B-B14F-4D97-AF65-F5344CB8AC3E}">
        <p14:creationId xmlns:p14="http://schemas.microsoft.com/office/powerpoint/2010/main" val="31008713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DADEC-F02C-37D7-3D77-186416CB86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DC8EF7-3DDF-EC18-8AEA-F165BC4B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ECD9B23-E870-FB59-0981-2BCDFD432C82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A9D4335F-4C4C-1A06-B30C-94E1291CD476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E7471C-1A97-FDC9-0C47-3025174333A5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</p:spTree>
    <p:extLst>
      <p:ext uri="{BB962C8B-B14F-4D97-AF65-F5344CB8AC3E}">
        <p14:creationId xmlns:p14="http://schemas.microsoft.com/office/powerpoint/2010/main" val="20822975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C0007-4102-23B0-6E1A-5EFAB0A86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E18900-0FD1-1496-B8FD-53BFAE0B7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6F423F-5333-7DBB-9E1B-F272946B1DB6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82ACD96-A0B3-F763-0DC6-B164D680B852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C9A87B5-AFAC-A788-77E6-D9806598128F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D7052BA-900A-9735-5363-033D243AB91C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085008B-1740-5431-BC5B-D916864023CB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F63B1DC6-E781-FF92-079D-6B594AEF8DCC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A2C238C-CD0F-40C4-5E44-48146366EF39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D3270804-4F15-F961-28F7-9D822261B63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74FC4B-7CFD-D7A3-044F-83B48D75F583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</p:spTree>
    <p:extLst>
      <p:ext uri="{BB962C8B-B14F-4D97-AF65-F5344CB8AC3E}">
        <p14:creationId xmlns:p14="http://schemas.microsoft.com/office/powerpoint/2010/main" val="18852866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35265-1896-63C1-238E-1E024DB4F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9CE35-5DF8-BEBC-D5C5-533305B68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BB61FD-18EF-D4EC-A247-917C1A3802EF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9F7FD48-F03A-5186-2D6B-A06AC23FB0A8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80C3B0B-1D58-F1C5-C985-6A11A045C818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7FCFED-3258-1FD7-72F0-FEB0E4CED8C2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16BD612-3B6D-9641-7755-34C9D9003A63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1070BA4E-8E25-4DBA-5FEC-AB047E701DF2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3FD4976-AEC7-E7E9-0DD4-7AD77A403F65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D0160E7-43D5-50FA-58F6-563725539A82}"/>
              </a:ext>
            </a:extLst>
          </p:cNvPr>
          <p:cNvSpPr txBox="1"/>
          <p:nvPr/>
        </p:nvSpPr>
        <p:spPr>
          <a:xfrm>
            <a:off x="9644064" y="470928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08313F-CCBA-8906-48B8-5D2049A03C76}"/>
              </a:ext>
            </a:extLst>
          </p:cNvPr>
          <p:cNvCxnSpPr>
            <a:cxnSpLocks/>
          </p:cNvCxnSpPr>
          <p:nvPr/>
        </p:nvCxnSpPr>
        <p:spPr>
          <a:xfrm>
            <a:off x="10192644" y="424087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532832E9-6CD1-7A47-3791-96D41856693C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5722FA6-91B6-160E-2DEF-83C174379B80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</p:spTree>
    <p:extLst>
      <p:ext uri="{BB962C8B-B14F-4D97-AF65-F5344CB8AC3E}">
        <p14:creationId xmlns:p14="http://schemas.microsoft.com/office/powerpoint/2010/main" val="32484184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DA9ED-B229-BABD-9492-51411639C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FC7C-4CD3-2780-17D6-127CE0F15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F8CFF1-BB7E-6A6C-D3E5-10920F7B4AB9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9B14721-48AE-9488-5F00-DF5289C762F5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940C1AE-E935-61D0-83EA-8DDD626D3DEF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40C90BA-5204-F39A-3EFD-ED76B704C89E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71E1D9E-083A-289C-75AB-F8A96CAA2BD0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BE5FB3-EDD8-7521-7959-57980CFF076D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C09549A-3D51-8EEA-17D7-58545460513C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B16FE59-5595-3411-CAEF-499BFD127819}"/>
              </a:ext>
            </a:extLst>
          </p:cNvPr>
          <p:cNvSpPr txBox="1"/>
          <p:nvPr/>
        </p:nvSpPr>
        <p:spPr>
          <a:xfrm>
            <a:off x="9644064" y="470928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C6DC61D-7629-3735-8326-304AF3AE74AF}"/>
              </a:ext>
            </a:extLst>
          </p:cNvPr>
          <p:cNvCxnSpPr>
            <a:cxnSpLocks/>
          </p:cNvCxnSpPr>
          <p:nvPr/>
        </p:nvCxnSpPr>
        <p:spPr>
          <a:xfrm>
            <a:off x="10192644" y="424087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709E16D-66EF-7160-C9B2-4E40FC634314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856462" y="4250869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3F77DFC-1930-DFA3-242F-44D7F0F6C358}"/>
              </a:ext>
            </a:extLst>
          </p:cNvPr>
          <p:cNvSpPr txBox="1"/>
          <p:nvPr/>
        </p:nvSpPr>
        <p:spPr>
          <a:xfrm>
            <a:off x="6289319" y="4641746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D0C12C-ECAA-CCDD-8E45-72D291E95E9A}"/>
              </a:ext>
            </a:extLst>
          </p:cNvPr>
          <p:cNvSpPr txBox="1"/>
          <p:nvPr/>
        </p:nvSpPr>
        <p:spPr>
          <a:xfrm>
            <a:off x="8235569" y="4641746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B3259EA-0315-82BD-C2BD-674BC6FB9894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7890957" y="4250869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546A78A-A611-DAD5-14F8-0CAB63CB8930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890957" y="4250869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E2FCD8EC-99B1-E0F0-F01B-74E1F5850274}"/>
              </a:ext>
            </a:extLst>
          </p:cNvPr>
          <p:cNvSpPr txBox="1"/>
          <p:nvPr/>
        </p:nvSpPr>
        <p:spPr>
          <a:xfrm>
            <a:off x="7591964" y="46538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E7E55210-5465-CE49-0689-AFC16FD81A3B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637BA3C-2990-C014-8359-A956EA7B6048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</p:spTree>
    <p:extLst>
      <p:ext uri="{BB962C8B-B14F-4D97-AF65-F5344CB8AC3E}">
        <p14:creationId xmlns:p14="http://schemas.microsoft.com/office/powerpoint/2010/main" val="32961066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C76FF-D05C-2B91-FAF8-684379AEE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66E97-BBAE-8EBD-9022-8EF301BFEE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1146A8-F383-675F-6CC5-F20A7583A198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9052FC7-34EF-8D54-4240-F90E68A48840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E5EC3AD-E511-DBE6-2EF8-0F72839F07C8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A9C20AB-8906-D230-9FB0-68D03B999908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746E979-30E9-F58D-96E0-667CD0CF9E19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4664F954-E3A1-BB7F-145A-637F1825C176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D8F87DD-7415-6595-85CB-96B22C050942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B2407D4-868E-AD12-4E53-59854C8A7C97}"/>
              </a:ext>
            </a:extLst>
          </p:cNvPr>
          <p:cNvSpPr txBox="1"/>
          <p:nvPr/>
        </p:nvSpPr>
        <p:spPr>
          <a:xfrm>
            <a:off x="9644064" y="470928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18D171-6C41-65AC-16FB-7A07B9495155}"/>
              </a:ext>
            </a:extLst>
          </p:cNvPr>
          <p:cNvCxnSpPr>
            <a:cxnSpLocks/>
          </p:cNvCxnSpPr>
          <p:nvPr/>
        </p:nvCxnSpPr>
        <p:spPr>
          <a:xfrm>
            <a:off x="10192644" y="424087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6C5A91-FD78-08AF-D5F6-FBAB117A30AB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856462" y="4250869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11FD589-C2B5-5229-2105-7C2D23EDA2E9}"/>
              </a:ext>
            </a:extLst>
          </p:cNvPr>
          <p:cNvSpPr txBox="1"/>
          <p:nvPr/>
        </p:nvSpPr>
        <p:spPr>
          <a:xfrm>
            <a:off x="6289319" y="4641746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357C87F-1266-7A53-6347-689DD266DC57}"/>
              </a:ext>
            </a:extLst>
          </p:cNvPr>
          <p:cNvSpPr txBox="1"/>
          <p:nvPr/>
        </p:nvSpPr>
        <p:spPr>
          <a:xfrm>
            <a:off x="8235569" y="4641746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5D5AC6E-FB28-DCE0-9104-60E568D36F12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7890957" y="4250869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76385B17-F00C-16FF-B41B-C93B0F23D94A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890957" y="4250869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559A1C6-BCA4-BA40-15A7-6C98197A4032}"/>
              </a:ext>
            </a:extLst>
          </p:cNvPr>
          <p:cNvSpPr txBox="1"/>
          <p:nvPr/>
        </p:nvSpPr>
        <p:spPr>
          <a:xfrm>
            <a:off x="7591964" y="46538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77E736-511C-62FB-FA5E-F8C270085B80}"/>
              </a:ext>
            </a:extLst>
          </p:cNvPr>
          <p:cNvCxnSpPr>
            <a:cxnSpLocks/>
          </p:cNvCxnSpPr>
          <p:nvPr/>
        </p:nvCxnSpPr>
        <p:spPr>
          <a:xfrm flipH="1">
            <a:off x="6666584" y="5019762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B181088-E5C4-DEED-5E25-D40034AF3835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2066182-46FF-3D9A-4E7B-1F00139789C7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935ED792-24D9-8977-D0F9-F2CC28980002}"/>
              </a:ext>
            </a:extLst>
          </p:cNvPr>
          <p:cNvSpPr txBox="1"/>
          <p:nvPr/>
        </p:nvSpPr>
        <p:spPr>
          <a:xfrm>
            <a:off x="7433384" y="5486864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45F1571-3C4E-7135-6AAA-B6D195C393D5}"/>
              </a:ext>
            </a:extLst>
          </p:cNvPr>
          <p:cNvSpPr txBox="1"/>
          <p:nvPr/>
        </p:nvSpPr>
        <p:spPr>
          <a:xfrm>
            <a:off x="6367592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15D7F8-9351-06F0-C72F-0C68287CD84D}"/>
              </a:ext>
            </a:extLst>
          </p:cNvPr>
          <p:cNvSpPr txBox="1"/>
          <p:nvPr/>
        </p:nvSpPr>
        <p:spPr>
          <a:xfrm>
            <a:off x="8689124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D1CB56BF-7C21-1232-DA87-149503B454B6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F33F68-4E9C-4252-8ACF-58FD95656A21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</p:spTree>
    <p:extLst>
      <p:ext uri="{BB962C8B-B14F-4D97-AF65-F5344CB8AC3E}">
        <p14:creationId xmlns:p14="http://schemas.microsoft.com/office/powerpoint/2010/main" val="27011333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F3E1F-42FC-C2B5-6A74-BBC74399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97A9-6F15-FA54-D0FF-B30707571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F3AE8A1-7984-1D3C-2F94-15F9C89F8A81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E9CB345-ABFB-81F3-ECA8-3B7A972ABEA7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CB69F6-41C0-4A3D-C853-11BA2D2147B3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35F248A-4112-4BFF-C812-9DD94CA6F7F4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34B901-4D2C-E506-6317-8E7396313AC6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5FCC796-6CD2-9370-E746-727062326479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66FF252-0A1F-0107-9A9E-F539F3CAB68C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44C22B-49C4-126B-51A9-3041144A4E34}"/>
              </a:ext>
            </a:extLst>
          </p:cNvPr>
          <p:cNvSpPr txBox="1"/>
          <p:nvPr/>
        </p:nvSpPr>
        <p:spPr>
          <a:xfrm>
            <a:off x="9644064" y="470928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8D3327E-697F-2CAB-43F5-AEB7F05A7618}"/>
              </a:ext>
            </a:extLst>
          </p:cNvPr>
          <p:cNvCxnSpPr>
            <a:cxnSpLocks/>
          </p:cNvCxnSpPr>
          <p:nvPr/>
        </p:nvCxnSpPr>
        <p:spPr>
          <a:xfrm>
            <a:off x="10192644" y="424087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75DA7F1-2FD4-AD27-BD51-1E4A12336ADD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856462" y="4250869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10AF591-A6E6-2588-C1AF-D9C98B8F4D79}"/>
              </a:ext>
            </a:extLst>
          </p:cNvPr>
          <p:cNvSpPr txBox="1"/>
          <p:nvPr/>
        </p:nvSpPr>
        <p:spPr>
          <a:xfrm>
            <a:off x="6289319" y="4641746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67C82DE-392B-9D53-00EC-36961A9CB277}"/>
              </a:ext>
            </a:extLst>
          </p:cNvPr>
          <p:cNvSpPr txBox="1"/>
          <p:nvPr/>
        </p:nvSpPr>
        <p:spPr>
          <a:xfrm>
            <a:off x="8235569" y="4641746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45E7B05-6252-D126-FDF4-110241BC1E44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7890957" y="4250869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69FCB0F-AE30-BE86-36CF-F1C153A63575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890957" y="4250869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A3A94BCE-A278-F1AF-7E36-5BFCED1D1999}"/>
              </a:ext>
            </a:extLst>
          </p:cNvPr>
          <p:cNvSpPr txBox="1"/>
          <p:nvPr/>
        </p:nvSpPr>
        <p:spPr>
          <a:xfrm>
            <a:off x="7591964" y="46538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0D5FB83-1C80-9949-1351-43059F5E974C}"/>
              </a:ext>
            </a:extLst>
          </p:cNvPr>
          <p:cNvCxnSpPr>
            <a:cxnSpLocks/>
          </p:cNvCxnSpPr>
          <p:nvPr/>
        </p:nvCxnSpPr>
        <p:spPr>
          <a:xfrm flipH="1">
            <a:off x="6666584" y="5019762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84877C60-B123-7073-B238-9D06C520124D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68F0CC9-C4E1-F841-0500-AD1B92BF227F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D1F07DCC-9D13-506F-9B56-4701A1D2F864}"/>
              </a:ext>
            </a:extLst>
          </p:cNvPr>
          <p:cNvSpPr txBox="1"/>
          <p:nvPr/>
        </p:nvSpPr>
        <p:spPr>
          <a:xfrm>
            <a:off x="7433384" y="5486864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5E7A4DD-D742-4E8E-F1E1-AFBB18D45A79}"/>
              </a:ext>
            </a:extLst>
          </p:cNvPr>
          <p:cNvSpPr txBox="1"/>
          <p:nvPr/>
        </p:nvSpPr>
        <p:spPr>
          <a:xfrm>
            <a:off x="6367592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F018EE-7E61-09D0-E25B-5480B6916A2E}"/>
              </a:ext>
            </a:extLst>
          </p:cNvPr>
          <p:cNvSpPr txBox="1"/>
          <p:nvPr/>
        </p:nvSpPr>
        <p:spPr>
          <a:xfrm>
            <a:off x="8689124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E694BF7-A31C-F594-486C-976BFC151CD4}"/>
              </a:ext>
            </a:extLst>
          </p:cNvPr>
          <p:cNvSpPr txBox="1"/>
          <p:nvPr/>
        </p:nvSpPr>
        <p:spPr>
          <a:xfrm>
            <a:off x="8419691" y="593135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E9C0DA6-62B9-32A1-2B52-873F2F8E56B1}"/>
              </a:ext>
            </a:extLst>
          </p:cNvPr>
          <p:cNvSpPr txBox="1"/>
          <p:nvPr/>
        </p:nvSpPr>
        <p:spPr>
          <a:xfrm>
            <a:off x="6098159" y="59629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BE053BD-0015-D64C-EB9B-6AA572BDD9A6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>
            <a:off x="6666584" y="5824803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17EB043-3E29-67F0-B96D-549DDB7809C2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8988116" y="5824803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B313A54A-C332-50C2-2851-5A7248AA1D1B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007D062-DB66-DE85-668A-8D1656D3492D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</p:spTree>
    <p:extLst>
      <p:ext uri="{BB962C8B-B14F-4D97-AF65-F5344CB8AC3E}">
        <p14:creationId xmlns:p14="http://schemas.microsoft.com/office/powerpoint/2010/main" val="14685043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8DB63-C3F2-4F9B-B6E7-C1F70E346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8D1A2-ECC6-8F0A-9AA7-3BB5C9EA9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Parse trees examples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4D1122-EF68-4266-34F0-D38B6FFD4261}"/>
              </a:ext>
            </a:extLst>
          </p:cNvPr>
          <p:cNvSpPr txBox="1"/>
          <p:nvPr/>
        </p:nvSpPr>
        <p:spPr>
          <a:xfrm>
            <a:off x="8856156" y="297556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5A26B50-7F8C-66CA-5B81-152653750C5D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890957" y="3423119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F13526A-3113-EE37-C31A-0ABDCC45FE68}"/>
              </a:ext>
            </a:extLst>
          </p:cNvPr>
          <p:cNvSpPr txBox="1"/>
          <p:nvPr/>
        </p:nvSpPr>
        <p:spPr>
          <a:xfrm>
            <a:off x="7591965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29F27DC-28F5-66B9-F354-75F6A5D58D0E}"/>
              </a:ext>
            </a:extLst>
          </p:cNvPr>
          <p:cNvCxnSpPr>
            <a:cxnSpLocks/>
          </p:cNvCxnSpPr>
          <p:nvPr/>
        </p:nvCxnSpPr>
        <p:spPr>
          <a:xfrm>
            <a:off x="9115330" y="3423119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3501395-13EB-CEB4-3E48-D1B5043CF6F0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115330" y="3423119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0275998-6584-B205-AC99-C93145922742}"/>
              </a:ext>
            </a:extLst>
          </p:cNvPr>
          <p:cNvSpPr txBox="1"/>
          <p:nvPr/>
        </p:nvSpPr>
        <p:spPr>
          <a:xfrm>
            <a:off x="8616155" y="3932145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F8CDF9-B5FA-0755-242C-BB1ED1117DA8}"/>
              </a:ext>
            </a:extLst>
          </p:cNvPr>
          <p:cNvSpPr txBox="1"/>
          <p:nvPr/>
        </p:nvSpPr>
        <p:spPr>
          <a:xfrm>
            <a:off x="9913497" y="388153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8601035-4B60-49DA-4E13-1E7ABED2240F}"/>
              </a:ext>
            </a:extLst>
          </p:cNvPr>
          <p:cNvSpPr txBox="1"/>
          <p:nvPr/>
        </p:nvSpPr>
        <p:spPr>
          <a:xfrm>
            <a:off x="9644064" y="470928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B70C2D8-B3BE-0C3B-2518-3BE0116E0172}"/>
              </a:ext>
            </a:extLst>
          </p:cNvPr>
          <p:cNvCxnSpPr>
            <a:cxnSpLocks/>
          </p:cNvCxnSpPr>
          <p:nvPr/>
        </p:nvCxnSpPr>
        <p:spPr>
          <a:xfrm>
            <a:off x="10192644" y="424087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CBB133E-0F58-C4A7-F5E6-6C292A72FEA2}"/>
              </a:ext>
            </a:extLst>
          </p:cNvPr>
          <p:cNvCxnSpPr>
            <a:cxnSpLocks/>
            <a:stCxn id="25" idx="2"/>
            <a:endCxn id="33" idx="0"/>
          </p:cNvCxnSpPr>
          <p:nvPr/>
        </p:nvCxnSpPr>
        <p:spPr>
          <a:xfrm flipH="1">
            <a:off x="6856462" y="4250869"/>
            <a:ext cx="1034495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67F8F63-185F-94AF-8990-73E3BDDD44E8}"/>
              </a:ext>
            </a:extLst>
          </p:cNvPr>
          <p:cNvSpPr txBox="1"/>
          <p:nvPr/>
        </p:nvSpPr>
        <p:spPr>
          <a:xfrm>
            <a:off x="6289319" y="4641746"/>
            <a:ext cx="1134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&lt;LPAREN&gt;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5B74FB0-19ED-02A4-DDB3-7DCA22934A5A}"/>
              </a:ext>
            </a:extLst>
          </p:cNvPr>
          <p:cNvSpPr txBox="1"/>
          <p:nvPr/>
        </p:nvSpPr>
        <p:spPr>
          <a:xfrm>
            <a:off x="8235569" y="4641746"/>
            <a:ext cx="1161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&lt;RPAREN&gt;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8A0457-743D-30BB-BEAA-7A91BA3B05BB}"/>
              </a:ext>
            </a:extLst>
          </p:cNvPr>
          <p:cNvCxnSpPr>
            <a:cxnSpLocks/>
            <a:stCxn id="25" idx="2"/>
            <a:endCxn id="34" idx="0"/>
          </p:cNvCxnSpPr>
          <p:nvPr/>
        </p:nvCxnSpPr>
        <p:spPr>
          <a:xfrm>
            <a:off x="7890957" y="4250869"/>
            <a:ext cx="92538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E27544FE-1F0F-13C0-A441-53DAE94EFFBB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7890957" y="4250869"/>
            <a:ext cx="0" cy="3908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4A02BC2-4689-3A87-41D4-AD5BB97EA0F2}"/>
              </a:ext>
            </a:extLst>
          </p:cNvPr>
          <p:cNvSpPr txBox="1"/>
          <p:nvPr/>
        </p:nvSpPr>
        <p:spPr>
          <a:xfrm>
            <a:off x="7591964" y="465387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54D511CB-1C9E-304D-4901-2EAF16AF2BA6}"/>
              </a:ext>
            </a:extLst>
          </p:cNvPr>
          <p:cNvCxnSpPr>
            <a:cxnSpLocks/>
          </p:cNvCxnSpPr>
          <p:nvPr/>
        </p:nvCxnSpPr>
        <p:spPr>
          <a:xfrm flipH="1">
            <a:off x="6666584" y="5019762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B6FD1AFB-6AAE-FDB0-7877-0E14327672DD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389399A0-78AD-04D6-8BAD-1A670DD154DC}"/>
              </a:ext>
            </a:extLst>
          </p:cNvPr>
          <p:cNvCxnSpPr>
            <a:cxnSpLocks/>
          </p:cNvCxnSpPr>
          <p:nvPr/>
        </p:nvCxnSpPr>
        <p:spPr>
          <a:xfrm>
            <a:off x="7890957" y="5019762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F1F66AA-CF4E-ADA6-0BF8-E588EE203038}"/>
              </a:ext>
            </a:extLst>
          </p:cNvPr>
          <p:cNvSpPr txBox="1"/>
          <p:nvPr/>
        </p:nvSpPr>
        <p:spPr>
          <a:xfrm>
            <a:off x="7433384" y="5486864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4804B5-FC1E-2438-0835-41C93B7DE324}"/>
              </a:ext>
            </a:extLst>
          </p:cNvPr>
          <p:cNvSpPr txBox="1"/>
          <p:nvPr/>
        </p:nvSpPr>
        <p:spPr>
          <a:xfrm>
            <a:off x="6367592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8FEC4E0-C76C-27E9-4F32-1097C740AEA7}"/>
              </a:ext>
            </a:extLst>
          </p:cNvPr>
          <p:cNvSpPr txBox="1"/>
          <p:nvPr/>
        </p:nvSpPr>
        <p:spPr>
          <a:xfrm>
            <a:off x="8689124" y="545547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A13703-4CE3-5A0E-BBD2-F32123AC0677}"/>
              </a:ext>
            </a:extLst>
          </p:cNvPr>
          <p:cNvSpPr txBox="1"/>
          <p:nvPr/>
        </p:nvSpPr>
        <p:spPr>
          <a:xfrm>
            <a:off x="8419691" y="593135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A97C17D-811E-06B3-856F-1A2400EC8247}"/>
              </a:ext>
            </a:extLst>
          </p:cNvPr>
          <p:cNvSpPr txBox="1"/>
          <p:nvPr/>
        </p:nvSpPr>
        <p:spPr>
          <a:xfrm>
            <a:off x="6098159" y="59629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456B466F-BCB0-9FAB-2BE2-CDA8B3F5D5E2}"/>
              </a:ext>
            </a:extLst>
          </p:cNvPr>
          <p:cNvCxnSpPr>
            <a:cxnSpLocks/>
            <a:stCxn id="42" idx="2"/>
            <a:endCxn id="45" idx="0"/>
          </p:cNvCxnSpPr>
          <p:nvPr/>
        </p:nvCxnSpPr>
        <p:spPr>
          <a:xfrm>
            <a:off x="6666584" y="5824803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8318848-1088-5727-A3D7-96A7867882EB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8988116" y="5824803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2F99788C-3C61-6A54-114F-121DAEC1DDA6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00AD9A9-5255-BEA0-ED39-2B5BBA86D5F7}"/>
              </a:ext>
            </a:extLst>
          </p:cNvPr>
          <p:cNvSpPr txBox="1"/>
          <p:nvPr/>
        </p:nvSpPr>
        <p:spPr>
          <a:xfrm>
            <a:off x="7930775" y="2192354"/>
            <a:ext cx="2114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input: (1+5)*6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AE334C1-A0C2-CD42-AD05-50B6A8DE66DA}"/>
              </a:ext>
            </a:extLst>
          </p:cNvPr>
          <p:cNvSpPr txBox="1"/>
          <p:nvPr/>
        </p:nvSpPr>
        <p:spPr>
          <a:xfrm>
            <a:off x="5666482" y="1626717"/>
            <a:ext cx="51418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Does this parse tree capture the structure we want?</a:t>
            </a:r>
          </a:p>
        </p:txBody>
      </p:sp>
    </p:spTree>
    <p:extLst>
      <p:ext uri="{BB962C8B-B14F-4D97-AF65-F5344CB8AC3E}">
        <p14:creationId xmlns:p14="http://schemas.microsoft.com/office/powerpoint/2010/main" val="25561581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45"/>
            <a:ext cx="10515600" cy="1325563"/>
          </a:xfrm>
        </p:spPr>
        <p:txBody>
          <a:bodyPr/>
          <a:lstStyle/>
          <a:p>
            <a:r>
              <a:rPr lang="en-US" dirty="0"/>
              <a:t>Parse trees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23A4BA-C634-A849-93D7-126BB853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4137"/>
          </a:xfrm>
        </p:spPr>
        <p:txBody>
          <a:bodyPr/>
          <a:lstStyle/>
          <a:p>
            <a:r>
              <a:rPr lang="en-US" dirty="0"/>
              <a:t>How about</a:t>
            </a:r>
            <a:r>
              <a:rPr lang="en-US" dirty="0">
                <a:latin typeface="Courier" pitchFamily="2" charset="0"/>
              </a:rPr>
              <a:t>:</a:t>
            </a:r>
            <a:r>
              <a:rPr lang="en-US" dirty="0"/>
              <a:t> </a:t>
            </a:r>
            <a:r>
              <a:rPr lang="en-US" dirty="0">
                <a:latin typeface="Courier" pitchFamily="2" charset="0"/>
              </a:rPr>
              <a:t>1 + 5 * 6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E6026E5-E34D-F348-B2E7-42FBFB52781E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307167720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A5DD-BB93-8649-A51B-001B1D06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031" y="-36582"/>
            <a:ext cx="3140034" cy="1325563"/>
          </a:xfrm>
        </p:spPr>
        <p:txBody>
          <a:bodyPr>
            <a:normAutofit/>
          </a:bodyPr>
          <a:lstStyle/>
          <a:p>
            <a:r>
              <a:rPr lang="en-US" b="1" dirty="0"/>
              <a:t>Parse trees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023A4BA-C634-A849-93D7-126BB853A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214137"/>
          </a:xfrm>
        </p:spPr>
        <p:txBody>
          <a:bodyPr/>
          <a:lstStyle/>
          <a:p>
            <a:r>
              <a:rPr lang="en-US" dirty="0"/>
              <a:t>How about</a:t>
            </a:r>
            <a:r>
              <a:rPr lang="en-US" dirty="0">
                <a:latin typeface="Courier" pitchFamily="2" charset="0"/>
              </a:rPr>
              <a:t>:</a:t>
            </a:r>
            <a:r>
              <a:rPr lang="en-US" dirty="0"/>
              <a:t> </a:t>
            </a:r>
            <a:r>
              <a:rPr lang="en-US" dirty="0">
                <a:latin typeface="Courier" pitchFamily="2" charset="0"/>
              </a:rPr>
              <a:t>1 + 5 * 6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3AB397C-4DD1-8B46-B3F4-3E1A4905847E}"/>
              </a:ext>
            </a:extLst>
          </p:cNvPr>
          <p:cNvSpPr txBox="1"/>
          <p:nvPr/>
        </p:nvSpPr>
        <p:spPr>
          <a:xfrm>
            <a:off x="8763418" y="267043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0C41512-1E5F-4948-9492-4C9A5B98B16D}"/>
              </a:ext>
            </a:extLst>
          </p:cNvPr>
          <p:cNvCxnSpPr>
            <a:cxnSpLocks/>
            <a:endCxn id="38" idx="0"/>
          </p:cNvCxnSpPr>
          <p:nvPr/>
        </p:nvCxnSpPr>
        <p:spPr>
          <a:xfrm flipH="1">
            <a:off x="7798219" y="311798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A7D8324F-C9A8-9F43-96CF-A625D0B92C97}"/>
              </a:ext>
            </a:extLst>
          </p:cNvPr>
          <p:cNvSpPr txBox="1"/>
          <p:nvPr/>
        </p:nvSpPr>
        <p:spPr>
          <a:xfrm>
            <a:off x="7499227" y="35764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346DE8-92F7-2749-98C4-2BC66EF2BBBA}"/>
              </a:ext>
            </a:extLst>
          </p:cNvPr>
          <p:cNvCxnSpPr>
            <a:cxnSpLocks/>
          </p:cNvCxnSpPr>
          <p:nvPr/>
        </p:nvCxnSpPr>
        <p:spPr>
          <a:xfrm>
            <a:off x="9022592" y="311798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10E77B2D-939A-9941-9A4C-51F60AD87F7C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9022592" y="311798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4C3CBAB6-22E4-FC48-B889-3BBE917D871F}"/>
              </a:ext>
            </a:extLst>
          </p:cNvPr>
          <p:cNvSpPr txBox="1"/>
          <p:nvPr/>
        </p:nvSpPr>
        <p:spPr>
          <a:xfrm>
            <a:off x="8523417" y="3627014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5581A83-4BDE-F54B-B280-EE9B483BE66C}"/>
              </a:ext>
            </a:extLst>
          </p:cNvPr>
          <p:cNvSpPr txBox="1"/>
          <p:nvPr/>
        </p:nvSpPr>
        <p:spPr>
          <a:xfrm>
            <a:off x="9820759" y="35764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397E9A7-67D7-7C44-A05F-AC648AD361EA}"/>
              </a:ext>
            </a:extLst>
          </p:cNvPr>
          <p:cNvSpPr txBox="1"/>
          <p:nvPr/>
        </p:nvSpPr>
        <p:spPr>
          <a:xfrm>
            <a:off x="9551326" y="44041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61461F4-37C2-C149-8B86-03F949535150}"/>
              </a:ext>
            </a:extLst>
          </p:cNvPr>
          <p:cNvCxnSpPr>
            <a:cxnSpLocks/>
          </p:cNvCxnSpPr>
          <p:nvPr/>
        </p:nvCxnSpPr>
        <p:spPr>
          <a:xfrm>
            <a:off x="10099906" y="393574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09A193A-5443-E244-83BC-6F2A4A315339}"/>
              </a:ext>
            </a:extLst>
          </p:cNvPr>
          <p:cNvCxnSpPr>
            <a:cxnSpLocks/>
          </p:cNvCxnSpPr>
          <p:nvPr/>
        </p:nvCxnSpPr>
        <p:spPr>
          <a:xfrm flipH="1">
            <a:off x="6527438" y="393574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EDBA310-73DA-924C-9548-3E606F5F17F2}"/>
              </a:ext>
            </a:extLst>
          </p:cNvPr>
          <p:cNvCxnSpPr>
            <a:cxnSpLocks/>
          </p:cNvCxnSpPr>
          <p:nvPr/>
        </p:nvCxnSpPr>
        <p:spPr>
          <a:xfrm>
            <a:off x="7751811" y="393574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0974E2A-CF09-EE4B-B04D-DDE700B68E2C}"/>
              </a:ext>
            </a:extLst>
          </p:cNvPr>
          <p:cNvCxnSpPr>
            <a:cxnSpLocks/>
          </p:cNvCxnSpPr>
          <p:nvPr/>
        </p:nvCxnSpPr>
        <p:spPr>
          <a:xfrm>
            <a:off x="7751811" y="393574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8AD31818-A8C8-244A-A91A-3777DFF42227}"/>
              </a:ext>
            </a:extLst>
          </p:cNvPr>
          <p:cNvSpPr txBox="1"/>
          <p:nvPr/>
        </p:nvSpPr>
        <p:spPr>
          <a:xfrm>
            <a:off x="7294238" y="4402849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D0E1976-1BD7-B34F-B255-8C795BA58A09}"/>
              </a:ext>
            </a:extLst>
          </p:cNvPr>
          <p:cNvSpPr txBox="1"/>
          <p:nvPr/>
        </p:nvSpPr>
        <p:spPr>
          <a:xfrm>
            <a:off x="6228446" y="437145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50E395D-C229-4F42-A2BD-DB888642D9F4}"/>
              </a:ext>
            </a:extLst>
          </p:cNvPr>
          <p:cNvSpPr txBox="1"/>
          <p:nvPr/>
        </p:nvSpPr>
        <p:spPr>
          <a:xfrm>
            <a:off x="8549978" y="437145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CE0BF98-F7C9-FE4C-AF4B-4A4A2A2EBABB}"/>
              </a:ext>
            </a:extLst>
          </p:cNvPr>
          <p:cNvSpPr txBox="1"/>
          <p:nvPr/>
        </p:nvSpPr>
        <p:spPr>
          <a:xfrm>
            <a:off x="8280545" y="484734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5C1CB5A-1F10-FE4B-982C-6CC011D10D47}"/>
              </a:ext>
            </a:extLst>
          </p:cNvPr>
          <p:cNvSpPr txBox="1"/>
          <p:nvPr/>
        </p:nvSpPr>
        <p:spPr>
          <a:xfrm>
            <a:off x="5959013" y="487889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CD352DF-EED9-8849-BBF1-CB90364123EF}"/>
              </a:ext>
            </a:extLst>
          </p:cNvPr>
          <p:cNvCxnSpPr>
            <a:cxnSpLocks/>
            <a:stCxn id="55" idx="2"/>
            <a:endCxn id="58" idx="0"/>
          </p:cNvCxnSpPr>
          <p:nvPr/>
        </p:nvCxnSpPr>
        <p:spPr>
          <a:xfrm>
            <a:off x="6527438" y="4740788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8AF55C9E-7BB7-0A47-904B-09B82506A2EF}"/>
              </a:ext>
            </a:extLst>
          </p:cNvPr>
          <p:cNvCxnSpPr>
            <a:cxnSpLocks/>
            <a:stCxn id="56" idx="2"/>
            <a:endCxn id="57" idx="0"/>
          </p:cNvCxnSpPr>
          <p:nvPr/>
        </p:nvCxnSpPr>
        <p:spPr>
          <a:xfrm>
            <a:off x="8848970" y="4740788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A4AEC985-DABB-C140-B1E4-D94FD329C3B1}"/>
              </a:ext>
            </a:extLst>
          </p:cNvPr>
          <p:cNvSpPr txBox="1">
            <a:spLocks/>
          </p:cNvSpPr>
          <p:nvPr/>
        </p:nvSpPr>
        <p:spPr>
          <a:xfrm>
            <a:off x="838200" y="3537079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40624873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0D269-B61D-CD68-6A07-72BFD6DDA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BA2E9-4E66-704B-C302-718CC2A21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2164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AMBIGUOUS GRAMMARS </a:t>
            </a:r>
            <a:br>
              <a:rPr lang="en-US" dirty="0"/>
            </a:br>
            <a:r>
              <a:rPr lang="en-US" dirty="0"/>
              <a:t>AND PRECEDENCE</a:t>
            </a:r>
          </a:p>
        </p:txBody>
      </p:sp>
    </p:spTree>
    <p:extLst>
      <p:ext uri="{BB962C8B-B14F-4D97-AF65-F5344CB8AC3E}">
        <p14:creationId xmlns:p14="http://schemas.microsoft.com/office/powerpoint/2010/main" val="30993393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A8A75-0947-5349-B74C-1E1CFC55D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776" y="2079363"/>
            <a:ext cx="3911930" cy="576069"/>
          </a:xfrm>
        </p:spPr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DA68BBF-72D1-C942-A23C-05D446E914FE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361AA3-995B-B14B-B160-8FB9C9CD4818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34B6E4-6F20-344D-8519-C401DEC7D86C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CC53EA-3A7E-2A46-B638-61EFD0987A47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DDCCB52-A633-524E-9223-25CDAEBEDDC8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32D1699-947E-FB40-84D8-4DC970ADF2C2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63DEE2-6482-4145-9E0E-CEAC819F69A4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333C5C-5116-CF4E-BDE4-041EE8B68947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BC49E33-FEA7-474C-B5FD-65D9B2D17F0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1096E1A-92E3-F543-AE82-F83E64D4767A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F80C731-C2B1-F147-AD80-21AE50F180C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EEBFB7-B649-8C45-A4D9-A6A3E2716E8B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8B0E84E-AA23-3741-8FC6-5967FD361D8D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4FA4E57-3800-9A41-84C1-3487CFE1B43B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D426D8-C447-C642-859D-706A726FD75F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E33E75-44A2-F64D-B68D-8F3B337FC012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71E864-22B5-094C-801E-86FEE9D9E25D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5B64D96-7DBD-DB40-853F-60DB16DAE97F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481D737-746B-4740-9924-08AC9DFCD0E8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EFBBB9C6-D6F4-834B-A4E7-0BEF5ADBE87C}"/>
              </a:ext>
            </a:extLst>
          </p:cNvPr>
          <p:cNvSpPr txBox="1">
            <a:spLocks/>
          </p:cNvSpPr>
          <p:nvPr/>
        </p:nvSpPr>
        <p:spPr>
          <a:xfrm>
            <a:off x="7300055" y="1793961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31B57E8A-CCE5-F557-58BE-8B9901E5A6E9}"/>
              </a:ext>
            </a:extLst>
          </p:cNvPr>
          <p:cNvSpPr txBox="1">
            <a:spLocks/>
          </p:cNvSpPr>
          <p:nvPr/>
        </p:nvSpPr>
        <p:spPr>
          <a:xfrm>
            <a:off x="838200" y="7270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/>
              <a:t>Ambiguous Grammars</a:t>
            </a:r>
            <a:endParaRPr 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7957777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18560-0CF7-B45A-F6A9-7CA00883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17580-3AAB-906C-EA13-E7DDF313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61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b="1" dirty="0"/>
              <a:t>Ambiguous Grammars</a:t>
            </a:r>
            <a:endParaRPr lang="en-US" sz="4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9B9123-59B9-DF47-09B1-358A603A7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2776" y="2079363"/>
            <a:ext cx="3911930" cy="576069"/>
          </a:xfrm>
        </p:spPr>
        <p:txBody>
          <a:bodyPr/>
          <a:lstStyle/>
          <a:p>
            <a:r>
              <a:rPr lang="en-US" dirty="0">
                <a:latin typeface="Courier" pitchFamily="2" charset="0"/>
              </a:rPr>
              <a:t>input: 1 + 5 *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360D83-8CE0-95EC-4D9B-768FE3380CAF}"/>
              </a:ext>
            </a:extLst>
          </p:cNvPr>
          <p:cNvSpPr txBox="1"/>
          <p:nvPr/>
        </p:nvSpPr>
        <p:spPr>
          <a:xfrm>
            <a:off x="3239948" y="3734106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DE3EF4-F7D9-8A9F-8CD9-F169EFCD0EAC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2274749" y="418166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E178F4D0-AC0A-C65D-20F8-701E59ABA445}"/>
              </a:ext>
            </a:extLst>
          </p:cNvPr>
          <p:cNvSpPr txBox="1"/>
          <p:nvPr/>
        </p:nvSpPr>
        <p:spPr>
          <a:xfrm>
            <a:off x="1975757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E4CB33D-D41E-69DA-E67F-020482A87770}"/>
              </a:ext>
            </a:extLst>
          </p:cNvPr>
          <p:cNvCxnSpPr>
            <a:cxnSpLocks/>
          </p:cNvCxnSpPr>
          <p:nvPr/>
        </p:nvCxnSpPr>
        <p:spPr>
          <a:xfrm>
            <a:off x="3499122" y="418166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ECDB136-6AA6-C2EB-7158-E1DE899C69F9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3499122" y="418166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336DE9-0ED8-0AF9-F7F0-9B21F5C9FDFA}"/>
              </a:ext>
            </a:extLst>
          </p:cNvPr>
          <p:cNvSpPr txBox="1"/>
          <p:nvPr/>
        </p:nvSpPr>
        <p:spPr>
          <a:xfrm>
            <a:off x="2999947" y="4690690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82FD63-8BD3-7DD6-2986-BA65AA221CE6}"/>
              </a:ext>
            </a:extLst>
          </p:cNvPr>
          <p:cNvSpPr txBox="1"/>
          <p:nvPr/>
        </p:nvSpPr>
        <p:spPr>
          <a:xfrm>
            <a:off x="4297289" y="464008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64F791-1183-D56A-F5EC-8716C5BBA500}"/>
              </a:ext>
            </a:extLst>
          </p:cNvPr>
          <p:cNvSpPr txBox="1"/>
          <p:nvPr/>
        </p:nvSpPr>
        <p:spPr>
          <a:xfrm>
            <a:off x="4027856" y="546783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B69BBDE-6C41-CA93-DAD2-6A58CDCBF31C}"/>
              </a:ext>
            </a:extLst>
          </p:cNvPr>
          <p:cNvCxnSpPr>
            <a:cxnSpLocks/>
          </p:cNvCxnSpPr>
          <p:nvPr/>
        </p:nvCxnSpPr>
        <p:spPr>
          <a:xfrm>
            <a:off x="4576436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EB5C6A6-B37D-8A54-8BCB-BBF94DE46BFE}"/>
              </a:ext>
            </a:extLst>
          </p:cNvPr>
          <p:cNvCxnSpPr>
            <a:cxnSpLocks/>
          </p:cNvCxnSpPr>
          <p:nvPr/>
        </p:nvCxnSpPr>
        <p:spPr>
          <a:xfrm flipH="1">
            <a:off x="1003968" y="4999423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FD94FD8-C206-D213-DCA4-64708A76FC8E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8BD4DCC-4449-D9F7-18C3-F866A235AEA9}"/>
              </a:ext>
            </a:extLst>
          </p:cNvPr>
          <p:cNvCxnSpPr>
            <a:cxnSpLocks/>
          </p:cNvCxnSpPr>
          <p:nvPr/>
        </p:nvCxnSpPr>
        <p:spPr>
          <a:xfrm>
            <a:off x="2228341" y="4999423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0ED21F5-B8F2-6629-71E3-468A9C22392A}"/>
              </a:ext>
            </a:extLst>
          </p:cNvPr>
          <p:cNvSpPr txBox="1"/>
          <p:nvPr/>
        </p:nvSpPr>
        <p:spPr>
          <a:xfrm>
            <a:off x="1770768" y="5466525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B3E1487-FDF0-C9EB-1E78-D6917D8337B1}"/>
              </a:ext>
            </a:extLst>
          </p:cNvPr>
          <p:cNvSpPr txBox="1"/>
          <p:nvPr/>
        </p:nvSpPr>
        <p:spPr>
          <a:xfrm>
            <a:off x="704976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1C114B4-4F33-5386-9842-8D64F0FBD614}"/>
              </a:ext>
            </a:extLst>
          </p:cNvPr>
          <p:cNvSpPr txBox="1"/>
          <p:nvPr/>
        </p:nvSpPr>
        <p:spPr>
          <a:xfrm>
            <a:off x="3026508" y="5435132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FC1E316-CEFF-CC43-92F6-31002324DBC1}"/>
              </a:ext>
            </a:extLst>
          </p:cNvPr>
          <p:cNvSpPr txBox="1"/>
          <p:nvPr/>
        </p:nvSpPr>
        <p:spPr>
          <a:xfrm>
            <a:off x="2757075" y="591101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4187B57-DBA3-BFB1-D53F-2E7D6A4EDE80}"/>
              </a:ext>
            </a:extLst>
          </p:cNvPr>
          <p:cNvSpPr txBox="1"/>
          <p:nvPr/>
        </p:nvSpPr>
        <p:spPr>
          <a:xfrm>
            <a:off x="435543" y="59425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FADC667-D4FD-8A82-9610-829BDD85ECE6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1003968" y="5804464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FFC3C24-ACC1-DD86-3D41-B14EADF2BFEA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>
            <a:off x="3325500" y="5804464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D5E1561C-3D7D-4914-C803-9ED5C962E1D2}"/>
              </a:ext>
            </a:extLst>
          </p:cNvPr>
          <p:cNvSpPr txBox="1"/>
          <p:nvPr/>
        </p:nvSpPr>
        <p:spPr>
          <a:xfrm>
            <a:off x="8721899" y="359916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596C4AF-B76E-CACB-BE4C-D0790F24F975}"/>
              </a:ext>
            </a:extLst>
          </p:cNvPr>
          <p:cNvCxnSpPr>
            <a:cxnSpLocks/>
            <a:endCxn id="34" idx="0"/>
          </p:cNvCxnSpPr>
          <p:nvPr/>
        </p:nvCxnSpPr>
        <p:spPr>
          <a:xfrm flipH="1">
            <a:off x="7756700" y="4046727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08DBD055-71E0-97C1-4203-40070E401041}"/>
              </a:ext>
            </a:extLst>
          </p:cNvPr>
          <p:cNvSpPr txBox="1"/>
          <p:nvPr/>
        </p:nvSpPr>
        <p:spPr>
          <a:xfrm>
            <a:off x="7457708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874E720-C266-DFBE-F312-F49713C89D87}"/>
              </a:ext>
            </a:extLst>
          </p:cNvPr>
          <p:cNvCxnSpPr>
            <a:cxnSpLocks/>
          </p:cNvCxnSpPr>
          <p:nvPr/>
        </p:nvCxnSpPr>
        <p:spPr>
          <a:xfrm>
            <a:off x="8981073" y="4046727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CBE1A080-C2C9-42B3-627B-E56C8D3A5225}"/>
              </a:ext>
            </a:extLst>
          </p:cNvPr>
          <p:cNvCxnSpPr>
            <a:cxnSpLocks/>
            <a:endCxn id="38" idx="0"/>
          </p:cNvCxnSpPr>
          <p:nvPr/>
        </p:nvCxnSpPr>
        <p:spPr>
          <a:xfrm>
            <a:off x="8981073" y="4046727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01483FDC-2D2C-2585-406C-5DC663CAB8B7}"/>
              </a:ext>
            </a:extLst>
          </p:cNvPr>
          <p:cNvSpPr txBox="1"/>
          <p:nvPr/>
        </p:nvSpPr>
        <p:spPr>
          <a:xfrm>
            <a:off x="8481898" y="4555753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6ACC52C-B5F2-46F6-BE93-452780031C97}"/>
              </a:ext>
            </a:extLst>
          </p:cNvPr>
          <p:cNvSpPr txBox="1"/>
          <p:nvPr/>
        </p:nvSpPr>
        <p:spPr>
          <a:xfrm>
            <a:off x="9779240" y="450514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F3F2823-4CC5-28A2-EE8C-3105A40437FB}"/>
              </a:ext>
            </a:extLst>
          </p:cNvPr>
          <p:cNvSpPr txBox="1"/>
          <p:nvPr/>
        </p:nvSpPr>
        <p:spPr>
          <a:xfrm>
            <a:off x="7172331" y="5312439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E6E81EE-8D68-1153-8837-160F0A5F3131}"/>
              </a:ext>
            </a:extLst>
          </p:cNvPr>
          <p:cNvCxnSpPr>
            <a:cxnSpLocks/>
          </p:cNvCxnSpPr>
          <p:nvPr/>
        </p:nvCxnSpPr>
        <p:spPr>
          <a:xfrm>
            <a:off x="7720911" y="484403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BE61287B-7D31-0170-21DD-CF1C260F5C8B}"/>
              </a:ext>
            </a:extLst>
          </p:cNvPr>
          <p:cNvCxnSpPr>
            <a:cxnSpLocks/>
          </p:cNvCxnSpPr>
          <p:nvPr/>
        </p:nvCxnSpPr>
        <p:spPr>
          <a:xfrm flipH="1">
            <a:off x="8886498" y="4905611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E993118-8D80-55BF-3F61-AA5221705AA2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AF63C90E-2BFB-8F80-A1C7-F0AA824F4F38}"/>
              </a:ext>
            </a:extLst>
          </p:cNvPr>
          <p:cNvCxnSpPr>
            <a:cxnSpLocks/>
          </p:cNvCxnSpPr>
          <p:nvPr/>
        </p:nvCxnSpPr>
        <p:spPr>
          <a:xfrm>
            <a:off x="10110871" y="4905611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388CF79-517E-CC90-E18E-E49874DCDAF1}"/>
              </a:ext>
            </a:extLst>
          </p:cNvPr>
          <p:cNvSpPr txBox="1"/>
          <p:nvPr/>
        </p:nvSpPr>
        <p:spPr>
          <a:xfrm>
            <a:off x="9653298" y="5372713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CAB9E7B-C605-382A-5E35-8C7ADD18AB78}"/>
              </a:ext>
            </a:extLst>
          </p:cNvPr>
          <p:cNvSpPr txBox="1"/>
          <p:nvPr/>
        </p:nvSpPr>
        <p:spPr>
          <a:xfrm>
            <a:off x="8587506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07C1317-5ABD-3C13-C7B3-DBD67E5F4787}"/>
              </a:ext>
            </a:extLst>
          </p:cNvPr>
          <p:cNvSpPr txBox="1"/>
          <p:nvPr/>
        </p:nvSpPr>
        <p:spPr>
          <a:xfrm>
            <a:off x="10909038" y="5341320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A7AE34C-336A-0EC8-10E9-4CEC2451B832}"/>
              </a:ext>
            </a:extLst>
          </p:cNvPr>
          <p:cNvSpPr txBox="1"/>
          <p:nvPr/>
        </p:nvSpPr>
        <p:spPr>
          <a:xfrm>
            <a:off x="10639605" y="581720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F727650-124F-440B-4344-26FF84F8CD03}"/>
              </a:ext>
            </a:extLst>
          </p:cNvPr>
          <p:cNvSpPr txBox="1"/>
          <p:nvPr/>
        </p:nvSpPr>
        <p:spPr>
          <a:xfrm>
            <a:off x="8318073" y="5848756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0B44DE7-E8E7-5820-9679-97FCA7FA644F}"/>
              </a:ext>
            </a:extLst>
          </p:cNvPr>
          <p:cNvCxnSpPr>
            <a:cxnSpLocks/>
            <a:stCxn id="45" idx="2"/>
            <a:endCxn id="48" idx="0"/>
          </p:cNvCxnSpPr>
          <p:nvPr/>
        </p:nvCxnSpPr>
        <p:spPr>
          <a:xfrm>
            <a:off x="8886498" y="5710652"/>
            <a:ext cx="0" cy="1381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2BFCD65-630B-B21F-C70D-3A4370232050}"/>
              </a:ext>
            </a:extLst>
          </p:cNvPr>
          <p:cNvCxnSpPr>
            <a:cxnSpLocks/>
            <a:stCxn id="46" idx="2"/>
            <a:endCxn id="47" idx="0"/>
          </p:cNvCxnSpPr>
          <p:nvPr/>
        </p:nvCxnSpPr>
        <p:spPr>
          <a:xfrm>
            <a:off x="11208030" y="5710652"/>
            <a:ext cx="0" cy="10655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9174A5D0-B9FF-065F-8822-C9105E5FC1CC}"/>
              </a:ext>
            </a:extLst>
          </p:cNvPr>
          <p:cNvSpPr txBox="1">
            <a:spLocks/>
          </p:cNvSpPr>
          <p:nvPr/>
        </p:nvSpPr>
        <p:spPr>
          <a:xfrm>
            <a:off x="7300055" y="1793961"/>
            <a:ext cx="3770870" cy="15786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dirty="0">
                <a:latin typeface="Courier" pitchFamily="2" charset="0"/>
              </a:rPr>
              <a:t>expr ::= NUM 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PLUS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expr TIMES expr</a:t>
            </a:r>
          </a:p>
          <a:p>
            <a:pPr marL="0" indent="0">
              <a:buNone/>
            </a:pPr>
            <a:r>
              <a:rPr lang="en-US" sz="1600" dirty="0">
                <a:latin typeface="Courier" pitchFamily="2" charset="0"/>
              </a:rPr>
              <a:t>     | LPAREN expr RPAREN</a:t>
            </a:r>
          </a:p>
        </p:txBody>
      </p:sp>
    </p:spTree>
    <p:extLst>
      <p:ext uri="{BB962C8B-B14F-4D97-AF65-F5344CB8AC3E}">
        <p14:creationId xmlns:p14="http://schemas.microsoft.com/office/powerpoint/2010/main" val="220795471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79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Avoiding Ambiguity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13D10-9A3F-E04B-9E4B-FAF634B6B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043"/>
            <a:ext cx="10515600" cy="4123913"/>
          </a:xfrm>
        </p:spPr>
        <p:txBody>
          <a:bodyPr>
            <a:normAutofit fontScale="85000" lnSpcReduction="20000"/>
          </a:bodyPr>
          <a:lstStyle/>
          <a:p>
            <a:r>
              <a:rPr lang="en-US" sz="4400" dirty="0"/>
              <a:t>How to avoid ambiguity related to precedence?</a:t>
            </a:r>
          </a:p>
          <a:p>
            <a:r>
              <a:rPr lang="en-US" sz="4400" dirty="0"/>
              <a:t>Define precedence into the grammar:</a:t>
            </a:r>
          </a:p>
          <a:p>
            <a:pPr lvl="1"/>
            <a:r>
              <a:rPr lang="en-US" sz="4000" dirty="0"/>
              <a:t> Ambiguity comes from conflicts (2 ways to do it). </a:t>
            </a:r>
          </a:p>
          <a:p>
            <a:pPr lvl="1"/>
            <a:r>
              <a:rPr lang="en-US" sz="4000" dirty="0"/>
              <a:t>Explicitly define how to deal with conflicts by indicating that: </a:t>
            </a:r>
          </a:p>
          <a:p>
            <a:pPr marL="0" indent="0">
              <a:buNone/>
            </a:pPr>
            <a:r>
              <a:rPr lang="en-US" sz="4400" dirty="0"/>
              <a:t>           * has higher precedence than +</a:t>
            </a:r>
          </a:p>
          <a:p>
            <a:r>
              <a:rPr lang="en-US" sz="4400" dirty="0"/>
              <a:t>Some parser generators support this, </a:t>
            </a:r>
          </a:p>
          <a:p>
            <a:pPr lvl="1"/>
            <a:r>
              <a:rPr lang="en-US" sz="4000" dirty="0"/>
              <a:t>e.g. YACC(C), Bison (C), </a:t>
            </a:r>
            <a:r>
              <a:rPr lang="en-US" sz="4000" dirty="0" err="1"/>
              <a:t>Antlr</a:t>
            </a:r>
            <a:r>
              <a:rPr lang="en-US" sz="4000" dirty="0"/>
              <a:t> (Java), PLY(Python)</a:t>
            </a:r>
          </a:p>
        </p:txBody>
      </p:sp>
    </p:spTree>
    <p:extLst>
      <p:ext uri="{BB962C8B-B14F-4D97-AF65-F5344CB8AC3E}">
        <p14:creationId xmlns:p14="http://schemas.microsoft.com/office/powerpoint/2010/main" val="40477040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65"/>
            <a:ext cx="10515600" cy="1325563"/>
          </a:xfrm>
        </p:spPr>
        <p:txBody>
          <a:bodyPr/>
          <a:lstStyle/>
          <a:p>
            <a:r>
              <a:rPr lang="en-US" dirty="0"/>
              <a:t>Avoiding Precedence Ambiguity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9C6EBDA-2909-0F4C-8DDA-3EAE95C387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63704"/>
            <a:ext cx="10253353" cy="4667250"/>
          </a:xfrm>
        </p:spPr>
        <p:txBody>
          <a:bodyPr>
            <a:normAutofit lnSpcReduction="10000"/>
          </a:bodyPr>
          <a:lstStyle/>
          <a:p>
            <a:r>
              <a:rPr lang="en-US" sz="3600" dirty="0"/>
              <a:t>How to avoid ambiguity related to precedence?</a:t>
            </a:r>
          </a:p>
          <a:p>
            <a:pPr marL="0" indent="0">
              <a:buNone/>
            </a:pPr>
            <a:endParaRPr lang="en-US" sz="3600" dirty="0"/>
          </a:p>
          <a:p>
            <a:r>
              <a:rPr lang="en-US" sz="3600" b="1" dirty="0"/>
              <a:t>Second way</a:t>
            </a:r>
            <a:r>
              <a:rPr lang="en-US" sz="3600" dirty="0"/>
              <a:t>: add new production rules</a:t>
            </a:r>
          </a:p>
          <a:p>
            <a:pPr lvl="1"/>
            <a:r>
              <a:rPr lang="en-US" sz="3200" dirty="0"/>
              <a:t>One non-terminal for each level of precedence</a:t>
            </a:r>
          </a:p>
          <a:p>
            <a:pPr lvl="1"/>
            <a:r>
              <a:rPr lang="en-US" sz="3200" dirty="0"/>
              <a:t>lowest precedence at the top</a:t>
            </a:r>
          </a:p>
          <a:p>
            <a:pPr lvl="1"/>
            <a:r>
              <a:rPr lang="en-US" sz="3200" dirty="0"/>
              <a:t>highest precedence at the bottom</a:t>
            </a:r>
          </a:p>
          <a:p>
            <a:pPr lvl="1"/>
            <a:endParaRPr lang="en-US" sz="3200" dirty="0"/>
          </a:p>
          <a:p>
            <a:r>
              <a:rPr lang="en-US" sz="3600" dirty="0"/>
              <a:t>Lets try with expressions and the following:</a:t>
            </a:r>
          </a:p>
          <a:p>
            <a:pPr marL="457200" lvl="1" indent="0">
              <a:buNone/>
            </a:pPr>
            <a:r>
              <a:rPr lang="en-US" sz="3200" dirty="0"/>
              <a:t>              +  *  ()</a:t>
            </a:r>
          </a:p>
        </p:txBody>
      </p:sp>
    </p:spTree>
    <p:extLst>
      <p:ext uri="{BB962C8B-B14F-4D97-AF65-F5344CB8AC3E}">
        <p14:creationId xmlns:p14="http://schemas.microsoft.com/office/powerpoint/2010/main" val="35054745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C38A7-9CB6-8B41-8EEB-A7321D318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0"/>
            <a:ext cx="10515600" cy="1325563"/>
          </a:xfrm>
        </p:spPr>
        <p:txBody>
          <a:bodyPr/>
          <a:lstStyle/>
          <a:p>
            <a:r>
              <a:rPr lang="en-US" dirty="0"/>
              <a:t>Avoiding Precedence Ambiguity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E783D612-69BC-4C49-9D8D-25981E72E3F3}"/>
              </a:ext>
            </a:extLst>
          </p:cNvPr>
          <p:cNvGraphicFramePr>
            <a:graphicFrameLocks noGrp="1"/>
          </p:cNvGraphicFramePr>
          <p:nvPr/>
        </p:nvGraphicFramePr>
        <p:xfrm>
          <a:off x="2817341" y="3069365"/>
          <a:ext cx="5671751" cy="32572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561324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86036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02439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814323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800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2000" dirty="0">
                          <a:latin typeface="Courier" pitchFamily="2" charset="0"/>
                        </a:rPr>
                      </a:br>
                      <a:r>
                        <a:rPr lang="en-US" sz="20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800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2000" dirty="0">
                          <a:latin typeface="Courier" pitchFamily="2" charset="0"/>
                        </a:rPr>
                      </a:br>
                      <a:r>
                        <a:rPr lang="en-US" sz="20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814323">
                <a:tc>
                  <a:txBody>
                    <a:bodyPr/>
                    <a:lstStyle/>
                    <a:p>
                      <a:r>
                        <a:rPr lang="en-US" sz="2400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800" dirty="0">
                          <a:latin typeface="Courier" pitchFamily="2" charset="0"/>
                        </a:rPr>
                      </a:br>
                      <a:r>
                        <a:rPr lang="en-US" sz="18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Down Arrow 6">
            <a:extLst>
              <a:ext uri="{FF2B5EF4-FFF2-40B4-BE49-F238E27FC236}">
                <a16:creationId xmlns:a16="http://schemas.microsoft.com/office/drawing/2014/main" id="{71D1710D-D0C7-1141-9E1A-8BB20BBA4101}"/>
              </a:ext>
            </a:extLst>
          </p:cNvPr>
          <p:cNvSpPr/>
          <p:nvPr/>
        </p:nvSpPr>
        <p:spPr>
          <a:xfrm>
            <a:off x="8872151" y="4003589"/>
            <a:ext cx="333633" cy="2145099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8F6C5A-303D-9F4B-ACBC-3800557D9C90}"/>
              </a:ext>
            </a:extLst>
          </p:cNvPr>
          <p:cNvSpPr txBox="1"/>
          <p:nvPr/>
        </p:nvSpPr>
        <p:spPr>
          <a:xfrm>
            <a:off x="8692793" y="3060222"/>
            <a:ext cx="22037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Precedence</a:t>
            </a:r>
          </a:p>
          <a:p>
            <a:pPr algn="ctr"/>
            <a:r>
              <a:rPr lang="en-US" dirty="0"/>
              <a:t>increases going down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91126F44-3264-1345-A8E5-85FF2EEFEC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90608"/>
            <a:ext cx="7243120" cy="263516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Second way</a:t>
            </a:r>
            <a:r>
              <a:rPr lang="en-US" dirty="0"/>
              <a:t>: new production rules</a:t>
            </a:r>
          </a:p>
          <a:p>
            <a:pPr lvl="1"/>
            <a:r>
              <a:rPr lang="en-US" dirty="0"/>
              <a:t>One non-terminal for each level of precedence</a:t>
            </a:r>
          </a:p>
          <a:p>
            <a:pPr lvl="1"/>
            <a:r>
              <a:rPr lang="en-US" dirty="0"/>
              <a:t>lowest precedence at the top</a:t>
            </a:r>
          </a:p>
          <a:p>
            <a:pPr lvl="1"/>
            <a:r>
              <a:rPr lang="en-US" dirty="0"/>
              <a:t>highest precedence at the bottom</a:t>
            </a:r>
          </a:p>
        </p:txBody>
      </p:sp>
    </p:spTree>
    <p:extLst>
      <p:ext uri="{BB962C8B-B14F-4D97-AF65-F5344CB8AC3E}">
        <p14:creationId xmlns:p14="http://schemas.microsoft.com/office/powerpoint/2010/main" val="16155546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4ECED81-C6BB-DE45-8F17-9D3438A1694C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519698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F0AB19E-EC8F-2041-AC57-84ED24A25F61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01474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14" name="Table 5">
            <a:extLst>
              <a:ext uri="{FF2B5EF4-FFF2-40B4-BE49-F238E27FC236}">
                <a16:creationId xmlns:a16="http://schemas.microsoft.com/office/drawing/2014/main" id="{D0AAFE8F-B9DD-9F41-BB48-9D7B5EB976D8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620028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graphicFrame>
        <p:nvGraphicFramePr>
          <p:cNvPr id="19" name="Table 5">
            <a:extLst>
              <a:ext uri="{FF2B5EF4-FFF2-40B4-BE49-F238E27FC236}">
                <a16:creationId xmlns:a16="http://schemas.microsoft.com/office/drawing/2014/main" id="{F2B2C4BD-8B65-634A-863A-7A8CC1418EDB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021018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7303" y="3457265"/>
            <a:ext cx="4432" cy="3128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67792" y="3770068"/>
            <a:ext cx="639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graphicFrame>
        <p:nvGraphicFramePr>
          <p:cNvPr id="21" name="Table 5">
            <a:extLst>
              <a:ext uri="{FF2B5EF4-FFF2-40B4-BE49-F238E27FC236}">
                <a16:creationId xmlns:a16="http://schemas.microsoft.com/office/drawing/2014/main" id="{A9DD465B-FA28-3843-8460-6FACCA02BE34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950761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 flipH="1">
            <a:off x="9983083" y="3457265"/>
            <a:ext cx="8652" cy="32303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14158" y="3780303"/>
            <a:ext cx="737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graphicFrame>
        <p:nvGraphicFramePr>
          <p:cNvPr id="29" name="Table 5">
            <a:extLst>
              <a:ext uri="{FF2B5EF4-FFF2-40B4-BE49-F238E27FC236}">
                <a16:creationId xmlns:a16="http://schemas.microsoft.com/office/drawing/2014/main" id="{0A04DC6E-8754-C14F-8293-90EC3D5A024E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79010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62162-6C16-C84F-9702-17E49E554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lets create a parse tree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8084A87-825D-444D-BB7B-C3FAA3E9B7F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80AF64F-C051-BC45-8F55-C339505C9041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37C40A-B1C7-B24E-AAED-53661DA8AD97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16F5EC7-5BB5-C44D-9139-74B5B3A0EA1C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24FA233-A2CA-7644-9D29-ABBBFDDE51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6C879086-9CF3-C944-B592-9E6A7804E052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2C3AB-C2B2-F242-974D-F95CE403B6CB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E188A97-8BB9-E34A-9A6F-2FA6143478F0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1&gt;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B289100-EE7C-6B44-B446-620A383C0434}"/>
              </a:ext>
            </a:extLst>
          </p:cNvPr>
          <p:cNvCxnSpPr>
            <a:cxnSpLocks/>
            <a:endCxn id="25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9523A5C-5656-2C48-9561-C5E06431FF8C}"/>
              </a:ext>
            </a:extLst>
          </p:cNvPr>
          <p:cNvCxnSpPr>
            <a:cxnSpLocks/>
          </p:cNvCxnSpPr>
          <p:nvPr/>
        </p:nvCxnSpPr>
        <p:spPr>
          <a:xfrm flipH="1">
            <a:off x="8758711" y="413940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2827981-7496-3044-A580-D70075F49F40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D73D50F-AD23-2A43-8FB5-2E5521EA1252}"/>
              </a:ext>
            </a:extLst>
          </p:cNvPr>
          <p:cNvCxnSpPr>
            <a:cxnSpLocks/>
          </p:cNvCxnSpPr>
          <p:nvPr/>
        </p:nvCxnSpPr>
        <p:spPr>
          <a:xfrm>
            <a:off x="9983084" y="413940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3A10946-EFD4-7E40-AB1D-DC861347C615}"/>
              </a:ext>
            </a:extLst>
          </p:cNvPr>
          <p:cNvSpPr txBox="1"/>
          <p:nvPr/>
        </p:nvSpPr>
        <p:spPr>
          <a:xfrm>
            <a:off x="9525511" y="4606502"/>
            <a:ext cx="9983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&lt;TIMES&gt;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E779DE-0E1B-6646-BA9B-D3741DDAFA77}"/>
              </a:ext>
            </a:extLst>
          </p:cNvPr>
          <p:cNvSpPr txBox="1"/>
          <p:nvPr/>
        </p:nvSpPr>
        <p:spPr>
          <a:xfrm>
            <a:off x="8459719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E3208D9-8CA8-8545-A65C-A98896AB66F9}"/>
              </a:ext>
            </a:extLst>
          </p:cNvPr>
          <p:cNvSpPr txBox="1"/>
          <p:nvPr/>
        </p:nvSpPr>
        <p:spPr>
          <a:xfrm>
            <a:off x="10781251" y="4575109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708125-208C-FB44-BFCB-1411EB5B9B3C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5C9CA3C-1798-5D4F-B4D8-21BE902532E2}"/>
              </a:ext>
            </a:extLst>
          </p:cNvPr>
          <p:cNvCxnSpPr>
            <a:cxnSpLocks/>
            <a:stCxn id="25" idx="2"/>
            <a:endCxn id="27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133E5FB-1176-2F49-8AB1-1062B1ED1DC5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51E8634-37CD-4B4A-A4CD-F0390385398C}"/>
              </a:ext>
            </a:extLst>
          </p:cNvPr>
          <p:cNvCxnSpPr>
            <a:cxnSpLocks/>
            <a:stCxn id="27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8AC937BE-D3B1-D44D-9937-F6A99D119B0E}"/>
              </a:ext>
            </a:extLst>
          </p:cNvPr>
          <p:cNvSpPr txBox="1"/>
          <p:nvPr/>
        </p:nvSpPr>
        <p:spPr>
          <a:xfrm>
            <a:off x="7525232" y="127414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1+5*6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EAB152D-9A26-9B43-A7B1-29D9BE13117F}"/>
              </a:ext>
            </a:extLst>
          </p:cNvPr>
          <p:cNvCxnSpPr>
            <a:cxnSpLocks/>
            <a:stCxn id="12" idx="2"/>
            <a:endCxn id="43" idx="0"/>
          </p:cNvCxnSpPr>
          <p:nvPr/>
        </p:nvCxnSpPr>
        <p:spPr>
          <a:xfrm>
            <a:off x="9991735" y="3457265"/>
            <a:ext cx="0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D646E12C-C254-B54E-96B1-3BAC1435E7C3}"/>
              </a:ext>
            </a:extLst>
          </p:cNvPr>
          <p:cNvSpPr txBox="1"/>
          <p:nvPr/>
        </p:nvSpPr>
        <p:spPr>
          <a:xfrm>
            <a:off x="9606169" y="3757326"/>
            <a:ext cx="771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term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3540521-17C6-EC43-BC96-BB34123D64CE}"/>
              </a:ext>
            </a:extLst>
          </p:cNvPr>
          <p:cNvSpPr txBox="1"/>
          <p:nvPr/>
        </p:nvSpPr>
        <p:spPr>
          <a:xfrm>
            <a:off x="8223152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5&gt;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AC8F0CC-8EE2-F145-9D4D-E31B4417315B}"/>
              </a:ext>
            </a:extLst>
          </p:cNvPr>
          <p:cNvSpPr txBox="1"/>
          <p:nvPr/>
        </p:nvSpPr>
        <p:spPr>
          <a:xfrm>
            <a:off x="8429296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EC7DED96-B025-904A-A333-37DE1FE9A7F1}"/>
              </a:ext>
            </a:extLst>
          </p:cNvPr>
          <p:cNvCxnSpPr>
            <a:cxnSpLocks/>
            <a:stCxn id="55" idx="2"/>
            <a:endCxn id="54" idx="0"/>
          </p:cNvCxnSpPr>
          <p:nvPr/>
        </p:nvCxnSpPr>
        <p:spPr>
          <a:xfrm flipH="1">
            <a:off x="8791577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B1EE8A74-38A2-CD4C-9B1F-B1674EDD25B9}"/>
              </a:ext>
            </a:extLst>
          </p:cNvPr>
          <p:cNvCxnSpPr>
            <a:cxnSpLocks/>
          </p:cNvCxnSpPr>
          <p:nvPr/>
        </p:nvCxnSpPr>
        <p:spPr>
          <a:xfrm flipH="1">
            <a:off x="8773620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CFF7024A-16C9-E64F-8C94-B05E0079A3E1}"/>
              </a:ext>
            </a:extLst>
          </p:cNvPr>
          <p:cNvSpPr txBox="1"/>
          <p:nvPr/>
        </p:nvSpPr>
        <p:spPr>
          <a:xfrm>
            <a:off x="10546607" y="594423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6&gt;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130AFD8-7831-4340-B3B1-D26D06FFC84A}"/>
              </a:ext>
            </a:extLst>
          </p:cNvPr>
          <p:cNvSpPr txBox="1"/>
          <p:nvPr/>
        </p:nvSpPr>
        <p:spPr>
          <a:xfrm>
            <a:off x="10752751" y="5274837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904A8729-D901-5145-8399-EBECB27338FB}"/>
              </a:ext>
            </a:extLst>
          </p:cNvPr>
          <p:cNvCxnSpPr>
            <a:cxnSpLocks/>
            <a:stCxn id="59" idx="2"/>
            <a:endCxn id="58" idx="0"/>
          </p:cNvCxnSpPr>
          <p:nvPr/>
        </p:nvCxnSpPr>
        <p:spPr>
          <a:xfrm flipH="1">
            <a:off x="11115032" y="5644169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09889343-814F-AC47-BCAA-253276D34071}"/>
              </a:ext>
            </a:extLst>
          </p:cNvPr>
          <p:cNvCxnSpPr>
            <a:cxnSpLocks/>
          </p:cNvCxnSpPr>
          <p:nvPr/>
        </p:nvCxnSpPr>
        <p:spPr>
          <a:xfrm flipH="1">
            <a:off x="11097075" y="495645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5" name="Table 5">
            <a:extLst>
              <a:ext uri="{FF2B5EF4-FFF2-40B4-BE49-F238E27FC236}">
                <a16:creationId xmlns:a16="http://schemas.microsoft.com/office/drawing/2014/main" id="{EAE5DCAE-5344-7E4A-8E00-CD15BC32AB8D}"/>
              </a:ext>
            </a:extLst>
          </p:cNvPr>
          <p:cNvGraphicFramePr>
            <a:graphicFrameLocks noGrp="1"/>
          </p:cNvGraphicFramePr>
          <p:nvPr/>
        </p:nvGraphicFramePr>
        <p:xfrm>
          <a:off x="680382" y="2517382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33260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85783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38890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LPAREN expr RPAREN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110271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3B04B-79DD-054E-9290-EC07D4E2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graphicFrame>
        <p:nvGraphicFramePr>
          <p:cNvPr id="7" name="Table 5">
            <a:extLst>
              <a:ext uri="{FF2B5EF4-FFF2-40B4-BE49-F238E27FC236}">
                <a16:creationId xmlns:a16="http://schemas.microsoft.com/office/drawing/2014/main" id="{7FA2C50D-9623-3241-8FDF-13DC5AB960D5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254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387257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154219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(LHS)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 (RHS)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star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LPAR choice RPAR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2539FDEE-6056-BA6E-D7D0-D5FC556ECD6D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34434628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D8BF28-0940-BB41-8B83-4E5F8F8EE8D3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D307D94F-632F-B20D-DDB1-41198D972D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6FB234C-7331-7565-8836-FEB00EFE813A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17300348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C9E642-CCFC-BD44-B0F5-9C04422BE9C5}"/>
              </a:ext>
            </a:extLst>
          </p:cNvPr>
          <p:cNvSpPr txBox="1"/>
          <p:nvPr/>
        </p:nvSpPr>
        <p:spPr>
          <a:xfrm>
            <a:off x="7512876" y="1655344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</a:t>
            </a:r>
            <a:r>
              <a:rPr lang="en-US" sz="3200" dirty="0" err="1">
                <a:latin typeface="Courier" pitchFamily="2" charset="0"/>
              </a:rPr>
              <a:t>a.b</a:t>
            </a:r>
            <a:r>
              <a:rPr lang="en-US" sz="3200" dirty="0">
                <a:latin typeface="Courier" pitchFamily="2" charset="0"/>
              </a:rPr>
              <a:t> | c*</a:t>
            </a: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A45D88A6-2785-A242-B11A-D5139ECA264A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A03C10B2-2FAE-C53E-5D39-B10B0EADA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C594887-F6FD-439B-0BB3-ABFBBD3E5C93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220787141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FCC9E642-CCFC-BD44-B0F5-9C04422BE9C5}"/>
              </a:ext>
            </a:extLst>
          </p:cNvPr>
          <p:cNvSpPr txBox="1"/>
          <p:nvPr/>
        </p:nvSpPr>
        <p:spPr>
          <a:xfrm>
            <a:off x="7512876" y="1655344"/>
            <a:ext cx="38876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</a:t>
            </a:r>
            <a:r>
              <a:rPr lang="en-US" sz="3200" dirty="0" err="1">
                <a:latin typeface="Courier" pitchFamily="2" charset="0"/>
              </a:rPr>
              <a:t>a.b</a:t>
            </a:r>
            <a:r>
              <a:rPr lang="en-US" sz="3200" dirty="0">
                <a:latin typeface="Courier" pitchFamily="2" charset="0"/>
              </a:rPr>
              <a:t> | c*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C47664C-D91B-8440-AA20-AFDFCF36154B}"/>
              </a:ext>
            </a:extLst>
          </p:cNvPr>
          <p:cNvSpPr txBox="1"/>
          <p:nvPr/>
        </p:nvSpPr>
        <p:spPr>
          <a:xfrm>
            <a:off x="9339737" y="240939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FDF472A-6C36-FF42-A3A4-79D9080D1181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8129065" y="2778729"/>
            <a:ext cx="1573111" cy="314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507DF4-F531-E447-B4ED-2E3DBF242ADB}"/>
              </a:ext>
            </a:extLst>
          </p:cNvPr>
          <p:cNvSpPr txBox="1"/>
          <p:nvPr/>
        </p:nvSpPr>
        <p:spPr>
          <a:xfrm>
            <a:off x="7766626" y="309294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AF8137-27D4-9040-94A2-2B20CBAFEAE5}"/>
              </a:ext>
            </a:extLst>
          </p:cNvPr>
          <p:cNvCxnSpPr>
            <a:cxnSpLocks/>
            <a:stCxn id="9" idx="2"/>
            <a:endCxn id="14" idx="0"/>
          </p:cNvCxnSpPr>
          <p:nvPr/>
        </p:nvCxnSpPr>
        <p:spPr>
          <a:xfrm flipH="1">
            <a:off x="9694039" y="2778729"/>
            <a:ext cx="8137" cy="332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AE4D0A9-B304-1A41-8D13-92EAA4696DB1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9702176" y="2778729"/>
            <a:ext cx="1119126" cy="3142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02FD291F-00F2-7C47-94D4-C48CC1483061}"/>
              </a:ext>
            </a:extLst>
          </p:cNvPr>
          <p:cNvSpPr txBox="1"/>
          <p:nvPr/>
        </p:nvSpPr>
        <p:spPr>
          <a:xfrm>
            <a:off x="9433390" y="3111140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&lt;|&gt;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410753-0EB0-C04F-AA31-D7D6B5716466}"/>
              </a:ext>
            </a:extLst>
          </p:cNvPr>
          <p:cNvSpPr txBox="1"/>
          <p:nvPr/>
        </p:nvSpPr>
        <p:spPr>
          <a:xfrm>
            <a:off x="10458863" y="3092947"/>
            <a:ext cx="7248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union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F9414BE-318D-AA40-8BA0-7C6C1A337064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8129065" y="3462279"/>
            <a:ext cx="0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4C77B0E-B55C-E445-8840-3A873E58B6B0}"/>
              </a:ext>
            </a:extLst>
          </p:cNvPr>
          <p:cNvCxnSpPr>
            <a:cxnSpLocks/>
          </p:cNvCxnSpPr>
          <p:nvPr/>
        </p:nvCxnSpPr>
        <p:spPr>
          <a:xfrm>
            <a:off x="10798632" y="4193842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3470439-291C-EB48-9C65-CD010CB06FEC}"/>
              </a:ext>
            </a:extLst>
          </p:cNvPr>
          <p:cNvSpPr txBox="1"/>
          <p:nvPr/>
        </p:nvSpPr>
        <p:spPr>
          <a:xfrm>
            <a:off x="10373067" y="4671386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087C754-E04A-D446-8D6D-AD8F54AB7008}"/>
              </a:ext>
            </a:extLst>
          </p:cNvPr>
          <p:cNvSpPr txBox="1"/>
          <p:nvPr/>
        </p:nvSpPr>
        <p:spPr>
          <a:xfrm>
            <a:off x="7695682" y="3762340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61AB7DC7-A806-2F42-983B-6269BA61C35D}"/>
              </a:ext>
            </a:extLst>
          </p:cNvPr>
          <p:cNvCxnSpPr>
            <a:cxnSpLocks/>
            <a:stCxn id="24" idx="2"/>
            <a:endCxn id="26" idx="0"/>
          </p:cNvCxnSpPr>
          <p:nvPr/>
        </p:nvCxnSpPr>
        <p:spPr>
          <a:xfrm flipH="1">
            <a:off x="7333670" y="4131672"/>
            <a:ext cx="764751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07EDCEB3-45C7-CC43-AD67-8C8A8AF1F8B8}"/>
              </a:ext>
            </a:extLst>
          </p:cNvPr>
          <p:cNvSpPr txBox="1"/>
          <p:nvPr/>
        </p:nvSpPr>
        <p:spPr>
          <a:xfrm>
            <a:off x="6930931" y="4431733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EB04F1A-E37D-9F4E-9C01-99F9539771B3}"/>
              </a:ext>
            </a:extLst>
          </p:cNvPr>
          <p:cNvCxnSpPr>
            <a:cxnSpLocks/>
            <a:stCxn id="26" idx="2"/>
          </p:cNvCxnSpPr>
          <p:nvPr/>
        </p:nvCxnSpPr>
        <p:spPr>
          <a:xfrm>
            <a:off x="7333670" y="4801065"/>
            <a:ext cx="0" cy="402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7990EE9-CA8B-A342-B77B-B0BB9DF2B937}"/>
              </a:ext>
            </a:extLst>
          </p:cNvPr>
          <p:cNvCxnSpPr>
            <a:cxnSpLocks/>
            <a:stCxn id="15" idx="2"/>
          </p:cNvCxnSpPr>
          <p:nvPr/>
        </p:nvCxnSpPr>
        <p:spPr>
          <a:xfrm>
            <a:off x="10821302" y="3462279"/>
            <a:ext cx="0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C50D0E49-1903-E146-88AE-8CC3EC6FC2FF}"/>
              </a:ext>
            </a:extLst>
          </p:cNvPr>
          <p:cNvSpPr txBox="1"/>
          <p:nvPr/>
        </p:nvSpPr>
        <p:spPr>
          <a:xfrm>
            <a:off x="10409766" y="3762340"/>
            <a:ext cx="8560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3A245A-7C88-BC4E-ABDB-3EB7D5CA3082}"/>
              </a:ext>
            </a:extLst>
          </p:cNvPr>
          <p:cNvSpPr txBox="1"/>
          <p:nvPr/>
        </p:nvSpPr>
        <p:spPr>
          <a:xfrm>
            <a:off x="9798230" y="6080090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&lt;CHAR, c&gt;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4FC0300-B87D-5A4E-8468-9F191AC895BB}"/>
              </a:ext>
            </a:extLst>
          </p:cNvPr>
          <p:cNvSpPr txBox="1"/>
          <p:nvPr/>
        </p:nvSpPr>
        <p:spPr>
          <a:xfrm>
            <a:off x="10109750" y="539350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195C601-C313-4A49-948E-C83C11D5DA52}"/>
              </a:ext>
            </a:extLst>
          </p:cNvPr>
          <p:cNvCxnSpPr>
            <a:cxnSpLocks/>
            <a:stCxn id="31" idx="2"/>
          </p:cNvCxnSpPr>
          <p:nvPr/>
        </p:nvCxnSpPr>
        <p:spPr>
          <a:xfrm flipH="1">
            <a:off x="10379159" y="5762837"/>
            <a:ext cx="9674" cy="2833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E1E55B2F-406B-5644-9706-F1B30139727A}"/>
              </a:ext>
            </a:extLst>
          </p:cNvPr>
          <p:cNvCxnSpPr>
            <a:cxnSpLocks/>
            <a:stCxn id="21" idx="2"/>
            <a:endCxn id="31" idx="0"/>
          </p:cNvCxnSpPr>
          <p:nvPr/>
        </p:nvCxnSpPr>
        <p:spPr>
          <a:xfrm flipH="1">
            <a:off x="10388833" y="5040718"/>
            <a:ext cx="409799" cy="3527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228FA1B-FCF7-B043-8D66-37DCBFB0C26A}"/>
              </a:ext>
            </a:extLst>
          </p:cNvPr>
          <p:cNvSpPr txBox="1"/>
          <p:nvPr/>
        </p:nvSpPr>
        <p:spPr>
          <a:xfrm>
            <a:off x="11518871" y="5502277"/>
            <a:ext cx="530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&lt;*&gt;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A3AD153E-C059-3046-81C2-F10A98FB45D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10798632" y="5040718"/>
            <a:ext cx="1064564" cy="44323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45B3A1FD-76E5-F54E-AF66-FD77A986F062}"/>
              </a:ext>
            </a:extLst>
          </p:cNvPr>
          <p:cNvCxnSpPr>
            <a:cxnSpLocks/>
            <a:stCxn id="24" idx="2"/>
            <a:endCxn id="47" idx="0"/>
          </p:cNvCxnSpPr>
          <p:nvPr/>
        </p:nvCxnSpPr>
        <p:spPr>
          <a:xfrm>
            <a:off x="8098421" y="4131672"/>
            <a:ext cx="787389" cy="31597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4B8F012-ED5B-E94E-9B55-C3619C381A62}"/>
              </a:ext>
            </a:extLst>
          </p:cNvPr>
          <p:cNvSpPr txBox="1"/>
          <p:nvPr/>
        </p:nvSpPr>
        <p:spPr>
          <a:xfrm>
            <a:off x="8483071" y="4447642"/>
            <a:ext cx="805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concat</a:t>
            </a:r>
            <a:endParaRPr 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5AFA77C-7C1F-EF4B-A204-93772A2A6BBA}"/>
              </a:ext>
            </a:extLst>
          </p:cNvPr>
          <p:cNvSpPr txBox="1"/>
          <p:nvPr/>
        </p:nvSpPr>
        <p:spPr>
          <a:xfrm>
            <a:off x="6942978" y="5196771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808F0BE-7C98-EB42-96B4-A033F10408BE}"/>
              </a:ext>
            </a:extLst>
          </p:cNvPr>
          <p:cNvSpPr txBox="1"/>
          <p:nvPr/>
        </p:nvSpPr>
        <p:spPr>
          <a:xfrm>
            <a:off x="7018221" y="5808841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C9005D3-CA59-4A4D-9D51-D49B4324CF6C}"/>
              </a:ext>
            </a:extLst>
          </p:cNvPr>
          <p:cNvSpPr txBox="1"/>
          <p:nvPr/>
        </p:nvSpPr>
        <p:spPr>
          <a:xfrm>
            <a:off x="6812980" y="6433483"/>
            <a:ext cx="1162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&lt;CHAR, a&gt;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CA3ECD31-2362-A94F-89D4-8A18609934BE}"/>
              </a:ext>
            </a:extLst>
          </p:cNvPr>
          <p:cNvCxnSpPr>
            <a:cxnSpLocks/>
          </p:cNvCxnSpPr>
          <p:nvPr/>
        </p:nvCxnSpPr>
        <p:spPr>
          <a:xfrm>
            <a:off x="7304852" y="5578171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AB3F7DE-5EE8-C44B-BCEB-689A0A195ACC}"/>
              </a:ext>
            </a:extLst>
          </p:cNvPr>
          <p:cNvCxnSpPr>
            <a:cxnSpLocks/>
          </p:cNvCxnSpPr>
          <p:nvPr/>
        </p:nvCxnSpPr>
        <p:spPr>
          <a:xfrm>
            <a:off x="7309115" y="6217137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70F903EE-1FDE-504D-A10D-71E2C079EAD5}"/>
              </a:ext>
            </a:extLst>
          </p:cNvPr>
          <p:cNvCxnSpPr>
            <a:cxnSpLocks/>
          </p:cNvCxnSpPr>
          <p:nvPr/>
        </p:nvCxnSpPr>
        <p:spPr>
          <a:xfrm>
            <a:off x="8954857" y="4756879"/>
            <a:ext cx="0" cy="40220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F685E38A-CCEF-364F-8E08-287DED16437B}"/>
              </a:ext>
            </a:extLst>
          </p:cNvPr>
          <p:cNvSpPr txBox="1"/>
          <p:nvPr/>
        </p:nvSpPr>
        <p:spPr>
          <a:xfrm>
            <a:off x="8564165" y="5152585"/>
            <a:ext cx="8511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starred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99FFD7-AA47-604F-B74A-7860C9198879}"/>
              </a:ext>
            </a:extLst>
          </p:cNvPr>
          <p:cNvSpPr txBox="1"/>
          <p:nvPr/>
        </p:nvSpPr>
        <p:spPr>
          <a:xfrm>
            <a:off x="8639408" y="5764655"/>
            <a:ext cx="5581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unit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8B9DD2-2604-FF42-B02A-8FF6DD389A5B}"/>
              </a:ext>
            </a:extLst>
          </p:cNvPr>
          <p:cNvSpPr txBox="1"/>
          <p:nvPr/>
        </p:nvSpPr>
        <p:spPr>
          <a:xfrm>
            <a:off x="8434167" y="6389297"/>
            <a:ext cx="1173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&lt;CHAR ,b&gt;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57EED48C-61BC-2543-8E9D-1DB26FAD4905}"/>
              </a:ext>
            </a:extLst>
          </p:cNvPr>
          <p:cNvCxnSpPr>
            <a:cxnSpLocks/>
          </p:cNvCxnSpPr>
          <p:nvPr/>
        </p:nvCxnSpPr>
        <p:spPr>
          <a:xfrm>
            <a:off x="8926039" y="5533985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D6E3C19C-FE02-4B4B-BD66-D4C4FC15F977}"/>
              </a:ext>
            </a:extLst>
          </p:cNvPr>
          <p:cNvCxnSpPr>
            <a:cxnSpLocks/>
          </p:cNvCxnSpPr>
          <p:nvPr/>
        </p:nvCxnSpPr>
        <p:spPr>
          <a:xfrm>
            <a:off x="8930302" y="6172951"/>
            <a:ext cx="2126" cy="22800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F18D11A8-C394-2F42-B3DE-2F6E7117CAF6}"/>
              </a:ext>
            </a:extLst>
          </p:cNvPr>
          <p:cNvCxnSpPr>
            <a:cxnSpLocks/>
            <a:endCxn id="68" idx="0"/>
          </p:cNvCxnSpPr>
          <p:nvPr/>
        </p:nvCxnSpPr>
        <p:spPr>
          <a:xfrm flipH="1">
            <a:off x="8067489" y="4154309"/>
            <a:ext cx="32184" cy="33241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35495334-5D51-214D-A228-99E152F04649}"/>
              </a:ext>
            </a:extLst>
          </p:cNvPr>
          <p:cNvSpPr txBox="1"/>
          <p:nvPr/>
        </p:nvSpPr>
        <p:spPr>
          <a:xfrm>
            <a:off x="7830886" y="4486720"/>
            <a:ext cx="473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&lt;.&gt;</a:t>
            </a:r>
          </a:p>
        </p:txBody>
      </p:sp>
      <p:graphicFrame>
        <p:nvGraphicFramePr>
          <p:cNvPr id="44" name="Table 5">
            <a:extLst>
              <a:ext uri="{FF2B5EF4-FFF2-40B4-BE49-F238E27FC236}">
                <a16:creationId xmlns:a16="http://schemas.microsoft.com/office/drawing/2014/main" id="{A45D88A6-2785-A242-B11A-D5139ECA264A}"/>
              </a:ext>
            </a:extLst>
          </p:cNvPr>
          <p:cNvGraphicFramePr>
            <a:graphicFrameLocks noGrp="1"/>
          </p:cNvGraphicFramePr>
          <p:nvPr/>
        </p:nvGraphicFramePr>
        <p:xfrm>
          <a:off x="458380" y="3180219"/>
          <a:ext cx="5804799" cy="310673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63323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186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3359611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|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choice PIPE choice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endParaRPr lang="en-US" sz="16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r>
                        <a:rPr lang="en-US" sz="1600" dirty="0">
                          <a:latin typeface="Courier" pitchFamily="2" charset="0"/>
                        </a:rPr>
                        <a:t> DOT </a:t>
                      </a:r>
                      <a:r>
                        <a:rPr lang="en-US" sz="1600" dirty="0" err="1">
                          <a:latin typeface="Courier" pitchFamily="2" charset="0"/>
                        </a:rPr>
                        <a:t>concat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starred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starred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starred STAR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42968"/>
                  </a:ext>
                </a:extLst>
              </a:tr>
              <a:tr h="621347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unit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urier" pitchFamily="2" charset="0"/>
                        </a:rPr>
                        <a:t>: LPAREN choice RPAREN</a:t>
                      </a:r>
                      <a:br>
                        <a:rPr lang="en-US" sz="1600" dirty="0">
                          <a:latin typeface="Courier" pitchFamily="2" charset="0"/>
                        </a:rPr>
                      </a:br>
                      <a:r>
                        <a:rPr lang="en-US" sz="1600" dirty="0">
                          <a:latin typeface="Courier" pitchFamily="2" charset="0"/>
                        </a:rPr>
                        <a:t>| CHAR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Title 1">
            <a:extLst>
              <a:ext uri="{FF2B5EF4-FFF2-40B4-BE49-F238E27FC236}">
                <a16:creationId xmlns:a16="http://schemas.microsoft.com/office/drawing/2014/main" id="{C183C8EF-AB3B-867F-BB74-A41BF9F2E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168" y="28500"/>
            <a:ext cx="10515600" cy="1325563"/>
          </a:xfrm>
        </p:spPr>
        <p:txBody>
          <a:bodyPr/>
          <a:lstStyle/>
          <a:p>
            <a:r>
              <a:rPr lang="en-US" dirty="0"/>
              <a:t>Parsing Regular Expressions</a:t>
            </a:r>
            <a:br>
              <a:rPr lang="en-US" dirty="0"/>
            </a:br>
            <a:r>
              <a:rPr lang="en-US" sz="2400" dirty="0"/>
              <a:t>(and considering precedence)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858D8A6-54C4-9740-7659-00E8C52D8577}"/>
              </a:ext>
            </a:extLst>
          </p:cNvPr>
          <p:cNvSpPr txBox="1"/>
          <p:nvPr/>
        </p:nvSpPr>
        <p:spPr>
          <a:xfrm>
            <a:off x="450237" y="1528288"/>
            <a:ext cx="514198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Let’s try it for an RE language, {| . * ()}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Assume . is a concatenation operator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Terminals are in upper-case</a:t>
            </a:r>
          </a:p>
        </p:txBody>
      </p:sp>
    </p:spTree>
    <p:extLst>
      <p:ext uri="{BB962C8B-B14F-4D97-AF65-F5344CB8AC3E}">
        <p14:creationId xmlns:p14="http://schemas.microsoft.com/office/powerpoint/2010/main" val="339533789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426-5B98-3043-B47A-01716CE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many levels of precedence does C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3CE1-4AA0-044C-8498-42909888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en.cppreference.com</a:t>
            </a:r>
            <a:r>
              <a:rPr lang="en-US" dirty="0">
                <a:hlinkClick r:id="rId2"/>
              </a:rPr>
              <a:t>/w/c/language/</a:t>
            </a:r>
            <a:r>
              <a:rPr lang="en-US" dirty="0" err="1">
                <a:hlinkClick r:id="rId2"/>
              </a:rPr>
              <a:t>operator_precedence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645838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6A264-F7B5-4979-016A-FAC1E9C6F83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Fixing Grammar for Associativity</a:t>
            </a:r>
          </a:p>
        </p:txBody>
      </p:sp>
    </p:spTree>
    <p:extLst>
      <p:ext uri="{BB962C8B-B14F-4D97-AF65-F5344CB8AC3E}">
        <p14:creationId xmlns:p14="http://schemas.microsoft.com/office/powerpoint/2010/main" val="27145637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With precedence fixed</a:t>
            </a:r>
            <a:br>
              <a:rPr lang="en-US" dirty="0"/>
            </a:br>
            <a:r>
              <a:rPr lang="en-US" dirty="0"/>
              <a:t>     Let’s make some more parse trees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6B01C2B5-6176-E646-9408-24C01A44FD58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42735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 expr RP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587188" y="207432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</p:spTree>
    <p:extLst>
      <p:ext uri="{BB962C8B-B14F-4D97-AF65-F5344CB8AC3E}">
        <p14:creationId xmlns:p14="http://schemas.microsoft.com/office/powerpoint/2010/main" val="29431576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some more parse trees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  <a:endCxn id="21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AAF6AA-406B-8444-A52A-B256BBB750E3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420309-88ED-AC4D-956B-3E8B55F1191E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AA95AD2-F461-6844-9F0C-86880D7CD487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C1C11EA-526F-6443-AFB5-37E265060F55}"/>
              </a:ext>
            </a:extLst>
          </p:cNvPr>
          <p:cNvCxnSpPr>
            <a:cxnSpLocks/>
            <a:stCxn id="23" idx="2"/>
            <a:endCxn id="13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79C136C-22CF-174D-AE18-4E202FF5A8FD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F15B5E7-9544-B142-A8D3-A6FF5E80C700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5053A2-E6EA-124F-9AAB-8C89D6069DDD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8A6E64C-4EDC-B84C-B159-D51FF14C965A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145A14B-0D63-484A-AC7D-82C10731D9D9}"/>
              </a:ext>
            </a:extLst>
          </p:cNvPr>
          <p:cNvCxnSpPr>
            <a:cxnSpLocks/>
            <a:stCxn id="26" idx="2"/>
            <a:endCxn id="34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4D5B4B5E-A6AC-D14D-B0B9-116E2C2D68F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E4457AE-3246-EB4B-9BEA-FA938851C90B}"/>
              </a:ext>
            </a:extLst>
          </p:cNvPr>
          <p:cNvCxnSpPr>
            <a:cxnSpLocks/>
            <a:endCxn id="36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5D2D3C25-D252-7A4E-A759-0A30FCD6776B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graphicFrame>
        <p:nvGraphicFramePr>
          <p:cNvPr id="38" name="Table 5">
            <a:extLst>
              <a:ext uri="{FF2B5EF4-FFF2-40B4-BE49-F238E27FC236}">
                <a16:creationId xmlns:a16="http://schemas.microsoft.com/office/drawing/2014/main" id="{7BB95AAA-ED28-B64C-9868-C288D734D2E5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3042735"/>
          <a:ext cx="4480008" cy="229538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 expr RP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15302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ambiguous, is it an issue?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243806" y="1688094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94273" y="310612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3636696" y="2311063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196575" y="286590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8303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</p:spTree>
    <p:extLst>
      <p:ext uri="{BB962C8B-B14F-4D97-AF65-F5344CB8AC3E}">
        <p14:creationId xmlns:p14="http://schemas.microsoft.com/office/powerpoint/2010/main" val="401151141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2795" cy="545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00824" y="3096661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 flipH="1">
            <a:off x="3622484" y="2311063"/>
            <a:ext cx="1421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086119" y="284770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8502AC-FF46-EB41-BAC1-FC148BE1697D}"/>
              </a:ext>
            </a:extLst>
          </p:cNvPr>
          <p:cNvSpPr txBox="1"/>
          <p:nvPr/>
        </p:nvSpPr>
        <p:spPr>
          <a:xfrm>
            <a:off x="5046453" y="6280030"/>
            <a:ext cx="19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is right?</a:t>
            </a:r>
          </a:p>
        </p:txBody>
      </p:sp>
    </p:spTree>
    <p:extLst>
      <p:ext uri="{BB962C8B-B14F-4D97-AF65-F5344CB8AC3E}">
        <p14:creationId xmlns:p14="http://schemas.microsoft.com/office/powerpoint/2010/main" val="288011724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for a different operator?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5979585" y="1566151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F4FC3F-B8F7-EF4A-8F6B-AAFA31AB4690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141CE8-2344-0948-9E95-8E3D11DE2430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E6D905BC-8176-5C4B-8283-5453872C600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86B2F0-A92C-9842-99A5-BB5F68B3CB0F}"/>
              </a:ext>
            </a:extLst>
          </p:cNvPr>
          <p:cNvCxnSpPr>
            <a:cxnSpLocks/>
            <a:stCxn id="7" idx="2"/>
            <a:endCxn id="12" idx="0"/>
          </p:cNvCxnSpPr>
          <p:nvPr/>
        </p:nvCxnSpPr>
        <p:spPr>
          <a:xfrm>
            <a:off x="8934394" y="2551289"/>
            <a:ext cx="2795" cy="54537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B373421-B101-4546-B128-9E43278BD634}"/>
              </a:ext>
            </a:extLst>
          </p:cNvPr>
          <p:cNvCxnSpPr>
            <a:cxnSpLocks/>
            <a:stCxn id="7" idx="2"/>
            <a:endCxn id="13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0AF16AA-22CD-FA4F-9F55-FCC38AD1D4BA}"/>
              </a:ext>
            </a:extLst>
          </p:cNvPr>
          <p:cNvSpPr txBox="1"/>
          <p:nvPr/>
        </p:nvSpPr>
        <p:spPr>
          <a:xfrm>
            <a:off x="8400824" y="3096661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6A98FD-3CE1-2241-952E-12AD71379DB0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D518E2-D041-B54A-BAFD-9F3EB0B79156}"/>
              </a:ext>
            </a:extLst>
          </p:cNvPr>
          <p:cNvSpPr txBox="1"/>
          <p:nvPr/>
        </p:nvSpPr>
        <p:spPr>
          <a:xfrm>
            <a:off x="6724021" y="546996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E47221-BFFC-0243-AFE9-5C53FC906A1B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9807E1A-CE97-FF41-A2A5-7C3CB46AC284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AF383E-DF34-F944-BC7F-24A207C0E665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A92CF3-16B2-3A46-9746-FE978094BA1D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5173FE82-5C9F-3B48-8EAE-3B7CB4B7E7F6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F067DEE-CDD4-7E46-9949-17B518AA1F04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CBC7C3-3B2D-8846-922F-FFE276D95ACE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23078ED-048C-F640-ACD0-3E3AAD13C997}"/>
              </a:ext>
            </a:extLst>
          </p:cNvPr>
          <p:cNvSpPr txBox="1"/>
          <p:nvPr/>
        </p:nvSpPr>
        <p:spPr>
          <a:xfrm>
            <a:off x="6978545" y="3941992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D31FE39-303E-6A49-A3C2-0B76C241499E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298055" y="4311324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085D5B41-A14A-6947-AF22-039FD4CC5D3A}"/>
              </a:ext>
            </a:extLst>
          </p:cNvPr>
          <p:cNvSpPr txBox="1"/>
          <p:nvPr/>
        </p:nvSpPr>
        <p:spPr>
          <a:xfrm>
            <a:off x="6930165" y="4800574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4A46DA-5EEF-E14F-98AC-75E996BC5908}"/>
              </a:ext>
            </a:extLst>
          </p:cNvPr>
          <p:cNvCxnSpPr>
            <a:cxnSpLocks/>
            <a:stCxn id="24" idx="2"/>
            <a:endCxn id="14" idx="0"/>
          </p:cNvCxnSpPr>
          <p:nvPr/>
        </p:nvCxnSpPr>
        <p:spPr>
          <a:xfrm flipH="1">
            <a:off x="7292446" y="5169906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3922C26-78A1-2B41-8636-490EF1E8297B}"/>
              </a:ext>
            </a:extLst>
          </p:cNvPr>
          <p:cNvSpPr txBox="1"/>
          <p:nvPr/>
        </p:nvSpPr>
        <p:spPr>
          <a:xfrm>
            <a:off x="8223152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B625C-0EB6-C44A-B7B1-59D7A6B79F63}"/>
              </a:ext>
            </a:extLst>
          </p:cNvPr>
          <p:cNvSpPr txBox="1"/>
          <p:nvPr/>
        </p:nvSpPr>
        <p:spPr>
          <a:xfrm>
            <a:off x="8429296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CE927F-6F2D-7C4E-A51D-683038842E00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8791577" y="5598467"/>
            <a:ext cx="0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F182C6-3A3A-5340-AECF-F5309B097F1B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3C08319-763D-EC4A-85E5-A88DF4758EAC}"/>
              </a:ext>
            </a:extLst>
          </p:cNvPr>
          <p:cNvSpPr txBox="1"/>
          <p:nvPr/>
        </p:nvSpPr>
        <p:spPr>
          <a:xfrm>
            <a:off x="10546607" y="590716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F2F9A8A-EA8C-4840-9B67-4CF2EB90B9E3}"/>
              </a:ext>
            </a:extLst>
          </p:cNvPr>
          <p:cNvSpPr txBox="1"/>
          <p:nvPr/>
        </p:nvSpPr>
        <p:spPr>
          <a:xfrm>
            <a:off x="10752751" y="4595211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4B5E655-A336-324F-8040-8067BBACD221}"/>
              </a:ext>
            </a:extLst>
          </p:cNvPr>
          <p:cNvCxnSpPr>
            <a:cxnSpLocks/>
            <a:endCxn id="32" idx="0"/>
          </p:cNvCxnSpPr>
          <p:nvPr/>
        </p:nvCxnSpPr>
        <p:spPr>
          <a:xfrm>
            <a:off x="11115032" y="5642964"/>
            <a:ext cx="0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7FBE64F-48C5-3445-A705-3585FFC27A81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0E9BEB0F-F6AB-D14C-AA7C-F8C362827398}"/>
              </a:ext>
            </a:extLst>
          </p:cNvPr>
          <p:cNvCxnSpPr>
            <a:cxnSpLocks/>
            <a:stCxn id="29" idx="2"/>
            <a:endCxn id="42" idx="0"/>
          </p:cNvCxnSpPr>
          <p:nvPr/>
        </p:nvCxnSpPr>
        <p:spPr>
          <a:xfrm>
            <a:off x="8748807" y="4964543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5E41403-C4A0-4D4C-8612-2848F97625CD}"/>
              </a:ext>
            </a:extLst>
          </p:cNvPr>
          <p:cNvSpPr txBox="1"/>
          <p:nvPr/>
        </p:nvSpPr>
        <p:spPr>
          <a:xfrm>
            <a:off x="8390821" y="5207432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614A3599-6266-194B-A062-C993C27C06A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11070339" y="4886852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F1C7E270-ED72-8040-87BF-6441A4678689}"/>
              </a:ext>
            </a:extLst>
          </p:cNvPr>
          <p:cNvSpPr txBox="1"/>
          <p:nvPr/>
        </p:nvSpPr>
        <p:spPr>
          <a:xfrm>
            <a:off x="10712353" y="5129741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C1923B-CC00-F54F-B58B-2CBADA324DE1}"/>
              </a:ext>
            </a:extLst>
          </p:cNvPr>
          <p:cNvSpPr txBox="1"/>
          <p:nvPr/>
        </p:nvSpPr>
        <p:spPr>
          <a:xfrm>
            <a:off x="3337704" y="194173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BEC7F16-A435-7C43-9D5A-1A75CBD13DBE}"/>
              </a:ext>
            </a:extLst>
          </p:cNvPr>
          <p:cNvCxnSpPr>
            <a:cxnSpLocks/>
            <a:stCxn id="36" idx="2"/>
            <a:endCxn id="38" idx="0"/>
          </p:cNvCxnSpPr>
          <p:nvPr/>
        </p:nvCxnSpPr>
        <p:spPr>
          <a:xfrm flipH="1">
            <a:off x="2001800" y="231106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38EE1F56-B098-B34B-BF7A-EF753C1D22C6}"/>
              </a:ext>
            </a:extLst>
          </p:cNvPr>
          <p:cNvSpPr txBox="1"/>
          <p:nvPr/>
        </p:nvSpPr>
        <p:spPr>
          <a:xfrm>
            <a:off x="1702808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30EC886-051B-1248-823D-2EB736133459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 flipH="1">
            <a:off x="3622484" y="2311063"/>
            <a:ext cx="14212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952DEB2-6A92-8541-ACE1-DDEDA7B9D118}"/>
              </a:ext>
            </a:extLst>
          </p:cNvPr>
          <p:cNvCxnSpPr>
            <a:cxnSpLocks/>
            <a:stCxn id="36" idx="2"/>
            <a:endCxn id="44" idx="0"/>
          </p:cNvCxnSpPr>
          <p:nvPr/>
        </p:nvCxnSpPr>
        <p:spPr>
          <a:xfrm>
            <a:off x="3636696" y="231106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1A9C10E0-8E1E-5748-91F2-5B29E549D1D6}"/>
              </a:ext>
            </a:extLst>
          </p:cNvPr>
          <p:cNvSpPr txBox="1"/>
          <p:nvPr/>
        </p:nvSpPr>
        <p:spPr>
          <a:xfrm>
            <a:off x="3086119" y="2847707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7CA5CA2-4EA4-3B4E-9A91-6DDCD6F71A20}"/>
              </a:ext>
            </a:extLst>
          </p:cNvPr>
          <p:cNvSpPr txBox="1"/>
          <p:nvPr/>
        </p:nvSpPr>
        <p:spPr>
          <a:xfrm>
            <a:off x="4395045" y="284770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737F467-DD3B-464D-AB7C-48ADAE9C7A75}"/>
              </a:ext>
            </a:extLst>
          </p:cNvPr>
          <p:cNvCxnSpPr>
            <a:cxnSpLocks/>
          </p:cNvCxnSpPr>
          <p:nvPr/>
        </p:nvCxnSpPr>
        <p:spPr>
          <a:xfrm flipH="1">
            <a:off x="704643" y="3275108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3B3C027E-6CAD-874A-BA4C-D4BDE373AB42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1ED3D8CF-46C2-074A-B667-A1B26D7A6839}"/>
              </a:ext>
            </a:extLst>
          </p:cNvPr>
          <p:cNvCxnSpPr>
            <a:cxnSpLocks/>
          </p:cNvCxnSpPr>
          <p:nvPr/>
        </p:nvCxnSpPr>
        <p:spPr>
          <a:xfrm>
            <a:off x="1929016" y="3275108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1C57070-1823-F445-9473-2FC7F87656AF}"/>
              </a:ext>
            </a:extLst>
          </p:cNvPr>
          <p:cNvSpPr txBox="1"/>
          <p:nvPr/>
        </p:nvSpPr>
        <p:spPr>
          <a:xfrm>
            <a:off x="1471443" y="3742210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6253B0E-0EC6-3148-A7AA-7554864A0EED}"/>
              </a:ext>
            </a:extLst>
          </p:cNvPr>
          <p:cNvSpPr txBox="1"/>
          <p:nvPr/>
        </p:nvSpPr>
        <p:spPr>
          <a:xfrm>
            <a:off x="405651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8D89358-50D5-5149-9D7E-12BE25096FA6}"/>
              </a:ext>
            </a:extLst>
          </p:cNvPr>
          <p:cNvSpPr txBox="1"/>
          <p:nvPr/>
        </p:nvSpPr>
        <p:spPr>
          <a:xfrm>
            <a:off x="2727183" y="371081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B51672-AA26-1342-9E90-03C0F97FFA09}"/>
              </a:ext>
            </a:extLst>
          </p:cNvPr>
          <p:cNvSpPr txBox="1"/>
          <p:nvPr/>
        </p:nvSpPr>
        <p:spPr>
          <a:xfrm>
            <a:off x="169084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BB3498-EE54-8746-A272-5AD0BED142DC}"/>
              </a:ext>
            </a:extLst>
          </p:cNvPr>
          <p:cNvSpPr txBox="1"/>
          <p:nvPr/>
        </p:nvSpPr>
        <p:spPr>
          <a:xfrm>
            <a:off x="375228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FD6F8D07-D95A-5448-B1DF-6BD3C103C7EB}"/>
              </a:ext>
            </a:extLst>
          </p:cNvPr>
          <p:cNvCxnSpPr>
            <a:cxnSpLocks/>
            <a:endCxn id="59" idx="0"/>
          </p:cNvCxnSpPr>
          <p:nvPr/>
        </p:nvCxnSpPr>
        <p:spPr>
          <a:xfrm flipH="1">
            <a:off x="737509" y="5413801"/>
            <a:ext cx="1" cy="3086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A86DCAF7-69E6-834A-AE6E-0FE38CEA85BA}"/>
              </a:ext>
            </a:extLst>
          </p:cNvPr>
          <p:cNvCxnSpPr>
            <a:cxnSpLocks/>
          </p:cNvCxnSpPr>
          <p:nvPr/>
        </p:nvCxnSpPr>
        <p:spPr>
          <a:xfrm flipH="1">
            <a:off x="719552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BD57399C-B201-B746-8DE0-BCBE79A9AA7E}"/>
              </a:ext>
            </a:extLst>
          </p:cNvPr>
          <p:cNvSpPr txBox="1"/>
          <p:nvPr/>
        </p:nvSpPr>
        <p:spPr>
          <a:xfrm>
            <a:off x="2492539" y="57224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026449A-B7B4-B146-92E2-AEC4902CF791}"/>
              </a:ext>
            </a:extLst>
          </p:cNvPr>
          <p:cNvSpPr txBox="1"/>
          <p:nvPr/>
        </p:nvSpPr>
        <p:spPr>
          <a:xfrm>
            <a:off x="2698683" y="4410545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C04012A-4FA5-6B44-80E4-9A7BFA02A83B}"/>
              </a:ext>
            </a:extLst>
          </p:cNvPr>
          <p:cNvCxnSpPr>
            <a:cxnSpLocks/>
            <a:endCxn id="63" idx="0"/>
          </p:cNvCxnSpPr>
          <p:nvPr/>
        </p:nvCxnSpPr>
        <p:spPr>
          <a:xfrm flipH="1">
            <a:off x="3060964" y="5458298"/>
            <a:ext cx="1" cy="2641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93561DF-98DF-A440-B8EE-AB89FE1FA19E}"/>
              </a:ext>
            </a:extLst>
          </p:cNvPr>
          <p:cNvCxnSpPr>
            <a:cxnSpLocks/>
          </p:cNvCxnSpPr>
          <p:nvPr/>
        </p:nvCxnSpPr>
        <p:spPr>
          <a:xfrm flipH="1">
            <a:off x="3043007" y="409215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8AC93A18-FD63-3C49-B627-4ED0A6C07807}"/>
              </a:ext>
            </a:extLst>
          </p:cNvPr>
          <p:cNvCxnSpPr>
            <a:cxnSpLocks/>
            <a:stCxn id="60" idx="2"/>
            <a:endCxn id="68" idx="0"/>
          </p:cNvCxnSpPr>
          <p:nvPr/>
        </p:nvCxnSpPr>
        <p:spPr>
          <a:xfrm>
            <a:off x="694739" y="4779877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4BACA7DC-06DF-1F42-9362-D172C7991887}"/>
              </a:ext>
            </a:extLst>
          </p:cNvPr>
          <p:cNvSpPr txBox="1"/>
          <p:nvPr/>
        </p:nvSpPr>
        <p:spPr>
          <a:xfrm>
            <a:off x="336753" y="5022766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03147EF5-1094-DF40-B87D-B68D07211B82}"/>
              </a:ext>
            </a:extLst>
          </p:cNvPr>
          <p:cNvCxnSpPr>
            <a:cxnSpLocks/>
            <a:endCxn id="70" idx="0"/>
          </p:cNvCxnSpPr>
          <p:nvPr/>
        </p:nvCxnSpPr>
        <p:spPr>
          <a:xfrm>
            <a:off x="3016271" y="4702186"/>
            <a:ext cx="9904" cy="2428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E3A4C9DB-E5C4-EE4E-B341-8806AFC0BC1A}"/>
              </a:ext>
            </a:extLst>
          </p:cNvPr>
          <p:cNvSpPr txBox="1"/>
          <p:nvPr/>
        </p:nvSpPr>
        <p:spPr>
          <a:xfrm>
            <a:off x="2658285" y="4945075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E863AD3-AF58-9343-8A51-6AC7DA42C02D}"/>
              </a:ext>
            </a:extLst>
          </p:cNvPr>
          <p:cNvSpPr txBox="1"/>
          <p:nvPr/>
        </p:nvSpPr>
        <p:spPr>
          <a:xfrm>
            <a:off x="4108799" y="5194151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1FB1C20C-FC64-DC4C-9330-6351C4E9B540}"/>
              </a:ext>
            </a:extLst>
          </p:cNvPr>
          <p:cNvCxnSpPr>
            <a:cxnSpLocks/>
            <a:endCxn id="73" idx="0"/>
          </p:cNvCxnSpPr>
          <p:nvPr/>
        </p:nvCxnSpPr>
        <p:spPr>
          <a:xfrm flipH="1">
            <a:off x="4682834" y="3201598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A5E35CF3-8A64-944D-AA44-CCB594F0C936}"/>
              </a:ext>
            </a:extLst>
          </p:cNvPr>
          <p:cNvSpPr txBox="1"/>
          <p:nvPr/>
        </p:nvSpPr>
        <p:spPr>
          <a:xfrm>
            <a:off x="4363323" y="3666176"/>
            <a:ext cx="6390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</a:t>
            </a:r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81C3E4BA-997F-AA4A-BB0F-E26D41A1AC4D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flipH="1">
            <a:off x="4682833" y="4035508"/>
            <a:ext cx="1" cy="48925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3AECA206-BD9C-0C4C-ACFA-6ED75A7F6D50}"/>
              </a:ext>
            </a:extLst>
          </p:cNvPr>
          <p:cNvSpPr txBox="1"/>
          <p:nvPr/>
        </p:nvSpPr>
        <p:spPr>
          <a:xfrm>
            <a:off x="4314943" y="4524758"/>
            <a:ext cx="7357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0ECCCB75-1593-BA4C-988E-981C8B8AF8D5}"/>
              </a:ext>
            </a:extLst>
          </p:cNvPr>
          <p:cNvCxnSpPr>
            <a:cxnSpLocks/>
            <a:stCxn id="75" idx="2"/>
            <a:endCxn id="71" idx="0"/>
          </p:cNvCxnSpPr>
          <p:nvPr/>
        </p:nvCxnSpPr>
        <p:spPr>
          <a:xfrm flipH="1">
            <a:off x="4677224" y="4894090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78502AC-FF46-EB41-BAC1-FC148BE1697D}"/>
              </a:ext>
            </a:extLst>
          </p:cNvPr>
          <p:cNvSpPr txBox="1"/>
          <p:nvPr/>
        </p:nvSpPr>
        <p:spPr>
          <a:xfrm>
            <a:off x="5046453" y="6280030"/>
            <a:ext cx="19907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Which one is right?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36EC8E-FD12-5942-B0EA-1D6A372CD284}"/>
              </a:ext>
            </a:extLst>
          </p:cNvPr>
          <p:cNvSpPr txBox="1"/>
          <p:nvPr/>
        </p:nvSpPr>
        <p:spPr>
          <a:xfrm>
            <a:off x="760936" y="1736141"/>
            <a:ext cx="1065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Evaluates</a:t>
            </a:r>
            <a:br>
              <a:rPr lang="en-US" dirty="0"/>
            </a:br>
            <a:r>
              <a:rPr lang="en-US" dirty="0"/>
              <a:t>(2-3) - 4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CC7B1F-98DD-354F-8C24-0831EDF1BF63}"/>
              </a:ext>
            </a:extLst>
          </p:cNvPr>
          <p:cNvSpPr txBox="1"/>
          <p:nvPr/>
        </p:nvSpPr>
        <p:spPr>
          <a:xfrm>
            <a:off x="9695755" y="2007967"/>
            <a:ext cx="10657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Evaluates</a:t>
            </a:r>
            <a:br>
              <a:rPr lang="en-US" dirty="0"/>
            </a:br>
            <a:r>
              <a:rPr lang="en-US" dirty="0"/>
              <a:t>2 - (3 - 4)</a:t>
            </a:r>
          </a:p>
        </p:txBody>
      </p:sp>
    </p:spTree>
    <p:extLst>
      <p:ext uri="{BB962C8B-B14F-4D97-AF65-F5344CB8AC3E}">
        <p14:creationId xmlns:p14="http://schemas.microsoft.com/office/powerpoint/2010/main" val="27944187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an operator is not associative then we define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left to right (left-associative)</a:t>
            </a:r>
          </a:p>
          <a:p>
            <a:pPr lvl="1"/>
            <a:r>
              <a:rPr lang="en-US" dirty="0">
                <a:latin typeface="Courier" pitchFamily="2" charset="0"/>
              </a:rPr>
              <a:t>2-3-4 </a:t>
            </a:r>
            <a:r>
              <a:rPr lang="en-US" dirty="0"/>
              <a:t>is evaluated as ((2-3) - 4)</a:t>
            </a:r>
          </a:p>
          <a:p>
            <a:pPr lvl="1"/>
            <a:r>
              <a:rPr lang="en-US" dirty="0"/>
              <a:t>What other operators are left-associative</a:t>
            </a:r>
          </a:p>
          <a:p>
            <a:endParaRPr lang="en-US" dirty="0"/>
          </a:p>
          <a:p>
            <a:r>
              <a:rPr lang="en-US" dirty="0"/>
              <a:t>right-to-left (right-associative)</a:t>
            </a:r>
          </a:p>
          <a:p>
            <a:pPr lvl="1"/>
            <a:r>
              <a:rPr lang="en-US" dirty="0"/>
              <a:t>Any operators you can think of?</a:t>
            </a:r>
          </a:p>
        </p:txBody>
      </p:sp>
    </p:spTree>
    <p:extLst>
      <p:ext uri="{BB962C8B-B14F-4D97-AF65-F5344CB8AC3E}">
        <p14:creationId xmlns:p14="http://schemas.microsoft.com/office/powerpoint/2010/main" val="42335413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3E5789-BDEB-A84C-8FC4-E22C0E93F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D5E6FD-8867-CA4B-8D0A-66BEE4B87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an operator is not associative then we define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left to right (left-associative)</a:t>
            </a:r>
          </a:p>
          <a:p>
            <a:pPr lvl="1"/>
            <a:r>
              <a:rPr lang="en-US" dirty="0">
                <a:latin typeface="Courier" pitchFamily="2" charset="0"/>
              </a:rPr>
              <a:t>2-3-4 </a:t>
            </a:r>
            <a:r>
              <a:rPr lang="en-US" dirty="0"/>
              <a:t>is evaluated as ((2-3) - 4)</a:t>
            </a:r>
          </a:p>
          <a:p>
            <a:pPr lvl="1"/>
            <a:r>
              <a:rPr lang="en-US" dirty="0"/>
              <a:t>What other operators are left-associative</a:t>
            </a:r>
          </a:p>
          <a:p>
            <a:endParaRPr lang="en-US" dirty="0"/>
          </a:p>
          <a:p>
            <a:r>
              <a:rPr lang="en-US" dirty="0"/>
              <a:t>right-to-left (right-associative)</a:t>
            </a:r>
          </a:p>
          <a:p>
            <a:pPr lvl="1"/>
            <a:r>
              <a:rPr lang="en-US" dirty="0"/>
              <a:t>Assignment, power operator</a:t>
            </a:r>
          </a:p>
        </p:txBody>
      </p:sp>
    </p:spTree>
    <p:extLst>
      <p:ext uri="{BB962C8B-B14F-4D97-AF65-F5344CB8AC3E}">
        <p14:creationId xmlns:p14="http://schemas.microsoft.com/office/powerpoint/2010/main" val="5118687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667E1-5607-3343-903A-9477D4E8F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encode associativity?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684E6-A199-0A46-B1CB-580073C187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Like precedence, some tools (e.g. YACC/Bison) allow associativity specification through keywords:</a:t>
            </a:r>
          </a:p>
          <a:p>
            <a:pPr lvl="1"/>
            <a:r>
              <a:rPr lang="en-US" dirty="0"/>
              <a:t>“+”: left, “^”: right</a:t>
            </a:r>
          </a:p>
          <a:p>
            <a:pPr lvl="1"/>
            <a:endParaRPr lang="en-US" dirty="0"/>
          </a:p>
          <a:p>
            <a:r>
              <a:rPr lang="en-US" dirty="0"/>
              <a:t>And like precedence, we can also encode it into production rules</a:t>
            </a:r>
          </a:p>
        </p:txBody>
      </p:sp>
    </p:spTree>
    <p:extLst>
      <p:ext uri="{BB962C8B-B14F-4D97-AF65-F5344CB8AC3E}">
        <p14:creationId xmlns:p14="http://schemas.microsoft.com/office/powerpoint/2010/main" val="36088788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32371" y="394354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06141" y="45474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28650" y="45888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DACB1283-3538-414F-8244-2A03F2510237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expr</a:t>
                      </a:r>
                      <a:r>
                        <a:rPr lang="en-US" sz="1400" dirty="0">
                          <a:latin typeface="Courier" pitchFamily="2" charset="0"/>
                        </a:rPr>
                        <a:t> MINUS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35F01A2-DC9A-E248-9B3D-E491452F1528}"/>
              </a:ext>
            </a:extLst>
          </p:cNvPr>
          <p:cNvSpPr txBox="1"/>
          <p:nvPr/>
        </p:nvSpPr>
        <p:spPr>
          <a:xfrm>
            <a:off x="7518400" y="5621867"/>
            <a:ext cx="348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want to disallow this parse tree</a:t>
            </a:r>
          </a:p>
        </p:txBody>
      </p:sp>
    </p:spTree>
    <p:extLst>
      <p:ext uri="{BB962C8B-B14F-4D97-AF65-F5344CB8AC3E}">
        <p14:creationId xmlns:p14="http://schemas.microsoft.com/office/powerpoint/2010/main" val="220313068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130F22D-AA26-544C-B3FB-EB58E530F8E9}"/>
              </a:ext>
            </a:extLst>
          </p:cNvPr>
          <p:cNvSpPr txBox="1"/>
          <p:nvPr/>
        </p:nvSpPr>
        <p:spPr>
          <a:xfrm>
            <a:off x="9692743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A7E26D-CFCD-7842-844D-2332B62F3137}"/>
              </a:ext>
            </a:extLst>
          </p:cNvPr>
          <p:cNvSpPr txBox="1"/>
          <p:nvPr/>
        </p:nvSpPr>
        <p:spPr>
          <a:xfrm>
            <a:off x="6732371" y="394354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D8C9B83-2BD3-C744-9567-52F09F34C6F7}"/>
              </a:ext>
            </a:extLst>
          </p:cNvPr>
          <p:cNvCxnSpPr>
            <a:cxnSpLocks/>
          </p:cNvCxnSpPr>
          <p:nvPr/>
        </p:nvCxnSpPr>
        <p:spPr>
          <a:xfrm flipH="1">
            <a:off x="7298056" y="3477414"/>
            <a:ext cx="1442" cy="46457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3B9A3F-318E-0040-A924-E193F09EE8DE}"/>
              </a:ext>
            </a:extLst>
          </p:cNvPr>
          <p:cNvCxnSpPr>
            <a:cxnSpLocks/>
          </p:cNvCxnSpPr>
          <p:nvPr/>
        </p:nvCxnSpPr>
        <p:spPr>
          <a:xfrm flipH="1">
            <a:off x="8758711" y="3459774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E16642F-41D5-F343-A36D-24DE9D3CB35C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61F94DC-58FE-B04D-B14A-8CA17296C99A}"/>
              </a:ext>
            </a:extLst>
          </p:cNvPr>
          <p:cNvCxnSpPr>
            <a:cxnSpLocks/>
          </p:cNvCxnSpPr>
          <p:nvPr/>
        </p:nvCxnSpPr>
        <p:spPr>
          <a:xfrm>
            <a:off x="9983084" y="3459774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BBE614-E430-4A46-86B3-376DB9B607AA}"/>
              </a:ext>
            </a:extLst>
          </p:cNvPr>
          <p:cNvSpPr txBox="1"/>
          <p:nvPr/>
        </p:nvSpPr>
        <p:spPr>
          <a:xfrm>
            <a:off x="9525511" y="392687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4C3E34-1CAB-EC47-B569-47D39EF96033}"/>
              </a:ext>
            </a:extLst>
          </p:cNvPr>
          <p:cNvSpPr txBox="1"/>
          <p:nvPr/>
        </p:nvSpPr>
        <p:spPr>
          <a:xfrm>
            <a:off x="8459719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3989A96-E585-1549-9F7A-CADA0521130D}"/>
              </a:ext>
            </a:extLst>
          </p:cNvPr>
          <p:cNvSpPr txBox="1"/>
          <p:nvPr/>
        </p:nvSpPr>
        <p:spPr>
          <a:xfrm>
            <a:off x="10781251" y="389548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5347C45-A95B-F444-B986-AE0F5592ABD6}"/>
              </a:ext>
            </a:extLst>
          </p:cNvPr>
          <p:cNvSpPr txBox="1"/>
          <p:nvPr/>
        </p:nvSpPr>
        <p:spPr>
          <a:xfrm>
            <a:off x="8206141" y="454746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C8820E0-1B62-324E-AD21-D3B403496411}"/>
              </a:ext>
            </a:extLst>
          </p:cNvPr>
          <p:cNvCxnSpPr>
            <a:cxnSpLocks/>
          </p:cNvCxnSpPr>
          <p:nvPr/>
        </p:nvCxnSpPr>
        <p:spPr>
          <a:xfrm flipH="1">
            <a:off x="8773620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E4C64BEC-172B-3D48-BE52-BF0D260C80E1}"/>
              </a:ext>
            </a:extLst>
          </p:cNvPr>
          <p:cNvSpPr txBox="1"/>
          <p:nvPr/>
        </p:nvSpPr>
        <p:spPr>
          <a:xfrm>
            <a:off x="10528650" y="458889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4&gt;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189BC56-99CD-7947-BE89-6BFF1ECD8106}"/>
              </a:ext>
            </a:extLst>
          </p:cNvPr>
          <p:cNvCxnSpPr>
            <a:cxnSpLocks/>
          </p:cNvCxnSpPr>
          <p:nvPr/>
        </p:nvCxnSpPr>
        <p:spPr>
          <a:xfrm flipH="1">
            <a:off x="11097075" y="427682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EE65D4E-3467-424A-A30E-17F0A813E8DA}"/>
              </a:ext>
            </a:extLst>
          </p:cNvPr>
          <p:cNvSpPr txBox="1"/>
          <p:nvPr/>
        </p:nvSpPr>
        <p:spPr>
          <a:xfrm>
            <a:off x="7988060" y="5529532"/>
            <a:ext cx="18982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No longer allowed</a:t>
            </a:r>
          </a:p>
        </p:txBody>
      </p:sp>
      <p:graphicFrame>
        <p:nvGraphicFramePr>
          <p:cNvPr id="26" name="Table 5">
            <a:extLst>
              <a:ext uri="{FF2B5EF4-FFF2-40B4-BE49-F238E27FC236}">
                <a16:creationId xmlns:a16="http://schemas.microsoft.com/office/drawing/2014/main" id="{4231F5F5-9F65-BA4C-A5AC-25EBF69D13AC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8848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&lt;NUM,?&gt;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94EBE7E-1A6E-3E45-8476-11624B376034}"/>
              </a:ext>
            </a:extLst>
          </p:cNvPr>
          <p:cNvSpPr txBox="1"/>
          <p:nvPr/>
        </p:nvSpPr>
        <p:spPr>
          <a:xfrm>
            <a:off x="8117457" y="4960189"/>
            <a:ext cx="1516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Lets start over</a:t>
            </a:r>
          </a:p>
        </p:txBody>
      </p:sp>
      <p:graphicFrame>
        <p:nvGraphicFramePr>
          <p:cNvPr id="13" name="Table 5">
            <a:extLst>
              <a:ext uri="{FF2B5EF4-FFF2-40B4-BE49-F238E27FC236}">
                <a16:creationId xmlns:a16="http://schemas.microsoft.com/office/drawing/2014/main" id="{45547E6C-B688-D147-89EB-60B9050A5848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28232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graphicFrame>
        <p:nvGraphicFramePr>
          <p:cNvPr id="12" name="Table 5">
            <a:extLst>
              <a:ext uri="{FF2B5EF4-FFF2-40B4-BE49-F238E27FC236}">
                <a16:creationId xmlns:a16="http://schemas.microsoft.com/office/drawing/2014/main" id="{EBA2E05B-38C9-4F45-B077-FACE37EC28DE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833638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96C263-B7AB-EF44-8171-C2B69C5C1AA5}"/>
              </a:ext>
            </a:extLst>
          </p:cNvPr>
          <p:cNvSpPr txBox="1"/>
          <p:nvPr/>
        </p:nvSpPr>
        <p:spPr>
          <a:xfrm>
            <a:off x="7881326" y="4000240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&lt;NUM,3&gt;</a:t>
            </a:r>
          </a:p>
        </p:txBody>
      </p:sp>
      <p:graphicFrame>
        <p:nvGraphicFramePr>
          <p:cNvPr id="18" name="Table 5">
            <a:extLst>
              <a:ext uri="{FF2B5EF4-FFF2-40B4-BE49-F238E27FC236}">
                <a16:creationId xmlns:a16="http://schemas.microsoft.com/office/drawing/2014/main" id="{B2058F98-5630-CA47-96BA-905C50FE7FC3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812776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Associativity for a single operator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2-3-4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>
            <a:off x="8934394" y="2551289"/>
            <a:ext cx="0" cy="55483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398029" y="3106126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1072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&lt;MINUS&gt;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881326" y="3975124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68686450-3526-1A42-A928-04980313BDD8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MINUS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46682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Should you have associativity when its not required?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3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8932730" y="2551289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2609" y="309994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794903" y="4000240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EE8E6-FEF1-594E-9766-D26C66616B2C}"/>
              </a:ext>
            </a:extLst>
          </p:cNvPr>
          <p:cNvSpPr txBox="1"/>
          <p:nvPr/>
        </p:nvSpPr>
        <p:spPr>
          <a:xfrm>
            <a:off x="1099379" y="1895651"/>
            <a:ext cx="130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Benefits?</a:t>
            </a:r>
          </a:p>
          <a:p>
            <a:r>
              <a:rPr lang="en-US" dirty="0"/>
              <a:t>Drawbacks?</a:t>
            </a:r>
          </a:p>
        </p:txBody>
      </p:sp>
      <p:graphicFrame>
        <p:nvGraphicFramePr>
          <p:cNvPr id="23" name="Table 5">
            <a:extLst>
              <a:ext uri="{FF2B5EF4-FFF2-40B4-BE49-F238E27FC236}">
                <a16:creationId xmlns:a16="http://schemas.microsoft.com/office/drawing/2014/main" id="{9DA52E6B-661B-164E-BA68-BECD4E7F2AEF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expr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394986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A8C7-5939-4547-A4F8-5A4782C5D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Should you have associativity when its not required?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1C384-93DB-0D44-BE61-8197A0709109}"/>
              </a:ext>
            </a:extLst>
          </p:cNvPr>
          <p:cNvSpPr txBox="1"/>
          <p:nvPr/>
        </p:nvSpPr>
        <p:spPr>
          <a:xfrm>
            <a:off x="7292446" y="1559173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3</a:t>
            </a:r>
            <a:r>
              <a:rPr lang="en-US" sz="3200" dirty="0">
                <a:highlight>
                  <a:srgbClr val="FFFF00"/>
                </a:highlight>
                <a:latin typeface="Courier" pitchFamily="2" charset="0"/>
              </a:rPr>
              <a:t>+</a:t>
            </a:r>
            <a:r>
              <a:rPr lang="en-US" sz="3200" dirty="0">
                <a:latin typeface="Courier" pitchFamily="2" charset="0"/>
              </a:rPr>
              <a:t>4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E929B-64E8-044A-85BA-E2A05762BEDE}"/>
              </a:ext>
            </a:extLst>
          </p:cNvPr>
          <p:cNvSpPr txBox="1"/>
          <p:nvPr/>
        </p:nvSpPr>
        <p:spPr>
          <a:xfrm>
            <a:off x="8635402" y="218195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787D9A-3D52-DD40-A88E-B12C480A13B4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7299498" y="2551289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BD8CC90-1189-CC47-92C0-7050C009DE16}"/>
              </a:ext>
            </a:extLst>
          </p:cNvPr>
          <p:cNvSpPr txBox="1"/>
          <p:nvPr/>
        </p:nvSpPr>
        <p:spPr>
          <a:xfrm>
            <a:off x="7000506" y="3087933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18E5FE-9410-684A-A4C9-EA5A61D0939B}"/>
              </a:ext>
            </a:extLst>
          </p:cNvPr>
          <p:cNvCxnSpPr>
            <a:cxnSpLocks/>
            <a:stCxn id="5" idx="2"/>
            <a:endCxn id="11" idx="0"/>
          </p:cNvCxnSpPr>
          <p:nvPr/>
        </p:nvCxnSpPr>
        <p:spPr>
          <a:xfrm flipH="1">
            <a:off x="8932730" y="2551289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D86E168-28F6-9840-A978-1FFC7CEF67EE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8934394" y="2551289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8CB2006-86DA-624E-819E-67C30BAE27FC}"/>
              </a:ext>
            </a:extLst>
          </p:cNvPr>
          <p:cNvSpPr txBox="1"/>
          <p:nvPr/>
        </p:nvSpPr>
        <p:spPr>
          <a:xfrm>
            <a:off x="8492609" y="309994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A24D09-FBE6-4845-A29A-5750B5282A91}"/>
              </a:ext>
            </a:extLst>
          </p:cNvPr>
          <p:cNvSpPr txBox="1"/>
          <p:nvPr/>
        </p:nvSpPr>
        <p:spPr>
          <a:xfrm>
            <a:off x="9761070" y="3125942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3312E04-ADA6-5342-81EB-6AA7F52872C4}"/>
              </a:ext>
            </a:extLst>
          </p:cNvPr>
          <p:cNvCxnSpPr>
            <a:cxnSpLocks/>
          </p:cNvCxnSpPr>
          <p:nvPr/>
        </p:nvCxnSpPr>
        <p:spPr>
          <a:xfrm flipH="1">
            <a:off x="6041796" y="3490116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0AB4960-E97C-E647-A144-AFE1E4ECFC6F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5BDBE9-A62C-E845-95A7-824487D0EB14}"/>
              </a:ext>
            </a:extLst>
          </p:cNvPr>
          <p:cNvCxnSpPr>
            <a:cxnSpLocks/>
          </p:cNvCxnSpPr>
          <p:nvPr/>
        </p:nvCxnSpPr>
        <p:spPr>
          <a:xfrm>
            <a:off x="7266169" y="3490116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B5867A5-145C-D648-9255-0FEE7ACAE57D}"/>
              </a:ext>
            </a:extLst>
          </p:cNvPr>
          <p:cNvSpPr txBox="1"/>
          <p:nvPr/>
        </p:nvSpPr>
        <p:spPr>
          <a:xfrm>
            <a:off x="6808596" y="3957218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F7551D-8133-1F43-AE4E-F03359D57985}"/>
              </a:ext>
            </a:extLst>
          </p:cNvPr>
          <p:cNvSpPr txBox="1"/>
          <p:nvPr/>
        </p:nvSpPr>
        <p:spPr>
          <a:xfrm>
            <a:off x="5742804" y="3925825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ECDA4B-42EF-B64E-B7A6-C7516E74D336}"/>
              </a:ext>
            </a:extLst>
          </p:cNvPr>
          <p:cNvSpPr txBox="1"/>
          <p:nvPr/>
        </p:nvSpPr>
        <p:spPr>
          <a:xfrm>
            <a:off x="5473371" y="4560858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7BC52A7-43FA-5C4F-9DD2-C9FCE41F5C3D}"/>
              </a:ext>
            </a:extLst>
          </p:cNvPr>
          <p:cNvCxnSpPr>
            <a:cxnSpLocks/>
          </p:cNvCxnSpPr>
          <p:nvPr/>
        </p:nvCxnSpPr>
        <p:spPr>
          <a:xfrm flipH="1">
            <a:off x="6040850" y="4290214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7F8403D4-24A4-564F-98BD-61348436B384}"/>
              </a:ext>
            </a:extLst>
          </p:cNvPr>
          <p:cNvSpPr txBox="1"/>
          <p:nvPr/>
        </p:nvSpPr>
        <p:spPr>
          <a:xfrm>
            <a:off x="7794903" y="3970243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EAEE8E6-FEF1-594E-9766-D26C66616B2C}"/>
              </a:ext>
            </a:extLst>
          </p:cNvPr>
          <p:cNvSpPr txBox="1"/>
          <p:nvPr/>
        </p:nvSpPr>
        <p:spPr>
          <a:xfrm>
            <a:off x="1099379" y="1895651"/>
            <a:ext cx="130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Benefits?</a:t>
            </a:r>
          </a:p>
          <a:p>
            <a:r>
              <a:rPr lang="en-US" dirty="0"/>
              <a:t>Drawbacks?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31E3A-C392-804E-A1BF-B26FC278E44E}"/>
              </a:ext>
            </a:extLst>
          </p:cNvPr>
          <p:cNvSpPr txBox="1"/>
          <p:nvPr/>
        </p:nvSpPr>
        <p:spPr>
          <a:xfrm>
            <a:off x="379563" y="4971616"/>
            <a:ext cx="51755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Good design principle to avoid ambiguous grammars,</a:t>
            </a:r>
          </a:p>
          <a:p>
            <a:r>
              <a:rPr lang="en-US" dirty="0"/>
              <a:t>even when strictly not required too.</a:t>
            </a:r>
          </a:p>
          <a:p>
            <a:endParaRPr lang="en-US" dirty="0"/>
          </a:p>
          <a:p>
            <a:r>
              <a:rPr lang="en-US" dirty="0"/>
              <a:t>Helps with debugging, etc. etc. </a:t>
            </a:r>
          </a:p>
          <a:p>
            <a:endParaRPr lang="en-US" dirty="0"/>
          </a:p>
          <a:p>
            <a:r>
              <a:rPr lang="en-US" dirty="0"/>
              <a:t>Many tools will warn if it detects ambiguity</a:t>
            </a:r>
          </a:p>
        </p:txBody>
      </p:sp>
      <p:graphicFrame>
        <p:nvGraphicFramePr>
          <p:cNvPr id="22" name="Table 5">
            <a:extLst>
              <a:ext uri="{FF2B5EF4-FFF2-40B4-BE49-F238E27FC236}">
                <a16:creationId xmlns:a16="http://schemas.microsoft.com/office/drawing/2014/main" id="{0ACC2E9F-E6A1-1B42-B98A-B0BF4EB53548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</a:t>
                      </a:r>
                      <a:r>
                        <a:rPr lang="en-US" sz="1400" dirty="0">
                          <a:highlight>
                            <a:srgbClr val="FFFF00"/>
                          </a:highlight>
                          <a:latin typeface="Courier" pitchFamily="2" charset="0"/>
                        </a:rPr>
                        <a:t>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591641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7807-B712-4841-B38C-AA3AB761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richer expression grammar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55BFBB7-BD21-BD4E-A7C1-22A55B94FDF7}"/>
              </a:ext>
            </a:extLst>
          </p:cNvPr>
          <p:cNvGraphicFramePr>
            <a:graphicFrameLocks noGrp="1"/>
          </p:cNvGraphicFramePr>
          <p:nvPr/>
        </p:nvGraphicFramePr>
        <p:xfrm>
          <a:off x="1012544" y="2867685"/>
          <a:ext cx="4944119" cy="286923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0381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45206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78532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0653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latin typeface="Courier" pitchFamily="2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852ADBF-91C9-3944-A83E-C428EFED6E0A}"/>
              </a:ext>
            </a:extLst>
          </p:cNvPr>
          <p:cNvSpPr/>
          <p:nvPr/>
        </p:nvSpPr>
        <p:spPr>
          <a:xfrm>
            <a:off x="7261372" y="3660380"/>
            <a:ext cx="43152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Tokens:</a:t>
            </a:r>
          </a:p>
          <a:p>
            <a:pPr lvl="1"/>
            <a:r>
              <a:rPr lang="en-US" dirty="0">
                <a:latin typeface="Courier" pitchFamily="2" charset="0"/>
              </a:rPr>
              <a:t>NUM  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 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   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    = \)’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MINUS  = ‘-’</a:t>
            </a:r>
          </a:p>
          <a:p>
            <a:pPr lvl="1"/>
            <a:r>
              <a:rPr lang="en-US" dirty="0">
                <a:latin typeface="Courier" pitchFamily="2" charset="0"/>
              </a:rPr>
              <a:t>DIV    = ‘/’</a:t>
            </a:r>
          </a:p>
          <a:p>
            <a:pPr lvl="1"/>
            <a:r>
              <a:rPr lang="en-US" dirty="0">
                <a:latin typeface="Courier" pitchFamily="2" charset="0"/>
              </a:rPr>
              <a:t>CARROT =’ \^’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53672-0548-D941-9533-503EF3DAD92F}"/>
              </a:ext>
            </a:extLst>
          </p:cNvPr>
          <p:cNvSpPr txBox="1"/>
          <p:nvPr/>
        </p:nvSpPr>
        <p:spPr>
          <a:xfrm>
            <a:off x="7236823" y="2098766"/>
            <a:ext cx="42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Let’s do operators </a:t>
            </a:r>
            <a:r>
              <a:rPr lang="en-US" i="1" dirty="0">
                <a:latin typeface="Courier" pitchFamily="2" charset="0"/>
              </a:rPr>
              <a:t>[+,*,-,/,^]</a:t>
            </a:r>
            <a:r>
              <a:rPr lang="en-US" i="1" dirty="0"/>
              <a:t> and</a:t>
            </a:r>
            <a:r>
              <a:rPr lang="en-US" i="1" dirty="0">
                <a:latin typeface="Courier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6755454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27807-B712-4841-B38C-AA3AB7614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make a richer expression grammar</a:t>
            </a:r>
          </a:p>
        </p:txBody>
      </p:sp>
      <p:graphicFrame>
        <p:nvGraphicFramePr>
          <p:cNvPr id="4" name="Table 5">
            <a:extLst>
              <a:ext uri="{FF2B5EF4-FFF2-40B4-BE49-F238E27FC236}">
                <a16:creationId xmlns:a16="http://schemas.microsoft.com/office/drawing/2014/main" id="{555BFBB7-BD21-BD4E-A7C1-22A55B94FDF7}"/>
              </a:ext>
            </a:extLst>
          </p:cNvPr>
          <p:cNvGraphicFramePr>
            <a:graphicFrameLocks noGrp="1"/>
          </p:cNvGraphicFramePr>
          <p:nvPr/>
        </p:nvGraphicFramePr>
        <p:xfrm>
          <a:off x="1012544" y="2867685"/>
          <a:ext cx="4970245" cy="318457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628944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050729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290572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+,-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term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expr MINUS term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term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*,/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term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term TIMES pow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term DIV pow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pow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889359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^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pow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factor CARROT pow</a:t>
                      </a:r>
                    </a:p>
                    <a:p>
                      <a:r>
                        <a:rPr lang="en-US" sz="1400" dirty="0">
                          <a:latin typeface="Courier" pitchFamily="2" charset="0"/>
                        </a:rPr>
                        <a:t>| factor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670653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factor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LPAR expr RPAR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1644708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B852ADBF-91C9-3944-A83E-C428EFED6E0A}"/>
              </a:ext>
            </a:extLst>
          </p:cNvPr>
          <p:cNvSpPr/>
          <p:nvPr/>
        </p:nvSpPr>
        <p:spPr>
          <a:xfrm>
            <a:off x="7261372" y="3660380"/>
            <a:ext cx="431527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Tokens:</a:t>
            </a:r>
          </a:p>
          <a:p>
            <a:pPr lvl="1"/>
            <a:r>
              <a:rPr lang="en-US" dirty="0">
                <a:latin typeface="Courier" pitchFamily="2" charset="0"/>
              </a:rPr>
              <a:t>NUM    = “[0-9]+”</a:t>
            </a:r>
          </a:p>
          <a:p>
            <a:pPr lvl="1"/>
            <a:r>
              <a:rPr lang="en-US" dirty="0">
                <a:latin typeface="Courier" pitchFamily="2" charset="0"/>
              </a:rPr>
              <a:t>PLUS   = ‘\+’</a:t>
            </a:r>
          </a:p>
          <a:p>
            <a:pPr lvl="1"/>
            <a:r>
              <a:rPr lang="en-US" dirty="0">
                <a:latin typeface="Courier" pitchFamily="2" charset="0"/>
              </a:rPr>
              <a:t>TIMES  = ’\*’</a:t>
            </a:r>
          </a:p>
          <a:p>
            <a:pPr lvl="1"/>
            <a:r>
              <a:rPr lang="en-US" dirty="0">
                <a:latin typeface="Courier" pitchFamily="2" charset="0"/>
              </a:rPr>
              <a:t>LP     = ‘\(’</a:t>
            </a:r>
          </a:p>
          <a:p>
            <a:pPr lvl="1"/>
            <a:r>
              <a:rPr lang="en-US" dirty="0">
                <a:latin typeface="Courier" pitchFamily="2" charset="0"/>
              </a:rPr>
              <a:t>RP     = \)’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MINUS  = ‘-’</a:t>
            </a:r>
          </a:p>
          <a:p>
            <a:pPr lvl="1"/>
            <a:r>
              <a:rPr lang="en-US" dirty="0">
                <a:latin typeface="Courier" pitchFamily="2" charset="0"/>
              </a:rPr>
              <a:t>DIV    = ‘/’</a:t>
            </a:r>
          </a:p>
          <a:p>
            <a:pPr lvl="1"/>
            <a:r>
              <a:rPr lang="en-US" dirty="0">
                <a:latin typeface="Courier" pitchFamily="2" charset="0"/>
              </a:rPr>
              <a:t>CARROT =’ \^’</a:t>
            </a:r>
          </a:p>
          <a:p>
            <a:endParaRPr lang="en-US" dirty="0">
              <a:latin typeface="Courier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253672-0548-D941-9533-503EF3DAD92F}"/>
              </a:ext>
            </a:extLst>
          </p:cNvPr>
          <p:cNvSpPr txBox="1"/>
          <p:nvPr/>
        </p:nvSpPr>
        <p:spPr>
          <a:xfrm>
            <a:off x="7236823" y="2098766"/>
            <a:ext cx="42521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Let’s do operators </a:t>
            </a:r>
            <a:r>
              <a:rPr lang="en-US" i="1" dirty="0">
                <a:latin typeface="Courier" pitchFamily="2" charset="0"/>
              </a:rPr>
              <a:t>[+,*,-,/,^]</a:t>
            </a:r>
            <a:r>
              <a:rPr lang="en-US" i="1" dirty="0"/>
              <a:t> and</a:t>
            </a:r>
            <a:r>
              <a:rPr lang="en-US" i="1" dirty="0">
                <a:latin typeface="Courier" pitchFamily="2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11168378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FD426-5B98-3043-B47A-01716CED5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associativity do operators in C have?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33CE1-4AA0-044C-8498-42909888CC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en.cppreference.com</a:t>
            </a:r>
            <a:r>
              <a:rPr lang="en-US" dirty="0">
                <a:hlinkClick r:id="rId2"/>
              </a:rPr>
              <a:t>/w/c/language/</a:t>
            </a:r>
            <a:r>
              <a:rPr lang="en-US" dirty="0" err="1">
                <a:hlinkClick r:id="rId2"/>
              </a:rPr>
              <a:t>operator_precedence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969799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topic: Algorithms for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One goal:</a:t>
            </a:r>
          </a:p>
          <a:p>
            <a:r>
              <a:rPr lang="en-US" dirty="0"/>
              <a:t>Given a string </a:t>
            </a:r>
            <a:r>
              <a:rPr lang="en-US" i="1" dirty="0"/>
              <a:t>s </a:t>
            </a:r>
            <a:r>
              <a:rPr lang="en-US" dirty="0"/>
              <a:t>and a CFG </a:t>
            </a:r>
            <a:r>
              <a:rPr lang="en-US" i="1" dirty="0"/>
              <a:t>G, </a:t>
            </a:r>
            <a:r>
              <a:rPr lang="en-US" dirty="0"/>
              <a:t>determine if </a:t>
            </a:r>
            <a:r>
              <a:rPr lang="en-US" i="1" dirty="0"/>
              <a:t>G </a:t>
            </a:r>
            <a:r>
              <a:rPr lang="en-US" dirty="0"/>
              <a:t>can derive </a:t>
            </a:r>
            <a:r>
              <a:rPr lang="en-US" i="1" dirty="0"/>
              <a:t>s</a:t>
            </a:r>
          </a:p>
          <a:p>
            <a:endParaRPr lang="en-US" i="1" dirty="0"/>
          </a:p>
          <a:p>
            <a:r>
              <a:rPr lang="en-US" dirty="0"/>
              <a:t>We will do that by implicitly attempting to derive a parse tree for </a:t>
            </a:r>
            <a:r>
              <a:rPr lang="en-US" i="1" dirty="0"/>
              <a:t>S</a:t>
            </a:r>
          </a:p>
          <a:p>
            <a:endParaRPr lang="en-US" i="1" dirty="0"/>
          </a:p>
          <a:p>
            <a:r>
              <a:rPr lang="en-US" dirty="0"/>
              <a:t>Two different approaches, each with different trade-offs:</a:t>
            </a:r>
          </a:p>
          <a:p>
            <a:pPr lvl="1"/>
            <a:r>
              <a:rPr lang="en-US" dirty="0"/>
              <a:t>Top down</a:t>
            </a:r>
          </a:p>
          <a:p>
            <a:pPr lvl="1"/>
            <a:r>
              <a:rPr lang="en-US" dirty="0"/>
              <a:t>Bottom up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29624881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17001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346865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2885A3-6BE5-7D42-8A94-CF854CD5FD7F}"/>
              </a:ext>
            </a:extLst>
          </p:cNvPr>
          <p:cNvCxnSpPr>
            <a:cxnSpLocks/>
          </p:cNvCxnSpPr>
          <p:nvPr/>
        </p:nvCxnSpPr>
        <p:spPr>
          <a:xfrm flipH="1">
            <a:off x="6346596" y="369151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DB1A2E-4C32-D44C-B84D-190036F705CF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E77E6E-1FFC-634F-BAF7-773D7C81AF6A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090420-3C40-7C42-95B3-A085D090CE91}"/>
              </a:ext>
            </a:extLst>
          </p:cNvPr>
          <p:cNvSpPr txBox="1"/>
          <p:nvPr/>
        </p:nvSpPr>
        <p:spPr>
          <a:xfrm>
            <a:off x="7113396" y="415861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40AC4-1F57-DD41-AB5D-B44DC87980FC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68CD15D-AD44-1B41-B9C2-5B6F8C1D4CEF}"/>
              </a:ext>
            </a:extLst>
          </p:cNvPr>
          <p:cNvSpPr txBox="1"/>
          <p:nvPr/>
        </p:nvSpPr>
        <p:spPr>
          <a:xfrm>
            <a:off x="8099703" y="417163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909756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AE665-2790-4748-91A5-CC5937294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129E57A-0D3B-2146-91D0-E7B5FFEB8FDF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A26B9B-EE62-DD47-9DF0-65032A60A1F0}"/>
              </a:ext>
            </a:extLst>
          </p:cNvPr>
          <p:cNvSpPr txBox="1"/>
          <p:nvPr/>
        </p:nvSpPr>
        <p:spPr>
          <a:xfrm>
            <a:off x="8940202" y="2383351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B9B5085-8B58-9047-BFA2-7EEA355D5851}"/>
              </a:ext>
            </a:extLst>
          </p:cNvPr>
          <p:cNvCxnSpPr>
            <a:cxnSpLocks/>
            <a:stCxn id="22" idx="2"/>
            <a:endCxn id="24" idx="0"/>
          </p:cNvCxnSpPr>
          <p:nvPr/>
        </p:nvCxnSpPr>
        <p:spPr>
          <a:xfrm flipH="1">
            <a:off x="7604298" y="2752683"/>
            <a:ext cx="1634896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B845676-7B0E-A744-8035-FC6C51235645}"/>
              </a:ext>
            </a:extLst>
          </p:cNvPr>
          <p:cNvSpPr txBox="1"/>
          <p:nvPr/>
        </p:nvSpPr>
        <p:spPr>
          <a:xfrm>
            <a:off x="7305306" y="3289327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E2A0A3DE-DAB2-584D-8B00-E25DA8F51658}"/>
              </a:ext>
            </a:extLst>
          </p:cNvPr>
          <p:cNvCxnSpPr>
            <a:cxnSpLocks/>
            <a:stCxn id="22" idx="2"/>
            <a:endCxn id="27" idx="0"/>
          </p:cNvCxnSpPr>
          <p:nvPr/>
        </p:nvCxnSpPr>
        <p:spPr>
          <a:xfrm flipH="1">
            <a:off x="9237530" y="2752683"/>
            <a:ext cx="1664" cy="54865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6610BA1-71CB-CE43-8A7A-83423AC89B9B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9239194" y="2752683"/>
            <a:ext cx="1057341" cy="53664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442671-D225-3B42-8393-D3E237285666}"/>
              </a:ext>
            </a:extLst>
          </p:cNvPr>
          <p:cNvSpPr txBox="1"/>
          <p:nvPr/>
        </p:nvSpPr>
        <p:spPr>
          <a:xfrm>
            <a:off x="8797409" y="3301336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271D16C-FE57-6542-AB7F-AC93685188CC}"/>
              </a:ext>
            </a:extLst>
          </p:cNvPr>
          <p:cNvSpPr txBox="1"/>
          <p:nvPr/>
        </p:nvSpPr>
        <p:spPr>
          <a:xfrm>
            <a:off x="10065870" y="3327336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52885A3-6BE5-7D42-8A94-CF854CD5FD7F}"/>
              </a:ext>
            </a:extLst>
          </p:cNvPr>
          <p:cNvCxnSpPr>
            <a:cxnSpLocks/>
          </p:cNvCxnSpPr>
          <p:nvPr/>
        </p:nvCxnSpPr>
        <p:spPr>
          <a:xfrm flipH="1">
            <a:off x="6346596" y="3691510"/>
            <a:ext cx="1224374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DB1A2E-4C32-D44C-B84D-190036F705CF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0" cy="46940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AE77E6E-1FFC-634F-BAF7-773D7C81AF6A}"/>
              </a:ext>
            </a:extLst>
          </p:cNvPr>
          <p:cNvCxnSpPr>
            <a:cxnSpLocks/>
          </p:cNvCxnSpPr>
          <p:nvPr/>
        </p:nvCxnSpPr>
        <p:spPr>
          <a:xfrm>
            <a:off x="7570969" y="3691510"/>
            <a:ext cx="1097159" cy="45841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B3090420-3C40-7C42-95B3-A085D090CE91}"/>
              </a:ext>
            </a:extLst>
          </p:cNvPr>
          <p:cNvSpPr txBox="1"/>
          <p:nvPr/>
        </p:nvSpPr>
        <p:spPr>
          <a:xfrm>
            <a:off x="7113396" y="4158612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FE40AC4-1F57-DD41-AB5D-B44DC87980FC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E119C9D-3115-CE48-BDD6-4BA3B36AA80D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8F2B1A1-B2D9-8E4E-9E0B-A425C5B7AFB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E68CD15D-AD44-1B41-B9C2-5B6F8C1D4CEF}"/>
              </a:ext>
            </a:extLst>
          </p:cNvPr>
          <p:cNvSpPr txBox="1"/>
          <p:nvPr/>
        </p:nvSpPr>
        <p:spPr>
          <a:xfrm>
            <a:off x="8099703" y="417163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37" name="Table 5">
            <a:extLst>
              <a:ext uri="{FF2B5EF4-FFF2-40B4-BE49-F238E27FC236}">
                <a16:creationId xmlns:a16="http://schemas.microsoft.com/office/drawing/2014/main" id="{0BE49D3B-816D-BB40-BE56-D150BDA1453B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913485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Top-down parsing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Algorithm is simpler</a:t>
            </a:r>
          </a:p>
          <a:p>
            <a:r>
              <a:rPr lang="en-US" dirty="0"/>
              <a:t>Potentially faster than bottom-up</a:t>
            </a:r>
          </a:p>
          <a:p>
            <a:r>
              <a:rPr lang="en-US" dirty="0"/>
              <a:t>Easier to understand, thus easier to recover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Not efficient on arbitrary grammars</a:t>
            </a:r>
          </a:p>
          <a:p>
            <a:r>
              <a:rPr lang="en-US" dirty="0"/>
              <a:t>Many grammars need to be re-written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108540083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30663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231767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246ABC-0F77-F940-9EC3-DFAEF3B95C57}"/>
              </a:ext>
            </a:extLst>
          </p:cNvPr>
          <p:cNvSpPr txBox="1"/>
          <p:nvPr/>
        </p:nvSpPr>
        <p:spPr>
          <a:xfrm>
            <a:off x="7199032" y="3341169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C7FD4-A71C-5449-8916-3E412FC4F16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344B44-12E9-654E-A64C-92E692393FA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9A2A3D-7C4A-3749-9D3D-11113088B1C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660559" y="3710501"/>
            <a:ext cx="1008545" cy="1038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CA9EDB-5136-6044-B0C6-5D36F654071D}"/>
              </a:ext>
            </a:extLst>
          </p:cNvPr>
          <p:cNvCxnSpPr>
            <a:cxnSpLocks/>
          </p:cNvCxnSpPr>
          <p:nvPr/>
        </p:nvCxnSpPr>
        <p:spPr>
          <a:xfrm flipH="1">
            <a:off x="6583819" y="3743352"/>
            <a:ext cx="756173" cy="383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1264771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456B4-A8C7-9043-BF91-36C20EA1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Bottom-up parsing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96028-374C-E247-8480-F99B5B084222}"/>
              </a:ext>
            </a:extLst>
          </p:cNvPr>
          <p:cNvSpPr txBox="1"/>
          <p:nvPr/>
        </p:nvSpPr>
        <p:spPr>
          <a:xfrm>
            <a:off x="7289830" y="1154487"/>
            <a:ext cx="31470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ourier" pitchFamily="2" charset="0"/>
              </a:rPr>
              <a:t>input: 2+3+4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A7A605-CC1D-B34D-8B65-3082C5CE2C0E}"/>
              </a:ext>
            </a:extLst>
          </p:cNvPr>
          <p:cNvSpPr txBox="1"/>
          <p:nvPr/>
        </p:nvSpPr>
        <p:spPr>
          <a:xfrm>
            <a:off x="9322342" y="475898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8D7507-5650-6C46-BBDE-25E654AD1CBC}"/>
              </a:ext>
            </a:extLst>
          </p:cNvPr>
          <p:cNvSpPr txBox="1"/>
          <p:nvPr/>
        </p:nvSpPr>
        <p:spPr>
          <a:xfrm>
            <a:off x="10287396" y="4749407"/>
            <a:ext cx="10839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&lt;NUM,4&gt;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EE62DF9-ADE8-ED41-BDBD-D0BE7758EE0C}"/>
              </a:ext>
            </a:extLst>
          </p:cNvPr>
          <p:cNvSpPr txBox="1"/>
          <p:nvPr/>
        </p:nvSpPr>
        <p:spPr>
          <a:xfrm>
            <a:off x="7045663" y="4749407"/>
            <a:ext cx="880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&lt;PLUS&gt;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501A14F-DA99-6643-8061-70C6D25358D5}"/>
              </a:ext>
            </a:extLst>
          </p:cNvPr>
          <p:cNvSpPr txBox="1"/>
          <p:nvPr/>
        </p:nvSpPr>
        <p:spPr>
          <a:xfrm>
            <a:off x="5778171" y="4762252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2&gt;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1DA22-288A-8242-9B14-25E66747E4FD}"/>
              </a:ext>
            </a:extLst>
          </p:cNvPr>
          <p:cNvSpPr txBox="1"/>
          <p:nvPr/>
        </p:nvSpPr>
        <p:spPr>
          <a:xfrm>
            <a:off x="8100679" y="4749407"/>
            <a:ext cx="1136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&lt;NUM, 3&gt;</a:t>
            </a:r>
          </a:p>
        </p:txBody>
      </p:sp>
      <p:graphicFrame>
        <p:nvGraphicFramePr>
          <p:cNvPr id="20" name="Table 5">
            <a:extLst>
              <a:ext uri="{FF2B5EF4-FFF2-40B4-BE49-F238E27FC236}">
                <a16:creationId xmlns:a16="http://schemas.microsoft.com/office/drawing/2014/main" id="{EA4F2610-FF45-4643-9F07-FA1468E7CF9A}"/>
              </a:ext>
            </a:extLst>
          </p:cNvPr>
          <p:cNvGraphicFramePr>
            <a:graphicFrameLocks noGrp="1"/>
          </p:cNvGraphicFramePr>
          <p:nvPr/>
        </p:nvGraphicFramePr>
        <p:xfrm>
          <a:off x="445824" y="3393277"/>
          <a:ext cx="4480008" cy="114769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243519">
                  <a:extLst>
                    <a:ext uri="{9D8B030D-6E8A-4147-A177-3AD203B41FA5}">
                      <a16:colId xmlns:a16="http://schemas.microsoft.com/office/drawing/2014/main" val="1179443482"/>
                    </a:ext>
                  </a:extLst>
                </a:gridCol>
                <a:gridCol w="1186775">
                  <a:extLst>
                    <a:ext uri="{9D8B030D-6E8A-4147-A177-3AD203B41FA5}">
                      <a16:colId xmlns:a16="http://schemas.microsoft.com/office/drawing/2014/main" val="1466143606"/>
                    </a:ext>
                  </a:extLst>
                </a:gridCol>
                <a:gridCol w="2049714">
                  <a:extLst>
                    <a:ext uri="{9D8B030D-6E8A-4147-A177-3AD203B41FA5}">
                      <a16:colId xmlns:a16="http://schemas.microsoft.com/office/drawing/2014/main" val="2892710420"/>
                    </a:ext>
                  </a:extLst>
                </a:gridCol>
              </a:tblGrid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Productions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4902504"/>
                  </a:ext>
                </a:extLst>
              </a:tr>
              <a:tr h="573846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expr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Courier" pitchFamily="2" charset="0"/>
                        </a:rPr>
                        <a:t>: expr PLUS NUM</a:t>
                      </a:r>
                      <a:br>
                        <a:rPr lang="en-US" sz="1400" dirty="0">
                          <a:latin typeface="Courier" pitchFamily="2" charset="0"/>
                        </a:rPr>
                      </a:br>
                      <a:r>
                        <a:rPr lang="en-US" sz="1400" dirty="0">
                          <a:latin typeface="Courier" pitchFamily="2" charset="0"/>
                        </a:rPr>
                        <a:t>| NUM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946305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59B72B5-5270-3C47-89B2-406DE3228AB8}"/>
              </a:ext>
            </a:extLst>
          </p:cNvPr>
          <p:cNvSpPr txBox="1"/>
          <p:nvPr/>
        </p:nvSpPr>
        <p:spPr>
          <a:xfrm>
            <a:off x="6047604" y="4127219"/>
            <a:ext cx="5979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4D01DE7-863F-0A42-AB66-1A07BD76278F}"/>
              </a:ext>
            </a:extLst>
          </p:cNvPr>
          <p:cNvCxnSpPr>
            <a:cxnSpLocks/>
          </p:cNvCxnSpPr>
          <p:nvPr/>
        </p:nvCxnSpPr>
        <p:spPr>
          <a:xfrm flipH="1">
            <a:off x="6345650" y="4491608"/>
            <a:ext cx="5609" cy="30006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20246ABC-0F77-F940-9EC3-DFAEF3B95C57}"/>
              </a:ext>
            </a:extLst>
          </p:cNvPr>
          <p:cNvSpPr txBox="1"/>
          <p:nvPr/>
        </p:nvSpPr>
        <p:spPr>
          <a:xfrm>
            <a:off x="7199032" y="3341169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D0C7FD4-A71C-5449-8916-3E412FC4F16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D344B44-12E9-654E-A64C-92E692393FA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7464695" y="3743352"/>
            <a:ext cx="21089" cy="10060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49A2A3D-7C4A-3749-9D3D-11113088B1C6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660559" y="3710501"/>
            <a:ext cx="1008545" cy="103890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CA9EDB-5136-6044-B0C6-5D36F654071D}"/>
              </a:ext>
            </a:extLst>
          </p:cNvPr>
          <p:cNvCxnSpPr>
            <a:cxnSpLocks/>
          </p:cNvCxnSpPr>
          <p:nvPr/>
        </p:nvCxnSpPr>
        <p:spPr>
          <a:xfrm flipH="1">
            <a:off x="6583819" y="3743352"/>
            <a:ext cx="756173" cy="38386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334D188-0CEF-724F-8166-1F26295378E7}"/>
              </a:ext>
            </a:extLst>
          </p:cNvPr>
          <p:cNvSpPr txBox="1"/>
          <p:nvPr/>
        </p:nvSpPr>
        <p:spPr>
          <a:xfrm>
            <a:off x="8639545" y="2724287"/>
            <a:ext cx="5979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61C81A3-1E6C-614A-BC64-C03C62CD13CE}"/>
              </a:ext>
            </a:extLst>
          </p:cNvPr>
          <p:cNvCxnSpPr>
            <a:cxnSpLocks/>
            <a:endCxn id="14" idx="3"/>
          </p:cNvCxnSpPr>
          <p:nvPr/>
        </p:nvCxnSpPr>
        <p:spPr>
          <a:xfrm flipH="1">
            <a:off x="7797016" y="3039420"/>
            <a:ext cx="872088" cy="48641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B27DA8A-F438-B845-AA92-998BEC010F87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8938537" y="3093619"/>
            <a:ext cx="645730" cy="154801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1DC4986-C5AF-C84C-ABD4-3372E2A70AAC}"/>
              </a:ext>
            </a:extLst>
          </p:cNvPr>
          <p:cNvCxnSpPr>
            <a:cxnSpLocks/>
          </p:cNvCxnSpPr>
          <p:nvPr/>
        </p:nvCxnSpPr>
        <p:spPr>
          <a:xfrm>
            <a:off x="9130631" y="3039420"/>
            <a:ext cx="1595157" cy="170998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0486552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Bottom 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6A8B6C-1677-A145-80FA-B986C75DF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Pros:</a:t>
            </a:r>
          </a:p>
          <a:p>
            <a:r>
              <a:rPr lang="en-US" dirty="0"/>
              <a:t>can handle grammars expressed more naturally</a:t>
            </a:r>
          </a:p>
          <a:p>
            <a:r>
              <a:rPr lang="en-US" dirty="0"/>
              <a:t>can encode precedence and associativity even if grammar is ambiguous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Cons:</a:t>
            </a:r>
          </a:p>
          <a:p>
            <a:r>
              <a:rPr lang="en-US" dirty="0"/>
              <a:t>algorithm is complicated</a:t>
            </a:r>
          </a:p>
          <a:p>
            <a:r>
              <a:rPr lang="en-US" dirty="0"/>
              <a:t>in many cases it is slower than top down</a:t>
            </a:r>
          </a:p>
          <a:p>
            <a:pPr lvl="1"/>
            <a:endParaRPr lang="en-US" i="1" dirty="0"/>
          </a:p>
        </p:txBody>
      </p:sp>
    </p:spTree>
    <p:extLst>
      <p:ext uri="{BB962C8B-B14F-4D97-AF65-F5344CB8AC3E}">
        <p14:creationId xmlns:p14="http://schemas.microsoft.com/office/powerpoint/2010/main" val="320913284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5944"/>
            <a:ext cx="10515600" cy="240997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Let’s start with top-down parsing: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 Algorithm: LL(1) Parsing</a:t>
            </a:r>
            <a:br>
              <a:rPr lang="en-US" dirty="0"/>
            </a:br>
            <a:r>
              <a:rPr lang="en-US" dirty="0"/>
              <a:t> Left to Right with Look Ahead of 1</a:t>
            </a:r>
          </a:p>
        </p:txBody>
      </p:sp>
    </p:spTree>
    <p:extLst>
      <p:ext uri="{BB962C8B-B14F-4D97-AF65-F5344CB8AC3E}">
        <p14:creationId xmlns:p14="http://schemas.microsoft.com/office/powerpoint/2010/main" val="3922410016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   # Expr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  # Read first token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   # First symbol in rule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):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</a:t>
            </a:r>
            <a:r>
              <a:rPr lang="en-US" sz="1600" b="1" dirty="0">
                <a:latin typeface="Courier" pitchFamily="2" charset="0"/>
              </a:rPr>
              <a:t>and</a:t>
            </a:r>
            <a:r>
              <a:rPr lang="en-US" sz="1600" dirty="0">
                <a:latin typeface="Courier" pitchFamily="2" charset="0"/>
              </a:rPr>
              <a:t>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8" name="Table 9">
            <a:extLst>
              <a:ext uri="{FF2B5EF4-FFF2-40B4-BE49-F238E27FC236}">
                <a16:creationId xmlns:a16="http://schemas.microsoft.com/office/drawing/2014/main" id="{52F45E7E-6D46-5644-BA15-D54693F8A7DB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graphicFrame>
        <p:nvGraphicFramePr>
          <p:cNvPr id="11" name="Table 11">
            <a:extLst>
              <a:ext uri="{FF2B5EF4-FFF2-40B4-BE49-F238E27FC236}">
                <a16:creationId xmlns:a16="http://schemas.microsoft.com/office/drawing/2014/main" id="{AD8FC20A-B26D-7648-B35B-CB5DB4B2227D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14" name="Rectangle 13">
            <a:extLst>
              <a:ext uri="{FF2B5EF4-FFF2-40B4-BE49-F238E27FC236}">
                <a16:creationId xmlns:a16="http://schemas.microsoft.com/office/drawing/2014/main" id="{D9C33981-FC67-DB41-8F5C-A6B8D162B990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369918380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Currently we assume this is magic and picks</a:t>
            </a:r>
          </a:p>
          <a:p>
            <a:r>
              <a:rPr lang="en-US" i="1" dirty="0"/>
              <a:t>the right rule every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D0AF0-9E08-D44C-AC1F-3E1F56C8F66C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D24D38D7-970E-E84B-99E3-DB0404190148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7A700C23-FA44-2342-9ACE-E5628C2EBEB8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3283458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Currently we assume this is magic and picks</a:t>
            </a:r>
          </a:p>
          <a:p>
            <a:r>
              <a:rPr lang="en-US" i="1" dirty="0"/>
              <a:t>the right rule every time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32D0AF0-9E08-D44C-AC1F-3E1F56C8F66C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D24D38D7-970E-E84B-99E3-DB0404190148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226180" cy="350520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61309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61309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 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Courier" pitchFamily="2" charset="0"/>
                        </a:rPr>
                        <a:t>Expr Op Unit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'(’ Expr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‘(‘ Expr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‘(‘ Unit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‘(‘ ID Op Unit ‘)’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7A700C23-FA44-2342-9ACE-E5628C2EBEB8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Op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‘+’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i="1" dirty="0">
                          <a:latin typeface="Courier" pitchFamily="2" charset="0"/>
                        </a:rPr>
                        <a:t>b)*c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Unit ‘)’ Op, Expr, 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E7D48EE-3633-1E41-BF24-F0B0B151DC39}"/>
              </a:ext>
            </a:extLst>
          </p:cNvPr>
          <p:cNvSpPr txBox="1"/>
          <p:nvPr/>
        </p:nvSpPr>
        <p:spPr>
          <a:xfrm>
            <a:off x="6832349" y="6228179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And so on...</a:t>
            </a:r>
          </a:p>
        </p:txBody>
      </p:sp>
    </p:spTree>
    <p:extLst>
      <p:ext uri="{BB962C8B-B14F-4D97-AF65-F5344CB8AC3E}">
        <p14:creationId xmlns:p14="http://schemas.microsoft.com/office/powerpoint/2010/main" val="1754007545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can go wrong if</a:t>
            </a:r>
            <a:br>
              <a:rPr lang="en-US" i="1" dirty="0"/>
            </a:br>
            <a:r>
              <a:rPr lang="en-US" i="1" dirty="0"/>
              <a:t>we don’t have a magic</a:t>
            </a:r>
          </a:p>
          <a:p>
            <a:r>
              <a:rPr lang="en-US" i="1" dirty="0"/>
              <a:t>choice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C75C32-16D7-1440-9E43-18B387383E5F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AB8421B2-A102-CF42-9B99-CD493044EDB1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391E83E5-F743-0E44-8DE2-9E22EBCB9B79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093253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9D458F6-26A2-3640-B99D-62BD1F3DF87F}"/>
              </a:ext>
            </a:extLst>
          </p:cNvPr>
          <p:cNvSpPr txBox="1"/>
          <p:nvPr/>
        </p:nvSpPr>
        <p:spPr>
          <a:xfrm>
            <a:off x="84667" y="96377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EBA916-C199-4C48-867A-1F1254B20D21}"/>
              </a:ext>
            </a:extLst>
          </p:cNvPr>
          <p:cNvSpPr txBox="1"/>
          <p:nvPr/>
        </p:nvSpPr>
        <p:spPr>
          <a:xfrm>
            <a:off x="7131606" y="2157047"/>
            <a:ext cx="45693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Can we derive the string </a:t>
            </a:r>
            <a:r>
              <a:rPr lang="en-US" sz="2400" i="1" dirty="0">
                <a:latin typeface="Courier" pitchFamily="2" charset="0"/>
              </a:rPr>
              <a:t>(</a:t>
            </a:r>
            <a:r>
              <a:rPr lang="en-US" sz="2400" i="1" dirty="0" err="1">
                <a:latin typeface="Courier" pitchFamily="2" charset="0"/>
              </a:rPr>
              <a:t>a+b</a:t>
            </a:r>
            <a:r>
              <a:rPr lang="en-US" sz="2400" i="1" dirty="0">
                <a:latin typeface="Courier" pitchFamily="2" charset="0"/>
              </a:rPr>
              <a:t>)*c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34E27C5-B53C-4A47-8952-00794A7B5C2A}"/>
              </a:ext>
            </a:extLst>
          </p:cNvPr>
          <p:cNvSpPr txBox="1"/>
          <p:nvPr/>
        </p:nvSpPr>
        <p:spPr>
          <a:xfrm>
            <a:off x="4133348" y="632345"/>
            <a:ext cx="25655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What can go wrong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0BA1AC-DDC4-D74C-81BB-A663DCCA4C4C}"/>
              </a:ext>
            </a:extLst>
          </p:cNvPr>
          <p:cNvSpPr txBox="1"/>
          <p:nvPr/>
        </p:nvSpPr>
        <p:spPr>
          <a:xfrm>
            <a:off x="6866467" y="6375400"/>
            <a:ext cx="1853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Infinite recursion!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3A5D3E-694E-8E44-BAA2-581D3A8BE1E3}"/>
              </a:ext>
            </a:extLst>
          </p:cNvPr>
          <p:cNvSpPr/>
          <p:nvPr/>
        </p:nvSpPr>
        <p:spPr>
          <a:xfrm>
            <a:off x="7131606" y="157830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graphicFrame>
        <p:nvGraphicFramePr>
          <p:cNvPr id="12" name="Table 9">
            <a:extLst>
              <a:ext uri="{FF2B5EF4-FFF2-40B4-BE49-F238E27FC236}">
                <a16:creationId xmlns:a16="http://schemas.microsoft.com/office/drawing/2014/main" id="{3AD9D6F1-54C0-6644-8155-B899D4685D6A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00038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310502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Expr Op Unit Op Unit Op Unit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 Op Unit ....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3" name="Table 11">
            <a:extLst>
              <a:ext uri="{FF2B5EF4-FFF2-40B4-BE49-F238E27FC236}">
                <a16:creationId xmlns:a16="http://schemas.microsoft.com/office/drawing/2014/main" id="{FBDE198E-96F7-D54F-A00B-E4780FCEFB5A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17277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b="1" dirty="0"/>
              <a:t>Top down parsing does not handle left recursion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B5303-6EEE-4D4D-BBA4-8EFF4E296E2F}"/>
              </a:ext>
            </a:extLst>
          </p:cNvPr>
          <p:cNvSpPr txBox="1"/>
          <p:nvPr/>
        </p:nvSpPr>
        <p:spPr>
          <a:xfrm>
            <a:off x="1083733" y="4445000"/>
            <a:ext cx="202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left recursion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CEF2-C9E6-3E40-A699-6DA6638EB9D1}"/>
              </a:ext>
            </a:extLst>
          </p:cNvPr>
          <p:cNvSpPr txBox="1"/>
          <p:nvPr/>
        </p:nvSpPr>
        <p:spPr>
          <a:xfrm>
            <a:off x="7374466" y="4715933"/>
            <a:ext cx="219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 left 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560741" y="5698067"/>
            <a:ext cx="46285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Top down parsing cannot handle either of these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8C4B7A-1CEA-EF4A-A9C0-73EF97A817D9}"/>
              </a:ext>
            </a:extLst>
          </p:cNvPr>
          <p:cNvSpPr/>
          <p:nvPr/>
        </p:nvSpPr>
        <p:spPr>
          <a:xfrm>
            <a:off x="761998" y="2258511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6096000" y="2413337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76348970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b="1" dirty="0"/>
              <a:t>Top down parsing does not handle left recursion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3258D662-59C9-B643-A3E2-753B5E9E7A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3200" dirty="0"/>
              <a:t>In general, any CFG can be re-written without left recursion</a:t>
            </a:r>
          </a:p>
          <a:p>
            <a:pPr lvl="1"/>
            <a:r>
              <a:rPr lang="en-US" sz="2800" dirty="0"/>
              <a:t>However, the transformation may affect associativity </a:t>
            </a:r>
          </a:p>
          <a:p>
            <a:pPr lvl="1"/>
            <a:r>
              <a:rPr lang="en-US" sz="2800" dirty="0"/>
              <a:t>or increase the number of rules</a:t>
            </a:r>
          </a:p>
          <a:p>
            <a:pPr lvl="1"/>
            <a:r>
              <a:rPr lang="en-US" sz="2800" dirty="0"/>
              <a:t>but it is always possible</a:t>
            </a:r>
          </a:p>
        </p:txBody>
      </p:sp>
    </p:spTree>
    <p:extLst>
      <p:ext uri="{BB962C8B-B14F-4D97-AF65-F5344CB8AC3E}">
        <p14:creationId xmlns:p14="http://schemas.microsoft.com/office/powerpoint/2010/main" val="2552689001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949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“a”</a:t>
            </a:r>
          </a:p>
          <a:p>
            <a:r>
              <a:rPr lang="en-US" sz="2400" dirty="0">
                <a:latin typeface="Courier" pitchFamily="2" charset="0"/>
              </a:rPr>
              <a:t>    |   “b”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2CD5CB-B832-384A-BF16-C0F97F7E513E}"/>
              </a:ext>
            </a:extLst>
          </p:cNvPr>
          <p:cNvSpPr txBox="1"/>
          <p:nvPr/>
        </p:nvSpPr>
        <p:spPr>
          <a:xfrm>
            <a:off x="1219200" y="4548276"/>
            <a:ext cx="45464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What does this grammar describe?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588C0D5-D6AE-4C49-DF6A-E61023771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</p:spTree>
    <p:extLst>
      <p:ext uri="{BB962C8B-B14F-4D97-AF65-F5344CB8AC3E}">
        <p14:creationId xmlns:p14="http://schemas.microsoft.com/office/powerpoint/2010/main" val="59152153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9498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“a”</a:t>
            </a:r>
          </a:p>
          <a:p>
            <a:r>
              <a:rPr lang="en-US" sz="2400" dirty="0">
                <a:latin typeface="Courier" pitchFamily="2" charset="0"/>
              </a:rPr>
              <a:t>    |   “b”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3177-05B6-7D4C-AEF7-3B1F5AA777F8}"/>
              </a:ext>
            </a:extLst>
          </p:cNvPr>
          <p:cNvSpPr txBox="1"/>
          <p:nvPr/>
        </p:nvSpPr>
        <p:spPr>
          <a:xfrm>
            <a:off x="6248400" y="2819399"/>
            <a:ext cx="368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“b”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“a”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09FD4-A8EF-DC46-9E43-29C7CF1D9528}"/>
              </a:ext>
            </a:extLst>
          </p:cNvPr>
          <p:cNvSpPr txBox="1"/>
          <p:nvPr/>
        </p:nvSpPr>
        <p:spPr>
          <a:xfrm>
            <a:off x="6096000" y="2070377"/>
            <a:ext cx="3293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grammar can be rewritten as</a:t>
            </a:r>
          </a:p>
        </p:txBody>
      </p:sp>
    </p:spTree>
    <p:extLst>
      <p:ext uri="{BB962C8B-B14F-4D97-AF65-F5344CB8AC3E}">
        <p14:creationId xmlns:p14="http://schemas.microsoft.com/office/powerpoint/2010/main" val="164212420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32B993-57C7-DF49-A59B-C01E6BC17AF2}"/>
              </a:ext>
            </a:extLst>
          </p:cNvPr>
          <p:cNvSpPr txBox="1"/>
          <p:nvPr/>
        </p:nvSpPr>
        <p:spPr>
          <a:xfrm>
            <a:off x="1219200" y="2819400"/>
            <a:ext cx="258115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143177-05B6-7D4C-AEF7-3B1F5AA777F8}"/>
              </a:ext>
            </a:extLst>
          </p:cNvPr>
          <p:cNvSpPr txBox="1"/>
          <p:nvPr/>
        </p:nvSpPr>
        <p:spPr>
          <a:xfrm>
            <a:off x="6248400" y="2819399"/>
            <a:ext cx="3683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“”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B09FD4-A8EF-DC46-9E43-29C7CF1D9528}"/>
              </a:ext>
            </a:extLst>
          </p:cNvPr>
          <p:cNvSpPr txBox="1"/>
          <p:nvPr/>
        </p:nvSpPr>
        <p:spPr>
          <a:xfrm>
            <a:off x="2438400" y="1960310"/>
            <a:ext cx="6874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 general, A and B can be any sequence of non-terminals and terminals</a:t>
            </a:r>
          </a:p>
        </p:txBody>
      </p:sp>
    </p:spTree>
    <p:extLst>
      <p:ext uri="{BB962C8B-B14F-4D97-AF65-F5344CB8AC3E}">
        <p14:creationId xmlns:p14="http://schemas.microsoft.com/office/powerpoint/2010/main" val="136960754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6F71058-3D02-354A-8EB9-782ACBD8786D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75657637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864E2-A02E-2444-AE31-D5DF5CC6D686}"/>
              </a:ext>
            </a:extLst>
          </p:cNvPr>
          <p:cNvSpPr/>
          <p:nvPr/>
        </p:nvSpPr>
        <p:spPr>
          <a:xfrm>
            <a:off x="7518398" y="17453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?</a:t>
            </a:r>
          </a:p>
          <a:p>
            <a:r>
              <a:rPr lang="en-US" dirty="0">
                <a:latin typeface="Courier" pitchFamily="2" charset="0"/>
              </a:rPr>
              <a:t>2: Expr2 ::= ?</a:t>
            </a:r>
          </a:p>
          <a:p>
            <a:r>
              <a:rPr lang="en-US" dirty="0">
                <a:latin typeface="Courier" pitchFamily="2" charset="0"/>
              </a:rPr>
              <a:t>3:       | ?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259B4-7C64-2F4C-880F-61DEB51B60A5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4AE47-F185-4846-AD7D-D588580EC039}"/>
              </a:ext>
            </a:extLst>
          </p:cNvPr>
          <p:cNvSpPr txBox="1"/>
          <p:nvPr/>
        </p:nvSpPr>
        <p:spPr>
          <a:xfrm>
            <a:off x="9474198" y="809351"/>
            <a:ext cx="873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A = ?</a:t>
            </a:r>
          </a:p>
          <a:p>
            <a:r>
              <a:rPr lang="en-US" dirty="0">
                <a:latin typeface="Courier" pitchFamily="2" charset="0"/>
              </a:rPr>
              <a:t>B = ?</a:t>
            </a:r>
          </a:p>
        </p:txBody>
      </p:sp>
    </p:spTree>
    <p:extLst>
      <p:ext uri="{BB962C8B-B14F-4D97-AF65-F5344CB8AC3E}">
        <p14:creationId xmlns:p14="http://schemas.microsoft.com/office/powerpoint/2010/main" val="730511716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Eliminating direct left recursion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726824-AA59-4F45-A39C-0D55DB172730}"/>
              </a:ext>
            </a:extLst>
          </p:cNvPr>
          <p:cNvSpPr txBox="1"/>
          <p:nvPr/>
        </p:nvSpPr>
        <p:spPr>
          <a:xfrm>
            <a:off x="838200" y="4019727"/>
            <a:ext cx="3112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Lets do this one as an example: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676F00-A4BC-1E49-9855-9D9EE1AC37CF}"/>
              </a:ext>
            </a:extLst>
          </p:cNvPr>
          <p:cNvSpPr txBox="1"/>
          <p:nvPr/>
        </p:nvSpPr>
        <p:spPr>
          <a:xfrm>
            <a:off x="838200" y="4958265"/>
            <a:ext cx="2581156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::= Fee A</a:t>
            </a:r>
          </a:p>
          <a:p>
            <a:r>
              <a:rPr lang="en-US" sz="2400" dirty="0">
                <a:latin typeface="Courier" pitchFamily="2" charset="0"/>
              </a:rPr>
              <a:t>    |  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55BAF3-3D30-DC48-AF36-D594694AF4E7}"/>
              </a:ext>
            </a:extLst>
          </p:cNvPr>
          <p:cNvSpPr txBox="1"/>
          <p:nvPr/>
        </p:nvSpPr>
        <p:spPr>
          <a:xfrm>
            <a:off x="4961466" y="4588934"/>
            <a:ext cx="3683000" cy="15696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urier" pitchFamily="2" charset="0"/>
              </a:rPr>
              <a:t>Fee  ::= B Fee2</a:t>
            </a:r>
          </a:p>
          <a:p>
            <a:endParaRPr lang="en-US" sz="2400" dirty="0">
              <a:latin typeface="Courier" pitchFamily="2" charset="0"/>
            </a:endParaRPr>
          </a:p>
          <a:p>
            <a:r>
              <a:rPr lang="en-US" sz="2400" dirty="0">
                <a:latin typeface="Courier" pitchFamily="2" charset="0"/>
              </a:rPr>
              <a:t>Fee2 ::= A Fee2</a:t>
            </a:r>
          </a:p>
          <a:p>
            <a:r>
              <a:rPr lang="en-US" sz="2400" dirty="0">
                <a:latin typeface="Courier" pitchFamily="2" charset="0"/>
              </a:rPr>
              <a:t>     |    “”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644EF493-F4D3-F74D-B9B3-FA8A993CFF5D}"/>
              </a:ext>
            </a:extLst>
          </p:cNvPr>
          <p:cNvSpPr/>
          <p:nvPr/>
        </p:nvSpPr>
        <p:spPr>
          <a:xfrm>
            <a:off x="3950719" y="5308600"/>
            <a:ext cx="765214" cy="220133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1C864E2-A02E-2444-AE31-D5DF5CC6D686}"/>
              </a:ext>
            </a:extLst>
          </p:cNvPr>
          <p:cNvSpPr/>
          <p:nvPr/>
        </p:nvSpPr>
        <p:spPr>
          <a:xfrm>
            <a:off x="7518398" y="17453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1E259B4-7C64-2F4C-880F-61DEB51B60A5}"/>
              </a:ext>
            </a:extLst>
          </p:cNvPr>
          <p:cNvSpPr/>
          <p:nvPr/>
        </p:nvSpPr>
        <p:spPr>
          <a:xfrm>
            <a:off x="931331" y="1867006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Expr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24AE47-F185-4846-AD7D-D588580EC039}"/>
              </a:ext>
            </a:extLst>
          </p:cNvPr>
          <p:cNvSpPr txBox="1"/>
          <p:nvPr/>
        </p:nvSpPr>
        <p:spPr>
          <a:xfrm>
            <a:off x="9474198" y="809351"/>
            <a:ext cx="170110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" pitchFamily="2" charset="0"/>
              </a:rPr>
              <a:t>A = Op Unit</a:t>
            </a:r>
          </a:p>
          <a:p>
            <a:r>
              <a:rPr lang="en-US" dirty="0">
                <a:latin typeface="Courier" pitchFamily="2" charset="0"/>
              </a:rPr>
              <a:t>B = Unit</a:t>
            </a:r>
          </a:p>
        </p:txBody>
      </p:sp>
    </p:spTree>
    <p:extLst>
      <p:ext uri="{BB962C8B-B14F-4D97-AF65-F5344CB8AC3E}">
        <p14:creationId xmlns:p14="http://schemas.microsoft.com/office/powerpoint/2010/main" val="2324454875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B6743B0F-F925-C04C-A3E0-8D388BD29269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498621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501035-8CC1-2A49-AEF6-4C65A8BE668B}"/>
              </a:ext>
            </a:extLst>
          </p:cNvPr>
          <p:cNvSpPr txBox="1"/>
          <p:nvPr/>
        </p:nvSpPr>
        <p:spPr>
          <a:xfrm>
            <a:off x="5723467" y="719667"/>
            <a:ext cx="1561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to handle</a:t>
            </a:r>
            <a:br>
              <a:rPr lang="en-US" i="1" dirty="0"/>
            </a:br>
            <a:r>
              <a:rPr lang="en-US" i="1" dirty="0"/>
              <a:t>this case?</a:t>
            </a:r>
          </a:p>
        </p:txBody>
      </p:sp>
      <p:graphicFrame>
        <p:nvGraphicFramePr>
          <p:cNvPr id="8" name="Table 11">
            <a:extLst>
              <a:ext uri="{FF2B5EF4-FFF2-40B4-BE49-F238E27FC236}">
                <a16:creationId xmlns:a16="http://schemas.microsoft.com/office/drawing/2014/main" id="{28043986-F21C-3848-B452-B40E284BD09D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9167916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6356227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if A == “”: focus=pop(); continue; # ignore it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7662332" y="500718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501035-8CC1-2A49-AEF6-4C65A8BE668B}"/>
              </a:ext>
            </a:extLst>
          </p:cNvPr>
          <p:cNvSpPr txBox="1"/>
          <p:nvPr/>
        </p:nvSpPr>
        <p:spPr>
          <a:xfrm>
            <a:off x="5723467" y="719667"/>
            <a:ext cx="15617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to handle</a:t>
            </a:r>
            <a:br>
              <a:rPr lang="en-US" i="1" dirty="0"/>
            </a:br>
            <a:r>
              <a:rPr lang="en-US" i="1" dirty="0"/>
              <a:t>this case?</a:t>
            </a:r>
          </a:p>
        </p:txBody>
      </p:sp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AF7D498A-D3DE-AA49-95F7-621BA36F53A8}"/>
              </a:ext>
            </a:extLst>
          </p:cNvPr>
          <p:cNvGraphicFramePr>
            <a:graphicFrameLocks noGrp="1"/>
          </p:cNvGraphicFramePr>
          <p:nvPr/>
        </p:nvGraphicFramePr>
        <p:xfrm>
          <a:off x="546359" y="4898082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8617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B5303-6EEE-4D4D-BBA4-8EFF4E296E2F}"/>
              </a:ext>
            </a:extLst>
          </p:cNvPr>
          <p:cNvSpPr txBox="1"/>
          <p:nvPr/>
        </p:nvSpPr>
        <p:spPr>
          <a:xfrm>
            <a:off x="1083733" y="4445000"/>
            <a:ext cx="2020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direct left recursion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CFCEF2-C9E6-3E40-A699-6DA6638EB9D1}"/>
              </a:ext>
            </a:extLst>
          </p:cNvPr>
          <p:cNvSpPr txBox="1"/>
          <p:nvPr/>
        </p:nvSpPr>
        <p:spPr>
          <a:xfrm>
            <a:off x="7374466" y="4715933"/>
            <a:ext cx="2195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indirect left recursion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53933" y="5698067"/>
            <a:ext cx="38522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Top down parsing cannot handle either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8C4B7A-1CEA-EF4A-A9C0-73EF97A817D9}"/>
              </a:ext>
            </a:extLst>
          </p:cNvPr>
          <p:cNvSpPr/>
          <p:nvPr/>
        </p:nvSpPr>
        <p:spPr>
          <a:xfrm>
            <a:off x="761998" y="2258511"/>
            <a:ext cx="391160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 ::= 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Expr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latin typeface="Courier" pitchFamily="2" charset="0"/>
              </a:rPr>
              <a:t>2:       |  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3: Unit  ::= ‘(‘ Expr ‘)’</a:t>
            </a:r>
          </a:p>
          <a:p>
            <a:r>
              <a:rPr lang="en-US" dirty="0">
                <a:latin typeface="Courier" pitchFamily="2" charset="0"/>
              </a:rPr>
              <a:t>4:       |    ID</a:t>
            </a:r>
          </a:p>
          <a:p>
            <a:r>
              <a:rPr lang="en-US" dirty="0">
                <a:latin typeface="Courier" pitchFamily="2" charset="0"/>
              </a:rPr>
              <a:t>5: Op    ::= ‘+’</a:t>
            </a:r>
          </a:p>
          <a:p>
            <a:r>
              <a:rPr lang="en-US" dirty="0">
                <a:latin typeface="Courier" pitchFamily="2" charset="0"/>
              </a:rPr>
              <a:t>6: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6096000" y="2413337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94337393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3953933" y="1896870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32850299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3953933" y="1896870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Expr_op</a:t>
            </a:r>
            <a:endParaRPr lang="en-US" dirty="0">
              <a:highlight>
                <a:srgbClr val="FFFF00"/>
              </a:highlight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5705396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</p:spTree>
    <p:extLst>
      <p:ext uri="{BB962C8B-B14F-4D97-AF65-F5344CB8AC3E}">
        <p14:creationId xmlns:p14="http://schemas.microsoft.com/office/powerpoint/2010/main" val="100501695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1041399" y="188760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latin typeface="Courier" pitchFamily="2" charset="0"/>
              </a:rPr>
              <a:t>Expr_op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5684381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92654-851C-3C41-B361-2D3305448EBA}"/>
              </a:ext>
            </a:extLst>
          </p:cNvPr>
          <p:cNvSpPr/>
          <p:nvPr/>
        </p:nvSpPr>
        <p:spPr>
          <a:xfrm>
            <a:off x="6582762" y="197142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3B516-667F-A244-860C-26E7F7FB2197}"/>
              </a:ext>
            </a:extLst>
          </p:cNvPr>
          <p:cNvSpPr txBox="1"/>
          <p:nvPr/>
        </p:nvSpPr>
        <p:spPr>
          <a:xfrm>
            <a:off x="5706533" y="4258733"/>
            <a:ext cx="350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to do with production rule 3?</a:t>
            </a:r>
          </a:p>
        </p:txBody>
      </p:sp>
    </p:spTree>
    <p:extLst>
      <p:ext uri="{BB962C8B-B14F-4D97-AF65-F5344CB8AC3E}">
        <p14:creationId xmlns:p14="http://schemas.microsoft.com/office/powerpoint/2010/main" val="1886224965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88A59A-E87C-DB44-8041-2F4EE8D45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</p:spPr>
        <p:txBody>
          <a:bodyPr/>
          <a:lstStyle/>
          <a:p>
            <a:r>
              <a:rPr lang="en-US" dirty="0"/>
              <a:t>How about indirect left recursion?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416037-3146-354B-9709-EFE3037B317C}"/>
              </a:ext>
            </a:extLst>
          </p:cNvPr>
          <p:cNvSpPr txBox="1"/>
          <p:nvPr/>
        </p:nvSpPr>
        <p:spPr>
          <a:xfrm>
            <a:off x="397933" y="4419600"/>
            <a:ext cx="32930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Identify indirect left left recursion</a:t>
            </a:r>
          </a:p>
          <a:p>
            <a:endParaRPr lang="en-US" i="1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7373C7-7973-E945-B8F7-4C14639BF015}"/>
              </a:ext>
            </a:extLst>
          </p:cNvPr>
          <p:cNvSpPr/>
          <p:nvPr/>
        </p:nvSpPr>
        <p:spPr>
          <a:xfrm>
            <a:off x="1041399" y="188760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latin typeface="Courier" pitchFamily="2" charset="0"/>
              </a:rPr>
              <a:t>Expr_op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/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i="1" dirty="0"/>
                  <a:t>Expr_base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</m:oMath>
                </a14:m>
                <a:r>
                  <a:rPr lang="en-US" sz="2400" i="1" dirty="0"/>
                  <a:t> </a:t>
                </a:r>
                <a:r>
                  <a:rPr lang="en-US" sz="2400" i="1" dirty="0" err="1"/>
                  <a:t>Expr_op</a:t>
                </a:r>
                <a:r>
                  <a:rPr lang="en-US" sz="2400" i="1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𝑙h𝑠</m:t>
                        </m:r>
                      </m:sub>
                    </m:sSub>
                    <m:r>
                      <a:rPr lang="en-US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i="1" dirty="0" err="1"/>
                  <a:t>Expr_base</a:t>
                </a:r>
                <a:endParaRPr lang="en-US" sz="2400" i="1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7785D27B-C486-4047-B0EC-46A6AFF6B6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3933" y="5243731"/>
                <a:ext cx="5257658" cy="461665"/>
              </a:xfrm>
              <a:prstGeom prst="rect">
                <a:avLst/>
              </a:prstGeom>
              <a:blipFill>
                <a:blip r:embed="rId2"/>
                <a:stretch>
                  <a:fillRect l="-1928" t="-7895" r="-723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BF390D5-3744-8F4B-9877-D1DE8F5C71E1}"/>
              </a:ext>
            </a:extLst>
          </p:cNvPr>
          <p:cNvSpPr txBox="1"/>
          <p:nvPr/>
        </p:nvSpPr>
        <p:spPr>
          <a:xfrm>
            <a:off x="3953933" y="5692898"/>
            <a:ext cx="5852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Substitute indirect non-terminal closer to initial non-terminal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BB92654-851C-3C41-B361-2D3305448EBA}"/>
              </a:ext>
            </a:extLst>
          </p:cNvPr>
          <p:cNvSpPr/>
          <p:nvPr/>
        </p:nvSpPr>
        <p:spPr>
          <a:xfrm>
            <a:off x="6582762" y="1971424"/>
            <a:ext cx="5054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 </a:t>
            </a:r>
            <a:r>
              <a:rPr lang="en-US" dirty="0">
                <a:latin typeface="Courier" pitchFamily="2" charset="0"/>
              </a:rPr>
              <a:t>::= Unit</a:t>
            </a:r>
          </a:p>
          <a:p>
            <a:r>
              <a:rPr lang="en-US" dirty="0">
                <a:latin typeface="Courier" pitchFamily="2" charset="0"/>
              </a:rPr>
              <a:t>2:           |   </a:t>
            </a:r>
            <a:r>
              <a:rPr lang="en-US" dirty="0" err="1">
                <a:highlight>
                  <a:srgbClr val="FFFF00"/>
                </a:highlight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</a:t>
            </a:r>
            <a:r>
              <a:rPr lang="en-US" dirty="0" err="1">
                <a:latin typeface="Courier" pitchFamily="2" charset="0"/>
              </a:rPr>
              <a:t>Expr_op</a:t>
            </a:r>
            <a:r>
              <a:rPr lang="en-US" dirty="0">
                <a:latin typeface="Courier" pitchFamily="2" charset="0"/>
              </a:rPr>
              <a:t>   ::=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Op Unit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    ::= ‘(‘ </a:t>
            </a:r>
            <a:r>
              <a:rPr lang="en-US" dirty="0" err="1">
                <a:latin typeface="Courier" pitchFamily="2" charset="0"/>
              </a:rPr>
              <a:t>Expr_base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5:            |  ID</a:t>
            </a:r>
          </a:p>
          <a:p>
            <a:r>
              <a:rPr lang="en-US" dirty="0">
                <a:latin typeface="Courier" pitchFamily="2" charset="0"/>
              </a:rPr>
              <a:t>6: Op        ::= ‘+’</a:t>
            </a:r>
          </a:p>
          <a:p>
            <a:r>
              <a:rPr lang="en-US" dirty="0">
                <a:latin typeface="Courier" pitchFamily="2" charset="0"/>
              </a:rPr>
              <a:t>7:           |   ‘*’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43B516-667F-A244-860C-26E7F7FB2197}"/>
              </a:ext>
            </a:extLst>
          </p:cNvPr>
          <p:cNvSpPr txBox="1"/>
          <p:nvPr/>
        </p:nvSpPr>
        <p:spPr>
          <a:xfrm>
            <a:off x="5706533" y="4258733"/>
            <a:ext cx="57565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What to do with production rule 3?</a:t>
            </a:r>
            <a:br>
              <a:rPr lang="en-US" dirty="0"/>
            </a:br>
            <a:r>
              <a:rPr lang="en-US" dirty="0"/>
              <a:t>It may need to stay if another production rule references it!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244570-2F89-661A-955C-AF69F72B230D}"/>
              </a:ext>
            </a:extLst>
          </p:cNvPr>
          <p:cNvSpPr txBox="1"/>
          <p:nvPr/>
        </p:nvSpPr>
        <p:spPr>
          <a:xfrm>
            <a:off x="1192192" y="606223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Algorithm for removing indirect left recursion was discussed in class.  Won’t be in midterm.</a:t>
            </a:r>
          </a:p>
        </p:txBody>
      </p:sp>
    </p:spTree>
    <p:extLst>
      <p:ext uri="{BB962C8B-B14F-4D97-AF65-F5344CB8AC3E}">
        <p14:creationId xmlns:p14="http://schemas.microsoft.com/office/powerpoint/2010/main" val="1270026437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time: algorithms for syntactic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06CE13-5E20-3C4F-97D5-4A2A43A558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23708"/>
          </a:xfrm>
        </p:spPr>
        <p:txBody>
          <a:bodyPr>
            <a:normAutofit/>
          </a:bodyPr>
          <a:lstStyle/>
          <a:p>
            <a:r>
              <a:rPr lang="en-US" dirty="0"/>
              <a:t>Continue with our top down parser.</a:t>
            </a:r>
          </a:p>
          <a:p>
            <a:pPr lvl="1"/>
            <a:r>
              <a:rPr lang="en-US" dirty="0"/>
              <a:t>Backtracking</a:t>
            </a:r>
          </a:p>
          <a:p>
            <a:pPr lvl="1"/>
            <a:r>
              <a:rPr lang="en-US" dirty="0"/>
              <a:t>Lookahead sets</a:t>
            </a:r>
          </a:p>
        </p:txBody>
      </p:sp>
    </p:spTree>
    <p:extLst>
      <p:ext uri="{BB962C8B-B14F-4D97-AF65-F5344CB8AC3E}">
        <p14:creationId xmlns:p14="http://schemas.microsoft.com/office/powerpoint/2010/main" val="84516308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EDAC6-8229-D2C5-CE46-1BB5A5DC8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5215C-E2D5-5E6A-F3D5-5F9F88620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5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TOP-DOWN PARSERS</a:t>
            </a:r>
          </a:p>
        </p:txBody>
      </p:sp>
    </p:spTree>
    <p:extLst>
      <p:ext uri="{BB962C8B-B14F-4D97-AF65-F5344CB8AC3E}">
        <p14:creationId xmlns:p14="http://schemas.microsoft.com/office/powerpoint/2010/main" val="7332907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B3896-2809-A702-0BBD-4E905973D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E95DA-B18B-7F7B-4659-1D9C0F7F4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5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ELIMINATING LEFT-RECURSION</a:t>
            </a:r>
          </a:p>
        </p:txBody>
      </p:sp>
    </p:spTree>
    <p:extLst>
      <p:ext uri="{BB962C8B-B14F-4D97-AF65-F5344CB8AC3E}">
        <p14:creationId xmlns:p14="http://schemas.microsoft.com/office/powerpoint/2010/main" val="409171585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DE9D83-7E8E-F414-8502-BE993D0F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21516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ORACULARITY: </a:t>
            </a:r>
            <a:br>
              <a:rPr lang="en-US" dirty="0"/>
            </a:br>
            <a:r>
              <a:rPr lang="en-US" dirty="0"/>
              <a:t>MAKING A BACKTRACK FREE LL(1) PARSER</a:t>
            </a:r>
            <a:br>
              <a:rPr lang="en-US" dirty="0"/>
            </a:br>
            <a:r>
              <a:rPr lang="en-US" dirty="0"/>
              <a:t>USING FIRST, FOLLOW and FIRST+ SETS</a:t>
            </a:r>
          </a:p>
        </p:txBody>
      </p:sp>
    </p:spTree>
    <p:extLst>
      <p:ext uri="{BB962C8B-B14F-4D97-AF65-F5344CB8AC3E}">
        <p14:creationId xmlns:p14="http://schemas.microsoft.com/office/powerpoint/2010/main" val="73116880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   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if B1 == “”: focus=pop(); continue;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15" name="Table 9">
            <a:extLst>
              <a:ext uri="{FF2B5EF4-FFF2-40B4-BE49-F238E27FC236}">
                <a16:creationId xmlns:a16="http://schemas.microsoft.com/office/drawing/2014/main" id="{C29E8994-1FD5-DB4F-94F8-6AE5D164BF00}"/>
              </a:ext>
            </a:extLst>
          </p:cNvPr>
          <p:cNvGraphicFramePr>
            <a:graphicFrameLocks noGrp="1"/>
          </p:cNvGraphicFramePr>
          <p:nvPr/>
        </p:nvGraphicFramePr>
        <p:xfrm>
          <a:off x="6796487" y="3108494"/>
          <a:ext cx="5105400" cy="2966720"/>
        </p:xfrm>
        <a:graphic>
          <a:graphicData uri="http://schemas.openxmlformats.org/drawingml/2006/table">
            <a:tbl>
              <a:tblPr firstRow="1" bandRow="1">
                <a:tableStyleId>{16D9F66E-5EB9-4882-86FB-DCBF35E3C3E4}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3057982666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1885399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Expanded Rule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Sentential Form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012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063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</a:t>
                      </a:r>
                      <a:r>
                        <a:rPr lang="en-US" dirty="0">
                          <a:highlight>
                            <a:srgbClr val="FFFF00"/>
                          </a:highlight>
                        </a:rPr>
                        <a:t>Expr2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72912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7378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9622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8516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6396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29062"/>
                  </a:ext>
                </a:extLst>
              </a:tr>
            </a:tbl>
          </a:graphicData>
        </a:graphic>
      </p:graphicFrame>
      <p:graphicFrame>
        <p:nvGraphicFramePr>
          <p:cNvPr id="9" name="Table 11">
            <a:extLst>
              <a:ext uri="{FF2B5EF4-FFF2-40B4-BE49-F238E27FC236}">
                <a16:creationId xmlns:a16="http://schemas.microsoft.com/office/drawing/2014/main" id="{AF7D498A-D3DE-AA49-95F7-621BA36F53A8}"/>
              </a:ext>
            </a:extLst>
          </p:cNvPr>
          <p:cNvGraphicFramePr>
            <a:graphicFrameLocks noGrp="1"/>
          </p:cNvGraphicFramePr>
          <p:nvPr/>
        </p:nvGraphicFramePr>
        <p:xfrm>
          <a:off x="546359" y="4898082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highlight>
                            <a:srgbClr val="FFFF00"/>
                          </a:highlight>
                        </a:rPr>
                        <a:t>Expr2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to_match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“”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None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E9CD21B2-65B0-9B4E-AC9C-7BAEF1C50F5F}"/>
              </a:ext>
            </a:extLst>
          </p:cNvPr>
          <p:cNvSpPr/>
          <p:nvPr/>
        </p:nvSpPr>
        <p:spPr>
          <a:xfrm>
            <a:off x="8280399" y="463670"/>
            <a:ext cx="391160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ID Expr2</a:t>
            </a:r>
          </a:p>
          <a:p>
            <a:r>
              <a:rPr lang="en-US" dirty="0">
                <a:latin typeface="Courier" pitchFamily="2" charset="0"/>
              </a:rPr>
              <a:t>2: Expr2 ::= ‘+’ Expr2</a:t>
            </a:r>
          </a:p>
          <a:p>
            <a:r>
              <a:rPr lang="en-US" dirty="0">
                <a:latin typeface="Courier" pitchFamily="2" charset="0"/>
              </a:rPr>
              <a:t>3:       |   ””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68CC11-C9DC-2E46-B941-9611D27EC8E8}"/>
              </a:ext>
            </a:extLst>
          </p:cNvPr>
          <p:cNvSpPr txBox="1"/>
          <p:nvPr/>
        </p:nvSpPr>
        <p:spPr>
          <a:xfrm>
            <a:off x="8237551" y="2202511"/>
            <a:ext cx="2031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Can we match: “a”?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868959-DD9C-0744-8E74-0A46B4FEDB78}"/>
              </a:ext>
            </a:extLst>
          </p:cNvPr>
          <p:cNvSpPr txBox="1"/>
          <p:nvPr/>
        </p:nvSpPr>
        <p:spPr>
          <a:xfrm>
            <a:off x="4186150" y="1303911"/>
            <a:ext cx="38197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>
                <a:highlight>
                  <a:srgbClr val="FFFF00"/>
                </a:highlight>
              </a:rPr>
              <a:t>Could we make a smarter choice here?</a:t>
            </a:r>
          </a:p>
        </p:txBody>
      </p:sp>
    </p:spTree>
    <p:extLst>
      <p:ext uri="{BB962C8B-B14F-4D97-AF65-F5344CB8AC3E}">
        <p14:creationId xmlns:p14="http://schemas.microsoft.com/office/powerpoint/2010/main" val="23873164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7EACE-562A-0F4E-AB70-C2F6FD01EEB4}"/>
              </a:ext>
            </a:extLst>
          </p:cNvPr>
          <p:cNvSpPr txBox="1"/>
          <p:nvPr/>
        </p:nvSpPr>
        <p:spPr>
          <a:xfrm>
            <a:off x="6431065" y="1221847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production choice, find the set</a:t>
            </a:r>
          </a:p>
          <a:p>
            <a:r>
              <a:rPr lang="en-US" i="1" dirty="0"/>
              <a:t>of tokens that each production can start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358BB-B0A9-4B4A-83E1-CBE80B0ED7F7}"/>
              </a:ext>
            </a:extLst>
          </p:cNvPr>
          <p:cNvSpPr/>
          <p:nvPr/>
        </p:nvSpPr>
        <p:spPr>
          <a:xfrm>
            <a:off x="6096000" y="241500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{}</a:t>
            </a:r>
          </a:p>
          <a:p>
            <a:r>
              <a:rPr lang="en-US" dirty="0">
                <a:latin typeface="Courier" pitchFamily="2" charset="0"/>
              </a:rPr>
              <a:t>5: {}</a:t>
            </a:r>
          </a:p>
          <a:p>
            <a:r>
              <a:rPr lang="en-US" dirty="0">
                <a:latin typeface="Courier" pitchFamily="2" charset="0"/>
              </a:rPr>
              <a:t>6: {}</a:t>
            </a:r>
          </a:p>
          <a:p>
            <a:r>
              <a:rPr lang="en-US" dirty="0">
                <a:latin typeface="Courier" pitchFamily="2" charset="0"/>
              </a:rPr>
              <a:t>7: {}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C69731-3D29-CA48-8DC5-34C5D0C7668D}"/>
              </a:ext>
            </a:extLst>
          </p:cNvPr>
          <p:cNvSpPr/>
          <p:nvPr/>
        </p:nvSpPr>
        <p:spPr>
          <a:xfrm>
            <a:off x="1149403" y="2692000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4144627187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 Set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27EACE-562A-0F4E-AB70-C2F6FD01EEB4}"/>
              </a:ext>
            </a:extLst>
          </p:cNvPr>
          <p:cNvSpPr txBox="1"/>
          <p:nvPr/>
        </p:nvSpPr>
        <p:spPr>
          <a:xfrm>
            <a:off x="6431065" y="1221847"/>
            <a:ext cx="43844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production choice, find the set</a:t>
            </a:r>
          </a:p>
          <a:p>
            <a:r>
              <a:rPr lang="en-US" i="1" dirty="0"/>
              <a:t>of tokens that each production can start with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16358BB-B0A9-4B4A-83E1-CBE80B0ED7F7}"/>
              </a:ext>
            </a:extLst>
          </p:cNvPr>
          <p:cNvSpPr/>
          <p:nvPr/>
        </p:nvSpPr>
        <p:spPr>
          <a:xfrm>
            <a:off x="6096000" y="241500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E9921C-1689-D74A-875E-DCAF31561F3E}"/>
              </a:ext>
            </a:extLst>
          </p:cNvPr>
          <p:cNvSpPr/>
          <p:nvPr/>
        </p:nvSpPr>
        <p:spPr>
          <a:xfrm>
            <a:off x="1149403" y="2692000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83E883-D7AF-A14B-B949-F04364BA2F29}"/>
              </a:ext>
            </a:extLst>
          </p:cNvPr>
          <p:cNvSpPr txBox="1"/>
          <p:nvPr/>
        </p:nvSpPr>
        <p:spPr>
          <a:xfrm>
            <a:off x="6050943" y="5414838"/>
            <a:ext cx="4815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 use first sets to decide which rule to pick!</a:t>
            </a:r>
          </a:p>
        </p:txBody>
      </p:sp>
    </p:spTree>
    <p:extLst>
      <p:ext uri="{BB962C8B-B14F-4D97-AF65-F5344CB8AC3E}">
        <p14:creationId xmlns:p14="http://schemas.microsoft.com/office/powerpoint/2010/main" val="1841201417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50167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to_match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 = </a:t>
            </a:r>
            <a:r>
              <a:rPr lang="en-US" sz="1600" dirty="0" err="1">
                <a:highlight>
                  <a:srgbClr val="FFFF00"/>
                </a:highlight>
                <a:latin typeface="Courier" pitchFamily="2" charset="0"/>
              </a:rPr>
              <a:t>s.token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</a:p>
          <a:p>
            <a:endParaRPr lang="en-US" sz="1600" dirty="0">
              <a:latin typeface="Courier" pitchFamily="2" charset="0"/>
            </a:endParaRPr>
          </a:p>
          <a:p>
            <a:endParaRPr lang="en-US" sz="1600" dirty="0">
              <a:latin typeface="Courier" pitchFamily="2" charset="0"/>
            </a:endParaRPr>
          </a:p>
        </p:txBody>
      </p:sp>
      <p:graphicFrame>
        <p:nvGraphicFramePr>
          <p:cNvPr id="19" name="Table 11">
            <a:extLst>
              <a:ext uri="{FF2B5EF4-FFF2-40B4-BE49-F238E27FC236}">
                <a16:creationId xmlns:a16="http://schemas.microsoft.com/office/drawing/2014/main" id="{B6743B0F-F925-C04C-A3E0-8D388BD29269}"/>
              </a:ext>
            </a:extLst>
          </p:cNvPr>
          <p:cNvGraphicFramePr>
            <a:graphicFrameLocks noGrp="1"/>
          </p:cNvGraphicFramePr>
          <p:nvPr/>
        </p:nvGraphicFramePr>
        <p:xfrm>
          <a:off x="631026" y="4742295"/>
          <a:ext cx="4764488" cy="181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2244">
                  <a:extLst>
                    <a:ext uri="{9D8B030D-6E8A-4147-A177-3AD203B41FA5}">
                      <a16:colId xmlns:a16="http://schemas.microsoft.com/office/drawing/2014/main" val="2154415494"/>
                    </a:ext>
                  </a:extLst>
                </a:gridCol>
                <a:gridCol w="2382244">
                  <a:extLst>
                    <a:ext uri="{9D8B030D-6E8A-4147-A177-3AD203B41FA5}">
                      <a16:colId xmlns:a16="http://schemas.microsoft.com/office/drawing/2014/main" val="42033131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Variable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6407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focus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7912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>
                          <a:highlight>
                            <a:srgbClr val="FFFF00"/>
                          </a:highlight>
                        </a:rPr>
                        <a:t>to_match</a:t>
                      </a:r>
                      <a:endParaRPr lang="en-US" sz="1600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777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err="1"/>
                        <a:t>s.istring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0741957"/>
                  </a:ext>
                </a:extLst>
              </a:tr>
              <a:tr h="259812">
                <a:tc>
                  <a:txBody>
                    <a:bodyPr/>
                    <a:lstStyle/>
                    <a:p>
                      <a:r>
                        <a:rPr lang="en-US" sz="1600" dirty="0"/>
                        <a:t>stack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7999951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462A06D4-55A1-2640-ABA9-5E1837F624F6}"/>
              </a:ext>
            </a:extLst>
          </p:cNvPr>
          <p:cNvSpPr txBox="1"/>
          <p:nvPr/>
        </p:nvSpPr>
        <p:spPr>
          <a:xfrm>
            <a:off x="7355752" y="5464534"/>
            <a:ext cx="395678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simply use </a:t>
            </a:r>
            <a:r>
              <a:rPr lang="en-US" dirty="0" err="1"/>
              <a:t>to_match</a:t>
            </a:r>
            <a:r>
              <a:rPr lang="en-US" dirty="0"/>
              <a:t> and compare it</a:t>
            </a:r>
            <a:br>
              <a:rPr lang="en-US" dirty="0"/>
            </a:br>
            <a:r>
              <a:rPr lang="en-US" dirty="0"/>
              <a:t>to the first sets for each choice</a:t>
            </a:r>
          </a:p>
          <a:p>
            <a:endParaRPr lang="en-US" dirty="0"/>
          </a:p>
          <a:p>
            <a:r>
              <a:rPr lang="en-US" dirty="0"/>
              <a:t>For example, Op and Unit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92560DC-BE5A-2146-A4AA-D594E649F9B0}"/>
              </a:ext>
            </a:extLst>
          </p:cNvPr>
          <p:cNvSpPr/>
          <p:nvPr/>
        </p:nvSpPr>
        <p:spPr>
          <a:xfrm>
            <a:off x="6891528" y="2708281"/>
            <a:ext cx="505460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FD9FC4-93A4-3643-B4F9-0EF719BA952E}"/>
              </a:ext>
            </a:extLst>
          </p:cNvPr>
          <p:cNvSpPr/>
          <p:nvPr/>
        </p:nvSpPr>
        <p:spPr>
          <a:xfrm>
            <a:off x="6891528" y="36740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836897028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DF9FAE3-A1B2-4F44-945F-FA272C4A912E}"/>
              </a:ext>
            </a:extLst>
          </p:cNvPr>
          <p:cNvSpPr txBox="1"/>
          <p:nvPr/>
        </p:nvSpPr>
        <p:spPr>
          <a:xfrm>
            <a:off x="5049078" y="5446644"/>
            <a:ext cx="4137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find the tokens that any string</a:t>
            </a:r>
          </a:p>
          <a:p>
            <a:r>
              <a:rPr lang="en-US" dirty="0"/>
              <a:t>that follows the production can start with.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B3AE82-42C9-9A43-A107-B72DB14069E1}"/>
              </a:ext>
            </a:extLst>
          </p:cNvPr>
          <p:cNvSpPr/>
          <p:nvPr/>
        </p:nvSpPr>
        <p:spPr>
          <a:xfrm>
            <a:off x="5237259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D685AF-99DB-2E48-9D26-D755CB342B8E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6982BBC-B725-B244-B935-18275F428776}"/>
              </a:ext>
            </a:extLst>
          </p:cNvPr>
          <p:cNvSpPr/>
          <p:nvPr/>
        </p:nvSpPr>
        <p:spPr>
          <a:xfrm>
            <a:off x="7599976" y="23901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13B350-919A-444A-A39F-7AB16E0E49A0}"/>
              </a:ext>
            </a:extLst>
          </p:cNvPr>
          <p:cNvSpPr txBox="1"/>
          <p:nvPr/>
        </p:nvSpPr>
        <p:spPr>
          <a:xfrm>
            <a:off x="4548173" y="1470022"/>
            <a:ext cx="501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Rules with “” in their First set need special attention</a:t>
            </a:r>
          </a:p>
        </p:txBody>
      </p:sp>
    </p:spTree>
    <p:extLst>
      <p:ext uri="{BB962C8B-B14F-4D97-AF65-F5344CB8AC3E}">
        <p14:creationId xmlns:p14="http://schemas.microsoft.com/office/powerpoint/2010/main" val="377219785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1501F-85B0-3BAB-C6EC-05863E54E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9A2D-C5D4-44EB-089E-8F672049C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8F560A-723E-7938-20B9-FE723A5F7FEF}"/>
              </a:ext>
            </a:extLst>
          </p:cNvPr>
          <p:cNvSpPr txBox="1"/>
          <p:nvPr/>
        </p:nvSpPr>
        <p:spPr>
          <a:xfrm>
            <a:off x="5049078" y="5446644"/>
            <a:ext cx="41371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need to find the tokens that any string</a:t>
            </a:r>
          </a:p>
          <a:p>
            <a:r>
              <a:rPr lang="en-US" dirty="0"/>
              <a:t>that follows the production can start with.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920F14-F4FF-C177-B027-292DB9E17E10}"/>
              </a:ext>
            </a:extLst>
          </p:cNvPr>
          <p:cNvSpPr/>
          <p:nvPr/>
        </p:nvSpPr>
        <p:spPr>
          <a:xfrm>
            <a:off x="5237259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8ECC2EB-3F97-CA2A-8A16-887336653B62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DC9FF2-3A8E-307F-6C66-609AAB9406A0}"/>
              </a:ext>
            </a:extLst>
          </p:cNvPr>
          <p:cNvSpPr/>
          <p:nvPr/>
        </p:nvSpPr>
        <p:spPr>
          <a:xfrm>
            <a:off x="7599976" y="23901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BE9AA1-1477-AAF4-D26B-D535406842E8}"/>
              </a:ext>
            </a:extLst>
          </p:cNvPr>
          <p:cNvSpPr txBox="1"/>
          <p:nvPr/>
        </p:nvSpPr>
        <p:spPr>
          <a:xfrm>
            <a:off x="4548173" y="1470022"/>
            <a:ext cx="5010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Rules with “” in their First set need special attention</a:t>
            </a:r>
          </a:p>
        </p:txBody>
      </p:sp>
    </p:spTree>
    <p:extLst>
      <p:ext uri="{BB962C8B-B14F-4D97-AF65-F5344CB8AC3E}">
        <p14:creationId xmlns:p14="http://schemas.microsoft.com/office/powerpoint/2010/main" val="2197131283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First+ Set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60724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conditional combination of First and Follow sets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4AA0700-6E9C-38EE-018C-A7B194964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1646" y="3035568"/>
            <a:ext cx="9547915" cy="121863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C5830C2-7002-1FA7-CC43-BFD63E7EFA0A}"/>
              </a:ext>
            </a:extLst>
          </p:cNvPr>
          <p:cNvSpPr txBox="1"/>
          <p:nvPr/>
        </p:nvSpPr>
        <p:spPr>
          <a:xfrm>
            <a:off x="3222703" y="5183580"/>
            <a:ext cx="48284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hlinkClick r:id="rId4"/>
              </a:rPr>
              <a:t>SEE ANIMATION</a:t>
            </a:r>
            <a:endParaRPr lang="en-US" sz="4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4C4C6-C146-CBB4-C1ED-11B44003EC13}"/>
              </a:ext>
            </a:extLst>
          </p:cNvPr>
          <p:cNvSpPr txBox="1"/>
          <p:nvPr/>
        </p:nvSpPr>
        <p:spPr>
          <a:xfrm>
            <a:off x="1564134" y="6014577"/>
            <a:ext cx="8697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Source: </a:t>
            </a:r>
            <a:r>
              <a:rPr lang="en-US" dirty="0">
                <a:hlinkClick r:id="rId5"/>
              </a:rPr>
              <a:t>https://github.com/Ant-28/first-follow.git</a:t>
            </a:r>
            <a:endParaRPr lang="en-US" dirty="0"/>
          </a:p>
          <a:p>
            <a:r>
              <a:rPr lang="en-US" dirty="0"/>
              <a:t> Author: Ant Palmer</a:t>
            </a:r>
          </a:p>
        </p:txBody>
      </p:sp>
    </p:spTree>
    <p:extLst>
      <p:ext uri="{BB962C8B-B14F-4D97-AF65-F5344CB8AC3E}">
        <p14:creationId xmlns:p14="http://schemas.microsoft.com/office/powerpoint/2010/main" val="1155308270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3D1BC-5EDE-AE40-8836-BDB24D8F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5594-5274-6E17-89BC-D02113CF7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00" y="21641"/>
            <a:ext cx="10515600" cy="1325563"/>
          </a:xfrm>
        </p:spPr>
        <p:txBody>
          <a:bodyPr/>
          <a:lstStyle/>
          <a:p>
            <a:r>
              <a:rPr lang="en-US" dirty="0"/>
              <a:t>Calculating  Follow(A)  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16C8BF-3744-1841-1E98-8AB47639C8AF}"/>
              </a:ext>
            </a:extLst>
          </p:cNvPr>
          <p:cNvSpPr txBox="1"/>
          <p:nvPr/>
        </p:nvSpPr>
        <p:spPr>
          <a:xfrm>
            <a:off x="5343596" y="1812695"/>
            <a:ext cx="3155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 find the tokens </a:t>
            </a:r>
          </a:p>
          <a:p>
            <a:r>
              <a:rPr lang="en-US" dirty="0"/>
              <a:t>that any string that follows the production can start with.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CE32F5-8CB6-439F-E207-DAC559B1C79B}"/>
              </a:ext>
            </a:extLst>
          </p:cNvPr>
          <p:cNvSpPr/>
          <p:nvPr/>
        </p:nvSpPr>
        <p:spPr>
          <a:xfrm>
            <a:off x="8565860" y="1581863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054D83-DAAF-E495-C28D-1E6BD055C987}"/>
              </a:ext>
            </a:extLst>
          </p:cNvPr>
          <p:cNvSpPr/>
          <p:nvPr/>
        </p:nvSpPr>
        <p:spPr>
          <a:xfrm>
            <a:off x="708860" y="98296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F2D6D26-9744-06AC-A21B-490AA93BF9FF}"/>
              </a:ext>
            </a:extLst>
          </p:cNvPr>
          <p:cNvSpPr/>
          <p:nvPr/>
        </p:nvSpPr>
        <p:spPr>
          <a:xfrm>
            <a:off x="10362692" y="1581863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CFB1B3-D19E-EA16-FDEA-F763FF0F7015}"/>
              </a:ext>
            </a:extLst>
          </p:cNvPr>
          <p:cNvSpPr txBox="1"/>
          <p:nvPr/>
        </p:nvSpPr>
        <p:spPr>
          <a:xfrm>
            <a:off x="4705521" y="1076509"/>
            <a:ext cx="723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ONLY RULES WITH “” IN THEIR FIRST SET NEED SPECIAL ATTENTION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7F0D5A-868A-1866-2A5D-B38551FFBD22}"/>
              </a:ext>
            </a:extLst>
          </p:cNvPr>
          <p:cNvSpPr txBox="1"/>
          <p:nvPr/>
        </p:nvSpPr>
        <p:spPr>
          <a:xfrm>
            <a:off x="648586" y="4189228"/>
            <a:ext cx="624074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3EE993-F6FC-3002-9BC8-47A0AB68D19C}"/>
              </a:ext>
            </a:extLst>
          </p:cNvPr>
          <p:cNvSpPr txBox="1"/>
          <p:nvPr/>
        </p:nvSpPr>
        <p:spPr>
          <a:xfrm>
            <a:off x="443022" y="4834315"/>
            <a:ext cx="10600685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To compute FOLLOW(A) for all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nonterminals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 A, apply the following rules until nothing can be added to any FOLLOW set: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1. Place $ in FOLLOW(S), where S is the start symbol and $ is the input right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</a:rPr>
              <a:t>endmarker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2. If there is a production A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Þ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aBb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then everything in FIRST(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), except for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e,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is placed in FOLLOW(B).</a:t>
            </a:r>
          </a:p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3. If there is a production A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Þ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aB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, or a production A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Þ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aBb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where FIRST(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b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) contains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e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(i.e., 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b </a:t>
            </a:r>
            <a:r>
              <a:rPr lang="en-US" sz="1800" b="0" i="0" u="none" strike="noStrike" baseline="0" dirty="0" err="1">
                <a:latin typeface="Symbol" panose="05050102010706020507" pitchFamily="18" charset="2"/>
              </a:rPr>
              <a:t>Þe</a:t>
            </a:r>
            <a:r>
              <a:rPr lang="en-US" sz="1800" b="0" i="0" u="none" strike="noStrike" baseline="0" dirty="0">
                <a:latin typeface="Symbol" panose="05050102010706020507" pitchFamily="18" charset="2"/>
              </a:rPr>
              <a:t>), </a:t>
            </a:r>
          </a:p>
          <a:p>
            <a:pPr algn="l"/>
            <a:r>
              <a:rPr lang="en-US" dirty="0">
                <a:latin typeface="Symbol" panose="05050102010706020507" pitchFamily="18" charset="2"/>
              </a:rPr>
              <a:t>    </a:t>
            </a:r>
            <a:r>
              <a:rPr lang="en-US" sz="1800" b="0" i="0" u="none" strike="noStrike" baseline="0" dirty="0">
                <a:latin typeface="Times New Roman" panose="02020603050405020304" pitchFamily="18" charset="0"/>
              </a:rPr>
              <a:t>then everything in FOLLOW(A) is in FOLLOW(B).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390716-CB3F-47E7-DE10-94EEEE2BFFA4}"/>
              </a:ext>
            </a:extLst>
          </p:cNvPr>
          <p:cNvSpPr txBox="1"/>
          <p:nvPr/>
        </p:nvSpPr>
        <p:spPr>
          <a:xfrm>
            <a:off x="3615071" y="2863849"/>
            <a:ext cx="4827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ID        +        *         )          (          e           $</a:t>
            </a:r>
          </a:p>
          <a:p>
            <a:r>
              <a:rPr lang="en-US" dirty="0"/>
              <a:t> ━━━━━━━━━━━━━━━━━━━━</a:t>
            </a:r>
          </a:p>
          <a:p>
            <a:r>
              <a:rPr lang="en-US" dirty="0"/>
              <a:t>  Expr   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Expr2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Unit                         v       </a:t>
            </a:r>
            <a:r>
              <a:rPr lang="en-US" dirty="0" err="1"/>
              <a:t>v</a:t>
            </a:r>
            <a:r>
              <a:rPr lang="en-US" dirty="0"/>
              <a:t>        </a:t>
            </a:r>
            <a:r>
              <a:rPr lang="en-US" dirty="0" err="1"/>
              <a:t>v</a:t>
            </a:r>
            <a:r>
              <a:rPr lang="en-US" dirty="0"/>
              <a:t>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Op               v                                          </a:t>
            </a:r>
            <a:r>
              <a:rPr lang="en-US" dirty="0" err="1"/>
              <a:t>v</a:t>
            </a:r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64CBD4-2FED-68E9-89FB-A17FE61F7314}"/>
              </a:ext>
            </a:extLst>
          </p:cNvPr>
          <p:cNvSpPr txBox="1"/>
          <p:nvPr/>
        </p:nvSpPr>
        <p:spPr>
          <a:xfrm>
            <a:off x="3804449" y="2463739"/>
            <a:ext cx="180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Follow Set</a:t>
            </a:r>
          </a:p>
        </p:txBody>
      </p:sp>
    </p:spTree>
    <p:extLst>
      <p:ext uri="{BB962C8B-B14F-4D97-AF65-F5344CB8AC3E}">
        <p14:creationId xmlns:p14="http://schemas.microsoft.com/office/powerpoint/2010/main" val="3943121127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139"/>
            <a:ext cx="10515600" cy="1325563"/>
          </a:xfrm>
        </p:spPr>
        <p:txBody>
          <a:bodyPr/>
          <a:lstStyle/>
          <a:p>
            <a:r>
              <a:rPr lang="en-US" dirty="0"/>
              <a:t>The Follow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44791-E532-744D-B5EB-FA87CF04CE52}"/>
              </a:ext>
            </a:extLst>
          </p:cNvPr>
          <p:cNvSpPr/>
          <p:nvPr/>
        </p:nvSpPr>
        <p:spPr>
          <a:xfrm>
            <a:off x="6487604" y="1521894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998043" y="1171065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17634-15FC-B147-9529-1D9F35C75A46}"/>
              </a:ext>
            </a:extLst>
          </p:cNvPr>
          <p:cNvSpPr/>
          <p:nvPr/>
        </p:nvSpPr>
        <p:spPr>
          <a:xfrm>
            <a:off x="8918413" y="1521894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FE90DD-734B-C945-936C-53DC1F605FE1}"/>
              </a:ext>
            </a:extLst>
          </p:cNvPr>
          <p:cNvSpPr txBox="1"/>
          <p:nvPr/>
        </p:nvSpPr>
        <p:spPr>
          <a:xfrm>
            <a:off x="6487604" y="4072546"/>
            <a:ext cx="4310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 need to find the tokens that any string</a:t>
            </a:r>
          </a:p>
          <a:p>
            <a:r>
              <a:rPr lang="en-US" dirty="0"/>
              <a:t>that follows the production can start with.</a:t>
            </a:r>
          </a:p>
          <a:p>
            <a:r>
              <a:rPr lang="en-US" dirty="0"/>
              <a:t>$ and None in Follow/First+ sets are the same.   The None/$ terminal refer to the end of a  valid language sentence.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4589B8-02F1-C506-998E-306283DBA0D9}"/>
              </a:ext>
            </a:extLst>
          </p:cNvPr>
          <p:cNvSpPr txBox="1"/>
          <p:nvPr/>
        </p:nvSpPr>
        <p:spPr>
          <a:xfrm>
            <a:off x="956930" y="3934047"/>
            <a:ext cx="48271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           ID        +        *         )          (          e           $</a:t>
            </a:r>
          </a:p>
          <a:p>
            <a:r>
              <a:rPr lang="en-US" dirty="0"/>
              <a:t> ━━━━━━━━━━━━━━━━━━━━</a:t>
            </a:r>
          </a:p>
          <a:p>
            <a:r>
              <a:rPr lang="en-US" dirty="0"/>
              <a:t>  Expr   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Expr2                                         v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Unit                         v       </a:t>
            </a:r>
            <a:r>
              <a:rPr lang="en-US" dirty="0" err="1"/>
              <a:t>v</a:t>
            </a:r>
            <a:r>
              <a:rPr lang="en-US" dirty="0"/>
              <a:t>        </a:t>
            </a:r>
            <a:r>
              <a:rPr lang="en-US" dirty="0" err="1"/>
              <a:t>v</a:t>
            </a:r>
            <a:r>
              <a:rPr lang="en-US" dirty="0"/>
              <a:t>                                    </a:t>
            </a:r>
            <a:r>
              <a:rPr lang="en-US" dirty="0" err="1"/>
              <a:t>v</a:t>
            </a:r>
            <a:endParaRPr lang="en-US" dirty="0"/>
          </a:p>
          <a:p>
            <a:r>
              <a:rPr lang="en-US" dirty="0"/>
              <a:t>  Op               v                                          </a:t>
            </a:r>
            <a:r>
              <a:rPr lang="en-US" dirty="0" err="1"/>
              <a:t>v</a:t>
            </a:r>
            <a:r>
              <a:rPr lang="en-US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A25B43-5C4C-855C-AB37-79B70B939772}"/>
              </a:ext>
            </a:extLst>
          </p:cNvPr>
          <p:cNvSpPr txBox="1"/>
          <p:nvPr/>
        </p:nvSpPr>
        <p:spPr>
          <a:xfrm>
            <a:off x="1146308" y="3533937"/>
            <a:ext cx="18075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Follow Set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75BD5ED-49FA-030B-8C9B-F5A4F7893A92}"/>
              </a:ext>
            </a:extLst>
          </p:cNvPr>
          <p:cNvSpPr txBox="1"/>
          <p:nvPr/>
        </p:nvSpPr>
        <p:spPr>
          <a:xfrm>
            <a:off x="4829644" y="786734"/>
            <a:ext cx="7233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ONLY RULES WITH “” IN THEIR FIRST SET NEED SPECIAL ATTENTION</a:t>
            </a:r>
          </a:p>
        </p:txBody>
      </p:sp>
    </p:spTree>
    <p:extLst>
      <p:ext uri="{BB962C8B-B14F-4D97-AF65-F5344CB8AC3E}">
        <p14:creationId xmlns:p14="http://schemas.microsoft.com/office/powerpoint/2010/main" val="56827877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First+ 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D044791-E532-744D-B5EB-FA87CF04CE52}"/>
              </a:ext>
            </a:extLst>
          </p:cNvPr>
          <p:cNvSpPr/>
          <p:nvPr/>
        </p:nvSpPr>
        <p:spPr>
          <a:xfrm>
            <a:off x="4132180" y="2422952"/>
            <a:ext cx="1958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{“”}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117634-15FC-B147-9529-1D9F35C75A46}"/>
              </a:ext>
            </a:extLst>
          </p:cNvPr>
          <p:cNvSpPr/>
          <p:nvPr/>
        </p:nvSpPr>
        <p:spPr>
          <a:xfrm>
            <a:off x="6105369" y="2430158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Follow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NA</a:t>
            </a:r>
          </a:p>
          <a:p>
            <a:r>
              <a:rPr lang="en-US" dirty="0">
                <a:latin typeface="Courier" pitchFamily="2" charset="0"/>
              </a:rPr>
              <a:t>2: NA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NA</a:t>
            </a:r>
          </a:p>
          <a:p>
            <a:r>
              <a:rPr lang="en-US" dirty="0">
                <a:latin typeface="Courier" pitchFamily="2" charset="0"/>
              </a:rPr>
              <a:t>5: NA</a:t>
            </a:r>
          </a:p>
          <a:p>
            <a:r>
              <a:rPr lang="en-US" dirty="0">
                <a:latin typeface="Courier" pitchFamily="2" charset="0"/>
              </a:rPr>
              <a:t>6: NA</a:t>
            </a:r>
          </a:p>
          <a:p>
            <a:r>
              <a:rPr lang="en-US" dirty="0">
                <a:latin typeface="Courier" pitchFamily="2" charset="0"/>
              </a:rPr>
              <a:t>7: NA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8372299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67675369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2879481" y="5314874"/>
            <a:ext cx="754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For each non-terminal: if every production has a disjoint First+ set then</a:t>
            </a:r>
          </a:p>
          <a:p>
            <a:r>
              <a:rPr lang="en-US" b="1" i="1" dirty="0"/>
              <a:t>we do not need any backtracking!</a:t>
            </a:r>
          </a:p>
        </p:txBody>
      </p:sp>
    </p:spTree>
    <p:extLst>
      <p:ext uri="{BB962C8B-B14F-4D97-AF65-F5344CB8AC3E}">
        <p14:creationId xmlns:p14="http://schemas.microsoft.com/office/powerpoint/2010/main" val="2878025911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3411109" y="5645426"/>
            <a:ext cx="72401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non-terminal: if every production has a </a:t>
            </a:r>
            <a:r>
              <a:rPr lang="en-US" b="1" i="1" dirty="0"/>
              <a:t>disjoint First+ set </a:t>
            </a:r>
            <a:r>
              <a:rPr lang="en-US" i="1" dirty="0"/>
              <a:t>then</a:t>
            </a:r>
          </a:p>
          <a:p>
            <a:r>
              <a:rPr lang="en-US" i="1" dirty="0"/>
              <a:t>we do not need any backtracking!</a:t>
            </a:r>
          </a:p>
        </p:txBody>
      </p:sp>
    </p:spTree>
    <p:extLst>
      <p:ext uri="{BB962C8B-B14F-4D97-AF65-F5344CB8AC3E}">
        <p14:creationId xmlns:p14="http://schemas.microsoft.com/office/powerpoint/2010/main" val="2872948334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4FEBC-3A73-C04F-A743-09F1E4528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 we need backtracking?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654B967-9F94-FC48-BE79-CBA15B9229DF}"/>
              </a:ext>
            </a:extLst>
          </p:cNvPr>
          <p:cNvSpPr/>
          <p:nvPr/>
        </p:nvSpPr>
        <p:spPr>
          <a:xfrm>
            <a:off x="290662" y="2699951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B63EA1A-6A20-4046-A801-5C74CA5DFA71}"/>
              </a:ext>
            </a:extLst>
          </p:cNvPr>
          <p:cNvSpPr txBox="1"/>
          <p:nvPr/>
        </p:nvSpPr>
        <p:spPr>
          <a:xfrm>
            <a:off x="4548173" y="1470022"/>
            <a:ext cx="53899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The First+ set is the combination of First and Follow sets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7EA11D-76FA-D843-9610-E15BBD909065}"/>
              </a:ext>
            </a:extLst>
          </p:cNvPr>
          <p:cNvSpPr/>
          <p:nvPr/>
        </p:nvSpPr>
        <p:spPr>
          <a:xfrm>
            <a:off x="4611332" y="2422952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00FF"/>
                </a:highlight>
                <a:latin typeface="Courier" pitchFamily="2" charset="0"/>
              </a:rPr>
              <a:t>1: {‘(‘, ID}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highlight>
                  <a:srgbClr val="00FFFF"/>
                </a:highlight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F4CA7B-DCAC-F444-BC5B-85F9BEE053ED}"/>
              </a:ext>
            </a:extLst>
          </p:cNvPr>
          <p:cNvSpPr txBox="1"/>
          <p:nvPr/>
        </p:nvSpPr>
        <p:spPr>
          <a:xfrm>
            <a:off x="3411109" y="5645426"/>
            <a:ext cx="720024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For each non-terminal: if every production has a disjoint First+ set then</a:t>
            </a:r>
          </a:p>
          <a:p>
            <a:r>
              <a:rPr lang="en-US" i="1" dirty="0"/>
              <a:t>we do not need any backtracking!</a:t>
            </a:r>
          </a:p>
          <a:p>
            <a:endParaRPr lang="en-US" i="1" dirty="0"/>
          </a:p>
          <a:p>
            <a:r>
              <a:rPr lang="en-US" i="1" dirty="0"/>
              <a:t>Recursive Descent allows for easy predictive lookahead of two or more.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6E6165-908D-D340-9C24-C2A2DCA8EBE8}"/>
              </a:ext>
            </a:extLst>
          </p:cNvPr>
          <p:cNvSpPr txBox="1"/>
          <p:nvPr/>
        </p:nvSpPr>
        <p:spPr>
          <a:xfrm>
            <a:off x="7635018" y="2465117"/>
            <a:ext cx="445538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These grammars are called LL(1)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 - scanning the input left to right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 - left derivation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1 - how many look ahead symbols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i="1" dirty="0"/>
              <a:t>They are also called predictive grammars </a:t>
            </a:r>
          </a:p>
          <a:p>
            <a:endParaRPr lang="en-US" sz="2000" i="1" dirty="0"/>
          </a:p>
          <a:p>
            <a:r>
              <a:rPr lang="en-US" sz="2000" dirty="0"/>
              <a:t>Many programming languages are LL(1)</a:t>
            </a:r>
          </a:p>
        </p:txBody>
      </p:sp>
    </p:spTree>
    <p:extLst>
      <p:ext uri="{BB962C8B-B14F-4D97-AF65-F5344CB8AC3E}">
        <p14:creationId xmlns:p14="http://schemas.microsoft.com/office/powerpoint/2010/main" val="140784465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5A739-6343-1D94-FC67-BC5546D1F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194A5-BEDF-39D5-F141-EC63490F9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423" y="257669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/>
              <a:t>LEFT-FACTORING A GRAMMAR</a:t>
            </a:r>
          </a:p>
        </p:txBody>
      </p:sp>
    </p:spTree>
    <p:extLst>
      <p:ext uri="{BB962C8B-B14F-4D97-AF65-F5344CB8AC3E}">
        <p14:creationId xmlns:p14="http://schemas.microsoft.com/office/powerpoint/2010/main" val="449511108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496476032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448250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167904701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100F-852E-9005-1E81-B9110F20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5FC1653-BB2D-C695-2C8B-81A2522DFFAB}"/>
              </a:ext>
            </a:extLst>
          </p:cNvPr>
          <p:cNvSpPr txBox="1"/>
          <p:nvPr/>
        </p:nvSpPr>
        <p:spPr>
          <a:xfrm>
            <a:off x="988247" y="255665"/>
            <a:ext cx="703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Left Factoring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/>
              <p:nvPr/>
            </p:nvSpPr>
            <p:spPr>
              <a:xfrm>
                <a:off x="1567909" y="2037835"/>
                <a:ext cx="5877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909" y="2037835"/>
                <a:ext cx="5877549" cy="523220"/>
              </a:xfrm>
              <a:prstGeom prst="rect">
                <a:avLst/>
              </a:prstGeom>
              <a:blipFill>
                <a:blip r:embed="rId3"/>
                <a:stretch>
                  <a:fillRect l="-2075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/>
              <p:nvPr/>
            </p:nvSpPr>
            <p:spPr>
              <a:xfrm>
                <a:off x="1724062" y="4287453"/>
                <a:ext cx="63010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B ::=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62" y="4287453"/>
                <a:ext cx="6301060" cy="523220"/>
              </a:xfrm>
              <a:prstGeom prst="rect">
                <a:avLst/>
              </a:prstGeom>
              <a:blipFill>
                <a:blip r:embed="rId4"/>
                <a:stretch>
                  <a:fillRect l="-20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E732E-40DE-F734-F194-E65C99BA27A2}"/>
                  </a:ext>
                </a:extLst>
              </p:cNvPr>
              <p:cNvSpPr txBox="1"/>
              <p:nvPr/>
            </p:nvSpPr>
            <p:spPr>
              <a:xfrm>
                <a:off x="1724062" y="4775621"/>
                <a:ext cx="63010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C ::= </a:t>
                </a:r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∣</m:t>
                    </m:r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FCE732E-40DE-F734-F194-E65C99BA2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62" y="4775621"/>
                <a:ext cx="6301060" cy="523220"/>
              </a:xfrm>
              <a:prstGeom prst="rect">
                <a:avLst/>
              </a:prstGeom>
              <a:blipFill>
                <a:blip r:embed="rId5"/>
                <a:stretch>
                  <a:fillRect l="-2033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ED3C6D3-ED69-A489-05BF-9137E3797758}"/>
              </a:ext>
            </a:extLst>
          </p:cNvPr>
          <p:cNvSpPr txBox="1"/>
          <p:nvPr/>
        </p:nvSpPr>
        <p:spPr>
          <a:xfrm>
            <a:off x="1156170" y="3287646"/>
            <a:ext cx="3933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Left Factor this way: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/>
              <p:nvPr/>
            </p:nvSpPr>
            <p:spPr>
              <a:xfrm>
                <a:off x="1724062" y="3823388"/>
                <a:ext cx="587754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endParaRPr lang="en-US" sz="2800" baseline="-25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062" y="3823388"/>
                <a:ext cx="5877549" cy="523220"/>
              </a:xfrm>
              <a:prstGeom prst="rect">
                <a:avLst/>
              </a:prstGeom>
              <a:blipFill>
                <a:blip r:embed="rId6"/>
                <a:stretch>
                  <a:fillRect l="-217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620BEABB-EE4B-2F76-6E25-17CE589A802F}"/>
              </a:ext>
            </a:extLst>
          </p:cNvPr>
          <p:cNvSpPr txBox="1"/>
          <p:nvPr/>
        </p:nvSpPr>
        <p:spPr>
          <a:xfrm>
            <a:off x="894963" y="1034671"/>
            <a:ext cx="68121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Left Factoring:  the process of extracting and isolating common prefixes in a set of productions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0564EF2-76B1-ED65-ADF8-7EE064477C91}"/>
              </a:ext>
            </a:extLst>
          </p:cNvPr>
          <p:cNvSpPr txBox="1"/>
          <p:nvPr/>
        </p:nvSpPr>
        <p:spPr>
          <a:xfrm>
            <a:off x="763961" y="2782620"/>
            <a:ext cx="6812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So, define new Non-Terminal for Common Suffixes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A61D19-0A5D-4032-B61C-1E7A25086C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6978" y="4800891"/>
            <a:ext cx="3257550" cy="126682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3937CD6-D50E-DA46-0BB1-2A9D1738475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4115" y="3373053"/>
            <a:ext cx="3343275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CE516D1-3224-2319-2D82-393448608D72}"/>
              </a:ext>
            </a:extLst>
          </p:cNvPr>
          <p:cNvSpPr txBox="1"/>
          <p:nvPr/>
        </p:nvSpPr>
        <p:spPr>
          <a:xfrm>
            <a:off x="1156170" y="5596442"/>
            <a:ext cx="655049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Often permits a disjoint First Set for every production (RHS) avoiding backtracking.</a:t>
            </a:r>
          </a:p>
        </p:txBody>
      </p:sp>
    </p:spTree>
    <p:extLst>
      <p:ext uri="{BB962C8B-B14F-4D97-AF65-F5344CB8AC3E}">
        <p14:creationId xmlns:p14="http://schemas.microsoft.com/office/powerpoint/2010/main" val="1165639507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A4E4DE-61A3-4340-954F-842324A7F958}"/>
              </a:ext>
            </a:extLst>
          </p:cNvPr>
          <p:cNvSpPr txBox="1"/>
          <p:nvPr/>
        </p:nvSpPr>
        <p:spPr>
          <a:xfrm>
            <a:off x="6958584" y="4059936"/>
            <a:ext cx="330891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We cannot select the next</a:t>
            </a:r>
            <a:br>
              <a:rPr lang="en-US" i="1" dirty="0"/>
            </a:br>
            <a:r>
              <a:rPr lang="en-US" i="1" dirty="0"/>
              <a:t>rule based on a single look ahead</a:t>
            </a:r>
          </a:p>
          <a:p>
            <a:r>
              <a:rPr lang="en-US" i="1" dirty="0"/>
              <a:t>token!</a:t>
            </a:r>
          </a:p>
        </p:txBody>
      </p:sp>
    </p:spTree>
    <p:extLst>
      <p:ext uri="{BB962C8B-B14F-4D97-AF65-F5344CB8AC3E}">
        <p14:creationId xmlns:p14="http://schemas.microsoft.com/office/powerpoint/2010/main" val="3161722475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38200" y="55695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886968" y="48006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C75CF-7E9C-C347-B46F-D82D9FD87566}"/>
              </a:ext>
            </a:extLst>
          </p:cNvPr>
          <p:cNvSpPr/>
          <p:nvPr/>
        </p:nvSpPr>
        <p:spPr>
          <a:xfrm>
            <a:off x="6558323" y="52925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{}</a:t>
            </a:r>
          </a:p>
          <a:p>
            <a:r>
              <a:rPr lang="en-US" dirty="0">
                <a:latin typeface="Courier" pitchFamily="2" charset="0"/>
              </a:rPr>
              <a:t>2: {}</a:t>
            </a:r>
          </a:p>
          <a:p>
            <a:r>
              <a:rPr lang="en-US" dirty="0">
                <a:latin typeface="Courier" pitchFamily="2" charset="0"/>
              </a:rPr>
              <a:t>3: {}</a:t>
            </a:r>
          </a:p>
          <a:p>
            <a:r>
              <a:rPr lang="en-US" dirty="0">
                <a:latin typeface="Courier" pitchFamily="2" charset="0"/>
              </a:rPr>
              <a:t>4: {}</a:t>
            </a:r>
          </a:p>
        </p:txBody>
      </p:sp>
    </p:spTree>
    <p:extLst>
      <p:ext uri="{BB962C8B-B14F-4D97-AF65-F5344CB8AC3E}">
        <p14:creationId xmlns:p14="http://schemas.microsoft.com/office/powerpoint/2010/main" val="48565451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38200" y="55695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886968" y="48006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BC75CF-7E9C-C347-B46F-D82D9FD87566}"/>
              </a:ext>
            </a:extLst>
          </p:cNvPr>
          <p:cNvSpPr/>
          <p:nvPr/>
        </p:nvSpPr>
        <p:spPr>
          <a:xfrm>
            <a:off x="6558323" y="52925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{‘[‘}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{‘(‘}</a:t>
            </a:r>
          </a:p>
          <a:p>
            <a:r>
              <a:rPr lang="en-US" dirty="0">
                <a:latin typeface="Courier" pitchFamily="2" charset="0"/>
              </a:rPr>
              <a:t>4: {“”}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F1BC30-4BA1-B54E-81ED-8ED36F82B131}"/>
              </a:ext>
            </a:extLst>
          </p:cNvPr>
          <p:cNvSpPr txBox="1"/>
          <p:nvPr/>
        </p:nvSpPr>
        <p:spPr>
          <a:xfrm>
            <a:off x="7872984" y="6400542"/>
            <a:ext cx="4043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// We will need to compute the follow set</a:t>
            </a:r>
          </a:p>
        </p:txBody>
      </p:sp>
    </p:spTree>
    <p:extLst>
      <p:ext uri="{BB962C8B-B14F-4D97-AF65-F5344CB8AC3E}">
        <p14:creationId xmlns:p14="http://schemas.microsoft.com/office/powerpoint/2010/main" val="2469574405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Sometimes the grammar needs to be refactored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D006E1-1813-AB46-869B-3AEA24FA8B03}"/>
              </a:ext>
            </a:extLst>
          </p:cNvPr>
          <p:cNvSpPr/>
          <p:nvPr/>
        </p:nvSpPr>
        <p:spPr>
          <a:xfrm>
            <a:off x="930742" y="2709095"/>
            <a:ext cx="448250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::= ID</a:t>
            </a:r>
          </a:p>
          <a:p>
            <a:r>
              <a:rPr lang="en-US" dirty="0">
                <a:latin typeface="Courier" pitchFamily="2" charset="0"/>
              </a:rPr>
              <a:t>2:        |   ID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|   ID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135032-ED4F-4E48-A097-89D4AC31FC1A}"/>
              </a:ext>
            </a:extLst>
          </p:cNvPr>
          <p:cNvSpPr/>
          <p:nvPr/>
        </p:nvSpPr>
        <p:spPr>
          <a:xfrm>
            <a:off x="5746582" y="243209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{ID}</a:t>
            </a:r>
          </a:p>
          <a:p>
            <a:r>
              <a:rPr lang="en-US" dirty="0">
                <a:latin typeface="Courier" pitchFamily="2" charset="0"/>
              </a:rPr>
              <a:t>2: {ID}</a:t>
            </a:r>
          </a:p>
          <a:p>
            <a:r>
              <a:rPr lang="en-US" dirty="0">
                <a:latin typeface="Courier" pitchFamily="2" charset="0"/>
              </a:rPr>
              <a:t>3: {ID}</a:t>
            </a:r>
          </a:p>
          <a:p>
            <a:r>
              <a:rPr lang="en-US" dirty="0">
                <a:latin typeface="Courier" pitchFamily="2" charset="0"/>
              </a:rPr>
              <a:t>...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ED7205-21A7-9847-AFDB-0F7DD328AF82}"/>
              </a:ext>
            </a:extLst>
          </p:cNvPr>
          <p:cNvSpPr/>
          <p:nvPr/>
        </p:nvSpPr>
        <p:spPr>
          <a:xfrm>
            <a:off x="838200" y="5569545"/>
            <a:ext cx="525974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Factor      ::= ID </a:t>
            </a:r>
            <a:r>
              <a:rPr lang="en-US" dirty="0" err="1">
                <a:latin typeface="Courier" pitchFamily="2" charset="0"/>
              </a:rPr>
              <a:t>Option_args</a:t>
            </a:r>
            <a:endParaRPr lang="en-US" dirty="0">
              <a:latin typeface="Courier" pitchFamily="2" charset="0"/>
            </a:endParaRPr>
          </a:p>
          <a:p>
            <a:r>
              <a:rPr lang="en-US" dirty="0">
                <a:latin typeface="Courier" pitchFamily="2" charset="0"/>
              </a:rPr>
              <a:t>2: </a:t>
            </a:r>
            <a:r>
              <a:rPr lang="en-US" dirty="0" err="1">
                <a:latin typeface="Courier" pitchFamily="2" charset="0"/>
              </a:rPr>
              <a:t>Option_args</a:t>
            </a:r>
            <a:r>
              <a:rPr lang="en-US" dirty="0">
                <a:latin typeface="Courier" pitchFamily="2" charset="0"/>
              </a:rPr>
              <a:t> ::= ‘[‘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‘]’</a:t>
            </a:r>
          </a:p>
          <a:p>
            <a:r>
              <a:rPr lang="en-US" dirty="0">
                <a:latin typeface="Courier" pitchFamily="2" charset="0"/>
              </a:rPr>
              <a:t>3:             |   ‘(‘ </a:t>
            </a:r>
            <a:r>
              <a:rPr lang="en-US" dirty="0" err="1">
                <a:latin typeface="Courier" pitchFamily="2" charset="0"/>
              </a:rPr>
              <a:t>Args</a:t>
            </a:r>
            <a:r>
              <a:rPr lang="en-US" dirty="0">
                <a:latin typeface="Courier" pitchFamily="2" charset="0"/>
              </a:rPr>
              <a:t> ‘)’</a:t>
            </a:r>
          </a:p>
          <a:p>
            <a:r>
              <a:rPr lang="en-US" dirty="0">
                <a:latin typeface="Courier" pitchFamily="2" charset="0"/>
              </a:rPr>
              <a:t>4:             |   “”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9AAE05-AF36-EB44-A0BA-1F640DC24896}"/>
              </a:ext>
            </a:extLst>
          </p:cNvPr>
          <p:cNvSpPr txBox="1"/>
          <p:nvPr/>
        </p:nvSpPr>
        <p:spPr>
          <a:xfrm>
            <a:off x="886968" y="4800600"/>
            <a:ext cx="1672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 can refactor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CAF56-2EA5-364A-B9B2-E8666FA36AEE}"/>
              </a:ext>
            </a:extLst>
          </p:cNvPr>
          <p:cNvSpPr txBox="1"/>
          <p:nvPr/>
        </p:nvSpPr>
        <p:spPr>
          <a:xfrm>
            <a:off x="8339328" y="3602736"/>
            <a:ext cx="321447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It is not always possible to </a:t>
            </a:r>
          </a:p>
          <a:p>
            <a:r>
              <a:rPr lang="en-US" i="1" dirty="0"/>
              <a:t>rewrite grammars into a</a:t>
            </a:r>
          </a:p>
          <a:p>
            <a:r>
              <a:rPr lang="en-US" i="1" dirty="0"/>
              <a:t>predictive form, but many</a:t>
            </a:r>
          </a:p>
          <a:p>
            <a:r>
              <a:rPr lang="en-US" i="1" dirty="0"/>
              <a:t>programming languages can be.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98570C3-F2D9-6D4D-AA7D-D892FDEF721E}"/>
              </a:ext>
            </a:extLst>
          </p:cNvPr>
          <p:cNvSpPr/>
          <p:nvPr/>
        </p:nvSpPr>
        <p:spPr>
          <a:xfrm>
            <a:off x="6558323" y="5292546"/>
            <a:ext cx="162348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00FF00"/>
                </a:highlight>
                <a:latin typeface="Courier" pitchFamily="2" charset="0"/>
              </a:rPr>
              <a:t>1: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{‘[‘}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{‘(‘}</a:t>
            </a:r>
          </a:p>
          <a:p>
            <a:r>
              <a:rPr lang="en-US" dirty="0">
                <a:latin typeface="Courier" pitchFamily="2" charset="0"/>
              </a:rPr>
              <a:t>4: {“”}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847865-7BAF-E042-8CFD-EDF1CC5DE686}"/>
              </a:ext>
            </a:extLst>
          </p:cNvPr>
          <p:cNvSpPr txBox="1"/>
          <p:nvPr/>
        </p:nvSpPr>
        <p:spPr>
          <a:xfrm>
            <a:off x="7872984" y="6400542"/>
            <a:ext cx="40438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// We will need to compute the follow set</a:t>
            </a:r>
          </a:p>
        </p:txBody>
      </p:sp>
    </p:spTree>
    <p:extLst>
      <p:ext uri="{BB962C8B-B14F-4D97-AF65-F5344CB8AC3E}">
        <p14:creationId xmlns:p14="http://schemas.microsoft.com/office/powerpoint/2010/main" val="3907583971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16100F-852E-9005-1E81-B9110F20C3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C5FC1653-BB2D-C695-2C8B-81A2522DFFAB}"/>
              </a:ext>
            </a:extLst>
          </p:cNvPr>
          <p:cNvSpPr txBox="1"/>
          <p:nvPr/>
        </p:nvSpPr>
        <p:spPr>
          <a:xfrm>
            <a:off x="2577562" y="318929"/>
            <a:ext cx="70368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 Pattern for Left Factoring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/>
              <p:nvPr/>
            </p:nvSpPr>
            <p:spPr>
              <a:xfrm>
                <a:off x="1274020" y="1365688"/>
                <a:ext cx="587754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800" b="0" i="1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0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m:rPr>
                        <m:sty m:val="p"/>
                      </m:rPr>
                      <a:rPr lang="en-US" sz="2800" b="0" i="0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b="0" dirty="0"/>
              </a:p>
              <a:p>
                <a:r>
                  <a:rPr lang="en-US" sz="2800" dirty="0"/>
                  <a:t>    # Where B_# can be in T, or NT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EDFDB10-DC10-5818-F184-6A62FB8627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4020" y="1365688"/>
                <a:ext cx="5877549" cy="954107"/>
              </a:xfrm>
              <a:prstGeom prst="rect">
                <a:avLst/>
              </a:prstGeom>
              <a:blipFill>
                <a:blip r:embed="rId3"/>
                <a:stretch>
                  <a:fillRect l="-2178" t="-6369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/>
              <p:nvPr/>
            </p:nvSpPr>
            <p:spPr>
              <a:xfrm>
                <a:off x="1690708" y="3726023"/>
                <a:ext cx="281184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B ::=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i="1" baseline="-25000" dirty="0" smtClean="0"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lang="en-US" sz="2800" baseline="-25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1F45A1-27C1-519B-71E3-FF352CB2F5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0708" y="3726023"/>
                <a:ext cx="2811844" cy="523220"/>
              </a:xfrm>
              <a:prstGeom prst="rect">
                <a:avLst/>
              </a:prstGeom>
              <a:blipFill>
                <a:blip r:embed="rId4"/>
                <a:stretch>
                  <a:fillRect l="-432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ED3C6D3-ED69-A489-05BF-9137E3797758}"/>
              </a:ext>
            </a:extLst>
          </p:cNvPr>
          <p:cNvSpPr txBox="1"/>
          <p:nvPr/>
        </p:nvSpPr>
        <p:spPr>
          <a:xfrm>
            <a:off x="1122819" y="2577856"/>
            <a:ext cx="39332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Left Factor this way: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/>
              <p:nvPr/>
            </p:nvSpPr>
            <p:spPr>
              <a:xfrm>
                <a:off x="1587342" y="3139058"/>
                <a:ext cx="305410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A ::=  </a:t>
                </a:r>
                <a14:m>
                  <m:oMath xmlns:m="http://schemas.openxmlformats.org/officeDocument/2006/math">
                    <m:r>
                      <a:rPr lang="en-US" sz="28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 | </m:t>
                    </m:r>
                    <m:r>
                      <m:rPr>
                        <m:sty m:val="p"/>
                      </m:rPr>
                      <a:rPr lang="en-US" sz="2800" b="0" i="1" dirty="0" smtClean="0"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endParaRPr lang="en-US" sz="2800" baseline="-250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856CFF5-722C-C9AB-98EE-C634950AAF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7342" y="3139058"/>
                <a:ext cx="3054105" cy="523220"/>
              </a:xfrm>
              <a:prstGeom prst="rect">
                <a:avLst/>
              </a:prstGeom>
              <a:blipFill>
                <a:blip r:embed="rId5"/>
                <a:stretch>
                  <a:fillRect l="-3992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8B8F47C-A175-BC47-FA3F-4901FD4170AF}"/>
              </a:ext>
            </a:extLst>
          </p:cNvPr>
          <p:cNvSpPr txBox="1"/>
          <p:nvPr/>
        </p:nvSpPr>
        <p:spPr>
          <a:xfrm>
            <a:off x="1165759" y="4557338"/>
            <a:ext cx="60940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Learning Tip:</a:t>
            </a:r>
          </a:p>
          <a:p>
            <a:r>
              <a:rPr lang="en-US" sz="2400" dirty="0"/>
              <a:t>    Left factoring = factor like algebra:</a:t>
            </a:r>
            <a:br>
              <a:rPr lang="en-US" sz="2400" dirty="0"/>
            </a:br>
            <a:r>
              <a:rPr lang="en-US" sz="2400" dirty="0"/>
              <a:t>    </a:t>
            </a:r>
            <a:r>
              <a:rPr lang="en-US" sz="2400" dirty="0">
                <a:latin typeface="Courier New" panose="02070309020205020404" pitchFamily="49" charset="0"/>
              </a:rPr>
              <a:t>ab + ac + ad → a(b + c + d)</a:t>
            </a:r>
            <a:endParaRPr lang="en-US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22AB38-541C-7AF9-FFF8-90E9A13A49C8}"/>
              </a:ext>
            </a:extLst>
          </p:cNvPr>
          <p:cNvSpPr txBox="1"/>
          <p:nvPr/>
        </p:nvSpPr>
        <p:spPr>
          <a:xfrm>
            <a:off x="6921662" y="1054362"/>
            <a:ext cx="43267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Example:</a:t>
            </a:r>
          </a:p>
          <a:p>
            <a:r>
              <a:rPr lang="en-US" sz="2400" dirty="0"/>
              <a:t>     </a:t>
            </a:r>
            <a:r>
              <a:rPr lang="en-US" sz="2400" dirty="0" err="1"/>
              <a:t>stmt</a:t>
            </a:r>
            <a:r>
              <a:rPr lang="en-US" sz="2400" dirty="0"/>
              <a:t> ::= if expr then </a:t>
            </a:r>
            <a:r>
              <a:rPr lang="en-US" sz="2400" dirty="0" err="1"/>
              <a:t>stmt</a:t>
            </a:r>
            <a:endParaRPr lang="en-US" sz="2400" dirty="0"/>
          </a:p>
          <a:p>
            <a:r>
              <a:rPr lang="en-US" sz="2400" dirty="0"/>
              <a:t>                 |    if expr then </a:t>
            </a:r>
            <a:r>
              <a:rPr lang="en-US" sz="2400" dirty="0" err="1"/>
              <a:t>stmt</a:t>
            </a:r>
            <a:r>
              <a:rPr lang="en-US" sz="2400" dirty="0"/>
              <a:t> else </a:t>
            </a:r>
            <a:r>
              <a:rPr lang="en-US" sz="2400" dirty="0" err="1"/>
              <a:t>stmt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Change to:</a:t>
            </a:r>
          </a:p>
          <a:p>
            <a:r>
              <a:rPr lang="en-US" sz="2400" dirty="0"/>
              <a:t>      </a:t>
            </a:r>
            <a:r>
              <a:rPr lang="en-US" sz="2400" dirty="0" err="1"/>
              <a:t>stmt</a:t>
            </a:r>
            <a:r>
              <a:rPr lang="en-US" sz="2400" dirty="0"/>
              <a:t> ::= if expr then </a:t>
            </a:r>
            <a:r>
              <a:rPr lang="en-US" sz="2400" dirty="0" err="1"/>
              <a:t>stmt</a:t>
            </a:r>
            <a:r>
              <a:rPr lang="en-US" sz="2400" dirty="0"/>
              <a:t> S</a:t>
            </a:r>
          </a:p>
          <a:p>
            <a:r>
              <a:rPr lang="en-US" sz="2400" dirty="0"/>
              <a:t>       S       ::= else </a:t>
            </a:r>
            <a:r>
              <a:rPr lang="en-US" sz="2400" dirty="0" err="1"/>
              <a:t>stmt</a:t>
            </a:r>
            <a:r>
              <a:rPr lang="en-US" sz="2400" dirty="0"/>
              <a:t> |  “”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051C5C-E5B1-935D-4BF0-E6F4D1772FF9}"/>
              </a:ext>
            </a:extLst>
          </p:cNvPr>
          <p:cNvSpPr txBox="1"/>
          <p:nvPr/>
        </p:nvSpPr>
        <p:spPr>
          <a:xfrm>
            <a:off x="6780618" y="4501778"/>
            <a:ext cx="44678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Note:</a:t>
            </a:r>
          </a:p>
          <a:p>
            <a:r>
              <a:rPr lang="en-US" sz="2400" dirty="0"/>
              <a:t>     Not left recursion:</a:t>
            </a:r>
          </a:p>
          <a:p>
            <a:r>
              <a:rPr lang="en-US" sz="2400" dirty="0"/>
              <a:t>         (left NT creates infinite loop)</a:t>
            </a:r>
          </a:p>
          <a:p>
            <a:r>
              <a:rPr lang="en-US" sz="2400" dirty="0"/>
              <a:t>     Just left factoring:</a:t>
            </a:r>
          </a:p>
          <a:p>
            <a:r>
              <a:rPr lang="en-US" sz="2400" dirty="0"/>
              <a:t>          left item looks the same </a:t>
            </a:r>
          </a:p>
        </p:txBody>
      </p:sp>
    </p:spTree>
    <p:extLst>
      <p:ext uri="{BB962C8B-B14F-4D97-AF65-F5344CB8AC3E}">
        <p14:creationId xmlns:p14="http://schemas.microsoft.com/office/powerpoint/2010/main" val="291489300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D758-013C-594A-9A4A-E7AF5230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131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We now have a full top-down </a:t>
            </a:r>
            <a:br>
              <a:rPr lang="en-US" dirty="0"/>
            </a:br>
            <a:r>
              <a:rPr lang="en-US" dirty="0"/>
              <a:t>LL(1) parsing algorithm!</a:t>
            </a:r>
          </a:p>
        </p:txBody>
      </p:sp>
    </p:spTree>
    <p:extLst>
      <p:ext uri="{BB962C8B-B14F-4D97-AF65-F5344CB8AC3E}">
        <p14:creationId xmlns:p14="http://schemas.microsoft.com/office/powerpoint/2010/main" val="196382941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D1F5A85-E49B-0F45-99DD-0A4464DDCB81}"/>
              </a:ext>
            </a:extLst>
          </p:cNvPr>
          <p:cNvSpPr txBox="1"/>
          <p:nvPr/>
        </p:nvSpPr>
        <p:spPr>
          <a:xfrm>
            <a:off x="400591" y="291110"/>
            <a:ext cx="5985934" cy="427809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urier" pitchFamily="2" charset="0"/>
              </a:rPr>
              <a:t>root = start symbol;</a:t>
            </a:r>
            <a:br>
              <a:rPr lang="en-US" sz="1600" dirty="0">
                <a:latin typeface="Courier" pitchFamily="2" charset="0"/>
              </a:rPr>
            </a:br>
            <a:r>
              <a:rPr lang="en-US" sz="1600" dirty="0">
                <a:latin typeface="Courier" pitchFamily="2" charset="0"/>
              </a:rPr>
              <a:t>focus = root;</a:t>
            </a:r>
          </a:p>
          <a:p>
            <a:r>
              <a:rPr lang="en-US" sz="1600" dirty="0">
                <a:latin typeface="Courier" pitchFamily="2" charset="0"/>
              </a:rPr>
              <a:t>push(None);</a:t>
            </a:r>
          </a:p>
          <a:p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();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while</a:t>
            </a:r>
            <a:r>
              <a:rPr lang="en-US" sz="1600" dirty="0">
                <a:latin typeface="Courier" pitchFamily="2" charset="0"/>
              </a:rPr>
              <a:t> (true):</a:t>
            </a:r>
          </a:p>
          <a:p>
            <a:r>
              <a:rPr lang="en-US" sz="1600" dirty="0">
                <a:latin typeface="Courier" pitchFamily="2" charset="0"/>
              </a:rPr>
              <a:t>  </a:t>
            </a:r>
            <a:r>
              <a:rPr lang="en-US" sz="1600" b="1" dirty="0">
                <a:latin typeface="Courier" pitchFamily="2" charset="0"/>
              </a:rPr>
              <a:t>if</a:t>
            </a:r>
            <a:r>
              <a:rPr lang="en-US" sz="1600" dirty="0">
                <a:latin typeface="Courier" pitchFamily="2" charset="0"/>
              </a:rPr>
              <a:t> (focus is a nonterminal)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>
                <a:highlight>
                  <a:srgbClr val="FFFF00"/>
                </a:highlight>
                <a:latin typeface="Courier" pitchFamily="2" charset="0"/>
              </a:rPr>
              <a:t>pick next rule (A ::= B1,B2,B3...BN);</a:t>
            </a:r>
          </a:p>
          <a:p>
            <a:r>
              <a:rPr lang="en-US" sz="1600" dirty="0">
                <a:latin typeface="Courier" pitchFamily="2" charset="0"/>
              </a:rPr>
              <a:t>    push(BN... B3, B2);</a:t>
            </a:r>
          </a:p>
          <a:p>
            <a:r>
              <a:rPr lang="en-US" sz="1600" dirty="0">
                <a:latin typeface="Courier" pitchFamily="2" charset="0"/>
              </a:rPr>
              <a:t>    focus = B1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(focus ==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)</a:t>
            </a:r>
          </a:p>
          <a:p>
            <a:r>
              <a:rPr lang="en-US" sz="1600" dirty="0">
                <a:latin typeface="Courier" pitchFamily="2" charset="0"/>
              </a:rPr>
              <a:t>    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 </a:t>
            </a:r>
            <a:r>
              <a:rPr lang="en-US" sz="1600" dirty="0" err="1">
                <a:latin typeface="Courier" pitchFamily="2" charset="0"/>
              </a:rPr>
              <a:t>s.token</a:t>
            </a:r>
            <a:r>
              <a:rPr lang="en-US" sz="1600" dirty="0">
                <a:latin typeface="Courier" pitchFamily="2" charset="0"/>
              </a:rPr>
              <a:t>()</a:t>
            </a:r>
          </a:p>
          <a:p>
            <a:r>
              <a:rPr lang="en-US" sz="1600" dirty="0">
                <a:latin typeface="Courier" pitchFamily="2" charset="0"/>
              </a:rPr>
              <a:t>    focus = pop()</a:t>
            </a:r>
          </a:p>
          <a:p>
            <a:endParaRPr lang="en-US" sz="1600" dirty="0">
              <a:latin typeface="Courier" pitchFamily="2" charset="0"/>
            </a:endParaRPr>
          </a:p>
          <a:p>
            <a:r>
              <a:rPr lang="en-US" sz="1600" b="1" dirty="0">
                <a:latin typeface="Courier" pitchFamily="2" charset="0"/>
              </a:rPr>
              <a:t>  else if </a:t>
            </a:r>
            <a:r>
              <a:rPr lang="en-US" sz="1600" dirty="0">
                <a:latin typeface="Courier" pitchFamily="2" charset="0"/>
              </a:rPr>
              <a:t>(</a:t>
            </a:r>
            <a:r>
              <a:rPr lang="en-US" sz="1600" dirty="0" err="1">
                <a:latin typeface="Courier" pitchFamily="2" charset="0"/>
              </a:rPr>
              <a:t>to_match</a:t>
            </a:r>
            <a:r>
              <a:rPr lang="en-US" sz="1600" dirty="0">
                <a:latin typeface="Courier" pitchFamily="2" charset="0"/>
              </a:rPr>
              <a:t> == None and focus == None) </a:t>
            </a:r>
          </a:p>
          <a:p>
            <a:r>
              <a:rPr lang="en-US" sz="1600" dirty="0">
                <a:latin typeface="Courier" pitchFamily="2" charset="0"/>
              </a:rPr>
              <a:t>    Accept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A103AB-5157-9743-BC3A-0C7404719604}"/>
              </a:ext>
            </a:extLst>
          </p:cNvPr>
          <p:cNvSpPr/>
          <p:nvPr/>
        </p:nvSpPr>
        <p:spPr>
          <a:xfrm>
            <a:off x="8191454" y="508669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20472EB-D5AC-5F46-882E-C08B54827B08}"/>
              </a:ext>
            </a:extLst>
          </p:cNvPr>
          <p:cNvSpPr/>
          <p:nvPr/>
        </p:nvSpPr>
        <p:spPr>
          <a:xfrm>
            <a:off x="5676807" y="231670"/>
            <a:ext cx="2275544" cy="2308324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9C8629-3ADA-3C4A-93B6-1C3EF89C3734}"/>
              </a:ext>
            </a:extLst>
          </p:cNvPr>
          <p:cNvSpPr txBox="1"/>
          <p:nvPr/>
        </p:nvSpPr>
        <p:spPr>
          <a:xfrm>
            <a:off x="2388382" y="5167290"/>
            <a:ext cx="7415235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To pick the next rule, compare </a:t>
            </a:r>
            <a:r>
              <a:rPr lang="en-US" dirty="0" err="1">
                <a:latin typeface="Courier" pitchFamily="2" charset="0"/>
              </a:rPr>
              <a:t>to_match</a:t>
            </a:r>
            <a:r>
              <a:rPr lang="en-US" dirty="0">
                <a:latin typeface="Courier" pitchFamily="2" charset="0"/>
              </a:rPr>
              <a:t> </a:t>
            </a:r>
            <a:r>
              <a:rPr lang="en-US" dirty="0"/>
              <a:t>with the possible </a:t>
            </a:r>
            <a:r>
              <a:rPr lang="en-US" dirty="0">
                <a:latin typeface="Courier" pitchFamily="2" charset="0"/>
              </a:rPr>
              <a:t>first+ </a:t>
            </a:r>
            <a:r>
              <a:rPr lang="en-US" dirty="0"/>
              <a:t>sets. </a:t>
            </a:r>
            <a:br>
              <a:rPr lang="en-US" dirty="0"/>
            </a:br>
            <a:r>
              <a:rPr lang="en-US" dirty="0"/>
              <a:t>Pick the rule whose </a:t>
            </a:r>
            <a:r>
              <a:rPr lang="en-US" dirty="0">
                <a:latin typeface="Courier" pitchFamily="2" charset="0"/>
              </a:rPr>
              <a:t>first+</a:t>
            </a:r>
            <a:r>
              <a:rPr lang="en-US" dirty="0"/>
              <a:t> set contains </a:t>
            </a:r>
            <a:r>
              <a:rPr lang="en-US" dirty="0" err="1">
                <a:latin typeface="Courier" pitchFamily="2" charset="0"/>
              </a:rPr>
              <a:t>to_match</a:t>
            </a:r>
            <a:r>
              <a:rPr lang="en-US" dirty="0"/>
              <a:t>.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If there is no such rule then it is a parsing error.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F9E17-35AC-C040-866C-9B5BE2EAE0D8}"/>
              </a:ext>
            </a:extLst>
          </p:cNvPr>
          <p:cNvSpPr txBox="1"/>
          <p:nvPr/>
        </p:nvSpPr>
        <p:spPr>
          <a:xfrm>
            <a:off x="8823960" y="2768748"/>
            <a:ext cx="217790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input grammar,</a:t>
            </a:r>
            <a:br>
              <a:rPr lang="en-US" i="1" dirty="0"/>
            </a:br>
            <a:r>
              <a:rPr lang="en-US" i="1" dirty="0"/>
              <a:t>refactored to remove</a:t>
            </a:r>
            <a:br>
              <a:rPr lang="en-US" i="1" dirty="0"/>
            </a:br>
            <a:r>
              <a:rPr lang="en-US" i="1" dirty="0"/>
              <a:t>left recursion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7674A-E2F7-774B-9FDF-777EB93B5C45}"/>
              </a:ext>
            </a:extLst>
          </p:cNvPr>
          <p:cNvSpPr txBox="1"/>
          <p:nvPr/>
        </p:nvSpPr>
        <p:spPr>
          <a:xfrm>
            <a:off x="5849112" y="2768748"/>
            <a:ext cx="19349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First+ sets for each</a:t>
            </a:r>
            <a:br>
              <a:rPr lang="en-US" i="1" dirty="0"/>
            </a:br>
            <a:r>
              <a:rPr lang="en-US" i="1" dirty="0"/>
              <a:t>production rule</a:t>
            </a:r>
          </a:p>
        </p:txBody>
      </p:sp>
    </p:spTree>
    <p:extLst>
      <p:ext uri="{BB962C8B-B14F-4D97-AF65-F5344CB8AC3E}">
        <p14:creationId xmlns:p14="http://schemas.microsoft.com/office/powerpoint/2010/main" val="1468273350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2CCD-B8BC-B843-B90E-FF764E69C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423" y="1585900"/>
            <a:ext cx="10515600" cy="2259542"/>
          </a:xfrm>
        </p:spPr>
        <p:txBody>
          <a:bodyPr/>
          <a:lstStyle/>
          <a:p>
            <a:pPr algn="ctr"/>
            <a:r>
              <a:rPr lang="en-US" dirty="0"/>
              <a:t>Moving on to a simpler implementation:</a:t>
            </a:r>
            <a:br>
              <a:rPr lang="en-US" dirty="0"/>
            </a:br>
            <a:br>
              <a:rPr lang="en-US" dirty="0"/>
            </a:br>
            <a:r>
              <a:rPr lang="en-US" dirty="0"/>
              <a:t>Recursive Descent Parser</a:t>
            </a:r>
          </a:p>
        </p:txBody>
      </p:sp>
    </p:spTree>
    <p:extLst>
      <p:ext uri="{BB962C8B-B14F-4D97-AF65-F5344CB8AC3E}">
        <p14:creationId xmlns:p14="http://schemas.microsoft.com/office/powerpoint/2010/main" val="2524048308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6A4130-5D0E-DA48-B73C-8392BB9ECB07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040701424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281E4-6231-B242-A075-00A0A288D10F}"/>
              </a:ext>
            </a:extLst>
          </p:cNvPr>
          <p:cNvSpPr txBox="1"/>
          <p:nvPr/>
        </p:nvSpPr>
        <p:spPr>
          <a:xfrm>
            <a:off x="6764866" y="1585480"/>
            <a:ext cx="26688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29B6BAF-6944-CE4E-BE10-9856E223EC13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1432626646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A281E4-6231-B242-A075-00A0A288D10F}"/>
              </a:ext>
            </a:extLst>
          </p:cNvPr>
          <p:cNvSpPr txBox="1"/>
          <p:nvPr/>
        </p:nvSpPr>
        <p:spPr>
          <a:xfrm>
            <a:off x="6764866" y="1585480"/>
            <a:ext cx="367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 </a:t>
            </a:r>
          </a:p>
          <a:p>
            <a:r>
              <a:rPr lang="en-US" i="1" dirty="0"/>
              <a:t>We parse a Unit followed by an Expr2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F97C993-0880-7440-AC56-90CDB9F6C996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2043169205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29D35E-DBDD-6144-A7D9-5D93088C5744}"/>
              </a:ext>
            </a:extLst>
          </p:cNvPr>
          <p:cNvSpPr txBox="1"/>
          <p:nvPr/>
        </p:nvSpPr>
        <p:spPr>
          <a:xfrm>
            <a:off x="5886325" y="2674894"/>
            <a:ext cx="39676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We can just write exactly that!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367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Expr? </a:t>
            </a:r>
          </a:p>
          <a:p>
            <a:r>
              <a:rPr lang="en-US" i="1" dirty="0"/>
              <a:t>We parse a Unit followed by an Expr2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166F378-5647-AF40-9B86-498B4156AD4E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67A2B4-768D-7A4A-B20F-620EAF5DDB35}"/>
              </a:ext>
            </a:extLst>
          </p:cNvPr>
          <p:cNvSpPr/>
          <p:nvPr/>
        </p:nvSpPr>
        <p:spPr>
          <a:xfrm>
            <a:off x="6576607" y="3335867"/>
            <a:ext cx="4461933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28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parse_Expr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28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.parse_Unit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();</a:t>
            </a: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.parse_Expr2();</a:t>
            </a:r>
          </a:p>
          <a:p>
            <a:r>
              <a:rPr lang="en-US" sz="28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28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2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4463873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957C6A-893E-694F-B916-8039152D7645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</p:spTree>
    <p:extLst>
      <p:ext uri="{BB962C8B-B14F-4D97-AF65-F5344CB8AC3E}">
        <p14:creationId xmlns:p14="http://schemas.microsoft.com/office/powerpoint/2010/main" val="3437154383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2467940779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828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Expr2?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8E83A0-ADF9-E849-B701-B2AE97232197}"/>
              </a:ext>
            </a:extLst>
          </p:cNvPr>
          <p:cNvSpPr/>
          <p:nvPr/>
        </p:nvSpPr>
        <p:spPr>
          <a:xfrm>
            <a:off x="4486837" y="2316531"/>
            <a:ext cx="606462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400BD9"/>
                </a:solidFill>
                <a:latin typeface="Menlo" panose="020B0609030804020204" pitchFamily="49" charset="0"/>
              </a:rPr>
              <a:t>parse_Expr2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b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Expr2 ::= Op Unit Expr2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[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.parse_Op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.parse_Unit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.parse_Expr2()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Expr2 ::= "" 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in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[</a:t>
            </a:r>
            <a:r>
              <a:rPr lang="en-US" sz="1400" dirty="0">
                <a:solidFill>
                  <a:srgbClr val="C814C9"/>
                </a:solidFill>
                <a:latin typeface="Menlo" panose="020B0609030804020204" pitchFamily="49" charset="0"/>
              </a:rPr>
              <a:t>None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”RPAR"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       else: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     </a:t>
            </a:r>
            <a:r>
              <a:rPr lang="en-US" sz="1400" b="1" dirty="0">
                <a:solidFill>
                  <a:srgbClr val="2EAEBB"/>
                </a:solidFill>
                <a:latin typeface="Menlo" panose="020B0609030804020204" pitchFamily="49" charset="0"/>
              </a:rPr>
              <a:t>raise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ParserException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self.linennumber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line number (for you to do)</a:t>
            </a:r>
            <a:endParaRPr lang="en-US" sz="14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       </a:t>
            </a:r>
            <a:r>
              <a:rPr lang="en-US" sz="14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4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              	    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observed token</a:t>
            </a:r>
          </a:p>
          <a:p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       [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latin typeface="Menlo" panose="020B0609030804020204" pitchFamily="49" charset="0"/>
              </a:rPr>
              <a:t>”RPAR"</a:t>
            </a:r>
            <a:r>
              <a:rPr lang="en-US" sz="1400" dirty="0">
                <a:solidFill>
                  <a:srgbClr val="000000"/>
                </a:solidFill>
                <a:latin typeface="Menlo" panose="020B0609030804020204" pitchFamily="49" charset="0"/>
              </a:rPr>
              <a:t>])         </a:t>
            </a:r>
            <a:r>
              <a:rPr lang="en-US" sz="1400" dirty="0">
                <a:solidFill>
                  <a:srgbClr val="B42419"/>
                </a:solidFill>
                <a:latin typeface="Menlo" panose="020B0609030804020204" pitchFamily="49" charset="0"/>
              </a:rPr>
              <a:t># expected token </a:t>
            </a: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95423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8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2708247622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80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8016679-012E-6C4D-A40D-A3A31CC3C26D}"/>
              </a:ext>
            </a:extLst>
          </p:cNvPr>
          <p:cNvSpPr/>
          <p:nvPr/>
        </p:nvSpPr>
        <p:spPr>
          <a:xfrm>
            <a:off x="3432987" y="2871836"/>
            <a:ext cx="4145722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16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Unit  ::= ‘(‘ Expr ‘)’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.parse_Expr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"RPAR"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Unit :: = ID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996DFA-6A6C-FF36-576C-8920DDB6F895}"/>
              </a:ext>
            </a:extLst>
          </p:cNvPr>
          <p:cNvSpPr txBox="1"/>
          <p:nvPr/>
        </p:nvSpPr>
        <p:spPr>
          <a:xfrm>
            <a:off x="7578709" y="2368669"/>
            <a:ext cx="412226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>
                <a:highlight>
                  <a:srgbClr val="FFFF00"/>
                </a:highlight>
              </a:rPr>
              <a:t>def eat(self, </a:t>
            </a:r>
            <a:r>
              <a:rPr lang="en-US" sz="1400" dirty="0" err="1">
                <a:highlight>
                  <a:srgbClr val="FFFF00"/>
                </a:highlight>
              </a:rPr>
              <a:t>expected_token</a:t>
            </a:r>
            <a:r>
              <a:rPr lang="en-US" sz="1400" dirty="0">
                <a:highlight>
                  <a:srgbClr val="FFFF00"/>
                </a:highlight>
              </a:rPr>
              <a:t>):</a:t>
            </a:r>
          </a:p>
          <a:p>
            <a:r>
              <a:rPr lang="en-US" sz="1400" dirty="0"/>
              <a:t>    if </a:t>
            </a:r>
            <a:r>
              <a:rPr lang="en-US" sz="1400" dirty="0" err="1"/>
              <a:t>self.to_match</a:t>
            </a:r>
            <a:r>
              <a:rPr lang="en-US" sz="1400" dirty="0"/>
              <a:t> == </a:t>
            </a:r>
            <a:r>
              <a:rPr lang="en-US" sz="1400" dirty="0" err="1"/>
              <a:t>expected_token</a:t>
            </a:r>
            <a:r>
              <a:rPr lang="en-US" sz="1400" dirty="0"/>
              <a:t>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self.advance</a:t>
            </a:r>
            <a:r>
              <a:rPr lang="en-US" sz="1400" dirty="0"/>
              <a:t>()  # move to the next token</a:t>
            </a:r>
          </a:p>
          <a:p>
            <a:r>
              <a:rPr lang="en-US" sz="1400" dirty="0"/>
              <a:t>    else:</a:t>
            </a:r>
          </a:p>
          <a:p>
            <a:r>
              <a:rPr lang="en-US" sz="1400" dirty="0"/>
              <a:t>        raise </a:t>
            </a:r>
            <a:r>
              <a:rPr lang="en-US" sz="1400" dirty="0" err="1"/>
              <a:t>ParserException</a:t>
            </a:r>
            <a:r>
              <a:rPr lang="en-US" sz="1400" dirty="0"/>
              <a:t>(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self.current_line</a:t>
            </a:r>
            <a:r>
              <a:rPr lang="en-US" sz="1400" dirty="0"/>
              <a:t>,     </a:t>
            </a:r>
            <a:r>
              <a:rPr lang="en-US" sz="1400" dirty="0">
                <a:solidFill>
                  <a:srgbClr val="FF0000"/>
                </a:solidFill>
              </a:rPr>
              <a:t># line# (for you to do)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self.to_match</a:t>
            </a:r>
            <a:r>
              <a:rPr lang="en-US" sz="1400" dirty="0"/>
              <a:t>,          </a:t>
            </a:r>
            <a:r>
              <a:rPr lang="en-US" sz="1400" dirty="0">
                <a:solidFill>
                  <a:srgbClr val="FF0000"/>
                </a:solidFill>
              </a:rPr>
              <a:t># observed token</a:t>
            </a:r>
          </a:p>
          <a:p>
            <a:r>
              <a:rPr lang="en-US" sz="1400" dirty="0"/>
              <a:t>                   [</a:t>
            </a:r>
            <a:r>
              <a:rPr lang="en-US" sz="1400" dirty="0" err="1"/>
              <a:t>expected_token</a:t>
            </a:r>
            <a:r>
              <a:rPr lang="en-US" sz="1400" dirty="0"/>
              <a:t>])   </a:t>
            </a:r>
            <a:r>
              <a:rPr lang="en-US" sz="1400" dirty="0">
                <a:solidFill>
                  <a:srgbClr val="FF0000"/>
                </a:solidFill>
              </a:rPr>
              <a:t>#   i.e. PAR or RPAR</a:t>
            </a:r>
          </a:p>
        </p:txBody>
      </p:sp>
    </p:spTree>
    <p:extLst>
      <p:ext uri="{BB962C8B-B14F-4D97-AF65-F5344CB8AC3E}">
        <p14:creationId xmlns:p14="http://schemas.microsoft.com/office/powerpoint/2010/main" val="778745497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5:       |    ID</a:t>
            </a:r>
          </a:p>
          <a:p>
            <a:r>
              <a:rPr lang="en-US" dirty="0">
                <a:latin typeface="Courier" pitchFamily="2" charset="0"/>
              </a:rPr>
              <a:t>6: Op    ::= ‘+’</a:t>
            </a:r>
          </a:p>
          <a:p>
            <a:r>
              <a:rPr lang="en-US" dirty="0"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7678215" y="803521"/>
            <a:ext cx="2953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/>
              <a:t>How do we parse a Unit?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78840E-451F-D943-A095-834E80AE3D30}"/>
              </a:ext>
            </a:extLst>
          </p:cNvPr>
          <p:cNvSpPr txBox="1"/>
          <p:nvPr/>
        </p:nvSpPr>
        <p:spPr>
          <a:xfrm>
            <a:off x="6350544" y="1325274"/>
            <a:ext cx="52318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Note: function </a:t>
            </a:r>
            <a:r>
              <a:rPr lang="en-US" sz="1600" i="1" dirty="0">
                <a:highlight>
                  <a:srgbClr val="FFFF00"/>
                </a:highlight>
              </a:rPr>
              <a:t>eat</a:t>
            </a:r>
            <a:r>
              <a:rPr lang="en-US" sz="1600" i="1" dirty="0"/>
              <a:t> must ensure that </a:t>
            </a:r>
            <a:r>
              <a:rPr lang="en-US" sz="1600" i="1" dirty="0" err="1"/>
              <a:t>to_match</a:t>
            </a:r>
            <a:r>
              <a:rPr lang="en-US" sz="1600" i="1" dirty="0"/>
              <a:t> has the expected  token ID and advances to the next token, i.e. something like this: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567D556-71C6-8B18-A379-00B0A8C64F08}"/>
              </a:ext>
            </a:extLst>
          </p:cNvPr>
          <p:cNvSpPr/>
          <p:nvPr/>
        </p:nvSpPr>
        <p:spPr>
          <a:xfrm>
            <a:off x="3146071" y="3208233"/>
            <a:ext cx="4084915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parse_Unit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sz="1600" dirty="0">
                <a:solidFill>
                  <a:srgbClr val="9FA01C"/>
                </a:solidFill>
                <a:latin typeface="Menlo" panose="020B0609030804020204" pitchFamily="49" charset="0"/>
              </a:rPr>
              <a:t>       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Unit  ::= ‘(‘ Expr ‘)’ 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        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"LPAR"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.parse_Expr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"RPAR"</a:t>
            </a:r>
            <a:r>
              <a:rPr lang="en-US" sz="1600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Unit :: = ID</a:t>
            </a:r>
            <a:endParaRPr lang="en-US" sz="1600" b="1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b="1" dirty="0">
                <a:solidFill>
                  <a:srgbClr val="2FB41D"/>
                </a:solidFill>
                <a:latin typeface="Menlo" panose="020B0609030804020204" pitchFamily="49" charset="0"/>
              </a:rPr>
              <a:t>"ID"</a:t>
            </a:r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b="1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self</a:t>
            </a:r>
            <a:r>
              <a:rPr lang="en-US" sz="1600" b="1" dirty="0" err="1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.eat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FB41D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"ID"</a:t>
            </a:r>
            <a:r>
              <a:rPr lang="en-US" sz="1600" b="1" dirty="0">
                <a:solidFill>
                  <a:srgbClr val="000000"/>
                </a:solidFill>
                <a:highlight>
                  <a:srgbClr val="FFFF00"/>
                </a:highlight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753AE9-02C2-C5B0-0278-257DC208F0FB}"/>
              </a:ext>
            </a:extLst>
          </p:cNvPr>
          <p:cNvSpPr txBox="1"/>
          <p:nvPr/>
        </p:nvSpPr>
        <p:spPr>
          <a:xfrm>
            <a:off x="6637415" y="2231636"/>
            <a:ext cx="523185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highlight>
                  <a:srgbClr val="FFFF00"/>
                </a:highlight>
              </a:rPr>
              <a:t>def eat(self, </a:t>
            </a:r>
            <a:r>
              <a:rPr lang="en-US" sz="1600" dirty="0" err="1">
                <a:highlight>
                  <a:srgbClr val="FFFF00"/>
                </a:highlight>
              </a:rPr>
              <a:t>expected_token</a:t>
            </a:r>
            <a:r>
              <a:rPr lang="en-US" sz="1600" dirty="0">
                <a:highlight>
                  <a:srgbClr val="FFFF00"/>
                </a:highlight>
              </a:rPr>
              <a:t>):</a:t>
            </a:r>
          </a:p>
          <a:p>
            <a:r>
              <a:rPr lang="en-US" sz="1600" dirty="0"/>
              <a:t>    if </a:t>
            </a:r>
            <a:r>
              <a:rPr lang="en-US" sz="1600" dirty="0" err="1"/>
              <a:t>self.to_match</a:t>
            </a:r>
            <a:r>
              <a:rPr lang="en-US" sz="1600" dirty="0"/>
              <a:t> == </a:t>
            </a:r>
            <a:r>
              <a:rPr lang="en-US" sz="1600" dirty="0" err="1"/>
              <a:t>expected_token</a:t>
            </a:r>
            <a:r>
              <a:rPr lang="en-US" sz="1600" dirty="0"/>
              <a:t>:</a:t>
            </a:r>
          </a:p>
          <a:p>
            <a:r>
              <a:rPr lang="en-US" sz="1600" dirty="0"/>
              <a:t>        </a:t>
            </a:r>
            <a:r>
              <a:rPr lang="en-US" sz="1600" dirty="0" err="1"/>
              <a:t>self.advance</a:t>
            </a:r>
            <a:r>
              <a:rPr lang="en-US" sz="1600" dirty="0"/>
              <a:t>()  # move to the next token</a:t>
            </a:r>
          </a:p>
          <a:p>
            <a:r>
              <a:rPr lang="en-US" sz="1600" dirty="0"/>
              <a:t>    else:</a:t>
            </a:r>
          </a:p>
          <a:p>
            <a:r>
              <a:rPr lang="en-US" sz="1600" dirty="0"/>
              <a:t>        </a:t>
            </a:r>
            <a:r>
              <a:rPr lang="en-US" sz="1600" dirty="0">
                <a:highlight>
                  <a:srgbClr val="FFFF00"/>
                </a:highlight>
              </a:rPr>
              <a:t>raise </a:t>
            </a:r>
            <a:r>
              <a:rPr lang="en-US" sz="1600" dirty="0" err="1">
                <a:highlight>
                  <a:srgbClr val="FFFF00"/>
                </a:highlight>
              </a:rPr>
              <a:t>ParserException</a:t>
            </a:r>
            <a:r>
              <a:rPr lang="en-US" sz="1600" dirty="0"/>
              <a:t>(</a:t>
            </a:r>
          </a:p>
          <a:p>
            <a:r>
              <a:rPr lang="en-US" sz="1600" dirty="0"/>
              <a:t>                             </a:t>
            </a:r>
            <a:r>
              <a:rPr lang="en-US" sz="1600" dirty="0" err="1"/>
              <a:t>self.current_line</a:t>
            </a:r>
            <a:r>
              <a:rPr lang="en-US" sz="1600" dirty="0"/>
              <a:t>,       </a:t>
            </a:r>
            <a:r>
              <a:rPr lang="en-US" sz="1600" dirty="0">
                <a:solidFill>
                  <a:srgbClr val="FF0000"/>
                </a:solidFill>
              </a:rPr>
              <a:t># line# (for you to do)</a:t>
            </a:r>
          </a:p>
          <a:p>
            <a:r>
              <a:rPr lang="en-US" sz="1600" dirty="0"/>
              <a:t>                              </a:t>
            </a:r>
            <a:r>
              <a:rPr lang="en-US" sz="1600" dirty="0" err="1"/>
              <a:t>self.to_match</a:t>
            </a:r>
            <a:r>
              <a:rPr lang="en-US" sz="1600" dirty="0"/>
              <a:t>,           </a:t>
            </a:r>
            <a:r>
              <a:rPr lang="en-US" sz="1600" dirty="0">
                <a:solidFill>
                  <a:srgbClr val="FF0000"/>
                </a:solidFill>
              </a:rPr>
              <a:t># observed token</a:t>
            </a:r>
          </a:p>
          <a:p>
            <a:r>
              <a:rPr lang="en-US" sz="1600" dirty="0"/>
              <a:t>                              [</a:t>
            </a:r>
            <a:r>
              <a:rPr lang="en-US" sz="1600" dirty="0" err="1"/>
              <a:t>expected_token</a:t>
            </a:r>
            <a:r>
              <a:rPr lang="en-US" sz="1600" dirty="0"/>
              <a:t>])    </a:t>
            </a:r>
            <a:r>
              <a:rPr lang="en-US" sz="1600" dirty="0">
                <a:solidFill>
                  <a:srgbClr val="FF0000"/>
                </a:solidFill>
              </a:rPr>
              <a:t># LPAR or RPAR or ID)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5F6A23-B194-B66B-024E-53EF98D1EF15}"/>
              </a:ext>
            </a:extLst>
          </p:cNvPr>
          <p:cNvSpPr txBox="1"/>
          <p:nvPr/>
        </p:nvSpPr>
        <p:spPr>
          <a:xfrm>
            <a:off x="6266330" y="4369104"/>
            <a:ext cx="57374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class </a:t>
            </a:r>
            <a:r>
              <a:rPr lang="en-US" sz="1400" dirty="0" err="1"/>
              <a:t>ParserException</a:t>
            </a:r>
            <a:r>
              <a:rPr lang="en-US" sz="1400" dirty="0"/>
              <a:t>(Exception):</a:t>
            </a:r>
          </a:p>
          <a:p>
            <a:r>
              <a:rPr lang="en-US" sz="1400" dirty="0"/>
              <a:t>    def __</a:t>
            </a:r>
            <a:r>
              <a:rPr lang="en-US" sz="1400" dirty="0" err="1"/>
              <a:t>init</a:t>
            </a:r>
            <a:r>
              <a:rPr lang="en-US" sz="1400" dirty="0"/>
              <a:t>__(self, </a:t>
            </a:r>
            <a:r>
              <a:rPr lang="en-US" sz="1400" dirty="0" err="1"/>
              <a:t>line_number</a:t>
            </a:r>
            <a:r>
              <a:rPr lang="en-US" sz="1400" dirty="0"/>
              <a:t>, </a:t>
            </a:r>
            <a:r>
              <a:rPr lang="en-US" sz="1400" dirty="0" err="1"/>
              <a:t>found_token</a:t>
            </a:r>
            <a:r>
              <a:rPr lang="en-US" sz="1400" dirty="0"/>
              <a:t>, </a:t>
            </a:r>
            <a:r>
              <a:rPr lang="en-US" sz="1400" dirty="0" err="1"/>
              <a:t>expected_tokens</a:t>
            </a:r>
            <a:r>
              <a:rPr lang="en-US" sz="1400" dirty="0"/>
              <a:t>):</a:t>
            </a:r>
          </a:p>
          <a:p>
            <a:r>
              <a:rPr lang="en-US" sz="1400" dirty="0"/>
              <a:t>        </a:t>
            </a:r>
            <a:r>
              <a:rPr lang="en-US" sz="1400" dirty="0" err="1"/>
              <a:t>self.line_number</a:t>
            </a:r>
            <a:r>
              <a:rPr lang="en-US" sz="1400" dirty="0"/>
              <a:t> = </a:t>
            </a:r>
            <a:r>
              <a:rPr lang="en-US" sz="1400" dirty="0" err="1"/>
              <a:t>line_number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self.found_token</a:t>
            </a:r>
            <a:r>
              <a:rPr lang="en-US" sz="1400" dirty="0"/>
              <a:t> = </a:t>
            </a:r>
            <a:r>
              <a:rPr lang="en-US" sz="1400" dirty="0" err="1"/>
              <a:t>found_token</a:t>
            </a:r>
            <a:endParaRPr lang="en-US" sz="1400" dirty="0"/>
          </a:p>
          <a:p>
            <a:r>
              <a:rPr lang="en-US" sz="1400" dirty="0"/>
              <a:t>        </a:t>
            </a:r>
            <a:r>
              <a:rPr lang="en-US" sz="1400" dirty="0" err="1"/>
              <a:t>self.expected_tokens</a:t>
            </a:r>
            <a:r>
              <a:rPr lang="en-US" sz="1400" dirty="0"/>
              <a:t> = </a:t>
            </a:r>
            <a:r>
              <a:rPr lang="en-US" sz="1400" dirty="0" err="1"/>
              <a:t>expected_tokens</a:t>
            </a:r>
            <a:endParaRPr lang="en-US" sz="1400" dirty="0"/>
          </a:p>
          <a:p>
            <a:r>
              <a:rPr lang="en-US" sz="1400" dirty="0"/>
              <a:t>        # Create a readable error message</a:t>
            </a:r>
          </a:p>
          <a:p>
            <a:r>
              <a:rPr lang="en-US" sz="1400" dirty="0"/>
              <a:t>        message = (</a:t>
            </a:r>
            <a:r>
              <a:rPr lang="en-US" sz="1400" dirty="0" err="1"/>
              <a:t>f"Parse</a:t>
            </a:r>
            <a:r>
              <a:rPr lang="en-US" sz="1400" dirty="0"/>
              <a:t> error on line {</a:t>
            </a:r>
            <a:r>
              <a:rPr lang="en-US" sz="1400" dirty="0" err="1"/>
              <a:t>line_number</a:t>
            </a:r>
            <a:r>
              <a:rPr lang="en-US" sz="1400" dirty="0"/>
              <a:t>}: found '{</a:t>
            </a:r>
            <a:r>
              <a:rPr lang="en-US" sz="1400" dirty="0" err="1"/>
              <a:t>found_token</a:t>
            </a:r>
            <a:r>
              <a:rPr lang="en-US" sz="1400" dirty="0"/>
              <a:t>}', "</a:t>
            </a:r>
          </a:p>
          <a:p>
            <a:r>
              <a:rPr lang="en-US" sz="1400" dirty="0"/>
              <a:t>                   </a:t>
            </a:r>
            <a:r>
              <a:rPr lang="en-US" sz="1400" dirty="0" err="1"/>
              <a:t>f"expected</a:t>
            </a:r>
            <a:r>
              <a:rPr lang="en-US" sz="1400" dirty="0"/>
              <a:t> one of {</a:t>
            </a:r>
            <a:r>
              <a:rPr lang="en-US" sz="1400" dirty="0" err="1"/>
              <a:t>expected_tokens</a:t>
            </a:r>
            <a:r>
              <a:rPr lang="en-US" sz="1400" dirty="0"/>
              <a:t>}")</a:t>
            </a:r>
          </a:p>
          <a:p>
            <a:r>
              <a:rPr lang="en-US" sz="1400" dirty="0"/>
              <a:t>        super().__</a:t>
            </a:r>
            <a:r>
              <a:rPr lang="en-US" sz="1400" dirty="0" err="1"/>
              <a:t>init</a:t>
            </a:r>
            <a:r>
              <a:rPr lang="en-US" sz="1400" dirty="0"/>
              <a:t>__(message)</a:t>
            </a:r>
          </a:p>
        </p:txBody>
      </p:sp>
    </p:spTree>
    <p:extLst>
      <p:ext uri="{BB962C8B-B14F-4D97-AF65-F5344CB8AC3E}">
        <p14:creationId xmlns:p14="http://schemas.microsoft.com/office/powerpoint/2010/main" val="21502859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Op    ::= ‘+’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7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Op?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latin typeface="Courier" pitchFamily="2" charset="0"/>
              </a:rPr>
              <a:t>6: {‘+’}</a:t>
            </a:r>
          </a:p>
          <a:p>
            <a:r>
              <a:rPr lang="en-US" dirty="0">
                <a:latin typeface="Courier" pitchFamily="2" charset="0"/>
              </a:rPr>
              <a:t>7: {‘*’}</a:t>
            </a:r>
          </a:p>
        </p:txBody>
      </p:sp>
    </p:spTree>
    <p:extLst>
      <p:ext uri="{BB962C8B-B14F-4D97-AF65-F5344CB8AC3E}">
        <p14:creationId xmlns:p14="http://schemas.microsoft.com/office/powerpoint/2010/main" val="16727185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11F96-7461-874D-8EA3-B6DFAA688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look at the grammar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95AD811-DA94-934C-A22D-0CC1576CD299}"/>
              </a:ext>
            </a:extLst>
          </p:cNvPr>
          <p:cNvSpPr/>
          <p:nvPr/>
        </p:nvSpPr>
        <p:spPr>
          <a:xfrm>
            <a:off x="838200" y="1507736"/>
            <a:ext cx="3911601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1: Expr  ::= Unit Expr2</a:t>
            </a:r>
          </a:p>
          <a:p>
            <a:r>
              <a:rPr lang="en-US" dirty="0">
                <a:latin typeface="Courier" pitchFamily="2" charset="0"/>
              </a:rPr>
              <a:t>2: Expr2 ::= Op Unit Expr2</a:t>
            </a:r>
          </a:p>
          <a:p>
            <a:r>
              <a:rPr lang="en-US" dirty="0">
                <a:latin typeface="Courier" pitchFamily="2" charset="0"/>
              </a:rPr>
              <a:t>3:       | “”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Unit  ::= ‘(‘ Expr ‘)’</a:t>
            </a:r>
          </a:p>
          <a:p>
            <a:r>
              <a:rPr lang="en-US" dirty="0">
                <a:latin typeface="Courier" pitchFamily="2" charset="0"/>
              </a:rPr>
              <a:t>5:       |    ID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Op    ::= ‘+’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      |   ‘*’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6689AF-BA26-3347-BA19-B7CDF8BA594D}"/>
              </a:ext>
            </a:extLst>
          </p:cNvPr>
          <p:cNvSpPr txBox="1"/>
          <p:nvPr/>
        </p:nvSpPr>
        <p:spPr>
          <a:xfrm>
            <a:off x="6764866" y="1585480"/>
            <a:ext cx="257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How do we parse an Op?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35DCA6-16D2-F54F-A22A-3EFA1E6D8A47}"/>
              </a:ext>
            </a:extLst>
          </p:cNvPr>
          <p:cNvSpPr/>
          <p:nvPr/>
        </p:nvSpPr>
        <p:spPr>
          <a:xfrm>
            <a:off x="838200" y="4184551"/>
            <a:ext cx="227554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urier" pitchFamily="2" charset="0"/>
              </a:rPr>
              <a:t>First+ sets: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1: {‘(‘, ID}</a:t>
            </a:r>
          </a:p>
          <a:p>
            <a:r>
              <a:rPr lang="en-US" dirty="0">
                <a:latin typeface="Courier" pitchFamily="2" charset="0"/>
              </a:rPr>
              <a:t>2: {‘+’, ‘*’}</a:t>
            </a:r>
          </a:p>
          <a:p>
            <a:r>
              <a:rPr lang="en-US" dirty="0">
                <a:latin typeface="Courier" pitchFamily="2" charset="0"/>
              </a:rPr>
              <a:t>3: {None, ’)’}</a:t>
            </a:r>
            <a:br>
              <a:rPr lang="en-US" dirty="0">
                <a:latin typeface="Courier" pitchFamily="2" charset="0"/>
              </a:rPr>
            </a:br>
            <a:r>
              <a:rPr lang="en-US" dirty="0">
                <a:latin typeface="Courier" pitchFamily="2" charset="0"/>
              </a:rPr>
              <a:t>4: {‘(‘}</a:t>
            </a:r>
          </a:p>
          <a:p>
            <a:r>
              <a:rPr lang="en-US" dirty="0">
                <a:latin typeface="Courier" pitchFamily="2" charset="0"/>
              </a:rPr>
              <a:t>5: {ID}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6: {‘+’}</a:t>
            </a:r>
          </a:p>
          <a:p>
            <a:r>
              <a:rPr lang="en-US" dirty="0">
                <a:highlight>
                  <a:srgbClr val="FFFF00"/>
                </a:highlight>
                <a:latin typeface="Courier" pitchFamily="2" charset="0"/>
              </a:rPr>
              <a:t>7: {‘*’}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2E97EB-40B3-014A-B687-59B439FD6ACF}"/>
              </a:ext>
            </a:extLst>
          </p:cNvPr>
          <p:cNvSpPr/>
          <p:nvPr/>
        </p:nvSpPr>
        <p:spPr>
          <a:xfrm>
            <a:off x="3542803" y="2915525"/>
            <a:ext cx="3911601" cy="40318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def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b="1" dirty="0" err="1">
                <a:solidFill>
                  <a:srgbClr val="400BD9"/>
                </a:solidFill>
                <a:latin typeface="Menlo" panose="020B0609030804020204" pitchFamily="49" charset="0"/>
              </a:rPr>
              <a:t>parse_Op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):</a:t>
            </a:r>
            <a:endParaRPr lang="en-US" sz="1600" dirty="0">
              <a:solidFill>
                <a:srgbClr val="400BD9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 err="1">
                <a:solidFill>
                  <a:srgbClr val="9FA01C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get_token_id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# Op  ::= '+'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"PLUS"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        # Op  ::= '*'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token_id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: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.eat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"MULT"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)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</a:t>
            </a:r>
            <a:r>
              <a:rPr lang="en-US" sz="1600" b="1" dirty="0">
                <a:solidFill>
                  <a:srgbClr val="2EAEBB"/>
                </a:solidFill>
                <a:latin typeface="Menlo" panose="020B0609030804020204" pitchFamily="49" charset="0"/>
              </a:rPr>
              <a:t>return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     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CAF0A1F-26BC-4B42-6E81-005B10BC1CF3}"/>
              </a:ext>
            </a:extLst>
          </p:cNvPr>
          <p:cNvSpPr txBox="1"/>
          <p:nvPr/>
        </p:nvSpPr>
        <p:spPr>
          <a:xfrm>
            <a:off x="7841380" y="2277038"/>
            <a:ext cx="46213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d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ef eat(self, </a:t>
            </a:r>
            <a:r>
              <a:rPr lang="en-US" sz="1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expected_token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):</a:t>
            </a: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…</a:t>
            </a:r>
            <a:endParaRPr lang="en-US" sz="1800" b="1" dirty="0">
              <a:solidFill>
                <a:srgbClr val="2EAEBB"/>
              </a:solidFill>
              <a:latin typeface="Menlo" panose="020B0609030804020204" pitchFamily="49" charset="0"/>
            </a:endParaRPr>
          </a:p>
          <a:p>
            <a:r>
              <a:rPr lang="en-US" b="1" dirty="0">
                <a:solidFill>
                  <a:srgbClr val="2EAEBB"/>
                </a:solidFill>
                <a:latin typeface="Menlo" panose="020B0609030804020204" pitchFamily="49" charset="0"/>
              </a:rPr>
              <a:t>     </a:t>
            </a:r>
            <a:r>
              <a:rPr lang="en-US" sz="1800" b="1" dirty="0">
                <a:solidFill>
                  <a:srgbClr val="2EAEBB"/>
                </a:solidFill>
                <a:latin typeface="Menlo" panose="020B0609030804020204" pitchFamily="49" charset="0"/>
              </a:rPr>
              <a:t>raise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ParserException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</a:p>
          <a:p>
            <a:r>
              <a:rPr lang="en-US" dirty="0">
                <a:solidFill>
                  <a:srgbClr val="000000"/>
                </a:solidFill>
                <a:latin typeface="Menlo" panose="020B0609030804020204" pitchFamily="49" charset="0"/>
              </a:rPr>
              <a:t>               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self.current_line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,    </a:t>
            </a:r>
          </a:p>
          <a:p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     </a:t>
            </a:r>
            <a:r>
              <a:rPr lang="en-US" sz="1800" b="1" dirty="0" err="1">
                <a:solidFill>
                  <a:srgbClr val="2EAEBB"/>
                </a:solidFill>
                <a:latin typeface="Menlo" panose="020B0609030804020204" pitchFamily="49" charset="0"/>
              </a:rPr>
              <a:t>self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.to_match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,       </a:t>
            </a:r>
            <a:r>
              <a:rPr lang="en-US" sz="1800" dirty="0">
                <a:solidFill>
                  <a:srgbClr val="B42419"/>
                </a:solidFill>
                <a:latin typeface="Menlo" panose="020B0609030804020204" pitchFamily="49" charset="0"/>
              </a:rPr>
              <a:t># observed token 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</a:t>
            </a:r>
          </a:p>
          <a:p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               [</a:t>
            </a:r>
            <a:r>
              <a:rPr lang="en-US" sz="1800" dirty="0" err="1">
                <a:solidFill>
                  <a:srgbClr val="000000"/>
                </a:solidFill>
                <a:latin typeface="Menlo" panose="020B0609030804020204" pitchFamily="49" charset="0"/>
              </a:rPr>
              <a:t>expected_token</a:t>
            </a:r>
            <a:r>
              <a:rPr lang="en-US" sz="1800" dirty="0">
                <a:solidFill>
                  <a:srgbClr val="000000"/>
                </a:solidFill>
                <a:latin typeface="Menlo" panose="020B0609030804020204" pitchFamily="49" charset="0"/>
              </a:rPr>
              <a:t>]) </a:t>
            </a:r>
            <a:r>
              <a:rPr lang="en-US" sz="1800" dirty="0">
                <a:solidFill>
                  <a:srgbClr val="B42419"/>
                </a:solidFill>
                <a:latin typeface="Menlo" panose="020B0609030804020204" pitchFamily="49" charset="0"/>
              </a:rPr>
              <a:t># expected token</a:t>
            </a:r>
          </a:p>
          <a:p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     </a:t>
            </a:r>
            <a:r>
              <a:rPr lang="en-US" dirty="0">
                <a:solidFill>
                  <a:srgbClr val="B42419"/>
                </a:solidFill>
                <a:latin typeface="Menlo" panose="020B0609030804020204" pitchFamily="49" charset="0"/>
              </a:rPr>
              <a:t>…</a:t>
            </a:r>
            <a:endParaRPr lang="en-US" sz="18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352408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2EEFD-A114-FB93-AC70-A0AB4155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76D3A-2595-D59C-75BE-72D4024A6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771651"/>
          </a:xfrm>
        </p:spPr>
        <p:txBody>
          <a:bodyPr>
            <a:normAutofit/>
          </a:bodyPr>
          <a:lstStyle/>
          <a:p>
            <a:pPr algn="ctr"/>
            <a:r>
              <a:rPr lang="en-US" sz="8900" dirty="0"/>
              <a:t>Recursive Descent</a:t>
            </a:r>
            <a:br>
              <a:rPr lang="en-US" dirty="0"/>
            </a:br>
            <a:r>
              <a:rPr lang="en-US" sz="6600" dirty="0"/>
              <a:t>IS THAT SIMPLE</a:t>
            </a:r>
            <a:br>
              <a:rPr lang="en-US" sz="6600" dirty="0"/>
            </a:br>
            <a:r>
              <a:rPr lang="en-US" dirty="0"/>
              <a:t>and allows lookahead &gt; 1</a:t>
            </a:r>
            <a:br>
              <a:rPr lang="en-US" dirty="0"/>
            </a:br>
            <a:r>
              <a:rPr lang="en-US" dirty="0"/>
              <a:t>(not as restrictive as a PDA)</a:t>
            </a:r>
          </a:p>
        </p:txBody>
      </p:sp>
    </p:spTree>
    <p:extLst>
      <p:ext uri="{BB962C8B-B14F-4D97-AF65-F5344CB8AC3E}">
        <p14:creationId xmlns:p14="http://schemas.microsoft.com/office/powerpoint/2010/main" val="1222227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4202</TotalTime>
  <Words>11093</Words>
  <Application>Microsoft Office PowerPoint</Application>
  <PresentationFormat>Widescreen</PresentationFormat>
  <Paragraphs>2377</Paragraphs>
  <Slides>150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150</vt:i4>
      </vt:variant>
    </vt:vector>
  </HeadingPairs>
  <TitlesOfParts>
    <vt:vector size="160" baseType="lpstr">
      <vt:lpstr>Aptos</vt:lpstr>
      <vt:lpstr>Aptos Display</vt:lpstr>
      <vt:lpstr>Arial</vt:lpstr>
      <vt:lpstr>Cambria Math</vt:lpstr>
      <vt:lpstr>Courier</vt:lpstr>
      <vt:lpstr>Courier New</vt:lpstr>
      <vt:lpstr>Menlo</vt:lpstr>
      <vt:lpstr>Symbol</vt:lpstr>
      <vt:lpstr>Times New Roman</vt:lpstr>
      <vt:lpstr>Office Theme</vt:lpstr>
      <vt:lpstr>CSE110A: Compilers</vt:lpstr>
      <vt:lpstr>Midterm Tips</vt:lpstr>
      <vt:lpstr>Ambiguous grammars</vt:lpstr>
      <vt:lpstr>Ambiguous grammars</vt:lpstr>
      <vt:lpstr>Ambiguous grammars</vt:lpstr>
      <vt:lpstr>Ambiguous grammars</vt:lpstr>
      <vt:lpstr>Ambiguous grammars</vt:lpstr>
      <vt:lpstr>Ambiguous grammars</vt:lpstr>
      <vt:lpstr>Converting Meaning into Structure</vt:lpstr>
      <vt:lpstr>Post order traversal</vt:lpstr>
      <vt:lpstr>Review: Possible Orders of Traversal</vt:lpstr>
      <vt:lpstr>Post order traversal</vt:lpstr>
      <vt:lpstr>Ambiguous grammars</vt:lpstr>
      <vt:lpstr>Programming language structure</vt:lpstr>
      <vt:lpstr>Programming language structure</vt:lpstr>
      <vt:lpstr>Programming language structure</vt:lpstr>
      <vt:lpstr>Ambiguous expressions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 examples</vt:lpstr>
      <vt:lpstr>Parse trees</vt:lpstr>
      <vt:lpstr>Parse trees</vt:lpstr>
      <vt:lpstr>AMBIGUOUS GRAMMARS  AND PRECEDENCE</vt:lpstr>
      <vt:lpstr>PowerPoint Presentation</vt:lpstr>
      <vt:lpstr>Ambiguous Grammars</vt:lpstr>
      <vt:lpstr>Avoiding Ambiguity</vt:lpstr>
      <vt:lpstr>Avoiding Precedence Ambiguity</vt:lpstr>
      <vt:lpstr>Avoiding Precedence Ambiguity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Now lets create a parse tree</vt:lpstr>
      <vt:lpstr>Parsing Regular Expressions (and considering precedence)</vt:lpstr>
      <vt:lpstr>Parsing Regular Expressions (and considering precedence)</vt:lpstr>
      <vt:lpstr>Parsing Regular Expressions (and considering precedence)</vt:lpstr>
      <vt:lpstr>Parsing Regular Expressions (and considering precedence)</vt:lpstr>
      <vt:lpstr>How many levels of precedence does C have?</vt:lpstr>
      <vt:lpstr>Fixing Grammar for Associativity</vt:lpstr>
      <vt:lpstr>With precedence fixed      Let’s make some more parse trees</vt:lpstr>
      <vt:lpstr>Let’s make some more parse trees</vt:lpstr>
      <vt:lpstr>This is ambiguous, is it an issue?</vt:lpstr>
      <vt:lpstr>What about for a different operator?</vt:lpstr>
      <vt:lpstr>What about for a different operator?</vt:lpstr>
      <vt:lpstr>What about for a different operator?</vt:lpstr>
      <vt:lpstr>Associativity</vt:lpstr>
      <vt:lpstr>Associativity</vt:lpstr>
      <vt:lpstr>How to encode associativity?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Associativity for a single operator</vt:lpstr>
      <vt:lpstr>Should you have associativity when its not required?</vt:lpstr>
      <vt:lpstr>Should you have associativity when its not required?</vt:lpstr>
      <vt:lpstr>Let’s make a richer expression grammar</vt:lpstr>
      <vt:lpstr>Let’s make a richer expression grammar</vt:lpstr>
      <vt:lpstr>What associativity do operators in C have?</vt:lpstr>
      <vt:lpstr>Next topic: Algorithms for Parsing</vt:lpstr>
      <vt:lpstr>Top-down parsing</vt:lpstr>
      <vt:lpstr>Top-down parsing</vt:lpstr>
      <vt:lpstr>Top-down parsing</vt:lpstr>
      <vt:lpstr>Top-down parsing</vt:lpstr>
      <vt:lpstr>Top-down parsing</vt:lpstr>
      <vt:lpstr>Bottom-up parsing</vt:lpstr>
      <vt:lpstr>Bottom-up parsing</vt:lpstr>
      <vt:lpstr>Bottom-up parsing</vt:lpstr>
      <vt:lpstr>Bottom-up parsing</vt:lpstr>
      <vt:lpstr>Bottom up</vt:lpstr>
      <vt:lpstr>Let’s start with top-down parsing:   Algorithm: LL(1) Parsing  Left to Right with Look Ahead of 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Top down parsing does not handle left recursion</vt:lpstr>
      <vt:lpstr>Top down parsing does not handle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Eliminating direct left recursion</vt:lpstr>
      <vt:lpstr>PowerPoint Presentation</vt:lpstr>
      <vt:lpstr>PowerPoint Presentation</vt:lpstr>
      <vt:lpstr>PowerPoint Presentation</vt:lpstr>
      <vt:lpstr>How about indirect left recursion?</vt:lpstr>
      <vt:lpstr>How about indirect left recursion?</vt:lpstr>
      <vt:lpstr>How about indirect left recursion?</vt:lpstr>
      <vt:lpstr>How about indirect left recursion?</vt:lpstr>
      <vt:lpstr>How about indirect left recursion?</vt:lpstr>
      <vt:lpstr>Next time: algorithms for syntactic analysis</vt:lpstr>
      <vt:lpstr>TOP-DOWN PARSERS</vt:lpstr>
      <vt:lpstr>ELIMINATING LEFT-RECURSION</vt:lpstr>
      <vt:lpstr>ORACULARITY:  MAKING A BACKTRACK FREE LL(1) PARSER USING FIRST, FOLLOW and FIRST+ SETS</vt:lpstr>
      <vt:lpstr>PowerPoint Presentation</vt:lpstr>
      <vt:lpstr>The First Set</vt:lpstr>
      <vt:lpstr>The First Set</vt:lpstr>
      <vt:lpstr>PowerPoint Presentation</vt:lpstr>
      <vt:lpstr>The Follow Set</vt:lpstr>
      <vt:lpstr>The Follow Set</vt:lpstr>
      <vt:lpstr>The First+ Set</vt:lpstr>
      <vt:lpstr>Calculating  Follow(A)  Set</vt:lpstr>
      <vt:lpstr>The Follow Set</vt:lpstr>
      <vt:lpstr>The First+ Set</vt:lpstr>
      <vt:lpstr>Do we need backtracking?</vt:lpstr>
      <vt:lpstr>Do we need backtracking?</vt:lpstr>
      <vt:lpstr>Do we need backtracking?</vt:lpstr>
      <vt:lpstr>LEFT-FACTORING A GRAMMAR</vt:lpstr>
      <vt:lpstr>Sometimes the grammar needs to be refactored</vt:lpstr>
      <vt:lpstr>Sometimes the grammar needs to be refactored</vt:lpstr>
      <vt:lpstr>PowerPoint Presentation</vt:lpstr>
      <vt:lpstr>Sometimes the grammar needs to be refactored</vt:lpstr>
      <vt:lpstr>Sometimes the grammar needs to be refactored</vt:lpstr>
      <vt:lpstr>Sometimes the grammar needs to be refactored</vt:lpstr>
      <vt:lpstr>Sometimes the grammar needs to be refactored</vt:lpstr>
      <vt:lpstr>PowerPoint Presentation</vt:lpstr>
      <vt:lpstr>We now have a full top-down  LL(1) parsing algorithm!</vt:lpstr>
      <vt:lpstr>PowerPoint Presentation</vt:lpstr>
      <vt:lpstr>Moving on to a simpler implementation:  Recursive Descent Parser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Let’s look at the grammar</vt:lpstr>
      <vt:lpstr>Recursive Descent IS THAT SIMPLE and allows lookahead &gt; 1 (not as restrictive as a PDA)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Marcelo Siero</dc:creator>
  <cp:lastModifiedBy>Marcelo Siero</cp:lastModifiedBy>
  <cp:revision>12</cp:revision>
  <dcterms:created xsi:type="dcterms:W3CDTF">2025-03-30T06:55:42Z</dcterms:created>
  <dcterms:modified xsi:type="dcterms:W3CDTF">2026-02-11T00:10:26Z</dcterms:modified>
</cp:coreProperties>
</file>