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7" r:id="rId2"/>
    <p:sldId id="692" r:id="rId3"/>
    <p:sldId id="707" r:id="rId4"/>
    <p:sldId id="693" r:id="rId5"/>
    <p:sldId id="1388" r:id="rId6"/>
    <p:sldId id="694" r:id="rId7"/>
    <p:sldId id="695" r:id="rId8"/>
    <p:sldId id="696" r:id="rId9"/>
    <p:sldId id="697" r:id="rId10"/>
    <p:sldId id="1389" r:id="rId11"/>
    <p:sldId id="699" r:id="rId12"/>
    <p:sldId id="700" r:id="rId13"/>
    <p:sldId id="1390" r:id="rId14"/>
    <p:sldId id="1490" r:id="rId15"/>
    <p:sldId id="631" r:id="rId16"/>
    <p:sldId id="1391" r:id="rId17"/>
    <p:sldId id="1392" r:id="rId18"/>
    <p:sldId id="1491" r:id="rId19"/>
    <p:sldId id="1454" r:id="rId20"/>
    <p:sldId id="1455" r:id="rId21"/>
    <p:sldId id="1456" r:id="rId22"/>
    <p:sldId id="1457" r:id="rId23"/>
    <p:sldId id="1393" r:id="rId24"/>
    <p:sldId id="1458" r:id="rId25"/>
    <p:sldId id="1394" r:id="rId26"/>
    <p:sldId id="1396" r:id="rId27"/>
    <p:sldId id="1459" r:id="rId28"/>
    <p:sldId id="1460" r:id="rId29"/>
    <p:sldId id="1461" r:id="rId30"/>
    <p:sldId id="1462" r:id="rId31"/>
    <p:sldId id="1463" r:id="rId32"/>
    <p:sldId id="1464" r:id="rId33"/>
    <p:sldId id="1465" r:id="rId34"/>
    <p:sldId id="1466" r:id="rId35"/>
    <p:sldId id="1467" r:id="rId36"/>
    <p:sldId id="1397" r:id="rId37"/>
    <p:sldId id="1470" r:id="rId38"/>
    <p:sldId id="1343" r:id="rId39"/>
    <p:sldId id="1371" r:id="rId40"/>
    <p:sldId id="1373" r:id="rId41"/>
    <p:sldId id="1374" r:id="rId42"/>
    <p:sldId id="1375" r:id="rId43"/>
    <p:sldId id="1376" r:id="rId44"/>
    <p:sldId id="1377" r:id="rId45"/>
    <p:sldId id="1399" r:id="rId46"/>
    <p:sldId id="1515" r:id="rId47"/>
    <p:sldId id="1471" r:id="rId48"/>
    <p:sldId id="1472" r:id="rId49"/>
    <p:sldId id="1473" r:id="rId50"/>
    <p:sldId id="1400" r:id="rId51"/>
    <p:sldId id="1474" r:id="rId52"/>
    <p:sldId id="1475" r:id="rId53"/>
    <p:sldId id="1476" r:id="rId54"/>
    <p:sldId id="1477" r:id="rId55"/>
    <p:sldId id="1483" r:id="rId56"/>
    <p:sldId id="1478" r:id="rId57"/>
    <p:sldId id="1479" r:id="rId58"/>
    <p:sldId id="1480" r:id="rId59"/>
    <p:sldId id="1481" r:id="rId60"/>
    <p:sldId id="1482" r:id="rId61"/>
    <p:sldId id="1486" r:id="rId62"/>
    <p:sldId id="1485" r:id="rId63"/>
    <p:sldId id="1487" r:id="rId64"/>
    <p:sldId id="1489" r:id="rId65"/>
    <p:sldId id="1488" r:id="rId66"/>
    <p:sldId id="1501" r:id="rId67"/>
    <p:sldId id="1500" r:id="rId68"/>
    <p:sldId id="1502" r:id="rId69"/>
    <p:sldId id="1503" r:id="rId70"/>
    <p:sldId id="1504" r:id="rId71"/>
    <p:sldId id="1506" r:id="rId72"/>
    <p:sldId id="1509" r:id="rId73"/>
    <p:sldId id="1507" r:id="rId74"/>
    <p:sldId id="1510" r:id="rId75"/>
    <p:sldId id="1513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1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5548023/clang-optimization-leve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73" y="75784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Module 3: Intermediate representations</a:t>
            </a:r>
          </a:p>
          <a:p>
            <a:pPr lvl="1"/>
            <a:r>
              <a:rPr lang="en-US" i="1" dirty="0"/>
              <a:t>Intro to intermediate representations</a:t>
            </a:r>
          </a:p>
          <a:p>
            <a:pPr lvl="1"/>
            <a:r>
              <a:rPr lang="en-US" i="1" dirty="0"/>
              <a:t>ASTs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9868755" y="30113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9891340" y="612988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243270" y="612988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494240" y="931005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283799" y="938302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743432" y="1260443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139294" y="1250151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697227" y="157172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764779" y="1562000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B500-1416-664B-BD1D-A70789932F8B}"/>
              </a:ext>
            </a:extLst>
          </p:cNvPr>
          <p:cNvSpPr/>
          <p:nvPr/>
        </p:nvSpPr>
        <p:spPr>
          <a:xfrm>
            <a:off x="8841912" y="243109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2BC6D-A4F3-7945-9BA8-DDAD5EBAD05E}"/>
              </a:ext>
            </a:extLst>
          </p:cNvPr>
          <p:cNvSpPr/>
          <p:nvPr/>
        </p:nvSpPr>
        <p:spPr>
          <a:xfrm>
            <a:off x="8261222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166087-E008-CB41-9E49-F43BE5B52E3C}"/>
              </a:ext>
            </a:extLst>
          </p:cNvPr>
          <p:cNvSpPr/>
          <p:nvPr/>
        </p:nvSpPr>
        <p:spPr>
          <a:xfrm>
            <a:off x="9404049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40F58-CF90-CE41-89B9-CE8DBABC9991}"/>
              </a:ext>
            </a:extLst>
          </p:cNvPr>
          <p:cNvSpPr/>
          <p:nvPr/>
        </p:nvSpPr>
        <p:spPr>
          <a:xfrm>
            <a:off x="8801537" y="387484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F10088-ADEF-7F4E-A316-E753418CD634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8562478" y="2849305"/>
            <a:ext cx="580690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5B716-F904-F04C-85D6-57BAB595954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9143168" y="2849305"/>
            <a:ext cx="562137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CD5CE6-7944-5940-BF7F-AD6B8EF5481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562478" y="3571180"/>
            <a:ext cx="540315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E481C4-ED00-5E48-8D57-93234F440C6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9102793" y="3571180"/>
            <a:ext cx="602512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FBAFE9-DB06-D242-9A86-5A5DBAE7937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0006561" y="2839576"/>
            <a:ext cx="277238" cy="5224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5BD84F-A29B-7844-AA4E-821E0B90D38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444424" y="2640198"/>
            <a:ext cx="839375" cy="199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C64CD-6438-0642-90A2-AB2F8FAC4216}"/>
              </a:ext>
            </a:extLst>
          </p:cNvPr>
          <p:cNvSpPr txBox="1"/>
          <p:nvPr/>
        </p:nvSpPr>
        <p:spPr>
          <a:xfrm>
            <a:off x="10858582" y="3011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111E8-20FD-9A4E-BB6A-BF339F777B74}"/>
              </a:ext>
            </a:extLst>
          </p:cNvPr>
          <p:cNvSpPr txBox="1"/>
          <p:nvPr/>
        </p:nvSpPr>
        <p:spPr>
          <a:xfrm>
            <a:off x="8063655" y="2447138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20544-E545-DB40-AE9C-D75E51A5C0A6}"/>
              </a:ext>
            </a:extLst>
          </p:cNvPr>
          <p:cNvSpPr/>
          <p:nvPr/>
        </p:nvSpPr>
        <p:spPr>
          <a:xfrm>
            <a:off x="8859121" y="4978934"/>
            <a:ext cx="3175968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2E933-E9AD-4341-9CF9-2422F61D7ABC}"/>
              </a:ext>
            </a:extLst>
          </p:cNvPr>
          <p:cNvSpPr txBox="1"/>
          <p:nvPr/>
        </p:nvSpPr>
        <p:spPr>
          <a:xfrm>
            <a:off x="10296120" y="4555260"/>
            <a:ext cx="1588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address code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71DE59F-C753-BF43-8241-72F9E8A22B16}"/>
              </a:ext>
            </a:extLst>
          </p:cNvPr>
          <p:cNvSpPr/>
          <p:nvPr/>
        </p:nvSpPr>
        <p:spPr>
          <a:xfrm>
            <a:off x="4494004" y="2470198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891F54-A6FD-BC4A-9CFD-9BB478DB73C1}"/>
              </a:ext>
            </a:extLst>
          </p:cNvPr>
          <p:cNvSpPr/>
          <p:nvPr/>
        </p:nvSpPr>
        <p:spPr>
          <a:xfrm>
            <a:off x="4618016" y="263288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A3AC4-D615-E74D-A086-484ABE441DB2}"/>
              </a:ext>
            </a:extLst>
          </p:cNvPr>
          <p:cNvSpPr/>
          <p:nvPr/>
        </p:nvSpPr>
        <p:spPr>
          <a:xfrm>
            <a:off x="4771189" y="2840074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911C6-9A1D-8E46-9CEC-47222CC1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2369085" y="3008584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231012" y="3015049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10556083" y="2974888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743009" y="3428999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BE4C43D-4464-9A4F-915B-1AF6600016A4}"/>
              </a:ext>
            </a:extLst>
          </p:cNvPr>
          <p:cNvSpPr/>
          <p:nvPr/>
        </p:nvSpPr>
        <p:spPr>
          <a:xfrm>
            <a:off x="9930007" y="3435472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89613-6A59-1E42-A7A0-FE88862E8127}"/>
              </a:ext>
            </a:extLst>
          </p:cNvPr>
          <p:cNvSpPr txBox="1"/>
          <p:nvPr/>
        </p:nvSpPr>
        <p:spPr>
          <a:xfrm>
            <a:off x="4393546" y="5823973"/>
            <a:ext cx="29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Medium detailed 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8452022" y="3015049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br>
              <a:rPr lang="en-US" dirty="0"/>
            </a:br>
            <a:r>
              <a:rPr lang="en-US" dirty="0"/>
              <a:t>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57D7B-6672-DC42-993E-959C20A7F0F1}"/>
              </a:ext>
            </a:extLst>
          </p:cNvPr>
          <p:cNvSpPr/>
          <p:nvPr/>
        </p:nvSpPr>
        <p:spPr>
          <a:xfrm>
            <a:off x="4894218" y="301504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691963" y="3435471"/>
            <a:ext cx="76817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91B1CE3-AAAB-2F4A-93E1-46E70C081969}"/>
              </a:ext>
            </a:extLst>
          </p:cNvPr>
          <p:cNvSpPr/>
          <p:nvPr/>
        </p:nvSpPr>
        <p:spPr>
          <a:xfrm>
            <a:off x="7096549" y="3462694"/>
            <a:ext cx="1019373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A1853F-08A3-B94A-A039-400C7E67917F}"/>
              </a:ext>
            </a:extLst>
          </p:cNvPr>
          <p:cNvSpPr/>
          <p:nvPr/>
        </p:nvSpPr>
        <p:spPr>
          <a:xfrm>
            <a:off x="1959429" y="1837509"/>
            <a:ext cx="8107679" cy="37011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45F39-87B8-4048-B8D4-A577F1CD9348}"/>
              </a:ext>
            </a:extLst>
          </p:cNvPr>
          <p:cNvSpPr txBox="1"/>
          <p:nvPr/>
        </p:nvSpPr>
        <p:spPr>
          <a:xfrm>
            <a:off x="5240958" y="1871122"/>
            <a:ext cx="1283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compiler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CCDB7-7FA2-5942-B45D-FD4218C019BE}"/>
              </a:ext>
            </a:extLst>
          </p:cNvPr>
          <p:cNvSpPr txBox="1"/>
          <p:nvPr/>
        </p:nvSpPr>
        <p:spPr>
          <a:xfrm>
            <a:off x="2447109" y="4299838"/>
            <a:ext cx="8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E094A-0FE9-2043-9F37-0659F8A260E8}"/>
              </a:ext>
            </a:extLst>
          </p:cNvPr>
          <p:cNvSpPr txBox="1"/>
          <p:nvPr/>
        </p:nvSpPr>
        <p:spPr>
          <a:xfrm>
            <a:off x="8541504" y="4226011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gen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53302D6-7755-6D4B-84A2-19AB17545C5A}"/>
              </a:ext>
            </a:extLst>
          </p:cNvPr>
          <p:cNvSpPr/>
          <p:nvPr/>
        </p:nvSpPr>
        <p:spPr>
          <a:xfrm rot="8848743">
            <a:off x="5884098" y="4443973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26B06C5-8D02-2E43-9B16-CA8BF2231F67}"/>
              </a:ext>
            </a:extLst>
          </p:cNvPr>
          <p:cNvSpPr/>
          <p:nvPr/>
        </p:nvSpPr>
        <p:spPr>
          <a:xfrm rot="12718130">
            <a:off x="5026115" y="4517799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C540AF-F8AB-1043-BE5B-D1675E9B18A6}"/>
              </a:ext>
            </a:extLst>
          </p:cNvPr>
          <p:cNvSpPr txBox="1"/>
          <p:nvPr/>
        </p:nvSpPr>
        <p:spPr>
          <a:xfrm>
            <a:off x="6465912" y="4775901"/>
            <a:ext cx="2020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optimizations</a:t>
            </a:r>
          </a:p>
          <a:p>
            <a:r>
              <a:rPr lang="en-US" dirty="0"/>
              <a:t>build on each 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398A2-91EC-2348-81D4-76CA5F782755}"/>
              </a:ext>
            </a:extLst>
          </p:cNvPr>
          <p:cNvSpPr txBox="1"/>
          <p:nvPr/>
        </p:nvSpPr>
        <p:spPr>
          <a:xfrm>
            <a:off x="38645" y="6364451"/>
            <a:ext cx="958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about optimizations: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stackoverflow.com</a:t>
            </a:r>
            <a:r>
              <a:rPr lang="en-US" dirty="0">
                <a:hlinkClick r:id="rId2"/>
              </a:rPr>
              <a:t>/questions/15548023/clang-optimization-levels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FEF8E-36DF-FB47-99C4-01EC345A7D76}"/>
              </a:ext>
            </a:extLst>
          </p:cNvPr>
          <p:cNvSpPr txBox="1"/>
          <p:nvPr/>
        </p:nvSpPr>
        <p:spPr>
          <a:xfrm>
            <a:off x="3454104" y="2296268"/>
            <a:ext cx="1039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creates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3DCD5-0038-B646-93C6-C85CBE640171}"/>
              </a:ext>
            </a:extLst>
          </p:cNvPr>
          <p:cNvSpPr txBox="1"/>
          <p:nvPr/>
        </p:nvSpPr>
        <p:spPr>
          <a:xfrm>
            <a:off x="287383" y="4336869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942029-AE5D-884E-8594-EAD473DCF4E3}"/>
              </a:ext>
            </a:extLst>
          </p:cNvPr>
          <p:cNvSpPr txBox="1"/>
          <p:nvPr/>
        </p:nvSpPr>
        <p:spPr>
          <a:xfrm>
            <a:off x="8115922" y="2252299"/>
            <a:ext cx="17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produces</a:t>
            </a:r>
            <a:br>
              <a:rPr lang="en-US" dirty="0"/>
            </a:br>
            <a:r>
              <a:rPr lang="en-US" dirty="0"/>
              <a:t>executable code</a:t>
            </a:r>
          </a:p>
        </p:txBody>
      </p:sp>
    </p:spTree>
    <p:extLst>
      <p:ext uri="{BB962C8B-B14F-4D97-AF65-F5344CB8AC3E}">
        <p14:creationId xmlns:p14="http://schemas.microsoft.com/office/powerpoint/2010/main" val="77843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364D-077A-754F-A413-0C485D0D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detailed view</a:t>
            </a:r>
          </a:p>
        </p:txBody>
      </p:sp>
    </p:spTree>
    <p:extLst>
      <p:ext uri="{BB962C8B-B14F-4D97-AF65-F5344CB8AC3E}">
        <p14:creationId xmlns:p14="http://schemas.microsoft.com/office/powerpoint/2010/main" val="399317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5" y="837898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335452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</p:spTree>
    <p:extLst>
      <p:ext uri="{BB962C8B-B14F-4D97-AF65-F5344CB8AC3E}">
        <p14:creationId xmlns:p14="http://schemas.microsoft.com/office/powerpoint/2010/main" val="81793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5" y="837898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4D5C78-D86E-B54A-9EB5-BDDAD5583D4D}"/>
              </a:ext>
            </a:extLst>
          </p:cNvPr>
          <p:cNvSpPr txBox="1"/>
          <p:nvPr/>
        </p:nvSpPr>
        <p:spPr>
          <a:xfrm>
            <a:off x="4215782" y="2427814"/>
            <a:ext cx="3816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We’re going to move semantic analysis</a:t>
            </a:r>
          </a:p>
          <a:p>
            <a:r>
              <a:rPr lang="en-US" i="1" dirty="0"/>
              <a:t>into IR optimizations and analysis</a:t>
            </a:r>
          </a:p>
        </p:txBody>
      </p:sp>
    </p:spTree>
    <p:extLst>
      <p:ext uri="{BB962C8B-B14F-4D97-AF65-F5344CB8AC3E}">
        <p14:creationId xmlns:p14="http://schemas.microsoft.com/office/powerpoint/2010/main" val="108869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5E0BB3A9-7EC7-3C4A-9BD1-A42DE5FCC090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51A1B3-ED21-8648-9E17-C9949717DA26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</p:spTree>
    <p:extLst>
      <p:ext uri="{BB962C8B-B14F-4D97-AF65-F5344CB8AC3E}">
        <p14:creationId xmlns:p14="http://schemas.microsoft.com/office/powerpoint/2010/main" val="224003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B299E981-4FD4-D54F-A39F-D94C152B369C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BC88D9-D1DE-C844-B4DF-0B684D4FDDB8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</p:spTree>
    <p:extLst>
      <p:ext uri="{BB962C8B-B14F-4D97-AF65-F5344CB8AC3E}">
        <p14:creationId xmlns:p14="http://schemas.microsoft.com/office/powerpoint/2010/main" val="101188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916986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&lt;id,&gt; &lt;assign,=&gt;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3494960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54922DB1-E950-3A4A-A352-62C7816334C5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C73567-0EEA-3640-8BCA-2B033836B622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5911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029702" y="404328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494611" y="570227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250165" y="5430020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0EDCDCE-EDCC-DB42-AE5B-2AC23804D692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DE7950-24E0-D14A-98EF-3340907E252D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F3C44B-630C-A94F-BC19-7234420CEA0E}"/>
              </a:ext>
            </a:extLst>
          </p:cNvPr>
          <p:cNvSpPr txBox="1"/>
          <p:nvPr/>
        </p:nvSpPr>
        <p:spPr>
          <a:xfrm>
            <a:off x="310333" y="3136729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&lt;id,&gt; &lt;assign,=&gt;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835C9-2CBF-E14D-83C0-550F8676358B}"/>
              </a:ext>
            </a:extLst>
          </p:cNvPr>
          <p:cNvSpPr txBox="1"/>
          <p:nvPr/>
        </p:nvSpPr>
        <p:spPr>
          <a:xfrm>
            <a:off x="2337683" y="47389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809B10-33DD-D74D-A629-50A1749B399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408973" y="4412612"/>
            <a:ext cx="94711" cy="444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C4D1BAF-D817-5A4B-B8C1-BFE6007460FE}"/>
              </a:ext>
            </a:extLst>
          </p:cNvPr>
          <p:cNvSpPr txBox="1"/>
          <p:nvPr/>
        </p:nvSpPr>
        <p:spPr>
          <a:xfrm>
            <a:off x="3871046" y="53390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E654AA-A484-BB48-A169-A355A7CEF829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942336" y="5012682"/>
            <a:ext cx="78751" cy="326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C2045C8-7CC6-F840-B3BE-F355D99FF051}"/>
              </a:ext>
            </a:extLst>
          </p:cNvPr>
          <p:cNvSpPr txBox="1"/>
          <p:nvPr/>
        </p:nvSpPr>
        <p:spPr>
          <a:xfrm>
            <a:off x="5066026" y="58869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6126DE-8922-A54A-9EAF-722D273E36C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5168864" y="5526826"/>
            <a:ext cx="47203" cy="360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0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1901563" y="2691398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878246" y="338447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435348" y="380561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584833" y="435486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366472" y="4350394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603754" y="32563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865020" y="380561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453083" y="3098562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402291" y="3081992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231137" y="3569140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3903836" y="3569140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311214" y="3990278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122026" y="4078138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2755480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0EDCDCE-EDCC-DB42-AE5B-2AC23804D692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DE7950-24E0-D14A-98EF-3340907E252D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835C9-2CBF-E14D-83C0-550F8676358B}"/>
              </a:ext>
            </a:extLst>
          </p:cNvPr>
          <p:cNvSpPr txBox="1"/>
          <p:nvPr/>
        </p:nvSpPr>
        <p:spPr>
          <a:xfrm>
            <a:off x="2209544" y="33870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809B10-33DD-D74D-A629-50A1749B399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280834" y="3060730"/>
            <a:ext cx="94711" cy="444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C4D1BAF-D817-5A4B-B8C1-BFE6007460FE}"/>
              </a:ext>
            </a:extLst>
          </p:cNvPr>
          <p:cNvSpPr txBox="1"/>
          <p:nvPr/>
        </p:nvSpPr>
        <p:spPr>
          <a:xfrm>
            <a:off x="3742907" y="39871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E654AA-A484-BB48-A169-A355A7CEF829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814197" y="3660800"/>
            <a:ext cx="78751" cy="326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C2045C8-7CC6-F840-B3BE-F355D99FF051}"/>
              </a:ext>
            </a:extLst>
          </p:cNvPr>
          <p:cNvSpPr txBox="1"/>
          <p:nvPr/>
        </p:nvSpPr>
        <p:spPr>
          <a:xfrm>
            <a:off x="4937887" y="45350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6126DE-8922-A54A-9EAF-722D273E36C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5040725" y="4174944"/>
            <a:ext cx="47203" cy="360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31B518C-B046-D24E-9FCB-BAF7B31D40C0}"/>
              </a:ext>
            </a:extLst>
          </p:cNvPr>
          <p:cNvSpPr txBox="1"/>
          <p:nvPr/>
        </p:nvSpPr>
        <p:spPr>
          <a:xfrm>
            <a:off x="1355418" y="46615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A365F6-1DEC-8E49-84F8-B3E667953A55}"/>
              </a:ext>
            </a:extLst>
          </p:cNvPr>
          <p:cNvSpPr/>
          <p:nvPr/>
        </p:nvSpPr>
        <p:spPr>
          <a:xfrm>
            <a:off x="205744" y="531682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D6B1B6-616C-6A49-A40B-0FA12DD6D9A9}"/>
              </a:ext>
            </a:extLst>
          </p:cNvPr>
          <p:cNvSpPr/>
          <p:nvPr/>
        </p:nvSpPr>
        <p:spPr>
          <a:xfrm>
            <a:off x="1762846" y="573795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905F5C-8FA2-2944-BB49-4B943DAAD7A5}"/>
              </a:ext>
            </a:extLst>
          </p:cNvPr>
          <p:cNvSpPr/>
          <p:nvPr/>
        </p:nvSpPr>
        <p:spPr>
          <a:xfrm>
            <a:off x="2912331" y="628721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1221B3-82AE-8C41-897F-62B0511BD554}"/>
              </a:ext>
            </a:extLst>
          </p:cNvPr>
          <p:cNvSpPr txBox="1"/>
          <p:nvPr/>
        </p:nvSpPr>
        <p:spPr>
          <a:xfrm>
            <a:off x="2931252" y="51887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7D30FB-0741-2249-9A1D-5B75AFE3118B}"/>
              </a:ext>
            </a:extLst>
          </p:cNvPr>
          <p:cNvSpPr txBox="1"/>
          <p:nvPr/>
        </p:nvSpPr>
        <p:spPr>
          <a:xfrm>
            <a:off x="4192518" y="57379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36024B9-6AE5-E94C-AD98-845CCEBA8790}"/>
              </a:ext>
            </a:extLst>
          </p:cNvPr>
          <p:cNvCxnSpPr>
            <a:endCxn id="63" idx="0"/>
          </p:cNvCxnSpPr>
          <p:nvPr/>
        </p:nvCxnSpPr>
        <p:spPr>
          <a:xfrm flipH="1">
            <a:off x="780581" y="5030909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D20F9F9-9190-844A-A386-743F82F1BBF8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1729789" y="5014339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E8803B5-960F-D144-9BF9-9722BEF5366B}"/>
              </a:ext>
            </a:extLst>
          </p:cNvPr>
          <p:cNvCxnSpPr>
            <a:cxnSpLocks/>
          </p:cNvCxnSpPr>
          <p:nvPr/>
        </p:nvCxnSpPr>
        <p:spPr>
          <a:xfrm flipH="1">
            <a:off x="2558635" y="5501487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CB6FC3-6B90-F243-9848-B458FAB84832}"/>
              </a:ext>
            </a:extLst>
          </p:cNvPr>
          <p:cNvCxnSpPr>
            <a:cxnSpLocks/>
          </p:cNvCxnSpPr>
          <p:nvPr/>
        </p:nvCxnSpPr>
        <p:spPr>
          <a:xfrm>
            <a:off x="3231334" y="5501487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08FA5E2-4796-A744-98D7-70723BD18836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3638712" y="5922625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0162216-0A32-D24A-9AD9-D3BC7D698EB7}"/>
              </a:ext>
            </a:extLst>
          </p:cNvPr>
          <p:cNvSpPr txBox="1"/>
          <p:nvPr/>
        </p:nvSpPr>
        <p:spPr>
          <a:xfrm>
            <a:off x="4878576" y="61580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404793-FB38-774B-9605-F39CA02FBEC4}"/>
              </a:ext>
            </a:extLst>
          </p:cNvPr>
          <p:cNvCxnSpPr>
            <a:cxnSpLocks/>
          </p:cNvCxnSpPr>
          <p:nvPr/>
        </p:nvCxnSpPr>
        <p:spPr>
          <a:xfrm>
            <a:off x="4528311" y="5922625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1AED69-32BD-D94C-9F04-455483BCD5D1}"/>
              </a:ext>
            </a:extLst>
          </p:cNvPr>
          <p:cNvSpPr txBox="1"/>
          <p:nvPr/>
        </p:nvSpPr>
        <p:spPr>
          <a:xfrm>
            <a:off x="348791" y="453506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</a:t>
            </a:r>
          </a:p>
        </p:txBody>
      </p:sp>
    </p:spTree>
    <p:extLst>
      <p:ext uri="{BB962C8B-B14F-4D97-AF65-F5344CB8AC3E}">
        <p14:creationId xmlns:p14="http://schemas.microsoft.com/office/powerpoint/2010/main" val="152042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353602" y="3292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203928" y="394728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761030" y="436841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910515" y="491767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&lt;id,3&gt;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763034" y="5441651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60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929436" y="38191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5190702" y="43684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778765" y="3661369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727973" y="3644799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556819" y="4131947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229518" y="4131947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636896" y="4553085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993225" y="5053460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451373" y="297622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5961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526495" y="4747750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526495" y="4553085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ight Arrow 53">
            <a:extLst>
              <a:ext uri="{FF2B5EF4-FFF2-40B4-BE49-F238E27FC236}">
                <a16:creationId xmlns:a16="http://schemas.microsoft.com/office/drawing/2014/main" id="{BFB1E1A8-3516-C64B-B6DE-314B2C967F60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28A6CC-38F7-B24A-A386-0237CB790DBA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Analysis</a:t>
            </a:r>
            <a:r>
              <a:rPr lang="en-US" dirty="0"/>
              <a:t>/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5845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27047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335994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3781085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433034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565491" y="48543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3231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37810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3074035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3057465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3544613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3544613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3965751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795682" y="4466126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67861" y="259662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328952" y="4160416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328952" y="3965751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003409-A4AB-764C-9CDA-FBDC98CE0855}"/>
              </a:ext>
            </a:extLst>
          </p:cNvPr>
          <p:cNvSpPr txBox="1"/>
          <p:nvPr/>
        </p:nvSpPr>
        <p:spPr>
          <a:xfrm>
            <a:off x="376487" y="5487649"/>
            <a:ext cx="33554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%r0 = 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>
                <a:latin typeface="Courier" pitchFamily="2" charset="0"/>
              </a:rPr>
              <a:t>(60);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%r1 = %r0 * id3;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%r2 = %r1 + id2;</a:t>
            </a:r>
          </a:p>
          <a:p>
            <a:r>
              <a:rPr lang="en-US" dirty="0">
                <a:latin typeface="Courier" pitchFamily="2" charset="0"/>
              </a:rPr>
              <a:t>%id1 = %r2;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84BD3-44AF-514F-9253-57495816FC37}"/>
              </a:ext>
            </a:extLst>
          </p:cNvPr>
          <p:cNvSpPr txBox="1"/>
          <p:nvPr/>
        </p:nvSpPr>
        <p:spPr>
          <a:xfrm>
            <a:off x="396506" y="4999850"/>
            <a:ext cx="2441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3-address code program</a:t>
            </a:r>
          </a:p>
        </p:txBody>
      </p:sp>
    </p:spTree>
    <p:extLst>
      <p:ext uri="{BB962C8B-B14F-4D97-AF65-F5344CB8AC3E}">
        <p14:creationId xmlns:p14="http://schemas.microsoft.com/office/powerpoint/2010/main" val="371739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A677D1-5FA9-0D47-B7E6-C456675E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Several forms:</a:t>
            </a:r>
          </a:p>
          <a:p>
            <a:pPr lvl="1"/>
            <a:r>
              <a:rPr lang="en-US" dirty="0"/>
              <a:t>tree - abstract syntax tree</a:t>
            </a:r>
          </a:p>
          <a:p>
            <a:pPr lvl="1"/>
            <a:r>
              <a:rPr lang="en-US" dirty="0"/>
              <a:t>graphs - control flow graph</a:t>
            </a:r>
          </a:p>
          <a:p>
            <a:pPr lvl="1"/>
            <a:r>
              <a:rPr lang="en-US" dirty="0"/>
              <a:t>linear program - 3 address code</a:t>
            </a:r>
          </a:p>
          <a:p>
            <a:pPr lvl="1"/>
            <a:endParaRPr lang="en-US" dirty="0"/>
          </a:p>
          <a:p>
            <a:r>
              <a:rPr lang="en-US" dirty="0"/>
              <a:t> Often times the program is represented as a hybrid</a:t>
            </a:r>
          </a:p>
          <a:p>
            <a:pPr lvl="1"/>
            <a:r>
              <a:rPr lang="en-US" dirty="0"/>
              <a:t>graphs where nodes are a linear program</a:t>
            </a:r>
          </a:p>
          <a:p>
            <a:pPr lvl="1"/>
            <a:r>
              <a:rPr lang="en-US" dirty="0"/>
              <a:t>linear program where expressions are ASTs</a:t>
            </a:r>
          </a:p>
          <a:p>
            <a:pPr lvl="1"/>
            <a:endParaRPr lang="en-US" dirty="0"/>
          </a:p>
          <a:p>
            <a:r>
              <a:rPr lang="en-US" dirty="0"/>
              <a:t>Progression: </a:t>
            </a:r>
          </a:p>
          <a:p>
            <a:pPr lvl="1"/>
            <a:r>
              <a:rPr lang="en-US" dirty="0"/>
              <a:t>start close to a parse tree</a:t>
            </a:r>
          </a:p>
          <a:p>
            <a:pPr lvl="1"/>
            <a:r>
              <a:rPr lang="en-US" dirty="0"/>
              <a:t>move closer to an ISA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03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Clang and LLVM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A677D1-5FA9-0D47-B7E6-C456675E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18"/>
          </a:xfrm>
        </p:spPr>
        <p:txBody>
          <a:bodyPr>
            <a:normAutofit/>
          </a:bodyPr>
          <a:lstStyle/>
          <a:p>
            <a:r>
              <a:rPr lang="en-US" dirty="0"/>
              <a:t>Clang:</a:t>
            </a:r>
          </a:p>
          <a:p>
            <a:pPr lvl="1"/>
            <a:r>
              <a:rPr lang="en-US" dirty="0"/>
              <a:t>a parser for C or C++</a:t>
            </a:r>
          </a:p>
          <a:p>
            <a:pPr lvl="1"/>
            <a:r>
              <a:rPr lang="en-US" dirty="0"/>
              <a:t>compiles down to an IR: LLVM IR</a:t>
            </a:r>
          </a:p>
          <a:p>
            <a:pPr lvl="1"/>
            <a:endParaRPr lang="en-US" dirty="0"/>
          </a:p>
          <a:p>
            <a:r>
              <a:rPr lang="en-US" dirty="0"/>
              <a:t>LLVM (low-level virtual machine)</a:t>
            </a:r>
          </a:p>
          <a:p>
            <a:pPr lvl="1"/>
            <a:r>
              <a:rPr lang="en-US" dirty="0"/>
              <a:t>An IR and specification </a:t>
            </a:r>
          </a:p>
          <a:p>
            <a:pPr lvl="1"/>
            <a:r>
              <a:rPr lang="en-US" dirty="0"/>
              <a:t>unlimited registers </a:t>
            </a:r>
          </a:p>
          <a:p>
            <a:pPr lvl="1"/>
            <a:r>
              <a:rPr lang="en-US" dirty="0"/>
              <a:t>simple expressions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5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04B0-91DD-664A-8647-698FFD95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Clang and LLVM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8C71E-60B6-7B44-B273-482D6CF8E0BF}"/>
              </a:ext>
            </a:extLst>
          </p:cNvPr>
          <p:cNvSpPr txBox="1"/>
          <p:nvPr/>
        </p:nvSpPr>
        <p:spPr>
          <a:xfrm>
            <a:off x="1050482" y="1690688"/>
            <a:ext cx="2462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Quadratic formula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AF95A7-575F-9D46-AC75-57281283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379" y="2152353"/>
            <a:ext cx="5229439" cy="161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13DF4-7A39-5940-B59F-3CFE7EB34F8D}"/>
              </a:ext>
            </a:extLst>
          </p:cNvPr>
          <p:cNvSpPr txBox="1"/>
          <p:nvPr/>
        </p:nvSpPr>
        <p:spPr>
          <a:xfrm>
            <a:off x="838200" y="4130676"/>
            <a:ext cx="75584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x = (-b - sqrt(b*b - 4 * a * c)) / (2*a)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77104-9C3C-6B3C-AF46-3E2F5C55798F}"/>
              </a:ext>
            </a:extLst>
          </p:cNvPr>
          <p:cNvSpPr txBox="1"/>
          <p:nvPr/>
        </p:nvSpPr>
        <p:spPr>
          <a:xfrm>
            <a:off x="593387" y="5330757"/>
            <a:ext cx="198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flag: -emit-</a:t>
            </a:r>
            <a:r>
              <a:rPr lang="en-US" dirty="0" err="1"/>
              <a:t>llvm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FDEA8-DAA1-2E88-25D3-77209B6B0596}"/>
              </a:ext>
            </a:extLst>
          </p:cNvPr>
          <p:cNvSpPr txBox="1"/>
          <p:nvPr/>
        </p:nvSpPr>
        <p:spPr>
          <a:xfrm>
            <a:off x="6096000" y="5743086"/>
            <a:ext cx="4147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 err="1"/>
              <a:t>quadratic.c</a:t>
            </a:r>
            <a:r>
              <a:rPr lang="en-US" dirty="0"/>
              <a:t> on godbolt.org</a:t>
            </a:r>
          </a:p>
        </p:txBody>
      </p:sp>
    </p:spTree>
    <p:extLst>
      <p:ext uri="{BB962C8B-B14F-4D97-AF65-F5344CB8AC3E}">
        <p14:creationId xmlns:p14="http://schemas.microsoft.com/office/powerpoint/2010/main" val="1278546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A677D1-5FA9-0D47-B7E6-C456675E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18"/>
          </a:xfrm>
        </p:spPr>
        <p:txBody>
          <a:bodyPr>
            <a:normAutofit/>
          </a:bodyPr>
          <a:lstStyle/>
          <a:p>
            <a:r>
              <a:rPr lang="en-US" dirty="0"/>
              <a:t>Several forms:</a:t>
            </a:r>
          </a:p>
          <a:p>
            <a:pPr lvl="1"/>
            <a:r>
              <a:rPr lang="en-US" dirty="0"/>
              <a:t>tree - abstract syntax tree</a:t>
            </a:r>
          </a:p>
          <a:p>
            <a:pPr lvl="1"/>
            <a:r>
              <a:rPr lang="en-US" dirty="0"/>
              <a:t>graphs - control flow graph</a:t>
            </a:r>
          </a:p>
          <a:p>
            <a:pPr lvl="1"/>
            <a:r>
              <a:rPr lang="en-US" dirty="0"/>
              <a:t>linear program - 3 address code</a:t>
            </a:r>
          </a:p>
          <a:p>
            <a:pPr lvl="1"/>
            <a:endParaRPr lang="en-US" dirty="0"/>
          </a:p>
          <a:p>
            <a:r>
              <a:rPr lang="en-US" dirty="0"/>
              <a:t> Different optimizations and analysis are more suitable for IRs in different forms.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1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3ED0BB-E7DA-8C41-A6B2-E7A4D602A7F4}"/>
              </a:ext>
            </a:extLst>
          </p:cNvPr>
          <p:cNvSpPr txBox="1"/>
          <p:nvPr/>
        </p:nvSpPr>
        <p:spPr>
          <a:xfrm>
            <a:off x="3181613" y="2613810"/>
            <a:ext cx="47339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0;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&lt; 102;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+ 1) {</a:t>
            </a:r>
          </a:p>
          <a:p>
            <a:r>
              <a:rPr lang="en-US" dirty="0">
                <a:latin typeface="Courier" pitchFamily="2" charset="0"/>
              </a:rPr>
              <a:t>   x = x + 1;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+ 1;</a:t>
            </a:r>
          </a:p>
          <a:p>
            <a:r>
              <a:rPr lang="en-US" dirty="0">
                <a:latin typeface="Courier" pitchFamily="2" charset="0"/>
              </a:rPr>
              <a:t>   x = x + 1;</a:t>
            </a:r>
          </a:p>
          <a:p>
            <a:r>
              <a:rPr lang="en-US" dirty="0">
                <a:latin typeface="Courier" pitchFamily="2" charset="0"/>
              </a:rPr>
              <a:t>  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+ 1;</a:t>
            </a:r>
          </a:p>
          <a:p>
            <a:r>
              <a:rPr lang="en-US" dirty="0">
                <a:latin typeface="Courier" pitchFamily="2" charset="0"/>
              </a:rPr>
              <a:t>   x = x + 1;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041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1BFFF-8162-C340-85D8-DC192F04C3D7}"/>
              </a:ext>
            </a:extLst>
          </p:cNvPr>
          <p:cNvSpPr txBox="1"/>
          <p:nvPr/>
        </p:nvSpPr>
        <p:spPr>
          <a:xfrm>
            <a:off x="3039532" y="221140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for_statement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E6532-BE5F-F143-A1A9-08F72A1ABA58}"/>
              </a:ext>
            </a:extLst>
          </p:cNvPr>
          <p:cNvSpPr/>
          <p:nvPr/>
        </p:nvSpPr>
        <p:spPr>
          <a:xfrm>
            <a:off x="586387" y="3059668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assignment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88390-8D77-0E42-ACF0-AE7E91777E14}"/>
              </a:ext>
            </a:extLst>
          </p:cNvPr>
          <p:cNvSpPr/>
          <p:nvPr/>
        </p:nvSpPr>
        <p:spPr>
          <a:xfrm>
            <a:off x="3039532" y="3059668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C0571-B182-FC4D-A9A6-5D1993ED877C}"/>
              </a:ext>
            </a:extLst>
          </p:cNvPr>
          <p:cNvSpPr/>
          <p:nvPr/>
        </p:nvSpPr>
        <p:spPr>
          <a:xfrm>
            <a:off x="5016355" y="3059668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8F17CF-83A4-3746-B25D-5329A2EA2E8D}"/>
              </a:ext>
            </a:extLst>
          </p:cNvPr>
          <p:cNvSpPr/>
          <p:nvPr/>
        </p:nvSpPr>
        <p:spPr>
          <a:xfrm>
            <a:off x="6616555" y="3059668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8DD4E-2E84-934F-8F1F-944333A74DCA}"/>
              </a:ext>
            </a:extLst>
          </p:cNvPr>
          <p:cNvCxnSpPr>
            <a:endCxn id="7" idx="0"/>
          </p:cNvCxnSpPr>
          <p:nvPr/>
        </p:nvCxnSpPr>
        <p:spPr>
          <a:xfrm flipH="1">
            <a:off x="1368011" y="2580732"/>
            <a:ext cx="2298055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C513F6-C30E-C648-A164-F3B882C7DDA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660540" y="2580732"/>
            <a:ext cx="160616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D420B-9579-EF4E-AED5-C134FCECA7B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660540" y="2580732"/>
            <a:ext cx="1861723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3C2FC-0127-514C-B72E-B99768A71D0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660540" y="2580732"/>
            <a:ext cx="3668710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C3ED0BB-E7DA-8C41-A6B2-E7A4D602A7F4}"/>
              </a:ext>
            </a:extLst>
          </p:cNvPr>
          <p:cNvSpPr txBox="1"/>
          <p:nvPr/>
        </p:nvSpPr>
        <p:spPr>
          <a:xfrm>
            <a:off x="1803400" y="4512734"/>
            <a:ext cx="4596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(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100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+1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x = x + 1;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0305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1BFFF-8162-C340-85D8-DC192F04C3D7}"/>
              </a:ext>
            </a:extLst>
          </p:cNvPr>
          <p:cNvSpPr txBox="1"/>
          <p:nvPr/>
        </p:nvSpPr>
        <p:spPr>
          <a:xfrm>
            <a:off x="2598144" y="216906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for_statement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E6532-BE5F-F143-A1A9-08F72A1ABA58}"/>
              </a:ext>
            </a:extLst>
          </p:cNvPr>
          <p:cNvSpPr/>
          <p:nvPr/>
        </p:nvSpPr>
        <p:spPr>
          <a:xfrm>
            <a:off x="144999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assignment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88390-8D77-0E42-ACF0-AE7E91777E14}"/>
              </a:ext>
            </a:extLst>
          </p:cNvPr>
          <p:cNvSpPr/>
          <p:nvPr/>
        </p:nvSpPr>
        <p:spPr>
          <a:xfrm>
            <a:off x="2598144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C0571-B182-FC4D-A9A6-5D1993ED877C}"/>
              </a:ext>
            </a:extLst>
          </p:cNvPr>
          <p:cNvSpPr/>
          <p:nvPr/>
        </p:nvSpPr>
        <p:spPr>
          <a:xfrm>
            <a:off x="4574967" y="3017335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8F17CF-83A4-3746-B25D-5329A2EA2E8D}"/>
              </a:ext>
            </a:extLst>
          </p:cNvPr>
          <p:cNvSpPr/>
          <p:nvPr/>
        </p:nvSpPr>
        <p:spPr>
          <a:xfrm>
            <a:off x="6175167" y="3017335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8DD4E-2E84-934F-8F1F-944333A74DCA}"/>
              </a:ext>
            </a:extLst>
          </p:cNvPr>
          <p:cNvCxnSpPr>
            <a:endCxn id="7" idx="0"/>
          </p:cNvCxnSpPr>
          <p:nvPr/>
        </p:nvCxnSpPr>
        <p:spPr>
          <a:xfrm flipH="1">
            <a:off x="926623" y="2538399"/>
            <a:ext cx="2298055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C513F6-C30E-C648-A164-F3B882C7DDA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19152" y="2538399"/>
            <a:ext cx="160616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D420B-9579-EF4E-AED5-C134FCECA7B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219152" y="2538399"/>
            <a:ext cx="1861723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3C2FC-0127-514C-B72E-B99768A71D0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19152" y="2538399"/>
            <a:ext cx="3668710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C3ED0BB-E7DA-8C41-A6B2-E7A4D602A7F4}"/>
              </a:ext>
            </a:extLst>
          </p:cNvPr>
          <p:cNvSpPr txBox="1"/>
          <p:nvPr/>
        </p:nvSpPr>
        <p:spPr>
          <a:xfrm>
            <a:off x="1362012" y="4470401"/>
            <a:ext cx="4733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(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100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+ 1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x = x + 1;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78F9B-B1F1-A44C-ACFE-EB8A8D7175E5}"/>
              </a:ext>
            </a:extLst>
          </p:cNvPr>
          <p:cNvSpPr txBox="1"/>
          <p:nvPr/>
        </p:nvSpPr>
        <p:spPr>
          <a:xfrm>
            <a:off x="8117568" y="592417"/>
            <a:ext cx="40867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Check:</a:t>
            </a:r>
          </a:p>
          <a:p>
            <a:endParaRPr lang="en-US" dirty="0"/>
          </a:p>
          <a:p>
            <a:r>
              <a:rPr lang="en-US" dirty="0"/>
              <a:t>1. Find iteration variable by</a:t>
            </a:r>
          </a:p>
          <a:p>
            <a:r>
              <a:rPr lang="en-US" dirty="0"/>
              <a:t>examining </a:t>
            </a:r>
            <a:r>
              <a:rPr lang="en-US" dirty="0">
                <a:highlight>
                  <a:srgbClr val="FFFF00"/>
                </a:highlight>
              </a:rPr>
              <a:t>assignment</a:t>
            </a:r>
            <a:r>
              <a:rPr lang="en-US" dirty="0"/>
              <a:t>,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highlight>
                  <a:srgbClr val="00FFFF"/>
                </a:highlight>
              </a:rPr>
              <a:t>update.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2. found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check that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doesn’t change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check that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r>
              <a:rPr lang="en-US" dirty="0"/>
              <a:t> goes around an even number of times.</a:t>
            </a:r>
          </a:p>
        </p:txBody>
      </p:sp>
    </p:spTree>
    <p:extLst>
      <p:ext uri="{BB962C8B-B14F-4D97-AF65-F5344CB8AC3E}">
        <p14:creationId xmlns:p14="http://schemas.microsoft.com/office/powerpoint/2010/main" val="3299295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1BFFF-8162-C340-85D8-DC192F04C3D7}"/>
              </a:ext>
            </a:extLst>
          </p:cNvPr>
          <p:cNvSpPr txBox="1"/>
          <p:nvPr/>
        </p:nvSpPr>
        <p:spPr>
          <a:xfrm>
            <a:off x="2598144" y="216906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for_statement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E6532-BE5F-F143-A1A9-08F72A1ABA58}"/>
              </a:ext>
            </a:extLst>
          </p:cNvPr>
          <p:cNvSpPr/>
          <p:nvPr/>
        </p:nvSpPr>
        <p:spPr>
          <a:xfrm>
            <a:off x="144999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assignment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88390-8D77-0E42-ACF0-AE7E91777E14}"/>
              </a:ext>
            </a:extLst>
          </p:cNvPr>
          <p:cNvSpPr/>
          <p:nvPr/>
        </p:nvSpPr>
        <p:spPr>
          <a:xfrm>
            <a:off x="2598144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C0571-B182-FC4D-A9A6-5D1993ED877C}"/>
              </a:ext>
            </a:extLst>
          </p:cNvPr>
          <p:cNvSpPr/>
          <p:nvPr/>
        </p:nvSpPr>
        <p:spPr>
          <a:xfrm>
            <a:off x="4574967" y="3017335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8F17CF-83A4-3746-B25D-5329A2EA2E8D}"/>
              </a:ext>
            </a:extLst>
          </p:cNvPr>
          <p:cNvSpPr/>
          <p:nvPr/>
        </p:nvSpPr>
        <p:spPr>
          <a:xfrm>
            <a:off x="6175167" y="3017335"/>
            <a:ext cx="14253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8DD4E-2E84-934F-8F1F-944333A74DCA}"/>
              </a:ext>
            </a:extLst>
          </p:cNvPr>
          <p:cNvCxnSpPr>
            <a:endCxn id="7" idx="0"/>
          </p:cNvCxnSpPr>
          <p:nvPr/>
        </p:nvCxnSpPr>
        <p:spPr>
          <a:xfrm flipH="1">
            <a:off x="926623" y="2538399"/>
            <a:ext cx="2298055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C513F6-C30E-C648-A164-F3B882C7DDA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19152" y="2538399"/>
            <a:ext cx="160616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D420B-9579-EF4E-AED5-C134FCECA7B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219152" y="2538399"/>
            <a:ext cx="1861723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3C2FC-0127-514C-B72E-B99768A71D0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19152" y="2538399"/>
            <a:ext cx="3668710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C3ED0BB-E7DA-8C41-A6B2-E7A4D602A7F4}"/>
              </a:ext>
            </a:extLst>
          </p:cNvPr>
          <p:cNvSpPr txBox="1"/>
          <p:nvPr/>
        </p:nvSpPr>
        <p:spPr>
          <a:xfrm>
            <a:off x="1362012" y="4470401"/>
            <a:ext cx="4733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(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100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+ 1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x = x + 1;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78F9B-B1F1-A44C-ACFE-EB8A8D7175E5}"/>
              </a:ext>
            </a:extLst>
          </p:cNvPr>
          <p:cNvSpPr txBox="1"/>
          <p:nvPr/>
        </p:nvSpPr>
        <p:spPr>
          <a:xfrm>
            <a:off x="8117568" y="592417"/>
            <a:ext cx="40867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Check:</a:t>
            </a:r>
          </a:p>
          <a:p>
            <a:endParaRPr lang="en-US" dirty="0"/>
          </a:p>
          <a:p>
            <a:r>
              <a:rPr lang="en-US" dirty="0"/>
              <a:t>1. Find iteration variable by</a:t>
            </a:r>
          </a:p>
          <a:p>
            <a:r>
              <a:rPr lang="en-US" dirty="0"/>
              <a:t>examining </a:t>
            </a:r>
            <a:r>
              <a:rPr lang="en-US" dirty="0">
                <a:highlight>
                  <a:srgbClr val="FFFF00"/>
                </a:highlight>
              </a:rPr>
              <a:t>assignment</a:t>
            </a:r>
            <a:r>
              <a:rPr lang="en-US" dirty="0"/>
              <a:t>,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highlight>
                  <a:srgbClr val="00FFFF"/>
                </a:highlight>
              </a:rPr>
              <a:t>update.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2. found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check that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doesn’t change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check that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r>
              <a:rPr lang="en-US" dirty="0"/>
              <a:t> goes around an even number of times.</a:t>
            </a:r>
          </a:p>
          <a:p>
            <a:endParaRPr lang="en-US" dirty="0"/>
          </a:p>
          <a:p>
            <a:r>
              <a:rPr lang="en-US" dirty="0"/>
              <a:t>Perform optimization</a:t>
            </a:r>
          </a:p>
          <a:p>
            <a:endParaRPr lang="en-US" dirty="0"/>
          </a:p>
          <a:p>
            <a:r>
              <a:rPr lang="en-US" dirty="0"/>
              <a:t>copy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and put an </a:t>
            </a:r>
            <a:r>
              <a:rPr lang="en-US" dirty="0">
                <a:highlight>
                  <a:srgbClr val="00FFFF"/>
                </a:highlight>
              </a:rPr>
              <a:t>update</a:t>
            </a:r>
            <a:r>
              <a:rPr lang="en-US" dirty="0"/>
              <a:t> before it</a:t>
            </a:r>
          </a:p>
        </p:txBody>
      </p:sp>
    </p:spTree>
    <p:extLst>
      <p:ext uri="{BB962C8B-B14F-4D97-AF65-F5344CB8AC3E}">
        <p14:creationId xmlns:p14="http://schemas.microsoft.com/office/powerpoint/2010/main" val="1407363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1BFFF-8162-C340-85D8-DC192F04C3D7}"/>
              </a:ext>
            </a:extLst>
          </p:cNvPr>
          <p:cNvSpPr txBox="1"/>
          <p:nvPr/>
        </p:nvSpPr>
        <p:spPr>
          <a:xfrm>
            <a:off x="2598144" y="216906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for_statement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E6532-BE5F-F143-A1A9-08F72A1ABA58}"/>
              </a:ext>
            </a:extLst>
          </p:cNvPr>
          <p:cNvSpPr/>
          <p:nvPr/>
        </p:nvSpPr>
        <p:spPr>
          <a:xfrm>
            <a:off x="144999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assignment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88390-8D77-0E42-ACF0-AE7E91777E14}"/>
              </a:ext>
            </a:extLst>
          </p:cNvPr>
          <p:cNvSpPr/>
          <p:nvPr/>
        </p:nvSpPr>
        <p:spPr>
          <a:xfrm>
            <a:off x="2598144" y="3017335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C0571-B182-FC4D-A9A6-5D1993ED877C}"/>
              </a:ext>
            </a:extLst>
          </p:cNvPr>
          <p:cNvSpPr/>
          <p:nvPr/>
        </p:nvSpPr>
        <p:spPr>
          <a:xfrm>
            <a:off x="4574967" y="3017335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8F17CF-83A4-3746-B25D-5329A2EA2E8D}"/>
              </a:ext>
            </a:extLst>
          </p:cNvPr>
          <p:cNvSpPr/>
          <p:nvPr/>
        </p:nvSpPr>
        <p:spPr>
          <a:xfrm>
            <a:off x="6175167" y="3017335"/>
            <a:ext cx="14253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update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statement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8DD4E-2E84-934F-8F1F-944333A74DCA}"/>
              </a:ext>
            </a:extLst>
          </p:cNvPr>
          <p:cNvCxnSpPr>
            <a:endCxn id="7" idx="0"/>
          </p:cNvCxnSpPr>
          <p:nvPr/>
        </p:nvCxnSpPr>
        <p:spPr>
          <a:xfrm flipH="1">
            <a:off x="926623" y="2538399"/>
            <a:ext cx="2298055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C513F6-C30E-C648-A164-F3B882C7DDA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19152" y="2538399"/>
            <a:ext cx="160616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D420B-9579-EF4E-AED5-C134FCECA7B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219152" y="2538399"/>
            <a:ext cx="1861723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3C2FC-0127-514C-B72E-B99768A71D0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19152" y="2538399"/>
            <a:ext cx="3668710" cy="478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C3ED0BB-E7DA-8C41-A6B2-E7A4D602A7F4}"/>
              </a:ext>
            </a:extLst>
          </p:cNvPr>
          <p:cNvSpPr txBox="1"/>
          <p:nvPr/>
        </p:nvSpPr>
        <p:spPr>
          <a:xfrm>
            <a:off x="1362012" y="4470401"/>
            <a:ext cx="47339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(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100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+ 1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x = x + 1;</a:t>
            </a:r>
            <a:r>
              <a:rPr lang="en-US" dirty="0">
                <a:latin typeface="Courier" pitchFamily="2" charset="0"/>
              </a:rPr>
              <a:t> // statement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=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 + 1;</a:t>
            </a:r>
            <a:r>
              <a:rPr lang="en-US" dirty="0">
                <a:latin typeface="Courier" pitchFamily="2" charset="0"/>
              </a:rPr>
              <a:t> // update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x = x + 1;</a:t>
            </a:r>
            <a:r>
              <a:rPr lang="en-US" dirty="0">
                <a:latin typeface="Courier" pitchFamily="2" charset="0"/>
              </a:rPr>
              <a:t> // statement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78F9B-B1F1-A44C-ACFE-EB8A8D7175E5}"/>
              </a:ext>
            </a:extLst>
          </p:cNvPr>
          <p:cNvSpPr txBox="1"/>
          <p:nvPr/>
        </p:nvSpPr>
        <p:spPr>
          <a:xfrm>
            <a:off x="8117568" y="592417"/>
            <a:ext cx="40867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Check:</a:t>
            </a:r>
          </a:p>
          <a:p>
            <a:endParaRPr lang="en-US" dirty="0"/>
          </a:p>
          <a:p>
            <a:r>
              <a:rPr lang="en-US" dirty="0"/>
              <a:t>1. Find iteration variable by</a:t>
            </a:r>
          </a:p>
          <a:p>
            <a:r>
              <a:rPr lang="en-US" dirty="0"/>
              <a:t>examining </a:t>
            </a:r>
            <a:r>
              <a:rPr lang="en-US" dirty="0">
                <a:highlight>
                  <a:srgbClr val="FFFF00"/>
                </a:highlight>
              </a:rPr>
              <a:t>assignment</a:t>
            </a:r>
            <a:r>
              <a:rPr lang="en-US" dirty="0"/>
              <a:t>,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highlight>
                  <a:srgbClr val="00FFFF"/>
                </a:highlight>
              </a:rPr>
              <a:t>update.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2. found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check that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doesn’t change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check that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r>
              <a:rPr lang="en-US" dirty="0"/>
              <a:t> goes around an even number of times.</a:t>
            </a:r>
          </a:p>
          <a:p>
            <a:endParaRPr lang="en-US" dirty="0"/>
          </a:p>
          <a:p>
            <a:r>
              <a:rPr lang="en-US" dirty="0"/>
              <a:t>Perform optimization</a:t>
            </a:r>
          </a:p>
          <a:p>
            <a:endParaRPr lang="en-US" dirty="0"/>
          </a:p>
          <a:p>
            <a:r>
              <a:rPr lang="en-US" dirty="0"/>
              <a:t>copy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and put an </a:t>
            </a:r>
            <a:r>
              <a:rPr lang="en-US" dirty="0">
                <a:highlight>
                  <a:srgbClr val="00FFFF"/>
                </a:highlight>
              </a:rPr>
              <a:t>update</a:t>
            </a:r>
            <a:r>
              <a:rPr lang="en-US" dirty="0"/>
              <a:t> before it</a:t>
            </a:r>
          </a:p>
        </p:txBody>
      </p:sp>
    </p:spTree>
    <p:extLst>
      <p:ext uri="{BB962C8B-B14F-4D97-AF65-F5344CB8AC3E}">
        <p14:creationId xmlns:p14="http://schemas.microsoft.com/office/powerpoint/2010/main" val="2925812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loop unrolling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78F9B-B1F1-A44C-ACFE-EB8A8D7175E5}"/>
              </a:ext>
            </a:extLst>
          </p:cNvPr>
          <p:cNvSpPr txBox="1"/>
          <p:nvPr/>
        </p:nvSpPr>
        <p:spPr>
          <a:xfrm>
            <a:off x="8117568" y="592417"/>
            <a:ext cx="40867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Check:</a:t>
            </a:r>
          </a:p>
          <a:p>
            <a:endParaRPr lang="en-US" dirty="0"/>
          </a:p>
          <a:p>
            <a:r>
              <a:rPr lang="en-US" dirty="0"/>
              <a:t>1. Find iteration variable by</a:t>
            </a:r>
          </a:p>
          <a:p>
            <a:r>
              <a:rPr lang="en-US" dirty="0"/>
              <a:t>examining </a:t>
            </a:r>
            <a:r>
              <a:rPr lang="en-US" dirty="0">
                <a:highlight>
                  <a:srgbClr val="FFFF00"/>
                </a:highlight>
              </a:rPr>
              <a:t>assignment</a:t>
            </a:r>
            <a:r>
              <a:rPr lang="en-US" dirty="0"/>
              <a:t>,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highlight>
                  <a:srgbClr val="00FFFF"/>
                </a:highlight>
              </a:rPr>
              <a:t>update.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2. found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check that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doesn’t change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check that </a:t>
            </a:r>
            <a:r>
              <a:rPr lang="en-US" dirty="0">
                <a:highlight>
                  <a:srgbClr val="00FF00"/>
                </a:highlight>
              </a:rPr>
              <a:t>comparison</a:t>
            </a:r>
            <a:r>
              <a:rPr lang="en-US" dirty="0"/>
              <a:t> goes around an even number of times.</a:t>
            </a:r>
          </a:p>
          <a:p>
            <a:endParaRPr lang="en-US" dirty="0"/>
          </a:p>
          <a:p>
            <a:r>
              <a:rPr lang="en-US" dirty="0"/>
              <a:t>Perform optimization</a:t>
            </a:r>
          </a:p>
          <a:p>
            <a:endParaRPr lang="en-US" dirty="0"/>
          </a:p>
          <a:p>
            <a:r>
              <a:rPr lang="en-US" dirty="0"/>
              <a:t>copy </a:t>
            </a:r>
            <a:r>
              <a:rPr lang="en-US" dirty="0">
                <a:highlight>
                  <a:srgbClr val="FF00FF"/>
                </a:highlight>
              </a:rPr>
              <a:t>statement</a:t>
            </a:r>
            <a:r>
              <a:rPr lang="en-US" dirty="0"/>
              <a:t> and put an </a:t>
            </a:r>
            <a:r>
              <a:rPr lang="en-US" dirty="0">
                <a:highlight>
                  <a:srgbClr val="00FFFF"/>
                </a:highlight>
              </a:rPr>
              <a:t>update</a:t>
            </a:r>
            <a:r>
              <a:rPr lang="en-US" dirty="0"/>
              <a:t> before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EAA60-FF29-D64D-8561-90B17930CCAA}"/>
              </a:ext>
            </a:extLst>
          </p:cNvPr>
          <p:cNvSpPr/>
          <p:nvPr/>
        </p:nvSpPr>
        <p:spPr>
          <a:xfrm>
            <a:off x="467633" y="1802980"/>
            <a:ext cx="42229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label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22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3: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preds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= %13, %0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icmp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slt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label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label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26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6: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preds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= %3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%7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%8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29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%9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%10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32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33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%11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34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%12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35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36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label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37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13: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preds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= %6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%14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38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%15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39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align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</a:rPr>
              <a:t>label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dbg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!</a:t>
            </a:r>
            <a:r>
              <a:rPr lang="en-US" sz="1300" dirty="0" err="1">
                <a:solidFill>
                  <a:srgbClr val="008080"/>
                </a:solidFill>
                <a:latin typeface="Consolas" panose="020B0609020204030204" pitchFamily="49" charset="0"/>
              </a:rPr>
              <a:t>llvm.loop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!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76CF-443F-3148-940A-900BD8DF5B05}"/>
              </a:ext>
            </a:extLst>
          </p:cNvPr>
          <p:cNvSpPr txBox="1"/>
          <p:nvPr/>
        </p:nvSpPr>
        <p:spPr>
          <a:xfrm>
            <a:off x="5151510" y="3080544"/>
            <a:ext cx="1888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LLVM IR for the</a:t>
            </a:r>
          </a:p>
          <a:p>
            <a:r>
              <a:rPr lang="en-US" i="1" dirty="0"/>
              <a:t>for loop. Much</a:t>
            </a:r>
          </a:p>
          <a:p>
            <a:r>
              <a:rPr lang="en-US" i="1" dirty="0"/>
              <a:t>harder to analyze!</a:t>
            </a:r>
          </a:p>
        </p:txBody>
      </p:sp>
    </p:spTree>
    <p:extLst>
      <p:ext uri="{BB962C8B-B14F-4D97-AF65-F5344CB8AC3E}">
        <p14:creationId xmlns:p14="http://schemas.microsoft.com/office/powerpoint/2010/main" val="1751850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common subexpression elimination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DA4D-C5B4-D44C-A2FB-26707E96D774}"/>
              </a:ext>
            </a:extLst>
          </p:cNvPr>
          <p:cNvSpPr txBox="1"/>
          <p:nvPr/>
        </p:nvSpPr>
        <p:spPr>
          <a:xfrm>
            <a:off x="4267201" y="2413000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z = x + y;</a:t>
            </a:r>
          </a:p>
          <a:p>
            <a:r>
              <a:rPr lang="en-US" dirty="0">
                <a:latin typeface="Courier" pitchFamily="2" charset="0"/>
              </a:rPr>
              <a:t>a = b + c;</a:t>
            </a:r>
          </a:p>
          <a:p>
            <a:r>
              <a:rPr lang="en-US" dirty="0">
                <a:latin typeface="Courier" pitchFamily="2" charset="0"/>
              </a:rPr>
              <a:t>d = x + y;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3740B-7A98-C540-8CC9-7DABBE08E5AB}"/>
              </a:ext>
            </a:extLst>
          </p:cNvPr>
          <p:cNvSpPr txBox="1"/>
          <p:nvPr/>
        </p:nvSpPr>
        <p:spPr>
          <a:xfrm>
            <a:off x="6477000" y="2633133"/>
            <a:ext cx="231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Can this be optimized?</a:t>
            </a:r>
          </a:p>
        </p:txBody>
      </p:sp>
    </p:spTree>
    <p:extLst>
      <p:ext uri="{BB962C8B-B14F-4D97-AF65-F5344CB8AC3E}">
        <p14:creationId xmlns:p14="http://schemas.microsoft.com/office/powerpoint/2010/main" val="360586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common subexpression elimination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DA4D-C5B4-D44C-A2FB-26707E96D774}"/>
              </a:ext>
            </a:extLst>
          </p:cNvPr>
          <p:cNvSpPr txBox="1"/>
          <p:nvPr/>
        </p:nvSpPr>
        <p:spPr>
          <a:xfrm>
            <a:off x="4267201" y="2413000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z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x + y;</a:t>
            </a:r>
          </a:p>
          <a:p>
            <a:r>
              <a:rPr lang="en-US" dirty="0">
                <a:latin typeface="Courier" pitchFamily="2" charset="0"/>
              </a:rPr>
              <a:t>a = b + c;</a:t>
            </a:r>
          </a:p>
          <a:p>
            <a:r>
              <a:rPr lang="en-US" dirty="0">
                <a:latin typeface="Courier" pitchFamily="2" charset="0"/>
              </a:rPr>
              <a:t>d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x + y;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3740B-7A98-C540-8CC9-7DABBE08E5AB}"/>
              </a:ext>
            </a:extLst>
          </p:cNvPr>
          <p:cNvSpPr txBox="1"/>
          <p:nvPr/>
        </p:nvSpPr>
        <p:spPr>
          <a:xfrm>
            <a:off x="6477000" y="2633133"/>
            <a:ext cx="231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Can this be optimized?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B62F1-772F-974D-BD34-EEC74D85126C}"/>
              </a:ext>
            </a:extLst>
          </p:cNvPr>
          <p:cNvSpPr txBox="1"/>
          <p:nvPr/>
        </p:nvSpPr>
        <p:spPr>
          <a:xfrm>
            <a:off x="4267201" y="4174067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z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x + y;</a:t>
            </a:r>
          </a:p>
          <a:p>
            <a:r>
              <a:rPr lang="en-US" dirty="0">
                <a:latin typeface="Courier" pitchFamily="2" charset="0"/>
              </a:rPr>
              <a:t>a = b + c;</a:t>
            </a:r>
          </a:p>
          <a:p>
            <a:r>
              <a:rPr lang="en-US" dirty="0">
                <a:latin typeface="Courier" pitchFamily="2" charset="0"/>
              </a:rPr>
              <a:t>d 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z;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7A042-102F-CD48-BB68-B205C0B8A43C}"/>
              </a:ext>
            </a:extLst>
          </p:cNvPr>
          <p:cNvSpPr txBox="1"/>
          <p:nvPr/>
        </p:nvSpPr>
        <p:spPr>
          <a:xfrm>
            <a:off x="6476999" y="4351866"/>
            <a:ext cx="2744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remove redundant addition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0CE7C-EB2D-594F-BC01-38A4827835C1}"/>
              </a:ext>
            </a:extLst>
          </p:cNvPr>
          <p:cNvSpPr txBox="1"/>
          <p:nvPr/>
        </p:nvSpPr>
        <p:spPr>
          <a:xfrm>
            <a:off x="4267201" y="5935134"/>
            <a:ext cx="649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Easy to do this optimization when code is a low level form like this</a:t>
            </a:r>
          </a:p>
        </p:txBody>
      </p:sp>
    </p:spTree>
    <p:extLst>
      <p:ext uri="{BB962C8B-B14F-4D97-AF65-F5344CB8AC3E}">
        <p14:creationId xmlns:p14="http://schemas.microsoft.com/office/powerpoint/2010/main" val="1517690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IR: abstract syntax tree (AST)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8BAB-2AB0-8441-ABF2-E02DC7802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02802"/>
          </a:xfrm>
        </p:spPr>
        <p:txBody>
          <a:bodyPr/>
          <a:lstStyle/>
          <a:p>
            <a:r>
              <a:rPr lang="en-US" dirty="0"/>
              <a:t>One step away from parse trees</a:t>
            </a:r>
          </a:p>
          <a:p>
            <a:endParaRPr lang="en-US" dirty="0"/>
          </a:p>
          <a:p>
            <a:r>
              <a:rPr lang="en-US" dirty="0"/>
              <a:t>Great representation for expressions</a:t>
            </a:r>
          </a:p>
          <a:p>
            <a:endParaRPr lang="en-US" dirty="0"/>
          </a:p>
          <a:p>
            <a:r>
              <a:rPr lang="en-US" dirty="0"/>
              <a:t>Natural representation to apply type checking/inference</a:t>
            </a:r>
          </a:p>
          <a:p>
            <a:endParaRPr lang="en-US" dirty="0"/>
          </a:p>
          <a:p>
            <a:r>
              <a:rPr lang="en-US" dirty="0"/>
              <a:t>Can view in clang with: -</a:t>
            </a:r>
            <a:r>
              <a:rPr lang="en-US" dirty="0" err="1"/>
              <a:t>Xclang</a:t>
            </a:r>
            <a:r>
              <a:rPr lang="en-US" dirty="0"/>
              <a:t> -</a:t>
            </a:r>
            <a:r>
              <a:rPr lang="en-US" dirty="0" err="1"/>
              <a:t>ast</a:t>
            </a:r>
            <a:r>
              <a:rPr lang="en-US" dirty="0"/>
              <a:t>-dump</a:t>
            </a:r>
          </a:p>
        </p:txBody>
      </p:sp>
    </p:spTree>
    <p:extLst>
      <p:ext uri="{BB962C8B-B14F-4D97-AF65-F5344CB8AC3E}">
        <p14:creationId xmlns:p14="http://schemas.microsoft.com/office/powerpoint/2010/main" val="3963793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37405"/>
              </p:ext>
            </p:extLst>
          </p:nvPr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1F2DE6-A94C-824E-8DA8-4ABDFBA6F224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884E45-AC3F-CB44-81EB-9BB2F81F2D98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BAD4D55-5DEE-A54D-8B94-44ADCE0C53BD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9650E9C-DB3F-9046-A3DE-0F047DEC08C3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31604F9-AB0B-D345-AED7-A350BCD33563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168AE7-BF52-2B4B-A16C-11E533239A77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&lt;PLUS,”+”&gt;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B176C1-FAF1-D940-924E-7F5DB0B808FA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“1”&gt;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F36FD6-A34D-E044-8514-580F9E283D6D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527F17-0D91-4045-910E-D5B3BC79DC41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A1DCF8-F08C-F44D-AE2F-30AD8F38C1B1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F3A064-AA4D-B743-A5DB-E7F7A4DA0450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81099EF-DC3D-CD4F-B27F-DCB9FB5F436D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&lt;TIMES, “*”&gt;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9BE9AF-A7F0-5E4F-A69C-1FFDB9FAA574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5DFC4F-F199-C44A-B407-76B329F01B1F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CBE757E-27B6-4242-81F2-1169DD3C3F67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98AED23-EAF8-D345-9198-47D83138051D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858B094-BFF0-D74F-9236-14AD27B0D3A8}"/>
              </a:ext>
            </a:extLst>
          </p:cNvPr>
          <p:cNvCxnSpPr>
            <a:cxnSpLocks/>
            <a:stCxn id="57" idx="2"/>
            <a:endCxn id="48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FEFCA6F-55E3-9141-9FEA-40DBFB7FB346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28DC24-8F64-554E-9EB8-F023773B033D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“5”&gt;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BD7121-B4FD-AC43-A879-BF4D779A5BD4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88B65B-0EAD-B441-AC51-6432262624BD}"/>
              </a:ext>
            </a:extLst>
          </p:cNvPr>
          <p:cNvCxnSpPr>
            <a:cxnSpLocks/>
            <a:stCxn id="61" idx="2"/>
            <a:endCxn id="60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E2D354F-CBE9-6E43-8D47-4423CAAC27F3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7669A7D-14D9-A84F-903A-AE1EB4EC2D32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“6”&gt;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2AA21B-AFA4-FE46-BD2A-B6412F294ADE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34738DE-1882-6F4A-B5C2-9B355A05329B}"/>
              </a:ext>
            </a:extLst>
          </p:cNvPr>
          <p:cNvCxnSpPr>
            <a:cxnSpLocks/>
            <a:stCxn id="65" idx="2"/>
            <a:endCxn id="64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339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leaves? </a:t>
            </a:r>
          </a:p>
        </p:txBody>
      </p:sp>
    </p:spTree>
    <p:extLst>
      <p:ext uri="{BB962C8B-B14F-4D97-AF65-F5344CB8AC3E}">
        <p14:creationId xmlns:p14="http://schemas.microsoft.com/office/powerpoint/2010/main" val="1466594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266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leaves? </a:t>
            </a:r>
            <a:r>
              <a:rPr lang="en-US" dirty="0">
                <a:highlight>
                  <a:srgbClr val="FFFF00"/>
                </a:highlight>
              </a:rPr>
              <a:t>lexemes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714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183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nodes? </a:t>
            </a:r>
          </a:p>
        </p:txBody>
      </p:sp>
    </p:spTree>
    <p:extLst>
      <p:ext uri="{BB962C8B-B14F-4D97-AF65-F5344CB8AC3E}">
        <p14:creationId xmlns:p14="http://schemas.microsoft.com/office/powerpoint/2010/main" val="2971589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3208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nodes? non-terminals </a:t>
            </a:r>
          </a:p>
        </p:txBody>
      </p:sp>
    </p:spTree>
    <p:extLst>
      <p:ext uri="{BB962C8B-B14F-4D97-AF65-F5344CB8AC3E}">
        <p14:creationId xmlns:p14="http://schemas.microsoft.com/office/powerpoint/2010/main" val="1165827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622392" y="2024639"/>
            <a:ext cx="54937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Parse trees are defined by the grammar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Production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Parse trees are often not explicitly constructed</a:t>
            </a:r>
            <a:r>
              <a:rPr lang="en-US" sz="2400" dirty="0"/>
              <a:t>. We use them to visualize the parsing computation</a:t>
            </a:r>
          </a:p>
        </p:txBody>
      </p:sp>
    </p:spTree>
    <p:extLst>
      <p:ext uri="{BB962C8B-B14F-4D97-AF65-F5344CB8AC3E}">
        <p14:creationId xmlns:p14="http://schemas.microsoft.com/office/powerpoint/2010/main" val="2436179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39FADF-ABA1-E941-9903-174985B1DAA0}"/>
              </a:ext>
            </a:extLst>
          </p:cNvPr>
          <p:cNvSpPr txBox="1"/>
          <p:nvPr/>
        </p:nvSpPr>
        <p:spPr>
          <a:xfrm>
            <a:off x="2308084" y="20759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E8E115-F029-E943-8313-7C3D32974D2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834862" y="2445326"/>
            <a:ext cx="1623263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F14F36-EE24-CF48-B573-32F22D51E22F}"/>
              </a:ext>
            </a:extLst>
          </p:cNvPr>
          <p:cNvSpPr txBox="1"/>
          <p:nvPr/>
        </p:nvSpPr>
        <p:spPr>
          <a:xfrm>
            <a:off x="684019" y="29724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BA2B2D-E228-994A-8368-E4190D4A1D9B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458125" y="2445326"/>
            <a:ext cx="123274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360009-C657-124B-BB4C-2C3CF639E130}"/>
              </a:ext>
            </a:extLst>
          </p:cNvPr>
          <p:cNvCxnSpPr>
            <a:cxnSpLocks/>
          </p:cNvCxnSpPr>
          <p:nvPr/>
        </p:nvCxnSpPr>
        <p:spPr>
          <a:xfrm flipH="1">
            <a:off x="2443216" y="333931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175A69A-1F96-E44B-9B1A-FF54C2CDF4F8}"/>
              </a:ext>
            </a:extLst>
          </p:cNvPr>
          <p:cNvCxnSpPr>
            <a:cxnSpLocks/>
          </p:cNvCxnSpPr>
          <p:nvPr/>
        </p:nvCxnSpPr>
        <p:spPr>
          <a:xfrm>
            <a:off x="3667589" y="333931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8825C9-CC56-7241-BA98-F72CD036E0C9}"/>
              </a:ext>
            </a:extLst>
          </p:cNvPr>
          <p:cNvSpPr txBox="1"/>
          <p:nvPr/>
        </p:nvSpPr>
        <p:spPr>
          <a:xfrm>
            <a:off x="2144224" y="3775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E5F41A-52DE-7D4F-857E-080FA8549D43}"/>
              </a:ext>
            </a:extLst>
          </p:cNvPr>
          <p:cNvSpPr txBox="1"/>
          <p:nvPr/>
        </p:nvSpPr>
        <p:spPr>
          <a:xfrm>
            <a:off x="3505677" y="2979527"/>
            <a:ext cx="49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15ABB5-5997-714B-B91B-12A48BA6EEB1}"/>
              </a:ext>
            </a:extLst>
          </p:cNvPr>
          <p:cNvSpPr txBox="1"/>
          <p:nvPr/>
        </p:nvSpPr>
        <p:spPr>
          <a:xfrm>
            <a:off x="4611756" y="37694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E4734-929D-B843-BD23-65F822C49287}"/>
              </a:ext>
            </a:extLst>
          </p:cNvPr>
          <p:cNvSpPr txBox="1"/>
          <p:nvPr/>
        </p:nvSpPr>
        <p:spPr>
          <a:xfrm>
            <a:off x="2028006" y="47973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FE1A3C-D7E9-F443-8BA0-C05E1C68F76F}"/>
              </a:ext>
            </a:extLst>
          </p:cNvPr>
          <p:cNvSpPr txBox="1"/>
          <p:nvPr/>
        </p:nvSpPr>
        <p:spPr>
          <a:xfrm>
            <a:off x="440266" y="5285301"/>
            <a:ext cx="281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some differences?</a:t>
            </a:r>
          </a:p>
        </p:txBody>
      </p:sp>
    </p:spTree>
    <p:extLst>
      <p:ext uri="{BB962C8B-B14F-4D97-AF65-F5344CB8AC3E}">
        <p14:creationId xmlns:p14="http://schemas.microsoft.com/office/powerpoint/2010/main" val="683235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39FADF-ABA1-E941-9903-174985B1DAA0}"/>
              </a:ext>
            </a:extLst>
          </p:cNvPr>
          <p:cNvSpPr txBox="1"/>
          <p:nvPr/>
        </p:nvSpPr>
        <p:spPr>
          <a:xfrm>
            <a:off x="2308084" y="20759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E8E115-F029-E943-8313-7C3D32974D2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834862" y="2445326"/>
            <a:ext cx="1623263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F14F36-EE24-CF48-B573-32F22D51E22F}"/>
              </a:ext>
            </a:extLst>
          </p:cNvPr>
          <p:cNvSpPr txBox="1"/>
          <p:nvPr/>
        </p:nvSpPr>
        <p:spPr>
          <a:xfrm>
            <a:off x="684019" y="29724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BA2B2D-E228-994A-8368-E4190D4A1D9B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458125" y="2445326"/>
            <a:ext cx="123274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360009-C657-124B-BB4C-2C3CF639E130}"/>
              </a:ext>
            </a:extLst>
          </p:cNvPr>
          <p:cNvCxnSpPr>
            <a:cxnSpLocks/>
          </p:cNvCxnSpPr>
          <p:nvPr/>
        </p:nvCxnSpPr>
        <p:spPr>
          <a:xfrm flipH="1">
            <a:off x="2443216" y="333931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175A69A-1F96-E44B-9B1A-FF54C2CDF4F8}"/>
              </a:ext>
            </a:extLst>
          </p:cNvPr>
          <p:cNvCxnSpPr>
            <a:cxnSpLocks/>
          </p:cNvCxnSpPr>
          <p:nvPr/>
        </p:nvCxnSpPr>
        <p:spPr>
          <a:xfrm>
            <a:off x="3667589" y="333931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8825C9-CC56-7241-BA98-F72CD036E0C9}"/>
              </a:ext>
            </a:extLst>
          </p:cNvPr>
          <p:cNvSpPr txBox="1"/>
          <p:nvPr/>
        </p:nvSpPr>
        <p:spPr>
          <a:xfrm>
            <a:off x="2144224" y="3775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E5F41A-52DE-7D4F-857E-080FA8549D43}"/>
              </a:ext>
            </a:extLst>
          </p:cNvPr>
          <p:cNvSpPr txBox="1"/>
          <p:nvPr/>
        </p:nvSpPr>
        <p:spPr>
          <a:xfrm>
            <a:off x="3505677" y="2979527"/>
            <a:ext cx="49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15ABB5-5997-714B-B91B-12A48BA6EEB1}"/>
              </a:ext>
            </a:extLst>
          </p:cNvPr>
          <p:cNvSpPr txBox="1"/>
          <p:nvPr/>
        </p:nvSpPr>
        <p:spPr>
          <a:xfrm>
            <a:off x="4611756" y="37694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E4734-929D-B843-BD23-65F822C49287}"/>
              </a:ext>
            </a:extLst>
          </p:cNvPr>
          <p:cNvSpPr txBox="1"/>
          <p:nvPr/>
        </p:nvSpPr>
        <p:spPr>
          <a:xfrm>
            <a:off x="2028006" y="47973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FE1A3C-D7E9-F443-8BA0-C05E1C68F76F}"/>
              </a:ext>
            </a:extLst>
          </p:cNvPr>
          <p:cNvSpPr txBox="1"/>
          <p:nvPr/>
        </p:nvSpPr>
        <p:spPr>
          <a:xfrm>
            <a:off x="440266" y="5285301"/>
            <a:ext cx="4222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some differences?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disjoint from the grammar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leaves are data, not lexemes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b="1" dirty="0"/>
              <a:t>nodes are operators, not non-terminals</a:t>
            </a:r>
          </a:p>
        </p:txBody>
      </p:sp>
    </p:spTree>
    <p:extLst>
      <p:ext uri="{BB962C8B-B14F-4D97-AF65-F5344CB8AC3E}">
        <p14:creationId xmlns:p14="http://schemas.microsoft.com/office/powerpoint/2010/main" val="2422616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566789" y="765234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865781" y="1134566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8608293" y="13302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432991" y="3879667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7813" y="1699624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7551668" y="304575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427827" y="3415089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7709111" y="38354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108402" y="167376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83755D2D-23F0-1C48-A6B3-A369F0A1B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845698"/>
              </p:ext>
            </p:extLst>
          </p:nvPr>
        </p:nvGraphicFramePr>
        <p:xfrm>
          <a:off x="472876" y="3334423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3FC70012-DE19-0C44-A0AF-60C9CB6D1084}"/>
              </a:ext>
            </a:extLst>
          </p:cNvPr>
          <p:cNvSpPr txBox="1"/>
          <p:nvPr/>
        </p:nvSpPr>
        <p:spPr>
          <a:xfrm>
            <a:off x="8299220" y="3844380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D3AF26-36DF-FE4B-87FB-2B12308E9624}"/>
              </a:ext>
            </a:extLst>
          </p:cNvPr>
          <p:cNvCxnSpPr>
            <a:cxnSpLocks/>
            <a:stCxn id="21" idx="2"/>
            <a:endCxn id="46" idx="0"/>
          </p:cNvCxnSpPr>
          <p:nvPr/>
        </p:nvCxnSpPr>
        <p:spPr>
          <a:xfrm>
            <a:off x="7919558" y="3415089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596E79-7C30-7448-8F14-8B94EE11EE99}"/>
              </a:ext>
            </a:extLst>
          </p:cNvPr>
          <p:cNvCxnSpPr>
            <a:cxnSpLocks/>
          </p:cNvCxnSpPr>
          <p:nvPr/>
        </p:nvCxnSpPr>
        <p:spPr>
          <a:xfrm>
            <a:off x="7947983" y="3414009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AB66AAB-BBE2-0242-80EA-65AAA6CA50CF}"/>
              </a:ext>
            </a:extLst>
          </p:cNvPr>
          <p:cNvSpPr txBox="1"/>
          <p:nvPr/>
        </p:nvSpPr>
        <p:spPr>
          <a:xfrm>
            <a:off x="8812598" y="4643003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75CCEB-CCB8-3D44-A4EE-FDB2F1F9E87F}"/>
              </a:ext>
            </a:extLst>
          </p:cNvPr>
          <p:cNvCxnSpPr>
            <a:cxnSpLocks/>
            <a:stCxn id="23" idx="2"/>
            <a:endCxn id="54" idx="0"/>
          </p:cNvCxnSpPr>
          <p:nvPr/>
        </p:nvCxnSpPr>
        <p:spPr>
          <a:xfrm flipH="1">
            <a:off x="7994920" y="4204765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55BB559-5574-2549-BF97-5E0E3ED04E72}"/>
              </a:ext>
            </a:extLst>
          </p:cNvPr>
          <p:cNvSpPr txBox="1"/>
          <p:nvPr/>
        </p:nvSpPr>
        <p:spPr>
          <a:xfrm>
            <a:off x="7381547" y="4625109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CC511AB-050E-4347-9AFA-764C575C7C1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008103" y="4204765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8BADE5-70BE-F54A-A395-8385434E2050}"/>
              </a:ext>
            </a:extLst>
          </p:cNvPr>
          <p:cNvCxnSpPr>
            <a:cxnSpLocks/>
            <a:stCxn id="23" idx="2"/>
            <a:endCxn id="62" idx="0"/>
          </p:cNvCxnSpPr>
          <p:nvPr/>
        </p:nvCxnSpPr>
        <p:spPr>
          <a:xfrm flipH="1">
            <a:off x="6919901" y="4204765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273159D-43D4-3744-B6F4-24BB1002B523}"/>
              </a:ext>
            </a:extLst>
          </p:cNvPr>
          <p:cNvSpPr txBox="1"/>
          <p:nvPr/>
        </p:nvSpPr>
        <p:spPr>
          <a:xfrm>
            <a:off x="6620909" y="46689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841816-1112-264D-AA3F-C3031AEB2AFD}"/>
              </a:ext>
            </a:extLst>
          </p:cNvPr>
          <p:cNvSpPr txBox="1"/>
          <p:nvPr/>
        </p:nvSpPr>
        <p:spPr>
          <a:xfrm>
            <a:off x="6600390" y="534114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EB5672-40BD-7F4A-829C-F0B5B42D612F}"/>
              </a:ext>
            </a:extLst>
          </p:cNvPr>
          <p:cNvSpPr txBox="1"/>
          <p:nvPr/>
        </p:nvSpPr>
        <p:spPr>
          <a:xfrm>
            <a:off x="6552010" y="586189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18650C-46BB-6347-A9F9-BC8F016803C6}"/>
              </a:ext>
            </a:extLst>
          </p:cNvPr>
          <p:cNvSpPr txBox="1"/>
          <p:nvPr/>
        </p:nvSpPr>
        <p:spPr>
          <a:xfrm>
            <a:off x="6301286" y="638264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360438-8F08-994C-9A0A-D3BCD8C37511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6896430" y="5029356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7224A5-9983-CE45-870C-5FFDAF709752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6919900" y="571047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3E5793-E6C9-9549-99CB-42E025D23816}"/>
              </a:ext>
            </a:extLst>
          </p:cNvPr>
          <p:cNvCxnSpPr>
            <a:cxnSpLocks/>
          </p:cNvCxnSpPr>
          <p:nvPr/>
        </p:nvCxnSpPr>
        <p:spPr>
          <a:xfrm flipH="1">
            <a:off x="6912606" y="6206154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B51A191-FAB6-E54B-B114-3EBBBFB4D983}"/>
              </a:ext>
            </a:extLst>
          </p:cNvPr>
          <p:cNvSpPr txBox="1"/>
          <p:nvPr/>
        </p:nvSpPr>
        <p:spPr>
          <a:xfrm>
            <a:off x="8782282" y="511126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D3DF0A-FCBF-C241-B235-9DE489CC618E}"/>
              </a:ext>
            </a:extLst>
          </p:cNvPr>
          <p:cNvSpPr txBox="1"/>
          <p:nvPr/>
        </p:nvSpPr>
        <p:spPr>
          <a:xfrm>
            <a:off x="8531558" y="56320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8324C38-F3EC-4A4A-96B9-283A47AA334F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9150172" y="4959842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98EF178-01D3-334D-A2F0-8881358A4815}"/>
              </a:ext>
            </a:extLst>
          </p:cNvPr>
          <p:cNvCxnSpPr>
            <a:cxnSpLocks/>
          </p:cNvCxnSpPr>
          <p:nvPr/>
        </p:nvCxnSpPr>
        <p:spPr>
          <a:xfrm flipH="1">
            <a:off x="9142878" y="545552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527CEC-86A8-5242-B59B-7E6EFBB7E65C}"/>
              </a:ext>
            </a:extLst>
          </p:cNvPr>
          <p:cNvCxnSpPr>
            <a:cxnSpLocks/>
          </p:cNvCxnSpPr>
          <p:nvPr/>
        </p:nvCxnSpPr>
        <p:spPr>
          <a:xfrm>
            <a:off x="8915582" y="171320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E625F07-C268-1D44-B358-33A3EBF1FB17}"/>
              </a:ext>
            </a:extLst>
          </p:cNvPr>
          <p:cNvSpPr txBox="1"/>
          <p:nvPr/>
        </p:nvSpPr>
        <p:spPr>
          <a:xfrm>
            <a:off x="8458009" y="2180306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29B9AE-AC20-ED45-94FD-2ABF3CC3366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27804" y="1699624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E164FF1-4986-8641-B918-C9AC23A5D063}"/>
              </a:ext>
            </a:extLst>
          </p:cNvPr>
          <p:cNvSpPr txBox="1"/>
          <p:nvPr/>
        </p:nvSpPr>
        <p:spPr>
          <a:xfrm>
            <a:off x="9871537" y="30303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A84737-D77E-BC43-86CA-A0673013744A}"/>
              </a:ext>
            </a:extLst>
          </p:cNvPr>
          <p:cNvSpPr txBox="1"/>
          <p:nvPr/>
        </p:nvSpPr>
        <p:spPr>
          <a:xfrm>
            <a:off x="10166650" y="23433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38FF88-1DD5-5E40-8C6C-6DC532592635}"/>
              </a:ext>
            </a:extLst>
          </p:cNvPr>
          <p:cNvCxnSpPr>
            <a:cxnSpLocks/>
            <a:stCxn id="85" idx="2"/>
            <a:endCxn id="84" idx="0"/>
          </p:cNvCxnSpPr>
          <p:nvPr/>
        </p:nvCxnSpPr>
        <p:spPr>
          <a:xfrm flipH="1">
            <a:off x="10534539" y="2712707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335DBC2-0413-F045-B5A7-6741E49EF06B}"/>
              </a:ext>
            </a:extLst>
          </p:cNvPr>
          <p:cNvSpPr txBox="1"/>
          <p:nvPr/>
        </p:nvSpPr>
        <p:spPr>
          <a:xfrm>
            <a:off x="7551668" y="22626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8E07C9C-0106-AD46-8F6D-B929C31816BE}"/>
              </a:ext>
            </a:extLst>
          </p:cNvPr>
          <p:cNvCxnSpPr>
            <a:cxnSpLocks/>
          </p:cNvCxnSpPr>
          <p:nvPr/>
        </p:nvCxnSpPr>
        <p:spPr>
          <a:xfrm>
            <a:off x="7829271" y="2626964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E51F0F-02B0-BFDE-A09F-3812CBCC12C5}"/>
              </a:ext>
            </a:extLst>
          </p:cNvPr>
          <p:cNvSpPr txBox="1"/>
          <p:nvPr/>
        </p:nvSpPr>
        <p:spPr>
          <a:xfrm>
            <a:off x="1356897" y="1394333"/>
            <a:ext cx="4665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happens to ()s in an AST?</a:t>
            </a:r>
          </a:p>
        </p:txBody>
      </p:sp>
    </p:spTree>
    <p:extLst>
      <p:ext uri="{BB962C8B-B14F-4D97-AF65-F5344CB8AC3E}">
        <p14:creationId xmlns:p14="http://schemas.microsoft.com/office/powerpoint/2010/main" val="765247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566789" y="765234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865781" y="1134566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8608293" y="13302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432991" y="3879667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7813" y="1699624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7551668" y="304575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427827" y="3415089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7709111" y="38354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108402" y="167376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BAC79-D23B-D74B-925A-87969A65EDD2}"/>
              </a:ext>
            </a:extLst>
          </p:cNvPr>
          <p:cNvSpPr txBox="1"/>
          <p:nvPr/>
        </p:nvSpPr>
        <p:spPr>
          <a:xfrm>
            <a:off x="1356897" y="1394333"/>
            <a:ext cx="4665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happens to ()s in an AST?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C70012-DE19-0C44-A0AF-60C9CB6D1084}"/>
              </a:ext>
            </a:extLst>
          </p:cNvPr>
          <p:cNvSpPr txBox="1"/>
          <p:nvPr/>
        </p:nvSpPr>
        <p:spPr>
          <a:xfrm>
            <a:off x="8299220" y="3844380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D3AF26-36DF-FE4B-87FB-2B12308E9624}"/>
              </a:ext>
            </a:extLst>
          </p:cNvPr>
          <p:cNvCxnSpPr>
            <a:cxnSpLocks/>
            <a:stCxn id="21" idx="2"/>
            <a:endCxn id="46" idx="0"/>
          </p:cNvCxnSpPr>
          <p:nvPr/>
        </p:nvCxnSpPr>
        <p:spPr>
          <a:xfrm>
            <a:off x="7919558" y="3415089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596E79-7C30-7448-8F14-8B94EE11EE99}"/>
              </a:ext>
            </a:extLst>
          </p:cNvPr>
          <p:cNvCxnSpPr>
            <a:cxnSpLocks/>
          </p:cNvCxnSpPr>
          <p:nvPr/>
        </p:nvCxnSpPr>
        <p:spPr>
          <a:xfrm>
            <a:off x="7947983" y="3414009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AB66AAB-BBE2-0242-80EA-65AAA6CA50CF}"/>
              </a:ext>
            </a:extLst>
          </p:cNvPr>
          <p:cNvSpPr txBox="1"/>
          <p:nvPr/>
        </p:nvSpPr>
        <p:spPr>
          <a:xfrm>
            <a:off x="8812598" y="4643003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75CCEB-CCB8-3D44-A4EE-FDB2F1F9E87F}"/>
              </a:ext>
            </a:extLst>
          </p:cNvPr>
          <p:cNvCxnSpPr>
            <a:cxnSpLocks/>
            <a:stCxn id="23" idx="2"/>
            <a:endCxn id="54" idx="0"/>
          </p:cNvCxnSpPr>
          <p:nvPr/>
        </p:nvCxnSpPr>
        <p:spPr>
          <a:xfrm flipH="1">
            <a:off x="7994920" y="4204765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55BB559-5574-2549-BF97-5E0E3ED04E72}"/>
              </a:ext>
            </a:extLst>
          </p:cNvPr>
          <p:cNvSpPr txBox="1"/>
          <p:nvPr/>
        </p:nvSpPr>
        <p:spPr>
          <a:xfrm>
            <a:off x="7381547" y="4625109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CC511AB-050E-4347-9AFA-764C575C7C1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008103" y="4204765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8BADE5-70BE-F54A-A395-8385434E2050}"/>
              </a:ext>
            </a:extLst>
          </p:cNvPr>
          <p:cNvCxnSpPr>
            <a:cxnSpLocks/>
            <a:stCxn id="23" idx="2"/>
            <a:endCxn id="62" idx="0"/>
          </p:cNvCxnSpPr>
          <p:nvPr/>
        </p:nvCxnSpPr>
        <p:spPr>
          <a:xfrm flipH="1">
            <a:off x="6919901" y="4204765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273159D-43D4-3744-B6F4-24BB1002B523}"/>
              </a:ext>
            </a:extLst>
          </p:cNvPr>
          <p:cNvSpPr txBox="1"/>
          <p:nvPr/>
        </p:nvSpPr>
        <p:spPr>
          <a:xfrm>
            <a:off x="6620909" y="46689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841816-1112-264D-AA3F-C3031AEB2AFD}"/>
              </a:ext>
            </a:extLst>
          </p:cNvPr>
          <p:cNvSpPr txBox="1"/>
          <p:nvPr/>
        </p:nvSpPr>
        <p:spPr>
          <a:xfrm>
            <a:off x="6600390" y="534114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EB5672-40BD-7F4A-829C-F0B5B42D612F}"/>
              </a:ext>
            </a:extLst>
          </p:cNvPr>
          <p:cNvSpPr txBox="1"/>
          <p:nvPr/>
        </p:nvSpPr>
        <p:spPr>
          <a:xfrm>
            <a:off x="6552010" y="586189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18650C-46BB-6347-A9F9-BC8F016803C6}"/>
              </a:ext>
            </a:extLst>
          </p:cNvPr>
          <p:cNvSpPr txBox="1"/>
          <p:nvPr/>
        </p:nvSpPr>
        <p:spPr>
          <a:xfrm>
            <a:off x="6301286" y="638264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360438-8F08-994C-9A0A-D3BCD8C37511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6896430" y="5029356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7224A5-9983-CE45-870C-5FFDAF709752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6919900" y="571047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3E5793-E6C9-9549-99CB-42E025D23816}"/>
              </a:ext>
            </a:extLst>
          </p:cNvPr>
          <p:cNvCxnSpPr>
            <a:cxnSpLocks/>
          </p:cNvCxnSpPr>
          <p:nvPr/>
        </p:nvCxnSpPr>
        <p:spPr>
          <a:xfrm flipH="1">
            <a:off x="6912606" y="6206154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B51A191-FAB6-E54B-B114-3EBBBFB4D983}"/>
              </a:ext>
            </a:extLst>
          </p:cNvPr>
          <p:cNvSpPr txBox="1"/>
          <p:nvPr/>
        </p:nvSpPr>
        <p:spPr>
          <a:xfrm>
            <a:off x="8782282" y="511126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D3DF0A-FCBF-C241-B235-9DE489CC618E}"/>
              </a:ext>
            </a:extLst>
          </p:cNvPr>
          <p:cNvSpPr txBox="1"/>
          <p:nvPr/>
        </p:nvSpPr>
        <p:spPr>
          <a:xfrm>
            <a:off x="8531558" y="56320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8324C38-F3EC-4A4A-96B9-283A47AA334F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9150172" y="4959842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98EF178-01D3-334D-A2F0-8881358A4815}"/>
              </a:ext>
            </a:extLst>
          </p:cNvPr>
          <p:cNvCxnSpPr>
            <a:cxnSpLocks/>
          </p:cNvCxnSpPr>
          <p:nvPr/>
        </p:nvCxnSpPr>
        <p:spPr>
          <a:xfrm flipH="1">
            <a:off x="9142878" y="545552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527CEC-86A8-5242-B59B-7E6EFBB7E65C}"/>
              </a:ext>
            </a:extLst>
          </p:cNvPr>
          <p:cNvCxnSpPr>
            <a:cxnSpLocks/>
          </p:cNvCxnSpPr>
          <p:nvPr/>
        </p:nvCxnSpPr>
        <p:spPr>
          <a:xfrm>
            <a:off x="8915582" y="171320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E625F07-C268-1D44-B358-33A3EBF1FB17}"/>
              </a:ext>
            </a:extLst>
          </p:cNvPr>
          <p:cNvSpPr txBox="1"/>
          <p:nvPr/>
        </p:nvSpPr>
        <p:spPr>
          <a:xfrm>
            <a:off x="8458009" y="2180306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29B9AE-AC20-ED45-94FD-2ABF3CC3366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27804" y="1699624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E164FF1-4986-8641-B918-C9AC23A5D063}"/>
              </a:ext>
            </a:extLst>
          </p:cNvPr>
          <p:cNvSpPr txBox="1"/>
          <p:nvPr/>
        </p:nvSpPr>
        <p:spPr>
          <a:xfrm>
            <a:off x="9871537" y="30303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A84737-D77E-BC43-86CA-A0673013744A}"/>
              </a:ext>
            </a:extLst>
          </p:cNvPr>
          <p:cNvSpPr txBox="1"/>
          <p:nvPr/>
        </p:nvSpPr>
        <p:spPr>
          <a:xfrm>
            <a:off x="10166650" y="23433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38FF88-1DD5-5E40-8C6C-6DC532592635}"/>
              </a:ext>
            </a:extLst>
          </p:cNvPr>
          <p:cNvCxnSpPr>
            <a:cxnSpLocks/>
            <a:stCxn id="85" idx="2"/>
            <a:endCxn id="84" idx="0"/>
          </p:cNvCxnSpPr>
          <p:nvPr/>
        </p:nvCxnSpPr>
        <p:spPr>
          <a:xfrm flipH="1">
            <a:off x="10534539" y="2712707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335DBC2-0413-F045-B5A7-6741E49EF06B}"/>
              </a:ext>
            </a:extLst>
          </p:cNvPr>
          <p:cNvSpPr txBox="1"/>
          <p:nvPr/>
        </p:nvSpPr>
        <p:spPr>
          <a:xfrm>
            <a:off x="7551668" y="22626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8E07C9C-0106-AD46-8F6D-B929C31816BE}"/>
              </a:ext>
            </a:extLst>
          </p:cNvPr>
          <p:cNvCxnSpPr>
            <a:cxnSpLocks/>
          </p:cNvCxnSpPr>
          <p:nvPr/>
        </p:nvCxnSpPr>
        <p:spPr>
          <a:xfrm>
            <a:off x="7829271" y="2626964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11ABDD0-6EB2-F240-BC50-59DD7BC19ABE}"/>
              </a:ext>
            </a:extLst>
          </p:cNvPr>
          <p:cNvSpPr txBox="1"/>
          <p:nvPr/>
        </p:nvSpPr>
        <p:spPr>
          <a:xfrm>
            <a:off x="3478741" y="28349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F0C94E-67D2-9B48-AD5D-F2FDB28CCE7D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2004717" y="3204282"/>
            <a:ext cx="1624065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BB7E10-D7BA-F443-ACD1-6F41FAFBEA06}"/>
              </a:ext>
            </a:extLst>
          </p:cNvPr>
          <p:cNvSpPr txBox="1"/>
          <p:nvPr/>
        </p:nvSpPr>
        <p:spPr>
          <a:xfrm>
            <a:off x="1779656" y="37313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EDB207-482F-CA44-B626-78EC0439766B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3628782" y="3204282"/>
            <a:ext cx="123274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3851368-2527-254E-9E60-20EEAC549850}"/>
              </a:ext>
            </a:extLst>
          </p:cNvPr>
          <p:cNvCxnSpPr>
            <a:cxnSpLocks/>
          </p:cNvCxnSpPr>
          <p:nvPr/>
        </p:nvCxnSpPr>
        <p:spPr>
          <a:xfrm flipH="1">
            <a:off x="699720" y="409608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84FC40F-F111-7E4A-B4F9-CC0A1D3E24E9}"/>
              </a:ext>
            </a:extLst>
          </p:cNvPr>
          <p:cNvCxnSpPr>
            <a:cxnSpLocks/>
          </p:cNvCxnSpPr>
          <p:nvPr/>
        </p:nvCxnSpPr>
        <p:spPr>
          <a:xfrm>
            <a:off x="1924093" y="409608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2739F2-5669-8A45-8C2E-A957604217E2}"/>
              </a:ext>
            </a:extLst>
          </p:cNvPr>
          <p:cNvSpPr txBox="1"/>
          <p:nvPr/>
        </p:nvSpPr>
        <p:spPr>
          <a:xfrm>
            <a:off x="495415" y="45262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979D51-F95D-1543-AECB-753D315C1170}"/>
              </a:ext>
            </a:extLst>
          </p:cNvPr>
          <p:cNvSpPr txBox="1"/>
          <p:nvPr/>
        </p:nvSpPr>
        <p:spPr>
          <a:xfrm>
            <a:off x="2868260" y="45262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B8B6C-3A8D-1141-BDDD-39D73C44AEE3}"/>
              </a:ext>
            </a:extLst>
          </p:cNvPr>
          <p:cNvSpPr txBox="1"/>
          <p:nvPr/>
        </p:nvSpPr>
        <p:spPr>
          <a:xfrm>
            <a:off x="4798710" y="3740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AB891-994D-094B-AA3E-E8C3ABC27B61}"/>
              </a:ext>
            </a:extLst>
          </p:cNvPr>
          <p:cNvSpPr txBox="1"/>
          <p:nvPr/>
        </p:nvSpPr>
        <p:spPr>
          <a:xfrm>
            <a:off x="587893" y="5620949"/>
            <a:ext cx="4215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for (), they simply encode</a:t>
            </a:r>
            <a:br>
              <a:rPr lang="en-US" dirty="0"/>
            </a:br>
            <a:r>
              <a:rPr lang="en-US" dirty="0"/>
              <a:t>precedence. And now we have precedence</a:t>
            </a:r>
            <a:br>
              <a:rPr lang="en-US" dirty="0"/>
            </a:br>
            <a:r>
              <a:rPr lang="en-US" dirty="0"/>
              <a:t>in the AST tree structure</a:t>
            </a:r>
          </a:p>
        </p:txBody>
      </p:sp>
    </p:spTree>
    <p:extLst>
      <p:ext uri="{BB962C8B-B14F-4D97-AF65-F5344CB8AC3E}">
        <p14:creationId xmlns:p14="http://schemas.microsoft.com/office/powerpoint/2010/main" val="406153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an 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15A68-94B2-9940-BA54-6D0CD807A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952BB9-DA40-D441-A21F-A329A6CE9F3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92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tree based data structure, used to represent expressions</a:t>
            </a:r>
          </a:p>
          <a:p>
            <a:endParaRPr lang="en-US" dirty="0"/>
          </a:p>
          <a:p>
            <a:r>
              <a:rPr lang="en-US" dirty="0"/>
              <a:t>Main building block: Node</a:t>
            </a:r>
          </a:p>
          <a:p>
            <a:pPr lvl="1"/>
            <a:r>
              <a:rPr lang="en-US" dirty="0"/>
              <a:t>Leaf node: ID or Number</a:t>
            </a:r>
          </a:p>
          <a:p>
            <a:pPr lvl="1"/>
            <a:r>
              <a:rPr lang="en-US" dirty="0"/>
              <a:t>Node with one child: Unary operator (</a:t>
            </a:r>
            <a:r>
              <a:rPr lang="en-US" dirty="0">
                <a:latin typeface="Courier" pitchFamily="2" charset="0"/>
              </a:rPr>
              <a:t>-</a:t>
            </a:r>
            <a:r>
              <a:rPr lang="en-US" dirty="0"/>
              <a:t>) or type conversion (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Node with two children: Binary operator (</a:t>
            </a:r>
            <a:r>
              <a:rPr lang="en-US" dirty="0">
                <a:latin typeface="Courier" pitchFamily="2" charset="0"/>
              </a:rPr>
              <a:t>+,*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6956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290FC0-94F7-88FB-AADB-F46689410EF6}"/>
              </a:ext>
            </a:extLst>
          </p:cNvPr>
          <p:cNvSpPr txBox="1"/>
          <p:nvPr/>
        </p:nvSpPr>
        <p:spPr>
          <a:xfrm>
            <a:off x="8189843" y="1060174"/>
            <a:ext cx="3101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oriented style way to code and represent an AST.</a:t>
            </a:r>
          </a:p>
        </p:txBody>
      </p:sp>
    </p:spTree>
    <p:extLst>
      <p:ext uri="{BB962C8B-B14F-4D97-AF65-F5344CB8AC3E}">
        <p14:creationId xmlns:p14="http://schemas.microsoft.com/office/powerpoint/2010/main" val="2769618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4BEF-BE56-BE40-9AB8-D6BA2561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965" y="2750862"/>
            <a:ext cx="10515600" cy="3808964"/>
          </a:xfrm>
        </p:spPr>
        <p:txBody>
          <a:bodyPr>
            <a:normAutofit fontScale="90000"/>
          </a:bodyPr>
          <a:lstStyle/>
          <a:p>
            <a:r>
              <a:rPr lang="en-US" sz="7300" dirty="0"/>
              <a:t>Creating an AST from a parser</a:t>
            </a:r>
            <a:br>
              <a:rPr lang="en-US" sz="7300" dirty="0"/>
            </a:br>
            <a:br>
              <a:rPr lang="en-US" sz="7300" dirty="0"/>
            </a:br>
            <a:r>
              <a:rPr lang="en-US" sz="7300" dirty="0"/>
              <a:t>     </a:t>
            </a:r>
            <a:r>
              <a:rPr lang="en-US" sz="5300" dirty="0"/>
              <a:t>Note: This will be similar to rules </a:t>
            </a:r>
            <a:br>
              <a:rPr lang="en-US" sz="5300" dirty="0"/>
            </a:br>
            <a:r>
              <a:rPr lang="en-US" sz="5300" dirty="0"/>
              <a:t>         in PLY to create an AST.</a:t>
            </a:r>
            <a:br>
              <a:rPr lang="en-US" sz="7300" dirty="0"/>
            </a:br>
            <a:r>
              <a:rPr lang="en-US" sz="7300" dirty="0"/>
              <a:t> 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813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4BEF-BE56-BE40-9AB8-D6BA256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88B5-C043-6A43-A3EC-D35DEE7D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Like token actions: perform an action each time a production option is matched. </a:t>
            </a:r>
          </a:p>
          <a:p>
            <a:endParaRPr lang="en-US" dirty="0"/>
          </a:p>
          <a:p>
            <a:r>
              <a:rPr lang="en-US" dirty="0"/>
              <a:t>Typically performed after the entire production action is matched</a:t>
            </a:r>
          </a:p>
          <a:p>
            <a:endParaRPr lang="en-US" dirty="0"/>
          </a:p>
          <a:p>
            <a:r>
              <a:rPr lang="en-US" dirty="0"/>
              <a:t>Can be useful for catching errors early as well.</a:t>
            </a:r>
          </a:p>
        </p:txBody>
      </p:sp>
    </p:spTree>
    <p:extLst>
      <p:ext uri="{BB962C8B-B14F-4D97-AF65-F5344CB8AC3E}">
        <p14:creationId xmlns:p14="http://schemas.microsoft.com/office/powerpoint/2010/main" val="399004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 PLY: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1E3D-D70C-934E-B36F-94EA76B7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308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" pitchFamily="2" charset="0"/>
              </a:rPr>
              <a:t>SymbolTable</a:t>
            </a:r>
            <a:r>
              <a:rPr lang="en-US" dirty="0">
                <a:latin typeface="Courier" pitchFamily="2" charset="0"/>
              </a:rPr>
              <a:t> ST;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/>
              <a:t>declare_statement</a:t>
            </a:r>
            <a:r>
              <a:rPr lang="en-US" dirty="0"/>
              <a:t> ::= TYPE </a:t>
            </a:r>
            <a:r>
              <a:rPr lang="en-US" dirty="0">
                <a:highlight>
                  <a:srgbClr val="FFFF00"/>
                </a:highlight>
              </a:rPr>
              <a:t>ID</a:t>
            </a:r>
            <a:r>
              <a:rPr lang="en-US" dirty="0"/>
              <a:t> SEMI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ST.insert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$2</a:t>
            </a:r>
            <a:r>
              <a:rPr lang="en-US">
                <a:latin typeface="Courier" pitchFamily="2" charset="0"/>
              </a:rPr>
              <a:t>, None);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70213-59E7-9B4F-B56F-59A8A7151E35}"/>
              </a:ext>
            </a:extLst>
          </p:cNvPr>
          <p:cNvSpPr txBox="1"/>
          <p:nvPr/>
        </p:nvSpPr>
        <p:spPr>
          <a:xfrm>
            <a:off x="5519447" y="595695"/>
            <a:ext cx="626806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Say we are matched the statement: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int x; // a declarative statement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3D6D1-0516-8C41-A5FC-0378B34B9AE5}"/>
              </a:ext>
            </a:extLst>
          </p:cNvPr>
          <p:cNvSpPr txBox="1"/>
          <p:nvPr/>
        </p:nvSpPr>
        <p:spPr>
          <a:xfrm>
            <a:off x="4301066" y="2438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9065B-F667-BD48-9C2C-F310E075BBBE}"/>
              </a:ext>
            </a:extLst>
          </p:cNvPr>
          <p:cNvSpPr txBox="1"/>
          <p:nvPr/>
        </p:nvSpPr>
        <p:spPr>
          <a:xfrm>
            <a:off x="4910666" y="2438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50773-0F04-534F-B370-7E5BAAECC6B3}"/>
              </a:ext>
            </a:extLst>
          </p:cNvPr>
          <p:cNvSpPr txBox="1"/>
          <p:nvPr/>
        </p:nvSpPr>
        <p:spPr>
          <a:xfrm>
            <a:off x="5630333" y="2438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05EF9-AB85-AF4F-9AA5-2D717DCD4CF4}"/>
              </a:ext>
            </a:extLst>
          </p:cNvPr>
          <p:cNvSpPr txBox="1"/>
          <p:nvPr/>
        </p:nvSpPr>
        <p:spPr>
          <a:xfrm>
            <a:off x="6747934" y="2743200"/>
            <a:ext cx="23478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result of each symbol.</a:t>
            </a:r>
            <a:br>
              <a:rPr lang="en-US" i="1" dirty="0"/>
            </a:br>
            <a:r>
              <a:rPr lang="en-US" i="1" dirty="0"/>
              <a:t>For a terminal it will be</a:t>
            </a:r>
            <a:br>
              <a:rPr lang="en-US" i="1" dirty="0"/>
            </a:br>
            <a:r>
              <a:rPr lang="en-US" i="1" dirty="0"/>
              <a:t>the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377BE-CFF8-2642-9199-72C87FFD57D8}"/>
              </a:ext>
            </a:extLst>
          </p:cNvPr>
          <p:cNvSpPr txBox="1"/>
          <p:nvPr/>
        </p:nvSpPr>
        <p:spPr>
          <a:xfrm>
            <a:off x="2638986" y="4774399"/>
            <a:ext cx="5380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always some way to refer to symbol value, e.g. an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3D307-651E-E047-BC40-2C88C82A912F}"/>
              </a:ext>
            </a:extLst>
          </p:cNvPr>
          <p:cNvSpPr txBox="1"/>
          <p:nvPr/>
        </p:nvSpPr>
        <p:spPr>
          <a:xfrm>
            <a:off x="6197600" y="1883549"/>
            <a:ext cx="392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Parser actions would be written like this</a:t>
            </a:r>
          </a:p>
        </p:txBody>
      </p:sp>
    </p:spTree>
    <p:extLst>
      <p:ext uri="{BB962C8B-B14F-4D97-AF65-F5344CB8AC3E}">
        <p14:creationId xmlns:p14="http://schemas.microsoft.com/office/powerpoint/2010/main" val="280524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values get returned from non-terminals?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E639D-7988-614F-835E-C1C3812687D2}"/>
              </a:ext>
            </a:extLst>
          </p:cNvPr>
          <p:cNvSpPr txBox="1"/>
          <p:nvPr/>
        </p:nvSpPr>
        <p:spPr>
          <a:xfrm>
            <a:off x="9008533" y="2844800"/>
            <a:ext cx="220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this print?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102352-889D-5548-8820-C75C858B5508}"/>
              </a:ext>
            </a:extLst>
          </p:cNvPr>
          <p:cNvSpPr/>
          <p:nvPr/>
        </p:nvSpPr>
        <p:spPr>
          <a:xfrm>
            <a:off x="736597" y="2739073"/>
            <a:ext cx="109389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1: Expr  ::= Expr ‘+’ Unit    {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print $1</a:t>
            </a:r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latin typeface="Courier" pitchFamily="2" charset="0"/>
              </a:rPr>
              <a:t>2:       |   Expr ‘-’ Unit</a:t>
            </a:r>
          </a:p>
          <a:p>
            <a:r>
              <a:rPr lang="en-US" sz="2400" dirty="0">
                <a:latin typeface="Courier" pitchFamily="2" charset="0"/>
              </a:rPr>
              <a:t>3:       |   Unit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4: Unit  ::= ‘(‘ Expr ‘)’</a:t>
            </a:r>
          </a:p>
          <a:p>
            <a:r>
              <a:rPr lang="en-US" sz="2400" dirty="0">
                <a:latin typeface="Courier" pitchFamily="2" charset="0"/>
              </a:rPr>
              <a:t>5:       |    NUM</a:t>
            </a:r>
          </a:p>
        </p:txBody>
      </p:sp>
    </p:spTree>
    <p:extLst>
      <p:ext uri="{BB962C8B-B14F-4D97-AF65-F5344CB8AC3E}">
        <p14:creationId xmlns:p14="http://schemas.microsoft.com/office/powerpoint/2010/main" val="3692770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values get returned from non-terminals?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E639D-7988-614F-835E-C1C3812687D2}"/>
              </a:ext>
            </a:extLst>
          </p:cNvPr>
          <p:cNvSpPr txBox="1"/>
          <p:nvPr/>
        </p:nvSpPr>
        <p:spPr>
          <a:xfrm>
            <a:off x="6096000" y="5187841"/>
            <a:ext cx="5147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Every production rule</a:t>
            </a:r>
            <a:br>
              <a:rPr lang="en-US" sz="3200" b="1" i="1" dirty="0"/>
            </a:br>
            <a:r>
              <a:rPr lang="en-US" sz="3200" b="1" i="1" dirty="0"/>
              <a:t>needs to return something!!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F10F09-3516-C544-B551-57907834422F}"/>
              </a:ext>
            </a:extLst>
          </p:cNvPr>
          <p:cNvSpPr/>
          <p:nvPr/>
        </p:nvSpPr>
        <p:spPr>
          <a:xfrm>
            <a:off x="736597" y="2739073"/>
            <a:ext cx="109389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1: Expr  ::= Expr ‘+’ Unit    {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print $1; return “expr”</a:t>
            </a:r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latin typeface="Courier" pitchFamily="2" charset="0"/>
              </a:rPr>
              <a:t>2:       |   Expr ‘-’ Unit    {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return “expr”</a:t>
            </a:r>
            <a:r>
              <a:rPr lang="en-US" sz="2400" dirty="0">
                <a:latin typeface="Courier" pitchFamily="2" charset="0"/>
              </a:rPr>
              <a:t>}</a:t>
            </a:r>
          </a:p>
          <a:p>
            <a:r>
              <a:rPr lang="en-US" sz="2400" dirty="0">
                <a:latin typeface="Courier" pitchFamily="2" charset="0"/>
              </a:rPr>
              <a:t>3:       |   Unit             {...}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4: Unit  ::= ‘(‘ Expr ‘)’</a:t>
            </a:r>
          </a:p>
          <a:p>
            <a:r>
              <a:rPr lang="en-US" sz="2400" dirty="0">
                <a:latin typeface="Courier" pitchFamily="2" charset="0"/>
              </a:rPr>
              <a:t>5:       |    NUM</a:t>
            </a:r>
          </a:p>
        </p:txBody>
      </p:sp>
    </p:spTree>
    <p:extLst>
      <p:ext uri="{BB962C8B-B14F-4D97-AF65-F5344CB8AC3E}">
        <p14:creationId xmlns:p14="http://schemas.microsoft.com/office/powerpoint/2010/main" val="28082993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values get returned from non-terminals?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3C585-6749-BC48-BDF0-0BE1DED343F2}"/>
              </a:ext>
            </a:extLst>
          </p:cNvPr>
          <p:cNvSpPr/>
          <p:nvPr/>
        </p:nvSpPr>
        <p:spPr>
          <a:xfrm>
            <a:off x="736597" y="2739073"/>
            <a:ext cx="109389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1: Expr  ::= Expr ‘+’ Unit    {}</a:t>
            </a:r>
          </a:p>
          <a:p>
            <a:r>
              <a:rPr lang="en-US" sz="2400" dirty="0">
                <a:latin typeface="Courier" pitchFamily="2" charset="0"/>
              </a:rPr>
              <a:t>2:       |   Expr ‘-’ Unit    {}</a:t>
            </a:r>
          </a:p>
          <a:p>
            <a:r>
              <a:rPr lang="en-US" sz="2400" dirty="0">
                <a:latin typeface="Courier" pitchFamily="2" charset="0"/>
              </a:rPr>
              <a:t>3:       |   Unit             {}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4: Unit  ::= ‘(‘ Expr ‘)’     {}</a:t>
            </a:r>
          </a:p>
          <a:p>
            <a:r>
              <a:rPr lang="en-US" sz="2400" dirty="0">
                <a:latin typeface="Courier" pitchFamily="2" charset="0"/>
              </a:rPr>
              <a:t>5:       |    NUM             {}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133EA-111B-5748-873E-79F6F69EB970}"/>
              </a:ext>
            </a:extLst>
          </p:cNvPr>
          <p:cNvSpPr txBox="1"/>
          <p:nvPr/>
        </p:nvSpPr>
        <p:spPr>
          <a:xfrm>
            <a:off x="7118626" y="1398300"/>
            <a:ext cx="3310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building</a:t>
            </a:r>
            <a:r>
              <a:rPr lang="en-US" sz="2800" i="1" dirty="0"/>
              <a:t> a calculator</a:t>
            </a:r>
          </a:p>
        </p:txBody>
      </p:sp>
    </p:spTree>
    <p:extLst>
      <p:ext uri="{BB962C8B-B14F-4D97-AF65-F5344CB8AC3E}">
        <p14:creationId xmlns:p14="http://schemas.microsoft.com/office/powerpoint/2010/main" val="33483197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6036-ED46-6248-82E5-2DD39B72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values get returned from non-terminals?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3C585-6749-BC48-BDF0-0BE1DED343F2}"/>
              </a:ext>
            </a:extLst>
          </p:cNvPr>
          <p:cNvSpPr/>
          <p:nvPr/>
        </p:nvSpPr>
        <p:spPr>
          <a:xfrm>
            <a:off x="736597" y="2739073"/>
            <a:ext cx="109389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1: Expr  ::= Expr ‘+’ Unit    {return $1 + $3}</a:t>
            </a:r>
          </a:p>
          <a:p>
            <a:r>
              <a:rPr lang="en-US" sz="2400" dirty="0">
                <a:latin typeface="Courier" pitchFamily="2" charset="0"/>
              </a:rPr>
              <a:t>2:       |   Expr ‘-’ Unit    {return $1 - $3}</a:t>
            </a:r>
          </a:p>
          <a:p>
            <a:r>
              <a:rPr lang="en-US" sz="2400" dirty="0">
                <a:latin typeface="Courier" pitchFamily="2" charset="0"/>
              </a:rPr>
              <a:t>3:       |   Unit             {return $1}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4: Unit  ::= ‘(‘ Expr ‘)’     {return $2}</a:t>
            </a:r>
          </a:p>
          <a:p>
            <a:r>
              <a:rPr lang="en-US" sz="2400" dirty="0">
                <a:latin typeface="Courier" pitchFamily="2" charset="0"/>
              </a:rPr>
              <a:t>5:       |    NUM             {return int($1})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8588A-CDFF-206F-8F71-E8BD34DA8A13}"/>
              </a:ext>
            </a:extLst>
          </p:cNvPr>
          <p:cNvSpPr txBox="1"/>
          <p:nvPr/>
        </p:nvSpPr>
        <p:spPr>
          <a:xfrm>
            <a:off x="7118626" y="1398300"/>
            <a:ext cx="33102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building</a:t>
            </a:r>
            <a:r>
              <a:rPr lang="en-US" sz="2800" i="1" dirty="0"/>
              <a:t> a calculator</a:t>
            </a:r>
          </a:p>
          <a:p>
            <a:r>
              <a:rPr lang="en-US" sz="2800" i="1" dirty="0"/>
              <a:t>(no AST needed)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DDA01-8ED4-AD83-E4FB-F0366CEFAC24}"/>
              </a:ext>
            </a:extLst>
          </p:cNvPr>
          <p:cNvSpPr txBox="1"/>
          <p:nvPr/>
        </p:nvSpPr>
        <p:spPr>
          <a:xfrm>
            <a:off x="2464905" y="5976684"/>
            <a:ext cx="70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You can try doing this in PLY for fun.</a:t>
            </a:r>
          </a:p>
        </p:txBody>
      </p:sp>
    </p:spTree>
    <p:extLst>
      <p:ext uri="{BB962C8B-B14F-4D97-AF65-F5344CB8AC3E}">
        <p14:creationId xmlns:p14="http://schemas.microsoft.com/office/powerpoint/2010/main" val="481589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production rules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480170"/>
              </p:ext>
            </p:extLst>
          </p:nvPr>
        </p:nvGraphicFramePr>
        <p:xfrm>
          <a:off x="1383671" y="2487756"/>
          <a:ext cx="9424657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921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77018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68220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4187296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381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DC4A05-A0A4-FA47-A6EA-1EA62619FC6D}"/>
              </a:ext>
            </a:extLst>
          </p:cNvPr>
          <p:cNvSpPr/>
          <p:nvPr/>
        </p:nvSpPr>
        <p:spPr>
          <a:xfrm>
            <a:off x="3670300" y="909935"/>
            <a:ext cx="375073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F25C3-9CB6-9447-970F-15356121F7A9}"/>
              </a:ext>
            </a:extLst>
          </p:cNvPr>
          <p:cNvSpPr/>
          <p:nvPr/>
        </p:nvSpPr>
        <p:spPr>
          <a:xfrm>
            <a:off x="220134" y="2530607"/>
            <a:ext cx="4699000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value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ASTIDNode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ASTLeafNode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__(value)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B7094-C8F1-2E41-AACD-AF29558149D9}"/>
              </a:ext>
            </a:extLst>
          </p:cNvPr>
          <p:cNvSpPr/>
          <p:nvPr/>
        </p:nvSpPr>
        <p:spPr>
          <a:xfrm>
            <a:off x="5545667" y="2530607"/>
            <a:ext cx="6096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ASTPlusNode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ASTMultNode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ASTBinOpNode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super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().__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l_child,r_child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59B102-1359-F633-AA6F-3DFDBDC94079}"/>
              </a:ext>
            </a:extLst>
          </p:cNvPr>
          <p:cNvSpPr txBox="1"/>
          <p:nvPr/>
        </p:nvSpPr>
        <p:spPr>
          <a:xfrm>
            <a:off x="8203096" y="1033670"/>
            <a:ext cx="343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Comstruct</a:t>
            </a:r>
            <a:r>
              <a:rPr lang="en-US" dirty="0"/>
              <a:t> these components and pass them up as we parse.</a:t>
            </a:r>
          </a:p>
        </p:txBody>
      </p:sp>
    </p:spTree>
    <p:extLst>
      <p:ext uri="{BB962C8B-B14F-4D97-AF65-F5344CB8AC3E}">
        <p14:creationId xmlns:p14="http://schemas.microsoft.com/office/powerpoint/2010/main" val="695869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production rules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6949"/>
              </p:ext>
            </p:extLst>
          </p:nvPr>
        </p:nvGraphicFramePr>
        <p:xfrm>
          <a:off x="628296" y="2470851"/>
          <a:ext cx="10834834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4530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353131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722568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4813826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ASTAddNode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  # pass up what term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ASTMultNode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  # pass up what factor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$2}  # pass up what expr returned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ASTNumNode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ASTIDNode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834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57203"/>
              </p:ext>
            </p:extLst>
          </p:nvPr>
        </p:nvGraphicFramePr>
        <p:xfrm>
          <a:off x="240671" y="337223"/>
          <a:ext cx="7311596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2944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3930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3959351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ASTAddNode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ASTMultNode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$2}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ASTNumNode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ASTIDNode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29260A-EE91-2C41-B765-F94BB9D91BB1}"/>
              </a:ext>
            </a:extLst>
          </p:cNvPr>
          <p:cNvSpPr txBox="1"/>
          <p:nvPr/>
        </p:nvSpPr>
        <p:spPr>
          <a:xfrm>
            <a:off x="9481189" y="77370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14C51E-9041-E349-A2B3-5AD33A9390E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780181" y="1143032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82B20A-70B8-3F4F-B25F-C8E152C28F6E}"/>
              </a:ext>
            </a:extLst>
          </p:cNvPr>
          <p:cNvSpPr txBox="1"/>
          <p:nvPr/>
        </p:nvSpPr>
        <p:spPr>
          <a:xfrm>
            <a:off x="9522693" y="13387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68180-D0CC-2D47-8CCC-8C2DC973A6EC}"/>
              </a:ext>
            </a:extLst>
          </p:cNvPr>
          <p:cNvSpPr txBox="1"/>
          <p:nvPr/>
        </p:nvSpPr>
        <p:spPr>
          <a:xfrm>
            <a:off x="7347391" y="3888133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032C9-F74B-6141-93E3-41BCC544258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762213" y="1708090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D7D097-FBBB-F54E-9AC6-CDE79448E412}"/>
              </a:ext>
            </a:extLst>
          </p:cNvPr>
          <p:cNvSpPr txBox="1"/>
          <p:nvPr/>
        </p:nvSpPr>
        <p:spPr>
          <a:xfrm>
            <a:off x="8466068" y="305422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C62774-0B6E-D045-87AC-E70482DB8C5B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342227" y="3423555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388EC9-ACD3-B94B-91B9-4119F82A426F}"/>
              </a:ext>
            </a:extLst>
          </p:cNvPr>
          <p:cNvSpPr txBox="1"/>
          <p:nvPr/>
        </p:nvSpPr>
        <p:spPr>
          <a:xfrm>
            <a:off x="8623511" y="384389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A9E82-1A8E-4F47-AD37-9D2485EE4B30}"/>
              </a:ext>
            </a:extLst>
          </p:cNvPr>
          <p:cNvSpPr txBox="1"/>
          <p:nvPr/>
        </p:nvSpPr>
        <p:spPr>
          <a:xfrm>
            <a:off x="8022802" y="175842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84C0D-C7BB-7B49-963C-2AF3BD6DBFDA}"/>
              </a:ext>
            </a:extLst>
          </p:cNvPr>
          <p:cNvSpPr txBox="1"/>
          <p:nvPr/>
        </p:nvSpPr>
        <p:spPr>
          <a:xfrm>
            <a:off x="9213620" y="3852846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26EAA-586B-4943-B7A0-710993F873E2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8833958" y="3423555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E3EF37-F53B-D649-B1A7-DB20F0E687C3}"/>
              </a:ext>
            </a:extLst>
          </p:cNvPr>
          <p:cNvCxnSpPr>
            <a:cxnSpLocks/>
          </p:cNvCxnSpPr>
          <p:nvPr/>
        </p:nvCxnSpPr>
        <p:spPr>
          <a:xfrm>
            <a:off x="8862383" y="3422475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F0F655-290F-BC4C-937E-DF9B99775AEF}"/>
              </a:ext>
            </a:extLst>
          </p:cNvPr>
          <p:cNvSpPr txBox="1"/>
          <p:nvPr/>
        </p:nvSpPr>
        <p:spPr>
          <a:xfrm>
            <a:off x="9726998" y="4651469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22763D-A39A-A747-BE39-6490533928A6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8909320" y="4213231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FF4E9C-20A1-A74A-AB5F-58415715F707}"/>
              </a:ext>
            </a:extLst>
          </p:cNvPr>
          <p:cNvSpPr txBox="1"/>
          <p:nvPr/>
        </p:nvSpPr>
        <p:spPr>
          <a:xfrm>
            <a:off x="8295947" y="4633575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29342F-A796-8D4C-B140-FAD6CE14463C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922503" y="4213231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9F101C-E6F6-9348-82FA-979436FA3E6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7834301" y="4213231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E1A9EA-BA06-AB41-81C2-2C7A04C1F725}"/>
              </a:ext>
            </a:extLst>
          </p:cNvPr>
          <p:cNvSpPr txBox="1"/>
          <p:nvPr/>
        </p:nvSpPr>
        <p:spPr>
          <a:xfrm>
            <a:off x="7535309" y="46774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2DF4B6-548C-874E-88F1-4FA0ED76240B}"/>
              </a:ext>
            </a:extLst>
          </p:cNvPr>
          <p:cNvSpPr txBox="1"/>
          <p:nvPr/>
        </p:nvSpPr>
        <p:spPr>
          <a:xfrm>
            <a:off x="7514790" y="5349607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B9E80-E3A6-1745-A33E-748DB7D92461}"/>
              </a:ext>
            </a:extLst>
          </p:cNvPr>
          <p:cNvSpPr txBox="1"/>
          <p:nvPr/>
        </p:nvSpPr>
        <p:spPr>
          <a:xfrm>
            <a:off x="7466410" y="58703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BC92B-91F7-8F49-B1B1-4C8686262032}"/>
              </a:ext>
            </a:extLst>
          </p:cNvPr>
          <p:cNvSpPr txBox="1"/>
          <p:nvPr/>
        </p:nvSpPr>
        <p:spPr>
          <a:xfrm>
            <a:off x="7215686" y="639110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ECDE54-CE5A-7041-8766-CD9072FDB0B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810830" y="5037822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074F52-2A20-0E4E-9C4D-3774B0819273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7834300" y="571893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00F11A-EF34-B44C-933B-422B6F656D68}"/>
              </a:ext>
            </a:extLst>
          </p:cNvPr>
          <p:cNvCxnSpPr>
            <a:cxnSpLocks/>
          </p:cNvCxnSpPr>
          <p:nvPr/>
        </p:nvCxnSpPr>
        <p:spPr>
          <a:xfrm flipH="1">
            <a:off x="7827006" y="6214620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6373CD-0C2F-9F43-B552-ED4129424D6D}"/>
              </a:ext>
            </a:extLst>
          </p:cNvPr>
          <p:cNvSpPr txBox="1"/>
          <p:nvPr/>
        </p:nvSpPr>
        <p:spPr>
          <a:xfrm>
            <a:off x="9696682" y="511972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B97B7F-31D6-AD4A-8317-A8EAB525D687}"/>
              </a:ext>
            </a:extLst>
          </p:cNvPr>
          <p:cNvSpPr txBox="1"/>
          <p:nvPr/>
        </p:nvSpPr>
        <p:spPr>
          <a:xfrm>
            <a:off x="9445958" y="564047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042156-7F59-6043-A63B-98AA27B1216D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10064572" y="4968308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3449A-37DF-174E-A4DF-F398F5713176}"/>
              </a:ext>
            </a:extLst>
          </p:cNvPr>
          <p:cNvCxnSpPr>
            <a:cxnSpLocks/>
          </p:cNvCxnSpPr>
          <p:nvPr/>
        </p:nvCxnSpPr>
        <p:spPr>
          <a:xfrm flipH="1">
            <a:off x="10057278" y="546398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C0A304-8337-1247-93EB-C60659EB50EA}"/>
              </a:ext>
            </a:extLst>
          </p:cNvPr>
          <p:cNvCxnSpPr>
            <a:cxnSpLocks/>
          </p:cNvCxnSpPr>
          <p:nvPr/>
        </p:nvCxnSpPr>
        <p:spPr>
          <a:xfrm>
            <a:off x="9829982" y="172167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93D2CD3-F762-A447-9CBF-114F03833729}"/>
              </a:ext>
            </a:extLst>
          </p:cNvPr>
          <p:cNvSpPr txBox="1"/>
          <p:nvPr/>
        </p:nvSpPr>
        <p:spPr>
          <a:xfrm>
            <a:off x="9372409" y="2188772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EE8F78-2FCE-074D-BE8C-C549AF47984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42204" y="1708090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845741E-FE57-BF41-BADF-FC6046A0B29C}"/>
              </a:ext>
            </a:extLst>
          </p:cNvPr>
          <p:cNvSpPr txBox="1"/>
          <p:nvPr/>
        </p:nvSpPr>
        <p:spPr>
          <a:xfrm>
            <a:off x="10785937" y="303878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8B5A5D-D838-6848-B99E-976ECA1537F6}"/>
              </a:ext>
            </a:extLst>
          </p:cNvPr>
          <p:cNvSpPr txBox="1"/>
          <p:nvPr/>
        </p:nvSpPr>
        <p:spPr>
          <a:xfrm>
            <a:off x="11081050" y="23518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D91F14-DCB2-5F47-AB43-0B3A77484B11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 flipH="1">
            <a:off x="11448939" y="2721173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B60E5B-6B94-8747-AF00-94D6620614E4}"/>
              </a:ext>
            </a:extLst>
          </p:cNvPr>
          <p:cNvSpPr txBox="1"/>
          <p:nvPr/>
        </p:nvSpPr>
        <p:spPr>
          <a:xfrm>
            <a:off x="8466068" y="2271124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67933D-3E84-964F-B7D2-822385E03AFA}"/>
              </a:ext>
            </a:extLst>
          </p:cNvPr>
          <p:cNvCxnSpPr>
            <a:cxnSpLocks/>
          </p:cNvCxnSpPr>
          <p:nvPr/>
        </p:nvCxnSpPr>
        <p:spPr>
          <a:xfrm>
            <a:off x="8743671" y="2635430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DDA299-7D94-F44C-BB81-01DC0856D019}"/>
              </a:ext>
            </a:extLst>
          </p:cNvPr>
          <p:cNvSpPr txBox="1"/>
          <p:nvPr/>
        </p:nvSpPr>
        <p:spPr>
          <a:xfrm>
            <a:off x="2199353" y="3368261"/>
            <a:ext cx="247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build the AST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642C1-2C0C-EBDC-3022-255127C98140}"/>
              </a:ext>
            </a:extLst>
          </p:cNvPr>
          <p:cNvSpPr txBox="1"/>
          <p:nvPr/>
        </p:nvSpPr>
        <p:spPr>
          <a:xfrm>
            <a:off x="2069901" y="4448066"/>
            <a:ext cx="2486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AST&lt;?&gt; gets passed up</a:t>
            </a:r>
          </a:p>
          <a:p>
            <a:r>
              <a:rPr lang="en-US" dirty="0"/>
              <a:t>    i.e. returned to parent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FF4A8-419B-66CA-16F8-42D8EA9463F7}"/>
              </a:ext>
            </a:extLst>
          </p:cNvPr>
          <p:cNvSpPr txBox="1"/>
          <p:nvPr/>
        </p:nvSpPr>
        <p:spPr>
          <a:xfrm>
            <a:off x="5645006" y="636603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AST&lt;NUM,1&gt;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5D445-0B20-9F03-9C00-90D864FF8263}"/>
              </a:ext>
            </a:extLst>
          </p:cNvPr>
          <p:cNvSpPr txBox="1"/>
          <p:nvPr/>
        </p:nvSpPr>
        <p:spPr>
          <a:xfrm>
            <a:off x="5917958" y="4677437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AST&lt;NUM,1&gt;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F01B8D-11AF-02C7-031D-4EFA4147B5F3}"/>
              </a:ext>
            </a:extLst>
          </p:cNvPr>
          <p:cNvSpPr txBox="1"/>
          <p:nvPr/>
        </p:nvSpPr>
        <p:spPr>
          <a:xfrm>
            <a:off x="10487367" y="465146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AST&lt;NUM,5&gt;</a:t>
            </a:r>
          </a:p>
        </p:txBody>
      </p:sp>
    </p:spTree>
    <p:extLst>
      <p:ext uri="{BB962C8B-B14F-4D97-AF65-F5344CB8AC3E}">
        <p14:creationId xmlns:p14="http://schemas.microsoft.com/office/powerpoint/2010/main" val="13256489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/>
        </p:nvGraphicFramePr>
        <p:xfrm>
          <a:off x="240671" y="337223"/>
          <a:ext cx="7311596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2944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3930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3959351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ASTAddNode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ASTMultNode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$2}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ASTNumNode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ASTIDNode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29260A-EE91-2C41-B765-F94BB9D91BB1}"/>
              </a:ext>
            </a:extLst>
          </p:cNvPr>
          <p:cNvSpPr txBox="1"/>
          <p:nvPr/>
        </p:nvSpPr>
        <p:spPr>
          <a:xfrm>
            <a:off x="9481189" y="77370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14C51E-9041-E349-A2B3-5AD33A9390E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780181" y="1143032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82B20A-70B8-3F4F-B25F-C8E152C28F6E}"/>
              </a:ext>
            </a:extLst>
          </p:cNvPr>
          <p:cNvSpPr txBox="1"/>
          <p:nvPr/>
        </p:nvSpPr>
        <p:spPr>
          <a:xfrm>
            <a:off x="9522693" y="13387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68180-D0CC-2D47-8CCC-8C2DC973A6EC}"/>
              </a:ext>
            </a:extLst>
          </p:cNvPr>
          <p:cNvSpPr txBox="1"/>
          <p:nvPr/>
        </p:nvSpPr>
        <p:spPr>
          <a:xfrm>
            <a:off x="7347391" y="3888133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032C9-F74B-6141-93E3-41BCC544258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762213" y="1708090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D7D097-FBBB-F54E-9AC6-CDE79448E412}"/>
              </a:ext>
            </a:extLst>
          </p:cNvPr>
          <p:cNvSpPr txBox="1"/>
          <p:nvPr/>
        </p:nvSpPr>
        <p:spPr>
          <a:xfrm>
            <a:off x="8466068" y="305422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C62774-0B6E-D045-87AC-E70482DB8C5B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342227" y="3423555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388EC9-ACD3-B94B-91B9-4119F82A426F}"/>
              </a:ext>
            </a:extLst>
          </p:cNvPr>
          <p:cNvSpPr txBox="1"/>
          <p:nvPr/>
        </p:nvSpPr>
        <p:spPr>
          <a:xfrm>
            <a:off x="8623511" y="384389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A9E82-1A8E-4F47-AD37-9D2485EE4B30}"/>
              </a:ext>
            </a:extLst>
          </p:cNvPr>
          <p:cNvSpPr txBox="1"/>
          <p:nvPr/>
        </p:nvSpPr>
        <p:spPr>
          <a:xfrm>
            <a:off x="8022802" y="175842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84C0D-C7BB-7B49-963C-2AF3BD6DBFDA}"/>
              </a:ext>
            </a:extLst>
          </p:cNvPr>
          <p:cNvSpPr txBox="1"/>
          <p:nvPr/>
        </p:nvSpPr>
        <p:spPr>
          <a:xfrm>
            <a:off x="9213620" y="3852846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26EAA-586B-4943-B7A0-710993F873E2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8833958" y="3423555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E3EF37-F53B-D649-B1A7-DB20F0E687C3}"/>
              </a:ext>
            </a:extLst>
          </p:cNvPr>
          <p:cNvCxnSpPr>
            <a:cxnSpLocks/>
          </p:cNvCxnSpPr>
          <p:nvPr/>
        </p:nvCxnSpPr>
        <p:spPr>
          <a:xfrm>
            <a:off x="8862383" y="3422475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F0F655-290F-BC4C-937E-DF9B99775AEF}"/>
              </a:ext>
            </a:extLst>
          </p:cNvPr>
          <p:cNvSpPr txBox="1"/>
          <p:nvPr/>
        </p:nvSpPr>
        <p:spPr>
          <a:xfrm>
            <a:off x="9726998" y="4651469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22763D-A39A-A747-BE39-6490533928A6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8909320" y="4213231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FF4E9C-20A1-A74A-AB5F-58415715F707}"/>
              </a:ext>
            </a:extLst>
          </p:cNvPr>
          <p:cNvSpPr txBox="1"/>
          <p:nvPr/>
        </p:nvSpPr>
        <p:spPr>
          <a:xfrm>
            <a:off x="8295947" y="4633575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29342F-A796-8D4C-B140-FAD6CE14463C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922503" y="4213231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9F101C-E6F6-9348-82FA-979436FA3E6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7834301" y="4213231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E1A9EA-BA06-AB41-81C2-2C7A04C1F725}"/>
              </a:ext>
            </a:extLst>
          </p:cNvPr>
          <p:cNvSpPr txBox="1"/>
          <p:nvPr/>
        </p:nvSpPr>
        <p:spPr>
          <a:xfrm>
            <a:off x="7535309" y="46774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2DF4B6-548C-874E-88F1-4FA0ED76240B}"/>
              </a:ext>
            </a:extLst>
          </p:cNvPr>
          <p:cNvSpPr txBox="1"/>
          <p:nvPr/>
        </p:nvSpPr>
        <p:spPr>
          <a:xfrm>
            <a:off x="7514790" y="5349607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B9E80-E3A6-1745-A33E-748DB7D92461}"/>
              </a:ext>
            </a:extLst>
          </p:cNvPr>
          <p:cNvSpPr txBox="1"/>
          <p:nvPr/>
        </p:nvSpPr>
        <p:spPr>
          <a:xfrm>
            <a:off x="7466410" y="58703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BC92B-91F7-8F49-B1B1-4C8686262032}"/>
              </a:ext>
            </a:extLst>
          </p:cNvPr>
          <p:cNvSpPr txBox="1"/>
          <p:nvPr/>
        </p:nvSpPr>
        <p:spPr>
          <a:xfrm>
            <a:off x="7215686" y="639110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ECDE54-CE5A-7041-8766-CD9072FDB0B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810830" y="5037822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074F52-2A20-0E4E-9C4D-3774B0819273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7834300" y="571893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00F11A-EF34-B44C-933B-422B6F656D68}"/>
              </a:ext>
            </a:extLst>
          </p:cNvPr>
          <p:cNvCxnSpPr>
            <a:cxnSpLocks/>
          </p:cNvCxnSpPr>
          <p:nvPr/>
        </p:nvCxnSpPr>
        <p:spPr>
          <a:xfrm flipH="1">
            <a:off x="7827006" y="6214620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6373CD-0C2F-9F43-B552-ED4129424D6D}"/>
              </a:ext>
            </a:extLst>
          </p:cNvPr>
          <p:cNvSpPr txBox="1"/>
          <p:nvPr/>
        </p:nvSpPr>
        <p:spPr>
          <a:xfrm>
            <a:off x="9696682" y="511972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B97B7F-31D6-AD4A-8317-A8EAB525D687}"/>
              </a:ext>
            </a:extLst>
          </p:cNvPr>
          <p:cNvSpPr txBox="1"/>
          <p:nvPr/>
        </p:nvSpPr>
        <p:spPr>
          <a:xfrm>
            <a:off x="9445958" y="564047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042156-7F59-6043-A63B-98AA27B1216D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10064572" y="4968308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3449A-37DF-174E-A4DF-F398F5713176}"/>
              </a:ext>
            </a:extLst>
          </p:cNvPr>
          <p:cNvCxnSpPr>
            <a:cxnSpLocks/>
          </p:cNvCxnSpPr>
          <p:nvPr/>
        </p:nvCxnSpPr>
        <p:spPr>
          <a:xfrm flipH="1">
            <a:off x="10057278" y="546398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C0A304-8337-1247-93EB-C60659EB50EA}"/>
              </a:ext>
            </a:extLst>
          </p:cNvPr>
          <p:cNvCxnSpPr>
            <a:cxnSpLocks/>
          </p:cNvCxnSpPr>
          <p:nvPr/>
        </p:nvCxnSpPr>
        <p:spPr>
          <a:xfrm>
            <a:off x="9829982" y="172167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93D2CD3-F762-A447-9CBF-114F03833729}"/>
              </a:ext>
            </a:extLst>
          </p:cNvPr>
          <p:cNvSpPr txBox="1"/>
          <p:nvPr/>
        </p:nvSpPr>
        <p:spPr>
          <a:xfrm>
            <a:off x="9372409" y="2188772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EE8F78-2FCE-074D-BE8C-C549AF47984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42204" y="1708090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845741E-FE57-BF41-BADF-FC6046A0B29C}"/>
              </a:ext>
            </a:extLst>
          </p:cNvPr>
          <p:cNvSpPr txBox="1"/>
          <p:nvPr/>
        </p:nvSpPr>
        <p:spPr>
          <a:xfrm>
            <a:off x="10785937" y="303878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8B5A5D-D838-6848-B99E-976ECA1537F6}"/>
              </a:ext>
            </a:extLst>
          </p:cNvPr>
          <p:cNvSpPr txBox="1"/>
          <p:nvPr/>
        </p:nvSpPr>
        <p:spPr>
          <a:xfrm>
            <a:off x="11081050" y="23518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D91F14-DCB2-5F47-AB43-0B3A77484B11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 flipH="1">
            <a:off x="11448939" y="2721173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B60E5B-6B94-8747-AF00-94D6620614E4}"/>
              </a:ext>
            </a:extLst>
          </p:cNvPr>
          <p:cNvSpPr txBox="1"/>
          <p:nvPr/>
        </p:nvSpPr>
        <p:spPr>
          <a:xfrm>
            <a:off x="8466068" y="2271124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67933D-3E84-964F-B7D2-822385E03AFA}"/>
              </a:ext>
            </a:extLst>
          </p:cNvPr>
          <p:cNvCxnSpPr>
            <a:cxnSpLocks/>
          </p:cNvCxnSpPr>
          <p:nvPr/>
        </p:nvCxnSpPr>
        <p:spPr>
          <a:xfrm>
            <a:off x="8743671" y="2635430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EF72685-73ED-4C42-86A8-6B98CAD0DB1A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AST&lt;*&gt;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23C0CC-6B5F-DB49-B0D4-1391E64F41E6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69536A6-4D97-A247-B1FC-F3A8FA5E8A07}"/>
              </a:ext>
            </a:extLst>
          </p:cNvPr>
          <p:cNvSpPr txBox="1"/>
          <p:nvPr/>
        </p:nvSpPr>
        <p:spPr>
          <a:xfrm>
            <a:off x="1882809" y="486776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9FB13B-91D8-F94F-A4E5-53AB795D285D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0077C8-5580-6247-82FC-CBF981B56EE9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3E656F7-4BE2-2E44-86AB-D15336DB655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EE0E992-34D2-A845-91CF-7D91AB1768B2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AST&lt;1&gt;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56803C-A67F-9347-9B8E-7059402D539F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6021F7-8205-A249-95C7-E1E2582D8736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AST&lt;6&gt;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50F9A-0492-C003-B133-E2759357ADAC}"/>
              </a:ext>
            </a:extLst>
          </p:cNvPr>
          <p:cNvSpPr txBox="1"/>
          <p:nvPr/>
        </p:nvSpPr>
        <p:spPr>
          <a:xfrm>
            <a:off x="597824" y="3100423"/>
            <a:ext cx="409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builds the parse tree recursively as we return from the various productions.</a:t>
            </a:r>
          </a:p>
        </p:txBody>
      </p:sp>
    </p:spTree>
    <p:extLst>
      <p:ext uri="{BB962C8B-B14F-4D97-AF65-F5344CB8AC3E}">
        <p14:creationId xmlns:p14="http://schemas.microsoft.com/office/powerpoint/2010/main" val="3682084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D59432-2935-CD4A-9381-5E100991E50D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C88285F-9994-B14C-AED5-8F42F4C96A6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1C73C8-2205-E94E-BF43-881B12B029E0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FA3D48F-2460-6844-81C6-AD73BE148012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04C896-1663-DB47-9FAA-BC0163C769D0}"/>
              </a:ext>
            </a:extLst>
          </p:cNvPr>
          <p:cNvCxnSpPr>
            <a:cxnSpLocks/>
            <a:stCxn id="51" idx="2"/>
            <a:endCxn id="53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79725C-F72A-4E46-BA2C-DFA47328E442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DE6948A3-F770-5642-A7A5-1D8F19AA3D6A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6BF085C-7BD2-574B-8A93-37D4105B128B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1D1EC452-ABCA-0142-84E3-388B4A6F3E1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083C49-F390-9945-99BC-D61F3571D8EF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9FF1A57-5487-8C40-BBC4-F67F3FBCD4A5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BEE36F5-2EF3-B648-AF93-FF809088ED03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72D31F-FA9B-A74D-9F8D-085F00F431D9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E6581F-066A-674E-ABFF-2BD4B6149B1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C0DF0D2-74B7-AC40-B284-60431E06D7D8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17C2AE9-DEDE-3D4D-BFF6-69225AFD62B4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EA3795B-97D8-174C-8C85-7334A23DC98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1412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457B1-CF08-B648-A171-EEDDC399FD36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F2E608-4265-0640-AC6D-C11B56B9033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2702E1-1037-A94E-B343-4FCE2DBF1798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4EEAB8-FF65-A84D-9CC7-90207006FBE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FD8F13-67DD-C840-92C3-068C11012323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D16D68-5646-9247-B350-B2C2AA448AE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BA7FAD9-4799-D54B-BDB8-AE9C62112A23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B78B42-94ED-F44E-AC28-E916E2FD24BA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2E51B-3267-064B-A381-7336ED8BBD9C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2BC50B-A234-1844-ABB9-8C441FB792CA}"/>
              </a:ext>
            </a:extLst>
          </p:cNvPr>
          <p:cNvSpPr txBox="1"/>
          <p:nvPr/>
        </p:nvSpPr>
        <p:spPr>
          <a:xfrm>
            <a:off x="6514762" y="5811385"/>
            <a:ext cx="406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to the desired parse tree?</a:t>
            </a:r>
          </a:p>
        </p:txBody>
      </p:sp>
    </p:spTree>
    <p:extLst>
      <p:ext uri="{BB962C8B-B14F-4D97-AF65-F5344CB8AC3E}">
        <p14:creationId xmlns:p14="http://schemas.microsoft.com/office/powerpoint/2010/main" val="268977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2BD59-4654-D54B-831A-C6046A6CD283}"/>
              </a:ext>
            </a:extLst>
          </p:cNvPr>
          <p:cNvSpPr txBox="1"/>
          <p:nvPr/>
        </p:nvSpPr>
        <p:spPr>
          <a:xfrm>
            <a:off x="548785" y="4482123"/>
            <a:ext cx="69197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Keep in mind that because we wrote our own parser,</a:t>
            </a:r>
          </a:p>
          <a:p>
            <a:r>
              <a:rPr lang="en-US" sz="2400" b="1" dirty="0"/>
              <a:t>we can inject code at any point during the parse.</a:t>
            </a:r>
          </a:p>
        </p:txBody>
      </p:sp>
    </p:spTree>
    <p:extLst>
      <p:ext uri="{BB962C8B-B14F-4D97-AF65-F5344CB8AC3E}">
        <p14:creationId xmlns:p14="http://schemas.microsoft.com/office/powerpoint/2010/main" val="40555109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541950" y="3669436"/>
            <a:ext cx="199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number node after we see a number </a:t>
            </a:r>
          </a:p>
        </p:txBody>
      </p:sp>
    </p:spTree>
    <p:extLst>
      <p:ext uri="{BB962C8B-B14F-4D97-AF65-F5344CB8AC3E}">
        <p14:creationId xmlns:p14="http://schemas.microsoft.com/office/powerpoint/2010/main" val="4277809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D7F32-AC7C-6F94-4904-21BD20C9C5AF}"/>
              </a:ext>
            </a:extLst>
          </p:cNvPr>
          <p:cNvSpPr txBox="1"/>
          <p:nvPr/>
        </p:nvSpPr>
        <p:spPr>
          <a:xfrm>
            <a:off x="4099165" y="3671868"/>
            <a:ext cx="2540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Pass the node down to Expr2  !!!</a:t>
            </a:r>
          </a:p>
        </p:txBody>
      </p:sp>
    </p:spTree>
    <p:extLst>
      <p:ext uri="{BB962C8B-B14F-4D97-AF65-F5344CB8AC3E}">
        <p14:creationId xmlns:p14="http://schemas.microsoft.com/office/powerpoint/2010/main" val="2151751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4811963" y="3671868"/>
            <a:ext cx="1996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Pass the node down  !!!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B2C67C-8672-DC4B-850B-8916CC9DD699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0194508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4 is parsed, create a number node and a minus node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AST&lt;4&gt;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2EE652-7AD2-B243-8C09-9CF0ECEA259B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4031852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205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new root node down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D1931-D0ED-064F-B152-48ED92F64F3A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053846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234780"/>
            <a:ext cx="2271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3 is parsed, create a number node and a minus node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D971D2-E7F8-2940-A846-AFD056D85C39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11057773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356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down the new root  node to Expr2 corresponding to the LHS AST of the dyadic expression.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11284254" y="443660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7408401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2789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the assembled  node when there is nothing left to parse.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7871714" y="2317518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3909018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D8BA50-1EA3-E24C-94A7-2003E6AC8455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# Extract value from the token.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  # build the Num Node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   # pass down the built-up node.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8329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373AA-277F-0E47-976B-655C065552DD}"/>
              </a:ext>
            </a:extLst>
          </p:cNvPr>
          <p:cNvSpPr/>
          <p:nvPr/>
        </p:nvSpPr>
        <p:spPr>
          <a:xfrm>
            <a:off x="389466" y="4130471"/>
            <a:ext cx="95231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 err="1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   # pass down the built-up node and return its return value.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7C69E-A840-B5AA-90AD-3F49C6B49692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2534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|   “”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DF143-55F5-3D4C-8B96-0DE78875E623}"/>
              </a:ext>
            </a:extLst>
          </p:cNvPr>
          <p:cNvSpPr/>
          <p:nvPr/>
        </p:nvSpPr>
        <p:spPr>
          <a:xfrm>
            <a:off x="956733" y="4746552"/>
            <a:ext cx="9228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        # ... for applying the second production rule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# the passed root node will bubble up to the expr call.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C9A5A-1ABB-D1E0-89B1-24A6E08FF2C6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8041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7689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Expr2 ::= MINUS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C0EC2-C966-2942-A41C-72D90BE8F91E}"/>
              </a:ext>
            </a:extLst>
          </p:cNvPr>
          <p:cNvSpPr txBox="1"/>
          <p:nvPr/>
        </p:nvSpPr>
        <p:spPr>
          <a:xfrm>
            <a:off x="169334" y="2727529"/>
            <a:ext cx="3795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more realistic grammar, you might</a:t>
            </a:r>
            <a:br>
              <a:rPr lang="en-US" dirty="0"/>
            </a:br>
            <a:r>
              <a:rPr lang="en-US" dirty="0"/>
              <a:t>have more layers: e.g. a </a:t>
            </a:r>
            <a:r>
              <a:rPr lang="en-US" dirty="0">
                <a:highlight>
                  <a:srgbClr val="FFFF00"/>
                </a:highlight>
              </a:rPr>
              <a:t>Term</a:t>
            </a:r>
            <a:br>
              <a:rPr lang="en-US" dirty="0">
                <a:highlight>
                  <a:srgbClr val="FFFF00"/>
                </a:highlight>
              </a:rPr>
            </a:br>
            <a:br>
              <a:rPr lang="en-US" dirty="0">
                <a:highlight>
                  <a:srgbClr val="FFFF00"/>
                </a:highlight>
              </a:rPr>
            </a:br>
            <a:r>
              <a:rPr lang="en-US" dirty="0"/>
              <a:t>how to adapt?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2861E-BAC3-0183-43C1-9906326921E2}"/>
              </a:ext>
            </a:extLst>
          </p:cNvPr>
          <p:cNvSpPr/>
          <p:nvPr/>
        </p:nvSpPr>
        <p:spPr>
          <a:xfrm>
            <a:off x="4233333" y="1882340"/>
            <a:ext cx="7628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#get the value from the lexeme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3AF4B-689A-C07F-B1B2-6C3E06DEB3F0}"/>
              </a:ext>
            </a:extLst>
          </p:cNvPr>
          <p:cNvSpPr/>
          <p:nvPr/>
        </p:nvSpPr>
        <p:spPr>
          <a:xfrm>
            <a:off x="389466" y="4130471"/>
            <a:ext cx="94966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    # node from term used to pass down to Expr2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.to_match.value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 err="1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ASTNumNode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(value)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101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169334" y="1573367"/>
            <a:ext cx="37689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Expr2 ::= MINUS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Term</a:t>
            </a:r>
            <a:r>
              <a:rPr lang="en-US" dirty="0">
                <a:latin typeface="Courier" pitchFamily="2" charset="0"/>
              </a:rPr>
              <a:t>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D8BA50-1EA3-E24C-94A7-2003E6AC8455}"/>
              </a:ext>
            </a:extLst>
          </p:cNvPr>
          <p:cNvSpPr/>
          <p:nvPr/>
        </p:nvSpPr>
        <p:spPr>
          <a:xfrm>
            <a:off x="4233333" y="1882340"/>
            <a:ext cx="76284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.parse_term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373AA-277F-0E47-976B-655C065552DD}"/>
              </a:ext>
            </a:extLst>
          </p:cNvPr>
          <p:cNvSpPr/>
          <p:nvPr/>
        </p:nvSpPr>
        <p:spPr>
          <a:xfrm>
            <a:off x="389467" y="4130471"/>
            <a:ext cx="78062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# ... for applying the first production rule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"MINUS"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 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.parse_term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ASTMinusNode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lhs_node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rhs_node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 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.parse_expr2(node)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C0EC2-C966-2942-A41C-72D90BE8F91E}"/>
              </a:ext>
            </a:extLst>
          </p:cNvPr>
          <p:cNvSpPr txBox="1"/>
          <p:nvPr/>
        </p:nvSpPr>
        <p:spPr>
          <a:xfrm>
            <a:off x="169334" y="2727529"/>
            <a:ext cx="3795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more realistic grammar, you might</a:t>
            </a:r>
            <a:br>
              <a:rPr lang="en-US" dirty="0"/>
            </a:br>
            <a:r>
              <a:rPr lang="en-US" dirty="0"/>
              <a:t>have more layers: e.g. a </a:t>
            </a:r>
            <a:r>
              <a:rPr lang="en-US" dirty="0">
                <a:highlight>
                  <a:srgbClr val="FFFF00"/>
                </a:highlight>
              </a:rPr>
              <a:t>Term</a:t>
            </a:r>
            <a:br>
              <a:rPr lang="en-US" dirty="0">
                <a:highlight>
                  <a:srgbClr val="FFFF00"/>
                </a:highlight>
              </a:rPr>
            </a:br>
            <a:br>
              <a:rPr lang="en-US" dirty="0">
                <a:highlight>
                  <a:srgbClr val="FFFF00"/>
                </a:highlight>
              </a:rPr>
            </a:br>
            <a:r>
              <a:rPr lang="en-US" dirty="0"/>
              <a:t>how to adapt?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7EE02-A5CE-664B-9517-F1586B3C9123}"/>
              </a:ext>
            </a:extLst>
          </p:cNvPr>
          <p:cNvSpPr txBox="1"/>
          <p:nvPr/>
        </p:nvSpPr>
        <p:spPr>
          <a:xfrm>
            <a:off x="9110134" y="4292600"/>
            <a:ext cx="2387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parse_term</a:t>
            </a:r>
            <a:br>
              <a:rPr lang="en-US" b="1" dirty="0"/>
            </a:br>
            <a:r>
              <a:rPr lang="en-US" b="1" dirty="0"/>
              <a:t>will figure out how</a:t>
            </a:r>
          </a:p>
          <a:p>
            <a:r>
              <a:rPr lang="en-US" b="1" dirty="0"/>
              <a:t>to get you an AST node</a:t>
            </a:r>
          </a:p>
          <a:p>
            <a:r>
              <a:rPr lang="en-US" b="1" dirty="0"/>
              <a:t>for that term.</a:t>
            </a:r>
          </a:p>
        </p:txBody>
      </p:sp>
    </p:spTree>
    <p:extLst>
      <p:ext uri="{BB962C8B-B14F-4D97-AF65-F5344CB8AC3E}">
        <p14:creationId xmlns:p14="http://schemas.microsoft.com/office/powerpoint/2010/main" val="27007366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58849-8CB8-B048-8ADE-2D476184A4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3DF057-40AE-324C-805F-1C9A428ED811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3925BA-6AE6-8F4A-9124-DE2C80CF1A53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ED73A-17E5-F94F-B53F-793141B6E226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011516-B8ED-5B46-8344-313EE65386E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F77180-4165-8D4C-BFCA-6BEB9C1C5E2C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4AE-9547-E642-A374-F1D63CFD341E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FCE606-82CA-0840-9BB8-CA98677D86C8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A90E5-2BD7-B046-BD97-2B9192067745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6C97B4-7FD9-494E-BFC6-18DAC10C23F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525782-A78E-0B49-89EB-873ACF123DA2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13C1C-6B2A-3144-B7C7-52FF2E92BDC3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C58CFD-5EE3-D740-B954-05905EEDB020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511CEB-CD5F-0B4D-B581-AD57D0A1FD1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CC8D182-47AF-6D40-BD79-D01ED92A8995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701D8B-3473-FA4F-B16B-6A379F191EF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2C555CC-6A96-B84A-B392-3B1F1C86EA98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B13D5F2-5778-314F-A920-27A872007855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6504269" y="5711112"/>
            <a:ext cx="436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Parse trees cannot always be evaluated in post-order. An AST should always be.</a:t>
            </a:r>
          </a:p>
          <a:p>
            <a:r>
              <a:rPr lang="en-US" b="1" i="1" dirty="0"/>
              <a:t>Note AST is easier to build in bottom-up.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BC005E-8C4D-7A42-94E9-10E755AD8136}"/>
              </a:ext>
            </a:extLst>
          </p:cNvPr>
          <p:cNvSpPr txBox="1"/>
          <p:nvPr/>
        </p:nvSpPr>
        <p:spPr>
          <a:xfrm>
            <a:off x="10110651" y="276932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tree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33317-9DE9-0F46-B13A-60A1916D72E3}"/>
              </a:ext>
            </a:extLst>
          </p:cNvPr>
          <p:cNvSpPr txBox="1"/>
          <p:nvPr/>
        </p:nvSpPr>
        <p:spPr>
          <a:xfrm>
            <a:off x="5268686" y="384918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</p:spTree>
    <p:extLst>
      <p:ext uri="{BB962C8B-B14F-4D97-AF65-F5344CB8AC3E}">
        <p14:creationId xmlns:p14="http://schemas.microsoft.com/office/powerpoint/2010/main" val="9323020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7BD4-1919-2143-9AD0-F6DA1BDD1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0158"/>
          </a:xfrm>
        </p:spPr>
        <p:txBody>
          <a:bodyPr/>
          <a:lstStyle/>
          <a:p>
            <a:r>
              <a:rPr lang="en-US" dirty="0"/>
              <a:t>Python 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5A951-036D-1F44-B6E8-89A42A771E92}"/>
              </a:ext>
            </a:extLst>
          </p:cNvPr>
          <p:cNvSpPr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ast.dump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ast.parse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'5-4-2'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)))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56C22-C2F9-634F-AC0A-3D26E70A8E0A}"/>
              </a:ext>
            </a:extLst>
          </p:cNvPr>
          <p:cNvSpPr/>
          <p:nvPr/>
        </p:nvSpPr>
        <p:spPr>
          <a:xfrm>
            <a:off x="714103" y="5144478"/>
            <a:ext cx="11303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Expr(value=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BinOp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(left=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BinOp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(left=Num(n=5), op=Sub(), right=Num(n=4)), op=Sub(), right=Num(n=2)))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978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it? </a:t>
            </a:r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</p:spTree>
    <p:extLst>
      <p:ext uri="{BB962C8B-B14F-4D97-AF65-F5344CB8AC3E}">
        <p14:creationId xmlns:p14="http://schemas.microsoft.com/office/powerpoint/2010/main" val="32717220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21146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– z;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What if you cannot evaluate it? </a:t>
            </a:r>
            <a:br>
              <a:rPr lang="en-US" b="1" i="1" dirty="0"/>
            </a:br>
            <a:r>
              <a:rPr lang="en-US" b="1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BEA8-0214-9C47-A69D-9D64E4A7E59B}"/>
              </a:ext>
            </a:extLst>
          </p:cNvPr>
          <p:cNvSpPr txBox="1"/>
          <p:nvPr/>
        </p:nvSpPr>
        <p:spPr>
          <a:xfrm>
            <a:off x="7325954" y="5664946"/>
            <a:ext cx="296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</p:spTree>
    <p:extLst>
      <p:ext uri="{BB962C8B-B14F-4D97-AF65-F5344CB8AC3E}">
        <p14:creationId xmlns:p14="http://schemas.microsoft.com/office/powerpoint/2010/main" val="39568171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it? </a:t>
            </a:r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BEA8-0214-9C47-A69D-9D64E4A7E59B}"/>
              </a:ext>
            </a:extLst>
          </p:cNvPr>
          <p:cNvSpPr txBox="1"/>
          <p:nvPr/>
        </p:nvSpPr>
        <p:spPr>
          <a:xfrm>
            <a:off x="7325954" y="5664946"/>
            <a:ext cx="296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this all?</a:t>
            </a:r>
          </a:p>
        </p:txBody>
      </p:sp>
    </p:spTree>
    <p:extLst>
      <p:ext uri="{BB962C8B-B14F-4D97-AF65-F5344CB8AC3E}">
        <p14:creationId xmlns:p14="http://schemas.microsoft.com/office/powerpoint/2010/main" val="36574264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8386354" y="3612353"/>
            <a:ext cx="2702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do some experiments.</a:t>
            </a:r>
          </a:p>
          <a:p>
            <a:br>
              <a:rPr lang="en-US" dirty="0"/>
            </a:br>
            <a:r>
              <a:rPr lang="en-US" dirty="0"/>
              <a:t>What should 5 - 5.0 be?</a:t>
            </a:r>
          </a:p>
        </p:txBody>
      </p:sp>
    </p:spTree>
    <p:extLst>
      <p:ext uri="{BB962C8B-B14F-4D97-AF65-F5344CB8AC3E}">
        <p14:creationId xmlns:p14="http://schemas.microsoft.com/office/powerpoint/2010/main" val="41553399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8386354" y="3612353"/>
            <a:ext cx="27025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do some experiments.</a:t>
            </a:r>
          </a:p>
          <a:p>
            <a:br>
              <a:rPr lang="en-US" dirty="0"/>
            </a:br>
            <a:r>
              <a:rPr lang="en-US" dirty="0"/>
              <a:t>What should 5 - 5.0 be?</a:t>
            </a:r>
          </a:p>
          <a:p>
            <a:endParaRPr lang="en-US" dirty="0"/>
          </a:p>
          <a:p>
            <a:r>
              <a:rPr lang="en-US" dirty="0"/>
              <a:t>but </a:t>
            </a:r>
          </a:p>
          <a:p>
            <a:endParaRPr lang="en-US" dirty="0"/>
          </a:p>
          <a:p>
            <a:r>
              <a:rPr lang="en-US" b="1" dirty="0" err="1">
                <a:latin typeface="Courier" pitchFamily="2" charset="0"/>
              </a:rPr>
              <a:t>addss</a:t>
            </a:r>
            <a:r>
              <a:rPr lang="en-US" b="1" dirty="0">
                <a:latin typeface="Courier" pitchFamily="2" charset="0"/>
              </a:rPr>
              <a:t> r1 r2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interprets both registers</a:t>
            </a:r>
          </a:p>
          <a:p>
            <a:r>
              <a:rPr lang="en-US" dirty="0">
                <a:cs typeface="Calibri" panose="020F0502020204030204" pitchFamily="34" charset="0"/>
              </a:rPr>
              <a:t>as floats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11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347063" y="6235337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all?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5511-8D12-D64A-9C50-10698F8B421C}"/>
              </a:ext>
            </a:extLst>
          </p:cNvPr>
          <p:cNvSpPr txBox="1"/>
          <p:nvPr/>
        </p:nvSpPr>
        <p:spPr>
          <a:xfrm>
            <a:off x="7201988" y="4129099"/>
            <a:ext cx="45553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the binary of 5 is 0b101</a:t>
            </a:r>
            <a:br>
              <a:rPr lang="en-US" dirty="0"/>
            </a:br>
            <a:r>
              <a:rPr lang="en-US" dirty="0"/>
              <a:t>the float value of 0b101 is 7.00649232162e-45</a:t>
            </a:r>
          </a:p>
          <a:p>
            <a:endParaRPr lang="en-US" dirty="0"/>
          </a:p>
          <a:p>
            <a:r>
              <a:rPr lang="en-US" dirty="0"/>
              <a:t>We cannot just subtract them!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679269" y="63743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21432" y="557712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883574" y="594414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07947" y="594414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052114" y="637430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  <a:endCxn id="3" idx="0"/>
          </p:cNvCxnSpPr>
          <p:nvPr/>
        </p:nvCxnSpPr>
        <p:spPr>
          <a:xfrm flipH="1">
            <a:off x="2278037" y="4342975"/>
            <a:ext cx="1863678" cy="612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106755" y="5794280"/>
            <a:ext cx="576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need to make sure our operands are in the right format!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BD33D-8B34-FC4B-B439-1B0F268BEE6C}"/>
              </a:ext>
            </a:extLst>
          </p:cNvPr>
          <p:cNvSpPr/>
          <p:nvPr/>
        </p:nvSpPr>
        <p:spPr>
          <a:xfrm>
            <a:off x="1341755" y="4955699"/>
            <a:ext cx="1872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EE86BB-16B4-7E44-A61A-8823BD091603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2239175" y="5325031"/>
            <a:ext cx="38862" cy="252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185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/>
          <a:lstStyle/>
          <a:p>
            <a:r>
              <a:rPr lang="en-US" dirty="0"/>
              <a:t>Given a language a type system defines:</a:t>
            </a:r>
          </a:p>
          <a:p>
            <a:pPr lvl="1"/>
            <a:r>
              <a:rPr lang="en-US" dirty="0"/>
              <a:t>The primitive (base) types in the language</a:t>
            </a:r>
          </a:p>
          <a:p>
            <a:pPr lvl="1"/>
            <a:r>
              <a:rPr lang="en-US" dirty="0"/>
              <a:t>How the types can be converted to other types</a:t>
            </a:r>
          </a:p>
          <a:p>
            <a:pPr lvl="2"/>
            <a:r>
              <a:rPr lang="en-US" dirty="0"/>
              <a:t>implicitly or explicitly</a:t>
            </a:r>
          </a:p>
          <a:p>
            <a:pPr lvl="1"/>
            <a:r>
              <a:rPr lang="en-US" dirty="0"/>
              <a:t>How the user can define new types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989FEE-3EF2-8E42-9C26-527D409EA79A}"/>
              </a:ext>
            </a:extLst>
          </p:cNvPr>
          <p:cNvSpPr txBox="1">
            <a:spLocks/>
          </p:cNvSpPr>
          <p:nvPr/>
        </p:nvSpPr>
        <p:spPr>
          <a:xfrm>
            <a:off x="838200" y="37745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checking and inference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8F86DF-C691-E749-B369-8F0687AF6159}"/>
              </a:ext>
            </a:extLst>
          </p:cNvPr>
          <p:cNvSpPr txBox="1">
            <a:spLocks/>
          </p:cNvSpPr>
          <p:nvPr/>
        </p:nvSpPr>
        <p:spPr>
          <a:xfrm>
            <a:off x="838200" y="5100093"/>
            <a:ext cx="10515600" cy="175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 a program to ensure that it adheres to the type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67ECE-44F9-5B4B-93B5-5540B4FBFEB1}"/>
              </a:ext>
            </a:extLst>
          </p:cNvPr>
          <p:cNvSpPr txBox="1"/>
          <p:nvPr/>
        </p:nvSpPr>
        <p:spPr>
          <a:xfrm>
            <a:off x="1946365" y="5846544"/>
            <a:ext cx="82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Especially interesting for compilers as a program given in the type system for the input language must be translated to a type system for lower-level program </a:t>
            </a:r>
          </a:p>
        </p:txBody>
      </p:sp>
    </p:spTree>
    <p:extLst>
      <p:ext uri="{BB962C8B-B14F-4D97-AF65-F5344CB8AC3E}">
        <p14:creationId xmlns:p14="http://schemas.microsoft.com/office/powerpoint/2010/main" val="1987368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50546</TotalTime>
  <Words>5983</Words>
  <Application>Microsoft Office PowerPoint</Application>
  <PresentationFormat>Widescreen</PresentationFormat>
  <Paragraphs>1374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Calibri Light</vt:lpstr>
      <vt:lpstr>Consolas</vt:lpstr>
      <vt:lpstr>Courier</vt:lpstr>
      <vt:lpstr>Menlo</vt:lpstr>
      <vt:lpstr>Office Theme</vt:lpstr>
      <vt:lpstr>CSE110A: Compilers</vt:lpstr>
      <vt:lpstr>Compiler Architecture</vt:lpstr>
      <vt:lpstr>More detailed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Intermediate representations</vt:lpstr>
      <vt:lpstr>Example Clang and LLVM</vt:lpstr>
      <vt:lpstr>Example Clang and LLVM</vt:lpstr>
      <vt:lpstr>Intermediate representations</vt:lpstr>
      <vt:lpstr>Example: loop unrolling</vt:lpstr>
      <vt:lpstr>Example: loop unrolling</vt:lpstr>
      <vt:lpstr>Example: loop unrolling</vt:lpstr>
      <vt:lpstr>Example: loop unrolling</vt:lpstr>
      <vt:lpstr>Example: loop unrolling</vt:lpstr>
      <vt:lpstr>Example: loop unrolling</vt:lpstr>
      <vt:lpstr>Example: common subexpression elimination</vt:lpstr>
      <vt:lpstr>Example: common subexpression elimination</vt:lpstr>
      <vt:lpstr>Our first IR: abstract syntax tree (AST)</vt:lpstr>
      <vt:lpstr>What is an AST?</vt:lpstr>
      <vt:lpstr>What is an AST?</vt:lpstr>
      <vt:lpstr>What is an AST?</vt:lpstr>
      <vt:lpstr>What is an AST?</vt:lpstr>
      <vt:lpstr>What is an AST?</vt:lpstr>
      <vt:lpstr>What is an AST?</vt:lpstr>
      <vt:lpstr>What is an AST?</vt:lpstr>
      <vt:lpstr>What is an AST?</vt:lpstr>
      <vt:lpstr>Example</vt:lpstr>
      <vt:lpstr>Example</vt:lpstr>
      <vt:lpstr>Formalizing an AST</vt:lpstr>
      <vt:lpstr>PowerPoint Presentation</vt:lpstr>
      <vt:lpstr>Creating an AST from a parser       Note: This will be similar to rules           in PLY to create an AST.     </vt:lpstr>
      <vt:lpstr>Parser actions</vt:lpstr>
      <vt:lpstr>Example in PLY:</vt:lpstr>
      <vt:lpstr>What values get returned from non-terminals?</vt:lpstr>
      <vt:lpstr>What values get returned from non-terminals?</vt:lpstr>
      <vt:lpstr>What values get returned from non-terminals?</vt:lpstr>
      <vt:lpstr>What values get returned from non-terminals?</vt:lpstr>
      <vt:lpstr>Creating an AST from production rules</vt:lpstr>
      <vt:lpstr>PowerPoint Presentation</vt:lpstr>
      <vt:lpstr>Creating an AST from production rules</vt:lpstr>
      <vt:lpstr>PowerPoint Presentation</vt:lpstr>
      <vt:lpstr>PowerPoint Presentation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Evaluate an AST by doing a post order traversal</vt:lpstr>
      <vt:lpstr>Example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Evaluate an AST by doing a post order traversal</vt:lpstr>
      <vt:lpstr>Type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787</cp:revision>
  <dcterms:created xsi:type="dcterms:W3CDTF">2021-03-23T23:59:42Z</dcterms:created>
  <dcterms:modified xsi:type="dcterms:W3CDTF">2026-02-17T23:21:27Z</dcterms:modified>
</cp:coreProperties>
</file>