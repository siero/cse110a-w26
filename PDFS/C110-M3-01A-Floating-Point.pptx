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13.xml" ContentType="application/vnd.openxmlformats-officedocument.theme+xml"/>
  <Override PartName="/ppt/slideLayouts/slideLayout15.xml" ContentType="application/vnd.openxmlformats-officedocument.presentationml.slideLayout+xml"/>
  <Override PartName="/ppt/theme/theme14.xml" ContentType="application/vnd.openxmlformats-officedocument.theme+xml"/>
  <Override PartName="/ppt/slideLayouts/slideLayout16.xml" ContentType="application/vnd.openxmlformats-officedocument.presentationml.slideLayout+xml"/>
  <Override PartName="/ppt/theme/theme15.xml" ContentType="application/vnd.openxmlformats-officedocument.theme+xml"/>
  <Override PartName="/ppt/slideLayouts/slideLayout17.xml" ContentType="application/vnd.openxmlformats-officedocument.presentationml.slideLayout+xml"/>
  <Override PartName="/ppt/theme/theme16.xml" ContentType="application/vnd.openxmlformats-officedocument.theme+xml"/>
  <Override PartName="/ppt/slideLayouts/slideLayout18.xml" ContentType="application/vnd.openxmlformats-officedocument.presentationml.slideLayout+xml"/>
  <Override PartName="/ppt/theme/theme17.xml" ContentType="application/vnd.openxmlformats-officedocument.theme+xml"/>
  <Override PartName="/ppt/slideLayouts/slideLayout19.xml" ContentType="application/vnd.openxmlformats-officedocument.presentationml.slideLayout+xml"/>
  <Override PartName="/ppt/theme/theme18.xml" ContentType="application/vnd.openxmlformats-officedocument.theme+xml"/>
  <Override PartName="/ppt/slideLayouts/slideLayout20.xml" ContentType="application/vnd.openxmlformats-officedocument.presentationml.slideLayout+xml"/>
  <Override PartName="/ppt/theme/theme19.xml" ContentType="application/vnd.openxmlformats-officedocument.theme+xml"/>
  <Override PartName="/ppt/slideLayouts/slideLayout21.xml" ContentType="application/vnd.openxmlformats-officedocument.presentationml.slideLayout+xml"/>
  <Override PartName="/ppt/theme/theme20.xml" ContentType="application/vnd.openxmlformats-officedocument.theme+xml"/>
  <Override PartName="/ppt/slideLayouts/slideLayout22.xml" ContentType="application/vnd.openxmlformats-officedocument.presentationml.slideLayout+xml"/>
  <Override PartName="/ppt/theme/theme21.xml" ContentType="application/vnd.openxmlformats-officedocument.theme+xml"/>
  <Override PartName="/ppt/slideLayouts/slideLayout23.xml" ContentType="application/vnd.openxmlformats-officedocument.presentationml.slideLayout+xml"/>
  <Override PartName="/ppt/theme/theme22.xml" ContentType="application/vnd.openxmlformats-officedocument.theme+xml"/>
  <Override PartName="/ppt/slideLayouts/slideLayout24.xml" ContentType="application/vnd.openxmlformats-officedocument.presentationml.slideLayout+xml"/>
  <Override PartName="/ppt/theme/theme23.xml" ContentType="application/vnd.openxmlformats-officedocument.theme+xml"/>
  <Override PartName="/ppt/slideLayouts/slideLayout25.xml" ContentType="application/vnd.openxmlformats-officedocument.presentationml.slideLayout+xml"/>
  <Override PartName="/ppt/theme/theme24.xml" ContentType="application/vnd.openxmlformats-officedocument.theme+xml"/>
  <Override PartName="/ppt/theme/theme2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4" r:id="rId14"/>
    <p:sldMasterId id="2147483676" r:id="rId15"/>
    <p:sldMasterId id="2147483678" r:id="rId16"/>
    <p:sldMasterId id="2147483680" r:id="rId17"/>
    <p:sldMasterId id="2147483682" r:id="rId18"/>
    <p:sldMasterId id="2147483684" r:id="rId19"/>
    <p:sldMasterId id="2147483686" r:id="rId20"/>
    <p:sldMasterId id="2147483688" r:id="rId21"/>
    <p:sldMasterId id="2147483690" r:id="rId22"/>
    <p:sldMasterId id="2147483692" r:id="rId23"/>
    <p:sldMasterId id="2147483694" r:id="rId24"/>
  </p:sldMasterIdLst>
  <p:notesMasterIdLst>
    <p:notesMasterId r:id="rId57"/>
  </p:notesMasterIdLst>
  <p:sldIdLst>
    <p:sldId id="256" r:id="rId25"/>
    <p:sldId id="257" r:id="rId26"/>
    <p:sldId id="290" r:id="rId27"/>
    <p:sldId id="258" r:id="rId28"/>
    <p:sldId id="259" r:id="rId29"/>
    <p:sldId id="260" r:id="rId30"/>
    <p:sldId id="261" r:id="rId31"/>
    <p:sldId id="262" r:id="rId32"/>
    <p:sldId id="263" r:id="rId33"/>
    <p:sldId id="264" r:id="rId34"/>
    <p:sldId id="265" r:id="rId35"/>
    <p:sldId id="266" r:id="rId36"/>
    <p:sldId id="267" r:id="rId37"/>
    <p:sldId id="268" r:id="rId38"/>
    <p:sldId id="269" r:id="rId39"/>
    <p:sldId id="270" r:id="rId40"/>
    <p:sldId id="271" r:id="rId41"/>
    <p:sldId id="272" r:id="rId42"/>
    <p:sldId id="273" r:id="rId43"/>
    <p:sldId id="274" r:id="rId44"/>
    <p:sldId id="275" r:id="rId45"/>
    <p:sldId id="276" r:id="rId46"/>
    <p:sldId id="283" r:id="rId47"/>
    <p:sldId id="287" r:id="rId48"/>
    <p:sldId id="285" r:id="rId49"/>
    <p:sldId id="289" r:id="rId50"/>
    <p:sldId id="277" r:id="rId51"/>
    <p:sldId id="278" r:id="rId52"/>
    <p:sldId id="279" r:id="rId53"/>
    <p:sldId id="280" r:id="rId54"/>
    <p:sldId id="281" r:id="rId55"/>
    <p:sldId id="282" r:id="rId56"/>
  </p:sldIdLst>
  <p:sldSz cx="9144000" cy="6858000" type="screen4x3"/>
  <p:notesSz cx="6997700" cy="9283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0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57" d="100"/>
          <a:sy n="57" d="100"/>
        </p:scale>
        <p:origin x="584" y="268"/>
      </p:cViewPr>
      <p:guideLst>
        <p:guide orient="horz" pos="2160"/>
        <p:guide pos="30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2.xml"/><Relationship Id="rId39" Type="http://schemas.openxmlformats.org/officeDocument/2006/relationships/slide" Target="slides/slide15.xml"/><Relationship Id="rId21" Type="http://schemas.openxmlformats.org/officeDocument/2006/relationships/slideMaster" Target="slideMasters/slideMaster21.xml"/><Relationship Id="rId34" Type="http://schemas.openxmlformats.org/officeDocument/2006/relationships/slide" Target="slides/slide10.xml"/><Relationship Id="rId42" Type="http://schemas.openxmlformats.org/officeDocument/2006/relationships/slide" Target="slides/slide18.xml"/><Relationship Id="rId47" Type="http://schemas.openxmlformats.org/officeDocument/2006/relationships/slide" Target="slides/slide23.xml"/><Relationship Id="rId50" Type="http://schemas.openxmlformats.org/officeDocument/2006/relationships/slide" Target="slides/slide26.xml"/><Relationship Id="rId55" Type="http://schemas.openxmlformats.org/officeDocument/2006/relationships/slide" Target="slides/slide3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5.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 Target="slides/slide8.xml"/><Relationship Id="rId37" Type="http://schemas.openxmlformats.org/officeDocument/2006/relationships/slide" Target="slides/slide13.xml"/><Relationship Id="rId40" Type="http://schemas.openxmlformats.org/officeDocument/2006/relationships/slide" Target="slides/slide16.xml"/><Relationship Id="rId45" Type="http://schemas.openxmlformats.org/officeDocument/2006/relationships/slide" Target="slides/slide21.xml"/><Relationship Id="rId53" Type="http://schemas.openxmlformats.org/officeDocument/2006/relationships/slide" Target="slides/slide29.xml"/><Relationship Id="rId58"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tableStyles" Target="tableStyles.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 Target="slides/slide3.xml"/><Relationship Id="rId30" Type="http://schemas.openxmlformats.org/officeDocument/2006/relationships/slide" Target="slides/slide6.xml"/><Relationship Id="rId35" Type="http://schemas.openxmlformats.org/officeDocument/2006/relationships/slide" Target="slides/slide11.xml"/><Relationship Id="rId43" Type="http://schemas.openxmlformats.org/officeDocument/2006/relationships/slide" Target="slides/slide19.xml"/><Relationship Id="rId48" Type="http://schemas.openxmlformats.org/officeDocument/2006/relationships/slide" Target="slides/slide24.xml"/><Relationship Id="rId56" Type="http://schemas.openxmlformats.org/officeDocument/2006/relationships/slide" Target="slides/slide32.xml"/><Relationship Id="rId8" Type="http://schemas.openxmlformats.org/officeDocument/2006/relationships/slideMaster" Target="slideMasters/slideMaster8.xml"/><Relationship Id="rId51" Type="http://schemas.openxmlformats.org/officeDocument/2006/relationships/slide" Target="slides/slide27.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1.xml"/><Relationship Id="rId33" Type="http://schemas.openxmlformats.org/officeDocument/2006/relationships/slide" Target="slides/slide9.xml"/><Relationship Id="rId38" Type="http://schemas.openxmlformats.org/officeDocument/2006/relationships/slide" Target="slides/slide14.xml"/><Relationship Id="rId46" Type="http://schemas.openxmlformats.org/officeDocument/2006/relationships/slide" Target="slides/slide22.xml"/><Relationship Id="rId59" Type="http://schemas.openxmlformats.org/officeDocument/2006/relationships/viewProps" Target="viewProps.xml"/><Relationship Id="rId20" Type="http://schemas.openxmlformats.org/officeDocument/2006/relationships/slideMaster" Target="slideMasters/slideMaster20.xml"/><Relationship Id="rId41" Type="http://schemas.openxmlformats.org/officeDocument/2006/relationships/slide" Target="slides/slide17.xml"/><Relationship Id="rId54" Type="http://schemas.openxmlformats.org/officeDocument/2006/relationships/slide" Target="slides/slide30.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 Target="slides/slide4.xml"/><Relationship Id="rId36" Type="http://schemas.openxmlformats.org/officeDocument/2006/relationships/slide" Target="slides/slide12.xml"/><Relationship Id="rId49" Type="http://schemas.openxmlformats.org/officeDocument/2006/relationships/slide" Target="slides/slide25.xml"/><Relationship Id="rId57" Type="http://schemas.openxmlformats.org/officeDocument/2006/relationships/notesMaster" Target="notesMasters/notesMaster1.xml"/><Relationship Id="rId10" Type="http://schemas.openxmlformats.org/officeDocument/2006/relationships/slideMaster" Target="slideMasters/slideMaster10.xml"/><Relationship Id="rId31" Type="http://schemas.openxmlformats.org/officeDocument/2006/relationships/slide" Target="slides/slide7.xml"/><Relationship Id="rId44" Type="http://schemas.openxmlformats.org/officeDocument/2006/relationships/slide" Target="slides/slide20.xml"/><Relationship Id="rId52" Type="http://schemas.openxmlformats.org/officeDocument/2006/relationships/slide" Target="slides/slide28.xml"/><Relationship Id="rId60"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72"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pPr algn="ctr"/>
            <a:r>
              <a:rPr lang="en-US" sz="4400" b="0" strike="noStrike" spc="-1">
                <a:solidFill>
                  <a:srgbClr val="000000"/>
                </a:solidFill>
                <a:latin typeface="Arial"/>
              </a:rPr>
              <a:t>Click to move the slide</a:t>
            </a:r>
          </a:p>
        </p:txBody>
      </p:sp>
      <p:sp>
        <p:nvSpPr>
          <p:cNvPr id="573"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574"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575"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576"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577"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CA305B71-5B96-4909-BBCA-9E1628D8D959}"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 name="PlaceHolder 1"/>
          <p:cNvSpPr>
            <a:spLocks noGrp="1" noRot="1" noChangeAspect="1"/>
          </p:cNvSpPr>
          <p:nvPr>
            <p:ph type="sldImg"/>
          </p:nvPr>
        </p:nvSpPr>
        <p:spPr>
          <a:xfrm>
            <a:off x="1177920" y="696960"/>
            <a:ext cx="4636800" cy="3476520"/>
          </a:xfrm>
          <a:prstGeom prst="rect">
            <a:avLst/>
          </a:prstGeom>
          <a:ln w="0">
            <a:noFill/>
          </a:ln>
        </p:spPr>
      </p:sp>
      <p:sp>
        <p:nvSpPr>
          <p:cNvPr id="711" name="PlaceHolder 2"/>
          <p:cNvSpPr>
            <a:spLocks noGrp="1"/>
          </p:cNvSpPr>
          <p:nvPr>
            <p:ph type="body"/>
          </p:nvPr>
        </p:nvSpPr>
        <p:spPr>
          <a:xfrm>
            <a:off x="700200" y="4410000"/>
            <a:ext cx="5592600" cy="4171680"/>
          </a:xfrm>
          <a:prstGeom prst="rect">
            <a:avLst/>
          </a:prstGeom>
          <a:noFill/>
          <a:ln w="0">
            <a:noFill/>
          </a:ln>
        </p:spPr>
        <p:txBody>
          <a:bodyPr lIns="87840" tIns="43920" rIns="87840" bIns="43920" anchor="t">
            <a:noAutofit/>
          </a:bodyPr>
          <a:lstStyle/>
          <a:p>
            <a:pPr marL="216000" indent="-213840">
              <a:lnSpc>
                <a:spcPct val="100000"/>
              </a:lnSpc>
              <a:buNone/>
              <a:tabLst>
                <a:tab pos="0" algn="l"/>
              </a:tabLst>
            </a:pPr>
            <a:r>
              <a:rPr lang="en-US" sz="1800" b="0" strike="noStrike" spc="-1">
                <a:solidFill>
                  <a:srgbClr val="000000"/>
                </a:solidFill>
                <a:latin typeface="Arial"/>
              </a:rPr>
              <a:t>What numbers cannot be represented because of 0’s?</a:t>
            </a:r>
          </a:p>
          <a:p>
            <a:pPr marL="216000" indent="-213840">
              <a:lnSpc>
                <a:spcPct val="100000"/>
              </a:lnSpc>
              <a:buNone/>
              <a:tabLst>
                <a:tab pos="0" algn="l"/>
              </a:tabLst>
            </a:pPr>
            <a:endParaRPr lang="en-US" sz="1800" b="0" strike="noStrike" spc="-1">
              <a:solidFill>
                <a:srgbClr val="000000"/>
              </a:solidFill>
              <a:latin typeface="Arial"/>
            </a:endParaRPr>
          </a:p>
        </p:txBody>
      </p:sp>
      <p:sp>
        <p:nvSpPr>
          <p:cNvPr id="712" name="CustomShape 3"/>
          <p:cNvSpPr/>
          <p:nvPr/>
        </p:nvSpPr>
        <p:spPr>
          <a:xfrm>
            <a:off x="3963960" y="8818560"/>
            <a:ext cx="3027240" cy="458640"/>
          </a:xfrm>
          <a:prstGeom prst="rect">
            <a:avLst/>
          </a:prstGeom>
          <a:noFill/>
          <a:ln w="0">
            <a:noFill/>
          </a:ln>
        </p:spPr>
        <p:style>
          <a:lnRef idx="0">
            <a:scrgbClr r="0" g="0" b="0"/>
          </a:lnRef>
          <a:fillRef idx="0">
            <a:scrgbClr r="0" g="0" b="0"/>
          </a:fillRef>
          <a:effectRef idx="0">
            <a:scrgbClr r="0" g="0" b="0"/>
          </a:effectRef>
          <a:fontRef idx="minor"/>
        </p:style>
        <p:txBody>
          <a:bodyPr lIns="87840" tIns="43920" rIns="87840" bIns="43920" anchor="b">
            <a:noAutofit/>
          </a:bodyPr>
          <a:lstStyle/>
          <a:p>
            <a:pPr algn="r">
              <a:lnSpc>
                <a:spcPct val="100000"/>
              </a:lnSpc>
              <a:tabLst>
                <a:tab pos="0" algn="l"/>
              </a:tabLst>
            </a:pPr>
            <a:fld id="{03169864-505A-4E03-8E8E-3D27586EDE90}" type="slidenum">
              <a:rPr lang="en-US" sz="1200" b="0" strike="noStrike" spc="-1">
                <a:solidFill>
                  <a:srgbClr val="000000"/>
                </a:solidFill>
                <a:latin typeface="Times New Roman"/>
                <a:ea typeface="Times New Roman"/>
              </a:rPr>
              <a:t>13</a:t>
            </a:fld>
            <a:endParaRPr lang="en-US" sz="1200" b="0" strike="noStrike" spc="-1">
              <a:solidFill>
                <a:srgbClr val="000000"/>
              </a:solidFill>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 name="PlaceHolder 1"/>
          <p:cNvSpPr>
            <a:spLocks noGrp="1" noRot="1" noChangeAspect="1"/>
          </p:cNvSpPr>
          <p:nvPr>
            <p:ph type="sldImg"/>
          </p:nvPr>
        </p:nvSpPr>
        <p:spPr>
          <a:xfrm>
            <a:off x="1177920" y="696960"/>
            <a:ext cx="4636800" cy="3476520"/>
          </a:xfrm>
          <a:prstGeom prst="rect">
            <a:avLst/>
          </a:prstGeom>
          <a:ln w="0">
            <a:noFill/>
          </a:ln>
        </p:spPr>
      </p:sp>
      <p:sp>
        <p:nvSpPr>
          <p:cNvPr id="714" name="PlaceHolder 2"/>
          <p:cNvSpPr>
            <a:spLocks noGrp="1"/>
          </p:cNvSpPr>
          <p:nvPr>
            <p:ph type="body"/>
          </p:nvPr>
        </p:nvSpPr>
        <p:spPr>
          <a:xfrm>
            <a:off x="700200" y="4410000"/>
            <a:ext cx="5592600" cy="4171680"/>
          </a:xfrm>
          <a:prstGeom prst="rect">
            <a:avLst/>
          </a:prstGeom>
          <a:noFill/>
          <a:ln w="0">
            <a:noFill/>
          </a:ln>
        </p:spPr>
        <p:txBody>
          <a:bodyPr lIns="87840" tIns="43920" rIns="87840" bIns="43920" anchor="t">
            <a:noAutofit/>
          </a:bodyPr>
          <a:lstStyle/>
          <a:p>
            <a:pPr marL="216000" indent="-213840">
              <a:lnSpc>
                <a:spcPct val="100000"/>
              </a:lnSpc>
              <a:buNone/>
              <a:tabLst>
                <a:tab pos="0" algn="l"/>
              </a:tabLst>
            </a:pPr>
            <a:r>
              <a:rPr lang="en-US" sz="1800" b="0" strike="noStrike" spc="-1">
                <a:solidFill>
                  <a:srgbClr val="000000"/>
                </a:solidFill>
                <a:latin typeface="Arial"/>
              </a:rPr>
              <a:t>42 (base 10)</a:t>
            </a:r>
          </a:p>
        </p:txBody>
      </p:sp>
      <p:sp>
        <p:nvSpPr>
          <p:cNvPr id="715" name="CustomShape 3"/>
          <p:cNvSpPr/>
          <p:nvPr/>
        </p:nvSpPr>
        <p:spPr>
          <a:xfrm>
            <a:off x="3963960" y="8818560"/>
            <a:ext cx="3027240" cy="458640"/>
          </a:xfrm>
          <a:prstGeom prst="rect">
            <a:avLst/>
          </a:prstGeom>
          <a:noFill/>
          <a:ln w="0">
            <a:noFill/>
          </a:ln>
        </p:spPr>
        <p:style>
          <a:lnRef idx="0">
            <a:scrgbClr r="0" g="0" b="0"/>
          </a:lnRef>
          <a:fillRef idx="0">
            <a:scrgbClr r="0" g="0" b="0"/>
          </a:fillRef>
          <a:effectRef idx="0">
            <a:scrgbClr r="0" g="0" b="0"/>
          </a:effectRef>
          <a:fontRef idx="minor"/>
        </p:style>
        <p:txBody>
          <a:bodyPr lIns="87840" tIns="43920" rIns="87840" bIns="43920" anchor="b">
            <a:noAutofit/>
          </a:bodyPr>
          <a:lstStyle/>
          <a:p>
            <a:pPr algn="r">
              <a:lnSpc>
                <a:spcPct val="100000"/>
              </a:lnSpc>
              <a:tabLst>
                <a:tab pos="0" algn="l"/>
              </a:tabLst>
            </a:pPr>
            <a:fld id="{7A7471E0-AD62-417D-9A24-46CD887CE63E}" type="slidenum">
              <a:rPr lang="en-US" sz="1200" b="0" strike="noStrike" spc="-1">
                <a:solidFill>
                  <a:srgbClr val="000000"/>
                </a:solidFill>
                <a:latin typeface="Times New Roman"/>
                <a:ea typeface="Times New Roman"/>
              </a:rPr>
              <a:t>15</a:t>
            </a:fld>
            <a:endParaRPr lang="en-US" sz="1200" b="0" strike="noStrike" spc="-1">
              <a:solidFill>
                <a:srgbClr val="000000"/>
              </a:solidFill>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43"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66"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90"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91"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entered Text">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Tx" preserve="1">
  <p:cSld name="Title, 2 Content and Content">
    <p:spTree>
      <p:nvGrpSpPr>
        <p:cNvPr id="1" name=""/>
        <p:cNvGrpSpPr/>
        <p:nvPr/>
      </p:nvGrpSpPr>
      <p:grpSpPr>
        <a:xfrm>
          <a:off x="0" y="0"/>
          <a:ext cx="0" cy="0"/>
          <a:chOff x="0" y="0"/>
          <a:chExt cx="0" cy="0"/>
        </a:xfrm>
      </p:grpSpPr>
      <p:sp>
        <p:nvSpPr>
          <p:cNvPr id="15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56"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57"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58"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TwoObj" preserve="1">
  <p:cSld name="Title Content and 2 Content">
    <p:spTree>
      <p:nvGrpSpPr>
        <p:cNvPr id="1" name=""/>
        <p:cNvGrpSpPr/>
        <p:nvPr/>
      </p:nvGrpSpPr>
      <p:grpSpPr>
        <a:xfrm>
          <a:off x="0" y="0"/>
          <a:ext cx="0" cy="0"/>
          <a:chOff x="0" y="0"/>
          <a:chExt cx="0" cy="0"/>
        </a:xfrm>
      </p:grpSpPr>
      <p:sp>
        <p:nvSpPr>
          <p:cNvPr id="18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83"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84"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85"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10"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11"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12"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36"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37"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63"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64"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65"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66"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14315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Default 1">
    <p:spTree>
      <p:nvGrpSpPr>
        <p:cNvPr id="1" name=""/>
        <p:cNvGrpSpPr/>
        <p:nvPr/>
      </p:nvGrpSpPr>
      <p:grpSpPr>
        <a:xfrm>
          <a:off x="0" y="0"/>
          <a:ext cx="0" cy="0"/>
          <a:chOff x="0" y="0"/>
          <a:chExt cx="0" cy="0"/>
        </a:xfrm>
      </p:grpSpPr>
      <p:sp>
        <p:nvSpPr>
          <p:cNvPr id="328"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29"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Default 2">
    <p:spTree>
      <p:nvGrpSpPr>
        <p:cNvPr id="1" name=""/>
        <p:cNvGrpSpPr/>
        <p:nvPr/>
      </p:nvGrpSpPr>
      <p:grpSpPr>
        <a:xfrm>
          <a:off x="0" y="0"/>
          <a:ext cx="0" cy="0"/>
          <a:chOff x="0" y="0"/>
          <a:chExt cx="0" cy="0"/>
        </a:xfrm>
      </p:grpSpPr>
      <p:sp>
        <p:nvSpPr>
          <p:cNvPr id="351"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52"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efault 3">
    <p:spTree>
      <p:nvGrpSpPr>
        <p:cNvPr id="1" name=""/>
        <p:cNvGrpSpPr/>
        <p:nvPr/>
      </p:nvGrpSpPr>
      <p:grpSpPr>
        <a:xfrm>
          <a:off x="0" y="0"/>
          <a:ext cx="0" cy="0"/>
          <a:chOff x="0" y="0"/>
          <a:chExt cx="0" cy="0"/>
        </a:xfrm>
      </p:grpSpPr>
      <p:sp>
        <p:nvSpPr>
          <p:cNvPr id="37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76"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77"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Default 4">
    <p:spTree>
      <p:nvGrpSpPr>
        <p:cNvPr id="1" name=""/>
        <p:cNvGrpSpPr/>
        <p:nvPr/>
      </p:nvGrpSpPr>
      <p:grpSpPr>
        <a:xfrm>
          <a:off x="0" y="0"/>
          <a:ext cx="0" cy="0"/>
          <a:chOff x="0" y="0"/>
          <a:chExt cx="0" cy="0"/>
        </a:xfrm>
      </p:grpSpPr>
      <p:sp>
        <p:nvSpPr>
          <p:cNvPr id="398"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Default 5">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AndTx" preserve="1">
  <p:cSld name="Default 6">
    <p:spTree>
      <p:nvGrpSpPr>
        <p:cNvPr id="1" name=""/>
        <p:cNvGrpSpPr/>
        <p:nvPr/>
      </p:nvGrpSpPr>
      <p:grpSpPr>
        <a:xfrm>
          <a:off x="0" y="0"/>
          <a:ext cx="0" cy="0"/>
          <a:chOff x="0" y="0"/>
          <a:chExt cx="0" cy="0"/>
        </a:xfrm>
      </p:grpSpPr>
      <p:sp>
        <p:nvSpPr>
          <p:cNvPr id="441"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442"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43"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44"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TwoObj" preserve="1">
  <p:cSld name="Default 7">
    <p:spTree>
      <p:nvGrpSpPr>
        <p:cNvPr id="1" name=""/>
        <p:cNvGrpSpPr/>
        <p:nvPr/>
      </p:nvGrpSpPr>
      <p:grpSpPr>
        <a:xfrm>
          <a:off x="0" y="0"/>
          <a:ext cx="0" cy="0"/>
          <a:chOff x="0" y="0"/>
          <a:chExt cx="0" cy="0"/>
        </a:xfrm>
      </p:grpSpPr>
      <p:sp>
        <p:nvSpPr>
          <p:cNvPr id="468"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469"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70"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71"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OverTx" preserve="1">
  <p:cSld name="Default 8">
    <p:spTree>
      <p:nvGrpSpPr>
        <p:cNvPr id="1" name=""/>
        <p:cNvGrpSpPr/>
        <p:nvPr/>
      </p:nvGrpSpPr>
      <p:grpSpPr>
        <a:xfrm>
          <a:off x="0" y="0"/>
          <a:ext cx="0" cy="0"/>
          <a:chOff x="0" y="0"/>
          <a:chExt cx="0" cy="0"/>
        </a:xfrm>
      </p:grpSpPr>
      <p:sp>
        <p:nvSpPr>
          <p:cNvPr id="49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496"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97"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98"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verTx" preserve="1">
  <p:cSld name="Default 9">
    <p:spTree>
      <p:nvGrpSpPr>
        <p:cNvPr id="1" name=""/>
        <p:cNvGrpSpPr/>
        <p:nvPr/>
      </p:nvGrpSpPr>
      <p:grpSpPr>
        <a:xfrm>
          <a:off x="0" y="0"/>
          <a:ext cx="0" cy="0"/>
          <a:chOff x="0" y="0"/>
          <a:chExt cx="0" cy="0"/>
        </a:xfrm>
      </p:grpSpPr>
      <p:sp>
        <p:nvSpPr>
          <p:cNvPr id="521"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522"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23"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reserve="1">
  <p:cSld name="Default 10">
    <p:spTree>
      <p:nvGrpSpPr>
        <p:cNvPr id="1" name=""/>
        <p:cNvGrpSpPr/>
        <p:nvPr/>
      </p:nvGrpSpPr>
      <p:grpSpPr>
        <a:xfrm>
          <a:off x="0" y="0"/>
          <a:ext cx="0" cy="0"/>
          <a:chOff x="0" y="0"/>
          <a:chExt cx="0" cy="0"/>
        </a:xfrm>
      </p:grpSpPr>
      <p:sp>
        <p:nvSpPr>
          <p:cNvPr id="548"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549"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50"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51"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52"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Default 11">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4.xml"/><Relationship Id="rId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5.xml"/><Relationship Id="rId4"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6.xml"/><Relationship Id="rId1" Type="http://schemas.openxmlformats.org/officeDocument/2006/relationships/slideLayout" Target="../slideLayouts/slideLayout6.xml"/><Relationship Id="rId4" Type="http://schemas.openxmlformats.org/officeDocument/2006/relationships/image" Target="../media/image2.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7.xml"/><Relationship Id="rId1" Type="http://schemas.openxmlformats.org/officeDocument/2006/relationships/slideLayout" Target="../slideLayouts/slideLayout7.xml"/><Relationship Id="rId4"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8.xml"/><Relationship Id="rId1" Type="http://schemas.openxmlformats.org/officeDocument/2006/relationships/slideLayout" Target="../slideLayouts/slideLayout8.xml"/><Relationship Id="rId4" Type="http://schemas.openxmlformats.org/officeDocument/2006/relationships/image" Target="../media/image2.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9.xml"/><Relationship Id="rId4" Type="http://schemas.openxmlformats.org/officeDocument/2006/relationships/image" Target="../media/image2.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0.xml"/><Relationship Id="rId1" Type="http://schemas.openxmlformats.org/officeDocument/2006/relationships/slideLayout" Target="../slideLayouts/slideLayout10.xml"/><Relationship Id="rId4" Type="http://schemas.openxmlformats.org/officeDocument/2006/relationships/image" Target="../media/image2.png"/></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1.xml"/><Relationship Id="rId4" Type="http://schemas.openxmlformats.org/officeDocument/2006/relationships/image" Target="../media/image2.png"/></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2.xml"/><Relationship Id="rId1" Type="http://schemas.openxmlformats.org/officeDocument/2006/relationships/slideLayout" Target="../slideLayouts/slideLayout12.xml"/><Relationship Id="rId4" Type="http://schemas.openxmlformats.org/officeDocument/2006/relationships/image" Target="../media/image2.png"/></Relationships>
</file>

<file path=ppt/slideMasters/_rels/slideMaster13.xml.rels><?xml version="1.0" encoding="UTF-8" standalone="yes"?>
<Relationships xmlns="http://schemas.openxmlformats.org/package/2006/relationships"><Relationship Id="rId3" Type="http://schemas.openxmlformats.org/officeDocument/2006/relationships/theme" Target="../theme/theme1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3.png"/></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4.xml"/><Relationship Id="rId1" Type="http://schemas.openxmlformats.org/officeDocument/2006/relationships/slideLayout" Target="../slideLayouts/slideLayout15.xml"/><Relationship Id="rId4" Type="http://schemas.openxmlformats.org/officeDocument/2006/relationships/image" Target="../media/image4.png"/></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5.xml"/><Relationship Id="rId1" Type="http://schemas.openxmlformats.org/officeDocument/2006/relationships/slideLayout" Target="../slideLayouts/slideLayout16.xml"/><Relationship Id="rId4" Type="http://schemas.openxmlformats.org/officeDocument/2006/relationships/image" Target="../media/image4.png"/></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6.xml"/><Relationship Id="rId1" Type="http://schemas.openxmlformats.org/officeDocument/2006/relationships/slideLayout" Target="../slideLayouts/slideLayout17.xml"/><Relationship Id="rId4" Type="http://schemas.openxmlformats.org/officeDocument/2006/relationships/image" Target="../media/image4.png"/></Relationships>
</file>

<file path=ppt/slideMasters/_rels/slideMaster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7.xml"/><Relationship Id="rId1" Type="http://schemas.openxmlformats.org/officeDocument/2006/relationships/slideLayout" Target="../slideLayouts/slideLayout18.xml"/><Relationship Id="rId4" Type="http://schemas.openxmlformats.org/officeDocument/2006/relationships/image" Target="../media/image4.png"/></Relationships>
</file>

<file path=ppt/slideMasters/_rels/slideMaster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8.xml"/><Relationship Id="rId1" Type="http://schemas.openxmlformats.org/officeDocument/2006/relationships/slideLayout" Target="../slideLayouts/slideLayout19.xml"/><Relationship Id="rId4" Type="http://schemas.openxmlformats.org/officeDocument/2006/relationships/image" Target="../media/image4.png"/></Relationships>
</file>

<file path=ppt/slideMasters/_rels/slideMaster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9.xml"/><Relationship Id="rId1" Type="http://schemas.openxmlformats.org/officeDocument/2006/relationships/slideLayout" Target="../slideLayouts/slideLayout20.xml"/><Relationship Id="rId4" Type="http://schemas.openxmlformats.org/officeDocument/2006/relationships/image" Target="../media/image4.png"/></Relationships>
</file>

<file path=ppt/slideMasters/_rels/slideMaster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0.xml"/><Relationship Id="rId1" Type="http://schemas.openxmlformats.org/officeDocument/2006/relationships/slideLayout" Target="../slideLayouts/slideLayout21.xml"/><Relationship Id="rId4" Type="http://schemas.openxmlformats.org/officeDocument/2006/relationships/image" Target="../media/image4.png"/></Relationships>
</file>

<file path=ppt/slideMasters/_rels/slideMaster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1.xml"/><Relationship Id="rId1" Type="http://schemas.openxmlformats.org/officeDocument/2006/relationships/slideLayout" Target="../slideLayouts/slideLayout22.xml"/><Relationship Id="rId4" Type="http://schemas.openxmlformats.org/officeDocument/2006/relationships/image" Target="../media/image4.png"/></Relationships>
</file>

<file path=ppt/slideMasters/_rels/slideMaster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2.xml"/><Relationship Id="rId1" Type="http://schemas.openxmlformats.org/officeDocument/2006/relationships/slideLayout" Target="../slideLayouts/slideLayout23.xml"/><Relationship Id="rId4" Type="http://schemas.openxmlformats.org/officeDocument/2006/relationships/image" Target="../media/image4.png"/></Relationships>
</file>

<file path=ppt/slideMasters/_rels/slideMaster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3.xml"/><Relationship Id="rId1" Type="http://schemas.openxmlformats.org/officeDocument/2006/relationships/slideLayout" Target="../slideLayouts/slideLayout24.xml"/><Relationship Id="rId4" Type="http://schemas.openxmlformats.org/officeDocument/2006/relationships/image" Target="../media/image4.png"/></Relationships>
</file>

<file path=ppt/slideMasters/_rels/slideMaster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4.xml"/><Relationship Id="rId1" Type="http://schemas.openxmlformats.org/officeDocument/2006/relationships/slideLayout" Target="../slideLayouts/slideLayout25.xml"/><Relationship Id="rId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CustomShape 1"/>
          <p:cNvSpPr/>
          <p:nvPr/>
        </p:nvSpPr>
        <p:spPr>
          <a:xfrm>
            <a:off x="-3240" y="411480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22" name="CustomShape 2"/>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pic>
        <p:nvPicPr>
          <p:cNvPr id="2" name="Google Shape;12;p66" descr="ucsealTransp"/>
          <p:cNvPicPr/>
          <p:nvPr/>
        </p:nvPicPr>
        <p:blipFill>
          <a:blip r:embed="rId3"/>
          <a:stretch/>
        </p:blipFill>
        <p:spPr>
          <a:xfrm>
            <a:off x="0" y="5262480"/>
            <a:ext cx="1747440" cy="1590480"/>
          </a:xfrm>
          <a:prstGeom prst="rect">
            <a:avLst/>
          </a:prstGeom>
          <a:ln w="0">
            <a:noFill/>
          </a:ln>
        </p:spPr>
      </p:pic>
      <p:pic>
        <p:nvPicPr>
          <p:cNvPr id="3" name="Google Shape;13;p66" descr="slug-start-color-transp"/>
          <p:cNvPicPr/>
          <p:nvPr/>
        </p:nvPicPr>
        <p:blipFill>
          <a:blip r:embed="rId4"/>
          <a:stretch/>
        </p:blipFill>
        <p:spPr>
          <a:xfrm>
            <a:off x="7620120" y="5105520"/>
            <a:ext cx="1384200" cy="1660320"/>
          </a:xfrm>
          <a:prstGeom prst="rect">
            <a:avLst/>
          </a:prstGeom>
          <a:ln w="0">
            <a:noFill/>
          </a:ln>
        </p:spPr>
      </p:pic>
      <p:pic>
        <p:nvPicPr>
          <p:cNvPr id="4" name="Google Shape;14;p66" descr="ucsealTransp"/>
          <p:cNvPicPr/>
          <p:nvPr/>
        </p:nvPicPr>
        <p:blipFill>
          <a:blip r:embed="rId3"/>
          <a:stretch/>
        </p:blipFill>
        <p:spPr>
          <a:xfrm>
            <a:off x="0" y="5262480"/>
            <a:ext cx="1747440" cy="1590480"/>
          </a:xfrm>
          <a:prstGeom prst="rect">
            <a:avLst/>
          </a:prstGeom>
          <a:ln w="0">
            <a:noFill/>
          </a:ln>
        </p:spPr>
      </p:pic>
      <p:pic>
        <p:nvPicPr>
          <p:cNvPr id="5" name="Google Shape;15;p66" descr="slug-start-color-transp"/>
          <p:cNvPicPr/>
          <p:nvPr/>
        </p:nvPicPr>
        <p:blipFill>
          <a:blip r:embed="rId4"/>
          <a:stretch/>
        </p:blipFill>
        <p:spPr>
          <a:xfrm>
            <a:off x="7620120" y="5105520"/>
            <a:ext cx="1384200" cy="1660320"/>
          </a:xfrm>
          <a:prstGeom prst="rect">
            <a:avLst/>
          </a:prstGeom>
          <a:ln w="0">
            <a:noFill/>
          </a:ln>
        </p:spPr>
      </p:pic>
      <p:pic>
        <p:nvPicPr>
          <p:cNvPr id="6" name="Google Shape;16;p66" descr="ucsealTransp"/>
          <p:cNvPicPr/>
          <p:nvPr/>
        </p:nvPicPr>
        <p:blipFill>
          <a:blip r:embed="rId3"/>
          <a:stretch/>
        </p:blipFill>
        <p:spPr>
          <a:xfrm>
            <a:off x="0" y="5262480"/>
            <a:ext cx="1747440" cy="1590480"/>
          </a:xfrm>
          <a:prstGeom prst="rect">
            <a:avLst/>
          </a:prstGeom>
          <a:ln w="0">
            <a:noFill/>
          </a:ln>
        </p:spPr>
      </p:pic>
      <p:pic>
        <p:nvPicPr>
          <p:cNvPr id="7" name="Google Shape;17;p66" descr="ucsealTransp"/>
          <p:cNvPicPr/>
          <p:nvPr/>
        </p:nvPicPr>
        <p:blipFill>
          <a:blip r:embed="rId3"/>
          <a:stretch/>
        </p:blipFill>
        <p:spPr>
          <a:xfrm>
            <a:off x="0" y="5262480"/>
            <a:ext cx="1747440" cy="1590480"/>
          </a:xfrm>
          <a:prstGeom prst="rect">
            <a:avLst/>
          </a:prstGeom>
          <a:ln w="0">
            <a:noFill/>
          </a:ln>
        </p:spPr>
      </p:pic>
      <p:pic>
        <p:nvPicPr>
          <p:cNvPr id="8" name="Google Shape;18;p66" descr="slug-start-color-transp"/>
          <p:cNvPicPr/>
          <p:nvPr/>
        </p:nvPicPr>
        <p:blipFill>
          <a:blip r:embed="rId4"/>
          <a:stretch/>
        </p:blipFill>
        <p:spPr>
          <a:xfrm>
            <a:off x="7620120" y="5105520"/>
            <a:ext cx="1384200" cy="1660320"/>
          </a:xfrm>
          <a:prstGeom prst="rect">
            <a:avLst/>
          </a:prstGeom>
          <a:ln w="0">
            <a:noFill/>
          </a:ln>
        </p:spPr>
      </p:pic>
      <p:pic>
        <p:nvPicPr>
          <p:cNvPr id="9" name="Google Shape;19;p66" descr="ucsealTransp"/>
          <p:cNvPicPr/>
          <p:nvPr/>
        </p:nvPicPr>
        <p:blipFill>
          <a:blip r:embed="rId3"/>
          <a:stretch/>
        </p:blipFill>
        <p:spPr>
          <a:xfrm>
            <a:off x="0" y="5262480"/>
            <a:ext cx="1747440" cy="1590480"/>
          </a:xfrm>
          <a:prstGeom prst="rect">
            <a:avLst/>
          </a:prstGeom>
          <a:ln w="0">
            <a:noFill/>
          </a:ln>
        </p:spPr>
      </p:pic>
      <p:pic>
        <p:nvPicPr>
          <p:cNvPr id="10" name="Google Shape;20;p66" descr="ucsealTransp"/>
          <p:cNvPicPr/>
          <p:nvPr/>
        </p:nvPicPr>
        <p:blipFill>
          <a:blip r:embed="rId3"/>
          <a:stretch/>
        </p:blipFill>
        <p:spPr>
          <a:xfrm>
            <a:off x="0" y="5262480"/>
            <a:ext cx="1747440" cy="1590480"/>
          </a:xfrm>
          <a:prstGeom prst="rect">
            <a:avLst/>
          </a:prstGeom>
          <a:ln w="0">
            <a:noFill/>
          </a:ln>
        </p:spPr>
      </p:pic>
      <p:pic>
        <p:nvPicPr>
          <p:cNvPr id="11" name="Google Shape;21;p66" descr="slug-start-color-transp"/>
          <p:cNvPicPr/>
          <p:nvPr/>
        </p:nvPicPr>
        <p:blipFill>
          <a:blip r:embed="rId4"/>
          <a:stretch/>
        </p:blipFill>
        <p:spPr>
          <a:xfrm>
            <a:off x="7620120" y="5105520"/>
            <a:ext cx="1384200" cy="1660320"/>
          </a:xfrm>
          <a:prstGeom prst="rect">
            <a:avLst/>
          </a:prstGeom>
          <a:ln w="0">
            <a:noFill/>
          </a:ln>
        </p:spPr>
      </p:pic>
      <p:pic>
        <p:nvPicPr>
          <p:cNvPr id="12" name="Google Shape;22;p66" descr="ucsealTransp"/>
          <p:cNvPicPr/>
          <p:nvPr/>
        </p:nvPicPr>
        <p:blipFill>
          <a:blip r:embed="rId3"/>
          <a:stretch/>
        </p:blipFill>
        <p:spPr>
          <a:xfrm>
            <a:off x="0" y="5262480"/>
            <a:ext cx="1747440" cy="1590480"/>
          </a:xfrm>
          <a:prstGeom prst="rect">
            <a:avLst/>
          </a:prstGeom>
          <a:ln w="0">
            <a:noFill/>
          </a:ln>
        </p:spPr>
      </p:pic>
      <p:pic>
        <p:nvPicPr>
          <p:cNvPr id="13" name="Google Shape;23;p66" descr="ucsealTransp"/>
          <p:cNvPicPr/>
          <p:nvPr/>
        </p:nvPicPr>
        <p:blipFill>
          <a:blip r:embed="rId3"/>
          <a:stretch/>
        </p:blipFill>
        <p:spPr>
          <a:xfrm>
            <a:off x="0" y="5262480"/>
            <a:ext cx="1747440" cy="1590480"/>
          </a:xfrm>
          <a:prstGeom prst="rect">
            <a:avLst/>
          </a:prstGeom>
          <a:ln w="0">
            <a:noFill/>
          </a:ln>
        </p:spPr>
      </p:pic>
      <p:pic>
        <p:nvPicPr>
          <p:cNvPr id="14" name="Google Shape;24;p66" descr="ucsealTransp"/>
          <p:cNvPicPr/>
          <p:nvPr/>
        </p:nvPicPr>
        <p:blipFill>
          <a:blip r:embed="rId3"/>
          <a:stretch/>
        </p:blipFill>
        <p:spPr>
          <a:xfrm>
            <a:off x="0" y="5262480"/>
            <a:ext cx="1747440" cy="1590480"/>
          </a:xfrm>
          <a:prstGeom prst="rect">
            <a:avLst/>
          </a:prstGeom>
          <a:ln w="0">
            <a:noFill/>
          </a:ln>
        </p:spPr>
      </p:pic>
      <p:pic>
        <p:nvPicPr>
          <p:cNvPr id="15" name="Google Shape;25;p66" descr="slug-start-color-transp"/>
          <p:cNvPicPr/>
          <p:nvPr/>
        </p:nvPicPr>
        <p:blipFill>
          <a:blip r:embed="rId4"/>
          <a:stretch/>
        </p:blipFill>
        <p:spPr>
          <a:xfrm>
            <a:off x="7620120" y="5105520"/>
            <a:ext cx="1384200" cy="1660320"/>
          </a:xfrm>
          <a:prstGeom prst="rect">
            <a:avLst/>
          </a:prstGeom>
          <a:ln w="0">
            <a:noFill/>
          </a:ln>
        </p:spPr>
      </p:pic>
      <p:pic>
        <p:nvPicPr>
          <p:cNvPr id="16" name="Google Shape;26;p66" descr="ucsealTransp"/>
          <p:cNvPicPr/>
          <p:nvPr/>
        </p:nvPicPr>
        <p:blipFill>
          <a:blip r:embed="rId3"/>
          <a:stretch/>
        </p:blipFill>
        <p:spPr>
          <a:xfrm>
            <a:off x="0" y="5262480"/>
            <a:ext cx="1747440" cy="1590480"/>
          </a:xfrm>
          <a:prstGeom prst="rect">
            <a:avLst/>
          </a:prstGeom>
          <a:ln w="0">
            <a:noFill/>
          </a:ln>
        </p:spPr>
      </p:pic>
      <p:pic>
        <p:nvPicPr>
          <p:cNvPr id="17" name="Google Shape;27;p66" descr="ucsealTransp"/>
          <p:cNvPicPr/>
          <p:nvPr/>
        </p:nvPicPr>
        <p:blipFill>
          <a:blip r:embed="rId3"/>
          <a:stretch/>
        </p:blipFill>
        <p:spPr>
          <a:xfrm>
            <a:off x="0" y="5262480"/>
            <a:ext cx="1747440" cy="1590480"/>
          </a:xfrm>
          <a:prstGeom prst="rect">
            <a:avLst/>
          </a:prstGeom>
          <a:ln w="0">
            <a:noFill/>
          </a:ln>
        </p:spPr>
      </p:pic>
      <p:pic>
        <p:nvPicPr>
          <p:cNvPr id="18" name="Google Shape;28;p66" descr="slug-start-color-transp"/>
          <p:cNvPicPr/>
          <p:nvPr/>
        </p:nvPicPr>
        <p:blipFill>
          <a:blip r:embed="rId4"/>
          <a:stretch/>
        </p:blipFill>
        <p:spPr>
          <a:xfrm>
            <a:off x="7620120" y="5105520"/>
            <a:ext cx="1384200" cy="1660320"/>
          </a:xfrm>
          <a:prstGeom prst="rect">
            <a:avLst/>
          </a:prstGeom>
          <a:ln w="0">
            <a:noFill/>
          </a:ln>
        </p:spPr>
      </p:pic>
      <p:sp>
        <p:nvSpPr>
          <p:cNvPr id="1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20"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CustomShape 1"/>
          <p:cNvSpPr/>
          <p:nvPr/>
        </p:nvSpPr>
        <p:spPr>
          <a:xfrm>
            <a:off x="-3240" y="411480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22" name="CustomShape 2"/>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pic>
        <p:nvPicPr>
          <p:cNvPr id="23" name="Google Shape;12;p66" descr="ucsealTransp"/>
          <p:cNvPicPr/>
          <p:nvPr/>
        </p:nvPicPr>
        <p:blipFill>
          <a:blip r:embed="rId3"/>
          <a:stretch/>
        </p:blipFill>
        <p:spPr>
          <a:xfrm>
            <a:off x="0" y="5262480"/>
            <a:ext cx="1747440" cy="1590480"/>
          </a:xfrm>
          <a:prstGeom prst="rect">
            <a:avLst/>
          </a:prstGeom>
          <a:ln w="0">
            <a:noFill/>
          </a:ln>
        </p:spPr>
      </p:pic>
      <p:pic>
        <p:nvPicPr>
          <p:cNvPr id="24" name="Google Shape;13;p66" descr="slug-start-color-transp"/>
          <p:cNvPicPr/>
          <p:nvPr/>
        </p:nvPicPr>
        <p:blipFill>
          <a:blip r:embed="rId4"/>
          <a:stretch/>
        </p:blipFill>
        <p:spPr>
          <a:xfrm>
            <a:off x="7620120" y="5105520"/>
            <a:ext cx="1384200" cy="1660320"/>
          </a:xfrm>
          <a:prstGeom prst="rect">
            <a:avLst/>
          </a:prstGeom>
          <a:ln w="0">
            <a:noFill/>
          </a:ln>
        </p:spPr>
      </p:pic>
      <p:pic>
        <p:nvPicPr>
          <p:cNvPr id="25" name="Google Shape;14;p66" descr="ucsealTransp"/>
          <p:cNvPicPr/>
          <p:nvPr/>
        </p:nvPicPr>
        <p:blipFill>
          <a:blip r:embed="rId3"/>
          <a:stretch/>
        </p:blipFill>
        <p:spPr>
          <a:xfrm>
            <a:off x="0" y="5262480"/>
            <a:ext cx="1747440" cy="1590480"/>
          </a:xfrm>
          <a:prstGeom prst="rect">
            <a:avLst/>
          </a:prstGeom>
          <a:ln w="0">
            <a:noFill/>
          </a:ln>
        </p:spPr>
      </p:pic>
      <p:pic>
        <p:nvPicPr>
          <p:cNvPr id="26" name="Google Shape;15;p66" descr="slug-start-color-transp"/>
          <p:cNvPicPr/>
          <p:nvPr/>
        </p:nvPicPr>
        <p:blipFill>
          <a:blip r:embed="rId4"/>
          <a:stretch/>
        </p:blipFill>
        <p:spPr>
          <a:xfrm>
            <a:off x="7620120" y="5105520"/>
            <a:ext cx="1384200" cy="1660320"/>
          </a:xfrm>
          <a:prstGeom prst="rect">
            <a:avLst/>
          </a:prstGeom>
          <a:ln w="0">
            <a:noFill/>
          </a:ln>
        </p:spPr>
      </p:pic>
      <p:pic>
        <p:nvPicPr>
          <p:cNvPr id="27" name="Google Shape;16;p66" descr="ucsealTransp"/>
          <p:cNvPicPr/>
          <p:nvPr/>
        </p:nvPicPr>
        <p:blipFill>
          <a:blip r:embed="rId3"/>
          <a:stretch/>
        </p:blipFill>
        <p:spPr>
          <a:xfrm>
            <a:off x="0" y="5262480"/>
            <a:ext cx="1747440" cy="1590480"/>
          </a:xfrm>
          <a:prstGeom prst="rect">
            <a:avLst/>
          </a:prstGeom>
          <a:ln w="0">
            <a:noFill/>
          </a:ln>
        </p:spPr>
      </p:pic>
      <p:pic>
        <p:nvPicPr>
          <p:cNvPr id="28" name="Google Shape;17;p66" descr="ucsealTransp"/>
          <p:cNvPicPr/>
          <p:nvPr/>
        </p:nvPicPr>
        <p:blipFill>
          <a:blip r:embed="rId3"/>
          <a:stretch/>
        </p:blipFill>
        <p:spPr>
          <a:xfrm>
            <a:off x="0" y="5262480"/>
            <a:ext cx="1747440" cy="1590480"/>
          </a:xfrm>
          <a:prstGeom prst="rect">
            <a:avLst/>
          </a:prstGeom>
          <a:ln w="0">
            <a:noFill/>
          </a:ln>
        </p:spPr>
      </p:pic>
      <p:pic>
        <p:nvPicPr>
          <p:cNvPr id="29" name="Google Shape;18;p66" descr="slug-start-color-transp"/>
          <p:cNvPicPr/>
          <p:nvPr/>
        </p:nvPicPr>
        <p:blipFill>
          <a:blip r:embed="rId4"/>
          <a:stretch/>
        </p:blipFill>
        <p:spPr>
          <a:xfrm>
            <a:off x="7620120" y="5105520"/>
            <a:ext cx="1384200" cy="1660320"/>
          </a:xfrm>
          <a:prstGeom prst="rect">
            <a:avLst/>
          </a:prstGeom>
          <a:ln w="0">
            <a:noFill/>
          </a:ln>
        </p:spPr>
      </p:pic>
      <p:pic>
        <p:nvPicPr>
          <p:cNvPr id="30" name="Google Shape;19;p66" descr="ucsealTransp"/>
          <p:cNvPicPr/>
          <p:nvPr/>
        </p:nvPicPr>
        <p:blipFill>
          <a:blip r:embed="rId3"/>
          <a:stretch/>
        </p:blipFill>
        <p:spPr>
          <a:xfrm>
            <a:off x="0" y="5262480"/>
            <a:ext cx="1747440" cy="1590480"/>
          </a:xfrm>
          <a:prstGeom prst="rect">
            <a:avLst/>
          </a:prstGeom>
          <a:ln w="0">
            <a:noFill/>
          </a:ln>
        </p:spPr>
      </p:pic>
      <p:pic>
        <p:nvPicPr>
          <p:cNvPr id="31" name="Google Shape;20;p66" descr="ucsealTransp"/>
          <p:cNvPicPr/>
          <p:nvPr/>
        </p:nvPicPr>
        <p:blipFill>
          <a:blip r:embed="rId3"/>
          <a:stretch/>
        </p:blipFill>
        <p:spPr>
          <a:xfrm>
            <a:off x="0" y="5262480"/>
            <a:ext cx="1747440" cy="1590480"/>
          </a:xfrm>
          <a:prstGeom prst="rect">
            <a:avLst/>
          </a:prstGeom>
          <a:ln w="0">
            <a:noFill/>
          </a:ln>
        </p:spPr>
      </p:pic>
      <p:pic>
        <p:nvPicPr>
          <p:cNvPr id="32" name="Google Shape;21;p66" descr="slug-start-color-transp"/>
          <p:cNvPicPr/>
          <p:nvPr/>
        </p:nvPicPr>
        <p:blipFill>
          <a:blip r:embed="rId4"/>
          <a:stretch/>
        </p:blipFill>
        <p:spPr>
          <a:xfrm>
            <a:off x="7620120" y="5105520"/>
            <a:ext cx="1384200" cy="1660320"/>
          </a:xfrm>
          <a:prstGeom prst="rect">
            <a:avLst/>
          </a:prstGeom>
          <a:ln w="0">
            <a:noFill/>
          </a:ln>
        </p:spPr>
      </p:pic>
      <p:pic>
        <p:nvPicPr>
          <p:cNvPr id="33" name="Google Shape;22;p66" descr="ucsealTransp"/>
          <p:cNvPicPr/>
          <p:nvPr/>
        </p:nvPicPr>
        <p:blipFill>
          <a:blip r:embed="rId3"/>
          <a:stretch/>
        </p:blipFill>
        <p:spPr>
          <a:xfrm>
            <a:off x="0" y="5262480"/>
            <a:ext cx="1747440" cy="1590480"/>
          </a:xfrm>
          <a:prstGeom prst="rect">
            <a:avLst/>
          </a:prstGeom>
          <a:ln w="0">
            <a:noFill/>
          </a:ln>
        </p:spPr>
      </p:pic>
      <p:pic>
        <p:nvPicPr>
          <p:cNvPr id="34" name="Google Shape;23;p66" descr="ucsealTransp"/>
          <p:cNvPicPr/>
          <p:nvPr/>
        </p:nvPicPr>
        <p:blipFill>
          <a:blip r:embed="rId3"/>
          <a:stretch/>
        </p:blipFill>
        <p:spPr>
          <a:xfrm>
            <a:off x="0" y="5262480"/>
            <a:ext cx="1747440" cy="1590480"/>
          </a:xfrm>
          <a:prstGeom prst="rect">
            <a:avLst/>
          </a:prstGeom>
          <a:ln w="0">
            <a:noFill/>
          </a:ln>
        </p:spPr>
      </p:pic>
      <p:pic>
        <p:nvPicPr>
          <p:cNvPr id="35" name="Google Shape;24;p66" descr="ucsealTransp"/>
          <p:cNvPicPr/>
          <p:nvPr/>
        </p:nvPicPr>
        <p:blipFill>
          <a:blip r:embed="rId3"/>
          <a:stretch/>
        </p:blipFill>
        <p:spPr>
          <a:xfrm>
            <a:off x="0" y="5262480"/>
            <a:ext cx="1747440" cy="1590480"/>
          </a:xfrm>
          <a:prstGeom prst="rect">
            <a:avLst/>
          </a:prstGeom>
          <a:ln w="0">
            <a:noFill/>
          </a:ln>
        </p:spPr>
      </p:pic>
      <p:pic>
        <p:nvPicPr>
          <p:cNvPr id="36" name="Google Shape;25;p66" descr="slug-start-color-transp"/>
          <p:cNvPicPr/>
          <p:nvPr/>
        </p:nvPicPr>
        <p:blipFill>
          <a:blip r:embed="rId4"/>
          <a:stretch/>
        </p:blipFill>
        <p:spPr>
          <a:xfrm>
            <a:off x="7620120" y="5105520"/>
            <a:ext cx="1384200" cy="1660320"/>
          </a:xfrm>
          <a:prstGeom prst="rect">
            <a:avLst/>
          </a:prstGeom>
          <a:ln w="0">
            <a:noFill/>
          </a:ln>
        </p:spPr>
      </p:pic>
      <p:pic>
        <p:nvPicPr>
          <p:cNvPr id="37" name="Google Shape;26;p66" descr="ucsealTransp"/>
          <p:cNvPicPr/>
          <p:nvPr/>
        </p:nvPicPr>
        <p:blipFill>
          <a:blip r:embed="rId3"/>
          <a:stretch/>
        </p:blipFill>
        <p:spPr>
          <a:xfrm>
            <a:off x="0" y="5262480"/>
            <a:ext cx="1747440" cy="1590480"/>
          </a:xfrm>
          <a:prstGeom prst="rect">
            <a:avLst/>
          </a:prstGeom>
          <a:ln w="0">
            <a:noFill/>
          </a:ln>
        </p:spPr>
      </p:pic>
      <p:pic>
        <p:nvPicPr>
          <p:cNvPr id="38" name="Google Shape;27;p66" descr="ucsealTransp"/>
          <p:cNvPicPr/>
          <p:nvPr/>
        </p:nvPicPr>
        <p:blipFill>
          <a:blip r:embed="rId3"/>
          <a:stretch/>
        </p:blipFill>
        <p:spPr>
          <a:xfrm>
            <a:off x="0" y="5262480"/>
            <a:ext cx="1747440" cy="1590480"/>
          </a:xfrm>
          <a:prstGeom prst="rect">
            <a:avLst/>
          </a:prstGeom>
          <a:ln w="0">
            <a:noFill/>
          </a:ln>
        </p:spPr>
      </p:pic>
      <p:pic>
        <p:nvPicPr>
          <p:cNvPr id="39" name="Google Shape;28;p66" descr="slug-start-color-transp"/>
          <p:cNvPicPr/>
          <p:nvPr/>
        </p:nvPicPr>
        <p:blipFill>
          <a:blip r:embed="rId4"/>
          <a:stretch/>
        </p:blipFill>
        <p:spPr>
          <a:xfrm>
            <a:off x="7620120" y="5105520"/>
            <a:ext cx="1384200" cy="1660320"/>
          </a:xfrm>
          <a:prstGeom prst="rect">
            <a:avLst/>
          </a:prstGeom>
          <a:ln w="0">
            <a:noFill/>
          </a:ln>
        </p:spPr>
      </p:pic>
      <p:sp>
        <p:nvSpPr>
          <p:cNvPr id="40" name="PlaceHolder 1"/>
          <p:cNvSpPr>
            <a:spLocks noGrp="1"/>
          </p:cNvSpPr>
          <p:nvPr>
            <p:ph type="title"/>
          </p:nvPr>
        </p:nvSpPr>
        <p:spPr>
          <a:xfrm>
            <a:off x="457200" y="273600"/>
            <a:ext cx="8228880" cy="114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41"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CustomShape 1"/>
          <p:cNvSpPr/>
          <p:nvPr/>
        </p:nvSpPr>
        <p:spPr>
          <a:xfrm>
            <a:off x="-3240" y="411480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45" name="CustomShape 2"/>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pic>
        <p:nvPicPr>
          <p:cNvPr id="46" name="Google Shape;12;p66" descr="ucsealTransp"/>
          <p:cNvPicPr/>
          <p:nvPr/>
        </p:nvPicPr>
        <p:blipFill>
          <a:blip r:embed="rId3"/>
          <a:stretch/>
        </p:blipFill>
        <p:spPr>
          <a:xfrm>
            <a:off x="0" y="5262480"/>
            <a:ext cx="1747440" cy="1590480"/>
          </a:xfrm>
          <a:prstGeom prst="rect">
            <a:avLst/>
          </a:prstGeom>
          <a:ln w="0">
            <a:noFill/>
          </a:ln>
        </p:spPr>
      </p:pic>
      <p:pic>
        <p:nvPicPr>
          <p:cNvPr id="47" name="Google Shape;13;p66" descr="slug-start-color-transp"/>
          <p:cNvPicPr/>
          <p:nvPr/>
        </p:nvPicPr>
        <p:blipFill>
          <a:blip r:embed="rId4"/>
          <a:stretch/>
        </p:blipFill>
        <p:spPr>
          <a:xfrm>
            <a:off x="7620120" y="5105520"/>
            <a:ext cx="1384200" cy="1660320"/>
          </a:xfrm>
          <a:prstGeom prst="rect">
            <a:avLst/>
          </a:prstGeom>
          <a:ln w="0">
            <a:noFill/>
          </a:ln>
        </p:spPr>
      </p:pic>
      <p:pic>
        <p:nvPicPr>
          <p:cNvPr id="48" name="Google Shape;14;p66" descr="ucsealTransp"/>
          <p:cNvPicPr/>
          <p:nvPr/>
        </p:nvPicPr>
        <p:blipFill>
          <a:blip r:embed="rId3"/>
          <a:stretch/>
        </p:blipFill>
        <p:spPr>
          <a:xfrm>
            <a:off x="0" y="5262480"/>
            <a:ext cx="1747440" cy="1590480"/>
          </a:xfrm>
          <a:prstGeom prst="rect">
            <a:avLst/>
          </a:prstGeom>
          <a:ln w="0">
            <a:noFill/>
          </a:ln>
        </p:spPr>
      </p:pic>
      <p:pic>
        <p:nvPicPr>
          <p:cNvPr id="49" name="Google Shape;15;p66" descr="slug-start-color-transp"/>
          <p:cNvPicPr/>
          <p:nvPr/>
        </p:nvPicPr>
        <p:blipFill>
          <a:blip r:embed="rId4"/>
          <a:stretch/>
        </p:blipFill>
        <p:spPr>
          <a:xfrm>
            <a:off x="7620120" y="5105520"/>
            <a:ext cx="1384200" cy="1660320"/>
          </a:xfrm>
          <a:prstGeom prst="rect">
            <a:avLst/>
          </a:prstGeom>
          <a:ln w="0">
            <a:noFill/>
          </a:ln>
        </p:spPr>
      </p:pic>
      <p:pic>
        <p:nvPicPr>
          <p:cNvPr id="50" name="Google Shape;16;p66" descr="ucsealTransp"/>
          <p:cNvPicPr/>
          <p:nvPr/>
        </p:nvPicPr>
        <p:blipFill>
          <a:blip r:embed="rId3"/>
          <a:stretch/>
        </p:blipFill>
        <p:spPr>
          <a:xfrm>
            <a:off x="0" y="5262480"/>
            <a:ext cx="1747440" cy="1590480"/>
          </a:xfrm>
          <a:prstGeom prst="rect">
            <a:avLst/>
          </a:prstGeom>
          <a:ln w="0">
            <a:noFill/>
          </a:ln>
        </p:spPr>
      </p:pic>
      <p:pic>
        <p:nvPicPr>
          <p:cNvPr id="51" name="Google Shape;17;p66" descr="ucsealTransp"/>
          <p:cNvPicPr/>
          <p:nvPr/>
        </p:nvPicPr>
        <p:blipFill>
          <a:blip r:embed="rId3"/>
          <a:stretch/>
        </p:blipFill>
        <p:spPr>
          <a:xfrm>
            <a:off x="0" y="5262480"/>
            <a:ext cx="1747440" cy="1590480"/>
          </a:xfrm>
          <a:prstGeom prst="rect">
            <a:avLst/>
          </a:prstGeom>
          <a:ln w="0">
            <a:noFill/>
          </a:ln>
        </p:spPr>
      </p:pic>
      <p:pic>
        <p:nvPicPr>
          <p:cNvPr id="52" name="Google Shape;18;p66" descr="slug-start-color-transp"/>
          <p:cNvPicPr/>
          <p:nvPr/>
        </p:nvPicPr>
        <p:blipFill>
          <a:blip r:embed="rId4"/>
          <a:stretch/>
        </p:blipFill>
        <p:spPr>
          <a:xfrm>
            <a:off x="7620120" y="5105520"/>
            <a:ext cx="1384200" cy="1660320"/>
          </a:xfrm>
          <a:prstGeom prst="rect">
            <a:avLst/>
          </a:prstGeom>
          <a:ln w="0">
            <a:noFill/>
          </a:ln>
        </p:spPr>
      </p:pic>
      <p:pic>
        <p:nvPicPr>
          <p:cNvPr id="53" name="Google Shape;19;p66" descr="ucsealTransp"/>
          <p:cNvPicPr/>
          <p:nvPr/>
        </p:nvPicPr>
        <p:blipFill>
          <a:blip r:embed="rId3"/>
          <a:stretch/>
        </p:blipFill>
        <p:spPr>
          <a:xfrm>
            <a:off x="0" y="5262480"/>
            <a:ext cx="1747440" cy="1590480"/>
          </a:xfrm>
          <a:prstGeom prst="rect">
            <a:avLst/>
          </a:prstGeom>
          <a:ln w="0">
            <a:noFill/>
          </a:ln>
        </p:spPr>
      </p:pic>
      <p:pic>
        <p:nvPicPr>
          <p:cNvPr id="54" name="Google Shape;20;p66" descr="ucsealTransp"/>
          <p:cNvPicPr/>
          <p:nvPr/>
        </p:nvPicPr>
        <p:blipFill>
          <a:blip r:embed="rId3"/>
          <a:stretch/>
        </p:blipFill>
        <p:spPr>
          <a:xfrm>
            <a:off x="0" y="5262480"/>
            <a:ext cx="1747440" cy="1590480"/>
          </a:xfrm>
          <a:prstGeom prst="rect">
            <a:avLst/>
          </a:prstGeom>
          <a:ln w="0">
            <a:noFill/>
          </a:ln>
        </p:spPr>
      </p:pic>
      <p:pic>
        <p:nvPicPr>
          <p:cNvPr id="55" name="Google Shape;21;p66" descr="slug-start-color-transp"/>
          <p:cNvPicPr/>
          <p:nvPr/>
        </p:nvPicPr>
        <p:blipFill>
          <a:blip r:embed="rId4"/>
          <a:stretch/>
        </p:blipFill>
        <p:spPr>
          <a:xfrm>
            <a:off x="7620120" y="5105520"/>
            <a:ext cx="1384200" cy="1660320"/>
          </a:xfrm>
          <a:prstGeom prst="rect">
            <a:avLst/>
          </a:prstGeom>
          <a:ln w="0">
            <a:noFill/>
          </a:ln>
        </p:spPr>
      </p:pic>
      <p:pic>
        <p:nvPicPr>
          <p:cNvPr id="56" name="Google Shape;22;p66" descr="ucsealTransp"/>
          <p:cNvPicPr/>
          <p:nvPr/>
        </p:nvPicPr>
        <p:blipFill>
          <a:blip r:embed="rId3"/>
          <a:stretch/>
        </p:blipFill>
        <p:spPr>
          <a:xfrm>
            <a:off x="0" y="5262480"/>
            <a:ext cx="1747440" cy="1590480"/>
          </a:xfrm>
          <a:prstGeom prst="rect">
            <a:avLst/>
          </a:prstGeom>
          <a:ln w="0">
            <a:noFill/>
          </a:ln>
        </p:spPr>
      </p:pic>
      <p:pic>
        <p:nvPicPr>
          <p:cNvPr id="57" name="Google Shape;23;p66" descr="ucsealTransp"/>
          <p:cNvPicPr/>
          <p:nvPr/>
        </p:nvPicPr>
        <p:blipFill>
          <a:blip r:embed="rId3"/>
          <a:stretch/>
        </p:blipFill>
        <p:spPr>
          <a:xfrm>
            <a:off x="0" y="5262480"/>
            <a:ext cx="1747440" cy="1590480"/>
          </a:xfrm>
          <a:prstGeom prst="rect">
            <a:avLst/>
          </a:prstGeom>
          <a:ln w="0">
            <a:noFill/>
          </a:ln>
        </p:spPr>
      </p:pic>
      <p:pic>
        <p:nvPicPr>
          <p:cNvPr id="58" name="Google Shape;24;p66" descr="ucsealTransp"/>
          <p:cNvPicPr/>
          <p:nvPr/>
        </p:nvPicPr>
        <p:blipFill>
          <a:blip r:embed="rId3"/>
          <a:stretch/>
        </p:blipFill>
        <p:spPr>
          <a:xfrm>
            <a:off x="0" y="5262480"/>
            <a:ext cx="1747440" cy="1590480"/>
          </a:xfrm>
          <a:prstGeom prst="rect">
            <a:avLst/>
          </a:prstGeom>
          <a:ln w="0">
            <a:noFill/>
          </a:ln>
        </p:spPr>
      </p:pic>
      <p:pic>
        <p:nvPicPr>
          <p:cNvPr id="59" name="Google Shape;25;p66" descr="slug-start-color-transp"/>
          <p:cNvPicPr/>
          <p:nvPr/>
        </p:nvPicPr>
        <p:blipFill>
          <a:blip r:embed="rId4"/>
          <a:stretch/>
        </p:blipFill>
        <p:spPr>
          <a:xfrm>
            <a:off x="7620120" y="5105520"/>
            <a:ext cx="1384200" cy="1660320"/>
          </a:xfrm>
          <a:prstGeom prst="rect">
            <a:avLst/>
          </a:prstGeom>
          <a:ln w="0">
            <a:noFill/>
          </a:ln>
        </p:spPr>
      </p:pic>
      <p:pic>
        <p:nvPicPr>
          <p:cNvPr id="60" name="Google Shape;26;p66" descr="ucsealTransp"/>
          <p:cNvPicPr/>
          <p:nvPr/>
        </p:nvPicPr>
        <p:blipFill>
          <a:blip r:embed="rId3"/>
          <a:stretch/>
        </p:blipFill>
        <p:spPr>
          <a:xfrm>
            <a:off x="0" y="5262480"/>
            <a:ext cx="1747440" cy="1590480"/>
          </a:xfrm>
          <a:prstGeom prst="rect">
            <a:avLst/>
          </a:prstGeom>
          <a:ln w="0">
            <a:noFill/>
          </a:ln>
        </p:spPr>
      </p:pic>
      <p:pic>
        <p:nvPicPr>
          <p:cNvPr id="61" name="Google Shape;27;p66" descr="ucsealTransp"/>
          <p:cNvPicPr/>
          <p:nvPr/>
        </p:nvPicPr>
        <p:blipFill>
          <a:blip r:embed="rId3"/>
          <a:stretch/>
        </p:blipFill>
        <p:spPr>
          <a:xfrm>
            <a:off x="0" y="5262480"/>
            <a:ext cx="1747440" cy="1590480"/>
          </a:xfrm>
          <a:prstGeom prst="rect">
            <a:avLst/>
          </a:prstGeom>
          <a:ln w="0">
            <a:noFill/>
          </a:ln>
        </p:spPr>
      </p:pic>
      <p:pic>
        <p:nvPicPr>
          <p:cNvPr id="62" name="Google Shape;28;p66" descr="slug-start-color-transp"/>
          <p:cNvPicPr/>
          <p:nvPr/>
        </p:nvPicPr>
        <p:blipFill>
          <a:blip r:embed="rId4"/>
          <a:stretch/>
        </p:blipFill>
        <p:spPr>
          <a:xfrm>
            <a:off x="7620120" y="5105520"/>
            <a:ext cx="1384200" cy="1660320"/>
          </a:xfrm>
          <a:prstGeom prst="rect">
            <a:avLst/>
          </a:prstGeom>
          <a:ln w="0">
            <a:noFill/>
          </a:ln>
        </p:spPr>
      </p:pic>
      <p:sp>
        <p:nvSpPr>
          <p:cNvPr id="63" name="PlaceHolder 1"/>
          <p:cNvSpPr>
            <a:spLocks noGrp="1"/>
          </p:cNvSpPr>
          <p:nvPr>
            <p:ph type="title"/>
          </p:nvPr>
        </p:nvSpPr>
        <p:spPr>
          <a:xfrm>
            <a:off x="457200" y="273600"/>
            <a:ext cx="8228880" cy="114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64"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 name="CustomShape 1"/>
          <p:cNvSpPr/>
          <p:nvPr/>
        </p:nvSpPr>
        <p:spPr>
          <a:xfrm>
            <a:off x="-3240" y="411480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68" name="CustomShape 2"/>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pic>
        <p:nvPicPr>
          <p:cNvPr id="69" name="Google Shape;12;p66" descr="ucsealTransp"/>
          <p:cNvPicPr/>
          <p:nvPr/>
        </p:nvPicPr>
        <p:blipFill>
          <a:blip r:embed="rId3"/>
          <a:stretch/>
        </p:blipFill>
        <p:spPr>
          <a:xfrm>
            <a:off x="0" y="5262480"/>
            <a:ext cx="1747440" cy="1590480"/>
          </a:xfrm>
          <a:prstGeom prst="rect">
            <a:avLst/>
          </a:prstGeom>
          <a:ln w="0">
            <a:noFill/>
          </a:ln>
        </p:spPr>
      </p:pic>
      <p:pic>
        <p:nvPicPr>
          <p:cNvPr id="70" name="Google Shape;13;p66" descr="slug-start-color-transp"/>
          <p:cNvPicPr/>
          <p:nvPr/>
        </p:nvPicPr>
        <p:blipFill>
          <a:blip r:embed="rId4"/>
          <a:stretch/>
        </p:blipFill>
        <p:spPr>
          <a:xfrm>
            <a:off x="7620120" y="5105520"/>
            <a:ext cx="1384200" cy="1660320"/>
          </a:xfrm>
          <a:prstGeom prst="rect">
            <a:avLst/>
          </a:prstGeom>
          <a:ln w="0">
            <a:noFill/>
          </a:ln>
        </p:spPr>
      </p:pic>
      <p:pic>
        <p:nvPicPr>
          <p:cNvPr id="71" name="Google Shape;14;p66" descr="ucsealTransp"/>
          <p:cNvPicPr/>
          <p:nvPr/>
        </p:nvPicPr>
        <p:blipFill>
          <a:blip r:embed="rId3"/>
          <a:stretch/>
        </p:blipFill>
        <p:spPr>
          <a:xfrm>
            <a:off x="0" y="5262480"/>
            <a:ext cx="1747440" cy="1590480"/>
          </a:xfrm>
          <a:prstGeom prst="rect">
            <a:avLst/>
          </a:prstGeom>
          <a:ln w="0">
            <a:noFill/>
          </a:ln>
        </p:spPr>
      </p:pic>
      <p:pic>
        <p:nvPicPr>
          <p:cNvPr id="72" name="Google Shape;15;p66" descr="slug-start-color-transp"/>
          <p:cNvPicPr/>
          <p:nvPr/>
        </p:nvPicPr>
        <p:blipFill>
          <a:blip r:embed="rId4"/>
          <a:stretch/>
        </p:blipFill>
        <p:spPr>
          <a:xfrm>
            <a:off x="7620120" y="5105520"/>
            <a:ext cx="1384200" cy="1660320"/>
          </a:xfrm>
          <a:prstGeom prst="rect">
            <a:avLst/>
          </a:prstGeom>
          <a:ln w="0">
            <a:noFill/>
          </a:ln>
        </p:spPr>
      </p:pic>
      <p:pic>
        <p:nvPicPr>
          <p:cNvPr id="73" name="Google Shape;16;p66" descr="ucsealTransp"/>
          <p:cNvPicPr/>
          <p:nvPr/>
        </p:nvPicPr>
        <p:blipFill>
          <a:blip r:embed="rId3"/>
          <a:stretch/>
        </p:blipFill>
        <p:spPr>
          <a:xfrm>
            <a:off x="0" y="5262480"/>
            <a:ext cx="1747440" cy="1590480"/>
          </a:xfrm>
          <a:prstGeom prst="rect">
            <a:avLst/>
          </a:prstGeom>
          <a:ln w="0">
            <a:noFill/>
          </a:ln>
        </p:spPr>
      </p:pic>
      <p:pic>
        <p:nvPicPr>
          <p:cNvPr id="74" name="Google Shape;17;p66" descr="ucsealTransp"/>
          <p:cNvPicPr/>
          <p:nvPr/>
        </p:nvPicPr>
        <p:blipFill>
          <a:blip r:embed="rId3"/>
          <a:stretch/>
        </p:blipFill>
        <p:spPr>
          <a:xfrm>
            <a:off x="0" y="5262480"/>
            <a:ext cx="1747440" cy="1590480"/>
          </a:xfrm>
          <a:prstGeom prst="rect">
            <a:avLst/>
          </a:prstGeom>
          <a:ln w="0">
            <a:noFill/>
          </a:ln>
        </p:spPr>
      </p:pic>
      <p:pic>
        <p:nvPicPr>
          <p:cNvPr id="75" name="Google Shape;18;p66" descr="slug-start-color-transp"/>
          <p:cNvPicPr/>
          <p:nvPr/>
        </p:nvPicPr>
        <p:blipFill>
          <a:blip r:embed="rId4"/>
          <a:stretch/>
        </p:blipFill>
        <p:spPr>
          <a:xfrm>
            <a:off x="7620120" y="5105520"/>
            <a:ext cx="1384200" cy="1660320"/>
          </a:xfrm>
          <a:prstGeom prst="rect">
            <a:avLst/>
          </a:prstGeom>
          <a:ln w="0">
            <a:noFill/>
          </a:ln>
        </p:spPr>
      </p:pic>
      <p:pic>
        <p:nvPicPr>
          <p:cNvPr id="76" name="Google Shape;19;p66" descr="ucsealTransp"/>
          <p:cNvPicPr/>
          <p:nvPr/>
        </p:nvPicPr>
        <p:blipFill>
          <a:blip r:embed="rId3"/>
          <a:stretch/>
        </p:blipFill>
        <p:spPr>
          <a:xfrm>
            <a:off x="0" y="5262480"/>
            <a:ext cx="1747440" cy="1590480"/>
          </a:xfrm>
          <a:prstGeom prst="rect">
            <a:avLst/>
          </a:prstGeom>
          <a:ln w="0">
            <a:noFill/>
          </a:ln>
        </p:spPr>
      </p:pic>
      <p:pic>
        <p:nvPicPr>
          <p:cNvPr id="77" name="Google Shape;20;p66" descr="ucsealTransp"/>
          <p:cNvPicPr/>
          <p:nvPr/>
        </p:nvPicPr>
        <p:blipFill>
          <a:blip r:embed="rId3"/>
          <a:stretch/>
        </p:blipFill>
        <p:spPr>
          <a:xfrm>
            <a:off x="0" y="5262480"/>
            <a:ext cx="1747440" cy="1590480"/>
          </a:xfrm>
          <a:prstGeom prst="rect">
            <a:avLst/>
          </a:prstGeom>
          <a:ln w="0">
            <a:noFill/>
          </a:ln>
        </p:spPr>
      </p:pic>
      <p:pic>
        <p:nvPicPr>
          <p:cNvPr id="78" name="Google Shape;21;p66" descr="slug-start-color-transp"/>
          <p:cNvPicPr/>
          <p:nvPr/>
        </p:nvPicPr>
        <p:blipFill>
          <a:blip r:embed="rId4"/>
          <a:stretch/>
        </p:blipFill>
        <p:spPr>
          <a:xfrm>
            <a:off x="7620120" y="5105520"/>
            <a:ext cx="1384200" cy="1660320"/>
          </a:xfrm>
          <a:prstGeom prst="rect">
            <a:avLst/>
          </a:prstGeom>
          <a:ln w="0">
            <a:noFill/>
          </a:ln>
        </p:spPr>
      </p:pic>
      <p:pic>
        <p:nvPicPr>
          <p:cNvPr id="79" name="Google Shape;22;p66" descr="ucsealTransp"/>
          <p:cNvPicPr/>
          <p:nvPr/>
        </p:nvPicPr>
        <p:blipFill>
          <a:blip r:embed="rId3"/>
          <a:stretch/>
        </p:blipFill>
        <p:spPr>
          <a:xfrm>
            <a:off x="0" y="5262480"/>
            <a:ext cx="1747440" cy="1590480"/>
          </a:xfrm>
          <a:prstGeom prst="rect">
            <a:avLst/>
          </a:prstGeom>
          <a:ln w="0">
            <a:noFill/>
          </a:ln>
        </p:spPr>
      </p:pic>
      <p:pic>
        <p:nvPicPr>
          <p:cNvPr id="80" name="Google Shape;23;p66" descr="ucsealTransp"/>
          <p:cNvPicPr/>
          <p:nvPr/>
        </p:nvPicPr>
        <p:blipFill>
          <a:blip r:embed="rId3"/>
          <a:stretch/>
        </p:blipFill>
        <p:spPr>
          <a:xfrm>
            <a:off x="0" y="5262480"/>
            <a:ext cx="1747440" cy="1590480"/>
          </a:xfrm>
          <a:prstGeom prst="rect">
            <a:avLst/>
          </a:prstGeom>
          <a:ln w="0">
            <a:noFill/>
          </a:ln>
        </p:spPr>
      </p:pic>
      <p:pic>
        <p:nvPicPr>
          <p:cNvPr id="81" name="Google Shape;24;p66" descr="ucsealTransp"/>
          <p:cNvPicPr/>
          <p:nvPr/>
        </p:nvPicPr>
        <p:blipFill>
          <a:blip r:embed="rId3"/>
          <a:stretch/>
        </p:blipFill>
        <p:spPr>
          <a:xfrm>
            <a:off x="0" y="5262480"/>
            <a:ext cx="1747440" cy="1590480"/>
          </a:xfrm>
          <a:prstGeom prst="rect">
            <a:avLst/>
          </a:prstGeom>
          <a:ln w="0">
            <a:noFill/>
          </a:ln>
        </p:spPr>
      </p:pic>
      <p:pic>
        <p:nvPicPr>
          <p:cNvPr id="82" name="Google Shape;25;p66" descr="slug-start-color-transp"/>
          <p:cNvPicPr/>
          <p:nvPr/>
        </p:nvPicPr>
        <p:blipFill>
          <a:blip r:embed="rId4"/>
          <a:stretch/>
        </p:blipFill>
        <p:spPr>
          <a:xfrm>
            <a:off x="7620120" y="5105520"/>
            <a:ext cx="1384200" cy="1660320"/>
          </a:xfrm>
          <a:prstGeom prst="rect">
            <a:avLst/>
          </a:prstGeom>
          <a:ln w="0">
            <a:noFill/>
          </a:ln>
        </p:spPr>
      </p:pic>
      <p:pic>
        <p:nvPicPr>
          <p:cNvPr id="83" name="Google Shape;26;p66" descr="ucsealTransp"/>
          <p:cNvPicPr/>
          <p:nvPr/>
        </p:nvPicPr>
        <p:blipFill>
          <a:blip r:embed="rId3"/>
          <a:stretch/>
        </p:blipFill>
        <p:spPr>
          <a:xfrm>
            <a:off x="0" y="5262480"/>
            <a:ext cx="1747440" cy="1590480"/>
          </a:xfrm>
          <a:prstGeom prst="rect">
            <a:avLst/>
          </a:prstGeom>
          <a:ln w="0">
            <a:noFill/>
          </a:ln>
        </p:spPr>
      </p:pic>
      <p:pic>
        <p:nvPicPr>
          <p:cNvPr id="84" name="Google Shape;27;p66" descr="ucsealTransp"/>
          <p:cNvPicPr/>
          <p:nvPr/>
        </p:nvPicPr>
        <p:blipFill>
          <a:blip r:embed="rId3"/>
          <a:stretch/>
        </p:blipFill>
        <p:spPr>
          <a:xfrm>
            <a:off x="0" y="5262480"/>
            <a:ext cx="1747440" cy="1590480"/>
          </a:xfrm>
          <a:prstGeom prst="rect">
            <a:avLst/>
          </a:prstGeom>
          <a:ln w="0">
            <a:noFill/>
          </a:ln>
        </p:spPr>
      </p:pic>
      <p:pic>
        <p:nvPicPr>
          <p:cNvPr id="85" name="Google Shape;28;p66" descr="slug-start-color-transp"/>
          <p:cNvPicPr/>
          <p:nvPr/>
        </p:nvPicPr>
        <p:blipFill>
          <a:blip r:embed="rId4"/>
          <a:stretch/>
        </p:blipFill>
        <p:spPr>
          <a:xfrm>
            <a:off x="7620120" y="5105520"/>
            <a:ext cx="1384200" cy="1660320"/>
          </a:xfrm>
          <a:prstGeom prst="rect">
            <a:avLst/>
          </a:prstGeom>
          <a:ln w="0">
            <a:noFill/>
          </a:ln>
        </p:spPr>
      </p:pic>
      <p:sp>
        <p:nvSpPr>
          <p:cNvPr id="86" name="PlaceHolder 1"/>
          <p:cNvSpPr>
            <a:spLocks noGrp="1"/>
          </p:cNvSpPr>
          <p:nvPr>
            <p:ph type="title"/>
          </p:nvPr>
        </p:nvSpPr>
        <p:spPr>
          <a:xfrm>
            <a:off x="457200" y="273600"/>
            <a:ext cx="8228880" cy="114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87"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88"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 name="CustomShape 1"/>
          <p:cNvSpPr/>
          <p:nvPr/>
        </p:nvSpPr>
        <p:spPr>
          <a:xfrm>
            <a:off x="-3240" y="411480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93" name="CustomShape 2"/>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pic>
        <p:nvPicPr>
          <p:cNvPr id="94" name="Google Shape;12;p66" descr="ucsealTransp"/>
          <p:cNvPicPr/>
          <p:nvPr/>
        </p:nvPicPr>
        <p:blipFill>
          <a:blip r:embed="rId3"/>
          <a:stretch/>
        </p:blipFill>
        <p:spPr>
          <a:xfrm>
            <a:off x="0" y="5262480"/>
            <a:ext cx="1747440" cy="1590480"/>
          </a:xfrm>
          <a:prstGeom prst="rect">
            <a:avLst/>
          </a:prstGeom>
          <a:ln w="0">
            <a:noFill/>
          </a:ln>
        </p:spPr>
      </p:pic>
      <p:pic>
        <p:nvPicPr>
          <p:cNvPr id="95" name="Google Shape;13;p66" descr="slug-start-color-transp"/>
          <p:cNvPicPr/>
          <p:nvPr/>
        </p:nvPicPr>
        <p:blipFill>
          <a:blip r:embed="rId4"/>
          <a:stretch/>
        </p:blipFill>
        <p:spPr>
          <a:xfrm>
            <a:off x="7620120" y="5105520"/>
            <a:ext cx="1384200" cy="1660320"/>
          </a:xfrm>
          <a:prstGeom prst="rect">
            <a:avLst/>
          </a:prstGeom>
          <a:ln w="0">
            <a:noFill/>
          </a:ln>
        </p:spPr>
      </p:pic>
      <p:pic>
        <p:nvPicPr>
          <p:cNvPr id="96" name="Google Shape;14;p66" descr="ucsealTransp"/>
          <p:cNvPicPr/>
          <p:nvPr/>
        </p:nvPicPr>
        <p:blipFill>
          <a:blip r:embed="rId3"/>
          <a:stretch/>
        </p:blipFill>
        <p:spPr>
          <a:xfrm>
            <a:off x="0" y="5262480"/>
            <a:ext cx="1747440" cy="1590480"/>
          </a:xfrm>
          <a:prstGeom prst="rect">
            <a:avLst/>
          </a:prstGeom>
          <a:ln w="0">
            <a:noFill/>
          </a:ln>
        </p:spPr>
      </p:pic>
      <p:pic>
        <p:nvPicPr>
          <p:cNvPr id="97" name="Google Shape;15;p66" descr="slug-start-color-transp"/>
          <p:cNvPicPr/>
          <p:nvPr/>
        </p:nvPicPr>
        <p:blipFill>
          <a:blip r:embed="rId4"/>
          <a:stretch/>
        </p:blipFill>
        <p:spPr>
          <a:xfrm>
            <a:off x="7620120" y="5105520"/>
            <a:ext cx="1384200" cy="1660320"/>
          </a:xfrm>
          <a:prstGeom prst="rect">
            <a:avLst/>
          </a:prstGeom>
          <a:ln w="0">
            <a:noFill/>
          </a:ln>
        </p:spPr>
      </p:pic>
      <p:pic>
        <p:nvPicPr>
          <p:cNvPr id="98" name="Google Shape;16;p66" descr="ucsealTransp"/>
          <p:cNvPicPr/>
          <p:nvPr/>
        </p:nvPicPr>
        <p:blipFill>
          <a:blip r:embed="rId3"/>
          <a:stretch/>
        </p:blipFill>
        <p:spPr>
          <a:xfrm>
            <a:off x="0" y="5262480"/>
            <a:ext cx="1747440" cy="1590480"/>
          </a:xfrm>
          <a:prstGeom prst="rect">
            <a:avLst/>
          </a:prstGeom>
          <a:ln w="0">
            <a:noFill/>
          </a:ln>
        </p:spPr>
      </p:pic>
      <p:pic>
        <p:nvPicPr>
          <p:cNvPr id="99" name="Google Shape;17;p66" descr="ucsealTransp"/>
          <p:cNvPicPr/>
          <p:nvPr/>
        </p:nvPicPr>
        <p:blipFill>
          <a:blip r:embed="rId3"/>
          <a:stretch/>
        </p:blipFill>
        <p:spPr>
          <a:xfrm>
            <a:off x="0" y="5262480"/>
            <a:ext cx="1747440" cy="1590480"/>
          </a:xfrm>
          <a:prstGeom prst="rect">
            <a:avLst/>
          </a:prstGeom>
          <a:ln w="0">
            <a:noFill/>
          </a:ln>
        </p:spPr>
      </p:pic>
      <p:pic>
        <p:nvPicPr>
          <p:cNvPr id="100" name="Google Shape;18;p66" descr="slug-start-color-transp"/>
          <p:cNvPicPr/>
          <p:nvPr/>
        </p:nvPicPr>
        <p:blipFill>
          <a:blip r:embed="rId4"/>
          <a:stretch/>
        </p:blipFill>
        <p:spPr>
          <a:xfrm>
            <a:off x="7620120" y="5105520"/>
            <a:ext cx="1384200" cy="1660320"/>
          </a:xfrm>
          <a:prstGeom prst="rect">
            <a:avLst/>
          </a:prstGeom>
          <a:ln w="0">
            <a:noFill/>
          </a:ln>
        </p:spPr>
      </p:pic>
      <p:pic>
        <p:nvPicPr>
          <p:cNvPr id="101" name="Google Shape;19;p66" descr="ucsealTransp"/>
          <p:cNvPicPr/>
          <p:nvPr/>
        </p:nvPicPr>
        <p:blipFill>
          <a:blip r:embed="rId3"/>
          <a:stretch/>
        </p:blipFill>
        <p:spPr>
          <a:xfrm>
            <a:off x="0" y="5262480"/>
            <a:ext cx="1747440" cy="1590480"/>
          </a:xfrm>
          <a:prstGeom prst="rect">
            <a:avLst/>
          </a:prstGeom>
          <a:ln w="0">
            <a:noFill/>
          </a:ln>
        </p:spPr>
      </p:pic>
      <p:pic>
        <p:nvPicPr>
          <p:cNvPr id="102" name="Google Shape;20;p66" descr="ucsealTransp"/>
          <p:cNvPicPr/>
          <p:nvPr/>
        </p:nvPicPr>
        <p:blipFill>
          <a:blip r:embed="rId3"/>
          <a:stretch/>
        </p:blipFill>
        <p:spPr>
          <a:xfrm>
            <a:off x="0" y="5262480"/>
            <a:ext cx="1747440" cy="1590480"/>
          </a:xfrm>
          <a:prstGeom prst="rect">
            <a:avLst/>
          </a:prstGeom>
          <a:ln w="0">
            <a:noFill/>
          </a:ln>
        </p:spPr>
      </p:pic>
      <p:pic>
        <p:nvPicPr>
          <p:cNvPr id="103" name="Google Shape;21;p66" descr="slug-start-color-transp"/>
          <p:cNvPicPr/>
          <p:nvPr/>
        </p:nvPicPr>
        <p:blipFill>
          <a:blip r:embed="rId4"/>
          <a:stretch/>
        </p:blipFill>
        <p:spPr>
          <a:xfrm>
            <a:off x="7620120" y="5105520"/>
            <a:ext cx="1384200" cy="1660320"/>
          </a:xfrm>
          <a:prstGeom prst="rect">
            <a:avLst/>
          </a:prstGeom>
          <a:ln w="0">
            <a:noFill/>
          </a:ln>
        </p:spPr>
      </p:pic>
      <p:pic>
        <p:nvPicPr>
          <p:cNvPr id="104" name="Google Shape;22;p66" descr="ucsealTransp"/>
          <p:cNvPicPr/>
          <p:nvPr/>
        </p:nvPicPr>
        <p:blipFill>
          <a:blip r:embed="rId3"/>
          <a:stretch/>
        </p:blipFill>
        <p:spPr>
          <a:xfrm>
            <a:off x="0" y="5262480"/>
            <a:ext cx="1747440" cy="1590480"/>
          </a:xfrm>
          <a:prstGeom prst="rect">
            <a:avLst/>
          </a:prstGeom>
          <a:ln w="0">
            <a:noFill/>
          </a:ln>
        </p:spPr>
      </p:pic>
      <p:pic>
        <p:nvPicPr>
          <p:cNvPr id="105" name="Google Shape;23;p66" descr="ucsealTransp"/>
          <p:cNvPicPr/>
          <p:nvPr/>
        </p:nvPicPr>
        <p:blipFill>
          <a:blip r:embed="rId3"/>
          <a:stretch/>
        </p:blipFill>
        <p:spPr>
          <a:xfrm>
            <a:off x="0" y="5262480"/>
            <a:ext cx="1747440" cy="1590480"/>
          </a:xfrm>
          <a:prstGeom prst="rect">
            <a:avLst/>
          </a:prstGeom>
          <a:ln w="0">
            <a:noFill/>
          </a:ln>
        </p:spPr>
      </p:pic>
      <p:pic>
        <p:nvPicPr>
          <p:cNvPr id="106" name="Google Shape;24;p66" descr="ucsealTransp"/>
          <p:cNvPicPr/>
          <p:nvPr/>
        </p:nvPicPr>
        <p:blipFill>
          <a:blip r:embed="rId3"/>
          <a:stretch/>
        </p:blipFill>
        <p:spPr>
          <a:xfrm>
            <a:off x="0" y="5262480"/>
            <a:ext cx="1747440" cy="1590480"/>
          </a:xfrm>
          <a:prstGeom prst="rect">
            <a:avLst/>
          </a:prstGeom>
          <a:ln w="0">
            <a:noFill/>
          </a:ln>
        </p:spPr>
      </p:pic>
      <p:pic>
        <p:nvPicPr>
          <p:cNvPr id="107" name="Google Shape;25;p66" descr="slug-start-color-transp"/>
          <p:cNvPicPr/>
          <p:nvPr/>
        </p:nvPicPr>
        <p:blipFill>
          <a:blip r:embed="rId4"/>
          <a:stretch/>
        </p:blipFill>
        <p:spPr>
          <a:xfrm>
            <a:off x="7620120" y="5105520"/>
            <a:ext cx="1384200" cy="1660320"/>
          </a:xfrm>
          <a:prstGeom prst="rect">
            <a:avLst/>
          </a:prstGeom>
          <a:ln w="0">
            <a:noFill/>
          </a:ln>
        </p:spPr>
      </p:pic>
      <p:pic>
        <p:nvPicPr>
          <p:cNvPr id="108" name="Google Shape;26;p66" descr="ucsealTransp"/>
          <p:cNvPicPr/>
          <p:nvPr/>
        </p:nvPicPr>
        <p:blipFill>
          <a:blip r:embed="rId3"/>
          <a:stretch/>
        </p:blipFill>
        <p:spPr>
          <a:xfrm>
            <a:off x="0" y="5262480"/>
            <a:ext cx="1747440" cy="1590480"/>
          </a:xfrm>
          <a:prstGeom prst="rect">
            <a:avLst/>
          </a:prstGeom>
          <a:ln w="0">
            <a:noFill/>
          </a:ln>
        </p:spPr>
      </p:pic>
      <p:pic>
        <p:nvPicPr>
          <p:cNvPr id="109" name="Google Shape;27;p66" descr="ucsealTransp"/>
          <p:cNvPicPr/>
          <p:nvPr/>
        </p:nvPicPr>
        <p:blipFill>
          <a:blip r:embed="rId3"/>
          <a:stretch/>
        </p:blipFill>
        <p:spPr>
          <a:xfrm>
            <a:off x="0" y="5262480"/>
            <a:ext cx="1747440" cy="1590480"/>
          </a:xfrm>
          <a:prstGeom prst="rect">
            <a:avLst/>
          </a:prstGeom>
          <a:ln w="0">
            <a:noFill/>
          </a:ln>
        </p:spPr>
      </p:pic>
      <p:pic>
        <p:nvPicPr>
          <p:cNvPr id="110" name="Google Shape;28;p66" descr="slug-start-color-transp"/>
          <p:cNvPicPr/>
          <p:nvPr/>
        </p:nvPicPr>
        <p:blipFill>
          <a:blip r:embed="rId4"/>
          <a:stretch/>
        </p:blipFill>
        <p:spPr>
          <a:xfrm>
            <a:off x="7620120" y="5105520"/>
            <a:ext cx="1384200" cy="1660320"/>
          </a:xfrm>
          <a:prstGeom prst="rect">
            <a:avLst/>
          </a:prstGeom>
          <a:ln w="0">
            <a:noFill/>
          </a:ln>
        </p:spPr>
      </p:pic>
      <p:sp>
        <p:nvSpPr>
          <p:cNvPr id="111" name="PlaceHolder 1"/>
          <p:cNvSpPr>
            <a:spLocks noGrp="1"/>
          </p:cNvSpPr>
          <p:nvPr>
            <p:ph type="title"/>
          </p:nvPr>
        </p:nvSpPr>
        <p:spPr>
          <a:xfrm>
            <a:off x="457200" y="273600"/>
            <a:ext cx="8228880" cy="114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3" name="CustomShape 1"/>
          <p:cNvSpPr/>
          <p:nvPr/>
        </p:nvSpPr>
        <p:spPr>
          <a:xfrm>
            <a:off x="-3240" y="411480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114" name="CustomShape 2"/>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pic>
        <p:nvPicPr>
          <p:cNvPr id="115" name="Google Shape;12;p66" descr="ucsealTransp"/>
          <p:cNvPicPr/>
          <p:nvPr/>
        </p:nvPicPr>
        <p:blipFill>
          <a:blip r:embed="rId3"/>
          <a:stretch/>
        </p:blipFill>
        <p:spPr>
          <a:xfrm>
            <a:off x="0" y="5262480"/>
            <a:ext cx="1747440" cy="1590480"/>
          </a:xfrm>
          <a:prstGeom prst="rect">
            <a:avLst/>
          </a:prstGeom>
          <a:ln w="0">
            <a:noFill/>
          </a:ln>
        </p:spPr>
      </p:pic>
      <p:pic>
        <p:nvPicPr>
          <p:cNvPr id="116" name="Google Shape;13;p66" descr="slug-start-color-transp"/>
          <p:cNvPicPr/>
          <p:nvPr/>
        </p:nvPicPr>
        <p:blipFill>
          <a:blip r:embed="rId4"/>
          <a:stretch/>
        </p:blipFill>
        <p:spPr>
          <a:xfrm>
            <a:off x="7620120" y="5105520"/>
            <a:ext cx="1384200" cy="1660320"/>
          </a:xfrm>
          <a:prstGeom prst="rect">
            <a:avLst/>
          </a:prstGeom>
          <a:ln w="0">
            <a:noFill/>
          </a:ln>
        </p:spPr>
      </p:pic>
      <p:pic>
        <p:nvPicPr>
          <p:cNvPr id="117" name="Google Shape;14;p66" descr="ucsealTransp"/>
          <p:cNvPicPr/>
          <p:nvPr/>
        </p:nvPicPr>
        <p:blipFill>
          <a:blip r:embed="rId3"/>
          <a:stretch/>
        </p:blipFill>
        <p:spPr>
          <a:xfrm>
            <a:off x="0" y="5262480"/>
            <a:ext cx="1747440" cy="1590480"/>
          </a:xfrm>
          <a:prstGeom prst="rect">
            <a:avLst/>
          </a:prstGeom>
          <a:ln w="0">
            <a:noFill/>
          </a:ln>
        </p:spPr>
      </p:pic>
      <p:pic>
        <p:nvPicPr>
          <p:cNvPr id="118" name="Google Shape;15;p66" descr="slug-start-color-transp"/>
          <p:cNvPicPr/>
          <p:nvPr/>
        </p:nvPicPr>
        <p:blipFill>
          <a:blip r:embed="rId4"/>
          <a:stretch/>
        </p:blipFill>
        <p:spPr>
          <a:xfrm>
            <a:off x="7620120" y="5105520"/>
            <a:ext cx="1384200" cy="1660320"/>
          </a:xfrm>
          <a:prstGeom prst="rect">
            <a:avLst/>
          </a:prstGeom>
          <a:ln w="0">
            <a:noFill/>
          </a:ln>
        </p:spPr>
      </p:pic>
      <p:pic>
        <p:nvPicPr>
          <p:cNvPr id="119" name="Google Shape;16;p66" descr="ucsealTransp"/>
          <p:cNvPicPr/>
          <p:nvPr/>
        </p:nvPicPr>
        <p:blipFill>
          <a:blip r:embed="rId3"/>
          <a:stretch/>
        </p:blipFill>
        <p:spPr>
          <a:xfrm>
            <a:off x="0" y="5262480"/>
            <a:ext cx="1747440" cy="1590480"/>
          </a:xfrm>
          <a:prstGeom prst="rect">
            <a:avLst/>
          </a:prstGeom>
          <a:ln w="0">
            <a:noFill/>
          </a:ln>
        </p:spPr>
      </p:pic>
      <p:pic>
        <p:nvPicPr>
          <p:cNvPr id="120" name="Google Shape;17;p66" descr="ucsealTransp"/>
          <p:cNvPicPr/>
          <p:nvPr/>
        </p:nvPicPr>
        <p:blipFill>
          <a:blip r:embed="rId3"/>
          <a:stretch/>
        </p:blipFill>
        <p:spPr>
          <a:xfrm>
            <a:off x="0" y="5262480"/>
            <a:ext cx="1747440" cy="1590480"/>
          </a:xfrm>
          <a:prstGeom prst="rect">
            <a:avLst/>
          </a:prstGeom>
          <a:ln w="0">
            <a:noFill/>
          </a:ln>
        </p:spPr>
      </p:pic>
      <p:pic>
        <p:nvPicPr>
          <p:cNvPr id="121" name="Google Shape;18;p66" descr="slug-start-color-transp"/>
          <p:cNvPicPr/>
          <p:nvPr/>
        </p:nvPicPr>
        <p:blipFill>
          <a:blip r:embed="rId4"/>
          <a:stretch/>
        </p:blipFill>
        <p:spPr>
          <a:xfrm>
            <a:off x="7620120" y="5105520"/>
            <a:ext cx="1384200" cy="1660320"/>
          </a:xfrm>
          <a:prstGeom prst="rect">
            <a:avLst/>
          </a:prstGeom>
          <a:ln w="0">
            <a:noFill/>
          </a:ln>
        </p:spPr>
      </p:pic>
      <p:pic>
        <p:nvPicPr>
          <p:cNvPr id="122" name="Google Shape;19;p66" descr="ucsealTransp"/>
          <p:cNvPicPr/>
          <p:nvPr/>
        </p:nvPicPr>
        <p:blipFill>
          <a:blip r:embed="rId3"/>
          <a:stretch/>
        </p:blipFill>
        <p:spPr>
          <a:xfrm>
            <a:off x="0" y="5262480"/>
            <a:ext cx="1747440" cy="1590480"/>
          </a:xfrm>
          <a:prstGeom prst="rect">
            <a:avLst/>
          </a:prstGeom>
          <a:ln w="0">
            <a:noFill/>
          </a:ln>
        </p:spPr>
      </p:pic>
      <p:pic>
        <p:nvPicPr>
          <p:cNvPr id="123" name="Google Shape;20;p66" descr="ucsealTransp"/>
          <p:cNvPicPr/>
          <p:nvPr/>
        </p:nvPicPr>
        <p:blipFill>
          <a:blip r:embed="rId3"/>
          <a:stretch/>
        </p:blipFill>
        <p:spPr>
          <a:xfrm>
            <a:off x="0" y="5262480"/>
            <a:ext cx="1747440" cy="1590480"/>
          </a:xfrm>
          <a:prstGeom prst="rect">
            <a:avLst/>
          </a:prstGeom>
          <a:ln w="0">
            <a:noFill/>
          </a:ln>
        </p:spPr>
      </p:pic>
      <p:pic>
        <p:nvPicPr>
          <p:cNvPr id="124" name="Google Shape;21;p66" descr="slug-start-color-transp"/>
          <p:cNvPicPr/>
          <p:nvPr/>
        </p:nvPicPr>
        <p:blipFill>
          <a:blip r:embed="rId4"/>
          <a:stretch/>
        </p:blipFill>
        <p:spPr>
          <a:xfrm>
            <a:off x="7620120" y="5105520"/>
            <a:ext cx="1384200" cy="1660320"/>
          </a:xfrm>
          <a:prstGeom prst="rect">
            <a:avLst/>
          </a:prstGeom>
          <a:ln w="0">
            <a:noFill/>
          </a:ln>
        </p:spPr>
      </p:pic>
      <p:pic>
        <p:nvPicPr>
          <p:cNvPr id="125" name="Google Shape;22;p66" descr="ucsealTransp"/>
          <p:cNvPicPr/>
          <p:nvPr/>
        </p:nvPicPr>
        <p:blipFill>
          <a:blip r:embed="rId3"/>
          <a:stretch/>
        </p:blipFill>
        <p:spPr>
          <a:xfrm>
            <a:off x="0" y="5262480"/>
            <a:ext cx="1747440" cy="1590480"/>
          </a:xfrm>
          <a:prstGeom prst="rect">
            <a:avLst/>
          </a:prstGeom>
          <a:ln w="0">
            <a:noFill/>
          </a:ln>
        </p:spPr>
      </p:pic>
      <p:pic>
        <p:nvPicPr>
          <p:cNvPr id="126" name="Google Shape;23;p66" descr="ucsealTransp"/>
          <p:cNvPicPr/>
          <p:nvPr/>
        </p:nvPicPr>
        <p:blipFill>
          <a:blip r:embed="rId3"/>
          <a:stretch/>
        </p:blipFill>
        <p:spPr>
          <a:xfrm>
            <a:off x="0" y="5262480"/>
            <a:ext cx="1747440" cy="1590480"/>
          </a:xfrm>
          <a:prstGeom prst="rect">
            <a:avLst/>
          </a:prstGeom>
          <a:ln w="0">
            <a:noFill/>
          </a:ln>
        </p:spPr>
      </p:pic>
      <p:pic>
        <p:nvPicPr>
          <p:cNvPr id="127" name="Google Shape;24;p66" descr="ucsealTransp"/>
          <p:cNvPicPr/>
          <p:nvPr/>
        </p:nvPicPr>
        <p:blipFill>
          <a:blip r:embed="rId3"/>
          <a:stretch/>
        </p:blipFill>
        <p:spPr>
          <a:xfrm>
            <a:off x="0" y="5262480"/>
            <a:ext cx="1747440" cy="1590480"/>
          </a:xfrm>
          <a:prstGeom prst="rect">
            <a:avLst/>
          </a:prstGeom>
          <a:ln w="0">
            <a:noFill/>
          </a:ln>
        </p:spPr>
      </p:pic>
      <p:pic>
        <p:nvPicPr>
          <p:cNvPr id="128" name="Google Shape;25;p66" descr="slug-start-color-transp"/>
          <p:cNvPicPr/>
          <p:nvPr/>
        </p:nvPicPr>
        <p:blipFill>
          <a:blip r:embed="rId4"/>
          <a:stretch/>
        </p:blipFill>
        <p:spPr>
          <a:xfrm>
            <a:off x="7620120" y="5105520"/>
            <a:ext cx="1384200" cy="1660320"/>
          </a:xfrm>
          <a:prstGeom prst="rect">
            <a:avLst/>
          </a:prstGeom>
          <a:ln w="0">
            <a:noFill/>
          </a:ln>
        </p:spPr>
      </p:pic>
      <p:pic>
        <p:nvPicPr>
          <p:cNvPr id="129" name="Google Shape;26;p66" descr="ucsealTransp"/>
          <p:cNvPicPr/>
          <p:nvPr/>
        </p:nvPicPr>
        <p:blipFill>
          <a:blip r:embed="rId3"/>
          <a:stretch/>
        </p:blipFill>
        <p:spPr>
          <a:xfrm>
            <a:off x="0" y="5262480"/>
            <a:ext cx="1747440" cy="1590480"/>
          </a:xfrm>
          <a:prstGeom prst="rect">
            <a:avLst/>
          </a:prstGeom>
          <a:ln w="0">
            <a:noFill/>
          </a:ln>
        </p:spPr>
      </p:pic>
      <p:pic>
        <p:nvPicPr>
          <p:cNvPr id="130" name="Google Shape;27;p66" descr="ucsealTransp"/>
          <p:cNvPicPr/>
          <p:nvPr/>
        </p:nvPicPr>
        <p:blipFill>
          <a:blip r:embed="rId3"/>
          <a:stretch/>
        </p:blipFill>
        <p:spPr>
          <a:xfrm>
            <a:off x="0" y="5262480"/>
            <a:ext cx="1747440" cy="1590480"/>
          </a:xfrm>
          <a:prstGeom prst="rect">
            <a:avLst/>
          </a:prstGeom>
          <a:ln w="0">
            <a:noFill/>
          </a:ln>
        </p:spPr>
      </p:pic>
      <p:pic>
        <p:nvPicPr>
          <p:cNvPr id="131" name="Google Shape;28;p66" descr="slug-start-color-transp"/>
          <p:cNvPicPr/>
          <p:nvPr/>
        </p:nvPicPr>
        <p:blipFill>
          <a:blip r:embed="rId4"/>
          <a:stretch/>
        </p:blipFill>
        <p:spPr>
          <a:xfrm>
            <a:off x="7620120" y="5105520"/>
            <a:ext cx="1384200" cy="166032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2" name="CustomShape 1"/>
          <p:cNvSpPr/>
          <p:nvPr/>
        </p:nvSpPr>
        <p:spPr>
          <a:xfrm>
            <a:off x="-3240" y="411480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133" name="CustomShape 2"/>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pic>
        <p:nvPicPr>
          <p:cNvPr id="134" name="Google Shape;12;p66" descr="ucsealTransp"/>
          <p:cNvPicPr/>
          <p:nvPr/>
        </p:nvPicPr>
        <p:blipFill>
          <a:blip r:embed="rId3"/>
          <a:stretch/>
        </p:blipFill>
        <p:spPr>
          <a:xfrm>
            <a:off x="0" y="5262480"/>
            <a:ext cx="1747440" cy="1590480"/>
          </a:xfrm>
          <a:prstGeom prst="rect">
            <a:avLst/>
          </a:prstGeom>
          <a:ln w="0">
            <a:noFill/>
          </a:ln>
        </p:spPr>
      </p:pic>
      <p:pic>
        <p:nvPicPr>
          <p:cNvPr id="135" name="Google Shape;13;p66" descr="slug-start-color-transp"/>
          <p:cNvPicPr/>
          <p:nvPr/>
        </p:nvPicPr>
        <p:blipFill>
          <a:blip r:embed="rId4"/>
          <a:stretch/>
        </p:blipFill>
        <p:spPr>
          <a:xfrm>
            <a:off x="7620120" y="5105520"/>
            <a:ext cx="1384200" cy="1660320"/>
          </a:xfrm>
          <a:prstGeom prst="rect">
            <a:avLst/>
          </a:prstGeom>
          <a:ln w="0">
            <a:noFill/>
          </a:ln>
        </p:spPr>
      </p:pic>
      <p:pic>
        <p:nvPicPr>
          <p:cNvPr id="136" name="Google Shape;14;p66" descr="ucsealTransp"/>
          <p:cNvPicPr/>
          <p:nvPr/>
        </p:nvPicPr>
        <p:blipFill>
          <a:blip r:embed="rId3"/>
          <a:stretch/>
        </p:blipFill>
        <p:spPr>
          <a:xfrm>
            <a:off x="0" y="5262480"/>
            <a:ext cx="1747440" cy="1590480"/>
          </a:xfrm>
          <a:prstGeom prst="rect">
            <a:avLst/>
          </a:prstGeom>
          <a:ln w="0">
            <a:noFill/>
          </a:ln>
        </p:spPr>
      </p:pic>
      <p:pic>
        <p:nvPicPr>
          <p:cNvPr id="137" name="Google Shape;15;p66" descr="slug-start-color-transp"/>
          <p:cNvPicPr/>
          <p:nvPr/>
        </p:nvPicPr>
        <p:blipFill>
          <a:blip r:embed="rId4"/>
          <a:stretch/>
        </p:blipFill>
        <p:spPr>
          <a:xfrm>
            <a:off x="7620120" y="5105520"/>
            <a:ext cx="1384200" cy="1660320"/>
          </a:xfrm>
          <a:prstGeom prst="rect">
            <a:avLst/>
          </a:prstGeom>
          <a:ln w="0">
            <a:noFill/>
          </a:ln>
        </p:spPr>
      </p:pic>
      <p:pic>
        <p:nvPicPr>
          <p:cNvPr id="138" name="Google Shape;16;p66" descr="ucsealTransp"/>
          <p:cNvPicPr/>
          <p:nvPr/>
        </p:nvPicPr>
        <p:blipFill>
          <a:blip r:embed="rId3"/>
          <a:stretch/>
        </p:blipFill>
        <p:spPr>
          <a:xfrm>
            <a:off x="0" y="5262480"/>
            <a:ext cx="1747440" cy="1590480"/>
          </a:xfrm>
          <a:prstGeom prst="rect">
            <a:avLst/>
          </a:prstGeom>
          <a:ln w="0">
            <a:noFill/>
          </a:ln>
        </p:spPr>
      </p:pic>
      <p:pic>
        <p:nvPicPr>
          <p:cNvPr id="139" name="Google Shape;17;p66" descr="ucsealTransp"/>
          <p:cNvPicPr/>
          <p:nvPr/>
        </p:nvPicPr>
        <p:blipFill>
          <a:blip r:embed="rId3"/>
          <a:stretch/>
        </p:blipFill>
        <p:spPr>
          <a:xfrm>
            <a:off x="0" y="5262480"/>
            <a:ext cx="1747440" cy="1590480"/>
          </a:xfrm>
          <a:prstGeom prst="rect">
            <a:avLst/>
          </a:prstGeom>
          <a:ln w="0">
            <a:noFill/>
          </a:ln>
        </p:spPr>
      </p:pic>
      <p:pic>
        <p:nvPicPr>
          <p:cNvPr id="140" name="Google Shape;18;p66" descr="slug-start-color-transp"/>
          <p:cNvPicPr/>
          <p:nvPr/>
        </p:nvPicPr>
        <p:blipFill>
          <a:blip r:embed="rId4"/>
          <a:stretch/>
        </p:blipFill>
        <p:spPr>
          <a:xfrm>
            <a:off x="7620120" y="5105520"/>
            <a:ext cx="1384200" cy="1660320"/>
          </a:xfrm>
          <a:prstGeom prst="rect">
            <a:avLst/>
          </a:prstGeom>
          <a:ln w="0">
            <a:noFill/>
          </a:ln>
        </p:spPr>
      </p:pic>
      <p:pic>
        <p:nvPicPr>
          <p:cNvPr id="141" name="Google Shape;19;p66" descr="ucsealTransp"/>
          <p:cNvPicPr/>
          <p:nvPr/>
        </p:nvPicPr>
        <p:blipFill>
          <a:blip r:embed="rId3"/>
          <a:stretch/>
        </p:blipFill>
        <p:spPr>
          <a:xfrm>
            <a:off x="0" y="5262480"/>
            <a:ext cx="1747440" cy="1590480"/>
          </a:xfrm>
          <a:prstGeom prst="rect">
            <a:avLst/>
          </a:prstGeom>
          <a:ln w="0">
            <a:noFill/>
          </a:ln>
        </p:spPr>
      </p:pic>
      <p:pic>
        <p:nvPicPr>
          <p:cNvPr id="142" name="Google Shape;20;p66" descr="ucsealTransp"/>
          <p:cNvPicPr/>
          <p:nvPr/>
        </p:nvPicPr>
        <p:blipFill>
          <a:blip r:embed="rId3"/>
          <a:stretch/>
        </p:blipFill>
        <p:spPr>
          <a:xfrm>
            <a:off x="0" y="5262480"/>
            <a:ext cx="1747440" cy="1590480"/>
          </a:xfrm>
          <a:prstGeom prst="rect">
            <a:avLst/>
          </a:prstGeom>
          <a:ln w="0">
            <a:noFill/>
          </a:ln>
        </p:spPr>
      </p:pic>
      <p:pic>
        <p:nvPicPr>
          <p:cNvPr id="143" name="Google Shape;21;p66" descr="slug-start-color-transp"/>
          <p:cNvPicPr/>
          <p:nvPr/>
        </p:nvPicPr>
        <p:blipFill>
          <a:blip r:embed="rId4"/>
          <a:stretch/>
        </p:blipFill>
        <p:spPr>
          <a:xfrm>
            <a:off x="7620120" y="5105520"/>
            <a:ext cx="1384200" cy="1660320"/>
          </a:xfrm>
          <a:prstGeom prst="rect">
            <a:avLst/>
          </a:prstGeom>
          <a:ln w="0">
            <a:noFill/>
          </a:ln>
        </p:spPr>
      </p:pic>
      <p:pic>
        <p:nvPicPr>
          <p:cNvPr id="144" name="Google Shape;22;p66" descr="ucsealTransp"/>
          <p:cNvPicPr/>
          <p:nvPr/>
        </p:nvPicPr>
        <p:blipFill>
          <a:blip r:embed="rId3"/>
          <a:stretch/>
        </p:blipFill>
        <p:spPr>
          <a:xfrm>
            <a:off x="0" y="5262480"/>
            <a:ext cx="1747440" cy="1590480"/>
          </a:xfrm>
          <a:prstGeom prst="rect">
            <a:avLst/>
          </a:prstGeom>
          <a:ln w="0">
            <a:noFill/>
          </a:ln>
        </p:spPr>
      </p:pic>
      <p:pic>
        <p:nvPicPr>
          <p:cNvPr id="145" name="Google Shape;23;p66" descr="ucsealTransp"/>
          <p:cNvPicPr/>
          <p:nvPr/>
        </p:nvPicPr>
        <p:blipFill>
          <a:blip r:embed="rId3"/>
          <a:stretch/>
        </p:blipFill>
        <p:spPr>
          <a:xfrm>
            <a:off x="0" y="5262480"/>
            <a:ext cx="1747440" cy="1590480"/>
          </a:xfrm>
          <a:prstGeom prst="rect">
            <a:avLst/>
          </a:prstGeom>
          <a:ln w="0">
            <a:noFill/>
          </a:ln>
        </p:spPr>
      </p:pic>
      <p:pic>
        <p:nvPicPr>
          <p:cNvPr id="146" name="Google Shape;24;p66" descr="ucsealTransp"/>
          <p:cNvPicPr/>
          <p:nvPr/>
        </p:nvPicPr>
        <p:blipFill>
          <a:blip r:embed="rId3"/>
          <a:stretch/>
        </p:blipFill>
        <p:spPr>
          <a:xfrm>
            <a:off x="0" y="5262480"/>
            <a:ext cx="1747440" cy="1590480"/>
          </a:xfrm>
          <a:prstGeom prst="rect">
            <a:avLst/>
          </a:prstGeom>
          <a:ln w="0">
            <a:noFill/>
          </a:ln>
        </p:spPr>
      </p:pic>
      <p:pic>
        <p:nvPicPr>
          <p:cNvPr id="147" name="Google Shape;25;p66" descr="slug-start-color-transp"/>
          <p:cNvPicPr/>
          <p:nvPr/>
        </p:nvPicPr>
        <p:blipFill>
          <a:blip r:embed="rId4"/>
          <a:stretch/>
        </p:blipFill>
        <p:spPr>
          <a:xfrm>
            <a:off x="7620120" y="5105520"/>
            <a:ext cx="1384200" cy="1660320"/>
          </a:xfrm>
          <a:prstGeom prst="rect">
            <a:avLst/>
          </a:prstGeom>
          <a:ln w="0">
            <a:noFill/>
          </a:ln>
        </p:spPr>
      </p:pic>
      <p:pic>
        <p:nvPicPr>
          <p:cNvPr id="148" name="Google Shape;26;p66" descr="ucsealTransp"/>
          <p:cNvPicPr/>
          <p:nvPr/>
        </p:nvPicPr>
        <p:blipFill>
          <a:blip r:embed="rId3"/>
          <a:stretch/>
        </p:blipFill>
        <p:spPr>
          <a:xfrm>
            <a:off x="0" y="5262480"/>
            <a:ext cx="1747440" cy="1590480"/>
          </a:xfrm>
          <a:prstGeom prst="rect">
            <a:avLst/>
          </a:prstGeom>
          <a:ln w="0">
            <a:noFill/>
          </a:ln>
        </p:spPr>
      </p:pic>
      <p:pic>
        <p:nvPicPr>
          <p:cNvPr id="149" name="Google Shape;27;p66" descr="ucsealTransp"/>
          <p:cNvPicPr/>
          <p:nvPr/>
        </p:nvPicPr>
        <p:blipFill>
          <a:blip r:embed="rId3"/>
          <a:stretch/>
        </p:blipFill>
        <p:spPr>
          <a:xfrm>
            <a:off x="0" y="5262480"/>
            <a:ext cx="1747440" cy="1590480"/>
          </a:xfrm>
          <a:prstGeom prst="rect">
            <a:avLst/>
          </a:prstGeom>
          <a:ln w="0">
            <a:noFill/>
          </a:ln>
        </p:spPr>
      </p:pic>
      <p:pic>
        <p:nvPicPr>
          <p:cNvPr id="150" name="Google Shape;28;p66" descr="slug-start-color-transp"/>
          <p:cNvPicPr/>
          <p:nvPr/>
        </p:nvPicPr>
        <p:blipFill>
          <a:blip r:embed="rId4"/>
          <a:stretch/>
        </p:blipFill>
        <p:spPr>
          <a:xfrm>
            <a:off x="7620120" y="5105520"/>
            <a:ext cx="1384200" cy="1660320"/>
          </a:xfrm>
          <a:prstGeom prst="rect">
            <a:avLst/>
          </a:prstGeom>
          <a:ln w="0">
            <a:noFill/>
          </a:ln>
        </p:spPr>
      </p:pic>
      <p:sp>
        <p:nvSpPr>
          <p:cNvPr id="151" name="PlaceHolder 1"/>
          <p:cNvSpPr>
            <a:spLocks noGrp="1"/>
          </p:cNvSpPr>
          <p:nvPr>
            <p:ph type="title"/>
          </p:nvPr>
        </p:nvSpPr>
        <p:spPr>
          <a:xfrm>
            <a:off x="457200" y="273600"/>
            <a:ext cx="8228880" cy="114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152"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68333"/>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153"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154" name="PlaceHolder 4"/>
          <p:cNvSpPr>
            <a:spLocks noGrp="1"/>
          </p:cNvSpPr>
          <p:nvPr>
            <p:ph type="body"/>
          </p:nvPr>
        </p:nvSpPr>
        <p:spPr>
          <a:xfrm>
            <a:off x="457200" y="3682080"/>
            <a:ext cx="4015440" cy="1896480"/>
          </a:xfrm>
          <a:prstGeom prst="rect">
            <a:avLst/>
          </a:prstGeom>
          <a:noFill/>
          <a:ln w="0">
            <a:noFill/>
          </a:ln>
        </p:spPr>
        <p:txBody>
          <a:bodyPr lIns="0" tIns="0" rIns="0" bIns="0" anchor="t">
            <a:normAutofit fontScale="68333"/>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9" name="CustomShape 1"/>
          <p:cNvSpPr/>
          <p:nvPr/>
        </p:nvSpPr>
        <p:spPr>
          <a:xfrm>
            <a:off x="-3240" y="411480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160" name="CustomShape 2"/>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pic>
        <p:nvPicPr>
          <p:cNvPr id="161" name="Google Shape;12;p66" descr="ucsealTransp"/>
          <p:cNvPicPr/>
          <p:nvPr/>
        </p:nvPicPr>
        <p:blipFill>
          <a:blip r:embed="rId3"/>
          <a:stretch/>
        </p:blipFill>
        <p:spPr>
          <a:xfrm>
            <a:off x="0" y="5262480"/>
            <a:ext cx="1747440" cy="1590480"/>
          </a:xfrm>
          <a:prstGeom prst="rect">
            <a:avLst/>
          </a:prstGeom>
          <a:ln w="0">
            <a:noFill/>
          </a:ln>
        </p:spPr>
      </p:pic>
      <p:pic>
        <p:nvPicPr>
          <p:cNvPr id="162" name="Google Shape;13;p66" descr="slug-start-color-transp"/>
          <p:cNvPicPr/>
          <p:nvPr/>
        </p:nvPicPr>
        <p:blipFill>
          <a:blip r:embed="rId4"/>
          <a:stretch/>
        </p:blipFill>
        <p:spPr>
          <a:xfrm>
            <a:off x="7620120" y="5105520"/>
            <a:ext cx="1384200" cy="1660320"/>
          </a:xfrm>
          <a:prstGeom prst="rect">
            <a:avLst/>
          </a:prstGeom>
          <a:ln w="0">
            <a:noFill/>
          </a:ln>
        </p:spPr>
      </p:pic>
      <p:pic>
        <p:nvPicPr>
          <p:cNvPr id="163" name="Google Shape;14;p66" descr="ucsealTransp"/>
          <p:cNvPicPr/>
          <p:nvPr/>
        </p:nvPicPr>
        <p:blipFill>
          <a:blip r:embed="rId3"/>
          <a:stretch/>
        </p:blipFill>
        <p:spPr>
          <a:xfrm>
            <a:off x="0" y="5262480"/>
            <a:ext cx="1747440" cy="1590480"/>
          </a:xfrm>
          <a:prstGeom prst="rect">
            <a:avLst/>
          </a:prstGeom>
          <a:ln w="0">
            <a:noFill/>
          </a:ln>
        </p:spPr>
      </p:pic>
      <p:pic>
        <p:nvPicPr>
          <p:cNvPr id="164" name="Google Shape;15;p66" descr="slug-start-color-transp"/>
          <p:cNvPicPr/>
          <p:nvPr/>
        </p:nvPicPr>
        <p:blipFill>
          <a:blip r:embed="rId4"/>
          <a:stretch/>
        </p:blipFill>
        <p:spPr>
          <a:xfrm>
            <a:off x="7620120" y="5105520"/>
            <a:ext cx="1384200" cy="1660320"/>
          </a:xfrm>
          <a:prstGeom prst="rect">
            <a:avLst/>
          </a:prstGeom>
          <a:ln w="0">
            <a:noFill/>
          </a:ln>
        </p:spPr>
      </p:pic>
      <p:pic>
        <p:nvPicPr>
          <p:cNvPr id="165" name="Google Shape;16;p66" descr="ucsealTransp"/>
          <p:cNvPicPr/>
          <p:nvPr/>
        </p:nvPicPr>
        <p:blipFill>
          <a:blip r:embed="rId3"/>
          <a:stretch/>
        </p:blipFill>
        <p:spPr>
          <a:xfrm>
            <a:off x="0" y="5262480"/>
            <a:ext cx="1747440" cy="1590480"/>
          </a:xfrm>
          <a:prstGeom prst="rect">
            <a:avLst/>
          </a:prstGeom>
          <a:ln w="0">
            <a:noFill/>
          </a:ln>
        </p:spPr>
      </p:pic>
      <p:pic>
        <p:nvPicPr>
          <p:cNvPr id="166" name="Google Shape;17;p66" descr="ucsealTransp"/>
          <p:cNvPicPr/>
          <p:nvPr/>
        </p:nvPicPr>
        <p:blipFill>
          <a:blip r:embed="rId3"/>
          <a:stretch/>
        </p:blipFill>
        <p:spPr>
          <a:xfrm>
            <a:off x="0" y="5262480"/>
            <a:ext cx="1747440" cy="1590480"/>
          </a:xfrm>
          <a:prstGeom prst="rect">
            <a:avLst/>
          </a:prstGeom>
          <a:ln w="0">
            <a:noFill/>
          </a:ln>
        </p:spPr>
      </p:pic>
      <p:pic>
        <p:nvPicPr>
          <p:cNvPr id="167" name="Google Shape;18;p66" descr="slug-start-color-transp"/>
          <p:cNvPicPr/>
          <p:nvPr/>
        </p:nvPicPr>
        <p:blipFill>
          <a:blip r:embed="rId4"/>
          <a:stretch/>
        </p:blipFill>
        <p:spPr>
          <a:xfrm>
            <a:off x="7620120" y="5105520"/>
            <a:ext cx="1384200" cy="1660320"/>
          </a:xfrm>
          <a:prstGeom prst="rect">
            <a:avLst/>
          </a:prstGeom>
          <a:ln w="0">
            <a:noFill/>
          </a:ln>
        </p:spPr>
      </p:pic>
      <p:pic>
        <p:nvPicPr>
          <p:cNvPr id="168" name="Google Shape;19;p66" descr="ucsealTransp"/>
          <p:cNvPicPr/>
          <p:nvPr/>
        </p:nvPicPr>
        <p:blipFill>
          <a:blip r:embed="rId3"/>
          <a:stretch/>
        </p:blipFill>
        <p:spPr>
          <a:xfrm>
            <a:off x="0" y="5262480"/>
            <a:ext cx="1747440" cy="1590480"/>
          </a:xfrm>
          <a:prstGeom prst="rect">
            <a:avLst/>
          </a:prstGeom>
          <a:ln w="0">
            <a:noFill/>
          </a:ln>
        </p:spPr>
      </p:pic>
      <p:pic>
        <p:nvPicPr>
          <p:cNvPr id="169" name="Google Shape;20;p66" descr="ucsealTransp"/>
          <p:cNvPicPr/>
          <p:nvPr/>
        </p:nvPicPr>
        <p:blipFill>
          <a:blip r:embed="rId3"/>
          <a:stretch/>
        </p:blipFill>
        <p:spPr>
          <a:xfrm>
            <a:off x="0" y="5262480"/>
            <a:ext cx="1747440" cy="1590480"/>
          </a:xfrm>
          <a:prstGeom prst="rect">
            <a:avLst/>
          </a:prstGeom>
          <a:ln w="0">
            <a:noFill/>
          </a:ln>
        </p:spPr>
      </p:pic>
      <p:pic>
        <p:nvPicPr>
          <p:cNvPr id="170" name="Google Shape;21;p66" descr="slug-start-color-transp"/>
          <p:cNvPicPr/>
          <p:nvPr/>
        </p:nvPicPr>
        <p:blipFill>
          <a:blip r:embed="rId4"/>
          <a:stretch/>
        </p:blipFill>
        <p:spPr>
          <a:xfrm>
            <a:off x="7620120" y="5105520"/>
            <a:ext cx="1384200" cy="1660320"/>
          </a:xfrm>
          <a:prstGeom prst="rect">
            <a:avLst/>
          </a:prstGeom>
          <a:ln w="0">
            <a:noFill/>
          </a:ln>
        </p:spPr>
      </p:pic>
      <p:pic>
        <p:nvPicPr>
          <p:cNvPr id="171" name="Google Shape;22;p66" descr="ucsealTransp"/>
          <p:cNvPicPr/>
          <p:nvPr/>
        </p:nvPicPr>
        <p:blipFill>
          <a:blip r:embed="rId3"/>
          <a:stretch/>
        </p:blipFill>
        <p:spPr>
          <a:xfrm>
            <a:off x="0" y="5262480"/>
            <a:ext cx="1747440" cy="1590480"/>
          </a:xfrm>
          <a:prstGeom prst="rect">
            <a:avLst/>
          </a:prstGeom>
          <a:ln w="0">
            <a:noFill/>
          </a:ln>
        </p:spPr>
      </p:pic>
      <p:pic>
        <p:nvPicPr>
          <p:cNvPr id="172" name="Google Shape;23;p66" descr="ucsealTransp"/>
          <p:cNvPicPr/>
          <p:nvPr/>
        </p:nvPicPr>
        <p:blipFill>
          <a:blip r:embed="rId3"/>
          <a:stretch/>
        </p:blipFill>
        <p:spPr>
          <a:xfrm>
            <a:off x="0" y="5262480"/>
            <a:ext cx="1747440" cy="1590480"/>
          </a:xfrm>
          <a:prstGeom prst="rect">
            <a:avLst/>
          </a:prstGeom>
          <a:ln w="0">
            <a:noFill/>
          </a:ln>
        </p:spPr>
      </p:pic>
      <p:pic>
        <p:nvPicPr>
          <p:cNvPr id="173" name="Google Shape;24;p66" descr="ucsealTransp"/>
          <p:cNvPicPr/>
          <p:nvPr/>
        </p:nvPicPr>
        <p:blipFill>
          <a:blip r:embed="rId3"/>
          <a:stretch/>
        </p:blipFill>
        <p:spPr>
          <a:xfrm>
            <a:off x="0" y="5262480"/>
            <a:ext cx="1747440" cy="1590480"/>
          </a:xfrm>
          <a:prstGeom prst="rect">
            <a:avLst/>
          </a:prstGeom>
          <a:ln w="0">
            <a:noFill/>
          </a:ln>
        </p:spPr>
      </p:pic>
      <p:pic>
        <p:nvPicPr>
          <p:cNvPr id="174" name="Google Shape;25;p66" descr="slug-start-color-transp"/>
          <p:cNvPicPr/>
          <p:nvPr/>
        </p:nvPicPr>
        <p:blipFill>
          <a:blip r:embed="rId4"/>
          <a:stretch/>
        </p:blipFill>
        <p:spPr>
          <a:xfrm>
            <a:off x="7620120" y="5105520"/>
            <a:ext cx="1384200" cy="1660320"/>
          </a:xfrm>
          <a:prstGeom prst="rect">
            <a:avLst/>
          </a:prstGeom>
          <a:ln w="0">
            <a:noFill/>
          </a:ln>
        </p:spPr>
      </p:pic>
      <p:pic>
        <p:nvPicPr>
          <p:cNvPr id="175" name="Google Shape;26;p66" descr="ucsealTransp"/>
          <p:cNvPicPr/>
          <p:nvPr/>
        </p:nvPicPr>
        <p:blipFill>
          <a:blip r:embed="rId3"/>
          <a:stretch/>
        </p:blipFill>
        <p:spPr>
          <a:xfrm>
            <a:off x="0" y="5262480"/>
            <a:ext cx="1747440" cy="1590480"/>
          </a:xfrm>
          <a:prstGeom prst="rect">
            <a:avLst/>
          </a:prstGeom>
          <a:ln w="0">
            <a:noFill/>
          </a:ln>
        </p:spPr>
      </p:pic>
      <p:pic>
        <p:nvPicPr>
          <p:cNvPr id="176" name="Google Shape;27;p66" descr="ucsealTransp"/>
          <p:cNvPicPr/>
          <p:nvPr/>
        </p:nvPicPr>
        <p:blipFill>
          <a:blip r:embed="rId3"/>
          <a:stretch/>
        </p:blipFill>
        <p:spPr>
          <a:xfrm>
            <a:off x="0" y="5262480"/>
            <a:ext cx="1747440" cy="1590480"/>
          </a:xfrm>
          <a:prstGeom prst="rect">
            <a:avLst/>
          </a:prstGeom>
          <a:ln w="0">
            <a:noFill/>
          </a:ln>
        </p:spPr>
      </p:pic>
      <p:pic>
        <p:nvPicPr>
          <p:cNvPr id="177" name="Google Shape;28;p66" descr="slug-start-color-transp"/>
          <p:cNvPicPr/>
          <p:nvPr/>
        </p:nvPicPr>
        <p:blipFill>
          <a:blip r:embed="rId4"/>
          <a:stretch/>
        </p:blipFill>
        <p:spPr>
          <a:xfrm>
            <a:off x="7620120" y="5105520"/>
            <a:ext cx="1384200" cy="1660320"/>
          </a:xfrm>
          <a:prstGeom prst="rect">
            <a:avLst/>
          </a:prstGeom>
          <a:ln w="0">
            <a:noFill/>
          </a:ln>
        </p:spPr>
      </p:pic>
      <p:sp>
        <p:nvSpPr>
          <p:cNvPr id="178" name="PlaceHolder 1"/>
          <p:cNvSpPr>
            <a:spLocks noGrp="1"/>
          </p:cNvSpPr>
          <p:nvPr>
            <p:ph type="title"/>
          </p:nvPr>
        </p:nvSpPr>
        <p:spPr>
          <a:xfrm>
            <a:off x="457200" y="273600"/>
            <a:ext cx="8228880" cy="114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179"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180"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68333"/>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181" name="PlaceHolder 4"/>
          <p:cNvSpPr>
            <a:spLocks noGrp="1"/>
          </p:cNvSpPr>
          <p:nvPr>
            <p:ph type="body"/>
          </p:nvPr>
        </p:nvSpPr>
        <p:spPr>
          <a:xfrm>
            <a:off x="4674240" y="3682080"/>
            <a:ext cx="4015440" cy="1896480"/>
          </a:xfrm>
          <a:prstGeom prst="rect">
            <a:avLst/>
          </a:prstGeom>
          <a:noFill/>
          <a:ln w="0">
            <a:noFill/>
          </a:ln>
        </p:spPr>
        <p:txBody>
          <a:bodyPr lIns="0" tIns="0" rIns="0" bIns="0" anchor="t">
            <a:normAutofit fontScale="68333"/>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6" name="CustomShape 1"/>
          <p:cNvSpPr/>
          <p:nvPr/>
        </p:nvSpPr>
        <p:spPr>
          <a:xfrm>
            <a:off x="-3240" y="411480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187" name="CustomShape 2"/>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pic>
        <p:nvPicPr>
          <p:cNvPr id="188" name="Google Shape;12;p66" descr="ucsealTransp"/>
          <p:cNvPicPr/>
          <p:nvPr/>
        </p:nvPicPr>
        <p:blipFill>
          <a:blip r:embed="rId3"/>
          <a:stretch/>
        </p:blipFill>
        <p:spPr>
          <a:xfrm>
            <a:off x="0" y="5262480"/>
            <a:ext cx="1747440" cy="1590480"/>
          </a:xfrm>
          <a:prstGeom prst="rect">
            <a:avLst/>
          </a:prstGeom>
          <a:ln w="0">
            <a:noFill/>
          </a:ln>
        </p:spPr>
      </p:pic>
      <p:pic>
        <p:nvPicPr>
          <p:cNvPr id="189" name="Google Shape;13;p66" descr="slug-start-color-transp"/>
          <p:cNvPicPr/>
          <p:nvPr/>
        </p:nvPicPr>
        <p:blipFill>
          <a:blip r:embed="rId4"/>
          <a:stretch/>
        </p:blipFill>
        <p:spPr>
          <a:xfrm>
            <a:off x="7620120" y="5105520"/>
            <a:ext cx="1384200" cy="1660320"/>
          </a:xfrm>
          <a:prstGeom prst="rect">
            <a:avLst/>
          </a:prstGeom>
          <a:ln w="0">
            <a:noFill/>
          </a:ln>
        </p:spPr>
      </p:pic>
      <p:pic>
        <p:nvPicPr>
          <p:cNvPr id="190" name="Google Shape;14;p66" descr="ucsealTransp"/>
          <p:cNvPicPr/>
          <p:nvPr/>
        </p:nvPicPr>
        <p:blipFill>
          <a:blip r:embed="rId3"/>
          <a:stretch/>
        </p:blipFill>
        <p:spPr>
          <a:xfrm>
            <a:off x="0" y="5262480"/>
            <a:ext cx="1747440" cy="1590480"/>
          </a:xfrm>
          <a:prstGeom prst="rect">
            <a:avLst/>
          </a:prstGeom>
          <a:ln w="0">
            <a:noFill/>
          </a:ln>
        </p:spPr>
      </p:pic>
      <p:pic>
        <p:nvPicPr>
          <p:cNvPr id="191" name="Google Shape;15;p66" descr="slug-start-color-transp"/>
          <p:cNvPicPr/>
          <p:nvPr/>
        </p:nvPicPr>
        <p:blipFill>
          <a:blip r:embed="rId4"/>
          <a:stretch/>
        </p:blipFill>
        <p:spPr>
          <a:xfrm>
            <a:off x="7620120" y="5105520"/>
            <a:ext cx="1384200" cy="1660320"/>
          </a:xfrm>
          <a:prstGeom prst="rect">
            <a:avLst/>
          </a:prstGeom>
          <a:ln w="0">
            <a:noFill/>
          </a:ln>
        </p:spPr>
      </p:pic>
      <p:pic>
        <p:nvPicPr>
          <p:cNvPr id="192" name="Google Shape;16;p66" descr="ucsealTransp"/>
          <p:cNvPicPr/>
          <p:nvPr/>
        </p:nvPicPr>
        <p:blipFill>
          <a:blip r:embed="rId3"/>
          <a:stretch/>
        </p:blipFill>
        <p:spPr>
          <a:xfrm>
            <a:off x="0" y="5262480"/>
            <a:ext cx="1747440" cy="1590480"/>
          </a:xfrm>
          <a:prstGeom prst="rect">
            <a:avLst/>
          </a:prstGeom>
          <a:ln w="0">
            <a:noFill/>
          </a:ln>
        </p:spPr>
      </p:pic>
      <p:pic>
        <p:nvPicPr>
          <p:cNvPr id="193" name="Google Shape;17;p66" descr="ucsealTransp"/>
          <p:cNvPicPr/>
          <p:nvPr/>
        </p:nvPicPr>
        <p:blipFill>
          <a:blip r:embed="rId3"/>
          <a:stretch/>
        </p:blipFill>
        <p:spPr>
          <a:xfrm>
            <a:off x="0" y="5262480"/>
            <a:ext cx="1747440" cy="1590480"/>
          </a:xfrm>
          <a:prstGeom prst="rect">
            <a:avLst/>
          </a:prstGeom>
          <a:ln w="0">
            <a:noFill/>
          </a:ln>
        </p:spPr>
      </p:pic>
      <p:pic>
        <p:nvPicPr>
          <p:cNvPr id="194" name="Google Shape;18;p66" descr="slug-start-color-transp"/>
          <p:cNvPicPr/>
          <p:nvPr/>
        </p:nvPicPr>
        <p:blipFill>
          <a:blip r:embed="rId4"/>
          <a:stretch/>
        </p:blipFill>
        <p:spPr>
          <a:xfrm>
            <a:off x="7620120" y="5105520"/>
            <a:ext cx="1384200" cy="1660320"/>
          </a:xfrm>
          <a:prstGeom prst="rect">
            <a:avLst/>
          </a:prstGeom>
          <a:ln w="0">
            <a:noFill/>
          </a:ln>
        </p:spPr>
      </p:pic>
      <p:pic>
        <p:nvPicPr>
          <p:cNvPr id="195" name="Google Shape;19;p66" descr="ucsealTransp"/>
          <p:cNvPicPr/>
          <p:nvPr/>
        </p:nvPicPr>
        <p:blipFill>
          <a:blip r:embed="rId3"/>
          <a:stretch/>
        </p:blipFill>
        <p:spPr>
          <a:xfrm>
            <a:off x="0" y="5262480"/>
            <a:ext cx="1747440" cy="1590480"/>
          </a:xfrm>
          <a:prstGeom prst="rect">
            <a:avLst/>
          </a:prstGeom>
          <a:ln w="0">
            <a:noFill/>
          </a:ln>
        </p:spPr>
      </p:pic>
      <p:pic>
        <p:nvPicPr>
          <p:cNvPr id="196" name="Google Shape;20;p66" descr="ucsealTransp"/>
          <p:cNvPicPr/>
          <p:nvPr/>
        </p:nvPicPr>
        <p:blipFill>
          <a:blip r:embed="rId3"/>
          <a:stretch/>
        </p:blipFill>
        <p:spPr>
          <a:xfrm>
            <a:off x="0" y="5262480"/>
            <a:ext cx="1747440" cy="1590480"/>
          </a:xfrm>
          <a:prstGeom prst="rect">
            <a:avLst/>
          </a:prstGeom>
          <a:ln w="0">
            <a:noFill/>
          </a:ln>
        </p:spPr>
      </p:pic>
      <p:pic>
        <p:nvPicPr>
          <p:cNvPr id="197" name="Google Shape;21;p66" descr="slug-start-color-transp"/>
          <p:cNvPicPr/>
          <p:nvPr/>
        </p:nvPicPr>
        <p:blipFill>
          <a:blip r:embed="rId4"/>
          <a:stretch/>
        </p:blipFill>
        <p:spPr>
          <a:xfrm>
            <a:off x="7620120" y="5105520"/>
            <a:ext cx="1384200" cy="1660320"/>
          </a:xfrm>
          <a:prstGeom prst="rect">
            <a:avLst/>
          </a:prstGeom>
          <a:ln w="0">
            <a:noFill/>
          </a:ln>
        </p:spPr>
      </p:pic>
      <p:pic>
        <p:nvPicPr>
          <p:cNvPr id="198" name="Google Shape;22;p66" descr="ucsealTransp"/>
          <p:cNvPicPr/>
          <p:nvPr/>
        </p:nvPicPr>
        <p:blipFill>
          <a:blip r:embed="rId3"/>
          <a:stretch/>
        </p:blipFill>
        <p:spPr>
          <a:xfrm>
            <a:off x="0" y="5262480"/>
            <a:ext cx="1747440" cy="1590480"/>
          </a:xfrm>
          <a:prstGeom prst="rect">
            <a:avLst/>
          </a:prstGeom>
          <a:ln w="0">
            <a:noFill/>
          </a:ln>
        </p:spPr>
      </p:pic>
      <p:pic>
        <p:nvPicPr>
          <p:cNvPr id="199" name="Google Shape;23;p66" descr="ucsealTransp"/>
          <p:cNvPicPr/>
          <p:nvPr/>
        </p:nvPicPr>
        <p:blipFill>
          <a:blip r:embed="rId3"/>
          <a:stretch/>
        </p:blipFill>
        <p:spPr>
          <a:xfrm>
            <a:off x="0" y="5262480"/>
            <a:ext cx="1747440" cy="1590480"/>
          </a:xfrm>
          <a:prstGeom prst="rect">
            <a:avLst/>
          </a:prstGeom>
          <a:ln w="0">
            <a:noFill/>
          </a:ln>
        </p:spPr>
      </p:pic>
      <p:pic>
        <p:nvPicPr>
          <p:cNvPr id="200" name="Google Shape;24;p66" descr="ucsealTransp"/>
          <p:cNvPicPr/>
          <p:nvPr/>
        </p:nvPicPr>
        <p:blipFill>
          <a:blip r:embed="rId3"/>
          <a:stretch/>
        </p:blipFill>
        <p:spPr>
          <a:xfrm>
            <a:off x="0" y="5262480"/>
            <a:ext cx="1747440" cy="1590480"/>
          </a:xfrm>
          <a:prstGeom prst="rect">
            <a:avLst/>
          </a:prstGeom>
          <a:ln w="0">
            <a:noFill/>
          </a:ln>
        </p:spPr>
      </p:pic>
      <p:pic>
        <p:nvPicPr>
          <p:cNvPr id="201" name="Google Shape;25;p66" descr="slug-start-color-transp"/>
          <p:cNvPicPr/>
          <p:nvPr/>
        </p:nvPicPr>
        <p:blipFill>
          <a:blip r:embed="rId4"/>
          <a:stretch/>
        </p:blipFill>
        <p:spPr>
          <a:xfrm>
            <a:off x="7620120" y="5105520"/>
            <a:ext cx="1384200" cy="1660320"/>
          </a:xfrm>
          <a:prstGeom prst="rect">
            <a:avLst/>
          </a:prstGeom>
          <a:ln w="0">
            <a:noFill/>
          </a:ln>
        </p:spPr>
      </p:pic>
      <p:pic>
        <p:nvPicPr>
          <p:cNvPr id="202" name="Google Shape;26;p66" descr="ucsealTransp"/>
          <p:cNvPicPr/>
          <p:nvPr/>
        </p:nvPicPr>
        <p:blipFill>
          <a:blip r:embed="rId3"/>
          <a:stretch/>
        </p:blipFill>
        <p:spPr>
          <a:xfrm>
            <a:off x="0" y="5262480"/>
            <a:ext cx="1747440" cy="1590480"/>
          </a:xfrm>
          <a:prstGeom prst="rect">
            <a:avLst/>
          </a:prstGeom>
          <a:ln w="0">
            <a:noFill/>
          </a:ln>
        </p:spPr>
      </p:pic>
      <p:pic>
        <p:nvPicPr>
          <p:cNvPr id="203" name="Google Shape;27;p66" descr="ucsealTransp"/>
          <p:cNvPicPr/>
          <p:nvPr/>
        </p:nvPicPr>
        <p:blipFill>
          <a:blip r:embed="rId3"/>
          <a:stretch/>
        </p:blipFill>
        <p:spPr>
          <a:xfrm>
            <a:off x="0" y="5262480"/>
            <a:ext cx="1747440" cy="1590480"/>
          </a:xfrm>
          <a:prstGeom prst="rect">
            <a:avLst/>
          </a:prstGeom>
          <a:ln w="0">
            <a:noFill/>
          </a:ln>
        </p:spPr>
      </p:pic>
      <p:pic>
        <p:nvPicPr>
          <p:cNvPr id="204" name="Google Shape;28;p66" descr="slug-start-color-transp"/>
          <p:cNvPicPr/>
          <p:nvPr/>
        </p:nvPicPr>
        <p:blipFill>
          <a:blip r:embed="rId4"/>
          <a:stretch/>
        </p:blipFill>
        <p:spPr>
          <a:xfrm>
            <a:off x="7620120" y="5105520"/>
            <a:ext cx="1384200" cy="1660320"/>
          </a:xfrm>
          <a:prstGeom prst="rect">
            <a:avLst/>
          </a:prstGeom>
          <a:ln w="0">
            <a:noFill/>
          </a:ln>
        </p:spPr>
      </p:pic>
      <p:sp>
        <p:nvSpPr>
          <p:cNvPr id="205" name="PlaceHolder 1"/>
          <p:cNvSpPr>
            <a:spLocks noGrp="1"/>
          </p:cNvSpPr>
          <p:nvPr>
            <p:ph type="title"/>
          </p:nvPr>
        </p:nvSpPr>
        <p:spPr>
          <a:xfrm>
            <a:off x="457200" y="273600"/>
            <a:ext cx="8228880" cy="114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206"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68333"/>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207"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68333"/>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208" name="PlaceHolder 4"/>
          <p:cNvSpPr>
            <a:spLocks noGrp="1"/>
          </p:cNvSpPr>
          <p:nvPr>
            <p:ph type="body"/>
          </p:nvPr>
        </p:nvSpPr>
        <p:spPr>
          <a:xfrm>
            <a:off x="457200" y="3682080"/>
            <a:ext cx="8228880" cy="1896480"/>
          </a:xfrm>
          <a:prstGeom prst="rect">
            <a:avLst/>
          </a:prstGeom>
          <a:noFill/>
          <a:ln w="0">
            <a:noFill/>
          </a:ln>
        </p:spPr>
        <p:txBody>
          <a:bodyPr lIns="0" tIns="0" rIns="0" bIns="0" anchor="t">
            <a:normAutofit fontScale="71666"/>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3" name="CustomShape 1"/>
          <p:cNvSpPr/>
          <p:nvPr/>
        </p:nvSpPr>
        <p:spPr>
          <a:xfrm>
            <a:off x="-3240" y="411480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214" name="CustomShape 2"/>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pic>
        <p:nvPicPr>
          <p:cNvPr id="215" name="Google Shape;12;p66" descr="ucsealTransp"/>
          <p:cNvPicPr/>
          <p:nvPr/>
        </p:nvPicPr>
        <p:blipFill>
          <a:blip r:embed="rId3"/>
          <a:stretch/>
        </p:blipFill>
        <p:spPr>
          <a:xfrm>
            <a:off x="0" y="5262480"/>
            <a:ext cx="1747440" cy="1590480"/>
          </a:xfrm>
          <a:prstGeom prst="rect">
            <a:avLst/>
          </a:prstGeom>
          <a:ln w="0">
            <a:noFill/>
          </a:ln>
        </p:spPr>
      </p:pic>
      <p:pic>
        <p:nvPicPr>
          <p:cNvPr id="216" name="Google Shape;13;p66" descr="slug-start-color-transp"/>
          <p:cNvPicPr/>
          <p:nvPr/>
        </p:nvPicPr>
        <p:blipFill>
          <a:blip r:embed="rId4"/>
          <a:stretch/>
        </p:blipFill>
        <p:spPr>
          <a:xfrm>
            <a:off x="7620120" y="5105520"/>
            <a:ext cx="1384200" cy="1660320"/>
          </a:xfrm>
          <a:prstGeom prst="rect">
            <a:avLst/>
          </a:prstGeom>
          <a:ln w="0">
            <a:noFill/>
          </a:ln>
        </p:spPr>
      </p:pic>
      <p:pic>
        <p:nvPicPr>
          <p:cNvPr id="217" name="Google Shape;14;p66" descr="ucsealTransp"/>
          <p:cNvPicPr/>
          <p:nvPr/>
        </p:nvPicPr>
        <p:blipFill>
          <a:blip r:embed="rId3"/>
          <a:stretch/>
        </p:blipFill>
        <p:spPr>
          <a:xfrm>
            <a:off x="0" y="5262480"/>
            <a:ext cx="1747440" cy="1590480"/>
          </a:xfrm>
          <a:prstGeom prst="rect">
            <a:avLst/>
          </a:prstGeom>
          <a:ln w="0">
            <a:noFill/>
          </a:ln>
        </p:spPr>
      </p:pic>
      <p:pic>
        <p:nvPicPr>
          <p:cNvPr id="218" name="Google Shape;15;p66" descr="slug-start-color-transp"/>
          <p:cNvPicPr/>
          <p:nvPr/>
        </p:nvPicPr>
        <p:blipFill>
          <a:blip r:embed="rId4"/>
          <a:stretch/>
        </p:blipFill>
        <p:spPr>
          <a:xfrm>
            <a:off x="7620120" y="5105520"/>
            <a:ext cx="1384200" cy="1660320"/>
          </a:xfrm>
          <a:prstGeom prst="rect">
            <a:avLst/>
          </a:prstGeom>
          <a:ln w="0">
            <a:noFill/>
          </a:ln>
        </p:spPr>
      </p:pic>
      <p:pic>
        <p:nvPicPr>
          <p:cNvPr id="219" name="Google Shape;16;p66" descr="ucsealTransp"/>
          <p:cNvPicPr/>
          <p:nvPr/>
        </p:nvPicPr>
        <p:blipFill>
          <a:blip r:embed="rId3"/>
          <a:stretch/>
        </p:blipFill>
        <p:spPr>
          <a:xfrm>
            <a:off x="0" y="5262480"/>
            <a:ext cx="1747440" cy="1590480"/>
          </a:xfrm>
          <a:prstGeom prst="rect">
            <a:avLst/>
          </a:prstGeom>
          <a:ln w="0">
            <a:noFill/>
          </a:ln>
        </p:spPr>
      </p:pic>
      <p:pic>
        <p:nvPicPr>
          <p:cNvPr id="220" name="Google Shape;17;p66" descr="ucsealTransp"/>
          <p:cNvPicPr/>
          <p:nvPr/>
        </p:nvPicPr>
        <p:blipFill>
          <a:blip r:embed="rId3"/>
          <a:stretch/>
        </p:blipFill>
        <p:spPr>
          <a:xfrm>
            <a:off x="0" y="5262480"/>
            <a:ext cx="1747440" cy="1590480"/>
          </a:xfrm>
          <a:prstGeom prst="rect">
            <a:avLst/>
          </a:prstGeom>
          <a:ln w="0">
            <a:noFill/>
          </a:ln>
        </p:spPr>
      </p:pic>
      <p:pic>
        <p:nvPicPr>
          <p:cNvPr id="221" name="Google Shape;18;p66" descr="slug-start-color-transp"/>
          <p:cNvPicPr/>
          <p:nvPr/>
        </p:nvPicPr>
        <p:blipFill>
          <a:blip r:embed="rId4"/>
          <a:stretch/>
        </p:blipFill>
        <p:spPr>
          <a:xfrm>
            <a:off x="7620120" y="5105520"/>
            <a:ext cx="1384200" cy="1660320"/>
          </a:xfrm>
          <a:prstGeom prst="rect">
            <a:avLst/>
          </a:prstGeom>
          <a:ln w="0">
            <a:noFill/>
          </a:ln>
        </p:spPr>
      </p:pic>
      <p:pic>
        <p:nvPicPr>
          <p:cNvPr id="222" name="Google Shape;19;p66" descr="ucsealTransp"/>
          <p:cNvPicPr/>
          <p:nvPr/>
        </p:nvPicPr>
        <p:blipFill>
          <a:blip r:embed="rId3"/>
          <a:stretch/>
        </p:blipFill>
        <p:spPr>
          <a:xfrm>
            <a:off x="0" y="5262480"/>
            <a:ext cx="1747440" cy="1590480"/>
          </a:xfrm>
          <a:prstGeom prst="rect">
            <a:avLst/>
          </a:prstGeom>
          <a:ln w="0">
            <a:noFill/>
          </a:ln>
        </p:spPr>
      </p:pic>
      <p:pic>
        <p:nvPicPr>
          <p:cNvPr id="223" name="Google Shape;20;p66" descr="ucsealTransp"/>
          <p:cNvPicPr/>
          <p:nvPr/>
        </p:nvPicPr>
        <p:blipFill>
          <a:blip r:embed="rId3"/>
          <a:stretch/>
        </p:blipFill>
        <p:spPr>
          <a:xfrm>
            <a:off x="0" y="5262480"/>
            <a:ext cx="1747440" cy="1590480"/>
          </a:xfrm>
          <a:prstGeom prst="rect">
            <a:avLst/>
          </a:prstGeom>
          <a:ln w="0">
            <a:noFill/>
          </a:ln>
        </p:spPr>
      </p:pic>
      <p:pic>
        <p:nvPicPr>
          <p:cNvPr id="224" name="Google Shape;21;p66" descr="slug-start-color-transp"/>
          <p:cNvPicPr/>
          <p:nvPr/>
        </p:nvPicPr>
        <p:blipFill>
          <a:blip r:embed="rId4"/>
          <a:stretch/>
        </p:blipFill>
        <p:spPr>
          <a:xfrm>
            <a:off x="7620120" y="5105520"/>
            <a:ext cx="1384200" cy="1660320"/>
          </a:xfrm>
          <a:prstGeom prst="rect">
            <a:avLst/>
          </a:prstGeom>
          <a:ln w="0">
            <a:noFill/>
          </a:ln>
        </p:spPr>
      </p:pic>
      <p:pic>
        <p:nvPicPr>
          <p:cNvPr id="225" name="Google Shape;22;p66" descr="ucsealTransp"/>
          <p:cNvPicPr/>
          <p:nvPr/>
        </p:nvPicPr>
        <p:blipFill>
          <a:blip r:embed="rId3"/>
          <a:stretch/>
        </p:blipFill>
        <p:spPr>
          <a:xfrm>
            <a:off x="0" y="5262480"/>
            <a:ext cx="1747440" cy="1590480"/>
          </a:xfrm>
          <a:prstGeom prst="rect">
            <a:avLst/>
          </a:prstGeom>
          <a:ln w="0">
            <a:noFill/>
          </a:ln>
        </p:spPr>
      </p:pic>
      <p:pic>
        <p:nvPicPr>
          <p:cNvPr id="226" name="Google Shape;23;p66" descr="ucsealTransp"/>
          <p:cNvPicPr/>
          <p:nvPr/>
        </p:nvPicPr>
        <p:blipFill>
          <a:blip r:embed="rId3"/>
          <a:stretch/>
        </p:blipFill>
        <p:spPr>
          <a:xfrm>
            <a:off x="0" y="5262480"/>
            <a:ext cx="1747440" cy="1590480"/>
          </a:xfrm>
          <a:prstGeom prst="rect">
            <a:avLst/>
          </a:prstGeom>
          <a:ln w="0">
            <a:noFill/>
          </a:ln>
        </p:spPr>
      </p:pic>
      <p:pic>
        <p:nvPicPr>
          <p:cNvPr id="227" name="Google Shape;24;p66" descr="ucsealTransp"/>
          <p:cNvPicPr/>
          <p:nvPr/>
        </p:nvPicPr>
        <p:blipFill>
          <a:blip r:embed="rId3"/>
          <a:stretch/>
        </p:blipFill>
        <p:spPr>
          <a:xfrm>
            <a:off x="0" y="5262480"/>
            <a:ext cx="1747440" cy="1590480"/>
          </a:xfrm>
          <a:prstGeom prst="rect">
            <a:avLst/>
          </a:prstGeom>
          <a:ln w="0">
            <a:noFill/>
          </a:ln>
        </p:spPr>
      </p:pic>
      <p:pic>
        <p:nvPicPr>
          <p:cNvPr id="228" name="Google Shape;25;p66" descr="slug-start-color-transp"/>
          <p:cNvPicPr/>
          <p:nvPr/>
        </p:nvPicPr>
        <p:blipFill>
          <a:blip r:embed="rId4"/>
          <a:stretch/>
        </p:blipFill>
        <p:spPr>
          <a:xfrm>
            <a:off x="7620120" y="5105520"/>
            <a:ext cx="1384200" cy="1660320"/>
          </a:xfrm>
          <a:prstGeom prst="rect">
            <a:avLst/>
          </a:prstGeom>
          <a:ln w="0">
            <a:noFill/>
          </a:ln>
        </p:spPr>
      </p:pic>
      <p:pic>
        <p:nvPicPr>
          <p:cNvPr id="229" name="Google Shape;26;p66" descr="ucsealTransp"/>
          <p:cNvPicPr/>
          <p:nvPr/>
        </p:nvPicPr>
        <p:blipFill>
          <a:blip r:embed="rId3"/>
          <a:stretch/>
        </p:blipFill>
        <p:spPr>
          <a:xfrm>
            <a:off x="0" y="5262480"/>
            <a:ext cx="1747440" cy="1590480"/>
          </a:xfrm>
          <a:prstGeom prst="rect">
            <a:avLst/>
          </a:prstGeom>
          <a:ln w="0">
            <a:noFill/>
          </a:ln>
        </p:spPr>
      </p:pic>
      <p:pic>
        <p:nvPicPr>
          <p:cNvPr id="230" name="Google Shape;27;p66" descr="ucsealTransp"/>
          <p:cNvPicPr/>
          <p:nvPr/>
        </p:nvPicPr>
        <p:blipFill>
          <a:blip r:embed="rId3"/>
          <a:stretch/>
        </p:blipFill>
        <p:spPr>
          <a:xfrm>
            <a:off x="0" y="5262480"/>
            <a:ext cx="1747440" cy="1590480"/>
          </a:xfrm>
          <a:prstGeom prst="rect">
            <a:avLst/>
          </a:prstGeom>
          <a:ln w="0">
            <a:noFill/>
          </a:ln>
        </p:spPr>
      </p:pic>
      <p:pic>
        <p:nvPicPr>
          <p:cNvPr id="231" name="Google Shape;28;p66" descr="slug-start-color-transp"/>
          <p:cNvPicPr/>
          <p:nvPr/>
        </p:nvPicPr>
        <p:blipFill>
          <a:blip r:embed="rId4"/>
          <a:stretch/>
        </p:blipFill>
        <p:spPr>
          <a:xfrm>
            <a:off x="7620120" y="5105520"/>
            <a:ext cx="1384200" cy="1660320"/>
          </a:xfrm>
          <a:prstGeom prst="rect">
            <a:avLst/>
          </a:prstGeom>
          <a:ln w="0">
            <a:noFill/>
          </a:ln>
        </p:spPr>
      </p:pic>
      <p:sp>
        <p:nvSpPr>
          <p:cNvPr id="232" name="PlaceHolder 1"/>
          <p:cNvSpPr>
            <a:spLocks noGrp="1"/>
          </p:cNvSpPr>
          <p:nvPr>
            <p:ph type="title"/>
          </p:nvPr>
        </p:nvSpPr>
        <p:spPr>
          <a:xfrm>
            <a:off x="457200" y="273600"/>
            <a:ext cx="8228880" cy="114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233" name="PlaceHolder 2"/>
          <p:cNvSpPr>
            <a:spLocks noGrp="1"/>
          </p:cNvSpPr>
          <p:nvPr>
            <p:ph type="body"/>
          </p:nvPr>
        </p:nvSpPr>
        <p:spPr>
          <a:xfrm>
            <a:off x="457200" y="1604520"/>
            <a:ext cx="8228880" cy="1896480"/>
          </a:xfrm>
          <a:prstGeom prst="rect">
            <a:avLst/>
          </a:prstGeom>
          <a:noFill/>
          <a:ln w="0">
            <a:noFill/>
          </a:ln>
        </p:spPr>
        <p:txBody>
          <a:bodyPr lIns="0" tIns="0" rIns="0" bIns="0" anchor="t">
            <a:normAutofit fontScale="71666"/>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234" name="PlaceHolder 3"/>
          <p:cNvSpPr>
            <a:spLocks noGrp="1"/>
          </p:cNvSpPr>
          <p:nvPr>
            <p:ph type="body"/>
          </p:nvPr>
        </p:nvSpPr>
        <p:spPr>
          <a:xfrm>
            <a:off x="457200" y="3682080"/>
            <a:ext cx="8228880" cy="1896480"/>
          </a:xfrm>
          <a:prstGeom prst="rect">
            <a:avLst/>
          </a:prstGeom>
          <a:noFill/>
          <a:ln w="0">
            <a:noFill/>
          </a:ln>
        </p:spPr>
        <p:txBody>
          <a:bodyPr lIns="0" tIns="0" rIns="0" bIns="0" anchor="t">
            <a:normAutofit fontScale="71666"/>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8" name="CustomShape 1"/>
          <p:cNvSpPr/>
          <p:nvPr/>
        </p:nvSpPr>
        <p:spPr>
          <a:xfrm>
            <a:off x="-3240" y="411480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239" name="CustomShape 2"/>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pic>
        <p:nvPicPr>
          <p:cNvPr id="240" name="Google Shape;12;p66" descr="ucsealTransp"/>
          <p:cNvPicPr/>
          <p:nvPr/>
        </p:nvPicPr>
        <p:blipFill>
          <a:blip r:embed="rId3"/>
          <a:stretch/>
        </p:blipFill>
        <p:spPr>
          <a:xfrm>
            <a:off x="0" y="5262480"/>
            <a:ext cx="1747440" cy="1590480"/>
          </a:xfrm>
          <a:prstGeom prst="rect">
            <a:avLst/>
          </a:prstGeom>
          <a:ln w="0">
            <a:noFill/>
          </a:ln>
        </p:spPr>
      </p:pic>
      <p:pic>
        <p:nvPicPr>
          <p:cNvPr id="241" name="Google Shape;13;p66" descr="slug-start-color-transp"/>
          <p:cNvPicPr/>
          <p:nvPr/>
        </p:nvPicPr>
        <p:blipFill>
          <a:blip r:embed="rId4"/>
          <a:stretch/>
        </p:blipFill>
        <p:spPr>
          <a:xfrm>
            <a:off x="7620120" y="5105520"/>
            <a:ext cx="1384200" cy="1660320"/>
          </a:xfrm>
          <a:prstGeom prst="rect">
            <a:avLst/>
          </a:prstGeom>
          <a:ln w="0">
            <a:noFill/>
          </a:ln>
        </p:spPr>
      </p:pic>
      <p:pic>
        <p:nvPicPr>
          <p:cNvPr id="242" name="Google Shape;14;p66" descr="ucsealTransp"/>
          <p:cNvPicPr/>
          <p:nvPr/>
        </p:nvPicPr>
        <p:blipFill>
          <a:blip r:embed="rId3"/>
          <a:stretch/>
        </p:blipFill>
        <p:spPr>
          <a:xfrm>
            <a:off x="0" y="5262480"/>
            <a:ext cx="1747440" cy="1590480"/>
          </a:xfrm>
          <a:prstGeom prst="rect">
            <a:avLst/>
          </a:prstGeom>
          <a:ln w="0">
            <a:noFill/>
          </a:ln>
        </p:spPr>
      </p:pic>
      <p:pic>
        <p:nvPicPr>
          <p:cNvPr id="243" name="Google Shape;15;p66" descr="slug-start-color-transp"/>
          <p:cNvPicPr/>
          <p:nvPr/>
        </p:nvPicPr>
        <p:blipFill>
          <a:blip r:embed="rId4"/>
          <a:stretch/>
        </p:blipFill>
        <p:spPr>
          <a:xfrm>
            <a:off x="7620120" y="5105520"/>
            <a:ext cx="1384200" cy="1660320"/>
          </a:xfrm>
          <a:prstGeom prst="rect">
            <a:avLst/>
          </a:prstGeom>
          <a:ln w="0">
            <a:noFill/>
          </a:ln>
        </p:spPr>
      </p:pic>
      <p:pic>
        <p:nvPicPr>
          <p:cNvPr id="244" name="Google Shape;16;p66" descr="ucsealTransp"/>
          <p:cNvPicPr/>
          <p:nvPr/>
        </p:nvPicPr>
        <p:blipFill>
          <a:blip r:embed="rId3"/>
          <a:stretch/>
        </p:blipFill>
        <p:spPr>
          <a:xfrm>
            <a:off x="0" y="5262480"/>
            <a:ext cx="1747440" cy="1590480"/>
          </a:xfrm>
          <a:prstGeom prst="rect">
            <a:avLst/>
          </a:prstGeom>
          <a:ln w="0">
            <a:noFill/>
          </a:ln>
        </p:spPr>
      </p:pic>
      <p:pic>
        <p:nvPicPr>
          <p:cNvPr id="245" name="Google Shape;17;p66" descr="ucsealTransp"/>
          <p:cNvPicPr/>
          <p:nvPr/>
        </p:nvPicPr>
        <p:blipFill>
          <a:blip r:embed="rId3"/>
          <a:stretch/>
        </p:blipFill>
        <p:spPr>
          <a:xfrm>
            <a:off x="0" y="5262480"/>
            <a:ext cx="1747440" cy="1590480"/>
          </a:xfrm>
          <a:prstGeom prst="rect">
            <a:avLst/>
          </a:prstGeom>
          <a:ln w="0">
            <a:noFill/>
          </a:ln>
        </p:spPr>
      </p:pic>
      <p:pic>
        <p:nvPicPr>
          <p:cNvPr id="246" name="Google Shape;18;p66" descr="slug-start-color-transp"/>
          <p:cNvPicPr/>
          <p:nvPr/>
        </p:nvPicPr>
        <p:blipFill>
          <a:blip r:embed="rId4"/>
          <a:stretch/>
        </p:blipFill>
        <p:spPr>
          <a:xfrm>
            <a:off x="7620120" y="5105520"/>
            <a:ext cx="1384200" cy="1660320"/>
          </a:xfrm>
          <a:prstGeom prst="rect">
            <a:avLst/>
          </a:prstGeom>
          <a:ln w="0">
            <a:noFill/>
          </a:ln>
        </p:spPr>
      </p:pic>
      <p:pic>
        <p:nvPicPr>
          <p:cNvPr id="247" name="Google Shape;19;p66" descr="ucsealTransp"/>
          <p:cNvPicPr/>
          <p:nvPr/>
        </p:nvPicPr>
        <p:blipFill>
          <a:blip r:embed="rId3"/>
          <a:stretch/>
        </p:blipFill>
        <p:spPr>
          <a:xfrm>
            <a:off x="0" y="5262480"/>
            <a:ext cx="1747440" cy="1590480"/>
          </a:xfrm>
          <a:prstGeom prst="rect">
            <a:avLst/>
          </a:prstGeom>
          <a:ln w="0">
            <a:noFill/>
          </a:ln>
        </p:spPr>
      </p:pic>
      <p:pic>
        <p:nvPicPr>
          <p:cNvPr id="248" name="Google Shape;20;p66" descr="ucsealTransp"/>
          <p:cNvPicPr/>
          <p:nvPr/>
        </p:nvPicPr>
        <p:blipFill>
          <a:blip r:embed="rId3"/>
          <a:stretch/>
        </p:blipFill>
        <p:spPr>
          <a:xfrm>
            <a:off x="0" y="5262480"/>
            <a:ext cx="1747440" cy="1590480"/>
          </a:xfrm>
          <a:prstGeom prst="rect">
            <a:avLst/>
          </a:prstGeom>
          <a:ln w="0">
            <a:noFill/>
          </a:ln>
        </p:spPr>
      </p:pic>
      <p:pic>
        <p:nvPicPr>
          <p:cNvPr id="249" name="Google Shape;21;p66" descr="slug-start-color-transp"/>
          <p:cNvPicPr/>
          <p:nvPr/>
        </p:nvPicPr>
        <p:blipFill>
          <a:blip r:embed="rId4"/>
          <a:stretch/>
        </p:blipFill>
        <p:spPr>
          <a:xfrm>
            <a:off x="7620120" y="5105520"/>
            <a:ext cx="1384200" cy="1660320"/>
          </a:xfrm>
          <a:prstGeom prst="rect">
            <a:avLst/>
          </a:prstGeom>
          <a:ln w="0">
            <a:noFill/>
          </a:ln>
        </p:spPr>
      </p:pic>
      <p:pic>
        <p:nvPicPr>
          <p:cNvPr id="250" name="Google Shape;22;p66" descr="ucsealTransp"/>
          <p:cNvPicPr/>
          <p:nvPr/>
        </p:nvPicPr>
        <p:blipFill>
          <a:blip r:embed="rId3"/>
          <a:stretch/>
        </p:blipFill>
        <p:spPr>
          <a:xfrm>
            <a:off x="0" y="5262480"/>
            <a:ext cx="1747440" cy="1590480"/>
          </a:xfrm>
          <a:prstGeom prst="rect">
            <a:avLst/>
          </a:prstGeom>
          <a:ln w="0">
            <a:noFill/>
          </a:ln>
        </p:spPr>
      </p:pic>
      <p:pic>
        <p:nvPicPr>
          <p:cNvPr id="251" name="Google Shape;23;p66" descr="ucsealTransp"/>
          <p:cNvPicPr/>
          <p:nvPr/>
        </p:nvPicPr>
        <p:blipFill>
          <a:blip r:embed="rId3"/>
          <a:stretch/>
        </p:blipFill>
        <p:spPr>
          <a:xfrm>
            <a:off x="0" y="5262480"/>
            <a:ext cx="1747440" cy="1590480"/>
          </a:xfrm>
          <a:prstGeom prst="rect">
            <a:avLst/>
          </a:prstGeom>
          <a:ln w="0">
            <a:noFill/>
          </a:ln>
        </p:spPr>
      </p:pic>
      <p:pic>
        <p:nvPicPr>
          <p:cNvPr id="252" name="Google Shape;24;p66" descr="ucsealTransp"/>
          <p:cNvPicPr/>
          <p:nvPr/>
        </p:nvPicPr>
        <p:blipFill>
          <a:blip r:embed="rId3"/>
          <a:stretch/>
        </p:blipFill>
        <p:spPr>
          <a:xfrm>
            <a:off x="0" y="5262480"/>
            <a:ext cx="1747440" cy="1590480"/>
          </a:xfrm>
          <a:prstGeom prst="rect">
            <a:avLst/>
          </a:prstGeom>
          <a:ln w="0">
            <a:noFill/>
          </a:ln>
        </p:spPr>
      </p:pic>
      <p:pic>
        <p:nvPicPr>
          <p:cNvPr id="253" name="Google Shape;25;p66" descr="slug-start-color-transp"/>
          <p:cNvPicPr/>
          <p:nvPr/>
        </p:nvPicPr>
        <p:blipFill>
          <a:blip r:embed="rId4"/>
          <a:stretch/>
        </p:blipFill>
        <p:spPr>
          <a:xfrm>
            <a:off x="7620120" y="5105520"/>
            <a:ext cx="1384200" cy="1660320"/>
          </a:xfrm>
          <a:prstGeom prst="rect">
            <a:avLst/>
          </a:prstGeom>
          <a:ln w="0">
            <a:noFill/>
          </a:ln>
        </p:spPr>
      </p:pic>
      <p:pic>
        <p:nvPicPr>
          <p:cNvPr id="254" name="Google Shape;26;p66" descr="ucsealTransp"/>
          <p:cNvPicPr/>
          <p:nvPr/>
        </p:nvPicPr>
        <p:blipFill>
          <a:blip r:embed="rId3"/>
          <a:stretch/>
        </p:blipFill>
        <p:spPr>
          <a:xfrm>
            <a:off x="0" y="5262480"/>
            <a:ext cx="1747440" cy="1590480"/>
          </a:xfrm>
          <a:prstGeom prst="rect">
            <a:avLst/>
          </a:prstGeom>
          <a:ln w="0">
            <a:noFill/>
          </a:ln>
        </p:spPr>
      </p:pic>
      <p:pic>
        <p:nvPicPr>
          <p:cNvPr id="255" name="Google Shape;27;p66" descr="ucsealTransp"/>
          <p:cNvPicPr/>
          <p:nvPr/>
        </p:nvPicPr>
        <p:blipFill>
          <a:blip r:embed="rId3"/>
          <a:stretch/>
        </p:blipFill>
        <p:spPr>
          <a:xfrm>
            <a:off x="0" y="5262480"/>
            <a:ext cx="1747440" cy="1590480"/>
          </a:xfrm>
          <a:prstGeom prst="rect">
            <a:avLst/>
          </a:prstGeom>
          <a:ln w="0">
            <a:noFill/>
          </a:ln>
        </p:spPr>
      </p:pic>
      <p:pic>
        <p:nvPicPr>
          <p:cNvPr id="256" name="Google Shape;28;p66" descr="slug-start-color-transp"/>
          <p:cNvPicPr/>
          <p:nvPr/>
        </p:nvPicPr>
        <p:blipFill>
          <a:blip r:embed="rId4"/>
          <a:stretch/>
        </p:blipFill>
        <p:spPr>
          <a:xfrm>
            <a:off x="7620120" y="5105520"/>
            <a:ext cx="1384200" cy="1660320"/>
          </a:xfrm>
          <a:prstGeom prst="rect">
            <a:avLst/>
          </a:prstGeom>
          <a:ln w="0">
            <a:noFill/>
          </a:ln>
        </p:spPr>
      </p:pic>
      <p:sp>
        <p:nvSpPr>
          <p:cNvPr id="257" name="PlaceHolder 1"/>
          <p:cNvSpPr>
            <a:spLocks noGrp="1"/>
          </p:cNvSpPr>
          <p:nvPr>
            <p:ph type="title"/>
          </p:nvPr>
        </p:nvSpPr>
        <p:spPr>
          <a:xfrm>
            <a:off x="457200" y="273600"/>
            <a:ext cx="8228880" cy="114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258"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68333"/>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259"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68333"/>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260" name="PlaceHolder 4"/>
          <p:cNvSpPr>
            <a:spLocks noGrp="1"/>
          </p:cNvSpPr>
          <p:nvPr>
            <p:ph type="body"/>
          </p:nvPr>
        </p:nvSpPr>
        <p:spPr>
          <a:xfrm>
            <a:off x="457200" y="3682080"/>
            <a:ext cx="4015440" cy="1896480"/>
          </a:xfrm>
          <a:prstGeom prst="rect">
            <a:avLst/>
          </a:prstGeom>
          <a:noFill/>
          <a:ln w="0">
            <a:noFill/>
          </a:ln>
        </p:spPr>
        <p:txBody>
          <a:bodyPr lIns="0" tIns="0" rIns="0" bIns="0" anchor="t">
            <a:normAutofit fontScale="68333"/>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261" name="PlaceHolder 5"/>
          <p:cNvSpPr>
            <a:spLocks noGrp="1"/>
          </p:cNvSpPr>
          <p:nvPr>
            <p:ph type="body"/>
          </p:nvPr>
        </p:nvSpPr>
        <p:spPr>
          <a:xfrm>
            <a:off x="4674240" y="3682080"/>
            <a:ext cx="4015440" cy="1896480"/>
          </a:xfrm>
          <a:prstGeom prst="rect">
            <a:avLst/>
          </a:prstGeom>
          <a:noFill/>
          <a:ln w="0">
            <a:noFill/>
          </a:ln>
        </p:spPr>
        <p:txBody>
          <a:bodyPr lIns="0" tIns="0" rIns="0" bIns="0" anchor="t">
            <a:normAutofit fontScale="68333"/>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7" name="CustomShape 1"/>
          <p:cNvSpPr/>
          <p:nvPr/>
        </p:nvSpPr>
        <p:spPr>
          <a:xfrm>
            <a:off x="-3240" y="411480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268" name="CustomShape 2"/>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pic>
        <p:nvPicPr>
          <p:cNvPr id="269" name="Google Shape;12;p66" descr="ucsealTransp"/>
          <p:cNvPicPr/>
          <p:nvPr/>
        </p:nvPicPr>
        <p:blipFill>
          <a:blip r:embed="rId3"/>
          <a:stretch/>
        </p:blipFill>
        <p:spPr>
          <a:xfrm>
            <a:off x="0" y="5262480"/>
            <a:ext cx="1747440" cy="1590480"/>
          </a:xfrm>
          <a:prstGeom prst="rect">
            <a:avLst/>
          </a:prstGeom>
          <a:ln w="0">
            <a:noFill/>
          </a:ln>
        </p:spPr>
      </p:pic>
      <p:pic>
        <p:nvPicPr>
          <p:cNvPr id="270" name="Google Shape;13;p66" descr="slug-start-color-transp"/>
          <p:cNvPicPr/>
          <p:nvPr/>
        </p:nvPicPr>
        <p:blipFill>
          <a:blip r:embed="rId4"/>
          <a:stretch/>
        </p:blipFill>
        <p:spPr>
          <a:xfrm>
            <a:off x="7620120" y="5105520"/>
            <a:ext cx="1384200" cy="1660320"/>
          </a:xfrm>
          <a:prstGeom prst="rect">
            <a:avLst/>
          </a:prstGeom>
          <a:ln w="0">
            <a:noFill/>
          </a:ln>
        </p:spPr>
      </p:pic>
      <p:pic>
        <p:nvPicPr>
          <p:cNvPr id="271" name="Google Shape;14;p66" descr="ucsealTransp"/>
          <p:cNvPicPr/>
          <p:nvPr/>
        </p:nvPicPr>
        <p:blipFill>
          <a:blip r:embed="rId3"/>
          <a:stretch/>
        </p:blipFill>
        <p:spPr>
          <a:xfrm>
            <a:off x="0" y="5262480"/>
            <a:ext cx="1747440" cy="1590480"/>
          </a:xfrm>
          <a:prstGeom prst="rect">
            <a:avLst/>
          </a:prstGeom>
          <a:ln w="0">
            <a:noFill/>
          </a:ln>
        </p:spPr>
      </p:pic>
      <p:pic>
        <p:nvPicPr>
          <p:cNvPr id="272" name="Google Shape;15;p66" descr="slug-start-color-transp"/>
          <p:cNvPicPr/>
          <p:nvPr/>
        </p:nvPicPr>
        <p:blipFill>
          <a:blip r:embed="rId4"/>
          <a:stretch/>
        </p:blipFill>
        <p:spPr>
          <a:xfrm>
            <a:off x="7620120" y="5105520"/>
            <a:ext cx="1384200" cy="1660320"/>
          </a:xfrm>
          <a:prstGeom prst="rect">
            <a:avLst/>
          </a:prstGeom>
          <a:ln w="0">
            <a:noFill/>
          </a:ln>
        </p:spPr>
      </p:pic>
      <p:pic>
        <p:nvPicPr>
          <p:cNvPr id="273" name="Google Shape;16;p66" descr="ucsealTransp"/>
          <p:cNvPicPr/>
          <p:nvPr/>
        </p:nvPicPr>
        <p:blipFill>
          <a:blip r:embed="rId3"/>
          <a:stretch/>
        </p:blipFill>
        <p:spPr>
          <a:xfrm>
            <a:off x="0" y="5262480"/>
            <a:ext cx="1747440" cy="1590480"/>
          </a:xfrm>
          <a:prstGeom prst="rect">
            <a:avLst/>
          </a:prstGeom>
          <a:ln w="0">
            <a:noFill/>
          </a:ln>
        </p:spPr>
      </p:pic>
      <p:pic>
        <p:nvPicPr>
          <p:cNvPr id="274" name="Google Shape;17;p66" descr="ucsealTransp"/>
          <p:cNvPicPr/>
          <p:nvPr/>
        </p:nvPicPr>
        <p:blipFill>
          <a:blip r:embed="rId3"/>
          <a:stretch/>
        </p:blipFill>
        <p:spPr>
          <a:xfrm>
            <a:off x="0" y="5262480"/>
            <a:ext cx="1747440" cy="1590480"/>
          </a:xfrm>
          <a:prstGeom prst="rect">
            <a:avLst/>
          </a:prstGeom>
          <a:ln w="0">
            <a:noFill/>
          </a:ln>
        </p:spPr>
      </p:pic>
      <p:pic>
        <p:nvPicPr>
          <p:cNvPr id="275" name="Google Shape;18;p66" descr="slug-start-color-transp"/>
          <p:cNvPicPr/>
          <p:nvPr/>
        </p:nvPicPr>
        <p:blipFill>
          <a:blip r:embed="rId4"/>
          <a:stretch/>
        </p:blipFill>
        <p:spPr>
          <a:xfrm>
            <a:off x="7620120" y="5105520"/>
            <a:ext cx="1384200" cy="1660320"/>
          </a:xfrm>
          <a:prstGeom prst="rect">
            <a:avLst/>
          </a:prstGeom>
          <a:ln w="0">
            <a:noFill/>
          </a:ln>
        </p:spPr>
      </p:pic>
      <p:pic>
        <p:nvPicPr>
          <p:cNvPr id="276" name="Google Shape;19;p66" descr="ucsealTransp"/>
          <p:cNvPicPr/>
          <p:nvPr/>
        </p:nvPicPr>
        <p:blipFill>
          <a:blip r:embed="rId3"/>
          <a:stretch/>
        </p:blipFill>
        <p:spPr>
          <a:xfrm>
            <a:off x="0" y="5262480"/>
            <a:ext cx="1747440" cy="1590480"/>
          </a:xfrm>
          <a:prstGeom prst="rect">
            <a:avLst/>
          </a:prstGeom>
          <a:ln w="0">
            <a:noFill/>
          </a:ln>
        </p:spPr>
      </p:pic>
      <p:pic>
        <p:nvPicPr>
          <p:cNvPr id="277" name="Google Shape;20;p66" descr="ucsealTransp"/>
          <p:cNvPicPr/>
          <p:nvPr/>
        </p:nvPicPr>
        <p:blipFill>
          <a:blip r:embed="rId3"/>
          <a:stretch/>
        </p:blipFill>
        <p:spPr>
          <a:xfrm>
            <a:off x="0" y="5262480"/>
            <a:ext cx="1747440" cy="1590480"/>
          </a:xfrm>
          <a:prstGeom prst="rect">
            <a:avLst/>
          </a:prstGeom>
          <a:ln w="0">
            <a:noFill/>
          </a:ln>
        </p:spPr>
      </p:pic>
      <p:pic>
        <p:nvPicPr>
          <p:cNvPr id="278" name="Google Shape;21;p66" descr="slug-start-color-transp"/>
          <p:cNvPicPr/>
          <p:nvPr/>
        </p:nvPicPr>
        <p:blipFill>
          <a:blip r:embed="rId4"/>
          <a:stretch/>
        </p:blipFill>
        <p:spPr>
          <a:xfrm>
            <a:off x="7620120" y="5105520"/>
            <a:ext cx="1384200" cy="1660320"/>
          </a:xfrm>
          <a:prstGeom prst="rect">
            <a:avLst/>
          </a:prstGeom>
          <a:ln w="0">
            <a:noFill/>
          </a:ln>
        </p:spPr>
      </p:pic>
      <p:pic>
        <p:nvPicPr>
          <p:cNvPr id="279" name="Google Shape;22;p66" descr="ucsealTransp"/>
          <p:cNvPicPr/>
          <p:nvPr/>
        </p:nvPicPr>
        <p:blipFill>
          <a:blip r:embed="rId3"/>
          <a:stretch/>
        </p:blipFill>
        <p:spPr>
          <a:xfrm>
            <a:off x="0" y="5262480"/>
            <a:ext cx="1747440" cy="1590480"/>
          </a:xfrm>
          <a:prstGeom prst="rect">
            <a:avLst/>
          </a:prstGeom>
          <a:ln w="0">
            <a:noFill/>
          </a:ln>
        </p:spPr>
      </p:pic>
      <p:pic>
        <p:nvPicPr>
          <p:cNvPr id="280" name="Google Shape;23;p66" descr="ucsealTransp"/>
          <p:cNvPicPr/>
          <p:nvPr/>
        </p:nvPicPr>
        <p:blipFill>
          <a:blip r:embed="rId3"/>
          <a:stretch/>
        </p:blipFill>
        <p:spPr>
          <a:xfrm>
            <a:off x="0" y="5262480"/>
            <a:ext cx="1747440" cy="1590480"/>
          </a:xfrm>
          <a:prstGeom prst="rect">
            <a:avLst/>
          </a:prstGeom>
          <a:ln w="0">
            <a:noFill/>
          </a:ln>
        </p:spPr>
      </p:pic>
      <p:pic>
        <p:nvPicPr>
          <p:cNvPr id="281" name="Google Shape;24;p66" descr="ucsealTransp"/>
          <p:cNvPicPr/>
          <p:nvPr/>
        </p:nvPicPr>
        <p:blipFill>
          <a:blip r:embed="rId3"/>
          <a:stretch/>
        </p:blipFill>
        <p:spPr>
          <a:xfrm>
            <a:off x="0" y="5262480"/>
            <a:ext cx="1747440" cy="1590480"/>
          </a:xfrm>
          <a:prstGeom prst="rect">
            <a:avLst/>
          </a:prstGeom>
          <a:ln w="0">
            <a:noFill/>
          </a:ln>
        </p:spPr>
      </p:pic>
      <p:pic>
        <p:nvPicPr>
          <p:cNvPr id="282" name="Google Shape;25;p66" descr="slug-start-color-transp"/>
          <p:cNvPicPr/>
          <p:nvPr/>
        </p:nvPicPr>
        <p:blipFill>
          <a:blip r:embed="rId4"/>
          <a:stretch/>
        </p:blipFill>
        <p:spPr>
          <a:xfrm>
            <a:off x="7620120" y="5105520"/>
            <a:ext cx="1384200" cy="1660320"/>
          </a:xfrm>
          <a:prstGeom prst="rect">
            <a:avLst/>
          </a:prstGeom>
          <a:ln w="0">
            <a:noFill/>
          </a:ln>
        </p:spPr>
      </p:pic>
      <p:pic>
        <p:nvPicPr>
          <p:cNvPr id="283" name="Google Shape;26;p66" descr="ucsealTransp"/>
          <p:cNvPicPr/>
          <p:nvPr/>
        </p:nvPicPr>
        <p:blipFill>
          <a:blip r:embed="rId3"/>
          <a:stretch/>
        </p:blipFill>
        <p:spPr>
          <a:xfrm>
            <a:off x="0" y="5262480"/>
            <a:ext cx="1747440" cy="1590480"/>
          </a:xfrm>
          <a:prstGeom prst="rect">
            <a:avLst/>
          </a:prstGeom>
          <a:ln w="0">
            <a:noFill/>
          </a:ln>
        </p:spPr>
      </p:pic>
      <p:pic>
        <p:nvPicPr>
          <p:cNvPr id="284" name="Google Shape;27;p66" descr="ucsealTransp"/>
          <p:cNvPicPr/>
          <p:nvPr/>
        </p:nvPicPr>
        <p:blipFill>
          <a:blip r:embed="rId3"/>
          <a:stretch/>
        </p:blipFill>
        <p:spPr>
          <a:xfrm>
            <a:off x="0" y="5262480"/>
            <a:ext cx="1747440" cy="1590480"/>
          </a:xfrm>
          <a:prstGeom prst="rect">
            <a:avLst/>
          </a:prstGeom>
          <a:ln w="0">
            <a:noFill/>
          </a:ln>
        </p:spPr>
      </p:pic>
      <p:pic>
        <p:nvPicPr>
          <p:cNvPr id="285" name="Google Shape;28;p66" descr="slug-start-color-transp"/>
          <p:cNvPicPr/>
          <p:nvPr/>
        </p:nvPicPr>
        <p:blipFill>
          <a:blip r:embed="rId4"/>
          <a:stretch/>
        </p:blipFill>
        <p:spPr>
          <a:xfrm>
            <a:off x="7620120" y="5105520"/>
            <a:ext cx="1384200" cy="166032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 name="CustomShape 1"/>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
        <p:nvSpPr>
          <p:cNvPr id="287" name="CustomShape 2"/>
          <p:cNvSpPr/>
          <p:nvPr/>
        </p:nvSpPr>
        <p:spPr>
          <a:xfrm>
            <a:off x="-3240" y="99072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288" name="CustomShape 3"/>
          <p:cNvSpPr/>
          <p:nvPr/>
        </p:nvSpPr>
        <p:spPr>
          <a:xfrm>
            <a:off x="533520" y="6583320"/>
            <a:ext cx="426204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200" b="0" strike="noStrike" spc="-1">
                <a:solidFill>
                  <a:srgbClr val="009999"/>
                </a:solidFill>
                <a:latin typeface="Arial"/>
                <a:ea typeface="Arial"/>
              </a:rPr>
              <a:t>CSE12                                                     Instructor: M. Siero</a:t>
            </a:r>
            <a:endParaRPr lang="en-US" sz="1200" b="0" strike="noStrike" spc="-1">
              <a:solidFill>
                <a:srgbClr val="000000"/>
              </a:solidFill>
              <a:latin typeface="Arial"/>
            </a:endParaRPr>
          </a:p>
        </p:txBody>
      </p:sp>
      <p:pic>
        <p:nvPicPr>
          <p:cNvPr id="289" name="Google Shape;40;p68" descr="slug-start-color-transp"/>
          <p:cNvPicPr/>
          <p:nvPr/>
        </p:nvPicPr>
        <p:blipFill>
          <a:blip r:embed="rId4"/>
          <a:stretch/>
        </p:blipFill>
        <p:spPr>
          <a:xfrm>
            <a:off x="8485200" y="6068880"/>
            <a:ext cx="653760" cy="784080"/>
          </a:xfrm>
          <a:prstGeom prst="rect">
            <a:avLst/>
          </a:prstGeom>
          <a:ln w="0">
            <a:noFill/>
          </a:ln>
        </p:spPr>
      </p:pic>
      <p:pic>
        <p:nvPicPr>
          <p:cNvPr id="290" name="Google Shape;41;p68" descr="ucsealTransp"/>
          <p:cNvPicPr/>
          <p:nvPr/>
        </p:nvPicPr>
        <p:blipFill>
          <a:blip r:embed="rId5"/>
          <a:stretch/>
        </p:blipFill>
        <p:spPr>
          <a:xfrm>
            <a:off x="0" y="6302520"/>
            <a:ext cx="604440" cy="550440"/>
          </a:xfrm>
          <a:prstGeom prst="rect">
            <a:avLst/>
          </a:prstGeom>
          <a:ln w="0">
            <a:noFill/>
          </a:ln>
        </p:spPr>
      </p:pic>
      <p:pic>
        <p:nvPicPr>
          <p:cNvPr id="291" name="Google Shape;42;p68" descr="ucsealTransp"/>
          <p:cNvPicPr/>
          <p:nvPr/>
        </p:nvPicPr>
        <p:blipFill>
          <a:blip r:embed="rId5"/>
          <a:stretch/>
        </p:blipFill>
        <p:spPr>
          <a:xfrm>
            <a:off x="0" y="6302520"/>
            <a:ext cx="604440" cy="550440"/>
          </a:xfrm>
          <a:prstGeom prst="rect">
            <a:avLst/>
          </a:prstGeom>
          <a:ln w="0">
            <a:noFill/>
          </a:ln>
        </p:spPr>
      </p:pic>
      <p:pic>
        <p:nvPicPr>
          <p:cNvPr id="292" name="Google Shape;43;p68" descr="ucsealTransp"/>
          <p:cNvPicPr/>
          <p:nvPr/>
        </p:nvPicPr>
        <p:blipFill>
          <a:blip r:embed="rId5"/>
          <a:stretch/>
        </p:blipFill>
        <p:spPr>
          <a:xfrm>
            <a:off x="0" y="6302520"/>
            <a:ext cx="604440" cy="550440"/>
          </a:xfrm>
          <a:prstGeom prst="rect">
            <a:avLst/>
          </a:prstGeom>
          <a:ln w="0">
            <a:noFill/>
          </a:ln>
        </p:spPr>
      </p:pic>
      <p:pic>
        <p:nvPicPr>
          <p:cNvPr id="293" name="Google Shape;44;p68" descr="ucsealTransp"/>
          <p:cNvPicPr/>
          <p:nvPr/>
        </p:nvPicPr>
        <p:blipFill>
          <a:blip r:embed="rId5"/>
          <a:stretch/>
        </p:blipFill>
        <p:spPr>
          <a:xfrm>
            <a:off x="0" y="6302520"/>
            <a:ext cx="604440" cy="550440"/>
          </a:xfrm>
          <a:prstGeom prst="rect">
            <a:avLst/>
          </a:prstGeom>
          <a:ln w="0">
            <a:noFill/>
          </a:ln>
        </p:spPr>
      </p:pic>
      <p:sp>
        <p:nvSpPr>
          <p:cNvPr id="294" name="CustomShape 4"/>
          <p:cNvSpPr/>
          <p:nvPr/>
        </p:nvSpPr>
        <p:spPr>
          <a:xfrm>
            <a:off x="7848720" y="6583320"/>
            <a:ext cx="680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fld id="{D6DC601E-56CA-43BA-936E-A5CBAE9D81FC}" type="slidenum">
              <a:rPr lang="en-US" sz="1200" b="0" strike="noStrike" spc="-1">
                <a:solidFill>
                  <a:srgbClr val="009999"/>
                </a:solidFill>
                <a:latin typeface="Arial"/>
                <a:ea typeface="Arial"/>
              </a:rPr>
              <a:t>‹#›</a:t>
            </a:fld>
            <a:endParaRPr lang="en-US" sz="1200" b="0" strike="noStrike" spc="-1">
              <a:solidFill>
                <a:srgbClr val="000000"/>
              </a:solidFill>
              <a:latin typeface="Arial"/>
            </a:endParaRPr>
          </a:p>
        </p:txBody>
      </p:sp>
      <p:sp>
        <p:nvSpPr>
          <p:cNvPr id="295" name="CustomShape 5"/>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296" name="Google Shape;47;p68" descr="slug-start-color-transp"/>
          <p:cNvPicPr/>
          <p:nvPr/>
        </p:nvPicPr>
        <p:blipFill>
          <a:blip r:embed="rId4"/>
          <a:stretch/>
        </p:blipFill>
        <p:spPr>
          <a:xfrm>
            <a:off x="8485200" y="6068880"/>
            <a:ext cx="653760" cy="784080"/>
          </a:xfrm>
          <a:prstGeom prst="rect">
            <a:avLst/>
          </a:prstGeom>
          <a:ln w="0">
            <a:noFill/>
          </a:ln>
        </p:spPr>
      </p:pic>
      <p:pic>
        <p:nvPicPr>
          <p:cNvPr id="297" name="Google Shape;48;p68" descr="ucsealTransp"/>
          <p:cNvPicPr/>
          <p:nvPr/>
        </p:nvPicPr>
        <p:blipFill>
          <a:blip r:embed="rId5"/>
          <a:stretch/>
        </p:blipFill>
        <p:spPr>
          <a:xfrm>
            <a:off x="0" y="6302520"/>
            <a:ext cx="604440" cy="550440"/>
          </a:xfrm>
          <a:prstGeom prst="rect">
            <a:avLst/>
          </a:prstGeom>
          <a:ln w="0">
            <a:noFill/>
          </a:ln>
        </p:spPr>
      </p:pic>
      <p:pic>
        <p:nvPicPr>
          <p:cNvPr id="298" name="Google Shape;49;p68" descr="ucsealTransp"/>
          <p:cNvPicPr/>
          <p:nvPr/>
        </p:nvPicPr>
        <p:blipFill>
          <a:blip r:embed="rId5"/>
          <a:stretch/>
        </p:blipFill>
        <p:spPr>
          <a:xfrm>
            <a:off x="0" y="6302520"/>
            <a:ext cx="604440" cy="550440"/>
          </a:xfrm>
          <a:prstGeom prst="rect">
            <a:avLst/>
          </a:prstGeom>
          <a:ln w="0">
            <a:noFill/>
          </a:ln>
        </p:spPr>
      </p:pic>
      <p:pic>
        <p:nvPicPr>
          <p:cNvPr id="299" name="Google Shape;50;p68" descr="ucsealTransp"/>
          <p:cNvPicPr/>
          <p:nvPr/>
        </p:nvPicPr>
        <p:blipFill>
          <a:blip r:embed="rId5"/>
          <a:stretch/>
        </p:blipFill>
        <p:spPr>
          <a:xfrm>
            <a:off x="0" y="6302520"/>
            <a:ext cx="604440" cy="550440"/>
          </a:xfrm>
          <a:prstGeom prst="rect">
            <a:avLst/>
          </a:prstGeom>
          <a:ln w="0">
            <a:noFill/>
          </a:ln>
        </p:spPr>
      </p:pic>
      <p:pic>
        <p:nvPicPr>
          <p:cNvPr id="300" name="Google Shape;51;p68" descr="ucsealTransp"/>
          <p:cNvPicPr/>
          <p:nvPr/>
        </p:nvPicPr>
        <p:blipFill>
          <a:blip r:embed="rId5"/>
          <a:stretch/>
        </p:blipFill>
        <p:spPr>
          <a:xfrm>
            <a:off x="0" y="6302520"/>
            <a:ext cx="604440" cy="550440"/>
          </a:xfrm>
          <a:prstGeom prst="rect">
            <a:avLst/>
          </a:prstGeom>
          <a:ln w="0">
            <a:noFill/>
          </a:ln>
        </p:spPr>
      </p:pic>
      <p:sp>
        <p:nvSpPr>
          <p:cNvPr id="301" name="CustomShape 6"/>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302" name="Google Shape;53;p68" descr="slug-start-color-transp"/>
          <p:cNvPicPr/>
          <p:nvPr/>
        </p:nvPicPr>
        <p:blipFill>
          <a:blip r:embed="rId4"/>
          <a:stretch/>
        </p:blipFill>
        <p:spPr>
          <a:xfrm>
            <a:off x="8485200" y="6068880"/>
            <a:ext cx="653760" cy="784080"/>
          </a:xfrm>
          <a:prstGeom prst="rect">
            <a:avLst/>
          </a:prstGeom>
          <a:ln w="0">
            <a:noFill/>
          </a:ln>
        </p:spPr>
      </p:pic>
      <p:pic>
        <p:nvPicPr>
          <p:cNvPr id="303" name="Google Shape;54;p68" descr="ucsealTransp"/>
          <p:cNvPicPr/>
          <p:nvPr/>
        </p:nvPicPr>
        <p:blipFill>
          <a:blip r:embed="rId5"/>
          <a:stretch/>
        </p:blipFill>
        <p:spPr>
          <a:xfrm>
            <a:off x="0" y="6302520"/>
            <a:ext cx="604440" cy="550440"/>
          </a:xfrm>
          <a:prstGeom prst="rect">
            <a:avLst/>
          </a:prstGeom>
          <a:ln w="0">
            <a:noFill/>
          </a:ln>
        </p:spPr>
      </p:pic>
      <p:pic>
        <p:nvPicPr>
          <p:cNvPr id="304" name="Google Shape;55;p68" descr="ucsealTransp"/>
          <p:cNvPicPr/>
          <p:nvPr/>
        </p:nvPicPr>
        <p:blipFill>
          <a:blip r:embed="rId5"/>
          <a:stretch/>
        </p:blipFill>
        <p:spPr>
          <a:xfrm>
            <a:off x="0" y="6302520"/>
            <a:ext cx="604440" cy="550440"/>
          </a:xfrm>
          <a:prstGeom prst="rect">
            <a:avLst/>
          </a:prstGeom>
          <a:ln w="0">
            <a:noFill/>
          </a:ln>
        </p:spPr>
      </p:pic>
      <p:sp>
        <p:nvSpPr>
          <p:cNvPr id="30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306"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3" r:id="rId1"/>
    <p:sldLayoutId id="2147483696"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 name="CustomShape 1"/>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
        <p:nvSpPr>
          <p:cNvPr id="308" name="CustomShape 2"/>
          <p:cNvSpPr/>
          <p:nvPr/>
        </p:nvSpPr>
        <p:spPr>
          <a:xfrm>
            <a:off x="-3240" y="99072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309" name="CustomShape 3"/>
          <p:cNvSpPr/>
          <p:nvPr/>
        </p:nvSpPr>
        <p:spPr>
          <a:xfrm>
            <a:off x="533520" y="6583320"/>
            <a:ext cx="426204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200" b="0" strike="noStrike" spc="-1">
                <a:solidFill>
                  <a:srgbClr val="009999"/>
                </a:solidFill>
                <a:latin typeface="Arial"/>
                <a:ea typeface="Arial"/>
              </a:rPr>
              <a:t>CSE12                                                     Instructor: M. Siero</a:t>
            </a:r>
            <a:endParaRPr lang="en-US" sz="1200" b="0" strike="noStrike" spc="-1">
              <a:solidFill>
                <a:srgbClr val="000000"/>
              </a:solidFill>
              <a:latin typeface="Arial"/>
            </a:endParaRPr>
          </a:p>
        </p:txBody>
      </p:sp>
      <p:pic>
        <p:nvPicPr>
          <p:cNvPr id="310" name="Google Shape;40;p68" descr="slug-start-color-transp"/>
          <p:cNvPicPr/>
          <p:nvPr/>
        </p:nvPicPr>
        <p:blipFill>
          <a:blip r:embed="rId3"/>
          <a:stretch/>
        </p:blipFill>
        <p:spPr>
          <a:xfrm>
            <a:off x="8485200" y="6068880"/>
            <a:ext cx="653760" cy="784080"/>
          </a:xfrm>
          <a:prstGeom prst="rect">
            <a:avLst/>
          </a:prstGeom>
          <a:ln w="0">
            <a:noFill/>
          </a:ln>
        </p:spPr>
      </p:pic>
      <p:pic>
        <p:nvPicPr>
          <p:cNvPr id="311" name="Google Shape;41;p68" descr="ucsealTransp"/>
          <p:cNvPicPr/>
          <p:nvPr/>
        </p:nvPicPr>
        <p:blipFill>
          <a:blip r:embed="rId4"/>
          <a:stretch/>
        </p:blipFill>
        <p:spPr>
          <a:xfrm>
            <a:off x="0" y="6302520"/>
            <a:ext cx="604440" cy="550440"/>
          </a:xfrm>
          <a:prstGeom prst="rect">
            <a:avLst/>
          </a:prstGeom>
          <a:ln w="0">
            <a:noFill/>
          </a:ln>
        </p:spPr>
      </p:pic>
      <p:pic>
        <p:nvPicPr>
          <p:cNvPr id="312" name="Google Shape;42;p68" descr="ucsealTransp"/>
          <p:cNvPicPr/>
          <p:nvPr/>
        </p:nvPicPr>
        <p:blipFill>
          <a:blip r:embed="rId4"/>
          <a:stretch/>
        </p:blipFill>
        <p:spPr>
          <a:xfrm>
            <a:off x="0" y="6302520"/>
            <a:ext cx="604440" cy="550440"/>
          </a:xfrm>
          <a:prstGeom prst="rect">
            <a:avLst/>
          </a:prstGeom>
          <a:ln w="0">
            <a:noFill/>
          </a:ln>
        </p:spPr>
      </p:pic>
      <p:pic>
        <p:nvPicPr>
          <p:cNvPr id="313" name="Google Shape;43;p68" descr="ucsealTransp"/>
          <p:cNvPicPr/>
          <p:nvPr/>
        </p:nvPicPr>
        <p:blipFill>
          <a:blip r:embed="rId4"/>
          <a:stretch/>
        </p:blipFill>
        <p:spPr>
          <a:xfrm>
            <a:off x="0" y="6302520"/>
            <a:ext cx="604440" cy="550440"/>
          </a:xfrm>
          <a:prstGeom prst="rect">
            <a:avLst/>
          </a:prstGeom>
          <a:ln w="0">
            <a:noFill/>
          </a:ln>
        </p:spPr>
      </p:pic>
      <p:pic>
        <p:nvPicPr>
          <p:cNvPr id="314" name="Google Shape;44;p68" descr="ucsealTransp"/>
          <p:cNvPicPr/>
          <p:nvPr/>
        </p:nvPicPr>
        <p:blipFill>
          <a:blip r:embed="rId4"/>
          <a:stretch/>
        </p:blipFill>
        <p:spPr>
          <a:xfrm>
            <a:off x="0" y="6302520"/>
            <a:ext cx="604440" cy="550440"/>
          </a:xfrm>
          <a:prstGeom prst="rect">
            <a:avLst/>
          </a:prstGeom>
          <a:ln w="0">
            <a:noFill/>
          </a:ln>
        </p:spPr>
      </p:pic>
      <p:sp>
        <p:nvSpPr>
          <p:cNvPr id="315" name="CustomShape 4"/>
          <p:cNvSpPr/>
          <p:nvPr/>
        </p:nvSpPr>
        <p:spPr>
          <a:xfrm>
            <a:off x="7848720" y="6583320"/>
            <a:ext cx="680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fld id="{2D7E6571-5D56-49F2-91E1-E95C696CD174}" type="slidenum">
              <a:rPr lang="en-US" sz="1200" b="0" strike="noStrike" spc="-1">
                <a:solidFill>
                  <a:srgbClr val="009999"/>
                </a:solidFill>
                <a:latin typeface="Arial"/>
                <a:ea typeface="Arial"/>
              </a:rPr>
              <a:t>‹#›</a:t>
            </a:fld>
            <a:endParaRPr lang="en-US" sz="1200" b="0" strike="noStrike" spc="-1">
              <a:solidFill>
                <a:srgbClr val="000000"/>
              </a:solidFill>
              <a:latin typeface="Arial"/>
            </a:endParaRPr>
          </a:p>
        </p:txBody>
      </p:sp>
      <p:sp>
        <p:nvSpPr>
          <p:cNvPr id="316" name="CustomShape 5"/>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317" name="Google Shape;47;p68" descr="slug-start-color-transp"/>
          <p:cNvPicPr/>
          <p:nvPr/>
        </p:nvPicPr>
        <p:blipFill>
          <a:blip r:embed="rId3"/>
          <a:stretch/>
        </p:blipFill>
        <p:spPr>
          <a:xfrm>
            <a:off x="8485200" y="6068880"/>
            <a:ext cx="653760" cy="784080"/>
          </a:xfrm>
          <a:prstGeom prst="rect">
            <a:avLst/>
          </a:prstGeom>
          <a:ln w="0">
            <a:noFill/>
          </a:ln>
        </p:spPr>
      </p:pic>
      <p:pic>
        <p:nvPicPr>
          <p:cNvPr id="318" name="Google Shape;48;p68" descr="ucsealTransp"/>
          <p:cNvPicPr/>
          <p:nvPr/>
        </p:nvPicPr>
        <p:blipFill>
          <a:blip r:embed="rId4"/>
          <a:stretch/>
        </p:blipFill>
        <p:spPr>
          <a:xfrm>
            <a:off x="0" y="6302520"/>
            <a:ext cx="604440" cy="550440"/>
          </a:xfrm>
          <a:prstGeom prst="rect">
            <a:avLst/>
          </a:prstGeom>
          <a:ln w="0">
            <a:noFill/>
          </a:ln>
        </p:spPr>
      </p:pic>
      <p:pic>
        <p:nvPicPr>
          <p:cNvPr id="319" name="Google Shape;49;p68" descr="ucsealTransp"/>
          <p:cNvPicPr/>
          <p:nvPr/>
        </p:nvPicPr>
        <p:blipFill>
          <a:blip r:embed="rId4"/>
          <a:stretch/>
        </p:blipFill>
        <p:spPr>
          <a:xfrm>
            <a:off x="0" y="6302520"/>
            <a:ext cx="604440" cy="550440"/>
          </a:xfrm>
          <a:prstGeom prst="rect">
            <a:avLst/>
          </a:prstGeom>
          <a:ln w="0">
            <a:noFill/>
          </a:ln>
        </p:spPr>
      </p:pic>
      <p:pic>
        <p:nvPicPr>
          <p:cNvPr id="320" name="Google Shape;50;p68" descr="ucsealTransp"/>
          <p:cNvPicPr/>
          <p:nvPr/>
        </p:nvPicPr>
        <p:blipFill>
          <a:blip r:embed="rId4"/>
          <a:stretch/>
        </p:blipFill>
        <p:spPr>
          <a:xfrm>
            <a:off x="0" y="6302520"/>
            <a:ext cx="604440" cy="550440"/>
          </a:xfrm>
          <a:prstGeom prst="rect">
            <a:avLst/>
          </a:prstGeom>
          <a:ln w="0">
            <a:noFill/>
          </a:ln>
        </p:spPr>
      </p:pic>
      <p:pic>
        <p:nvPicPr>
          <p:cNvPr id="321" name="Google Shape;51;p68" descr="ucsealTransp"/>
          <p:cNvPicPr/>
          <p:nvPr/>
        </p:nvPicPr>
        <p:blipFill>
          <a:blip r:embed="rId4"/>
          <a:stretch/>
        </p:blipFill>
        <p:spPr>
          <a:xfrm>
            <a:off x="0" y="6302520"/>
            <a:ext cx="604440" cy="550440"/>
          </a:xfrm>
          <a:prstGeom prst="rect">
            <a:avLst/>
          </a:prstGeom>
          <a:ln w="0">
            <a:noFill/>
          </a:ln>
        </p:spPr>
      </p:pic>
      <p:sp>
        <p:nvSpPr>
          <p:cNvPr id="322" name="CustomShape 6"/>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323" name="Google Shape;53;p68" descr="slug-start-color-transp"/>
          <p:cNvPicPr/>
          <p:nvPr/>
        </p:nvPicPr>
        <p:blipFill>
          <a:blip r:embed="rId3"/>
          <a:stretch/>
        </p:blipFill>
        <p:spPr>
          <a:xfrm>
            <a:off x="8485200" y="6068880"/>
            <a:ext cx="653760" cy="784080"/>
          </a:xfrm>
          <a:prstGeom prst="rect">
            <a:avLst/>
          </a:prstGeom>
          <a:ln w="0">
            <a:noFill/>
          </a:ln>
        </p:spPr>
      </p:pic>
      <p:pic>
        <p:nvPicPr>
          <p:cNvPr id="324" name="Google Shape;54;p68" descr="ucsealTransp"/>
          <p:cNvPicPr/>
          <p:nvPr/>
        </p:nvPicPr>
        <p:blipFill>
          <a:blip r:embed="rId4"/>
          <a:stretch/>
        </p:blipFill>
        <p:spPr>
          <a:xfrm>
            <a:off x="0" y="6302520"/>
            <a:ext cx="604440" cy="550440"/>
          </a:xfrm>
          <a:prstGeom prst="rect">
            <a:avLst/>
          </a:prstGeom>
          <a:ln w="0">
            <a:noFill/>
          </a:ln>
        </p:spPr>
      </p:pic>
      <p:pic>
        <p:nvPicPr>
          <p:cNvPr id="325" name="Google Shape;55;p68" descr="ucsealTransp"/>
          <p:cNvPicPr/>
          <p:nvPr/>
        </p:nvPicPr>
        <p:blipFill>
          <a:blip r:embed="rId4"/>
          <a:stretch/>
        </p:blipFill>
        <p:spPr>
          <a:xfrm>
            <a:off x="0" y="6302520"/>
            <a:ext cx="604440" cy="550440"/>
          </a:xfrm>
          <a:prstGeom prst="rect">
            <a:avLst/>
          </a:prstGeom>
          <a:ln w="0">
            <a:noFill/>
          </a:ln>
        </p:spPr>
      </p:pic>
      <p:sp>
        <p:nvSpPr>
          <p:cNvPr id="326" name="PlaceHolder 1"/>
          <p:cNvSpPr>
            <a:spLocks noGrp="1"/>
          </p:cNvSpPr>
          <p:nvPr>
            <p:ph type="title"/>
          </p:nvPr>
        </p:nvSpPr>
        <p:spPr>
          <a:xfrm>
            <a:off x="457200" y="273600"/>
            <a:ext cx="8228880" cy="114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327"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0" name="CustomShape 1"/>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
        <p:nvSpPr>
          <p:cNvPr id="331" name="CustomShape 2"/>
          <p:cNvSpPr/>
          <p:nvPr/>
        </p:nvSpPr>
        <p:spPr>
          <a:xfrm>
            <a:off x="-3240" y="99072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332" name="CustomShape 3"/>
          <p:cNvSpPr/>
          <p:nvPr/>
        </p:nvSpPr>
        <p:spPr>
          <a:xfrm>
            <a:off x="533520" y="6583320"/>
            <a:ext cx="426204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200" b="0" strike="noStrike" spc="-1">
                <a:solidFill>
                  <a:srgbClr val="009999"/>
                </a:solidFill>
                <a:latin typeface="Arial"/>
                <a:ea typeface="Arial"/>
              </a:rPr>
              <a:t>CSE12                                                     Instructor: M. Siero</a:t>
            </a:r>
            <a:endParaRPr lang="en-US" sz="1200" b="0" strike="noStrike" spc="-1">
              <a:solidFill>
                <a:srgbClr val="000000"/>
              </a:solidFill>
              <a:latin typeface="Arial"/>
            </a:endParaRPr>
          </a:p>
        </p:txBody>
      </p:sp>
      <p:pic>
        <p:nvPicPr>
          <p:cNvPr id="333" name="Google Shape;40;p68" descr="slug-start-color-transp"/>
          <p:cNvPicPr/>
          <p:nvPr/>
        </p:nvPicPr>
        <p:blipFill>
          <a:blip r:embed="rId3"/>
          <a:stretch/>
        </p:blipFill>
        <p:spPr>
          <a:xfrm>
            <a:off x="8485200" y="6068880"/>
            <a:ext cx="653760" cy="784080"/>
          </a:xfrm>
          <a:prstGeom prst="rect">
            <a:avLst/>
          </a:prstGeom>
          <a:ln w="0">
            <a:noFill/>
          </a:ln>
        </p:spPr>
      </p:pic>
      <p:pic>
        <p:nvPicPr>
          <p:cNvPr id="334" name="Google Shape;41;p68" descr="ucsealTransp"/>
          <p:cNvPicPr/>
          <p:nvPr/>
        </p:nvPicPr>
        <p:blipFill>
          <a:blip r:embed="rId4"/>
          <a:stretch/>
        </p:blipFill>
        <p:spPr>
          <a:xfrm>
            <a:off x="0" y="6302520"/>
            <a:ext cx="604440" cy="550440"/>
          </a:xfrm>
          <a:prstGeom prst="rect">
            <a:avLst/>
          </a:prstGeom>
          <a:ln w="0">
            <a:noFill/>
          </a:ln>
        </p:spPr>
      </p:pic>
      <p:pic>
        <p:nvPicPr>
          <p:cNvPr id="335" name="Google Shape;42;p68" descr="ucsealTransp"/>
          <p:cNvPicPr/>
          <p:nvPr/>
        </p:nvPicPr>
        <p:blipFill>
          <a:blip r:embed="rId4"/>
          <a:stretch/>
        </p:blipFill>
        <p:spPr>
          <a:xfrm>
            <a:off x="0" y="6302520"/>
            <a:ext cx="604440" cy="550440"/>
          </a:xfrm>
          <a:prstGeom prst="rect">
            <a:avLst/>
          </a:prstGeom>
          <a:ln w="0">
            <a:noFill/>
          </a:ln>
        </p:spPr>
      </p:pic>
      <p:pic>
        <p:nvPicPr>
          <p:cNvPr id="336" name="Google Shape;43;p68" descr="ucsealTransp"/>
          <p:cNvPicPr/>
          <p:nvPr/>
        </p:nvPicPr>
        <p:blipFill>
          <a:blip r:embed="rId4"/>
          <a:stretch/>
        </p:blipFill>
        <p:spPr>
          <a:xfrm>
            <a:off x="0" y="6302520"/>
            <a:ext cx="604440" cy="550440"/>
          </a:xfrm>
          <a:prstGeom prst="rect">
            <a:avLst/>
          </a:prstGeom>
          <a:ln w="0">
            <a:noFill/>
          </a:ln>
        </p:spPr>
      </p:pic>
      <p:pic>
        <p:nvPicPr>
          <p:cNvPr id="337" name="Google Shape;44;p68" descr="ucsealTransp"/>
          <p:cNvPicPr/>
          <p:nvPr/>
        </p:nvPicPr>
        <p:blipFill>
          <a:blip r:embed="rId4"/>
          <a:stretch/>
        </p:blipFill>
        <p:spPr>
          <a:xfrm>
            <a:off x="0" y="6302520"/>
            <a:ext cx="604440" cy="550440"/>
          </a:xfrm>
          <a:prstGeom prst="rect">
            <a:avLst/>
          </a:prstGeom>
          <a:ln w="0">
            <a:noFill/>
          </a:ln>
        </p:spPr>
      </p:pic>
      <p:sp>
        <p:nvSpPr>
          <p:cNvPr id="338" name="CustomShape 4"/>
          <p:cNvSpPr/>
          <p:nvPr/>
        </p:nvSpPr>
        <p:spPr>
          <a:xfrm>
            <a:off x="7848720" y="6583320"/>
            <a:ext cx="680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fld id="{DF8CBE3C-88D7-4208-B34E-DCFD84402072}" type="slidenum">
              <a:rPr lang="en-US" sz="1200" b="0" strike="noStrike" spc="-1">
                <a:solidFill>
                  <a:srgbClr val="009999"/>
                </a:solidFill>
                <a:latin typeface="Arial"/>
                <a:ea typeface="Arial"/>
              </a:rPr>
              <a:t>‹#›</a:t>
            </a:fld>
            <a:endParaRPr lang="en-US" sz="1200" b="0" strike="noStrike" spc="-1">
              <a:solidFill>
                <a:srgbClr val="000000"/>
              </a:solidFill>
              <a:latin typeface="Arial"/>
            </a:endParaRPr>
          </a:p>
        </p:txBody>
      </p:sp>
      <p:sp>
        <p:nvSpPr>
          <p:cNvPr id="339" name="CustomShape 5"/>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340" name="Google Shape;47;p68" descr="slug-start-color-transp"/>
          <p:cNvPicPr/>
          <p:nvPr/>
        </p:nvPicPr>
        <p:blipFill>
          <a:blip r:embed="rId3"/>
          <a:stretch/>
        </p:blipFill>
        <p:spPr>
          <a:xfrm>
            <a:off x="8485200" y="6068880"/>
            <a:ext cx="653760" cy="784080"/>
          </a:xfrm>
          <a:prstGeom prst="rect">
            <a:avLst/>
          </a:prstGeom>
          <a:ln w="0">
            <a:noFill/>
          </a:ln>
        </p:spPr>
      </p:pic>
      <p:pic>
        <p:nvPicPr>
          <p:cNvPr id="341" name="Google Shape;48;p68" descr="ucsealTransp"/>
          <p:cNvPicPr/>
          <p:nvPr/>
        </p:nvPicPr>
        <p:blipFill>
          <a:blip r:embed="rId4"/>
          <a:stretch/>
        </p:blipFill>
        <p:spPr>
          <a:xfrm>
            <a:off x="0" y="6302520"/>
            <a:ext cx="604440" cy="550440"/>
          </a:xfrm>
          <a:prstGeom prst="rect">
            <a:avLst/>
          </a:prstGeom>
          <a:ln w="0">
            <a:noFill/>
          </a:ln>
        </p:spPr>
      </p:pic>
      <p:pic>
        <p:nvPicPr>
          <p:cNvPr id="342" name="Google Shape;49;p68" descr="ucsealTransp"/>
          <p:cNvPicPr/>
          <p:nvPr/>
        </p:nvPicPr>
        <p:blipFill>
          <a:blip r:embed="rId4"/>
          <a:stretch/>
        </p:blipFill>
        <p:spPr>
          <a:xfrm>
            <a:off x="0" y="6302520"/>
            <a:ext cx="604440" cy="550440"/>
          </a:xfrm>
          <a:prstGeom prst="rect">
            <a:avLst/>
          </a:prstGeom>
          <a:ln w="0">
            <a:noFill/>
          </a:ln>
        </p:spPr>
      </p:pic>
      <p:pic>
        <p:nvPicPr>
          <p:cNvPr id="343" name="Google Shape;50;p68" descr="ucsealTransp"/>
          <p:cNvPicPr/>
          <p:nvPr/>
        </p:nvPicPr>
        <p:blipFill>
          <a:blip r:embed="rId4"/>
          <a:stretch/>
        </p:blipFill>
        <p:spPr>
          <a:xfrm>
            <a:off x="0" y="6302520"/>
            <a:ext cx="604440" cy="550440"/>
          </a:xfrm>
          <a:prstGeom prst="rect">
            <a:avLst/>
          </a:prstGeom>
          <a:ln w="0">
            <a:noFill/>
          </a:ln>
        </p:spPr>
      </p:pic>
      <p:pic>
        <p:nvPicPr>
          <p:cNvPr id="344" name="Google Shape;51;p68" descr="ucsealTransp"/>
          <p:cNvPicPr/>
          <p:nvPr/>
        </p:nvPicPr>
        <p:blipFill>
          <a:blip r:embed="rId4"/>
          <a:stretch/>
        </p:blipFill>
        <p:spPr>
          <a:xfrm>
            <a:off x="0" y="6302520"/>
            <a:ext cx="604440" cy="550440"/>
          </a:xfrm>
          <a:prstGeom prst="rect">
            <a:avLst/>
          </a:prstGeom>
          <a:ln w="0">
            <a:noFill/>
          </a:ln>
        </p:spPr>
      </p:pic>
      <p:sp>
        <p:nvSpPr>
          <p:cNvPr id="345" name="CustomShape 6"/>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346" name="Google Shape;53;p68" descr="slug-start-color-transp"/>
          <p:cNvPicPr/>
          <p:nvPr/>
        </p:nvPicPr>
        <p:blipFill>
          <a:blip r:embed="rId3"/>
          <a:stretch/>
        </p:blipFill>
        <p:spPr>
          <a:xfrm>
            <a:off x="8485200" y="6068880"/>
            <a:ext cx="653760" cy="784080"/>
          </a:xfrm>
          <a:prstGeom prst="rect">
            <a:avLst/>
          </a:prstGeom>
          <a:ln w="0">
            <a:noFill/>
          </a:ln>
        </p:spPr>
      </p:pic>
      <p:pic>
        <p:nvPicPr>
          <p:cNvPr id="347" name="Google Shape;54;p68" descr="ucsealTransp"/>
          <p:cNvPicPr/>
          <p:nvPr/>
        </p:nvPicPr>
        <p:blipFill>
          <a:blip r:embed="rId4"/>
          <a:stretch/>
        </p:blipFill>
        <p:spPr>
          <a:xfrm>
            <a:off x="0" y="6302520"/>
            <a:ext cx="604440" cy="550440"/>
          </a:xfrm>
          <a:prstGeom prst="rect">
            <a:avLst/>
          </a:prstGeom>
          <a:ln w="0">
            <a:noFill/>
          </a:ln>
        </p:spPr>
      </p:pic>
      <p:pic>
        <p:nvPicPr>
          <p:cNvPr id="348" name="Google Shape;55;p68" descr="ucsealTransp"/>
          <p:cNvPicPr/>
          <p:nvPr/>
        </p:nvPicPr>
        <p:blipFill>
          <a:blip r:embed="rId4"/>
          <a:stretch/>
        </p:blipFill>
        <p:spPr>
          <a:xfrm>
            <a:off x="0" y="6302520"/>
            <a:ext cx="604440" cy="550440"/>
          </a:xfrm>
          <a:prstGeom prst="rect">
            <a:avLst/>
          </a:prstGeom>
          <a:ln w="0">
            <a:noFill/>
          </a:ln>
        </p:spPr>
      </p:pic>
      <p:sp>
        <p:nvSpPr>
          <p:cNvPr id="349" name="PlaceHolder 1"/>
          <p:cNvSpPr>
            <a:spLocks noGrp="1"/>
          </p:cNvSpPr>
          <p:nvPr>
            <p:ph type="title"/>
          </p:nvPr>
        </p:nvSpPr>
        <p:spPr>
          <a:xfrm>
            <a:off x="457200" y="273600"/>
            <a:ext cx="8228880" cy="114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350"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3" name="CustomShape 1"/>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
        <p:nvSpPr>
          <p:cNvPr id="354" name="CustomShape 2"/>
          <p:cNvSpPr/>
          <p:nvPr/>
        </p:nvSpPr>
        <p:spPr>
          <a:xfrm>
            <a:off x="-3240" y="99072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355" name="CustomShape 3"/>
          <p:cNvSpPr/>
          <p:nvPr/>
        </p:nvSpPr>
        <p:spPr>
          <a:xfrm>
            <a:off x="533520" y="6583320"/>
            <a:ext cx="426204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200" b="0" strike="noStrike" spc="-1">
                <a:solidFill>
                  <a:srgbClr val="009999"/>
                </a:solidFill>
                <a:latin typeface="Arial"/>
                <a:ea typeface="Arial"/>
              </a:rPr>
              <a:t>CSE12                                                     Instructor: M. Siero</a:t>
            </a:r>
            <a:endParaRPr lang="en-US" sz="1200" b="0" strike="noStrike" spc="-1">
              <a:solidFill>
                <a:srgbClr val="000000"/>
              </a:solidFill>
              <a:latin typeface="Arial"/>
            </a:endParaRPr>
          </a:p>
        </p:txBody>
      </p:sp>
      <p:pic>
        <p:nvPicPr>
          <p:cNvPr id="356" name="Google Shape;40;p68" descr="slug-start-color-transp"/>
          <p:cNvPicPr/>
          <p:nvPr/>
        </p:nvPicPr>
        <p:blipFill>
          <a:blip r:embed="rId3"/>
          <a:stretch/>
        </p:blipFill>
        <p:spPr>
          <a:xfrm>
            <a:off x="8485200" y="6068880"/>
            <a:ext cx="653760" cy="784080"/>
          </a:xfrm>
          <a:prstGeom prst="rect">
            <a:avLst/>
          </a:prstGeom>
          <a:ln w="0">
            <a:noFill/>
          </a:ln>
        </p:spPr>
      </p:pic>
      <p:pic>
        <p:nvPicPr>
          <p:cNvPr id="357" name="Google Shape;41;p68" descr="ucsealTransp"/>
          <p:cNvPicPr/>
          <p:nvPr/>
        </p:nvPicPr>
        <p:blipFill>
          <a:blip r:embed="rId4"/>
          <a:stretch/>
        </p:blipFill>
        <p:spPr>
          <a:xfrm>
            <a:off x="0" y="6302520"/>
            <a:ext cx="604440" cy="550440"/>
          </a:xfrm>
          <a:prstGeom prst="rect">
            <a:avLst/>
          </a:prstGeom>
          <a:ln w="0">
            <a:noFill/>
          </a:ln>
        </p:spPr>
      </p:pic>
      <p:pic>
        <p:nvPicPr>
          <p:cNvPr id="358" name="Google Shape;42;p68" descr="ucsealTransp"/>
          <p:cNvPicPr/>
          <p:nvPr/>
        </p:nvPicPr>
        <p:blipFill>
          <a:blip r:embed="rId4"/>
          <a:stretch/>
        </p:blipFill>
        <p:spPr>
          <a:xfrm>
            <a:off x="0" y="6302520"/>
            <a:ext cx="604440" cy="550440"/>
          </a:xfrm>
          <a:prstGeom prst="rect">
            <a:avLst/>
          </a:prstGeom>
          <a:ln w="0">
            <a:noFill/>
          </a:ln>
        </p:spPr>
      </p:pic>
      <p:pic>
        <p:nvPicPr>
          <p:cNvPr id="359" name="Google Shape;43;p68" descr="ucsealTransp"/>
          <p:cNvPicPr/>
          <p:nvPr/>
        </p:nvPicPr>
        <p:blipFill>
          <a:blip r:embed="rId4"/>
          <a:stretch/>
        </p:blipFill>
        <p:spPr>
          <a:xfrm>
            <a:off x="0" y="6302520"/>
            <a:ext cx="604440" cy="550440"/>
          </a:xfrm>
          <a:prstGeom prst="rect">
            <a:avLst/>
          </a:prstGeom>
          <a:ln w="0">
            <a:noFill/>
          </a:ln>
        </p:spPr>
      </p:pic>
      <p:pic>
        <p:nvPicPr>
          <p:cNvPr id="360" name="Google Shape;44;p68" descr="ucsealTransp"/>
          <p:cNvPicPr/>
          <p:nvPr/>
        </p:nvPicPr>
        <p:blipFill>
          <a:blip r:embed="rId4"/>
          <a:stretch/>
        </p:blipFill>
        <p:spPr>
          <a:xfrm>
            <a:off x="0" y="6302520"/>
            <a:ext cx="604440" cy="550440"/>
          </a:xfrm>
          <a:prstGeom prst="rect">
            <a:avLst/>
          </a:prstGeom>
          <a:ln w="0">
            <a:noFill/>
          </a:ln>
        </p:spPr>
      </p:pic>
      <p:sp>
        <p:nvSpPr>
          <p:cNvPr id="361" name="CustomShape 4"/>
          <p:cNvSpPr/>
          <p:nvPr/>
        </p:nvSpPr>
        <p:spPr>
          <a:xfrm>
            <a:off x="7848720" y="6583320"/>
            <a:ext cx="680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fld id="{85772268-F11D-46AC-913D-CB67723D264A}" type="slidenum">
              <a:rPr lang="en-US" sz="1200" b="0" strike="noStrike" spc="-1">
                <a:solidFill>
                  <a:srgbClr val="009999"/>
                </a:solidFill>
                <a:latin typeface="Arial"/>
                <a:ea typeface="Arial"/>
              </a:rPr>
              <a:t>‹#›</a:t>
            </a:fld>
            <a:endParaRPr lang="en-US" sz="1200" b="0" strike="noStrike" spc="-1">
              <a:solidFill>
                <a:srgbClr val="000000"/>
              </a:solidFill>
              <a:latin typeface="Arial"/>
            </a:endParaRPr>
          </a:p>
        </p:txBody>
      </p:sp>
      <p:sp>
        <p:nvSpPr>
          <p:cNvPr id="362" name="CustomShape 5"/>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363" name="Google Shape;47;p68" descr="slug-start-color-transp"/>
          <p:cNvPicPr/>
          <p:nvPr/>
        </p:nvPicPr>
        <p:blipFill>
          <a:blip r:embed="rId3"/>
          <a:stretch/>
        </p:blipFill>
        <p:spPr>
          <a:xfrm>
            <a:off x="8485200" y="6068880"/>
            <a:ext cx="653760" cy="784080"/>
          </a:xfrm>
          <a:prstGeom prst="rect">
            <a:avLst/>
          </a:prstGeom>
          <a:ln w="0">
            <a:noFill/>
          </a:ln>
        </p:spPr>
      </p:pic>
      <p:pic>
        <p:nvPicPr>
          <p:cNvPr id="364" name="Google Shape;48;p68" descr="ucsealTransp"/>
          <p:cNvPicPr/>
          <p:nvPr/>
        </p:nvPicPr>
        <p:blipFill>
          <a:blip r:embed="rId4"/>
          <a:stretch/>
        </p:blipFill>
        <p:spPr>
          <a:xfrm>
            <a:off x="0" y="6302520"/>
            <a:ext cx="604440" cy="550440"/>
          </a:xfrm>
          <a:prstGeom prst="rect">
            <a:avLst/>
          </a:prstGeom>
          <a:ln w="0">
            <a:noFill/>
          </a:ln>
        </p:spPr>
      </p:pic>
      <p:pic>
        <p:nvPicPr>
          <p:cNvPr id="365" name="Google Shape;49;p68" descr="ucsealTransp"/>
          <p:cNvPicPr/>
          <p:nvPr/>
        </p:nvPicPr>
        <p:blipFill>
          <a:blip r:embed="rId4"/>
          <a:stretch/>
        </p:blipFill>
        <p:spPr>
          <a:xfrm>
            <a:off x="0" y="6302520"/>
            <a:ext cx="604440" cy="550440"/>
          </a:xfrm>
          <a:prstGeom prst="rect">
            <a:avLst/>
          </a:prstGeom>
          <a:ln w="0">
            <a:noFill/>
          </a:ln>
        </p:spPr>
      </p:pic>
      <p:pic>
        <p:nvPicPr>
          <p:cNvPr id="366" name="Google Shape;50;p68" descr="ucsealTransp"/>
          <p:cNvPicPr/>
          <p:nvPr/>
        </p:nvPicPr>
        <p:blipFill>
          <a:blip r:embed="rId4"/>
          <a:stretch/>
        </p:blipFill>
        <p:spPr>
          <a:xfrm>
            <a:off x="0" y="6302520"/>
            <a:ext cx="604440" cy="550440"/>
          </a:xfrm>
          <a:prstGeom prst="rect">
            <a:avLst/>
          </a:prstGeom>
          <a:ln w="0">
            <a:noFill/>
          </a:ln>
        </p:spPr>
      </p:pic>
      <p:pic>
        <p:nvPicPr>
          <p:cNvPr id="367" name="Google Shape;51;p68" descr="ucsealTransp"/>
          <p:cNvPicPr/>
          <p:nvPr/>
        </p:nvPicPr>
        <p:blipFill>
          <a:blip r:embed="rId4"/>
          <a:stretch/>
        </p:blipFill>
        <p:spPr>
          <a:xfrm>
            <a:off x="0" y="6302520"/>
            <a:ext cx="604440" cy="550440"/>
          </a:xfrm>
          <a:prstGeom prst="rect">
            <a:avLst/>
          </a:prstGeom>
          <a:ln w="0">
            <a:noFill/>
          </a:ln>
        </p:spPr>
      </p:pic>
      <p:sp>
        <p:nvSpPr>
          <p:cNvPr id="368" name="CustomShape 6"/>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369" name="Google Shape;53;p68" descr="slug-start-color-transp"/>
          <p:cNvPicPr/>
          <p:nvPr/>
        </p:nvPicPr>
        <p:blipFill>
          <a:blip r:embed="rId3"/>
          <a:stretch/>
        </p:blipFill>
        <p:spPr>
          <a:xfrm>
            <a:off x="8485200" y="6068880"/>
            <a:ext cx="653760" cy="784080"/>
          </a:xfrm>
          <a:prstGeom prst="rect">
            <a:avLst/>
          </a:prstGeom>
          <a:ln w="0">
            <a:noFill/>
          </a:ln>
        </p:spPr>
      </p:pic>
      <p:pic>
        <p:nvPicPr>
          <p:cNvPr id="370" name="Google Shape;54;p68" descr="ucsealTransp"/>
          <p:cNvPicPr/>
          <p:nvPr/>
        </p:nvPicPr>
        <p:blipFill>
          <a:blip r:embed="rId4"/>
          <a:stretch/>
        </p:blipFill>
        <p:spPr>
          <a:xfrm>
            <a:off x="0" y="6302520"/>
            <a:ext cx="604440" cy="550440"/>
          </a:xfrm>
          <a:prstGeom prst="rect">
            <a:avLst/>
          </a:prstGeom>
          <a:ln w="0">
            <a:noFill/>
          </a:ln>
        </p:spPr>
      </p:pic>
      <p:pic>
        <p:nvPicPr>
          <p:cNvPr id="371" name="Google Shape;55;p68" descr="ucsealTransp"/>
          <p:cNvPicPr/>
          <p:nvPr/>
        </p:nvPicPr>
        <p:blipFill>
          <a:blip r:embed="rId4"/>
          <a:stretch/>
        </p:blipFill>
        <p:spPr>
          <a:xfrm>
            <a:off x="0" y="6302520"/>
            <a:ext cx="604440" cy="550440"/>
          </a:xfrm>
          <a:prstGeom prst="rect">
            <a:avLst/>
          </a:prstGeom>
          <a:ln w="0">
            <a:noFill/>
          </a:ln>
        </p:spPr>
      </p:pic>
      <p:sp>
        <p:nvSpPr>
          <p:cNvPr id="372" name="PlaceHolder 1"/>
          <p:cNvSpPr>
            <a:spLocks noGrp="1"/>
          </p:cNvSpPr>
          <p:nvPr>
            <p:ph type="title"/>
          </p:nvPr>
        </p:nvSpPr>
        <p:spPr>
          <a:xfrm>
            <a:off x="457200" y="273600"/>
            <a:ext cx="8228880" cy="114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373"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374"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 name="CustomShape 1"/>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
        <p:nvSpPr>
          <p:cNvPr id="379" name="CustomShape 2"/>
          <p:cNvSpPr/>
          <p:nvPr/>
        </p:nvSpPr>
        <p:spPr>
          <a:xfrm>
            <a:off x="-3240" y="99072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380" name="CustomShape 3"/>
          <p:cNvSpPr/>
          <p:nvPr/>
        </p:nvSpPr>
        <p:spPr>
          <a:xfrm>
            <a:off x="533520" y="6583320"/>
            <a:ext cx="426204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200" b="0" strike="noStrike" spc="-1">
                <a:solidFill>
                  <a:srgbClr val="009999"/>
                </a:solidFill>
                <a:latin typeface="Arial"/>
                <a:ea typeface="Arial"/>
              </a:rPr>
              <a:t>CSE12                                                     Instructor: M. Siero</a:t>
            </a:r>
            <a:endParaRPr lang="en-US" sz="1200" b="0" strike="noStrike" spc="-1">
              <a:solidFill>
                <a:srgbClr val="000000"/>
              </a:solidFill>
              <a:latin typeface="Arial"/>
            </a:endParaRPr>
          </a:p>
        </p:txBody>
      </p:sp>
      <p:pic>
        <p:nvPicPr>
          <p:cNvPr id="381" name="Google Shape;40;p68" descr="slug-start-color-transp"/>
          <p:cNvPicPr/>
          <p:nvPr/>
        </p:nvPicPr>
        <p:blipFill>
          <a:blip r:embed="rId3"/>
          <a:stretch/>
        </p:blipFill>
        <p:spPr>
          <a:xfrm>
            <a:off x="8485200" y="6068880"/>
            <a:ext cx="653760" cy="784080"/>
          </a:xfrm>
          <a:prstGeom prst="rect">
            <a:avLst/>
          </a:prstGeom>
          <a:ln w="0">
            <a:noFill/>
          </a:ln>
        </p:spPr>
      </p:pic>
      <p:pic>
        <p:nvPicPr>
          <p:cNvPr id="382" name="Google Shape;41;p68" descr="ucsealTransp"/>
          <p:cNvPicPr/>
          <p:nvPr/>
        </p:nvPicPr>
        <p:blipFill>
          <a:blip r:embed="rId4"/>
          <a:stretch/>
        </p:blipFill>
        <p:spPr>
          <a:xfrm>
            <a:off x="0" y="6302520"/>
            <a:ext cx="604440" cy="550440"/>
          </a:xfrm>
          <a:prstGeom prst="rect">
            <a:avLst/>
          </a:prstGeom>
          <a:ln w="0">
            <a:noFill/>
          </a:ln>
        </p:spPr>
      </p:pic>
      <p:pic>
        <p:nvPicPr>
          <p:cNvPr id="383" name="Google Shape;42;p68" descr="ucsealTransp"/>
          <p:cNvPicPr/>
          <p:nvPr/>
        </p:nvPicPr>
        <p:blipFill>
          <a:blip r:embed="rId4"/>
          <a:stretch/>
        </p:blipFill>
        <p:spPr>
          <a:xfrm>
            <a:off x="0" y="6302520"/>
            <a:ext cx="604440" cy="550440"/>
          </a:xfrm>
          <a:prstGeom prst="rect">
            <a:avLst/>
          </a:prstGeom>
          <a:ln w="0">
            <a:noFill/>
          </a:ln>
        </p:spPr>
      </p:pic>
      <p:pic>
        <p:nvPicPr>
          <p:cNvPr id="384" name="Google Shape;43;p68" descr="ucsealTransp"/>
          <p:cNvPicPr/>
          <p:nvPr/>
        </p:nvPicPr>
        <p:blipFill>
          <a:blip r:embed="rId4"/>
          <a:stretch/>
        </p:blipFill>
        <p:spPr>
          <a:xfrm>
            <a:off x="0" y="6302520"/>
            <a:ext cx="604440" cy="550440"/>
          </a:xfrm>
          <a:prstGeom prst="rect">
            <a:avLst/>
          </a:prstGeom>
          <a:ln w="0">
            <a:noFill/>
          </a:ln>
        </p:spPr>
      </p:pic>
      <p:pic>
        <p:nvPicPr>
          <p:cNvPr id="385" name="Google Shape;44;p68" descr="ucsealTransp"/>
          <p:cNvPicPr/>
          <p:nvPr/>
        </p:nvPicPr>
        <p:blipFill>
          <a:blip r:embed="rId4"/>
          <a:stretch/>
        </p:blipFill>
        <p:spPr>
          <a:xfrm>
            <a:off x="0" y="6302520"/>
            <a:ext cx="604440" cy="550440"/>
          </a:xfrm>
          <a:prstGeom prst="rect">
            <a:avLst/>
          </a:prstGeom>
          <a:ln w="0">
            <a:noFill/>
          </a:ln>
        </p:spPr>
      </p:pic>
      <p:sp>
        <p:nvSpPr>
          <p:cNvPr id="386" name="CustomShape 4"/>
          <p:cNvSpPr/>
          <p:nvPr/>
        </p:nvSpPr>
        <p:spPr>
          <a:xfrm>
            <a:off x="7848720" y="6583320"/>
            <a:ext cx="680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fld id="{7606EFD8-91B3-440A-9549-3BA7D5C5BDC4}" type="slidenum">
              <a:rPr lang="en-US" sz="1200" b="0" strike="noStrike" spc="-1">
                <a:solidFill>
                  <a:srgbClr val="009999"/>
                </a:solidFill>
                <a:latin typeface="Arial"/>
                <a:ea typeface="Arial"/>
              </a:rPr>
              <a:t>‹#›</a:t>
            </a:fld>
            <a:endParaRPr lang="en-US" sz="1200" b="0" strike="noStrike" spc="-1">
              <a:solidFill>
                <a:srgbClr val="000000"/>
              </a:solidFill>
              <a:latin typeface="Arial"/>
            </a:endParaRPr>
          </a:p>
        </p:txBody>
      </p:sp>
      <p:sp>
        <p:nvSpPr>
          <p:cNvPr id="387" name="CustomShape 5"/>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388" name="Google Shape;47;p68" descr="slug-start-color-transp"/>
          <p:cNvPicPr/>
          <p:nvPr/>
        </p:nvPicPr>
        <p:blipFill>
          <a:blip r:embed="rId3"/>
          <a:stretch/>
        </p:blipFill>
        <p:spPr>
          <a:xfrm>
            <a:off x="8485200" y="6068880"/>
            <a:ext cx="653760" cy="784080"/>
          </a:xfrm>
          <a:prstGeom prst="rect">
            <a:avLst/>
          </a:prstGeom>
          <a:ln w="0">
            <a:noFill/>
          </a:ln>
        </p:spPr>
      </p:pic>
      <p:pic>
        <p:nvPicPr>
          <p:cNvPr id="389" name="Google Shape;48;p68" descr="ucsealTransp"/>
          <p:cNvPicPr/>
          <p:nvPr/>
        </p:nvPicPr>
        <p:blipFill>
          <a:blip r:embed="rId4"/>
          <a:stretch/>
        </p:blipFill>
        <p:spPr>
          <a:xfrm>
            <a:off x="0" y="6302520"/>
            <a:ext cx="604440" cy="550440"/>
          </a:xfrm>
          <a:prstGeom prst="rect">
            <a:avLst/>
          </a:prstGeom>
          <a:ln w="0">
            <a:noFill/>
          </a:ln>
        </p:spPr>
      </p:pic>
      <p:pic>
        <p:nvPicPr>
          <p:cNvPr id="390" name="Google Shape;49;p68" descr="ucsealTransp"/>
          <p:cNvPicPr/>
          <p:nvPr/>
        </p:nvPicPr>
        <p:blipFill>
          <a:blip r:embed="rId4"/>
          <a:stretch/>
        </p:blipFill>
        <p:spPr>
          <a:xfrm>
            <a:off x="0" y="6302520"/>
            <a:ext cx="604440" cy="550440"/>
          </a:xfrm>
          <a:prstGeom prst="rect">
            <a:avLst/>
          </a:prstGeom>
          <a:ln w="0">
            <a:noFill/>
          </a:ln>
        </p:spPr>
      </p:pic>
      <p:pic>
        <p:nvPicPr>
          <p:cNvPr id="391" name="Google Shape;50;p68" descr="ucsealTransp"/>
          <p:cNvPicPr/>
          <p:nvPr/>
        </p:nvPicPr>
        <p:blipFill>
          <a:blip r:embed="rId4"/>
          <a:stretch/>
        </p:blipFill>
        <p:spPr>
          <a:xfrm>
            <a:off x="0" y="6302520"/>
            <a:ext cx="604440" cy="550440"/>
          </a:xfrm>
          <a:prstGeom prst="rect">
            <a:avLst/>
          </a:prstGeom>
          <a:ln w="0">
            <a:noFill/>
          </a:ln>
        </p:spPr>
      </p:pic>
      <p:pic>
        <p:nvPicPr>
          <p:cNvPr id="392" name="Google Shape;51;p68" descr="ucsealTransp"/>
          <p:cNvPicPr/>
          <p:nvPr/>
        </p:nvPicPr>
        <p:blipFill>
          <a:blip r:embed="rId4"/>
          <a:stretch/>
        </p:blipFill>
        <p:spPr>
          <a:xfrm>
            <a:off x="0" y="6302520"/>
            <a:ext cx="604440" cy="550440"/>
          </a:xfrm>
          <a:prstGeom prst="rect">
            <a:avLst/>
          </a:prstGeom>
          <a:ln w="0">
            <a:noFill/>
          </a:ln>
        </p:spPr>
      </p:pic>
      <p:sp>
        <p:nvSpPr>
          <p:cNvPr id="393" name="CustomShape 6"/>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394" name="Google Shape;53;p68" descr="slug-start-color-transp"/>
          <p:cNvPicPr/>
          <p:nvPr/>
        </p:nvPicPr>
        <p:blipFill>
          <a:blip r:embed="rId3"/>
          <a:stretch/>
        </p:blipFill>
        <p:spPr>
          <a:xfrm>
            <a:off x="8485200" y="6068880"/>
            <a:ext cx="653760" cy="784080"/>
          </a:xfrm>
          <a:prstGeom prst="rect">
            <a:avLst/>
          </a:prstGeom>
          <a:ln w="0">
            <a:noFill/>
          </a:ln>
        </p:spPr>
      </p:pic>
      <p:pic>
        <p:nvPicPr>
          <p:cNvPr id="395" name="Google Shape;54;p68" descr="ucsealTransp"/>
          <p:cNvPicPr/>
          <p:nvPr/>
        </p:nvPicPr>
        <p:blipFill>
          <a:blip r:embed="rId4"/>
          <a:stretch/>
        </p:blipFill>
        <p:spPr>
          <a:xfrm>
            <a:off x="0" y="6302520"/>
            <a:ext cx="604440" cy="550440"/>
          </a:xfrm>
          <a:prstGeom prst="rect">
            <a:avLst/>
          </a:prstGeom>
          <a:ln w="0">
            <a:noFill/>
          </a:ln>
        </p:spPr>
      </p:pic>
      <p:pic>
        <p:nvPicPr>
          <p:cNvPr id="396" name="Google Shape;55;p68" descr="ucsealTransp"/>
          <p:cNvPicPr/>
          <p:nvPr/>
        </p:nvPicPr>
        <p:blipFill>
          <a:blip r:embed="rId4"/>
          <a:stretch/>
        </p:blipFill>
        <p:spPr>
          <a:xfrm>
            <a:off x="0" y="6302520"/>
            <a:ext cx="604440" cy="550440"/>
          </a:xfrm>
          <a:prstGeom prst="rect">
            <a:avLst/>
          </a:prstGeom>
          <a:ln w="0">
            <a:noFill/>
          </a:ln>
        </p:spPr>
      </p:pic>
      <p:sp>
        <p:nvSpPr>
          <p:cNvPr id="397" name="PlaceHolder 1"/>
          <p:cNvSpPr>
            <a:spLocks noGrp="1"/>
          </p:cNvSpPr>
          <p:nvPr>
            <p:ph type="title"/>
          </p:nvPr>
        </p:nvSpPr>
        <p:spPr>
          <a:xfrm>
            <a:off x="457200" y="273600"/>
            <a:ext cx="8228880" cy="114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 name="CustomShape 1"/>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
        <p:nvSpPr>
          <p:cNvPr id="400" name="CustomShape 2"/>
          <p:cNvSpPr/>
          <p:nvPr/>
        </p:nvSpPr>
        <p:spPr>
          <a:xfrm>
            <a:off x="-3240" y="99072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401" name="CustomShape 3"/>
          <p:cNvSpPr/>
          <p:nvPr/>
        </p:nvSpPr>
        <p:spPr>
          <a:xfrm>
            <a:off x="533520" y="6583320"/>
            <a:ext cx="426204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200" b="0" strike="noStrike" spc="-1">
                <a:solidFill>
                  <a:srgbClr val="009999"/>
                </a:solidFill>
                <a:latin typeface="Arial"/>
                <a:ea typeface="Arial"/>
              </a:rPr>
              <a:t>CSE12                                                     Instructor: M. Siero</a:t>
            </a:r>
            <a:endParaRPr lang="en-US" sz="1200" b="0" strike="noStrike" spc="-1">
              <a:solidFill>
                <a:srgbClr val="000000"/>
              </a:solidFill>
              <a:latin typeface="Arial"/>
            </a:endParaRPr>
          </a:p>
        </p:txBody>
      </p:sp>
      <p:pic>
        <p:nvPicPr>
          <p:cNvPr id="402" name="Google Shape;40;p68" descr="slug-start-color-transp"/>
          <p:cNvPicPr/>
          <p:nvPr/>
        </p:nvPicPr>
        <p:blipFill>
          <a:blip r:embed="rId3"/>
          <a:stretch/>
        </p:blipFill>
        <p:spPr>
          <a:xfrm>
            <a:off x="8485200" y="6068880"/>
            <a:ext cx="653760" cy="784080"/>
          </a:xfrm>
          <a:prstGeom prst="rect">
            <a:avLst/>
          </a:prstGeom>
          <a:ln w="0">
            <a:noFill/>
          </a:ln>
        </p:spPr>
      </p:pic>
      <p:pic>
        <p:nvPicPr>
          <p:cNvPr id="403" name="Google Shape;41;p68" descr="ucsealTransp"/>
          <p:cNvPicPr/>
          <p:nvPr/>
        </p:nvPicPr>
        <p:blipFill>
          <a:blip r:embed="rId4"/>
          <a:stretch/>
        </p:blipFill>
        <p:spPr>
          <a:xfrm>
            <a:off x="0" y="6302520"/>
            <a:ext cx="604440" cy="550440"/>
          </a:xfrm>
          <a:prstGeom prst="rect">
            <a:avLst/>
          </a:prstGeom>
          <a:ln w="0">
            <a:noFill/>
          </a:ln>
        </p:spPr>
      </p:pic>
      <p:pic>
        <p:nvPicPr>
          <p:cNvPr id="404" name="Google Shape;42;p68" descr="ucsealTransp"/>
          <p:cNvPicPr/>
          <p:nvPr/>
        </p:nvPicPr>
        <p:blipFill>
          <a:blip r:embed="rId4"/>
          <a:stretch/>
        </p:blipFill>
        <p:spPr>
          <a:xfrm>
            <a:off x="0" y="6302520"/>
            <a:ext cx="604440" cy="550440"/>
          </a:xfrm>
          <a:prstGeom prst="rect">
            <a:avLst/>
          </a:prstGeom>
          <a:ln w="0">
            <a:noFill/>
          </a:ln>
        </p:spPr>
      </p:pic>
      <p:pic>
        <p:nvPicPr>
          <p:cNvPr id="405" name="Google Shape;43;p68" descr="ucsealTransp"/>
          <p:cNvPicPr/>
          <p:nvPr/>
        </p:nvPicPr>
        <p:blipFill>
          <a:blip r:embed="rId4"/>
          <a:stretch/>
        </p:blipFill>
        <p:spPr>
          <a:xfrm>
            <a:off x="0" y="6302520"/>
            <a:ext cx="604440" cy="550440"/>
          </a:xfrm>
          <a:prstGeom prst="rect">
            <a:avLst/>
          </a:prstGeom>
          <a:ln w="0">
            <a:noFill/>
          </a:ln>
        </p:spPr>
      </p:pic>
      <p:pic>
        <p:nvPicPr>
          <p:cNvPr id="406" name="Google Shape;44;p68" descr="ucsealTransp"/>
          <p:cNvPicPr/>
          <p:nvPr/>
        </p:nvPicPr>
        <p:blipFill>
          <a:blip r:embed="rId4"/>
          <a:stretch/>
        </p:blipFill>
        <p:spPr>
          <a:xfrm>
            <a:off x="0" y="6302520"/>
            <a:ext cx="604440" cy="550440"/>
          </a:xfrm>
          <a:prstGeom prst="rect">
            <a:avLst/>
          </a:prstGeom>
          <a:ln w="0">
            <a:noFill/>
          </a:ln>
        </p:spPr>
      </p:pic>
      <p:sp>
        <p:nvSpPr>
          <p:cNvPr id="407" name="CustomShape 4"/>
          <p:cNvSpPr/>
          <p:nvPr/>
        </p:nvSpPr>
        <p:spPr>
          <a:xfrm>
            <a:off x="7848720" y="6583320"/>
            <a:ext cx="680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fld id="{2F916E1B-A8FA-4231-A907-2A5B3B3088E1}" type="slidenum">
              <a:rPr lang="en-US" sz="1200" b="0" strike="noStrike" spc="-1">
                <a:solidFill>
                  <a:srgbClr val="009999"/>
                </a:solidFill>
                <a:latin typeface="Arial"/>
                <a:ea typeface="Arial"/>
              </a:rPr>
              <a:t>‹#›</a:t>
            </a:fld>
            <a:endParaRPr lang="en-US" sz="1200" b="0" strike="noStrike" spc="-1">
              <a:solidFill>
                <a:srgbClr val="000000"/>
              </a:solidFill>
              <a:latin typeface="Arial"/>
            </a:endParaRPr>
          </a:p>
        </p:txBody>
      </p:sp>
      <p:sp>
        <p:nvSpPr>
          <p:cNvPr id="408" name="CustomShape 5"/>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409" name="Google Shape;47;p68" descr="slug-start-color-transp"/>
          <p:cNvPicPr/>
          <p:nvPr/>
        </p:nvPicPr>
        <p:blipFill>
          <a:blip r:embed="rId3"/>
          <a:stretch/>
        </p:blipFill>
        <p:spPr>
          <a:xfrm>
            <a:off x="8485200" y="6068880"/>
            <a:ext cx="653760" cy="784080"/>
          </a:xfrm>
          <a:prstGeom prst="rect">
            <a:avLst/>
          </a:prstGeom>
          <a:ln w="0">
            <a:noFill/>
          </a:ln>
        </p:spPr>
      </p:pic>
      <p:pic>
        <p:nvPicPr>
          <p:cNvPr id="410" name="Google Shape;48;p68" descr="ucsealTransp"/>
          <p:cNvPicPr/>
          <p:nvPr/>
        </p:nvPicPr>
        <p:blipFill>
          <a:blip r:embed="rId4"/>
          <a:stretch/>
        </p:blipFill>
        <p:spPr>
          <a:xfrm>
            <a:off x="0" y="6302520"/>
            <a:ext cx="604440" cy="550440"/>
          </a:xfrm>
          <a:prstGeom prst="rect">
            <a:avLst/>
          </a:prstGeom>
          <a:ln w="0">
            <a:noFill/>
          </a:ln>
        </p:spPr>
      </p:pic>
      <p:pic>
        <p:nvPicPr>
          <p:cNvPr id="411" name="Google Shape;49;p68" descr="ucsealTransp"/>
          <p:cNvPicPr/>
          <p:nvPr/>
        </p:nvPicPr>
        <p:blipFill>
          <a:blip r:embed="rId4"/>
          <a:stretch/>
        </p:blipFill>
        <p:spPr>
          <a:xfrm>
            <a:off x="0" y="6302520"/>
            <a:ext cx="604440" cy="550440"/>
          </a:xfrm>
          <a:prstGeom prst="rect">
            <a:avLst/>
          </a:prstGeom>
          <a:ln w="0">
            <a:noFill/>
          </a:ln>
        </p:spPr>
      </p:pic>
      <p:pic>
        <p:nvPicPr>
          <p:cNvPr id="412" name="Google Shape;50;p68" descr="ucsealTransp"/>
          <p:cNvPicPr/>
          <p:nvPr/>
        </p:nvPicPr>
        <p:blipFill>
          <a:blip r:embed="rId4"/>
          <a:stretch/>
        </p:blipFill>
        <p:spPr>
          <a:xfrm>
            <a:off x="0" y="6302520"/>
            <a:ext cx="604440" cy="550440"/>
          </a:xfrm>
          <a:prstGeom prst="rect">
            <a:avLst/>
          </a:prstGeom>
          <a:ln w="0">
            <a:noFill/>
          </a:ln>
        </p:spPr>
      </p:pic>
      <p:pic>
        <p:nvPicPr>
          <p:cNvPr id="413" name="Google Shape;51;p68" descr="ucsealTransp"/>
          <p:cNvPicPr/>
          <p:nvPr/>
        </p:nvPicPr>
        <p:blipFill>
          <a:blip r:embed="rId4"/>
          <a:stretch/>
        </p:blipFill>
        <p:spPr>
          <a:xfrm>
            <a:off x="0" y="6302520"/>
            <a:ext cx="604440" cy="550440"/>
          </a:xfrm>
          <a:prstGeom prst="rect">
            <a:avLst/>
          </a:prstGeom>
          <a:ln w="0">
            <a:noFill/>
          </a:ln>
        </p:spPr>
      </p:pic>
      <p:sp>
        <p:nvSpPr>
          <p:cNvPr id="414" name="CustomShape 6"/>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415" name="Google Shape;53;p68" descr="slug-start-color-transp"/>
          <p:cNvPicPr/>
          <p:nvPr/>
        </p:nvPicPr>
        <p:blipFill>
          <a:blip r:embed="rId3"/>
          <a:stretch/>
        </p:blipFill>
        <p:spPr>
          <a:xfrm>
            <a:off x="8485200" y="6068880"/>
            <a:ext cx="653760" cy="784080"/>
          </a:xfrm>
          <a:prstGeom prst="rect">
            <a:avLst/>
          </a:prstGeom>
          <a:ln w="0">
            <a:noFill/>
          </a:ln>
        </p:spPr>
      </p:pic>
      <p:pic>
        <p:nvPicPr>
          <p:cNvPr id="416" name="Google Shape;54;p68" descr="ucsealTransp"/>
          <p:cNvPicPr/>
          <p:nvPr/>
        </p:nvPicPr>
        <p:blipFill>
          <a:blip r:embed="rId4"/>
          <a:stretch/>
        </p:blipFill>
        <p:spPr>
          <a:xfrm>
            <a:off x="0" y="6302520"/>
            <a:ext cx="604440" cy="550440"/>
          </a:xfrm>
          <a:prstGeom prst="rect">
            <a:avLst/>
          </a:prstGeom>
          <a:ln w="0">
            <a:noFill/>
          </a:ln>
        </p:spPr>
      </p:pic>
      <p:pic>
        <p:nvPicPr>
          <p:cNvPr id="417" name="Google Shape;55;p68" descr="ucsealTransp"/>
          <p:cNvPicPr/>
          <p:nvPr/>
        </p:nvPicPr>
        <p:blipFill>
          <a:blip r:embed="rId4"/>
          <a:stretch/>
        </p:blipFill>
        <p:spPr>
          <a:xfrm>
            <a:off x="0" y="6302520"/>
            <a:ext cx="604440" cy="5504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8" name="CustomShape 1"/>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
        <p:nvSpPr>
          <p:cNvPr id="419" name="CustomShape 2"/>
          <p:cNvSpPr/>
          <p:nvPr/>
        </p:nvSpPr>
        <p:spPr>
          <a:xfrm>
            <a:off x="-3240" y="99072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420" name="CustomShape 3"/>
          <p:cNvSpPr/>
          <p:nvPr/>
        </p:nvSpPr>
        <p:spPr>
          <a:xfrm>
            <a:off x="533520" y="6583320"/>
            <a:ext cx="426204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200" b="0" strike="noStrike" spc="-1">
                <a:solidFill>
                  <a:srgbClr val="009999"/>
                </a:solidFill>
                <a:latin typeface="Arial"/>
                <a:ea typeface="Arial"/>
              </a:rPr>
              <a:t>CSE12                                                     Instructor: M. Siero</a:t>
            </a:r>
            <a:endParaRPr lang="en-US" sz="1200" b="0" strike="noStrike" spc="-1">
              <a:solidFill>
                <a:srgbClr val="000000"/>
              </a:solidFill>
              <a:latin typeface="Arial"/>
            </a:endParaRPr>
          </a:p>
        </p:txBody>
      </p:sp>
      <p:pic>
        <p:nvPicPr>
          <p:cNvPr id="421" name="Google Shape;40;p68" descr="slug-start-color-transp"/>
          <p:cNvPicPr/>
          <p:nvPr/>
        </p:nvPicPr>
        <p:blipFill>
          <a:blip r:embed="rId3"/>
          <a:stretch/>
        </p:blipFill>
        <p:spPr>
          <a:xfrm>
            <a:off x="8485200" y="6068880"/>
            <a:ext cx="653760" cy="784080"/>
          </a:xfrm>
          <a:prstGeom prst="rect">
            <a:avLst/>
          </a:prstGeom>
          <a:ln w="0">
            <a:noFill/>
          </a:ln>
        </p:spPr>
      </p:pic>
      <p:pic>
        <p:nvPicPr>
          <p:cNvPr id="422" name="Google Shape;41;p68" descr="ucsealTransp"/>
          <p:cNvPicPr/>
          <p:nvPr/>
        </p:nvPicPr>
        <p:blipFill>
          <a:blip r:embed="rId4"/>
          <a:stretch/>
        </p:blipFill>
        <p:spPr>
          <a:xfrm>
            <a:off x="0" y="6302520"/>
            <a:ext cx="604440" cy="550440"/>
          </a:xfrm>
          <a:prstGeom prst="rect">
            <a:avLst/>
          </a:prstGeom>
          <a:ln w="0">
            <a:noFill/>
          </a:ln>
        </p:spPr>
      </p:pic>
      <p:pic>
        <p:nvPicPr>
          <p:cNvPr id="423" name="Google Shape;42;p68" descr="ucsealTransp"/>
          <p:cNvPicPr/>
          <p:nvPr/>
        </p:nvPicPr>
        <p:blipFill>
          <a:blip r:embed="rId4"/>
          <a:stretch/>
        </p:blipFill>
        <p:spPr>
          <a:xfrm>
            <a:off x="0" y="6302520"/>
            <a:ext cx="604440" cy="550440"/>
          </a:xfrm>
          <a:prstGeom prst="rect">
            <a:avLst/>
          </a:prstGeom>
          <a:ln w="0">
            <a:noFill/>
          </a:ln>
        </p:spPr>
      </p:pic>
      <p:pic>
        <p:nvPicPr>
          <p:cNvPr id="424" name="Google Shape;43;p68" descr="ucsealTransp"/>
          <p:cNvPicPr/>
          <p:nvPr/>
        </p:nvPicPr>
        <p:blipFill>
          <a:blip r:embed="rId4"/>
          <a:stretch/>
        </p:blipFill>
        <p:spPr>
          <a:xfrm>
            <a:off x="0" y="6302520"/>
            <a:ext cx="604440" cy="550440"/>
          </a:xfrm>
          <a:prstGeom prst="rect">
            <a:avLst/>
          </a:prstGeom>
          <a:ln w="0">
            <a:noFill/>
          </a:ln>
        </p:spPr>
      </p:pic>
      <p:pic>
        <p:nvPicPr>
          <p:cNvPr id="425" name="Google Shape;44;p68" descr="ucsealTransp"/>
          <p:cNvPicPr/>
          <p:nvPr/>
        </p:nvPicPr>
        <p:blipFill>
          <a:blip r:embed="rId4"/>
          <a:stretch/>
        </p:blipFill>
        <p:spPr>
          <a:xfrm>
            <a:off x="0" y="6302520"/>
            <a:ext cx="604440" cy="550440"/>
          </a:xfrm>
          <a:prstGeom prst="rect">
            <a:avLst/>
          </a:prstGeom>
          <a:ln w="0">
            <a:noFill/>
          </a:ln>
        </p:spPr>
      </p:pic>
      <p:sp>
        <p:nvSpPr>
          <p:cNvPr id="426" name="CustomShape 4"/>
          <p:cNvSpPr/>
          <p:nvPr/>
        </p:nvSpPr>
        <p:spPr>
          <a:xfrm>
            <a:off x="7848720" y="6583320"/>
            <a:ext cx="680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fld id="{EA7AB521-FC46-4034-B888-4DAD607D3357}" type="slidenum">
              <a:rPr lang="en-US" sz="1200" b="0" strike="noStrike" spc="-1">
                <a:solidFill>
                  <a:srgbClr val="009999"/>
                </a:solidFill>
                <a:latin typeface="Arial"/>
                <a:ea typeface="Arial"/>
              </a:rPr>
              <a:t>‹#›</a:t>
            </a:fld>
            <a:endParaRPr lang="en-US" sz="1200" b="0" strike="noStrike" spc="-1">
              <a:solidFill>
                <a:srgbClr val="000000"/>
              </a:solidFill>
              <a:latin typeface="Arial"/>
            </a:endParaRPr>
          </a:p>
        </p:txBody>
      </p:sp>
      <p:sp>
        <p:nvSpPr>
          <p:cNvPr id="427" name="CustomShape 5"/>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428" name="Google Shape;47;p68" descr="slug-start-color-transp"/>
          <p:cNvPicPr/>
          <p:nvPr/>
        </p:nvPicPr>
        <p:blipFill>
          <a:blip r:embed="rId3"/>
          <a:stretch/>
        </p:blipFill>
        <p:spPr>
          <a:xfrm>
            <a:off x="8485200" y="6068880"/>
            <a:ext cx="653760" cy="784080"/>
          </a:xfrm>
          <a:prstGeom prst="rect">
            <a:avLst/>
          </a:prstGeom>
          <a:ln w="0">
            <a:noFill/>
          </a:ln>
        </p:spPr>
      </p:pic>
      <p:pic>
        <p:nvPicPr>
          <p:cNvPr id="429" name="Google Shape;48;p68" descr="ucsealTransp"/>
          <p:cNvPicPr/>
          <p:nvPr/>
        </p:nvPicPr>
        <p:blipFill>
          <a:blip r:embed="rId4"/>
          <a:stretch/>
        </p:blipFill>
        <p:spPr>
          <a:xfrm>
            <a:off x="0" y="6302520"/>
            <a:ext cx="604440" cy="550440"/>
          </a:xfrm>
          <a:prstGeom prst="rect">
            <a:avLst/>
          </a:prstGeom>
          <a:ln w="0">
            <a:noFill/>
          </a:ln>
        </p:spPr>
      </p:pic>
      <p:pic>
        <p:nvPicPr>
          <p:cNvPr id="430" name="Google Shape;49;p68" descr="ucsealTransp"/>
          <p:cNvPicPr/>
          <p:nvPr/>
        </p:nvPicPr>
        <p:blipFill>
          <a:blip r:embed="rId4"/>
          <a:stretch/>
        </p:blipFill>
        <p:spPr>
          <a:xfrm>
            <a:off x="0" y="6302520"/>
            <a:ext cx="604440" cy="550440"/>
          </a:xfrm>
          <a:prstGeom prst="rect">
            <a:avLst/>
          </a:prstGeom>
          <a:ln w="0">
            <a:noFill/>
          </a:ln>
        </p:spPr>
      </p:pic>
      <p:pic>
        <p:nvPicPr>
          <p:cNvPr id="431" name="Google Shape;50;p68" descr="ucsealTransp"/>
          <p:cNvPicPr/>
          <p:nvPr/>
        </p:nvPicPr>
        <p:blipFill>
          <a:blip r:embed="rId4"/>
          <a:stretch/>
        </p:blipFill>
        <p:spPr>
          <a:xfrm>
            <a:off x="0" y="6302520"/>
            <a:ext cx="604440" cy="550440"/>
          </a:xfrm>
          <a:prstGeom prst="rect">
            <a:avLst/>
          </a:prstGeom>
          <a:ln w="0">
            <a:noFill/>
          </a:ln>
        </p:spPr>
      </p:pic>
      <p:pic>
        <p:nvPicPr>
          <p:cNvPr id="432" name="Google Shape;51;p68" descr="ucsealTransp"/>
          <p:cNvPicPr/>
          <p:nvPr/>
        </p:nvPicPr>
        <p:blipFill>
          <a:blip r:embed="rId4"/>
          <a:stretch/>
        </p:blipFill>
        <p:spPr>
          <a:xfrm>
            <a:off x="0" y="6302520"/>
            <a:ext cx="604440" cy="550440"/>
          </a:xfrm>
          <a:prstGeom prst="rect">
            <a:avLst/>
          </a:prstGeom>
          <a:ln w="0">
            <a:noFill/>
          </a:ln>
        </p:spPr>
      </p:pic>
      <p:sp>
        <p:nvSpPr>
          <p:cNvPr id="433" name="CustomShape 6"/>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434" name="Google Shape;53;p68" descr="slug-start-color-transp"/>
          <p:cNvPicPr/>
          <p:nvPr/>
        </p:nvPicPr>
        <p:blipFill>
          <a:blip r:embed="rId3"/>
          <a:stretch/>
        </p:blipFill>
        <p:spPr>
          <a:xfrm>
            <a:off x="8485200" y="6068880"/>
            <a:ext cx="653760" cy="784080"/>
          </a:xfrm>
          <a:prstGeom prst="rect">
            <a:avLst/>
          </a:prstGeom>
          <a:ln w="0">
            <a:noFill/>
          </a:ln>
        </p:spPr>
      </p:pic>
      <p:pic>
        <p:nvPicPr>
          <p:cNvPr id="435" name="Google Shape;54;p68" descr="ucsealTransp"/>
          <p:cNvPicPr/>
          <p:nvPr/>
        </p:nvPicPr>
        <p:blipFill>
          <a:blip r:embed="rId4"/>
          <a:stretch/>
        </p:blipFill>
        <p:spPr>
          <a:xfrm>
            <a:off x="0" y="6302520"/>
            <a:ext cx="604440" cy="550440"/>
          </a:xfrm>
          <a:prstGeom prst="rect">
            <a:avLst/>
          </a:prstGeom>
          <a:ln w="0">
            <a:noFill/>
          </a:ln>
        </p:spPr>
      </p:pic>
      <p:pic>
        <p:nvPicPr>
          <p:cNvPr id="436" name="Google Shape;55;p68" descr="ucsealTransp"/>
          <p:cNvPicPr/>
          <p:nvPr/>
        </p:nvPicPr>
        <p:blipFill>
          <a:blip r:embed="rId4"/>
          <a:stretch/>
        </p:blipFill>
        <p:spPr>
          <a:xfrm>
            <a:off x="0" y="6302520"/>
            <a:ext cx="604440" cy="550440"/>
          </a:xfrm>
          <a:prstGeom prst="rect">
            <a:avLst/>
          </a:prstGeom>
          <a:ln w="0">
            <a:noFill/>
          </a:ln>
        </p:spPr>
      </p:pic>
      <p:sp>
        <p:nvSpPr>
          <p:cNvPr id="437" name="PlaceHolder 1"/>
          <p:cNvSpPr>
            <a:spLocks noGrp="1"/>
          </p:cNvSpPr>
          <p:nvPr>
            <p:ph type="title"/>
          </p:nvPr>
        </p:nvSpPr>
        <p:spPr>
          <a:xfrm>
            <a:off x="457200" y="273600"/>
            <a:ext cx="8228880" cy="114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438"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68333"/>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439"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440" name="PlaceHolder 4"/>
          <p:cNvSpPr>
            <a:spLocks noGrp="1"/>
          </p:cNvSpPr>
          <p:nvPr>
            <p:ph type="body"/>
          </p:nvPr>
        </p:nvSpPr>
        <p:spPr>
          <a:xfrm>
            <a:off x="457200" y="3682080"/>
            <a:ext cx="4015440" cy="1896480"/>
          </a:xfrm>
          <a:prstGeom prst="rect">
            <a:avLst/>
          </a:prstGeom>
          <a:noFill/>
          <a:ln w="0">
            <a:noFill/>
          </a:ln>
        </p:spPr>
        <p:txBody>
          <a:bodyPr lIns="0" tIns="0" rIns="0" bIns="0" anchor="t">
            <a:normAutofit fontScale="68333"/>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5" name="CustomShape 1"/>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
        <p:nvSpPr>
          <p:cNvPr id="446" name="CustomShape 2"/>
          <p:cNvSpPr/>
          <p:nvPr/>
        </p:nvSpPr>
        <p:spPr>
          <a:xfrm>
            <a:off x="-3240" y="99072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447" name="CustomShape 3"/>
          <p:cNvSpPr/>
          <p:nvPr/>
        </p:nvSpPr>
        <p:spPr>
          <a:xfrm>
            <a:off x="533520" y="6583320"/>
            <a:ext cx="426204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200" b="0" strike="noStrike" spc="-1">
                <a:solidFill>
                  <a:srgbClr val="009999"/>
                </a:solidFill>
                <a:latin typeface="Arial"/>
                <a:ea typeface="Arial"/>
              </a:rPr>
              <a:t>CSE12                                                     Instructor: M. Siero</a:t>
            </a:r>
            <a:endParaRPr lang="en-US" sz="1200" b="0" strike="noStrike" spc="-1">
              <a:solidFill>
                <a:srgbClr val="000000"/>
              </a:solidFill>
              <a:latin typeface="Arial"/>
            </a:endParaRPr>
          </a:p>
        </p:txBody>
      </p:sp>
      <p:pic>
        <p:nvPicPr>
          <p:cNvPr id="448" name="Google Shape;40;p68" descr="slug-start-color-transp"/>
          <p:cNvPicPr/>
          <p:nvPr/>
        </p:nvPicPr>
        <p:blipFill>
          <a:blip r:embed="rId3"/>
          <a:stretch/>
        </p:blipFill>
        <p:spPr>
          <a:xfrm>
            <a:off x="8485200" y="6068880"/>
            <a:ext cx="653760" cy="784080"/>
          </a:xfrm>
          <a:prstGeom prst="rect">
            <a:avLst/>
          </a:prstGeom>
          <a:ln w="0">
            <a:noFill/>
          </a:ln>
        </p:spPr>
      </p:pic>
      <p:pic>
        <p:nvPicPr>
          <p:cNvPr id="449" name="Google Shape;41;p68" descr="ucsealTransp"/>
          <p:cNvPicPr/>
          <p:nvPr/>
        </p:nvPicPr>
        <p:blipFill>
          <a:blip r:embed="rId4"/>
          <a:stretch/>
        </p:blipFill>
        <p:spPr>
          <a:xfrm>
            <a:off x="0" y="6302520"/>
            <a:ext cx="604440" cy="550440"/>
          </a:xfrm>
          <a:prstGeom prst="rect">
            <a:avLst/>
          </a:prstGeom>
          <a:ln w="0">
            <a:noFill/>
          </a:ln>
        </p:spPr>
      </p:pic>
      <p:pic>
        <p:nvPicPr>
          <p:cNvPr id="450" name="Google Shape;42;p68" descr="ucsealTransp"/>
          <p:cNvPicPr/>
          <p:nvPr/>
        </p:nvPicPr>
        <p:blipFill>
          <a:blip r:embed="rId4"/>
          <a:stretch/>
        </p:blipFill>
        <p:spPr>
          <a:xfrm>
            <a:off x="0" y="6302520"/>
            <a:ext cx="604440" cy="550440"/>
          </a:xfrm>
          <a:prstGeom prst="rect">
            <a:avLst/>
          </a:prstGeom>
          <a:ln w="0">
            <a:noFill/>
          </a:ln>
        </p:spPr>
      </p:pic>
      <p:pic>
        <p:nvPicPr>
          <p:cNvPr id="451" name="Google Shape;43;p68" descr="ucsealTransp"/>
          <p:cNvPicPr/>
          <p:nvPr/>
        </p:nvPicPr>
        <p:blipFill>
          <a:blip r:embed="rId4"/>
          <a:stretch/>
        </p:blipFill>
        <p:spPr>
          <a:xfrm>
            <a:off x="0" y="6302520"/>
            <a:ext cx="604440" cy="550440"/>
          </a:xfrm>
          <a:prstGeom prst="rect">
            <a:avLst/>
          </a:prstGeom>
          <a:ln w="0">
            <a:noFill/>
          </a:ln>
        </p:spPr>
      </p:pic>
      <p:pic>
        <p:nvPicPr>
          <p:cNvPr id="452" name="Google Shape;44;p68" descr="ucsealTransp"/>
          <p:cNvPicPr/>
          <p:nvPr/>
        </p:nvPicPr>
        <p:blipFill>
          <a:blip r:embed="rId4"/>
          <a:stretch/>
        </p:blipFill>
        <p:spPr>
          <a:xfrm>
            <a:off x="0" y="6302520"/>
            <a:ext cx="604440" cy="550440"/>
          </a:xfrm>
          <a:prstGeom prst="rect">
            <a:avLst/>
          </a:prstGeom>
          <a:ln w="0">
            <a:noFill/>
          </a:ln>
        </p:spPr>
      </p:pic>
      <p:sp>
        <p:nvSpPr>
          <p:cNvPr id="453" name="CustomShape 4"/>
          <p:cNvSpPr/>
          <p:nvPr/>
        </p:nvSpPr>
        <p:spPr>
          <a:xfrm>
            <a:off x="7848720" y="6583320"/>
            <a:ext cx="680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fld id="{59F72776-B1AF-4A4D-8D42-4DE27252A67B}" type="slidenum">
              <a:rPr lang="en-US" sz="1200" b="0" strike="noStrike" spc="-1">
                <a:solidFill>
                  <a:srgbClr val="009999"/>
                </a:solidFill>
                <a:latin typeface="Arial"/>
                <a:ea typeface="Arial"/>
              </a:rPr>
              <a:t>‹#›</a:t>
            </a:fld>
            <a:endParaRPr lang="en-US" sz="1200" b="0" strike="noStrike" spc="-1">
              <a:solidFill>
                <a:srgbClr val="000000"/>
              </a:solidFill>
              <a:latin typeface="Arial"/>
            </a:endParaRPr>
          </a:p>
        </p:txBody>
      </p:sp>
      <p:sp>
        <p:nvSpPr>
          <p:cNvPr id="454" name="CustomShape 5"/>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455" name="Google Shape;47;p68" descr="slug-start-color-transp"/>
          <p:cNvPicPr/>
          <p:nvPr/>
        </p:nvPicPr>
        <p:blipFill>
          <a:blip r:embed="rId3"/>
          <a:stretch/>
        </p:blipFill>
        <p:spPr>
          <a:xfrm>
            <a:off x="8485200" y="6068880"/>
            <a:ext cx="653760" cy="784080"/>
          </a:xfrm>
          <a:prstGeom prst="rect">
            <a:avLst/>
          </a:prstGeom>
          <a:ln w="0">
            <a:noFill/>
          </a:ln>
        </p:spPr>
      </p:pic>
      <p:pic>
        <p:nvPicPr>
          <p:cNvPr id="456" name="Google Shape;48;p68" descr="ucsealTransp"/>
          <p:cNvPicPr/>
          <p:nvPr/>
        </p:nvPicPr>
        <p:blipFill>
          <a:blip r:embed="rId4"/>
          <a:stretch/>
        </p:blipFill>
        <p:spPr>
          <a:xfrm>
            <a:off x="0" y="6302520"/>
            <a:ext cx="604440" cy="550440"/>
          </a:xfrm>
          <a:prstGeom prst="rect">
            <a:avLst/>
          </a:prstGeom>
          <a:ln w="0">
            <a:noFill/>
          </a:ln>
        </p:spPr>
      </p:pic>
      <p:pic>
        <p:nvPicPr>
          <p:cNvPr id="457" name="Google Shape;49;p68" descr="ucsealTransp"/>
          <p:cNvPicPr/>
          <p:nvPr/>
        </p:nvPicPr>
        <p:blipFill>
          <a:blip r:embed="rId4"/>
          <a:stretch/>
        </p:blipFill>
        <p:spPr>
          <a:xfrm>
            <a:off x="0" y="6302520"/>
            <a:ext cx="604440" cy="550440"/>
          </a:xfrm>
          <a:prstGeom prst="rect">
            <a:avLst/>
          </a:prstGeom>
          <a:ln w="0">
            <a:noFill/>
          </a:ln>
        </p:spPr>
      </p:pic>
      <p:pic>
        <p:nvPicPr>
          <p:cNvPr id="458" name="Google Shape;50;p68" descr="ucsealTransp"/>
          <p:cNvPicPr/>
          <p:nvPr/>
        </p:nvPicPr>
        <p:blipFill>
          <a:blip r:embed="rId4"/>
          <a:stretch/>
        </p:blipFill>
        <p:spPr>
          <a:xfrm>
            <a:off x="0" y="6302520"/>
            <a:ext cx="604440" cy="550440"/>
          </a:xfrm>
          <a:prstGeom prst="rect">
            <a:avLst/>
          </a:prstGeom>
          <a:ln w="0">
            <a:noFill/>
          </a:ln>
        </p:spPr>
      </p:pic>
      <p:pic>
        <p:nvPicPr>
          <p:cNvPr id="459" name="Google Shape;51;p68" descr="ucsealTransp"/>
          <p:cNvPicPr/>
          <p:nvPr/>
        </p:nvPicPr>
        <p:blipFill>
          <a:blip r:embed="rId4"/>
          <a:stretch/>
        </p:blipFill>
        <p:spPr>
          <a:xfrm>
            <a:off x="0" y="6302520"/>
            <a:ext cx="604440" cy="550440"/>
          </a:xfrm>
          <a:prstGeom prst="rect">
            <a:avLst/>
          </a:prstGeom>
          <a:ln w="0">
            <a:noFill/>
          </a:ln>
        </p:spPr>
      </p:pic>
      <p:sp>
        <p:nvSpPr>
          <p:cNvPr id="460" name="CustomShape 6"/>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461" name="Google Shape;53;p68" descr="slug-start-color-transp"/>
          <p:cNvPicPr/>
          <p:nvPr/>
        </p:nvPicPr>
        <p:blipFill>
          <a:blip r:embed="rId3"/>
          <a:stretch/>
        </p:blipFill>
        <p:spPr>
          <a:xfrm>
            <a:off x="8485200" y="6068880"/>
            <a:ext cx="653760" cy="784080"/>
          </a:xfrm>
          <a:prstGeom prst="rect">
            <a:avLst/>
          </a:prstGeom>
          <a:ln w="0">
            <a:noFill/>
          </a:ln>
        </p:spPr>
      </p:pic>
      <p:pic>
        <p:nvPicPr>
          <p:cNvPr id="462" name="Google Shape;54;p68" descr="ucsealTransp"/>
          <p:cNvPicPr/>
          <p:nvPr/>
        </p:nvPicPr>
        <p:blipFill>
          <a:blip r:embed="rId4"/>
          <a:stretch/>
        </p:blipFill>
        <p:spPr>
          <a:xfrm>
            <a:off x="0" y="6302520"/>
            <a:ext cx="604440" cy="550440"/>
          </a:xfrm>
          <a:prstGeom prst="rect">
            <a:avLst/>
          </a:prstGeom>
          <a:ln w="0">
            <a:noFill/>
          </a:ln>
        </p:spPr>
      </p:pic>
      <p:pic>
        <p:nvPicPr>
          <p:cNvPr id="463" name="Google Shape;55;p68" descr="ucsealTransp"/>
          <p:cNvPicPr/>
          <p:nvPr/>
        </p:nvPicPr>
        <p:blipFill>
          <a:blip r:embed="rId4"/>
          <a:stretch/>
        </p:blipFill>
        <p:spPr>
          <a:xfrm>
            <a:off x="0" y="6302520"/>
            <a:ext cx="604440" cy="550440"/>
          </a:xfrm>
          <a:prstGeom prst="rect">
            <a:avLst/>
          </a:prstGeom>
          <a:ln w="0">
            <a:noFill/>
          </a:ln>
        </p:spPr>
      </p:pic>
      <p:sp>
        <p:nvSpPr>
          <p:cNvPr id="464" name="PlaceHolder 1"/>
          <p:cNvSpPr>
            <a:spLocks noGrp="1"/>
          </p:cNvSpPr>
          <p:nvPr>
            <p:ph type="title"/>
          </p:nvPr>
        </p:nvSpPr>
        <p:spPr>
          <a:xfrm>
            <a:off x="457200" y="273600"/>
            <a:ext cx="8228880" cy="114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465"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466"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68333"/>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467" name="PlaceHolder 4"/>
          <p:cNvSpPr>
            <a:spLocks noGrp="1"/>
          </p:cNvSpPr>
          <p:nvPr>
            <p:ph type="body"/>
          </p:nvPr>
        </p:nvSpPr>
        <p:spPr>
          <a:xfrm>
            <a:off x="4674240" y="3682080"/>
            <a:ext cx="4015440" cy="1896480"/>
          </a:xfrm>
          <a:prstGeom prst="rect">
            <a:avLst/>
          </a:prstGeom>
          <a:noFill/>
          <a:ln w="0">
            <a:noFill/>
          </a:ln>
        </p:spPr>
        <p:txBody>
          <a:bodyPr lIns="0" tIns="0" rIns="0" bIns="0" anchor="t">
            <a:normAutofit fontScale="68333"/>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2" name="CustomShape 1"/>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
        <p:nvSpPr>
          <p:cNvPr id="473" name="CustomShape 2"/>
          <p:cNvSpPr/>
          <p:nvPr/>
        </p:nvSpPr>
        <p:spPr>
          <a:xfrm>
            <a:off x="-3240" y="99072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474" name="CustomShape 3"/>
          <p:cNvSpPr/>
          <p:nvPr/>
        </p:nvSpPr>
        <p:spPr>
          <a:xfrm>
            <a:off x="533520" y="6583320"/>
            <a:ext cx="426204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200" b="0" strike="noStrike" spc="-1">
                <a:solidFill>
                  <a:srgbClr val="009999"/>
                </a:solidFill>
                <a:latin typeface="Arial"/>
                <a:ea typeface="Arial"/>
              </a:rPr>
              <a:t>CSE12                                                     Instructor: M. Siero</a:t>
            </a:r>
            <a:endParaRPr lang="en-US" sz="1200" b="0" strike="noStrike" spc="-1">
              <a:solidFill>
                <a:srgbClr val="000000"/>
              </a:solidFill>
              <a:latin typeface="Arial"/>
            </a:endParaRPr>
          </a:p>
        </p:txBody>
      </p:sp>
      <p:pic>
        <p:nvPicPr>
          <p:cNvPr id="475" name="Google Shape;40;p68" descr="slug-start-color-transp"/>
          <p:cNvPicPr/>
          <p:nvPr/>
        </p:nvPicPr>
        <p:blipFill>
          <a:blip r:embed="rId3"/>
          <a:stretch/>
        </p:blipFill>
        <p:spPr>
          <a:xfrm>
            <a:off x="8485200" y="6068880"/>
            <a:ext cx="653760" cy="784080"/>
          </a:xfrm>
          <a:prstGeom prst="rect">
            <a:avLst/>
          </a:prstGeom>
          <a:ln w="0">
            <a:noFill/>
          </a:ln>
        </p:spPr>
      </p:pic>
      <p:pic>
        <p:nvPicPr>
          <p:cNvPr id="476" name="Google Shape;41;p68" descr="ucsealTransp"/>
          <p:cNvPicPr/>
          <p:nvPr/>
        </p:nvPicPr>
        <p:blipFill>
          <a:blip r:embed="rId4"/>
          <a:stretch/>
        </p:blipFill>
        <p:spPr>
          <a:xfrm>
            <a:off x="0" y="6302520"/>
            <a:ext cx="604440" cy="550440"/>
          </a:xfrm>
          <a:prstGeom prst="rect">
            <a:avLst/>
          </a:prstGeom>
          <a:ln w="0">
            <a:noFill/>
          </a:ln>
        </p:spPr>
      </p:pic>
      <p:pic>
        <p:nvPicPr>
          <p:cNvPr id="477" name="Google Shape;42;p68" descr="ucsealTransp"/>
          <p:cNvPicPr/>
          <p:nvPr/>
        </p:nvPicPr>
        <p:blipFill>
          <a:blip r:embed="rId4"/>
          <a:stretch/>
        </p:blipFill>
        <p:spPr>
          <a:xfrm>
            <a:off x="0" y="6302520"/>
            <a:ext cx="604440" cy="550440"/>
          </a:xfrm>
          <a:prstGeom prst="rect">
            <a:avLst/>
          </a:prstGeom>
          <a:ln w="0">
            <a:noFill/>
          </a:ln>
        </p:spPr>
      </p:pic>
      <p:pic>
        <p:nvPicPr>
          <p:cNvPr id="478" name="Google Shape;43;p68" descr="ucsealTransp"/>
          <p:cNvPicPr/>
          <p:nvPr/>
        </p:nvPicPr>
        <p:blipFill>
          <a:blip r:embed="rId4"/>
          <a:stretch/>
        </p:blipFill>
        <p:spPr>
          <a:xfrm>
            <a:off x="0" y="6302520"/>
            <a:ext cx="604440" cy="550440"/>
          </a:xfrm>
          <a:prstGeom prst="rect">
            <a:avLst/>
          </a:prstGeom>
          <a:ln w="0">
            <a:noFill/>
          </a:ln>
        </p:spPr>
      </p:pic>
      <p:pic>
        <p:nvPicPr>
          <p:cNvPr id="479" name="Google Shape;44;p68" descr="ucsealTransp"/>
          <p:cNvPicPr/>
          <p:nvPr/>
        </p:nvPicPr>
        <p:blipFill>
          <a:blip r:embed="rId4"/>
          <a:stretch/>
        </p:blipFill>
        <p:spPr>
          <a:xfrm>
            <a:off x="0" y="6302520"/>
            <a:ext cx="604440" cy="550440"/>
          </a:xfrm>
          <a:prstGeom prst="rect">
            <a:avLst/>
          </a:prstGeom>
          <a:ln w="0">
            <a:noFill/>
          </a:ln>
        </p:spPr>
      </p:pic>
      <p:sp>
        <p:nvSpPr>
          <p:cNvPr id="480" name="CustomShape 4"/>
          <p:cNvSpPr/>
          <p:nvPr/>
        </p:nvSpPr>
        <p:spPr>
          <a:xfrm>
            <a:off x="7848720" y="6583320"/>
            <a:ext cx="680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fld id="{6565734F-904B-4163-B9D5-C3BC68D27409}" type="slidenum">
              <a:rPr lang="en-US" sz="1200" b="0" strike="noStrike" spc="-1">
                <a:solidFill>
                  <a:srgbClr val="009999"/>
                </a:solidFill>
                <a:latin typeface="Arial"/>
                <a:ea typeface="Arial"/>
              </a:rPr>
              <a:t>‹#›</a:t>
            </a:fld>
            <a:endParaRPr lang="en-US" sz="1200" b="0" strike="noStrike" spc="-1">
              <a:solidFill>
                <a:srgbClr val="000000"/>
              </a:solidFill>
              <a:latin typeface="Arial"/>
            </a:endParaRPr>
          </a:p>
        </p:txBody>
      </p:sp>
      <p:sp>
        <p:nvSpPr>
          <p:cNvPr id="481" name="CustomShape 5"/>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482" name="Google Shape;47;p68" descr="slug-start-color-transp"/>
          <p:cNvPicPr/>
          <p:nvPr/>
        </p:nvPicPr>
        <p:blipFill>
          <a:blip r:embed="rId3"/>
          <a:stretch/>
        </p:blipFill>
        <p:spPr>
          <a:xfrm>
            <a:off x="8485200" y="6068880"/>
            <a:ext cx="653760" cy="784080"/>
          </a:xfrm>
          <a:prstGeom prst="rect">
            <a:avLst/>
          </a:prstGeom>
          <a:ln w="0">
            <a:noFill/>
          </a:ln>
        </p:spPr>
      </p:pic>
      <p:pic>
        <p:nvPicPr>
          <p:cNvPr id="483" name="Google Shape;48;p68" descr="ucsealTransp"/>
          <p:cNvPicPr/>
          <p:nvPr/>
        </p:nvPicPr>
        <p:blipFill>
          <a:blip r:embed="rId4"/>
          <a:stretch/>
        </p:blipFill>
        <p:spPr>
          <a:xfrm>
            <a:off x="0" y="6302520"/>
            <a:ext cx="604440" cy="550440"/>
          </a:xfrm>
          <a:prstGeom prst="rect">
            <a:avLst/>
          </a:prstGeom>
          <a:ln w="0">
            <a:noFill/>
          </a:ln>
        </p:spPr>
      </p:pic>
      <p:pic>
        <p:nvPicPr>
          <p:cNvPr id="484" name="Google Shape;49;p68" descr="ucsealTransp"/>
          <p:cNvPicPr/>
          <p:nvPr/>
        </p:nvPicPr>
        <p:blipFill>
          <a:blip r:embed="rId4"/>
          <a:stretch/>
        </p:blipFill>
        <p:spPr>
          <a:xfrm>
            <a:off x="0" y="6302520"/>
            <a:ext cx="604440" cy="550440"/>
          </a:xfrm>
          <a:prstGeom prst="rect">
            <a:avLst/>
          </a:prstGeom>
          <a:ln w="0">
            <a:noFill/>
          </a:ln>
        </p:spPr>
      </p:pic>
      <p:pic>
        <p:nvPicPr>
          <p:cNvPr id="485" name="Google Shape;50;p68" descr="ucsealTransp"/>
          <p:cNvPicPr/>
          <p:nvPr/>
        </p:nvPicPr>
        <p:blipFill>
          <a:blip r:embed="rId4"/>
          <a:stretch/>
        </p:blipFill>
        <p:spPr>
          <a:xfrm>
            <a:off x="0" y="6302520"/>
            <a:ext cx="604440" cy="550440"/>
          </a:xfrm>
          <a:prstGeom prst="rect">
            <a:avLst/>
          </a:prstGeom>
          <a:ln w="0">
            <a:noFill/>
          </a:ln>
        </p:spPr>
      </p:pic>
      <p:pic>
        <p:nvPicPr>
          <p:cNvPr id="486" name="Google Shape;51;p68" descr="ucsealTransp"/>
          <p:cNvPicPr/>
          <p:nvPr/>
        </p:nvPicPr>
        <p:blipFill>
          <a:blip r:embed="rId4"/>
          <a:stretch/>
        </p:blipFill>
        <p:spPr>
          <a:xfrm>
            <a:off x="0" y="6302520"/>
            <a:ext cx="604440" cy="550440"/>
          </a:xfrm>
          <a:prstGeom prst="rect">
            <a:avLst/>
          </a:prstGeom>
          <a:ln w="0">
            <a:noFill/>
          </a:ln>
        </p:spPr>
      </p:pic>
      <p:sp>
        <p:nvSpPr>
          <p:cNvPr id="487" name="CustomShape 6"/>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488" name="Google Shape;53;p68" descr="slug-start-color-transp"/>
          <p:cNvPicPr/>
          <p:nvPr/>
        </p:nvPicPr>
        <p:blipFill>
          <a:blip r:embed="rId3"/>
          <a:stretch/>
        </p:blipFill>
        <p:spPr>
          <a:xfrm>
            <a:off x="8485200" y="6068880"/>
            <a:ext cx="653760" cy="784080"/>
          </a:xfrm>
          <a:prstGeom prst="rect">
            <a:avLst/>
          </a:prstGeom>
          <a:ln w="0">
            <a:noFill/>
          </a:ln>
        </p:spPr>
      </p:pic>
      <p:pic>
        <p:nvPicPr>
          <p:cNvPr id="489" name="Google Shape;54;p68" descr="ucsealTransp"/>
          <p:cNvPicPr/>
          <p:nvPr/>
        </p:nvPicPr>
        <p:blipFill>
          <a:blip r:embed="rId4"/>
          <a:stretch/>
        </p:blipFill>
        <p:spPr>
          <a:xfrm>
            <a:off x="0" y="6302520"/>
            <a:ext cx="604440" cy="550440"/>
          </a:xfrm>
          <a:prstGeom prst="rect">
            <a:avLst/>
          </a:prstGeom>
          <a:ln w="0">
            <a:noFill/>
          </a:ln>
        </p:spPr>
      </p:pic>
      <p:pic>
        <p:nvPicPr>
          <p:cNvPr id="490" name="Google Shape;55;p68" descr="ucsealTransp"/>
          <p:cNvPicPr/>
          <p:nvPr/>
        </p:nvPicPr>
        <p:blipFill>
          <a:blip r:embed="rId4"/>
          <a:stretch/>
        </p:blipFill>
        <p:spPr>
          <a:xfrm>
            <a:off x="0" y="6302520"/>
            <a:ext cx="604440" cy="550440"/>
          </a:xfrm>
          <a:prstGeom prst="rect">
            <a:avLst/>
          </a:prstGeom>
          <a:ln w="0">
            <a:noFill/>
          </a:ln>
        </p:spPr>
      </p:pic>
      <p:sp>
        <p:nvSpPr>
          <p:cNvPr id="491" name="PlaceHolder 1"/>
          <p:cNvSpPr>
            <a:spLocks noGrp="1"/>
          </p:cNvSpPr>
          <p:nvPr>
            <p:ph type="title"/>
          </p:nvPr>
        </p:nvSpPr>
        <p:spPr>
          <a:xfrm>
            <a:off x="457200" y="273600"/>
            <a:ext cx="8228880" cy="114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492"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68333"/>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493"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68333"/>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494" name="PlaceHolder 4"/>
          <p:cNvSpPr>
            <a:spLocks noGrp="1"/>
          </p:cNvSpPr>
          <p:nvPr>
            <p:ph type="body"/>
          </p:nvPr>
        </p:nvSpPr>
        <p:spPr>
          <a:xfrm>
            <a:off x="457200" y="3682080"/>
            <a:ext cx="8228880" cy="1896480"/>
          </a:xfrm>
          <a:prstGeom prst="rect">
            <a:avLst/>
          </a:prstGeom>
          <a:noFill/>
          <a:ln w="0">
            <a:noFill/>
          </a:ln>
        </p:spPr>
        <p:txBody>
          <a:bodyPr lIns="0" tIns="0" rIns="0" bIns="0" anchor="t">
            <a:normAutofit fontScale="71666"/>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9" name="CustomShape 1"/>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
        <p:nvSpPr>
          <p:cNvPr id="500" name="CustomShape 2"/>
          <p:cNvSpPr/>
          <p:nvPr/>
        </p:nvSpPr>
        <p:spPr>
          <a:xfrm>
            <a:off x="-3240" y="99072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501" name="CustomShape 3"/>
          <p:cNvSpPr/>
          <p:nvPr/>
        </p:nvSpPr>
        <p:spPr>
          <a:xfrm>
            <a:off x="533520" y="6583320"/>
            <a:ext cx="426204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200" b="0" strike="noStrike" spc="-1">
                <a:solidFill>
                  <a:srgbClr val="009999"/>
                </a:solidFill>
                <a:latin typeface="Arial"/>
                <a:ea typeface="Arial"/>
              </a:rPr>
              <a:t>CSE12                                                     Instructor: M. Siero</a:t>
            </a:r>
            <a:endParaRPr lang="en-US" sz="1200" b="0" strike="noStrike" spc="-1">
              <a:solidFill>
                <a:srgbClr val="000000"/>
              </a:solidFill>
              <a:latin typeface="Arial"/>
            </a:endParaRPr>
          </a:p>
        </p:txBody>
      </p:sp>
      <p:pic>
        <p:nvPicPr>
          <p:cNvPr id="502" name="Google Shape;40;p68" descr="slug-start-color-transp"/>
          <p:cNvPicPr/>
          <p:nvPr/>
        </p:nvPicPr>
        <p:blipFill>
          <a:blip r:embed="rId3"/>
          <a:stretch/>
        </p:blipFill>
        <p:spPr>
          <a:xfrm>
            <a:off x="8485200" y="6068880"/>
            <a:ext cx="653760" cy="784080"/>
          </a:xfrm>
          <a:prstGeom prst="rect">
            <a:avLst/>
          </a:prstGeom>
          <a:ln w="0">
            <a:noFill/>
          </a:ln>
        </p:spPr>
      </p:pic>
      <p:pic>
        <p:nvPicPr>
          <p:cNvPr id="503" name="Google Shape;41;p68" descr="ucsealTransp"/>
          <p:cNvPicPr/>
          <p:nvPr/>
        </p:nvPicPr>
        <p:blipFill>
          <a:blip r:embed="rId4"/>
          <a:stretch/>
        </p:blipFill>
        <p:spPr>
          <a:xfrm>
            <a:off x="0" y="6302520"/>
            <a:ext cx="604440" cy="550440"/>
          </a:xfrm>
          <a:prstGeom prst="rect">
            <a:avLst/>
          </a:prstGeom>
          <a:ln w="0">
            <a:noFill/>
          </a:ln>
        </p:spPr>
      </p:pic>
      <p:pic>
        <p:nvPicPr>
          <p:cNvPr id="504" name="Google Shape;42;p68" descr="ucsealTransp"/>
          <p:cNvPicPr/>
          <p:nvPr/>
        </p:nvPicPr>
        <p:blipFill>
          <a:blip r:embed="rId4"/>
          <a:stretch/>
        </p:blipFill>
        <p:spPr>
          <a:xfrm>
            <a:off x="0" y="6302520"/>
            <a:ext cx="604440" cy="550440"/>
          </a:xfrm>
          <a:prstGeom prst="rect">
            <a:avLst/>
          </a:prstGeom>
          <a:ln w="0">
            <a:noFill/>
          </a:ln>
        </p:spPr>
      </p:pic>
      <p:pic>
        <p:nvPicPr>
          <p:cNvPr id="505" name="Google Shape;43;p68" descr="ucsealTransp"/>
          <p:cNvPicPr/>
          <p:nvPr/>
        </p:nvPicPr>
        <p:blipFill>
          <a:blip r:embed="rId4"/>
          <a:stretch/>
        </p:blipFill>
        <p:spPr>
          <a:xfrm>
            <a:off x="0" y="6302520"/>
            <a:ext cx="604440" cy="550440"/>
          </a:xfrm>
          <a:prstGeom prst="rect">
            <a:avLst/>
          </a:prstGeom>
          <a:ln w="0">
            <a:noFill/>
          </a:ln>
        </p:spPr>
      </p:pic>
      <p:pic>
        <p:nvPicPr>
          <p:cNvPr id="506" name="Google Shape;44;p68" descr="ucsealTransp"/>
          <p:cNvPicPr/>
          <p:nvPr/>
        </p:nvPicPr>
        <p:blipFill>
          <a:blip r:embed="rId4"/>
          <a:stretch/>
        </p:blipFill>
        <p:spPr>
          <a:xfrm>
            <a:off x="0" y="6302520"/>
            <a:ext cx="604440" cy="550440"/>
          </a:xfrm>
          <a:prstGeom prst="rect">
            <a:avLst/>
          </a:prstGeom>
          <a:ln w="0">
            <a:noFill/>
          </a:ln>
        </p:spPr>
      </p:pic>
      <p:sp>
        <p:nvSpPr>
          <p:cNvPr id="507" name="CustomShape 4"/>
          <p:cNvSpPr/>
          <p:nvPr/>
        </p:nvSpPr>
        <p:spPr>
          <a:xfrm>
            <a:off x="7848720" y="6583320"/>
            <a:ext cx="680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fld id="{52BA6A2E-D1EE-4185-B4F0-67003DBC878C}" type="slidenum">
              <a:rPr lang="en-US" sz="1200" b="0" strike="noStrike" spc="-1">
                <a:solidFill>
                  <a:srgbClr val="009999"/>
                </a:solidFill>
                <a:latin typeface="Arial"/>
                <a:ea typeface="Arial"/>
              </a:rPr>
              <a:t>‹#›</a:t>
            </a:fld>
            <a:endParaRPr lang="en-US" sz="1200" b="0" strike="noStrike" spc="-1">
              <a:solidFill>
                <a:srgbClr val="000000"/>
              </a:solidFill>
              <a:latin typeface="Arial"/>
            </a:endParaRPr>
          </a:p>
        </p:txBody>
      </p:sp>
      <p:sp>
        <p:nvSpPr>
          <p:cNvPr id="508" name="CustomShape 5"/>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509" name="Google Shape;47;p68" descr="slug-start-color-transp"/>
          <p:cNvPicPr/>
          <p:nvPr/>
        </p:nvPicPr>
        <p:blipFill>
          <a:blip r:embed="rId3"/>
          <a:stretch/>
        </p:blipFill>
        <p:spPr>
          <a:xfrm>
            <a:off x="8485200" y="6068880"/>
            <a:ext cx="653760" cy="784080"/>
          </a:xfrm>
          <a:prstGeom prst="rect">
            <a:avLst/>
          </a:prstGeom>
          <a:ln w="0">
            <a:noFill/>
          </a:ln>
        </p:spPr>
      </p:pic>
      <p:pic>
        <p:nvPicPr>
          <p:cNvPr id="510" name="Google Shape;48;p68" descr="ucsealTransp"/>
          <p:cNvPicPr/>
          <p:nvPr/>
        </p:nvPicPr>
        <p:blipFill>
          <a:blip r:embed="rId4"/>
          <a:stretch/>
        </p:blipFill>
        <p:spPr>
          <a:xfrm>
            <a:off x="0" y="6302520"/>
            <a:ext cx="604440" cy="550440"/>
          </a:xfrm>
          <a:prstGeom prst="rect">
            <a:avLst/>
          </a:prstGeom>
          <a:ln w="0">
            <a:noFill/>
          </a:ln>
        </p:spPr>
      </p:pic>
      <p:pic>
        <p:nvPicPr>
          <p:cNvPr id="511" name="Google Shape;49;p68" descr="ucsealTransp"/>
          <p:cNvPicPr/>
          <p:nvPr/>
        </p:nvPicPr>
        <p:blipFill>
          <a:blip r:embed="rId4"/>
          <a:stretch/>
        </p:blipFill>
        <p:spPr>
          <a:xfrm>
            <a:off x="0" y="6302520"/>
            <a:ext cx="604440" cy="550440"/>
          </a:xfrm>
          <a:prstGeom prst="rect">
            <a:avLst/>
          </a:prstGeom>
          <a:ln w="0">
            <a:noFill/>
          </a:ln>
        </p:spPr>
      </p:pic>
      <p:pic>
        <p:nvPicPr>
          <p:cNvPr id="512" name="Google Shape;50;p68" descr="ucsealTransp"/>
          <p:cNvPicPr/>
          <p:nvPr/>
        </p:nvPicPr>
        <p:blipFill>
          <a:blip r:embed="rId4"/>
          <a:stretch/>
        </p:blipFill>
        <p:spPr>
          <a:xfrm>
            <a:off x="0" y="6302520"/>
            <a:ext cx="604440" cy="550440"/>
          </a:xfrm>
          <a:prstGeom prst="rect">
            <a:avLst/>
          </a:prstGeom>
          <a:ln w="0">
            <a:noFill/>
          </a:ln>
        </p:spPr>
      </p:pic>
      <p:pic>
        <p:nvPicPr>
          <p:cNvPr id="513" name="Google Shape;51;p68" descr="ucsealTransp"/>
          <p:cNvPicPr/>
          <p:nvPr/>
        </p:nvPicPr>
        <p:blipFill>
          <a:blip r:embed="rId4"/>
          <a:stretch/>
        </p:blipFill>
        <p:spPr>
          <a:xfrm>
            <a:off x="0" y="6302520"/>
            <a:ext cx="604440" cy="550440"/>
          </a:xfrm>
          <a:prstGeom prst="rect">
            <a:avLst/>
          </a:prstGeom>
          <a:ln w="0">
            <a:noFill/>
          </a:ln>
        </p:spPr>
      </p:pic>
      <p:sp>
        <p:nvSpPr>
          <p:cNvPr id="514" name="CustomShape 6"/>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515" name="Google Shape;53;p68" descr="slug-start-color-transp"/>
          <p:cNvPicPr/>
          <p:nvPr/>
        </p:nvPicPr>
        <p:blipFill>
          <a:blip r:embed="rId3"/>
          <a:stretch/>
        </p:blipFill>
        <p:spPr>
          <a:xfrm>
            <a:off x="8485200" y="6068880"/>
            <a:ext cx="653760" cy="784080"/>
          </a:xfrm>
          <a:prstGeom prst="rect">
            <a:avLst/>
          </a:prstGeom>
          <a:ln w="0">
            <a:noFill/>
          </a:ln>
        </p:spPr>
      </p:pic>
      <p:pic>
        <p:nvPicPr>
          <p:cNvPr id="516" name="Google Shape;54;p68" descr="ucsealTransp"/>
          <p:cNvPicPr/>
          <p:nvPr/>
        </p:nvPicPr>
        <p:blipFill>
          <a:blip r:embed="rId4"/>
          <a:stretch/>
        </p:blipFill>
        <p:spPr>
          <a:xfrm>
            <a:off x="0" y="6302520"/>
            <a:ext cx="604440" cy="550440"/>
          </a:xfrm>
          <a:prstGeom prst="rect">
            <a:avLst/>
          </a:prstGeom>
          <a:ln w="0">
            <a:noFill/>
          </a:ln>
        </p:spPr>
      </p:pic>
      <p:pic>
        <p:nvPicPr>
          <p:cNvPr id="517" name="Google Shape;55;p68" descr="ucsealTransp"/>
          <p:cNvPicPr/>
          <p:nvPr/>
        </p:nvPicPr>
        <p:blipFill>
          <a:blip r:embed="rId4"/>
          <a:stretch/>
        </p:blipFill>
        <p:spPr>
          <a:xfrm>
            <a:off x="0" y="6302520"/>
            <a:ext cx="604440" cy="550440"/>
          </a:xfrm>
          <a:prstGeom prst="rect">
            <a:avLst/>
          </a:prstGeom>
          <a:ln w="0">
            <a:noFill/>
          </a:ln>
        </p:spPr>
      </p:pic>
      <p:sp>
        <p:nvSpPr>
          <p:cNvPr id="518" name="PlaceHolder 1"/>
          <p:cNvSpPr>
            <a:spLocks noGrp="1"/>
          </p:cNvSpPr>
          <p:nvPr>
            <p:ph type="title"/>
          </p:nvPr>
        </p:nvSpPr>
        <p:spPr>
          <a:xfrm>
            <a:off x="457200" y="273600"/>
            <a:ext cx="8228880" cy="114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519" name="PlaceHolder 2"/>
          <p:cNvSpPr>
            <a:spLocks noGrp="1"/>
          </p:cNvSpPr>
          <p:nvPr>
            <p:ph type="body"/>
          </p:nvPr>
        </p:nvSpPr>
        <p:spPr>
          <a:xfrm>
            <a:off x="457200" y="1604520"/>
            <a:ext cx="8228880" cy="1896480"/>
          </a:xfrm>
          <a:prstGeom prst="rect">
            <a:avLst/>
          </a:prstGeom>
          <a:noFill/>
          <a:ln w="0">
            <a:noFill/>
          </a:ln>
        </p:spPr>
        <p:txBody>
          <a:bodyPr lIns="0" tIns="0" rIns="0" bIns="0" anchor="t">
            <a:normAutofit fontScale="71666"/>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520" name="PlaceHolder 3"/>
          <p:cNvSpPr>
            <a:spLocks noGrp="1"/>
          </p:cNvSpPr>
          <p:nvPr>
            <p:ph type="body"/>
          </p:nvPr>
        </p:nvSpPr>
        <p:spPr>
          <a:xfrm>
            <a:off x="457200" y="3682080"/>
            <a:ext cx="8228880" cy="1896480"/>
          </a:xfrm>
          <a:prstGeom prst="rect">
            <a:avLst/>
          </a:prstGeom>
          <a:noFill/>
          <a:ln w="0">
            <a:noFill/>
          </a:ln>
        </p:spPr>
        <p:txBody>
          <a:bodyPr lIns="0" tIns="0" rIns="0" bIns="0" anchor="t">
            <a:normAutofit fontScale="71666"/>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4" name="CustomShape 1"/>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
        <p:nvSpPr>
          <p:cNvPr id="525" name="CustomShape 2"/>
          <p:cNvSpPr/>
          <p:nvPr/>
        </p:nvSpPr>
        <p:spPr>
          <a:xfrm>
            <a:off x="-3240" y="99072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526" name="CustomShape 3"/>
          <p:cNvSpPr/>
          <p:nvPr/>
        </p:nvSpPr>
        <p:spPr>
          <a:xfrm>
            <a:off x="533520" y="6583320"/>
            <a:ext cx="426204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200" b="0" strike="noStrike" spc="-1">
                <a:solidFill>
                  <a:srgbClr val="009999"/>
                </a:solidFill>
                <a:latin typeface="Arial"/>
                <a:ea typeface="Arial"/>
              </a:rPr>
              <a:t>CSE12                                                     Instructor: M. Siero</a:t>
            </a:r>
            <a:endParaRPr lang="en-US" sz="1200" b="0" strike="noStrike" spc="-1">
              <a:solidFill>
                <a:srgbClr val="000000"/>
              </a:solidFill>
              <a:latin typeface="Arial"/>
            </a:endParaRPr>
          </a:p>
        </p:txBody>
      </p:sp>
      <p:pic>
        <p:nvPicPr>
          <p:cNvPr id="527" name="Google Shape;40;p68" descr="slug-start-color-transp"/>
          <p:cNvPicPr/>
          <p:nvPr/>
        </p:nvPicPr>
        <p:blipFill>
          <a:blip r:embed="rId3"/>
          <a:stretch/>
        </p:blipFill>
        <p:spPr>
          <a:xfrm>
            <a:off x="8485200" y="6068880"/>
            <a:ext cx="653760" cy="784080"/>
          </a:xfrm>
          <a:prstGeom prst="rect">
            <a:avLst/>
          </a:prstGeom>
          <a:ln w="0">
            <a:noFill/>
          </a:ln>
        </p:spPr>
      </p:pic>
      <p:pic>
        <p:nvPicPr>
          <p:cNvPr id="528" name="Google Shape;41;p68" descr="ucsealTransp"/>
          <p:cNvPicPr/>
          <p:nvPr/>
        </p:nvPicPr>
        <p:blipFill>
          <a:blip r:embed="rId4"/>
          <a:stretch/>
        </p:blipFill>
        <p:spPr>
          <a:xfrm>
            <a:off x="0" y="6302520"/>
            <a:ext cx="604440" cy="550440"/>
          </a:xfrm>
          <a:prstGeom prst="rect">
            <a:avLst/>
          </a:prstGeom>
          <a:ln w="0">
            <a:noFill/>
          </a:ln>
        </p:spPr>
      </p:pic>
      <p:pic>
        <p:nvPicPr>
          <p:cNvPr id="529" name="Google Shape;42;p68" descr="ucsealTransp"/>
          <p:cNvPicPr/>
          <p:nvPr/>
        </p:nvPicPr>
        <p:blipFill>
          <a:blip r:embed="rId4"/>
          <a:stretch/>
        </p:blipFill>
        <p:spPr>
          <a:xfrm>
            <a:off x="0" y="6302520"/>
            <a:ext cx="604440" cy="550440"/>
          </a:xfrm>
          <a:prstGeom prst="rect">
            <a:avLst/>
          </a:prstGeom>
          <a:ln w="0">
            <a:noFill/>
          </a:ln>
        </p:spPr>
      </p:pic>
      <p:pic>
        <p:nvPicPr>
          <p:cNvPr id="530" name="Google Shape;43;p68" descr="ucsealTransp"/>
          <p:cNvPicPr/>
          <p:nvPr/>
        </p:nvPicPr>
        <p:blipFill>
          <a:blip r:embed="rId4"/>
          <a:stretch/>
        </p:blipFill>
        <p:spPr>
          <a:xfrm>
            <a:off x="0" y="6302520"/>
            <a:ext cx="604440" cy="550440"/>
          </a:xfrm>
          <a:prstGeom prst="rect">
            <a:avLst/>
          </a:prstGeom>
          <a:ln w="0">
            <a:noFill/>
          </a:ln>
        </p:spPr>
      </p:pic>
      <p:pic>
        <p:nvPicPr>
          <p:cNvPr id="531" name="Google Shape;44;p68" descr="ucsealTransp"/>
          <p:cNvPicPr/>
          <p:nvPr/>
        </p:nvPicPr>
        <p:blipFill>
          <a:blip r:embed="rId4"/>
          <a:stretch/>
        </p:blipFill>
        <p:spPr>
          <a:xfrm>
            <a:off x="0" y="6302520"/>
            <a:ext cx="604440" cy="550440"/>
          </a:xfrm>
          <a:prstGeom prst="rect">
            <a:avLst/>
          </a:prstGeom>
          <a:ln w="0">
            <a:noFill/>
          </a:ln>
        </p:spPr>
      </p:pic>
      <p:sp>
        <p:nvSpPr>
          <p:cNvPr id="532" name="CustomShape 4"/>
          <p:cNvSpPr/>
          <p:nvPr/>
        </p:nvSpPr>
        <p:spPr>
          <a:xfrm>
            <a:off x="7848720" y="6583320"/>
            <a:ext cx="680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fld id="{2E46C845-46D9-44A7-9187-D312C411DBE8}" type="slidenum">
              <a:rPr lang="en-US" sz="1200" b="0" strike="noStrike" spc="-1">
                <a:solidFill>
                  <a:srgbClr val="009999"/>
                </a:solidFill>
                <a:latin typeface="Arial"/>
                <a:ea typeface="Arial"/>
              </a:rPr>
              <a:t>‹#›</a:t>
            </a:fld>
            <a:endParaRPr lang="en-US" sz="1200" b="0" strike="noStrike" spc="-1">
              <a:solidFill>
                <a:srgbClr val="000000"/>
              </a:solidFill>
              <a:latin typeface="Arial"/>
            </a:endParaRPr>
          </a:p>
        </p:txBody>
      </p:sp>
      <p:sp>
        <p:nvSpPr>
          <p:cNvPr id="533" name="CustomShape 5"/>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534" name="Google Shape;47;p68" descr="slug-start-color-transp"/>
          <p:cNvPicPr/>
          <p:nvPr/>
        </p:nvPicPr>
        <p:blipFill>
          <a:blip r:embed="rId3"/>
          <a:stretch/>
        </p:blipFill>
        <p:spPr>
          <a:xfrm>
            <a:off x="8485200" y="6068880"/>
            <a:ext cx="653760" cy="784080"/>
          </a:xfrm>
          <a:prstGeom prst="rect">
            <a:avLst/>
          </a:prstGeom>
          <a:ln w="0">
            <a:noFill/>
          </a:ln>
        </p:spPr>
      </p:pic>
      <p:pic>
        <p:nvPicPr>
          <p:cNvPr id="535" name="Google Shape;48;p68" descr="ucsealTransp"/>
          <p:cNvPicPr/>
          <p:nvPr/>
        </p:nvPicPr>
        <p:blipFill>
          <a:blip r:embed="rId4"/>
          <a:stretch/>
        </p:blipFill>
        <p:spPr>
          <a:xfrm>
            <a:off x="0" y="6302520"/>
            <a:ext cx="604440" cy="550440"/>
          </a:xfrm>
          <a:prstGeom prst="rect">
            <a:avLst/>
          </a:prstGeom>
          <a:ln w="0">
            <a:noFill/>
          </a:ln>
        </p:spPr>
      </p:pic>
      <p:pic>
        <p:nvPicPr>
          <p:cNvPr id="536" name="Google Shape;49;p68" descr="ucsealTransp"/>
          <p:cNvPicPr/>
          <p:nvPr/>
        </p:nvPicPr>
        <p:blipFill>
          <a:blip r:embed="rId4"/>
          <a:stretch/>
        </p:blipFill>
        <p:spPr>
          <a:xfrm>
            <a:off x="0" y="6302520"/>
            <a:ext cx="604440" cy="550440"/>
          </a:xfrm>
          <a:prstGeom prst="rect">
            <a:avLst/>
          </a:prstGeom>
          <a:ln w="0">
            <a:noFill/>
          </a:ln>
        </p:spPr>
      </p:pic>
      <p:pic>
        <p:nvPicPr>
          <p:cNvPr id="537" name="Google Shape;50;p68" descr="ucsealTransp"/>
          <p:cNvPicPr/>
          <p:nvPr/>
        </p:nvPicPr>
        <p:blipFill>
          <a:blip r:embed="rId4"/>
          <a:stretch/>
        </p:blipFill>
        <p:spPr>
          <a:xfrm>
            <a:off x="0" y="6302520"/>
            <a:ext cx="604440" cy="550440"/>
          </a:xfrm>
          <a:prstGeom prst="rect">
            <a:avLst/>
          </a:prstGeom>
          <a:ln w="0">
            <a:noFill/>
          </a:ln>
        </p:spPr>
      </p:pic>
      <p:pic>
        <p:nvPicPr>
          <p:cNvPr id="538" name="Google Shape;51;p68" descr="ucsealTransp"/>
          <p:cNvPicPr/>
          <p:nvPr/>
        </p:nvPicPr>
        <p:blipFill>
          <a:blip r:embed="rId4"/>
          <a:stretch/>
        </p:blipFill>
        <p:spPr>
          <a:xfrm>
            <a:off x="0" y="6302520"/>
            <a:ext cx="604440" cy="550440"/>
          </a:xfrm>
          <a:prstGeom prst="rect">
            <a:avLst/>
          </a:prstGeom>
          <a:ln w="0">
            <a:noFill/>
          </a:ln>
        </p:spPr>
      </p:pic>
      <p:sp>
        <p:nvSpPr>
          <p:cNvPr id="539" name="CustomShape 6"/>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540" name="Google Shape;53;p68" descr="slug-start-color-transp"/>
          <p:cNvPicPr/>
          <p:nvPr/>
        </p:nvPicPr>
        <p:blipFill>
          <a:blip r:embed="rId3"/>
          <a:stretch/>
        </p:blipFill>
        <p:spPr>
          <a:xfrm>
            <a:off x="8485200" y="6068880"/>
            <a:ext cx="653760" cy="784080"/>
          </a:xfrm>
          <a:prstGeom prst="rect">
            <a:avLst/>
          </a:prstGeom>
          <a:ln w="0">
            <a:noFill/>
          </a:ln>
        </p:spPr>
      </p:pic>
      <p:pic>
        <p:nvPicPr>
          <p:cNvPr id="541" name="Google Shape;54;p68" descr="ucsealTransp"/>
          <p:cNvPicPr/>
          <p:nvPr/>
        </p:nvPicPr>
        <p:blipFill>
          <a:blip r:embed="rId4"/>
          <a:stretch/>
        </p:blipFill>
        <p:spPr>
          <a:xfrm>
            <a:off x="0" y="6302520"/>
            <a:ext cx="604440" cy="550440"/>
          </a:xfrm>
          <a:prstGeom prst="rect">
            <a:avLst/>
          </a:prstGeom>
          <a:ln w="0">
            <a:noFill/>
          </a:ln>
        </p:spPr>
      </p:pic>
      <p:pic>
        <p:nvPicPr>
          <p:cNvPr id="542" name="Google Shape;55;p68" descr="ucsealTransp"/>
          <p:cNvPicPr/>
          <p:nvPr/>
        </p:nvPicPr>
        <p:blipFill>
          <a:blip r:embed="rId4"/>
          <a:stretch/>
        </p:blipFill>
        <p:spPr>
          <a:xfrm>
            <a:off x="0" y="6302520"/>
            <a:ext cx="604440" cy="550440"/>
          </a:xfrm>
          <a:prstGeom prst="rect">
            <a:avLst/>
          </a:prstGeom>
          <a:ln w="0">
            <a:noFill/>
          </a:ln>
        </p:spPr>
      </p:pic>
      <p:sp>
        <p:nvSpPr>
          <p:cNvPr id="543" name="PlaceHolder 1"/>
          <p:cNvSpPr>
            <a:spLocks noGrp="1"/>
          </p:cNvSpPr>
          <p:nvPr>
            <p:ph type="title"/>
          </p:nvPr>
        </p:nvSpPr>
        <p:spPr>
          <a:xfrm>
            <a:off x="457200" y="273600"/>
            <a:ext cx="8228880" cy="114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544"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68333"/>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545"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68333"/>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546" name="PlaceHolder 4"/>
          <p:cNvSpPr>
            <a:spLocks noGrp="1"/>
          </p:cNvSpPr>
          <p:nvPr>
            <p:ph type="body"/>
          </p:nvPr>
        </p:nvSpPr>
        <p:spPr>
          <a:xfrm>
            <a:off x="457200" y="3682080"/>
            <a:ext cx="4015440" cy="1896480"/>
          </a:xfrm>
          <a:prstGeom prst="rect">
            <a:avLst/>
          </a:prstGeom>
          <a:noFill/>
          <a:ln w="0">
            <a:noFill/>
          </a:ln>
        </p:spPr>
        <p:txBody>
          <a:bodyPr lIns="0" tIns="0" rIns="0" bIns="0" anchor="t">
            <a:normAutofit fontScale="68333"/>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547" name="PlaceHolder 5"/>
          <p:cNvSpPr>
            <a:spLocks noGrp="1"/>
          </p:cNvSpPr>
          <p:nvPr>
            <p:ph type="body"/>
          </p:nvPr>
        </p:nvSpPr>
        <p:spPr>
          <a:xfrm>
            <a:off x="4674240" y="3682080"/>
            <a:ext cx="4015440" cy="1896480"/>
          </a:xfrm>
          <a:prstGeom prst="rect">
            <a:avLst/>
          </a:prstGeom>
          <a:noFill/>
          <a:ln w="0">
            <a:noFill/>
          </a:ln>
        </p:spPr>
        <p:txBody>
          <a:bodyPr lIns="0" tIns="0" rIns="0" bIns="0" anchor="t">
            <a:normAutofit fontScale="68333"/>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3" name="CustomShape 1"/>
          <p:cNvSpPr/>
          <p:nvPr/>
        </p:nvSpPr>
        <p:spPr>
          <a:xfrm>
            <a:off x="0" y="843120"/>
            <a:ext cx="2892240" cy="6009840"/>
          </a:xfrm>
          <a:custGeom>
            <a:avLst/>
            <a:gdLst>
              <a:gd name="textAreaLeft" fmla="*/ 0 w 2892240"/>
              <a:gd name="textAreaRight" fmla="*/ 2892960 w 2892240"/>
              <a:gd name="textAreaTop" fmla="*/ 0 h 6009840"/>
              <a:gd name="textAreaBottom" fmla="*/ 6010560 h 6009840"/>
            </a:gdLst>
            <a:ahLst/>
            <a:cxnLst/>
            <a:rect l="textAreaLeft" t="textAreaTop" r="textAreaRight" b="textAreaBottom"/>
            <a:pathLst>
              <a:path w="21600" h="21600">
                <a:moveTo>
                  <a:pt x="-1" y="0"/>
                </a:moveTo>
                <a:cubicBezTo>
                  <a:pt x="11929" y="0"/>
                  <a:pt x="21600" y="9670"/>
                  <a:pt x="21600" y="21600"/>
                </a:cubicBezTo>
                <a:moveTo>
                  <a:pt x="-1" y="0"/>
                </a:moveTo>
                <a:cubicBezTo>
                  <a:pt x="11929" y="0"/>
                  <a:pt x="21600" y="9670"/>
                  <a:pt x="21600" y="21600"/>
                </a:cubicBezTo>
                <a:lnTo>
                  <a:pt x="0" y="21600"/>
                </a:lnTo>
                <a:lnTo>
                  <a:pt x="-1" y="0"/>
                </a:lnTo>
                <a:close/>
              </a:path>
            </a:pathLst>
          </a:custGeom>
          <a:gradFill rotWithShape="0">
            <a:gsLst>
              <a:gs pos="0">
                <a:srgbClr val="FFFFFF"/>
              </a:gs>
              <a:gs pos="100000">
                <a:srgbClr val="FFFFCC"/>
              </a:gs>
            </a:gsLst>
            <a:lin ang="540000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
        <p:nvSpPr>
          <p:cNvPr id="554" name="CustomShape 2"/>
          <p:cNvSpPr/>
          <p:nvPr/>
        </p:nvSpPr>
        <p:spPr>
          <a:xfrm>
            <a:off x="-3240" y="990720"/>
            <a:ext cx="9142200" cy="360"/>
          </a:xfrm>
          <a:custGeom>
            <a:avLst/>
            <a:gdLst>
              <a:gd name="textAreaLeft" fmla="*/ 0 w 9142200"/>
              <a:gd name="textAreaRight" fmla="*/ 9142920 w 914220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sp>
        <p:nvSpPr>
          <p:cNvPr id="555" name="CustomShape 3"/>
          <p:cNvSpPr/>
          <p:nvPr/>
        </p:nvSpPr>
        <p:spPr>
          <a:xfrm>
            <a:off x="533520" y="6583320"/>
            <a:ext cx="426204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200" b="0" strike="noStrike" spc="-1">
                <a:solidFill>
                  <a:srgbClr val="009999"/>
                </a:solidFill>
                <a:latin typeface="Arial"/>
                <a:ea typeface="Arial"/>
              </a:rPr>
              <a:t>CSE12                                                     Instructor: M. Siero</a:t>
            </a:r>
            <a:endParaRPr lang="en-US" sz="1200" b="0" strike="noStrike" spc="-1">
              <a:solidFill>
                <a:srgbClr val="000000"/>
              </a:solidFill>
              <a:latin typeface="Arial"/>
            </a:endParaRPr>
          </a:p>
        </p:txBody>
      </p:sp>
      <p:pic>
        <p:nvPicPr>
          <p:cNvPr id="556" name="Google Shape;40;p68" descr="slug-start-color-transp"/>
          <p:cNvPicPr/>
          <p:nvPr/>
        </p:nvPicPr>
        <p:blipFill>
          <a:blip r:embed="rId3"/>
          <a:stretch/>
        </p:blipFill>
        <p:spPr>
          <a:xfrm>
            <a:off x="8485200" y="6068880"/>
            <a:ext cx="653760" cy="784080"/>
          </a:xfrm>
          <a:prstGeom prst="rect">
            <a:avLst/>
          </a:prstGeom>
          <a:ln w="0">
            <a:noFill/>
          </a:ln>
        </p:spPr>
      </p:pic>
      <p:pic>
        <p:nvPicPr>
          <p:cNvPr id="557" name="Google Shape;41;p68" descr="ucsealTransp"/>
          <p:cNvPicPr/>
          <p:nvPr/>
        </p:nvPicPr>
        <p:blipFill>
          <a:blip r:embed="rId4"/>
          <a:stretch/>
        </p:blipFill>
        <p:spPr>
          <a:xfrm>
            <a:off x="0" y="6302520"/>
            <a:ext cx="604440" cy="550440"/>
          </a:xfrm>
          <a:prstGeom prst="rect">
            <a:avLst/>
          </a:prstGeom>
          <a:ln w="0">
            <a:noFill/>
          </a:ln>
        </p:spPr>
      </p:pic>
      <p:pic>
        <p:nvPicPr>
          <p:cNvPr id="558" name="Google Shape;42;p68" descr="ucsealTransp"/>
          <p:cNvPicPr/>
          <p:nvPr/>
        </p:nvPicPr>
        <p:blipFill>
          <a:blip r:embed="rId4"/>
          <a:stretch/>
        </p:blipFill>
        <p:spPr>
          <a:xfrm>
            <a:off x="0" y="6302520"/>
            <a:ext cx="604440" cy="550440"/>
          </a:xfrm>
          <a:prstGeom prst="rect">
            <a:avLst/>
          </a:prstGeom>
          <a:ln w="0">
            <a:noFill/>
          </a:ln>
        </p:spPr>
      </p:pic>
      <p:pic>
        <p:nvPicPr>
          <p:cNvPr id="559" name="Google Shape;43;p68" descr="ucsealTransp"/>
          <p:cNvPicPr/>
          <p:nvPr/>
        </p:nvPicPr>
        <p:blipFill>
          <a:blip r:embed="rId4"/>
          <a:stretch/>
        </p:blipFill>
        <p:spPr>
          <a:xfrm>
            <a:off x="0" y="6302520"/>
            <a:ext cx="604440" cy="550440"/>
          </a:xfrm>
          <a:prstGeom prst="rect">
            <a:avLst/>
          </a:prstGeom>
          <a:ln w="0">
            <a:noFill/>
          </a:ln>
        </p:spPr>
      </p:pic>
      <p:pic>
        <p:nvPicPr>
          <p:cNvPr id="560" name="Google Shape;44;p68" descr="ucsealTransp"/>
          <p:cNvPicPr/>
          <p:nvPr/>
        </p:nvPicPr>
        <p:blipFill>
          <a:blip r:embed="rId4"/>
          <a:stretch/>
        </p:blipFill>
        <p:spPr>
          <a:xfrm>
            <a:off x="0" y="6302520"/>
            <a:ext cx="604440" cy="550440"/>
          </a:xfrm>
          <a:prstGeom prst="rect">
            <a:avLst/>
          </a:prstGeom>
          <a:ln w="0">
            <a:noFill/>
          </a:ln>
        </p:spPr>
      </p:pic>
      <p:sp>
        <p:nvSpPr>
          <p:cNvPr id="561" name="CustomShape 4"/>
          <p:cNvSpPr/>
          <p:nvPr/>
        </p:nvSpPr>
        <p:spPr>
          <a:xfrm>
            <a:off x="7848720" y="6583320"/>
            <a:ext cx="680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fld id="{1703A511-3306-43C7-A221-8CD63FE29EA5}" type="slidenum">
              <a:rPr lang="en-US" sz="1200" b="0" strike="noStrike" spc="-1">
                <a:solidFill>
                  <a:srgbClr val="009999"/>
                </a:solidFill>
                <a:latin typeface="Arial"/>
                <a:ea typeface="Arial"/>
              </a:rPr>
              <a:t>‹#›</a:t>
            </a:fld>
            <a:endParaRPr lang="en-US" sz="1200" b="0" strike="noStrike" spc="-1">
              <a:solidFill>
                <a:srgbClr val="000000"/>
              </a:solidFill>
              <a:latin typeface="Arial"/>
            </a:endParaRPr>
          </a:p>
        </p:txBody>
      </p:sp>
      <p:sp>
        <p:nvSpPr>
          <p:cNvPr id="562" name="CustomShape 5"/>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563" name="Google Shape;47;p68" descr="slug-start-color-transp"/>
          <p:cNvPicPr/>
          <p:nvPr/>
        </p:nvPicPr>
        <p:blipFill>
          <a:blip r:embed="rId3"/>
          <a:stretch/>
        </p:blipFill>
        <p:spPr>
          <a:xfrm>
            <a:off x="8485200" y="6068880"/>
            <a:ext cx="653760" cy="784080"/>
          </a:xfrm>
          <a:prstGeom prst="rect">
            <a:avLst/>
          </a:prstGeom>
          <a:ln w="0">
            <a:noFill/>
          </a:ln>
        </p:spPr>
      </p:pic>
      <p:pic>
        <p:nvPicPr>
          <p:cNvPr id="564" name="Google Shape;48;p68" descr="ucsealTransp"/>
          <p:cNvPicPr/>
          <p:nvPr/>
        </p:nvPicPr>
        <p:blipFill>
          <a:blip r:embed="rId4"/>
          <a:stretch/>
        </p:blipFill>
        <p:spPr>
          <a:xfrm>
            <a:off x="0" y="6302520"/>
            <a:ext cx="604440" cy="550440"/>
          </a:xfrm>
          <a:prstGeom prst="rect">
            <a:avLst/>
          </a:prstGeom>
          <a:ln w="0">
            <a:noFill/>
          </a:ln>
        </p:spPr>
      </p:pic>
      <p:pic>
        <p:nvPicPr>
          <p:cNvPr id="565" name="Google Shape;49;p68" descr="ucsealTransp"/>
          <p:cNvPicPr/>
          <p:nvPr/>
        </p:nvPicPr>
        <p:blipFill>
          <a:blip r:embed="rId4"/>
          <a:stretch/>
        </p:blipFill>
        <p:spPr>
          <a:xfrm>
            <a:off x="0" y="6302520"/>
            <a:ext cx="604440" cy="550440"/>
          </a:xfrm>
          <a:prstGeom prst="rect">
            <a:avLst/>
          </a:prstGeom>
          <a:ln w="0">
            <a:noFill/>
          </a:ln>
        </p:spPr>
      </p:pic>
      <p:pic>
        <p:nvPicPr>
          <p:cNvPr id="566" name="Google Shape;50;p68" descr="ucsealTransp"/>
          <p:cNvPicPr/>
          <p:nvPr/>
        </p:nvPicPr>
        <p:blipFill>
          <a:blip r:embed="rId4"/>
          <a:stretch/>
        </p:blipFill>
        <p:spPr>
          <a:xfrm>
            <a:off x="0" y="6302520"/>
            <a:ext cx="604440" cy="550440"/>
          </a:xfrm>
          <a:prstGeom prst="rect">
            <a:avLst/>
          </a:prstGeom>
          <a:ln w="0">
            <a:noFill/>
          </a:ln>
        </p:spPr>
      </p:pic>
      <p:pic>
        <p:nvPicPr>
          <p:cNvPr id="567" name="Google Shape;51;p68" descr="ucsealTransp"/>
          <p:cNvPicPr/>
          <p:nvPr/>
        </p:nvPicPr>
        <p:blipFill>
          <a:blip r:embed="rId4"/>
          <a:stretch/>
        </p:blipFill>
        <p:spPr>
          <a:xfrm>
            <a:off x="0" y="6302520"/>
            <a:ext cx="604440" cy="550440"/>
          </a:xfrm>
          <a:prstGeom prst="rect">
            <a:avLst/>
          </a:prstGeom>
          <a:ln w="0">
            <a:noFill/>
          </a:ln>
        </p:spPr>
      </p:pic>
      <p:sp>
        <p:nvSpPr>
          <p:cNvPr id="568" name="CustomShape 6"/>
          <p:cNvSpPr/>
          <p:nvPr/>
        </p:nvSpPr>
        <p:spPr>
          <a:xfrm>
            <a:off x="609480" y="6629400"/>
            <a:ext cx="8529480" cy="360"/>
          </a:xfrm>
          <a:custGeom>
            <a:avLst/>
            <a:gdLst>
              <a:gd name="textAreaLeft" fmla="*/ 0 w 8529480"/>
              <a:gd name="textAreaRight" fmla="*/ 8530200 w 8529480"/>
              <a:gd name="textAreaTop" fmla="*/ 0 h 360"/>
              <a:gd name="textAreaBottom" fmla="*/ 1440 h 360"/>
            </a:gdLst>
            <a:ahLst/>
            <a:cxnLst/>
            <a:rect l="textAreaLeft" t="textAreaTop" r="textAreaRight" b="textAreaBottom"/>
            <a:pathLst>
              <a:path w="21600" h="21600">
                <a:moveTo>
                  <a:pt x="0" y="0"/>
                </a:moveTo>
                <a:lnTo>
                  <a:pt x="21600" y="21600"/>
                </a:lnTo>
              </a:path>
            </a:pathLst>
          </a:custGeom>
          <a:noFill/>
          <a:ln w="12600" cap="sq">
            <a:solidFill>
              <a:srgbClr val="990000"/>
            </a:solidFill>
            <a:miter/>
          </a:ln>
        </p:spPr>
        <p:style>
          <a:lnRef idx="0">
            <a:scrgbClr r="0" g="0" b="0"/>
          </a:lnRef>
          <a:fillRef idx="0">
            <a:scrgbClr r="0" g="0" b="0"/>
          </a:fillRef>
          <a:effectRef idx="0">
            <a:scrgbClr r="0" g="0" b="0"/>
          </a:effectRef>
          <a:fontRef idx="minor"/>
        </p:style>
        <p:txBody>
          <a:bodyPr lIns="90000" tIns="-44280" rIns="90000" bIns="-44280" anchor="t">
            <a:noAutofit/>
          </a:bodyPr>
          <a:lstStyle/>
          <a:p>
            <a:pPr>
              <a:lnSpc>
                <a:spcPct val="100000"/>
              </a:lnSpc>
            </a:pPr>
            <a:endParaRPr lang="en-US" sz="1800" b="0" strike="noStrike" spc="-1">
              <a:solidFill>
                <a:srgbClr val="000000"/>
              </a:solidFill>
              <a:latin typeface="Arial"/>
              <a:ea typeface="DejaVu Sans"/>
            </a:endParaRPr>
          </a:p>
        </p:txBody>
      </p:sp>
      <p:pic>
        <p:nvPicPr>
          <p:cNvPr id="569" name="Google Shape;53;p68" descr="slug-start-color-transp"/>
          <p:cNvPicPr/>
          <p:nvPr/>
        </p:nvPicPr>
        <p:blipFill>
          <a:blip r:embed="rId3"/>
          <a:stretch/>
        </p:blipFill>
        <p:spPr>
          <a:xfrm>
            <a:off x="8485200" y="6068880"/>
            <a:ext cx="653760" cy="784080"/>
          </a:xfrm>
          <a:prstGeom prst="rect">
            <a:avLst/>
          </a:prstGeom>
          <a:ln w="0">
            <a:noFill/>
          </a:ln>
        </p:spPr>
      </p:pic>
      <p:pic>
        <p:nvPicPr>
          <p:cNvPr id="570" name="Google Shape;54;p68" descr="ucsealTransp"/>
          <p:cNvPicPr/>
          <p:nvPr/>
        </p:nvPicPr>
        <p:blipFill>
          <a:blip r:embed="rId4"/>
          <a:stretch/>
        </p:blipFill>
        <p:spPr>
          <a:xfrm>
            <a:off x="0" y="6302520"/>
            <a:ext cx="604440" cy="550440"/>
          </a:xfrm>
          <a:prstGeom prst="rect">
            <a:avLst/>
          </a:prstGeom>
          <a:ln w="0">
            <a:noFill/>
          </a:ln>
        </p:spPr>
      </p:pic>
      <p:pic>
        <p:nvPicPr>
          <p:cNvPr id="571" name="Google Shape;55;p68" descr="ucsealTransp"/>
          <p:cNvPicPr/>
          <p:nvPr/>
        </p:nvPicPr>
        <p:blipFill>
          <a:blip r:embed="rId4"/>
          <a:stretch/>
        </p:blipFill>
        <p:spPr>
          <a:xfrm>
            <a:off x="0" y="6302520"/>
            <a:ext cx="604440" cy="5504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hyperlink" Target="https://moocaholic.medium.com/fp64-fp32-fp16-bfloat16-tf32-and-other-members-of-the-zoo-a1ca7897d407" TargetMode="Externa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hyperlink" Target="https://blogs.nvidia.com/blog/tensorfloat-32-precision-format/" TargetMode="External"/><Relationship Id="rId2" Type="http://schemas.openxmlformats.org/officeDocument/2006/relationships/hyperlink" Target="https://moocaholic.medium.com/fp64-fp32-fp16-bfloat16-tf32-and-other-members-of-the-zoo-a1ca7897d407" TargetMode="Externa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hyperlink" Target="https://ar5iv.labs.arxiv.org/html/2209.05433" TargetMode="Externa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CustomShape 1"/>
          <p:cNvSpPr/>
          <p:nvPr/>
        </p:nvSpPr>
        <p:spPr>
          <a:xfrm>
            <a:off x="1066680" y="426960"/>
            <a:ext cx="7462440" cy="368280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b">
            <a:noAutofit/>
          </a:bodyPr>
          <a:lstStyle/>
          <a:p>
            <a:pPr algn="ctr">
              <a:lnSpc>
                <a:spcPct val="80000"/>
              </a:lnSpc>
              <a:tabLst>
                <a:tab pos="0" algn="l"/>
              </a:tabLst>
            </a:pPr>
            <a:r>
              <a:rPr lang="en-US" sz="5400" b="1" strike="noStrike" spc="-1" dirty="0">
                <a:solidFill>
                  <a:srgbClr val="336699"/>
                </a:solidFill>
                <a:latin typeface="Arial Narrow"/>
                <a:ea typeface="Arial Narrow"/>
              </a:rPr>
              <a:t>Floating Point Numbers</a:t>
            </a:r>
          </a:p>
          <a:p>
            <a:pPr algn="ctr">
              <a:lnSpc>
                <a:spcPct val="80000"/>
              </a:lnSpc>
              <a:tabLst>
                <a:tab pos="0" algn="l"/>
              </a:tabLst>
            </a:pPr>
            <a:r>
              <a:rPr lang="en-US" sz="3600" b="1" spc="-1" dirty="0">
                <a:solidFill>
                  <a:srgbClr val="336699"/>
                </a:solidFill>
                <a:latin typeface="Arial Narrow"/>
              </a:rPr>
              <a:t>(and use in Modern AI)</a:t>
            </a:r>
            <a:endParaRPr lang="en-US" sz="3600" b="0" strike="noStrike" spc="-1" dirty="0">
              <a:solidFill>
                <a:srgbClr val="000000"/>
              </a:solidFill>
              <a:latin typeface="Arial"/>
            </a:endParaRPr>
          </a:p>
        </p:txBody>
      </p:sp>
      <p:sp>
        <p:nvSpPr>
          <p:cNvPr id="579" name="CustomShape 2"/>
          <p:cNvSpPr/>
          <p:nvPr/>
        </p:nvSpPr>
        <p:spPr>
          <a:xfrm>
            <a:off x="2819520" y="4419720"/>
            <a:ext cx="4871880" cy="228096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t">
            <a:noAutofit/>
          </a:bodyPr>
          <a:lstStyle/>
          <a:p>
            <a:pPr>
              <a:lnSpc>
                <a:spcPct val="100000"/>
              </a:lnSpc>
            </a:pPr>
            <a:r>
              <a:rPr lang="en-US" sz="2400" b="0" strike="noStrike" spc="-1">
                <a:solidFill>
                  <a:srgbClr val="000000"/>
                </a:solidFill>
                <a:latin typeface="Arial"/>
                <a:ea typeface="DejaVu Sans"/>
              </a:rPr>
              <a:t>Instructor: Marcelo Siero</a:t>
            </a:r>
            <a:endParaRPr lang="en-US" sz="2400" b="0" strike="noStrike" spc="-1">
              <a:solidFill>
                <a:srgbClr val="000000"/>
              </a:solidFill>
              <a:latin typeface="Arial"/>
            </a:endParaRPr>
          </a:p>
          <a:p>
            <a:pPr>
              <a:lnSpc>
                <a:spcPct val="100000"/>
              </a:lnSpc>
            </a:pPr>
            <a:r>
              <a:rPr lang="en-US" sz="2400" b="0" strike="noStrike" spc="-1">
                <a:solidFill>
                  <a:srgbClr val="000000"/>
                </a:solidFill>
                <a:latin typeface="Arial"/>
                <a:ea typeface="DejaVu Sans"/>
              </a:rPr>
              <a:t>CSE12</a:t>
            </a:r>
            <a:endParaRPr lang="en-US" sz="2400" b="0" strike="noStrike" spc="-1">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 name="CustomShape 1"/>
          <p:cNvSpPr/>
          <p:nvPr/>
        </p:nvSpPr>
        <p:spPr>
          <a:xfrm>
            <a:off x="620829" y="148680"/>
            <a:ext cx="7902341" cy="71388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4400" b="1" spc="-1" dirty="0">
                <a:solidFill>
                  <a:srgbClr val="336699"/>
                </a:solidFill>
                <a:latin typeface="Arial Narrow"/>
                <a:ea typeface="Arial Narrow"/>
              </a:rPr>
              <a:t>I</a:t>
            </a:r>
            <a:r>
              <a:rPr lang="en-US" sz="3600" b="1" strike="noStrike" spc="-1" dirty="0">
                <a:solidFill>
                  <a:srgbClr val="336699"/>
                </a:solidFill>
                <a:latin typeface="Arial Narrow"/>
                <a:ea typeface="Arial Narrow"/>
              </a:rPr>
              <a:t>ntegers and Fixed Point vs Floating-Point</a:t>
            </a:r>
            <a:endParaRPr lang="en-US" sz="4400" b="0" strike="noStrike" spc="-1" dirty="0">
              <a:solidFill>
                <a:srgbClr val="000000"/>
              </a:solidFill>
              <a:latin typeface="Arial"/>
            </a:endParaRPr>
          </a:p>
        </p:txBody>
      </p:sp>
      <p:sp>
        <p:nvSpPr>
          <p:cNvPr id="582" name="CustomShape 3"/>
          <p:cNvSpPr/>
          <p:nvPr/>
        </p:nvSpPr>
        <p:spPr>
          <a:xfrm flipV="1">
            <a:off x="620828" y="3005868"/>
            <a:ext cx="4056120" cy="6840"/>
          </a:xfrm>
          <a:custGeom>
            <a:avLst/>
            <a:gdLst>
              <a:gd name="textAreaLeft" fmla="*/ 0 w 4056120"/>
              <a:gd name="textAreaRight" fmla="*/ 4056840 w 4056120"/>
              <a:gd name="textAreaTop" fmla="*/ 360 h 6840"/>
              <a:gd name="textAreaBottom" fmla="*/ 7920 h 6840"/>
            </a:gdLst>
            <a:ahLst/>
            <a:cxnLst/>
            <a:rect l="textAreaLeft" t="textAreaTop" r="textAreaRight" b="textAreaBottom"/>
            <a:pathLst>
              <a:path w="21600" h="21600">
                <a:moveTo>
                  <a:pt x="0" y="0"/>
                </a:moveTo>
                <a:lnTo>
                  <a:pt x="21600" y="21600"/>
                </a:lnTo>
              </a:path>
            </a:pathLst>
          </a:custGeom>
          <a:noFill/>
          <a:ln w="38160">
            <a:solidFill>
              <a:srgbClr val="009999"/>
            </a:solidFill>
            <a:miter/>
          </a:ln>
        </p:spPr>
        <p:style>
          <a:lnRef idx="0">
            <a:scrgbClr r="0" g="0" b="0"/>
          </a:lnRef>
          <a:fillRef idx="0">
            <a:scrgbClr r="0" g="0" b="0"/>
          </a:fillRef>
          <a:effectRef idx="0">
            <a:scrgbClr r="0" g="0" b="0"/>
          </a:effectRef>
          <a:fontRef idx="minor"/>
        </p:style>
        <p:txBody>
          <a:bodyPr lIns="90000" tIns="-37440" rIns="90000" bIns="-37440" anchor="t">
            <a:noAutofit/>
          </a:bodyPr>
          <a:lstStyle/>
          <a:p>
            <a:pPr>
              <a:lnSpc>
                <a:spcPct val="100000"/>
              </a:lnSpc>
            </a:pPr>
            <a:endParaRPr lang="en-US" sz="1800" b="0" strike="noStrike" spc="-1">
              <a:solidFill>
                <a:srgbClr val="000000"/>
              </a:solidFill>
              <a:latin typeface="Arial"/>
              <a:ea typeface="DejaVu Sans"/>
            </a:endParaRPr>
          </a:p>
        </p:txBody>
      </p:sp>
      <p:sp>
        <p:nvSpPr>
          <p:cNvPr id="583" name="CustomShape 4"/>
          <p:cNvSpPr/>
          <p:nvPr/>
        </p:nvSpPr>
        <p:spPr>
          <a:xfrm>
            <a:off x="620828" y="1448224"/>
            <a:ext cx="7902341" cy="156448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2400" b="0" strike="noStrike" spc="-1" dirty="0">
                <a:solidFill>
                  <a:srgbClr val="000000"/>
                </a:solidFill>
                <a:latin typeface="Arial"/>
              </a:rPr>
              <a:t>Integers are linear from 0 up towards the largest number</a:t>
            </a:r>
          </a:p>
          <a:p>
            <a:pPr>
              <a:lnSpc>
                <a:spcPct val="100000"/>
              </a:lnSpc>
              <a:tabLst>
                <a:tab pos="0" algn="l"/>
              </a:tabLst>
            </a:pPr>
            <a:endParaRPr lang="en-US" sz="2400" b="0" strike="noStrike" spc="-1" dirty="0">
              <a:solidFill>
                <a:srgbClr val="000000"/>
              </a:solidFill>
              <a:latin typeface="Arial"/>
            </a:endParaRPr>
          </a:p>
          <a:p>
            <a:pPr>
              <a:lnSpc>
                <a:spcPct val="100000"/>
              </a:lnSpc>
              <a:tabLst>
                <a:tab pos="0" algn="l"/>
              </a:tabLst>
            </a:pPr>
            <a:r>
              <a:rPr lang="en-US" sz="2400" spc="-1" dirty="0">
                <a:solidFill>
                  <a:srgbClr val="000000"/>
                </a:solidFill>
                <a:latin typeface="Arial"/>
              </a:rPr>
              <a:t>Fractions are linear but between 1 and 0</a:t>
            </a:r>
          </a:p>
          <a:p>
            <a:pPr>
              <a:lnSpc>
                <a:spcPct val="100000"/>
              </a:lnSpc>
              <a:tabLst>
                <a:tab pos="0" algn="l"/>
              </a:tabLst>
            </a:pPr>
            <a:endParaRPr lang="en-US" sz="2400" spc="-1" dirty="0">
              <a:solidFill>
                <a:srgbClr val="000000"/>
              </a:solidFill>
              <a:latin typeface="Arial"/>
            </a:endParaRPr>
          </a:p>
          <a:p>
            <a:pPr>
              <a:lnSpc>
                <a:spcPct val="100000"/>
              </a:lnSpc>
              <a:tabLst>
                <a:tab pos="0" algn="l"/>
              </a:tabLst>
            </a:pPr>
            <a:endParaRPr lang="en-US" sz="2400" b="0" strike="noStrike" spc="-1" dirty="0">
              <a:solidFill>
                <a:srgbClr val="000000"/>
              </a:solidFill>
              <a:latin typeface="Arial"/>
            </a:endParaRPr>
          </a:p>
          <a:p>
            <a:pPr>
              <a:lnSpc>
                <a:spcPct val="100000"/>
              </a:lnSpc>
              <a:tabLst>
                <a:tab pos="0" algn="l"/>
              </a:tabLst>
            </a:pPr>
            <a:endParaRPr lang="en-US" sz="2400" b="0" strike="noStrike" spc="-1" dirty="0">
              <a:solidFill>
                <a:srgbClr val="000000"/>
              </a:solidFill>
              <a:latin typeface="Arial"/>
            </a:endParaRPr>
          </a:p>
        </p:txBody>
      </p:sp>
      <p:sp>
        <p:nvSpPr>
          <p:cNvPr id="2" name="TextBox 1">
            <a:extLst>
              <a:ext uri="{FF2B5EF4-FFF2-40B4-BE49-F238E27FC236}">
                <a16:creationId xmlns:a16="http://schemas.microsoft.com/office/drawing/2014/main" id="{9B07DBF3-E697-0F5C-8369-FE674F6D592B}"/>
              </a:ext>
            </a:extLst>
          </p:cNvPr>
          <p:cNvSpPr txBox="1"/>
          <p:nvPr/>
        </p:nvSpPr>
        <p:spPr>
          <a:xfrm>
            <a:off x="548640" y="3429000"/>
            <a:ext cx="7902341" cy="1815882"/>
          </a:xfrm>
          <a:prstGeom prst="rect">
            <a:avLst/>
          </a:prstGeom>
          <a:noFill/>
        </p:spPr>
        <p:txBody>
          <a:bodyPr wrap="square" rtlCol="0">
            <a:spAutoFit/>
          </a:bodyPr>
          <a:lstStyle/>
          <a:p>
            <a:pPr>
              <a:lnSpc>
                <a:spcPct val="100000"/>
              </a:lnSpc>
              <a:tabLst>
                <a:tab pos="0" algn="l"/>
              </a:tabLst>
            </a:pPr>
            <a:r>
              <a:rPr lang="en-US" sz="2800" spc="-1" dirty="0">
                <a:solidFill>
                  <a:srgbClr val="000000"/>
                </a:solidFill>
              </a:rPr>
              <a:t>Floating point numbers includes an exponent which is not linear but represents an exponential, thus giving numbers much greater “dynamic range”</a:t>
            </a:r>
            <a:endParaRPr lang="en-US" spc="-1" dirty="0">
              <a:solidFill>
                <a:srgbClr val="000000"/>
              </a:solidFill>
            </a:endParaRPr>
          </a:p>
        </p:txBody>
      </p:sp>
    </p:spTree>
  </p:cSld>
  <p:clrMapOvr>
    <a:masterClrMapping/>
  </p:clrMapOvr>
  <p:timing>
    <p:tnLst>
      <p:par>
        <p:cTn id="1" dur="indefinite" restart="never" nodeType="tmRoot">
          <p:childTnLst>
            <p:seq>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82"/>
                                        </p:tgtEl>
                                        <p:attrNameLst>
                                          <p:attrName>style.visibility</p:attrName>
                                        </p:attrNameLst>
                                      </p:cBhvr>
                                      <p:to>
                                        <p:strVal val="visible"/>
                                      </p:to>
                                    </p:set>
                                    <p:anim calcmode="lin" valueType="num">
                                      <p:cBhvr additive="repl">
                                        <p:cTn id="7" dur="500"/>
                                        <p:tgtEl>
                                          <p:spTgt spid="58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12925-39AA-D413-DC38-526C29598E70}"/>
            </a:ext>
          </a:extLst>
        </p:cNvPr>
        <p:cNvGrpSpPr/>
        <p:nvPr/>
      </p:nvGrpSpPr>
      <p:grpSpPr>
        <a:xfrm>
          <a:off x="0" y="0"/>
          <a:ext cx="0" cy="0"/>
          <a:chOff x="0" y="0"/>
          <a:chExt cx="0" cy="0"/>
        </a:xfrm>
      </p:grpSpPr>
      <p:sp>
        <p:nvSpPr>
          <p:cNvPr id="580" name="CustomShape 1">
            <a:extLst>
              <a:ext uri="{FF2B5EF4-FFF2-40B4-BE49-F238E27FC236}">
                <a16:creationId xmlns:a16="http://schemas.microsoft.com/office/drawing/2014/main" id="{38B8515D-6263-4F9F-B837-1DDD1603E11E}"/>
              </a:ext>
            </a:extLst>
          </p:cNvPr>
          <p:cNvSpPr/>
          <p:nvPr/>
        </p:nvSpPr>
        <p:spPr>
          <a:xfrm>
            <a:off x="774720" y="190440"/>
            <a:ext cx="7057080" cy="71388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4000" b="1" strike="noStrike" spc="-1">
                <a:solidFill>
                  <a:srgbClr val="336699"/>
                </a:solidFill>
                <a:latin typeface="Arial Narrow"/>
                <a:ea typeface="Arial Narrow"/>
              </a:rPr>
              <a:t>          Floating Point Numbers</a:t>
            </a:r>
            <a:endParaRPr lang="en-US" sz="4000" b="0" strike="noStrike" spc="-1">
              <a:solidFill>
                <a:srgbClr val="000000"/>
              </a:solidFill>
              <a:latin typeface="Arial"/>
            </a:endParaRPr>
          </a:p>
        </p:txBody>
      </p:sp>
      <p:sp>
        <p:nvSpPr>
          <p:cNvPr id="581" name="CustomShape 2">
            <a:extLst>
              <a:ext uri="{FF2B5EF4-FFF2-40B4-BE49-F238E27FC236}">
                <a16:creationId xmlns:a16="http://schemas.microsoft.com/office/drawing/2014/main" id="{E5C61B5A-A453-65EE-B94C-49839D28B0B1}"/>
              </a:ext>
            </a:extLst>
          </p:cNvPr>
          <p:cNvSpPr/>
          <p:nvPr/>
        </p:nvSpPr>
        <p:spPr>
          <a:xfrm>
            <a:off x="1208520" y="2994480"/>
            <a:ext cx="4911480" cy="2303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800" b="1" strike="noStrike" spc="-1">
                <a:solidFill>
                  <a:srgbClr val="010000"/>
                </a:solidFill>
                <a:latin typeface="Times New Roman"/>
                <a:ea typeface="Times New Roman"/>
              </a:rPr>
              <a:t>A		 B                  A x 10</a:t>
            </a:r>
            <a:r>
              <a:rPr lang="en-US" sz="1800" b="1" strike="noStrike" spc="-1" baseline="30000">
                <a:solidFill>
                  <a:srgbClr val="010000"/>
                </a:solidFill>
                <a:latin typeface="Times New Roman"/>
                <a:ea typeface="Times New Roman"/>
              </a:rPr>
              <a:t>B</a:t>
            </a:r>
            <a:endParaRPr lang="en-US" sz="1800" b="0" strike="noStrike" spc="-1">
              <a:solidFill>
                <a:srgbClr val="000000"/>
              </a:solidFill>
              <a:latin typeface="Arial"/>
            </a:endParaRPr>
          </a:p>
          <a:p>
            <a:pPr>
              <a:lnSpc>
                <a:spcPct val="100000"/>
              </a:lnSpc>
              <a:tabLst>
                <a:tab pos="0" algn="l"/>
              </a:tabLst>
            </a:pPr>
            <a:r>
              <a:rPr lang="en-US" sz="1800" b="1" strike="noStrike" spc="-1">
                <a:solidFill>
                  <a:srgbClr val="010000"/>
                </a:solidFill>
                <a:latin typeface="Times New Roman"/>
                <a:ea typeface="Times New Roman"/>
              </a:rPr>
              <a:t>0		any	         0</a:t>
            </a:r>
            <a:endParaRPr lang="en-US" sz="1800" b="0" strike="noStrike" spc="-1">
              <a:solidFill>
                <a:srgbClr val="000000"/>
              </a:solidFill>
              <a:latin typeface="Arial"/>
            </a:endParaRPr>
          </a:p>
          <a:p>
            <a:pPr>
              <a:lnSpc>
                <a:spcPct val="100000"/>
              </a:lnSpc>
              <a:tabLst>
                <a:tab pos="0" algn="l"/>
              </a:tabLst>
            </a:pPr>
            <a:r>
              <a:rPr lang="en-US" sz="1800" b="1" strike="noStrike" spc="-1">
                <a:solidFill>
                  <a:srgbClr val="010000"/>
                </a:solidFill>
                <a:latin typeface="Times New Roman"/>
                <a:ea typeface="Times New Roman"/>
              </a:rPr>
              <a:t>1 .. 9		0	      1 .. 9</a:t>
            </a:r>
            <a:endParaRPr lang="en-US" sz="1800" b="0" strike="noStrike" spc="-1">
              <a:solidFill>
                <a:srgbClr val="000000"/>
              </a:solidFill>
              <a:latin typeface="Arial"/>
            </a:endParaRPr>
          </a:p>
          <a:p>
            <a:pPr>
              <a:lnSpc>
                <a:spcPct val="100000"/>
              </a:lnSpc>
              <a:tabLst>
                <a:tab pos="0" algn="l"/>
              </a:tabLst>
            </a:pPr>
            <a:r>
              <a:rPr lang="en-US" sz="1800" b="1" strike="noStrike" spc="-1">
                <a:solidFill>
                  <a:srgbClr val="010000"/>
                </a:solidFill>
                <a:latin typeface="Times New Roman"/>
                <a:ea typeface="Times New Roman"/>
              </a:rPr>
              <a:t>1 .. 9		1	    10 .. 90</a:t>
            </a:r>
            <a:endParaRPr lang="en-US" sz="1800" b="0" strike="noStrike" spc="-1">
              <a:solidFill>
                <a:srgbClr val="000000"/>
              </a:solidFill>
              <a:latin typeface="Arial"/>
            </a:endParaRPr>
          </a:p>
          <a:p>
            <a:pPr>
              <a:lnSpc>
                <a:spcPct val="100000"/>
              </a:lnSpc>
              <a:tabLst>
                <a:tab pos="0" algn="l"/>
              </a:tabLst>
            </a:pPr>
            <a:r>
              <a:rPr lang="en-US" sz="1800" b="1" strike="noStrike" spc="-1">
                <a:solidFill>
                  <a:srgbClr val="010000"/>
                </a:solidFill>
                <a:latin typeface="Times New Roman"/>
                <a:ea typeface="Times New Roman"/>
              </a:rPr>
              <a:t>1 .. 9		2	   100 .. 900</a:t>
            </a:r>
            <a:endParaRPr lang="en-US" sz="1800" b="0" strike="noStrike" spc="-1">
              <a:solidFill>
                <a:srgbClr val="000000"/>
              </a:solidFill>
              <a:latin typeface="Arial"/>
            </a:endParaRPr>
          </a:p>
          <a:p>
            <a:pPr>
              <a:lnSpc>
                <a:spcPct val="100000"/>
              </a:lnSpc>
              <a:tabLst>
                <a:tab pos="0" algn="l"/>
              </a:tabLst>
            </a:pPr>
            <a:endParaRPr lang="en-US" sz="1800" b="0" strike="noStrike" spc="-1">
              <a:solidFill>
                <a:srgbClr val="000000"/>
              </a:solidFill>
              <a:latin typeface="Arial"/>
            </a:endParaRPr>
          </a:p>
          <a:p>
            <a:pPr>
              <a:lnSpc>
                <a:spcPct val="100000"/>
              </a:lnSpc>
              <a:tabLst>
                <a:tab pos="0" algn="l"/>
              </a:tabLst>
            </a:pPr>
            <a:r>
              <a:rPr lang="en-US" sz="1800" b="1" strike="noStrike" spc="-1">
                <a:solidFill>
                  <a:srgbClr val="010000"/>
                </a:solidFill>
                <a:latin typeface="Times New Roman"/>
                <a:ea typeface="Times New Roman"/>
              </a:rPr>
              <a:t>1 .. 9		-1	     0.1 .. 0.9</a:t>
            </a:r>
            <a:endParaRPr lang="en-US" sz="1800" b="0" strike="noStrike" spc="-1">
              <a:solidFill>
                <a:srgbClr val="000000"/>
              </a:solidFill>
              <a:latin typeface="Arial"/>
            </a:endParaRPr>
          </a:p>
          <a:p>
            <a:pPr>
              <a:lnSpc>
                <a:spcPct val="100000"/>
              </a:lnSpc>
              <a:tabLst>
                <a:tab pos="0" algn="l"/>
              </a:tabLst>
            </a:pPr>
            <a:r>
              <a:rPr lang="en-US" sz="1800" b="1" strike="noStrike" spc="-1">
                <a:solidFill>
                  <a:srgbClr val="010000"/>
                </a:solidFill>
                <a:latin typeface="Times New Roman"/>
                <a:ea typeface="Times New Roman"/>
              </a:rPr>
              <a:t>1 .. 9		-2	   0.01 .. 0.09</a:t>
            </a:r>
            <a:endParaRPr lang="en-US" sz="1800" b="0" strike="noStrike" spc="-1">
              <a:solidFill>
                <a:srgbClr val="000000"/>
              </a:solidFill>
              <a:latin typeface="Arial"/>
            </a:endParaRPr>
          </a:p>
        </p:txBody>
      </p:sp>
      <p:sp>
        <p:nvSpPr>
          <p:cNvPr id="582" name="CustomShape 3">
            <a:extLst>
              <a:ext uri="{FF2B5EF4-FFF2-40B4-BE49-F238E27FC236}">
                <a16:creationId xmlns:a16="http://schemas.microsoft.com/office/drawing/2014/main" id="{F0DCC650-6E9C-338C-4F54-5CC475705FD9}"/>
              </a:ext>
            </a:extLst>
          </p:cNvPr>
          <p:cNvSpPr/>
          <p:nvPr/>
        </p:nvSpPr>
        <p:spPr>
          <a:xfrm flipV="1">
            <a:off x="1092600" y="3330360"/>
            <a:ext cx="4056120" cy="6840"/>
          </a:xfrm>
          <a:custGeom>
            <a:avLst/>
            <a:gdLst>
              <a:gd name="textAreaLeft" fmla="*/ 0 w 4056120"/>
              <a:gd name="textAreaRight" fmla="*/ 4056840 w 4056120"/>
              <a:gd name="textAreaTop" fmla="*/ 360 h 6840"/>
              <a:gd name="textAreaBottom" fmla="*/ 7920 h 6840"/>
            </a:gdLst>
            <a:ahLst/>
            <a:cxnLst/>
            <a:rect l="textAreaLeft" t="textAreaTop" r="textAreaRight" b="textAreaBottom"/>
            <a:pathLst>
              <a:path w="21600" h="21600">
                <a:moveTo>
                  <a:pt x="0" y="0"/>
                </a:moveTo>
                <a:lnTo>
                  <a:pt x="21600" y="21600"/>
                </a:lnTo>
              </a:path>
            </a:pathLst>
          </a:custGeom>
          <a:noFill/>
          <a:ln w="38160">
            <a:solidFill>
              <a:srgbClr val="009999"/>
            </a:solidFill>
            <a:miter/>
          </a:ln>
        </p:spPr>
        <p:style>
          <a:lnRef idx="0">
            <a:scrgbClr r="0" g="0" b="0"/>
          </a:lnRef>
          <a:fillRef idx="0">
            <a:scrgbClr r="0" g="0" b="0"/>
          </a:fillRef>
          <a:effectRef idx="0">
            <a:scrgbClr r="0" g="0" b="0"/>
          </a:effectRef>
          <a:fontRef idx="minor"/>
        </p:style>
        <p:txBody>
          <a:bodyPr lIns="90000" tIns="-37440" rIns="90000" bIns="-37440" anchor="t">
            <a:noAutofit/>
          </a:bodyPr>
          <a:lstStyle/>
          <a:p>
            <a:pPr>
              <a:lnSpc>
                <a:spcPct val="100000"/>
              </a:lnSpc>
            </a:pPr>
            <a:endParaRPr lang="en-US" sz="1800" b="0" strike="noStrike" spc="-1">
              <a:solidFill>
                <a:srgbClr val="000000"/>
              </a:solidFill>
              <a:latin typeface="Arial"/>
              <a:ea typeface="DejaVu Sans"/>
            </a:endParaRPr>
          </a:p>
        </p:txBody>
      </p:sp>
      <p:sp>
        <p:nvSpPr>
          <p:cNvPr id="583" name="CustomShape 4">
            <a:extLst>
              <a:ext uri="{FF2B5EF4-FFF2-40B4-BE49-F238E27FC236}">
                <a16:creationId xmlns:a16="http://schemas.microsoft.com/office/drawing/2014/main" id="{5CE14442-8637-FE40-4E6E-EDA9ADB5DEDF}"/>
              </a:ext>
            </a:extLst>
          </p:cNvPr>
          <p:cNvSpPr/>
          <p:nvPr/>
        </p:nvSpPr>
        <p:spPr>
          <a:xfrm>
            <a:off x="924840" y="1214640"/>
            <a:ext cx="7985520" cy="4286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2400" b="1" strike="noStrike" spc="-1">
                <a:solidFill>
                  <a:srgbClr val="010000"/>
                </a:solidFill>
                <a:latin typeface="Times New Roman"/>
                <a:ea typeface="Times New Roman"/>
              </a:rPr>
              <a:t>Consider: A x 10</a:t>
            </a:r>
            <a:r>
              <a:rPr lang="en-US" sz="2400" b="1" strike="noStrike" spc="-1" baseline="30000">
                <a:solidFill>
                  <a:srgbClr val="010000"/>
                </a:solidFill>
                <a:latin typeface="Times New Roman"/>
                <a:ea typeface="Times New Roman"/>
              </a:rPr>
              <a:t>B</a:t>
            </a:r>
            <a:r>
              <a:rPr lang="en-US" sz="2400" b="1" strike="noStrike" spc="-1">
                <a:solidFill>
                  <a:srgbClr val="010000"/>
                </a:solidFill>
                <a:latin typeface="Times New Roman"/>
                <a:ea typeface="Times New Roman"/>
              </a:rPr>
              <a:t>, where A is one decimal digit, B, a signed number, allows this one number to express extremely large numbers, or extremely small numbers based on the value of the exponent B.</a:t>
            </a:r>
            <a:endParaRPr lang="en-US" sz="2400" b="0" strike="noStrike" spc="-1">
              <a:solidFill>
                <a:srgbClr val="000000"/>
              </a:solidFill>
              <a:latin typeface="Arial"/>
            </a:endParaRPr>
          </a:p>
          <a:p>
            <a:pPr>
              <a:lnSpc>
                <a:spcPct val="100000"/>
              </a:lnSpc>
              <a:tabLst>
                <a:tab pos="0" algn="l"/>
              </a:tabLst>
            </a:pPr>
            <a:endParaRPr lang="en-US" sz="2400" b="0" strike="noStrike" spc="-1">
              <a:solidFill>
                <a:srgbClr val="000000"/>
              </a:solidFill>
              <a:latin typeface="Arial"/>
            </a:endParaRPr>
          </a:p>
          <a:p>
            <a:pPr>
              <a:lnSpc>
                <a:spcPct val="100000"/>
              </a:lnSpc>
              <a:tabLst>
                <a:tab pos="0" algn="l"/>
              </a:tabLst>
            </a:pPr>
            <a:endParaRPr lang="en-US" sz="2400" b="0" strike="noStrike" spc="-1">
              <a:solidFill>
                <a:srgbClr val="000000"/>
              </a:solidFill>
              <a:latin typeface="Arial"/>
            </a:endParaRPr>
          </a:p>
          <a:p>
            <a:pPr>
              <a:lnSpc>
                <a:spcPct val="100000"/>
              </a:lnSpc>
              <a:tabLst>
                <a:tab pos="0" algn="l"/>
              </a:tabLst>
            </a:pPr>
            <a:endParaRPr lang="en-US" sz="2400" b="0" strike="noStrike" spc="-1">
              <a:solidFill>
                <a:srgbClr val="000000"/>
              </a:solidFill>
              <a:latin typeface="Arial"/>
            </a:endParaRPr>
          </a:p>
          <a:p>
            <a:pPr>
              <a:lnSpc>
                <a:spcPct val="100000"/>
              </a:lnSpc>
              <a:tabLst>
                <a:tab pos="0" algn="l"/>
              </a:tabLst>
            </a:pPr>
            <a:endParaRPr lang="en-US" sz="2400" b="0" strike="noStrike" spc="-1">
              <a:solidFill>
                <a:srgbClr val="000000"/>
              </a:solidFill>
              <a:latin typeface="Arial"/>
            </a:endParaRPr>
          </a:p>
          <a:p>
            <a:pPr>
              <a:lnSpc>
                <a:spcPct val="100000"/>
              </a:lnSpc>
              <a:tabLst>
                <a:tab pos="0" algn="l"/>
              </a:tabLst>
            </a:pPr>
            <a:endParaRPr lang="en-US" sz="2400" b="0" strike="noStrike" spc="-1">
              <a:solidFill>
                <a:srgbClr val="000000"/>
              </a:solidFill>
              <a:latin typeface="Arial"/>
            </a:endParaRPr>
          </a:p>
          <a:p>
            <a:pPr>
              <a:lnSpc>
                <a:spcPct val="100000"/>
              </a:lnSpc>
              <a:tabLst>
                <a:tab pos="0" algn="l"/>
              </a:tabLst>
            </a:pPr>
            <a:endParaRPr lang="en-US" sz="2400" b="0" strike="noStrike" spc="-1">
              <a:solidFill>
                <a:srgbClr val="000000"/>
              </a:solidFill>
              <a:latin typeface="Arial"/>
            </a:endParaRPr>
          </a:p>
          <a:p>
            <a:pPr>
              <a:lnSpc>
                <a:spcPct val="100000"/>
              </a:lnSpc>
              <a:tabLst>
                <a:tab pos="0" algn="l"/>
              </a:tabLst>
            </a:pPr>
            <a:endParaRPr lang="en-US" sz="2400" b="0" strike="noStrike" spc="-1">
              <a:solidFill>
                <a:srgbClr val="000000"/>
              </a:solidFill>
              <a:latin typeface="Arial"/>
            </a:endParaRPr>
          </a:p>
          <a:p>
            <a:pPr>
              <a:lnSpc>
                <a:spcPct val="100000"/>
              </a:lnSpc>
              <a:tabLst>
                <a:tab pos="0" algn="l"/>
              </a:tabLst>
            </a:pPr>
            <a:endParaRPr lang="en-US" sz="2400" b="0" strike="noStrike" spc="-1">
              <a:solidFill>
                <a:srgbClr val="000000"/>
              </a:solidFill>
              <a:latin typeface="Arial"/>
            </a:endParaRPr>
          </a:p>
          <a:p>
            <a:pPr>
              <a:lnSpc>
                <a:spcPct val="100000"/>
              </a:lnSpc>
              <a:tabLst>
                <a:tab pos="0" algn="l"/>
              </a:tabLst>
            </a:pPr>
            <a:endParaRPr lang="en-US" sz="2400" b="0" strike="noStrike" spc="-1">
              <a:solidFill>
                <a:srgbClr val="000000"/>
              </a:solidFill>
              <a:latin typeface="Arial"/>
            </a:endParaRPr>
          </a:p>
          <a:p>
            <a:pPr>
              <a:lnSpc>
                <a:spcPct val="100000"/>
              </a:lnSpc>
              <a:tabLst>
                <a:tab pos="0" algn="l"/>
              </a:tabLst>
            </a:pPr>
            <a:endParaRPr lang="en-US" sz="2400" b="0" strike="noStrike" spc="-1">
              <a:solidFill>
                <a:srgbClr val="000000"/>
              </a:solidFill>
              <a:latin typeface="Arial"/>
            </a:endParaRPr>
          </a:p>
        </p:txBody>
      </p:sp>
      <p:sp>
        <p:nvSpPr>
          <p:cNvPr id="584" name="CustomShape 5">
            <a:extLst>
              <a:ext uri="{FF2B5EF4-FFF2-40B4-BE49-F238E27FC236}">
                <a16:creationId xmlns:a16="http://schemas.microsoft.com/office/drawing/2014/main" id="{12BC34A4-279A-70A9-CFAD-D46BE5BFFB6C}"/>
              </a:ext>
            </a:extLst>
          </p:cNvPr>
          <p:cNvSpPr/>
          <p:nvPr/>
        </p:nvSpPr>
        <p:spPr>
          <a:xfrm>
            <a:off x="6127560" y="3026880"/>
            <a:ext cx="3091320" cy="1366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800" b="0" strike="noStrike" spc="-1">
                <a:solidFill>
                  <a:srgbClr val="000000"/>
                </a:solidFill>
                <a:latin typeface="Arial"/>
                <a:ea typeface="DejaVu Sans"/>
              </a:rPr>
              <a:t>Using exponential powers you can express a very large dynamic range, i.e. huge numbers and very small numbers.</a:t>
            </a:r>
            <a:endParaRPr lang="en-US" sz="1800" b="0" strike="noStrike" spc="-1">
              <a:solidFill>
                <a:srgbClr val="000000"/>
              </a:solidFill>
              <a:latin typeface="Arial"/>
            </a:endParaRPr>
          </a:p>
        </p:txBody>
      </p:sp>
    </p:spTree>
    <p:extLst>
      <p:ext uri="{BB962C8B-B14F-4D97-AF65-F5344CB8AC3E}">
        <p14:creationId xmlns:p14="http://schemas.microsoft.com/office/powerpoint/2010/main" val="976705445"/>
      </p:ext>
    </p:extLst>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81"/>
                                        </p:tgtEl>
                                        <p:attrNameLst>
                                          <p:attrName>style.visibility</p:attrName>
                                        </p:attrNameLst>
                                      </p:cBhvr>
                                      <p:to>
                                        <p:strVal val="visible"/>
                                      </p:to>
                                    </p:set>
                                    <p:anim calcmode="lin" valueType="num">
                                      <p:cBhvr additive="repl">
                                        <p:cTn id="7" dur="500"/>
                                        <p:tgtEl>
                                          <p:spTgt spid="581"/>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582"/>
                                        </p:tgtEl>
                                        <p:attrNameLst>
                                          <p:attrName>style.visibility</p:attrName>
                                        </p:attrNameLst>
                                      </p:cBhvr>
                                      <p:to>
                                        <p:strVal val="visible"/>
                                      </p:to>
                                    </p:set>
                                    <p:anim calcmode="lin" valueType="num">
                                      <p:cBhvr additive="repl">
                                        <p:cTn id="10" dur="500"/>
                                        <p:tgtEl>
                                          <p:spTgt spid="58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 name="CustomShape 1"/>
          <p:cNvSpPr/>
          <p:nvPr/>
        </p:nvSpPr>
        <p:spPr>
          <a:xfrm>
            <a:off x="1015560" y="79560"/>
            <a:ext cx="7057080" cy="71388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4000" b="1" strike="noStrike" spc="-1">
                <a:solidFill>
                  <a:srgbClr val="336699"/>
                </a:solidFill>
                <a:latin typeface="Arial Narrow"/>
                <a:ea typeface="Arial Narrow"/>
              </a:rPr>
              <a:t> International System of Units (SI)</a:t>
            </a:r>
            <a:endParaRPr lang="en-US" sz="4000" b="0" strike="noStrike" spc="-1">
              <a:solidFill>
                <a:srgbClr val="000000"/>
              </a:solidFill>
              <a:latin typeface="Arial"/>
            </a:endParaRPr>
          </a:p>
        </p:txBody>
      </p:sp>
      <p:sp>
        <p:nvSpPr>
          <p:cNvPr id="586" name="CustomShape 2"/>
          <p:cNvSpPr/>
          <p:nvPr/>
        </p:nvSpPr>
        <p:spPr>
          <a:xfrm>
            <a:off x="924840" y="1214640"/>
            <a:ext cx="7985520" cy="475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pic>
        <p:nvPicPr>
          <p:cNvPr id="587" name="Picture 586"/>
          <p:cNvPicPr/>
          <p:nvPr/>
        </p:nvPicPr>
        <p:blipFill>
          <a:blip r:embed="rId2"/>
          <a:stretch/>
        </p:blipFill>
        <p:spPr>
          <a:xfrm>
            <a:off x="675000" y="1020240"/>
            <a:ext cx="5688360" cy="4676400"/>
          </a:xfrm>
          <a:prstGeom prst="rect">
            <a:avLst/>
          </a:prstGeom>
          <a:ln w="0">
            <a:noFill/>
          </a:ln>
        </p:spPr>
      </p:pic>
      <p:sp>
        <p:nvSpPr>
          <p:cNvPr id="588" name="CustomShape 3"/>
          <p:cNvSpPr/>
          <p:nvPr/>
        </p:nvSpPr>
        <p:spPr>
          <a:xfrm>
            <a:off x="869040" y="6342840"/>
            <a:ext cx="3036240" cy="285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400" b="0" strike="noStrike" spc="-1">
                <a:solidFill>
                  <a:srgbClr val="000000"/>
                </a:solidFill>
                <a:latin typeface="Arial"/>
                <a:ea typeface="DejaVu Sans"/>
              </a:rPr>
              <a:t>Source: Wikipedia “Metric_prefix”</a:t>
            </a:r>
            <a:endParaRPr lang="en-US" sz="1400" b="0" strike="noStrike" spc="-1">
              <a:solidFill>
                <a:srgbClr val="000000"/>
              </a:solidFill>
              <a:latin typeface="Arial"/>
            </a:endParaRPr>
          </a:p>
        </p:txBody>
      </p:sp>
      <p:sp>
        <p:nvSpPr>
          <p:cNvPr id="589" name="CustomShape 4"/>
          <p:cNvSpPr/>
          <p:nvPr/>
        </p:nvSpPr>
        <p:spPr>
          <a:xfrm>
            <a:off x="468360" y="5821200"/>
            <a:ext cx="8270280" cy="49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400" b="0" strike="noStrike" spc="-1">
                <a:solidFill>
                  <a:srgbClr val="000000"/>
                </a:solidFill>
                <a:latin typeface="Arial"/>
                <a:ea typeface="DejaVu Sans"/>
              </a:rPr>
              <a:t>SI prefixes are metric prefixes that were standardised for use in the International System of Units (SI) by the International Bureau of Weights and Measures (BIPM) in resolutions dating from 1960 to 2022</a:t>
            </a:r>
            <a:endParaRPr lang="en-US" sz="1400" b="0" strike="noStrike" spc="-1">
              <a:solidFill>
                <a:srgbClr val="000000"/>
              </a:solidFill>
              <a:latin typeface="Arial"/>
            </a:endParaRPr>
          </a:p>
        </p:txBody>
      </p:sp>
      <p:sp>
        <p:nvSpPr>
          <p:cNvPr id="590" name="CustomShape 5"/>
          <p:cNvSpPr/>
          <p:nvPr/>
        </p:nvSpPr>
        <p:spPr>
          <a:xfrm>
            <a:off x="6583680" y="1165320"/>
            <a:ext cx="2326680" cy="936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200" b="0" strike="noStrike" spc="-1">
                <a:solidFill>
                  <a:srgbClr val="000000"/>
                </a:solidFill>
                <a:latin typeface="Arial"/>
                <a:ea typeface="DejaVu Sans"/>
              </a:rPr>
              <a:t>For </a:t>
            </a:r>
            <a:r>
              <a:rPr lang="en-US" sz="2200" b="1" strike="noStrike" spc="-1">
                <a:solidFill>
                  <a:srgbClr val="000000"/>
                </a:solidFill>
                <a:latin typeface="Arial"/>
                <a:ea typeface="DejaVu Sans"/>
              </a:rPr>
              <a:t>integer</a:t>
            </a:r>
            <a:r>
              <a:rPr lang="en-US" sz="2200" b="0" strike="noStrike" spc="-1">
                <a:solidFill>
                  <a:srgbClr val="000000"/>
                </a:solidFill>
                <a:latin typeface="Arial"/>
                <a:ea typeface="DejaVu Sans"/>
              </a:rPr>
              <a:t> type </a:t>
            </a:r>
            <a:endParaRPr lang="en-US" sz="2200" b="0" strike="noStrike" spc="-1">
              <a:solidFill>
                <a:srgbClr val="000000"/>
              </a:solidFill>
              <a:latin typeface="Arial"/>
            </a:endParaRPr>
          </a:p>
          <a:p>
            <a:pPr>
              <a:lnSpc>
                <a:spcPct val="100000"/>
              </a:lnSpc>
            </a:pPr>
            <a:r>
              <a:rPr lang="en-US" sz="2200" b="0" strike="noStrike" spc="-1">
                <a:solidFill>
                  <a:srgbClr val="000000"/>
                </a:solidFill>
                <a:latin typeface="Arial"/>
                <a:ea typeface="DejaVu Sans"/>
              </a:rPr>
              <a:t>numbers, </a:t>
            </a:r>
            <a:endParaRPr lang="en-US" sz="2200" b="0" strike="noStrike" spc="-1">
              <a:solidFill>
                <a:srgbClr val="000000"/>
              </a:solidFill>
              <a:latin typeface="Arial"/>
            </a:endParaRPr>
          </a:p>
          <a:p>
            <a:pPr>
              <a:lnSpc>
                <a:spcPct val="100000"/>
              </a:lnSpc>
            </a:pPr>
            <a:r>
              <a:rPr lang="en-US" sz="2200" b="0" strike="noStrike" spc="-1">
                <a:solidFill>
                  <a:srgbClr val="000000"/>
                </a:solidFill>
                <a:latin typeface="Arial"/>
                <a:ea typeface="DejaVu Sans"/>
              </a:rPr>
              <a:t>i.e. &gt;= 1.0</a:t>
            </a:r>
            <a:endParaRPr lang="en-US" sz="2200" b="0" strike="noStrike" spc="-1">
              <a:solidFill>
                <a:srgbClr val="000000"/>
              </a:solidFill>
              <a:latin typeface="Arial"/>
            </a:endParaRPr>
          </a:p>
        </p:txBody>
      </p:sp>
      <p:sp>
        <p:nvSpPr>
          <p:cNvPr id="591" name="CustomShape 6"/>
          <p:cNvSpPr/>
          <p:nvPr/>
        </p:nvSpPr>
        <p:spPr>
          <a:xfrm>
            <a:off x="6631200" y="2643840"/>
            <a:ext cx="2043720" cy="239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800" b="0" strike="noStrike" spc="-1">
                <a:solidFill>
                  <a:srgbClr val="000000"/>
                </a:solidFill>
                <a:latin typeface="Arial"/>
                <a:ea typeface="DejaVu Sans"/>
              </a:rPr>
              <a:t>A </a:t>
            </a:r>
            <a:r>
              <a:rPr lang="en-US" sz="1800" b="1" strike="noStrike" spc="-1">
                <a:solidFill>
                  <a:srgbClr val="000000"/>
                </a:solidFill>
                <a:latin typeface="Arial"/>
                <a:ea typeface="DejaVu Sans"/>
              </a:rPr>
              <a:t>metric prefix</a:t>
            </a:r>
            <a:r>
              <a:rPr lang="en-US" sz="1800" b="0" strike="noStrike" spc="-1">
                <a:solidFill>
                  <a:srgbClr val="000000"/>
                </a:solidFill>
                <a:latin typeface="Arial"/>
                <a:ea typeface="DejaVu Sans"/>
              </a:rPr>
              <a:t> is a unit prefix that precedes a basic unit of measure to indicate a multiple or sub-multiple of the unit. These metric prefixes used today are </a:t>
            </a:r>
            <a:r>
              <a:rPr lang="en-US" sz="1800" b="1" strike="noStrike" spc="-1">
                <a:solidFill>
                  <a:srgbClr val="000000"/>
                </a:solidFill>
                <a:latin typeface="Arial"/>
                <a:ea typeface="DejaVu Sans"/>
              </a:rPr>
              <a:t>decadic</a:t>
            </a:r>
            <a:r>
              <a:rPr lang="en-US" sz="1800" b="0" strike="noStrike" spc="-1">
                <a:solidFill>
                  <a:srgbClr val="000000"/>
                </a:solidFill>
                <a:latin typeface="Arial"/>
                <a:ea typeface="DejaVu Sans"/>
              </a:rPr>
              <a:t>.</a:t>
            </a:r>
            <a:endParaRPr lang="en-US" sz="1800" b="0" strike="noStrike"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 name="CustomShape 1"/>
          <p:cNvSpPr/>
          <p:nvPr/>
        </p:nvSpPr>
        <p:spPr>
          <a:xfrm>
            <a:off x="1015560" y="79560"/>
            <a:ext cx="7057080" cy="71388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4000" b="1" strike="noStrike" spc="-1">
                <a:solidFill>
                  <a:srgbClr val="336699"/>
                </a:solidFill>
                <a:latin typeface="Arial Narrow"/>
                <a:ea typeface="Arial Narrow"/>
              </a:rPr>
              <a:t> International System of Units (SI)</a:t>
            </a:r>
            <a:endParaRPr lang="en-US" sz="4000" b="0" strike="noStrike" spc="-1">
              <a:solidFill>
                <a:srgbClr val="000000"/>
              </a:solidFill>
              <a:latin typeface="Arial"/>
            </a:endParaRPr>
          </a:p>
        </p:txBody>
      </p:sp>
      <p:sp>
        <p:nvSpPr>
          <p:cNvPr id="593" name="CustomShape 2"/>
          <p:cNvSpPr/>
          <p:nvPr/>
        </p:nvSpPr>
        <p:spPr>
          <a:xfrm>
            <a:off x="924840" y="1214640"/>
            <a:ext cx="7985520" cy="475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
        <p:nvSpPr>
          <p:cNvPr id="594" name="CustomShape 3"/>
          <p:cNvSpPr/>
          <p:nvPr/>
        </p:nvSpPr>
        <p:spPr>
          <a:xfrm>
            <a:off x="869040" y="6270840"/>
            <a:ext cx="3151440" cy="285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400" b="0" strike="noStrike" spc="-1">
                <a:solidFill>
                  <a:srgbClr val="000000"/>
                </a:solidFill>
                <a:latin typeface="Arial"/>
                <a:ea typeface="DejaVu Sans"/>
              </a:rPr>
              <a:t>Source: Wikipedia “Metric_prefix”</a:t>
            </a:r>
            <a:endParaRPr lang="en-US" sz="1400" b="0" strike="noStrike" spc="-1">
              <a:solidFill>
                <a:srgbClr val="000000"/>
              </a:solidFill>
              <a:latin typeface="Arial"/>
            </a:endParaRPr>
          </a:p>
        </p:txBody>
      </p:sp>
      <p:sp>
        <p:nvSpPr>
          <p:cNvPr id="595" name="CustomShape 4"/>
          <p:cNvSpPr/>
          <p:nvPr/>
        </p:nvSpPr>
        <p:spPr>
          <a:xfrm>
            <a:off x="6667200" y="1165320"/>
            <a:ext cx="2657880" cy="102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600" b="0" strike="noStrike" spc="-1">
                <a:solidFill>
                  <a:srgbClr val="000000"/>
                </a:solidFill>
                <a:latin typeface="Arial"/>
                <a:ea typeface="DejaVu Sans"/>
              </a:rPr>
              <a:t>For </a:t>
            </a:r>
            <a:r>
              <a:rPr lang="en-US" sz="2600" b="1" strike="noStrike" spc="-1">
                <a:solidFill>
                  <a:srgbClr val="000000"/>
                </a:solidFill>
                <a:latin typeface="Arial"/>
                <a:ea typeface="DejaVu Sans"/>
              </a:rPr>
              <a:t>fractional</a:t>
            </a:r>
            <a:r>
              <a:rPr lang="en-US" sz="2600" b="0" strike="noStrike" spc="-1">
                <a:solidFill>
                  <a:srgbClr val="000000"/>
                </a:solidFill>
                <a:latin typeface="Arial"/>
                <a:ea typeface="DejaVu Sans"/>
              </a:rPr>
              <a:t> type numbers </a:t>
            </a:r>
            <a:endParaRPr lang="en-US" sz="2600" b="0" strike="noStrike" spc="-1">
              <a:solidFill>
                <a:srgbClr val="000000"/>
              </a:solidFill>
              <a:latin typeface="Arial"/>
            </a:endParaRPr>
          </a:p>
          <a:p>
            <a:pPr>
              <a:lnSpc>
                <a:spcPct val="100000"/>
              </a:lnSpc>
            </a:pPr>
            <a:r>
              <a:rPr lang="en-US" sz="2600" b="0" strike="noStrike" spc="-1">
                <a:solidFill>
                  <a:srgbClr val="000000"/>
                </a:solidFill>
                <a:latin typeface="Arial"/>
                <a:ea typeface="DejaVu Sans"/>
              </a:rPr>
              <a:t>i.e. &lt; 1.0</a:t>
            </a:r>
            <a:endParaRPr lang="en-US" sz="2600" b="0" strike="noStrike" spc="-1">
              <a:solidFill>
                <a:srgbClr val="000000"/>
              </a:solidFill>
              <a:latin typeface="Arial"/>
            </a:endParaRPr>
          </a:p>
        </p:txBody>
      </p:sp>
      <p:pic>
        <p:nvPicPr>
          <p:cNvPr id="596" name="Picture 595"/>
          <p:cNvPicPr/>
          <p:nvPr/>
        </p:nvPicPr>
        <p:blipFill>
          <a:blip r:embed="rId2"/>
          <a:stretch/>
        </p:blipFill>
        <p:spPr>
          <a:xfrm>
            <a:off x="546840" y="1159200"/>
            <a:ext cx="5982120" cy="4262400"/>
          </a:xfrm>
          <a:prstGeom prst="rect">
            <a:avLst/>
          </a:prstGeom>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7" name="CustomShape 1"/>
          <p:cNvSpPr/>
          <p:nvPr/>
        </p:nvSpPr>
        <p:spPr>
          <a:xfrm>
            <a:off x="0" y="0"/>
            <a:ext cx="9138960" cy="90936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4000" b="1" strike="noStrike" spc="-1">
                <a:solidFill>
                  <a:srgbClr val="336699"/>
                </a:solidFill>
                <a:latin typeface="Arial Narrow"/>
                <a:ea typeface="Arial Narrow"/>
              </a:rPr>
              <a:t>    Real numbers as Decimal Floating Point</a:t>
            </a:r>
            <a:endParaRPr lang="en-US" sz="4000" b="0" strike="noStrike" spc="-1">
              <a:solidFill>
                <a:srgbClr val="000000"/>
              </a:solidFill>
              <a:latin typeface="Arial"/>
            </a:endParaRPr>
          </a:p>
        </p:txBody>
      </p:sp>
      <p:sp>
        <p:nvSpPr>
          <p:cNvPr id="598" name="CustomShape 2"/>
          <p:cNvSpPr/>
          <p:nvPr/>
        </p:nvSpPr>
        <p:spPr>
          <a:xfrm>
            <a:off x="166680" y="1195560"/>
            <a:ext cx="8678520" cy="431244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t">
            <a:noAutofit/>
          </a:bodyPr>
          <a:lstStyle/>
          <a:p>
            <a:pPr marL="343080" indent="-340920">
              <a:lnSpc>
                <a:spcPct val="100000"/>
              </a:lnSpc>
              <a:buClr>
                <a:srgbClr val="990000"/>
              </a:buClr>
              <a:buFont typeface="Noto Sans Symbols"/>
              <a:buChar char="●"/>
            </a:pPr>
            <a:r>
              <a:rPr lang="en-US" sz="2200" b="0" strike="noStrike" spc="-1">
                <a:solidFill>
                  <a:srgbClr val="009999"/>
                </a:solidFill>
                <a:latin typeface="Arial"/>
                <a:ea typeface="Arial"/>
              </a:rPr>
              <a:t>Our decimal system handles non-integer </a:t>
            </a:r>
            <a:r>
              <a:rPr lang="en-US" sz="2200" b="0" i="1" strike="noStrike" spc="-1">
                <a:solidFill>
                  <a:srgbClr val="009999"/>
                </a:solidFill>
                <a:latin typeface="Arial"/>
                <a:ea typeface="Arial"/>
              </a:rPr>
              <a:t>real</a:t>
            </a:r>
            <a:r>
              <a:rPr lang="en-US" sz="2200" b="0" strike="noStrike" spc="-1">
                <a:solidFill>
                  <a:srgbClr val="009999"/>
                </a:solidFill>
                <a:latin typeface="Arial"/>
                <a:ea typeface="Arial"/>
              </a:rPr>
              <a:t> numbers by adding an extra symbol, the decimal point (.) for </a:t>
            </a:r>
            <a:r>
              <a:rPr lang="en-US" sz="2200" b="1" strike="noStrike" spc="-1">
                <a:solidFill>
                  <a:srgbClr val="009999"/>
                </a:solidFill>
                <a:latin typeface="Arial"/>
                <a:ea typeface="Arial"/>
              </a:rPr>
              <a:t>fixed point</a:t>
            </a:r>
            <a:r>
              <a:rPr lang="en-US" sz="2200" b="0" strike="noStrike" spc="-1">
                <a:solidFill>
                  <a:srgbClr val="009999"/>
                </a:solidFill>
                <a:latin typeface="Arial"/>
                <a:ea typeface="Arial"/>
              </a:rPr>
              <a:t> notation:</a:t>
            </a:r>
            <a:endParaRPr lang="en-US" sz="2200" b="0" strike="noStrike" spc="-1">
              <a:solidFill>
                <a:srgbClr val="000000"/>
              </a:solidFill>
              <a:latin typeface="Arial"/>
            </a:endParaRPr>
          </a:p>
          <a:p>
            <a:pPr marL="743040" lvl="1" indent="-283680">
              <a:lnSpc>
                <a:spcPct val="100000"/>
              </a:lnSpc>
              <a:spcBef>
                <a:spcPts val="479"/>
              </a:spcBef>
              <a:buClr>
                <a:srgbClr val="336699"/>
              </a:buClr>
              <a:buFont typeface="Noto Sans Symbols"/>
              <a:buChar char="●"/>
            </a:pPr>
            <a:r>
              <a:rPr lang="en-US" sz="2200" b="0" strike="noStrike" spc="-1">
                <a:solidFill>
                  <a:srgbClr val="009999"/>
                </a:solidFill>
                <a:latin typeface="Arial"/>
                <a:ea typeface="Arial"/>
              </a:rPr>
              <a:t>e.g. 3,456.78 = 3*10</a:t>
            </a:r>
            <a:r>
              <a:rPr lang="en-US" sz="2200" b="0" strike="noStrike" spc="-1" baseline="30000">
                <a:solidFill>
                  <a:srgbClr val="009999"/>
                </a:solidFill>
                <a:latin typeface="Arial"/>
                <a:ea typeface="Arial"/>
              </a:rPr>
              <a:t>3</a:t>
            </a:r>
            <a:r>
              <a:rPr lang="en-US" sz="2200" b="0" strike="noStrike" spc="-1">
                <a:solidFill>
                  <a:srgbClr val="009999"/>
                </a:solidFill>
                <a:latin typeface="Arial"/>
                <a:ea typeface="Arial"/>
              </a:rPr>
              <a:t> + 4*10</a:t>
            </a:r>
            <a:r>
              <a:rPr lang="en-US" sz="2200" b="0" strike="noStrike" spc="-1" baseline="30000">
                <a:solidFill>
                  <a:srgbClr val="009999"/>
                </a:solidFill>
                <a:latin typeface="Arial"/>
                <a:ea typeface="Arial"/>
              </a:rPr>
              <a:t>2</a:t>
            </a:r>
            <a:r>
              <a:rPr lang="en-US" sz="2200" b="0" strike="noStrike" spc="-1">
                <a:solidFill>
                  <a:srgbClr val="009999"/>
                </a:solidFill>
                <a:latin typeface="Arial"/>
                <a:ea typeface="Arial"/>
              </a:rPr>
              <a:t> + 5*10</a:t>
            </a:r>
            <a:r>
              <a:rPr lang="en-US" sz="2200" b="0" strike="noStrike" spc="-1" baseline="30000">
                <a:solidFill>
                  <a:srgbClr val="009999"/>
                </a:solidFill>
                <a:latin typeface="Arial"/>
                <a:ea typeface="Arial"/>
              </a:rPr>
              <a:t>1</a:t>
            </a:r>
            <a:r>
              <a:rPr lang="en-US" sz="2200" b="0" strike="noStrike" spc="-1">
                <a:solidFill>
                  <a:srgbClr val="009999"/>
                </a:solidFill>
                <a:latin typeface="Arial"/>
                <a:ea typeface="Arial"/>
              </a:rPr>
              <a:t> + 6*10</a:t>
            </a:r>
            <a:r>
              <a:rPr lang="en-US" sz="2200" b="0" strike="noStrike" spc="-1" baseline="30000">
                <a:solidFill>
                  <a:srgbClr val="009999"/>
                </a:solidFill>
                <a:latin typeface="Arial"/>
                <a:ea typeface="Arial"/>
              </a:rPr>
              <a:t>0 </a:t>
            </a:r>
            <a:r>
              <a:rPr lang="en-US" sz="2200" b="0" strike="noStrike" spc="-1">
                <a:solidFill>
                  <a:srgbClr val="009999"/>
                </a:solidFill>
                <a:latin typeface="Arial"/>
                <a:ea typeface="Arial"/>
              </a:rPr>
              <a:t>+ 7*10</a:t>
            </a:r>
            <a:r>
              <a:rPr lang="en-US" sz="2200" b="0" strike="noStrike" spc="-1" baseline="30000">
                <a:solidFill>
                  <a:srgbClr val="009999"/>
                </a:solidFill>
                <a:latin typeface="Arial"/>
                <a:ea typeface="Arial"/>
              </a:rPr>
              <a:t>-1 </a:t>
            </a:r>
            <a:r>
              <a:rPr lang="en-US" sz="2200" b="0" strike="noStrike" spc="-1">
                <a:solidFill>
                  <a:srgbClr val="009999"/>
                </a:solidFill>
                <a:latin typeface="Arial"/>
                <a:ea typeface="Arial"/>
              </a:rPr>
              <a:t>+ 8.10</a:t>
            </a:r>
            <a:r>
              <a:rPr lang="en-US" sz="2200" b="0" strike="noStrike" spc="-1" baseline="30000">
                <a:solidFill>
                  <a:srgbClr val="009999"/>
                </a:solidFill>
                <a:latin typeface="Arial"/>
                <a:ea typeface="Arial"/>
              </a:rPr>
              <a:t>-2</a:t>
            </a:r>
            <a:endParaRPr lang="en-US" sz="2200" b="0" strike="noStrike" spc="-1">
              <a:solidFill>
                <a:srgbClr val="000000"/>
              </a:solidFill>
              <a:latin typeface="Arial"/>
            </a:endParaRPr>
          </a:p>
          <a:p>
            <a:pPr marL="343080" indent="-340920">
              <a:lnSpc>
                <a:spcPct val="100000"/>
              </a:lnSpc>
              <a:spcBef>
                <a:spcPts val="479"/>
              </a:spcBef>
              <a:buClr>
                <a:srgbClr val="990000"/>
              </a:buClr>
              <a:buFont typeface="Noto Sans Symbols"/>
              <a:buChar char="●"/>
              <a:tabLst>
                <a:tab pos="0" algn="l"/>
              </a:tabLst>
            </a:pPr>
            <a:r>
              <a:rPr lang="en-US" sz="2200" b="0" strike="noStrike" spc="-1">
                <a:solidFill>
                  <a:srgbClr val="009999"/>
                </a:solidFill>
                <a:latin typeface="Arial"/>
                <a:ea typeface="Arial"/>
              </a:rPr>
              <a:t>The </a:t>
            </a:r>
            <a:r>
              <a:rPr lang="en-US" sz="2200" b="1" strike="noStrike" spc="-1">
                <a:solidFill>
                  <a:srgbClr val="009999"/>
                </a:solidFill>
                <a:latin typeface="Arial"/>
                <a:ea typeface="Arial"/>
              </a:rPr>
              <a:t>floating point</a:t>
            </a:r>
            <a:r>
              <a:rPr lang="en-US" sz="2200" b="0" strike="noStrike" spc="-1">
                <a:solidFill>
                  <a:srgbClr val="009999"/>
                </a:solidFill>
                <a:latin typeface="Arial"/>
                <a:ea typeface="Arial"/>
              </a:rPr>
              <a:t>, or </a:t>
            </a:r>
            <a:r>
              <a:rPr lang="en-US" sz="2200" b="1" strike="noStrike" spc="-1">
                <a:solidFill>
                  <a:srgbClr val="009999"/>
                </a:solidFill>
                <a:latin typeface="Arial"/>
                <a:ea typeface="Arial"/>
              </a:rPr>
              <a:t>scientific</a:t>
            </a:r>
            <a:r>
              <a:rPr lang="en-US" sz="2200" b="0" strike="noStrike" spc="-1">
                <a:solidFill>
                  <a:srgbClr val="009999"/>
                </a:solidFill>
                <a:latin typeface="Arial"/>
                <a:ea typeface="Arial"/>
              </a:rPr>
              <a:t>, notation further allows us to represent very large and very small numbers (integer or real), with as much or as little precision as needed, e.g.:</a:t>
            </a:r>
            <a:endParaRPr lang="en-US" sz="2200" b="0" strike="noStrike" spc="-1">
              <a:solidFill>
                <a:srgbClr val="000000"/>
              </a:solidFill>
              <a:latin typeface="Arial"/>
            </a:endParaRPr>
          </a:p>
          <a:p>
            <a:pPr marL="743040" lvl="1" indent="-283680">
              <a:lnSpc>
                <a:spcPct val="100000"/>
              </a:lnSpc>
              <a:spcBef>
                <a:spcPts val="479"/>
              </a:spcBef>
              <a:buClr>
                <a:srgbClr val="336699"/>
              </a:buClr>
              <a:buFont typeface="Noto Sans Symbols"/>
              <a:buChar char="●"/>
              <a:tabLst>
                <a:tab pos="0" algn="l"/>
              </a:tabLst>
            </a:pPr>
            <a:r>
              <a:rPr lang="en-US" sz="2200" b="0" strike="noStrike" spc="-1">
                <a:solidFill>
                  <a:srgbClr val="009999"/>
                </a:solidFill>
                <a:latin typeface="Arial"/>
                <a:ea typeface="Arial"/>
              </a:rPr>
              <a:t>Unit of electric charge  e =</a:t>
            </a:r>
            <a:r>
              <a:rPr lang="en-US" sz="2200" b="0" strike="noStrike" spc="-1">
                <a:solidFill>
                  <a:srgbClr val="FFFFCC"/>
                </a:solidFill>
                <a:latin typeface="Arial"/>
                <a:ea typeface="Arial"/>
              </a:rPr>
              <a:t> </a:t>
            </a:r>
            <a:r>
              <a:rPr lang="en-US" sz="2200" b="0" strike="noStrike" spc="-1">
                <a:solidFill>
                  <a:srgbClr val="009999"/>
                </a:solidFill>
                <a:highlight>
                  <a:srgbClr val="CFE2F3"/>
                </a:highlight>
                <a:latin typeface="Arial"/>
                <a:ea typeface="Arial"/>
              </a:rPr>
              <a:t>1.602 176 462 * 10</a:t>
            </a:r>
            <a:r>
              <a:rPr lang="en-US" sz="2200" b="0" strike="noStrike" spc="-1" baseline="30000">
                <a:solidFill>
                  <a:srgbClr val="009999"/>
                </a:solidFill>
                <a:highlight>
                  <a:srgbClr val="CFE2F3"/>
                </a:highlight>
                <a:latin typeface="Arial"/>
                <a:ea typeface="Arial"/>
              </a:rPr>
              <a:t>-</a:t>
            </a:r>
            <a:r>
              <a:rPr lang="en-US" sz="2200" b="0" strike="noStrike" spc="-1" baseline="30000">
                <a:solidFill>
                  <a:srgbClr val="009999"/>
                </a:solidFill>
                <a:highlight>
                  <a:srgbClr val="B6D7A8"/>
                </a:highlight>
                <a:latin typeface="Arial"/>
                <a:ea typeface="Arial"/>
              </a:rPr>
              <a:t>19</a:t>
            </a:r>
            <a:r>
              <a:rPr lang="en-US" sz="2200" b="0" strike="noStrike" spc="-1">
                <a:solidFill>
                  <a:srgbClr val="009999"/>
                </a:solidFill>
                <a:highlight>
                  <a:srgbClr val="B6D7A8"/>
                </a:highlight>
                <a:latin typeface="Arial"/>
                <a:ea typeface="Arial"/>
              </a:rPr>
              <a:t> Coul.</a:t>
            </a:r>
            <a:endParaRPr lang="en-US" sz="2200" b="0" strike="noStrike" spc="-1">
              <a:solidFill>
                <a:srgbClr val="000000"/>
              </a:solidFill>
              <a:latin typeface="Arial"/>
            </a:endParaRPr>
          </a:p>
          <a:p>
            <a:pPr marL="743040" lvl="1" indent="-283680">
              <a:lnSpc>
                <a:spcPct val="100000"/>
              </a:lnSpc>
              <a:spcBef>
                <a:spcPts val="479"/>
              </a:spcBef>
              <a:buClr>
                <a:srgbClr val="336699"/>
              </a:buClr>
              <a:buFont typeface="Noto Sans Symbols"/>
              <a:buChar char="●"/>
              <a:tabLst>
                <a:tab pos="0" algn="l"/>
              </a:tabLst>
            </a:pPr>
            <a:r>
              <a:rPr lang="en-US" sz="2200" b="0" strike="noStrike" spc="-1">
                <a:solidFill>
                  <a:srgbClr val="009999"/>
                </a:solidFill>
                <a:highlight>
                  <a:srgbClr val="B6D7A8"/>
                </a:highlight>
                <a:latin typeface="Arial"/>
                <a:ea typeface="Arial"/>
              </a:rPr>
              <a:t>Volume of universe = </a:t>
            </a:r>
            <a:r>
              <a:rPr lang="en-US" sz="2200" b="0" strike="noStrike" spc="-1">
                <a:solidFill>
                  <a:srgbClr val="009999"/>
                </a:solidFill>
                <a:highlight>
                  <a:srgbClr val="A4C2F4"/>
                </a:highlight>
                <a:latin typeface="Arial"/>
                <a:ea typeface="Arial"/>
              </a:rPr>
              <a:t>1 * 10</a:t>
            </a:r>
            <a:r>
              <a:rPr lang="en-US" sz="2200" b="0" strike="noStrike" spc="-1" baseline="30000">
                <a:solidFill>
                  <a:srgbClr val="009999"/>
                </a:solidFill>
                <a:highlight>
                  <a:srgbClr val="B6D7A8"/>
                </a:highlight>
                <a:latin typeface="Arial"/>
                <a:ea typeface="Arial"/>
              </a:rPr>
              <a:t>85</a:t>
            </a:r>
            <a:r>
              <a:rPr lang="en-US" sz="2200" b="0" strike="noStrike" spc="-1">
                <a:solidFill>
                  <a:srgbClr val="009999"/>
                </a:solidFill>
                <a:highlight>
                  <a:srgbClr val="B6D7A8"/>
                </a:highlight>
                <a:latin typeface="Arial"/>
                <a:ea typeface="Arial"/>
              </a:rPr>
              <a:t> cm</a:t>
            </a:r>
            <a:r>
              <a:rPr lang="en-US" sz="2200" b="0" strike="noStrike" spc="-1" baseline="30000">
                <a:solidFill>
                  <a:srgbClr val="009999"/>
                </a:solidFill>
                <a:highlight>
                  <a:srgbClr val="B6D7A8"/>
                </a:highlight>
                <a:latin typeface="Arial"/>
                <a:ea typeface="Arial"/>
              </a:rPr>
              <a:t>3</a:t>
            </a:r>
            <a:r>
              <a:rPr lang="en-US" sz="2200" b="0" strike="noStrike" spc="-1">
                <a:solidFill>
                  <a:srgbClr val="009999"/>
                </a:solidFill>
                <a:highlight>
                  <a:srgbClr val="B6D7A8"/>
                </a:highlight>
                <a:latin typeface="Arial"/>
                <a:ea typeface="Arial"/>
              </a:rPr>
              <a:t> </a:t>
            </a:r>
            <a:endParaRPr lang="en-US" sz="2200" b="0" strike="noStrike" spc="-1">
              <a:solidFill>
                <a:srgbClr val="000000"/>
              </a:solidFill>
              <a:latin typeface="Arial"/>
            </a:endParaRPr>
          </a:p>
          <a:p>
            <a:pPr marL="1143000" lvl="2" indent="-226440">
              <a:lnSpc>
                <a:spcPct val="100000"/>
              </a:lnSpc>
              <a:spcBef>
                <a:spcPts val="400"/>
              </a:spcBef>
              <a:buClr>
                <a:srgbClr val="FF9966"/>
              </a:buClr>
              <a:buFont typeface="Noto Sans Symbols"/>
              <a:buChar char="●"/>
              <a:tabLst>
                <a:tab pos="0" algn="l"/>
              </a:tabLst>
            </a:pPr>
            <a:r>
              <a:rPr lang="en-US" sz="2200" b="0" strike="noStrike" spc="-1">
                <a:solidFill>
                  <a:srgbClr val="009999"/>
                </a:solidFill>
                <a:highlight>
                  <a:srgbClr val="B6D7A8"/>
                </a:highlight>
                <a:latin typeface="Arial"/>
                <a:ea typeface="Arial"/>
              </a:rPr>
              <a:t>the two components of these numbers are called the </a:t>
            </a:r>
            <a:r>
              <a:rPr lang="en-US" sz="2200" b="0" strike="noStrike" spc="-1">
                <a:solidFill>
                  <a:srgbClr val="009999"/>
                </a:solidFill>
                <a:highlight>
                  <a:srgbClr val="CFE2F3"/>
                </a:highlight>
                <a:latin typeface="Arial"/>
                <a:ea typeface="Arial"/>
              </a:rPr>
              <a:t>mantissa (provides precision) and the</a:t>
            </a:r>
            <a:endParaRPr lang="en-US" sz="2200" b="0" strike="noStrike" spc="-1">
              <a:solidFill>
                <a:srgbClr val="000000"/>
              </a:solidFill>
              <a:latin typeface="Arial"/>
            </a:endParaRPr>
          </a:p>
          <a:p>
            <a:pPr marL="1143000" lvl="2" indent="-226440">
              <a:lnSpc>
                <a:spcPct val="100000"/>
              </a:lnSpc>
              <a:spcBef>
                <a:spcPts val="400"/>
              </a:spcBef>
              <a:buClr>
                <a:srgbClr val="FF9966"/>
              </a:buClr>
              <a:buFont typeface="Noto Sans Symbols"/>
              <a:buChar char="●"/>
              <a:tabLst>
                <a:tab pos="0" algn="l"/>
              </a:tabLst>
            </a:pPr>
            <a:r>
              <a:rPr lang="en-US" sz="2200" b="0" strike="noStrike" spc="-1">
                <a:solidFill>
                  <a:srgbClr val="009999"/>
                </a:solidFill>
                <a:highlight>
                  <a:srgbClr val="B6D7A8"/>
                </a:highlight>
                <a:latin typeface="Arial"/>
                <a:ea typeface="Arial"/>
              </a:rPr>
              <a:t>exponent </a:t>
            </a:r>
            <a:r>
              <a:rPr lang="en-US" sz="2200" b="0" strike="noStrike" spc="-1">
                <a:solidFill>
                  <a:srgbClr val="009999"/>
                </a:solidFill>
                <a:highlight>
                  <a:srgbClr val="FFFFFF"/>
                </a:highlight>
                <a:latin typeface="Arial"/>
                <a:ea typeface="Arial"/>
              </a:rPr>
              <a:t> (provides dynamic range)</a:t>
            </a:r>
            <a:endParaRPr lang="en-US" sz="2200" b="0" strike="noStrike" spc="-1">
              <a:solidFill>
                <a:srgbClr val="000000"/>
              </a:solidFill>
              <a:latin typeface="Arial"/>
            </a:endParaRPr>
          </a:p>
        </p:txBody>
      </p:sp>
      <p:sp>
        <p:nvSpPr>
          <p:cNvPr id="599" name="CustomShape 3"/>
          <p:cNvSpPr/>
          <p:nvPr/>
        </p:nvSpPr>
        <p:spPr>
          <a:xfrm>
            <a:off x="673920" y="5532840"/>
            <a:ext cx="5594400" cy="761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400" b="1" strike="noStrike" spc="-1">
                <a:solidFill>
                  <a:srgbClr val="010000"/>
                </a:solidFill>
                <a:latin typeface="Times New Roman"/>
                <a:ea typeface="Times New Roman"/>
              </a:rPr>
              <a:t>How to do scientific notation in binary?</a:t>
            </a:r>
            <a:endParaRPr lang="en-US" sz="2400" b="0" strike="noStrike" spc="-1">
              <a:solidFill>
                <a:srgbClr val="000000"/>
              </a:solidFill>
              <a:latin typeface="Arial"/>
            </a:endParaRPr>
          </a:p>
          <a:p>
            <a:pPr>
              <a:lnSpc>
                <a:spcPct val="100000"/>
              </a:lnSpc>
            </a:pPr>
            <a:r>
              <a:rPr lang="en-US" sz="2400" b="1" strike="noStrike" spc="-1">
                <a:solidFill>
                  <a:srgbClr val="010000"/>
                </a:solidFill>
                <a:latin typeface="Times New Roman"/>
                <a:ea typeface="Times New Roman"/>
              </a:rPr>
              <a:t>Standard: IEEE 754 Floating-Point</a:t>
            </a:r>
            <a:endParaRPr lang="en-US" sz="2400" b="0" strike="noStrike" spc="-1">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 name="CustomShape 1"/>
          <p:cNvSpPr/>
          <p:nvPr/>
        </p:nvSpPr>
        <p:spPr>
          <a:xfrm>
            <a:off x="0" y="0"/>
            <a:ext cx="9138960" cy="90936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4000" b="1" strike="noStrike" spc="-1">
                <a:solidFill>
                  <a:srgbClr val="336699"/>
                </a:solidFill>
                <a:latin typeface="Arial Narrow"/>
                <a:ea typeface="Arial Narrow"/>
              </a:rPr>
              <a:t>    Real numbers in Binary Floating Point</a:t>
            </a:r>
            <a:endParaRPr lang="en-US" sz="4000" b="0" strike="noStrike" spc="-1">
              <a:solidFill>
                <a:srgbClr val="000000"/>
              </a:solidFill>
              <a:latin typeface="Arial"/>
            </a:endParaRPr>
          </a:p>
        </p:txBody>
      </p:sp>
      <p:sp>
        <p:nvSpPr>
          <p:cNvPr id="601" name="CustomShape 2"/>
          <p:cNvSpPr/>
          <p:nvPr/>
        </p:nvSpPr>
        <p:spPr>
          <a:xfrm>
            <a:off x="230040" y="1246320"/>
            <a:ext cx="8678520" cy="484488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t">
            <a:noAutofit/>
          </a:bodyPr>
          <a:lstStyle/>
          <a:p>
            <a:pPr marL="343080" indent="-340920">
              <a:lnSpc>
                <a:spcPct val="100000"/>
              </a:lnSpc>
              <a:buClr>
                <a:srgbClr val="990000"/>
              </a:buClr>
              <a:buFont typeface="Noto Sans Symbols"/>
              <a:buChar char="●"/>
            </a:pPr>
            <a:r>
              <a:rPr lang="en-US" sz="2000" b="0" strike="noStrike" spc="-1">
                <a:solidFill>
                  <a:srgbClr val="009999"/>
                </a:solidFill>
                <a:latin typeface="Arial"/>
                <a:ea typeface="Arial"/>
              </a:rPr>
              <a:t>We mimic the decimal floating point notation to create a “hybrid” binary floating point number:</a:t>
            </a:r>
            <a:endParaRPr lang="en-US" sz="2000" b="0" strike="noStrike" spc="-1">
              <a:solidFill>
                <a:srgbClr val="000000"/>
              </a:solidFill>
              <a:latin typeface="Arial"/>
            </a:endParaRPr>
          </a:p>
          <a:p>
            <a:pPr marL="506520" lvl="1" indent="-281880">
              <a:lnSpc>
                <a:spcPct val="100000"/>
              </a:lnSpc>
              <a:spcBef>
                <a:spcPts val="400"/>
              </a:spcBef>
              <a:buClr>
                <a:srgbClr val="336699"/>
              </a:buClr>
              <a:buFont typeface="Noto Sans Symbols"/>
              <a:buChar char="●"/>
            </a:pPr>
            <a:r>
              <a:rPr lang="en-US" sz="2000" b="0" strike="noStrike" spc="-1">
                <a:solidFill>
                  <a:srgbClr val="009999"/>
                </a:solidFill>
                <a:latin typeface="Arial"/>
                <a:ea typeface="Arial"/>
              </a:rPr>
              <a:t>We first use a </a:t>
            </a:r>
            <a:r>
              <a:rPr lang="en-US" sz="2000" b="1" strike="noStrike" spc="-1">
                <a:solidFill>
                  <a:srgbClr val="009999"/>
                </a:solidFill>
                <a:latin typeface="Arial"/>
                <a:ea typeface="Arial"/>
              </a:rPr>
              <a:t>“binary point”</a:t>
            </a:r>
            <a:r>
              <a:rPr lang="en-US" sz="2000" b="0" strike="noStrike" spc="-1">
                <a:solidFill>
                  <a:srgbClr val="009999"/>
                </a:solidFill>
                <a:latin typeface="Arial"/>
                <a:ea typeface="Arial"/>
              </a:rPr>
              <a:t> to separate whole numbers from fractional numbers to make a fixed point notation:</a:t>
            </a:r>
            <a:endParaRPr lang="en-US" sz="2000" b="0" strike="noStrike" spc="-1">
              <a:solidFill>
                <a:srgbClr val="000000"/>
              </a:solidFill>
              <a:latin typeface="Arial"/>
            </a:endParaRPr>
          </a:p>
          <a:p>
            <a:pPr marL="792000" lvl="2" indent="-226440">
              <a:lnSpc>
                <a:spcPct val="100000"/>
              </a:lnSpc>
              <a:spcBef>
                <a:spcPts val="300"/>
              </a:spcBef>
              <a:buClr>
                <a:srgbClr val="FF9966"/>
              </a:buClr>
              <a:buFont typeface="Noto Sans Symbols"/>
              <a:buChar char="●"/>
            </a:pPr>
            <a:r>
              <a:rPr lang="en-US" sz="2000" b="0" strike="noStrike" spc="-1">
                <a:solidFill>
                  <a:srgbClr val="009999"/>
                </a:solidFill>
                <a:latin typeface="Arial"/>
                <a:ea typeface="Arial"/>
              </a:rPr>
              <a:t>e.g. 00011001.110 = 1*2</a:t>
            </a:r>
            <a:r>
              <a:rPr lang="en-US" sz="2000" b="0" strike="noStrike" spc="-1" baseline="30000">
                <a:solidFill>
                  <a:srgbClr val="009999"/>
                </a:solidFill>
                <a:latin typeface="Arial"/>
                <a:ea typeface="Arial"/>
              </a:rPr>
              <a:t>4</a:t>
            </a:r>
            <a:r>
              <a:rPr lang="en-US" sz="2000" b="0" strike="noStrike" spc="-1">
                <a:solidFill>
                  <a:srgbClr val="009999"/>
                </a:solidFill>
                <a:latin typeface="Arial"/>
                <a:ea typeface="Arial"/>
              </a:rPr>
              <a:t> + 1*2</a:t>
            </a:r>
            <a:r>
              <a:rPr lang="en-US" sz="2000" b="0" strike="noStrike" spc="-1" baseline="30000">
                <a:solidFill>
                  <a:srgbClr val="009999"/>
                </a:solidFill>
                <a:latin typeface="Arial"/>
                <a:ea typeface="Arial"/>
              </a:rPr>
              <a:t>3 </a:t>
            </a:r>
            <a:r>
              <a:rPr lang="en-US" sz="2000" b="0" strike="noStrike" spc="-1">
                <a:solidFill>
                  <a:srgbClr val="009999"/>
                </a:solidFill>
                <a:latin typeface="Arial"/>
                <a:ea typeface="Arial"/>
              </a:rPr>
              <a:t>+ 1*2</a:t>
            </a:r>
            <a:r>
              <a:rPr lang="en-US" sz="2000" b="0" strike="noStrike" spc="-1" baseline="30000">
                <a:solidFill>
                  <a:srgbClr val="009999"/>
                </a:solidFill>
                <a:latin typeface="Arial"/>
                <a:ea typeface="Arial"/>
              </a:rPr>
              <a:t>0 </a:t>
            </a:r>
            <a:r>
              <a:rPr lang="en-US" sz="2000" b="0" strike="noStrike" spc="-1">
                <a:solidFill>
                  <a:srgbClr val="009999"/>
                </a:solidFill>
                <a:latin typeface="Arial"/>
                <a:ea typeface="Arial"/>
              </a:rPr>
              <a:t>+ 1*2</a:t>
            </a:r>
            <a:r>
              <a:rPr lang="en-US" sz="2000" b="0" strike="noStrike" spc="-1" baseline="30000">
                <a:solidFill>
                  <a:srgbClr val="009999"/>
                </a:solidFill>
                <a:latin typeface="Arial"/>
                <a:ea typeface="Arial"/>
              </a:rPr>
              <a:t>-1 </a:t>
            </a:r>
            <a:r>
              <a:rPr lang="en-US" sz="2000" b="0" strike="noStrike" spc="-1">
                <a:solidFill>
                  <a:srgbClr val="009999"/>
                </a:solidFill>
                <a:latin typeface="Arial"/>
                <a:ea typeface="Arial"/>
              </a:rPr>
              <a:t>+ 1*2</a:t>
            </a:r>
            <a:r>
              <a:rPr lang="en-US" sz="2000" b="0" strike="noStrike" spc="-1" baseline="30000">
                <a:solidFill>
                  <a:srgbClr val="009999"/>
                </a:solidFill>
                <a:latin typeface="Arial"/>
                <a:ea typeface="Arial"/>
              </a:rPr>
              <a:t>-2</a:t>
            </a:r>
            <a:r>
              <a:rPr lang="en-US" sz="2000" b="0" strike="noStrike" spc="-1">
                <a:solidFill>
                  <a:srgbClr val="009999"/>
                </a:solidFill>
                <a:latin typeface="Arial"/>
                <a:ea typeface="Arial"/>
              </a:rPr>
              <a:t> =&gt; 25.75</a:t>
            </a:r>
            <a:endParaRPr lang="en-US" sz="2000" b="0" strike="noStrike" spc="-1">
              <a:solidFill>
                <a:srgbClr val="000000"/>
              </a:solidFill>
              <a:latin typeface="Arial"/>
            </a:endParaRPr>
          </a:p>
          <a:p>
            <a:pPr marL="1076400" indent="-226440">
              <a:lnSpc>
                <a:spcPct val="100000"/>
              </a:lnSpc>
              <a:spcBef>
                <a:spcPts val="300"/>
              </a:spcBef>
              <a:tabLst>
                <a:tab pos="0" algn="l"/>
              </a:tabLst>
            </a:pPr>
            <a:r>
              <a:rPr lang="en-US" sz="2000" b="0" strike="noStrike" spc="-1">
                <a:solidFill>
                  <a:srgbClr val="009999"/>
                </a:solidFill>
                <a:latin typeface="Arial"/>
                <a:ea typeface="Arial"/>
              </a:rPr>
              <a:t>(2</a:t>
            </a:r>
            <a:r>
              <a:rPr lang="en-US" sz="2000" b="0" strike="noStrike" spc="-1" baseline="30000">
                <a:solidFill>
                  <a:srgbClr val="009999"/>
                </a:solidFill>
                <a:latin typeface="Arial"/>
                <a:ea typeface="Arial"/>
              </a:rPr>
              <a:t>-1</a:t>
            </a:r>
            <a:r>
              <a:rPr lang="en-US" sz="2000" b="0" strike="noStrike" spc="-1">
                <a:solidFill>
                  <a:srgbClr val="009999"/>
                </a:solidFill>
                <a:latin typeface="Arial"/>
                <a:ea typeface="Arial"/>
              </a:rPr>
              <a:t> = 0.5 and 2</a:t>
            </a:r>
            <a:r>
              <a:rPr lang="en-US" sz="2000" b="0" strike="noStrike" spc="-1" baseline="30000">
                <a:solidFill>
                  <a:srgbClr val="009999"/>
                </a:solidFill>
                <a:latin typeface="Arial"/>
                <a:ea typeface="Arial"/>
              </a:rPr>
              <a:t>-2</a:t>
            </a:r>
            <a:r>
              <a:rPr lang="en-US" sz="2000" b="0" strike="noStrike" spc="-1">
                <a:solidFill>
                  <a:srgbClr val="009999"/>
                </a:solidFill>
                <a:latin typeface="Arial"/>
                <a:ea typeface="Arial"/>
              </a:rPr>
              <a:t> = 0.25, etc.)</a:t>
            </a:r>
            <a:endParaRPr lang="en-US" sz="2000" b="0" strike="noStrike" spc="-1">
              <a:solidFill>
                <a:srgbClr val="000000"/>
              </a:solidFill>
              <a:latin typeface="Arial"/>
            </a:endParaRPr>
          </a:p>
          <a:p>
            <a:pPr marL="506520" indent="-281880">
              <a:lnSpc>
                <a:spcPct val="100000"/>
              </a:lnSpc>
              <a:spcBef>
                <a:spcPts val="201"/>
              </a:spcBef>
              <a:tabLst>
                <a:tab pos="0" algn="l"/>
              </a:tabLst>
            </a:pPr>
            <a:endParaRPr lang="en-US" sz="2000" b="0" strike="noStrike" spc="-1">
              <a:solidFill>
                <a:srgbClr val="000000"/>
              </a:solidFill>
              <a:latin typeface="Arial"/>
            </a:endParaRPr>
          </a:p>
          <a:p>
            <a:pPr marL="506520" lvl="1" indent="-281880">
              <a:lnSpc>
                <a:spcPct val="100000"/>
              </a:lnSpc>
              <a:spcBef>
                <a:spcPts val="400"/>
              </a:spcBef>
              <a:buClr>
                <a:srgbClr val="336699"/>
              </a:buClr>
              <a:buFont typeface="Noto Sans Symbols"/>
              <a:buChar char="●"/>
              <a:tabLst>
                <a:tab pos="0" algn="l"/>
              </a:tabLst>
            </a:pPr>
            <a:r>
              <a:rPr lang="en-US" sz="2000" b="0" strike="noStrike" spc="-1">
                <a:solidFill>
                  <a:srgbClr val="009999"/>
                </a:solidFill>
                <a:latin typeface="Arial"/>
                <a:ea typeface="Arial"/>
              </a:rPr>
              <a:t>We then </a:t>
            </a:r>
            <a:r>
              <a:rPr lang="en-US" sz="2000" b="1" strike="noStrike" spc="-1">
                <a:solidFill>
                  <a:srgbClr val="009999"/>
                </a:solidFill>
                <a:latin typeface="Arial"/>
                <a:ea typeface="Arial"/>
              </a:rPr>
              <a:t>“float” the binary point</a:t>
            </a:r>
            <a:r>
              <a:rPr lang="en-US" sz="2000" b="0" strike="noStrike" spc="-1">
                <a:solidFill>
                  <a:srgbClr val="009999"/>
                </a:solidFill>
                <a:latin typeface="Arial"/>
                <a:ea typeface="Arial"/>
              </a:rPr>
              <a:t>:</a:t>
            </a:r>
            <a:endParaRPr lang="en-US" sz="2000" b="0" strike="noStrike" spc="-1">
              <a:solidFill>
                <a:srgbClr val="000000"/>
              </a:solidFill>
              <a:latin typeface="Arial"/>
            </a:endParaRPr>
          </a:p>
          <a:p>
            <a:pPr marL="792000" lvl="2" indent="-226440">
              <a:lnSpc>
                <a:spcPct val="100000"/>
              </a:lnSpc>
              <a:spcBef>
                <a:spcPts val="300"/>
              </a:spcBef>
              <a:buClr>
                <a:srgbClr val="FF9966"/>
              </a:buClr>
              <a:buFont typeface="Noto Sans Symbols"/>
              <a:buChar char="●"/>
              <a:tabLst>
                <a:tab pos="0" algn="l"/>
              </a:tabLst>
            </a:pPr>
            <a:r>
              <a:rPr lang="en-US" sz="2000" b="1" strike="noStrike" spc="-1">
                <a:solidFill>
                  <a:srgbClr val="009999"/>
                </a:solidFill>
                <a:latin typeface="Arial"/>
                <a:ea typeface="Arial"/>
              </a:rPr>
              <a:t>00011001.110 =&gt; 1.1001110 x 2</a:t>
            </a:r>
            <a:r>
              <a:rPr lang="en-US" sz="2000" b="1" strike="noStrike" spc="-1" baseline="30000">
                <a:solidFill>
                  <a:srgbClr val="009999"/>
                </a:solidFill>
                <a:latin typeface="Arial"/>
                <a:ea typeface="Arial"/>
              </a:rPr>
              <a:t>4</a:t>
            </a:r>
            <a:r>
              <a:rPr lang="en-US" sz="2000" b="0" strike="noStrike" spc="-1">
                <a:solidFill>
                  <a:srgbClr val="009999"/>
                </a:solidFill>
                <a:latin typeface="Arial"/>
                <a:ea typeface="Arial"/>
              </a:rPr>
              <a:t> </a:t>
            </a:r>
            <a:endParaRPr lang="en-US" sz="2000" b="0" strike="noStrike" spc="-1">
              <a:solidFill>
                <a:srgbClr val="000000"/>
              </a:solidFill>
              <a:latin typeface="Arial"/>
            </a:endParaRPr>
          </a:p>
          <a:p>
            <a:pPr marL="1076400" indent="-226440">
              <a:lnSpc>
                <a:spcPct val="100000"/>
              </a:lnSpc>
              <a:spcBef>
                <a:spcPts val="300"/>
              </a:spcBef>
              <a:tabLst>
                <a:tab pos="0" algn="l"/>
              </a:tabLst>
            </a:pPr>
            <a:r>
              <a:rPr lang="en-US" sz="2000" b="1" strike="noStrike" spc="-1">
                <a:solidFill>
                  <a:srgbClr val="009999"/>
                </a:solidFill>
                <a:latin typeface="Arial"/>
                <a:ea typeface="Arial"/>
              </a:rPr>
              <a:t>mantissa = 1.1001110, exponent = 4</a:t>
            </a:r>
            <a:endParaRPr lang="en-US" sz="2000" b="0" strike="noStrike" spc="-1">
              <a:solidFill>
                <a:srgbClr val="000000"/>
              </a:solidFill>
              <a:latin typeface="Arial"/>
            </a:endParaRPr>
          </a:p>
          <a:p>
            <a:pPr marL="506520" indent="-281880">
              <a:lnSpc>
                <a:spcPct val="100000"/>
              </a:lnSpc>
              <a:spcBef>
                <a:spcPts val="201"/>
              </a:spcBef>
              <a:tabLst>
                <a:tab pos="0" algn="l"/>
              </a:tabLst>
            </a:pPr>
            <a:endParaRPr lang="en-US" sz="2000" b="0" strike="noStrike" spc="-1">
              <a:solidFill>
                <a:srgbClr val="000000"/>
              </a:solidFill>
              <a:latin typeface="Arial"/>
            </a:endParaRPr>
          </a:p>
          <a:p>
            <a:pPr marL="506520" lvl="1" indent="-281880">
              <a:lnSpc>
                <a:spcPct val="100000"/>
              </a:lnSpc>
              <a:spcBef>
                <a:spcPts val="400"/>
              </a:spcBef>
              <a:buClr>
                <a:srgbClr val="336699"/>
              </a:buClr>
              <a:buFont typeface="Noto Sans Symbols"/>
              <a:buChar char="●"/>
              <a:tabLst>
                <a:tab pos="0" algn="l"/>
              </a:tabLst>
            </a:pPr>
            <a:r>
              <a:rPr lang="en-US" sz="2000" b="0" strike="noStrike" spc="-1">
                <a:solidFill>
                  <a:srgbClr val="009999"/>
                </a:solidFill>
                <a:latin typeface="Arial"/>
                <a:ea typeface="Arial"/>
              </a:rPr>
              <a:t>Now we have to express this without the extra symbols ( x, 2, . )</a:t>
            </a:r>
            <a:endParaRPr lang="en-US" sz="2000" b="0" strike="noStrike" spc="-1">
              <a:solidFill>
                <a:srgbClr val="000000"/>
              </a:solidFill>
              <a:latin typeface="Arial"/>
            </a:endParaRPr>
          </a:p>
          <a:p>
            <a:pPr marL="792000" lvl="2" indent="-226440">
              <a:lnSpc>
                <a:spcPct val="100000"/>
              </a:lnSpc>
              <a:spcBef>
                <a:spcPts val="300"/>
              </a:spcBef>
              <a:buClr>
                <a:srgbClr val="FF9966"/>
              </a:buClr>
              <a:buFont typeface="Noto Sans Symbols"/>
              <a:buChar char="●"/>
              <a:tabLst>
                <a:tab pos="0" algn="l"/>
              </a:tabLst>
            </a:pPr>
            <a:r>
              <a:rPr lang="en-US" sz="2000" b="0" strike="noStrike" spc="-1">
                <a:solidFill>
                  <a:srgbClr val="009999"/>
                </a:solidFill>
                <a:latin typeface="Arial"/>
                <a:ea typeface="Arial"/>
              </a:rPr>
              <a:t>by convention, we divide the available bits into three fields:</a:t>
            </a:r>
            <a:endParaRPr lang="en-US" sz="2000" b="0" strike="noStrike" spc="-1">
              <a:solidFill>
                <a:srgbClr val="000000"/>
              </a:solidFill>
              <a:latin typeface="Arial"/>
            </a:endParaRPr>
          </a:p>
          <a:p>
            <a:pPr marL="792000" indent="-226440">
              <a:lnSpc>
                <a:spcPct val="100000"/>
              </a:lnSpc>
              <a:spcBef>
                <a:spcPts val="300"/>
              </a:spcBef>
              <a:tabLst>
                <a:tab pos="0" algn="l"/>
              </a:tabLst>
            </a:pPr>
            <a:r>
              <a:rPr lang="en-US" sz="2000" b="0" strike="noStrike" spc="-1">
                <a:solidFill>
                  <a:srgbClr val="009999"/>
                </a:solidFill>
                <a:latin typeface="Arial"/>
                <a:ea typeface="Arial"/>
              </a:rPr>
              <a:t>			</a:t>
            </a:r>
            <a:r>
              <a:rPr lang="en-US" sz="2600" b="1" strike="noStrike" spc="-1">
                <a:solidFill>
                  <a:srgbClr val="009999"/>
                </a:solidFill>
                <a:latin typeface="Arial"/>
                <a:ea typeface="Arial"/>
              </a:rPr>
              <a:t>sign, mantissa, exponent</a:t>
            </a:r>
            <a:endParaRPr lang="en-US" sz="2600" b="0" strike="noStrike" spc="-1">
              <a:solidFill>
                <a:srgbClr val="000000"/>
              </a:solidFill>
              <a:latin typeface="Arial"/>
            </a:endParaRPr>
          </a:p>
        </p:txBody>
      </p:sp>
      <p:sp>
        <p:nvSpPr>
          <p:cNvPr id="602" name="CustomShape 3"/>
          <p:cNvSpPr/>
          <p:nvPr/>
        </p:nvSpPr>
        <p:spPr>
          <a:xfrm>
            <a:off x="5813640" y="3594960"/>
            <a:ext cx="3027240" cy="1110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800" b="0" strike="noStrike" spc="-1">
                <a:solidFill>
                  <a:srgbClr val="000000"/>
                </a:solidFill>
                <a:latin typeface="Arial"/>
                <a:ea typeface="DejaVu Sans"/>
              </a:rPr>
              <a:t>Note: The 1</a:t>
            </a:r>
            <a:r>
              <a:rPr lang="en-US" sz="1800" b="0" strike="noStrike" spc="-1" baseline="33000">
                <a:solidFill>
                  <a:srgbClr val="000000"/>
                </a:solidFill>
                <a:latin typeface="Arial"/>
                <a:ea typeface="DejaVu Sans"/>
              </a:rPr>
              <a:t>st</a:t>
            </a:r>
            <a:r>
              <a:rPr lang="en-US" sz="1800" b="0" strike="noStrike" spc="-1">
                <a:solidFill>
                  <a:srgbClr val="000000"/>
                </a:solidFill>
                <a:latin typeface="Arial"/>
                <a:ea typeface="DejaVu Sans"/>
              </a:rPr>
              <a:t> 1 coresponds to the most significant bit of the binary number.</a:t>
            </a:r>
            <a:endParaRPr lang="en-US" sz="18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 name="CustomShape 1"/>
          <p:cNvSpPr/>
          <p:nvPr/>
        </p:nvSpPr>
        <p:spPr>
          <a:xfrm>
            <a:off x="450360" y="4587480"/>
            <a:ext cx="3349800" cy="162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800" b="0" strike="noStrike" spc="-1">
                <a:solidFill>
                  <a:srgbClr val="000000"/>
                </a:solidFill>
                <a:latin typeface="Arial"/>
                <a:ea typeface="DejaVu Sans"/>
              </a:rPr>
              <a:t>In 1914, Leonardo Torres y Quevedo proposed a form of floating point in the course of discussing his design for a special-purpose electromechanical calculator</a:t>
            </a:r>
            <a:endParaRPr lang="en-US" sz="1800" b="0" strike="noStrike" spc="-1">
              <a:solidFill>
                <a:srgbClr val="000000"/>
              </a:solidFill>
              <a:latin typeface="Arial"/>
            </a:endParaRPr>
          </a:p>
        </p:txBody>
      </p:sp>
      <p:pic>
        <p:nvPicPr>
          <p:cNvPr id="604" name="Picture 603"/>
          <p:cNvPicPr/>
          <p:nvPr/>
        </p:nvPicPr>
        <p:blipFill>
          <a:blip r:embed="rId2"/>
          <a:stretch/>
        </p:blipFill>
        <p:spPr>
          <a:xfrm>
            <a:off x="511200" y="1121760"/>
            <a:ext cx="3202560" cy="3362400"/>
          </a:xfrm>
          <a:prstGeom prst="rect">
            <a:avLst/>
          </a:prstGeom>
          <a:ln w="0">
            <a:noFill/>
          </a:ln>
        </p:spPr>
      </p:pic>
      <p:sp>
        <p:nvSpPr>
          <p:cNvPr id="605" name="CustomShape 2"/>
          <p:cNvSpPr/>
          <p:nvPr/>
        </p:nvSpPr>
        <p:spPr>
          <a:xfrm>
            <a:off x="727560" y="135360"/>
            <a:ext cx="7271280" cy="613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3200" b="0" strike="noStrike" spc="-1">
                <a:solidFill>
                  <a:srgbClr val="000000"/>
                </a:solidFill>
                <a:latin typeface="Arial"/>
                <a:ea typeface="DejaVu Sans"/>
              </a:rPr>
              <a:t> INNOVATORS OF FLOATING POINT</a:t>
            </a:r>
            <a:endParaRPr lang="en-US" sz="3200" b="0" strike="noStrike" spc="-1">
              <a:solidFill>
                <a:srgbClr val="000000"/>
              </a:solidFill>
              <a:latin typeface="Arial"/>
            </a:endParaRPr>
          </a:p>
        </p:txBody>
      </p:sp>
      <p:pic>
        <p:nvPicPr>
          <p:cNvPr id="606" name="Picture 605"/>
          <p:cNvPicPr/>
          <p:nvPr/>
        </p:nvPicPr>
        <p:blipFill>
          <a:blip r:embed="rId3"/>
          <a:stretch/>
        </p:blipFill>
        <p:spPr>
          <a:xfrm>
            <a:off x="5008377" y="1121760"/>
            <a:ext cx="2528204" cy="3362400"/>
          </a:xfrm>
          <a:prstGeom prst="rect">
            <a:avLst/>
          </a:prstGeom>
          <a:ln w="0">
            <a:noFill/>
          </a:ln>
        </p:spPr>
      </p:pic>
      <p:sp>
        <p:nvSpPr>
          <p:cNvPr id="607" name="CustomShape 3"/>
          <p:cNvSpPr/>
          <p:nvPr/>
        </p:nvSpPr>
        <p:spPr>
          <a:xfrm>
            <a:off x="4196103" y="4573620"/>
            <a:ext cx="4657680" cy="198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800" b="0" strike="noStrike" spc="-1" dirty="0">
                <a:solidFill>
                  <a:srgbClr val="000000"/>
                </a:solidFill>
                <a:latin typeface="Arial"/>
                <a:ea typeface="DejaVu Sans"/>
              </a:rPr>
              <a:t>In 1938, Konrad </a:t>
            </a:r>
            <a:r>
              <a:rPr lang="en-US" sz="1800" b="0" strike="noStrike" spc="-1" dirty="0" err="1">
                <a:solidFill>
                  <a:srgbClr val="000000"/>
                </a:solidFill>
                <a:latin typeface="Arial"/>
                <a:ea typeface="DejaVu Sans"/>
              </a:rPr>
              <a:t>Zuse</a:t>
            </a:r>
            <a:r>
              <a:rPr lang="en-US" sz="1800" b="0" strike="noStrike" spc="-1" dirty="0">
                <a:solidFill>
                  <a:srgbClr val="000000"/>
                </a:solidFill>
                <a:latin typeface="Arial"/>
                <a:ea typeface="DejaVu Sans"/>
              </a:rPr>
              <a:t> of Berlin completed the Z1, the first binary, programmable mechanical computer;[9] it uses a 24-bit binary floating-point number representation with a 7-bit signed exponent, a 17-bit significand (including one implicit bit), and a sign bit</a:t>
            </a:r>
            <a:endParaRPr lang="en-US" sz="1800" b="0" strike="noStrike" spc="-1" dirty="0">
              <a:solidFill>
                <a:srgbClr val="000000"/>
              </a:solidFill>
              <a:latin typeface="Arial"/>
            </a:endParaRPr>
          </a:p>
        </p:txBody>
      </p:sp>
      <p:sp>
        <p:nvSpPr>
          <p:cNvPr id="608" name="CustomShape 4"/>
          <p:cNvSpPr/>
          <p:nvPr/>
        </p:nvSpPr>
        <p:spPr>
          <a:xfrm>
            <a:off x="659520" y="6343920"/>
            <a:ext cx="2265480" cy="312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600" b="0" strike="noStrike" spc="-1">
                <a:solidFill>
                  <a:srgbClr val="000000"/>
                </a:solidFill>
                <a:latin typeface="Arial"/>
                <a:ea typeface="DejaVu Sans"/>
              </a:rPr>
              <a:t>Source: Wikipedia</a:t>
            </a:r>
            <a:endParaRPr lang="en-US" sz="1600" b="0" strike="noStrike" spc="-1">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 name="CustomShape 1"/>
          <p:cNvSpPr/>
          <p:nvPr/>
        </p:nvSpPr>
        <p:spPr>
          <a:xfrm>
            <a:off x="517680" y="1095120"/>
            <a:ext cx="7967880" cy="322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800" b="0" strike="noStrike" spc="-1">
                <a:solidFill>
                  <a:srgbClr val="000000"/>
                </a:solidFill>
                <a:latin typeface="Arial"/>
                <a:ea typeface="DejaVu Sans"/>
              </a:rPr>
              <a:t> Floating-point </a:t>
            </a:r>
            <a:r>
              <a:rPr lang="en-US" sz="1800" b="1" strike="noStrike" spc="-1">
                <a:solidFill>
                  <a:srgbClr val="000000"/>
                </a:solidFill>
                <a:latin typeface="Arial"/>
                <a:ea typeface="DejaVu Sans"/>
              </a:rPr>
              <a:t>compatibility across multiple computing systems</a:t>
            </a:r>
            <a:r>
              <a:rPr lang="en-US" sz="1800" b="0" strike="noStrike" spc="-1">
                <a:solidFill>
                  <a:srgbClr val="000000"/>
                </a:solidFill>
                <a:latin typeface="Arial"/>
                <a:ea typeface="DejaVu Sans"/>
              </a:rPr>
              <a:t> was in desperate need of standardization by the early </a:t>
            </a:r>
            <a:r>
              <a:rPr lang="en-US" sz="1800" b="1" strike="noStrike" spc="-1">
                <a:solidFill>
                  <a:srgbClr val="000000"/>
                </a:solidFill>
                <a:latin typeface="Arial"/>
                <a:ea typeface="DejaVu Sans"/>
              </a:rPr>
              <a:t>1980s</a:t>
            </a:r>
            <a:r>
              <a:rPr lang="en-US" sz="1800" b="0" strike="noStrike" spc="-1">
                <a:solidFill>
                  <a:srgbClr val="000000"/>
                </a:solidFill>
                <a:latin typeface="Arial"/>
                <a:ea typeface="DejaVu Sans"/>
              </a:rPr>
              <a:t>, leading to the creation of the </a:t>
            </a:r>
            <a:r>
              <a:rPr lang="en-US" sz="1800" b="1" strike="noStrike" spc="-1">
                <a:solidFill>
                  <a:srgbClr val="000000"/>
                </a:solidFill>
                <a:latin typeface="Arial"/>
                <a:ea typeface="DejaVu Sans"/>
              </a:rPr>
              <a:t>IEEE 754 standard</a:t>
            </a:r>
            <a:r>
              <a:rPr lang="en-US" sz="1800" b="0" strike="noStrike" spc="-1">
                <a:solidFill>
                  <a:srgbClr val="000000"/>
                </a:solidFill>
                <a:latin typeface="Arial"/>
                <a:ea typeface="DejaVu Sans"/>
              </a:rPr>
              <a:t> once the </a:t>
            </a:r>
            <a:r>
              <a:rPr lang="en-US" sz="1800" b="1" strike="noStrike" spc="-1">
                <a:solidFill>
                  <a:srgbClr val="000000"/>
                </a:solidFill>
                <a:latin typeface="Arial"/>
                <a:ea typeface="DejaVu Sans"/>
              </a:rPr>
              <a:t>32-bit (or 64-bit)</a:t>
            </a:r>
            <a:r>
              <a:rPr lang="en-US" sz="1800" b="0" strike="noStrike" spc="-1">
                <a:solidFill>
                  <a:srgbClr val="000000"/>
                </a:solidFill>
                <a:latin typeface="Arial"/>
                <a:ea typeface="DejaVu Sans"/>
              </a:rPr>
              <a:t> word had become commonplace. This standard was significantly based on a proposal from Intel, which was designing the i8087 numerical co-processor; Motorola, which was designing the 68000 around the same time, gave significant input as well.</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0" strike="noStrike" spc="-1">
                <a:solidFill>
                  <a:srgbClr val="000000"/>
                </a:solidFill>
                <a:latin typeface="Arial"/>
                <a:ea typeface="DejaVu Sans"/>
              </a:rPr>
              <a:t>In 1989, a Canadian mathematician and computer scientist </a:t>
            </a:r>
            <a:r>
              <a:rPr lang="en-US" sz="1800" b="1" strike="noStrike" spc="-1">
                <a:solidFill>
                  <a:srgbClr val="000000"/>
                </a:solidFill>
                <a:latin typeface="Arial"/>
                <a:ea typeface="DejaVu Sans"/>
              </a:rPr>
              <a:t>William Kahan</a:t>
            </a:r>
            <a:r>
              <a:rPr lang="en-US" sz="1800" b="0" strike="noStrike" spc="-1">
                <a:solidFill>
                  <a:srgbClr val="000000"/>
                </a:solidFill>
                <a:latin typeface="Arial"/>
                <a:ea typeface="DejaVu Sans"/>
              </a:rPr>
              <a:t> was honored with the Turing Award for being the </a:t>
            </a:r>
            <a:r>
              <a:rPr lang="en-US" sz="1800" b="1" strike="noStrike" spc="-1">
                <a:solidFill>
                  <a:srgbClr val="000000"/>
                </a:solidFill>
                <a:latin typeface="Arial"/>
                <a:ea typeface="DejaVu Sans"/>
              </a:rPr>
              <a:t>primary architect</a:t>
            </a:r>
            <a:r>
              <a:rPr lang="en-US" sz="1800" b="0" strike="noStrike" spc="-1">
                <a:solidFill>
                  <a:srgbClr val="000000"/>
                </a:solidFill>
                <a:latin typeface="Arial"/>
                <a:ea typeface="DejaVu Sans"/>
              </a:rPr>
              <a:t> behind this proposal; he was aided by his student Jerome Coonen and a visiting professor, Harold Stone.[13]</a:t>
            </a:r>
            <a:endParaRPr lang="en-US" sz="1800" b="0" strike="noStrike" spc="-1">
              <a:solidFill>
                <a:srgbClr val="000000"/>
              </a:solidFill>
              <a:latin typeface="Arial"/>
            </a:endParaRPr>
          </a:p>
        </p:txBody>
      </p:sp>
      <p:pic>
        <p:nvPicPr>
          <p:cNvPr id="610" name="Picture 609"/>
          <p:cNvPicPr/>
          <p:nvPr/>
        </p:nvPicPr>
        <p:blipFill>
          <a:blip r:embed="rId2"/>
          <a:stretch/>
        </p:blipFill>
        <p:spPr>
          <a:xfrm>
            <a:off x="5267520" y="4289760"/>
            <a:ext cx="2790000" cy="1977120"/>
          </a:xfrm>
          <a:prstGeom prst="rect">
            <a:avLst/>
          </a:prstGeom>
          <a:ln w="0">
            <a:noFill/>
          </a:ln>
        </p:spPr>
      </p:pic>
      <p:sp>
        <p:nvSpPr>
          <p:cNvPr id="611" name="CustomShape 2"/>
          <p:cNvSpPr/>
          <p:nvPr/>
        </p:nvSpPr>
        <p:spPr>
          <a:xfrm>
            <a:off x="1110240" y="320400"/>
            <a:ext cx="6253920" cy="551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400" b="0" strike="noStrike" spc="-1">
                <a:solidFill>
                  <a:srgbClr val="000000"/>
                </a:solidFill>
                <a:latin typeface="Arial"/>
                <a:ea typeface="DejaVu Sans"/>
              </a:rPr>
              <a:t>STANDARDIZATION OF FLOATING POINT</a:t>
            </a:r>
            <a:endParaRPr lang="en-US" sz="2400" b="0" strike="noStrike" spc="-1">
              <a:solidFill>
                <a:srgbClr val="000000"/>
              </a:solidFill>
              <a:latin typeface="Arial"/>
            </a:endParaRPr>
          </a:p>
        </p:txBody>
      </p:sp>
      <p:sp>
        <p:nvSpPr>
          <p:cNvPr id="612" name="CustomShape 3"/>
          <p:cNvSpPr/>
          <p:nvPr/>
        </p:nvSpPr>
        <p:spPr>
          <a:xfrm>
            <a:off x="596880" y="4657680"/>
            <a:ext cx="4516560" cy="1110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800" b="0" strike="noStrike" spc="-1">
                <a:solidFill>
                  <a:srgbClr val="000000"/>
                </a:solidFill>
                <a:latin typeface="Arial"/>
                <a:ea typeface="DejaVu Sans"/>
              </a:rPr>
              <a:t>Kahan is now emeritus professor of mathematics and of electrical engineering and computer sciences (EECS) at the University of California, Berkeley.</a:t>
            </a:r>
            <a:endParaRPr lang="en-US" sz="1800" b="0" strike="noStrike" spc="-1">
              <a:solidFill>
                <a:srgbClr val="000000"/>
              </a:solidFill>
              <a:latin typeface="Arial"/>
            </a:endParaRPr>
          </a:p>
        </p:txBody>
      </p:sp>
      <p:sp>
        <p:nvSpPr>
          <p:cNvPr id="613" name="CustomShape 4"/>
          <p:cNvSpPr/>
          <p:nvPr/>
        </p:nvSpPr>
        <p:spPr>
          <a:xfrm>
            <a:off x="659880" y="6307920"/>
            <a:ext cx="2082240" cy="312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600" b="0" strike="noStrike" spc="-1">
                <a:solidFill>
                  <a:srgbClr val="000000"/>
                </a:solidFill>
                <a:latin typeface="Arial"/>
                <a:ea typeface="DejaVu Sans"/>
              </a:rPr>
              <a:t>Source: Wikipedia</a:t>
            </a:r>
            <a:endParaRPr lang="en-US" sz="1600" b="0" strike="noStrike" spc="-1">
              <a:solidFill>
                <a:srgbClr val="0000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 name="CustomShape 1"/>
          <p:cNvSpPr/>
          <p:nvPr/>
        </p:nvSpPr>
        <p:spPr>
          <a:xfrm>
            <a:off x="0" y="0"/>
            <a:ext cx="9138960" cy="90936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4000" b="1" strike="noStrike" spc="-1">
                <a:solidFill>
                  <a:srgbClr val="336699"/>
                </a:solidFill>
                <a:latin typeface="Arial Narrow"/>
                <a:ea typeface="Arial Narrow"/>
              </a:rPr>
              <a:t>     IEEE-754 fp Numbers Single Precision</a:t>
            </a:r>
            <a:endParaRPr lang="en-US" sz="4000" b="0" strike="noStrike" spc="-1">
              <a:solidFill>
                <a:srgbClr val="000000"/>
              </a:solidFill>
              <a:latin typeface="Arial"/>
            </a:endParaRPr>
          </a:p>
        </p:txBody>
      </p:sp>
      <p:sp>
        <p:nvSpPr>
          <p:cNvPr id="615" name="CustomShape 2"/>
          <p:cNvSpPr/>
          <p:nvPr/>
        </p:nvSpPr>
        <p:spPr>
          <a:xfrm>
            <a:off x="0" y="2550960"/>
            <a:ext cx="9138960" cy="409068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t">
            <a:noAutofit/>
          </a:bodyPr>
          <a:lstStyle/>
          <a:p>
            <a:pPr marL="343080" indent="-340920">
              <a:lnSpc>
                <a:spcPct val="120000"/>
              </a:lnSpc>
              <a:buClr>
                <a:srgbClr val="990000"/>
              </a:buClr>
              <a:buFont typeface="Noto Sans Symbols"/>
              <a:buChar char="●"/>
            </a:pPr>
            <a:r>
              <a:rPr lang="en-US" sz="2200" b="1" strike="noStrike" spc="-1">
                <a:solidFill>
                  <a:srgbClr val="009999"/>
                </a:solidFill>
                <a:latin typeface="Arial"/>
                <a:ea typeface="Arial"/>
              </a:rPr>
              <a:t>Sign: 1 bit </a:t>
            </a:r>
            <a:r>
              <a:rPr lang="en-US" sz="1800" b="1" strike="noStrike" spc="-1">
                <a:solidFill>
                  <a:srgbClr val="009999"/>
                </a:solidFill>
                <a:latin typeface="Arial"/>
                <a:ea typeface="Arial"/>
              </a:rPr>
              <a:t>(like in sign-magnitude)</a:t>
            </a:r>
            <a:endParaRPr lang="en-US" sz="1800" b="0" strike="noStrike" spc="-1">
              <a:solidFill>
                <a:srgbClr val="000000"/>
              </a:solidFill>
              <a:latin typeface="Arial"/>
            </a:endParaRPr>
          </a:p>
          <a:p>
            <a:pPr marL="343080" indent="-340920">
              <a:lnSpc>
                <a:spcPct val="120000"/>
              </a:lnSpc>
              <a:spcBef>
                <a:spcPts val="400"/>
              </a:spcBef>
              <a:buClr>
                <a:srgbClr val="990000"/>
              </a:buClr>
              <a:buFont typeface="Noto Sans Symbols"/>
              <a:buChar char="●"/>
            </a:pPr>
            <a:r>
              <a:rPr lang="en-US" sz="2200" b="1" strike="noStrike" spc="-1">
                <a:solidFill>
                  <a:srgbClr val="009999"/>
                </a:solidFill>
                <a:latin typeface="Arial"/>
                <a:ea typeface="Arial"/>
              </a:rPr>
              <a:t>Mantissa: 23 bits</a:t>
            </a:r>
            <a:r>
              <a:rPr lang="en-US" sz="1800" b="1" strike="noStrike" spc="-1">
                <a:solidFill>
                  <a:srgbClr val="009999"/>
                </a:solidFill>
                <a:latin typeface="Arial"/>
                <a:ea typeface="Arial"/>
              </a:rPr>
              <a:t> (like in signed-magnitude)</a:t>
            </a:r>
            <a:endParaRPr lang="en-US" sz="1800" b="0" strike="noStrike" spc="-1">
              <a:solidFill>
                <a:srgbClr val="000000"/>
              </a:solidFill>
              <a:latin typeface="Arial"/>
            </a:endParaRPr>
          </a:p>
          <a:p>
            <a:pPr marL="573120" lvl="1" indent="-232920">
              <a:lnSpc>
                <a:spcPct val="100000"/>
              </a:lnSpc>
              <a:spcBef>
                <a:spcPts val="400"/>
              </a:spcBef>
              <a:buClr>
                <a:srgbClr val="336699"/>
              </a:buClr>
              <a:buFont typeface="Noto Sans Symbols"/>
              <a:buChar char="●"/>
            </a:pPr>
            <a:r>
              <a:rPr lang="en-US" sz="1800" b="0" strike="noStrike" spc="-1">
                <a:solidFill>
                  <a:srgbClr val="009999"/>
                </a:solidFill>
                <a:latin typeface="Arial"/>
                <a:ea typeface="Arial"/>
              </a:rPr>
              <a:t>We </a:t>
            </a:r>
            <a:r>
              <a:rPr lang="en-US" sz="1800" b="1" strike="noStrike" spc="-1">
                <a:solidFill>
                  <a:srgbClr val="009999"/>
                </a:solidFill>
                <a:latin typeface="Arial"/>
                <a:ea typeface="Arial"/>
              </a:rPr>
              <a:t>“normalize”</a:t>
            </a:r>
            <a:r>
              <a:rPr lang="en-US" sz="1800" b="0" strike="noStrike" spc="-1">
                <a:solidFill>
                  <a:srgbClr val="009999"/>
                </a:solidFill>
                <a:latin typeface="Arial"/>
                <a:ea typeface="Arial"/>
              </a:rPr>
              <a:t> the </a:t>
            </a:r>
            <a:r>
              <a:rPr lang="en-US" sz="1800" b="1" strike="noStrike" spc="-1">
                <a:solidFill>
                  <a:srgbClr val="009999"/>
                </a:solidFill>
                <a:latin typeface="Arial"/>
                <a:ea typeface="Arial"/>
              </a:rPr>
              <a:t>mantissa</a:t>
            </a:r>
            <a:r>
              <a:rPr lang="en-US" sz="1800" b="0" strike="noStrike" spc="-1">
                <a:solidFill>
                  <a:srgbClr val="009999"/>
                </a:solidFill>
                <a:latin typeface="Arial"/>
                <a:ea typeface="Arial"/>
              </a:rPr>
              <a:t> (by adjusting the exponent) and </a:t>
            </a:r>
            <a:r>
              <a:rPr lang="en-US" sz="1800" b="1" strike="noStrike" spc="-1">
                <a:solidFill>
                  <a:srgbClr val="009999"/>
                </a:solidFill>
                <a:latin typeface="Arial"/>
                <a:ea typeface="Arial"/>
              </a:rPr>
              <a:t>DROP</a:t>
            </a:r>
            <a:r>
              <a:rPr lang="en-US" sz="1800" b="0" strike="noStrike" spc="-1">
                <a:solidFill>
                  <a:srgbClr val="009999"/>
                </a:solidFill>
                <a:latin typeface="Arial"/>
                <a:ea typeface="Arial"/>
              </a:rPr>
              <a:t> the </a:t>
            </a:r>
            <a:r>
              <a:rPr lang="en-US" sz="1800" b="1" strike="noStrike" spc="-1">
                <a:solidFill>
                  <a:srgbClr val="009999"/>
                </a:solidFill>
                <a:latin typeface="Arial"/>
                <a:ea typeface="Arial"/>
              </a:rPr>
              <a:t>leading 1</a:t>
            </a:r>
            <a:r>
              <a:rPr lang="en-US" sz="1800" b="0" strike="noStrike" spc="-1">
                <a:solidFill>
                  <a:srgbClr val="009999"/>
                </a:solidFill>
                <a:latin typeface="Arial"/>
                <a:ea typeface="Arial"/>
              </a:rPr>
              <a:t> thus </a:t>
            </a:r>
            <a:r>
              <a:rPr lang="en-US" sz="1800" b="1" strike="noStrike" spc="-1">
                <a:solidFill>
                  <a:srgbClr val="009999"/>
                </a:solidFill>
                <a:latin typeface="Arial"/>
                <a:ea typeface="Arial"/>
              </a:rPr>
              <a:t>recording only the fractional binary part</a:t>
            </a:r>
            <a:r>
              <a:rPr lang="en-US" sz="1800" b="0" strike="noStrike" spc="-1">
                <a:solidFill>
                  <a:srgbClr val="009999"/>
                </a:solidFill>
                <a:latin typeface="Arial"/>
                <a:ea typeface="Arial"/>
              </a:rPr>
              <a:t> </a:t>
            </a:r>
            <a:endParaRPr lang="en-US" sz="1800" b="0" strike="noStrike" spc="-1">
              <a:solidFill>
                <a:srgbClr val="000000"/>
              </a:solidFill>
              <a:latin typeface="Arial"/>
            </a:endParaRPr>
          </a:p>
          <a:p>
            <a:pPr marL="343080" indent="-340920">
              <a:lnSpc>
                <a:spcPct val="100000"/>
              </a:lnSpc>
              <a:spcBef>
                <a:spcPts val="400"/>
              </a:spcBef>
              <a:buClr>
                <a:srgbClr val="990000"/>
              </a:buClr>
              <a:buFont typeface="Noto Sans Symbols"/>
              <a:buChar char="●"/>
            </a:pPr>
            <a:r>
              <a:rPr lang="en-US" sz="2200" b="1" strike="noStrike" spc="-1">
                <a:solidFill>
                  <a:srgbClr val="009999"/>
                </a:solidFill>
                <a:latin typeface="Arial"/>
                <a:ea typeface="Arial"/>
              </a:rPr>
              <a:t>Exponent: 8 bits</a:t>
            </a:r>
            <a:endParaRPr lang="en-US" sz="2200" b="0" strike="noStrike" spc="-1">
              <a:solidFill>
                <a:srgbClr val="000000"/>
              </a:solidFill>
              <a:latin typeface="Arial"/>
            </a:endParaRPr>
          </a:p>
          <a:p>
            <a:pPr marL="573120" lvl="1" indent="-232920">
              <a:lnSpc>
                <a:spcPct val="100000"/>
              </a:lnSpc>
              <a:spcBef>
                <a:spcPts val="400"/>
              </a:spcBef>
              <a:buClr>
                <a:srgbClr val="336699"/>
              </a:buClr>
              <a:buFont typeface="Noto Sans Symbols"/>
              <a:buChar char="●"/>
            </a:pPr>
            <a:r>
              <a:rPr lang="en-US" sz="1800" b="0" strike="noStrike" spc="-1">
                <a:solidFill>
                  <a:srgbClr val="009999"/>
                </a:solidFill>
                <a:latin typeface="Arial"/>
                <a:ea typeface="Arial"/>
              </a:rPr>
              <a:t>To handle both positive and negative exponents</a:t>
            </a:r>
            <a:r>
              <a:rPr lang="en-US" sz="1800" b="1" strike="noStrike" spc="-1">
                <a:solidFill>
                  <a:srgbClr val="009999"/>
                </a:solidFill>
                <a:latin typeface="Arial"/>
                <a:ea typeface="Arial"/>
              </a:rPr>
              <a:t> </a:t>
            </a:r>
            <a:r>
              <a:rPr lang="en-US" sz="1800" b="0" strike="noStrike" spc="-1">
                <a:solidFill>
                  <a:srgbClr val="009999"/>
                </a:solidFill>
                <a:latin typeface="Arial"/>
                <a:ea typeface="Arial"/>
              </a:rPr>
              <a:t>, we </a:t>
            </a:r>
            <a:r>
              <a:rPr lang="en-US" sz="1800" b="1" strike="noStrike" spc="-1">
                <a:solidFill>
                  <a:srgbClr val="009999"/>
                </a:solidFill>
                <a:latin typeface="Arial"/>
                <a:ea typeface="Arial"/>
              </a:rPr>
              <a:t>add 127</a:t>
            </a:r>
            <a:r>
              <a:rPr lang="en-US" sz="1800" b="0" strike="noStrike" spc="-1">
                <a:solidFill>
                  <a:srgbClr val="009999"/>
                </a:solidFill>
                <a:latin typeface="Arial"/>
                <a:ea typeface="Arial"/>
              </a:rPr>
              <a:t> </a:t>
            </a:r>
            <a:r>
              <a:rPr lang="en-US" sz="1800" b="1" strike="noStrike" spc="-1">
                <a:solidFill>
                  <a:srgbClr val="009999"/>
                </a:solidFill>
                <a:latin typeface="Arial"/>
                <a:ea typeface="Arial"/>
              </a:rPr>
              <a:t>to</a:t>
            </a:r>
            <a:r>
              <a:rPr lang="en-US" sz="1800" b="0" strike="noStrike" spc="-1">
                <a:solidFill>
                  <a:srgbClr val="009999"/>
                </a:solidFill>
                <a:latin typeface="Arial"/>
                <a:ea typeface="Arial"/>
              </a:rPr>
              <a:t> the </a:t>
            </a:r>
            <a:r>
              <a:rPr lang="en-US" sz="1800" b="1" strike="noStrike" spc="-1">
                <a:solidFill>
                  <a:srgbClr val="009999"/>
                </a:solidFill>
                <a:latin typeface="Arial"/>
                <a:ea typeface="Arial"/>
              </a:rPr>
              <a:t>actual exponent</a:t>
            </a:r>
            <a:r>
              <a:rPr lang="en-US" sz="1800" b="0" strike="noStrike" spc="-1">
                <a:solidFill>
                  <a:srgbClr val="009999"/>
                </a:solidFill>
                <a:latin typeface="Arial"/>
                <a:ea typeface="Arial"/>
              </a:rPr>
              <a:t> creating a “</a:t>
            </a:r>
            <a:r>
              <a:rPr lang="en-US" sz="1800" b="1" strike="noStrike" spc="-1">
                <a:solidFill>
                  <a:srgbClr val="009999"/>
                </a:solidFill>
                <a:latin typeface="Arial"/>
                <a:ea typeface="Arial"/>
              </a:rPr>
              <a:t>biased exponent</a:t>
            </a:r>
            <a:r>
              <a:rPr lang="en-US" sz="1800" b="0" strike="noStrike" spc="-1">
                <a:solidFill>
                  <a:srgbClr val="009999"/>
                </a:solidFill>
                <a:latin typeface="Arial"/>
                <a:ea typeface="Arial"/>
              </a:rPr>
              <a:t>”:</a:t>
            </a:r>
            <a:endParaRPr lang="en-US" sz="1800" b="0" strike="noStrike" spc="-1">
              <a:solidFill>
                <a:srgbClr val="000000"/>
              </a:solidFill>
              <a:latin typeface="Arial"/>
            </a:endParaRPr>
          </a:p>
          <a:p>
            <a:pPr marL="2738520" lvl="2" indent="-226440">
              <a:lnSpc>
                <a:spcPct val="100000"/>
              </a:lnSpc>
              <a:spcBef>
                <a:spcPts val="300"/>
              </a:spcBef>
              <a:buClr>
                <a:srgbClr val="FF9966"/>
              </a:buClr>
              <a:buFont typeface="Noto Sans Symbols"/>
              <a:buChar char="●"/>
            </a:pPr>
            <a:r>
              <a:rPr lang="en-US" sz="2000" b="1" strike="noStrike" spc="-1">
                <a:solidFill>
                  <a:srgbClr val="009999"/>
                </a:solidFill>
                <a:latin typeface="Arial"/>
                <a:ea typeface="Arial"/>
              </a:rPr>
              <a:t>2</a:t>
            </a:r>
            <a:r>
              <a:rPr lang="en-US" sz="2000" b="1" strike="noStrike" spc="-1" baseline="30000">
                <a:solidFill>
                  <a:srgbClr val="009999"/>
                </a:solidFill>
                <a:latin typeface="Arial"/>
                <a:ea typeface="Arial"/>
              </a:rPr>
              <a:t>-127</a:t>
            </a:r>
            <a:r>
              <a:rPr lang="en-US" sz="1800" b="0" strike="noStrike" spc="-1">
                <a:solidFill>
                  <a:srgbClr val="009999"/>
                </a:solidFill>
                <a:latin typeface="Arial"/>
                <a:ea typeface="Arial"/>
              </a:rPr>
              <a:t> =&gt; biased exponent = 0000 0000 (= 0)</a:t>
            </a:r>
            <a:endParaRPr lang="en-US" sz="1800" b="0" strike="noStrike" spc="-1">
              <a:solidFill>
                <a:srgbClr val="000000"/>
              </a:solidFill>
              <a:latin typeface="Arial"/>
            </a:endParaRPr>
          </a:p>
          <a:p>
            <a:pPr marL="2738520" lvl="2" indent="-226440">
              <a:lnSpc>
                <a:spcPct val="100000"/>
              </a:lnSpc>
              <a:spcBef>
                <a:spcPts val="300"/>
              </a:spcBef>
              <a:buClr>
                <a:srgbClr val="FF9966"/>
              </a:buClr>
              <a:buFont typeface="Noto Sans Symbols"/>
              <a:buChar char="●"/>
            </a:pPr>
            <a:r>
              <a:rPr lang="en-US" sz="2000" b="1" strike="noStrike" spc="-1">
                <a:solidFill>
                  <a:srgbClr val="009999"/>
                </a:solidFill>
                <a:latin typeface="Arial"/>
                <a:ea typeface="Arial"/>
              </a:rPr>
              <a:t>2</a:t>
            </a:r>
            <a:r>
              <a:rPr lang="en-US" sz="2000" b="1" strike="noStrike" spc="-1" baseline="30000">
                <a:solidFill>
                  <a:srgbClr val="009999"/>
                </a:solidFill>
                <a:latin typeface="Arial"/>
                <a:ea typeface="Arial"/>
              </a:rPr>
              <a:t>0</a:t>
            </a:r>
            <a:r>
              <a:rPr lang="en-US" sz="1800" b="0" strike="noStrike" spc="-1">
                <a:solidFill>
                  <a:srgbClr val="009999"/>
                </a:solidFill>
                <a:latin typeface="Arial"/>
                <a:ea typeface="Arial"/>
              </a:rPr>
              <a:t> =&gt; biased exponent = 0111 1111 (= 127)</a:t>
            </a:r>
            <a:endParaRPr lang="en-US" sz="1800" b="0" strike="noStrike" spc="-1">
              <a:solidFill>
                <a:srgbClr val="000000"/>
              </a:solidFill>
              <a:latin typeface="Arial"/>
            </a:endParaRPr>
          </a:p>
          <a:p>
            <a:pPr marL="2738520" lvl="2" indent="-226440">
              <a:lnSpc>
                <a:spcPct val="100000"/>
              </a:lnSpc>
              <a:spcBef>
                <a:spcPts val="300"/>
              </a:spcBef>
              <a:buClr>
                <a:srgbClr val="FF9966"/>
              </a:buClr>
              <a:buFont typeface="Noto Sans Symbols"/>
              <a:buChar char="●"/>
            </a:pPr>
            <a:r>
              <a:rPr lang="en-US" sz="2000" b="1" strike="noStrike" spc="-1">
                <a:solidFill>
                  <a:srgbClr val="009999"/>
                </a:solidFill>
                <a:latin typeface="Arial"/>
                <a:ea typeface="Arial"/>
              </a:rPr>
              <a:t>2</a:t>
            </a:r>
            <a:r>
              <a:rPr lang="en-US" sz="2000" b="1" strike="noStrike" spc="-1" baseline="30000">
                <a:solidFill>
                  <a:srgbClr val="009999"/>
                </a:solidFill>
                <a:latin typeface="Arial"/>
                <a:ea typeface="Arial"/>
              </a:rPr>
              <a:t>+127</a:t>
            </a:r>
            <a:r>
              <a:rPr lang="en-US" sz="1800" b="1" strike="noStrike" spc="-1">
                <a:solidFill>
                  <a:srgbClr val="009999"/>
                </a:solidFill>
                <a:latin typeface="Arial"/>
                <a:ea typeface="Arial"/>
              </a:rPr>
              <a:t> </a:t>
            </a:r>
            <a:r>
              <a:rPr lang="en-US" sz="1800" b="0" strike="noStrike" spc="-1">
                <a:solidFill>
                  <a:srgbClr val="009999"/>
                </a:solidFill>
                <a:latin typeface="Arial"/>
                <a:ea typeface="Arial"/>
              </a:rPr>
              <a:t>=&gt; biased exponent = 1111 1110 (= 254)</a:t>
            </a:r>
            <a:endParaRPr lang="en-US" sz="1800" b="0" strike="noStrike" spc="-1">
              <a:solidFill>
                <a:srgbClr val="000000"/>
              </a:solidFill>
              <a:latin typeface="Arial"/>
            </a:endParaRPr>
          </a:p>
        </p:txBody>
      </p:sp>
      <p:sp>
        <p:nvSpPr>
          <p:cNvPr id="616" name="CustomShape 3"/>
          <p:cNvSpPr/>
          <p:nvPr/>
        </p:nvSpPr>
        <p:spPr>
          <a:xfrm>
            <a:off x="1598760" y="1555920"/>
            <a:ext cx="387000" cy="445680"/>
          </a:xfrm>
          <a:prstGeom prst="rect">
            <a:avLst/>
          </a:prstGeom>
          <a:noFill/>
          <a:ln w="9360">
            <a:solidFill>
              <a:srgbClr val="0000FF"/>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rgbClr val="010000"/>
                </a:solidFill>
                <a:latin typeface="Arial"/>
                <a:ea typeface="Arial"/>
              </a:rPr>
              <a:t>s</a:t>
            </a:r>
            <a:endParaRPr lang="en-US" sz="2400" b="0" strike="noStrike" spc="-1">
              <a:solidFill>
                <a:srgbClr val="000000"/>
              </a:solidFill>
              <a:latin typeface="Arial"/>
            </a:endParaRPr>
          </a:p>
        </p:txBody>
      </p:sp>
      <p:sp>
        <p:nvSpPr>
          <p:cNvPr id="617" name="CustomShape 4"/>
          <p:cNvSpPr/>
          <p:nvPr/>
        </p:nvSpPr>
        <p:spPr>
          <a:xfrm>
            <a:off x="1996920" y="1562040"/>
            <a:ext cx="1838160" cy="433080"/>
          </a:xfrm>
          <a:prstGeom prst="rect">
            <a:avLst/>
          </a:prstGeom>
          <a:noFill/>
          <a:ln w="9360">
            <a:solidFill>
              <a:srgbClr val="0000FF"/>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200" b="1" strike="noStrike" spc="-1">
                <a:solidFill>
                  <a:srgbClr val="010000"/>
                </a:solidFill>
                <a:latin typeface="Arial"/>
                <a:ea typeface="Arial"/>
              </a:rPr>
              <a:t>biased exp.</a:t>
            </a:r>
            <a:endParaRPr lang="en-US" sz="2200" b="0" strike="noStrike" spc="-1">
              <a:solidFill>
                <a:srgbClr val="000000"/>
              </a:solidFill>
              <a:latin typeface="Arial"/>
            </a:endParaRPr>
          </a:p>
        </p:txBody>
      </p:sp>
      <p:sp>
        <p:nvSpPr>
          <p:cNvPr id="618" name="CustomShape 5"/>
          <p:cNvSpPr/>
          <p:nvPr/>
        </p:nvSpPr>
        <p:spPr>
          <a:xfrm>
            <a:off x="3833640" y="1557360"/>
            <a:ext cx="4043160" cy="445680"/>
          </a:xfrm>
          <a:prstGeom prst="rect">
            <a:avLst/>
          </a:prstGeom>
          <a:noFill/>
          <a:ln w="9360">
            <a:solidFill>
              <a:srgbClr val="0000FF"/>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rgbClr val="010000"/>
                </a:solidFill>
                <a:latin typeface="Arial"/>
                <a:ea typeface="Arial"/>
              </a:rPr>
              <a:t>fraction</a:t>
            </a:r>
            <a:endParaRPr lang="en-US" sz="2400" b="0" strike="noStrike" spc="-1">
              <a:solidFill>
                <a:srgbClr val="000000"/>
              </a:solidFill>
              <a:latin typeface="Arial"/>
            </a:endParaRPr>
          </a:p>
        </p:txBody>
      </p:sp>
      <p:sp>
        <p:nvSpPr>
          <p:cNvPr id="619" name="CustomShape 6"/>
          <p:cNvSpPr/>
          <p:nvPr/>
        </p:nvSpPr>
        <p:spPr>
          <a:xfrm>
            <a:off x="1681200" y="1166760"/>
            <a:ext cx="320400" cy="391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2000" b="1" strike="noStrike" spc="-1">
                <a:solidFill>
                  <a:srgbClr val="010000"/>
                </a:solidFill>
                <a:latin typeface="Arial"/>
                <a:ea typeface="Arial"/>
              </a:rPr>
              <a:t>1</a:t>
            </a:r>
            <a:endParaRPr lang="en-US" sz="2000" b="0" strike="noStrike" spc="-1">
              <a:solidFill>
                <a:srgbClr val="000000"/>
              </a:solidFill>
              <a:latin typeface="Arial"/>
            </a:endParaRPr>
          </a:p>
        </p:txBody>
      </p:sp>
      <p:sp>
        <p:nvSpPr>
          <p:cNvPr id="620" name="CustomShape 7"/>
          <p:cNvSpPr/>
          <p:nvPr/>
        </p:nvSpPr>
        <p:spPr>
          <a:xfrm>
            <a:off x="2422080" y="1171440"/>
            <a:ext cx="871200" cy="391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2000" b="1" strike="noStrike" spc="-1">
                <a:solidFill>
                  <a:srgbClr val="010000"/>
                </a:solidFill>
                <a:latin typeface="Arial"/>
                <a:ea typeface="Arial"/>
              </a:rPr>
              <a:t>8 bits</a:t>
            </a:r>
            <a:endParaRPr lang="en-US" sz="2000" b="0" strike="noStrike" spc="-1">
              <a:solidFill>
                <a:srgbClr val="000000"/>
              </a:solidFill>
              <a:latin typeface="Arial"/>
            </a:endParaRPr>
          </a:p>
        </p:txBody>
      </p:sp>
      <p:sp>
        <p:nvSpPr>
          <p:cNvPr id="621" name="CustomShape 8"/>
          <p:cNvSpPr/>
          <p:nvPr/>
        </p:nvSpPr>
        <p:spPr>
          <a:xfrm>
            <a:off x="5340240" y="1135080"/>
            <a:ext cx="1864124" cy="391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2000" b="1" strike="noStrike" spc="-1" dirty="0">
                <a:solidFill>
                  <a:srgbClr val="010000"/>
                </a:solidFill>
                <a:latin typeface="Arial"/>
                <a:ea typeface="Arial"/>
              </a:rPr>
              <a:t>23 bits (+1)</a:t>
            </a:r>
            <a:endParaRPr lang="en-US" sz="2000" b="0" strike="noStrike" spc="-1" dirty="0">
              <a:solidFill>
                <a:srgbClr val="000000"/>
              </a:solidFill>
              <a:latin typeface="Arial"/>
            </a:endParaRPr>
          </a:p>
        </p:txBody>
      </p:sp>
      <p:sp>
        <p:nvSpPr>
          <p:cNvPr id="622" name="CustomShape 9"/>
          <p:cNvSpPr/>
          <p:nvPr/>
        </p:nvSpPr>
        <p:spPr>
          <a:xfrm>
            <a:off x="1222200" y="2048040"/>
            <a:ext cx="7099200" cy="57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3200" b="0" strike="noStrike" spc="-1">
                <a:solidFill>
                  <a:srgbClr val="010000"/>
                </a:solidFill>
                <a:latin typeface="Arial"/>
                <a:ea typeface="Arial"/>
              </a:rPr>
              <a:t>N = (-1)</a:t>
            </a:r>
            <a:r>
              <a:rPr lang="en-US" sz="3200" b="1" strike="noStrike" spc="-1" baseline="30000">
                <a:solidFill>
                  <a:srgbClr val="010000"/>
                </a:solidFill>
                <a:latin typeface="Arial"/>
                <a:ea typeface="Arial"/>
              </a:rPr>
              <a:t>s</a:t>
            </a:r>
            <a:r>
              <a:rPr lang="en-US" sz="3200" b="0" strike="noStrike" spc="-1">
                <a:solidFill>
                  <a:srgbClr val="010000"/>
                </a:solidFill>
                <a:latin typeface="Arial"/>
                <a:ea typeface="Arial"/>
              </a:rPr>
              <a:t> x 1.</a:t>
            </a:r>
            <a:r>
              <a:rPr lang="en-US" sz="3200" b="1" strike="noStrike" spc="-1">
                <a:solidFill>
                  <a:srgbClr val="010000"/>
                </a:solidFill>
                <a:latin typeface="Arial"/>
                <a:ea typeface="Arial"/>
              </a:rPr>
              <a:t>fraction</a:t>
            </a:r>
            <a:r>
              <a:rPr lang="en-US" sz="3200" b="0" strike="noStrike" spc="-1">
                <a:solidFill>
                  <a:srgbClr val="010000"/>
                </a:solidFill>
                <a:latin typeface="Arial"/>
                <a:ea typeface="Arial"/>
              </a:rPr>
              <a:t> x 2</a:t>
            </a:r>
            <a:r>
              <a:rPr lang="en-US" sz="3200" b="0" strike="noStrike" spc="-1" baseline="30000">
                <a:solidFill>
                  <a:srgbClr val="010000"/>
                </a:solidFill>
                <a:latin typeface="Arial"/>
                <a:ea typeface="Arial"/>
              </a:rPr>
              <a:t>(</a:t>
            </a:r>
            <a:r>
              <a:rPr lang="en-US" sz="3200" b="1" strike="noStrike" spc="-1" baseline="30000">
                <a:solidFill>
                  <a:srgbClr val="010000"/>
                </a:solidFill>
                <a:latin typeface="Arial"/>
                <a:ea typeface="Arial"/>
              </a:rPr>
              <a:t>biased exp. </a:t>
            </a:r>
            <a:r>
              <a:rPr lang="en-US" sz="3200" b="0" strike="noStrike" spc="-1" baseline="30000">
                <a:solidFill>
                  <a:srgbClr val="010000"/>
                </a:solidFill>
                <a:latin typeface="Arial"/>
                <a:ea typeface="Arial"/>
              </a:rPr>
              <a:t>– 127)</a:t>
            </a:r>
            <a:endParaRPr lang="en-US" sz="3200" b="0" strike="noStrike" spc="-1">
              <a:solidFill>
                <a:srgbClr val="000000"/>
              </a:solidFill>
              <a:latin typeface="Arial"/>
            </a:endParaRPr>
          </a:p>
        </p:txBody>
      </p:sp>
      <p:sp>
        <p:nvSpPr>
          <p:cNvPr id="623" name="CustomShape 10"/>
          <p:cNvSpPr/>
          <p:nvPr/>
        </p:nvSpPr>
        <p:spPr>
          <a:xfrm>
            <a:off x="301680" y="1158840"/>
            <a:ext cx="1076040" cy="39492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ctr">
            <a:noAutofit/>
          </a:bodyPr>
          <a:lstStyle/>
          <a:p>
            <a:pPr algn="ctr">
              <a:lnSpc>
                <a:spcPct val="100000"/>
              </a:lnSpc>
              <a:tabLst>
                <a:tab pos="0" algn="l"/>
              </a:tabLst>
            </a:pPr>
            <a:r>
              <a:rPr lang="en-US" sz="2000" b="1" strike="noStrike" spc="-1">
                <a:solidFill>
                  <a:srgbClr val="010000"/>
                </a:solidFill>
                <a:latin typeface="Arial"/>
                <a:ea typeface="Arial"/>
              </a:rPr>
              <a:t>32 bits:</a:t>
            </a:r>
            <a:endParaRPr lang="en-US" sz="2000" b="0" strike="noStrike" spc="-1">
              <a:solidFill>
                <a:srgbClr val="000000"/>
              </a:solidFill>
              <a:latin typeface="Arial"/>
            </a:endParaRPr>
          </a:p>
        </p:txBody>
      </p:sp>
      <p:sp>
        <p:nvSpPr>
          <p:cNvPr id="624" name="CustomShape 11"/>
          <p:cNvSpPr/>
          <p:nvPr/>
        </p:nvSpPr>
        <p:spPr>
          <a:xfrm>
            <a:off x="626400" y="6172200"/>
            <a:ext cx="8288640" cy="415440"/>
          </a:xfrm>
          <a:prstGeom prst="rect">
            <a:avLst/>
          </a:prstGeom>
          <a:noFill/>
          <a:ln w="73080">
            <a:noFill/>
          </a:ln>
        </p:spPr>
        <p:style>
          <a:lnRef idx="0">
            <a:scrgbClr r="0" g="0" b="0"/>
          </a:lnRef>
          <a:fillRef idx="0">
            <a:scrgbClr r="0" g="0" b="0"/>
          </a:fillRef>
          <a:effectRef idx="0">
            <a:scrgbClr r="0" g="0" b="0"/>
          </a:effectRef>
          <a:fontRef idx="minor"/>
        </p:style>
        <p:txBody>
          <a:bodyPr lIns="126360" tIns="81360" rIns="126360" bIns="81360" anchor="t">
            <a:noAutofit/>
          </a:bodyPr>
          <a:lstStyle/>
          <a:p>
            <a:pPr>
              <a:lnSpc>
                <a:spcPct val="100000"/>
              </a:lnSpc>
            </a:pPr>
            <a:r>
              <a:rPr lang="en-US" sz="1600" b="0" strike="noStrike" spc="-1">
                <a:solidFill>
                  <a:srgbClr val="000000"/>
                </a:solidFill>
                <a:latin typeface="Arial"/>
                <a:ea typeface="DejaVu Sans"/>
              </a:rPr>
              <a:t>Range in decimal: ~1.18e-38 to ~3.40e38 with 6–9 significant digits of precision</a:t>
            </a:r>
            <a:endParaRPr lang="en-US" sz="1600" b="0" strike="noStrike" spc="-1">
              <a:solidFill>
                <a:srgbClr val="00000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 name="CustomShape 1"/>
          <p:cNvSpPr/>
          <p:nvPr/>
        </p:nvSpPr>
        <p:spPr>
          <a:xfrm>
            <a:off x="0" y="0"/>
            <a:ext cx="9138960" cy="90936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4000" b="1" strike="noStrike" spc="-1">
                <a:solidFill>
                  <a:srgbClr val="336699"/>
                </a:solidFill>
                <a:latin typeface="Arial Narrow"/>
                <a:ea typeface="Arial Narrow"/>
              </a:rPr>
              <a:t>                     IEEE-754 fp numbers</a:t>
            </a:r>
            <a:endParaRPr lang="en-US" sz="4000" b="0" strike="noStrike" spc="-1">
              <a:solidFill>
                <a:srgbClr val="000000"/>
              </a:solidFill>
              <a:latin typeface="Arial"/>
            </a:endParaRPr>
          </a:p>
        </p:txBody>
      </p:sp>
      <p:sp>
        <p:nvSpPr>
          <p:cNvPr id="626" name="CustomShape 2"/>
          <p:cNvSpPr/>
          <p:nvPr/>
        </p:nvSpPr>
        <p:spPr>
          <a:xfrm>
            <a:off x="313560" y="1185480"/>
            <a:ext cx="8501760" cy="398736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t">
            <a:noAutofit/>
          </a:bodyPr>
          <a:lstStyle/>
          <a:p>
            <a:pPr marL="343080" indent="-340920">
              <a:lnSpc>
                <a:spcPct val="100000"/>
              </a:lnSpc>
              <a:buClr>
                <a:srgbClr val="990000"/>
              </a:buClr>
              <a:buFont typeface="Noto Sans Symbols"/>
              <a:buChar char="●"/>
            </a:pPr>
            <a:r>
              <a:rPr lang="en-US" sz="2000" b="0" strike="noStrike" spc="-1">
                <a:solidFill>
                  <a:srgbClr val="009999"/>
                </a:solidFill>
                <a:latin typeface="Arial"/>
                <a:ea typeface="Arial"/>
              </a:rPr>
              <a:t>Example:</a:t>
            </a:r>
            <a:endParaRPr lang="en-US" sz="2000" b="0" strike="noStrike" spc="-1">
              <a:solidFill>
                <a:srgbClr val="000000"/>
              </a:solidFill>
              <a:latin typeface="Arial"/>
            </a:endParaRPr>
          </a:p>
          <a:p>
            <a:pPr marL="1143000" lvl="2" indent="-226440">
              <a:lnSpc>
                <a:spcPct val="100000"/>
              </a:lnSpc>
              <a:spcBef>
                <a:spcPts val="400"/>
              </a:spcBef>
              <a:buClr>
                <a:srgbClr val="FF9966"/>
              </a:buClr>
              <a:buFont typeface="Noto Sans Symbols"/>
              <a:buChar char="●"/>
            </a:pPr>
            <a:r>
              <a:rPr lang="en-US" sz="2200" b="0" strike="noStrike" spc="-1">
                <a:solidFill>
                  <a:srgbClr val="009999"/>
                </a:solidFill>
                <a:latin typeface="Arial"/>
                <a:ea typeface="Arial"/>
              </a:rPr>
              <a:t> 25.75 =&gt; 00011001.110 =&gt; 1.1001110 x 2</a:t>
            </a:r>
            <a:r>
              <a:rPr lang="en-US" sz="2200" b="0" strike="noStrike" spc="-1" baseline="30000">
                <a:solidFill>
                  <a:srgbClr val="009999"/>
                </a:solidFill>
                <a:latin typeface="Arial"/>
                <a:ea typeface="Arial"/>
              </a:rPr>
              <a:t>4</a:t>
            </a:r>
            <a:endParaRPr lang="en-US" sz="2200" b="0" strike="noStrike" spc="-1">
              <a:solidFill>
                <a:srgbClr val="000000"/>
              </a:solidFill>
              <a:latin typeface="Arial"/>
            </a:endParaRPr>
          </a:p>
          <a:p>
            <a:pPr marL="1143000" lvl="2" indent="-226440">
              <a:lnSpc>
                <a:spcPct val="100000"/>
              </a:lnSpc>
              <a:spcBef>
                <a:spcPts val="400"/>
              </a:spcBef>
              <a:buClr>
                <a:srgbClr val="FF9966"/>
              </a:buClr>
              <a:buFont typeface="Noto Sans Symbols"/>
              <a:buChar char="●"/>
            </a:pPr>
            <a:r>
              <a:rPr lang="en-US" sz="2200" b="0" strike="noStrike" spc="-1">
                <a:solidFill>
                  <a:srgbClr val="009999"/>
                </a:solidFill>
                <a:latin typeface="Arial"/>
                <a:ea typeface="Arial"/>
              </a:rPr>
              <a:t> Sign bit = 0 (indicates positive)</a:t>
            </a:r>
            <a:endParaRPr lang="en-US" sz="2200" b="0" strike="noStrike" spc="-1">
              <a:solidFill>
                <a:srgbClr val="000000"/>
              </a:solidFill>
              <a:latin typeface="Arial"/>
            </a:endParaRPr>
          </a:p>
          <a:p>
            <a:pPr marL="1143000" lvl="2" indent="-226440">
              <a:lnSpc>
                <a:spcPct val="100000"/>
              </a:lnSpc>
              <a:spcBef>
                <a:spcPts val="400"/>
              </a:spcBef>
              <a:buClr>
                <a:srgbClr val="FF9966"/>
              </a:buClr>
              <a:buFont typeface="Noto Sans Symbols"/>
              <a:buChar char="●"/>
            </a:pPr>
            <a:r>
              <a:rPr lang="en-US" sz="2200" b="0" strike="noStrike" spc="-1">
                <a:solidFill>
                  <a:srgbClr val="009999"/>
                </a:solidFill>
                <a:latin typeface="Arial"/>
                <a:ea typeface="Arial"/>
              </a:rPr>
              <a:t> Normalized mantissa (fraction) = </a:t>
            </a:r>
            <a:endParaRPr lang="en-US" sz="2200" b="0" strike="noStrike" spc="-1">
              <a:solidFill>
                <a:srgbClr val="000000"/>
              </a:solidFill>
              <a:latin typeface="Arial"/>
            </a:endParaRPr>
          </a:p>
          <a:p>
            <a:pPr marL="1143000" lvl="2" indent="-226440">
              <a:lnSpc>
                <a:spcPct val="100000"/>
              </a:lnSpc>
              <a:spcBef>
                <a:spcPts val="400"/>
              </a:spcBef>
              <a:buClr>
                <a:srgbClr val="FF9966"/>
              </a:buClr>
              <a:buFont typeface="Noto Sans Symbols"/>
              <a:buChar char="●"/>
            </a:pPr>
            <a:r>
              <a:rPr lang="en-US" sz="2200" b="0" strike="noStrike" spc="-1">
                <a:solidFill>
                  <a:srgbClr val="009999"/>
                </a:solidFill>
                <a:latin typeface="Arial"/>
                <a:ea typeface="Arial"/>
              </a:rPr>
              <a:t>         (1.)100 1110 0000 0000 0000 0000   </a:t>
            </a:r>
            <a:endParaRPr lang="en-US" sz="2200" b="0" strike="noStrike" spc="-1">
              <a:solidFill>
                <a:srgbClr val="000000"/>
              </a:solidFill>
              <a:latin typeface="Arial"/>
            </a:endParaRPr>
          </a:p>
          <a:p>
            <a:pPr marL="1143000" lvl="2" indent="-226440">
              <a:lnSpc>
                <a:spcPct val="100000"/>
              </a:lnSpc>
              <a:spcBef>
                <a:spcPts val="400"/>
              </a:spcBef>
              <a:buClr>
                <a:srgbClr val="FF9966"/>
              </a:buClr>
              <a:buFont typeface="Noto Sans Symbols"/>
              <a:buChar char="●"/>
            </a:pPr>
            <a:r>
              <a:rPr lang="en-US" sz="2200" b="0" strike="noStrike" spc="-1">
                <a:solidFill>
                  <a:srgbClr val="009999"/>
                </a:solidFill>
                <a:latin typeface="Arial"/>
                <a:ea typeface="Arial"/>
              </a:rPr>
              <a:t> The first 1 is assumed, i.e. not explicitly given.</a:t>
            </a:r>
            <a:endParaRPr lang="en-US" sz="2200" b="0" strike="noStrike" spc="-1">
              <a:solidFill>
                <a:srgbClr val="000000"/>
              </a:solidFill>
              <a:latin typeface="Arial"/>
            </a:endParaRPr>
          </a:p>
          <a:p>
            <a:pPr marL="1143000" lvl="2" indent="-226440">
              <a:lnSpc>
                <a:spcPct val="100000"/>
              </a:lnSpc>
              <a:spcBef>
                <a:spcPts val="400"/>
              </a:spcBef>
              <a:buClr>
                <a:srgbClr val="FF9966"/>
              </a:buClr>
              <a:buFont typeface="Noto Sans Symbols"/>
              <a:buChar char="●"/>
            </a:pPr>
            <a:r>
              <a:rPr lang="en-US" sz="2200" b="0" strike="noStrike" spc="-1">
                <a:solidFill>
                  <a:srgbClr val="009999"/>
                </a:solidFill>
                <a:latin typeface="Arial"/>
                <a:ea typeface="Arial"/>
              </a:rPr>
              <a:t> Biased exponent = 4 + 127 = 131 =&gt; 1000 0011</a:t>
            </a:r>
            <a:endParaRPr lang="en-US" sz="2200" b="0" strike="noStrike" spc="-1">
              <a:solidFill>
                <a:srgbClr val="000000"/>
              </a:solidFill>
              <a:latin typeface="Arial"/>
            </a:endParaRPr>
          </a:p>
          <a:p>
            <a:pPr marL="1143000" lvl="2" indent="-226440">
              <a:lnSpc>
                <a:spcPct val="100000"/>
              </a:lnSpc>
              <a:spcBef>
                <a:spcPts val="400"/>
              </a:spcBef>
              <a:buClr>
                <a:srgbClr val="FF9966"/>
              </a:buClr>
              <a:buFont typeface="Noto Sans Symbols"/>
              <a:buChar char="●"/>
            </a:pPr>
            <a:r>
              <a:rPr lang="en-US" sz="2200" b="0" strike="noStrike" spc="-1">
                <a:solidFill>
                  <a:srgbClr val="009999"/>
                </a:solidFill>
                <a:latin typeface="Arial"/>
                <a:ea typeface="Arial"/>
              </a:rPr>
              <a:t>So 25.75 =&gt; </a:t>
            </a:r>
            <a:r>
              <a:rPr lang="en-US" sz="2200" b="0" strike="noStrike" spc="-1">
                <a:solidFill>
                  <a:srgbClr val="009999"/>
                </a:solidFill>
                <a:highlight>
                  <a:srgbClr val="FFF2CC"/>
                </a:highlight>
                <a:latin typeface="Arial"/>
                <a:ea typeface="Arial"/>
              </a:rPr>
              <a:t>0</a:t>
            </a:r>
            <a:r>
              <a:rPr lang="en-US" sz="2200" b="0" strike="noStrike" spc="-1">
                <a:solidFill>
                  <a:srgbClr val="009999"/>
                </a:solidFill>
                <a:highlight>
                  <a:srgbClr val="B6D7A8"/>
                </a:highlight>
                <a:latin typeface="Arial"/>
                <a:ea typeface="Arial"/>
              </a:rPr>
              <a:t>100 0001 1</a:t>
            </a:r>
            <a:r>
              <a:rPr lang="en-US" sz="2200" b="0" strike="noStrike" spc="-1">
                <a:solidFill>
                  <a:srgbClr val="009999"/>
                </a:solidFill>
                <a:highlight>
                  <a:srgbClr val="C9DAF8"/>
                </a:highlight>
                <a:latin typeface="Arial"/>
                <a:ea typeface="Arial"/>
              </a:rPr>
              <a:t>100 1110 0000 0000 0000 0000 </a:t>
            </a:r>
            <a:endParaRPr lang="en-US" sz="2200" b="0" strike="noStrike" spc="-1">
              <a:solidFill>
                <a:srgbClr val="000000"/>
              </a:solidFill>
              <a:latin typeface="Arial"/>
            </a:endParaRPr>
          </a:p>
          <a:p>
            <a:pPr marL="1143000" lvl="2" indent="-226440">
              <a:lnSpc>
                <a:spcPct val="100000"/>
              </a:lnSpc>
              <a:spcBef>
                <a:spcPts val="400"/>
              </a:spcBef>
              <a:buClr>
                <a:srgbClr val="FF9966"/>
              </a:buClr>
              <a:buFont typeface="Noto Sans Symbols"/>
              <a:buChar char="●"/>
            </a:pPr>
            <a:r>
              <a:rPr lang="en-US" sz="2200" b="0" strike="noStrike" spc="-1">
                <a:solidFill>
                  <a:srgbClr val="009999"/>
                </a:solidFill>
                <a:highlight>
                  <a:srgbClr val="FFFFFF"/>
                </a:highlight>
                <a:latin typeface="Arial"/>
                <a:ea typeface="Arial"/>
              </a:rPr>
              <a:t>               =&gt; </a:t>
            </a:r>
            <a:r>
              <a:rPr lang="en-US" sz="2200" b="0" strike="noStrike" spc="-1">
                <a:solidFill>
                  <a:srgbClr val="009999"/>
                </a:solidFill>
                <a:highlight>
                  <a:srgbClr val="F4CCCC"/>
                </a:highlight>
                <a:latin typeface="Arial"/>
                <a:ea typeface="Arial"/>
              </a:rPr>
              <a:t>0x41CE0000 as a 32-bit number in hex</a:t>
            </a:r>
            <a:endParaRPr lang="en-US" sz="2200" b="0" strike="noStrike" spc="-1">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 name="CustomShape 1"/>
          <p:cNvSpPr/>
          <p:nvPr/>
        </p:nvSpPr>
        <p:spPr>
          <a:xfrm>
            <a:off x="0" y="0"/>
            <a:ext cx="9138960" cy="90936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4000" b="1" strike="noStrike" spc="-1">
                <a:solidFill>
                  <a:srgbClr val="336699"/>
                </a:solidFill>
                <a:latin typeface="Arial Narrow"/>
                <a:ea typeface="Arial Narrow"/>
              </a:rPr>
              <a:t>       How to convert 64.2 into IEEE SP</a:t>
            </a:r>
            <a:endParaRPr lang="en-US" sz="4000" b="0" strike="noStrike" spc="-1">
              <a:solidFill>
                <a:srgbClr val="000000"/>
              </a:solidFill>
              <a:latin typeface="Arial"/>
            </a:endParaRPr>
          </a:p>
        </p:txBody>
      </p:sp>
      <p:sp>
        <p:nvSpPr>
          <p:cNvPr id="628" name="CustomShape 2"/>
          <p:cNvSpPr/>
          <p:nvPr/>
        </p:nvSpPr>
        <p:spPr>
          <a:xfrm>
            <a:off x="470160" y="1110960"/>
            <a:ext cx="8148240" cy="540504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t">
            <a:noAutofit/>
          </a:bodyPr>
          <a:lstStyle/>
          <a:p>
            <a:pPr marL="343080" indent="-340920">
              <a:lnSpc>
                <a:spcPct val="100000"/>
              </a:lnSpc>
              <a:buClr>
                <a:srgbClr val="990000"/>
              </a:buClr>
              <a:buFont typeface="Noto Sans Symbols"/>
              <a:buChar char="●"/>
            </a:pPr>
            <a:r>
              <a:rPr lang="en-US" sz="2400" b="0" strike="noStrike" spc="-1">
                <a:solidFill>
                  <a:srgbClr val="009999"/>
                </a:solidFill>
                <a:latin typeface="Arial"/>
                <a:ea typeface="Arial"/>
              </a:rPr>
              <a:t>1) Get integer and fractional binary form for 64.2</a:t>
            </a:r>
            <a:endParaRPr lang="en-US" sz="2400" b="0" strike="noStrike" spc="-1">
              <a:solidFill>
                <a:srgbClr val="000000"/>
              </a:solidFill>
              <a:latin typeface="Arial"/>
            </a:endParaRPr>
          </a:p>
          <a:p>
            <a:pPr marL="743040" lvl="1" indent="-283680">
              <a:lnSpc>
                <a:spcPct val="100000"/>
              </a:lnSpc>
              <a:spcBef>
                <a:spcPts val="400"/>
              </a:spcBef>
              <a:buClr>
                <a:srgbClr val="336699"/>
              </a:buClr>
              <a:buFont typeface="Noto Sans Symbols"/>
              <a:buChar char="●"/>
            </a:pPr>
            <a:r>
              <a:rPr lang="en-US" sz="2400" b="0" strike="noStrike" spc="-1">
                <a:solidFill>
                  <a:srgbClr val="009999"/>
                </a:solidFill>
                <a:latin typeface="Arial"/>
                <a:ea typeface="Arial"/>
              </a:rPr>
              <a:t>Binary left of radix/decimal point (integer): 1000000</a:t>
            </a:r>
            <a:endParaRPr lang="en-US" sz="2400" b="0" strike="noStrike" spc="-1">
              <a:solidFill>
                <a:srgbClr val="000000"/>
              </a:solidFill>
              <a:latin typeface="Arial"/>
            </a:endParaRPr>
          </a:p>
          <a:p>
            <a:pPr marL="743040" lvl="1" indent="-283680">
              <a:lnSpc>
                <a:spcPct val="100000"/>
              </a:lnSpc>
              <a:spcBef>
                <a:spcPts val="400"/>
              </a:spcBef>
              <a:buClr>
                <a:srgbClr val="336699"/>
              </a:buClr>
              <a:buFont typeface="Noto Sans Symbols"/>
              <a:buChar char="●"/>
            </a:pPr>
            <a:r>
              <a:rPr lang="en-US" sz="2400" b="0" strike="noStrike" spc="-1">
                <a:solidFill>
                  <a:srgbClr val="009999"/>
                </a:solidFill>
                <a:latin typeface="Arial"/>
                <a:ea typeface="Arial"/>
              </a:rPr>
              <a:t>Binary of right of radix/decimal (fractional):</a:t>
            </a:r>
            <a:endParaRPr lang="en-US" sz="2400" b="0" strike="noStrike" spc="-1">
              <a:solidFill>
                <a:srgbClr val="000000"/>
              </a:solidFill>
              <a:latin typeface="Arial"/>
            </a:endParaRPr>
          </a:p>
          <a:p>
            <a:pPr marL="1143000" lvl="2" indent="-226440">
              <a:lnSpc>
                <a:spcPct val="100000"/>
              </a:lnSpc>
              <a:spcBef>
                <a:spcPts val="400"/>
              </a:spcBef>
              <a:buClr>
                <a:srgbClr val="FF9966"/>
              </a:buClr>
              <a:buFont typeface="Noto Sans Symbols"/>
              <a:buChar char="●"/>
            </a:pPr>
            <a:r>
              <a:rPr lang="en-US" sz="2200" b="0" strike="noStrike" spc="-1">
                <a:solidFill>
                  <a:srgbClr val="009999"/>
                </a:solidFill>
                <a:latin typeface="Arial"/>
                <a:ea typeface="Arial"/>
              </a:rPr>
              <a:t>Successively multiply value by 2 and compare to 1</a:t>
            </a:r>
            <a:endParaRPr lang="en-US" sz="2200" b="0" strike="noStrike" spc="-1">
              <a:solidFill>
                <a:srgbClr val="000000"/>
              </a:solidFill>
              <a:latin typeface="Arial"/>
            </a:endParaRPr>
          </a:p>
          <a:p>
            <a:pPr marL="1600200" lvl="3" indent="-226440">
              <a:lnSpc>
                <a:spcPct val="100000"/>
              </a:lnSpc>
              <a:spcBef>
                <a:spcPts val="400"/>
              </a:spcBef>
              <a:buClr>
                <a:srgbClr val="336699"/>
              </a:buClr>
              <a:buFont typeface="Arial"/>
              <a:buChar char="•"/>
            </a:pPr>
            <a:r>
              <a:rPr lang="en-US" sz="2000" b="0" strike="noStrike" spc="-1">
                <a:solidFill>
                  <a:srgbClr val="009999"/>
                </a:solidFill>
                <a:latin typeface="Arial"/>
                <a:ea typeface="Arial"/>
              </a:rPr>
              <a:t>0.2 x 2 = 0.4 less than 1 so… 	</a:t>
            </a:r>
            <a:r>
              <a:rPr lang="en-US" sz="2000" b="1" strike="noStrike" spc="-1">
                <a:solidFill>
                  <a:srgbClr val="009999"/>
                </a:solidFill>
                <a:latin typeface="Arial"/>
                <a:ea typeface="Arial"/>
              </a:rPr>
              <a:t>0</a:t>
            </a:r>
            <a:endParaRPr lang="en-US" sz="2000" b="0" strike="noStrike" spc="-1">
              <a:solidFill>
                <a:srgbClr val="000000"/>
              </a:solidFill>
              <a:latin typeface="Arial"/>
            </a:endParaRPr>
          </a:p>
          <a:p>
            <a:pPr marL="1600200" lvl="3" indent="-226440">
              <a:lnSpc>
                <a:spcPct val="100000"/>
              </a:lnSpc>
              <a:spcBef>
                <a:spcPts val="400"/>
              </a:spcBef>
              <a:buClr>
                <a:srgbClr val="336699"/>
              </a:buClr>
              <a:buFont typeface="Arial"/>
              <a:buChar char="•"/>
            </a:pPr>
            <a:r>
              <a:rPr lang="en-US" sz="2000" b="0" strike="noStrike" spc="-1">
                <a:solidFill>
                  <a:srgbClr val="009999"/>
                </a:solidFill>
                <a:latin typeface="Arial"/>
                <a:ea typeface="Arial"/>
              </a:rPr>
              <a:t>0.4 x 2 = 0.8 less than 1 so… 	</a:t>
            </a:r>
            <a:r>
              <a:rPr lang="en-US" sz="2000" b="1" strike="noStrike" spc="-1">
                <a:solidFill>
                  <a:srgbClr val="009999"/>
                </a:solidFill>
                <a:latin typeface="Arial"/>
                <a:ea typeface="Arial"/>
              </a:rPr>
              <a:t>0</a:t>
            </a:r>
            <a:endParaRPr lang="en-US" sz="2000" b="0" strike="noStrike" spc="-1">
              <a:solidFill>
                <a:srgbClr val="000000"/>
              </a:solidFill>
              <a:latin typeface="Arial"/>
            </a:endParaRPr>
          </a:p>
          <a:p>
            <a:pPr marL="1600200" lvl="3" indent="-226440">
              <a:lnSpc>
                <a:spcPct val="100000"/>
              </a:lnSpc>
              <a:spcBef>
                <a:spcPts val="400"/>
              </a:spcBef>
              <a:buClr>
                <a:srgbClr val="336699"/>
              </a:buClr>
              <a:buFont typeface="Arial"/>
              <a:buChar char="•"/>
            </a:pPr>
            <a:r>
              <a:rPr lang="en-US" sz="2000" b="0" strike="noStrike" spc="-1">
                <a:solidFill>
                  <a:srgbClr val="009999"/>
                </a:solidFill>
                <a:latin typeface="Arial"/>
                <a:ea typeface="Arial"/>
              </a:rPr>
              <a:t>0.8 x 2 = 1.6 g.t. 1 so…		</a:t>
            </a:r>
            <a:r>
              <a:rPr lang="en-US" sz="2000" b="1" strike="noStrike" spc="-1">
                <a:solidFill>
                  <a:srgbClr val="009999"/>
                </a:solidFill>
                <a:latin typeface="Arial"/>
                <a:ea typeface="Arial"/>
              </a:rPr>
              <a:t>1</a:t>
            </a:r>
            <a:endParaRPr lang="en-US" sz="2000" b="0" strike="noStrike" spc="-1">
              <a:solidFill>
                <a:srgbClr val="000000"/>
              </a:solidFill>
              <a:latin typeface="Arial"/>
            </a:endParaRPr>
          </a:p>
          <a:p>
            <a:pPr marL="1600200" lvl="3" indent="-226440">
              <a:lnSpc>
                <a:spcPct val="100000"/>
              </a:lnSpc>
              <a:spcBef>
                <a:spcPts val="400"/>
              </a:spcBef>
              <a:buClr>
                <a:srgbClr val="336699"/>
              </a:buClr>
              <a:buFont typeface="Arial"/>
              <a:buChar char="•"/>
            </a:pPr>
            <a:r>
              <a:rPr lang="en-US" sz="2000" b="0" strike="noStrike" spc="-1">
                <a:solidFill>
                  <a:srgbClr val="009999"/>
                </a:solidFill>
                <a:latin typeface="Arial"/>
                <a:ea typeface="Arial"/>
              </a:rPr>
              <a:t>0.6 x 2 = 1.2 g.t. 1 so…		</a:t>
            </a:r>
            <a:r>
              <a:rPr lang="en-US" sz="2000" b="1" strike="noStrike" spc="-1">
                <a:solidFill>
                  <a:srgbClr val="009999"/>
                </a:solidFill>
                <a:latin typeface="Arial"/>
                <a:ea typeface="Arial"/>
              </a:rPr>
              <a:t>1</a:t>
            </a:r>
            <a:endParaRPr lang="en-US" sz="2000" b="0" strike="noStrike" spc="-1">
              <a:solidFill>
                <a:srgbClr val="000000"/>
              </a:solidFill>
              <a:latin typeface="Arial"/>
            </a:endParaRPr>
          </a:p>
          <a:p>
            <a:pPr marL="1600200" lvl="3" indent="-226440">
              <a:lnSpc>
                <a:spcPct val="100000"/>
              </a:lnSpc>
              <a:spcBef>
                <a:spcPts val="400"/>
              </a:spcBef>
              <a:buClr>
                <a:srgbClr val="336699"/>
              </a:buClr>
              <a:buFont typeface="Arial"/>
              <a:buChar char="•"/>
            </a:pPr>
            <a:r>
              <a:rPr lang="en-US" sz="2000" b="0" strike="noStrike" spc="-1">
                <a:solidFill>
                  <a:srgbClr val="009999"/>
                </a:solidFill>
                <a:latin typeface="Arial"/>
                <a:ea typeface="Arial"/>
              </a:rPr>
              <a:t>0.2 x 2 = 0.4			</a:t>
            </a:r>
            <a:r>
              <a:rPr lang="en-US" sz="2000" b="1" strike="noStrike" spc="-1">
                <a:solidFill>
                  <a:srgbClr val="009999"/>
                </a:solidFill>
                <a:latin typeface="Arial"/>
                <a:ea typeface="Arial"/>
              </a:rPr>
              <a:t>0</a:t>
            </a:r>
            <a:endParaRPr lang="en-US" sz="2000" b="0" strike="noStrike" spc="-1">
              <a:solidFill>
                <a:srgbClr val="000000"/>
              </a:solidFill>
              <a:latin typeface="Arial"/>
            </a:endParaRPr>
          </a:p>
          <a:p>
            <a:pPr marL="1600200" lvl="3" indent="-226440">
              <a:lnSpc>
                <a:spcPct val="100000"/>
              </a:lnSpc>
              <a:spcBef>
                <a:spcPts val="400"/>
              </a:spcBef>
              <a:buClr>
                <a:srgbClr val="336699"/>
              </a:buClr>
              <a:buFont typeface="Arial"/>
              <a:buChar char="•"/>
            </a:pPr>
            <a:r>
              <a:rPr lang="en-US" sz="2000" b="0" strike="noStrike" spc="-1">
                <a:solidFill>
                  <a:srgbClr val="009999"/>
                </a:solidFill>
                <a:latin typeface="Arial"/>
                <a:ea typeface="Arial"/>
              </a:rPr>
              <a:t>0.4 x 2 = 0.8			</a:t>
            </a:r>
            <a:r>
              <a:rPr lang="en-US" sz="2000" b="1" strike="noStrike" spc="-1">
                <a:solidFill>
                  <a:srgbClr val="009999"/>
                </a:solidFill>
                <a:latin typeface="Arial"/>
                <a:ea typeface="Arial"/>
              </a:rPr>
              <a:t>0</a:t>
            </a:r>
            <a:endParaRPr lang="en-US" sz="2000" b="0" strike="noStrike" spc="-1">
              <a:solidFill>
                <a:srgbClr val="000000"/>
              </a:solidFill>
              <a:latin typeface="Arial"/>
            </a:endParaRPr>
          </a:p>
          <a:p>
            <a:pPr marL="1600200" lvl="3" indent="-226440">
              <a:lnSpc>
                <a:spcPct val="100000"/>
              </a:lnSpc>
              <a:spcBef>
                <a:spcPts val="400"/>
              </a:spcBef>
              <a:buClr>
                <a:srgbClr val="336699"/>
              </a:buClr>
              <a:buFont typeface="Arial"/>
              <a:buChar char="•"/>
            </a:pPr>
            <a:r>
              <a:rPr lang="en-US" sz="2000" b="0" strike="noStrike" spc="-1">
                <a:solidFill>
                  <a:srgbClr val="009999"/>
                </a:solidFill>
                <a:latin typeface="Arial"/>
                <a:ea typeface="Arial"/>
              </a:rPr>
              <a:t>0.8 x 2 = 1.6			</a:t>
            </a:r>
            <a:r>
              <a:rPr lang="en-US" sz="2000" b="1" strike="noStrike" spc="-1">
                <a:solidFill>
                  <a:srgbClr val="009999"/>
                </a:solidFill>
                <a:latin typeface="Arial"/>
                <a:ea typeface="Arial"/>
              </a:rPr>
              <a:t>1</a:t>
            </a:r>
            <a:endParaRPr lang="en-US" sz="2000" b="0" strike="noStrike" spc="-1">
              <a:solidFill>
                <a:srgbClr val="000000"/>
              </a:solidFill>
              <a:latin typeface="Arial"/>
            </a:endParaRPr>
          </a:p>
          <a:p>
            <a:pPr marL="1600200" lvl="3" indent="-226440">
              <a:lnSpc>
                <a:spcPct val="100000"/>
              </a:lnSpc>
              <a:spcBef>
                <a:spcPts val="400"/>
              </a:spcBef>
              <a:buClr>
                <a:srgbClr val="336699"/>
              </a:buClr>
              <a:buFont typeface="Arial"/>
              <a:buChar char="•"/>
            </a:pPr>
            <a:r>
              <a:rPr lang="en-US" sz="2000" b="0" strike="noStrike" spc="-1">
                <a:solidFill>
                  <a:srgbClr val="009999"/>
                </a:solidFill>
                <a:latin typeface="Arial"/>
                <a:ea typeface="Arial"/>
              </a:rPr>
              <a:t>0.6 x 2 = 1.2			</a:t>
            </a:r>
            <a:r>
              <a:rPr lang="en-US" sz="2000" b="1" strike="noStrike" spc="-1">
                <a:solidFill>
                  <a:srgbClr val="009999"/>
                </a:solidFill>
                <a:latin typeface="Arial"/>
                <a:ea typeface="Arial"/>
              </a:rPr>
              <a:t>1</a:t>
            </a:r>
            <a:endParaRPr lang="en-US" sz="2000" b="0" strike="noStrike" spc="-1">
              <a:solidFill>
                <a:srgbClr val="000000"/>
              </a:solidFill>
              <a:latin typeface="Arial"/>
            </a:endParaRPr>
          </a:p>
          <a:p>
            <a:pPr marL="1600200" lvl="3" indent="-226440">
              <a:lnSpc>
                <a:spcPct val="100000"/>
              </a:lnSpc>
              <a:spcBef>
                <a:spcPts val="400"/>
              </a:spcBef>
              <a:buClr>
                <a:srgbClr val="336699"/>
              </a:buClr>
              <a:buFont typeface="Arial"/>
              <a:buChar char="•"/>
            </a:pPr>
            <a:r>
              <a:rPr lang="en-US" sz="2000" b="1" strike="noStrike" spc="-1">
                <a:solidFill>
                  <a:srgbClr val="009999"/>
                </a:solidFill>
                <a:latin typeface="Arial"/>
                <a:ea typeface="Arial"/>
              </a:rPr>
              <a:t>… (repeats)</a:t>
            </a:r>
            <a:endParaRPr lang="en-US" sz="2000" b="0" strike="noStrike" spc="-1">
              <a:solidFill>
                <a:srgbClr val="000000"/>
              </a:solidFill>
              <a:latin typeface="Arial"/>
            </a:endParaRPr>
          </a:p>
          <a:p>
            <a:pPr marL="343080" indent="-249120">
              <a:lnSpc>
                <a:spcPct val="100000"/>
              </a:lnSpc>
              <a:spcBef>
                <a:spcPts val="479"/>
              </a:spcBef>
              <a:tabLst>
                <a:tab pos="0" algn="l"/>
              </a:tabLst>
            </a:pPr>
            <a:endParaRPr lang="en-US" sz="2000" b="0" strike="noStrike" spc="-1">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 name="CustomShape 1"/>
          <p:cNvSpPr/>
          <p:nvPr/>
        </p:nvSpPr>
        <p:spPr>
          <a:xfrm>
            <a:off x="0" y="0"/>
            <a:ext cx="9138960" cy="90936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4000" b="1" strike="noStrike" spc="-1">
                <a:solidFill>
                  <a:srgbClr val="336699"/>
                </a:solidFill>
                <a:latin typeface="Arial Narrow"/>
                <a:ea typeface="Arial Narrow"/>
              </a:rPr>
              <a:t>(continued)</a:t>
            </a:r>
            <a:endParaRPr lang="en-US" sz="4000" b="0" strike="noStrike" spc="-1">
              <a:solidFill>
                <a:srgbClr val="000000"/>
              </a:solidFill>
              <a:latin typeface="Arial"/>
            </a:endParaRPr>
          </a:p>
        </p:txBody>
      </p:sp>
      <p:sp>
        <p:nvSpPr>
          <p:cNvPr id="630" name="CustomShape 2"/>
          <p:cNvSpPr/>
          <p:nvPr/>
        </p:nvSpPr>
        <p:spPr>
          <a:xfrm>
            <a:off x="762120" y="1282680"/>
            <a:ext cx="8148240" cy="540504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t">
            <a:noAutofit/>
          </a:bodyPr>
          <a:lstStyle/>
          <a:p>
            <a:pPr marL="743040" lvl="1" indent="-283680">
              <a:lnSpc>
                <a:spcPct val="100000"/>
              </a:lnSpc>
              <a:buClr>
                <a:srgbClr val="336699"/>
              </a:buClr>
              <a:buFont typeface="Noto Sans Symbols"/>
              <a:buChar char="●"/>
            </a:pPr>
            <a:r>
              <a:rPr lang="en-US" sz="2600" b="0" strike="noStrike" spc="-1">
                <a:solidFill>
                  <a:srgbClr val="009999"/>
                </a:solidFill>
                <a:latin typeface="Arial"/>
                <a:ea typeface="Arial"/>
              </a:rPr>
              <a:t> So the integer for 64: 1000000 </a:t>
            </a:r>
            <a:endParaRPr lang="en-US" sz="2600" b="0" strike="noStrike" spc="-1">
              <a:solidFill>
                <a:srgbClr val="000000"/>
              </a:solidFill>
              <a:latin typeface="Arial"/>
            </a:endParaRPr>
          </a:p>
          <a:p>
            <a:pPr marL="743040" lvl="1" indent="-283680">
              <a:lnSpc>
                <a:spcPct val="100000"/>
              </a:lnSpc>
              <a:buClr>
                <a:srgbClr val="336699"/>
              </a:buClr>
              <a:buFont typeface="Noto Sans Symbols"/>
              <a:buChar char="●"/>
            </a:pPr>
            <a:r>
              <a:rPr lang="en-US" sz="2600" b="0" strike="noStrike" spc="-1">
                <a:solidFill>
                  <a:srgbClr val="009999"/>
                </a:solidFill>
                <a:latin typeface="Arial"/>
                <a:ea typeface="Arial"/>
              </a:rPr>
              <a:t> Binary for .2: .0011 0011 0011 0011 ...</a:t>
            </a:r>
            <a:endParaRPr lang="en-US" sz="2600" b="0" strike="noStrike" spc="-1">
              <a:solidFill>
                <a:srgbClr val="000000"/>
              </a:solidFill>
              <a:latin typeface="Arial"/>
            </a:endParaRPr>
          </a:p>
          <a:p>
            <a:pPr marL="743040" lvl="1" indent="-283680">
              <a:lnSpc>
                <a:spcPct val="100000"/>
              </a:lnSpc>
              <a:spcBef>
                <a:spcPts val="499"/>
              </a:spcBef>
              <a:buClr>
                <a:srgbClr val="336699"/>
              </a:buClr>
              <a:buFont typeface="Noto Sans Symbols"/>
              <a:buChar char="●"/>
            </a:pPr>
            <a:r>
              <a:rPr lang="en-US" sz="2600" b="0" strike="noStrike" spc="-1">
                <a:solidFill>
                  <a:srgbClr val="009999"/>
                </a:solidFill>
                <a:latin typeface="Arial"/>
                <a:ea typeface="Arial"/>
              </a:rPr>
              <a:t> 64.2 is: 1000000.0011 0011 0011 0011 …</a:t>
            </a:r>
            <a:endParaRPr lang="en-US" sz="2600" b="0" strike="noStrike" spc="-1">
              <a:solidFill>
                <a:srgbClr val="000000"/>
              </a:solidFill>
              <a:latin typeface="Arial"/>
            </a:endParaRPr>
          </a:p>
          <a:p>
            <a:pPr>
              <a:lnSpc>
                <a:spcPct val="100000"/>
              </a:lnSpc>
              <a:spcBef>
                <a:spcPts val="499"/>
              </a:spcBef>
            </a:pPr>
            <a:endParaRPr lang="en-US" sz="2600" b="0" strike="noStrike" spc="-1">
              <a:solidFill>
                <a:srgbClr val="000000"/>
              </a:solidFill>
              <a:latin typeface="Arial"/>
            </a:endParaRPr>
          </a:p>
          <a:p>
            <a:pPr marL="343080" indent="-340920">
              <a:lnSpc>
                <a:spcPct val="100000"/>
              </a:lnSpc>
              <a:spcBef>
                <a:spcPts val="499"/>
              </a:spcBef>
              <a:buClr>
                <a:srgbClr val="990000"/>
              </a:buClr>
              <a:buFont typeface="Noto Sans Symbols"/>
              <a:buChar char="●"/>
            </a:pPr>
            <a:r>
              <a:rPr lang="en-US" sz="2800" b="0" strike="noStrike" spc="-1">
                <a:solidFill>
                  <a:srgbClr val="009999"/>
                </a:solidFill>
                <a:latin typeface="Arial"/>
                <a:ea typeface="Arial"/>
              </a:rPr>
              <a:t>2) Normalized in binary form</a:t>
            </a:r>
            <a:endParaRPr lang="en-US" sz="2800" b="0" strike="noStrike" spc="-1">
              <a:solidFill>
                <a:srgbClr val="000000"/>
              </a:solidFill>
              <a:latin typeface="Arial"/>
            </a:endParaRPr>
          </a:p>
          <a:p>
            <a:pPr marL="743040" lvl="1" indent="-283680">
              <a:lnSpc>
                <a:spcPct val="100000"/>
              </a:lnSpc>
              <a:spcBef>
                <a:spcPts val="499"/>
              </a:spcBef>
              <a:buClr>
                <a:srgbClr val="336699"/>
              </a:buClr>
              <a:buFont typeface="Noto Sans Symbols"/>
              <a:buChar char="●"/>
            </a:pPr>
            <a:r>
              <a:rPr lang="en-US" sz="2600" b="0" strike="noStrike" spc="-1">
                <a:solidFill>
                  <a:srgbClr val="009999"/>
                </a:solidFill>
                <a:latin typeface="Arial"/>
                <a:ea typeface="Arial"/>
              </a:rPr>
              <a:t>Produces: 1.00000000110011... X 2</a:t>
            </a:r>
            <a:r>
              <a:rPr lang="en-US" sz="2600" b="0" strike="noStrike" spc="-1" baseline="30000">
                <a:solidFill>
                  <a:srgbClr val="009999"/>
                </a:solidFill>
                <a:latin typeface="Arial"/>
                <a:ea typeface="Arial"/>
              </a:rPr>
              <a:t>6</a:t>
            </a:r>
            <a:endParaRPr lang="en-US" sz="2600" b="0" strike="noStrike" spc="-1">
              <a:solidFill>
                <a:srgbClr val="000000"/>
              </a:solidFill>
              <a:latin typeface="Arial"/>
            </a:endParaRPr>
          </a:p>
          <a:p>
            <a:pPr marL="343080" indent="-241560">
              <a:lnSpc>
                <a:spcPct val="100000"/>
              </a:lnSpc>
              <a:spcBef>
                <a:spcPts val="519"/>
              </a:spcBef>
              <a:tabLst>
                <a:tab pos="0" algn="l"/>
              </a:tabLst>
            </a:pPr>
            <a:endParaRPr lang="en-US" sz="2600" b="0" strike="noStrike" spc="-1">
              <a:solidFill>
                <a:srgbClr val="000000"/>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 name="CustomShape 1"/>
          <p:cNvSpPr/>
          <p:nvPr/>
        </p:nvSpPr>
        <p:spPr>
          <a:xfrm>
            <a:off x="0" y="0"/>
            <a:ext cx="9138960" cy="90936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4000" b="1" strike="noStrike" spc="-1">
                <a:solidFill>
                  <a:srgbClr val="336699"/>
                </a:solidFill>
                <a:latin typeface="Arial Narrow"/>
                <a:ea typeface="Arial Narrow"/>
              </a:rPr>
              <a:t>(continued)</a:t>
            </a:r>
            <a:endParaRPr lang="en-US" sz="4000" b="0" strike="noStrike" spc="-1">
              <a:solidFill>
                <a:srgbClr val="000000"/>
              </a:solidFill>
              <a:latin typeface="Arial"/>
            </a:endParaRPr>
          </a:p>
        </p:txBody>
      </p:sp>
      <p:sp>
        <p:nvSpPr>
          <p:cNvPr id="632" name="CustomShape 2"/>
          <p:cNvSpPr/>
          <p:nvPr/>
        </p:nvSpPr>
        <p:spPr>
          <a:xfrm>
            <a:off x="762120" y="1210680"/>
            <a:ext cx="8148240" cy="540504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t">
            <a:noAutofit/>
          </a:bodyPr>
          <a:lstStyle/>
          <a:p>
            <a:pPr marL="343080" indent="-340920">
              <a:lnSpc>
                <a:spcPct val="100000"/>
              </a:lnSpc>
              <a:buClr>
                <a:srgbClr val="990000"/>
              </a:buClr>
              <a:buFont typeface="Noto Sans Symbols"/>
              <a:buChar char="●"/>
            </a:pPr>
            <a:r>
              <a:rPr lang="en-US" sz="2600" b="0" strike="noStrike" spc="-1">
                <a:solidFill>
                  <a:srgbClr val="009999"/>
                </a:solidFill>
                <a:latin typeface="Arial"/>
                <a:ea typeface="Arial"/>
              </a:rPr>
              <a:t>3. Turn positive exponent into biased with 127</a:t>
            </a:r>
            <a:endParaRPr lang="en-US" sz="2600" b="0" strike="noStrike" spc="-1">
              <a:solidFill>
                <a:srgbClr val="000000"/>
              </a:solidFill>
              <a:latin typeface="Arial"/>
            </a:endParaRPr>
          </a:p>
          <a:p>
            <a:pPr marL="743040" lvl="1" indent="-283680">
              <a:lnSpc>
                <a:spcPct val="100000"/>
              </a:lnSpc>
              <a:spcBef>
                <a:spcPts val="519"/>
              </a:spcBef>
              <a:buClr>
                <a:srgbClr val="336699"/>
              </a:buClr>
              <a:buFont typeface="Noto Sans Symbols"/>
              <a:buChar char="●"/>
            </a:pPr>
            <a:r>
              <a:rPr lang="en-US" sz="2400" b="0" strike="noStrike" spc="-1">
                <a:solidFill>
                  <a:srgbClr val="009999"/>
                </a:solidFill>
                <a:latin typeface="Arial"/>
                <a:ea typeface="Arial"/>
              </a:rPr>
              <a:t>E = 6 + 127 = 133 = 10000101</a:t>
            </a:r>
            <a:endParaRPr lang="en-US" sz="2400" b="0" strike="noStrike" spc="-1">
              <a:solidFill>
                <a:srgbClr val="000000"/>
              </a:solidFill>
              <a:latin typeface="Arial"/>
            </a:endParaRPr>
          </a:p>
          <a:p>
            <a:pPr marL="343080" indent="-340920">
              <a:lnSpc>
                <a:spcPct val="100000"/>
              </a:lnSpc>
              <a:spcBef>
                <a:spcPts val="561"/>
              </a:spcBef>
              <a:buClr>
                <a:srgbClr val="990000"/>
              </a:buClr>
              <a:buFont typeface="Noto Sans Symbols"/>
              <a:buChar char="●"/>
            </a:pPr>
            <a:r>
              <a:rPr lang="en-US" sz="2600" b="0" strike="noStrike" spc="-1">
                <a:solidFill>
                  <a:srgbClr val="009999"/>
                </a:solidFill>
                <a:latin typeface="Arial"/>
                <a:ea typeface="Arial"/>
              </a:rPr>
              <a:t>4. Put it together:</a:t>
            </a:r>
            <a:endParaRPr lang="en-US" sz="2600" b="0" strike="noStrike" spc="-1">
              <a:solidFill>
                <a:srgbClr val="000000"/>
              </a:solidFill>
              <a:latin typeface="Arial"/>
            </a:endParaRPr>
          </a:p>
          <a:p>
            <a:pPr marL="743040" lvl="1" indent="-283680">
              <a:lnSpc>
                <a:spcPct val="100000"/>
              </a:lnSpc>
              <a:spcBef>
                <a:spcPts val="519"/>
              </a:spcBef>
              <a:buClr>
                <a:srgbClr val="336699"/>
              </a:buClr>
              <a:buFont typeface="Noto Sans Symbols"/>
              <a:buChar char="●"/>
            </a:pPr>
            <a:r>
              <a:rPr lang="en-US" sz="2400" b="0" strike="noStrike" spc="-1">
                <a:solidFill>
                  <a:srgbClr val="009999"/>
                </a:solidFill>
                <a:latin typeface="Arial"/>
                <a:ea typeface="Arial"/>
              </a:rPr>
              <a:t>  23-bit F is: (1.)0000000011 0011 0011 0011 0</a:t>
            </a:r>
            <a:endParaRPr lang="en-US" sz="2400" b="0" strike="noStrike" spc="-1">
              <a:solidFill>
                <a:srgbClr val="000000"/>
              </a:solidFill>
              <a:latin typeface="Arial"/>
            </a:endParaRPr>
          </a:p>
          <a:p>
            <a:pPr marL="343080" indent="-340920">
              <a:lnSpc>
                <a:spcPct val="100000"/>
              </a:lnSpc>
              <a:spcBef>
                <a:spcPts val="561"/>
              </a:spcBef>
              <a:buClr>
                <a:srgbClr val="990000"/>
              </a:buClr>
              <a:buFont typeface="Noto Sans Symbols"/>
              <a:buChar char="●"/>
            </a:pPr>
            <a:r>
              <a:rPr lang="en-US" sz="2600" b="0" strike="noStrike" spc="-1">
                <a:solidFill>
                  <a:srgbClr val="009999"/>
                </a:solidFill>
                <a:latin typeface="Arial"/>
                <a:ea typeface="Arial"/>
              </a:rPr>
              <a:t>S E F is: (Sign, Exponent, Fraction)</a:t>
            </a:r>
            <a:endParaRPr lang="en-US" sz="2600" b="0" strike="noStrike" spc="-1">
              <a:solidFill>
                <a:srgbClr val="000000"/>
              </a:solidFill>
              <a:latin typeface="Arial"/>
            </a:endParaRPr>
          </a:p>
          <a:p>
            <a:pPr marL="743040" lvl="1" indent="-283680">
              <a:lnSpc>
                <a:spcPct val="100000"/>
              </a:lnSpc>
              <a:spcBef>
                <a:spcPts val="519"/>
              </a:spcBef>
              <a:buClr>
                <a:srgbClr val="336699"/>
              </a:buClr>
              <a:buFont typeface="Noto Sans Symbols"/>
              <a:buChar char="●"/>
            </a:pPr>
            <a:r>
              <a:rPr lang="en-US" sz="2400" b="0" strike="noStrike" spc="-1">
                <a:solidFill>
                  <a:srgbClr val="009999"/>
                </a:solidFill>
                <a:highlight>
                  <a:srgbClr val="CFE2F3"/>
                </a:highlight>
                <a:latin typeface="Arial"/>
                <a:ea typeface="Arial"/>
              </a:rPr>
              <a:t>S = 0 </a:t>
            </a:r>
            <a:endParaRPr lang="en-US" sz="2400" b="0" strike="noStrike" spc="-1">
              <a:solidFill>
                <a:srgbClr val="000000"/>
              </a:solidFill>
              <a:latin typeface="Arial"/>
            </a:endParaRPr>
          </a:p>
          <a:p>
            <a:pPr marL="743040" lvl="1" indent="-283680">
              <a:lnSpc>
                <a:spcPct val="100000"/>
              </a:lnSpc>
              <a:spcBef>
                <a:spcPts val="519"/>
              </a:spcBef>
              <a:buClr>
                <a:srgbClr val="336699"/>
              </a:buClr>
              <a:buFont typeface="Noto Sans Symbols"/>
              <a:buChar char="●"/>
            </a:pPr>
            <a:r>
              <a:rPr lang="en-US" sz="2400" b="0" strike="noStrike" spc="-1">
                <a:solidFill>
                  <a:srgbClr val="009999"/>
                </a:solidFill>
                <a:highlight>
                  <a:srgbClr val="EAD1DC"/>
                </a:highlight>
                <a:latin typeface="Arial"/>
                <a:ea typeface="Arial"/>
              </a:rPr>
              <a:t>E = 10000101 </a:t>
            </a:r>
            <a:endParaRPr lang="en-US" sz="2400" b="0" strike="noStrike" spc="-1">
              <a:solidFill>
                <a:srgbClr val="000000"/>
              </a:solidFill>
              <a:latin typeface="Arial"/>
            </a:endParaRPr>
          </a:p>
          <a:p>
            <a:pPr marL="743040" lvl="1" indent="-283680">
              <a:lnSpc>
                <a:spcPct val="100000"/>
              </a:lnSpc>
              <a:spcBef>
                <a:spcPts val="519"/>
              </a:spcBef>
              <a:buClr>
                <a:srgbClr val="336699"/>
              </a:buClr>
              <a:buFont typeface="Noto Sans Symbols"/>
              <a:buChar char="●"/>
            </a:pPr>
            <a:r>
              <a:rPr lang="en-US" sz="2400" b="0" strike="noStrike" spc="-1">
                <a:solidFill>
                  <a:srgbClr val="009999"/>
                </a:solidFill>
                <a:highlight>
                  <a:srgbClr val="FCE5CD"/>
                </a:highlight>
                <a:latin typeface="Arial"/>
                <a:ea typeface="Arial"/>
              </a:rPr>
              <a:t>F = 00000000110011001100110</a:t>
            </a:r>
            <a:endParaRPr lang="en-US" sz="2400" b="0" strike="noStrike" spc="-1">
              <a:solidFill>
                <a:srgbClr val="000000"/>
              </a:solidFill>
              <a:latin typeface="Arial"/>
            </a:endParaRPr>
          </a:p>
          <a:p>
            <a:pPr marL="343080" indent="-340920">
              <a:lnSpc>
                <a:spcPct val="100000"/>
              </a:lnSpc>
              <a:spcBef>
                <a:spcPts val="561"/>
              </a:spcBef>
              <a:buClr>
                <a:srgbClr val="990000"/>
              </a:buClr>
              <a:buFont typeface="Noto Sans Symbols"/>
              <a:buChar char="●"/>
            </a:pPr>
            <a:r>
              <a:rPr lang="en-US" sz="2600" b="0" strike="noStrike" spc="-1">
                <a:solidFill>
                  <a:srgbClr val="009999"/>
                </a:solidFill>
                <a:highlight>
                  <a:srgbClr val="FCE5CD"/>
                </a:highlight>
                <a:latin typeface="Arial"/>
                <a:ea typeface="Arial"/>
              </a:rPr>
              <a:t>In hex: </a:t>
            </a:r>
            <a:endParaRPr lang="en-US" sz="2600" b="0" strike="noStrike" spc="-1">
              <a:solidFill>
                <a:srgbClr val="000000"/>
              </a:solidFill>
              <a:latin typeface="Arial"/>
            </a:endParaRPr>
          </a:p>
          <a:p>
            <a:pPr marL="743040" lvl="1" indent="-283680">
              <a:lnSpc>
                <a:spcPct val="100000"/>
              </a:lnSpc>
              <a:spcBef>
                <a:spcPts val="519"/>
              </a:spcBef>
              <a:buClr>
                <a:srgbClr val="336699"/>
              </a:buClr>
              <a:buFont typeface="Noto Sans Symbols"/>
              <a:buChar char="●"/>
            </a:pPr>
            <a:r>
              <a:rPr lang="en-US" sz="2400" b="0" strike="noStrike" spc="-1">
                <a:solidFill>
                  <a:srgbClr val="009999"/>
                </a:solidFill>
                <a:highlight>
                  <a:srgbClr val="FCE5CD"/>
                </a:highlight>
                <a:latin typeface="Arial"/>
                <a:ea typeface="Arial"/>
              </a:rPr>
              <a:t>0x42806666</a:t>
            </a:r>
            <a:endParaRPr lang="en-US" sz="2400" b="0" strike="noStrike" spc="-1">
              <a:solidFill>
                <a:srgbClr val="000000"/>
              </a:solidFill>
              <a:latin typeface="Arial"/>
            </a:endParaRPr>
          </a:p>
          <a:p>
            <a:pPr marL="743040">
              <a:lnSpc>
                <a:spcPct val="100000"/>
              </a:lnSpc>
              <a:spcBef>
                <a:spcPts val="519"/>
              </a:spcBef>
              <a:tabLst>
                <a:tab pos="0" algn="l"/>
              </a:tabLst>
            </a:pPr>
            <a:r>
              <a:rPr lang="en-US" sz="2600" b="0" strike="noStrike" spc="-1">
                <a:solidFill>
                  <a:srgbClr val="009999"/>
                </a:solidFill>
                <a:highlight>
                  <a:srgbClr val="CFE2F3"/>
                </a:highlight>
                <a:latin typeface="Arial"/>
                <a:ea typeface="Arial"/>
              </a:rPr>
              <a:t>0</a:t>
            </a:r>
            <a:r>
              <a:rPr lang="en-US" sz="2600" b="0" strike="noStrike" spc="-1">
                <a:solidFill>
                  <a:srgbClr val="009999"/>
                </a:solidFill>
                <a:highlight>
                  <a:srgbClr val="EAD1DC"/>
                </a:highlight>
                <a:latin typeface="Arial"/>
                <a:ea typeface="Arial"/>
              </a:rPr>
              <a:t>100 0010 1</a:t>
            </a:r>
            <a:r>
              <a:rPr lang="en-US" sz="2600" b="0" strike="noStrike" spc="-1">
                <a:solidFill>
                  <a:srgbClr val="009999"/>
                </a:solidFill>
                <a:highlight>
                  <a:srgbClr val="FCE5CD"/>
                </a:highlight>
                <a:latin typeface="Arial"/>
                <a:ea typeface="Arial"/>
              </a:rPr>
              <a:t>000 0000 0110 0110 0110 0110</a:t>
            </a:r>
            <a:endParaRPr lang="en-US" sz="2600" b="0" strike="noStrike" spc="-1">
              <a:solidFill>
                <a:srgbClr val="000000"/>
              </a:solidFill>
              <a:latin typeface="Arial"/>
            </a:endParaRPr>
          </a:p>
          <a:p>
            <a:pPr marL="343080" indent="-234000">
              <a:lnSpc>
                <a:spcPct val="100000"/>
              </a:lnSpc>
              <a:spcBef>
                <a:spcPts val="561"/>
              </a:spcBef>
              <a:tabLst>
                <a:tab pos="0" algn="l"/>
              </a:tabLst>
            </a:pPr>
            <a:endParaRPr lang="en-US" sz="2800" b="0" strike="noStrike" spc="-1">
              <a:solidFill>
                <a:srgbClr val="000000"/>
              </a:solidFill>
              <a:latin typeface="Arial"/>
            </a:endParaRPr>
          </a:p>
          <a:p>
            <a:pPr marL="343080" indent="-234000">
              <a:lnSpc>
                <a:spcPct val="100000"/>
              </a:lnSpc>
              <a:spcBef>
                <a:spcPts val="561"/>
              </a:spcBef>
              <a:tabLst>
                <a:tab pos="0" algn="l"/>
              </a:tabLst>
            </a:pPr>
            <a:endParaRPr lang="en-US" sz="2800" b="0" strike="noStrike" spc="-1">
              <a:solidFill>
                <a:srgbClr val="00000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 name="CustomShape 1"/>
          <p:cNvSpPr/>
          <p:nvPr/>
        </p:nvSpPr>
        <p:spPr>
          <a:xfrm>
            <a:off x="0" y="0"/>
            <a:ext cx="9138960" cy="90936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4000" b="1" strike="noStrike" spc="-1">
                <a:solidFill>
                  <a:srgbClr val="336699"/>
                </a:solidFill>
                <a:latin typeface="Arial Narrow"/>
                <a:ea typeface="Arial Narrow"/>
              </a:rPr>
              <a:t>Convert IEEE SP to Decimal Real</a:t>
            </a:r>
            <a:endParaRPr lang="en-US" sz="4000" b="0" strike="noStrike" spc="-1">
              <a:solidFill>
                <a:srgbClr val="000000"/>
              </a:solidFill>
              <a:latin typeface="Arial"/>
            </a:endParaRPr>
          </a:p>
        </p:txBody>
      </p:sp>
      <p:sp>
        <p:nvSpPr>
          <p:cNvPr id="634" name="CustomShape 2"/>
          <p:cNvSpPr/>
          <p:nvPr/>
        </p:nvSpPr>
        <p:spPr>
          <a:xfrm>
            <a:off x="762120" y="1066680"/>
            <a:ext cx="8148240" cy="540504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t">
            <a:noAutofit/>
          </a:bodyPr>
          <a:lstStyle/>
          <a:p>
            <a:pPr marL="343080" indent="-340920">
              <a:lnSpc>
                <a:spcPct val="100000"/>
              </a:lnSpc>
              <a:buClr>
                <a:srgbClr val="990000"/>
              </a:buClr>
              <a:buFont typeface="Noto Sans Symbols"/>
              <a:buChar char="●"/>
            </a:pPr>
            <a:r>
              <a:rPr lang="en-US" sz="2800" b="0" strike="noStrike" spc="-1">
                <a:solidFill>
                  <a:srgbClr val="009999"/>
                </a:solidFill>
                <a:latin typeface="Arial"/>
                <a:ea typeface="Arial"/>
              </a:rPr>
              <a:t>What is the decimal value for this SP FP number 0xC228 0000?</a:t>
            </a:r>
            <a:endParaRPr lang="en-US" sz="2800" b="0" strike="noStrike" spc="-1">
              <a:solidFill>
                <a:srgbClr val="000000"/>
              </a:solidFill>
              <a:latin typeface="Arial"/>
            </a:endParaRPr>
          </a:p>
          <a:p>
            <a:pPr marL="743040" lvl="1" indent="-283680">
              <a:lnSpc>
                <a:spcPct val="100000"/>
              </a:lnSpc>
              <a:spcBef>
                <a:spcPts val="519"/>
              </a:spcBef>
              <a:buClr>
                <a:srgbClr val="336699"/>
              </a:buClr>
              <a:buFont typeface="Noto Sans Symbols"/>
              <a:buChar char="●"/>
            </a:pPr>
            <a:r>
              <a:rPr lang="en-US" sz="2600" b="0" strike="noStrike" spc="-1">
                <a:solidFill>
                  <a:srgbClr val="009999"/>
                </a:solidFill>
                <a:latin typeface="Arial"/>
                <a:ea typeface="Arial"/>
              </a:rPr>
              <a:t>Convert to binary</a:t>
            </a:r>
            <a:endParaRPr lang="en-US" sz="2600" b="0" strike="noStrike" spc="-1">
              <a:solidFill>
                <a:srgbClr val="000000"/>
              </a:solidFill>
              <a:latin typeface="Arial"/>
            </a:endParaRPr>
          </a:p>
          <a:p>
            <a:pPr marL="743040" indent="-176400">
              <a:lnSpc>
                <a:spcPct val="100000"/>
              </a:lnSpc>
              <a:spcBef>
                <a:spcPts val="519"/>
              </a:spcBef>
              <a:tabLst>
                <a:tab pos="0" algn="l"/>
              </a:tabLst>
            </a:pPr>
            <a:r>
              <a:rPr lang="en-US" sz="2600" b="0" strike="noStrike" spc="-1">
                <a:solidFill>
                  <a:srgbClr val="009999"/>
                </a:solidFill>
                <a:highlight>
                  <a:srgbClr val="00FFFF"/>
                </a:highlight>
                <a:latin typeface="Arial"/>
                <a:ea typeface="Arial"/>
              </a:rPr>
              <a:t>1</a:t>
            </a:r>
            <a:r>
              <a:rPr lang="en-US" sz="2600" b="0" strike="noStrike" spc="-1">
                <a:solidFill>
                  <a:srgbClr val="009999"/>
                </a:solidFill>
                <a:highlight>
                  <a:srgbClr val="EAD1DC"/>
                </a:highlight>
                <a:latin typeface="Arial"/>
                <a:ea typeface="Arial"/>
              </a:rPr>
              <a:t>100 0010 0</a:t>
            </a:r>
            <a:r>
              <a:rPr lang="en-US" sz="2600" b="0" strike="noStrike" spc="-1">
                <a:solidFill>
                  <a:srgbClr val="009999"/>
                </a:solidFill>
                <a:highlight>
                  <a:srgbClr val="FCE5CD"/>
                </a:highlight>
                <a:latin typeface="Arial"/>
                <a:ea typeface="Arial"/>
              </a:rPr>
              <a:t>010 1000 0000 0000 0000 0000</a:t>
            </a:r>
            <a:endParaRPr lang="en-US" sz="2600" b="0" strike="noStrike" spc="-1">
              <a:solidFill>
                <a:srgbClr val="000000"/>
              </a:solidFill>
              <a:latin typeface="Arial"/>
            </a:endParaRPr>
          </a:p>
          <a:p>
            <a:pPr marL="743040" lvl="1" indent="-283680">
              <a:lnSpc>
                <a:spcPct val="100000"/>
              </a:lnSpc>
              <a:spcBef>
                <a:spcPts val="519"/>
              </a:spcBef>
              <a:buClr>
                <a:srgbClr val="336699"/>
              </a:buClr>
              <a:buFont typeface="Noto Sans Symbols"/>
              <a:buChar char="●"/>
              <a:tabLst>
                <a:tab pos="0" algn="l"/>
              </a:tabLst>
            </a:pPr>
            <a:r>
              <a:rPr lang="en-US" sz="2600" b="0" strike="noStrike" spc="-1">
                <a:solidFill>
                  <a:srgbClr val="009999"/>
                </a:solidFill>
                <a:highlight>
                  <a:srgbClr val="FCE5CD"/>
                </a:highlight>
                <a:latin typeface="Arial"/>
                <a:ea typeface="Arial"/>
              </a:rPr>
              <a:t>Break into </a:t>
            </a:r>
            <a:r>
              <a:rPr lang="en-US" sz="2600" b="0" strike="noStrike" spc="-1">
                <a:solidFill>
                  <a:srgbClr val="009999"/>
                </a:solidFill>
                <a:highlight>
                  <a:srgbClr val="00FFFF"/>
                </a:highlight>
                <a:latin typeface="Arial"/>
                <a:ea typeface="Arial"/>
              </a:rPr>
              <a:t>S, </a:t>
            </a:r>
            <a:r>
              <a:rPr lang="en-US" sz="2600" b="0" strike="noStrike" spc="-1">
                <a:solidFill>
                  <a:srgbClr val="009999"/>
                </a:solidFill>
                <a:highlight>
                  <a:srgbClr val="EAD1DC"/>
                </a:highlight>
                <a:latin typeface="Arial"/>
                <a:ea typeface="Arial"/>
              </a:rPr>
              <a:t>E, </a:t>
            </a:r>
            <a:r>
              <a:rPr lang="en-US" sz="2600" b="0" strike="noStrike" spc="-1">
                <a:solidFill>
                  <a:srgbClr val="009999"/>
                </a:solidFill>
                <a:highlight>
                  <a:srgbClr val="FFF2CC"/>
                </a:highlight>
                <a:latin typeface="Arial"/>
                <a:ea typeface="Arial"/>
              </a:rPr>
              <a:t>F: </a:t>
            </a:r>
            <a:endParaRPr lang="en-US" sz="2600" b="0" strike="noStrike" spc="-1">
              <a:solidFill>
                <a:srgbClr val="000000"/>
              </a:solidFill>
              <a:latin typeface="Arial"/>
            </a:endParaRPr>
          </a:p>
          <a:p>
            <a:pPr marL="743040" lvl="1" indent="-283680">
              <a:lnSpc>
                <a:spcPct val="100000"/>
              </a:lnSpc>
              <a:spcBef>
                <a:spcPts val="519"/>
              </a:spcBef>
              <a:buClr>
                <a:srgbClr val="336699"/>
              </a:buClr>
              <a:buFont typeface="Noto Sans Symbols"/>
              <a:buChar char="●"/>
              <a:tabLst>
                <a:tab pos="0" algn="l"/>
              </a:tabLst>
            </a:pPr>
            <a:r>
              <a:rPr lang="en-US" sz="2600" b="0" strike="noStrike" spc="-1">
                <a:solidFill>
                  <a:srgbClr val="009999"/>
                </a:solidFill>
                <a:highlight>
                  <a:srgbClr val="FFF2CC"/>
                </a:highlight>
                <a:latin typeface="Arial"/>
                <a:ea typeface="Arial"/>
              </a:rPr>
              <a:t>E is 10000100 = 132 decimal: 132 – 127 = 5</a:t>
            </a:r>
            <a:endParaRPr lang="en-US" sz="2600" b="0" strike="noStrike" spc="-1">
              <a:solidFill>
                <a:srgbClr val="000000"/>
              </a:solidFill>
              <a:latin typeface="Arial"/>
            </a:endParaRPr>
          </a:p>
          <a:p>
            <a:pPr marL="743040" lvl="1" indent="-283680">
              <a:lnSpc>
                <a:spcPct val="100000"/>
              </a:lnSpc>
              <a:spcBef>
                <a:spcPts val="519"/>
              </a:spcBef>
              <a:buClr>
                <a:srgbClr val="336699"/>
              </a:buClr>
              <a:buFont typeface="Noto Sans Symbols"/>
              <a:buChar char="●"/>
              <a:tabLst>
                <a:tab pos="0" algn="l"/>
              </a:tabLst>
            </a:pPr>
            <a:r>
              <a:rPr lang="en-US" sz="2600" b="0" strike="noStrike" spc="-1">
                <a:solidFill>
                  <a:srgbClr val="009999"/>
                </a:solidFill>
                <a:highlight>
                  <a:srgbClr val="FFF2CC"/>
                </a:highlight>
                <a:latin typeface="Arial"/>
                <a:ea typeface="Arial"/>
              </a:rPr>
              <a:t>F is (1.)0101000… </a:t>
            </a:r>
            <a:endParaRPr lang="en-US" sz="2600" b="0" strike="noStrike" spc="-1">
              <a:solidFill>
                <a:srgbClr val="000000"/>
              </a:solidFill>
              <a:latin typeface="Arial"/>
            </a:endParaRPr>
          </a:p>
          <a:p>
            <a:pPr marL="743040" lvl="1" indent="-283680">
              <a:lnSpc>
                <a:spcPct val="100000"/>
              </a:lnSpc>
              <a:spcBef>
                <a:spcPts val="519"/>
              </a:spcBef>
              <a:buClr>
                <a:srgbClr val="336699"/>
              </a:buClr>
              <a:buFont typeface="Noto Sans Symbols"/>
              <a:buChar char="●"/>
              <a:tabLst>
                <a:tab pos="0" algn="l"/>
              </a:tabLst>
            </a:pPr>
            <a:r>
              <a:rPr lang="en-US" sz="2600" b="0" strike="noStrike" spc="-1">
                <a:solidFill>
                  <a:srgbClr val="009999"/>
                </a:solidFill>
                <a:highlight>
                  <a:srgbClr val="FFF2CC"/>
                </a:highlight>
                <a:latin typeface="Arial"/>
                <a:ea typeface="Arial"/>
              </a:rPr>
              <a:t>Move decimal over 5: 101010.000…</a:t>
            </a:r>
            <a:endParaRPr lang="en-US" sz="2600" b="0" strike="noStrike" spc="-1">
              <a:solidFill>
                <a:srgbClr val="000000"/>
              </a:solidFill>
              <a:latin typeface="Arial"/>
            </a:endParaRPr>
          </a:p>
          <a:p>
            <a:pPr marL="743040" lvl="1" indent="-283680">
              <a:lnSpc>
                <a:spcPct val="100000"/>
              </a:lnSpc>
              <a:spcBef>
                <a:spcPts val="519"/>
              </a:spcBef>
              <a:buClr>
                <a:srgbClr val="336699"/>
              </a:buClr>
              <a:buFont typeface="Noto Sans Symbols"/>
              <a:buChar char="●"/>
              <a:tabLst>
                <a:tab pos="0" algn="l"/>
              </a:tabLst>
            </a:pPr>
            <a:r>
              <a:rPr lang="en-US" sz="2600" b="0" strike="noStrike" spc="-1">
                <a:solidFill>
                  <a:srgbClr val="009999"/>
                </a:solidFill>
                <a:highlight>
                  <a:srgbClr val="FFF2CC"/>
                </a:highlight>
                <a:latin typeface="Arial"/>
                <a:ea typeface="Arial"/>
              </a:rPr>
              <a:t>Accounting for S E F results in -42!</a:t>
            </a:r>
            <a:endParaRPr lang="en-US" sz="2600" b="0" strike="noStrike" spc="-1">
              <a:solidFill>
                <a:srgbClr val="000000"/>
              </a:solidFill>
              <a:latin typeface="Arial"/>
            </a:endParaRPr>
          </a:p>
          <a:p>
            <a:pPr marL="343080" indent="-234000">
              <a:lnSpc>
                <a:spcPct val="100000"/>
              </a:lnSpc>
              <a:spcBef>
                <a:spcPts val="561"/>
              </a:spcBef>
              <a:tabLst>
                <a:tab pos="0" algn="l"/>
              </a:tabLst>
            </a:pPr>
            <a:endParaRPr lang="en-US" sz="2600" b="0" strike="noStrike" spc="-1">
              <a:solidFill>
                <a:srgbClr val="000000"/>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CustomShape 1"/>
          <p:cNvSpPr/>
          <p:nvPr/>
        </p:nvSpPr>
        <p:spPr>
          <a:xfrm>
            <a:off x="0" y="0"/>
            <a:ext cx="9138960" cy="90936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4000" b="1" strike="noStrike" spc="-1">
                <a:solidFill>
                  <a:srgbClr val="336699"/>
                </a:solidFill>
                <a:latin typeface="Arial Narrow"/>
                <a:ea typeface="Arial Narrow"/>
              </a:rPr>
              <a:t>Convert IEEE SP to Real: Example</a:t>
            </a:r>
            <a:endParaRPr lang="en-US" sz="4000" b="0" strike="noStrike" spc="-1">
              <a:solidFill>
                <a:srgbClr val="000000"/>
              </a:solidFill>
              <a:latin typeface="Arial"/>
            </a:endParaRPr>
          </a:p>
        </p:txBody>
      </p:sp>
      <p:sp>
        <p:nvSpPr>
          <p:cNvPr id="636" name="CustomShape 2"/>
          <p:cNvSpPr/>
          <p:nvPr/>
        </p:nvSpPr>
        <p:spPr>
          <a:xfrm>
            <a:off x="762120" y="1066680"/>
            <a:ext cx="8148240" cy="540504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t">
            <a:noAutofit/>
          </a:bodyPr>
          <a:lstStyle/>
          <a:p>
            <a:pPr marL="343080" indent="-340920">
              <a:lnSpc>
                <a:spcPct val="100000"/>
              </a:lnSpc>
              <a:buClr>
                <a:srgbClr val="990000"/>
              </a:buClr>
              <a:buFont typeface="Noto Sans Symbols"/>
              <a:buChar char="●"/>
            </a:pPr>
            <a:r>
              <a:rPr lang="en-US" sz="2800" b="0" strike="noStrike" spc="-1">
                <a:solidFill>
                  <a:srgbClr val="009999"/>
                </a:solidFill>
                <a:latin typeface="Arial"/>
                <a:ea typeface="Arial"/>
              </a:rPr>
              <a:t>0x3F800000</a:t>
            </a:r>
            <a:endParaRPr lang="en-US" sz="2800" b="0" strike="noStrike" spc="-1">
              <a:solidFill>
                <a:srgbClr val="000000"/>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 name="CustomShape 1"/>
          <p:cNvSpPr/>
          <p:nvPr/>
        </p:nvSpPr>
        <p:spPr>
          <a:xfrm>
            <a:off x="0" y="0"/>
            <a:ext cx="9138960" cy="90936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4000" b="1" strike="noStrike" spc="-1">
                <a:solidFill>
                  <a:srgbClr val="336699"/>
                </a:solidFill>
                <a:latin typeface="Arial Narrow"/>
                <a:ea typeface="Arial Narrow"/>
              </a:rPr>
              <a:t>Convert IEEE SP to Real</a:t>
            </a:r>
            <a:endParaRPr lang="en-US" sz="4000" b="0" strike="noStrike" spc="-1">
              <a:solidFill>
                <a:srgbClr val="000000"/>
              </a:solidFill>
              <a:latin typeface="Arial"/>
            </a:endParaRPr>
          </a:p>
        </p:txBody>
      </p:sp>
      <p:sp>
        <p:nvSpPr>
          <p:cNvPr id="638" name="CustomShape 2"/>
          <p:cNvSpPr/>
          <p:nvPr/>
        </p:nvSpPr>
        <p:spPr>
          <a:xfrm>
            <a:off x="762120" y="1066680"/>
            <a:ext cx="8148240" cy="540504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t">
            <a:noAutofit/>
          </a:bodyPr>
          <a:lstStyle/>
          <a:p>
            <a:pPr marL="343080" indent="-340920">
              <a:lnSpc>
                <a:spcPct val="100000"/>
              </a:lnSpc>
              <a:buClr>
                <a:srgbClr val="990000"/>
              </a:buClr>
              <a:buFont typeface="Noto Sans Symbols"/>
              <a:buChar char="●"/>
            </a:pPr>
            <a:r>
              <a:rPr lang="en-US" sz="2800" b="0" strike="noStrike" spc="-1">
                <a:solidFill>
                  <a:srgbClr val="009999"/>
                </a:solidFill>
                <a:latin typeface="Arial"/>
                <a:ea typeface="Arial"/>
              </a:rPr>
              <a:t>0x3F800000</a:t>
            </a:r>
            <a:endParaRPr lang="en-US" sz="2800" b="0" strike="noStrike" spc="-1">
              <a:solidFill>
                <a:srgbClr val="000000"/>
              </a:solidFill>
              <a:latin typeface="Arial"/>
            </a:endParaRPr>
          </a:p>
          <a:p>
            <a:pPr marL="343080" indent="-340920">
              <a:lnSpc>
                <a:spcPct val="100000"/>
              </a:lnSpc>
              <a:tabLst>
                <a:tab pos="0" algn="l"/>
              </a:tabLst>
            </a:pPr>
            <a:endParaRPr lang="en-US" sz="2800" b="0" strike="noStrike" spc="-1">
              <a:solidFill>
                <a:srgbClr val="000000"/>
              </a:solidFill>
              <a:latin typeface="Arial"/>
            </a:endParaRPr>
          </a:p>
          <a:p>
            <a:pPr marL="343080" indent="-340920">
              <a:lnSpc>
                <a:spcPct val="100000"/>
              </a:lnSpc>
              <a:tabLst>
                <a:tab pos="0" algn="l"/>
              </a:tabLst>
            </a:pPr>
            <a:r>
              <a:rPr lang="en-US" sz="2800" b="0" strike="noStrike" spc="-1">
                <a:solidFill>
                  <a:srgbClr val="009999"/>
                </a:solidFill>
                <a:latin typeface="Arial"/>
                <a:ea typeface="Arial"/>
              </a:rPr>
              <a:t>0011 1111 1000 0000 0000 0000 0000 0000</a:t>
            </a:r>
            <a:endParaRPr lang="en-US" sz="2800" b="0" strike="noStrike" spc="-1">
              <a:solidFill>
                <a:srgbClr val="000000"/>
              </a:solidFill>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9" name="CustomShape 1"/>
          <p:cNvSpPr/>
          <p:nvPr/>
        </p:nvSpPr>
        <p:spPr>
          <a:xfrm>
            <a:off x="0" y="0"/>
            <a:ext cx="9138960" cy="90936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4000" b="1" strike="noStrike" spc="-1">
                <a:solidFill>
                  <a:srgbClr val="336699"/>
                </a:solidFill>
                <a:latin typeface="Arial Narrow"/>
                <a:ea typeface="Arial Narrow"/>
              </a:rPr>
              <a:t>Convert IEEE SP to Real</a:t>
            </a:r>
            <a:endParaRPr lang="en-US" sz="4000" b="0" strike="noStrike" spc="-1">
              <a:solidFill>
                <a:srgbClr val="000000"/>
              </a:solidFill>
              <a:latin typeface="Arial"/>
            </a:endParaRPr>
          </a:p>
        </p:txBody>
      </p:sp>
      <p:sp>
        <p:nvSpPr>
          <p:cNvPr id="640" name="CustomShape 2"/>
          <p:cNvSpPr/>
          <p:nvPr/>
        </p:nvSpPr>
        <p:spPr>
          <a:xfrm>
            <a:off x="762120" y="1066680"/>
            <a:ext cx="8148240" cy="540504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t">
            <a:noAutofit/>
          </a:bodyPr>
          <a:lstStyle/>
          <a:p>
            <a:pPr marL="343080" indent="-340920">
              <a:lnSpc>
                <a:spcPct val="100000"/>
              </a:lnSpc>
              <a:buClr>
                <a:srgbClr val="990000"/>
              </a:buClr>
              <a:buFont typeface="Noto Sans Symbols"/>
              <a:buChar char="●"/>
            </a:pPr>
            <a:r>
              <a:rPr lang="en-US" sz="2800" b="0" strike="noStrike" spc="-1">
                <a:solidFill>
                  <a:srgbClr val="009999"/>
                </a:solidFill>
                <a:latin typeface="Arial"/>
                <a:ea typeface="Arial"/>
              </a:rPr>
              <a:t>0x3F800000</a:t>
            </a:r>
            <a:endParaRPr lang="en-US" sz="2800" b="0" strike="noStrike" spc="-1">
              <a:solidFill>
                <a:srgbClr val="000000"/>
              </a:solidFill>
              <a:latin typeface="Arial"/>
            </a:endParaRPr>
          </a:p>
          <a:p>
            <a:pPr marL="343080">
              <a:lnSpc>
                <a:spcPct val="100000"/>
              </a:lnSpc>
              <a:tabLst>
                <a:tab pos="0" algn="l"/>
              </a:tabLst>
            </a:pPr>
            <a:endParaRPr lang="en-US" sz="2800" b="0" strike="noStrike" spc="-1">
              <a:solidFill>
                <a:srgbClr val="000000"/>
              </a:solidFill>
              <a:latin typeface="Arial"/>
            </a:endParaRPr>
          </a:p>
          <a:p>
            <a:pPr marL="343080">
              <a:lnSpc>
                <a:spcPct val="100000"/>
              </a:lnSpc>
              <a:tabLst>
                <a:tab pos="0" algn="l"/>
              </a:tabLst>
            </a:pPr>
            <a:r>
              <a:rPr lang="en-US" sz="2800" b="0" strike="noStrike" spc="-1">
                <a:solidFill>
                  <a:srgbClr val="009999"/>
                </a:solidFill>
                <a:highlight>
                  <a:srgbClr val="CFE2F3"/>
                </a:highlight>
                <a:latin typeface="Arial"/>
                <a:ea typeface="Arial"/>
              </a:rPr>
              <a:t>0</a:t>
            </a:r>
            <a:r>
              <a:rPr lang="en-US" sz="2800" b="0" strike="noStrike" spc="-1">
                <a:solidFill>
                  <a:srgbClr val="009999"/>
                </a:solidFill>
                <a:highlight>
                  <a:srgbClr val="EAD1DC"/>
                </a:highlight>
                <a:latin typeface="Arial"/>
                <a:ea typeface="Arial"/>
              </a:rPr>
              <a:t>011 1111 1</a:t>
            </a:r>
            <a:r>
              <a:rPr lang="en-US" sz="2800" b="0" strike="noStrike" spc="-1">
                <a:solidFill>
                  <a:srgbClr val="009999"/>
                </a:solidFill>
                <a:highlight>
                  <a:srgbClr val="FCE5CD"/>
                </a:highlight>
                <a:latin typeface="Arial"/>
                <a:ea typeface="Arial"/>
              </a:rPr>
              <a:t>000 0000 0000 0000 0000 0000</a:t>
            </a:r>
            <a:endParaRPr lang="en-US" sz="2800" b="0" strike="noStrike" spc="-1">
              <a:solidFill>
                <a:srgbClr val="000000"/>
              </a:solidFill>
              <a:latin typeface="Arial"/>
            </a:endParaRPr>
          </a:p>
          <a:p>
            <a:pPr marL="343080">
              <a:lnSpc>
                <a:spcPct val="100000"/>
              </a:lnSpc>
              <a:tabLst>
                <a:tab pos="0" algn="l"/>
              </a:tabLst>
            </a:pPr>
            <a:endParaRPr lang="en-US" sz="2800" b="0" strike="noStrike" spc="-1">
              <a:solidFill>
                <a:srgbClr val="000000"/>
              </a:solidFill>
              <a:latin typeface="Arial"/>
            </a:endParaRPr>
          </a:p>
          <a:p>
            <a:pPr marL="343080">
              <a:lnSpc>
                <a:spcPct val="100000"/>
              </a:lnSpc>
              <a:tabLst>
                <a:tab pos="0" algn="l"/>
              </a:tabLst>
            </a:pPr>
            <a:r>
              <a:rPr lang="en-US" sz="2800" b="0" strike="noStrike" spc="-1">
                <a:solidFill>
                  <a:srgbClr val="009999"/>
                </a:solidFill>
                <a:highlight>
                  <a:srgbClr val="CFE2F3"/>
                </a:highlight>
                <a:latin typeface="Arial"/>
                <a:ea typeface="Arial"/>
              </a:rPr>
              <a:t>S = 0</a:t>
            </a:r>
            <a:endParaRPr lang="en-US" sz="2800" b="0" strike="noStrike" spc="-1">
              <a:solidFill>
                <a:srgbClr val="000000"/>
              </a:solidFill>
              <a:latin typeface="Arial"/>
            </a:endParaRPr>
          </a:p>
          <a:p>
            <a:pPr marL="343080">
              <a:lnSpc>
                <a:spcPct val="100000"/>
              </a:lnSpc>
              <a:tabLst>
                <a:tab pos="0" algn="l"/>
              </a:tabLst>
            </a:pPr>
            <a:r>
              <a:rPr lang="en-US" sz="2800" b="0" strike="noStrike" spc="-1">
                <a:solidFill>
                  <a:srgbClr val="009999"/>
                </a:solidFill>
                <a:highlight>
                  <a:srgbClr val="EAD1DC"/>
                </a:highlight>
                <a:latin typeface="Arial"/>
                <a:ea typeface="Arial"/>
              </a:rPr>
              <a:t>E = 0111 1111 = 127 - 127</a:t>
            </a:r>
            <a:endParaRPr lang="en-US" sz="2800" b="0" strike="noStrike" spc="-1">
              <a:solidFill>
                <a:srgbClr val="000000"/>
              </a:solidFill>
              <a:latin typeface="Arial"/>
            </a:endParaRPr>
          </a:p>
          <a:p>
            <a:pPr marL="343080">
              <a:lnSpc>
                <a:spcPct val="100000"/>
              </a:lnSpc>
              <a:tabLst>
                <a:tab pos="0" algn="l"/>
              </a:tabLst>
            </a:pPr>
            <a:r>
              <a:rPr lang="en-US" sz="2800" b="0" strike="noStrike" spc="-1">
                <a:solidFill>
                  <a:srgbClr val="009999"/>
                </a:solidFill>
                <a:highlight>
                  <a:srgbClr val="FCE5CD"/>
                </a:highlight>
                <a:latin typeface="Arial"/>
                <a:ea typeface="Arial"/>
              </a:rPr>
              <a:t>F = 1.0</a:t>
            </a:r>
            <a:endParaRPr lang="en-US" sz="2800" b="0" strike="noStrike" spc="-1">
              <a:solidFill>
                <a:srgbClr val="000000"/>
              </a:solidFill>
              <a:latin typeface="Arial"/>
            </a:endParaRPr>
          </a:p>
          <a:p>
            <a:pPr marL="343080">
              <a:lnSpc>
                <a:spcPct val="100000"/>
              </a:lnSpc>
              <a:tabLst>
                <a:tab pos="0" algn="l"/>
              </a:tabLst>
            </a:pPr>
            <a:endParaRPr lang="en-US" sz="2800" b="0" strike="noStrike" spc="-1">
              <a:solidFill>
                <a:srgbClr val="000000"/>
              </a:solidFill>
              <a:latin typeface="Arial"/>
            </a:endParaRPr>
          </a:p>
          <a:p>
            <a:pPr marL="343080">
              <a:lnSpc>
                <a:spcPct val="100000"/>
              </a:lnSpc>
              <a:tabLst>
                <a:tab pos="0" algn="l"/>
              </a:tabLst>
            </a:pPr>
            <a:r>
              <a:rPr lang="en-US" sz="2800" b="0" strike="noStrike" spc="-1">
                <a:solidFill>
                  <a:srgbClr val="009999"/>
                </a:solidFill>
                <a:highlight>
                  <a:srgbClr val="FCE5CD"/>
                </a:highlight>
                <a:latin typeface="Arial"/>
                <a:ea typeface="Arial"/>
              </a:rPr>
              <a:t>0x3F8 = 1 in single precision floating point</a:t>
            </a:r>
            <a:endParaRPr lang="en-US" sz="2800" b="0" strike="noStrike" spc="-1">
              <a:solidFill>
                <a:srgbClr val="000000"/>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CustomShape 1"/>
          <p:cNvSpPr/>
          <p:nvPr/>
        </p:nvSpPr>
        <p:spPr>
          <a:xfrm>
            <a:off x="0" y="0"/>
            <a:ext cx="9138960" cy="90936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4000" b="1" strike="noStrike" spc="-1">
                <a:solidFill>
                  <a:srgbClr val="336699"/>
                </a:solidFill>
                <a:latin typeface="Arial Narrow"/>
                <a:ea typeface="Arial Narrow"/>
              </a:rPr>
              <a:t>Take Home Practice</a:t>
            </a:r>
            <a:endParaRPr lang="en-US" sz="4000" b="0" strike="noStrike" spc="-1">
              <a:solidFill>
                <a:srgbClr val="000000"/>
              </a:solidFill>
              <a:latin typeface="Arial"/>
            </a:endParaRPr>
          </a:p>
        </p:txBody>
      </p:sp>
      <p:sp>
        <p:nvSpPr>
          <p:cNvPr id="642" name="CustomShape 2"/>
          <p:cNvSpPr/>
          <p:nvPr/>
        </p:nvSpPr>
        <p:spPr>
          <a:xfrm>
            <a:off x="762120" y="1066680"/>
            <a:ext cx="8148240" cy="540504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t">
            <a:noAutofit/>
          </a:bodyPr>
          <a:lstStyle/>
          <a:p>
            <a:pPr marL="343080" indent="-340920">
              <a:lnSpc>
                <a:spcPct val="100000"/>
              </a:lnSpc>
              <a:buClr>
                <a:srgbClr val="990000"/>
              </a:buClr>
              <a:buFont typeface="Noto Sans Symbols"/>
              <a:buChar char="●"/>
            </a:pPr>
            <a:r>
              <a:rPr lang="en-US" sz="2800" b="0" strike="noStrike" spc="-1">
                <a:solidFill>
                  <a:srgbClr val="009999"/>
                </a:solidFill>
                <a:latin typeface="Arial"/>
                <a:ea typeface="Arial"/>
              </a:rPr>
              <a:t>What is 47.625</a:t>
            </a:r>
            <a:r>
              <a:rPr lang="en-US" sz="2800" b="0" strike="noStrike" spc="-1" baseline="-25000">
                <a:solidFill>
                  <a:srgbClr val="009999"/>
                </a:solidFill>
                <a:latin typeface="Arial"/>
                <a:ea typeface="Arial"/>
              </a:rPr>
              <a:t>10</a:t>
            </a:r>
            <a:r>
              <a:rPr lang="en-US" sz="2800" b="0" strike="noStrike" spc="-1">
                <a:solidFill>
                  <a:srgbClr val="009999"/>
                </a:solidFill>
                <a:latin typeface="Arial"/>
                <a:ea typeface="Arial"/>
              </a:rPr>
              <a:t> in SP FP format?</a:t>
            </a:r>
            <a:endParaRPr lang="en-US" sz="2800" b="0" strike="noStrike" spc="-1">
              <a:solidFill>
                <a:srgbClr val="000000"/>
              </a:solidFill>
              <a:latin typeface="Arial"/>
            </a:endParaRPr>
          </a:p>
          <a:p>
            <a:pPr marL="343080" indent="-340920">
              <a:lnSpc>
                <a:spcPct val="100000"/>
              </a:lnSpc>
              <a:spcBef>
                <a:spcPts val="499"/>
              </a:spcBef>
              <a:buClr>
                <a:srgbClr val="990000"/>
              </a:buClr>
              <a:buFont typeface="Noto Sans Symbols"/>
              <a:buChar char="●"/>
            </a:pPr>
            <a:r>
              <a:rPr lang="en-US" sz="2800" b="0" strike="noStrike" spc="-1">
                <a:solidFill>
                  <a:srgbClr val="009999"/>
                </a:solidFill>
                <a:latin typeface="Arial"/>
                <a:ea typeface="Arial"/>
              </a:rPr>
              <a:t>What is 0x44ed8000 as real number?</a:t>
            </a:r>
            <a:endParaRPr lang="en-US" sz="2800" b="0" strike="noStrike" spc="-1">
              <a:solidFill>
                <a:srgbClr val="000000"/>
              </a:solidFill>
              <a:latin typeface="Arial"/>
            </a:endParaRPr>
          </a:p>
          <a:p>
            <a:pPr marL="343080" indent="-234000">
              <a:lnSpc>
                <a:spcPct val="100000"/>
              </a:lnSpc>
              <a:spcBef>
                <a:spcPts val="561"/>
              </a:spcBef>
              <a:tabLst>
                <a:tab pos="0" algn="l"/>
              </a:tabLst>
            </a:pPr>
            <a:endParaRPr lang="en-US" sz="2800" b="0" strike="noStrike" spc="-1">
              <a:solidFill>
                <a:srgbClr val="000000"/>
              </a:solidFill>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 name="CustomShape 1"/>
          <p:cNvSpPr/>
          <p:nvPr/>
        </p:nvSpPr>
        <p:spPr>
          <a:xfrm>
            <a:off x="0" y="0"/>
            <a:ext cx="9138960" cy="90936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4000" b="1" strike="noStrike" spc="-1">
                <a:solidFill>
                  <a:srgbClr val="336699"/>
                </a:solidFill>
                <a:latin typeface="Arial Narrow"/>
                <a:ea typeface="Arial Narrow"/>
              </a:rPr>
              <a:t>Check your Practice</a:t>
            </a:r>
            <a:endParaRPr lang="en-US" sz="4000" b="0" strike="noStrike" spc="-1">
              <a:solidFill>
                <a:srgbClr val="000000"/>
              </a:solidFill>
              <a:latin typeface="Arial"/>
            </a:endParaRPr>
          </a:p>
        </p:txBody>
      </p:sp>
      <p:sp>
        <p:nvSpPr>
          <p:cNvPr id="644" name="CustomShape 2"/>
          <p:cNvSpPr/>
          <p:nvPr/>
        </p:nvSpPr>
        <p:spPr>
          <a:xfrm>
            <a:off x="762120" y="1066680"/>
            <a:ext cx="8148240" cy="540504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t">
            <a:noAutofit/>
          </a:bodyPr>
          <a:lstStyle/>
          <a:p>
            <a:pPr marL="343080" indent="-340920">
              <a:lnSpc>
                <a:spcPct val="100000"/>
              </a:lnSpc>
              <a:buClr>
                <a:srgbClr val="990000"/>
              </a:buClr>
              <a:buFont typeface="Noto Sans Symbols"/>
              <a:buChar char="●"/>
            </a:pPr>
            <a:r>
              <a:rPr lang="en-US" sz="2400" b="0" strike="noStrike" spc="-1">
                <a:solidFill>
                  <a:srgbClr val="009999"/>
                </a:solidFill>
                <a:latin typeface="Arial"/>
                <a:ea typeface="Arial"/>
              </a:rPr>
              <a:t>http://www.h-schmidt.net/FloatConverter/IEEE754.html</a:t>
            </a:r>
            <a:endParaRPr lang="en-US" sz="2400" b="0" strike="noStrike" spc="-1">
              <a:solidFill>
                <a:srgbClr val="000000"/>
              </a:solidFill>
              <a:latin typeface="Arial"/>
            </a:endParaRPr>
          </a:p>
        </p:txBody>
      </p:sp>
      <p:pic>
        <p:nvPicPr>
          <p:cNvPr id="645" name="Google Shape;855;p63"/>
          <p:cNvPicPr/>
          <p:nvPr/>
        </p:nvPicPr>
        <p:blipFill>
          <a:blip r:embed="rId2"/>
          <a:stretch/>
        </p:blipFill>
        <p:spPr>
          <a:xfrm>
            <a:off x="0" y="2057400"/>
            <a:ext cx="9138960" cy="2831760"/>
          </a:xfrm>
          <a:prstGeom prst="rect">
            <a:avLst/>
          </a:prstGeom>
          <a:ln w="0">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 name="CustomShape 1"/>
          <p:cNvSpPr/>
          <p:nvPr/>
        </p:nvSpPr>
        <p:spPr>
          <a:xfrm>
            <a:off x="0" y="0"/>
            <a:ext cx="9138960" cy="90936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4000" b="1" strike="noStrike" spc="-1">
                <a:solidFill>
                  <a:srgbClr val="336699"/>
                </a:solidFill>
                <a:latin typeface="Arial Narrow"/>
                <a:ea typeface="Arial Narrow"/>
              </a:rPr>
              <a:t>IEEE-754 Double Precision</a:t>
            </a:r>
            <a:endParaRPr lang="en-US" sz="4000" b="0" strike="noStrike" spc="-1">
              <a:solidFill>
                <a:srgbClr val="000000"/>
              </a:solidFill>
              <a:latin typeface="Arial"/>
            </a:endParaRPr>
          </a:p>
        </p:txBody>
      </p:sp>
      <p:sp>
        <p:nvSpPr>
          <p:cNvPr id="647" name="CustomShape 2"/>
          <p:cNvSpPr/>
          <p:nvPr/>
        </p:nvSpPr>
        <p:spPr>
          <a:xfrm>
            <a:off x="0" y="1185840"/>
            <a:ext cx="9138960" cy="207288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t">
            <a:noAutofit/>
          </a:bodyPr>
          <a:lstStyle/>
          <a:p>
            <a:pPr marL="344520" indent="-285120">
              <a:lnSpc>
                <a:spcPct val="120000"/>
              </a:lnSpc>
              <a:buClr>
                <a:srgbClr val="990000"/>
              </a:buClr>
              <a:buFont typeface="Noto Sans Symbols"/>
              <a:buChar char="●"/>
            </a:pPr>
            <a:r>
              <a:rPr lang="en-US" sz="2800" b="0" strike="noStrike" spc="-1">
                <a:solidFill>
                  <a:srgbClr val="009999"/>
                </a:solidFill>
                <a:latin typeface="Arial"/>
                <a:ea typeface="Arial"/>
              </a:rPr>
              <a:t>Double precision (64 bit) floating point</a:t>
            </a:r>
            <a:endParaRPr lang="en-US" sz="2800" b="0" strike="noStrike" spc="-1">
              <a:solidFill>
                <a:srgbClr val="000000"/>
              </a:solidFill>
              <a:latin typeface="Arial"/>
            </a:endParaRPr>
          </a:p>
        </p:txBody>
      </p:sp>
      <p:sp>
        <p:nvSpPr>
          <p:cNvPr id="648" name="CustomShape 3"/>
          <p:cNvSpPr/>
          <p:nvPr/>
        </p:nvSpPr>
        <p:spPr>
          <a:xfrm>
            <a:off x="1442880" y="2270160"/>
            <a:ext cx="387000" cy="431640"/>
          </a:xfrm>
          <a:prstGeom prst="rect">
            <a:avLst/>
          </a:prstGeom>
          <a:noFill/>
          <a:ln w="9360">
            <a:solidFill>
              <a:srgbClr val="0000FF"/>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rgbClr val="010000"/>
                </a:solidFill>
                <a:latin typeface="Arial"/>
                <a:ea typeface="Arial"/>
              </a:rPr>
              <a:t>s</a:t>
            </a:r>
            <a:endParaRPr lang="en-US" sz="2400" b="0" strike="noStrike" spc="-1">
              <a:solidFill>
                <a:srgbClr val="000000"/>
              </a:solidFill>
              <a:latin typeface="Arial"/>
            </a:endParaRPr>
          </a:p>
        </p:txBody>
      </p:sp>
      <p:sp>
        <p:nvSpPr>
          <p:cNvPr id="649" name="CustomShape 4"/>
          <p:cNvSpPr/>
          <p:nvPr/>
        </p:nvSpPr>
        <p:spPr>
          <a:xfrm>
            <a:off x="1841400" y="2274840"/>
            <a:ext cx="1838160" cy="420480"/>
          </a:xfrm>
          <a:prstGeom prst="rect">
            <a:avLst/>
          </a:prstGeom>
          <a:noFill/>
          <a:ln w="9360">
            <a:solidFill>
              <a:srgbClr val="0000FF"/>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200" b="1" strike="noStrike" spc="-1">
                <a:solidFill>
                  <a:srgbClr val="010000"/>
                </a:solidFill>
                <a:latin typeface="Arial"/>
                <a:ea typeface="Arial"/>
              </a:rPr>
              <a:t>biased exp.</a:t>
            </a:r>
            <a:endParaRPr lang="en-US" sz="2200" b="0" strike="noStrike" spc="-1">
              <a:solidFill>
                <a:srgbClr val="000000"/>
              </a:solidFill>
              <a:latin typeface="Arial"/>
            </a:endParaRPr>
          </a:p>
        </p:txBody>
      </p:sp>
      <p:sp>
        <p:nvSpPr>
          <p:cNvPr id="650" name="CustomShape 5"/>
          <p:cNvSpPr/>
          <p:nvPr/>
        </p:nvSpPr>
        <p:spPr>
          <a:xfrm>
            <a:off x="3678120" y="2270160"/>
            <a:ext cx="4043160" cy="431640"/>
          </a:xfrm>
          <a:prstGeom prst="rect">
            <a:avLst/>
          </a:prstGeom>
          <a:noFill/>
          <a:ln w="9360">
            <a:solidFill>
              <a:srgbClr val="0000FF"/>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rgbClr val="010000"/>
                </a:solidFill>
                <a:latin typeface="Arial"/>
                <a:ea typeface="Arial"/>
              </a:rPr>
              <a:t>fraction</a:t>
            </a:r>
            <a:endParaRPr lang="en-US" sz="2400" b="0" strike="noStrike" spc="-1">
              <a:solidFill>
                <a:srgbClr val="000000"/>
              </a:solidFill>
              <a:latin typeface="Arial"/>
            </a:endParaRPr>
          </a:p>
        </p:txBody>
      </p:sp>
      <p:sp>
        <p:nvSpPr>
          <p:cNvPr id="651" name="CustomShape 6"/>
          <p:cNvSpPr/>
          <p:nvPr/>
        </p:nvSpPr>
        <p:spPr>
          <a:xfrm>
            <a:off x="1498680" y="1879560"/>
            <a:ext cx="320400" cy="391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2000" b="1" strike="noStrike" spc="-1">
                <a:solidFill>
                  <a:srgbClr val="010000"/>
                </a:solidFill>
                <a:latin typeface="Arial"/>
                <a:ea typeface="Arial"/>
              </a:rPr>
              <a:t>1</a:t>
            </a:r>
            <a:endParaRPr lang="en-US" sz="2000" b="0" strike="noStrike" spc="-1">
              <a:solidFill>
                <a:srgbClr val="000000"/>
              </a:solidFill>
              <a:latin typeface="Arial"/>
            </a:endParaRPr>
          </a:p>
        </p:txBody>
      </p:sp>
      <p:sp>
        <p:nvSpPr>
          <p:cNvPr id="652" name="CustomShape 7"/>
          <p:cNvSpPr/>
          <p:nvPr/>
        </p:nvSpPr>
        <p:spPr>
          <a:xfrm>
            <a:off x="2114640" y="1882800"/>
            <a:ext cx="1341000" cy="391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2000" b="1" strike="noStrike" spc="-1">
                <a:solidFill>
                  <a:srgbClr val="010000"/>
                </a:solidFill>
                <a:latin typeface="Arial"/>
                <a:ea typeface="Arial"/>
              </a:rPr>
              <a:t>11 bits</a:t>
            </a:r>
            <a:endParaRPr lang="en-US" sz="2000" b="0" strike="noStrike" spc="-1">
              <a:solidFill>
                <a:srgbClr val="000000"/>
              </a:solidFill>
              <a:latin typeface="Arial"/>
            </a:endParaRPr>
          </a:p>
        </p:txBody>
      </p:sp>
      <p:sp>
        <p:nvSpPr>
          <p:cNvPr id="653" name="CustomShape 8"/>
          <p:cNvSpPr/>
          <p:nvPr/>
        </p:nvSpPr>
        <p:spPr>
          <a:xfrm>
            <a:off x="4983120" y="1873080"/>
            <a:ext cx="2046240" cy="391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2000" b="1" strike="noStrike" spc="-1" dirty="0">
                <a:solidFill>
                  <a:srgbClr val="010000"/>
                </a:solidFill>
                <a:latin typeface="Arial"/>
                <a:ea typeface="Arial"/>
              </a:rPr>
              <a:t>52 bits (+1)</a:t>
            </a:r>
            <a:endParaRPr lang="en-US" sz="2000" b="0" strike="noStrike" spc="-1" dirty="0">
              <a:solidFill>
                <a:srgbClr val="000000"/>
              </a:solidFill>
              <a:latin typeface="Arial"/>
            </a:endParaRPr>
          </a:p>
        </p:txBody>
      </p:sp>
      <p:sp>
        <p:nvSpPr>
          <p:cNvPr id="654" name="CustomShape 9"/>
          <p:cNvSpPr/>
          <p:nvPr/>
        </p:nvSpPr>
        <p:spPr>
          <a:xfrm>
            <a:off x="857160" y="2849400"/>
            <a:ext cx="7251480" cy="57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3200" b="0" strike="noStrike" spc="-1">
                <a:solidFill>
                  <a:srgbClr val="010000"/>
                </a:solidFill>
                <a:latin typeface="Arial"/>
                <a:ea typeface="Arial"/>
              </a:rPr>
              <a:t>N = (-1)</a:t>
            </a:r>
            <a:r>
              <a:rPr lang="en-US" sz="3200" b="1" strike="noStrike" spc="-1" baseline="30000">
                <a:solidFill>
                  <a:srgbClr val="010000"/>
                </a:solidFill>
                <a:latin typeface="Arial"/>
                <a:ea typeface="Arial"/>
              </a:rPr>
              <a:t>s</a:t>
            </a:r>
            <a:r>
              <a:rPr lang="en-US" sz="3200" b="0" strike="noStrike" spc="-1">
                <a:solidFill>
                  <a:srgbClr val="010000"/>
                </a:solidFill>
                <a:latin typeface="Arial"/>
                <a:ea typeface="Arial"/>
              </a:rPr>
              <a:t> x 1.</a:t>
            </a:r>
            <a:r>
              <a:rPr lang="en-US" sz="3200" b="1" strike="noStrike" spc="-1">
                <a:solidFill>
                  <a:srgbClr val="010000"/>
                </a:solidFill>
                <a:latin typeface="Arial"/>
                <a:ea typeface="Arial"/>
              </a:rPr>
              <a:t>fraction</a:t>
            </a:r>
            <a:r>
              <a:rPr lang="en-US" sz="3200" b="0" strike="noStrike" spc="-1">
                <a:solidFill>
                  <a:srgbClr val="010000"/>
                </a:solidFill>
                <a:latin typeface="Arial"/>
                <a:ea typeface="Arial"/>
              </a:rPr>
              <a:t> x 2</a:t>
            </a:r>
            <a:r>
              <a:rPr lang="en-US" sz="3200" b="0" strike="noStrike" spc="-1" baseline="30000">
                <a:solidFill>
                  <a:srgbClr val="010000"/>
                </a:solidFill>
                <a:latin typeface="Arial"/>
                <a:ea typeface="Arial"/>
              </a:rPr>
              <a:t>(</a:t>
            </a:r>
            <a:r>
              <a:rPr lang="en-US" sz="3200" b="1" strike="noStrike" spc="-1" baseline="30000">
                <a:solidFill>
                  <a:srgbClr val="010000"/>
                </a:solidFill>
                <a:latin typeface="Arial"/>
                <a:ea typeface="Arial"/>
              </a:rPr>
              <a:t>biased exp.</a:t>
            </a:r>
            <a:r>
              <a:rPr lang="en-US" sz="3200" b="0" strike="noStrike" spc="-1" baseline="30000">
                <a:solidFill>
                  <a:srgbClr val="010000"/>
                </a:solidFill>
                <a:latin typeface="Arial"/>
                <a:ea typeface="Arial"/>
              </a:rPr>
              <a:t> – 1023)</a:t>
            </a:r>
            <a:endParaRPr lang="en-US" sz="3200" b="0" strike="noStrike" spc="-1">
              <a:solidFill>
                <a:srgbClr val="000000"/>
              </a:solidFill>
              <a:latin typeface="Arial"/>
            </a:endParaRPr>
          </a:p>
        </p:txBody>
      </p:sp>
      <p:sp>
        <p:nvSpPr>
          <p:cNvPr id="655" name="CustomShape 10"/>
          <p:cNvSpPr/>
          <p:nvPr/>
        </p:nvSpPr>
        <p:spPr>
          <a:xfrm>
            <a:off x="287280" y="1857240"/>
            <a:ext cx="1076040" cy="39492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ctr">
            <a:noAutofit/>
          </a:bodyPr>
          <a:lstStyle/>
          <a:p>
            <a:pPr algn="ctr">
              <a:lnSpc>
                <a:spcPct val="100000"/>
              </a:lnSpc>
              <a:tabLst>
                <a:tab pos="0" algn="l"/>
              </a:tabLst>
            </a:pPr>
            <a:r>
              <a:rPr lang="en-US" sz="2000" b="1" strike="noStrike" spc="-1">
                <a:solidFill>
                  <a:srgbClr val="010000"/>
                </a:solidFill>
                <a:latin typeface="Arial"/>
                <a:ea typeface="Arial"/>
              </a:rPr>
              <a:t>64 bits:</a:t>
            </a:r>
            <a:endParaRPr lang="en-US" sz="2000" b="0" strike="noStrike" spc="-1">
              <a:solidFill>
                <a:srgbClr val="000000"/>
              </a:solidFill>
              <a:latin typeface="Arial"/>
            </a:endParaRPr>
          </a:p>
        </p:txBody>
      </p:sp>
      <p:sp>
        <p:nvSpPr>
          <p:cNvPr id="656" name="CustomShape 11"/>
          <p:cNvSpPr/>
          <p:nvPr/>
        </p:nvSpPr>
        <p:spPr>
          <a:xfrm>
            <a:off x="682200" y="4470840"/>
            <a:ext cx="7589160" cy="415440"/>
          </a:xfrm>
          <a:prstGeom prst="rect">
            <a:avLst/>
          </a:prstGeom>
          <a:noFill/>
          <a:ln w="73080">
            <a:noFill/>
          </a:ln>
        </p:spPr>
        <p:style>
          <a:lnRef idx="0">
            <a:scrgbClr r="0" g="0" b="0"/>
          </a:lnRef>
          <a:fillRef idx="0">
            <a:scrgbClr r="0" g="0" b="0"/>
          </a:fillRef>
          <a:effectRef idx="0">
            <a:scrgbClr r="0" g="0" b="0"/>
          </a:effectRef>
          <a:fontRef idx="minor"/>
        </p:style>
        <p:txBody>
          <a:bodyPr lIns="126360" tIns="81360" rIns="126360" bIns="81360" anchor="t">
            <a:noAutofit/>
          </a:bodyPr>
          <a:lstStyle/>
          <a:p>
            <a:pPr>
              <a:lnSpc>
                <a:spcPct val="100000"/>
              </a:lnSpc>
            </a:pPr>
            <a:r>
              <a:rPr lang="en-US" sz="1800" b="0" strike="noStrike" spc="-1">
                <a:solidFill>
                  <a:srgbClr val="000000"/>
                </a:solidFill>
                <a:latin typeface="Arial"/>
                <a:ea typeface="DejaVu Sans"/>
              </a:rPr>
              <a:t>Range: ~2.23e-308 … ~1.80e308 with full 15–17 decimal digits precision</a:t>
            </a:r>
            <a:endParaRPr lang="en-US" sz="1800" b="0" strike="noStrike" spc="-1">
              <a:solidFill>
                <a:srgbClr val="000000"/>
              </a:solidFill>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 name="CustomShape 1"/>
          <p:cNvSpPr/>
          <p:nvPr/>
        </p:nvSpPr>
        <p:spPr>
          <a:xfrm>
            <a:off x="0" y="0"/>
            <a:ext cx="9138960" cy="66276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3200" b="1" strike="noStrike" spc="-1">
                <a:solidFill>
                  <a:srgbClr val="336699"/>
                </a:solidFill>
                <a:latin typeface="Arial Narrow"/>
                <a:ea typeface="Arial Narrow"/>
              </a:rPr>
              <a:t>    IEEE-754 Half Precision, FP16: For AI Applications</a:t>
            </a:r>
            <a:endParaRPr lang="en-US" sz="3200" b="0" strike="noStrike" spc="-1">
              <a:solidFill>
                <a:srgbClr val="000000"/>
              </a:solidFill>
              <a:latin typeface="Arial"/>
            </a:endParaRPr>
          </a:p>
        </p:txBody>
      </p:sp>
      <p:sp>
        <p:nvSpPr>
          <p:cNvPr id="658" name="CustomShape 2"/>
          <p:cNvSpPr/>
          <p:nvPr/>
        </p:nvSpPr>
        <p:spPr>
          <a:xfrm>
            <a:off x="431280" y="939540"/>
            <a:ext cx="8491549" cy="232212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t">
            <a:noAutofit/>
          </a:bodyPr>
          <a:lstStyle/>
          <a:p>
            <a:pPr>
              <a:lnSpc>
                <a:spcPct val="120000"/>
              </a:lnSpc>
            </a:pPr>
            <a:endParaRPr lang="en-US" sz="1800" b="0" strike="noStrike" spc="-1" dirty="0">
              <a:solidFill>
                <a:srgbClr val="000000"/>
              </a:solidFill>
              <a:latin typeface="Arial"/>
            </a:endParaRPr>
          </a:p>
          <a:p>
            <a:pPr marL="344520" indent="-285120">
              <a:lnSpc>
                <a:spcPct val="120000"/>
              </a:lnSpc>
              <a:buClr>
                <a:srgbClr val="990000"/>
              </a:buClr>
              <a:buFont typeface="Noto Sans Symbols"/>
              <a:buChar char="●"/>
            </a:pPr>
            <a:r>
              <a:rPr lang="en-US" sz="2400" b="0" strike="noStrike" spc="-1" dirty="0">
                <a:solidFill>
                  <a:srgbClr val="009999"/>
                </a:solidFill>
                <a:latin typeface="Arial"/>
                <a:ea typeface="Arial"/>
              </a:rPr>
              <a:t>Half-precision (16-bit) floating point</a:t>
            </a:r>
            <a:endParaRPr lang="en-US" sz="2400" b="0" strike="noStrike" spc="-1" dirty="0">
              <a:solidFill>
                <a:srgbClr val="000000"/>
              </a:solidFill>
              <a:latin typeface="Arial"/>
            </a:endParaRPr>
          </a:p>
          <a:p>
            <a:pPr marL="344520" indent="-285120">
              <a:lnSpc>
                <a:spcPct val="120000"/>
              </a:lnSpc>
              <a:buClr>
                <a:srgbClr val="990000"/>
              </a:buClr>
              <a:buFont typeface="Noto Sans Symbols"/>
              <a:buChar char="●"/>
            </a:pPr>
            <a:r>
              <a:rPr lang="en-US" sz="2400" b="0" strike="noStrike" spc="-1" dirty="0">
                <a:solidFill>
                  <a:srgbClr val="009999"/>
                </a:solidFill>
                <a:latin typeface="Arial"/>
                <a:ea typeface="Arial"/>
              </a:rPr>
              <a:t>Trend in AI towards FP16, because lower precision calculations seem not to be critical.  It often speeds</a:t>
            </a:r>
            <a:r>
              <a:rPr lang="en-US" sz="2400" spc="-1" dirty="0">
                <a:solidFill>
                  <a:srgbClr val="000000"/>
                </a:solidFill>
                <a:latin typeface="Arial"/>
              </a:rPr>
              <a:t> </a:t>
            </a:r>
            <a:r>
              <a:rPr lang="en-US" sz="2400" b="0" strike="noStrike" spc="-1" dirty="0">
                <a:solidFill>
                  <a:srgbClr val="009999"/>
                </a:solidFill>
                <a:latin typeface="Arial"/>
                <a:ea typeface="Arial"/>
              </a:rPr>
              <a:t>up calculations, without harming the results.</a:t>
            </a:r>
          </a:p>
          <a:p>
            <a:pPr marL="344520" indent="-285120">
              <a:lnSpc>
                <a:spcPct val="120000"/>
              </a:lnSpc>
              <a:buClr>
                <a:srgbClr val="990000"/>
              </a:buClr>
              <a:buFont typeface="Noto Sans Symbols"/>
              <a:buChar char="●"/>
            </a:pPr>
            <a:r>
              <a:rPr lang="en-US" sz="2400" spc="-1" dirty="0">
                <a:solidFill>
                  <a:srgbClr val="009999"/>
                </a:solidFill>
                <a:latin typeface="Arial"/>
                <a:ea typeface="Arial"/>
              </a:rPr>
              <a:t>Smaller range and precision than FP32</a:t>
            </a:r>
            <a:br>
              <a:rPr lang="en-US" sz="2400" spc="-1" dirty="0">
                <a:solidFill>
                  <a:srgbClr val="000000"/>
                </a:solidFill>
                <a:latin typeface="Arial"/>
                <a:ea typeface="Arial"/>
              </a:rPr>
            </a:br>
            <a:endParaRPr lang="en-US" sz="2400" b="0" strike="noStrike" spc="-1" dirty="0">
              <a:solidFill>
                <a:srgbClr val="009999"/>
              </a:solidFill>
              <a:latin typeface="Arial"/>
              <a:ea typeface="Arial"/>
            </a:endParaRPr>
          </a:p>
        </p:txBody>
      </p:sp>
      <p:sp>
        <p:nvSpPr>
          <p:cNvPr id="659" name="CustomShape 3"/>
          <p:cNvSpPr/>
          <p:nvPr/>
        </p:nvSpPr>
        <p:spPr>
          <a:xfrm>
            <a:off x="1586880" y="4174920"/>
            <a:ext cx="387000" cy="428040"/>
          </a:xfrm>
          <a:prstGeom prst="rect">
            <a:avLst/>
          </a:prstGeom>
          <a:noFill/>
          <a:ln w="9360">
            <a:solidFill>
              <a:srgbClr val="0000FF"/>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rgbClr val="010000"/>
                </a:solidFill>
                <a:latin typeface="Arial"/>
                <a:ea typeface="Arial"/>
              </a:rPr>
              <a:t>s</a:t>
            </a:r>
            <a:endParaRPr lang="en-US" sz="2400" b="0" strike="noStrike" spc="-1">
              <a:solidFill>
                <a:srgbClr val="000000"/>
              </a:solidFill>
              <a:latin typeface="Arial"/>
            </a:endParaRPr>
          </a:p>
        </p:txBody>
      </p:sp>
      <p:sp>
        <p:nvSpPr>
          <p:cNvPr id="660" name="CustomShape 4"/>
          <p:cNvSpPr/>
          <p:nvPr/>
        </p:nvSpPr>
        <p:spPr>
          <a:xfrm>
            <a:off x="1985400" y="4179600"/>
            <a:ext cx="1838160" cy="416880"/>
          </a:xfrm>
          <a:prstGeom prst="rect">
            <a:avLst/>
          </a:prstGeom>
          <a:noFill/>
          <a:ln w="9360">
            <a:solidFill>
              <a:srgbClr val="0000FF"/>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200" b="1" strike="noStrike" spc="-1">
                <a:solidFill>
                  <a:srgbClr val="010000"/>
                </a:solidFill>
                <a:latin typeface="Arial"/>
                <a:ea typeface="Arial"/>
              </a:rPr>
              <a:t>biased exp.</a:t>
            </a:r>
            <a:endParaRPr lang="en-US" sz="2200" b="0" strike="noStrike" spc="-1">
              <a:solidFill>
                <a:srgbClr val="000000"/>
              </a:solidFill>
              <a:latin typeface="Arial"/>
            </a:endParaRPr>
          </a:p>
        </p:txBody>
      </p:sp>
      <p:sp>
        <p:nvSpPr>
          <p:cNvPr id="661" name="CustomShape 5"/>
          <p:cNvSpPr/>
          <p:nvPr/>
        </p:nvSpPr>
        <p:spPr>
          <a:xfrm>
            <a:off x="3822120" y="4174920"/>
            <a:ext cx="4043160" cy="428040"/>
          </a:xfrm>
          <a:prstGeom prst="rect">
            <a:avLst/>
          </a:prstGeom>
          <a:noFill/>
          <a:ln w="9360">
            <a:solidFill>
              <a:srgbClr val="0000FF"/>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rgbClr val="010000"/>
                </a:solidFill>
                <a:latin typeface="Arial"/>
                <a:ea typeface="Arial"/>
              </a:rPr>
              <a:t>fraction</a:t>
            </a:r>
            <a:endParaRPr lang="en-US" sz="2400" b="0" strike="noStrike" spc="-1">
              <a:solidFill>
                <a:srgbClr val="000000"/>
              </a:solidFill>
              <a:latin typeface="Arial"/>
            </a:endParaRPr>
          </a:p>
        </p:txBody>
      </p:sp>
      <p:sp>
        <p:nvSpPr>
          <p:cNvPr id="662" name="CustomShape 6"/>
          <p:cNvSpPr/>
          <p:nvPr/>
        </p:nvSpPr>
        <p:spPr>
          <a:xfrm>
            <a:off x="1642680" y="3787560"/>
            <a:ext cx="320400" cy="38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2000" b="1" strike="noStrike" spc="-1">
                <a:solidFill>
                  <a:srgbClr val="010000"/>
                </a:solidFill>
                <a:latin typeface="Arial"/>
                <a:ea typeface="Arial"/>
              </a:rPr>
              <a:t>1</a:t>
            </a:r>
            <a:endParaRPr lang="en-US" sz="2000" b="0" strike="noStrike" spc="-1">
              <a:solidFill>
                <a:srgbClr val="000000"/>
              </a:solidFill>
              <a:latin typeface="Arial"/>
            </a:endParaRPr>
          </a:p>
        </p:txBody>
      </p:sp>
      <p:sp>
        <p:nvSpPr>
          <p:cNvPr id="663" name="CustomShape 7"/>
          <p:cNvSpPr/>
          <p:nvPr/>
        </p:nvSpPr>
        <p:spPr>
          <a:xfrm>
            <a:off x="2258640" y="3790440"/>
            <a:ext cx="1341000" cy="388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2000" b="1" strike="noStrike" spc="-1">
                <a:solidFill>
                  <a:srgbClr val="010000"/>
                </a:solidFill>
                <a:latin typeface="Arial"/>
                <a:ea typeface="Arial"/>
              </a:rPr>
              <a:t>5 bits</a:t>
            </a:r>
            <a:endParaRPr lang="en-US" sz="2000" b="0" strike="noStrike" spc="-1">
              <a:solidFill>
                <a:srgbClr val="000000"/>
              </a:solidFill>
              <a:latin typeface="Arial"/>
            </a:endParaRPr>
          </a:p>
        </p:txBody>
      </p:sp>
      <p:sp>
        <p:nvSpPr>
          <p:cNvPr id="664" name="CustomShape 8"/>
          <p:cNvSpPr/>
          <p:nvPr/>
        </p:nvSpPr>
        <p:spPr>
          <a:xfrm>
            <a:off x="5127119" y="3781080"/>
            <a:ext cx="1647753" cy="38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2000" b="1" strike="noStrike" spc="-1" dirty="0">
                <a:solidFill>
                  <a:srgbClr val="010000"/>
                </a:solidFill>
                <a:latin typeface="Arial"/>
                <a:ea typeface="Arial"/>
              </a:rPr>
              <a:t>10 bits (+1)</a:t>
            </a:r>
            <a:endParaRPr lang="en-US" sz="2000" b="0" strike="noStrike" spc="-1" dirty="0">
              <a:solidFill>
                <a:srgbClr val="000000"/>
              </a:solidFill>
              <a:latin typeface="Arial"/>
            </a:endParaRPr>
          </a:p>
        </p:txBody>
      </p:sp>
      <p:sp>
        <p:nvSpPr>
          <p:cNvPr id="665" name="CustomShape 9"/>
          <p:cNvSpPr/>
          <p:nvPr/>
        </p:nvSpPr>
        <p:spPr>
          <a:xfrm>
            <a:off x="1001160" y="4757400"/>
            <a:ext cx="7251480" cy="57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3200" b="0" strike="noStrike" spc="-1">
                <a:solidFill>
                  <a:srgbClr val="010000"/>
                </a:solidFill>
                <a:latin typeface="Arial"/>
                <a:ea typeface="Arial"/>
              </a:rPr>
              <a:t>N = (-1)</a:t>
            </a:r>
            <a:r>
              <a:rPr lang="en-US" sz="3200" b="1" strike="noStrike" spc="-1" baseline="30000">
                <a:solidFill>
                  <a:srgbClr val="010000"/>
                </a:solidFill>
                <a:latin typeface="Arial"/>
                <a:ea typeface="Arial"/>
              </a:rPr>
              <a:t>s</a:t>
            </a:r>
            <a:r>
              <a:rPr lang="en-US" sz="3200" b="0" strike="noStrike" spc="-1">
                <a:solidFill>
                  <a:srgbClr val="010000"/>
                </a:solidFill>
                <a:latin typeface="Arial"/>
                <a:ea typeface="Arial"/>
              </a:rPr>
              <a:t> x 1.</a:t>
            </a:r>
            <a:r>
              <a:rPr lang="en-US" sz="3200" b="1" strike="noStrike" spc="-1">
                <a:solidFill>
                  <a:srgbClr val="010000"/>
                </a:solidFill>
                <a:latin typeface="Arial"/>
                <a:ea typeface="Arial"/>
              </a:rPr>
              <a:t>fraction</a:t>
            </a:r>
            <a:r>
              <a:rPr lang="en-US" sz="3200" b="0" strike="noStrike" spc="-1">
                <a:solidFill>
                  <a:srgbClr val="010000"/>
                </a:solidFill>
                <a:latin typeface="Arial"/>
                <a:ea typeface="Arial"/>
              </a:rPr>
              <a:t> x 2</a:t>
            </a:r>
            <a:r>
              <a:rPr lang="en-US" sz="3200" b="0" strike="noStrike" spc="-1" baseline="30000">
                <a:solidFill>
                  <a:srgbClr val="010000"/>
                </a:solidFill>
                <a:latin typeface="Arial"/>
                <a:ea typeface="Arial"/>
              </a:rPr>
              <a:t>(</a:t>
            </a:r>
            <a:r>
              <a:rPr lang="en-US" sz="3200" b="1" strike="noStrike" spc="-1" baseline="30000">
                <a:solidFill>
                  <a:srgbClr val="010000"/>
                </a:solidFill>
                <a:latin typeface="Arial"/>
                <a:ea typeface="Arial"/>
              </a:rPr>
              <a:t>biased exp.</a:t>
            </a:r>
            <a:r>
              <a:rPr lang="en-US" sz="3200" b="0" strike="noStrike" spc="-1" baseline="30000">
                <a:solidFill>
                  <a:srgbClr val="010000"/>
                </a:solidFill>
                <a:latin typeface="Arial"/>
                <a:ea typeface="Arial"/>
              </a:rPr>
              <a:t> – 15)</a:t>
            </a:r>
            <a:endParaRPr lang="en-US" sz="3200" b="0" strike="noStrike" spc="-1">
              <a:solidFill>
                <a:srgbClr val="000000"/>
              </a:solidFill>
              <a:latin typeface="Arial"/>
            </a:endParaRPr>
          </a:p>
        </p:txBody>
      </p:sp>
      <p:sp>
        <p:nvSpPr>
          <p:cNvPr id="666" name="CustomShape 10"/>
          <p:cNvSpPr/>
          <p:nvPr/>
        </p:nvSpPr>
        <p:spPr>
          <a:xfrm>
            <a:off x="431280" y="3765240"/>
            <a:ext cx="1076040" cy="39168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ctr">
            <a:noAutofit/>
          </a:bodyPr>
          <a:lstStyle/>
          <a:p>
            <a:pPr algn="ctr">
              <a:lnSpc>
                <a:spcPct val="100000"/>
              </a:lnSpc>
              <a:tabLst>
                <a:tab pos="0" algn="l"/>
              </a:tabLst>
            </a:pPr>
            <a:r>
              <a:rPr lang="en-US" sz="2000" b="1" strike="noStrike" spc="-1">
                <a:solidFill>
                  <a:srgbClr val="010000"/>
                </a:solidFill>
                <a:latin typeface="Arial"/>
                <a:ea typeface="Arial"/>
              </a:rPr>
              <a:t>16 bits:</a:t>
            </a:r>
            <a:endParaRPr lang="en-US" sz="2000" b="0" strike="noStrike" spc="-1">
              <a:solidFill>
                <a:srgbClr val="000000"/>
              </a:solidFill>
              <a:latin typeface="Arial"/>
            </a:endParaRPr>
          </a:p>
        </p:txBody>
      </p:sp>
      <p:sp>
        <p:nvSpPr>
          <p:cNvPr id="667" name="CustomShape 11"/>
          <p:cNvSpPr/>
          <p:nvPr/>
        </p:nvSpPr>
        <p:spPr>
          <a:xfrm>
            <a:off x="683640" y="6134040"/>
            <a:ext cx="7882560" cy="402480"/>
          </a:xfrm>
          <a:prstGeom prst="rect">
            <a:avLst/>
          </a:prstGeom>
          <a:noFill/>
          <a:ln w="73080">
            <a:noFill/>
          </a:ln>
        </p:spPr>
        <p:style>
          <a:lnRef idx="0">
            <a:scrgbClr r="0" g="0" b="0"/>
          </a:lnRef>
          <a:fillRef idx="0">
            <a:scrgbClr r="0" g="0" b="0"/>
          </a:fillRef>
          <a:effectRef idx="0">
            <a:scrgbClr r="0" g="0" b="0"/>
          </a:effectRef>
          <a:fontRef idx="minor"/>
        </p:style>
        <p:txBody>
          <a:bodyPr lIns="126360" tIns="81360" rIns="126360" bIns="81360" anchor="t">
            <a:noAutofit/>
          </a:bodyPr>
          <a:lstStyle/>
          <a:p>
            <a:pPr>
              <a:lnSpc>
                <a:spcPct val="100000"/>
              </a:lnSpc>
            </a:pPr>
            <a:r>
              <a:rPr lang="en-US" sz="1100" b="0" strike="noStrike" spc="-1">
                <a:solidFill>
                  <a:srgbClr val="000000"/>
                </a:solidFill>
                <a:latin typeface="Arial"/>
                <a:ea typeface="DejaVu Sans"/>
              </a:rPr>
              <a:t>Source: </a:t>
            </a:r>
            <a:r>
              <a:rPr lang="en-US" sz="1100" b="0" u="sng" strike="noStrike" spc="-1">
                <a:solidFill>
                  <a:srgbClr val="FF9966"/>
                </a:solidFill>
                <a:uFillTx/>
                <a:latin typeface="Arial"/>
                <a:ea typeface="DejaVu Sans"/>
                <a:hlinkClick r:id="rId2"/>
              </a:rPr>
              <a:t>https://moocaholic.medium.com/fp64-fp32-fp16-bfloat16-tf32-and-other-members-of-the-zoo-a1ca7897d407</a:t>
            </a:r>
            <a:endParaRPr lang="en-US" sz="1100" b="0" strike="noStrike" spc="-1">
              <a:solidFill>
                <a:srgbClr val="000000"/>
              </a:solidFill>
              <a:latin typeface="Arial"/>
            </a:endParaRPr>
          </a:p>
          <a:p>
            <a:pPr>
              <a:lnSpc>
                <a:spcPct val="100000"/>
              </a:lnSpc>
            </a:pPr>
            <a:r>
              <a:rPr lang="en-US" sz="1100" b="0" strike="noStrike" spc="-1">
                <a:solidFill>
                  <a:srgbClr val="000000"/>
                </a:solidFill>
                <a:latin typeface="Arial"/>
                <a:ea typeface="DejaVu Sans"/>
              </a:rPr>
              <a:t>Source: https://blogs.nvidia.com/blog/tensorfloat-32-precision-format/</a:t>
            </a:r>
            <a:endParaRPr lang="en-US" sz="1100" b="0" strike="noStrike" spc="-1">
              <a:solidFill>
                <a:srgbClr val="000000"/>
              </a:solidFill>
              <a:latin typeface="Arial"/>
            </a:endParaRPr>
          </a:p>
        </p:txBody>
      </p:sp>
      <p:sp>
        <p:nvSpPr>
          <p:cNvPr id="668" name="CustomShape 12"/>
          <p:cNvSpPr/>
          <p:nvPr/>
        </p:nvSpPr>
        <p:spPr>
          <a:xfrm>
            <a:off x="498600" y="5445000"/>
            <a:ext cx="8206200" cy="671040"/>
          </a:xfrm>
          <a:prstGeom prst="rect">
            <a:avLst/>
          </a:prstGeom>
          <a:noFill/>
          <a:ln w="73080">
            <a:noFill/>
          </a:ln>
        </p:spPr>
        <p:style>
          <a:lnRef idx="0">
            <a:scrgbClr r="0" g="0" b="0"/>
          </a:lnRef>
          <a:fillRef idx="0">
            <a:scrgbClr r="0" g="0" b="0"/>
          </a:fillRef>
          <a:effectRef idx="0">
            <a:scrgbClr r="0" g="0" b="0"/>
          </a:effectRef>
          <a:fontRef idx="minor"/>
        </p:style>
        <p:txBody>
          <a:bodyPr lIns="126360" tIns="81360" rIns="126360" bIns="81360" anchor="t">
            <a:noAutofit/>
          </a:bodyPr>
          <a:lstStyle/>
          <a:p>
            <a:pPr>
              <a:lnSpc>
                <a:spcPct val="100000"/>
              </a:lnSpc>
            </a:pPr>
            <a:r>
              <a:rPr lang="en-US" sz="1600" b="0" strike="noStrike" spc="-1" dirty="0">
                <a:solidFill>
                  <a:srgbClr val="000000"/>
                </a:solidFill>
                <a:latin typeface="Arial"/>
                <a:ea typeface="DejaVu Sans"/>
              </a:rPr>
              <a:t>Range: (6.10e−5 to 6.1e+4) with 3.3 significant decimal digits precision</a:t>
            </a:r>
            <a:endParaRPr lang="en-US" sz="1600" b="0" strike="noStrike" spc="-1" dirty="0">
              <a:solidFill>
                <a:srgbClr val="000000"/>
              </a:solidFill>
              <a:latin typeface="Arial"/>
            </a:endParaRPr>
          </a:p>
          <a:p>
            <a:pPr>
              <a:lnSpc>
                <a:spcPct val="100000"/>
              </a:lnSpc>
            </a:pPr>
            <a:r>
              <a:rPr lang="en-US" sz="1600" b="0" strike="noStrike" spc="-1" dirty="0">
                <a:solidFill>
                  <a:srgbClr val="000000"/>
                </a:solidFill>
                <a:latin typeface="Arial"/>
                <a:ea typeface="DejaVu Sans"/>
              </a:rPr>
              <a:t>Supported by modern NVIDIA</a:t>
            </a:r>
            <a:r>
              <a:rPr lang="en-US" sz="1600" spc="-1" dirty="0">
                <a:solidFill>
                  <a:srgbClr val="000000"/>
                </a:solidFill>
                <a:latin typeface="Arial"/>
                <a:ea typeface="DejaVu Sans"/>
              </a:rPr>
              <a:t> </a:t>
            </a:r>
            <a:r>
              <a:rPr lang="en-US" sz="1600" b="0" strike="noStrike" spc="-1" dirty="0">
                <a:solidFill>
                  <a:srgbClr val="000000"/>
                </a:solidFill>
                <a:latin typeface="Arial"/>
                <a:ea typeface="DejaVu Sans"/>
              </a:rPr>
              <a:t>GPUs and others.</a:t>
            </a:r>
            <a:endParaRPr lang="en-US" sz="1600" b="0" strike="noStrike" spc="-1" dirty="0">
              <a:solidFill>
                <a:srgbClr val="000000"/>
              </a:solidFill>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1F063-8A6B-43EF-2826-8B855D0D7456}"/>
            </a:ext>
          </a:extLst>
        </p:cNvPr>
        <p:cNvGrpSpPr/>
        <p:nvPr/>
      </p:nvGrpSpPr>
      <p:grpSpPr>
        <a:xfrm>
          <a:off x="0" y="0"/>
          <a:ext cx="0" cy="0"/>
          <a:chOff x="0" y="0"/>
          <a:chExt cx="0" cy="0"/>
        </a:xfrm>
      </p:grpSpPr>
      <p:sp>
        <p:nvSpPr>
          <p:cNvPr id="657" name="CustomShape 1">
            <a:extLst>
              <a:ext uri="{FF2B5EF4-FFF2-40B4-BE49-F238E27FC236}">
                <a16:creationId xmlns:a16="http://schemas.microsoft.com/office/drawing/2014/main" id="{09D60381-A5EE-2699-B034-735D162E5C7C}"/>
              </a:ext>
            </a:extLst>
          </p:cNvPr>
          <p:cNvSpPr/>
          <p:nvPr/>
        </p:nvSpPr>
        <p:spPr>
          <a:xfrm>
            <a:off x="299160" y="124740"/>
            <a:ext cx="8776855" cy="66276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3200" b="1" strike="noStrike" spc="-1" dirty="0">
                <a:solidFill>
                  <a:srgbClr val="336699"/>
                </a:solidFill>
                <a:latin typeface="Arial Narrow"/>
                <a:ea typeface="Arial Narrow"/>
              </a:rPr>
              <a:t>    BFP16:  Brain Floating Point, AI Applications</a:t>
            </a:r>
            <a:endParaRPr lang="en-US" sz="3200" b="0" strike="noStrike" spc="-1" dirty="0">
              <a:solidFill>
                <a:srgbClr val="000000"/>
              </a:solidFill>
              <a:latin typeface="Arial"/>
            </a:endParaRPr>
          </a:p>
        </p:txBody>
      </p:sp>
      <p:sp>
        <p:nvSpPr>
          <p:cNvPr id="659" name="CustomShape 3">
            <a:extLst>
              <a:ext uri="{FF2B5EF4-FFF2-40B4-BE49-F238E27FC236}">
                <a16:creationId xmlns:a16="http://schemas.microsoft.com/office/drawing/2014/main" id="{39D323D7-9571-B151-4A22-001CAB27FD83}"/>
              </a:ext>
            </a:extLst>
          </p:cNvPr>
          <p:cNvSpPr/>
          <p:nvPr/>
        </p:nvSpPr>
        <p:spPr>
          <a:xfrm>
            <a:off x="1586880" y="4174920"/>
            <a:ext cx="387000" cy="428040"/>
          </a:xfrm>
          <a:prstGeom prst="rect">
            <a:avLst/>
          </a:prstGeom>
          <a:noFill/>
          <a:ln w="9360">
            <a:solidFill>
              <a:srgbClr val="0000FF"/>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rgbClr val="010000"/>
                </a:solidFill>
                <a:latin typeface="Arial"/>
                <a:ea typeface="Arial"/>
              </a:rPr>
              <a:t>s</a:t>
            </a:r>
            <a:endParaRPr lang="en-US" sz="2400" b="0" strike="noStrike" spc="-1">
              <a:solidFill>
                <a:srgbClr val="000000"/>
              </a:solidFill>
              <a:latin typeface="Arial"/>
            </a:endParaRPr>
          </a:p>
        </p:txBody>
      </p:sp>
      <p:sp>
        <p:nvSpPr>
          <p:cNvPr id="660" name="CustomShape 4">
            <a:extLst>
              <a:ext uri="{FF2B5EF4-FFF2-40B4-BE49-F238E27FC236}">
                <a16:creationId xmlns:a16="http://schemas.microsoft.com/office/drawing/2014/main" id="{A4365EF5-D189-F122-D187-13EA891E075C}"/>
              </a:ext>
            </a:extLst>
          </p:cNvPr>
          <p:cNvSpPr/>
          <p:nvPr/>
        </p:nvSpPr>
        <p:spPr>
          <a:xfrm>
            <a:off x="1973880" y="4183538"/>
            <a:ext cx="2521920" cy="416880"/>
          </a:xfrm>
          <a:prstGeom prst="rect">
            <a:avLst/>
          </a:prstGeom>
          <a:noFill/>
          <a:ln w="9360">
            <a:solidFill>
              <a:srgbClr val="0000FF"/>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200" b="1" strike="noStrike" spc="-1">
                <a:solidFill>
                  <a:srgbClr val="010000"/>
                </a:solidFill>
                <a:latin typeface="Arial"/>
                <a:ea typeface="Arial"/>
              </a:rPr>
              <a:t>biased exp.</a:t>
            </a:r>
            <a:endParaRPr lang="en-US" sz="2200" b="0" strike="noStrike" spc="-1">
              <a:solidFill>
                <a:srgbClr val="000000"/>
              </a:solidFill>
              <a:latin typeface="Arial"/>
            </a:endParaRPr>
          </a:p>
        </p:txBody>
      </p:sp>
      <p:sp>
        <p:nvSpPr>
          <p:cNvPr id="661" name="CustomShape 5">
            <a:extLst>
              <a:ext uri="{FF2B5EF4-FFF2-40B4-BE49-F238E27FC236}">
                <a16:creationId xmlns:a16="http://schemas.microsoft.com/office/drawing/2014/main" id="{BD2C3D41-F124-363D-745C-6E6D1021FE9B}"/>
              </a:ext>
            </a:extLst>
          </p:cNvPr>
          <p:cNvSpPr/>
          <p:nvPr/>
        </p:nvSpPr>
        <p:spPr>
          <a:xfrm>
            <a:off x="4495800" y="4180221"/>
            <a:ext cx="2583873" cy="428040"/>
          </a:xfrm>
          <a:prstGeom prst="rect">
            <a:avLst/>
          </a:prstGeom>
          <a:noFill/>
          <a:ln w="9360">
            <a:solidFill>
              <a:srgbClr val="0000FF"/>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rgbClr val="010000"/>
                </a:solidFill>
                <a:latin typeface="Arial"/>
                <a:ea typeface="Arial"/>
              </a:rPr>
              <a:t>fraction</a:t>
            </a:r>
            <a:endParaRPr lang="en-US" sz="2400" b="0" strike="noStrike" spc="-1">
              <a:solidFill>
                <a:srgbClr val="000000"/>
              </a:solidFill>
              <a:latin typeface="Arial"/>
            </a:endParaRPr>
          </a:p>
        </p:txBody>
      </p:sp>
      <p:sp>
        <p:nvSpPr>
          <p:cNvPr id="662" name="CustomShape 6">
            <a:extLst>
              <a:ext uri="{FF2B5EF4-FFF2-40B4-BE49-F238E27FC236}">
                <a16:creationId xmlns:a16="http://schemas.microsoft.com/office/drawing/2014/main" id="{449E5D0C-1EC5-7872-18A5-FAB27226445B}"/>
              </a:ext>
            </a:extLst>
          </p:cNvPr>
          <p:cNvSpPr/>
          <p:nvPr/>
        </p:nvSpPr>
        <p:spPr>
          <a:xfrm>
            <a:off x="1642680" y="3787560"/>
            <a:ext cx="320400" cy="38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2000" b="1" strike="noStrike" spc="-1">
                <a:solidFill>
                  <a:srgbClr val="010000"/>
                </a:solidFill>
                <a:latin typeface="Arial"/>
                <a:ea typeface="Arial"/>
              </a:rPr>
              <a:t>1</a:t>
            </a:r>
            <a:endParaRPr lang="en-US" sz="2000" b="0" strike="noStrike" spc="-1">
              <a:solidFill>
                <a:srgbClr val="000000"/>
              </a:solidFill>
              <a:latin typeface="Arial"/>
            </a:endParaRPr>
          </a:p>
        </p:txBody>
      </p:sp>
      <p:sp>
        <p:nvSpPr>
          <p:cNvPr id="663" name="CustomShape 7">
            <a:extLst>
              <a:ext uri="{FF2B5EF4-FFF2-40B4-BE49-F238E27FC236}">
                <a16:creationId xmlns:a16="http://schemas.microsoft.com/office/drawing/2014/main" id="{B92B5D83-4E96-DE0C-D856-0A28384BF6D6}"/>
              </a:ext>
            </a:extLst>
          </p:cNvPr>
          <p:cNvSpPr/>
          <p:nvPr/>
        </p:nvSpPr>
        <p:spPr>
          <a:xfrm>
            <a:off x="2794385" y="3763582"/>
            <a:ext cx="1045670" cy="388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2000" b="1" spc="-1" dirty="0">
                <a:solidFill>
                  <a:srgbClr val="010000"/>
                </a:solidFill>
                <a:latin typeface="Arial"/>
                <a:ea typeface="Arial"/>
              </a:rPr>
              <a:t>8</a:t>
            </a:r>
            <a:r>
              <a:rPr lang="en-US" sz="2000" b="1" strike="noStrike" spc="-1" dirty="0">
                <a:solidFill>
                  <a:srgbClr val="010000"/>
                </a:solidFill>
                <a:latin typeface="Arial"/>
                <a:ea typeface="Arial"/>
              </a:rPr>
              <a:t> bits</a:t>
            </a:r>
            <a:endParaRPr lang="en-US" sz="2000" b="0" strike="noStrike" spc="-1" dirty="0">
              <a:solidFill>
                <a:srgbClr val="000000"/>
              </a:solidFill>
              <a:latin typeface="Arial"/>
            </a:endParaRPr>
          </a:p>
        </p:txBody>
      </p:sp>
      <p:sp>
        <p:nvSpPr>
          <p:cNvPr id="664" name="CustomShape 8">
            <a:extLst>
              <a:ext uri="{FF2B5EF4-FFF2-40B4-BE49-F238E27FC236}">
                <a16:creationId xmlns:a16="http://schemas.microsoft.com/office/drawing/2014/main" id="{6210070D-60B5-A4ED-BE89-E59FD69BBA14}"/>
              </a:ext>
            </a:extLst>
          </p:cNvPr>
          <p:cNvSpPr/>
          <p:nvPr/>
        </p:nvSpPr>
        <p:spPr>
          <a:xfrm>
            <a:off x="5127119" y="3773781"/>
            <a:ext cx="1488425" cy="38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2000" b="1" spc="-1" dirty="0">
                <a:solidFill>
                  <a:srgbClr val="010000"/>
                </a:solidFill>
                <a:latin typeface="Arial"/>
                <a:ea typeface="Arial"/>
              </a:rPr>
              <a:t>7</a:t>
            </a:r>
            <a:r>
              <a:rPr lang="en-US" sz="2000" b="1" strike="noStrike" spc="-1" dirty="0">
                <a:solidFill>
                  <a:srgbClr val="010000"/>
                </a:solidFill>
                <a:latin typeface="Arial"/>
                <a:ea typeface="Arial"/>
              </a:rPr>
              <a:t> bits (+1)</a:t>
            </a:r>
            <a:endParaRPr lang="en-US" sz="2000" b="0" strike="noStrike" spc="-1" dirty="0">
              <a:solidFill>
                <a:srgbClr val="000000"/>
              </a:solidFill>
              <a:latin typeface="Arial"/>
            </a:endParaRPr>
          </a:p>
        </p:txBody>
      </p:sp>
      <p:sp>
        <p:nvSpPr>
          <p:cNvPr id="665" name="CustomShape 9">
            <a:extLst>
              <a:ext uri="{FF2B5EF4-FFF2-40B4-BE49-F238E27FC236}">
                <a16:creationId xmlns:a16="http://schemas.microsoft.com/office/drawing/2014/main" id="{07951A4A-8483-B081-5EA7-827E31831A4D}"/>
              </a:ext>
            </a:extLst>
          </p:cNvPr>
          <p:cNvSpPr/>
          <p:nvPr/>
        </p:nvSpPr>
        <p:spPr>
          <a:xfrm>
            <a:off x="1001160" y="4757400"/>
            <a:ext cx="7251480" cy="57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3200" b="0" strike="noStrike" spc="-1" dirty="0">
                <a:solidFill>
                  <a:srgbClr val="010000"/>
                </a:solidFill>
                <a:latin typeface="Arial"/>
                <a:ea typeface="Arial"/>
              </a:rPr>
              <a:t>N = (-1)</a:t>
            </a:r>
            <a:r>
              <a:rPr lang="en-US" sz="3200" b="1" strike="noStrike" spc="-1" baseline="30000" dirty="0">
                <a:solidFill>
                  <a:srgbClr val="010000"/>
                </a:solidFill>
                <a:latin typeface="Arial"/>
                <a:ea typeface="Arial"/>
              </a:rPr>
              <a:t>s</a:t>
            </a:r>
            <a:r>
              <a:rPr lang="en-US" sz="3200" b="0" strike="noStrike" spc="-1" dirty="0">
                <a:solidFill>
                  <a:srgbClr val="010000"/>
                </a:solidFill>
                <a:latin typeface="Arial"/>
                <a:ea typeface="Arial"/>
              </a:rPr>
              <a:t> x 1.</a:t>
            </a:r>
            <a:r>
              <a:rPr lang="en-US" sz="3200" b="1" strike="noStrike" spc="-1" dirty="0">
                <a:solidFill>
                  <a:srgbClr val="010000"/>
                </a:solidFill>
                <a:latin typeface="Arial"/>
                <a:ea typeface="Arial"/>
              </a:rPr>
              <a:t>fraction</a:t>
            </a:r>
            <a:r>
              <a:rPr lang="en-US" sz="3200" b="0" strike="noStrike" spc="-1" dirty="0">
                <a:solidFill>
                  <a:srgbClr val="010000"/>
                </a:solidFill>
                <a:latin typeface="Arial"/>
                <a:ea typeface="Arial"/>
              </a:rPr>
              <a:t> x 2</a:t>
            </a:r>
            <a:r>
              <a:rPr lang="en-US" sz="3200" b="0" strike="noStrike" spc="-1" baseline="30000" dirty="0">
                <a:solidFill>
                  <a:srgbClr val="010000"/>
                </a:solidFill>
                <a:latin typeface="Arial"/>
                <a:ea typeface="Arial"/>
              </a:rPr>
              <a:t>(</a:t>
            </a:r>
            <a:r>
              <a:rPr lang="en-US" sz="3200" b="1" strike="noStrike" spc="-1" baseline="30000" dirty="0">
                <a:solidFill>
                  <a:srgbClr val="010000"/>
                </a:solidFill>
                <a:latin typeface="Arial"/>
                <a:ea typeface="Arial"/>
              </a:rPr>
              <a:t>biased exp.</a:t>
            </a:r>
            <a:r>
              <a:rPr lang="en-US" sz="3200" b="0" strike="noStrike" spc="-1" baseline="30000" dirty="0">
                <a:solidFill>
                  <a:srgbClr val="010000"/>
                </a:solidFill>
                <a:latin typeface="Arial"/>
                <a:ea typeface="Arial"/>
              </a:rPr>
              <a:t> – 127)</a:t>
            </a:r>
            <a:endParaRPr lang="en-US" sz="3200" b="0" strike="noStrike" spc="-1" dirty="0">
              <a:solidFill>
                <a:srgbClr val="000000"/>
              </a:solidFill>
              <a:latin typeface="Arial"/>
            </a:endParaRPr>
          </a:p>
        </p:txBody>
      </p:sp>
      <p:sp>
        <p:nvSpPr>
          <p:cNvPr id="666" name="CustomShape 10">
            <a:extLst>
              <a:ext uri="{FF2B5EF4-FFF2-40B4-BE49-F238E27FC236}">
                <a16:creationId xmlns:a16="http://schemas.microsoft.com/office/drawing/2014/main" id="{238146FC-24E0-C849-99F6-60357AC14534}"/>
              </a:ext>
            </a:extLst>
          </p:cNvPr>
          <p:cNvSpPr/>
          <p:nvPr/>
        </p:nvSpPr>
        <p:spPr>
          <a:xfrm>
            <a:off x="431280" y="3765240"/>
            <a:ext cx="1076040" cy="39168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ctr">
            <a:noAutofit/>
          </a:bodyPr>
          <a:lstStyle/>
          <a:p>
            <a:pPr algn="ctr">
              <a:lnSpc>
                <a:spcPct val="100000"/>
              </a:lnSpc>
              <a:tabLst>
                <a:tab pos="0" algn="l"/>
              </a:tabLst>
            </a:pPr>
            <a:r>
              <a:rPr lang="en-US" sz="2000" b="1" strike="noStrike" spc="-1">
                <a:solidFill>
                  <a:srgbClr val="010000"/>
                </a:solidFill>
                <a:latin typeface="Arial"/>
                <a:ea typeface="Arial"/>
              </a:rPr>
              <a:t>16 bits:</a:t>
            </a:r>
            <a:endParaRPr lang="en-US" sz="2000" b="0" strike="noStrike" spc="-1">
              <a:solidFill>
                <a:srgbClr val="000000"/>
              </a:solidFill>
              <a:latin typeface="Arial"/>
            </a:endParaRPr>
          </a:p>
        </p:txBody>
      </p:sp>
      <p:sp>
        <p:nvSpPr>
          <p:cNvPr id="667" name="CustomShape 11">
            <a:extLst>
              <a:ext uri="{FF2B5EF4-FFF2-40B4-BE49-F238E27FC236}">
                <a16:creationId xmlns:a16="http://schemas.microsoft.com/office/drawing/2014/main" id="{F3E1764B-1967-4E81-E7A0-82C0CF6B2C74}"/>
              </a:ext>
            </a:extLst>
          </p:cNvPr>
          <p:cNvSpPr/>
          <p:nvPr/>
        </p:nvSpPr>
        <p:spPr>
          <a:xfrm>
            <a:off x="554520" y="5894918"/>
            <a:ext cx="7882560" cy="402480"/>
          </a:xfrm>
          <a:prstGeom prst="rect">
            <a:avLst/>
          </a:prstGeom>
          <a:noFill/>
          <a:ln w="73080">
            <a:noFill/>
          </a:ln>
        </p:spPr>
        <p:style>
          <a:lnRef idx="0">
            <a:scrgbClr r="0" g="0" b="0"/>
          </a:lnRef>
          <a:fillRef idx="0">
            <a:scrgbClr r="0" g="0" b="0"/>
          </a:fillRef>
          <a:effectRef idx="0">
            <a:scrgbClr r="0" g="0" b="0"/>
          </a:effectRef>
          <a:fontRef idx="minor"/>
        </p:style>
        <p:txBody>
          <a:bodyPr lIns="126360" tIns="81360" rIns="126360" bIns="81360" anchor="t">
            <a:noAutofit/>
          </a:bodyPr>
          <a:lstStyle/>
          <a:p>
            <a:pPr>
              <a:lnSpc>
                <a:spcPct val="100000"/>
              </a:lnSpc>
            </a:pPr>
            <a:r>
              <a:rPr lang="en-US" sz="1100" b="0" strike="noStrike" spc="-1" dirty="0">
                <a:solidFill>
                  <a:srgbClr val="000000"/>
                </a:solidFill>
                <a:latin typeface="Arial"/>
                <a:ea typeface="DejaVu Sans"/>
              </a:rPr>
              <a:t>Source: </a:t>
            </a:r>
            <a:r>
              <a:rPr lang="en-US" sz="1100" b="0" u="sng" strike="noStrike" spc="-1" dirty="0">
                <a:solidFill>
                  <a:srgbClr val="FF9966"/>
                </a:solidFill>
                <a:uFillTx/>
                <a:latin typeface="Arial"/>
                <a:ea typeface="DejaVu Sans"/>
                <a:hlinkClick r:id="rId2"/>
              </a:rPr>
              <a:t>https://moocaholic.medium.com/fp64-fp32-fp16-bfloat16-tf32-and-other-members-of-the-zoo-a1ca7897d407</a:t>
            </a:r>
            <a:endParaRPr lang="en-US" sz="1100" b="0" strike="noStrike" spc="-1" dirty="0">
              <a:solidFill>
                <a:srgbClr val="000000"/>
              </a:solidFill>
              <a:latin typeface="Arial"/>
            </a:endParaRPr>
          </a:p>
          <a:p>
            <a:pPr>
              <a:lnSpc>
                <a:spcPct val="100000"/>
              </a:lnSpc>
            </a:pPr>
            <a:r>
              <a:rPr lang="en-US" sz="1100" b="0" strike="noStrike" spc="-1" dirty="0">
                <a:solidFill>
                  <a:srgbClr val="000000"/>
                </a:solidFill>
                <a:latin typeface="Arial"/>
                <a:ea typeface="DejaVu Sans"/>
              </a:rPr>
              <a:t>Source: </a:t>
            </a:r>
            <a:r>
              <a:rPr lang="en-US" sz="1100" b="0" strike="noStrike" spc="-1" dirty="0">
                <a:solidFill>
                  <a:srgbClr val="000000"/>
                </a:solidFill>
                <a:latin typeface="Arial"/>
                <a:ea typeface="DejaVu Sans"/>
                <a:hlinkClick r:id="rId3"/>
              </a:rPr>
              <a:t>https://blogs.nvidia.com/blog/tensorfloat-32-precision-format/</a:t>
            </a:r>
            <a:endParaRPr lang="en-US" sz="1100" b="0" strike="noStrike" spc="-1" dirty="0">
              <a:solidFill>
                <a:srgbClr val="000000"/>
              </a:solidFill>
              <a:latin typeface="Arial"/>
              <a:ea typeface="DejaVu Sans"/>
            </a:endParaRPr>
          </a:p>
          <a:p>
            <a:pPr>
              <a:lnSpc>
                <a:spcPct val="100000"/>
              </a:lnSpc>
            </a:pPr>
            <a:r>
              <a:rPr lang="en-US" sz="1100" spc="-1" dirty="0">
                <a:solidFill>
                  <a:srgbClr val="000000"/>
                </a:solidFill>
              </a:rPr>
              <a:t>Source: https://nhigham.com/2020/06/02/what-is-bfloat16-arithmetic/</a:t>
            </a:r>
            <a:endParaRPr lang="en-US" sz="1100" b="0" strike="noStrike" spc="-1" dirty="0">
              <a:solidFill>
                <a:srgbClr val="000000"/>
              </a:solidFill>
              <a:latin typeface="Arial"/>
            </a:endParaRPr>
          </a:p>
        </p:txBody>
      </p:sp>
      <p:sp>
        <p:nvSpPr>
          <p:cNvPr id="2" name="CustomShape 2">
            <a:extLst>
              <a:ext uri="{FF2B5EF4-FFF2-40B4-BE49-F238E27FC236}">
                <a16:creationId xmlns:a16="http://schemas.microsoft.com/office/drawing/2014/main" id="{C98C608B-5D06-60B2-6085-2AA9D7151EEE}"/>
              </a:ext>
            </a:extLst>
          </p:cNvPr>
          <p:cNvSpPr/>
          <p:nvPr/>
        </p:nvSpPr>
        <p:spPr>
          <a:xfrm>
            <a:off x="431280" y="939540"/>
            <a:ext cx="8491549" cy="232212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t">
            <a:noAutofit/>
          </a:bodyPr>
          <a:lstStyle/>
          <a:p>
            <a:pPr marL="344520" indent="-285120">
              <a:lnSpc>
                <a:spcPct val="120000"/>
              </a:lnSpc>
              <a:buClr>
                <a:srgbClr val="990000"/>
              </a:buClr>
              <a:buFont typeface="Noto Sans Symbols"/>
              <a:buChar char="●"/>
            </a:pPr>
            <a:r>
              <a:rPr lang="en-US" b="0" strike="noStrike" spc="-1" dirty="0">
                <a:solidFill>
                  <a:srgbClr val="009999"/>
                </a:solidFill>
                <a:latin typeface="Arial"/>
                <a:ea typeface="Arial"/>
              </a:rPr>
              <a:t>Half-precision (16-bit) floating point</a:t>
            </a:r>
            <a:endParaRPr lang="en-US" b="0" strike="noStrike" spc="-1" dirty="0">
              <a:solidFill>
                <a:srgbClr val="000000"/>
              </a:solidFill>
              <a:latin typeface="Arial"/>
            </a:endParaRPr>
          </a:p>
          <a:p>
            <a:pPr marL="344520" indent="-285120">
              <a:lnSpc>
                <a:spcPct val="120000"/>
              </a:lnSpc>
              <a:buClr>
                <a:srgbClr val="990000"/>
              </a:buClr>
              <a:buFont typeface="Noto Sans Symbols"/>
              <a:buChar char="●"/>
            </a:pPr>
            <a:r>
              <a:rPr lang="en-US" b="0" strike="noStrike" spc="-1" dirty="0">
                <a:solidFill>
                  <a:srgbClr val="009999"/>
                </a:solidFill>
                <a:latin typeface="Arial"/>
                <a:ea typeface="Arial"/>
              </a:rPr>
              <a:t>Trend in AI towards FP16, because lower precision calculations seem not to be critical.  It often speeds</a:t>
            </a:r>
            <a:r>
              <a:rPr lang="en-US" spc="-1" dirty="0">
                <a:solidFill>
                  <a:srgbClr val="000000"/>
                </a:solidFill>
                <a:latin typeface="Arial"/>
              </a:rPr>
              <a:t> </a:t>
            </a:r>
            <a:r>
              <a:rPr lang="en-US" b="0" strike="noStrike" spc="-1" dirty="0">
                <a:solidFill>
                  <a:srgbClr val="009999"/>
                </a:solidFill>
                <a:latin typeface="Arial"/>
                <a:ea typeface="Arial"/>
              </a:rPr>
              <a:t>up calculations, without harming the results.</a:t>
            </a:r>
          </a:p>
          <a:p>
            <a:pPr marL="344520" indent="-285120">
              <a:lnSpc>
                <a:spcPct val="120000"/>
              </a:lnSpc>
              <a:buClr>
                <a:srgbClr val="990000"/>
              </a:buClr>
              <a:buFont typeface="Noto Sans Symbols"/>
              <a:buChar char="●"/>
            </a:pPr>
            <a:r>
              <a:rPr lang="en-US" spc="-1" dirty="0">
                <a:solidFill>
                  <a:srgbClr val="009999"/>
                </a:solidFill>
                <a:latin typeface="Arial"/>
                <a:ea typeface="Arial"/>
              </a:rPr>
              <a:t>Same dynamic range but less precision than FP32</a:t>
            </a:r>
          </a:p>
          <a:p>
            <a:pPr marL="344520" indent="-285120">
              <a:lnSpc>
                <a:spcPct val="120000"/>
              </a:lnSpc>
              <a:buClr>
                <a:srgbClr val="990000"/>
              </a:buClr>
              <a:buFont typeface="Noto Sans Symbols"/>
              <a:buChar char="●"/>
            </a:pPr>
            <a:r>
              <a:rPr lang="en-US" spc="-1" dirty="0">
                <a:solidFill>
                  <a:srgbClr val="009999"/>
                </a:solidFill>
                <a:latin typeface="Arial"/>
                <a:ea typeface="Arial"/>
              </a:rPr>
              <a:t>Better for training avoiding underflow and overflow.</a:t>
            </a:r>
          </a:p>
          <a:p>
            <a:pPr marL="344520" indent="-285120">
              <a:lnSpc>
                <a:spcPct val="120000"/>
              </a:lnSpc>
              <a:buClr>
                <a:srgbClr val="990000"/>
              </a:buClr>
              <a:buFont typeface="Noto Sans Symbols"/>
              <a:buChar char="●"/>
            </a:pPr>
            <a:r>
              <a:rPr lang="en-US" spc="-1" dirty="0">
                <a:solidFill>
                  <a:srgbClr val="009999"/>
                </a:solidFill>
                <a:latin typeface="Arial"/>
                <a:ea typeface="Arial"/>
              </a:rPr>
              <a:t>Faster and smaller than FP32</a:t>
            </a:r>
          </a:p>
          <a:p>
            <a:pPr marL="344520" indent="-285120">
              <a:lnSpc>
                <a:spcPct val="120000"/>
              </a:lnSpc>
              <a:buClr>
                <a:srgbClr val="990000"/>
              </a:buClr>
              <a:buFont typeface="Noto Sans Symbols"/>
              <a:buChar char="●"/>
            </a:pPr>
            <a:r>
              <a:rPr lang="en-US" sz="2400" spc="-1" dirty="0">
                <a:solidFill>
                  <a:srgbClr val="009999"/>
                </a:solidFill>
                <a:latin typeface="Arial"/>
                <a:ea typeface="Arial"/>
              </a:rPr>
              <a:t>Google TPU, Intel AMX, NVIDIA Hopper, </a:t>
            </a:r>
            <a:br>
              <a:rPr lang="en-US" sz="2400" spc="-1" dirty="0">
                <a:solidFill>
                  <a:srgbClr val="000000"/>
                </a:solidFill>
                <a:latin typeface="Arial"/>
                <a:ea typeface="Arial"/>
              </a:rPr>
            </a:br>
            <a:endParaRPr lang="en-US" sz="2400" b="0" strike="noStrike" spc="-1" dirty="0">
              <a:solidFill>
                <a:srgbClr val="009999"/>
              </a:solidFill>
              <a:latin typeface="Arial"/>
              <a:ea typeface="Arial"/>
            </a:endParaRPr>
          </a:p>
        </p:txBody>
      </p:sp>
      <p:sp>
        <p:nvSpPr>
          <p:cNvPr id="6" name="TextBox 5">
            <a:extLst>
              <a:ext uri="{FF2B5EF4-FFF2-40B4-BE49-F238E27FC236}">
                <a16:creationId xmlns:a16="http://schemas.microsoft.com/office/drawing/2014/main" id="{FA4B119A-00D7-0E0C-714E-A33EC1C85AD1}"/>
              </a:ext>
            </a:extLst>
          </p:cNvPr>
          <p:cNvSpPr txBox="1"/>
          <p:nvPr/>
        </p:nvSpPr>
        <p:spPr>
          <a:xfrm>
            <a:off x="614794" y="5493622"/>
            <a:ext cx="7725641" cy="338554"/>
          </a:xfrm>
          <a:prstGeom prst="rect">
            <a:avLst/>
          </a:prstGeom>
          <a:noFill/>
        </p:spPr>
        <p:txBody>
          <a:bodyPr wrap="square">
            <a:spAutoFit/>
          </a:bodyPr>
          <a:lstStyle/>
          <a:p>
            <a:pPr>
              <a:lnSpc>
                <a:spcPct val="100000"/>
              </a:lnSpc>
            </a:pPr>
            <a:r>
              <a:rPr lang="en-US" sz="1600" b="0" strike="noStrike" spc="-1" dirty="0">
                <a:solidFill>
                  <a:srgbClr val="000000"/>
                </a:solidFill>
                <a:latin typeface="Arial"/>
                <a:ea typeface="DejaVu Sans"/>
              </a:rPr>
              <a:t>Range: (+/- 3.4e−38 to 3.4e+38) with ~</a:t>
            </a:r>
            <a:r>
              <a:rPr lang="en-US" sz="1600" spc="-1" dirty="0">
                <a:solidFill>
                  <a:srgbClr val="000000"/>
                </a:solidFill>
                <a:latin typeface="Arial"/>
                <a:ea typeface="DejaVu Sans"/>
              </a:rPr>
              <a:t>2.4</a:t>
            </a:r>
            <a:r>
              <a:rPr lang="en-US" sz="1600" b="0" strike="noStrike" spc="-1" dirty="0">
                <a:solidFill>
                  <a:srgbClr val="000000"/>
                </a:solidFill>
                <a:latin typeface="Arial"/>
                <a:ea typeface="DejaVu Sans"/>
              </a:rPr>
              <a:t> significant decimal digits precision</a:t>
            </a:r>
            <a:endParaRPr lang="en-US" sz="1600" b="0" strike="noStrike" spc="-1" dirty="0">
              <a:solidFill>
                <a:srgbClr val="000000"/>
              </a:solidFill>
              <a:latin typeface="Arial"/>
            </a:endParaRPr>
          </a:p>
        </p:txBody>
      </p:sp>
    </p:spTree>
    <p:extLst>
      <p:ext uri="{BB962C8B-B14F-4D97-AF65-F5344CB8AC3E}">
        <p14:creationId xmlns:p14="http://schemas.microsoft.com/office/powerpoint/2010/main" val="2957906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964" y="0"/>
            <a:ext cx="8229240" cy="1144800"/>
          </a:xfrm>
        </p:spPr>
        <p:txBody>
          <a:bodyPr/>
          <a:lstStyle/>
          <a:p>
            <a:r>
              <a:rPr sz="4000" dirty="0"/>
              <a:t>Processors with BFloat16 Support</a:t>
            </a:r>
          </a:p>
        </p:txBody>
      </p:sp>
      <p:graphicFrame>
        <p:nvGraphicFramePr>
          <p:cNvPr id="3" name="Table 2"/>
          <p:cNvGraphicFramePr>
            <a:graphicFrameLocks noGrp="1"/>
          </p:cNvGraphicFramePr>
          <p:nvPr/>
        </p:nvGraphicFramePr>
        <p:xfrm>
          <a:off x="457200" y="1371600"/>
          <a:ext cx="8229600" cy="462742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415636">
                <a:tc>
                  <a:txBody>
                    <a:bodyPr/>
                    <a:lstStyle/>
                    <a:p>
                      <a:pPr>
                        <a:defRPr sz="1200" b="1"/>
                      </a:pPr>
                      <a:r>
                        <a:t>Vendor</a:t>
                      </a:r>
                    </a:p>
                  </a:txBody>
                  <a:tcPr/>
                </a:tc>
                <a:tc>
                  <a:txBody>
                    <a:bodyPr/>
                    <a:lstStyle/>
                    <a:p>
                      <a:pPr>
                        <a:defRPr sz="1200" b="1"/>
                      </a:pPr>
                      <a:r>
                        <a:t>Product / Family</a:t>
                      </a:r>
                    </a:p>
                  </a:txBody>
                  <a:tcPr/>
                </a:tc>
                <a:tc>
                  <a:txBody>
                    <a:bodyPr/>
                    <a:lstStyle/>
                    <a:p>
                      <a:pPr>
                        <a:defRPr sz="1200" b="1"/>
                      </a:pPr>
                      <a:r>
                        <a:t>Type</a:t>
                      </a:r>
                    </a:p>
                  </a:txBody>
                  <a:tcPr/>
                </a:tc>
                <a:tc>
                  <a:txBody>
                    <a:bodyPr/>
                    <a:lstStyle/>
                    <a:p>
                      <a:pPr>
                        <a:defRPr sz="1200" b="1"/>
                      </a:pPr>
                      <a:r>
                        <a:t>BF16 Support</a:t>
                      </a:r>
                    </a:p>
                  </a:txBody>
                  <a:tcPr/>
                </a:tc>
                <a:tc>
                  <a:txBody>
                    <a:bodyPr/>
                    <a:lstStyle/>
                    <a:p>
                      <a:pPr>
                        <a:defRPr sz="1200" b="1"/>
                      </a:pPr>
                      <a:r>
                        <a:t>Architecture / Notes</a:t>
                      </a:r>
                    </a:p>
                  </a:txBody>
                  <a:tcPr/>
                </a:tc>
                <a:extLst>
                  <a:ext uri="{0D108BD9-81ED-4DB2-BD59-A6C34878D82A}">
                    <a16:rowId xmlns:a16="http://schemas.microsoft.com/office/drawing/2014/main" val="10000"/>
                  </a:ext>
                </a:extLst>
              </a:tr>
              <a:tr h="415636">
                <a:tc>
                  <a:txBody>
                    <a:bodyPr/>
                    <a:lstStyle/>
                    <a:p>
                      <a:pPr>
                        <a:defRPr sz="1100"/>
                      </a:pPr>
                      <a:r>
                        <a:t>Intel</a:t>
                      </a:r>
                    </a:p>
                  </a:txBody>
                  <a:tcPr/>
                </a:tc>
                <a:tc>
                  <a:txBody>
                    <a:bodyPr/>
                    <a:lstStyle/>
                    <a:p>
                      <a:pPr>
                        <a:defRPr sz="1100"/>
                      </a:pPr>
                      <a:r>
                        <a:t>Xeon Scalable (4th Gen)</a:t>
                      </a:r>
                    </a:p>
                  </a:txBody>
                  <a:tcPr/>
                </a:tc>
                <a:tc>
                  <a:txBody>
                    <a:bodyPr/>
                    <a:lstStyle/>
                    <a:p>
                      <a:pPr>
                        <a:defRPr sz="1100"/>
                      </a:pPr>
                      <a:r>
                        <a:t>CPU</a:t>
                      </a:r>
                    </a:p>
                  </a:txBody>
                  <a:tcPr/>
                </a:tc>
                <a:tc>
                  <a:txBody>
                    <a:bodyPr/>
                    <a:lstStyle/>
                    <a:p>
                      <a:pPr>
                        <a:defRPr sz="1100"/>
                      </a:pPr>
                      <a:r>
                        <a:t>Yes</a:t>
                      </a:r>
                    </a:p>
                  </a:txBody>
                  <a:tcPr/>
                </a:tc>
                <a:tc>
                  <a:txBody>
                    <a:bodyPr/>
                    <a:lstStyle/>
                    <a:p>
                      <a:pPr>
                        <a:defRPr sz="1100"/>
                      </a:pPr>
                      <a:r>
                        <a:t>AMX, Sapphire Rapids</a:t>
                      </a:r>
                    </a:p>
                  </a:txBody>
                  <a:tcPr/>
                </a:tc>
                <a:extLst>
                  <a:ext uri="{0D108BD9-81ED-4DB2-BD59-A6C34878D82A}">
                    <a16:rowId xmlns:a16="http://schemas.microsoft.com/office/drawing/2014/main" val="10001"/>
                  </a:ext>
                </a:extLst>
              </a:tr>
              <a:tr h="415636">
                <a:tc>
                  <a:txBody>
                    <a:bodyPr/>
                    <a:lstStyle/>
                    <a:p>
                      <a:pPr>
                        <a:defRPr sz="1100"/>
                      </a:pPr>
                      <a:r>
                        <a:t>Intel</a:t>
                      </a:r>
                    </a:p>
                  </a:txBody>
                  <a:tcPr/>
                </a:tc>
                <a:tc>
                  <a:txBody>
                    <a:bodyPr/>
                    <a:lstStyle/>
                    <a:p>
                      <a:pPr>
                        <a:defRPr sz="1100"/>
                      </a:pPr>
                      <a:r>
                        <a:t>Xeon Scalable (3rd Gen)</a:t>
                      </a:r>
                    </a:p>
                  </a:txBody>
                  <a:tcPr/>
                </a:tc>
                <a:tc>
                  <a:txBody>
                    <a:bodyPr/>
                    <a:lstStyle/>
                    <a:p>
                      <a:pPr>
                        <a:defRPr sz="1100"/>
                      </a:pPr>
                      <a:r>
                        <a:t>CPU</a:t>
                      </a:r>
                    </a:p>
                  </a:txBody>
                  <a:tcPr/>
                </a:tc>
                <a:tc>
                  <a:txBody>
                    <a:bodyPr/>
                    <a:lstStyle/>
                    <a:p>
                      <a:pPr>
                        <a:defRPr sz="1100"/>
                      </a:pPr>
                      <a:r>
                        <a:t>Yes</a:t>
                      </a:r>
                    </a:p>
                  </a:txBody>
                  <a:tcPr/>
                </a:tc>
                <a:tc>
                  <a:txBody>
                    <a:bodyPr/>
                    <a:lstStyle/>
                    <a:p>
                      <a:pPr>
                        <a:defRPr sz="1100"/>
                      </a:pPr>
                      <a:r>
                        <a:t>AVX-512 + BF16</a:t>
                      </a:r>
                    </a:p>
                  </a:txBody>
                  <a:tcPr/>
                </a:tc>
                <a:extLst>
                  <a:ext uri="{0D108BD9-81ED-4DB2-BD59-A6C34878D82A}">
                    <a16:rowId xmlns:a16="http://schemas.microsoft.com/office/drawing/2014/main" val="10002"/>
                  </a:ext>
                </a:extLst>
              </a:tr>
              <a:tr h="415636">
                <a:tc>
                  <a:txBody>
                    <a:bodyPr/>
                    <a:lstStyle/>
                    <a:p>
                      <a:pPr>
                        <a:defRPr sz="1100"/>
                      </a:pPr>
                      <a:r>
                        <a:t>Intel</a:t>
                      </a:r>
                    </a:p>
                  </a:txBody>
                  <a:tcPr/>
                </a:tc>
                <a:tc>
                  <a:txBody>
                    <a:bodyPr/>
                    <a:lstStyle/>
                    <a:p>
                      <a:pPr>
                        <a:defRPr sz="1100"/>
                      </a:pPr>
                      <a:r>
                        <a:t>Habana Gaudi / Gaudi2</a:t>
                      </a:r>
                    </a:p>
                  </a:txBody>
                  <a:tcPr/>
                </a:tc>
                <a:tc>
                  <a:txBody>
                    <a:bodyPr/>
                    <a:lstStyle/>
                    <a:p>
                      <a:pPr>
                        <a:defRPr sz="1100"/>
                      </a:pPr>
                      <a:r>
                        <a:t>AI Accelerator</a:t>
                      </a:r>
                    </a:p>
                  </a:txBody>
                  <a:tcPr/>
                </a:tc>
                <a:tc>
                  <a:txBody>
                    <a:bodyPr/>
                    <a:lstStyle/>
                    <a:p>
                      <a:pPr>
                        <a:defRPr sz="1100"/>
                      </a:pPr>
                      <a:r>
                        <a:t>Yes</a:t>
                      </a:r>
                    </a:p>
                  </a:txBody>
                  <a:tcPr/>
                </a:tc>
                <a:tc>
                  <a:txBody>
                    <a:bodyPr/>
                    <a:lstStyle/>
                    <a:p>
                      <a:pPr>
                        <a:defRPr sz="1100"/>
                      </a:pPr>
                      <a:r>
                        <a:t>Native BF16</a:t>
                      </a:r>
                    </a:p>
                  </a:txBody>
                  <a:tcPr/>
                </a:tc>
                <a:extLst>
                  <a:ext uri="{0D108BD9-81ED-4DB2-BD59-A6C34878D82A}">
                    <a16:rowId xmlns:a16="http://schemas.microsoft.com/office/drawing/2014/main" val="10003"/>
                  </a:ext>
                </a:extLst>
              </a:tr>
              <a:tr h="415636">
                <a:tc>
                  <a:txBody>
                    <a:bodyPr/>
                    <a:lstStyle/>
                    <a:p>
                      <a:pPr>
                        <a:defRPr sz="1100"/>
                      </a:pPr>
                      <a:r>
                        <a:t>AMD</a:t>
                      </a:r>
                    </a:p>
                  </a:txBody>
                  <a:tcPr/>
                </a:tc>
                <a:tc>
                  <a:txBody>
                    <a:bodyPr/>
                    <a:lstStyle/>
                    <a:p>
                      <a:pPr>
                        <a:defRPr sz="1100"/>
                      </a:pPr>
                      <a:r>
                        <a:t>EPYC 9004 (Zen 4)</a:t>
                      </a:r>
                    </a:p>
                  </a:txBody>
                  <a:tcPr/>
                </a:tc>
                <a:tc>
                  <a:txBody>
                    <a:bodyPr/>
                    <a:lstStyle/>
                    <a:p>
                      <a:pPr>
                        <a:defRPr sz="1100"/>
                      </a:pPr>
                      <a:r>
                        <a:t>CPU</a:t>
                      </a:r>
                    </a:p>
                  </a:txBody>
                  <a:tcPr/>
                </a:tc>
                <a:tc>
                  <a:txBody>
                    <a:bodyPr/>
                    <a:lstStyle/>
                    <a:p>
                      <a:pPr>
                        <a:defRPr sz="1100"/>
                      </a:pPr>
                      <a:r>
                        <a:t>Yes</a:t>
                      </a:r>
                    </a:p>
                  </a:txBody>
                  <a:tcPr/>
                </a:tc>
                <a:tc>
                  <a:txBody>
                    <a:bodyPr/>
                    <a:lstStyle/>
                    <a:p>
                      <a:pPr>
                        <a:defRPr sz="1100"/>
                      </a:pPr>
                      <a:r>
                        <a:t>AVX-512 + BF16</a:t>
                      </a:r>
                    </a:p>
                  </a:txBody>
                  <a:tcPr/>
                </a:tc>
                <a:extLst>
                  <a:ext uri="{0D108BD9-81ED-4DB2-BD59-A6C34878D82A}">
                    <a16:rowId xmlns:a16="http://schemas.microsoft.com/office/drawing/2014/main" val="10004"/>
                  </a:ext>
                </a:extLst>
              </a:tr>
              <a:tr h="415636">
                <a:tc>
                  <a:txBody>
                    <a:bodyPr/>
                    <a:lstStyle/>
                    <a:p>
                      <a:pPr>
                        <a:defRPr sz="1100"/>
                      </a:pPr>
                      <a:r>
                        <a:t>AMD</a:t>
                      </a:r>
                    </a:p>
                  </a:txBody>
                  <a:tcPr/>
                </a:tc>
                <a:tc>
                  <a:txBody>
                    <a:bodyPr/>
                    <a:lstStyle/>
                    <a:p>
                      <a:pPr>
                        <a:defRPr sz="1100"/>
                      </a:pPr>
                      <a:r>
                        <a:t>Ryzen 7000 (Zen 4)</a:t>
                      </a:r>
                    </a:p>
                  </a:txBody>
                  <a:tcPr/>
                </a:tc>
                <a:tc>
                  <a:txBody>
                    <a:bodyPr/>
                    <a:lstStyle/>
                    <a:p>
                      <a:pPr>
                        <a:defRPr sz="1100"/>
                      </a:pPr>
                      <a:r>
                        <a:t>CPU</a:t>
                      </a:r>
                    </a:p>
                  </a:txBody>
                  <a:tcPr/>
                </a:tc>
                <a:tc>
                  <a:txBody>
                    <a:bodyPr/>
                    <a:lstStyle/>
                    <a:p>
                      <a:pPr>
                        <a:defRPr sz="1100"/>
                      </a:pPr>
                      <a:r>
                        <a:t>Yes</a:t>
                      </a:r>
                    </a:p>
                  </a:txBody>
                  <a:tcPr/>
                </a:tc>
                <a:tc>
                  <a:txBody>
                    <a:bodyPr/>
                    <a:lstStyle/>
                    <a:p>
                      <a:pPr>
                        <a:defRPr sz="1100"/>
                      </a:pPr>
                      <a:r>
                        <a:t>AVX-512 BF16</a:t>
                      </a:r>
                    </a:p>
                  </a:txBody>
                  <a:tcPr/>
                </a:tc>
                <a:extLst>
                  <a:ext uri="{0D108BD9-81ED-4DB2-BD59-A6C34878D82A}">
                    <a16:rowId xmlns:a16="http://schemas.microsoft.com/office/drawing/2014/main" val="10005"/>
                  </a:ext>
                </a:extLst>
              </a:tr>
              <a:tr h="415636">
                <a:tc>
                  <a:txBody>
                    <a:bodyPr/>
                    <a:lstStyle/>
                    <a:p>
                      <a:pPr>
                        <a:defRPr sz="1100"/>
                      </a:pPr>
                      <a:r>
                        <a:t>AMD</a:t>
                      </a:r>
                    </a:p>
                  </a:txBody>
                  <a:tcPr/>
                </a:tc>
                <a:tc>
                  <a:txBody>
                    <a:bodyPr/>
                    <a:lstStyle/>
                    <a:p>
                      <a:pPr>
                        <a:defRPr sz="1100"/>
                      </a:pPr>
                      <a:r>
                        <a:t>Instinct MI300 Series</a:t>
                      </a:r>
                    </a:p>
                  </a:txBody>
                  <a:tcPr/>
                </a:tc>
                <a:tc>
                  <a:txBody>
                    <a:bodyPr/>
                    <a:lstStyle/>
                    <a:p>
                      <a:pPr>
                        <a:defRPr sz="1100"/>
                      </a:pPr>
                      <a:r>
                        <a:t>GPU</a:t>
                      </a:r>
                    </a:p>
                  </a:txBody>
                  <a:tcPr/>
                </a:tc>
                <a:tc>
                  <a:txBody>
                    <a:bodyPr/>
                    <a:lstStyle/>
                    <a:p>
                      <a:pPr>
                        <a:defRPr sz="1100"/>
                      </a:pPr>
                      <a:r>
                        <a:t>Yes</a:t>
                      </a:r>
                    </a:p>
                  </a:txBody>
                  <a:tcPr/>
                </a:tc>
                <a:tc>
                  <a:txBody>
                    <a:bodyPr/>
                    <a:lstStyle/>
                    <a:p>
                      <a:pPr>
                        <a:defRPr sz="1100"/>
                      </a:pPr>
                      <a:r>
                        <a:t>BF16, FP8, CDNA 3</a:t>
                      </a:r>
                    </a:p>
                  </a:txBody>
                  <a:tcPr/>
                </a:tc>
                <a:extLst>
                  <a:ext uri="{0D108BD9-81ED-4DB2-BD59-A6C34878D82A}">
                    <a16:rowId xmlns:a16="http://schemas.microsoft.com/office/drawing/2014/main" val="10006"/>
                  </a:ext>
                </a:extLst>
              </a:tr>
              <a:tr h="415636">
                <a:tc>
                  <a:txBody>
                    <a:bodyPr/>
                    <a:lstStyle/>
                    <a:p>
                      <a:pPr>
                        <a:defRPr sz="1100"/>
                      </a:pPr>
                      <a:r>
                        <a:t>Google</a:t>
                      </a:r>
                    </a:p>
                  </a:txBody>
                  <a:tcPr/>
                </a:tc>
                <a:tc>
                  <a:txBody>
                    <a:bodyPr/>
                    <a:lstStyle/>
                    <a:p>
                      <a:pPr>
                        <a:defRPr sz="1100"/>
                      </a:pPr>
                      <a:r>
                        <a:t>TPU v2, v3, v4</a:t>
                      </a:r>
                    </a:p>
                  </a:txBody>
                  <a:tcPr/>
                </a:tc>
                <a:tc>
                  <a:txBody>
                    <a:bodyPr/>
                    <a:lstStyle/>
                    <a:p>
                      <a:pPr>
                        <a:defRPr sz="1100"/>
                      </a:pPr>
                      <a:r>
                        <a:t>AI Accelerator</a:t>
                      </a:r>
                    </a:p>
                  </a:txBody>
                  <a:tcPr/>
                </a:tc>
                <a:tc>
                  <a:txBody>
                    <a:bodyPr/>
                    <a:lstStyle/>
                    <a:p>
                      <a:pPr>
                        <a:defRPr sz="1100"/>
                      </a:pPr>
                      <a:r>
                        <a:t>Yes</a:t>
                      </a:r>
                    </a:p>
                  </a:txBody>
                  <a:tcPr/>
                </a:tc>
                <a:tc>
                  <a:txBody>
                    <a:bodyPr/>
                    <a:lstStyle/>
                    <a:p>
                      <a:pPr>
                        <a:defRPr sz="1100"/>
                      </a:pPr>
                      <a:r>
                        <a:t>Native BF16 only</a:t>
                      </a:r>
                    </a:p>
                  </a:txBody>
                  <a:tcPr/>
                </a:tc>
                <a:extLst>
                  <a:ext uri="{0D108BD9-81ED-4DB2-BD59-A6C34878D82A}">
                    <a16:rowId xmlns:a16="http://schemas.microsoft.com/office/drawing/2014/main" val="10007"/>
                  </a:ext>
                </a:extLst>
              </a:tr>
              <a:tr h="415636">
                <a:tc>
                  <a:txBody>
                    <a:bodyPr/>
                    <a:lstStyle/>
                    <a:p>
                      <a:pPr>
                        <a:defRPr sz="1100"/>
                      </a:pPr>
                      <a:r>
                        <a:t>NVIDIA</a:t>
                      </a:r>
                    </a:p>
                  </a:txBody>
                  <a:tcPr/>
                </a:tc>
                <a:tc>
                  <a:txBody>
                    <a:bodyPr/>
                    <a:lstStyle/>
                    <a:p>
                      <a:pPr>
                        <a:defRPr sz="1100"/>
                      </a:pPr>
                      <a:r>
                        <a:t>A100 (Ampere)</a:t>
                      </a:r>
                    </a:p>
                  </a:txBody>
                  <a:tcPr/>
                </a:tc>
                <a:tc>
                  <a:txBody>
                    <a:bodyPr/>
                    <a:lstStyle/>
                    <a:p>
                      <a:pPr>
                        <a:defRPr sz="1100"/>
                      </a:pPr>
                      <a:r>
                        <a:t>GPU</a:t>
                      </a:r>
                    </a:p>
                  </a:txBody>
                  <a:tcPr/>
                </a:tc>
                <a:tc>
                  <a:txBody>
                    <a:bodyPr/>
                    <a:lstStyle/>
                    <a:p>
                      <a:pPr>
                        <a:defRPr sz="1100"/>
                      </a:pPr>
                      <a:r>
                        <a:t>Yes</a:t>
                      </a:r>
                    </a:p>
                  </a:txBody>
                  <a:tcPr/>
                </a:tc>
                <a:tc>
                  <a:txBody>
                    <a:bodyPr/>
                    <a:lstStyle/>
                    <a:p>
                      <a:pPr>
                        <a:defRPr sz="1100"/>
                      </a:pPr>
                      <a:r>
                        <a:t>Tensor Cores: FP16, BF16, FP32</a:t>
                      </a:r>
                    </a:p>
                  </a:txBody>
                  <a:tcPr/>
                </a:tc>
                <a:extLst>
                  <a:ext uri="{0D108BD9-81ED-4DB2-BD59-A6C34878D82A}">
                    <a16:rowId xmlns:a16="http://schemas.microsoft.com/office/drawing/2014/main" val="10008"/>
                  </a:ext>
                </a:extLst>
              </a:tr>
              <a:tr h="415636">
                <a:tc>
                  <a:txBody>
                    <a:bodyPr/>
                    <a:lstStyle/>
                    <a:p>
                      <a:pPr>
                        <a:defRPr sz="1100"/>
                      </a:pPr>
                      <a:r>
                        <a:t>NVIDIA</a:t>
                      </a:r>
                    </a:p>
                  </a:txBody>
                  <a:tcPr/>
                </a:tc>
                <a:tc>
                  <a:txBody>
                    <a:bodyPr/>
                    <a:lstStyle/>
                    <a:p>
                      <a:pPr>
                        <a:defRPr sz="1100"/>
                      </a:pPr>
                      <a:r>
                        <a:t>H100 (Hopper)</a:t>
                      </a:r>
                    </a:p>
                  </a:txBody>
                  <a:tcPr/>
                </a:tc>
                <a:tc>
                  <a:txBody>
                    <a:bodyPr/>
                    <a:lstStyle/>
                    <a:p>
                      <a:pPr>
                        <a:defRPr sz="1100"/>
                      </a:pPr>
                      <a:r>
                        <a:t>GPU</a:t>
                      </a:r>
                    </a:p>
                  </a:txBody>
                  <a:tcPr/>
                </a:tc>
                <a:tc>
                  <a:txBody>
                    <a:bodyPr/>
                    <a:lstStyle/>
                    <a:p>
                      <a:pPr>
                        <a:defRPr sz="1100"/>
                      </a:pPr>
                      <a:r>
                        <a:t>Yes</a:t>
                      </a:r>
                    </a:p>
                  </a:txBody>
                  <a:tcPr/>
                </a:tc>
                <a:tc>
                  <a:txBody>
                    <a:bodyPr/>
                    <a:lstStyle/>
                    <a:p>
                      <a:pPr>
                        <a:defRPr sz="1100"/>
                      </a:pPr>
                      <a:r>
                        <a:t>BF16, FP8, Tensor memory format</a:t>
                      </a:r>
                    </a:p>
                  </a:txBody>
                  <a:tcPr/>
                </a:tc>
                <a:extLst>
                  <a:ext uri="{0D108BD9-81ED-4DB2-BD59-A6C34878D82A}">
                    <a16:rowId xmlns:a16="http://schemas.microsoft.com/office/drawing/2014/main" val="10009"/>
                  </a:ext>
                </a:extLst>
              </a:tr>
              <a:tr h="415640">
                <a:tc>
                  <a:txBody>
                    <a:bodyPr/>
                    <a:lstStyle/>
                    <a:p>
                      <a:pPr>
                        <a:defRPr sz="1100"/>
                      </a:pPr>
                      <a:r>
                        <a:t>ARM</a:t>
                      </a:r>
                    </a:p>
                  </a:txBody>
                  <a:tcPr/>
                </a:tc>
                <a:tc>
                  <a:txBody>
                    <a:bodyPr/>
                    <a:lstStyle/>
                    <a:p>
                      <a:pPr>
                        <a:defRPr sz="1100"/>
                      </a:pPr>
                      <a:r>
                        <a:t>Neoverse V2 / V3</a:t>
                      </a:r>
                    </a:p>
                  </a:txBody>
                  <a:tcPr/>
                </a:tc>
                <a:tc>
                  <a:txBody>
                    <a:bodyPr/>
                    <a:lstStyle/>
                    <a:p>
                      <a:pPr>
                        <a:defRPr sz="1100"/>
                      </a:pPr>
                      <a:r>
                        <a:t>CPU</a:t>
                      </a:r>
                    </a:p>
                  </a:txBody>
                  <a:tcPr/>
                </a:tc>
                <a:tc>
                  <a:txBody>
                    <a:bodyPr/>
                    <a:lstStyle/>
                    <a:p>
                      <a:pPr>
                        <a:defRPr sz="1100"/>
                      </a:pPr>
                      <a:r>
                        <a:t>Partial</a:t>
                      </a:r>
                    </a:p>
                  </a:txBody>
                  <a:tcPr/>
                </a:tc>
                <a:tc>
                  <a:txBody>
                    <a:bodyPr/>
                    <a:lstStyle/>
                    <a:p>
                      <a:pPr>
                        <a:defRPr sz="1100"/>
                      </a:pPr>
                      <a:r>
                        <a:t>SVE2 + BF16 optional</a:t>
                      </a:r>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5FD94-193A-0704-E6A0-772094C1B56B}"/>
            </a:ext>
          </a:extLst>
        </p:cNvPr>
        <p:cNvGrpSpPr/>
        <p:nvPr/>
      </p:nvGrpSpPr>
      <p:grpSpPr>
        <a:xfrm>
          <a:off x="0" y="0"/>
          <a:ext cx="0" cy="0"/>
          <a:chOff x="0" y="0"/>
          <a:chExt cx="0" cy="0"/>
        </a:xfrm>
      </p:grpSpPr>
      <p:sp>
        <p:nvSpPr>
          <p:cNvPr id="657" name="CustomShape 1">
            <a:extLst>
              <a:ext uri="{FF2B5EF4-FFF2-40B4-BE49-F238E27FC236}">
                <a16:creationId xmlns:a16="http://schemas.microsoft.com/office/drawing/2014/main" id="{DA5FB7A3-ACF8-5272-4CC4-3AD6D13D2FD7}"/>
              </a:ext>
            </a:extLst>
          </p:cNvPr>
          <p:cNvSpPr/>
          <p:nvPr/>
        </p:nvSpPr>
        <p:spPr>
          <a:xfrm>
            <a:off x="299160" y="124740"/>
            <a:ext cx="8776855" cy="66276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3200" b="1" strike="noStrike" spc="-1" dirty="0">
                <a:solidFill>
                  <a:srgbClr val="336699"/>
                </a:solidFill>
                <a:latin typeface="Arial Narrow"/>
                <a:ea typeface="Arial Narrow"/>
              </a:rPr>
              <a:t>           BFP16:  Brain Floating Point Notes</a:t>
            </a:r>
            <a:endParaRPr lang="en-US" sz="3200" b="0" strike="noStrike" spc="-1" dirty="0">
              <a:solidFill>
                <a:srgbClr val="000000"/>
              </a:solidFill>
              <a:latin typeface="Arial"/>
            </a:endParaRPr>
          </a:p>
        </p:txBody>
      </p:sp>
      <p:sp>
        <p:nvSpPr>
          <p:cNvPr id="2" name="CustomShape 2">
            <a:extLst>
              <a:ext uri="{FF2B5EF4-FFF2-40B4-BE49-F238E27FC236}">
                <a16:creationId xmlns:a16="http://schemas.microsoft.com/office/drawing/2014/main" id="{3C571297-E10C-7063-31EF-9F67022A1D4A}"/>
              </a:ext>
            </a:extLst>
          </p:cNvPr>
          <p:cNvSpPr/>
          <p:nvPr/>
        </p:nvSpPr>
        <p:spPr>
          <a:xfrm>
            <a:off x="431280" y="939540"/>
            <a:ext cx="8491549" cy="232212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t">
            <a:noAutofit/>
          </a:bodyPr>
          <a:lstStyle/>
          <a:p>
            <a:pPr marL="344520" indent="-285120">
              <a:lnSpc>
                <a:spcPct val="120000"/>
              </a:lnSpc>
              <a:buClr>
                <a:srgbClr val="990000"/>
              </a:buClr>
              <a:buFont typeface="Noto Sans Symbols"/>
              <a:buChar char="●"/>
            </a:pPr>
            <a:r>
              <a:rPr lang="en-US" sz="2400" b="1" dirty="0"/>
              <a:t>AVX-512 BF16</a:t>
            </a:r>
            <a:r>
              <a:rPr lang="en-US" sz="2400" dirty="0"/>
              <a:t> is key enabling instruction set for x86 CPUs (Intel &amp; AMD).</a:t>
            </a:r>
          </a:p>
          <a:p>
            <a:pPr marL="344520" indent="-285120">
              <a:lnSpc>
                <a:spcPct val="120000"/>
              </a:lnSpc>
              <a:buClr>
                <a:srgbClr val="990000"/>
              </a:buClr>
              <a:buFont typeface="Noto Sans Symbols"/>
              <a:buChar char="●"/>
            </a:pPr>
            <a:r>
              <a:rPr lang="en-US" sz="2400" b="1" dirty="0"/>
              <a:t>AMX</a:t>
            </a:r>
            <a:r>
              <a:rPr lang="en-US" sz="2400" dirty="0"/>
              <a:t> (Intel) provides matrix-tile-based H/W blocks accelerate BF16 DNN ops</a:t>
            </a:r>
          </a:p>
          <a:p>
            <a:pPr marL="344520" indent="-285120">
              <a:lnSpc>
                <a:spcPct val="120000"/>
              </a:lnSpc>
              <a:buClr>
                <a:srgbClr val="990000"/>
              </a:buClr>
              <a:buFont typeface="Noto Sans Symbols"/>
              <a:buChar char="●"/>
            </a:pPr>
            <a:r>
              <a:rPr lang="en-US" sz="2400" b="1" dirty="0"/>
              <a:t>TPUs</a:t>
            </a:r>
            <a:r>
              <a:rPr lang="en-US" sz="2400" dirty="0"/>
              <a:t> use BF16 as their primary numeric format — no FP32 inside.</a:t>
            </a:r>
          </a:p>
          <a:p>
            <a:pPr marL="344520" indent="-285120">
              <a:lnSpc>
                <a:spcPct val="120000"/>
              </a:lnSpc>
              <a:buClr>
                <a:srgbClr val="990000"/>
              </a:buClr>
              <a:buFont typeface="Noto Sans Symbols"/>
              <a:buChar char="●"/>
            </a:pPr>
            <a:r>
              <a:rPr lang="en-US" sz="2400" b="1" dirty="0"/>
              <a:t>NVIDIA</a:t>
            </a:r>
            <a:r>
              <a:rPr lang="en-US" sz="2400" dirty="0"/>
              <a:t> uses BF16 in newer generations (Ampere and Hopper)</a:t>
            </a:r>
          </a:p>
          <a:p>
            <a:pPr marL="344520" indent="-285120">
              <a:lnSpc>
                <a:spcPct val="120000"/>
              </a:lnSpc>
              <a:buClr>
                <a:srgbClr val="990000"/>
              </a:buClr>
              <a:buFont typeface="Noto Sans Symbols"/>
              <a:buChar char="●"/>
            </a:pPr>
            <a:r>
              <a:rPr lang="en-US" sz="2400" b="1" dirty="0"/>
              <a:t>BF16 is not IEEE 754</a:t>
            </a:r>
            <a:r>
              <a:rPr lang="en-US" sz="2400" dirty="0"/>
              <a:t>, but most compilers/hardware treat it as a standard due to its practical benefits</a:t>
            </a:r>
          </a:p>
          <a:p>
            <a:pPr marL="344520" indent="-285120">
              <a:lnSpc>
                <a:spcPct val="120000"/>
              </a:lnSpc>
              <a:buClr>
                <a:srgbClr val="990000"/>
              </a:buClr>
              <a:buFont typeface="Noto Sans Symbols"/>
              <a:buChar char="●"/>
            </a:pPr>
            <a:r>
              <a:rPr lang="en-US" sz="2400" b="1" dirty="0"/>
              <a:t>BF16 Supports: </a:t>
            </a:r>
            <a:r>
              <a:rPr lang="en-US" sz="2400" dirty="0"/>
              <a:t>Zero, </a:t>
            </a:r>
            <a:r>
              <a:rPr lang="en-US" sz="2400" dirty="0" err="1"/>
              <a:t>NaN</a:t>
            </a:r>
            <a:r>
              <a:rPr lang="en-US" sz="2400" dirty="0"/>
              <a:t>, +/- Infinity, and sub-normal?? (see up-coming slides)</a:t>
            </a:r>
          </a:p>
          <a:p>
            <a:pPr marL="59400">
              <a:lnSpc>
                <a:spcPct val="120000"/>
              </a:lnSpc>
              <a:buClr>
                <a:srgbClr val="990000"/>
              </a:buClr>
            </a:pPr>
            <a:r>
              <a:rPr lang="en-US" sz="1600" dirty="0"/>
              <a:t>Great Reference: https://github.com/riscv/riscv-isa-manual/blob/main/src/bfloat16.adoc</a:t>
            </a:r>
          </a:p>
          <a:p>
            <a:pPr marL="344520" indent="-285120">
              <a:lnSpc>
                <a:spcPct val="120000"/>
              </a:lnSpc>
              <a:buClr>
                <a:srgbClr val="990000"/>
              </a:buClr>
              <a:buFont typeface="Noto Sans Symbols"/>
              <a:buChar char="●"/>
            </a:pPr>
            <a:endParaRPr lang="en-US" b="0" strike="noStrike" spc="-1" dirty="0">
              <a:solidFill>
                <a:srgbClr val="009999"/>
              </a:solidFill>
              <a:latin typeface="Arial"/>
              <a:ea typeface="Arial"/>
            </a:endParaRPr>
          </a:p>
        </p:txBody>
      </p:sp>
    </p:spTree>
    <p:extLst>
      <p:ext uri="{BB962C8B-B14F-4D97-AF65-F5344CB8AC3E}">
        <p14:creationId xmlns:p14="http://schemas.microsoft.com/office/powerpoint/2010/main" val="27239906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440" y="-121254"/>
            <a:ext cx="8229240" cy="1144800"/>
          </a:xfrm>
        </p:spPr>
        <p:txBody>
          <a:bodyPr/>
          <a:lstStyle/>
          <a:p>
            <a:r>
              <a:rPr sz="4000" dirty="0"/>
              <a:t>Floating-Point Format Comparison</a:t>
            </a:r>
          </a:p>
        </p:txBody>
      </p:sp>
      <p:graphicFrame>
        <p:nvGraphicFramePr>
          <p:cNvPr id="3" name="Table 2"/>
          <p:cNvGraphicFramePr>
            <a:graphicFrameLocks noGrp="1"/>
          </p:cNvGraphicFramePr>
          <p:nvPr>
            <p:extLst>
              <p:ext uri="{D42A27DB-BD31-4B8C-83A1-F6EECF244321}">
                <p14:modId xmlns:p14="http://schemas.microsoft.com/office/powerpoint/2010/main" val="1031770975"/>
              </p:ext>
            </p:extLst>
          </p:nvPr>
        </p:nvGraphicFramePr>
        <p:xfrm>
          <a:off x="640440" y="1447800"/>
          <a:ext cx="7956306" cy="4558146"/>
        </p:xfrm>
        <a:graphic>
          <a:graphicData uri="http://schemas.openxmlformats.org/drawingml/2006/table">
            <a:tbl>
              <a:tblPr firstRow="1" bandRow="1">
                <a:tableStyleId>{5C22544A-7EE6-4342-B048-85BDC9FD1C3A}</a:tableStyleId>
              </a:tblPr>
              <a:tblGrid>
                <a:gridCol w="884034">
                  <a:extLst>
                    <a:ext uri="{9D8B030D-6E8A-4147-A177-3AD203B41FA5}">
                      <a16:colId xmlns:a16="http://schemas.microsoft.com/office/drawing/2014/main" val="20000"/>
                    </a:ext>
                  </a:extLst>
                </a:gridCol>
                <a:gridCol w="884034">
                  <a:extLst>
                    <a:ext uri="{9D8B030D-6E8A-4147-A177-3AD203B41FA5}">
                      <a16:colId xmlns:a16="http://schemas.microsoft.com/office/drawing/2014/main" val="20001"/>
                    </a:ext>
                  </a:extLst>
                </a:gridCol>
                <a:gridCol w="884034">
                  <a:extLst>
                    <a:ext uri="{9D8B030D-6E8A-4147-A177-3AD203B41FA5}">
                      <a16:colId xmlns:a16="http://schemas.microsoft.com/office/drawing/2014/main" val="20002"/>
                    </a:ext>
                  </a:extLst>
                </a:gridCol>
                <a:gridCol w="884034">
                  <a:extLst>
                    <a:ext uri="{9D8B030D-6E8A-4147-A177-3AD203B41FA5}">
                      <a16:colId xmlns:a16="http://schemas.microsoft.com/office/drawing/2014/main" val="20003"/>
                    </a:ext>
                  </a:extLst>
                </a:gridCol>
                <a:gridCol w="884034">
                  <a:extLst>
                    <a:ext uri="{9D8B030D-6E8A-4147-A177-3AD203B41FA5}">
                      <a16:colId xmlns:a16="http://schemas.microsoft.com/office/drawing/2014/main" val="20004"/>
                    </a:ext>
                  </a:extLst>
                </a:gridCol>
                <a:gridCol w="884034">
                  <a:extLst>
                    <a:ext uri="{9D8B030D-6E8A-4147-A177-3AD203B41FA5}">
                      <a16:colId xmlns:a16="http://schemas.microsoft.com/office/drawing/2014/main" val="20005"/>
                    </a:ext>
                  </a:extLst>
                </a:gridCol>
                <a:gridCol w="884034">
                  <a:extLst>
                    <a:ext uri="{9D8B030D-6E8A-4147-A177-3AD203B41FA5}">
                      <a16:colId xmlns:a16="http://schemas.microsoft.com/office/drawing/2014/main" val="20006"/>
                    </a:ext>
                  </a:extLst>
                </a:gridCol>
                <a:gridCol w="884034">
                  <a:extLst>
                    <a:ext uri="{9D8B030D-6E8A-4147-A177-3AD203B41FA5}">
                      <a16:colId xmlns:a16="http://schemas.microsoft.com/office/drawing/2014/main" val="20007"/>
                    </a:ext>
                  </a:extLst>
                </a:gridCol>
                <a:gridCol w="884034">
                  <a:extLst>
                    <a:ext uri="{9D8B030D-6E8A-4147-A177-3AD203B41FA5}">
                      <a16:colId xmlns:a16="http://schemas.microsoft.com/office/drawing/2014/main" val="20008"/>
                    </a:ext>
                  </a:extLst>
                </a:gridCol>
              </a:tblGrid>
              <a:tr h="484909">
                <a:tc>
                  <a:txBody>
                    <a:bodyPr/>
                    <a:lstStyle/>
                    <a:p>
                      <a:pPr>
                        <a:defRPr sz="1000" b="1"/>
                      </a:pPr>
                      <a:r>
                        <a:rPr>
                          <a:solidFill>
                            <a:schemeClr val="tx2"/>
                          </a:solidFill>
                        </a:rPr>
                        <a:t>Format</a:t>
                      </a:r>
                    </a:p>
                  </a:txBody>
                  <a:tcPr/>
                </a:tc>
                <a:tc>
                  <a:txBody>
                    <a:bodyPr/>
                    <a:lstStyle/>
                    <a:p>
                      <a:pPr>
                        <a:defRPr sz="1000" b="1"/>
                      </a:pPr>
                      <a:r>
                        <a:rPr>
                          <a:solidFill>
                            <a:schemeClr val="tx2"/>
                          </a:solidFill>
                        </a:rPr>
                        <a:t>Bits</a:t>
                      </a:r>
                    </a:p>
                  </a:txBody>
                  <a:tcPr/>
                </a:tc>
                <a:tc>
                  <a:txBody>
                    <a:bodyPr/>
                    <a:lstStyle/>
                    <a:p>
                      <a:pPr>
                        <a:defRPr sz="1000" b="1"/>
                      </a:pPr>
                      <a:r>
                        <a:rPr dirty="0">
                          <a:solidFill>
                            <a:schemeClr val="tx2"/>
                          </a:solidFill>
                        </a:rPr>
                        <a:t>Exponent Bits</a:t>
                      </a:r>
                    </a:p>
                  </a:txBody>
                  <a:tcPr/>
                </a:tc>
                <a:tc>
                  <a:txBody>
                    <a:bodyPr/>
                    <a:lstStyle/>
                    <a:p>
                      <a:pPr>
                        <a:defRPr sz="1000" b="1"/>
                      </a:pPr>
                      <a:r>
                        <a:rPr>
                          <a:solidFill>
                            <a:schemeClr val="tx2"/>
                          </a:solidFill>
                        </a:rPr>
                        <a:t>Mantissa Bits</a:t>
                      </a:r>
                    </a:p>
                  </a:txBody>
                  <a:tcPr/>
                </a:tc>
                <a:tc>
                  <a:txBody>
                    <a:bodyPr/>
                    <a:lstStyle/>
                    <a:p>
                      <a:pPr>
                        <a:defRPr sz="1000" b="1"/>
                      </a:pPr>
                      <a:r>
                        <a:rPr>
                          <a:solidFill>
                            <a:schemeClr val="tx2"/>
                          </a:solidFill>
                        </a:rPr>
                        <a:t>Exponent Bias</a:t>
                      </a:r>
                    </a:p>
                  </a:txBody>
                  <a:tcPr/>
                </a:tc>
                <a:tc>
                  <a:txBody>
                    <a:bodyPr/>
                    <a:lstStyle/>
                    <a:p>
                      <a:pPr>
                        <a:defRPr sz="1000" b="1"/>
                      </a:pPr>
                      <a:r>
                        <a:rPr>
                          <a:solidFill>
                            <a:schemeClr val="tx2"/>
                          </a:solidFill>
                        </a:rPr>
                        <a:t>Precision (≈ digits)</a:t>
                      </a:r>
                    </a:p>
                  </a:txBody>
                  <a:tcPr/>
                </a:tc>
                <a:tc>
                  <a:txBody>
                    <a:bodyPr/>
                    <a:lstStyle/>
                    <a:p>
                      <a:pPr>
                        <a:defRPr sz="1000" b="1"/>
                      </a:pPr>
                      <a:r>
                        <a:rPr>
                          <a:solidFill>
                            <a:schemeClr val="tx2"/>
                          </a:solidFill>
                        </a:rPr>
                        <a:t>Dynamic Range</a:t>
                      </a:r>
                    </a:p>
                  </a:txBody>
                  <a:tcPr/>
                </a:tc>
                <a:tc>
                  <a:txBody>
                    <a:bodyPr/>
                    <a:lstStyle/>
                    <a:p>
                      <a:pPr>
                        <a:defRPr sz="1000" b="1"/>
                      </a:pPr>
                      <a:r>
                        <a:rPr dirty="0">
                          <a:solidFill>
                            <a:schemeClr val="tx2"/>
                          </a:solidFill>
                        </a:rPr>
                        <a:t>IEEE 754?</a:t>
                      </a:r>
                    </a:p>
                  </a:txBody>
                  <a:tcPr/>
                </a:tc>
                <a:tc>
                  <a:txBody>
                    <a:bodyPr/>
                    <a:lstStyle/>
                    <a:p>
                      <a:pPr>
                        <a:defRPr sz="1000" b="1"/>
                      </a:pPr>
                      <a:r>
                        <a:rPr dirty="0">
                          <a:solidFill>
                            <a:schemeClr val="tx2"/>
                          </a:solidFill>
                        </a:rPr>
                        <a:t>Notes</a:t>
                      </a:r>
                    </a:p>
                  </a:txBody>
                  <a:tcPr/>
                </a:tc>
                <a:extLst>
                  <a:ext uri="{0D108BD9-81ED-4DB2-BD59-A6C34878D82A}">
                    <a16:rowId xmlns:a16="http://schemas.microsoft.com/office/drawing/2014/main" val="10000"/>
                  </a:ext>
                </a:extLst>
              </a:tr>
              <a:tr h="581891">
                <a:tc>
                  <a:txBody>
                    <a:bodyPr/>
                    <a:lstStyle/>
                    <a:p>
                      <a:pPr>
                        <a:defRPr sz="900"/>
                      </a:pPr>
                      <a:r>
                        <a:t>FP64</a:t>
                      </a:r>
                    </a:p>
                  </a:txBody>
                  <a:tcPr/>
                </a:tc>
                <a:tc>
                  <a:txBody>
                    <a:bodyPr/>
                    <a:lstStyle/>
                    <a:p>
                      <a:pPr>
                        <a:defRPr sz="900"/>
                      </a:pPr>
                      <a:r>
                        <a:t>64</a:t>
                      </a:r>
                    </a:p>
                  </a:txBody>
                  <a:tcPr/>
                </a:tc>
                <a:tc>
                  <a:txBody>
                    <a:bodyPr/>
                    <a:lstStyle/>
                    <a:p>
                      <a:pPr>
                        <a:defRPr sz="900"/>
                      </a:pPr>
                      <a:r>
                        <a:t>11</a:t>
                      </a:r>
                    </a:p>
                  </a:txBody>
                  <a:tcPr/>
                </a:tc>
                <a:tc>
                  <a:txBody>
                    <a:bodyPr/>
                    <a:lstStyle/>
                    <a:p>
                      <a:pPr>
                        <a:defRPr sz="900"/>
                      </a:pPr>
                      <a:r>
                        <a:t>52</a:t>
                      </a:r>
                    </a:p>
                  </a:txBody>
                  <a:tcPr/>
                </a:tc>
                <a:tc>
                  <a:txBody>
                    <a:bodyPr/>
                    <a:lstStyle/>
                    <a:p>
                      <a:pPr>
                        <a:defRPr sz="900"/>
                      </a:pPr>
                      <a:r>
                        <a:t>1023</a:t>
                      </a:r>
                    </a:p>
                  </a:txBody>
                  <a:tcPr/>
                </a:tc>
                <a:tc>
                  <a:txBody>
                    <a:bodyPr/>
                    <a:lstStyle/>
                    <a:p>
                      <a:pPr>
                        <a:defRPr sz="900"/>
                      </a:pPr>
                      <a:r>
                        <a:t>~15.7</a:t>
                      </a:r>
                    </a:p>
                  </a:txBody>
                  <a:tcPr/>
                </a:tc>
                <a:tc>
                  <a:txBody>
                    <a:bodyPr/>
                    <a:lstStyle/>
                    <a:p>
                      <a:pPr>
                        <a:defRPr sz="900"/>
                      </a:pPr>
                      <a:r>
                        <a:t>±1.8e-308 to 1.8e+308</a:t>
                      </a:r>
                    </a:p>
                  </a:txBody>
                  <a:tcPr/>
                </a:tc>
                <a:tc>
                  <a:txBody>
                    <a:bodyPr/>
                    <a:lstStyle/>
                    <a:p>
                      <a:pPr>
                        <a:defRPr sz="900"/>
                      </a:pPr>
                      <a:r>
                        <a:t>Yes</a:t>
                      </a:r>
                    </a:p>
                  </a:txBody>
                  <a:tcPr/>
                </a:tc>
                <a:tc>
                  <a:txBody>
                    <a:bodyPr/>
                    <a:lstStyle/>
                    <a:p>
                      <a:pPr>
                        <a:defRPr sz="900"/>
                      </a:pPr>
                      <a:r>
                        <a:t>Double precision</a:t>
                      </a:r>
                    </a:p>
                  </a:txBody>
                  <a:tcPr/>
                </a:tc>
                <a:extLst>
                  <a:ext uri="{0D108BD9-81ED-4DB2-BD59-A6C34878D82A}">
                    <a16:rowId xmlns:a16="http://schemas.microsoft.com/office/drawing/2014/main" val="10001"/>
                  </a:ext>
                </a:extLst>
              </a:tr>
              <a:tr h="581891">
                <a:tc>
                  <a:txBody>
                    <a:bodyPr/>
                    <a:lstStyle/>
                    <a:p>
                      <a:pPr>
                        <a:defRPr sz="900"/>
                      </a:pPr>
                      <a:r>
                        <a:t>FP32</a:t>
                      </a:r>
                    </a:p>
                  </a:txBody>
                  <a:tcPr/>
                </a:tc>
                <a:tc>
                  <a:txBody>
                    <a:bodyPr/>
                    <a:lstStyle/>
                    <a:p>
                      <a:pPr>
                        <a:defRPr sz="900"/>
                      </a:pPr>
                      <a:r>
                        <a:t>32</a:t>
                      </a:r>
                    </a:p>
                  </a:txBody>
                  <a:tcPr/>
                </a:tc>
                <a:tc>
                  <a:txBody>
                    <a:bodyPr/>
                    <a:lstStyle/>
                    <a:p>
                      <a:pPr>
                        <a:defRPr sz="900"/>
                      </a:pPr>
                      <a:r>
                        <a:t>8</a:t>
                      </a:r>
                    </a:p>
                  </a:txBody>
                  <a:tcPr/>
                </a:tc>
                <a:tc>
                  <a:txBody>
                    <a:bodyPr/>
                    <a:lstStyle/>
                    <a:p>
                      <a:pPr>
                        <a:defRPr sz="900"/>
                      </a:pPr>
                      <a:r>
                        <a:t>23</a:t>
                      </a:r>
                    </a:p>
                  </a:txBody>
                  <a:tcPr/>
                </a:tc>
                <a:tc>
                  <a:txBody>
                    <a:bodyPr/>
                    <a:lstStyle/>
                    <a:p>
                      <a:pPr>
                        <a:defRPr sz="900"/>
                      </a:pPr>
                      <a:r>
                        <a:t>127</a:t>
                      </a:r>
                    </a:p>
                  </a:txBody>
                  <a:tcPr/>
                </a:tc>
                <a:tc>
                  <a:txBody>
                    <a:bodyPr/>
                    <a:lstStyle/>
                    <a:p>
                      <a:pPr>
                        <a:defRPr sz="900"/>
                      </a:pPr>
                      <a:r>
                        <a:t>~7.2</a:t>
                      </a:r>
                    </a:p>
                  </a:txBody>
                  <a:tcPr/>
                </a:tc>
                <a:tc>
                  <a:txBody>
                    <a:bodyPr/>
                    <a:lstStyle/>
                    <a:p>
                      <a:pPr>
                        <a:defRPr sz="900"/>
                      </a:pPr>
                      <a:r>
                        <a:t>±1.4e-45 to 3.4e+38</a:t>
                      </a:r>
                    </a:p>
                  </a:txBody>
                  <a:tcPr/>
                </a:tc>
                <a:tc>
                  <a:txBody>
                    <a:bodyPr/>
                    <a:lstStyle/>
                    <a:p>
                      <a:pPr>
                        <a:defRPr sz="900"/>
                      </a:pPr>
                      <a:r>
                        <a:t>Yes</a:t>
                      </a:r>
                    </a:p>
                  </a:txBody>
                  <a:tcPr/>
                </a:tc>
                <a:tc>
                  <a:txBody>
                    <a:bodyPr/>
                    <a:lstStyle/>
                    <a:p>
                      <a:pPr>
                        <a:defRPr sz="900"/>
                      </a:pPr>
                      <a:r>
                        <a:t>Standard float</a:t>
                      </a:r>
                    </a:p>
                  </a:txBody>
                  <a:tcPr/>
                </a:tc>
                <a:extLst>
                  <a:ext uri="{0D108BD9-81ED-4DB2-BD59-A6C34878D82A}">
                    <a16:rowId xmlns:a16="http://schemas.microsoft.com/office/drawing/2014/main" val="10002"/>
                  </a:ext>
                </a:extLst>
              </a:tr>
              <a:tr h="581891">
                <a:tc>
                  <a:txBody>
                    <a:bodyPr/>
                    <a:lstStyle/>
                    <a:p>
                      <a:pPr>
                        <a:defRPr sz="900"/>
                      </a:pPr>
                      <a:r>
                        <a:t>FP16</a:t>
                      </a:r>
                    </a:p>
                  </a:txBody>
                  <a:tcPr/>
                </a:tc>
                <a:tc>
                  <a:txBody>
                    <a:bodyPr/>
                    <a:lstStyle/>
                    <a:p>
                      <a:pPr>
                        <a:defRPr sz="900"/>
                      </a:pPr>
                      <a:r>
                        <a:t>16</a:t>
                      </a:r>
                    </a:p>
                  </a:txBody>
                  <a:tcPr/>
                </a:tc>
                <a:tc>
                  <a:txBody>
                    <a:bodyPr/>
                    <a:lstStyle/>
                    <a:p>
                      <a:pPr>
                        <a:defRPr sz="900"/>
                      </a:pPr>
                      <a:r>
                        <a:t>5</a:t>
                      </a:r>
                    </a:p>
                  </a:txBody>
                  <a:tcPr/>
                </a:tc>
                <a:tc>
                  <a:txBody>
                    <a:bodyPr/>
                    <a:lstStyle/>
                    <a:p>
                      <a:pPr>
                        <a:defRPr sz="900"/>
                      </a:pPr>
                      <a:r>
                        <a:t>10</a:t>
                      </a:r>
                    </a:p>
                  </a:txBody>
                  <a:tcPr/>
                </a:tc>
                <a:tc>
                  <a:txBody>
                    <a:bodyPr/>
                    <a:lstStyle/>
                    <a:p>
                      <a:pPr>
                        <a:defRPr sz="900"/>
                      </a:pPr>
                      <a:r>
                        <a:t>15</a:t>
                      </a:r>
                    </a:p>
                  </a:txBody>
                  <a:tcPr/>
                </a:tc>
                <a:tc>
                  <a:txBody>
                    <a:bodyPr/>
                    <a:lstStyle/>
                    <a:p>
                      <a:pPr>
                        <a:defRPr sz="900"/>
                      </a:pPr>
                      <a:r>
                        <a:t>~3.3</a:t>
                      </a:r>
                    </a:p>
                  </a:txBody>
                  <a:tcPr/>
                </a:tc>
                <a:tc>
                  <a:txBody>
                    <a:bodyPr/>
                    <a:lstStyle/>
                    <a:p>
                      <a:pPr>
                        <a:defRPr sz="900"/>
                      </a:pPr>
                      <a:r>
                        <a:t>±6.1e-5 to 6.5e+4</a:t>
                      </a:r>
                    </a:p>
                  </a:txBody>
                  <a:tcPr/>
                </a:tc>
                <a:tc>
                  <a:txBody>
                    <a:bodyPr/>
                    <a:lstStyle/>
                    <a:p>
                      <a:pPr>
                        <a:defRPr sz="900"/>
                      </a:pPr>
                      <a:r>
                        <a:t>Yes</a:t>
                      </a:r>
                    </a:p>
                  </a:txBody>
                  <a:tcPr/>
                </a:tc>
                <a:tc>
                  <a:txBody>
                    <a:bodyPr/>
                    <a:lstStyle/>
                    <a:p>
                      <a:pPr>
                        <a:defRPr sz="900"/>
                      </a:pPr>
                      <a:r>
                        <a:t>Half precision</a:t>
                      </a:r>
                    </a:p>
                  </a:txBody>
                  <a:tcPr/>
                </a:tc>
                <a:extLst>
                  <a:ext uri="{0D108BD9-81ED-4DB2-BD59-A6C34878D82A}">
                    <a16:rowId xmlns:a16="http://schemas.microsoft.com/office/drawing/2014/main" val="10003"/>
                  </a:ext>
                </a:extLst>
              </a:tr>
              <a:tr h="581891">
                <a:tc>
                  <a:txBody>
                    <a:bodyPr/>
                    <a:lstStyle/>
                    <a:p>
                      <a:pPr>
                        <a:defRPr sz="900"/>
                      </a:pPr>
                      <a:r>
                        <a:t>BFloat16</a:t>
                      </a:r>
                    </a:p>
                  </a:txBody>
                  <a:tcPr/>
                </a:tc>
                <a:tc>
                  <a:txBody>
                    <a:bodyPr/>
                    <a:lstStyle/>
                    <a:p>
                      <a:pPr>
                        <a:defRPr sz="900"/>
                      </a:pPr>
                      <a:r>
                        <a:t>16</a:t>
                      </a:r>
                    </a:p>
                  </a:txBody>
                  <a:tcPr/>
                </a:tc>
                <a:tc>
                  <a:txBody>
                    <a:bodyPr/>
                    <a:lstStyle/>
                    <a:p>
                      <a:pPr>
                        <a:defRPr sz="900"/>
                      </a:pPr>
                      <a:r>
                        <a:t>8</a:t>
                      </a:r>
                    </a:p>
                  </a:txBody>
                  <a:tcPr/>
                </a:tc>
                <a:tc>
                  <a:txBody>
                    <a:bodyPr/>
                    <a:lstStyle/>
                    <a:p>
                      <a:pPr>
                        <a:defRPr sz="900"/>
                      </a:pPr>
                      <a:r>
                        <a:t>7</a:t>
                      </a:r>
                    </a:p>
                  </a:txBody>
                  <a:tcPr/>
                </a:tc>
                <a:tc>
                  <a:txBody>
                    <a:bodyPr/>
                    <a:lstStyle/>
                    <a:p>
                      <a:pPr>
                        <a:defRPr sz="900"/>
                      </a:pPr>
                      <a:r>
                        <a:t>127</a:t>
                      </a:r>
                    </a:p>
                  </a:txBody>
                  <a:tcPr/>
                </a:tc>
                <a:tc>
                  <a:txBody>
                    <a:bodyPr/>
                    <a:lstStyle/>
                    <a:p>
                      <a:pPr>
                        <a:defRPr sz="900"/>
                      </a:pPr>
                      <a:r>
                        <a:t>~2.4</a:t>
                      </a:r>
                    </a:p>
                  </a:txBody>
                  <a:tcPr/>
                </a:tc>
                <a:tc>
                  <a:txBody>
                    <a:bodyPr/>
                    <a:lstStyle/>
                    <a:p>
                      <a:pPr>
                        <a:defRPr sz="900"/>
                      </a:pPr>
                      <a:r>
                        <a:t>±3.4e-38 to 3.4e+38</a:t>
                      </a:r>
                    </a:p>
                  </a:txBody>
                  <a:tcPr/>
                </a:tc>
                <a:tc>
                  <a:txBody>
                    <a:bodyPr/>
                    <a:lstStyle/>
                    <a:p>
                      <a:pPr>
                        <a:defRPr sz="900"/>
                      </a:pPr>
                      <a:r>
                        <a:t>No</a:t>
                      </a:r>
                    </a:p>
                  </a:txBody>
                  <a:tcPr/>
                </a:tc>
                <a:tc>
                  <a:txBody>
                    <a:bodyPr/>
                    <a:lstStyle/>
                    <a:p>
                      <a:pPr>
                        <a:defRPr sz="900"/>
                      </a:pPr>
                      <a:r>
                        <a:t>Same range as FP32</a:t>
                      </a:r>
                    </a:p>
                  </a:txBody>
                  <a:tcPr/>
                </a:tc>
                <a:extLst>
                  <a:ext uri="{0D108BD9-81ED-4DB2-BD59-A6C34878D82A}">
                    <a16:rowId xmlns:a16="http://schemas.microsoft.com/office/drawing/2014/main" val="10004"/>
                  </a:ext>
                </a:extLst>
              </a:tr>
              <a:tr h="581891">
                <a:tc>
                  <a:txBody>
                    <a:bodyPr/>
                    <a:lstStyle/>
                    <a:p>
                      <a:pPr>
                        <a:defRPr sz="900"/>
                      </a:pPr>
                      <a:r>
                        <a:t>TF32</a:t>
                      </a:r>
                    </a:p>
                  </a:txBody>
                  <a:tcPr/>
                </a:tc>
                <a:tc>
                  <a:txBody>
                    <a:bodyPr/>
                    <a:lstStyle/>
                    <a:p>
                      <a:pPr>
                        <a:defRPr sz="900"/>
                      </a:pPr>
                      <a:r>
                        <a:t>19</a:t>
                      </a:r>
                    </a:p>
                  </a:txBody>
                  <a:tcPr/>
                </a:tc>
                <a:tc>
                  <a:txBody>
                    <a:bodyPr/>
                    <a:lstStyle/>
                    <a:p>
                      <a:pPr>
                        <a:defRPr sz="900"/>
                      </a:pPr>
                      <a:r>
                        <a:t>8</a:t>
                      </a:r>
                    </a:p>
                  </a:txBody>
                  <a:tcPr/>
                </a:tc>
                <a:tc>
                  <a:txBody>
                    <a:bodyPr/>
                    <a:lstStyle/>
                    <a:p>
                      <a:pPr>
                        <a:defRPr sz="900"/>
                      </a:pPr>
                      <a:r>
                        <a:t>10</a:t>
                      </a:r>
                    </a:p>
                  </a:txBody>
                  <a:tcPr/>
                </a:tc>
                <a:tc>
                  <a:txBody>
                    <a:bodyPr/>
                    <a:lstStyle/>
                    <a:p>
                      <a:pPr>
                        <a:defRPr sz="900"/>
                      </a:pPr>
                      <a:r>
                        <a:t>127</a:t>
                      </a:r>
                    </a:p>
                  </a:txBody>
                  <a:tcPr/>
                </a:tc>
                <a:tc>
                  <a:txBody>
                    <a:bodyPr/>
                    <a:lstStyle/>
                    <a:p>
                      <a:pPr>
                        <a:defRPr sz="900"/>
                      </a:pPr>
                      <a:r>
                        <a:t>~3.3</a:t>
                      </a:r>
                    </a:p>
                  </a:txBody>
                  <a:tcPr/>
                </a:tc>
                <a:tc>
                  <a:txBody>
                    <a:bodyPr/>
                    <a:lstStyle/>
                    <a:p>
                      <a:pPr>
                        <a:defRPr sz="900"/>
                      </a:pPr>
                      <a:r>
                        <a:rPr dirty="0"/>
                        <a:t>±1.4e-45 to 3.4e+38</a:t>
                      </a:r>
                    </a:p>
                  </a:txBody>
                  <a:tcPr/>
                </a:tc>
                <a:tc>
                  <a:txBody>
                    <a:bodyPr/>
                    <a:lstStyle/>
                    <a:p>
                      <a:pPr>
                        <a:defRPr sz="900"/>
                      </a:pPr>
                      <a:r>
                        <a:t>No</a:t>
                      </a:r>
                    </a:p>
                  </a:txBody>
                  <a:tcPr/>
                </a:tc>
                <a:tc>
                  <a:txBody>
                    <a:bodyPr/>
                    <a:lstStyle/>
                    <a:p>
                      <a:pPr>
                        <a:defRPr sz="900"/>
                      </a:pPr>
                      <a:r>
                        <a:t>NVIDIA-only format</a:t>
                      </a:r>
                    </a:p>
                  </a:txBody>
                  <a:tcPr/>
                </a:tc>
                <a:extLst>
                  <a:ext uri="{0D108BD9-81ED-4DB2-BD59-A6C34878D82A}">
                    <a16:rowId xmlns:a16="http://schemas.microsoft.com/office/drawing/2014/main" val="10005"/>
                  </a:ext>
                </a:extLst>
              </a:tr>
              <a:tr h="581891">
                <a:tc>
                  <a:txBody>
                    <a:bodyPr/>
                    <a:lstStyle/>
                    <a:p>
                      <a:pPr>
                        <a:defRPr sz="900"/>
                      </a:pPr>
                      <a:r>
                        <a:t>FP8 (E4M3)</a:t>
                      </a:r>
                    </a:p>
                  </a:txBody>
                  <a:tcPr/>
                </a:tc>
                <a:tc>
                  <a:txBody>
                    <a:bodyPr/>
                    <a:lstStyle/>
                    <a:p>
                      <a:pPr>
                        <a:defRPr sz="900"/>
                      </a:pPr>
                      <a:r>
                        <a:t>8</a:t>
                      </a:r>
                    </a:p>
                  </a:txBody>
                  <a:tcPr/>
                </a:tc>
                <a:tc>
                  <a:txBody>
                    <a:bodyPr/>
                    <a:lstStyle/>
                    <a:p>
                      <a:pPr>
                        <a:defRPr sz="900"/>
                      </a:pPr>
                      <a:r>
                        <a:t>4</a:t>
                      </a:r>
                    </a:p>
                  </a:txBody>
                  <a:tcPr/>
                </a:tc>
                <a:tc>
                  <a:txBody>
                    <a:bodyPr/>
                    <a:lstStyle/>
                    <a:p>
                      <a:pPr>
                        <a:defRPr sz="900"/>
                      </a:pPr>
                      <a:r>
                        <a:t>3</a:t>
                      </a:r>
                    </a:p>
                  </a:txBody>
                  <a:tcPr/>
                </a:tc>
                <a:tc>
                  <a:txBody>
                    <a:bodyPr/>
                    <a:lstStyle/>
                    <a:p>
                      <a:pPr>
                        <a:defRPr sz="900"/>
                      </a:pPr>
                      <a:r>
                        <a:t>7</a:t>
                      </a:r>
                    </a:p>
                  </a:txBody>
                  <a:tcPr/>
                </a:tc>
                <a:tc>
                  <a:txBody>
                    <a:bodyPr/>
                    <a:lstStyle/>
                    <a:p>
                      <a:pPr>
                        <a:defRPr sz="900"/>
                      </a:pPr>
                      <a:r>
                        <a:t>~1.0</a:t>
                      </a:r>
                    </a:p>
                  </a:txBody>
                  <a:tcPr/>
                </a:tc>
                <a:tc>
                  <a:txBody>
                    <a:bodyPr/>
                    <a:lstStyle/>
                    <a:p>
                      <a:pPr>
                        <a:defRPr sz="900"/>
                      </a:pPr>
                      <a:r>
                        <a:t>±6e-3 to 2.4e+1</a:t>
                      </a:r>
                    </a:p>
                  </a:txBody>
                  <a:tcPr/>
                </a:tc>
                <a:tc>
                  <a:txBody>
                    <a:bodyPr/>
                    <a:lstStyle/>
                    <a:p>
                      <a:pPr>
                        <a:defRPr sz="900"/>
                      </a:pPr>
                      <a:r>
                        <a:t>No</a:t>
                      </a:r>
                    </a:p>
                  </a:txBody>
                  <a:tcPr/>
                </a:tc>
                <a:tc>
                  <a:txBody>
                    <a:bodyPr/>
                    <a:lstStyle/>
                    <a:p>
                      <a:pPr>
                        <a:defRPr sz="900"/>
                      </a:pPr>
                      <a:r>
                        <a:t>Used for ML inference</a:t>
                      </a:r>
                    </a:p>
                  </a:txBody>
                  <a:tcPr/>
                </a:tc>
                <a:extLst>
                  <a:ext uri="{0D108BD9-81ED-4DB2-BD59-A6C34878D82A}">
                    <a16:rowId xmlns:a16="http://schemas.microsoft.com/office/drawing/2014/main" val="10006"/>
                  </a:ext>
                </a:extLst>
              </a:tr>
              <a:tr h="581891">
                <a:tc>
                  <a:txBody>
                    <a:bodyPr/>
                    <a:lstStyle/>
                    <a:p>
                      <a:pPr>
                        <a:defRPr sz="900"/>
                      </a:pPr>
                      <a:r>
                        <a:t>FP8 (E5M2)</a:t>
                      </a:r>
                    </a:p>
                  </a:txBody>
                  <a:tcPr/>
                </a:tc>
                <a:tc>
                  <a:txBody>
                    <a:bodyPr/>
                    <a:lstStyle/>
                    <a:p>
                      <a:pPr>
                        <a:defRPr sz="900"/>
                      </a:pPr>
                      <a:r>
                        <a:t>8</a:t>
                      </a:r>
                    </a:p>
                  </a:txBody>
                  <a:tcPr/>
                </a:tc>
                <a:tc>
                  <a:txBody>
                    <a:bodyPr/>
                    <a:lstStyle/>
                    <a:p>
                      <a:pPr>
                        <a:defRPr sz="900"/>
                      </a:pPr>
                      <a:r>
                        <a:t>5</a:t>
                      </a:r>
                    </a:p>
                  </a:txBody>
                  <a:tcPr/>
                </a:tc>
                <a:tc>
                  <a:txBody>
                    <a:bodyPr/>
                    <a:lstStyle/>
                    <a:p>
                      <a:pPr>
                        <a:defRPr sz="900"/>
                      </a:pPr>
                      <a:r>
                        <a:t>2</a:t>
                      </a:r>
                    </a:p>
                  </a:txBody>
                  <a:tcPr/>
                </a:tc>
                <a:tc>
                  <a:txBody>
                    <a:bodyPr/>
                    <a:lstStyle/>
                    <a:p>
                      <a:pPr>
                        <a:defRPr sz="900"/>
                      </a:pPr>
                      <a:r>
                        <a:t>15</a:t>
                      </a:r>
                    </a:p>
                  </a:txBody>
                  <a:tcPr/>
                </a:tc>
                <a:tc>
                  <a:txBody>
                    <a:bodyPr/>
                    <a:lstStyle/>
                    <a:p>
                      <a:pPr>
                        <a:defRPr sz="900"/>
                      </a:pPr>
                      <a:r>
                        <a:t>~0.75</a:t>
                      </a:r>
                    </a:p>
                  </a:txBody>
                  <a:tcPr/>
                </a:tc>
                <a:tc>
                  <a:txBody>
                    <a:bodyPr/>
                    <a:lstStyle/>
                    <a:p>
                      <a:pPr>
                        <a:defRPr sz="900"/>
                      </a:pPr>
                      <a:r>
                        <a:t>±6e-5 to 6.5e+4</a:t>
                      </a:r>
                    </a:p>
                  </a:txBody>
                  <a:tcPr/>
                </a:tc>
                <a:tc>
                  <a:txBody>
                    <a:bodyPr/>
                    <a:lstStyle/>
                    <a:p>
                      <a:pPr>
                        <a:defRPr sz="900"/>
                      </a:pPr>
                      <a:r>
                        <a:t>No</a:t>
                      </a:r>
                    </a:p>
                  </a:txBody>
                  <a:tcPr/>
                </a:tc>
                <a:tc>
                  <a:txBody>
                    <a:bodyPr/>
                    <a:lstStyle/>
                    <a:p>
                      <a:pPr>
                        <a:defRPr sz="900"/>
                      </a:pPr>
                      <a:r>
                        <a:rPr dirty="0"/>
                        <a:t>Wider range, less precision</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 name="CustomShape 1"/>
          <p:cNvSpPr/>
          <p:nvPr/>
        </p:nvSpPr>
        <p:spPr>
          <a:xfrm>
            <a:off x="617400" y="1245240"/>
            <a:ext cx="8176320" cy="1290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600" b="0" strike="noStrike" spc="-1">
                <a:solidFill>
                  <a:srgbClr val="000000"/>
                </a:solidFill>
                <a:latin typeface="Arial"/>
                <a:ea typeface="DejaVu Sans"/>
              </a:rPr>
              <a:t>In IEEE 754 binary floating-point formats, zero values are represented by the convention of having the biased exponent and significand both being zero.</a:t>
            </a:r>
            <a:endParaRPr lang="en-US" sz="2600" b="0" strike="noStrike" spc="-1">
              <a:solidFill>
                <a:srgbClr val="000000"/>
              </a:solidFill>
              <a:latin typeface="Arial"/>
            </a:endParaRPr>
          </a:p>
        </p:txBody>
      </p:sp>
      <p:sp>
        <p:nvSpPr>
          <p:cNvPr id="670" name="CustomShape 2"/>
          <p:cNvSpPr/>
          <p:nvPr/>
        </p:nvSpPr>
        <p:spPr>
          <a:xfrm>
            <a:off x="856800" y="308160"/>
            <a:ext cx="7005960"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3600" b="0" strike="noStrike" spc="-1">
                <a:solidFill>
                  <a:srgbClr val="000000"/>
                </a:solidFill>
                <a:latin typeface="Arial"/>
                <a:ea typeface="DejaVu Sans"/>
              </a:rPr>
              <a:t>  Expressing Zero in IEEE 754</a:t>
            </a:r>
            <a:endParaRPr lang="en-US" sz="3600" b="0" strike="noStrike" spc="-1">
              <a:solidFill>
                <a:srgbClr val="000000"/>
              </a:solidFill>
              <a:latin typeface="Arial"/>
            </a:endParaRPr>
          </a:p>
        </p:txBody>
      </p:sp>
      <p:sp>
        <p:nvSpPr>
          <p:cNvPr id="671" name="CustomShape 3"/>
          <p:cNvSpPr/>
          <p:nvPr/>
        </p:nvSpPr>
        <p:spPr>
          <a:xfrm>
            <a:off x="448560" y="5951880"/>
            <a:ext cx="8691840" cy="622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500" b="0" strike="noStrike" spc="-1">
                <a:solidFill>
                  <a:srgbClr val="000000"/>
                </a:solidFill>
                <a:latin typeface="Arial"/>
                <a:ea typeface="DejaVu Sans"/>
              </a:rPr>
              <a:t>Source: By Octahedron80 - Modified from Image:IEEE 754 Single Floating Point Format.svg, original by Codekaizen, CC BY 3.0, https://commons.wikimedia.org/w/index.php?curid=3697716</a:t>
            </a:r>
            <a:endParaRPr lang="en-US" sz="1500" b="0" strike="noStrike" spc="-1">
              <a:solidFill>
                <a:srgbClr val="000000"/>
              </a:solidFill>
              <a:latin typeface="Arial"/>
            </a:endParaRPr>
          </a:p>
        </p:txBody>
      </p:sp>
      <p:pic>
        <p:nvPicPr>
          <p:cNvPr id="672" name="Picture 671"/>
          <p:cNvPicPr/>
          <p:nvPr/>
        </p:nvPicPr>
        <p:blipFill>
          <a:blip r:embed="rId2"/>
          <a:stretch/>
        </p:blipFill>
        <p:spPr>
          <a:xfrm>
            <a:off x="520200" y="2598840"/>
            <a:ext cx="8168760" cy="1592640"/>
          </a:xfrm>
          <a:prstGeom prst="rect">
            <a:avLst/>
          </a:prstGeom>
          <a:ln w="0">
            <a:noFill/>
          </a:ln>
        </p:spPr>
      </p:pic>
      <p:sp>
        <p:nvSpPr>
          <p:cNvPr id="673" name="CustomShape 4"/>
          <p:cNvSpPr/>
          <p:nvPr/>
        </p:nvSpPr>
        <p:spPr>
          <a:xfrm>
            <a:off x="585000" y="4242240"/>
            <a:ext cx="7592400" cy="76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200" b="0" strike="noStrike" spc="-1">
                <a:solidFill>
                  <a:srgbClr val="000000"/>
                </a:solidFill>
                <a:latin typeface="Arial"/>
                <a:ea typeface="DejaVu Sans"/>
              </a:rPr>
              <a:t>Unlike Integers, Floating Point has both positive and negative zeros.</a:t>
            </a:r>
            <a:endParaRPr lang="en-US" sz="2200" b="0" strike="noStrike" spc="-1">
              <a:solidFill>
                <a:srgbClr val="000000"/>
              </a:solidFill>
              <a:latin typeface="Arial"/>
            </a:endParaRPr>
          </a:p>
        </p:txBody>
      </p:sp>
      <p:sp>
        <p:nvSpPr>
          <p:cNvPr id="674" name="CustomShape 5"/>
          <p:cNvSpPr/>
          <p:nvPr/>
        </p:nvSpPr>
        <p:spPr>
          <a:xfrm>
            <a:off x="631440" y="5067000"/>
            <a:ext cx="6960600" cy="711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200" b="0" strike="noStrike" spc="-1">
                <a:solidFill>
                  <a:srgbClr val="009999"/>
                </a:solidFill>
                <a:latin typeface="Arial"/>
                <a:ea typeface="Arial"/>
              </a:rPr>
              <a:t>Note when exponent = 0 the  fraction is de-normalized </a:t>
            </a:r>
            <a:endParaRPr lang="en-US" sz="2200" b="0" strike="noStrike" spc="-1">
              <a:solidFill>
                <a:srgbClr val="000000"/>
              </a:solidFill>
              <a:latin typeface="Arial"/>
            </a:endParaRPr>
          </a:p>
          <a:p>
            <a:pPr>
              <a:lnSpc>
                <a:spcPct val="100000"/>
              </a:lnSpc>
            </a:pPr>
            <a:r>
              <a:rPr lang="en-US" sz="2200" b="0" strike="noStrike" spc="-1">
                <a:solidFill>
                  <a:srgbClr val="009999"/>
                </a:solidFill>
                <a:latin typeface="Arial"/>
                <a:ea typeface="Arial"/>
              </a:rPr>
              <a:t>(i.e. no hidden 1 is now implied)</a:t>
            </a:r>
            <a:endParaRPr lang="en-US" sz="2200" b="0" strike="noStrike" spc="-1">
              <a:solidFill>
                <a:srgbClr val="000000"/>
              </a:solidFill>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 name="CustomShape 1"/>
          <p:cNvSpPr/>
          <p:nvPr/>
        </p:nvSpPr>
        <p:spPr>
          <a:xfrm>
            <a:off x="0" y="0"/>
            <a:ext cx="9138960" cy="90936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4000" b="1" strike="noStrike" spc="-1">
                <a:solidFill>
                  <a:srgbClr val="336699"/>
                </a:solidFill>
                <a:latin typeface="Arial Narrow"/>
                <a:ea typeface="Arial Narrow"/>
              </a:rPr>
              <a:t>       Representing NaN, +/- Infinity</a:t>
            </a:r>
            <a:endParaRPr lang="en-US" sz="4000" b="0" strike="noStrike" spc="-1">
              <a:solidFill>
                <a:srgbClr val="000000"/>
              </a:solidFill>
              <a:latin typeface="Arial"/>
            </a:endParaRPr>
          </a:p>
        </p:txBody>
      </p:sp>
      <p:sp>
        <p:nvSpPr>
          <p:cNvPr id="676" name="CustomShape 2"/>
          <p:cNvSpPr/>
          <p:nvPr/>
        </p:nvSpPr>
        <p:spPr>
          <a:xfrm>
            <a:off x="585360" y="2070000"/>
            <a:ext cx="8403120" cy="426024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t">
            <a:noAutofit/>
          </a:bodyPr>
          <a:lstStyle/>
          <a:p>
            <a:pPr>
              <a:lnSpc>
                <a:spcPct val="100000"/>
              </a:lnSpc>
              <a:spcBef>
                <a:spcPts val="1417"/>
              </a:spcBef>
            </a:pPr>
            <a:endParaRPr lang="en-US" sz="1800" b="0" strike="noStrike" spc="-1">
              <a:solidFill>
                <a:srgbClr val="000000"/>
              </a:solidFill>
              <a:latin typeface="Arial"/>
            </a:endParaRPr>
          </a:p>
          <a:p>
            <a:pPr marL="743040" lvl="1" indent="-361440">
              <a:lnSpc>
                <a:spcPct val="100000"/>
              </a:lnSpc>
              <a:spcBef>
                <a:spcPts val="400"/>
              </a:spcBef>
              <a:buClr>
                <a:srgbClr val="336699"/>
              </a:buClr>
              <a:buFont typeface="Noto Sans Symbols"/>
              <a:buChar char="●"/>
            </a:pPr>
            <a:r>
              <a:rPr lang="en-US" sz="3200" b="1" strike="noStrike" spc="-1">
                <a:solidFill>
                  <a:srgbClr val="009999"/>
                </a:solidFill>
                <a:latin typeface="Arial"/>
                <a:ea typeface="Arial"/>
              </a:rPr>
              <a:t>Infinity (+ and -)</a:t>
            </a:r>
            <a:r>
              <a:rPr lang="en-US" sz="3200" b="0" strike="noStrike" spc="-1">
                <a:solidFill>
                  <a:srgbClr val="009999"/>
                </a:solidFill>
                <a:latin typeface="Arial"/>
                <a:ea typeface="Arial"/>
              </a:rPr>
              <a:t>: </a:t>
            </a:r>
            <a:endParaRPr lang="en-US" sz="3200" b="0" strike="noStrike" spc="-1">
              <a:solidFill>
                <a:srgbClr val="000000"/>
              </a:solidFill>
              <a:latin typeface="Arial"/>
            </a:endParaRPr>
          </a:p>
          <a:p>
            <a:pPr marL="743040" lvl="1" indent="-361440">
              <a:lnSpc>
                <a:spcPct val="100000"/>
              </a:lnSpc>
              <a:spcBef>
                <a:spcPts val="400"/>
              </a:spcBef>
              <a:buClr>
                <a:srgbClr val="336699"/>
              </a:buClr>
              <a:buFont typeface="Noto Sans Symbols"/>
              <a:buChar char="●"/>
            </a:pPr>
            <a:r>
              <a:rPr lang="en-US" sz="3200" b="0" strike="noStrike" spc="-1">
                <a:solidFill>
                  <a:srgbClr val="009999"/>
                </a:solidFill>
                <a:latin typeface="Arial"/>
                <a:ea typeface="Arial"/>
              </a:rPr>
              <a:t>exponent = 255 (1111 1111) </a:t>
            </a:r>
            <a:endParaRPr lang="en-US" sz="3200" b="0" strike="noStrike" spc="-1">
              <a:solidFill>
                <a:srgbClr val="000000"/>
              </a:solidFill>
              <a:latin typeface="Arial"/>
            </a:endParaRPr>
          </a:p>
          <a:p>
            <a:pPr marL="743040" lvl="1" indent="-361440">
              <a:lnSpc>
                <a:spcPct val="100000"/>
              </a:lnSpc>
              <a:spcBef>
                <a:spcPts val="400"/>
              </a:spcBef>
              <a:buClr>
                <a:srgbClr val="336699"/>
              </a:buClr>
              <a:buFont typeface="Noto Sans Symbols"/>
              <a:buChar char="●"/>
            </a:pPr>
            <a:r>
              <a:rPr lang="en-US" sz="3200" b="0" strike="noStrike" spc="-1">
                <a:solidFill>
                  <a:srgbClr val="009999"/>
                </a:solidFill>
                <a:latin typeface="Arial"/>
                <a:ea typeface="Arial"/>
              </a:rPr>
              <a:t>    and fraction = 0</a:t>
            </a:r>
            <a:endParaRPr lang="en-US" sz="3200" b="0" strike="noStrike" spc="-1">
              <a:solidFill>
                <a:srgbClr val="000000"/>
              </a:solidFill>
              <a:latin typeface="Arial"/>
            </a:endParaRPr>
          </a:p>
          <a:p>
            <a:pPr marL="743040" lvl="1" indent="-361440">
              <a:lnSpc>
                <a:spcPct val="100000"/>
              </a:lnSpc>
              <a:spcBef>
                <a:spcPts val="400"/>
              </a:spcBef>
              <a:buClr>
                <a:srgbClr val="336699"/>
              </a:buClr>
              <a:buFont typeface="Noto Sans Symbols"/>
              <a:buChar char="●"/>
            </a:pPr>
            <a:r>
              <a:rPr lang="en-US" sz="3200" b="1" strike="noStrike" spc="-1">
                <a:solidFill>
                  <a:srgbClr val="009999"/>
                </a:solidFill>
                <a:latin typeface="Arial"/>
                <a:ea typeface="Arial"/>
              </a:rPr>
              <a:t>NaN (Not a Number):</a:t>
            </a:r>
            <a:r>
              <a:rPr lang="en-US" sz="3200" b="0" strike="noStrike" spc="-1">
                <a:solidFill>
                  <a:srgbClr val="009999"/>
                </a:solidFill>
                <a:latin typeface="Arial"/>
                <a:ea typeface="Arial"/>
              </a:rPr>
              <a:t> </a:t>
            </a:r>
            <a:endParaRPr lang="en-US" sz="3200" b="0" strike="noStrike" spc="-1">
              <a:solidFill>
                <a:srgbClr val="000000"/>
              </a:solidFill>
              <a:latin typeface="Arial"/>
            </a:endParaRPr>
          </a:p>
          <a:p>
            <a:pPr marL="743040" lvl="1" indent="-361440">
              <a:lnSpc>
                <a:spcPct val="100000"/>
              </a:lnSpc>
              <a:spcBef>
                <a:spcPts val="400"/>
              </a:spcBef>
              <a:buClr>
                <a:srgbClr val="336699"/>
              </a:buClr>
              <a:buFont typeface="Noto Sans Symbols"/>
              <a:buChar char="●"/>
            </a:pPr>
            <a:r>
              <a:rPr lang="en-US" sz="3200" b="0" strike="noStrike" spc="-1">
                <a:solidFill>
                  <a:srgbClr val="009999"/>
                </a:solidFill>
                <a:latin typeface="Arial"/>
                <a:ea typeface="Arial"/>
              </a:rPr>
              <a:t>exponent = 255 and fraction ≠ 0</a:t>
            </a:r>
            <a:endParaRPr lang="en-US" sz="3200" b="0" strike="noStrike" spc="-1">
              <a:solidFill>
                <a:srgbClr val="000000"/>
              </a:solidFill>
              <a:latin typeface="Arial"/>
            </a:endParaRPr>
          </a:p>
          <a:p>
            <a:pPr marL="743040" lvl="1" indent="-361440">
              <a:lnSpc>
                <a:spcPct val="100000"/>
              </a:lnSpc>
              <a:spcBef>
                <a:spcPts val="400"/>
              </a:spcBef>
              <a:buClr>
                <a:srgbClr val="336699"/>
              </a:buClr>
              <a:buFont typeface="Noto Sans Symbols"/>
              <a:buChar char="●"/>
            </a:pPr>
            <a:r>
              <a:rPr lang="en-US" sz="3200" b="0" strike="noStrike" spc="-1">
                <a:solidFill>
                  <a:srgbClr val="009999"/>
                </a:solidFill>
                <a:latin typeface="Arial"/>
                <a:ea typeface="Arial"/>
              </a:rPr>
              <a:t>e.g. 0.0 divided by 0.0 </a:t>
            </a:r>
            <a:endParaRPr lang="en-US" sz="3200" b="0" strike="noStrike" spc="-1">
              <a:solidFill>
                <a:srgbClr val="000000"/>
              </a:solidFill>
              <a:latin typeface="Arial"/>
            </a:endParaRPr>
          </a:p>
          <a:p>
            <a:pPr marL="743040" lvl="1" indent="-361440">
              <a:lnSpc>
                <a:spcPct val="100000"/>
              </a:lnSpc>
              <a:spcBef>
                <a:spcPts val="400"/>
              </a:spcBef>
              <a:buClr>
                <a:srgbClr val="336699"/>
              </a:buClr>
              <a:buFont typeface="Noto Sans Symbols"/>
              <a:buChar char="●"/>
            </a:pPr>
            <a:r>
              <a:rPr lang="en-US" sz="3200" b="0" strike="noStrike" spc="-1">
                <a:solidFill>
                  <a:srgbClr val="009999"/>
                </a:solidFill>
                <a:latin typeface="Arial"/>
                <a:ea typeface="Arial"/>
              </a:rPr>
              <a:t>    is arithmetically undefined or a NaN.</a:t>
            </a:r>
            <a:endParaRPr lang="en-US" sz="3200" b="0" strike="noStrike" spc="-1">
              <a:solidFill>
                <a:srgbClr val="000000"/>
              </a:solidFill>
              <a:latin typeface="Arial"/>
            </a:endParaRPr>
          </a:p>
          <a:p>
            <a:pPr>
              <a:lnSpc>
                <a:spcPct val="100000"/>
              </a:lnSpc>
              <a:spcBef>
                <a:spcPts val="1417"/>
              </a:spcBef>
            </a:pPr>
            <a:endParaRPr lang="en-US" sz="3200" b="0" strike="noStrike" spc="-1">
              <a:solidFill>
                <a:srgbClr val="000000"/>
              </a:solidFill>
              <a:latin typeface="Arial"/>
            </a:endParaRPr>
          </a:p>
          <a:p>
            <a:pPr marL="343080" indent="-232920">
              <a:lnSpc>
                <a:spcPct val="100000"/>
              </a:lnSpc>
              <a:spcBef>
                <a:spcPts val="499"/>
              </a:spcBef>
              <a:tabLst>
                <a:tab pos="0" algn="l"/>
              </a:tabLst>
            </a:pPr>
            <a:endParaRPr lang="en-US" sz="3200" b="0" strike="noStrike" spc="-1">
              <a:solidFill>
                <a:srgbClr val="000000"/>
              </a:solidFill>
              <a:latin typeface="Arial"/>
            </a:endParaRPr>
          </a:p>
          <a:p>
            <a:pPr marL="343080" indent="-232920">
              <a:lnSpc>
                <a:spcPct val="100000"/>
              </a:lnSpc>
              <a:spcBef>
                <a:spcPts val="499"/>
              </a:spcBef>
              <a:tabLst>
                <a:tab pos="0" algn="l"/>
              </a:tabLst>
            </a:pPr>
            <a:endParaRPr lang="en-US" sz="3200" b="0" strike="noStrike" spc="-1">
              <a:solidFill>
                <a:srgbClr val="000000"/>
              </a:solidFill>
              <a:latin typeface="Arial"/>
            </a:endParaRPr>
          </a:p>
          <a:p>
            <a:pPr marL="343080" indent="-232920">
              <a:lnSpc>
                <a:spcPct val="100000"/>
              </a:lnSpc>
              <a:spcBef>
                <a:spcPts val="499"/>
              </a:spcBef>
              <a:tabLst>
                <a:tab pos="0" algn="l"/>
              </a:tabLst>
            </a:pPr>
            <a:endParaRPr lang="en-US" sz="3200" b="0" strike="noStrike" spc="-1">
              <a:solidFill>
                <a:srgbClr val="000000"/>
              </a:solidFill>
              <a:latin typeface="Arial"/>
            </a:endParaRPr>
          </a:p>
          <a:p>
            <a:pPr marL="343080" indent="-234000">
              <a:lnSpc>
                <a:spcPct val="100000"/>
              </a:lnSpc>
              <a:spcBef>
                <a:spcPts val="561"/>
              </a:spcBef>
              <a:tabLst>
                <a:tab pos="0" algn="l"/>
              </a:tabLst>
            </a:pPr>
            <a:endParaRPr lang="en-US" sz="3200" b="0" strike="noStrike" spc="-1">
              <a:solidFill>
                <a:srgbClr val="000000"/>
              </a:solidFill>
              <a:latin typeface="Arial"/>
            </a:endParaRPr>
          </a:p>
        </p:txBody>
      </p:sp>
      <p:sp>
        <p:nvSpPr>
          <p:cNvPr id="677" name="CustomShape 3"/>
          <p:cNvSpPr/>
          <p:nvPr/>
        </p:nvSpPr>
        <p:spPr>
          <a:xfrm>
            <a:off x="757080" y="1084320"/>
            <a:ext cx="7821720" cy="1110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3600" b="0" strike="noStrike" spc="-1">
                <a:solidFill>
                  <a:srgbClr val="009999"/>
                </a:solidFill>
                <a:latin typeface="Arial"/>
                <a:ea typeface="Arial"/>
              </a:rPr>
              <a:t>Like for 0, these values are represented based on a convention:</a:t>
            </a:r>
            <a:endParaRPr lang="en-US" sz="3600" b="0" strike="noStrike" spc="-1">
              <a:solidFill>
                <a:srgbClr val="000000"/>
              </a:solidFill>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 name="CustomShape 1"/>
          <p:cNvSpPr/>
          <p:nvPr/>
        </p:nvSpPr>
        <p:spPr>
          <a:xfrm>
            <a:off x="0" y="0"/>
            <a:ext cx="9138960" cy="66276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3200" b="1" strike="noStrike" spc="-1">
                <a:solidFill>
                  <a:srgbClr val="336699"/>
                </a:solidFill>
                <a:latin typeface="Arial Narrow"/>
                <a:ea typeface="Arial Narrow"/>
              </a:rPr>
              <a:t>                       Subnormal  Numbers </a:t>
            </a:r>
            <a:endParaRPr lang="en-US" sz="3200" b="0" strike="noStrike" spc="-1">
              <a:solidFill>
                <a:srgbClr val="000000"/>
              </a:solidFill>
              <a:latin typeface="Arial"/>
            </a:endParaRPr>
          </a:p>
        </p:txBody>
      </p:sp>
      <p:sp>
        <p:nvSpPr>
          <p:cNvPr id="679" name="CustomShape 2"/>
          <p:cNvSpPr/>
          <p:nvPr/>
        </p:nvSpPr>
        <p:spPr>
          <a:xfrm>
            <a:off x="2520" y="637200"/>
            <a:ext cx="9138960" cy="274356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t">
            <a:noAutofit/>
          </a:bodyPr>
          <a:lstStyle/>
          <a:p>
            <a:pPr>
              <a:lnSpc>
                <a:spcPct val="120000"/>
              </a:lnSpc>
            </a:pPr>
            <a:endParaRPr lang="en-US" sz="1800" b="0" strike="noStrike" spc="-1">
              <a:solidFill>
                <a:srgbClr val="000000"/>
              </a:solidFill>
              <a:latin typeface="Arial"/>
            </a:endParaRPr>
          </a:p>
          <a:p>
            <a:pPr marL="344520" indent="-285120">
              <a:lnSpc>
                <a:spcPct val="120000"/>
              </a:lnSpc>
              <a:buClr>
                <a:srgbClr val="990000"/>
              </a:buClr>
              <a:buFont typeface="Noto Sans Symbols"/>
              <a:buChar char="●"/>
            </a:pPr>
            <a:r>
              <a:rPr lang="en-US" sz="1600" b="0" strike="noStrike" spc="-1">
                <a:solidFill>
                  <a:srgbClr val="009999"/>
                </a:solidFill>
                <a:latin typeface="Arial"/>
                <a:ea typeface="Arial"/>
              </a:rPr>
              <a:t>A normal number is defined as a floating point number with a 1 at the start of the significand. Thus, the smallest normal number in double precision is  1.000...x2-1022.</a:t>
            </a:r>
            <a:endParaRPr lang="en-US" sz="1600" b="0" strike="noStrike" spc="-1">
              <a:solidFill>
                <a:srgbClr val="000000"/>
              </a:solidFill>
              <a:latin typeface="Arial"/>
            </a:endParaRPr>
          </a:p>
          <a:p>
            <a:pPr>
              <a:lnSpc>
                <a:spcPct val="120000"/>
              </a:lnSpc>
            </a:pPr>
            <a:r>
              <a:rPr lang="en-US" sz="1600" b="0" strike="noStrike" spc="-1">
                <a:solidFill>
                  <a:srgbClr val="009999"/>
                </a:solidFill>
                <a:latin typeface="Arial"/>
                <a:ea typeface="Arial"/>
              </a:rPr>
              <a:t>      The smallest representable normal number is called the underflow level, or UFL.</a:t>
            </a:r>
            <a:endParaRPr lang="en-US" sz="1600" b="0" strike="noStrike" spc="-1">
              <a:solidFill>
                <a:srgbClr val="000000"/>
              </a:solidFill>
              <a:latin typeface="Arial"/>
            </a:endParaRPr>
          </a:p>
          <a:p>
            <a:pPr>
              <a:lnSpc>
                <a:spcPct val="120000"/>
              </a:lnSpc>
            </a:pPr>
            <a:r>
              <a:rPr lang="en-US" sz="1600" b="0" strike="noStrike" spc="-1">
                <a:solidFill>
                  <a:srgbClr val="009999"/>
                </a:solidFill>
                <a:latin typeface="Arial"/>
                <a:ea typeface="Arial"/>
              </a:rPr>
              <a:t>      Can go even smaller by removing restriction that first number significand myst be a 1.</a:t>
            </a:r>
            <a:endParaRPr lang="en-US" sz="1600" b="0" strike="noStrike" spc="-1">
              <a:solidFill>
                <a:srgbClr val="000000"/>
              </a:solidFill>
              <a:latin typeface="Arial"/>
            </a:endParaRPr>
          </a:p>
          <a:p>
            <a:pPr>
              <a:lnSpc>
                <a:spcPct val="120000"/>
              </a:lnSpc>
            </a:pPr>
            <a:r>
              <a:rPr lang="en-US" sz="1600" b="0" strike="noStrike" spc="-1">
                <a:solidFill>
                  <a:srgbClr val="009999"/>
                </a:solidFill>
                <a:latin typeface="Arial"/>
                <a:ea typeface="Arial"/>
              </a:rPr>
              <a:t>      These numbers are known as subnormal, and are </a:t>
            </a:r>
            <a:r>
              <a:rPr lang="en-US" sz="1600" b="1" strike="noStrike" spc="-1">
                <a:solidFill>
                  <a:srgbClr val="009999"/>
                </a:solidFill>
                <a:latin typeface="Arial"/>
                <a:ea typeface="Arial"/>
              </a:rPr>
              <a:t>stored with all zeros in the exponent</a:t>
            </a:r>
            <a:r>
              <a:rPr lang="en-US" sz="1600" b="0" strike="noStrike" spc="-1">
                <a:solidFill>
                  <a:srgbClr val="009999"/>
                </a:solidFill>
                <a:latin typeface="Arial"/>
                <a:ea typeface="Arial"/>
              </a:rPr>
              <a:t>. </a:t>
            </a:r>
            <a:endParaRPr lang="en-US" sz="1600" b="0" strike="noStrike" spc="-1">
              <a:solidFill>
                <a:srgbClr val="000000"/>
              </a:solidFill>
              <a:latin typeface="Arial"/>
            </a:endParaRPr>
          </a:p>
          <a:p>
            <a:pPr>
              <a:lnSpc>
                <a:spcPct val="120000"/>
              </a:lnSpc>
            </a:pPr>
            <a:r>
              <a:rPr lang="en-US" sz="1600" b="0" strike="noStrike" spc="-1">
                <a:solidFill>
                  <a:srgbClr val="009999"/>
                </a:solidFill>
                <a:latin typeface="Arial"/>
                <a:ea typeface="Arial"/>
              </a:rPr>
              <a:t>     Technically, zero is also a subnormal number.</a:t>
            </a:r>
            <a:endParaRPr lang="en-US" sz="1600" b="0" strike="noStrike" spc="-1">
              <a:solidFill>
                <a:srgbClr val="000000"/>
              </a:solidFill>
              <a:latin typeface="Arial"/>
            </a:endParaRPr>
          </a:p>
          <a:p>
            <a:pPr>
              <a:lnSpc>
                <a:spcPct val="120000"/>
              </a:lnSpc>
            </a:pPr>
            <a:r>
              <a:rPr lang="en-US" sz="1600" b="0" strike="noStrike" spc="-1">
                <a:solidFill>
                  <a:srgbClr val="009999"/>
                </a:solidFill>
                <a:latin typeface="Arial"/>
                <a:ea typeface="Arial"/>
              </a:rPr>
              <a:t>      Subnormal numbers do not have as many significant digits as normal numbers.</a:t>
            </a:r>
            <a:endParaRPr lang="en-US" sz="1600" b="0" strike="noStrike" spc="-1">
              <a:solidFill>
                <a:srgbClr val="000000"/>
              </a:solidFill>
              <a:latin typeface="Arial"/>
            </a:endParaRPr>
          </a:p>
          <a:p>
            <a:pPr>
              <a:lnSpc>
                <a:spcPct val="120000"/>
              </a:lnSpc>
            </a:pPr>
            <a:r>
              <a:rPr lang="en-US" sz="1600" b="0" strike="noStrike" spc="-1">
                <a:solidFill>
                  <a:srgbClr val="009999"/>
                </a:solidFill>
                <a:latin typeface="Arial"/>
                <a:ea typeface="Arial"/>
              </a:rPr>
              <a:t>      The use of subnormal numbers allows for more gradual underflow to zero. </a:t>
            </a:r>
            <a:endParaRPr lang="en-US" sz="1600" b="0" strike="noStrike" spc="-1">
              <a:solidFill>
                <a:srgbClr val="000000"/>
              </a:solidFill>
              <a:latin typeface="Arial"/>
            </a:endParaRPr>
          </a:p>
          <a:p>
            <a:pPr>
              <a:lnSpc>
                <a:spcPct val="120000"/>
              </a:lnSpc>
            </a:pPr>
            <a:endParaRPr lang="en-US" sz="1600" b="0" strike="noStrike" spc="-1">
              <a:solidFill>
                <a:srgbClr val="000000"/>
              </a:solidFill>
              <a:latin typeface="Arial"/>
            </a:endParaRPr>
          </a:p>
          <a:p>
            <a:pPr>
              <a:lnSpc>
                <a:spcPct val="120000"/>
              </a:lnSpc>
            </a:pPr>
            <a:endParaRPr lang="en-US" sz="1600" b="0" strike="noStrike" spc="-1">
              <a:solidFill>
                <a:srgbClr val="000000"/>
              </a:solidFill>
              <a:latin typeface="Arial"/>
            </a:endParaRPr>
          </a:p>
          <a:p>
            <a:pPr>
              <a:lnSpc>
                <a:spcPct val="120000"/>
              </a:lnSpc>
            </a:pPr>
            <a:endParaRPr lang="en-US" sz="1600" b="0" strike="noStrike" spc="-1">
              <a:solidFill>
                <a:srgbClr val="000000"/>
              </a:solidFill>
              <a:latin typeface="Arial"/>
            </a:endParaRPr>
          </a:p>
        </p:txBody>
      </p:sp>
      <p:sp>
        <p:nvSpPr>
          <p:cNvPr id="680" name="CustomShape 3"/>
          <p:cNvSpPr/>
          <p:nvPr/>
        </p:nvSpPr>
        <p:spPr>
          <a:xfrm>
            <a:off x="1379880" y="4689360"/>
            <a:ext cx="387000" cy="428040"/>
          </a:xfrm>
          <a:prstGeom prst="rect">
            <a:avLst/>
          </a:prstGeom>
          <a:noFill/>
          <a:ln w="9360">
            <a:solidFill>
              <a:srgbClr val="0000FF"/>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rgbClr val="010000"/>
                </a:solidFill>
                <a:latin typeface="Arial"/>
                <a:ea typeface="Arial"/>
              </a:rPr>
              <a:t>s</a:t>
            </a:r>
            <a:endParaRPr lang="en-US" sz="2400" b="0" strike="noStrike" spc="-1">
              <a:solidFill>
                <a:srgbClr val="000000"/>
              </a:solidFill>
              <a:latin typeface="Arial"/>
            </a:endParaRPr>
          </a:p>
        </p:txBody>
      </p:sp>
      <p:sp>
        <p:nvSpPr>
          <p:cNvPr id="681" name="CustomShape 4"/>
          <p:cNvSpPr/>
          <p:nvPr/>
        </p:nvSpPr>
        <p:spPr>
          <a:xfrm>
            <a:off x="1769400" y="4719600"/>
            <a:ext cx="2035440" cy="416880"/>
          </a:xfrm>
          <a:prstGeom prst="rect">
            <a:avLst/>
          </a:prstGeom>
          <a:noFill/>
          <a:ln w="9360">
            <a:solidFill>
              <a:srgbClr val="0000FF"/>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rgbClr val="010000"/>
                </a:solidFill>
                <a:latin typeface="Arial"/>
                <a:ea typeface="Arial"/>
              </a:rPr>
              <a:t>00000000</a:t>
            </a:r>
            <a:endParaRPr lang="en-US" sz="2400" b="0" strike="noStrike" spc="-1">
              <a:solidFill>
                <a:srgbClr val="000000"/>
              </a:solidFill>
              <a:latin typeface="Arial"/>
            </a:endParaRPr>
          </a:p>
        </p:txBody>
      </p:sp>
      <p:sp>
        <p:nvSpPr>
          <p:cNvPr id="682" name="CustomShape 5"/>
          <p:cNvSpPr/>
          <p:nvPr/>
        </p:nvSpPr>
        <p:spPr>
          <a:xfrm>
            <a:off x="3807360" y="4714920"/>
            <a:ext cx="3929400" cy="428040"/>
          </a:xfrm>
          <a:prstGeom prst="rect">
            <a:avLst/>
          </a:prstGeom>
          <a:noFill/>
          <a:ln w="9360">
            <a:solidFill>
              <a:srgbClr val="0000FF"/>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rgbClr val="010000"/>
                </a:solidFill>
                <a:latin typeface="Arial"/>
                <a:ea typeface="Arial"/>
              </a:rPr>
              <a:t>010 0000 0000 0000 0000 </a:t>
            </a:r>
            <a:endParaRPr lang="en-US" sz="2400" b="0" strike="noStrike" spc="-1">
              <a:solidFill>
                <a:srgbClr val="000000"/>
              </a:solidFill>
              <a:latin typeface="Arial"/>
            </a:endParaRPr>
          </a:p>
        </p:txBody>
      </p:sp>
      <p:sp>
        <p:nvSpPr>
          <p:cNvPr id="683" name="CustomShape 6"/>
          <p:cNvSpPr/>
          <p:nvPr/>
        </p:nvSpPr>
        <p:spPr>
          <a:xfrm>
            <a:off x="1426680" y="4327560"/>
            <a:ext cx="320400" cy="38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2000" b="1" strike="noStrike" spc="-1">
                <a:solidFill>
                  <a:srgbClr val="010000"/>
                </a:solidFill>
                <a:latin typeface="Arial"/>
                <a:ea typeface="Arial"/>
              </a:rPr>
              <a:t>1</a:t>
            </a:r>
            <a:endParaRPr lang="en-US" sz="2000" b="0" strike="noStrike" spc="-1">
              <a:solidFill>
                <a:srgbClr val="000000"/>
              </a:solidFill>
              <a:latin typeface="Arial"/>
            </a:endParaRPr>
          </a:p>
        </p:txBody>
      </p:sp>
      <p:sp>
        <p:nvSpPr>
          <p:cNvPr id="684" name="CustomShape 7"/>
          <p:cNvSpPr/>
          <p:nvPr/>
        </p:nvSpPr>
        <p:spPr>
          <a:xfrm>
            <a:off x="2042640" y="4330440"/>
            <a:ext cx="1341000" cy="388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2000" b="1" strike="noStrike" spc="-1">
                <a:solidFill>
                  <a:srgbClr val="010000"/>
                </a:solidFill>
                <a:latin typeface="Arial"/>
                <a:ea typeface="Arial"/>
              </a:rPr>
              <a:t>8 bits</a:t>
            </a:r>
            <a:endParaRPr lang="en-US" sz="2000" b="0" strike="noStrike" spc="-1">
              <a:solidFill>
                <a:srgbClr val="000000"/>
              </a:solidFill>
              <a:latin typeface="Arial"/>
            </a:endParaRPr>
          </a:p>
        </p:txBody>
      </p:sp>
      <p:sp>
        <p:nvSpPr>
          <p:cNvPr id="685" name="CustomShape 8"/>
          <p:cNvSpPr/>
          <p:nvPr/>
        </p:nvSpPr>
        <p:spPr>
          <a:xfrm>
            <a:off x="4911120" y="4321080"/>
            <a:ext cx="1371240" cy="38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2000" b="1" strike="noStrike" spc="-1">
                <a:solidFill>
                  <a:srgbClr val="010000"/>
                </a:solidFill>
                <a:latin typeface="Arial"/>
                <a:ea typeface="Arial"/>
              </a:rPr>
              <a:t>23 bits</a:t>
            </a:r>
            <a:endParaRPr lang="en-US" sz="2000" b="0" strike="noStrike" spc="-1">
              <a:solidFill>
                <a:srgbClr val="000000"/>
              </a:solidFill>
              <a:latin typeface="Arial"/>
            </a:endParaRPr>
          </a:p>
        </p:txBody>
      </p:sp>
      <p:sp>
        <p:nvSpPr>
          <p:cNvPr id="686" name="CustomShape 9"/>
          <p:cNvSpPr/>
          <p:nvPr/>
        </p:nvSpPr>
        <p:spPr>
          <a:xfrm>
            <a:off x="1721160" y="5333400"/>
            <a:ext cx="7251480" cy="57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3200" b="0" strike="noStrike" spc="-1">
                <a:solidFill>
                  <a:srgbClr val="010000"/>
                </a:solidFill>
                <a:latin typeface="Arial"/>
                <a:ea typeface="Arial"/>
              </a:rPr>
              <a:t>N = (-1)</a:t>
            </a:r>
            <a:r>
              <a:rPr lang="en-US" sz="3200" b="1" strike="noStrike" spc="-1" baseline="30000">
                <a:solidFill>
                  <a:srgbClr val="010000"/>
                </a:solidFill>
                <a:latin typeface="Arial"/>
                <a:ea typeface="Arial"/>
              </a:rPr>
              <a:t>s</a:t>
            </a:r>
            <a:r>
              <a:rPr lang="en-US" sz="3200" b="0" strike="noStrike" spc="-1">
                <a:solidFill>
                  <a:srgbClr val="010000"/>
                </a:solidFill>
                <a:latin typeface="Arial"/>
                <a:ea typeface="Arial"/>
              </a:rPr>
              <a:t> x 0.</a:t>
            </a:r>
            <a:r>
              <a:rPr lang="en-US" sz="3200" b="1" strike="noStrike" spc="-1">
                <a:solidFill>
                  <a:srgbClr val="010000"/>
                </a:solidFill>
                <a:latin typeface="Arial"/>
                <a:ea typeface="Arial"/>
              </a:rPr>
              <a:t>fraction</a:t>
            </a:r>
            <a:r>
              <a:rPr lang="en-US" sz="3200" b="0" strike="noStrike" spc="-1">
                <a:solidFill>
                  <a:srgbClr val="010000"/>
                </a:solidFill>
                <a:latin typeface="Arial"/>
                <a:ea typeface="Arial"/>
              </a:rPr>
              <a:t> x 2</a:t>
            </a:r>
            <a:r>
              <a:rPr lang="en-US" sz="3200" b="0" strike="noStrike" spc="-1" baseline="30000">
                <a:solidFill>
                  <a:srgbClr val="010000"/>
                </a:solidFill>
                <a:latin typeface="Arial"/>
                <a:ea typeface="Arial"/>
              </a:rPr>
              <a:t>(–126)</a:t>
            </a:r>
            <a:endParaRPr lang="en-US" sz="3200" b="0" strike="noStrike" spc="-1">
              <a:solidFill>
                <a:srgbClr val="000000"/>
              </a:solidFill>
              <a:latin typeface="Arial"/>
            </a:endParaRPr>
          </a:p>
        </p:txBody>
      </p:sp>
      <p:sp>
        <p:nvSpPr>
          <p:cNvPr id="687" name="CustomShape 10"/>
          <p:cNvSpPr/>
          <p:nvPr/>
        </p:nvSpPr>
        <p:spPr>
          <a:xfrm>
            <a:off x="89280" y="3981240"/>
            <a:ext cx="4660920" cy="39168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ctr">
            <a:noAutofit/>
          </a:bodyPr>
          <a:lstStyle/>
          <a:p>
            <a:pPr algn="ctr">
              <a:lnSpc>
                <a:spcPct val="100000"/>
              </a:lnSpc>
              <a:tabLst>
                <a:tab pos="0" algn="l"/>
              </a:tabLst>
            </a:pPr>
            <a:r>
              <a:rPr lang="en-US" sz="2000" b="1" strike="noStrike" spc="-1">
                <a:solidFill>
                  <a:srgbClr val="010000"/>
                </a:solidFill>
                <a:latin typeface="Arial"/>
                <a:ea typeface="Arial"/>
              </a:rPr>
              <a:t>32-bit (SP) subnormal number:</a:t>
            </a:r>
            <a:endParaRPr lang="en-US" sz="2000" b="0" strike="noStrike" spc="-1">
              <a:solidFill>
                <a:srgbClr val="000000"/>
              </a:solidFill>
              <a:latin typeface="Arial"/>
            </a:endParaRPr>
          </a:p>
        </p:txBody>
      </p:sp>
      <p:sp>
        <p:nvSpPr>
          <p:cNvPr id="688" name="CustomShape 11"/>
          <p:cNvSpPr/>
          <p:nvPr/>
        </p:nvSpPr>
        <p:spPr>
          <a:xfrm>
            <a:off x="683640" y="6242040"/>
            <a:ext cx="7882560" cy="402480"/>
          </a:xfrm>
          <a:prstGeom prst="rect">
            <a:avLst/>
          </a:prstGeom>
          <a:noFill/>
          <a:ln w="73080">
            <a:noFill/>
          </a:ln>
        </p:spPr>
        <p:style>
          <a:lnRef idx="0">
            <a:scrgbClr r="0" g="0" b="0"/>
          </a:lnRef>
          <a:fillRef idx="0">
            <a:scrgbClr r="0" g="0" b="0"/>
          </a:fillRef>
          <a:effectRef idx="0">
            <a:scrgbClr r="0" g="0" b="0"/>
          </a:effectRef>
          <a:fontRef idx="minor"/>
        </p:style>
        <p:txBody>
          <a:bodyPr lIns="126360" tIns="81360" rIns="126360" bIns="81360" anchor="t">
            <a:noAutofit/>
          </a:bodyPr>
          <a:lstStyle/>
          <a:p>
            <a:pPr>
              <a:lnSpc>
                <a:spcPct val="100000"/>
              </a:lnSpc>
            </a:pPr>
            <a:r>
              <a:rPr lang="en-US" sz="1400" b="0" strike="noStrike" spc="-1">
                <a:solidFill>
                  <a:srgbClr val="000000"/>
                </a:solidFill>
                <a:latin typeface="Arial"/>
                <a:ea typeface="DejaVu Sans"/>
              </a:rPr>
              <a:t>Source:   https://courses.physics.illinois.edu/cs357/sp2020/notes/ref-4-fp.html</a:t>
            </a:r>
            <a:endParaRPr lang="en-US" sz="1400" b="0" strike="noStrike" spc="-1">
              <a:solidFill>
                <a:srgbClr val="000000"/>
              </a:solidFill>
              <a:latin typeface="Arial"/>
            </a:endParaRPr>
          </a:p>
        </p:txBody>
      </p:sp>
      <p:sp>
        <p:nvSpPr>
          <p:cNvPr id="689" name="CustomShape 12"/>
          <p:cNvSpPr/>
          <p:nvPr/>
        </p:nvSpPr>
        <p:spPr>
          <a:xfrm>
            <a:off x="498600" y="5517000"/>
            <a:ext cx="8206200" cy="671040"/>
          </a:xfrm>
          <a:prstGeom prst="rect">
            <a:avLst/>
          </a:prstGeom>
          <a:noFill/>
          <a:ln w="7308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 name="CustomShape 1"/>
          <p:cNvSpPr/>
          <p:nvPr/>
        </p:nvSpPr>
        <p:spPr>
          <a:xfrm>
            <a:off x="0" y="0"/>
            <a:ext cx="9138960" cy="66276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3200" b="1" strike="noStrike" spc="-1">
                <a:solidFill>
                  <a:srgbClr val="336699"/>
                </a:solidFill>
                <a:latin typeface="Arial Narrow"/>
                <a:ea typeface="Arial Narrow"/>
              </a:rPr>
              <a:t>                 Example  FP8: For AI Applications</a:t>
            </a:r>
            <a:endParaRPr lang="en-US" sz="3200" b="0" strike="noStrike" spc="-1">
              <a:solidFill>
                <a:srgbClr val="000000"/>
              </a:solidFill>
              <a:latin typeface="Arial"/>
            </a:endParaRPr>
          </a:p>
        </p:txBody>
      </p:sp>
      <p:sp>
        <p:nvSpPr>
          <p:cNvPr id="691" name="CustomShape 2"/>
          <p:cNvSpPr/>
          <p:nvPr/>
        </p:nvSpPr>
        <p:spPr>
          <a:xfrm>
            <a:off x="347651" y="877680"/>
            <a:ext cx="9138960" cy="274356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t">
            <a:noAutofit/>
          </a:bodyPr>
          <a:lstStyle/>
          <a:p>
            <a:pPr>
              <a:lnSpc>
                <a:spcPct val="120000"/>
              </a:lnSpc>
            </a:pPr>
            <a:endParaRPr lang="en-US" sz="1800" b="0" strike="noStrike" spc="-1" dirty="0">
              <a:solidFill>
                <a:srgbClr val="000000"/>
              </a:solidFill>
              <a:latin typeface="Arial"/>
            </a:endParaRPr>
          </a:p>
          <a:p>
            <a:pPr marL="344520" indent="-285120">
              <a:lnSpc>
                <a:spcPct val="120000"/>
              </a:lnSpc>
              <a:buClr>
                <a:srgbClr val="990000"/>
              </a:buClr>
              <a:buFont typeface="Noto Sans Symbols"/>
              <a:buChar char="●"/>
            </a:pPr>
            <a:r>
              <a:rPr lang="en-US" sz="2400" b="0" strike="noStrike" spc="-1" dirty="0">
                <a:solidFill>
                  <a:srgbClr val="009999"/>
                </a:solidFill>
                <a:latin typeface="Arial"/>
                <a:ea typeface="Arial"/>
              </a:rPr>
              <a:t>There are 2 8-bit floating points formats, used for AI.</a:t>
            </a:r>
            <a:endParaRPr lang="en-US" sz="2400" b="0" strike="noStrike" spc="-1" dirty="0">
              <a:solidFill>
                <a:srgbClr val="000000"/>
              </a:solidFill>
              <a:latin typeface="Arial"/>
            </a:endParaRPr>
          </a:p>
          <a:p>
            <a:pPr marL="344520" indent="-285120">
              <a:lnSpc>
                <a:spcPct val="120000"/>
              </a:lnSpc>
              <a:buClr>
                <a:srgbClr val="990000"/>
              </a:buClr>
              <a:buFont typeface="Noto Sans Symbols"/>
              <a:buChar char="●"/>
            </a:pPr>
            <a:r>
              <a:rPr lang="en-US" sz="2400" b="0" strike="noStrike" spc="-1" dirty="0">
                <a:solidFill>
                  <a:srgbClr val="009999"/>
                </a:solidFill>
                <a:latin typeface="Arial"/>
                <a:ea typeface="Arial"/>
              </a:rPr>
              <a:t>FP8, lower precision calculations always critical.</a:t>
            </a:r>
            <a:br>
              <a:rPr sz="1800" dirty="0"/>
            </a:br>
            <a:r>
              <a:rPr lang="en-US" sz="2400" b="0" strike="noStrike" spc="-1" dirty="0">
                <a:solidFill>
                  <a:srgbClr val="009999"/>
                </a:solidFill>
                <a:latin typeface="Arial"/>
                <a:ea typeface="Arial"/>
              </a:rPr>
              <a:t>It can speeds up calculations and takes less space.</a:t>
            </a:r>
            <a:endParaRPr lang="en-US" sz="2400" b="0" strike="noStrike" spc="-1" dirty="0">
              <a:solidFill>
                <a:srgbClr val="000000"/>
              </a:solidFill>
              <a:latin typeface="Arial"/>
            </a:endParaRPr>
          </a:p>
          <a:p>
            <a:pPr marL="344520" indent="-285120">
              <a:lnSpc>
                <a:spcPct val="120000"/>
              </a:lnSpc>
              <a:buClr>
                <a:srgbClr val="990000"/>
              </a:buClr>
              <a:buFont typeface="Noto Sans Symbols"/>
              <a:buChar char="●"/>
            </a:pPr>
            <a:r>
              <a:rPr lang="en-US" sz="2400" b="0" strike="noStrike" spc="-1" dirty="0">
                <a:solidFill>
                  <a:srgbClr val="009999"/>
                </a:solidFill>
                <a:latin typeface="Arial"/>
                <a:ea typeface="Arial"/>
              </a:rPr>
              <a:t>Better dynamic range than int8</a:t>
            </a:r>
            <a:endParaRPr lang="en-US" sz="2400" b="0" strike="noStrike" spc="-1" dirty="0">
              <a:solidFill>
                <a:srgbClr val="000000"/>
              </a:solidFill>
              <a:latin typeface="Arial"/>
            </a:endParaRPr>
          </a:p>
          <a:p>
            <a:pPr marL="344520" indent="-285120">
              <a:lnSpc>
                <a:spcPct val="120000"/>
              </a:lnSpc>
              <a:buClr>
                <a:srgbClr val="990000"/>
              </a:buClr>
              <a:buFont typeface="Noto Sans Symbols"/>
              <a:buChar char="●"/>
            </a:pPr>
            <a:r>
              <a:rPr lang="en-US" sz="2400" b="0" strike="noStrike" spc="-1" dirty="0">
                <a:solidFill>
                  <a:srgbClr val="009999"/>
                </a:solidFill>
                <a:latin typeface="Arial"/>
                <a:ea typeface="Arial"/>
              </a:rPr>
              <a:t>e.g.</a:t>
            </a:r>
            <a:endParaRPr lang="en-US" sz="2400" b="0" strike="noStrike" spc="-1" dirty="0">
              <a:solidFill>
                <a:srgbClr val="000000"/>
              </a:solidFill>
              <a:latin typeface="Arial"/>
            </a:endParaRPr>
          </a:p>
        </p:txBody>
      </p:sp>
      <p:sp>
        <p:nvSpPr>
          <p:cNvPr id="692" name="CustomShape 3"/>
          <p:cNvSpPr/>
          <p:nvPr/>
        </p:nvSpPr>
        <p:spPr>
          <a:xfrm>
            <a:off x="1579952" y="4037400"/>
            <a:ext cx="402849" cy="428040"/>
          </a:xfrm>
          <a:prstGeom prst="rect">
            <a:avLst/>
          </a:prstGeom>
          <a:noFill/>
          <a:ln w="9360">
            <a:solidFill>
              <a:srgbClr val="0000FF"/>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rgbClr val="010000"/>
                </a:solidFill>
                <a:latin typeface="Arial"/>
                <a:ea typeface="Arial"/>
              </a:rPr>
              <a:t>s</a:t>
            </a:r>
            <a:endParaRPr lang="en-US" sz="2400" b="0" strike="noStrike" spc="-1">
              <a:solidFill>
                <a:srgbClr val="000000"/>
              </a:solidFill>
              <a:latin typeface="Arial"/>
            </a:endParaRPr>
          </a:p>
        </p:txBody>
      </p:sp>
      <p:sp>
        <p:nvSpPr>
          <p:cNvPr id="693" name="CustomShape 4"/>
          <p:cNvSpPr/>
          <p:nvPr/>
        </p:nvSpPr>
        <p:spPr>
          <a:xfrm>
            <a:off x="1978473" y="4042080"/>
            <a:ext cx="2118800" cy="416880"/>
          </a:xfrm>
          <a:prstGeom prst="rect">
            <a:avLst/>
          </a:prstGeom>
          <a:noFill/>
          <a:ln w="9360">
            <a:solidFill>
              <a:srgbClr val="0000FF"/>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rgbClr val="010000"/>
                </a:solidFill>
                <a:latin typeface="Arial"/>
                <a:ea typeface="Arial"/>
              </a:rPr>
              <a:t>biased exp.</a:t>
            </a:r>
            <a:endParaRPr lang="en-US" sz="2400" b="0" strike="noStrike" spc="-1">
              <a:solidFill>
                <a:srgbClr val="000000"/>
              </a:solidFill>
              <a:latin typeface="Arial"/>
            </a:endParaRPr>
          </a:p>
        </p:txBody>
      </p:sp>
      <p:sp>
        <p:nvSpPr>
          <p:cNvPr id="694" name="CustomShape 5"/>
          <p:cNvSpPr/>
          <p:nvPr/>
        </p:nvSpPr>
        <p:spPr>
          <a:xfrm>
            <a:off x="4016432" y="4037400"/>
            <a:ext cx="2091443" cy="428040"/>
          </a:xfrm>
          <a:prstGeom prst="rect">
            <a:avLst/>
          </a:prstGeom>
          <a:noFill/>
          <a:ln w="9360">
            <a:solidFill>
              <a:srgbClr val="0000FF"/>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rgbClr val="010000"/>
                </a:solidFill>
                <a:latin typeface="Arial"/>
                <a:ea typeface="Arial"/>
              </a:rPr>
              <a:t>fraction</a:t>
            </a:r>
            <a:endParaRPr lang="en-US" sz="2400" b="0" strike="noStrike" spc="-1">
              <a:solidFill>
                <a:srgbClr val="000000"/>
              </a:solidFill>
              <a:latin typeface="Arial"/>
            </a:endParaRPr>
          </a:p>
        </p:txBody>
      </p:sp>
      <p:sp>
        <p:nvSpPr>
          <p:cNvPr id="695" name="CustomShape 6"/>
          <p:cNvSpPr/>
          <p:nvPr/>
        </p:nvSpPr>
        <p:spPr>
          <a:xfrm>
            <a:off x="1635753" y="3650040"/>
            <a:ext cx="333522" cy="38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2000" b="1" strike="noStrike" spc="-1">
                <a:solidFill>
                  <a:srgbClr val="010000"/>
                </a:solidFill>
                <a:latin typeface="Arial"/>
                <a:ea typeface="Arial"/>
              </a:rPr>
              <a:t>1</a:t>
            </a:r>
            <a:endParaRPr lang="en-US" sz="2000" b="0" strike="noStrike" spc="-1">
              <a:solidFill>
                <a:srgbClr val="000000"/>
              </a:solidFill>
              <a:latin typeface="Arial"/>
            </a:endParaRPr>
          </a:p>
        </p:txBody>
      </p:sp>
      <p:sp>
        <p:nvSpPr>
          <p:cNvPr id="696" name="CustomShape 7"/>
          <p:cNvSpPr/>
          <p:nvPr/>
        </p:nvSpPr>
        <p:spPr>
          <a:xfrm>
            <a:off x="2251712" y="3652920"/>
            <a:ext cx="1549939" cy="388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2000" b="1" strike="noStrike" spc="-1">
                <a:solidFill>
                  <a:srgbClr val="010000"/>
                </a:solidFill>
                <a:latin typeface="Arial"/>
                <a:ea typeface="Arial"/>
              </a:rPr>
              <a:t>4 or 5 bits</a:t>
            </a:r>
            <a:endParaRPr lang="en-US" sz="2000" b="0" strike="noStrike" spc="-1">
              <a:solidFill>
                <a:srgbClr val="000000"/>
              </a:solidFill>
              <a:latin typeface="Arial"/>
            </a:endParaRPr>
          </a:p>
        </p:txBody>
      </p:sp>
      <p:sp>
        <p:nvSpPr>
          <p:cNvPr id="697" name="CustomShape 8"/>
          <p:cNvSpPr/>
          <p:nvPr/>
        </p:nvSpPr>
        <p:spPr>
          <a:xfrm>
            <a:off x="4097274" y="3623400"/>
            <a:ext cx="2010601" cy="38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2000" b="1" strike="noStrike" spc="-1" dirty="0">
                <a:solidFill>
                  <a:srgbClr val="010000"/>
                </a:solidFill>
                <a:latin typeface="Arial"/>
                <a:ea typeface="Arial"/>
              </a:rPr>
              <a:t>3 or 2 bits (+1)</a:t>
            </a:r>
            <a:endParaRPr lang="en-US" sz="2000" b="0" strike="noStrike" spc="-1" dirty="0">
              <a:solidFill>
                <a:srgbClr val="000000"/>
              </a:solidFill>
              <a:latin typeface="Arial"/>
            </a:endParaRPr>
          </a:p>
        </p:txBody>
      </p:sp>
      <p:sp>
        <p:nvSpPr>
          <p:cNvPr id="698" name="CustomShape 9"/>
          <p:cNvSpPr/>
          <p:nvPr/>
        </p:nvSpPr>
        <p:spPr>
          <a:xfrm>
            <a:off x="958233" y="4655880"/>
            <a:ext cx="7548458" cy="57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3200" b="0" strike="noStrike" spc="-1">
                <a:solidFill>
                  <a:srgbClr val="010000"/>
                </a:solidFill>
                <a:latin typeface="Arial"/>
                <a:ea typeface="Arial"/>
              </a:rPr>
              <a:t>N = (-1)</a:t>
            </a:r>
            <a:r>
              <a:rPr lang="en-US" sz="3200" b="1" strike="noStrike" spc="-1" baseline="30000">
                <a:solidFill>
                  <a:srgbClr val="010000"/>
                </a:solidFill>
                <a:latin typeface="Arial"/>
                <a:ea typeface="Arial"/>
              </a:rPr>
              <a:t>s</a:t>
            </a:r>
            <a:r>
              <a:rPr lang="en-US" sz="3200" b="0" strike="noStrike" spc="-1">
                <a:solidFill>
                  <a:srgbClr val="010000"/>
                </a:solidFill>
                <a:latin typeface="Arial"/>
                <a:ea typeface="Arial"/>
              </a:rPr>
              <a:t> x 1.</a:t>
            </a:r>
            <a:r>
              <a:rPr lang="en-US" sz="3200" b="1" strike="noStrike" spc="-1">
                <a:solidFill>
                  <a:srgbClr val="010000"/>
                </a:solidFill>
                <a:latin typeface="Arial"/>
                <a:ea typeface="Arial"/>
              </a:rPr>
              <a:t>fraction</a:t>
            </a:r>
            <a:r>
              <a:rPr lang="en-US" sz="3200" b="0" strike="noStrike" spc="-1">
                <a:solidFill>
                  <a:srgbClr val="010000"/>
                </a:solidFill>
                <a:latin typeface="Arial"/>
                <a:ea typeface="Arial"/>
              </a:rPr>
              <a:t> x 2</a:t>
            </a:r>
            <a:r>
              <a:rPr lang="en-US" sz="3200" b="0" strike="noStrike" spc="-1" baseline="30000">
                <a:solidFill>
                  <a:srgbClr val="010000"/>
                </a:solidFill>
                <a:latin typeface="Arial"/>
                <a:ea typeface="Arial"/>
              </a:rPr>
              <a:t>(</a:t>
            </a:r>
            <a:r>
              <a:rPr lang="en-US" sz="3200" b="1" strike="noStrike" spc="-1" baseline="30000">
                <a:solidFill>
                  <a:srgbClr val="010000"/>
                </a:solidFill>
                <a:latin typeface="Arial"/>
                <a:ea typeface="Arial"/>
              </a:rPr>
              <a:t>biased exp.</a:t>
            </a:r>
            <a:r>
              <a:rPr lang="en-US" sz="3200" b="0" strike="noStrike" spc="-1" baseline="30000">
                <a:solidFill>
                  <a:srgbClr val="010000"/>
                </a:solidFill>
                <a:latin typeface="Arial"/>
                <a:ea typeface="Arial"/>
              </a:rPr>
              <a:t> – (7 or 15)</a:t>
            </a:r>
            <a:endParaRPr lang="en-US" sz="3200" b="0" strike="noStrike" spc="-1">
              <a:solidFill>
                <a:srgbClr val="000000"/>
              </a:solidFill>
              <a:latin typeface="Arial"/>
            </a:endParaRPr>
          </a:p>
        </p:txBody>
      </p:sp>
      <p:sp>
        <p:nvSpPr>
          <p:cNvPr id="699" name="CustomShape 10"/>
          <p:cNvSpPr/>
          <p:nvPr/>
        </p:nvSpPr>
        <p:spPr>
          <a:xfrm>
            <a:off x="424353" y="3627720"/>
            <a:ext cx="1120108" cy="391680"/>
          </a:xfrm>
          <a:prstGeom prst="rect">
            <a:avLst/>
          </a:prstGeom>
          <a:noFill/>
          <a:ln w="0">
            <a:noFill/>
          </a:ln>
        </p:spPr>
        <p:style>
          <a:lnRef idx="0">
            <a:scrgbClr r="0" g="0" b="0"/>
          </a:lnRef>
          <a:fillRef idx="0">
            <a:scrgbClr r="0" g="0" b="0"/>
          </a:fillRef>
          <a:effectRef idx="0">
            <a:scrgbClr r="0" g="0" b="0"/>
          </a:effectRef>
          <a:fontRef idx="minor"/>
        </p:style>
        <p:txBody>
          <a:bodyPr lIns="92160" tIns="46080" rIns="92160" bIns="46080" anchor="ctr">
            <a:noAutofit/>
          </a:bodyPr>
          <a:lstStyle/>
          <a:p>
            <a:pPr algn="ctr">
              <a:lnSpc>
                <a:spcPct val="100000"/>
              </a:lnSpc>
              <a:tabLst>
                <a:tab pos="0" algn="l"/>
              </a:tabLst>
            </a:pPr>
            <a:r>
              <a:rPr lang="en-US" sz="2000" b="1" strike="noStrike" spc="-1">
                <a:solidFill>
                  <a:srgbClr val="010000"/>
                </a:solidFill>
                <a:latin typeface="Arial"/>
                <a:ea typeface="Arial"/>
              </a:rPr>
              <a:t>8 bits:</a:t>
            </a:r>
            <a:endParaRPr lang="en-US" sz="2000" b="0" strike="noStrike" spc="-1">
              <a:solidFill>
                <a:srgbClr val="000000"/>
              </a:solidFill>
              <a:latin typeface="Arial"/>
            </a:endParaRPr>
          </a:p>
        </p:txBody>
      </p:sp>
      <p:sp>
        <p:nvSpPr>
          <p:cNvPr id="700" name="CustomShape 11"/>
          <p:cNvSpPr/>
          <p:nvPr/>
        </p:nvSpPr>
        <p:spPr>
          <a:xfrm>
            <a:off x="683640" y="6314040"/>
            <a:ext cx="7882560" cy="402480"/>
          </a:xfrm>
          <a:prstGeom prst="rect">
            <a:avLst/>
          </a:prstGeom>
          <a:noFill/>
          <a:ln w="73080">
            <a:noFill/>
          </a:ln>
        </p:spPr>
        <p:style>
          <a:lnRef idx="0">
            <a:scrgbClr r="0" g="0" b="0"/>
          </a:lnRef>
          <a:fillRef idx="0">
            <a:scrgbClr r="0" g="0" b="0"/>
          </a:fillRef>
          <a:effectRef idx="0">
            <a:scrgbClr r="0" g="0" b="0"/>
          </a:effectRef>
          <a:fontRef idx="minor"/>
        </p:style>
        <p:txBody>
          <a:bodyPr lIns="126360" tIns="81360" rIns="126360" bIns="81360" anchor="t">
            <a:noAutofit/>
          </a:bodyPr>
          <a:lstStyle/>
          <a:p>
            <a:pPr>
              <a:lnSpc>
                <a:spcPct val="100000"/>
              </a:lnSpc>
            </a:pPr>
            <a:r>
              <a:rPr lang="en-US" sz="1100" b="0" strike="noStrike" spc="-1" dirty="0">
                <a:solidFill>
                  <a:srgbClr val="000000"/>
                </a:solidFill>
                <a:latin typeface="Arial"/>
                <a:ea typeface="DejaVu Sans"/>
              </a:rPr>
              <a:t>Source: https://moocaholic.medium.com/fp64-fp32-fp16-bfloat16-tf32-and-other-members-of-the-zoo-a1ca7897d407</a:t>
            </a:r>
            <a:endParaRPr lang="en-US" sz="1100" b="0" strike="noStrike" spc="-1" dirty="0">
              <a:solidFill>
                <a:srgbClr val="000000"/>
              </a:solidFill>
              <a:latin typeface="Arial"/>
            </a:endParaRPr>
          </a:p>
        </p:txBody>
      </p:sp>
      <p:sp>
        <p:nvSpPr>
          <p:cNvPr id="701" name="CustomShape 12"/>
          <p:cNvSpPr/>
          <p:nvPr/>
        </p:nvSpPr>
        <p:spPr>
          <a:xfrm>
            <a:off x="491673" y="5307480"/>
            <a:ext cx="8542278" cy="671040"/>
          </a:xfrm>
          <a:prstGeom prst="rect">
            <a:avLst/>
          </a:prstGeom>
          <a:noFill/>
          <a:ln w="73080">
            <a:noFill/>
          </a:ln>
        </p:spPr>
        <p:style>
          <a:lnRef idx="0">
            <a:scrgbClr r="0" g="0" b="0"/>
          </a:lnRef>
          <a:fillRef idx="0">
            <a:scrgbClr r="0" g="0" b="0"/>
          </a:fillRef>
          <a:effectRef idx="0">
            <a:scrgbClr r="0" g="0" b="0"/>
          </a:effectRef>
          <a:fontRef idx="minor"/>
        </p:style>
        <p:txBody>
          <a:bodyPr lIns="126360" tIns="81360" rIns="126360" bIns="81360" anchor="t">
            <a:noAutofit/>
          </a:bodyPr>
          <a:lstStyle/>
          <a:p>
            <a:pPr>
              <a:lnSpc>
                <a:spcPct val="100000"/>
              </a:lnSpc>
            </a:pPr>
            <a:endParaRPr lang="en-US" sz="1800" b="0" strike="noStrike" spc="-1">
              <a:solidFill>
                <a:srgbClr val="000000"/>
              </a:solidFill>
              <a:latin typeface="Arial"/>
            </a:endParaRPr>
          </a:p>
          <a:p>
            <a:pPr>
              <a:lnSpc>
                <a:spcPct val="100000"/>
              </a:lnSpc>
            </a:pPr>
            <a:r>
              <a:rPr lang="en-US" sz="1800" b="0" strike="noStrike" spc="-1">
                <a:solidFill>
                  <a:srgbClr val="000000"/>
                </a:solidFill>
                <a:latin typeface="Arial"/>
                <a:ea typeface="DejaVu Sans"/>
              </a:rPr>
              <a:t>Supported by very modern NVIDIA GPUs</a:t>
            </a:r>
            <a:endParaRPr lang="en-US" sz="1800" b="0" strike="noStrike" spc="-1">
              <a:solidFill>
                <a:srgbClr val="000000"/>
              </a:solidFill>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 name="CustomShape 1"/>
          <p:cNvSpPr/>
          <p:nvPr/>
        </p:nvSpPr>
        <p:spPr>
          <a:xfrm>
            <a:off x="0" y="0"/>
            <a:ext cx="9138960" cy="66276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3200" b="1" strike="noStrike" spc="-1">
                <a:solidFill>
                  <a:srgbClr val="336699"/>
                </a:solidFill>
                <a:latin typeface="Arial Narrow"/>
                <a:ea typeface="Arial Narrow"/>
              </a:rPr>
              <a:t>                 Details of FP8 Binary Formats: </a:t>
            </a:r>
            <a:endParaRPr lang="en-US" sz="3200" b="0" strike="noStrike" spc="-1">
              <a:solidFill>
                <a:srgbClr val="000000"/>
              </a:solidFill>
              <a:latin typeface="Arial"/>
            </a:endParaRPr>
          </a:p>
        </p:txBody>
      </p:sp>
      <p:sp>
        <p:nvSpPr>
          <p:cNvPr id="703" name="CustomShape 2"/>
          <p:cNvSpPr/>
          <p:nvPr/>
        </p:nvSpPr>
        <p:spPr>
          <a:xfrm>
            <a:off x="683640" y="6314040"/>
            <a:ext cx="7882560" cy="402480"/>
          </a:xfrm>
          <a:prstGeom prst="rect">
            <a:avLst/>
          </a:prstGeom>
          <a:noFill/>
          <a:ln w="7308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
        <p:nvSpPr>
          <p:cNvPr id="704" name="CustomShape 3"/>
          <p:cNvSpPr/>
          <p:nvPr/>
        </p:nvSpPr>
        <p:spPr>
          <a:xfrm>
            <a:off x="822960" y="5822640"/>
            <a:ext cx="6581160" cy="599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800" b="0" strike="noStrike" spc="-1">
                <a:solidFill>
                  <a:srgbClr val="000000"/>
                </a:solidFill>
                <a:latin typeface="Arial"/>
                <a:ea typeface="DejaVu Sans"/>
              </a:rPr>
              <a:t>Source: </a:t>
            </a:r>
            <a:r>
              <a:rPr lang="en-US" sz="1800" b="0" u="sng" strike="noStrike" spc="-1">
                <a:solidFill>
                  <a:srgbClr val="FF9966"/>
                </a:solidFill>
                <a:uFillTx/>
                <a:latin typeface="Arial"/>
                <a:ea typeface="DejaVu Sans"/>
                <a:hlinkClick r:id="rId2"/>
              </a:rPr>
              <a:t>https://ar5iv.labs.arxiv.org/html/2209.05433</a:t>
            </a:r>
            <a:endParaRPr lang="en-US" sz="1800" b="0" strike="noStrike" spc="-1">
              <a:solidFill>
                <a:srgbClr val="000000"/>
              </a:solidFill>
              <a:latin typeface="Arial"/>
            </a:endParaRPr>
          </a:p>
          <a:p>
            <a:pPr>
              <a:lnSpc>
                <a:spcPct val="100000"/>
              </a:lnSpc>
            </a:pPr>
            <a:r>
              <a:rPr lang="en-US" sz="1800" b="0" strike="noStrike" spc="-1">
                <a:solidFill>
                  <a:srgbClr val="FF9966"/>
                </a:solidFill>
                <a:latin typeface="Arial"/>
                <a:ea typeface="DejaVu Sans"/>
              </a:rPr>
              <a:t>             FP8 Formats for Deep Learning</a:t>
            </a:r>
            <a:endParaRPr lang="en-US" sz="1800" b="0" strike="noStrike" spc="-1">
              <a:solidFill>
                <a:srgbClr val="000000"/>
              </a:solidFill>
              <a:latin typeface="Arial"/>
            </a:endParaRPr>
          </a:p>
        </p:txBody>
      </p:sp>
      <p:graphicFrame>
        <p:nvGraphicFramePr>
          <p:cNvPr id="705" name="Table 4"/>
          <p:cNvGraphicFramePr/>
          <p:nvPr/>
        </p:nvGraphicFramePr>
        <p:xfrm>
          <a:off x="378360" y="1616040"/>
          <a:ext cx="8383320" cy="3291840"/>
        </p:xfrm>
        <a:graphic>
          <a:graphicData uri="http://schemas.openxmlformats.org/drawingml/2006/table">
            <a:tbl>
              <a:tblPr/>
              <a:tblGrid>
                <a:gridCol w="1996920">
                  <a:extLst>
                    <a:ext uri="{9D8B030D-6E8A-4147-A177-3AD203B41FA5}">
                      <a16:colId xmlns:a16="http://schemas.microsoft.com/office/drawing/2014/main" val="20000"/>
                    </a:ext>
                  </a:extLst>
                </a:gridCol>
                <a:gridCol w="3101400">
                  <a:extLst>
                    <a:ext uri="{9D8B030D-6E8A-4147-A177-3AD203B41FA5}">
                      <a16:colId xmlns:a16="http://schemas.microsoft.com/office/drawing/2014/main" val="20001"/>
                    </a:ext>
                  </a:extLst>
                </a:gridCol>
                <a:gridCol w="3285000">
                  <a:extLst>
                    <a:ext uri="{9D8B030D-6E8A-4147-A177-3AD203B41FA5}">
                      <a16:colId xmlns:a16="http://schemas.microsoft.com/office/drawing/2014/main" val="20002"/>
                    </a:ext>
                  </a:extLst>
                </a:gridCol>
              </a:tblGrid>
              <a:tr h="349920">
                <a:tc>
                  <a:txBody>
                    <a:bodyPr/>
                    <a:lstStyle/>
                    <a:p>
                      <a:endParaRPr lang="en-US" sz="1800" b="0" strike="noStrike" spc="-1">
                        <a:solidFill>
                          <a:srgbClr val="000000"/>
                        </a:solidFill>
                        <a:latin typeface="Arial"/>
                      </a:endParaRP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a:lstStyle/>
                    <a:p>
                      <a:pPr>
                        <a:lnSpc>
                          <a:spcPct val="100000"/>
                        </a:lnSpc>
                      </a:pPr>
                      <a:r>
                        <a:rPr lang="en-US" sz="1800" b="0" strike="noStrike" spc="-1">
                          <a:solidFill>
                            <a:srgbClr val="000000"/>
                          </a:solidFill>
                          <a:latin typeface="Arial"/>
                        </a:rPr>
                        <a:t>E4M3</a:t>
                      </a: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a:lstStyle/>
                    <a:p>
                      <a:pPr>
                        <a:lnSpc>
                          <a:spcPct val="100000"/>
                        </a:lnSpc>
                      </a:pPr>
                      <a:r>
                        <a:rPr lang="en-US" sz="1800" b="0" strike="noStrike" spc="-1">
                          <a:solidFill>
                            <a:srgbClr val="000000"/>
                          </a:solidFill>
                          <a:latin typeface="Arial"/>
                        </a:rPr>
                        <a:t>E5M2</a:t>
                      </a: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extLst>
                  <a:ext uri="{0D108BD9-81ED-4DB2-BD59-A6C34878D82A}">
                    <a16:rowId xmlns:a16="http://schemas.microsoft.com/office/drawing/2014/main" val="10000"/>
                  </a:ext>
                </a:extLst>
              </a:tr>
              <a:tr h="349920">
                <a:tc>
                  <a:txBody>
                    <a:bodyPr/>
                    <a:lstStyle/>
                    <a:p>
                      <a:pPr>
                        <a:lnSpc>
                          <a:spcPct val="100000"/>
                        </a:lnSpc>
                      </a:pPr>
                      <a:r>
                        <a:rPr lang="en-US" sz="1800" b="0" strike="noStrike" spc="-1">
                          <a:solidFill>
                            <a:srgbClr val="000000"/>
                          </a:solidFill>
                          <a:latin typeface="Arial"/>
                        </a:rPr>
                        <a:t>Exponent Bias</a:t>
                      </a: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a:lstStyle/>
                    <a:p>
                      <a:pPr>
                        <a:lnSpc>
                          <a:spcPct val="100000"/>
                        </a:lnSpc>
                      </a:pPr>
                      <a:r>
                        <a:rPr lang="en-US" sz="1800" b="0" strike="noStrike" spc="-1">
                          <a:solidFill>
                            <a:srgbClr val="000000"/>
                          </a:solidFill>
                          <a:latin typeface="Arial"/>
                        </a:rPr>
                        <a:t>7</a:t>
                      </a: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a:lstStyle/>
                    <a:p>
                      <a:pPr>
                        <a:lnSpc>
                          <a:spcPct val="100000"/>
                        </a:lnSpc>
                      </a:pPr>
                      <a:r>
                        <a:rPr lang="en-US" sz="1800" b="0" strike="noStrike" spc="-1">
                          <a:solidFill>
                            <a:srgbClr val="000000"/>
                          </a:solidFill>
                          <a:latin typeface="Arial"/>
                        </a:rPr>
                        <a:t>15</a:t>
                      </a: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extLst>
                  <a:ext uri="{0D108BD9-81ED-4DB2-BD59-A6C34878D82A}">
                    <a16:rowId xmlns:a16="http://schemas.microsoft.com/office/drawing/2014/main" val="10001"/>
                  </a:ext>
                </a:extLst>
              </a:tr>
              <a:tr h="349920">
                <a:tc>
                  <a:txBody>
                    <a:bodyPr/>
                    <a:lstStyle/>
                    <a:p>
                      <a:pPr>
                        <a:lnSpc>
                          <a:spcPct val="100000"/>
                        </a:lnSpc>
                      </a:pPr>
                      <a:r>
                        <a:rPr lang="en-US" sz="1800" b="0" strike="noStrike" spc="-1">
                          <a:solidFill>
                            <a:srgbClr val="000000"/>
                          </a:solidFill>
                          <a:latin typeface="Arial"/>
                        </a:rPr>
                        <a:t>Infinities</a:t>
                      </a: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a:lstStyle/>
                    <a:p>
                      <a:pPr>
                        <a:lnSpc>
                          <a:spcPct val="100000"/>
                        </a:lnSpc>
                      </a:pPr>
                      <a:r>
                        <a:rPr lang="en-US" sz="1800" b="0" strike="noStrike" spc="-1">
                          <a:solidFill>
                            <a:srgbClr val="000000"/>
                          </a:solidFill>
                          <a:latin typeface="Arial"/>
                        </a:rPr>
                        <a:t>N/A</a:t>
                      </a: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a:lstStyle/>
                    <a:p>
                      <a:pPr>
                        <a:lnSpc>
                          <a:spcPct val="100000"/>
                        </a:lnSpc>
                      </a:pPr>
                      <a:r>
                        <a:rPr lang="en-US" sz="1800" b="0" strike="noStrike" spc="-1">
                          <a:solidFill>
                            <a:srgbClr val="000000"/>
                          </a:solidFill>
                          <a:latin typeface="Arial"/>
                        </a:rPr>
                        <a:t>S11111.00</a:t>
                      </a: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extLst>
                  <a:ext uri="{0D108BD9-81ED-4DB2-BD59-A6C34878D82A}">
                    <a16:rowId xmlns:a16="http://schemas.microsoft.com/office/drawing/2014/main" val="10002"/>
                  </a:ext>
                </a:extLst>
              </a:tr>
              <a:tr h="349920">
                <a:tc>
                  <a:txBody>
                    <a:bodyPr/>
                    <a:lstStyle/>
                    <a:p>
                      <a:pPr>
                        <a:lnSpc>
                          <a:spcPct val="100000"/>
                        </a:lnSpc>
                      </a:pPr>
                      <a:r>
                        <a:rPr lang="en-US" sz="1800" b="0" strike="noStrike" spc="-1">
                          <a:solidFill>
                            <a:srgbClr val="000000"/>
                          </a:solidFill>
                          <a:latin typeface="Arial"/>
                        </a:rPr>
                        <a:t>NaN</a:t>
                      </a: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a:lstStyle/>
                    <a:p>
                      <a:pPr>
                        <a:lnSpc>
                          <a:spcPct val="100000"/>
                        </a:lnSpc>
                      </a:pPr>
                      <a:r>
                        <a:rPr lang="en-US" sz="1800" b="0" strike="noStrike" spc="-1">
                          <a:solidFill>
                            <a:srgbClr val="000000"/>
                          </a:solidFill>
                          <a:latin typeface="Arial"/>
                        </a:rPr>
                        <a:t>S1111.111</a:t>
                      </a: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a:lstStyle/>
                    <a:p>
                      <a:pPr>
                        <a:lnSpc>
                          <a:spcPct val="100000"/>
                        </a:lnSpc>
                      </a:pPr>
                      <a:r>
                        <a:rPr lang="en-US" sz="1800" b="0" strike="noStrike" spc="-1">
                          <a:solidFill>
                            <a:srgbClr val="000000"/>
                          </a:solidFill>
                          <a:latin typeface="Arial"/>
                        </a:rPr>
                        <a:t>S11111.[01,10,11]</a:t>
                      </a: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extLst>
                  <a:ext uri="{0D108BD9-81ED-4DB2-BD59-A6C34878D82A}">
                    <a16:rowId xmlns:a16="http://schemas.microsoft.com/office/drawing/2014/main" val="10003"/>
                  </a:ext>
                </a:extLst>
              </a:tr>
              <a:tr h="349920">
                <a:tc>
                  <a:txBody>
                    <a:bodyPr/>
                    <a:lstStyle/>
                    <a:p>
                      <a:pPr>
                        <a:lnSpc>
                          <a:spcPct val="100000"/>
                        </a:lnSpc>
                      </a:pPr>
                      <a:r>
                        <a:rPr lang="en-US" sz="1800" b="0" strike="noStrike" spc="-1">
                          <a:solidFill>
                            <a:srgbClr val="000000"/>
                          </a:solidFill>
                          <a:latin typeface="Arial"/>
                        </a:rPr>
                        <a:t>Zeros</a:t>
                      </a: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a:lstStyle/>
                    <a:p>
                      <a:pPr>
                        <a:lnSpc>
                          <a:spcPct val="100000"/>
                        </a:lnSpc>
                      </a:pPr>
                      <a:r>
                        <a:rPr lang="en-US" sz="1800" b="0" strike="noStrike" spc="-1">
                          <a:solidFill>
                            <a:srgbClr val="000000"/>
                          </a:solidFill>
                          <a:latin typeface="Arial"/>
                        </a:rPr>
                        <a:t>S0000.000</a:t>
                      </a: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a:lstStyle/>
                    <a:p>
                      <a:pPr>
                        <a:lnSpc>
                          <a:spcPct val="100000"/>
                        </a:lnSpc>
                      </a:pPr>
                      <a:r>
                        <a:rPr lang="en-US" sz="1800" b="0" strike="noStrike" spc="-1">
                          <a:solidFill>
                            <a:srgbClr val="000000"/>
                          </a:solidFill>
                          <a:latin typeface="Arial"/>
                        </a:rPr>
                        <a:t>S00000.00</a:t>
                      </a: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extLst>
                  <a:ext uri="{0D108BD9-81ED-4DB2-BD59-A6C34878D82A}">
                    <a16:rowId xmlns:a16="http://schemas.microsoft.com/office/drawing/2014/main" val="10004"/>
                  </a:ext>
                </a:extLst>
              </a:tr>
              <a:tr h="349920">
                <a:tc>
                  <a:txBody>
                    <a:bodyPr/>
                    <a:lstStyle/>
                    <a:p>
                      <a:pPr>
                        <a:lnSpc>
                          <a:spcPct val="100000"/>
                        </a:lnSpc>
                      </a:pPr>
                      <a:r>
                        <a:rPr lang="en-US" sz="1800" b="0" strike="noStrike" spc="-1">
                          <a:solidFill>
                            <a:srgbClr val="000000"/>
                          </a:solidFill>
                          <a:latin typeface="Arial"/>
                        </a:rPr>
                        <a:t>Max Normal</a:t>
                      </a: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a:lstStyle/>
                    <a:p>
                      <a:pPr>
                        <a:lnSpc>
                          <a:spcPct val="100000"/>
                        </a:lnSpc>
                      </a:pPr>
                      <a:r>
                        <a:rPr lang="en-US" sz="1800" b="0" strike="noStrike" spc="-1">
                          <a:solidFill>
                            <a:srgbClr val="000000"/>
                          </a:solidFill>
                          <a:latin typeface="Arial"/>
                        </a:rPr>
                        <a:t>S0000.111 = 1.75*2</a:t>
                      </a:r>
                      <a:r>
                        <a:rPr lang="en-US" sz="1800" b="0" strike="noStrike" spc="-1" baseline="33000">
                          <a:solidFill>
                            <a:srgbClr val="000000"/>
                          </a:solidFill>
                          <a:latin typeface="Arial"/>
                        </a:rPr>
                        <a:t>-6</a:t>
                      </a:r>
                      <a:r>
                        <a:rPr lang="en-US" sz="1800" b="0" strike="noStrike" spc="-1">
                          <a:solidFill>
                            <a:srgbClr val="000000"/>
                          </a:solidFill>
                          <a:latin typeface="Arial"/>
                        </a:rPr>
                        <a:t>=448</a:t>
                      </a: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a:lstStyle/>
                    <a:p>
                      <a:pPr>
                        <a:lnSpc>
                          <a:spcPct val="100000"/>
                        </a:lnSpc>
                      </a:pPr>
                      <a:r>
                        <a:rPr lang="en-US" sz="1800" b="0" strike="noStrike" spc="-1">
                          <a:solidFill>
                            <a:srgbClr val="000000"/>
                          </a:solidFill>
                          <a:latin typeface="Arial"/>
                        </a:rPr>
                        <a:t>S11110.11 = 1.75*2</a:t>
                      </a:r>
                      <a:r>
                        <a:rPr lang="en-US" sz="1800" b="0" strike="noStrike" spc="-1" baseline="33000">
                          <a:solidFill>
                            <a:srgbClr val="000000"/>
                          </a:solidFill>
                          <a:latin typeface="Arial"/>
                        </a:rPr>
                        <a:t>-15</a:t>
                      </a:r>
                      <a:r>
                        <a:rPr lang="en-US" sz="1800" b="0" strike="noStrike" spc="-1">
                          <a:solidFill>
                            <a:srgbClr val="000000"/>
                          </a:solidFill>
                          <a:latin typeface="Arial"/>
                        </a:rPr>
                        <a:t>=57,344</a:t>
                      </a: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extLst>
                  <a:ext uri="{0D108BD9-81ED-4DB2-BD59-A6C34878D82A}">
                    <a16:rowId xmlns:a16="http://schemas.microsoft.com/office/drawing/2014/main" val="10005"/>
                  </a:ext>
                </a:extLst>
              </a:tr>
              <a:tr h="349920">
                <a:tc>
                  <a:txBody>
                    <a:bodyPr/>
                    <a:lstStyle/>
                    <a:p>
                      <a:pPr>
                        <a:lnSpc>
                          <a:spcPct val="100000"/>
                        </a:lnSpc>
                      </a:pPr>
                      <a:r>
                        <a:rPr lang="en-US" sz="1800" b="0" strike="noStrike" spc="-1">
                          <a:solidFill>
                            <a:srgbClr val="000000"/>
                          </a:solidFill>
                          <a:latin typeface="Arial"/>
                        </a:rPr>
                        <a:t>Min Normal</a:t>
                      </a: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a:lstStyle/>
                    <a:p>
                      <a:pPr>
                        <a:lnSpc>
                          <a:spcPct val="100000"/>
                        </a:lnSpc>
                      </a:pPr>
                      <a:r>
                        <a:rPr lang="en-US" sz="1800" b="0" strike="noStrike" spc="-1">
                          <a:solidFill>
                            <a:srgbClr val="000000"/>
                          </a:solidFill>
                          <a:latin typeface="Arial"/>
                        </a:rPr>
                        <a:t>S0001.000 = 2</a:t>
                      </a:r>
                      <a:r>
                        <a:rPr lang="en-US" sz="1800" b="0" strike="noStrike" spc="-1" baseline="33000">
                          <a:solidFill>
                            <a:srgbClr val="000000"/>
                          </a:solidFill>
                          <a:latin typeface="Arial"/>
                        </a:rPr>
                        <a:t>-6</a:t>
                      </a:r>
                      <a:endParaRPr lang="en-US" sz="1800" b="0" strike="noStrike" spc="-1">
                        <a:solidFill>
                          <a:srgbClr val="000000"/>
                        </a:solidFill>
                        <a:latin typeface="Arial"/>
                      </a:endParaRP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a:lstStyle/>
                    <a:p>
                      <a:pPr>
                        <a:lnSpc>
                          <a:spcPct val="100000"/>
                        </a:lnSpc>
                      </a:pPr>
                      <a:r>
                        <a:rPr lang="en-US" sz="1800" b="0" strike="noStrike" spc="-1">
                          <a:solidFill>
                            <a:srgbClr val="000000"/>
                          </a:solidFill>
                          <a:latin typeface="Arial"/>
                        </a:rPr>
                        <a:t>S00001.00 = 2</a:t>
                      </a:r>
                      <a:r>
                        <a:rPr lang="en-US" sz="1800" b="0" strike="noStrike" spc="-1" baseline="33000">
                          <a:solidFill>
                            <a:srgbClr val="000000"/>
                          </a:solidFill>
                          <a:latin typeface="Arial"/>
                        </a:rPr>
                        <a:t>−14</a:t>
                      </a:r>
                      <a:endParaRPr lang="en-US" sz="1800" b="0" strike="noStrike" spc="-1">
                        <a:solidFill>
                          <a:srgbClr val="000000"/>
                        </a:solidFill>
                        <a:latin typeface="Arial"/>
                      </a:endParaRP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extLst>
                  <a:ext uri="{0D108BD9-81ED-4DB2-BD59-A6C34878D82A}">
                    <a16:rowId xmlns:a16="http://schemas.microsoft.com/office/drawing/2014/main" val="10006"/>
                  </a:ext>
                </a:extLst>
              </a:tr>
              <a:tr h="349920">
                <a:tc>
                  <a:txBody>
                    <a:bodyPr/>
                    <a:lstStyle/>
                    <a:p>
                      <a:pPr>
                        <a:lnSpc>
                          <a:spcPct val="100000"/>
                        </a:lnSpc>
                      </a:pPr>
                      <a:r>
                        <a:rPr lang="en-US" sz="1800" b="0" strike="noStrike" spc="-1">
                          <a:solidFill>
                            <a:srgbClr val="000000"/>
                          </a:solidFill>
                          <a:latin typeface="Arial"/>
                        </a:rPr>
                        <a:t>Max subnorm</a:t>
                      </a: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a:lstStyle/>
                    <a:p>
                      <a:pPr>
                        <a:lnSpc>
                          <a:spcPct val="100000"/>
                        </a:lnSpc>
                      </a:pPr>
                      <a:r>
                        <a:rPr lang="en-US" sz="1800" b="0" strike="noStrike" spc="-1">
                          <a:solidFill>
                            <a:srgbClr val="000000"/>
                          </a:solidFill>
                          <a:latin typeface="Arial"/>
                        </a:rPr>
                        <a:t>S0000.111 = 0.875*2</a:t>
                      </a:r>
                      <a:r>
                        <a:rPr lang="en-US" sz="1800" b="0" strike="noStrike" spc="-1" baseline="33000">
                          <a:solidFill>
                            <a:srgbClr val="000000"/>
                          </a:solidFill>
                          <a:latin typeface="Arial"/>
                        </a:rPr>
                        <a:t>-6</a:t>
                      </a:r>
                      <a:endParaRPr lang="en-US" sz="1800" b="0" strike="noStrike" spc="-1">
                        <a:solidFill>
                          <a:srgbClr val="000000"/>
                        </a:solidFill>
                        <a:latin typeface="Arial"/>
                      </a:endParaRP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a:lstStyle/>
                    <a:p>
                      <a:pPr>
                        <a:lnSpc>
                          <a:spcPct val="100000"/>
                        </a:lnSpc>
                      </a:pPr>
                      <a:r>
                        <a:rPr lang="en-US" sz="1800" b="0" strike="noStrike" spc="-1">
                          <a:solidFill>
                            <a:srgbClr val="000000"/>
                          </a:solidFill>
                          <a:latin typeface="Arial"/>
                        </a:rPr>
                        <a:t>S00000.11 = 0.75*2</a:t>
                      </a:r>
                      <a:r>
                        <a:rPr lang="en-US" sz="1800" b="0" strike="noStrike" spc="-1" baseline="33000">
                          <a:solidFill>
                            <a:srgbClr val="000000"/>
                          </a:solidFill>
                          <a:latin typeface="Arial"/>
                        </a:rPr>
                        <a:t>-14</a:t>
                      </a:r>
                      <a:endParaRPr lang="en-US" sz="1800" b="0" strike="noStrike" spc="-1">
                        <a:solidFill>
                          <a:srgbClr val="000000"/>
                        </a:solidFill>
                        <a:latin typeface="Arial"/>
                      </a:endParaRP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extLst>
                  <a:ext uri="{0D108BD9-81ED-4DB2-BD59-A6C34878D82A}">
                    <a16:rowId xmlns:a16="http://schemas.microsoft.com/office/drawing/2014/main" val="10007"/>
                  </a:ext>
                </a:extLst>
              </a:tr>
              <a:tr h="349920">
                <a:tc>
                  <a:txBody>
                    <a:bodyPr/>
                    <a:lstStyle/>
                    <a:p>
                      <a:pPr>
                        <a:lnSpc>
                          <a:spcPct val="100000"/>
                        </a:lnSpc>
                      </a:pPr>
                      <a:r>
                        <a:rPr lang="en-US" sz="1800" b="0" strike="noStrike" spc="-1">
                          <a:solidFill>
                            <a:srgbClr val="000000"/>
                          </a:solidFill>
                          <a:latin typeface="Arial"/>
                        </a:rPr>
                        <a:t>Min subnorm</a:t>
                      </a: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a:lstStyle/>
                    <a:p>
                      <a:pPr>
                        <a:lnSpc>
                          <a:spcPct val="100000"/>
                        </a:lnSpc>
                      </a:pPr>
                      <a:r>
                        <a:rPr lang="en-US" sz="1800" b="0" strike="noStrike" spc="-1">
                          <a:solidFill>
                            <a:srgbClr val="000000"/>
                          </a:solidFill>
                          <a:latin typeface="Arial"/>
                        </a:rPr>
                        <a:t>S0000.001 = 2</a:t>
                      </a:r>
                      <a:r>
                        <a:rPr lang="en-US" sz="1800" b="0" strike="noStrike" spc="-1" baseline="33000">
                          <a:solidFill>
                            <a:srgbClr val="000000"/>
                          </a:solidFill>
                          <a:latin typeface="Arial"/>
                        </a:rPr>
                        <a:t>-9</a:t>
                      </a:r>
                      <a:endParaRPr lang="en-US" sz="1800" b="0" strike="noStrike" spc="-1">
                        <a:solidFill>
                          <a:srgbClr val="000000"/>
                        </a:solidFill>
                        <a:latin typeface="Arial"/>
                      </a:endParaRP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a:lstStyle/>
                    <a:p>
                      <a:pPr>
                        <a:lnSpc>
                          <a:spcPct val="100000"/>
                        </a:lnSpc>
                      </a:pPr>
                      <a:r>
                        <a:rPr lang="en-US" sz="1800" b="0" strike="noStrike" spc="-1">
                          <a:solidFill>
                            <a:srgbClr val="000000"/>
                          </a:solidFill>
                          <a:latin typeface="Arial"/>
                        </a:rPr>
                        <a:t>S00000.01 = 2</a:t>
                      </a:r>
                      <a:r>
                        <a:rPr lang="en-US" sz="1800" b="0" strike="noStrike" spc="-1" baseline="33000">
                          <a:solidFill>
                            <a:srgbClr val="000000"/>
                          </a:solidFill>
                          <a:latin typeface="Arial"/>
                        </a:rPr>
                        <a:t>-16</a:t>
                      </a:r>
                      <a:endParaRPr lang="en-US" sz="1800" b="0" strike="noStrike" spc="-1">
                        <a:solidFill>
                          <a:srgbClr val="000000"/>
                        </a:solidFill>
                        <a:latin typeface="Arial"/>
                      </a:endParaRPr>
                    </a:p>
                  </a:txBody>
                  <a:tcPr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 name="CustomShape 1"/>
          <p:cNvSpPr/>
          <p:nvPr/>
        </p:nvSpPr>
        <p:spPr>
          <a:xfrm>
            <a:off x="0" y="0"/>
            <a:ext cx="9138960" cy="662760"/>
          </a:xfrm>
          <a:prstGeom prst="rect">
            <a:avLst/>
          </a:prstGeom>
          <a:noFill/>
          <a:ln w="0">
            <a:noFill/>
          </a:ln>
        </p:spPr>
        <p:style>
          <a:lnRef idx="0">
            <a:scrgbClr r="0" g="0" b="0"/>
          </a:lnRef>
          <a:fillRef idx="0">
            <a:scrgbClr r="0" g="0" b="0"/>
          </a:fillRef>
          <a:effectRef idx="0">
            <a:scrgbClr r="0" g="0" b="0"/>
          </a:effectRef>
          <a:fontRef idx="minor"/>
        </p:style>
        <p:txBody>
          <a:bodyPr lIns="182880" tIns="46080" rIns="182880" bIns="46080" anchor="b">
            <a:noAutofit/>
          </a:bodyPr>
          <a:lstStyle/>
          <a:p>
            <a:pPr>
              <a:lnSpc>
                <a:spcPct val="70000"/>
              </a:lnSpc>
              <a:tabLst>
                <a:tab pos="0" algn="l"/>
              </a:tabLst>
            </a:pPr>
            <a:r>
              <a:rPr lang="en-US" sz="3200" b="1" strike="noStrike" spc="-1">
                <a:solidFill>
                  <a:srgbClr val="336699"/>
                </a:solidFill>
                <a:latin typeface="Arial Narrow"/>
                <a:ea typeface="Arial Narrow"/>
              </a:rPr>
              <a:t>   IEEE-754 Floating Point Number Line (SP=32-bits)</a:t>
            </a:r>
            <a:endParaRPr lang="en-US" sz="3200" b="0" strike="noStrike" spc="-1">
              <a:solidFill>
                <a:srgbClr val="000000"/>
              </a:solidFill>
              <a:latin typeface="Arial"/>
            </a:endParaRPr>
          </a:p>
        </p:txBody>
      </p:sp>
      <p:sp>
        <p:nvSpPr>
          <p:cNvPr id="707" name="CustomShape 2"/>
          <p:cNvSpPr/>
          <p:nvPr/>
        </p:nvSpPr>
        <p:spPr>
          <a:xfrm>
            <a:off x="683640" y="6314040"/>
            <a:ext cx="7882560" cy="402480"/>
          </a:xfrm>
          <a:prstGeom prst="rect">
            <a:avLst/>
          </a:prstGeom>
          <a:noFill/>
          <a:ln w="73080">
            <a:noFill/>
          </a:ln>
        </p:spPr>
        <p:style>
          <a:lnRef idx="0">
            <a:scrgbClr r="0" g="0" b="0"/>
          </a:lnRef>
          <a:fillRef idx="0">
            <a:scrgbClr r="0" g="0" b="0"/>
          </a:fillRef>
          <a:effectRef idx="0">
            <a:scrgbClr r="0" g="0" b="0"/>
          </a:effectRef>
          <a:fontRef idx="minor"/>
        </p:style>
        <p:txBody>
          <a:bodyPr lIns="126360" tIns="81360" rIns="126360" bIns="81360" anchor="t">
            <a:noAutofit/>
          </a:bodyPr>
          <a:lstStyle/>
          <a:p>
            <a:pPr>
              <a:lnSpc>
                <a:spcPct val="100000"/>
              </a:lnSpc>
            </a:pPr>
            <a:r>
              <a:rPr lang="en-US" sz="1400" b="0" strike="noStrike" spc="-1">
                <a:solidFill>
                  <a:srgbClr val="000000"/>
                </a:solidFill>
                <a:latin typeface="Arial"/>
                <a:ea typeface="DejaVu Sans"/>
              </a:rPr>
              <a:t>Source: https://courses.physics.illinois.edu/cs357/sp2020/notes/ref-4-fp.html</a:t>
            </a:r>
            <a:endParaRPr lang="en-US" sz="1400" b="0" strike="noStrike" spc="-1">
              <a:solidFill>
                <a:srgbClr val="000000"/>
              </a:solidFill>
              <a:latin typeface="Arial"/>
            </a:endParaRPr>
          </a:p>
        </p:txBody>
      </p:sp>
      <p:sp>
        <p:nvSpPr>
          <p:cNvPr id="708" name="CustomShape 3"/>
          <p:cNvSpPr/>
          <p:nvPr/>
        </p:nvSpPr>
        <p:spPr>
          <a:xfrm>
            <a:off x="498600" y="4797000"/>
            <a:ext cx="8206200" cy="671040"/>
          </a:xfrm>
          <a:prstGeom prst="rect">
            <a:avLst/>
          </a:prstGeom>
          <a:noFill/>
          <a:ln w="7308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pic>
        <p:nvPicPr>
          <p:cNvPr id="709" name="Picture 708"/>
          <p:cNvPicPr/>
          <p:nvPr/>
        </p:nvPicPr>
        <p:blipFill>
          <a:blip r:embed="rId2"/>
          <a:stretch/>
        </p:blipFill>
        <p:spPr>
          <a:xfrm>
            <a:off x="113760" y="1529640"/>
            <a:ext cx="8958240" cy="4046040"/>
          </a:xfrm>
          <a:prstGeom prst="rect">
            <a:avLst/>
          </a:prstGeom>
          <a:ln w="0">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1.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2.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3.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4.xml><?xml version="1.0" encoding="utf-8"?>
<a:theme xmlns:a="http://schemas.openxmlformats.org/drawingml/2006/main" name="Office Theme">
  <a:themeElements>
    <a:clrScheme name="Office">
      <a:dk1>
        <a:srgbClr val="000000"/>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CC66"/>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5.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3756</TotalTime>
  <Words>2862</Words>
  <Application>Microsoft Office PowerPoint</Application>
  <PresentationFormat>On-screen Show (4:3)</PresentationFormat>
  <Paragraphs>439</Paragraphs>
  <Slides>32</Slides>
  <Notes>2</Notes>
  <HiddenSlides>0</HiddenSlides>
  <MMClips>0</MMClips>
  <ScaleCrop>false</ScaleCrop>
  <HeadingPairs>
    <vt:vector size="6" baseType="variant">
      <vt:variant>
        <vt:lpstr>Fonts Used</vt:lpstr>
      </vt:variant>
      <vt:variant>
        <vt:i4>6</vt:i4>
      </vt:variant>
      <vt:variant>
        <vt:lpstr>Theme</vt:lpstr>
      </vt:variant>
      <vt:variant>
        <vt:i4>24</vt:i4>
      </vt:variant>
      <vt:variant>
        <vt:lpstr>Slide Titles</vt:lpstr>
      </vt:variant>
      <vt:variant>
        <vt:i4>32</vt:i4>
      </vt:variant>
    </vt:vector>
  </HeadingPairs>
  <TitlesOfParts>
    <vt:vector size="62" baseType="lpstr">
      <vt:lpstr>Arial</vt:lpstr>
      <vt:lpstr>Arial Narrow</vt:lpstr>
      <vt:lpstr>Noto Sans Symbols</vt:lpstr>
      <vt:lpstr>Symbol</vt:lpstr>
      <vt:lpstr>Times New Roman</vt:lpstr>
      <vt:lpstr>Wingdings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Processors with BFloat16 Support</vt:lpstr>
      <vt:lpstr>PowerPoint Presentation</vt:lpstr>
      <vt:lpstr>Floating-Point Format Comparison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Andrea Di Blas</dc:creator>
  <dc:description/>
  <cp:lastModifiedBy>Marcelo Siero</cp:lastModifiedBy>
  <cp:revision>28</cp:revision>
  <dcterms:created xsi:type="dcterms:W3CDTF">2014-10-06T22:43:20Z</dcterms:created>
  <dcterms:modified xsi:type="dcterms:W3CDTF">2025-06-03T06:01:08Z</dcterms:modified>
  <dc:language>en-US</dc:language>
</cp:coreProperties>
</file>