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7" r:id="rId2"/>
    <p:sldId id="716" r:id="rId3"/>
    <p:sldId id="789" r:id="rId4"/>
    <p:sldId id="721" r:id="rId5"/>
    <p:sldId id="722" r:id="rId6"/>
    <p:sldId id="723" r:id="rId7"/>
    <p:sldId id="724" r:id="rId8"/>
    <p:sldId id="725" r:id="rId9"/>
    <p:sldId id="726" r:id="rId10"/>
    <p:sldId id="727" r:id="rId11"/>
    <p:sldId id="728" r:id="rId12"/>
    <p:sldId id="729" r:id="rId13"/>
    <p:sldId id="790" r:id="rId14"/>
    <p:sldId id="791" r:id="rId15"/>
    <p:sldId id="258" r:id="rId16"/>
    <p:sldId id="276" r:id="rId17"/>
    <p:sldId id="277" r:id="rId18"/>
    <p:sldId id="337" r:id="rId19"/>
    <p:sldId id="338" r:id="rId20"/>
    <p:sldId id="280" r:id="rId21"/>
    <p:sldId id="281" r:id="rId22"/>
    <p:sldId id="283" r:id="rId23"/>
    <p:sldId id="284" r:id="rId24"/>
    <p:sldId id="285" r:id="rId25"/>
    <p:sldId id="286" r:id="rId26"/>
    <p:sldId id="340" r:id="rId27"/>
    <p:sldId id="358" r:id="rId28"/>
    <p:sldId id="733" r:id="rId29"/>
    <p:sldId id="359" r:id="rId30"/>
    <p:sldId id="734" r:id="rId31"/>
    <p:sldId id="793" r:id="rId32"/>
    <p:sldId id="735" r:id="rId33"/>
    <p:sldId id="792" r:id="rId34"/>
    <p:sldId id="750" r:id="rId35"/>
    <p:sldId id="751" r:id="rId36"/>
    <p:sldId id="736" r:id="rId37"/>
    <p:sldId id="753" r:id="rId38"/>
    <p:sldId id="754" r:id="rId39"/>
    <p:sldId id="752" r:id="rId40"/>
    <p:sldId id="755" r:id="rId41"/>
    <p:sldId id="756" r:id="rId42"/>
    <p:sldId id="757" r:id="rId43"/>
    <p:sldId id="759" r:id="rId44"/>
    <p:sldId id="760" r:id="rId45"/>
    <p:sldId id="761" r:id="rId46"/>
    <p:sldId id="762" r:id="rId47"/>
    <p:sldId id="763" r:id="rId48"/>
    <p:sldId id="764" r:id="rId49"/>
    <p:sldId id="765" r:id="rId50"/>
    <p:sldId id="766" r:id="rId51"/>
    <p:sldId id="796" r:id="rId52"/>
    <p:sldId id="744" r:id="rId53"/>
    <p:sldId id="767" r:id="rId54"/>
    <p:sldId id="768" r:id="rId55"/>
    <p:sldId id="769" r:id="rId56"/>
    <p:sldId id="770" r:id="rId57"/>
    <p:sldId id="771" r:id="rId58"/>
    <p:sldId id="772" r:id="rId59"/>
    <p:sldId id="775" r:id="rId60"/>
    <p:sldId id="774" r:id="rId61"/>
    <p:sldId id="776" r:id="rId62"/>
    <p:sldId id="777" r:id="rId63"/>
    <p:sldId id="778" r:id="rId64"/>
    <p:sldId id="352" r:id="rId65"/>
    <p:sldId id="779" r:id="rId66"/>
    <p:sldId id="353" r:id="rId67"/>
    <p:sldId id="794" r:id="rId68"/>
    <p:sldId id="795" r:id="rId69"/>
    <p:sldId id="780" r:id="rId70"/>
    <p:sldId id="781" r:id="rId71"/>
    <p:sldId id="782" r:id="rId72"/>
    <p:sldId id="783" r:id="rId73"/>
    <p:sldId id="784" r:id="rId74"/>
    <p:sldId id="785" r:id="rId75"/>
    <p:sldId id="78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6405"/>
  </p:normalViewPr>
  <p:slideViewPr>
    <p:cSldViewPr snapToGrid="0" snapToObjects="1">
      <p:cViewPr varScale="1">
        <p:scale>
          <a:sx n="58" d="100"/>
          <a:sy n="58" d="100"/>
        </p:scale>
        <p:origin x="30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5548023/clang-optimization-leve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hare/69603ea9-a8b4-8002-a3ec-150f793437cc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gular_language" TargetMode="External"/><Relationship Id="rId2" Type="http://schemas.openxmlformats.org/officeDocument/2006/relationships/hyperlink" Target="https://en.wikipedia.org/wiki/Stephen_Cole_Kleen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hatgpt.com/share/69604346-2338-8002-826c-5ca947a2951f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Lex_(software)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370459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4040340"/>
            <a:ext cx="6901683" cy="2405459"/>
          </a:xfrm>
        </p:spPr>
        <p:txBody>
          <a:bodyPr>
            <a:normAutofit/>
          </a:bodyPr>
          <a:lstStyle/>
          <a:p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pPr lvl="1"/>
            <a:r>
              <a:rPr lang="en-US" i="1" dirty="0"/>
              <a:t>Lexical Analysis</a:t>
            </a:r>
          </a:p>
          <a:p>
            <a:pPr lvl="2"/>
            <a:r>
              <a:rPr lang="en-US" dirty="0"/>
              <a:t>Introduction</a:t>
            </a:r>
          </a:p>
          <a:p>
            <a:pPr lvl="2"/>
            <a:r>
              <a:rPr lang="en-US" dirty="0"/>
              <a:t>Scanners</a:t>
            </a:r>
          </a:p>
          <a:p>
            <a:pPr lvl="2"/>
            <a:r>
              <a:rPr lang="en-US" dirty="0"/>
              <a:t>Ad hoc scanner</a:t>
            </a:r>
          </a:p>
          <a:p>
            <a:pPr lvl="2"/>
            <a:r>
              <a:rPr lang="en-US" dirty="0"/>
              <a:t>Limitations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1714B3-537B-5C42-AD19-F844B17759C3}"/>
              </a:ext>
            </a:extLst>
          </p:cNvPr>
          <p:cNvSpPr/>
          <p:nvPr/>
        </p:nvSpPr>
        <p:spPr>
          <a:xfrm>
            <a:off x="4649103" y="192421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891319-2C73-B54C-B35D-159A9AA498AF}"/>
              </a:ext>
            </a:extLst>
          </p:cNvPr>
          <p:cNvCxnSpPr>
            <a:cxnSpLocks/>
          </p:cNvCxnSpPr>
          <p:nvPr/>
        </p:nvCxnSpPr>
        <p:spPr>
          <a:xfrm flipH="1">
            <a:off x="4168273" y="239604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3EA9F5-08D1-284D-B035-0D8D50D39BA8}"/>
              </a:ext>
            </a:extLst>
          </p:cNvPr>
          <p:cNvCxnSpPr>
            <a:cxnSpLocks/>
          </p:cNvCxnSpPr>
          <p:nvPr/>
        </p:nvCxnSpPr>
        <p:spPr>
          <a:xfrm flipH="1">
            <a:off x="5245233" y="239604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65DA11-333F-0846-BFA3-5313C2D4AD6F}"/>
              </a:ext>
            </a:extLst>
          </p:cNvPr>
          <p:cNvCxnSpPr>
            <a:cxnSpLocks/>
          </p:cNvCxnSpPr>
          <p:nvPr/>
        </p:nvCxnSpPr>
        <p:spPr>
          <a:xfrm>
            <a:off x="6362833" y="250899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32F45E6-893A-E444-A5E7-C51559334FC6}"/>
              </a:ext>
            </a:extLst>
          </p:cNvPr>
          <p:cNvCxnSpPr>
            <a:cxnSpLocks/>
          </p:cNvCxnSpPr>
          <p:nvPr/>
        </p:nvCxnSpPr>
        <p:spPr>
          <a:xfrm>
            <a:off x="7328033" y="239604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F50CC5-BFE2-F544-B8CB-F0D34782591E}"/>
              </a:ext>
            </a:extLst>
          </p:cNvPr>
          <p:cNvCxnSpPr>
            <a:cxnSpLocks/>
          </p:cNvCxnSpPr>
          <p:nvPr/>
        </p:nvCxnSpPr>
        <p:spPr>
          <a:xfrm>
            <a:off x="8191633" y="239604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236746-7C04-9240-BF01-282709C0DBD9}"/>
              </a:ext>
            </a:extLst>
          </p:cNvPr>
          <p:cNvCxnSpPr>
            <a:cxnSpLocks/>
          </p:cNvCxnSpPr>
          <p:nvPr/>
        </p:nvCxnSpPr>
        <p:spPr>
          <a:xfrm>
            <a:off x="9288913" y="239604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D871749-56FA-A64F-BE8B-A85DC581410C}"/>
              </a:ext>
            </a:extLst>
          </p:cNvPr>
          <p:cNvSpPr/>
          <p:nvPr/>
        </p:nvSpPr>
        <p:spPr>
          <a:xfrm>
            <a:off x="3369356" y="301179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EE2DC9-CB4F-FE45-9A12-53D1ACF8CE7E}"/>
              </a:ext>
            </a:extLst>
          </p:cNvPr>
          <p:cNvSpPr/>
          <p:nvPr/>
        </p:nvSpPr>
        <p:spPr>
          <a:xfrm>
            <a:off x="9126814" y="301523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74B643-0EEA-FD4C-9AD7-B1668FA027B3}"/>
              </a:ext>
            </a:extLst>
          </p:cNvPr>
          <p:cNvSpPr/>
          <p:nvPr/>
        </p:nvSpPr>
        <p:spPr>
          <a:xfrm>
            <a:off x="4739792" y="309200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D3D7F-CEC2-934C-82BE-C20FADB762E6}"/>
              </a:ext>
            </a:extLst>
          </p:cNvPr>
          <p:cNvSpPr/>
          <p:nvPr/>
        </p:nvSpPr>
        <p:spPr>
          <a:xfrm>
            <a:off x="5895232" y="307587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C233AD-020A-E940-9574-ABCC9F87FD1A}"/>
              </a:ext>
            </a:extLst>
          </p:cNvPr>
          <p:cNvSpPr/>
          <p:nvPr/>
        </p:nvSpPr>
        <p:spPr>
          <a:xfrm>
            <a:off x="7020711" y="309200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D4542D-EF33-3F4D-BC9C-4EAB7ABF0FB9}"/>
              </a:ext>
            </a:extLst>
          </p:cNvPr>
          <p:cNvSpPr/>
          <p:nvPr/>
        </p:nvSpPr>
        <p:spPr>
          <a:xfrm>
            <a:off x="10730831" y="304704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A427B-0B95-F6A9-B68A-00D660450AD7}"/>
              </a:ext>
            </a:extLst>
          </p:cNvPr>
          <p:cNvSpPr txBox="1"/>
          <p:nvPr/>
        </p:nvSpPr>
        <p:spPr>
          <a:xfrm>
            <a:off x="10730831" y="6466871"/>
            <a:ext cx="1218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03A-lexers-naive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972E8-C9AD-1A4A-9A09-E839BF4B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A Modular Compiler</a:t>
            </a:r>
          </a:p>
        </p:txBody>
      </p:sp>
    </p:spTree>
    <p:extLst>
      <p:ext uri="{BB962C8B-B14F-4D97-AF65-F5344CB8AC3E}">
        <p14:creationId xmlns:p14="http://schemas.microsoft.com/office/powerpoint/2010/main" val="73037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57C8-F242-A048-8F17-F80624C2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to modular compiler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D9182-EB8C-B749-BEEB-32E3A690F18D}"/>
              </a:ext>
            </a:extLst>
          </p:cNvPr>
          <p:cNvSpPr/>
          <p:nvPr/>
        </p:nvSpPr>
        <p:spPr>
          <a:xfrm>
            <a:off x="4494004" y="2470198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876A73-70DF-EF49-BB17-D2EA43467DAD}"/>
              </a:ext>
            </a:extLst>
          </p:cNvPr>
          <p:cNvSpPr/>
          <p:nvPr/>
        </p:nvSpPr>
        <p:spPr>
          <a:xfrm>
            <a:off x="4618016" y="263288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CF8D7-9056-D94D-9BD6-DB7B04A6560D}"/>
              </a:ext>
            </a:extLst>
          </p:cNvPr>
          <p:cNvSpPr/>
          <p:nvPr/>
        </p:nvSpPr>
        <p:spPr>
          <a:xfrm>
            <a:off x="4771189" y="2840074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E6A66-D878-1741-AEDB-D4B1E022B65A}"/>
              </a:ext>
            </a:extLst>
          </p:cNvPr>
          <p:cNvSpPr/>
          <p:nvPr/>
        </p:nvSpPr>
        <p:spPr>
          <a:xfrm>
            <a:off x="2369085" y="3008584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 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04CF64-6C24-EC45-919E-BAEF275D074C}"/>
              </a:ext>
            </a:extLst>
          </p:cNvPr>
          <p:cNvSpPr/>
          <p:nvPr/>
        </p:nvSpPr>
        <p:spPr>
          <a:xfrm>
            <a:off x="231012" y="3015049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9D4D3D-F94C-454F-9B9E-AB264868BF3D}"/>
              </a:ext>
            </a:extLst>
          </p:cNvPr>
          <p:cNvSpPr/>
          <p:nvPr/>
        </p:nvSpPr>
        <p:spPr>
          <a:xfrm>
            <a:off x="10556083" y="2974888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C321E85-974A-A743-82A1-AE8CAED9A8DD}"/>
              </a:ext>
            </a:extLst>
          </p:cNvPr>
          <p:cNvSpPr/>
          <p:nvPr/>
        </p:nvSpPr>
        <p:spPr>
          <a:xfrm>
            <a:off x="1743009" y="3428999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595556BB-AEEA-6943-8C13-4F1F0245B13B}"/>
              </a:ext>
            </a:extLst>
          </p:cNvPr>
          <p:cNvSpPr/>
          <p:nvPr/>
        </p:nvSpPr>
        <p:spPr>
          <a:xfrm>
            <a:off x="9930007" y="3435472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69C47-7A23-864C-AA0E-38AD427619AC}"/>
              </a:ext>
            </a:extLst>
          </p:cNvPr>
          <p:cNvSpPr txBox="1"/>
          <p:nvPr/>
        </p:nvSpPr>
        <p:spPr>
          <a:xfrm>
            <a:off x="4393546" y="5823973"/>
            <a:ext cx="29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Medium detailed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796A7B-CD7E-2847-A52E-BB5BA3D8F45B}"/>
              </a:ext>
            </a:extLst>
          </p:cNvPr>
          <p:cNvSpPr/>
          <p:nvPr/>
        </p:nvSpPr>
        <p:spPr>
          <a:xfrm>
            <a:off x="8452022" y="3015049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br>
              <a:rPr lang="en-US" dirty="0"/>
            </a:br>
            <a:r>
              <a:rPr lang="en-US" dirty="0"/>
              <a:t>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6498F4-2F25-AA4F-B9D9-8E9EC41710FD}"/>
              </a:ext>
            </a:extLst>
          </p:cNvPr>
          <p:cNvSpPr/>
          <p:nvPr/>
        </p:nvSpPr>
        <p:spPr>
          <a:xfrm>
            <a:off x="4894218" y="301504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F4D4CE9-50C7-A140-92B6-75B773ED7DC6}"/>
              </a:ext>
            </a:extLst>
          </p:cNvPr>
          <p:cNvSpPr/>
          <p:nvPr/>
        </p:nvSpPr>
        <p:spPr>
          <a:xfrm>
            <a:off x="3691963" y="3435471"/>
            <a:ext cx="76817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DC1BF8D-59FE-9644-BCF2-62A87821C6D0}"/>
              </a:ext>
            </a:extLst>
          </p:cNvPr>
          <p:cNvSpPr/>
          <p:nvPr/>
        </p:nvSpPr>
        <p:spPr>
          <a:xfrm>
            <a:off x="7096549" y="3462694"/>
            <a:ext cx="1019373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8122093-0FBF-7C47-9192-21DAFBD9FC1B}"/>
              </a:ext>
            </a:extLst>
          </p:cNvPr>
          <p:cNvSpPr/>
          <p:nvPr/>
        </p:nvSpPr>
        <p:spPr>
          <a:xfrm>
            <a:off x="1959429" y="1837509"/>
            <a:ext cx="8107679" cy="37011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383EC-EBDE-A349-BDCA-E445FE8C9F4E}"/>
              </a:ext>
            </a:extLst>
          </p:cNvPr>
          <p:cNvSpPr txBox="1"/>
          <p:nvPr/>
        </p:nvSpPr>
        <p:spPr>
          <a:xfrm>
            <a:off x="5240958" y="1871122"/>
            <a:ext cx="1283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compiler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FF7329-7926-314F-8DE1-9927ECF93C4C}"/>
              </a:ext>
            </a:extLst>
          </p:cNvPr>
          <p:cNvSpPr txBox="1"/>
          <p:nvPr/>
        </p:nvSpPr>
        <p:spPr>
          <a:xfrm>
            <a:off x="2447109" y="4299838"/>
            <a:ext cx="8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4F216-6350-E148-A215-2849C4E1E5FB}"/>
              </a:ext>
            </a:extLst>
          </p:cNvPr>
          <p:cNvSpPr txBox="1"/>
          <p:nvPr/>
        </p:nvSpPr>
        <p:spPr>
          <a:xfrm>
            <a:off x="8541504" y="4226011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gen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644A885-8FAD-894C-8154-6EE7775FF26D}"/>
              </a:ext>
            </a:extLst>
          </p:cNvPr>
          <p:cNvSpPr/>
          <p:nvPr/>
        </p:nvSpPr>
        <p:spPr>
          <a:xfrm rot="8848743">
            <a:off x="5884098" y="4443973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66AE775E-E5FB-074C-8500-998CE1187E72}"/>
              </a:ext>
            </a:extLst>
          </p:cNvPr>
          <p:cNvSpPr/>
          <p:nvPr/>
        </p:nvSpPr>
        <p:spPr>
          <a:xfrm rot="12718130">
            <a:off x="5026115" y="4517799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0D8AD-9380-DC49-B685-B0FDF88776B6}"/>
              </a:ext>
            </a:extLst>
          </p:cNvPr>
          <p:cNvSpPr txBox="1"/>
          <p:nvPr/>
        </p:nvSpPr>
        <p:spPr>
          <a:xfrm>
            <a:off x="6465912" y="4775901"/>
            <a:ext cx="2020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optimizations</a:t>
            </a:r>
          </a:p>
          <a:p>
            <a:r>
              <a:rPr lang="en-US" dirty="0"/>
              <a:t>build on each 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0FF7E6-8F0D-EF42-8D22-C1F6194847F3}"/>
              </a:ext>
            </a:extLst>
          </p:cNvPr>
          <p:cNvSpPr txBox="1"/>
          <p:nvPr/>
        </p:nvSpPr>
        <p:spPr>
          <a:xfrm>
            <a:off x="38645" y="6364451"/>
            <a:ext cx="958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about optimizations: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stackoverflow.com</a:t>
            </a:r>
            <a:r>
              <a:rPr lang="en-US" dirty="0">
                <a:hlinkClick r:id="rId2"/>
              </a:rPr>
              <a:t>/questions/15548023/clang-optimization-levels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606294-DAC4-2448-8390-95E8F8966FC7}"/>
              </a:ext>
            </a:extLst>
          </p:cNvPr>
          <p:cNvSpPr txBox="1"/>
          <p:nvPr/>
        </p:nvSpPr>
        <p:spPr>
          <a:xfrm>
            <a:off x="3454104" y="2296268"/>
            <a:ext cx="1039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creates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5732E-72E6-D145-BF17-CB938BA2C76B}"/>
              </a:ext>
            </a:extLst>
          </p:cNvPr>
          <p:cNvSpPr txBox="1"/>
          <p:nvPr/>
        </p:nvSpPr>
        <p:spPr>
          <a:xfrm>
            <a:off x="287383" y="4336869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3E8439-0A7E-E34B-874C-CB49D465A486}"/>
              </a:ext>
            </a:extLst>
          </p:cNvPr>
          <p:cNvSpPr txBox="1"/>
          <p:nvPr/>
        </p:nvSpPr>
        <p:spPr>
          <a:xfrm>
            <a:off x="8115922" y="2252299"/>
            <a:ext cx="17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produces</a:t>
            </a:r>
            <a:br>
              <a:rPr lang="en-US" dirty="0"/>
            </a:br>
            <a:r>
              <a:rPr lang="en-US" dirty="0"/>
              <a:t>executable code</a:t>
            </a:r>
          </a:p>
        </p:txBody>
      </p:sp>
    </p:spTree>
    <p:extLst>
      <p:ext uri="{BB962C8B-B14F-4D97-AF65-F5344CB8AC3E}">
        <p14:creationId xmlns:p14="http://schemas.microsoft.com/office/powerpoint/2010/main" val="1225045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</p:spTree>
    <p:extLst>
      <p:ext uri="{BB962C8B-B14F-4D97-AF65-F5344CB8AC3E}">
        <p14:creationId xmlns:p14="http://schemas.microsoft.com/office/powerpoint/2010/main" val="2214747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E0E89D-3813-674A-B747-E1EA071DF790}"/>
              </a:ext>
            </a:extLst>
          </p:cNvPr>
          <p:cNvSpPr/>
          <p:nvPr/>
        </p:nvSpPr>
        <p:spPr>
          <a:xfrm>
            <a:off x="1636295" y="406948"/>
            <a:ext cx="7169787" cy="21941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BAAA7-7EF3-7E4D-96CD-85A946829AA8}"/>
              </a:ext>
            </a:extLst>
          </p:cNvPr>
          <p:cNvSpPr txBox="1"/>
          <p:nvPr/>
        </p:nvSpPr>
        <p:spPr>
          <a:xfrm>
            <a:off x="4550871" y="2773430"/>
            <a:ext cx="18502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front end</a:t>
            </a:r>
            <a:br>
              <a:rPr lang="en-US" b="1" i="1" dirty="0"/>
            </a:br>
            <a:r>
              <a:rPr lang="en-US" b="1" i="1" dirty="0"/>
              <a:t>parser</a:t>
            </a:r>
            <a:br>
              <a:rPr lang="en-US" b="1" i="1" dirty="0"/>
            </a:br>
            <a:r>
              <a:rPr lang="en-US" b="1" i="1" dirty="0"/>
              <a:t>creates 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03A1D-E8BB-C34C-90D6-8D9167A6D1E4}"/>
              </a:ext>
            </a:extLst>
          </p:cNvPr>
          <p:cNvSpPr txBox="1"/>
          <p:nvPr/>
        </p:nvSpPr>
        <p:spPr>
          <a:xfrm>
            <a:off x="1686660" y="4767781"/>
            <a:ext cx="485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a quick review tour through the front end</a:t>
            </a:r>
          </a:p>
        </p:txBody>
      </p:sp>
    </p:spTree>
    <p:extLst>
      <p:ext uri="{BB962C8B-B14F-4D97-AF65-F5344CB8AC3E}">
        <p14:creationId xmlns:p14="http://schemas.microsoft.com/office/powerpoint/2010/main" val="124578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</p:spTree>
    <p:extLst>
      <p:ext uri="{BB962C8B-B14F-4D97-AF65-F5344CB8AC3E}">
        <p14:creationId xmlns:p14="http://schemas.microsoft.com/office/powerpoint/2010/main" val="386476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916986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02CFA646-39C3-324A-9717-543AC228E2F0}"/>
              </a:ext>
            </a:extLst>
          </p:cNvPr>
          <p:cNvGraphicFramePr>
            <a:graphicFrameLocks noGrp="1"/>
          </p:cNvGraphicFramePr>
          <p:nvPr/>
        </p:nvGraphicFramePr>
        <p:xfrm>
          <a:off x="301294" y="4587229"/>
          <a:ext cx="4802973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00991">
                  <a:extLst>
                    <a:ext uri="{9D8B030D-6E8A-4147-A177-3AD203B41FA5}">
                      <a16:colId xmlns:a16="http://schemas.microsoft.com/office/drawing/2014/main" val="602620954"/>
                    </a:ext>
                  </a:extLst>
                </a:gridCol>
                <a:gridCol w="1600991">
                  <a:extLst>
                    <a:ext uri="{9D8B030D-6E8A-4147-A177-3AD203B41FA5}">
                      <a16:colId xmlns:a16="http://schemas.microsoft.com/office/drawing/2014/main" val="1377145810"/>
                    </a:ext>
                  </a:extLst>
                </a:gridCol>
                <a:gridCol w="1600991">
                  <a:extLst>
                    <a:ext uri="{9D8B030D-6E8A-4147-A177-3AD203B41FA5}">
                      <a16:colId xmlns:a16="http://schemas.microsoft.com/office/drawing/2014/main" val="294231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0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2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35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13922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326B48-610E-184B-A0CD-30C0BF6B0AE7}"/>
              </a:ext>
            </a:extLst>
          </p:cNvPr>
          <p:cNvSpPr txBox="1"/>
          <p:nvPr/>
        </p:nvSpPr>
        <p:spPr>
          <a:xfrm>
            <a:off x="249977" y="6248389"/>
            <a:ext cx="1400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3494960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</p:spTree>
    <p:extLst>
      <p:ext uri="{BB962C8B-B14F-4D97-AF65-F5344CB8AC3E}">
        <p14:creationId xmlns:p14="http://schemas.microsoft.com/office/powerpoint/2010/main" val="96049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118091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40811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494611" y="570227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250165" y="5430020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</p:spTree>
    <p:extLst>
      <p:ext uri="{BB962C8B-B14F-4D97-AF65-F5344CB8AC3E}">
        <p14:creationId xmlns:p14="http://schemas.microsoft.com/office/powerpoint/2010/main" val="350551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118091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40811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&lt;id,3&gt;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494611" y="570227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60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250165" y="5430020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0E894-4E94-B94D-AA56-B7EBCDD032CA}"/>
              </a:ext>
            </a:extLst>
          </p:cNvPr>
          <p:cNvSpPr txBox="1"/>
          <p:nvPr/>
        </p:nvSpPr>
        <p:spPr>
          <a:xfrm>
            <a:off x="5717406" y="4870383"/>
            <a:ext cx="2003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Can we multiply a </a:t>
            </a:r>
            <a:br>
              <a:rPr lang="en-US" i="1" dirty="0"/>
            </a:br>
            <a:r>
              <a:rPr lang="en-US" i="1" dirty="0"/>
              <a:t>float by an integer?</a:t>
            </a:r>
          </a:p>
        </p:txBody>
      </p:sp>
    </p:spTree>
    <p:extLst>
      <p:ext uri="{BB962C8B-B14F-4D97-AF65-F5344CB8AC3E}">
        <p14:creationId xmlns:p14="http://schemas.microsoft.com/office/powerpoint/2010/main" val="42223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118091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40811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&lt;id,3&gt;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565491" y="623072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60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795682" y="5842535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328952" y="5536825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328952" y="5342160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299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270470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3359947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3781085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4330340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565491" y="48543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3231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37810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3074035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3057465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3544613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3544613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3965751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795682" y="4466126"/>
            <a:ext cx="0" cy="388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2388887"/>
            <a:ext cx="123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6099F-17CB-9141-BDCE-B78D069528A5}"/>
              </a:ext>
            </a:extLst>
          </p:cNvPr>
          <p:cNvSpPr txBox="1"/>
          <p:nvPr/>
        </p:nvSpPr>
        <p:spPr>
          <a:xfrm>
            <a:off x="5328952" y="4160416"/>
            <a:ext cx="1292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int_to_float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40D7B8-AB44-A048-8143-BF4B6B735845}"/>
              </a:ext>
            </a:extLst>
          </p:cNvPr>
          <p:cNvCxnSpPr>
            <a:cxnSpLocks/>
          </p:cNvCxnSpPr>
          <p:nvPr/>
        </p:nvCxnSpPr>
        <p:spPr>
          <a:xfrm>
            <a:off x="5328952" y="3965751"/>
            <a:ext cx="552601" cy="2518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003409-A4AB-764C-9CDA-FBDC98CE0855}"/>
              </a:ext>
            </a:extLst>
          </p:cNvPr>
          <p:cNvSpPr txBox="1"/>
          <p:nvPr/>
        </p:nvSpPr>
        <p:spPr>
          <a:xfrm>
            <a:off x="376487" y="5487649"/>
            <a:ext cx="33554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%r0 = </a:t>
            </a:r>
            <a:r>
              <a:rPr lang="en-US" dirty="0" err="1">
                <a:latin typeface="Courier" pitchFamily="2" charset="0"/>
              </a:rPr>
              <a:t>int_to_float</a:t>
            </a:r>
            <a:r>
              <a:rPr lang="en-US" dirty="0">
                <a:latin typeface="Courier" pitchFamily="2" charset="0"/>
              </a:rPr>
              <a:t>(60);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%r1 = %r0 * id3;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%r2 = %r1 + id2;</a:t>
            </a:r>
          </a:p>
          <a:p>
            <a:r>
              <a:rPr lang="en-US" dirty="0">
                <a:latin typeface="Courier" pitchFamily="2" charset="0"/>
              </a:rPr>
              <a:t>%id1 = %r2;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84BD3-44AF-514F-9253-57495816FC37}"/>
              </a:ext>
            </a:extLst>
          </p:cNvPr>
          <p:cNvSpPr txBox="1"/>
          <p:nvPr/>
        </p:nvSpPr>
        <p:spPr>
          <a:xfrm>
            <a:off x="396506" y="4999850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</p:spTree>
    <p:extLst>
      <p:ext uri="{BB962C8B-B14F-4D97-AF65-F5344CB8AC3E}">
        <p14:creationId xmlns:p14="http://schemas.microsoft.com/office/powerpoint/2010/main" val="838977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916986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02CFA646-39C3-324A-9717-543AC228E2F0}"/>
              </a:ext>
            </a:extLst>
          </p:cNvPr>
          <p:cNvGraphicFramePr>
            <a:graphicFrameLocks noGrp="1"/>
          </p:cNvGraphicFramePr>
          <p:nvPr/>
        </p:nvGraphicFramePr>
        <p:xfrm>
          <a:off x="301294" y="4587229"/>
          <a:ext cx="4802973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00991">
                  <a:extLst>
                    <a:ext uri="{9D8B030D-6E8A-4147-A177-3AD203B41FA5}">
                      <a16:colId xmlns:a16="http://schemas.microsoft.com/office/drawing/2014/main" val="602620954"/>
                    </a:ext>
                  </a:extLst>
                </a:gridCol>
                <a:gridCol w="1600991">
                  <a:extLst>
                    <a:ext uri="{9D8B030D-6E8A-4147-A177-3AD203B41FA5}">
                      <a16:colId xmlns:a16="http://schemas.microsoft.com/office/drawing/2014/main" val="1377145810"/>
                    </a:ext>
                  </a:extLst>
                </a:gridCol>
                <a:gridCol w="1600991">
                  <a:extLst>
                    <a:ext uri="{9D8B030D-6E8A-4147-A177-3AD203B41FA5}">
                      <a16:colId xmlns:a16="http://schemas.microsoft.com/office/drawing/2014/main" val="294231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30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21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35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13922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326B48-610E-184B-A0CD-30C0BF6B0AE7}"/>
              </a:ext>
            </a:extLst>
          </p:cNvPr>
          <p:cNvSpPr txBox="1"/>
          <p:nvPr/>
        </p:nvSpPr>
        <p:spPr>
          <a:xfrm>
            <a:off x="249977" y="6248389"/>
            <a:ext cx="1400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Symbol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3494960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7DE32-472F-3548-B54F-AFA842639BE9}"/>
              </a:ext>
            </a:extLst>
          </p:cNvPr>
          <p:cNvSpPr txBox="1"/>
          <p:nvPr/>
        </p:nvSpPr>
        <p:spPr>
          <a:xfrm>
            <a:off x="465216" y="114560"/>
            <a:ext cx="5630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First module: Lexical Scanner</a:t>
            </a:r>
          </a:p>
        </p:txBody>
      </p:sp>
    </p:spTree>
    <p:extLst>
      <p:ext uri="{BB962C8B-B14F-4D97-AF65-F5344CB8AC3E}">
        <p14:creationId xmlns:p14="http://schemas.microsoft.com/office/powerpoint/2010/main" val="4196910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Lexical Analysis</a:t>
            </a:r>
          </a:p>
          <a:p>
            <a:endParaRPr lang="en-US" dirty="0"/>
          </a:p>
          <a:p>
            <a:r>
              <a:rPr lang="en-US" dirty="0"/>
              <a:t>Programs for Lexical Analysis</a:t>
            </a:r>
          </a:p>
          <a:p>
            <a:endParaRPr lang="en-US" dirty="0"/>
          </a:p>
          <a:p>
            <a:r>
              <a:rPr lang="en-US" dirty="0"/>
              <a:t>Lexical analysis of a simple programming language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naïve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911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Introduction Lexical Analysis</a:t>
            </a:r>
          </a:p>
          <a:p>
            <a:endParaRPr lang="en-US" dirty="0"/>
          </a:p>
          <a:p>
            <a:r>
              <a:rPr lang="en-US" dirty="0"/>
              <a:t>Programs for Lexical Analysis</a:t>
            </a:r>
          </a:p>
          <a:p>
            <a:endParaRPr lang="en-US" dirty="0"/>
          </a:p>
          <a:p>
            <a:r>
              <a:rPr lang="en-US" dirty="0"/>
              <a:t>Lexical analysis of a simple programming language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Naive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2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</p:spTree>
    <p:extLst>
      <p:ext uri="{BB962C8B-B14F-4D97-AF65-F5344CB8AC3E}">
        <p14:creationId xmlns:p14="http://schemas.microsoft.com/office/powerpoint/2010/main" val="2249257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5D5BA-AA03-2B48-811E-C3F272492657}"/>
              </a:ext>
            </a:extLst>
          </p:cNvPr>
          <p:cNvSpPr/>
          <p:nvPr/>
        </p:nvSpPr>
        <p:spPr>
          <a:xfrm>
            <a:off x="3417070" y="2957175"/>
            <a:ext cx="47879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The dog ran across the park</a:t>
            </a:r>
          </a:p>
        </p:txBody>
      </p:sp>
    </p:spTree>
    <p:extLst>
      <p:ext uri="{BB962C8B-B14F-4D97-AF65-F5344CB8AC3E}">
        <p14:creationId xmlns:p14="http://schemas.microsoft.com/office/powerpoint/2010/main" val="2037549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one of the first steps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5D5BA-AA03-2B48-811E-C3F272492657}"/>
              </a:ext>
            </a:extLst>
          </p:cNvPr>
          <p:cNvSpPr/>
          <p:nvPr/>
        </p:nvSpPr>
        <p:spPr>
          <a:xfrm>
            <a:off x="3417070" y="2957175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5E7E97-6D81-0D46-8F77-EDA091F15600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4D785B-5541-304F-99F7-AE526657840D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A4A045-D1DD-4540-9284-083B5686E418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380D98-647E-5947-B5F5-9DC930933612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3F277A-8E32-714A-8604-910CE4C0F69A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C7AD6F-6E55-8548-99CD-E2F32D4FFAC0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DE400BF-1DFD-234D-84AF-1273548CD5C7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B0DF22-06D4-7F4C-B61C-6575D4C1C681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3D4EC2-4EF2-5744-BFF5-71E805173A06}"/>
              </a:ext>
            </a:extLst>
          </p:cNvPr>
          <p:cNvSpPr/>
          <p:nvPr/>
        </p:nvSpPr>
        <p:spPr>
          <a:xfrm>
            <a:off x="3507759" y="4124960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F25BA9-89AC-8D47-9692-A430E15C0FE7}"/>
              </a:ext>
            </a:extLst>
          </p:cNvPr>
          <p:cNvSpPr/>
          <p:nvPr/>
        </p:nvSpPr>
        <p:spPr>
          <a:xfrm>
            <a:off x="4663199" y="4108832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2880FD-A72D-8B47-83CC-022FC99FC38F}"/>
              </a:ext>
            </a:extLst>
          </p:cNvPr>
          <p:cNvSpPr/>
          <p:nvPr/>
        </p:nvSpPr>
        <p:spPr>
          <a:xfrm>
            <a:off x="5788678" y="4124959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2BFDC-6157-A64C-8E1F-0DB61947EE0F}"/>
              </a:ext>
            </a:extLst>
          </p:cNvPr>
          <p:cNvSpPr/>
          <p:nvPr/>
        </p:nvSpPr>
        <p:spPr>
          <a:xfrm>
            <a:off x="9498798" y="4080007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32029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608A0A-1808-7F40-AB74-E8B2797D043D}"/>
              </a:ext>
            </a:extLst>
          </p:cNvPr>
          <p:cNvSpPr/>
          <p:nvPr/>
        </p:nvSpPr>
        <p:spPr>
          <a:xfrm>
            <a:off x="3417070" y="2957175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4783FAE-7076-C148-B941-7579DDD7147B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BCC3C7-110E-B640-8642-6C3C5291625C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8BE3D9-EA9F-F14F-84DA-161BF0DF1B65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3E1D1E-09A3-4B4A-8070-75AC751C0C9D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6EE0F2-1012-4249-AB8F-687417385C9B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972BF4-3485-1144-A03F-E6214D6B1FE5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4517460-0DF3-AD42-A202-E28AD2A07B4F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B13883A-6091-BC45-AC40-47D3FFBA57E4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E5B8DA-8BCC-D142-AC4E-A20C61D55212}"/>
              </a:ext>
            </a:extLst>
          </p:cNvPr>
          <p:cNvSpPr/>
          <p:nvPr/>
        </p:nvSpPr>
        <p:spPr>
          <a:xfrm>
            <a:off x="3507759" y="4124960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2344A0-73B1-FF45-BB79-E75AA1D71ECA}"/>
              </a:ext>
            </a:extLst>
          </p:cNvPr>
          <p:cNvSpPr/>
          <p:nvPr/>
        </p:nvSpPr>
        <p:spPr>
          <a:xfrm>
            <a:off x="4663199" y="4108832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E6A572-072D-B742-AE96-5F8174241006}"/>
              </a:ext>
            </a:extLst>
          </p:cNvPr>
          <p:cNvSpPr/>
          <p:nvPr/>
        </p:nvSpPr>
        <p:spPr>
          <a:xfrm>
            <a:off x="5788678" y="4124959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D1FAE6-A289-9746-AB0E-89A392562DE6}"/>
              </a:ext>
            </a:extLst>
          </p:cNvPr>
          <p:cNvSpPr/>
          <p:nvPr/>
        </p:nvSpPr>
        <p:spPr>
          <a:xfrm>
            <a:off x="9498798" y="4080007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5DC17-762A-F31A-3A1A-1620341B5B81}"/>
              </a:ext>
            </a:extLst>
          </p:cNvPr>
          <p:cNvSpPr txBox="1"/>
          <p:nvPr/>
        </p:nvSpPr>
        <p:spPr>
          <a:xfrm>
            <a:off x="838200" y="5275152"/>
            <a:ext cx="3876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Involves Grammar and Syntax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F78D3-D95C-38F9-5D47-08C877D3A49D}"/>
              </a:ext>
            </a:extLst>
          </p:cNvPr>
          <p:cNvSpPr txBox="1"/>
          <p:nvPr/>
        </p:nvSpPr>
        <p:spPr>
          <a:xfrm>
            <a:off x="1029038" y="5777259"/>
            <a:ext cx="3133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about semantics?</a:t>
            </a:r>
          </a:p>
        </p:txBody>
      </p:sp>
    </p:spTree>
    <p:extLst>
      <p:ext uri="{BB962C8B-B14F-4D97-AF65-F5344CB8AC3E}">
        <p14:creationId xmlns:p14="http://schemas.microsoft.com/office/powerpoint/2010/main" val="2469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09ECE-3A9F-B341-8955-02B00C868E19}"/>
              </a:ext>
            </a:extLst>
          </p:cNvPr>
          <p:cNvSpPr txBox="1"/>
          <p:nvPr/>
        </p:nvSpPr>
        <p:spPr>
          <a:xfrm>
            <a:off x="998145" y="4957822"/>
            <a:ext cx="9498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Involves Grammar and Syntax</a:t>
            </a:r>
          </a:p>
          <a:p>
            <a:r>
              <a:rPr lang="en-US" sz="2400" dirty="0"/>
              <a:t>     </a:t>
            </a:r>
            <a:r>
              <a:rPr lang="en-US" sz="2400" dirty="0">
                <a:hlinkClick r:id="rId2"/>
              </a:rPr>
              <a:t>https://chatgpt.com/share/69603ea9-a8b4-8002-a3ec-150f793437cc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36F34F-F6DB-FF43-B2B7-F27E2F5CCFEC}"/>
              </a:ext>
            </a:extLst>
          </p:cNvPr>
          <p:cNvSpPr txBox="1"/>
          <p:nvPr/>
        </p:nvSpPr>
        <p:spPr>
          <a:xfrm>
            <a:off x="998145" y="5920489"/>
            <a:ext cx="3133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about semantics?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B034BD-689E-4242-A823-374EE1655EA0}"/>
              </a:ext>
            </a:extLst>
          </p:cNvPr>
          <p:cNvSpPr/>
          <p:nvPr/>
        </p:nvSpPr>
        <p:spPr>
          <a:xfrm>
            <a:off x="2003466" y="3873358"/>
            <a:ext cx="2578808" cy="87348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DD573A-8B49-AC43-8B93-004348C69F80}"/>
              </a:ext>
            </a:extLst>
          </p:cNvPr>
          <p:cNvSpPr/>
          <p:nvPr/>
        </p:nvSpPr>
        <p:spPr>
          <a:xfrm>
            <a:off x="3417070" y="2957175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1A67F92-0575-984A-84FE-44EDBB59B786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1A8CCC-F8C5-AF45-983E-B111BA218661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A55E28-0A0C-4841-B3DF-F32B7DCB3076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29CB65-700F-DA49-87B9-EAADF8BD05A2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562D8F-AA38-9447-AE3D-F4E93390C632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261D554-4CB0-274B-8AAD-AA5A7087BEEA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53F9271-ED2C-E242-BF85-7EFDBDC0CCE9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BF7118-F1A1-3041-897D-E036727D8852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8A2894-1D5C-954E-9C37-98D4590CECF8}"/>
              </a:ext>
            </a:extLst>
          </p:cNvPr>
          <p:cNvSpPr/>
          <p:nvPr/>
        </p:nvSpPr>
        <p:spPr>
          <a:xfrm>
            <a:off x="3507759" y="4124960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D1094F-CD65-4446-9FF8-E7153E0D920E}"/>
              </a:ext>
            </a:extLst>
          </p:cNvPr>
          <p:cNvSpPr/>
          <p:nvPr/>
        </p:nvSpPr>
        <p:spPr>
          <a:xfrm>
            <a:off x="4663199" y="4108832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15744A-5193-AF4E-95A1-3EE34463CAF4}"/>
              </a:ext>
            </a:extLst>
          </p:cNvPr>
          <p:cNvSpPr/>
          <p:nvPr/>
        </p:nvSpPr>
        <p:spPr>
          <a:xfrm>
            <a:off x="5788678" y="4124959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73DC8E-AAA2-6148-BBBC-9E9FC3CD7204}"/>
              </a:ext>
            </a:extLst>
          </p:cNvPr>
          <p:cNvSpPr/>
          <p:nvPr/>
        </p:nvSpPr>
        <p:spPr>
          <a:xfrm>
            <a:off x="9498798" y="4080007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</p:spTree>
    <p:extLst>
      <p:ext uri="{BB962C8B-B14F-4D97-AF65-F5344CB8AC3E}">
        <p14:creationId xmlns:p14="http://schemas.microsoft.com/office/powerpoint/2010/main" val="3533907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982"/>
            <a:ext cx="103199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So, can we define a simple language using building blocks of English?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/>
                </a:solidFill>
              </a:rPr>
              <a:t>ARTICLE</a:t>
            </a:r>
          </a:p>
          <a:p>
            <a:r>
              <a:rPr lang="en-US" dirty="0">
                <a:solidFill>
                  <a:schemeClr val="accent5"/>
                </a:solidFill>
              </a:rPr>
              <a:t>NOUN</a:t>
            </a:r>
          </a:p>
          <a:p>
            <a:r>
              <a:rPr lang="en-US" dirty="0">
                <a:solidFill>
                  <a:schemeClr val="accent2"/>
                </a:solidFill>
              </a:rPr>
              <a:t>VERB</a:t>
            </a:r>
          </a:p>
          <a:p>
            <a:r>
              <a:rPr lang="en-US" dirty="0"/>
              <a:t>ADJECTIVE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574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435133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</p:txBody>
      </p:sp>
    </p:spTree>
    <p:extLst>
      <p:ext uri="{BB962C8B-B14F-4D97-AF65-F5344CB8AC3E}">
        <p14:creationId xmlns:p14="http://schemas.microsoft.com/office/powerpoint/2010/main" val="673513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435133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C4128-EB41-8C4C-BD9E-035254182B47}"/>
              </a:ext>
            </a:extLst>
          </p:cNvPr>
          <p:cNvSpPr/>
          <p:nvPr/>
        </p:nvSpPr>
        <p:spPr>
          <a:xfrm>
            <a:off x="3629040" y="4900140"/>
            <a:ext cx="49362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2638316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7261" cy="2592263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7A441-AE11-A142-8BD5-411D0C2C7B40}"/>
              </a:ext>
            </a:extLst>
          </p:cNvPr>
          <p:cNvSpPr txBox="1"/>
          <p:nvPr/>
        </p:nvSpPr>
        <p:spPr>
          <a:xfrm>
            <a:off x="6888586" y="4417888"/>
            <a:ext cx="315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Question mark means optional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2FB24-E787-774A-B0EA-BBF57E8A28EB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3287511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273401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2D962-6900-E84D-9E9C-A8260A193381}"/>
              </a:ext>
            </a:extLst>
          </p:cNvPr>
          <p:cNvSpPr/>
          <p:nvPr/>
        </p:nvSpPr>
        <p:spPr>
          <a:xfrm>
            <a:off x="3629040" y="5665569"/>
            <a:ext cx="83792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My</a:t>
            </a:r>
            <a:r>
              <a:rPr lang="en-US" sz="3600" dirty="0"/>
              <a:t>            Old                  </a:t>
            </a:r>
            <a:r>
              <a:rPr lang="en-US" sz="3600" dirty="0">
                <a:solidFill>
                  <a:schemeClr val="accent5"/>
                </a:solidFill>
              </a:rPr>
              <a:t>Computer</a:t>
            </a:r>
            <a:r>
              <a:rPr lang="en-US" sz="3600" dirty="0"/>
              <a:t>    </a:t>
            </a:r>
            <a:r>
              <a:rPr lang="en-US" sz="3600" dirty="0">
                <a:solidFill>
                  <a:schemeClr val="accent2"/>
                </a:solidFill>
              </a:rPr>
              <a:t>Crashed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F369C-F091-7344-9BD6-2ED84BB60B7E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2328458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273401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2D962-6900-E84D-9E9C-A8260A193381}"/>
              </a:ext>
            </a:extLst>
          </p:cNvPr>
          <p:cNvSpPr/>
          <p:nvPr/>
        </p:nvSpPr>
        <p:spPr>
          <a:xfrm>
            <a:off x="3629040" y="5665569"/>
            <a:ext cx="8212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The</a:t>
            </a:r>
            <a:r>
              <a:rPr lang="en-US" sz="3600" dirty="0"/>
              <a:t>           Purple            </a:t>
            </a:r>
            <a:r>
              <a:rPr lang="en-US" sz="3600" dirty="0">
                <a:solidFill>
                  <a:schemeClr val="accent5"/>
                </a:solidFill>
              </a:rPr>
              <a:t>Dog</a:t>
            </a:r>
            <a:r>
              <a:rPr lang="en-US" sz="3600" dirty="0"/>
              <a:t>              </a:t>
            </a:r>
            <a:r>
              <a:rPr lang="en-US" sz="3600" dirty="0">
                <a:solidFill>
                  <a:schemeClr val="accent2"/>
                </a:solidFill>
              </a:rPr>
              <a:t>Crashed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5638C2-E48E-0843-82CB-46C3DF178E5C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849400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273401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4361F-B1B5-EF47-BF11-12B30351F418}"/>
              </a:ext>
            </a:extLst>
          </p:cNvPr>
          <p:cNvSpPr txBox="1"/>
          <p:nvPr/>
        </p:nvSpPr>
        <p:spPr>
          <a:xfrm>
            <a:off x="421240" y="4530903"/>
            <a:ext cx="2331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grammatically correct,</a:t>
            </a:r>
          </a:p>
          <a:p>
            <a:r>
              <a:rPr lang="en-US" dirty="0"/>
              <a:t>semantically correct?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4226CF-0D91-D649-881C-2FC0DD891146}"/>
              </a:ext>
            </a:extLst>
          </p:cNvPr>
          <p:cNvSpPr/>
          <p:nvPr/>
        </p:nvSpPr>
        <p:spPr>
          <a:xfrm>
            <a:off x="3629040" y="5665569"/>
            <a:ext cx="8212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The</a:t>
            </a:r>
            <a:r>
              <a:rPr lang="en-US" sz="3600" dirty="0"/>
              <a:t>           Purple            </a:t>
            </a:r>
            <a:r>
              <a:rPr lang="en-US" sz="3600" dirty="0">
                <a:solidFill>
                  <a:schemeClr val="accent5"/>
                </a:solidFill>
              </a:rPr>
              <a:t>Dog</a:t>
            </a:r>
            <a:r>
              <a:rPr lang="en-US" sz="3600" dirty="0"/>
              <a:t>              </a:t>
            </a:r>
            <a:r>
              <a:rPr lang="en-US" sz="3600" dirty="0">
                <a:solidFill>
                  <a:schemeClr val="accent2"/>
                </a:solidFill>
              </a:rPr>
              <a:t>Crashed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FE708-D2CD-F641-9B42-78BE4043565B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2913816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273401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4361F-B1B5-EF47-BF11-12B30351F418}"/>
              </a:ext>
            </a:extLst>
          </p:cNvPr>
          <p:cNvSpPr txBox="1"/>
          <p:nvPr/>
        </p:nvSpPr>
        <p:spPr>
          <a:xfrm>
            <a:off x="421240" y="4175894"/>
            <a:ext cx="4078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other sentences can you construct?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FE708-D2CD-F641-9B42-78BE4043565B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2F914-EF43-A44C-A00B-0E3A405A5CC4}"/>
              </a:ext>
            </a:extLst>
          </p:cNvPr>
          <p:cNvSpPr txBox="1"/>
          <p:nvPr/>
        </p:nvSpPr>
        <p:spPr>
          <a:xfrm>
            <a:off x="421240" y="4559643"/>
            <a:ext cx="363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could we expand the language?</a:t>
            </a:r>
          </a:p>
        </p:txBody>
      </p:sp>
    </p:spTree>
    <p:extLst>
      <p:ext uri="{BB962C8B-B14F-4D97-AF65-F5344CB8AC3E}">
        <p14:creationId xmlns:p14="http://schemas.microsoft.com/office/powerpoint/2010/main" val="2203327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CEC8E0-5FE2-7843-ABB5-D05DBADBFA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Simple Language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628FE7-AE9C-7740-9120-25C354B4EB7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19951" cy="2734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/>
              <a:t>ADJECTIVE = {Purple, Spotted, Old}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ADD83-B064-1E49-8239-AB27F997C296}"/>
              </a:ext>
            </a:extLst>
          </p:cNvPr>
          <p:cNvSpPr/>
          <p:nvPr/>
        </p:nvSpPr>
        <p:spPr>
          <a:xfrm>
            <a:off x="3629040" y="4900140"/>
            <a:ext cx="77671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ADJECTIVE?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FB7E8-601A-4945-B38E-34C9E3C75EEC}"/>
              </a:ext>
            </a:extLst>
          </p:cNvPr>
          <p:cNvSpPr txBox="1"/>
          <p:nvPr/>
        </p:nvSpPr>
        <p:spPr>
          <a:xfrm>
            <a:off x="421240" y="4530903"/>
            <a:ext cx="3851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other </a:t>
            </a:r>
            <a:r>
              <a:rPr lang="en-US" dirty="0">
                <a:highlight>
                  <a:srgbClr val="FFFF00"/>
                </a:highlight>
              </a:rPr>
              <a:t>languages</a:t>
            </a:r>
            <a:r>
              <a:rPr lang="en-US" dirty="0"/>
              <a:t> can you specify?</a:t>
            </a:r>
          </a:p>
        </p:txBody>
      </p:sp>
    </p:spTree>
    <p:extLst>
      <p:ext uri="{BB962C8B-B14F-4D97-AF65-F5344CB8AC3E}">
        <p14:creationId xmlns:p14="http://schemas.microsoft.com/office/powerpoint/2010/main" val="10143326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A9C4-F616-124A-A0AB-688A5322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4CDC-E778-C74F-8901-DB3715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9951" cy="2734018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4361F-B1B5-EF47-BF11-12B30351F418}"/>
              </a:ext>
            </a:extLst>
          </p:cNvPr>
          <p:cNvSpPr txBox="1"/>
          <p:nvPr/>
        </p:nvSpPr>
        <p:spPr>
          <a:xfrm>
            <a:off x="421240" y="4530903"/>
            <a:ext cx="3851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other </a:t>
            </a:r>
            <a:r>
              <a:rPr lang="en-US" dirty="0">
                <a:highlight>
                  <a:srgbClr val="FFFF00"/>
                </a:highlight>
              </a:rPr>
              <a:t>languages</a:t>
            </a:r>
            <a:r>
              <a:rPr lang="en-US" dirty="0"/>
              <a:t> can you specify?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FE708-D2CD-F641-9B42-78BE4043565B}"/>
              </a:ext>
            </a:extLst>
          </p:cNvPr>
          <p:cNvSpPr/>
          <p:nvPr/>
        </p:nvSpPr>
        <p:spPr>
          <a:xfrm>
            <a:off x="1885081" y="4994408"/>
            <a:ext cx="77831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</a:rPr>
              <a:t>ARTICLE</a:t>
            </a:r>
            <a:r>
              <a:rPr lang="en-US" sz="3600" dirty="0"/>
              <a:t>   ADJECTIVE*   </a:t>
            </a:r>
            <a:r>
              <a:rPr lang="en-US" sz="3600" dirty="0">
                <a:solidFill>
                  <a:schemeClr val="accent5"/>
                </a:solidFill>
              </a:rPr>
              <a:t>NOUN</a:t>
            </a:r>
            <a:r>
              <a:rPr lang="en-US" sz="3600" dirty="0"/>
              <a:t>          </a:t>
            </a:r>
            <a:r>
              <a:rPr lang="en-US" sz="3600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BE17F-B508-5847-2C67-4C1ADE1A2F5D}"/>
              </a:ext>
            </a:extLst>
          </p:cNvPr>
          <p:cNvSpPr txBox="1"/>
          <p:nvPr/>
        </p:nvSpPr>
        <p:spPr>
          <a:xfrm>
            <a:off x="1627561" y="5846544"/>
            <a:ext cx="8622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sng" dirty="0">
                <a:effectLst/>
                <a:latin typeface="Arial" panose="020B0604020202020204" pitchFamily="34" charset="0"/>
                <a:hlinkClick r:id="rId2"/>
              </a:rPr>
              <a:t>Stephen Cole Kleene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formalized the concept of a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3" tooltip="Regular language"/>
              </a:rPr>
              <a:t>regular language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so-called Kleene 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sta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 indicates a </a:t>
            </a:r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repeat of the item (0 or more times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(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4"/>
              </a:rPr>
              <a:t>more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83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461D-D11E-5B42-A1CA-F93D99A1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670" y="225743"/>
            <a:ext cx="9133703" cy="1325563"/>
          </a:xfrm>
        </p:spPr>
        <p:txBody>
          <a:bodyPr/>
          <a:lstStyle/>
          <a:p>
            <a:r>
              <a:rPr lang="en-US" dirty="0"/>
              <a:t>Lexical Analysis Labels Parts of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5608-CD25-FF4D-B350-E57BD3261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3828"/>
          </a:xfrm>
        </p:spPr>
        <p:txBody>
          <a:bodyPr/>
          <a:lstStyle/>
          <a:p>
            <a:r>
              <a:rPr lang="en-US" dirty="0"/>
              <a:t>Parser (module 2) will talk about the organization of the parts of speech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49B159-7113-6641-A87C-EA211099F6BB}"/>
              </a:ext>
            </a:extLst>
          </p:cNvPr>
          <p:cNvSpPr txBox="1">
            <a:spLocks/>
          </p:cNvSpPr>
          <p:nvPr/>
        </p:nvSpPr>
        <p:spPr>
          <a:xfrm>
            <a:off x="838200" y="4297680"/>
            <a:ext cx="10319951" cy="2734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=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=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= {Ran, Crashed, Accelerated}</a:t>
            </a:r>
          </a:p>
          <a:p>
            <a:r>
              <a:rPr lang="en-US" dirty="0"/>
              <a:t>ADJECTIVE = {Purple, Spotted, Old}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2A8A1-4AE8-FB46-806D-61366AAA41DE}"/>
              </a:ext>
            </a:extLst>
          </p:cNvPr>
          <p:cNvSpPr txBox="1"/>
          <p:nvPr/>
        </p:nvSpPr>
        <p:spPr>
          <a:xfrm>
            <a:off x="933651" y="3438586"/>
            <a:ext cx="2724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Lexical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170DB-CF6D-A147-A8EF-40B38754F5EE}"/>
              </a:ext>
            </a:extLst>
          </p:cNvPr>
          <p:cNvSpPr txBox="1"/>
          <p:nvPr/>
        </p:nvSpPr>
        <p:spPr>
          <a:xfrm>
            <a:off x="6732134" y="3429000"/>
            <a:ext cx="12384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Parser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9BCA1-4B18-A844-92AA-4BE92465B410}"/>
              </a:ext>
            </a:extLst>
          </p:cNvPr>
          <p:cNvSpPr/>
          <p:nvPr/>
        </p:nvSpPr>
        <p:spPr>
          <a:xfrm>
            <a:off x="6732134" y="4134321"/>
            <a:ext cx="5031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ARTICLE</a:t>
            </a:r>
            <a:r>
              <a:rPr lang="en-US" sz="2400" dirty="0"/>
              <a:t>   ADJECTIVE*   </a:t>
            </a:r>
            <a:r>
              <a:rPr lang="en-US" sz="2400" dirty="0">
                <a:solidFill>
                  <a:schemeClr val="accent5"/>
                </a:solidFill>
              </a:rPr>
              <a:t>NOUN</a:t>
            </a:r>
            <a:r>
              <a:rPr lang="en-US" sz="2400" dirty="0"/>
              <a:t>     </a:t>
            </a:r>
            <a:r>
              <a:rPr lang="en-US" sz="2400" dirty="0">
                <a:solidFill>
                  <a:schemeClr val="accent2"/>
                </a:solidFill>
              </a:rPr>
              <a:t>VERB</a:t>
            </a:r>
          </a:p>
        </p:txBody>
      </p:sp>
    </p:spTree>
    <p:extLst>
      <p:ext uri="{BB962C8B-B14F-4D97-AF65-F5344CB8AC3E}">
        <p14:creationId xmlns:p14="http://schemas.microsoft.com/office/powerpoint/2010/main" val="2219020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Introduction Lexical Analysis</a:t>
            </a:r>
          </a:p>
          <a:p>
            <a:endParaRPr lang="en-US" sz="3600" dirty="0"/>
          </a:p>
          <a:p>
            <a:r>
              <a:rPr lang="en-US" sz="3600" b="1" dirty="0"/>
              <a:t>Programs for Lexical Analysis</a:t>
            </a:r>
          </a:p>
          <a:p>
            <a:endParaRPr lang="en-US" sz="3600" dirty="0"/>
          </a:p>
          <a:p>
            <a:r>
              <a:rPr lang="en-US" sz="3600" dirty="0"/>
              <a:t>Lexical analysis of a simple programming language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Naïve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832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 for 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8F91-4D0C-0D4D-A072-C4096A36D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Scanner (sometimes called </a:t>
            </a:r>
            <a:r>
              <a:rPr lang="en-US" sz="3600" dirty="0" err="1"/>
              <a:t>lexer</a:t>
            </a:r>
            <a:r>
              <a:rPr lang="en-US" sz="3600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gets defined by a list of tokens and definitions: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</p:spTree>
    <p:extLst>
      <p:ext uri="{BB962C8B-B14F-4D97-AF65-F5344CB8AC3E}">
        <p14:creationId xmlns:p14="http://schemas.microsoft.com/office/powerpoint/2010/main" val="1778017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Programs for Lexical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8F91-4D0C-0D4D-A072-C4096A36D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32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Scanner (sometimes called </a:t>
            </a:r>
            <a:r>
              <a:rPr lang="en-US" dirty="0" err="1"/>
              <a:t>lexer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Defined by a list of tokens and definitions: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E0EBAC-48FF-7746-8746-AF4922AD948E}"/>
              </a:ext>
            </a:extLst>
          </p:cNvPr>
          <p:cNvSpPr txBox="1">
            <a:spLocks/>
          </p:cNvSpPr>
          <p:nvPr/>
        </p:nvSpPr>
        <p:spPr>
          <a:xfrm>
            <a:off x="838200" y="3577882"/>
            <a:ext cx="10319951" cy="234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ARTICLE          =  {The, A, My, Your}</a:t>
            </a:r>
          </a:p>
          <a:p>
            <a:r>
              <a:rPr lang="en-US" dirty="0">
                <a:solidFill>
                  <a:schemeClr val="accent5"/>
                </a:solidFill>
              </a:rPr>
              <a:t>NOUN             =  {Dog, Car, Computer}</a:t>
            </a:r>
          </a:p>
          <a:p>
            <a:r>
              <a:rPr lang="en-US" dirty="0">
                <a:solidFill>
                  <a:schemeClr val="accent2"/>
                </a:solidFill>
              </a:rPr>
              <a:t>VERB               =  {Ran, Crashed, Accelerated}</a:t>
            </a:r>
          </a:p>
          <a:p>
            <a:r>
              <a:rPr lang="en-US" dirty="0"/>
              <a:t>ADJECTIVE      =  {Purple, Spotted, Old}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29CDA-E251-6B4C-9B36-26FDCE1D7AF3}"/>
              </a:ext>
            </a:extLst>
          </p:cNvPr>
          <p:cNvSpPr txBox="1"/>
          <p:nvPr/>
        </p:nvSpPr>
        <p:spPr>
          <a:xfrm>
            <a:off x="1241658" y="6150726"/>
            <a:ext cx="821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BAEDA7-C7A1-9045-AD0B-60FFA3113174}"/>
              </a:ext>
            </a:extLst>
          </p:cNvPr>
          <p:cNvSpPr/>
          <p:nvPr/>
        </p:nvSpPr>
        <p:spPr>
          <a:xfrm>
            <a:off x="741145" y="3442945"/>
            <a:ext cx="216568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85B44-F4E9-844F-B5BB-65DEA47F8D9A}"/>
              </a:ext>
            </a:extLst>
          </p:cNvPr>
          <p:cNvSpPr/>
          <p:nvPr/>
        </p:nvSpPr>
        <p:spPr>
          <a:xfrm>
            <a:off x="3396114" y="3442945"/>
            <a:ext cx="4207844" cy="25728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248E9-7178-E44A-A3DB-19C8162611C5}"/>
              </a:ext>
            </a:extLst>
          </p:cNvPr>
          <p:cNvSpPr txBox="1"/>
          <p:nvPr/>
        </p:nvSpPr>
        <p:spPr>
          <a:xfrm>
            <a:off x="4203687" y="6150726"/>
            <a:ext cx="189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Tokens Definitions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797E4-25BC-2640-89E4-731F221EC392}"/>
              </a:ext>
            </a:extLst>
          </p:cNvPr>
          <p:cNvSpPr txBox="1"/>
          <p:nvPr/>
        </p:nvSpPr>
        <p:spPr>
          <a:xfrm>
            <a:off x="7820392" y="2515696"/>
            <a:ext cx="2420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Original program:</a:t>
            </a:r>
          </a:p>
          <a:p>
            <a:r>
              <a:rPr lang="en-US" sz="2400" i="1" dirty="0"/>
              <a:t>Lex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798BB-724A-5246-A7AB-5265767E0366}"/>
              </a:ext>
            </a:extLst>
          </p:cNvPr>
          <p:cNvSpPr/>
          <p:nvPr/>
        </p:nvSpPr>
        <p:spPr>
          <a:xfrm>
            <a:off x="7809964" y="3481630"/>
            <a:ext cx="4407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/wiki/Lex_(software)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1B837-EC77-974D-BD50-1945CC9799BC}"/>
              </a:ext>
            </a:extLst>
          </p:cNvPr>
          <p:cNvSpPr txBox="1"/>
          <p:nvPr/>
        </p:nvSpPr>
        <p:spPr>
          <a:xfrm>
            <a:off x="7790294" y="4159360"/>
            <a:ext cx="33227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Popular implementations</a:t>
            </a:r>
          </a:p>
          <a:p>
            <a:r>
              <a:rPr lang="en-US" sz="2400" i="1" dirty="0"/>
              <a:t>Flex</a:t>
            </a:r>
          </a:p>
        </p:txBody>
      </p:sp>
    </p:spTree>
    <p:extLst>
      <p:ext uri="{BB962C8B-B14F-4D97-AF65-F5344CB8AC3E}">
        <p14:creationId xmlns:p14="http://schemas.microsoft.com/office/powerpoint/2010/main" val="1501760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882C7-AD1B-E045-9F49-287F123E9188}"/>
              </a:ext>
            </a:extLst>
          </p:cNvPr>
          <p:cNvSpPr txBox="1"/>
          <p:nvPr/>
        </p:nvSpPr>
        <p:spPr>
          <a:xfrm>
            <a:off x="838200" y="1690688"/>
            <a:ext cx="882485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/>
                </a:solidFill>
                <a:latin typeface="Courier" pitchFamily="2" charset="0"/>
              </a:rPr>
              <a:t>// Constructor, generates a Scanner</a:t>
            </a:r>
          </a:p>
          <a:p>
            <a:r>
              <a:rPr lang="en-US" sz="3200" dirty="0">
                <a:latin typeface="Courier" pitchFamily="2" charset="0"/>
              </a:rPr>
              <a:t>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</a:p>
          <a:p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// The string we want to do </a:t>
            </a:r>
            <a:br>
              <a:rPr lang="en-US" sz="3200" dirty="0">
                <a:solidFill>
                  <a:schemeClr val="accent6"/>
                </a:solidFill>
                <a:latin typeface="Courier" pitchFamily="2" charset="0"/>
              </a:rPr>
            </a:b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// lexical analysis on</a:t>
            </a:r>
          </a:p>
          <a:p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Crashed“)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543875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D63AE-F704-1540-961C-00239A76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2683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</p:txBody>
      </p:sp>
    </p:spTree>
    <p:extLst>
      <p:ext uri="{BB962C8B-B14F-4D97-AF65-F5344CB8AC3E}">
        <p14:creationId xmlns:p14="http://schemas.microsoft.com/office/powerpoint/2010/main" val="2338085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3048555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9D11A-40CF-3A4B-936B-8CBF94E0EA76}"/>
              </a:ext>
            </a:extLst>
          </p:cNvPr>
          <p:cNvSpPr/>
          <p:nvPr/>
        </p:nvSpPr>
        <p:spPr>
          <a:xfrm>
            <a:off x="386745" y="4977564"/>
            <a:ext cx="6340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[(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000" dirty="0">
                <a:latin typeface="Courier" pitchFamily="2" charset="0"/>
              </a:rPr>
              <a:t>), (ADJECTIVE), (</a:t>
            </a:r>
            <a:r>
              <a:rPr lang="en-US" sz="20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000" dirty="0">
                <a:latin typeface="Courier" pitchFamily="2" charset="0"/>
              </a:rPr>
              <a:t>), (</a:t>
            </a:r>
            <a:r>
              <a:rPr lang="en-US" sz="20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000" dirty="0">
                <a:latin typeface="Courier" pitchFamily="2" charset="0"/>
              </a:rPr>
              <a:t>)]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3D55D-9A46-9342-A742-7F08EC3A0BD6}"/>
              </a:ext>
            </a:extLst>
          </p:cNvPr>
          <p:cNvSpPr txBox="1"/>
          <p:nvPr/>
        </p:nvSpPr>
        <p:spPr>
          <a:xfrm>
            <a:off x="7113069" y="5193008"/>
            <a:ext cx="437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Useful, but we might need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55091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93ED1-8A60-F946-BFE6-B1D4F2628EE5}"/>
              </a:ext>
            </a:extLst>
          </p:cNvPr>
          <p:cNvSpPr txBox="1"/>
          <p:nvPr/>
        </p:nvSpPr>
        <p:spPr>
          <a:xfrm>
            <a:off x="7241193" y="5773834"/>
            <a:ext cx="321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Lexeme</a:t>
            </a:r>
            <a:r>
              <a:rPr lang="en-US" sz="2400" i="1" dirty="0"/>
              <a:t>: (TOKEN, value)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821B1-7552-624D-BCBD-B811E6347CFD}"/>
              </a:ext>
            </a:extLst>
          </p:cNvPr>
          <p:cNvSpPr/>
          <p:nvPr/>
        </p:nvSpPr>
        <p:spPr>
          <a:xfrm>
            <a:off x="386745" y="4977564"/>
            <a:ext cx="63401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[(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000" dirty="0">
                <a:latin typeface="Courier" pitchFamily="2" charset="0"/>
              </a:rPr>
              <a:t>), (ADJECTIVE), (</a:t>
            </a:r>
            <a:r>
              <a:rPr lang="en-US" sz="20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000" dirty="0">
                <a:latin typeface="Courier" pitchFamily="2" charset="0"/>
              </a:rPr>
              <a:t>), (</a:t>
            </a:r>
            <a:r>
              <a:rPr lang="en-US" sz="20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000" dirty="0">
                <a:latin typeface="Courier" pitchFamily="2" charset="0"/>
              </a:rPr>
              <a:t>)]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CDD07-2C52-DB44-B5D5-2E44AD3A7093}"/>
              </a:ext>
            </a:extLst>
          </p:cNvPr>
          <p:cNvSpPr txBox="1"/>
          <p:nvPr/>
        </p:nvSpPr>
        <p:spPr>
          <a:xfrm>
            <a:off x="7113069" y="5193008"/>
            <a:ext cx="4378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Useful, but we might need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914037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59D11A-40CF-3A4B-936B-8CBF94E0EA76}"/>
              </a:ext>
            </a:extLst>
          </p:cNvPr>
          <p:cNvSpPr/>
          <p:nvPr/>
        </p:nvSpPr>
        <p:spPr>
          <a:xfrm>
            <a:off x="155912" y="4977564"/>
            <a:ext cx="11880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[(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000" dirty="0">
                <a:latin typeface="Courier" pitchFamily="2" charset="0"/>
              </a:rPr>
              <a:t>, “My”), (ADJECTIVE, “Old”), (</a:t>
            </a:r>
            <a:r>
              <a:rPr lang="en-US" sz="20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000" dirty="0">
                <a:latin typeface="Courier" pitchFamily="2" charset="0"/>
              </a:rPr>
              <a:t>, “Computer”), (</a:t>
            </a:r>
            <a:r>
              <a:rPr lang="en-US" sz="20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000" dirty="0">
                <a:latin typeface="Courier" pitchFamily="2" charset="0"/>
              </a:rPr>
              <a:t>, “Crashed”)]</a:t>
            </a:r>
          </a:p>
        </p:txBody>
      </p:sp>
    </p:spTree>
    <p:extLst>
      <p:ext uri="{BB962C8B-B14F-4D97-AF65-F5344CB8AC3E}">
        <p14:creationId xmlns:p14="http://schemas.microsoft.com/office/powerpoint/2010/main" val="2367551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15B600-EE05-C04B-8323-361944CEF273}"/>
              </a:ext>
            </a:extLst>
          </p:cNvPr>
          <p:cNvSpPr/>
          <p:nvPr/>
        </p:nvSpPr>
        <p:spPr>
          <a:xfrm>
            <a:off x="409399" y="4977564"/>
            <a:ext cx="2347594" cy="46166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D54981-380E-4B44-B053-EBC928463DAA}"/>
              </a:ext>
            </a:extLst>
          </p:cNvPr>
          <p:cNvSpPr txBox="1"/>
          <p:nvPr/>
        </p:nvSpPr>
        <p:spPr>
          <a:xfrm>
            <a:off x="386745" y="5747828"/>
            <a:ext cx="3217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Lexeme</a:t>
            </a:r>
            <a:r>
              <a:rPr lang="en-US" sz="2400" i="1" dirty="0"/>
              <a:t>: (TOKEN, value)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72500-6408-6944-9802-0C21097755ED}"/>
              </a:ext>
            </a:extLst>
          </p:cNvPr>
          <p:cNvSpPr/>
          <p:nvPr/>
        </p:nvSpPr>
        <p:spPr>
          <a:xfrm>
            <a:off x="155912" y="4977564"/>
            <a:ext cx="11880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[(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000" dirty="0">
                <a:latin typeface="Courier" pitchFamily="2" charset="0"/>
              </a:rPr>
              <a:t>, “My”), (ADJECTIVE, “Old”), (</a:t>
            </a:r>
            <a:r>
              <a:rPr lang="en-US" sz="20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000" dirty="0">
                <a:latin typeface="Courier" pitchFamily="2" charset="0"/>
              </a:rPr>
              <a:t>, “Computer”), (</a:t>
            </a:r>
            <a:r>
              <a:rPr lang="en-US" sz="20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000" dirty="0">
                <a:latin typeface="Courier" pitchFamily="2" charset="0"/>
              </a:rPr>
              <a:t>, “Crashed”)]</a:t>
            </a:r>
          </a:p>
        </p:txBody>
      </p:sp>
    </p:spTree>
    <p:extLst>
      <p:ext uri="{BB962C8B-B14F-4D97-AF65-F5344CB8AC3E}">
        <p14:creationId xmlns:p14="http://schemas.microsoft.com/office/powerpoint/2010/main" val="412929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680B3-B2F0-E34E-B120-C4071AE47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75" cy="1844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dirty="0"/>
              <a:t>What do we want?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“My Old Computer Crashed”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9C8ED7F4-E5B0-5644-A1C7-641D929321D9}"/>
              </a:ext>
            </a:extLst>
          </p:cNvPr>
          <p:cNvSpPr/>
          <p:nvPr/>
        </p:nvSpPr>
        <p:spPr>
          <a:xfrm rot="5400000">
            <a:off x="2519168" y="4093850"/>
            <a:ext cx="951875" cy="37451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B86FE-01E8-CF4B-87B7-4F51C48514E9}"/>
              </a:ext>
            </a:extLst>
          </p:cNvPr>
          <p:cNvSpPr txBox="1"/>
          <p:nvPr/>
        </p:nvSpPr>
        <p:spPr>
          <a:xfrm>
            <a:off x="3392318" y="3890752"/>
            <a:ext cx="1519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Scanner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1FD87-F987-6C46-88FC-C70C000F9EE2}"/>
              </a:ext>
            </a:extLst>
          </p:cNvPr>
          <p:cNvSpPr txBox="1"/>
          <p:nvPr/>
        </p:nvSpPr>
        <p:spPr>
          <a:xfrm>
            <a:off x="5759723" y="4096441"/>
            <a:ext cx="42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classically, this occurs one lexeme at a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B23AFE-E875-0049-A8F4-97184B475E93}"/>
              </a:ext>
            </a:extLst>
          </p:cNvPr>
          <p:cNvSpPr/>
          <p:nvPr/>
        </p:nvSpPr>
        <p:spPr>
          <a:xfrm>
            <a:off x="409399" y="4977564"/>
            <a:ext cx="2347594" cy="46166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89260-8848-D74C-BD82-D3EE5856B833}"/>
              </a:ext>
            </a:extLst>
          </p:cNvPr>
          <p:cNvSpPr/>
          <p:nvPr/>
        </p:nvSpPr>
        <p:spPr>
          <a:xfrm>
            <a:off x="155912" y="4977564"/>
            <a:ext cx="11880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[(</a:t>
            </a:r>
            <a:r>
              <a:rPr lang="en-US" sz="20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000" dirty="0">
                <a:latin typeface="Courier" pitchFamily="2" charset="0"/>
              </a:rPr>
              <a:t>, “My”), (ADJECTIVE, “Old”), (</a:t>
            </a:r>
            <a:r>
              <a:rPr lang="en-US" sz="20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000" dirty="0">
                <a:latin typeface="Courier" pitchFamily="2" charset="0"/>
              </a:rPr>
              <a:t>, “Computer”), (</a:t>
            </a:r>
            <a:r>
              <a:rPr lang="en-US" sz="20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000" dirty="0">
                <a:latin typeface="Courier" pitchFamily="2" charset="0"/>
              </a:rPr>
              <a:t>, “Crashed”)]</a:t>
            </a:r>
          </a:p>
        </p:txBody>
      </p:sp>
    </p:spTree>
    <p:extLst>
      <p:ext uri="{BB962C8B-B14F-4D97-AF65-F5344CB8AC3E}">
        <p14:creationId xmlns:p14="http://schemas.microsoft.com/office/powerpoint/2010/main" val="4043074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2B62D-78EA-F547-9CA8-4CAA377A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 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882C7-AD1B-E045-9F49-287F123E9188}"/>
              </a:ext>
            </a:extLst>
          </p:cNvPr>
          <p:cNvSpPr txBox="1"/>
          <p:nvPr/>
        </p:nvSpPr>
        <p:spPr>
          <a:xfrm>
            <a:off x="838200" y="1690688"/>
            <a:ext cx="882485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/>
                </a:solidFill>
                <a:latin typeface="Courier" pitchFamily="2" charset="0"/>
              </a:rPr>
              <a:t>// Constructor, generates a Scanner</a:t>
            </a:r>
          </a:p>
          <a:p>
            <a:r>
              <a:rPr lang="en-US" sz="3200" dirty="0">
                <a:latin typeface="Courier" pitchFamily="2" charset="0"/>
              </a:rPr>
              <a:t>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</a:p>
          <a:p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// The string we want to do </a:t>
            </a:r>
            <a:br>
              <a:rPr lang="en-US" sz="3200" dirty="0">
                <a:solidFill>
                  <a:schemeClr val="accent6"/>
                </a:solidFill>
                <a:latin typeface="Courier" pitchFamily="2" charset="0"/>
              </a:rPr>
            </a:b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// lexical analysis on</a:t>
            </a:r>
          </a:p>
          <a:p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Crashed“)</a:t>
            </a:r>
          </a:p>
          <a:p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// Returns the next lexeme</a:t>
            </a:r>
          </a:p>
          <a:p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5885041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756475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833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96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3200" dirty="0">
                <a:latin typeface="Courier" pitchFamily="2" charset="0"/>
              </a:rPr>
              <a:t>, “Computer”)</a:t>
            </a:r>
          </a:p>
        </p:txBody>
      </p:sp>
    </p:spTree>
    <p:extLst>
      <p:ext uri="{BB962C8B-B14F-4D97-AF65-F5344CB8AC3E}">
        <p14:creationId xmlns:p14="http://schemas.microsoft.com/office/powerpoint/2010/main" val="368101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3200" dirty="0">
                <a:latin typeface="Courier" pitchFamily="2" charset="0"/>
              </a:rPr>
              <a:t>, “Computer”)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755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3200" dirty="0">
                <a:latin typeface="Courier" pitchFamily="2" charset="0"/>
              </a:rPr>
              <a:t>, “Computer”)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3200" dirty="0">
                <a:latin typeface="Courier" pitchFamily="2" charset="0"/>
              </a:rPr>
              <a:t>, “Crashed”)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514398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AB513B-6BED-F947-B78A-E2B202019777}"/>
              </a:ext>
            </a:extLst>
          </p:cNvPr>
          <p:cNvSpPr txBox="1"/>
          <p:nvPr/>
        </p:nvSpPr>
        <p:spPr>
          <a:xfrm>
            <a:off x="1698271" y="428178"/>
            <a:ext cx="907171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&gt; s = </a:t>
            </a:r>
            <a:r>
              <a:rPr lang="en-US" sz="3200" dirty="0" err="1">
                <a:latin typeface="Courier" pitchFamily="2" charset="0"/>
              </a:rPr>
              <a:t>ScanerGenerator</a:t>
            </a:r>
            <a:r>
              <a:rPr lang="en-US" sz="3200" dirty="0">
                <a:latin typeface="Courier" pitchFamily="2" charset="0"/>
              </a:rPr>
              <a:t>(tokens)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s.input</a:t>
            </a:r>
            <a:r>
              <a:rPr lang="en-US" sz="3200" dirty="0">
                <a:latin typeface="Courier" pitchFamily="2" charset="0"/>
              </a:rPr>
              <a:t>(“My Old Computer 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3200" dirty="0">
                <a:latin typeface="Courier" pitchFamily="2" charset="0"/>
              </a:rPr>
              <a:t>, “My”)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(ADJECTIVE, “Old”)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3200" dirty="0">
                <a:latin typeface="Courier" pitchFamily="2" charset="0"/>
              </a:rPr>
              <a:t>, “Computer”)</a:t>
            </a:r>
          </a:p>
          <a:p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</a:t>
            </a:r>
            <a:r>
              <a:rPr lang="en-US" sz="3200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3200" dirty="0">
                <a:latin typeface="Courier" pitchFamily="2" charset="0"/>
              </a:rPr>
              <a:t>, “Crashed”)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&gt; </a:t>
            </a:r>
            <a:r>
              <a:rPr lang="en-US" sz="3200" dirty="0" err="1">
                <a:latin typeface="Courier" pitchFamily="2" charset="0"/>
              </a:rPr>
              <a:t>s.token</a:t>
            </a:r>
            <a:r>
              <a:rPr lang="en-US" sz="3200" dirty="0">
                <a:latin typeface="Courier" pitchFamily="2" charset="0"/>
              </a:rPr>
              <a:t>()</a:t>
            </a:r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48729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Lexical Analysis</a:t>
            </a:r>
          </a:p>
          <a:p>
            <a:endParaRPr lang="en-US" dirty="0"/>
          </a:p>
          <a:p>
            <a:r>
              <a:rPr lang="en-US" dirty="0"/>
              <a:t>Programs for Lexical Analysis</a:t>
            </a:r>
          </a:p>
          <a:p>
            <a:endParaRPr lang="en-US" dirty="0"/>
          </a:p>
          <a:p>
            <a:r>
              <a:rPr lang="en-US" b="1" dirty="0"/>
              <a:t>Lexical analysis of a simple programming language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naïve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34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B325-B92C-62BE-23EE-E7441ADD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D571F-64C7-E6E3-CC26-E8C468A3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465A-EDED-7A4C-2B3B-2789D7AB0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word </a:t>
            </a:r>
            <a:r>
              <a:rPr lang="en-US" b="1" dirty="0"/>
              <a:t>“lexical”</a:t>
            </a:r>
            <a:r>
              <a:rPr lang="en-US" dirty="0"/>
              <a:t> relates to words or the vocabulary of a language. It comes from the word </a:t>
            </a:r>
            <a:r>
              <a:rPr lang="en-US" i="1" dirty="0"/>
              <a:t>lexicon</a:t>
            </a:r>
            <a:r>
              <a:rPr lang="en-US" dirty="0"/>
              <a:t>, which is basically a dictionary or a collection of words.</a:t>
            </a:r>
          </a:p>
          <a:p>
            <a:r>
              <a:rPr lang="en-US" dirty="0"/>
              <a:t>So, when you say something is </a:t>
            </a:r>
            <a:r>
              <a:rPr lang="en-US" b="1" dirty="0"/>
              <a:t>lexical</a:t>
            </a:r>
            <a:r>
              <a:rPr lang="en-US" dirty="0"/>
              <a:t>, you are talking about </a:t>
            </a:r>
            <a:r>
              <a:rPr lang="en-US" b="1" dirty="0"/>
              <a:t>words themselves</a:t>
            </a:r>
            <a:r>
              <a:rPr lang="en-US" dirty="0"/>
              <a:t>, their </a:t>
            </a:r>
            <a:r>
              <a:rPr lang="en-US" b="1" dirty="0"/>
              <a:t>meaning</a:t>
            </a:r>
            <a:r>
              <a:rPr lang="en-US" dirty="0"/>
              <a:t>, </a:t>
            </a:r>
            <a:r>
              <a:rPr lang="en-US" b="1" dirty="0"/>
              <a:t>form</a:t>
            </a:r>
            <a:r>
              <a:rPr lang="en-US" dirty="0"/>
              <a:t>, or </a:t>
            </a:r>
            <a:r>
              <a:rPr lang="en-US" b="1" dirty="0"/>
              <a:t>use</a:t>
            </a:r>
            <a:r>
              <a:rPr lang="en-US" dirty="0"/>
              <a:t> in a language, rather than grammar or sentence structure.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Source: </a:t>
            </a:r>
            <a:r>
              <a:rPr lang="en-US" dirty="0" err="1"/>
              <a:t>Chatgpt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835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variables, assignments, non-negative integers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CCFDC-9A58-EB43-8030-82FDAD700A13}"/>
              </a:ext>
            </a:extLst>
          </p:cNvPr>
          <p:cNvSpPr txBox="1"/>
          <p:nvPr/>
        </p:nvSpPr>
        <p:spPr>
          <a:xfrm>
            <a:off x="1031329" y="4889254"/>
            <a:ext cx="5538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What tokens should we have? Ideas?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</p:spTree>
    <p:extLst>
      <p:ext uri="{BB962C8B-B14F-4D97-AF65-F5344CB8AC3E}">
        <p14:creationId xmlns:p14="http://schemas.microsoft.com/office/powerpoint/2010/main" val="2452342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79F52EEA-E05D-1C45-8B74-CFBF8D4F64F7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Lets write tokens and definitions for a simple programming language</a:t>
            </a:r>
          </a:p>
          <a:p>
            <a:r>
              <a:rPr lang="en-US"/>
              <a:t>integer arithmetic (+,*)</a:t>
            </a:r>
          </a:p>
          <a:p>
            <a:r>
              <a:rPr lang="en-US"/>
              <a:t>variables, assignments, non-negative integers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9700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11E15-B4AF-0147-B35A-C6D2A4102E81}"/>
              </a:ext>
            </a:extLst>
          </p:cNvPr>
          <p:cNvSpPr txBox="1"/>
          <p:nvPr/>
        </p:nvSpPr>
        <p:spPr>
          <a:xfrm>
            <a:off x="4497551" y="5117365"/>
            <a:ext cx="7766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[(ID, “x”),  (ASSIGN, “=“), (NUM, ”5”), (PLUS, “+”) ,</a:t>
            </a:r>
          </a:p>
          <a:p>
            <a:r>
              <a:rPr lang="en-US" dirty="0">
                <a:latin typeface="Courier" pitchFamily="2" charset="0"/>
              </a:rPr>
              <a:t> (NUM, “4”), (MULT, “*”),   (NUM, “3”)]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89492BA4-7D67-0048-B2EE-53F08A18AF75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Lets write tokens and definitions for a simple programming language</a:t>
            </a:r>
          </a:p>
          <a:p>
            <a:r>
              <a:rPr lang="en-US"/>
              <a:t>integer arithmetic (+,*)</a:t>
            </a:r>
          </a:p>
          <a:p>
            <a:r>
              <a:rPr lang="en-US"/>
              <a:t>variables, assignments, non-negative integers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442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2BE57-CE84-5841-BC86-5374CEF22BF9}"/>
              </a:ext>
            </a:extLst>
          </p:cNvPr>
          <p:cNvSpPr txBox="1"/>
          <p:nvPr/>
        </p:nvSpPr>
        <p:spPr>
          <a:xfrm>
            <a:off x="8739739" y="3561347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options for tokens</a:t>
            </a:r>
            <a:br>
              <a:rPr lang="en-US" dirty="0"/>
            </a:br>
            <a:r>
              <a:rPr lang="en-US" dirty="0"/>
              <a:t>we could define?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9618BB2-81AB-BF41-A302-5D52FD91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variables, assignments, non-negative integers</a:t>
            </a:r>
          </a:p>
        </p:txBody>
      </p:sp>
    </p:spTree>
    <p:extLst>
      <p:ext uri="{BB962C8B-B14F-4D97-AF65-F5344CB8AC3E}">
        <p14:creationId xmlns:p14="http://schemas.microsoft.com/office/powerpoint/2010/main" val="345994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2BE57-CE84-5841-BC86-5374CEF22BF9}"/>
              </a:ext>
            </a:extLst>
          </p:cNvPr>
          <p:cNvSpPr txBox="1"/>
          <p:nvPr/>
        </p:nvSpPr>
        <p:spPr>
          <a:xfrm>
            <a:off x="8739739" y="3561347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options for tokens</a:t>
            </a:r>
            <a:br>
              <a:rPr lang="en-US" dirty="0"/>
            </a:br>
            <a:r>
              <a:rPr lang="en-US" dirty="0"/>
              <a:t>we could define?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73ED2-3E10-B249-A6BE-CC58F965C197}"/>
              </a:ext>
            </a:extLst>
          </p:cNvPr>
          <p:cNvSpPr txBox="1"/>
          <p:nvPr/>
        </p:nvSpPr>
        <p:spPr>
          <a:xfrm>
            <a:off x="7792126" y="4553883"/>
            <a:ext cx="405591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OP     = {“+”, “*”}</a:t>
            </a:r>
          </a:p>
        </p:txBody>
      </p:sp>
    </p:spTree>
    <p:extLst>
      <p:ext uri="{BB962C8B-B14F-4D97-AF65-F5344CB8AC3E}">
        <p14:creationId xmlns:p14="http://schemas.microsoft.com/office/powerpoint/2010/main" val="37508299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2BE57-CE84-5841-BC86-5374CEF22BF9}"/>
              </a:ext>
            </a:extLst>
          </p:cNvPr>
          <p:cNvSpPr txBox="1"/>
          <p:nvPr/>
        </p:nvSpPr>
        <p:spPr>
          <a:xfrm>
            <a:off x="8739739" y="3561347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options for tokens</a:t>
            </a:r>
            <a:br>
              <a:rPr lang="en-US" dirty="0"/>
            </a:br>
            <a:r>
              <a:rPr lang="en-US" dirty="0"/>
              <a:t>we could define?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73ED2-3E10-B249-A6BE-CC58F965C197}"/>
              </a:ext>
            </a:extLst>
          </p:cNvPr>
          <p:cNvSpPr txBox="1"/>
          <p:nvPr/>
        </p:nvSpPr>
        <p:spPr>
          <a:xfrm>
            <a:off x="7792126" y="4553883"/>
            <a:ext cx="405591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OP     = {“+”, “*”}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A1230-4B8C-A442-BC56-AB788F81557C}"/>
              </a:ext>
            </a:extLst>
          </p:cNvPr>
          <p:cNvSpPr/>
          <p:nvPr/>
        </p:nvSpPr>
        <p:spPr>
          <a:xfrm>
            <a:off x="4624827" y="4969381"/>
            <a:ext cx="2941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(OP, “+”) (OP, “*”)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066E2-B4D6-A648-A463-049038F2FCA3}"/>
              </a:ext>
            </a:extLst>
          </p:cNvPr>
          <p:cNvSpPr txBox="1"/>
          <p:nvPr/>
        </p:nvSpPr>
        <p:spPr>
          <a:xfrm>
            <a:off x="4805769" y="5477212"/>
            <a:ext cx="2663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We can always</a:t>
            </a:r>
          </a:p>
          <a:p>
            <a:pPr algn="ctr"/>
            <a:r>
              <a:rPr lang="en-US" i="1" dirty="0"/>
              <a:t>distinguish using the value</a:t>
            </a:r>
          </a:p>
        </p:txBody>
      </p:sp>
    </p:spTree>
    <p:extLst>
      <p:ext uri="{BB962C8B-B14F-4D97-AF65-F5344CB8AC3E}">
        <p14:creationId xmlns:p14="http://schemas.microsoft.com/office/powerpoint/2010/main" val="30455655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2BE57-CE84-5841-BC86-5374CEF22BF9}"/>
              </a:ext>
            </a:extLst>
          </p:cNvPr>
          <p:cNvSpPr txBox="1"/>
          <p:nvPr/>
        </p:nvSpPr>
        <p:spPr>
          <a:xfrm>
            <a:off x="8739739" y="3561347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options for tokens</a:t>
            </a:r>
            <a:br>
              <a:rPr lang="en-US" dirty="0"/>
            </a:br>
            <a:r>
              <a:rPr lang="en-US" dirty="0"/>
              <a:t>we could define?</a:t>
            </a:r>
          </a:p>
        </p:txBody>
      </p:sp>
    </p:spTree>
    <p:extLst>
      <p:ext uri="{BB962C8B-B14F-4D97-AF65-F5344CB8AC3E}">
        <p14:creationId xmlns:p14="http://schemas.microsoft.com/office/powerpoint/2010/main" val="3090144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99048-1C15-224F-AA21-8BA31C8DA0C4}"/>
              </a:ext>
            </a:extLst>
          </p:cNvPr>
          <p:cNvSpPr txBox="1"/>
          <p:nvPr/>
        </p:nvSpPr>
        <p:spPr>
          <a:xfrm>
            <a:off x="365761" y="4243765"/>
            <a:ext cx="2734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something like this?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2BE57-CE84-5841-BC86-5374CEF22BF9}"/>
              </a:ext>
            </a:extLst>
          </p:cNvPr>
          <p:cNvSpPr txBox="1"/>
          <p:nvPr/>
        </p:nvSpPr>
        <p:spPr>
          <a:xfrm>
            <a:off x="8739739" y="3561347"/>
            <a:ext cx="2483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options for tokens</a:t>
            </a:r>
            <a:br>
              <a:rPr lang="en-US" dirty="0"/>
            </a:br>
            <a:r>
              <a:rPr lang="en-US" dirty="0"/>
              <a:t>we could define?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AA7B3-8534-F34F-865F-914BF5DFB598}"/>
              </a:ext>
            </a:extLst>
          </p:cNvPr>
          <p:cNvSpPr txBox="1"/>
          <p:nvPr/>
        </p:nvSpPr>
        <p:spPr>
          <a:xfrm>
            <a:off x="7669731" y="4428431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FIVE   = “5”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FOUR   = “4”</a:t>
            </a:r>
          </a:p>
          <a:p>
            <a:r>
              <a:rPr lang="en-US" sz="2400" dirty="0">
                <a:latin typeface="Courier" pitchFamily="2" charset="0"/>
              </a:rPr>
              <a:t>...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4D5B2-DDA2-1849-8965-9D9BC19EE5D1}"/>
              </a:ext>
            </a:extLst>
          </p:cNvPr>
          <p:cNvSpPr txBox="1"/>
          <p:nvPr/>
        </p:nvSpPr>
        <p:spPr>
          <a:xfrm>
            <a:off x="5637894" y="4936262"/>
            <a:ext cx="1770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do we</a:t>
            </a:r>
            <a:br>
              <a:rPr lang="en-US" i="1" dirty="0"/>
            </a:br>
            <a:r>
              <a:rPr lang="en-US" i="1" dirty="0"/>
              <a:t>think about this?</a:t>
            </a:r>
          </a:p>
        </p:txBody>
      </p:sp>
    </p:spTree>
    <p:extLst>
      <p:ext uri="{BB962C8B-B14F-4D97-AF65-F5344CB8AC3E}">
        <p14:creationId xmlns:p14="http://schemas.microsoft.com/office/powerpoint/2010/main" val="13061468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 = 5 + 4 * 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D7223-38F0-284A-AA15-91B34C600ED0}"/>
              </a:ext>
            </a:extLst>
          </p:cNvPr>
          <p:cNvSpPr txBox="1"/>
          <p:nvPr/>
        </p:nvSpPr>
        <p:spPr>
          <a:xfrm>
            <a:off x="8547234" y="3599848"/>
            <a:ext cx="224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we missing?</a:t>
            </a:r>
          </a:p>
        </p:txBody>
      </p:sp>
    </p:spTree>
    <p:extLst>
      <p:ext uri="{BB962C8B-B14F-4D97-AF65-F5344CB8AC3E}">
        <p14:creationId xmlns:p14="http://schemas.microsoft.com/office/powerpoint/2010/main" val="2871776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=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5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+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4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*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613097"/>
            <a:ext cx="405591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D7223-38F0-284A-AA15-91B34C600ED0}"/>
              </a:ext>
            </a:extLst>
          </p:cNvPr>
          <p:cNvSpPr txBox="1"/>
          <p:nvPr/>
        </p:nvSpPr>
        <p:spPr>
          <a:xfrm>
            <a:off x="8547234" y="3599848"/>
            <a:ext cx="224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we missing?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91244-5651-9B4B-8E89-897231A281C2}"/>
              </a:ext>
            </a:extLst>
          </p:cNvPr>
          <p:cNvSpPr txBox="1"/>
          <p:nvPr/>
        </p:nvSpPr>
        <p:spPr>
          <a:xfrm>
            <a:off x="8547234" y="3955363"/>
            <a:ext cx="1325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whitespace!</a:t>
            </a:r>
          </a:p>
        </p:txBody>
      </p:sp>
    </p:spTree>
    <p:extLst>
      <p:ext uri="{BB962C8B-B14F-4D97-AF65-F5344CB8AC3E}">
        <p14:creationId xmlns:p14="http://schemas.microsoft.com/office/powerpoint/2010/main" val="23152960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9C79-92B1-A843-A277-DB2275FE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analysis of a simple programming lang.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6A7158-1718-5343-AF6E-457CD563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Lets write tokens and definitions for a simple programming language</a:t>
            </a:r>
          </a:p>
          <a:p>
            <a:r>
              <a:rPr lang="en-US" dirty="0"/>
              <a:t>integer arithmetic (+,*)</a:t>
            </a:r>
          </a:p>
          <a:p>
            <a:r>
              <a:rPr lang="en-US" dirty="0"/>
              <a:t>variables and assignments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9AF3E1-3710-C440-B23B-F2FD8A2C024B}"/>
              </a:ext>
            </a:extLst>
          </p:cNvPr>
          <p:cNvSpPr/>
          <p:nvPr/>
        </p:nvSpPr>
        <p:spPr>
          <a:xfrm>
            <a:off x="4622680" y="3966766"/>
            <a:ext cx="25234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/>
              <a:t>x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=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5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+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4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*</a:t>
            </a:r>
            <a:r>
              <a:rPr lang="en-US" sz="3600" dirty="0">
                <a:highlight>
                  <a:srgbClr val="FFFF00"/>
                </a:highlight>
              </a:rPr>
              <a:t> </a:t>
            </a:r>
            <a:r>
              <a:rPr lang="en-US" sz="3600" dirty="0"/>
              <a:t>3;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3A718-B918-DF44-9D42-03C2367875FF}"/>
              </a:ext>
            </a:extLst>
          </p:cNvPr>
          <p:cNvSpPr txBox="1"/>
          <p:nvPr/>
        </p:nvSpPr>
        <p:spPr>
          <a:xfrm>
            <a:off x="5255394" y="3563935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6C5E9-F863-0F41-9E7D-0A56BD4D9A5D}"/>
              </a:ext>
            </a:extLst>
          </p:cNvPr>
          <p:cNvSpPr txBox="1"/>
          <p:nvPr/>
        </p:nvSpPr>
        <p:spPr>
          <a:xfrm>
            <a:off x="365761" y="4289931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“ 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D7223-38F0-284A-AA15-91B34C600ED0}"/>
              </a:ext>
            </a:extLst>
          </p:cNvPr>
          <p:cNvSpPr txBox="1"/>
          <p:nvPr/>
        </p:nvSpPr>
        <p:spPr>
          <a:xfrm>
            <a:off x="8547234" y="3599848"/>
            <a:ext cx="224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we missing?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91244-5651-9B4B-8E89-897231A281C2}"/>
              </a:ext>
            </a:extLst>
          </p:cNvPr>
          <p:cNvSpPr txBox="1"/>
          <p:nvPr/>
        </p:nvSpPr>
        <p:spPr>
          <a:xfrm>
            <a:off x="8547234" y="3955363"/>
            <a:ext cx="1325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whitespace!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F89AF-8DE8-8A41-8C99-2FD8E2BD36CC}"/>
              </a:ext>
            </a:extLst>
          </p:cNvPr>
          <p:cNvSpPr txBox="1"/>
          <p:nvPr/>
        </p:nvSpPr>
        <p:spPr>
          <a:xfrm>
            <a:off x="4774131" y="5255393"/>
            <a:ext cx="53469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Typically* we ignore whitespace and newlines and tabs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*unless we are python 😖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E2CD91-39CB-1949-BB11-28A7385AA2BE}"/>
              </a:ext>
            </a:extLst>
          </p:cNvPr>
          <p:cNvSpPr txBox="1"/>
          <p:nvPr/>
        </p:nvSpPr>
        <p:spPr>
          <a:xfrm>
            <a:off x="4774131" y="5610908"/>
            <a:ext cx="4629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Ignored tokens do not get returned as a lexeme</a:t>
            </a:r>
          </a:p>
        </p:txBody>
      </p:sp>
    </p:spTree>
    <p:extLst>
      <p:ext uri="{BB962C8B-B14F-4D97-AF65-F5344CB8AC3E}">
        <p14:creationId xmlns:p14="http://schemas.microsoft.com/office/powerpoint/2010/main" val="34356449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F187-1B91-4045-838F-D1D38495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is the first step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EA0C-D773-EE46-AFD3-EF1082A1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3255"/>
          </a:xfrm>
        </p:spPr>
        <p:txBody>
          <a:bodyPr/>
          <a:lstStyle/>
          <a:p>
            <a:r>
              <a:rPr lang="en-US" dirty="0"/>
              <a:t>How do we parse a sentence in English?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5D5BA-AA03-2B48-811E-C3F272492657}"/>
              </a:ext>
            </a:extLst>
          </p:cNvPr>
          <p:cNvSpPr/>
          <p:nvPr/>
        </p:nvSpPr>
        <p:spPr>
          <a:xfrm>
            <a:off x="3417070" y="2957175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5E7E97-6D81-0D46-8F77-EDA091F15600}"/>
              </a:ext>
            </a:extLst>
          </p:cNvPr>
          <p:cNvCxnSpPr>
            <a:cxnSpLocks/>
          </p:cNvCxnSpPr>
          <p:nvPr/>
        </p:nvCxnSpPr>
        <p:spPr>
          <a:xfrm flipH="1">
            <a:off x="2936240" y="3429000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4D785B-5541-304F-99F7-AE526657840D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A4A045-D1DD-4540-9284-083B5686E418}"/>
              </a:ext>
            </a:extLst>
          </p:cNvPr>
          <p:cNvCxnSpPr>
            <a:cxnSpLocks/>
          </p:cNvCxnSpPr>
          <p:nvPr/>
        </p:nvCxnSpPr>
        <p:spPr>
          <a:xfrm>
            <a:off x="5130800" y="3541950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380D98-647E-5947-B5F5-9DC930933612}"/>
              </a:ext>
            </a:extLst>
          </p:cNvPr>
          <p:cNvCxnSpPr>
            <a:cxnSpLocks/>
          </p:cNvCxnSpPr>
          <p:nvPr/>
        </p:nvCxnSpPr>
        <p:spPr>
          <a:xfrm>
            <a:off x="6096000" y="3429000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3F277A-8E32-714A-8604-910CE4C0F69A}"/>
              </a:ext>
            </a:extLst>
          </p:cNvPr>
          <p:cNvCxnSpPr>
            <a:cxnSpLocks/>
          </p:cNvCxnSpPr>
          <p:nvPr/>
        </p:nvCxnSpPr>
        <p:spPr>
          <a:xfrm>
            <a:off x="6959600" y="3429000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C7AD6F-6E55-8548-99CD-E2F32D4FFAC0}"/>
              </a:ext>
            </a:extLst>
          </p:cNvPr>
          <p:cNvCxnSpPr>
            <a:cxnSpLocks/>
          </p:cNvCxnSpPr>
          <p:nvPr/>
        </p:nvCxnSpPr>
        <p:spPr>
          <a:xfrm>
            <a:off x="8056880" y="3429000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DE400BF-1DFD-234D-84AF-1273548CD5C7}"/>
              </a:ext>
            </a:extLst>
          </p:cNvPr>
          <p:cNvSpPr/>
          <p:nvPr/>
        </p:nvSpPr>
        <p:spPr>
          <a:xfrm>
            <a:off x="2137323" y="4044752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B0DF22-06D4-7F4C-B61C-6575D4C1C681}"/>
              </a:ext>
            </a:extLst>
          </p:cNvPr>
          <p:cNvSpPr/>
          <p:nvPr/>
        </p:nvSpPr>
        <p:spPr>
          <a:xfrm>
            <a:off x="7894781" y="4048194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3D4EC2-4EF2-5744-BFF5-71E805173A06}"/>
              </a:ext>
            </a:extLst>
          </p:cNvPr>
          <p:cNvSpPr/>
          <p:nvPr/>
        </p:nvSpPr>
        <p:spPr>
          <a:xfrm>
            <a:off x="3507759" y="4124960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F25BA9-89AC-8D47-9692-A430E15C0FE7}"/>
              </a:ext>
            </a:extLst>
          </p:cNvPr>
          <p:cNvSpPr/>
          <p:nvPr/>
        </p:nvSpPr>
        <p:spPr>
          <a:xfrm>
            <a:off x="4663199" y="4108832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2880FD-A72D-8B47-83CC-022FC99FC38F}"/>
              </a:ext>
            </a:extLst>
          </p:cNvPr>
          <p:cNvSpPr/>
          <p:nvPr/>
        </p:nvSpPr>
        <p:spPr>
          <a:xfrm>
            <a:off x="5788678" y="4124959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2BFDC-6157-A64C-8E1F-0DB61947EE0F}"/>
              </a:ext>
            </a:extLst>
          </p:cNvPr>
          <p:cNvSpPr/>
          <p:nvPr/>
        </p:nvSpPr>
        <p:spPr>
          <a:xfrm>
            <a:off x="9498798" y="4080007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37B55-A041-A94D-B7B1-244C7704920A}"/>
              </a:ext>
            </a:extLst>
          </p:cNvPr>
          <p:cNvSpPr txBox="1"/>
          <p:nvPr/>
        </p:nvSpPr>
        <p:spPr>
          <a:xfrm>
            <a:off x="3657600" y="5169633"/>
            <a:ext cx="507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White space is ignored because it is not meaningful!</a:t>
            </a:r>
          </a:p>
        </p:txBody>
      </p:sp>
    </p:spTree>
    <p:extLst>
      <p:ext uri="{BB962C8B-B14F-4D97-AF65-F5344CB8AC3E}">
        <p14:creationId xmlns:p14="http://schemas.microsoft.com/office/powerpoint/2010/main" val="11599551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CAE7-875A-E24C-834D-787CE866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possible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9C97-DB10-174B-9716-21C6205D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Consider the token:</a:t>
            </a:r>
          </a:p>
          <a:p>
            <a:endParaRPr lang="en-US" dirty="0"/>
          </a:p>
          <a:p>
            <a:r>
              <a:rPr lang="en-US" dirty="0">
                <a:latin typeface="Courier" pitchFamily="2" charset="0"/>
              </a:rPr>
              <a:t>CLASS_TOKEN = {“</a:t>
            </a:r>
            <a:r>
              <a:rPr lang="en-US" dirty="0" err="1">
                <a:latin typeface="Courier" pitchFamily="2" charset="0"/>
              </a:rPr>
              <a:t>cse</a:t>
            </a:r>
            <a:r>
              <a:rPr lang="en-US" dirty="0">
                <a:latin typeface="Courier" pitchFamily="2" charset="0"/>
              </a:rPr>
              <a:t>”, “110”, “cse110”}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would the lexemes be for: “cse110”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r>
              <a:rPr lang="en-US" dirty="0">
                <a:latin typeface="Courier" pitchFamily="2" charset="0"/>
              </a:rPr>
              <a:t>(CLASS_TOKEN, ”</a:t>
            </a:r>
            <a:r>
              <a:rPr lang="en-US" dirty="0" err="1">
                <a:latin typeface="Courier" pitchFamily="2" charset="0"/>
              </a:rPr>
              <a:t>cse</a:t>
            </a:r>
            <a:r>
              <a:rPr lang="en-US" dirty="0">
                <a:latin typeface="Courier" pitchFamily="2" charset="0"/>
              </a:rPr>
              <a:t>”) (CLASS_TOKEN, ”110”)</a:t>
            </a:r>
          </a:p>
          <a:p>
            <a:r>
              <a:rPr lang="en-US" dirty="0">
                <a:latin typeface="Courier" pitchFamily="2" charset="0"/>
              </a:rPr>
              <a:t>(CLASS_TOKEN, ”cse110”)</a:t>
            </a:r>
          </a:p>
        </p:txBody>
      </p:sp>
    </p:spTree>
    <p:extLst>
      <p:ext uri="{BB962C8B-B14F-4D97-AF65-F5344CB8AC3E}">
        <p14:creationId xmlns:p14="http://schemas.microsoft.com/office/powerpoint/2010/main" val="6447616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CAE7-875A-E24C-834D-787CE866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possible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9C97-DB10-174B-9716-21C6205D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Consider the token:</a:t>
            </a:r>
          </a:p>
          <a:p>
            <a:endParaRPr lang="en-US" dirty="0"/>
          </a:p>
          <a:p>
            <a:r>
              <a:rPr lang="en-US" dirty="0">
                <a:latin typeface="Courier" pitchFamily="2" charset="0"/>
              </a:rPr>
              <a:t>CLASS_TOKEN = {“</a:t>
            </a:r>
            <a:r>
              <a:rPr lang="en-US" dirty="0" err="1">
                <a:latin typeface="Courier" pitchFamily="2" charset="0"/>
              </a:rPr>
              <a:t>cse</a:t>
            </a:r>
            <a:r>
              <a:rPr lang="en-US" dirty="0">
                <a:latin typeface="Courier" pitchFamily="2" charset="0"/>
              </a:rPr>
              <a:t>”, “110”, “cse110”}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would the lexemes be for: “cse110”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options: </a:t>
            </a:r>
          </a:p>
          <a:p>
            <a:r>
              <a:rPr lang="en-US" dirty="0">
                <a:latin typeface="Courier" pitchFamily="2" charset="0"/>
              </a:rPr>
              <a:t>(CLASS_TOKEN, ”</a:t>
            </a:r>
            <a:r>
              <a:rPr lang="en-US" dirty="0" err="1">
                <a:latin typeface="Courier" pitchFamily="2" charset="0"/>
              </a:rPr>
              <a:t>cse</a:t>
            </a:r>
            <a:r>
              <a:rPr lang="en-US" dirty="0">
                <a:latin typeface="Courier" pitchFamily="2" charset="0"/>
              </a:rPr>
              <a:t>”) (CLASS_TOKEN, ”110”)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(CLASS_TOKEN, ”cse110”)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6B274-6409-D34F-99AE-3BFF0C021447}"/>
              </a:ext>
            </a:extLst>
          </p:cNvPr>
          <p:cNvSpPr txBox="1"/>
          <p:nvPr/>
        </p:nvSpPr>
        <p:spPr>
          <a:xfrm>
            <a:off x="4167739" y="6304547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one!</a:t>
            </a:r>
          </a:p>
        </p:txBody>
      </p:sp>
    </p:spTree>
    <p:extLst>
      <p:ext uri="{BB962C8B-B14F-4D97-AF65-F5344CB8AC3E}">
        <p14:creationId xmlns:p14="http://schemas.microsoft.com/office/powerpoint/2010/main" val="5165944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CAE7-875A-E24C-834D-787CE866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possible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9C97-DB10-174B-9716-21C6205D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Important for operators, e.g. in C</a:t>
            </a:r>
          </a:p>
          <a:p>
            <a:r>
              <a:rPr lang="en-US" dirty="0">
                <a:latin typeface="Courier" pitchFamily="2" charset="0"/>
              </a:rPr>
              <a:t>++, +=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would we scan </a:t>
            </a:r>
            <a:r>
              <a:rPr lang="en-US" dirty="0">
                <a:latin typeface="Courier" pitchFamily="2" charset="0"/>
              </a:rPr>
              <a:t>“x++;”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[(ID, “x”), (ADD, “+”), (ADD, “+”), (SEMI, “;”)]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[(ID, “x”), (INCREMENT, “++”), (SEMI, “;”)]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6547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CAE7-875A-E24C-834D-787CE866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possible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9C97-DB10-174B-9716-21C6205D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3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for variable names and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would we scan: </a:t>
            </a:r>
            <a:r>
              <a:rPr lang="en-US" dirty="0">
                <a:latin typeface="Courier" pitchFamily="2" charset="0"/>
              </a:rPr>
              <a:t>“</a:t>
            </a:r>
            <a:r>
              <a:rPr lang="en-US" dirty="0" err="1">
                <a:latin typeface="Courier" pitchFamily="2" charset="0"/>
              </a:rPr>
              <a:t>my_var</a:t>
            </a:r>
            <a:r>
              <a:rPr lang="en-US" dirty="0">
                <a:latin typeface="Courier" pitchFamily="2" charset="0"/>
              </a:rPr>
              <a:t> = 10;” ?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483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CAE7-875A-E24C-834D-787CE866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possible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09C97-DB10-174B-9716-21C6205D5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3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Important for variable names and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would we scan: </a:t>
            </a:r>
            <a:r>
              <a:rPr lang="en-US" dirty="0">
                <a:latin typeface="Courier" pitchFamily="2" charset="0"/>
              </a:rPr>
              <a:t>“</a:t>
            </a:r>
            <a:r>
              <a:rPr lang="en-US" dirty="0" err="1">
                <a:latin typeface="Courier" pitchFamily="2" charset="0"/>
              </a:rPr>
              <a:t>my_var</a:t>
            </a:r>
            <a:r>
              <a:rPr lang="en-US" dirty="0">
                <a:latin typeface="Courier" pitchFamily="2" charset="0"/>
              </a:rPr>
              <a:t> = 10;” 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A9191-43B5-3C4E-8525-D5D3FD52F01A}"/>
              </a:ext>
            </a:extLst>
          </p:cNvPr>
          <p:cNvSpPr/>
          <p:nvPr/>
        </p:nvSpPr>
        <p:spPr>
          <a:xfrm>
            <a:off x="664143" y="5159141"/>
            <a:ext cx="106896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[(ID, “</a:t>
            </a:r>
            <a:r>
              <a:rPr lang="en-US" sz="2400" dirty="0" err="1">
                <a:latin typeface="Courier" pitchFamily="2" charset="0"/>
              </a:rPr>
              <a:t>my_var</a:t>
            </a:r>
            <a:r>
              <a:rPr lang="en-US" sz="2400" dirty="0">
                <a:latin typeface="Courier" pitchFamily="2" charset="0"/>
              </a:rPr>
              <a:t>”), (ASSIGN, “=”), (NUM, “10”), (SEMI, “;”)]</a:t>
            </a:r>
          </a:p>
        </p:txBody>
      </p:sp>
    </p:spTree>
    <p:extLst>
      <p:ext uri="{BB962C8B-B14F-4D97-AF65-F5344CB8AC3E}">
        <p14:creationId xmlns:p14="http://schemas.microsoft.com/office/powerpoint/2010/main" val="15178754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Lexical Analysis</a:t>
            </a:r>
          </a:p>
          <a:p>
            <a:endParaRPr lang="en-US" dirty="0"/>
          </a:p>
          <a:p>
            <a:r>
              <a:rPr lang="en-US" dirty="0"/>
              <a:t>Programs for Lexical Analysis</a:t>
            </a:r>
          </a:p>
          <a:p>
            <a:endParaRPr lang="en-US" dirty="0"/>
          </a:p>
          <a:p>
            <a:r>
              <a:rPr lang="en-US" dirty="0"/>
              <a:t>Lexical analysis of a simple programming language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naïve implementation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3510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6B6F-D0EB-1745-9891-35110C375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scanner that implements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7DB02-A4F6-7D45-B8F1-959DAF606F0D}"/>
              </a:ext>
            </a:extLst>
          </p:cNvPr>
          <p:cNvSpPr txBox="1"/>
          <p:nvPr/>
        </p:nvSpPr>
        <p:spPr>
          <a:xfrm>
            <a:off x="933652" y="2639919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3621745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                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1011194" y="1325563"/>
            <a:ext cx="2624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Building block: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A42133-4EFD-8A45-87EE-9AB281D90C06}"/>
              </a:ext>
            </a:extLst>
          </p:cNvPr>
          <p:cNvSpPr/>
          <p:nvPr/>
        </p:nvSpPr>
        <p:spPr>
          <a:xfrm>
            <a:off x="5703623" y="1225689"/>
            <a:ext cx="621874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2FB41D"/>
                </a:solidFill>
                <a:latin typeface="Menlo" panose="020B0609030804020204" pitchFamily="49" charset="0"/>
              </a:rPr>
              <a:t>StringStream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sz="2400" dirty="0">
              <a:solidFill>
                <a:srgbClr val="2FB41D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       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is_empty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 == 0  # bool str empty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24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not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.is_empty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[0]  # return 1</a:t>
            </a:r>
            <a:r>
              <a:rPr lang="en-US" sz="2400" baseline="30000" dirty="0">
                <a:solidFill>
                  <a:srgbClr val="000000"/>
                </a:solidFill>
                <a:latin typeface="Menlo" panose="020B0609030804020204" pitchFamily="49" charset="0"/>
              </a:rPr>
              <a:t>st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char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>
                <a:solidFill>
                  <a:srgbClr val="C814C9"/>
                </a:solidFill>
                <a:latin typeface="Menlo" panose="020B0609030804020204" pitchFamily="49" charset="0"/>
              </a:rPr>
              <a:t>None   # no chars in str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[1:]  # rest of string</a:t>
            </a:r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7299F-792D-BE52-139B-323C0BCF7C4B}"/>
              </a:ext>
            </a:extLst>
          </p:cNvPr>
          <p:cNvSpPr txBox="1"/>
          <p:nvPr/>
        </p:nvSpPr>
        <p:spPr>
          <a:xfrm>
            <a:off x="1235675" y="2158424"/>
            <a:ext cx="38058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class allows strings to be read as if we were doing I/O from a file one char at a time.</a:t>
            </a:r>
          </a:p>
          <a:p>
            <a:endParaRPr lang="en-US" sz="2800" dirty="0"/>
          </a:p>
          <a:p>
            <a:r>
              <a:rPr lang="en-US" sz="2800" dirty="0"/>
              <a:t>So you are implementing with an abstraction that works both from a string or from a file.</a:t>
            </a:r>
          </a:p>
        </p:txBody>
      </p:sp>
    </p:spTree>
    <p:extLst>
      <p:ext uri="{BB962C8B-B14F-4D97-AF65-F5344CB8AC3E}">
        <p14:creationId xmlns:p14="http://schemas.microsoft.com/office/powerpoint/2010/main" val="27506544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43"/>
            <a:ext cx="10515600" cy="1325563"/>
          </a:xfrm>
        </p:spPr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382506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1186801" y="2391012"/>
            <a:ext cx="7549415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b="1" dirty="0" err="1">
                <a:solidFill>
                  <a:srgbClr val="400BD9"/>
                </a:solidFill>
                <a:latin typeface="Menlo" panose="020B0609030804020204" pitchFamily="49" charset="0"/>
              </a:rPr>
              <a:t>init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__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StringStream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input_string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IGNORE: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        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.ss.is_empty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8FC04-CF68-E345-8D78-1A2CB2983DDB}"/>
              </a:ext>
            </a:extLst>
          </p:cNvPr>
          <p:cNvSpPr txBox="1"/>
          <p:nvPr/>
        </p:nvSpPr>
        <p:spPr>
          <a:xfrm>
            <a:off x="7846521" y="3601026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35794180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054" y="-37393"/>
            <a:ext cx="10515600" cy="1325563"/>
          </a:xfrm>
        </p:spPr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937054" y="1105913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1024742" y="1858024"/>
            <a:ext cx="75494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 == 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"+"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"ADD"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 == 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"*"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297881" y="3601026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12652617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289C-032F-074C-B03E-591F7FD7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06872-72E6-3C4A-9056-D8CB0C14410A}"/>
              </a:ext>
            </a:extLst>
          </p:cNvPr>
          <p:cNvSpPr txBox="1"/>
          <p:nvPr/>
        </p:nvSpPr>
        <p:spPr>
          <a:xfrm>
            <a:off x="838200" y="1690688"/>
            <a:ext cx="6572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First step in implementing the scanner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C6E73-D7C3-D445-8DB7-120BF20D1C31}"/>
              </a:ext>
            </a:extLst>
          </p:cNvPr>
          <p:cNvSpPr/>
          <p:nvPr/>
        </p:nvSpPr>
        <p:spPr>
          <a:xfrm>
            <a:off x="641683" y="2512932"/>
            <a:ext cx="7549415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2FB41D"/>
                </a:solidFill>
                <a:latin typeface="Menlo" panose="020B0609030804020204" pitchFamily="49" charset="0"/>
              </a:rPr>
              <a:t>NaiveScanner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b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400BD9"/>
                </a:solidFill>
                <a:latin typeface="Menlo" panose="020B0609030804020204" pitchFamily="49" charset="0"/>
              </a:rPr>
              <a:t>token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      ...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     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           </a:t>
            </a:r>
            <a:r>
              <a:rPr lang="en-US" sz="2400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""</a:t>
            </a:r>
            <a:endParaRPr lang="en-US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NUMS: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sz="2400" dirty="0">
                <a:solidFill>
                  <a:srgbClr val="9FA01C"/>
                </a:solidFill>
                <a:latin typeface="Menlo" panose="020B060903080402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.ss.peek_char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</a:t>
            </a:r>
            <a:r>
              <a:rPr lang="en-US" sz="2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400" dirty="0" err="1">
                <a:solidFill>
                  <a:srgbClr val="000000"/>
                </a:solidFill>
                <a:latin typeface="Menlo" panose="020B0609030804020204" pitchFamily="49" charset="0"/>
              </a:rPr>
              <a:t>.ss.eat_char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2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-US" sz="2400" dirty="0">
                <a:solidFill>
                  <a:srgbClr val="2FB41D"/>
                </a:solidFill>
                <a:latin typeface="Menlo" panose="020B0609030804020204" pitchFamily="49" charset="0"/>
              </a:rPr>
              <a:t>"NUM"</a:t>
            </a:r>
            <a:r>
              <a:rPr lang="en-US" sz="2400" dirty="0">
                <a:solidFill>
                  <a:srgbClr val="000000"/>
                </a:solidFill>
                <a:latin typeface="Menlo" panose="020B0609030804020204" pitchFamily="49" charset="0"/>
              </a:rPr>
              <a:t>, value)</a:t>
            </a:r>
          </a:p>
          <a:p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9F6BE-313B-A148-87EA-3AE21BB78EDC}"/>
              </a:ext>
            </a:extLst>
          </p:cNvPr>
          <p:cNvSpPr txBox="1"/>
          <p:nvPr/>
        </p:nvSpPr>
        <p:spPr>
          <a:xfrm>
            <a:off x="7846521" y="3678028"/>
            <a:ext cx="40559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ID     = [characters]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NUM    = [numbers]</a:t>
            </a:r>
          </a:p>
          <a:p>
            <a:r>
              <a:rPr lang="en-US" sz="2400" dirty="0">
                <a:latin typeface="Courier" pitchFamily="2" charset="0"/>
              </a:rPr>
              <a:t>ASSIGN = ”=“</a:t>
            </a:r>
          </a:p>
          <a:p>
            <a:r>
              <a:rPr lang="en-US" sz="2400" dirty="0">
                <a:latin typeface="Courier" pitchFamily="2" charset="0"/>
              </a:rPr>
              <a:t>PLUS   = “+”</a:t>
            </a:r>
          </a:p>
          <a:p>
            <a:r>
              <a:rPr lang="en-US" sz="2400" dirty="0">
                <a:latin typeface="Courier" pitchFamily="2" charset="0"/>
              </a:rPr>
              <a:t>MULT   = “*”</a:t>
            </a:r>
          </a:p>
          <a:p>
            <a:r>
              <a:rPr lang="en-US" sz="2400" dirty="0">
                <a:latin typeface="Courier" pitchFamily="2" charset="0"/>
              </a:rPr>
              <a:t>IGNORE = [“ “]</a:t>
            </a:r>
          </a:p>
        </p:txBody>
      </p:sp>
    </p:spTree>
    <p:extLst>
      <p:ext uri="{BB962C8B-B14F-4D97-AF65-F5344CB8AC3E}">
        <p14:creationId xmlns:p14="http://schemas.microsoft.com/office/powerpoint/2010/main" val="23090508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issues with our Scanner?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0198"/>
          </a:xfrm>
        </p:spPr>
        <p:txBody>
          <a:bodyPr/>
          <a:lstStyle/>
          <a:p>
            <a:r>
              <a:rPr lang="en-US" dirty="0"/>
              <a:t>Think about it for next class, where we will discuss: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0484F-A1F3-8543-B88C-4BEED94B062C}"/>
              </a:ext>
            </a:extLst>
          </p:cNvPr>
          <p:cNvSpPr/>
          <p:nvPr/>
        </p:nvSpPr>
        <p:spPr>
          <a:xfrm>
            <a:off x="3941139" y="3136612"/>
            <a:ext cx="36942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Regular Expressions!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21275</TotalTime>
  <Words>4236</Words>
  <Application>Microsoft Office PowerPoint</Application>
  <PresentationFormat>Widescreen</PresentationFormat>
  <Paragraphs>842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Courier</vt:lpstr>
      <vt:lpstr>Menlo</vt:lpstr>
      <vt:lpstr>Office Theme</vt:lpstr>
      <vt:lpstr>CSE110A: Compilers </vt:lpstr>
      <vt:lpstr>Review: A Modular Compiler</vt:lpstr>
      <vt:lpstr>Benefits to modular compiler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Topics:</vt:lpstr>
      <vt:lpstr>Topics:</vt:lpstr>
      <vt:lpstr>Parsing is the first step in a compiler</vt:lpstr>
      <vt:lpstr>Parsing is the first step in a compiler</vt:lpstr>
      <vt:lpstr>Parsing is one of the first steps in a compiler</vt:lpstr>
      <vt:lpstr>Parsing is the first step in a compiler</vt:lpstr>
      <vt:lpstr>Parsing is the first step in a compiler</vt:lpstr>
      <vt:lpstr>New Question</vt:lpstr>
      <vt:lpstr>A Simple Language</vt:lpstr>
      <vt:lpstr>A Simple Language</vt:lpstr>
      <vt:lpstr>A Simple Language</vt:lpstr>
      <vt:lpstr>A Simple Language</vt:lpstr>
      <vt:lpstr>A Simple Language</vt:lpstr>
      <vt:lpstr>A Simple Language</vt:lpstr>
      <vt:lpstr>A Simple Language</vt:lpstr>
      <vt:lpstr>PowerPoint Presentation</vt:lpstr>
      <vt:lpstr>A Simple Language</vt:lpstr>
      <vt:lpstr>Lexical Analysis Labels Parts of Speech</vt:lpstr>
      <vt:lpstr>Topics:</vt:lpstr>
      <vt:lpstr>Programs for Lexical Analysis</vt:lpstr>
      <vt:lpstr>Programs for Lexical Analysis</vt:lpstr>
      <vt:lpstr>Scanner API</vt:lpstr>
      <vt:lpstr>Scanner API</vt:lpstr>
      <vt:lpstr>Scanner API</vt:lpstr>
      <vt:lpstr>Scanner API</vt:lpstr>
      <vt:lpstr>Scanner API</vt:lpstr>
      <vt:lpstr>Scanner API</vt:lpstr>
      <vt:lpstr>Scanner API</vt:lpstr>
      <vt:lpstr>Scanner API</vt:lpstr>
      <vt:lpstr>Scanner 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Schedule</vt:lpstr>
      <vt:lpstr>Lexical?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Lexical analysis of a simple programming lang.</vt:lpstr>
      <vt:lpstr>Parsing is the first step in a compiler</vt:lpstr>
      <vt:lpstr>Longest possible match</vt:lpstr>
      <vt:lpstr>Longest possible match</vt:lpstr>
      <vt:lpstr>Longest possible match</vt:lpstr>
      <vt:lpstr>Longest possible match</vt:lpstr>
      <vt:lpstr>Longest possible match</vt:lpstr>
      <vt:lpstr>Schedule</vt:lpstr>
      <vt:lpstr>Naïve implementation</vt:lpstr>
      <vt:lpstr>                Naïve implementation</vt:lpstr>
      <vt:lpstr>Naïve implementation</vt:lpstr>
      <vt:lpstr>Naïve implementation</vt:lpstr>
      <vt:lpstr>Naïve implementation</vt:lpstr>
      <vt:lpstr>What are the issues with our Scanner?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200</cp:revision>
  <dcterms:created xsi:type="dcterms:W3CDTF">2021-03-23T23:59:42Z</dcterms:created>
  <dcterms:modified xsi:type="dcterms:W3CDTF">2026-01-14T10:15:36Z</dcterms:modified>
</cp:coreProperties>
</file>