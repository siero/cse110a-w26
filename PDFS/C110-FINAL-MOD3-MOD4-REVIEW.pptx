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7" r:id="rId2"/>
    <p:sldId id="696" r:id="rId3"/>
    <p:sldId id="697" r:id="rId4"/>
    <p:sldId id="1389" r:id="rId5"/>
    <p:sldId id="699" r:id="rId6"/>
    <p:sldId id="700" r:id="rId7"/>
    <p:sldId id="1390" r:id="rId8"/>
    <p:sldId id="2049" r:id="rId9"/>
    <p:sldId id="1460" r:id="rId10"/>
    <p:sldId id="1462" r:id="rId11"/>
    <p:sldId id="1465" r:id="rId12"/>
    <p:sldId id="1466" r:id="rId13"/>
    <p:sldId id="1467" r:id="rId14"/>
    <p:sldId id="1397" r:id="rId15"/>
    <p:sldId id="1473" r:id="rId16"/>
    <p:sldId id="1474" r:id="rId17"/>
    <p:sldId id="1475" r:id="rId18"/>
    <p:sldId id="1476" r:id="rId19"/>
    <p:sldId id="1477" r:id="rId20"/>
    <p:sldId id="1483" r:id="rId21"/>
    <p:sldId id="1478" r:id="rId22"/>
    <p:sldId id="1479" r:id="rId23"/>
    <p:sldId id="1480" r:id="rId24"/>
    <p:sldId id="1481" r:id="rId25"/>
    <p:sldId id="1482" r:id="rId26"/>
    <p:sldId id="1502" r:id="rId27"/>
    <p:sldId id="1503" r:id="rId28"/>
    <p:sldId id="1510" r:id="rId29"/>
    <p:sldId id="1513" r:id="rId30"/>
    <p:sldId id="1523" r:id="rId31"/>
    <p:sldId id="1526" r:id="rId32"/>
    <p:sldId id="1528" r:id="rId33"/>
    <p:sldId id="1529" r:id="rId34"/>
    <p:sldId id="1552" r:id="rId35"/>
    <p:sldId id="1891" r:id="rId36"/>
    <p:sldId id="1836" r:id="rId37"/>
    <p:sldId id="1837" r:id="rId38"/>
    <p:sldId id="1838" r:id="rId39"/>
    <p:sldId id="1839" r:id="rId40"/>
    <p:sldId id="1840" r:id="rId41"/>
    <p:sldId id="1841" r:id="rId42"/>
    <p:sldId id="1842" r:id="rId43"/>
    <p:sldId id="1843" r:id="rId44"/>
    <p:sldId id="1844" r:id="rId45"/>
    <p:sldId id="1845" r:id="rId46"/>
    <p:sldId id="1846" r:id="rId47"/>
    <p:sldId id="1848" r:id="rId48"/>
    <p:sldId id="1826" r:id="rId49"/>
    <p:sldId id="388" r:id="rId50"/>
    <p:sldId id="1892" r:id="rId51"/>
    <p:sldId id="2057" r:id="rId52"/>
    <p:sldId id="313" r:id="rId53"/>
    <p:sldId id="314" r:id="rId54"/>
    <p:sldId id="315" r:id="rId55"/>
    <p:sldId id="316" r:id="rId56"/>
    <p:sldId id="317" r:id="rId57"/>
    <p:sldId id="382" r:id="rId58"/>
    <p:sldId id="383" r:id="rId59"/>
    <p:sldId id="318" r:id="rId60"/>
    <p:sldId id="319" r:id="rId61"/>
    <p:sldId id="320" r:id="rId62"/>
    <p:sldId id="2050" r:id="rId63"/>
    <p:sldId id="2051" r:id="rId64"/>
    <p:sldId id="2052" r:id="rId65"/>
    <p:sldId id="2053" r:id="rId66"/>
    <p:sldId id="2054" r:id="rId67"/>
    <p:sldId id="2055" r:id="rId68"/>
    <p:sldId id="2056" r:id="rId69"/>
    <p:sldId id="2058" r:id="rId70"/>
    <p:sldId id="332" r:id="rId71"/>
    <p:sldId id="334" r:id="rId72"/>
    <p:sldId id="335" r:id="rId73"/>
    <p:sldId id="336" r:id="rId74"/>
    <p:sldId id="337" r:id="rId75"/>
    <p:sldId id="338" r:id="rId76"/>
    <p:sldId id="339" r:id="rId77"/>
    <p:sldId id="340" r:id="rId78"/>
    <p:sldId id="341" r:id="rId79"/>
    <p:sldId id="1961" r:id="rId80"/>
    <p:sldId id="1969" r:id="rId81"/>
    <p:sldId id="1971" r:id="rId82"/>
    <p:sldId id="1976" r:id="rId83"/>
    <p:sldId id="1972" r:id="rId84"/>
    <p:sldId id="2047" r:id="rId85"/>
    <p:sldId id="2034" r:id="rId86"/>
    <p:sldId id="2046" r:id="rId87"/>
    <p:sldId id="2045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1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C241-0D3F-4349-BD67-2104325A0A2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8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73" y="75784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84" y="1550922"/>
            <a:ext cx="6901683" cy="42035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/>
              <a:t>Topics</a:t>
            </a:r>
            <a:r>
              <a:rPr lang="en-US" sz="3500" dirty="0"/>
              <a:t>: Final Review</a:t>
            </a:r>
          </a:p>
          <a:p>
            <a:pPr marL="0" indent="0">
              <a:buNone/>
            </a:pPr>
            <a:endParaRPr lang="en-US" sz="600" dirty="0"/>
          </a:p>
          <a:p>
            <a:pPr marL="457200" lvl="1" indent="0">
              <a:buNone/>
            </a:pPr>
            <a:r>
              <a:rPr lang="en-US" sz="3000" dirty="0"/>
              <a:t>Module 3: Intermediate Representations</a:t>
            </a:r>
          </a:p>
          <a:p>
            <a:pPr lvl="1"/>
            <a:r>
              <a:rPr lang="en-US" i="1" dirty="0"/>
              <a:t>Overview 2</a:t>
            </a:r>
          </a:p>
          <a:p>
            <a:pPr lvl="1"/>
            <a:r>
              <a:rPr lang="en-US" i="1" dirty="0"/>
              <a:t>ASTs and Type Inferencing   8 </a:t>
            </a:r>
          </a:p>
          <a:p>
            <a:pPr lvl="1"/>
            <a:r>
              <a:rPr lang="en-US" i="1" dirty="0"/>
              <a:t>Intermediate Representations 35</a:t>
            </a:r>
          </a:p>
          <a:p>
            <a:pPr lvl="1"/>
            <a:r>
              <a:rPr lang="en-US" i="1" dirty="0"/>
              <a:t>Scopes  48</a:t>
            </a:r>
          </a:p>
          <a:p>
            <a:pPr marL="457200" lvl="1" indent="0">
              <a:buNone/>
            </a:pPr>
            <a:r>
              <a:rPr lang="en-US" sz="3000" dirty="0"/>
              <a:t>Module 4: Optimizations</a:t>
            </a:r>
          </a:p>
          <a:p>
            <a:pPr lvl="1"/>
            <a:r>
              <a:rPr lang="en-US" i="1" dirty="0"/>
              <a:t>Basic Blocks  49</a:t>
            </a:r>
          </a:p>
          <a:p>
            <a:pPr lvl="1"/>
            <a:r>
              <a:rPr lang="en-US" i="1" dirty="0"/>
              <a:t>Control Flow Graphs  50</a:t>
            </a:r>
          </a:p>
          <a:p>
            <a:pPr lvl="1"/>
            <a:r>
              <a:rPr lang="en-US" i="1" dirty="0"/>
              <a:t>Local Value Numbering (LVN) 51</a:t>
            </a:r>
          </a:p>
          <a:p>
            <a:pPr lvl="1"/>
            <a:r>
              <a:rPr lang="en-US" i="1" dirty="0"/>
              <a:t>Stitching LVN  79</a:t>
            </a:r>
          </a:p>
          <a:p>
            <a:pPr lvl="1"/>
            <a:r>
              <a:rPr lang="en-US" i="1" dirty="0"/>
              <a:t>Loop Unrolling 85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9868755" y="30113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9891340" y="612988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243270" y="612988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494240" y="931005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283799" y="938302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743432" y="1260443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139294" y="1250151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697227" y="157172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764779" y="1562000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B500-1416-664B-BD1D-A70789932F8B}"/>
              </a:ext>
            </a:extLst>
          </p:cNvPr>
          <p:cNvSpPr/>
          <p:nvPr/>
        </p:nvSpPr>
        <p:spPr>
          <a:xfrm>
            <a:off x="8841912" y="243109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02BC6D-A4F3-7945-9BA8-DDAD5EBAD05E}"/>
              </a:ext>
            </a:extLst>
          </p:cNvPr>
          <p:cNvSpPr/>
          <p:nvPr/>
        </p:nvSpPr>
        <p:spPr>
          <a:xfrm>
            <a:off x="8261222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166087-E008-CB41-9E49-F43BE5B52E3C}"/>
              </a:ext>
            </a:extLst>
          </p:cNvPr>
          <p:cNvSpPr/>
          <p:nvPr/>
        </p:nvSpPr>
        <p:spPr>
          <a:xfrm>
            <a:off x="9404049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40F58-CF90-CE41-89B9-CE8DBABC9991}"/>
              </a:ext>
            </a:extLst>
          </p:cNvPr>
          <p:cNvSpPr/>
          <p:nvPr/>
        </p:nvSpPr>
        <p:spPr>
          <a:xfrm>
            <a:off x="8801537" y="387484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F10088-ADEF-7F4E-A316-E753418CD634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8562478" y="2849305"/>
            <a:ext cx="580690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E5B716-F904-F04C-85D6-57BAB595954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9143168" y="2849305"/>
            <a:ext cx="562137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CD5CE6-7944-5940-BF7F-AD6B8EF5481A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8562478" y="3571180"/>
            <a:ext cx="540315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E481C4-ED00-5E48-8D57-93234F440C6A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9102793" y="3571180"/>
            <a:ext cx="602512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FBAFE9-DB06-D242-9A86-5A5DBAE7937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10006561" y="2839576"/>
            <a:ext cx="277238" cy="5224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5BD84F-A29B-7844-AA4E-821E0B90D387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9444424" y="2640198"/>
            <a:ext cx="839375" cy="199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8C64CD-6438-0642-90A2-AB2F8FAC4216}"/>
              </a:ext>
            </a:extLst>
          </p:cNvPr>
          <p:cNvSpPr txBox="1"/>
          <p:nvPr/>
        </p:nvSpPr>
        <p:spPr>
          <a:xfrm>
            <a:off x="10858582" y="30113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3111E8-20FD-9A4E-BB6A-BF339F777B74}"/>
              </a:ext>
            </a:extLst>
          </p:cNvPr>
          <p:cNvSpPr txBox="1"/>
          <p:nvPr/>
        </p:nvSpPr>
        <p:spPr>
          <a:xfrm>
            <a:off x="8063655" y="2447138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CFG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20544-E545-DB40-AE9C-D75E51A5C0A6}"/>
              </a:ext>
            </a:extLst>
          </p:cNvPr>
          <p:cNvSpPr/>
          <p:nvPr/>
        </p:nvSpPr>
        <p:spPr>
          <a:xfrm>
            <a:off x="8859121" y="4978934"/>
            <a:ext cx="3175968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2E933-E9AD-4341-9CF9-2422F61D7ABC}"/>
              </a:ext>
            </a:extLst>
          </p:cNvPr>
          <p:cNvSpPr txBox="1"/>
          <p:nvPr/>
        </p:nvSpPr>
        <p:spPr>
          <a:xfrm>
            <a:off x="10296120" y="4555260"/>
            <a:ext cx="1588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address code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916986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&lt;id,&gt; &lt;assign,=&gt;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3494960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54922DB1-E950-3A4A-A352-62C7816334C5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C73567-0EEA-3640-8BCA-2B033836B622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</p:spTree>
    <p:extLst>
      <p:ext uri="{BB962C8B-B14F-4D97-AF65-F5344CB8AC3E}">
        <p14:creationId xmlns:p14="http://schemas.microsoft.com/office/powerpoint/2010/main" val="405911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2696065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029702" y="404328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4736356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515749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570674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494611" y="570227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460823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5157494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4450444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4433874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4921022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4921022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5342160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250165" y="5430020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3765296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E0EDCDCE-EDCC-DB42-AE5B-2AC23804D692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DE7950-24E0-D14A-98EF-3340907E252D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F3C44B-630C-A94F-BC19-7234420CEA0E}"/>
              </a:ext>
            </a:extLst>
          </p:cNvPr>
          <p:cNvSpPr txBox="1"/>
          <p:nvPr/>
        </p:nvSpPr>
        <p:spPr>
          <a:xfrm>
            <a:off x="310333" y="3136729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&lt;id,&gt; &lt;assign,=&gt;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835C9-2CBF-E14D-83C0-550F8676358B}"/>
              </a:ext>
            </a:extLst>
          </p:cNvPr>
          <p:cNvSpPr txBox="1"/>
          <p:nvPr/>
        </p:nvSpPr>
        <p:spPr>
          <a:xfrm>
            <a:off x="2337683" y="47389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809B10-33DD-D74D-A629-50A1749B399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408973" y="4412612"/>
            <a:ext cx="94711" cy="444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C4D1BAF-D817-5A4B-B8C1-BFE6007460FE}"/>
              </a:ext>
            </a:extLst>
          </p:cNvPr>
          <p:cNvSpPr txBox="1"/>
          <p:nvPr/>
        </p:nvSpPr>
        <p:spPr>
          <a:xfrm>
            <a:off x="3871046" y="53390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3E654AA-A484-BB48-A169-A355A7CEF829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3942336" y="5012682"/>
            <a:ext cx="78751" cy="326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C2045C8-7CC6-F840-B3BE-F355D99FF051}"/>
              </a:ext>
            </a:extLst>
          </p:cNvPr>
          <p:cNvSpPr txBox="1"/>
          <p:nvPr/>
        </p:nvSpPr>
        <p:spPr>
          <a:xfrm>
            <a:off x="5066026" y="58869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6126DE-8922-A54A-9EAF-722D273E36CD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5168864" y="5526826"/>
            <a:ext cx="47203" cy="360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0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1901563" y="2691398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878246" y="338447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435348" y="3805612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584833" y="4354867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366472" y="4350394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603754" y="32563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865020" y="380561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453083" y="3098562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402291" y="3081992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231137" y="3569140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3903836" y="3569140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311214" y="3990278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122026" y="4078138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2755480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E0EDCDCE-EDCC-DB42-AE5B-2AC23804D692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DE7950-24E0-D14A-98EF-3340907E252D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Analysis/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835C9-2CBF-E14D-83C0-550F8676358B}"/>
              </a:ext>
            </a:extLst>
          </p:cNvPr>
          <p:cNvSpPr txBox="1"/>
          <p:nvPr/>
        </p:nvSpPr>
        <p:spPr>
          <a:xfrm>
            <a:off x="2209544" y="33870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809B10-33DD-D74D-A629-50A1749B399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280834" y="3060730"/>
            <a:ext cx="94711" cy="444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C4D1BAF-D817-5A4B-B8C1-BFE6007460FE}"/>
              </a:ext>
            </a:extLst>
          </p:cNvPr>
          <p:cNvSpPr txBox="1"/>
          <p:nvPr/>
        </p:nvSpPr>
        <p:spPr>
          <a:xfrm>
            <a:off x="3742907" y="39871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3E654AA-A484-BB48-A169-A355A7CEF829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3814197" y="3660800"/>
            <a:ext cx="78751" cy="326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C2045C8-7CC6-F840-B3BE-F355D99FF051}"/>
              </a:ext>
            </a:extLst>
          </p:cNvPr>
          <p:cNvSpPr txBox="1"/>
          <p:nvPr/>
        </p:nvSpPr>
        <p:spPr>
          <a:xfrm>
            <a:off x="4937887" y="45350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6126DE-8922-A54A-9EAF-722D273E36CD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5040725" y="4174944"/>
            <a:ext cx="47203" cy="360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31B518C-B046-D24E-9FCB-BAF7B31D40C0}"/>
              </a:ext>
            </a:extLst>
          </p:cNvPr>
          <p:cNvSpPr txBox="1"/>
          <p:nvPr/>
        </p:nvSpPr>
        <p:spPr>
          <a:xfrm>
            <a:off x="1355418" y="46615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A365F6-1DEC-8E49-84F8-B3E667953A55}"/>
              </a:ext>
            </a:extLst>
          </p:cNvPr>
          <p:cNvSpPr/>
          <p:nvPr/>
        </p:nvSpPr>
        <p:spPr>
          <a:xfrm>
            <a:off x="205744" y="5316821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CD6B1B6-616C-6A49-A40B-0FA12DD6D9A9}"/>
              </a:ext>
            </a:extLst>
          </p:cNvPr>
          <p:cNvSpPr/>
          <p:nvPr/>
        </p:nvSpPr>
        <p:spPr>
          <a:xfrm>
            <a:off x="1762846" y="573795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905F5C-8FA2-2944-BB49-4B943DAAD7A5}"/>
              </a:ext>
            </a:extLst>
          </p:cNvPr>
          <p:cNvSpPr/>
          <p:nvPr/>
        </p:nvSpPr>
        <p:spPr>
          <a:xfrm>
            <a:off x="2912331" y="628721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1221B3-82AE-8C41-897F-62B0511BD554}"/>
              </a:ext>
            </a:extLst>
          </p:cNvPr>
          <p:cNvSpPr txBox="1"/>
          <p:nvPr/>
        </p:nvSpPr>
        <p:spPr>
          <a:xfrm>
            <a:off x="2931252" y="51887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7D30FB-0741-2249-9A1D-5B75AFE3118B}"/>
              </a:ext>
            </a:extLst>
          </p:cNvPr>
          <p:cNvSpPr txBox="1"/>
          <p:nvPr/>
        </p:nvSpPr>
        <p:spPr>
          <a:xfrm>
            <a:off x="4192518" y="57379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36024B9-6AE5-E94C-AD98-845CCEBA8790}"/>
              </a:ext>
            </a:extLst>
          </p:cNvPr>
          <p:cNvCxnSpPr>
            <a:endCxn id="63" idx="0"/>
          </p:cNvCxnSpPr>
          <p:nvPr/>
        </p:nvCxnSpPr>
        <p:spPr>
          <a:xfrm flipH="1">
            <a:off x="780581" y="5030909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D20F9F9-9190-844A-A386-743F82F1BBF8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1729789" y="5014339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E8803B5-960F-D144-9BF9-9722BEF5366B}"/>
              </a:ext>
            </a:extLst>
          </p:cNvPr>
          <p:cNvCxnSpPr>
            <a:cxnSpLocks/>
          </p:cNvCxnSpPr>
          <p:nvPr/>
        </p:nvCxnSpPr>
        <p:spPr>
          <a:xfrm flipH="1">
            <a:off x="2558635" y="5501487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ACB6FC3-6B90-F243-9848-B458FAB84832}"/>
              </a:ext>
            </a:extLst>
          </p:cNvPr>
          <p:cNvCxnSpPr>
            <a:cxnSpLocks/>
          </p:cNvCxnSpPr>
          <p:nvPr/>
        </p:nvCxnSpPr>
        <p:spPr>
          <a:xfrm>
            <a:off x="3231334" y="5501487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08FA5E2-4796-A744-98D7-70723BD18836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3638712" y="5922625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0162216-0A32-D24A-9AD9-D3BC7D698EB7}"/>
              </a:ext>
            </a:extLst>
          </p:cNvPr>
          <p:cNvSpPr txBox="1"/>
          <p:nvPr/>
        </p:nvSpPr>
        <p:spPr>
          <a:xfrm>
            <a:off x="4878576" y="61580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6404793-FB38-774B-9605-F39CA02FBEC4}"/>
              </a:ext>
            </a:extLst>
          </p:cNvPr>
          <p:cNvCxnSpPr>
            <a:cxnSpLocks/>
          </p:cNvCxnSpPr>
          <p:nvPr/>
        </p:nvCxnSpPr>
        <p:spPr>
          <a:xfrm>
            <a:off x="4528311" y="5922625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1AED69-32BD-D94C-9F04-455483BCD5D1}"/>
              </a:ext>
            </a:extLst>
          </p:cNvPr>
          <p:cNvSpPr txBox="1"/>
          <p:nvPr/>
        </p:nvSpPr>
        <p:spPr>
          <a:xfrm>
            <a:off x="348791" y="453506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</a:t>
            </a:r>
          </a:p>
        </p:txBody>
      </p:sp>
    </p:spTree>
    <p:extLst>
      <p:ext uri="{BB962C8B-B14F-4D97-AF65-F5344CB8AC3E}">
        <p14:creationId xmlns:p14="http://schemas.microsoft.com/office/powerpoint/2010/main" val="152042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353602" y="3292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203928" y="3947281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761030" y="436841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910515" y="491767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&lt;id,3&gt;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763034" y="5441651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60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929436" y="38191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5190702" y="43684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778765" y="3661369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727973" y="3644799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556819" y="4131947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229518" y="4131947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636896" y="4553085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993225" y="5053460"/>
            <a:ext cx="0" cy="388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451373" y="2976221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5961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99F-17CB-9141-BDCE-B78D069528A5}"/>
              </a:ext>
            </a:extLst>
          </p:cNvPr>
          <p:cNvSpPr txBox="1"/>
          <p:nvPr/>
        </p:nvSpPr>
        <p:spPr>
          <a:xfrm>
            <a:off x="5526495" y="4747750"/>
            <a:ext cx="12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int_to_float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40D7B8-AB44-A048-8143-BF4B6B735845}"/>
              </a:ext>
            </a:extLst>
          </p:cNvPr>
          <p:cNvCxnSpPr>
            <a:cxnSpLocks/>
          </p:cNvCxnSpPr>
          <p:nvPr/>
        </p:nvCxnSpPr>
        <p:spPr>
          <a:xfrm>
            <a:off x="5526495" y="4553085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ight Arrow 53">
            <a:extLst>
              <a:ext uri="{FF2B5EF4-FFF2-40B4-BE49-F238E27FC236}">
                <a16:creationId xmlns:a16="http://schemas.microsoft.com/office/drawing/2014/main" id="{BFB1E1A8-3516-C64B-B6DE-314B2C967F60}"/>
              </a:ext>
            </a:extLst>
          </p:cNvPr>
          <p:cNvSpPr/>
          <p:nvPr/>
        </p:nvSpPr>
        <p:spPr>
          <a:xfrm>
            <a:off x="4881566" y="1258320"/>
            <a:ext cx="209332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28A6CC-38F7-B24A-A386-0237CB790DBA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Analysis</a:t>
            </a:r>
            <a:r>
              <a:rPr lang="en-US" dirty="0"/>
              <a:t>/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5845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30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IR programs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27047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3359947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3781085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4330340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565491" y="48543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32318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37810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3074035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3057465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3544613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3544613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3965751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795682" y="4466126"/>
            <a:ext cx="0" cy="388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67861" y="259662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99F-17CB-9141-BDCE-B78D069528A5}"/>
              </a:ext>
            </a:extLst>
          </p:cNvPr>
          <p:cNvSpPr txBox="1"/>
          <p:nvPr/>
        </p:nvSpPr>
        <p:spPr>
          <a:xfrm>
            <a:off x="5328952" y="4160416"/>
            <a:ext cx="12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int_to_float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40D7B8-AB44-A048-8143-BF4B6B735845}"/>
              </a:ext>
            </a:extLst>
          </p:cNvPr>
          <p:cNvCxnSpPr>
            <a:cxnSpLocks/>
          </p:cNvCxnSpPr>
          <p:nvPr/>
        </p:nvCxnSpPr>
        <p:spPr>
          <a:xfrm>
            <a:off x="5328952" y="3965751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003409-A4AB-764C-9CDA-FBDC98CE0855}"/>
              </a:ext>
            </a:extLst>
          </p:cNvPr>
          <p:cNvSpPr txBox="1"/>
          <p:nvPr/>
        </p:nvSpPr>
        <p:spPr>
          <a:xfrm>
            <a:off x="376487" y="5487649"/>
            <a:ext cx="33554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%r0 = </a:t>
            </a:r>
            <a:r>
              <a:rPr lang="en-US" dirty="0" err="1">
                <a:latin typeface="Courier" pitchFamily="2" charset="0"/>
              </a:rPr>
              <a:t>int_to_float</a:t>
            </a:r>
            <a:r>
              <a:rPr lang="en-US" dirty="0">
                <a:latin typeface="Courier" pitchFamily="2" charset="0"/>
              </a:rPr>
              <a:t>(60);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%r1 = %r0 * id3;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%r2 = %r1 + id2;</a:t>
            </a:r>
          </a:p>
          <a:p>
            <a:r>
              <a:rPr lang="en-US" dirty="0">
                <a:latin typeface="Courier" pitchFamily="2" charset="0"/>
              </a:rPr>
              <a:t>%id1 = %r2;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84BD3-44AF-514F-9253-57495816FC37}"/>
              </a:ext>
            </a:extLst>
          </p:cNvPr>
          <p:cNvSpPr txBox="1"/>
          <p:nvPr/>
        </p:nvSpPr>
        <p:spPr>
          <a:xfrm>
            <a:off x="396506" y="4999850"/>
            <a:ext cx="2441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3-address code program</a:t>
            </a:r>
          </a:p>
        </p:txBody>
      </p:sp>
    </p:spTree>
    <p:extLst>
      <p:ext uri="{BB962C8B-B14F-4D97-AF65-F5344CB8AC3E}">
        <p14:creationId xmlns:p14="http://schemas.microsoft.com/office/powerpoint/2010/main" val="371739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4DF-C6C8-D740-8958-4BBE04B9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representations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A677D1-5FA9-0D47-B7E6-C456675E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6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Several forms:</a:t>
            </a:r>
          </a:p>
          <a:p>
            <a:pPr lvl="1"/>
            <a:r>
              <a:rPr lang="en-US" dirty="0"/>
              <a:t>tree - abstract syntax tree</a:t>
            </a:r>
          </a:p>
          <a:p>
            <a:pPr lvl="1"/>
            <a:r>
              <a:rPr lang="en-US" dirty="0"/>
              <a:t>graphs - control flow graph</a:t>
            </a:r>
          </a:p>
          <a:p>
            <a:pPr lvl="1"/>
            <a:r>
              <a:rPr lang="en-US" dirty="0"/>
              <a:t>linear program - 3 address code</a:t>
            </a:r>
          </a:p>
          <a:p>
            <a:pPr lvl="1"/>
            <a:endParaRPr lang="en-US" dirty="0"/>
          </a:p>
          <a:p>
            <a:r>
              <a:rPr lang="en-US" dirty="0"/>
              <a:t> Often times the program is represented as a hybrid</a:t>
            </a:r>
          </a:p>
          <a:p>
            <a:pPr lvl="1"/>
            <a:r>
              <a:rPr lang="en-US" dirty="0"/>
              <a:t>graphs where nodes are a linear program</a:t>
            </a:r>
          </a:p>
          <a:p>
            <a:pPr lvl="1"/>
            <a:r>
              <a:rPr lang="en-US" dirty="0"/>
              <a:t>linear program where expressions are ASTs</a:t>
            </a:r>
          </a:p>
          <a:p>
            <a:pPr lvl="1"/>
            <a:endParaRPr lang="en-US" dirty="0"/>
          </a:p>
          <a:p>
            <a:r>
              <a:rPr lang="en-US" dirty="0"/>
              <a:t>Progression: </a:t>
            </a:r>
          </a:p>
          <a:p>
            <a:pPr lvl="1"/>
            <a:r>
              <a:rPr lang="en-US" dirty="0"/>
              <a:t>start close to a parse tree</a:t>
            </a:r>
          </a:p>
          <a:p>
            <a:pPr lvl="1"/>
            <a:r>
              <a:rPr lang="en-US" dirty="0"/>
              <a:t>move closer to an ISA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0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D253-166B-4D7F-9D78-C63393BF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A0D9AD-727A-D48B-1818-F77D71DD365C}"/>
              </a:ext>
            </a:extLst>
          </p:cNvPr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EF12BD3-E686-1E98-FAB6-FECF4611E21A}"/>
              </a:ext>
            </a:extLst>
          </p:cNvPr>
          <p:cNvSpPr/>
          <p:nvPr/>
        </p:nvSpPr>
        <p:spPr>
          <a:xfrm>
            <a:off x="7031355" y="5469165"/>
            <a:ext cx="955675" cy="266700"/>
          </a:xfrm>
          <a:custGeom>
            <a:avLst/>
            <a:gdLst/>
            <a:ahLst/>
            <a:cxnLst/>
            <a:rect l="l" t="t" r="r" b="b"/>
            <a:pathLst>
              <a:path w="955675" h="266700">
                <a:moveTo>
                  <a:pt x="0" y="266700"/>
                </a:moveTo>
                <a:lnTo>
                  <a:pt x="955675" y="266700"/>
                </a:lnTo>
                <a:lnTo>
                  <a:pt x="9556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45A09D2-F858-AC51-F84C-046CDCAF153F}"/>
              </a:ext>
            </a:extLst>
          </p:cNvPr>
          <p:cNvSpPr/>
          <p:nvPr/>
        </p:nvSpPr>
        <p:spPr>
          <a:xfrm>
            <a:off x="2568634" y="6127810"/>
            <a:ext cx="365125" cy="355600"/>
          </a:xfrm>
          <a:custGeom>
            <a:avLst/>
            <a:gdLst/>
            <a:ahLst/>
            <a:cxnLst/>
            <a:rect l="l" t="t" r="r" b="b"/>
            <a:pathLst>
              <a:path w="365125" h="355600">
                <a:moveTo>
                  <a:pt x="0" y="355600"/>
                </a:moveTo>
                <a:lnTo>
                  <a:pt x="365125" y="355600"/>
                </a:lnTo>
                <a:lnTo>
                  <a:pt x="365125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8139BF3-939B-E48F-6AEC-6098FA6E7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063" y="2506402"/>
            <a:ext cx="5138452" cy="697627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lang="en-US" spc="-10" dirty="0"/>
              <a:t>Abstract Syntax Trees</a:t>
            </a:r>
            <a:endParaRPr spc="-15" dirty="0"/>
          </a:p>
        </p:txBody>
      </p:sp>
    </p:spTree>
    <p:extLst>
      <p:ext uri="{BB962C8B-B14F-4D97-AF65-F5344CB8AC3E}">
        <p14:creationId xmlns:p14="http://schemas.microsoft.com/office/powerpoint/2010/main" val="423013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/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7250156" y="6273524"/>
            <a:ext cx="266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leaves? </a:t>
            </a:r>
            <a:r>
              <a:rPr lang="en-US" dirty="0">
                <a:highlight>
                  <a:srgbClr val="FFFF00"/>
                </a:highlight>
              </a:rPr>
              <a:t>lexemes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9714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3D8BAD3C-CEB0-5A4D-8A3E-5210E15F3735}"/>
              </a:ext>
            </a:extLst>
          </p:cNvPr>
          <p:cNvGraphicFramePr>
            <a:graphicFrameLocks noGrp="1"/>
          </p:cNvGraphicFramePr>
          <p:nvPr/>
        </p:nvGraphicFramePr>
        <p:xfrm>
          <a:off x="625668" y="3344414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666119AC-5DD5-314D-AF56-FCFB871A071C}"/>
              </a:ext>
            </a:extLst>
          </p:cNvPr>
          <p:cNvSpPr txBox="1"/>
          <p:nvPr/>
        </p:nvSpPr>
        <p:spPr>
          <a:xfrm>
            <a:off x="1989667" y="2125133"/>
            <a:ext cx="37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We’ll start by looking at a parse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B471C-5509-3B49-9383-A19F8AD26BD5}"/>
              </a:ext>
            </a:extLst>
          </p:cNvPr>
          <p:cNvSpPr txBox="1"/>
          <p:nvPr/>
        </p:nvSpPr>
        <p:spPr>
          <a:xfrm>
            <a:off x="7250156" y="6273524"/>
            <a:ext cx="3208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nodes? non-terminals </a:t>
            </a:r>
          </a:p>
        </p:txBody>
      </p:sp>
    </p:spTree>
    <p:extLst>
      <p:ext uri="{BB962C8B-B14F-4D97-AF65-F5344CB8AC3E}">
        <p14:creationId xmlns:p14="http://schemas.microsoft.com/office/powerpoint/2010/main" val="1165827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2CE626-1342-0B4B-BB47-CBDB15075F1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490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FB6BDF-A5BA-E34A-835A-ACE6B6764B7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934394" y="2551289"/>
            <a:ext cx="108379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5F461-691D-8A40-BF02-5477DCCD6419}"/>
              </a:ext>
            </a:extLst>
          </p:cNvPr>
          <p:cNvSpPr txBox="1"/>
          <p:nvPr/>
        </p:nvSpPr>
        <p:spPr>
          <a:xfrm>
            <a:off x="8321021" y="3042087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635052" y="546996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A20D8E-7CF1-0B4D-9127-6E249620A5EC}"/>
              </a:ext>
            </a:extLst>
          </p:cNvPr>
          <p:cNvCxnSpPr>
            <a:cxnSpLocks/>
          </p:cNvCxnSpPr>
          <p:nvPr/>
        </p:nvCxnSpPr>
        <p:spPr>
          <a:xfrm flipH="1">
            <a:off x="8910546" y="344460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6B4660-340A-DF45-8CB8-81052B7E1B0C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B59339-E20C-7745-91B8-29A7B1B7412E}"/>
              </a:ext>
            </a:extLst>
          </p:cNvPr>
          <p:cNvCxnSpPr>
            <a:cxnSpLocks/>
          </p:cNvCxnSpPr>
          <p:nvPr/>
        </p:nvCxnSpPr>
        <p:spPr>
          <a:xfrm>
            <a:off x="10134919" y="344460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136724-5D49-014B-9DEC-1F8700BD3745}"/>
              </a:ext>
            </a:extLst>
          </p:cNvPr>
          <p:cNvSpPr txBox="1"/>
          <p:nvPr/>
        </p:nvSpPr>
        <p:spPr>
          <a:xfrm>
            <a:off x="9677346" y="3911709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70972-9618-E047-923F-E0D1C0D63193}"/>
              </a:ext>
            </a:extLst>
          </p:cNvPr>
          <p:cNvSpPr txBox="1"/>
          <p:nvPr/>
        </p:nvSpPr>
        <p:spPr>
          <a:xfrm>
            <a:off x="8611554" y="388031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02F3FF-9A5B-7C4F-A77D-C72864BD5602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8054" y="5169906"/>
            <a:ext cx="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BFDA3-236A-DE48-9DBE-62D1E3555700}"/>
              </a:ext>
            </a:extLst>
          </p:cNvPr>
          <p:cNvSpPr txBox="1"/>
          <p:nvPr/>
        </p:nvSpPr>
        <p:spPr>
          <a:xfrm>
            <a:off x="9667792" y="3083636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EEA8AE-482E-0143-9431-6FDD91943BD9}"/>
              </a:ext>
            </a:extLst>
          </p:cNvPr>
          <p:cNvSpPr txBox="1"/>
          <p:nvPr/>
        </p:nvSpPr>
        <p:spPr>
          <a:xfrm>
            <a:off x="8286018" y="523479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47B879-7CBD-2441-B162-2919AF09E1EA}"/>
              </a:ext>
            </a:extLst>
          </p:cNvPr>
          <p:cNvSpPr txBox="1"/>
          <p:nvPr/>
        </p:nvSpPr>
        <p:spPr>
          <a:xfrm>
            <a:off x="8581131" y="458004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CFCE85-3C95-F141-B09D-2B4477E5041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8949020" y="4949376"/>
            <a:ext cx="1" cy="285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ED93C5-17C7-B147-8FC4-2D7294FE9E66}"/>
              </a:ext>
            </a:extLst>
          </p:cNvPr>
          <p:cNvCxnSpPr>
            <a:cxnSpLocks/>
          </p:cNvCxnSpPr>
          <p:nvPr/>
        </p:nvCxnSpPr>
        <p:spPr>
          <a:xfrm flipH="1">
            <a:off x="8925455" y="4261657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27132D-35ED-8D45-BA00-8E4BD8D3E89F}"/>
              </a:ext>
            </a:extLst>
          </p:cNvPr>
          <p:cNvSpPr txBox="1"/>
          <p:nvPr/>
        </p:nvSpPr>
        <p:spPr>
          <a:xfrm>
            <a:off x="10783973" y="456171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C60C2-B84F-5D44-A5AD-E637C3ED76EF}"/>
              </a:ext>
            </a:extLst>
          </p:cNvPr>
          <p:cNvSpPr txBox="1"/>
          <p:nvPr/>
        </p:nvSpPr>
        <p:spPr>
          <a:xfrm>
            <a:off x="11079086" y="387477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46DB-997E-984D-9665-FCF7464492F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>
            <a:off x="11446975" y="4244105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639FADF-ABA1-E941-9903-174985B1DAA0}"/>
              </a:ext>
            </a:extLst>
          </p:cNvPr>
          <p:cNvSpPr txBox="1"/>
          <p:nvPr/>
        </p:nvSpPr>
        <p:spPr>
          <a:xfrm>
            <a:off x="2308084" y="20759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E8E115-F029-E943-8313-7C3D32974D2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834862" y="2445326"/>
            <a:ext cx="1623263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1F14F36-EE24-CF48-B573-32F22D51E22F}"/>
              </a:ext>
            </a:extLst>
          </p:cNvPr>
          <p:cNvSpPr txBox="1"/>
          <p:nvPr/>
        </p:nvSpPr>
        <p:spPr>
          <a:xfrm>
            <a:off x="684019" y="29724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7BA2B2D-E228-994A-8368-E4190D4A1D9B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2458125" y="2445326"/>
            <a:ext cx="123274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D360009-C657-124B-BB4C-2C3CF639E130}"/>
              </a:ext>
            </a:extLst>
          </p:cNvPr>
          <p:cNvCxnSpPr>
            <a:cxnSpLocks/>
          </p:cNvCxnSpPr>
          <p:nvPr/>
        </p:nvCxnSpPr>
        <p:spPr>
          <a:xfrm flipH="1">
            <a:off x="2443216" y="333931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175A69A-1F96-E44B-9B1A-FF54C2CDF4F8}"/>
              </a:ext>
            </a:extLst>
          </p:cNvPr>
          <p:cNvCxnSpPr>
            <a:cxnSpLocks/>
          </p:cNvCxnSpPr>
          <p:nvPr/>
        </p:nvCxnSpPr>
        <p:spPr>
          <a:xfrm>
            <a:off x="3667589" y="333931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8825C9-CC56-7241-BA98-F72CD036E0C9}"/>
              </a:ext>
            </a:extLst>
          </p:cNvPr>
          <p:cNvSpPr txBox="1"/>
          <p:nvPr/>
        </p:nvSpPr>
        <p:spPr>
          <a:xfrm>
            <a:off x="2144224" y="3775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E5F41A-52DE-7D4F-857E-080FA8549D43}"/>
              </a:ext>
            </a:extLst>
          </p:cNvPr>
          <p:cNvSpPr txBox="1"/>
          <p:nvPr/>
        </p:nvSpPr>
        <p:spPr>
          <a:xfrm>
            <a:off x="3505677" y="2979527"/>
            <a:ext cx="49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15ABB5-5997-714B-B91B-12A48BA6EEB1}"/>
              </a:ext>
            </a:extLst>
          </p:cNvPr>
          <p:cNvSpPr txBox="1"/>
          <p:nvPr/>
        </p:nvSpPr>
        <p:spPr>
          <a:xfrm>
            <a:off x="4611756" y="37694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CE4734-929D-B843-BD23-65F822C49287}"/>
              </a:ext>
            </a:extLst>
          </p:cNvPr>
          <p:cNvSpPr txBox="1"/>
          <p:nvPr/>
        </p:nvSpPr>
        <p:spPr>
          <a:xfrm>
            <a:off x="2028006" y="479734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FE1A3C-D7E9-F443-8BA0-C05E1C68F76F}"/>
              </a:ext>
            </a:extLst>
          </p:cNvPr>
          <p:cNvSpPr txBox="1"/>
          <p:nvPr/>
        </p:nvSpPr>
        <p:spPr>
          <a:xfrm>
            <a:off x="440266" y="5285301"/>
            <a:ext cx="41607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some differences?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disjoint from the grammar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leaves are data, not lexemes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dirty="0"/>
              <a:t>nodes are operators, not non-terminals</a:t>
            </a:r>
          </a:p>
        </p:txBody>
      </p:sp>
    </p:spTree>
    <p:extLst>
      <p:ext uri="{BB962C8B-B14F-4D97-AF65-F5344CB8AC3E}">
        <p14:creationId xmlns:p14="http://schemas.microsoft.com/office/powerpoint/2010/main" val="242261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566789" y="765234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865781" y="1134566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8608293" y="13302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432991" y="3879667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7813" y="1699624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7551668" y="304575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427827" y="3415089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7709111" y="38354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108402" y="167376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BAC79-D23B-D74B-925A-87969A65EDD2}"/>
              </a:ext>
            </a:extLst>
          </p:cNvPr>
          <p:cNvSpPr txBox="1"/>
          <p:nvPr/>
        </p:nvSpPr>
        <p:spPr>
          <a:xfrm>
            <a:off x="1117600" y="2074333"/>
            <a:ext cx="306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to ()s in an AST?</a:t>
            </a:r>
          </a:p>
        </p:txBody>
      </p:sp>
      <p:graphicFrame>
        <p:nvGraphicFramePr>
          <p:cNvPr id="41" name="Table 5">
            <a:extLst>
              <a:ext uri="{FF2B5EF4-FFF2-40B4-BE49-F238E27FC236}">
                <a16:creationId xmlns:a16="http://schemas.microsoft.com/office/drawing/2014/main" id="{83755D2D-23F0-1C48-A6B3-A369F0A1B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845698"/>
              </p:ext>
            </p:extLst>
          </p:nvPr>
        </p:nvGraphicFramePr>
        <p:xfrm>
          <a:off x="472876" y="3334423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3FC70012-DE19-0C44-A0AF-60C9CB6D1084}"/>
              </a:ext>
            </a:extLst>
          </p:cNvPr>
          <p:cNvSpPr txBox="1"/>
          <p:nvPr/>
        </p:nvSpPr>
        <p:spPr>
          <a:xfrm>
            <a:off x="8299220" y="3844380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D3AF26-36DF-FE4B-87FB-2B12308E9624}"/>
              </a:ext>
            </a:extLst>
          </p:cNvPr>
          <p:cNvCxnSpPr>
            <a:cxnSpLocks/>
            <a:stCxn id="21" idx="2"/>
            <a:endCxn id="46" idx="0"/>
          </p:cNvCxnSpPr>
          <p:nvPr/>
        </p:nvCxnSpPr>
        <p:spPr>
          <a:xfrm>
            <a:off x="7919558" y="3415089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596E79-7C30-7448-8F14-8B94EE11EE99}"/>
              </a:ext>
            </a:extLst>
          </p:cNvPr>
          <p:cNvCxnSpPr>
            <a:cxnSpLocks/>
          </p:cNvCxnSpPr>
          <p:nvPr/>
        </p:nvCxnSpPr>
        <p:spPr>
          <a:xfrm>
            <a:off x="7947983" y="3414009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AB66AAB-BBE2-0242-80EA-65AAA6CA50CF}"/>
              </a:ext>
            </a:extLst>
          </p:cNvPr>
          <p:cNvSpPr txBox="1"/>
          <p:nvPr/>
        </p:nvSpPr>
        <p:spPr>
          <a:xfrm>
            <a:off x="8812598" y="4643003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75CCEB-CCB8-3D44-A4EE-FDB2F1F9E87F}"/>
              </a:ext>
            </a:extLst>
          </p:cNvPr>
          <p:cNvCxnSpPr>
            <a:cxnSpLocks/>
            <a:stCxn id="23" idx="2"/>
            <a:endCxn id="54" idx="0"/>
          </p:cNvCxnSpPr>
          <p:nvPr/>
        </p:nvCxnSpPr>
        <p:spPr>
          <a:xfrm flipH="1">
            <a:off x="7994920" y="4204765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55BB559-5574-2549-BF97-5E0E3ED04E72}"/>
              </a:ext>
            </a:extLst>
          </p:cNvPr>
          <p:cNvSpPr txBox="1"/>
          <p:nvPr/>
        </p:nvSpPr>
        <p:spPr>
          <a:xfrm>
            <a:off x="7381547" y="4625109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CC511AB-050E-4347-9AFA-764C575C7C1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008103" y="4204765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8BADE5-70BE-F54A-A395-8385434E2050}"/>
              </a:ext>
            </a:extLst>
          </p:cNvPr>
          <p:cNvCxnSpPr>
            <a:cxnSpLocks/>
            <a:stCxn id="23" idx="2"/>
            <a:endCxn id="62" idx="0"/>
          </p:cNvCxnSpPr>
          <p:nvPr/>
        </p:nvCxnSpPr>
        <p:spPr>
          <a:xfrm flipH="1">
            <a:off x="6919901" y="4204765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273159D-43D4-3744-B6F4-24BB1002B523}"/>
              </a:ext>
            </a:extLst>
          </p:cNvPr>
          <p:cNvSpPr txBox="1"/>
          <p:nvPr/>
        </p:nvSpPr>
        <p:spPr>
          <a:xfrm>
            <a:off x="6620909" y="46689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841816-1112-264D-AA3F-C3031AEB2AFD}"/>
              </a:ext>
            </a:extLst>
          </p:cNvPr>
          <p:cNvSpPr txBox="1"/>
          <p:nvPr/>
        </p:nvSpPr>
        <p:spPr>
          <a:xfrm>
            <a:off x="6600390" y="534114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EB5672-40BD-7F4A-829C-F0B5B42D612F}"/>
              </a:ext>
            </a:extLst>
          </p:cNvPr>
          <p:cNvSpPr txBox="1"/>
          <p:nvPr/>
        </p:nvSpPr>
        <p:spPr>
          <a:xfrm>
            <a:off x="6552010" y="586189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18650C-46BB-6347-A9F9-BC8F016803C6}"/>
              </a:ext>
            </a:extLst>
          </p:cNvPr>
          <p:cNvSpPr txBox="1"/>
          <p:nvPr/>
        </p:nvSpPr>
        <p:spPr>
          <a:xfrm>
            <a:off x="6301286" y="638264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360438-8F08-994C-9A0A-D3BCD8C37511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6896430" y="5029356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7224A5-9983-CE45-870C-5FFDAF709752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6919900" y="571047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43E5793-E6C9-9549-99CB-42E025D23816}"/>
              </a:ext>
            </a:extLst>
          </p:cNvPr>
          <p:cNvCxnSpPr>
            <a:cxnSpLocks/>
          </p:cNvCxnSpPr>
          <p:nvPr/>
        </p:nvCxnSpPr>
        <p:spPr>
          <a:xfrm flipH="1">
            <a:off x="6912606" y="6206154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B51A191-FAB6-E54B-B114-3EBBBFB4D983}"/>
              </a:ext>
            </a:extLst>
          </p:cNvPr>
          <p:cNvSpPr txBox="1"/>
          <p:nvPr/>
        </p:nvSpPr>
        <p:spPr>
          <a:xfrm>
            <a:off x="8782282" y="511126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D3DF0A-FCBF-C241-B235-9DE489CC618E}"/>
              </a:ext>
            </a:extLst>
          </p:cNvPr>
          <p:cNvSpPr txBox="1"/>
          <p:nvPr/>
        </p:nvSpPr>
        <p:spPr>
          <a:xfrm>
            <a:off x="8531558" y="56320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8324C38-F3EC-4A4A-96B9-283A47AA334F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9150172" y="4959842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98EF178-01D3-334D-A2F0-8881358A4815}"/>
              </a:ext>
            </a:extLst>
          </p:cNvPr>
          <p:cNvCxnSpPr>
            <a:cxnSpLocks/>
          </p:cNvCxnSpPr>
          <p:nvPr/>
        </p:nvCxnSpPr>
        <p:spPr>
          <a:xfrm flipH="1">
            <a:off x="9142878" y="545552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A527CEC-86A8-5242-B59B-7E6EFBB7E65C}"/>
              </a:ext>
            </a:extLst>
          </p:cNvPr>
          <p:cNvCxnSpPr>
            <a:cxnSpLocks/>
          </p:cNvCxnSpPr>
          <p:nvPr/>
        </p:nvCxnSpPr>
        <p:spPr>
          <a:xfrm>
            <a:off x="8915582" y="171320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E625F07-C268-1D44-B358-33A3EBF1FB17}"/>
              </a:ext>
            </a:extLst>
          </p:cNvPr>
          <p:cNvSpPr txBox="1"/>
          <p:nvPr/>
        </p:nvSpPr>
        <p:spPr>
          <a:xfrm>
            <a:off x="8458009" y="2180306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A29B9AE-AC20-ED45-94FD-2ABF3CC3366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27804" y="1699624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E164FF1-4986-8641-B918-C9AC23A5D063}"/>
              </a:ext>
            </a:extLst>
          </p:cNvPr>
          <p:cNvSpPr txBox="1"/>
          <p:nvPr/>
        </p:nvSpPr>
        <p:spPr>
          <a:xfrm>
            <a:off x="9871537" y="30303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A84737-D77E-BC43-86CA-A0673013744A}"/>
              </a:ext>
            </a:extLst>
          </p:cNvPr>
          <p:cNvSpPr txBox="1"/>
          <p:nvPr/>
        </p:nvSpPr>
        <p:spPr>
          <a:xfrm>
            <a:off x="10166650" y="23433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38FF88-1DD5-5E40-8C6C-6DC532592635}"/>
              </a:ext>
            </a:extLst>
          </p:cNvPr>
          <p:cNvCxnSpPr>
            <a:cxnSpLocks/>
            <a:stCxn id="85" idx="2"/>
            <a:endCxn id="84" idx="0"/>
          </p:cNvCxnSpPr>
          <p:nvPr/>
        </p:nvCxnSpPr>
        <p:spPr>
          <a:xfrm flipH="1">
            <a:off x="10534539" y="2712707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335DBC2-0413-F045-B5A7-6741E49EF06B}"/>
              </a:ext>
            </a:extLst>
          </p:cNvPr>
          <p:cNvSpPr txBox="1"/>
          <p:nvPr/>
        </p:nvSpPr>
        <p:spPr>
          <a:xfrm>
            <a:off x="7551668" y="22626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8E07C9C-0106-AD46-8F6D-B929C31816BE}"/>
              </a:ext>
            </a:extLst>
          </p:cNvPr>
          <p:cNvCxnSpPr>
            <a:cxnSpLocks/>
          </p:cNvCxnSpPr>
          <p:nvPr/>
        </p:nvCxnSpPr>
        <p:spPr>
          <a:xfrm>
            <a:off x="7829271" y="2626964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24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F27AE-8B04-A64E-9058-76DD5E48CA5A}"/>
              </a:ext>
            </a:extLst>
          </p:cNvPr>
          <p:cNvSpPr txBox="1"/>
          <p:nvPr/>
        </p:nvSpPr>
        <p:spPr>
          <a:xfrm>
            <a:off x="8566789" y="765234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49265-33E0-3543-B212-54AFA0F4ED9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8865781" y="1134566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014326-F60C-E343-95B6-59950760B068}"/>
              </a:ext>
            </a:extLst>
          </p:cNvPr>
          <p:cNvSpPr txBox="1"/>
          <p:nvPr/>
        </p:nvSpPr>
        <p:spPr>
          <a:xfrm>
            <a:off x="8608293" y="13302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77506-B84C-0C47-9A0E-9139493A0D17}"/>
              </a:ext>
            </a:extLst>
          </p:cNvPr>
          <p:cNvSpPr txBox="1"/>
          <p:nvPr/>
        </p:nvSpPr>
        <p:spPr>
          <a:xfrm>
            <a:off x="6432991" y="3879667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38A98-7D18-4447-86D7-F8224935D3B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7813" y="1699624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2CEE90-2FAF-214B-ADB1-08C974E52232}"/>
              </a:ext>
            </a:extLst>
          </p:cNvPr>
          <p:cNvSpPr txBox="1"/>
          <p:nvPr/>
        </p:nvSpPr>
        <p:spPr>
          <a:xfrm>
            <a:off x="7551668" y="304575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1B1A27-D60A-9D47-B72F-E16A96198A83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427827" y="3415089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8D61BF-6403-B849-B6E2-FBFA96497869}"/>
              </a:ext>
            </a:extLst>
          </p:cNvPr>
          <p:cNvSpPr txBox="1"/>
          <p:nvPr/>
        </p:nvSpPr>
        <p:spPr>
          <a:xfrm>
            <a:off x="7709111" y="38354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9C4A1-3756-7548-A230-EACD35A6B96D}"/>
              </a:ext>
            </a:extLst>
          </p:cNvPr>
          <p:cNvSpPr txBox="1"/>
          <p:nvPr/>
        </p:nvSpPr>
        <p:spPr>
          <a:xfrm>
            <a:off x="7108402" y="167376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BAC79-D23B-D74B-925A-87969A65EDD2}"/>
              </a:ext>
            </a:extLst>
          </p:cNvPr>
          <p:cNvSpPr txBox="1"/>
          <p:nvPr/>
        </p:nvSpPr>
        <p:spPr>
          <a:xfrm>
            <a:off x="1117600" y="2074333"/>
            <a:ext cx="306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to ()s in an AST?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C70012-DE19-0C44-A0AF-60C9CB6D1084}"/>
              </a:ext>
            </a:extLst>
          </p:cNvPr>
          <p:cNvSpPr txBox="1"/>
          <p:nvPr/>
        </p:nvSpPr>
        <p:spPr>
          <a:xfrm>
            <a:off x="8299220" y="3844380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D3AF26-36DF-FE4B-87FB-2B12308E9624}"/>
              </a:ext>
            </a:extLst>
          </p:cNvPr>
          <p:cNvCxnSpPr>
            <a:cxnSpLocks/>
            <a:stCxn id="21" idx="2"/>
            <a:endCxn id="46" idx="0"/>
          </p:cNvCxnSpPr>
          <p:nvPr/>
        </p:nvCxnSpPr>
        <p:spPr>
          <a:xfrm>
            <a:off x="7919558" y="3415089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596E79-7C30-7448-8F14-8B94EE11EE99}"/>
              </a:ext>
            </a:extLst>
          </p:cNvPr>
          <p:cNvCxnSpPr>
            <a:cxnSpLocks/>
          </p:cNvCxnSpPr>
          <p:nvPr/>
        </p:nvCxnSpPr>
        <p:spPr>
          <a:xfrm>
            <a:off x="7947983" y="3414009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AB66AAB-BBE2-0242-80EA-65AAA6CA50CF}"/>
              </a:ext>
            </a:extLst>
          </p:cNvPr>
          <p:cNvSpPr txBox="1"/>
          <p:nvPr/>
        </p:nvSpPr>
        <p:spPr>
          <a:xfrm>
            <a:off x="8812598" y="4643003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B75CCEB-CCB8-3D44-A4EE-FDB2F1F9E87F}"/>
              </a:ext>
            </a:extLst>
          </p:cNvPr>
          <p:cNvCxnSpPr>
            <a:cxnSpLocks/>
            <a:stCxn id="23" idx="2"/>
            <a:endCxn id="54" idx="0"/>
          </p:cNvCxnSpPr>
          <p:nvPr/>
        </p:nvCxnSpPr>
        <p:spPr>
          <a:xfrm flipH="1">
            <a:off x="7994920" y="4204765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55BB559-5574-2549-BF97-5E0E3ED04E72}"/>
              </a:ext>
            </a:extLst>
          </p:cNvPr>
          <p:cNvSpPr txBox="1"/>
          <p:nvPr/>
        </p:nvSpPr>
        <p:spPr>
          <a:xfrm>
            <a:off x="7381547" y="4625109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CC511AB-050E-4347-9AFA-764C575C7C1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008103" y="4204765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8BADE5-70BE-F54A-A395-8385434E2050}"/>
              </a:ext>
            </a:extLst>
          </p:cNvPr>
          <p:cNvCxnSpPr>
            <a:cxnSpLocks/>
            <a:stCxn id="23" idx="2"/>
            <a:endCxn id="62" idx="0"/>
          </p:cNvCxnSpPr>
          <p:nvPr/>
        </p:nvCxnSpPr>
        <p:spPr>
          <a:xfrm flipH="1">
            <a:off x="6919901" y="4204765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273159D-43D4-3744-B6F4-24BB1002B523}"/>
              </a:ext>
            </a:extLst>
          </p:cNvPr>
          <p:cNvSpPr txBox="1"/>
          <p:nvPr/>
        </p:nvSpPr>
        <p:spPr>
          <a:xfrm>
            <a:off x="6620909" y="46689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841816-1112-264D-AA3F-C3031AEB2AFD}"/>
              </a:ext>
            </a:extLst>
          </p:cNvPr>
          <p:cNvSpPr txBox="1"/>
          <p:nvPr/>
        </p:nvSpPr>
        <p:spPr>
          <a:xfrm>
            <a:off x="6600390" y="534114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EB5672-40BD-7F4A-829C-F0B5B42D612F}"/>
              </a:ext>
            </a:extLst>
          </p:cNvPr>
          <p:cNvSpPr txBox="1"/>
          <p:nvPr/>
        </p:nvSpPr>
        <p:spPr>
          <a:xfrm>
            <a:off x="6552010" y="586189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18650C-46BB-6347-A9F9-BC8F016803C6}"/>
              </a:ext>
            </a:extLst>
          </p:cNvPr>
          <p:cNvSpPr txBox="1"/>
          <p:nvPr/>
        </p:nvSpPr>
        <p:spPr>
          <a:xfrm>
            <a:off x="6301286" y="638264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360438-8F08-994C-9A0A-D3BCD8C37511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6896430" y="5029356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7224A5-9983-CE45-870C-5FFDAF709752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6919900" y="571047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43E5793-E6C9-9549-99CB-42E025D23816}"/>
              </a:ext>
            </a:extLst>
          </p:cNvPr>
          <p:cNvCxnSpPr>
            <a:cxnSpLocks/>
          </p:cNvCxnSpPr>
          <p:nvPr/>
        </p:nvCxnSpPr>
        <p:spPr>
          <a:xfrm flipH="1">
            <a:off x="6912606" y="6206154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B51A191-FAB6-E54B-B114-3EBBBFB4D983}"/>
              </a:ext>
            </a:extLst>
          </p:cNvPr>
          <p:cNvSpPr txBox="1"/>
          <p:nvPr/>
        </p:nvSpPr>
        <p:spPr>
          <a:xfrm>
            <a:off x="8782282" y="511126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D3DF0A-FCBF-C241-B235-9DE489CC618E}"/>
              </a:ext>
            </a:extLst>
          </p:cNvPr>
          <p:cNvSpPr txBox="1"/>
          <p:nvPr/>
        </p:nvSpPr>
        <p:spPr>
          <a:xfrm>
            <a:off x="8531558" y="563201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8324C38-F3EC-4A4A-96B9-283A47AA334F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9150172" y="4959842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98EF178-01D3-334D-A2F0-8881358A4815}"/>
              </a:ext>
            </a:extLst>
          </p:cNvPr>
          <p:cNvCxnSpPr>
            <a:cxnSpLocks/>
          </p:cNvCxnSpPr>
          <p:nvPr/>
        </p:nvCxnSpPr>
        <p:spPr>
          <a:xfrm flipH="1">
            <a:off x="9142878" y="5455523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A527CEC-86A8-5242-B59B-7E6EFBB7E65C}"/>
              </a:ext>
            </a:extLst>
          </p:cNvPr>
          <p:cNvCxnSpPr>
            <a:cxnSpLocks/>
          </p:cNvCxnSpPr>
          <p:nvPr/>
        </p:nvCxnSpPr>
        <p:spPr>
          <a:xfrm>
            <a:off x="8915582" y="171320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E625F07-C268-1D44-B358-33A3EBF1FB17}"/>
              </a:ext>
            </a:extLst>
          </p:cNvPr>
          <p:cNvSpPr txBox="1"/>
          <p:nvPr/>
        </p:nvSpPr>
        <p:spPr>
          <a:xfrm>
            <a:off x="8458009" y="2180306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A29B9AE-AC20-ED45-94FD-2ABF3CC3366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27804" y="1699624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E164FF1-4986-8641-B918-C9AC23A5D063}"/>
              </a:ext>
            </a:extLst>
          </p:cNvPr>
          <p:cNvSpPr txBox="1"/>
          <p:nvPr/>
        </p:nvSpPr>
        <p:spPr>
          <a:xfrm>
            <a:off x="9871537" y="30303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A84737-D77E-BC43-86CA-A0673013744A}"/>
              </a:ext>
            </a:extLst>
          </p:cNvPr>
          <p:cNvSpPr txBox="1"/>
          <p:nvPr/>
        </p:nvSpPr>
        <p:spPr>
          <a:xfrm>
            <a:off x="10166650" y="23433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38FF88-1DD5-5E40-8C6C-6DC532592635}"/>
              </a:ext>
            </a:extLst>
          </p:cNvPr>
          <p:cNvCxnSpPr>
            <a:cxnSpLocks/>
            <a:stCxn id="85" idx="2"/>
            <a:endCxn id="84" idx="0"/>
          </p:cNvCxnSpPr>
          <p:nvPr/>
        </p:nvCxnSpPr>
        <p:spPr>
          <a:xfrm flipH="1">
            <a:off x="10534539" y="2712707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335DBC2-0413-F045-B5A7-6741E49EF06B}"/>
              </a:ext>
            </a:extLst>
          </p:cNvPr>
          <p:cNvSpPr txBox="1"/>
          <p:nvPr/>
        </p:nvSpPr>
        <p:spPr>
          <a:xfrm>
            <a:off x="7551668" y="22626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8E07C9C-0106-AD46-8F6D-B929C31816BE}"/>
              </a:ext>
            </a:extLst>
          </p:cNvPr>
          <p:cNvCxnSpPr>
            <a:cxnSpLocks/>
          </p:cNvCxnSpPr>
          <p:nvPr/>
        </p:nvCxnSpPr>
        <p:spPr>
          <a:xfrm>
            <a:off x="7829271" y="2626964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11ABDD0-6EB2-F240-BC50-59DD7BC19ABE}"/>
              </a:ext>
            </a:extLst>
          </p:cNvPr>
          <p:cNvSpPr txBox="1"/>
          <p:nvPr/>
        </p:nvSpPr>
        <p:spPr>
          <a:xfrm>
            <a:off x="3478741" y="28349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DF0C94E-67D2-9B48-AD5D-F2FDB28CCE7D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2004717" y="3204282"/>
            <a:ext cx="1624065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9BB7E10-D7BA-F443-ACD1-6F41FAFBEA06}"/>
              </a:ext>
            </a:extLst>
          </p:cNvPr>
          <p:cNvSpPr txBox="1"/>
          <p:nvPr/>
        </p:nvSpPr>
        <p:spPr>
          <a:xfrm>
            <a:off x="1779656" y="37313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EDB207-482F-CA44-B626-78EC0439766B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3628782" y="3204282"/>
            <a:ext cx="123274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3851368-2527-254E-9E60-20EEAC549850}"/>
              </a:ext>
            </a:extLst>
          </p:cNvPr>
          <p:cNvCxnSpPr>
            <a:cxnSpLocks/>
          </p:cNvCxnSpPr>
          <p:nvPr/>
        </p:nvCxnSpPr>
        <p:spPr>
          <a:xfrm flipH="1">
            <a:off x="699720" y="409608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84FC40F-F111-7E4A-B4F9-CC0A1D3E24E9}"/>
              </a:ext>
            </a:extLst>
          </p:cNvPr>
          <p:cNvCxnSpPr>
            <a:cxnSpLocks/>
          </p:cNvCxnSpPr>
          <p:nvPr/>
        </p:nvCxnSpPr>
        <p:spPr>
          <a:xfrm>
            <a:off x="1924093" y="409608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2739F2-5669-8A45-8C2E-A957604217E2}"/>
              </a:ext>
            </a:extLst>
          </p:cNvPr>
          <p:cNvSpPr txBox="1"/>
          <p:nvPr/>
        </p:nvSpPr>
        <p:spPr>
          <a:xfrm>
            <a:off x="495415" y="45262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979D51-F95D-1543-AECB-753D315C1170}"/>
              </a:ext>
            </a:extLst>
          </p:cNvPr>
          <p:cNvSpPr txBox="1"/>
          <p:nvPr/>
        </p:nvSpPr>
        <p:spPr>
          <a:xfrm>
            <a:off x="2868260" y="45262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B8B6C-3A8D-1141-BDDD-39D73C44AEE3}"/>
              </a:ext>
            </a:extLst>
          </p:cNvPr>
          <p:cNvSpPr txBox="1"/>
          <p:nvPr/>
        </p:nvSpPr>
        <p:spPr>
          <a:xfrm>
            <a:off x="4798710" y="3740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AB891-994D-094B-AA3E-E8C3ABC27B61}"/>
              </a:ext>
            </a:extLst>
          </p:cNvPr>
          <p:cNvSpPr txBox="1"/>
          <p:nvPr/>
        </p:nvSpPr>
        <p:spPr>
          <a:xfrm>
            <a:off x="587893" y="5620949"/>
            <a:ext cx="4215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need for (), they simply encode</a:t>
            </a:r>
            <a:br>
              <a:rPr lang="en-US" dirty="0"/>
            </a:br>
            <a:r>
              <a:rPr lang="en-US" dirty="0"/>
              <a:t>precedence. And now we have precedence</a:t>
            </a:r>
            <a:br>
              <a:rPr lang="en-US" dirty="0"/>
            </a:br>
            <a:r>
              <a:rPr lang="en-US" dirty="0"/>
              <a:t>in the AST tree structure</a:t>
            </a:r>
          </a:p>
        </p:txBody>
      </p:sp>
    </p:spTree>
    <p:extLst>
      <p:ext uri="{BB962C8B-B14F-4D97-AF65-F5344CB8AC3E}">
        <p14:creationId xmlns:p14="http://schemas.microsoft.com/office/powerpoint/2010/main" val="406153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formalizing an 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15A68-94B2-9940-BA54-6D0CD807A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952BB9-DA40-D441-A21F-A329A6CE9F3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92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tree based data structure, used to represent expressions</a:t>
            </a:r>
          </a:p>
          <a:p>
            <a:endParaRPr lang="en-US" dirty="0"/>
          </a:p>
          <a:p>
            <a:r>
              <a:rPr lang="en-US" dirty="0"/>
              <a:t>Main building block: Node</a:t>
            </a:r>
          </a:p>
          <a:p>
            <a:pPr lvl="1"/>
            <a:r>
              <a:rPr lang="en-US" dirty="0"/>
              <a:t>Leaf node: ID or Number</a:t>
            </a:r>
          </a:p>
          <a:p>
            <a:pPr lvl="1"/>
            <a:r>
              <a:rPr lang="en-US" dirty="0"/>
              <a:t>Node with one child: Unary operator (</a:t>
            </a:r>
            <a:r>
              <a:rPr lang="en-US" dirty="0">
                <a:latin typeface="Courier" pitchFamily="2" charset="0"/>
              </a:rPr>
              <a:t>-</a:t>
            </a:r>
            <a:r>
              <a:rPr lang="en-US" dirty="0"/>
              <a:t>) or type conversion (</a:t>
            </a:r>
            <a:r>
              <a:rPr lang="en-US" dirty="0" err="1">
                <a:latin typeface="Courier" pitchFamily="2" charset="0"/>
              </a:rPr>
              <a:t>int_to_float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Node with two children: Binary operator (</a:t>
            </a:r>
            <a:r>
              <a:rPr lang="en-US" dirty="0">
                <a:latin typeface="Courier" pitchFamily="2" charset="0"/>
              </a:rPr>
              <a:t>+,*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695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F299A-ED36-514C-98A5-E7EB339DA8DB}"/>
              </a:ext>
            </a:extLst>
          </p:cNvPr>
          <p:cNvGraphicFramePr>
            <a:graphicFrameLocks noGrp="1"/>
          </p:cNvGraphicFramePr>
          <p:nvPr/>
        </p:nvGraphicFramePr>
        <p:xfrm>
          <a:off x="240671" y="337223"/>
          <a:ext cx="7311596" cy="2453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12944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3930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  <a:gridCol w="3959351">
                  <a:extLst>
                    <a:ext uri="{9D8B030D-6E8A-4147-A177-3AD203B41FA5}">
                      <a16:colId xmlns:a16="http://schemas.microsoft.com/office/drawing/2014/main" val="686801215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ASTAddNode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factor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ASTMultNode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($1,$3)}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$1}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{return $2}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ASTNumNode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" pitchFamily="2" charset="0"/>
                        </a:rPr>
                        <a:t>{return </a:t>
                      </a:r>
                      <a:r>
                        <a:rPr lang="en-US" sz="1400" dirty="0" err="1">
                          <a:latin typeface="Courier" pitchFamily="2" charset="0"/>
                        </a:rPr>
                        <a:t>ASTIDNode</a:t>
                      </a:r>
                      <a:r>
                        <a:rPr lang="en-US" sz="1400" dirty="0">
                          <a:latin typeface="Courier" pitchFamily="2" charset="0"/>
                        </a:rPr>
                        <a:t>($1)}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29260A-EE91-2C41-B765-F94BB9D91BB1}"/>
              </a:ext>
            </a:extLst>
          </p:cNvPr>
          <p:cNvSpPr txBox="1"/>
          <p:nvPr/>
        </p:nvSpPr>
        <p:spPr>
          <a:xfrm>
            <a:off x="9481189" y="77370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14C51E-9041-E349-A2B3-5AD33A9390E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780181" y="1143032"/>
            <a:ext cx="62023" cy="195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82B20A-70B8-3F4F-B25F-C8E152C28F6E}"/>
              </a:ext>
            </a:extLst>
          </p:cNvPr>
          <p:cNvSpPr txBox="1"/>
          <p:nvPr/>
        </p:nvSpPr>
        <p:spPr>
          <a:xfrm>
            <a:off x="9522693" y="1338758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68180-D0CC-2D47-8CCC-8C2DC973A6EC}"/>
              </a:ext>
            </a:extLst>
          </p:cNvPr>
          <p:cNvSpPr txBox="1"/>
          <p:nvPr/>
        </p:nvSpPr>
        <p:spPr>
          <a:xfrm>
            <a:off x="7347391" y="3888133"/>
            <a:ext cx="124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&lt;LPAR, “(”&gt;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1032C9-F74B-6141-93E3-41BCC544258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762213" y="1708090"/>
            <a:ext cx="1079991" cy="608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D7D097-FBBB-F54E-9AC6-CDE79448E412}"/>
              </a:ext>
            </a:extLst>
          </p:cNvPr>
          <p:cNvSpPr txBox="1"/>
          <p:nvPr/>
        </p:nvSpPr>
        <p:spPr>
          <a:xfrm>
            <a:off x="8466068" y="3054223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C62774-0B6E-D045-87AC-E70482DB8C5B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342227" y="3423555"/>
            <a:ext cx="491731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388EC9-ACD3-B94B-91B9-4119F82A426F}"/>
              </a:ext>
            </a:extLst>
          </p:cNvPr>
          <p:cNvSpPr txBox="1"/>
          <p:nvPr/>
        </p:nvSpPr>
        <p:spPr>
          <a:xfrm>
            <a:off x="8623511" y="384389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A9E82-1A8E-4F47-AD37-9D2485EE4B30}"/>
              </a:ext>
            </a:extLst>
          </p:cNvPr>
          <p:cNvSpPr txBox="1"/>
          <p:nvPr/>
        </p:nvSpPr>
        <p:spPr>
          <a:xfrm>
            <a:off x="8022802" y="175842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(1+5)*6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84C0D-C7BB-7B49-963C-2AF3BD6DBFDA}"/>
              </a:ext>
            </a:extLst>
          </p:cNvPr>
          <p:cNvSpPr txBox="1"/>
          <p:nvPr/>
        </p:nvSpPr>
        <p:spPr>
          <a:xfrm>
            <a:off x="9213620" y="3852846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&lt;RPAR, “)”&gt;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326EAA-586B-4943-B7A0-710993F873E2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8833958" y="3423555"/>
            <a:ext cx="1016536" cy="429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E3EF37-F53B-D649-B1A7-DB20F0E687C3}"/>
              </a:ext>
            </a:extLst>
          </p:cNvPr>
          <p:cNvCxnSpPr>
            <a:cxnSpLocks/>
          </p:cNvCxnSpPr>
          <p:nvPr/>
        </p:nvCxnSpPr>
        <p:spPr>
          <a:xfrm>
            <a:off x="8862383" y="3422475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F0F655-290F-BC4C-937E-DF9B99775AEF}"/>
              </a:ext>
            </a:extLst>
          </p:cNvPr>
          <p:cNvSpPr txBox="1"/>
          <p:nvPr/>
        </p:nvSpPr>
        <p:spPr>
          <a:xfrm>
            <a:off x="9726998" y="4651469"/>
            <a:ext cx="1004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22763D-A39A-A747-BE39-6490533928A6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 flipH="1">
            <a:off x="8909320" y="4213231"/>
            <a:ext cx="13183" cy="420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FF4E9C-20A1-A74A-AB5F-58415715F707}"/>
              </a:ext>
            </a:extLst>
          </p:cNvPr>
          <p:cNvSpPr txBox="1"/>
          <p:nvPr/>
        </p:nvSpPr>
        <p:spPr>
          <a:xfrm>
            <a:off x="8295947" y="4633575"/>
            <a:ext cx="122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&lt;PLUS,”+”&gt;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29342F-A796-8D4C-B140-FAD6CE14463C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922503" y="4213231"/>
            <a:ext cx="1017710" cy="43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A9F101C-E6F6-9348-82FA-979436FA3E6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7834301" y="4213231"/>
            <a:ext cx="1088202" cy="464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E1A9EA-BA06-AB41-81C2-2C7A04C1F725}"/>
              </a:ext>
            </a:extLst>
          </p:cNvPr>
          <p:cNvSpPr txBox="1"/>
          <p:nvPr/>
        </p:nvSpPr>
        <p:spPr>
          <a:xfrm>
            <a:off x="7535309" y="46774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2DF4B6-548C-874E-88F1-4FA0ED76240B}"/>
              </a:ext>
            </a:extLst>
          </p:cNvPr>
          <p:cNvSpPr txBox="1"/>
          <p:nvPr/>
        </p:nvSpPr>
        <p:spPr>
          <a:xfrm>
            <a:off x="7514790" y="5349607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1B9E80-E3A6-1745-A33E-748DB7D92461}"/>
              </a:ext>
            </a:extLst>
          </p:cNvPr>
          <p:cNvSpPr txBox="1"/>
          <p:nvPr/>
        </p:nvSpPr>
        <p:spPr>
          <a:xfrm>
            <a:off x="7466410" y="58703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7BC92B-91F7-8F49-B1B1-4C8686262032}"/>
              </a:ext>
            </a:extLst>
          </p:cNvPr>
          <p:cNvSpPr txBox="1"/>
          <p:nvPr/>
        </p:nvSpPr>
        <p:spPr>
          <a:xfrm>
            <a:off x="7215686" y="639110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“1”&gt;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ECDE54-CE5A-7041-8766-CD9072FDB0B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7810830" y="5037822"/>
            <a:ext cx="23471" cy="311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074F52-2A20-0E4E-9C4D-3774B0819273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7834300" y="5718939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400F11A-EF34-B44C-933B-422B6F656D68}"/>
              </a:ext>
            </a:extLst>
          </p:cNvPr>
          <p:cNvCxnSpPr>
            <a:cxnSpLocks/>
          </p:cNvCxnSpPr>
          <p:nvPr/>
        </p:nvCxnSpPr>
        <p:spPr>
          <a:xfrm flipH="1">
            <a:off x="7827006" y="6214620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86373CD-0C2F-9F43-B552-ED4129424D6D}"/>
              </a:ext>
            </a:extLst>
          </p:cNvPr>
          <p:cNvSpPr txBox="1"/>
          <p:nvPr/>
        </p:nvSpPr>
        <p:spPr>
          <a:xfrm>
            <a:off x="9696682" y="511972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B97B7F-31D6-AD4A-8317-A8EAB525D687}"/>
              </a:ext>
            </a:extLst>
          </p:cNvPr>
          <p:cNvSpPr txBox="1"/>
          <p:nvPr/>
        </p:nvSpPr>
        <p:spPr>
          <a:xfrm>
            <a:off x="9445958" y="5640478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“5”&gt;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042156-7F59-6043-A63B-98AA27B1216D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10064572" y="4968308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03449A-37DF-174E-A4DF-F398F5713176}"/>
              </a:ext>
            </a:extLst>
          </p:cNvPr>
          <p:cNvCxnSpPr>
            <a:cxnSpLocks/>
          </p:cNvCxnSpPr>
          <p:nvPr/>
        </p:nvCxnSpPr>
        <p:spPr>
          <a:xfrm flipH="1">
            <a:off x="10057278" y="5463989"/>
            <a:ext cx="1" cy="151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4C0A304-8337-1247-93EB-C60659EB50EA}"/>
              </a:ext>
            </a:extLst>
          </p:cNvPr>
          <p:cNvCxnSpPr>
            <a:cxnSpLocks/>
          </p:cNvCxnSpPr>
          <p:nvPr/>
        </p:nvCxnSpPr>
        <p:spPr>
          <a:xfrm>
            <a:off x="9829982" y="172167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93D2CD3-F762-A447-9CBF-114F03833729}"/>
              </a:ext>
            </a:extLst>
          </p:cNvPr>
          <p:cNvSpPr txBox="1"/>
          <p:nvPr/>
        </p:nvSpPr>
        <p:spPr>
          <a:xfrm>
            <a:off x="9372409" y="2188772"/>
            <a:ext cx="141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&lt;TIMES, “*”&gt;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EE8F78-2FCE-074D-BE8C-C549AF47984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842204" y="1708090"/>
            <a:ext cx="1553929" cy="6597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845741E-FE57-BF41-BADF-FC6046A0B29C}"/>
              </a:ext>
            </a:extLst>
          </p:cNvPr>
          <p:cNvSpPr txBox="1"/>
          <p:nvPr/>
        </p:nvSpPr>
        <p:spPr>
          <a:xfrm>
            <a:off x="10785937" y="303878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“6”&gt;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8B5A5D-D838-6848-B99E-976ECA1537F6}"/>
              </a:ext>
            </a:extLst>
          </p:cNvPr>
          <p:cNvSpPr txBox="1"/>
          <p:nvPr/>
        </p:nvSpPr>
        <p:spPr>
          <a:xfrm>
            <a:off x="11081050" y="23518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D91F14-DCB2-5F47-AB43-0B3A77484B11}"/>
              </a:ext>
            </a:extLst>
          </p:cNvPr>
          <p:cNvCxnSpPr>
            <a:cxnSpLocks/>
            <a:stCxn id="39" idx="2"/>
            <a:endCxn id="38" idx="0"/>
          </p:cNvCxnSpPr>
          <p:nvPr/>
        </p:nvCxnSpPr>
        <p:spPr>
          <a:xfrm flipH="1">
            <a:off x="11448939" y="2721173"/>
            <a:ext cx="1" cy="3176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0B60E5B-6B94-8747-AF00-94D6620614E4}"/>
              </a:ext>
            </a:extLst>
          </p:cNvPr>
          <p:cNvSpPr txBox="1"/>
          <p:nvPr/>
        </p:nvSpPr>
        <p:spPr>
          <a:xfrm>
            <a:off x="8466068" y="2271124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67933D-3E84-964F-B7D2-822385E03AFA}"/>
              </a:ext>
            </a:extLst>
          </p:cNvPr>
          <p:cNvCxnSpPr>
            <a:cxnSpLocks/>
          </p:cNvCxnSpPr>
          <p:nvPr/>
        </p:nvCxnSpPr>
        <p:spPr>
          <a:xfrm>
            <a:off x="8743671" y="2635430"/>
            <a:ext cx="46937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EF72685-73ED-4C42-86A8-6B98CAD0DB1A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AST&lt;*&gt;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23C0CC-6B5F-DB49-B0D4-1391E64F41E6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69536A6-4D97-A247-B1FC-F3A8FA5E8A07}"/>
              </a:ext>
            </a:extLst>
          </p:cNvPr>
          <p:cNvSpPr txBox="1"/>
          <p:nvPr/>
        </p:nvSpPr>
        <p:spPr>
          <a:xfrm>
            <a:off x="1882809" y="486776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9FB13B-91D8-F94F-A4E5-53AB795D285D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80077C8-5580-6247-82FC-CBF981B56EE9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3E656F7-4BE2-2E44-86AB-D15336DB655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EE0E992-34D2-A845-91CF-7D91AB1768B2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AST&lt;1&gt;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56803C-A67F-9347-9B8E-7059402D539F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6021F7-8205-A249-95C7-E1E2582D8736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AST&lt;6&gt;</a:t>
            </a:r>
          </a:p>
        </p:txBody>
      </p:sp>
    </p:spTree>
    <p:extLst>
      <p:ext uri="{BB962C8B-B14F-4D97-AF65-F5344CB8AC3E}">
        <p14:creationId xmlns:p14="http://schemas.microsoft.com/office/powerpoint/2010/main" val="368208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457B1-CF08-B648-A171-EEDDC399FD36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F2E608-4265-0640-AC6D-C11B56B9033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2702E1-1037-A94E-B343-4FCE2DBF1798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4EEAB8-FF65-A84D-9CC7-90207006FBE8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FD8F13-67DD-C840-92C3-068C11012323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D16D68-5646-9247-B350-B2C2AA448AE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BA7FAD9-4799-D54B-BDB8-AE9C62112A23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B78B42-94ED-F44E-AC28-E916E2FD24BA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2E51B-3267-064B-A381-7336ED8BBD9C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2BC50B-A234-1844-ABB9-8C441FB792CA}"/>
              </a:ext>
            </a:extLst>
          </p:cNvPr>
          <p:cNvSpPr txBox="1"/>
          <p:nvPr/>
        </p:nvSpPr>
        <p:spPr>
          <a:xfrm>
            <a:off x="6514762" y="5811385"/>
            <a:ext cx="406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to the desired parse tree?</a:t>
            </a:r>
          </a:p>
        </p:txBody>
      </p:sp>
    </p:spTree>
    <p:extLst>
      <p:ext uri="{BB962C8B-B14F-4D97-AF65-F5344CB8AC3E}">
        <p14:creationId xmlns:p14="http://schemas.microsoft.com/office/powerpoint/2010/main" val="268977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E2BD59-4654-D54B-831A-C6046A6CD283}"/>
              </a:ext>
            </a:extLst>
          </p:cNvPr>
          <p:cNvSpPr txBox="1"/>
          <p:nvPr/>
        </p:nvSpPr>
        <p:spPr>
          <a:xfrm>
            <a:off x="725786" y="3570961"/>
            <a:ext cx="513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Keep in mind that because we wrote our own parser,</a:t>
            </a:r>
          </a:p>
          <a:p>
            <a:r>
              <a:rPr lang="en-US" dirty="0"/>
              <a:t>we can inject code at any point during the parse.</a:t>
            </a:r>
          </a:p>
        </p:txBody>
      </p:sp>
    </p:spTree>
    <p:extLst>
      <p:ext uri="{BB962C8B-B14F-4D97-AF65-F5344CB8AC3E}">
        <p14:creationId xmlns:p14="http://schemas.microsoft.com/office/powerpoint/2010/main" val="4055510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541950" y="3669436"/>
            <a:ext cx="1996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number node after we see a number </a:t>
            </a:r>
          </a:p>
        </p:txBody>
      </p:sp>
    </p:spTree>
    <p:extLst>
      <p:ext uri="{BB962C8B-B14F-4D97-AF65-F5344CB8AC3E}">
        <p14:creationId xmlns:p14="http://schemas.microsoft.com/office/powerpoint/2010/main" val="4277809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433411" y="3810652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node down</a:t>
            </a:r>
          </a:p>
        </p:txBody>
      </p:sp>
    </p:spTree>
    <p:extLst>
      <p:ext uri="{BB962C8B-B14F-4D97-AF65-F5344CB8AC3E}">
        <p14:creationId xmlns:p14="http://schemas.microsoft.com/office/powerpoint/2010/main" val="2151751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433411" y="3810652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node down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B2C67C-8672-DC4B-850B-8916CC9DD699}"/>
              </a:ext>
            </a:extLst>
          </p:cNvPr>
          <p:cNvSpPr txBox="1"/>
          <p:nvPr/>
        </p:nvSpPr>
        <p:spPr>
          <a:xfrm>
            <a:off x="9632994" y="300059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</p:spTree>
    <p:extLst>
      <p:ext uri="{BB962C8B-B14F-4D97-AF65-F5344CB8AC3E}">
        <p14:creationId xmlns:p14="http://schemas.microsoft.com/office/powerpoint/2010/main" val="1019450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093396" y="4110960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Expr2, after 4 is parsed, create a number node and a minus node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AST&lt;4&gt;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2EE652-7AD2-B243-8C09-9CF0ECEA259B}"/>
              </a:ext>
            </a:extLst>
          </p:cNvPr>
          <p:cNvSpPr txBox="1"/>
          <p:nvPr/>
        </p:nvSpPr>
        <p:spPr>
          <a:xfrm>
            <a:off x="9632994" y="300059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AST&lt;5&gt;</a:t>
            </a:r>
          </a:p>
        </p:txBody>
      </p:sp>
    </p:spTree>
    <p:extLst>
      <p:ext uri="{BB962C8B-B14F-4D97-AF65-F5344CB8AC3E}">
        <p14:creationId xmlns:p14="http://schemas.microsoft.com/office/powerpoint/2010/main" val="140318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Expr2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6EFFC-B226-2549-92FB-A5CA5E9742A3}"/>
              </a:ext>
            </a:extLst>
          </p:cNvPr>
          <p:cNvSpPr txBox="1"/>
          <p:nvPr/>
        </p:nvSpPr>
        <p:spPr>
          <a:xfrm>
            <a:off x="5093396" y="4110960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the new node</a:t>
            </a:r>
            <a:br>
              <a:rPr lang="en-US" dirty="0"/>
            </a:br>
            <a:r>
              <a:rPr lang="en-US" dirty="0"/>
              <a:t>down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D1931-D0ED-064F-B152-48ED92F64F3A}"/>
              </a:ext>
            </a:extLst>
          </p:cNvPr>
          <p:cNvSpPr txBox="1"/>
          <p:nvPr/>
        </p:nvSpPr>
        <p:spPr>
          <a:xfrm>
            <a:off x="10518315" y="37268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205384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234780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Expr2, after 3 is parsed, create a number node and a minus node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D971D2-E7F8-2940-A846-AFD056D85C39}"/>
              </a:ext>
            </a:extLst>
          </p:cNvPr>
          <p:cNvSpPr txBox="1"/>
          <p:nvPr/>
        </p:nvSpPr>
        <p:spPr>
          <a:xfrm>
            <a:off x="10518315" y="37268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1105777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463989"/>
            <a:ext cx="1996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 down the new node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11E8F-24E9-9A4B-A10D-502221969126}"/>
              </a:ext>
            </a:extLst>
          </p:cNvPr>
          <p:cNvSpPr txBox="1"/>
          <p:nvPr/>
        </p:nvSpPr>
        <p:spPr>
          <a:xfrm>
            <a:off x="11284254" y="443660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2740840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FD25-5BDF-B640-BC3F-A5671F6E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AST from top down grammar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88A6-44C3-BA4F-8A51-F601DFA132CE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541A2-C14C-6C47-BC8F-99FC3CB32935}"/>
              </a:ext>
            </a:extLst>
          </p:cNvPr>
          <p:cNvSpPr txBox="1"/>
          <p:nvPr/>
        </p:nvSpPr>
        <p:spPr>
          <a:xfrm>
            <a:off x="7295859" y="18048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5 - 4 - 3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57DE0-A909-5645-B493-B7D174C1CEF7}"/>
              </a:ext>
            </a:extLst>
          </p:cNvPr>
          <p:cNvSpPr/>
          <p:nvPr/>
        </p:nvSpPr>
        <p:spPr>
          <a:xfrm>
            <a:off x="7108640" y="321233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3AD16-7A27-414A-8491-1E908897DDC9}"/>
              </a:ext>
            </a:extLst>
          </p:cNvPr>
          <p:cNvSpPr/>
          <p:nvPr/>
        </p:nvSpPr>
        <p:spPr>
          <a:xfrm>
            <a:off x="7321516" y="25660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926B8E-6AF3-524A-BFE2-F65D98172212}"/>
              </a:ext>
            </a:extLst>
          </p:cNvPr>
          <p:cNvCxnSpPr>
            <a:cxnSpLocks/>
          </p:cNvCxnSpPr>
          <p:nvPr/>
        </p:nvCxnSpPr>
        <p:spPr>
          <a:xfrm flipH="1">
            <a:off x="7323426" y="2935336"/>
            <a:ext cx="271515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EA0AAF6-7DED-4945-AEDF-55720C0563C1}"/>
              </a:ext>
            </a:extLst>
          </p:cNvPr>
          <p:cNvSpPr/>
          <p:nvPr/>
        </p:nvSpPr>
        <p:spPr>
          <a:xfrm>
            <a:off x="8731878" y="3232915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FFF5E0-54C5-B243-9B87-3F258D4B0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7689566" y="2935336"/>
            <a:ext cx="1479291" cy="297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F94448-7130-FB44-83F7-0447C633BD5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32976" y="3581667"/>
            <a:ext cx="1033213" cy="3446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6D43554-2564-3548-A91F-E9B106D4C9F0}"/>
              </a:ext>
            </a:extLst>
          </p:cNvPr>
          <p:cNvSpPr/>
          <p:nvPr/>
        </p:nvSpPr>
        <p:spPr>
          <a:xfrm>
            <a:off x="7871714" y="392629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D1B6A8-0B4F-CD43-ADF6-3AD71F7692F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168857" y="3602247"/>
            <a:ext cx="855676" cy="324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F919-D274-4348-A665-3136CEB8B10F}"/>
              </a:ext>
            </a:extLst>
          </p:cNvPr>
          <p:cNvSpPr/>
          <p:nvPr/>
        </p:nvSpPr>
        <p:spPr>
          <a:xfrm>
            <a:off x="9662493" y="3974861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C18F61-011F-E043-A5E0-45E6C1AB99B2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411987" y="4342975"/>
            <a:ext cx="558487" cy="278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07AD13-14DC-0549-B634-B99FE5C6A63B}"/>
              </a:ext>
            </a:extLst>
          </p:cNvPr>
          <p:cNvCxnSpPr>
            <a:cxnSpLocks/>
          </p:cNvCxnSpPr>
          <p:nvPr/>
        </p:nvCxnSpPr>
        <p:spPr>
          <a:xfrm>
            <a:off x="9136983" y="3598720"/>
            <a:ext cx="0" cy="301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2A71A-E3EB-7749-913B-A5DF92AFB549}"/>
              </a:ext>
            </a:extLst>
          </p:cNvPr>
          <p:cNvSpPr/>
          <p:nvPr/>
        </p:nvSpPr>
        <p:spPr>
          <a:xfrm>
            <a:off x="8975721" y="392944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998D9-4CD9-6B4E-AE92-ACA00548E82F}"/>
              </a:ext>
            </a:extLst>
          </p:cNvPr>
          <p:cNvSpPr/>
          <p:nvPr/>
        </p:nvSpPr>
        <p:spPr>
          <a:xfrm>
            <a:off x="9250725" y="4621272"/>
            <a:ext cx="3225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-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6FA31B-F12A-F54A-8F84-F8AB8CE0F2B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0" cy="289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016D4-8999-A74A-AE5E-EE800BFF98D7}"/>
              </a:ext>
            </a:extLst>
          </p:cNvPr>
          <p:cNvSpPr/>
          <p:nvPr/>
        </p:nvSpPr>
        <p:spPr>
          <a:xfrm>
            <a:off x="9988124" y="4630680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3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CCC9F93-D31E-0443-B6DE-0206074158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99472" y="4344193"/>
            <a:ext cx="769907" cy="3173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FBFC4-03D6-6047-BE01-11FE6402F0D3}"/>
              </a:ext>
            </a:extLst>
          </p:cNvPr>
          <p:cNvSpPr/>
          <p:nvPr/>
        </p:nvSpPr>
        <p:spPr>
          <a:xfrm>
            <a:off x="10725523" y="4694953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Expr2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AB119-DF97-0646-A0C7-79D16FD3D4A9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F50BF7-DB50-8145-9F94-15F25FD56A99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861D16-EF97-C940-86F1-71EF4F5ED397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FF4F30-6D2B-A149-B8D2-2A06D4743AB1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EED0C2-848A-D444-B3DA-E9309A942FCF}"/>
              </a:ext>
            </a:extLst>
          </p:cNvPr>
          <p:cNvSpPr txBox="1"/>
          <p:nvPr/>
        </p:nvSpPr>
        <p:spPr>
          <a:xfrm>
            <a:off x="740646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AST&lt;5&gt;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FE991-1FC7-C842-8A80-C7351B0E3AB7}"/>
              </a:ext>
            </a:extLst>
          </p:cNvPr>
          <p:cNvSpPr txBox="1"/>
          <p:nvPr/>
        </p:nvSpPr>
        <p:spPr>
          <a:xfrm>
            <a:off x="3113491" y="566494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AST&lt;4&gt;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032A57-4F72-FA4D-A03B-E80A1229D7FA}"/>
              </a:ext>
            </a:extLst>
          </p:cNvPr>
          <p:cNvSpPr txBox="1"/>
          <p:nvPr/>
        </p:nvSpPr>
        <p:spPr>
          <a:xfrm>
            <a:off x="6460765" y="5463989"/>
            <a:ext cx="1996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the node when there is nothing left to parse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6C9AC-A01C-7141-8A6C-6F122C825D71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DEBC20A-BCEA-7743-8DAD-6E9D39174F9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A09AB-97D8-9349-ADAC-B7CB9E713B5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4D34688-F9B5-DC4A-8E52-5BDD5CA28457}"/>
              </a:ext>
            </a:extLst>
          </p:cNvPr>
          <p:cNvSpPr txBox="1"/>
          <p:nvPr/>
        </p:nvSpPr>
        <p:spPr>
          <a:xfrm>
            <a:off x="5043941" y="48796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AST&lt;3&gt;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11E8F-24E9-9A4B-A10D-502221969126}"/>
              </a:ext>
            </a:extLst>
          </p:cNvPr>
          <p:cNvSpPr txBox="1"/>
          <p:nvPr/>
        </p:nvSpPr>
        <p:spPr>
          <a:xfrm>
            <a:off x="7871714" y="2317518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AST&lt;-&gt;</a:t>
            </a:r>
          </a:p>
        </p:txBody>
      </p:sp>
    </p:spTree>
    <p:extLst>
      <p:ext uri="{BB962C8B-B14F-4D97-AF65-F5344CB8AC3E}">
        <p14:creationId xmlns:p14="http://schemas.microsoft.com/office/powerpoint/2010/main" val="3909018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325954" y="2782669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it? </a:t>
            </a:r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</p:spTree>
    <p:extLst>
      <p:ext uri="{BB962C8B-B14F-4D97-AF65-F5344CB8AC3E}">
        <p14:creationId xmlns:p14="http://schemas.microsoft.com/office/powerpoint/2010/main" val="3271722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22C08-2429-7A49-BEC3-F1AF057278D5}"/>
              </a:ext>
            </a:extLst>
          </p:cNvPr>
          <p:cNvSpPr txBox="1"/>
          <p:nvPr/>
        </p:nvSpPr>
        <p:spPr>
          <a:xfrm>
            <a:off x="7426488" y="3685933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740646" y="566494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82809" y="486776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113491" y="566494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FEBF-852C-AC4A-90F4-0C94E1F7E510}"/>
              </a:ext>
            </a:extLst>
          </p:cNvPr>
          <p:cNvSpPr txBox="1"/>
          <p:nvPr/>
        </p:nvSpPr>
        <p:spPr>
          <a:xfrm>
            <a:off x="7325954" y="2782669"/>
            <a:ext cx="384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if you cannot evaluate it? </a:t>
            </a:r>
            <a:br>
              <a:rPr lang="en-US" i="1" dirty="0"/>
            </a:br>
            <a:r>
              <a:rPr lang="en-US" i="1" dirty="0"/>
              <a:t>What else might you do?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2249948" y="4342975"/>
            <a:ext cx="1891767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BEA8-0214-9C47-A69D-9D64E4A7E59B}"/>
              </a:ext>
            </a:extLst>
          </p:cNvPr>
          <p:cNvSpPr txBox="1"/>
          <p:nvPr/>
        </p:nvSpPr>
        <p:spPr>
          <a:xfrm>
            <a:off x="7325954" y="5664946"/>
            <a:ext cx="296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does this change things?</a:t>
            </a:r>
          </a:p>
        </p:txBody>
      </p:sp>
    </p:spTree>
    <p:extLst>
      <p:ext uri="{BB962C8B-B14F-4D97-AF65-F5344CB8AC3E}">
        <p14:creationId xmlns:p14="http://schemas.microsoft.com/office/powerpoint/2010/main" val="3956817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3CF6-8237-4348-8148-A13A36B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874" cy="1325563"/>
          </a:xfrm>
        </p:spPr>
        <p:txBody>
          <a:bodyPr/>
          <a:lstStyle/>
          <a:p>
            <a:r>
              <a:rPr lang="en-US" dirty="0"/>
              <a:t>Evaluate an AST by doing a post order traversal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1C913-BA44-B646-8F19-49E538FF0178}"/>
              </a:ext>
            </a:extLst>
          </p:cNvPr>
          <p:cNvSpPr txBox="1"/>
          <p:nvPr/>
        </p:nvSpPr>
        <p:spPr>
          <a:xfrm>
            <a:off x="838200" y="2081367"/>
            <a:ext cx="363112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Expr  ::= NUM Expr2</a:t>
            </a:r>
          </a:p>
          <a:p>
            <a:r>
              <a:rPr lang="en-US" dirty="0">
                <a:latin typeface="Courier" pitchFamily="2" charset="0"/>
              </a:rPr>
              <a:t>Expr2 ::= MINUS NUM Expr2</a:t>
            </a:r>
          </a:p>
          <a:p>
            <a:r>
              <a:rPr lang="en-US" dirty="0">
                <a:latin typeface="Courier" pitchFamily="2" charset="0"/>
              </a:rPr>
              <a:t>      |   “”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0DE9C-414A-8741-A528-E5A090C5086E}"/>
              </a:ext>
            </a:extLst>
          </p:cNvPr>
          <p:cNvSpPr txBox="1"/>
          <p:nvPr/>
        </p:nvSpPr>
        <p:spPr>
          <a:xfrm>
            <a:off x="679269" y="637430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91EE80-C134-4242-A9DA-5CF706065F22}"/>
              </a:ext>
            </a:extLst>
          </p:cNvPr>
          <p:cNvSpPr txBox="1"/>
          <p:nvPr/>
        </p:nvSpPr>
        <p:spPr>
          <a:xfrm>
            <a:off x="1821432" y="557712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C1411-1248-FE40-8305-879D11D5BF64}"/>
              </a:ext>
            </a:extLst>
          </p:cNvPr>
          <p:cNvCxnSpPr>
            <a:cxnSpLocks/>
          </p:cNvCxnSpPr>
          <p:nvPr/>
        </p:nvCxnSpPr>
        <p:spPr>
          <a:xfrm flipH="1">
            <a:off x="883574" y="594414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03D4F4-EC92-8743-8A4A-619CB7505399}"/>
              </a:ext>
            </a:extLst>
          </p:cNvPr>
          <p:cNvCxnSpPr>
            <a:cxnSpLocks/>
          </p:cNvCxnSpPr>
          <p:nvPr/>
        </p:nvCxnSpPr>
        <p:spPr>
          <a:xfrm>
            <a:off x="2107947" y="594414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8C9177-BFDE-3440-822B-0E031F7408C6}"/>
              </a:ext>
            </a:extLst>
          </p:cNvPr>
          <p:cNvSpPr txBox="1"/>
          <p:nvPr/>
        </p:nvSpPr>
        <p:spPr>
          <a:xfrm>
            <a:off x="3052114" y="6374306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FEF28-F06E-AE40-9CC6-A86B731C2353}"/>
              </a:ext>
            </a:extLst>
          </p:cNvPr>
          <p:cNvSpPr txBox="1"/>
          <p:nvPr/>
        </p:nvSpPr>
        <p:spPr>
          <a:xfrm>
            <a:off x="3723972" y="397364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AST&lt;-&gt;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83FEE-C3A4-5B4B-9C79-E440E987C5A0}"/>
              </a:ext>
            </a:extLst>
          </p:cNvPr>
          <p:cNvCxnSpPr>
            <a:cxnSpLocks/>
            <a:stCxn id="34" idx="2"/>
            <a:endCxn id="3" idx="0"/>
          </p:cNvCxnSpPr>
          <p:nvPr/>
        </p:nvCxnSpPr>
        <p:spPr>
          <a:xfrm flipH="1">
            <a:off x="2278037" y="4342975"/>
            <a:ext cx="1863678" cy="612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EFF6F-9C3A-4D4C-82A3-53A051525356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141715" y="4342975"/>
            <a:ext cx="965040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3298B1-AA3B-2E45-B1F1-033BD34193EA}"/>
              </a:ext>
            </a:extLst>
          </p:cNvPr>
          <p:cNvSpPr txBox="1"/>
          <p:nvPr/>
        </p:nvSpPr>
        <p:spPr>
          <a:xfrm>
            <a:off x="5043941" y="487961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F185A-6B9F-CA4C-B783-3EE2252D5834}"/>
              </a:ext>
            </a:extLst>
          </p:cNvPr>
          <p:cNvSpPr txBox="1"/>
          <p:nvPr/>
        </p:nvSpPr>
        <p:spPr>
          <a:xfrm>
            <a:off x="679269" y="4389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0D68-F154-304F-9FDE-1393D1018DEE}"/>
              </a:ext>
            </a:extLst>
          </p:cNvPr>
          <p:cNvSpPr txBox="1"/>
          <p:nvPr/>
        </p:nvSpPr>
        <p:spPr>
          <a:xfrm>
            <a:off x="353155" y="4091351"/>
            <a:ext cx="19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>
                <a:latin typeface="Courier" pitchFamily="2" charset="0"/>
              </a:rPr>
              <a:t>add</a:t>
            </a:r>
            <a:r>
              <a:rPr lang="en-US" dirty="0"/>
              <a:t> instruction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F3AA-8B1D-1042-B0A8-9CE4A6136303}"/>
              </a:ext>
            </a:extLst>
          </p:cNvPr>
          <p:cNvSpPr txBox="1"/>
          <p:nvPr/>
        </p:nvSpPr>
        <p:spPr>
          <a:xfrm>
            <a:off x="4469322" y="3245648"/>
            <a:ext cx="1991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needs to be an x86</a:t>
            </a:r>
            <a:br>
              <a:rPr lang="en-US" dirty="0"/>
            </a:br>
            <a:r>
              <a:rPr lang="en-US" b="1" dirty="0" err="1">
                <a:latin typeface="Courier" pitchFamily="2" charset="0"/>
              </a:rPr>
              <a:t>addss</a:t>
            </a:r>
            <a:r>
              <a:rPr lang="en-US" dirty="0"/>
              <a:t> instruction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BA0E-C32B-CC41-A387-9D62AB795428}"/>
              </a:ext>
            </a:extLst>
          </p:cNvPr>
          <p:cNvSpPr txBox="1"/>
          <p:nvPr/>
        </p:nvSpPr>
        <p:spPr>
          <a:xfrm>
            <a:off x="5106755" y="5794280"/>
            <a:ext cx="576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need to make sure our operands are in the right format!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DAE260-FBAB-A246-AC3A-5F5BF9999733}"/>
              </a:ext>
            </a:extLst>
          </p:cNvPr>
          <p:cNvSpPr txBox="1"/>
          <p:nvPr/>
        </p:nvSpPr>
        <p:spPr>
          <a:xfrm>
            <a:off x="8950488" y="1768320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- y - 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4BD33D-8B34-FC4B-B439-1B0F268BEE6C}"/>
              </a:ext>
            </a:extLst>
          </p:cNvPr>
          <p:cNvSpPr/>
          <p:nvPr/>
        </p:nvSpPr>
        <p:spPr>
          <a:xfrm>
            <a:off x="1341755" y="4955699"/>
            <a:ext cx="1872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&gt;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EE86BB-16B4-7E44-A61A-8823BD091603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 flipH="1">
            <a:off x="2239175" y="5325031"/>
            <a:ext cx="38862" cy="252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18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9A3CD-5154-E142-BB4B-5B035CB4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/>
          <a:lstStyle/>
          <a:p>
            <a:r>
              <a:rPr lang="en-US" dirty="0"/>
              <a:t>Given a language a type system defines:</a:t>
            </a:r>
          </a:p>
          <a:p>
            <a:pPr lvl="1"/>
            <a:r>
              <a:rPr lang="en-US" dirty="0"/>
              <a:t>The primitive (base) types in the language</a:t>
            </a:r>
          </a:p>
          <a:p>
            <a:pPr lvl="1"/>
            <a:r>
              <a:rPr lang="en-US" dirty="0"/>
              <a:t>How the types can be converted to other types</a:t>
            </a:r>
          </a:p>
          <a:p>
            <a:pPr lvl="2"/>
            <a:r>
              <a:rPr lang="en-US" dirty="0"/>
              <a:t>implicitly or explicitly</a:t>
            </a:r>
          </a:p>
          <a:p>
            <a:pPr lvl="1"/>
            <a:r>
              <a:rPr lang="en-US" dirty="0"/>
              <a:t>How the user can define new types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989FEE-3EF2-8E42-9C26-527D409EA79A}"/>
              </a:ext>
            </a:extLst>
          </p:cNvPr>
          <p:cNvSpPr txBox="1">
            <a:spLocks/>
          </p:cNvSpPr>
          <p:nvPr/>
        </p:nvSpPr>
        <p:spPr>
          <a:xfrm>
            <a:off x="838200" y="37745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Type checking and inference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8F86DF-C691-E749-B369-8F0687AF6159}"/>
              </a:ext>
            </a:extLst>
          </p:cNvPr>
          <p:cNvSpPr txBox="1">
            <a:spLocks/>
          </p:cNvSpPr>
          <p:nvPr/>
        </p:nvSpPr>
        <p:spPr>
          <a:xfrm>
            <a:off x="838200" y="5100093"/>
            <a:ext cx="10515600" cy="175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 a program to ensure that it adheres to the type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67ECE-44F9-5B4B-93B5-5540B4FBFEB1}"/>
              </a:ext>
            </a:extLst>
          </p:cNvPr>
          <p:cNvSpPr txBox="1"/>
          <p:nvPr/>
        </p:nvSpPr>
        <p:spPr>
          <a:xfrm>
            <a:off x="1946365" y="5846544"/>
            <a:ext cx="82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Especially interesting for compilers as a program given in the type system for the input language must be translated to a type system for lower-level program </a:t>
            </a:r>
          </a:p>
        </p:txBody>
      </p:sp>
    </p:spTree>
    <p:extLst>
      <p:ext uri="{BB962C8B-B14F-4D97-AF65-F5344CB8AC3E}">
        <p14:creationId xmlns:p14="http://schemas.microsoft.com/office/powerpoint/2010/main" val="1987368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</a:t>
            </a:r>
            <a:r>
              <a:rPr lang="en-US" dirty="0">
                <a:highlight>
                  <a:srgbClr val="FFFF00"/>
                </a:highlight>
              </a:rPr>
              <a:t>int</a:t>
            </a:r>
            <a:r>
              <a:rPr lang="en-US" dirty="0"/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</a:t>
            </a:r>
            <a:r>
              <a:rPr lang="en-US" dirty="0">
                <a:highlight>
                  <a:srgbClr val="FFFF00"/>
                </a:highlight>
              </a:rPr>
              <a:t>float</a:t>
            </a:r>
            <a:r>
              <a:rPr lang="en-US" dirty="0"/>
              <a:t>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106755" y="2786414"/>
            <a:ext cx="5872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each node additionally gets a type</a:t>
            </a:r>
          </a:p>
          <a:p>
            <a:r>
              <a:rPr lang="en-US" i="1" dirty="0"/>
              <a:t>we can get this from the symbol table for the leaves or based</a:t>
            </a:r>
          </a:p>
          <a:p>
            <a:r>
              <a:rPr lang="en-US" i="1" dirty="0"/>
              <a:t>on the input (e.g. 5 vs 5.0)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C2A83-5254-D742-9C8E-7C68266BF7AD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</p:spTree>
    <p:extLst>
      <p:ext uri="{BB962C8B-B14F-4D97-AF65-F5344CB8AC3E}">
        <p14:creationId xmlns:p14="http://schemas.microsoft.com/office/powerpoint/2010/main" val="178908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14209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164157" y="4342975"/>
            <a:ext cx="942598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C6D91EE-E416-CC46-8185-BAA2CBE561C6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8DCF7-E46E-5F43-8C3B-BCAAD353B163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808948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AST&lt;+,?&gt;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1996764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246712" y="4342975"/>
            <a:ext cx="860043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10F0099-2EC0-9448-B19F-39E94E91FD5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E397BF-326C-9048-A0EE-68C1C5DFFFE8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1784399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664946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48677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23478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23478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3113491" y="5664946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249948" y="4342975"/>
            <a:ext cx="2158411" cy="527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EA263EA-2CA4-1C44-804E-89C541936FD3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894C7-1140-E448-9492-C66106B318C0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</p:spTree>
    <p:extLst>
      <p:ext uri="{BB962C8B-B14F-4D97-AF65-F5344CB8AC3E}">
        <p14:creationId xmlns:p14="http://schemas.microsoft.com/office/powerpoint/2010/main" val="2312612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AA79-84B2-6E44-9DB4-2D1ABA58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checking on an 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3416-CBC4-1742-BBDE-11516DFBA46A}"/>
              </a:ext>
            </a:extLst>
          </p:cNvPr>
          <p:cNvSpPr txBox="1"/>
          <p:nvPr/>
        </p:nvSpPr>
        <p:spPr>
          <a:xfrm>
            <a:off x="740646" y="5821702"/>
            <a:ext cx="1224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AST&lt;x, int&gt;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AE955-0599-824D-A808-B9DDF0AC2ACE}"/>
              </a:ext>
            </a:extLst>
          </p:cNvPr>
          <p:cNvSpPr txBox="1"/>
          <p:nvPr/>
        </p:nvSpPr>
        <p:spPr>
          <a:xfrm>
            <a:off x="1882809" y="5024519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AST&lt;+,int&gt;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CCE412-E71A-A24D-9D76-AD7DB8FBB9BB}"/>
              </a:ext>
            </a:extLst>
          </p:cNvPr>
          <p:cNvCxnSpPr>
            <a:cxnSpLocks/>
          </p:cNvCxnSpPr>
          <p:nvPr/>
        </p:nvCxnSpPr>
        <p:spPr>
          <a:xfrm flipH="1">
            <a:off x="944951" y="539153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F6563-880E-C74E-B3BB-18ED7BEEAD4C}"/>
              </a:ext>
            </a:extLst>
          </p:cNvPr>
          <p:cNvCxnSpPr>
            <a:cxnSpLocks/>
          </p:cNvCxnSpPr>
          <p:nvPr/>
        </p:nvCxnSpPr>
        <p:spPr>
          <a:xfrm>
            <a:off x="2169324" y="539153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FC64A7-099F-CA41-91EA-4CBE16A06F1C}"/>
              </a:ext>
            </a:extLst>
          </p:cNvPr>
          <p:cNvSpPr txBox="1"/>
          <p:nvPr/>
        </p:nvSpPr>
        <p:spPr>
          <a:xfrm>
            <a:off x="2808691" y="5847639"/>
            <a:ext cx="1212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AST&lt;y, int&gt;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BE047-5CE7-764F-84E1-1B4EE9B9C6F4}"/>
              </a:ext>
            </a:extLst>
          </p:cNvPr>
          <p:cNvSpPr txBox="1"/>
          <p:nvPr/>
        </p:nvSpPr>
        <p:spPr>
          <a:xfrm>
            <a:off x="3723972" y="3973643"/>
            <a:ext cx="13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AST&lt;+,float&gt;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BBEA0C-2C0A-8E4B-9DC7-DA9FD1B5391E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476626" y="4754880"/>
            <a:ext cx="118528" cy="2696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8C3957-483F-A548-A7DF-D25A5D3F962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408359" y="4342975"/>
            <a:ext cx="6983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0C968-12DE-BB41-BEB4-EA81FD8B4016}"/>
              </a:ext>
            </a:extLst>
          </p:cNvPr>
          <p:cNvSpPr txBox="1"/>
          <p:nvPr/>
        </p:nvSpPr>
        <p:spPr>
          <a:xfrm>
            <a:off x="5043941" y="4879619"/>
            <a:ext cx="13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AST&lt;z, float&gt;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B22F7-489A-3941-B06E-E974CDC2F38C}"/>
              </a:ext>
            </a:extLst>
          </p:cNvPr>
          <p:cNvSpPr txBox="1"/>
          <p:nvPr/>
        </p:nvSpPr>
        <p:spPr>
          <a:xfrm>
            <a:off x="1312139" y="1801897"/>
            <a:ext cx="1976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int x;</a:t>
            </a:r>
          </a:p>
          <a:p>
            <a:r>
              <a:rPr lang="en-US" dirty="0">
                <a:latin typeface="Courier" pitchFamily="2" charset="0"/>
              </a:rPr>
              <a:t>int y;</a:t>
            </a:r>
          </a:p>
          <a:p>
            <a:r>
              <a:rPr lang="en-US" dirty="0">
                <a:latin typeface="Courier" pitchFamily="2" charset="0"/>
              </a:rPr>
              <a:t>float z;</a:t>
            </a:r>
          </a:p>
          <a:p>
            <a:r>
              <a:rPr lang="en-US" dirty="0">
                <a:latin typeface="Courier" pitchFamily="2" charset="0"/>
              </a:rPr>
              <a:t>float w;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w = x + y + 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E0BF5-1E88-3148-811F-C44FDB377EE5}"/>
              </a:ext>
            </a:extLst>
          </p:cNvPr>
          <p:cNvSpPr txBox="1"/>
          <p:nvPr/>
        </p:nvSpPr>
        <p:spPr>
          <a:xfrm>
            <a:off x="5507349" y="2047335"/>
            <a:ext cx="362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get the type for this one?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04DAAFE-978C-E24F-B64E-829CD67E14C0}"/>
              </a:ext>
            </a:extLst>
          </p:cNvPr>
          <p:cNvGraphicFramePr>
            <a:graphicFrameLocks noGrp="1"/>
          </p:cNvGraphicFramePr>
          <p:nvPr/>
        </p:nvGraphicFramePr>
        <p:xfrm>
          <a:off x="7567854" y="3973643"/>
          <a:ext cx="3679195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4367">
                  <a:extLst>
                    <a:ext uri="{9D8B030D-6E8A-4147-A177-3AD203B41FA5}">
                      <a16:colId xmlns:a16="http://schemas.microsoft.com/office/drawing/2014/main" val="1084029198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612780071"/>
                    </a:ext>
                  </a:extLst>
                </a:gridCol>
                <a:gridCol w="1357414">
                  <a:extLst>
                    <a:ext uri="{9D8B030D-6E8A-4147-A177-3AD203B41FA5}">
                      <a16:colId xmlns:a16="http://schemas.microsoft.com/office/drawing/2014/main" val="2089903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91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79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9A08F8-D5B2-1D44-8144-5A1ABA0423B7}"/>
              </a:ext>
            </a:extLst>
          </p:cNvPr>
          <p:cNvSpPr txBox="1"/>
          <p:nvPr/>
        </p:nvSpPr>
        <p:spPr>
          <a:xfrm>
            <a:off x="7959635" y="3308485"/>
            <a:ext cx="275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inference rules for addition: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721C0-56C3-5B44-8F52-B1BAC9226267}"/>
              </a:ext>
            </a:extLst>
          </p:cNvPr>
          <p:cNvSpPr txBox="1"/>
          <p:nvPr/>
        </p:nvSpPr>
        <p:spPr>
          <a:xfrm>
            <a:off x="7524206" y="6392091"/>
            <a:ext cx="429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else? need to convert the int to a float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DBB2A-89C9-074D-BDCF-A91F6AF956B5}"/>
              </a:ext>
            </a:extLst>
          </p:cNvPr>
          <p:cNvSpPr txBox="1"/>
          <p:nvPr/>
        </p:nvSpPr>
        <p:spPr>
          <a:xfrm>
            <a:off x="2193778" y="4426631"/>
            <a:ext cx="2037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AST&lt;</a:t>
            </a:r>
            <a:r>
              <a:rPr lang="en-US" dirty="0" err="1">
                <a:highlight>
                  <a:srgbClr val="FFFF00"/>
                </a:highlight>
              </a:rPr>
              <a:t>int_to_float</a:t>
            </a:r>
            <a:r>
              <a:rPr lang="en-US" dirty="0">
                <a:highlight>
                  <a:srgbClr val="FFFF00"/>
                </a:highlight>
              </a:rPr>
              <a:t>,?&gt;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3EE03F-FB5D-FE4C-A300-01909E7A6B1C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flipH="1">
            <a:off x="3212615" y="4342975"/>
            <a:ext cx="1195744" cy="836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679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9F8A3-4FF3-8049-0FBF-C3EC9FD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2054-9AC7-1F56-5D67-A5E36BF0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7882"/>
            <a:ext cx="10515600" cy="258830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Intermediate Representations</a:t>
            </a:r>
            <a:br>
              <a:rPr lang="en-US" dirty="0"/>
            </a:br>
            <a:r>
              <a:rPr lang="en-US" dirty="0"/>
              <a:t>RULES FOR OUR IR</a:t>
            </a:r>
          </a:p>
        </p:txBody>
      </p:sp>
    </p:spTree>
    <p:extLst>
      <p:ext uri="{BB962C8B-B14F-4D97-AF65-F5344CB8AC3E}">
        <p14:creationId xmlns:p14="http://schemas.microsoft.com/office/powerpoint/2010/main" val="1976391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Class-IR: The Players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Inputs/outputs (IO): </a:t>
            </a:r>
            <a:r>
              <a:rPr lang="en-US" dirty="0"/>
              <a:t>32-bit typed inputs</a:t>
            </a:r>
          </a:p>
          <a:p>
            <a:pPr marL="0" indent="0">
              <a:buNone/>
            </a:pPr>
            <a:r>
              <a:rPr lang="en-US" dirty="0"/>
              <a:t>e.g.: </a:t>
            </a:r>
            <a:r>
              <a:rPr lang="en-US" dirty="0">
                <a:latin typeface="Courier" pitchFamily="2" charset="0"/>
              </a:rPr>
              <a:t>int x, int y, float z   </a:t>
            </a:r>
            <a:r>
              <a:rPr lang="en-US" sz="2000" dirty="0">
                <a:latin typeface="Courier" pitchFamily="2" charset="0"/>
              </a:rPr>
              <a:t>// e.g. params to a function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Program Variables (Variables): </a:t>
            </a:r>
            <a:r>
              <a:rPr lang="en-US" dirty="0"/>
              <a:t>32-bit untyped virtual register</a:t>
            </a:r>
          </a:p>
          <a:p>
            <a:pPr marL="0" indent="0">
              <a:buNone/>
            </a:pPr>
            <a:r>
              <a:rPr lang="en-US" dirty="0"/>
              <a:t>given as </a:t>
            </a:r>
            <a:r>
              <a:rPr lang="en-US" dirty="0" err="1">
                <a:latin typeface="Courier" pitchFamily="2" charset="0"/>
              </a:rPr>
              <a:t>vrX</a:t>
            </a:r>
            <a:r>
              <a:rPr lang="en-US" dirty="0"/>
              <a:t> where </a:t>
            </a:r>
            <a:r>
              <a:rPr lang="en-US" dirty="0">
                <a:latin typeface="Courier" pitchFamily="2" charset="0"/>
              </a:rPr>
              <a:t>X</a:t>
            </a:r>
            <a:r>
              <a:rPr lang="en-US" dirty="0"/>
              <a:t> is an integer:</a:t>
            </a:r>
          </a:p>
          <a:p>
            <a:pPr marL="0" indent="0">
              <a:buNone/>
            </a:pPr>
            <a:r>
              <a:rPr lang="en-US" dirty="0"/>
              <a:t>e.g. </a:t>
            </a:r>
            <a:r>
              <a:rPr lang="en-US" dirty="0">
                <a:latin typeface="Courier" pitchFamily="2" charset="0"/>
              </a:rPr>
              <a:t>vr0, vr1, vr2, vr3 </a:t>
            </a:r>
            <a:r>
              <a:rPr lang="en-US" dirty="0"/>
              <a:t>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Constants (float or </a:t>
            </a:r>
            <a:r>
              <a:rPr lang="en-US" b="1" dirty="0" err="1"/>
              <a:t>ints</a:t>
            </a:r>
            <a:r>
              <a:rPr lang="en-US" b="1" dirty="0"/>
              <a:t>):  </a:t>
            </a:r>
            <a:r>
              <a:rPr lang="en-US" dirty="0"/>
              <a:t>e.g.   3.5,  3e5,  6, 1024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assume input/output names are disjoint from virtual register names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387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binary operators</a:t>
            </a:r>
            <a:r>
              <a:rPr lang="en-US" dirty="0"/>
              <a:t>: 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dst</a:t>
            </a:r>
            <a:r>
              <a:rPr lang="en-US" dirty="0">
                <a:latin typeface="Courier" pitchFamily="2" charset="0"/>
              </a:rPr>
              <a:t> = operation(op0, op1);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operations can be one of these: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[add, sub, </a:t>
            </a:r>
            <a:r>
              <a:rPr lang="en-US" dirty="0" err="1">
                <a:latin typeface="Courier" pitchFamily="2" charset="0"/>
              </a:rPr>
              <a:t>mult</a:t>
            </a:r>
            <a:r>
              <a:rPr lang="en-US" dirty="0">
                <a:latin typeface="Courier" pitchFamily="2" charset="0"/>
              </a:rPr>
              <a:t>, div, eq, </a:t>
            </a:r>
            <a:r>
              <a:rPr lang="en-US" dirty="0" err="1">
                <a:latin typeface="Courier" pitchFamily="2" charset="0"/>
              </a:rPr>
              <a:t>lt</a:t>
            </a:r>
            <a:r>
              <a:rPr lang="en-US" dirty="0">
                <a:latin typeface="Courier" pitchFamily="2" charset="0"/>
              </a:rPr>
              <a:t>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each operation is followed by an “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” or “f”, which specifies how the bits in the registers are interpreted, </a:t>
            </a:r>
            <a:r>
              <a:rPr lang="en-US" dirty="0" err="1">
                <a:latin typeface="Courier" pitchFamily="2" charset="0"/>
              </a:rPr>
              <a:t>eg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latin typeface="Courier" pitchFamily="2" charset="0"/>
              </a:rPr>
              <a:t>multi</a:t>
            </a:r>
            <a:r>
              <a:rPr lang="en-US" dirty="0">
                <a:latin typeface="Courier" pitchFamily="2" charset="0"/>
              </a:rPr>
              <a:t> for integers, </a:t>
            </a:r>
            <a:r>
              <a:rPr lang="en-US" b="1" dirty="0" err="1">
                <a:latin typeface="Courier" pitchFamily="2" charset="0"/>
              </a:rPr>
              <a:t>multf</a:t>
            </a:r>
            <a:r>
              <a:rPr lang="en-US" dirty="0">
                <a:latin typeface="Courier" pitchFamily="2" charset="0"/>
              </a:rPr>
              <a:t> for floating point.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09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binary operators</a:t>
            </a:r>
            <a:r>
              <a:rPr lang="en-US" dirty="0"/>
              <a:t>: 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dst</a:t>
            </a:r>
            <a:r>
              <a:rPr lang="en-US" dirty="0">
                <a:latin typeface="Courier" pitchFamily="2" charset="0"/>
              </a:rPr>
              <a:t> = operation(op0, op1);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operations can be one of: 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[add/</a:t>
            </a:r>
            <a:r>
              <a:rPr lang="en-US" sz="2400" dirty="0" err="1">
                <a:latin typeface="Courier" pitchFamily="2" charset="0"/>
              </a:rPr>
              <a:t>i|f</a:t>
            </a:r>
            <a:r>
              <a:rPr lang="en-US" sz="2400" dirty="0">
                <a:latin typeface="Courier" pitchFamily="2" charset="0"/>
              </a:rPr>
              <a:t>, sub/</a:t>
            </a:r>
            <a:r>
              <a:rPr lang="en-US" sz="2400" dirty="0" err="1">
                <a:latin typeface="Courier" pitchFamily="2" charset="0"/>
              </a:rPr>
              <a:t>i|f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 err="1">
                <a:latin typeface="Courier" pitchFamily="2" charset="0"/>
              </a:rPr>
              <a:t>mult</a:t>
            </a:r>
            <a:r>
              <a:rPr lang="en-US" sz="2400" dirty="0">
                <a:latin typeface="Courier" pitchFamily="2" charset="0"/>
              </a:rPr>
              <a:t>/</a:t>
            </a:r>
            <a:r>
              <a:rPr lang="en-US" sz="2400" dirty="0" err="1">
                <a:latin typeface="Courier" pitchFamily="2" charset="0"/>
              </a:rPr>
              <a:t>i|f</a:t>
            </a:r>
            <a:r>
              <a:rPr lang="en-US" sz="2400" dirty="0">
                <a:latin typeface="Courier" pitchFamily="2" charset="0"/>
              </a:rPr>
              <a:t>, div/</a:t>
            </a:r>
            <a:r>
              <a:rPr lang="en-US" sz="2400" dirty="0" err="1">
                <a:latin typeface="Courier" pitchFamily="2" charset="0"/>
              </a:rPr>
              <a:t>i|f</a:t>
            </a:r>
            <a:r>
              <a:rPr lang="en-US" sz="2400" dirty="0">
                <a:latin typeface="Courier" pitchFamily="2" charset="0"/>
              </a:rPr>
              <a:t>, eq/</a:t>
            </a:r>
            <a:r>
              <a:rPr lang="en-US" sz="2400" dirty="0" err="1">
                <a:latin typeface="Courier" pitchFamily="2" charset="0"/>
              </a:rPr>
              <a:t>i|f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 err="1">
                <a:latin typeface="Courier" pitchFamily="2" charset="0"/>
              </a:rPr>
              <a:t>lt</a:t>
            </a:r>
            <a:r>
              <a:rPr lang="en-US" sz="2400" dirty="0">
                <a:latin typeface="Courier" pitchFamily="2" charset="0"/>
              </a:rPr>
              <a:t>/</a:t>
            </a:r>
            <a:r>
              <a:rPr lang="en-US" sz="2400" dirty="0" err="1">
                <a:latin typeface="Courier" pitchFamily="2" charset="0"/>
              </a:rPr>
              <a:t>i|f</a:t>
            </a:r>
            <a:r>
              <a:rPr lang="en-US" sz="2400" dirty="0">
                <a:latin typeface="Courier" pitchFamily="2" charset="0"/>
              </a:rPr>
              <a:t>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i="1" dirty="0">
                <a:latin typeface="Courier" pitchFamily="2" charset="0"/>
              </a:rPr>
              <a:t>all of </a:t>
            </a:r>
            <a:r>
              <a:rPr lang="en-US" sz="2400" i="1" dirty="0" err="1">
                <a:highlight>
                  <a:srgbClr val="FFFF00"/>
                </a:highlight>
                <a:latin typeface="Courier" pitchFamily="2" charset="0"/>
              </a:rPr>
              <a:t>dst</a:t>
            </a:r>
            <a:r>
              <a:rPr lang="en-US" sz="2400" i="1" dirty="0">
                <a:highlight>
                  <a:srgbClr val="FFFF00"/>
                </a:highlight>
                <a:latin typeface="Courier" pitchFamily="2" charset="0"/>
              </a:rPr>
              <a:t>, op0, &amp; op1 must be untyped virtual regs</a:t>
            </a:r>
            <a:endParaRPr lang="en-US" sz="2400" i="1" dirty="0">
              <a:latin typeface="Courier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497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Class-IR: Examples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binary operators</a:t>
            </a:r>
            <a:r>
              <a:rPr lang="en-US" dirty="0"/>
              <a:t>: 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dst</a:t>
            </a:r>
            <a:r>
              <a:rPr lang="en-US" dirty="0">
                <a:latin typeface="Courier" pitchFamily="2" charset="0"/>
              </a:rPr>
              <a:t> = operation(op0, op1);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Examples: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vr0 = </a:t>
            </a:r>
            <a:r>
              <a:rPr lang="en-US" dirty="0" err="1">
                <a:latin typeface="Courier" pitchFamily="2" charset="0"/>
              </a:rPr>
              <a:t>addi</a:t>
            </a:r>
            <a:r>
              <a:rPr lang="en-US" dirty="0">
                <a:latin typeface="Courier" pitchFamily="2" charset="0"/>
              </a:rPr>
              <a:t>(vr1, vr2);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vr3 = </a:t>
            </a:r>
            <a:r>
              <a:rPr lang="en-US" dirty="0" err="1">
                <a:latin typeface="Courier" pitchFamily="2" charset="0"/>
              </a:rPr>
              <a:t>subf</a:t>
            </a:r>
            <a:r>
              <a:rPr lang="en-US" dirty="0">
                <a:latin typeface="Courier" pitchFamily="2" charset="0"/>
              </a:rPr>
              <a:t>(vr4, vr5);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0000"/>
                </a:highlight>
                <a:latin typeface="Courier" pitchFamily="2" charset="0"/>
              </a:rPr>
              <a:t>x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multf</a:t>
            </a:r>
            <a:r>
              <a:rPr lang="en-US" dirty="0">
                <a:latin typeface="Courier" pitchFamily="2" charset="0"/>
              </a:rPr>
              <a:t>(vr0, vr1); not allowed!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vr0 = </a:t>
            </a:r>
            <a:r>
              <a:rPr lang="en-US" dirty="0" err="1">
                <a:latin typeface="Courier" pitchFamily="2" charset="0"/>
              </a:rPr>
              <a:t>addi</a:t>
            </a:r>
            <a:r>
              <a:rPr lang="en-US" dirty="0">
                <a:latin typeface="Courier" pitchFamily="2" charset="0"/>
              </a:rPr>
              <a:t>(vr1, </a:t>
            </a:r>
            <a:r>
              <a:rPr lang="en-US" dirty="0">
                <a:highlight>
                  <a:srgbClr val="FF0000"/>
                </a:highlight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);  not allowed!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18070-5144-274D-923F-C9E799286AC2}"/>
              </a:ext>
            </a:extLst>
          </p:cNvPr>
          <p:cNvSpPr txBox="1"/>
          <p:nvPr/>
        </p:nvSpPr>
        <p:spPr>
          <a:xfrm>
            <a:off x="8508274" y="4955177"/>
            <a:ext cx="24240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We’ll talk about how to </a:t>
            </a:r>
            <a:br>
              <a:rPr lang="en-US" i="1" dirty="0"/>
            </a:br>
            <a:r>
              <a:rPr lang="en-US" i="1" dirty="0"/>
              <a:t>do this using other </a:t>
            </a:r>
            <a:br>
              <a:rPr lang="en-US" i="1" dirty="0"/>
            </a:br>
            <a:r>
              <a:rPr lang="en-US" i="1" dirty="0"/>
              <a:t>instructions</a:t>
            </a:r>
          </a:p>
        </p:txBody>
      </p:sp>
    </p:spTree>
    <p:extLst>
      <p:ext uri="{BB962C8B-B14F-4D97-AF65-F5344CB8AC3E}">
        <p14:creationId xmlns:p14="http://schemas.microsoft.com/office/powerpoint/2010/main" val="2856837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Class-IR: Control Flow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Control flow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branch(label);</a:t>
            </a:r>
          </a:p>
          <a:p>
            <a:r>
              <a:rPr lang="en-US" dirty="0">
                <a:latin typeface="Courier" pitchFamily="2" charset="0"/>
              </a:rPr>
              <a:t>branches unconditionally to the label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bne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(op0, op1, label)</a:t>
            </a:r>
          </a:p>
          <a:p>
            <a:r>
              <a:rPr lang="en-US" dirty="0">
                <a:latin typeface="Courier" pitchFamily="2" charset="0"/>
              </a:rPr>
              <a:t>if op0 is not equal to op1 then branch to label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operands must be virtual registers!</a:t>
            </a:r>
          </a:p>
          <a:p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beq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(op0, op1, label)</a:t>
            </a:r>
          </a:p>
          <a:p>
            <a:r>
              <a:rPr lang="en-US" dirty="0">
                <a:latin typeface="Courier" pitchFamily="2" charset="0"/>
              </a:rPr>
              <a:t>Same as </a:t>
            </a:r>
            <a:r>
              <a:rPr lang="en-US" dirty="0" err="1">
                <a:latin typeface="Courier" pitchFamily="2" charset="0"/>
              </a:rPr>
              <a:t>bne</a:t>
            </a:r>
            <a:r>
              <a:rPr lang="en-US" dirty="0">
                <a:latin typeface="Courier" pitchFamily="2" charset="0"/>
              </a:rPr>
              <a:t> except it is for equal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20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Assignment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vr0 = vr1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one virtual register can be assigned to another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486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Assignment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vr0 = vr1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one virtual register can be assigned to another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Examples: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vr0 = </a:t>
            </a:r>
            <a:r>
              <a:rPr lang="en-US" dirty="0">
                <a:highlight>
                  <a:srgbClr val="FF0000"/>
                </a:highlight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; not allowed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vr1 = </a:t>
            </a:r>
            <a:r>
              <a:rPr lang="en-US" dirty="0">
                <a:highlight>
                  <a:srgbClr val="FF0000"/>
                </a:highlight>
                <a:latin typeface="Courier" pitchFamily="2" charset="0"/>
              </a:rPr>
              <a:t>x</a:t>
            </a:r>
            <a:r>
              <a:rPr lang="en-US" dirty="0">
                <a:latin typeface="Courier" pitchFamily="2" charset="0"/>
              </a:rPr>
              <a:t>; not allowed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918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unary get untyped register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dst</a:t>
            </a:r>
            <a:r>
              <a:rPr lang="en-US" dirty="0">
                <a:latin typeface="Courier" pitchFamily="2" charset="0"/>
              </a:rPr>
              <a:t> = operation(op0);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operations are: [int2vr, float2vr]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Example: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vr1 = int2vr(x);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vr2 = float2vr(2.0);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5F72E-EDFE-F44B-80E1-2798B353B648}"/>
              </a:ext>
            </a:extLst>
          </p:cNvPr>
          <p:cNvSpPr txBox="1"/>
          <p:nvPr/>
        </p:nvSpPr>
        <p:spPr>
          <a:xfrm>
            <a:off x="838200" y="4243348"/>
            <a:ext cx="1991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Given IO: int x</a:t>
            </a:r>
          </a:p>
        </p:txBody>
      </p:sp>
    </p:spTree>
    <p:extLst>
      <p:ext uri="{BB962C8B-B14F-4D97-AF65-F5344CB8AC3E}">
        <p14:creationId xmlns:p14="http://schemas.microsoft.com/office/powerpoint/2010/main" val="17269381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unary get typed data for IO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dst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operation(op0);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operations are: [vr2int, vr2float]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Example: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x = vr2int(vr1);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y = vr2float(vr3);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5F72E-EDFE-F44B-80E1-2798B353B648}"/>
              </a:ext>
            </a:extLst>
          </p:cNvPr>
          <p:cNvSpPr txBox="1"/>
          <p:nvPr/>
        </p:nvSpPr>
        <p:spPr>
          <a:xfrm>
            <a:off x="838200" y="4243348"/>
            <a:ext cx="3328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</a:rPr>
              <a:t>Given IO: int x and float y</a:t>
            </a:r>
          </a:p>
        </p:txBody>
      </p:sp>
    </p:spTree>
    <p:extLst>
      <p:ext uri="{BB962C8B-B14F-4D97-AF65-F5344CB8AC3E}">
        <p14:creationId xmlns:p14="http://schemas.microsoft.com/office/powerpoint/2010/main" val="2422710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unary conversion operators for VRs</a:t>
            </a:r>
            <a:r>
              <a:rPr lang="en-US" dirty="0"/>
              <a:t>: 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dst</a:t>
            </a:r>
            <a:r>
              <a:rPr lang="en-US" dirty="0">
                <a:latin typeface="Courier" pitchFamily="2" charset="0"/>
              </a:rPr>
              <a:t> = operation(op0);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operations can be one of: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[vr_int2float, vr_float2int]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converts</a:t>
            </a:r>
            <a:r>
              <a:rPr lang="en-US" dirty="0">
                <a:latin typeface="Courier" pitchFamily="2" charset="0"/>
              </a:rPr>
              <a:t> the bits in a </a:t>
            </a:r>
            <a:r>
              <a:rPr lang="en-US" b="1" dirty="0">
                <a:latin typeface="Courier" pitchFamily="2" charset="0"/>
              </a:rPr>
              <a:t>virtual register</a:t>
            </a:r>
            <a:r>
              <a:rPr lang="en-US" dirty="0">
                <a:latin typeface="Courier" pitchFamily="2" charset="0"/>
              </a:rPr>
              <a:t> from </a:t>
            </a:r>
            <a:r>
              <a:rPr lang="en-US" b="1" dirty="0">
                <a:latin typeface="Courier" pitchFamily="2" charset="0"/>
              </a:rPr>
              <a:t>one type to another</a:t>
            </a:r>
            <a:r>
              <a:rPr lang="en-US" dirty="0">
                <a:latin typeface="Courier" pitchFamily="2" charset="0"/>
              </a:rPr>
              <a:t>. </a:t>
            </a:r>
            <a:r>
              <a:rPr lang="en-US" b="1" i="1" dirty="0">
                <a:highlight>
                  <a:srgbClr val="FFFF00"/>
                </a:highlight>
                <a:latin typeface="Courier" pitchFamily="2" charset="0"/>
              </a:rPr>
              <a:t>op0</a:t>
            </a:r>
            <a:r>
              <a:rPr lang="en-US" i="1" dirty="0">
                <a:highlight>
                  <a:srgbClr val="FFFF00"/>
                </a:highlight>
                <a:latin typeface="Courier" pitchFamily="2" charset="0"/>
              </a:rPr>
              <a:t> and </a:t>
            </a:r>
            <a:r>
              <a:rPr lang="en-US" b="1" i="1" dirty="0" err="1">
                <a:highlight>
                  <a:srgbClr val="FFFF00"/>
                </a:highlight>
                <a:latin typeface="Courier" pitchFamily="2" charset="0"/>
              </a:rPr>
              <a:t>dst</a:t>
            </a:r>
            <a:r>
              <a:rPr lang="en-US" i="1" dirty="0">
                <a:highlight>
                  <a:srgbClr val="FFFF00"/>
                </a:highlight>
                <a:latin typeface="Courier" pitchFamily="2" charset="0"/>
              </a:rPr>
              <a:t> must be a </a:t>
            </a:r>
            <a:r>
              <a:rPr lang="en-US" b="1" i="1" dirty="0">
                <a:highlight>
                  <a:srgbClr val="FFFF00"/>
                </a:highlight>
                <a:latin typeface="Courier" pitchFamily="2" charset="0"/>
              </a:rPr>
              <a:t>virtual register!</a:t>
            </a:r>
          </a:p>
        </p:txBody>
      </p:sp>
    </p:spTree>
    <p:extLst>
      <p:ext uri="{BB962C8B-B14F-4D97-AF65-F5344CB8AC3E}">
        <p14:creationId xmlns:p14="http://schemas.microsoft.com/office/powerpoint/2010/main" val="1749225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Class-IR: Examples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4234CF-66E9-9249-9F6C-FEF36BAD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unary conversion operators</a:t>
            </a:r>
            <a:r>
              <a:rPr lang="en-US" dirty="0"/>
              <a:t>: 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dst</a:t>
            </a:r>
            <a:r>
              <a:rPr lang="en-US" dirty="0">
                <a:latin typeface="Courier" pitchFamily="2" charset="0"/>
              </a:rPr>
              <a:t> = operation(op0);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Examples: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vr0 = vr_int2float(vr1);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vr2 = vr_float2int(</a:t>
            </a:r>
            <a:r>
              <a:rPr lang="en-US" dirty="0">
                <a:highlight>
                  <a:srgbClr val="FF0000"/>
                </a:highlight>
                <a:latin typeface="Courier" pitchFamily="2" charset="0"/>
              </a:rPr>
              <a:t>1.0</a:t>
            </a:r>
            <a:r>
              <a:rPr lang="en-US" dirty="0">
                <a:latin typeface="Courier" pitchFamily="2" charset="0"/>
              </a:rPr>
              <a:t>); not allowed!</a:t>
            </a:r>
          </a:p>
        </p:txBody>
      </p:sp>
    </p:spTree>
    <p:extLst>
      <p:ext uri="{BB962C8B-B14F-4D97-AF65-F5344CB8AC3E}">
        <p14:creationId xmlns:p14="http://schemas.microsoft.com/office/powerpoint/2010/main" val="21587021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9534-BD2E-AD47-A269-2AC3A9B9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AB6E2F-1E98-8045-99BB-9F0F400B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adding the values 1 - 9 to an input/output variable: int x</a:t>
            </a:r>
          </a:p>
          <a:p>
            <a:pPr marL="0" indent="0">
              <a:buNone/>
            </a:pPr>
            <a:endParaRPr lang="en-US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vr0 = int2vr(1);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vr1 = int2vr(1);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vr2 = int2vr(10);</a:t>
            </a:r>
          </a:p>
          <a:p>
            <a:pPr marL="0" indent="0">
              <a:buNone/>
            </a:pPr>
            <a:r>
              <a:rPr lang="en-US" sz="2000" dirty="0" err="1">
                <a:latin typeface="Courier" pitchFamily="2" charset="0"/>
              </a:rPr>
              <a:t>loop_start</a:t>
            </a:r>
            <a:r>
              <a:rPr lang="en-US" sz="2000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vr3 = </a:t>
            </a:r>
            <a:r>
              <a:rPr lang="en-US" sz="2000" dirty="0" err="1">
                <a:latin typeface="Courier" pitchFamily="2" charset="0"/>
              </a:rPr>
              <a:t>lti</a:t>
            </a:r>
            <a:r>
              <a:rPr lang="en-US" sz="2000" dirty="0">
                <a:latin typeface="Courier" pitchFamily="2" charset="0"/>
              </a:rPr>
              <a:t>(vr0, vr2);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</a:t>
            </a:r>
            <a:r>
              <a:rPr lang="en-US" sz="2000" dirty="0" err="1">
                <a:latin typeface="Courier" pitchFamily="2" charset="0"/>
              </a:rPr>
              <a:t>bne</a:t>
            </a:r>
            <a:r>
              <a:rPr lang="en-US" sz="2000" dirty="0">
                <a:latin typeface="Courier" pitchFamily="2" charset="0"/>
              </a:rPr>
              <a:t>(vr3, vr1, </a:t>
            </a:r>
            <a:r>
              <a:rPr lang="en-US" sz="2000" dirty="0" err="1">
                <a:latin typeface="Courier" pitchFamily="2" charset="0"/>
              </a:rPr>
              <a:t>end_label</a:t>
            </a:r>
            <a:r>
              <a:rPr lang="en-US" sz="2000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vr4 = int2vr(x);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vr5 = </a:t>
            </a:r>
            <a:r>
              <a:rPr lang="en-US" sz="2000" dirty="0" err="1">
                <a:latin typeface="Courier" pitchFamily="2" charset="0"/>
              </a:rPr>
              <a:t>addi</a:t>
            </a:r>
            <a:r>
              <a:rPr lang="en-US" sz="2000" dirty="0">
                <a:latin typeface="Courier" pitchFamily="2" charset="0"/>
              </a:rPr>
              <a:t>(vr4,vr0);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</a:t>
            </a:r>
            <a:r>
              <a:rPr lang="en-US" sz="2000" dirty="0">
                <a:highlight>
                  <a:srgbClr val="FFFF00"/>
                </a:highlight>
                <a:latin typeface="Courier" pitchFamily="2" charset="0"/>
              </a:rPr>
              <a:t>x = vr2int(vr5);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vr0 = </a:t>
            </a:r>
            <a:r>
              <a:rPr lang="en-US" sz="2000" dirty="0" err="1">
                <a:latin typeface="Courier" pitchFamily="2" charset="0"/>
              </a:rPr>
              <a:t>addi</a:t>
            </a:r>
            <a:r>
              <a:rPr lang="en-US" sz="2000" dirty="0">
                <a:latin typeface="Courier" pitchFamily="2" charset="0"/>
              </a:rPr>
              <a:t>(vr0, vr1);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  branch(</a:t>
            </a:r>
            <a:r>
              <a:rPr lang="en-US" sz="2000" dirty="0" err="1">
                <a:latin typeface="Courier" pitchFamily="2" charset="0"/>
              </a:rPr>
              <a:t>loop_start</a:t>
            </a:r>
            <a:r>
              <a:rPr lang="en-US" sz="2000" dirty="0">
                <a:latin typeface="Courier" pitchFamily="2" charset="0"/>
              </a:rPr>
              <a:t>);</a:t>
            </a:r>
          </a:p>
          <a:p>
            <a:pPr marL="0" indent="0">
              <a:buNone/>
            </a:pPr>
            <a:r>
              <a:rPr lang="en-US" sz="2000" dirty="0" err="1">
                <a:latin typeface="Courier" pitchFamily="2" charset="0"/>
              </a:rPr>
              <a:t>end_label</a:t>
            </a:r>
            <a:r>
              <a:rPr lang="en-US" sz="2000" dirty="0">
                <a:latin typeface="Courier" pitchFamily="2" charset="0"/>
              </a:rPr>
              <a:t>:</a:t>
            </a:r>
          </a:p>
          <a:p>
            <a:pPr marL="0" indent="0">
              <a:buNone/>
            </a:pPr>
            <a:endParaRPr lang="en-US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419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79BB-2980-7F44-8375-A2C2CA41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E935A-3EA5-6B48-A06C-554DB36E69C9}"/>
              </a:ext>
            </a:extLst>
          </p:cNvPr>
          <p:cNvSpPr/>
          <p:nvPr/>
        </p:nvSpPr>
        <p:spPr>
          <a:xfrm>
            <a:off x="583095" y="2274838"/>
            <a:ext cx="23971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x_0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y_0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x_0 = 5;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x_1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x = 6;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y = x;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305AA7-267D-8547-A0AD-D54A869F4626}"/>
              </a:ext>
            </a:extLst>
          </p:cNvPr>
          <p:cNvSpPr txBox="1"/>
          <p:nvPr/>
        </p:nvSpPr>
        <p:spPr>
          <a:xfrm>
            <a:off x="6583017" y="2897640"/>
            <a:ext cx="396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walk through it with a symbol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F91E01-3926-EC42-AAF2-2AD64847DE70}"/>
              </a:ext>
            </a:extLst>
          </p:cNvPr>
          <p:cNvSpPr/>
          <p:nvPr/>
        </p:nvSpPr>
        <p:spPr>
          <a:xfrm>
            <a:off x="8102379" y="5160396"/>
            <a:ext cx="3132814" cy="69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C2A4C-52EA-BA41-9783-B9C1E79FCF74}"/>
              </a:ext>
            </a:extLst>
          </p:cNvPr>
          <p:cNvSpPr txBox="1"/>
          <p:nvPr/>
        </p:nvSpPr>
        <p:spPr>
          <a:xfrm>
            <a:off x="8285650" y="5947576"/>
            <a:ext cx="2934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 table hash table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E57B7-33F9-C841-A5E7-561FA291058C}"/>
              </a:ext>
            </a:extLst>
          </p:cNvPr>
          <p:cNvSpPr txBox="1"/>
          <p:nvPr/>
        </p:nvSpPr>
        <p:spPr>
          <a:xfrm>
            <a:off x="8278469" y="5189181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x: (INT, VAR, “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x_0</a:t>
            </a:r>
            <a:r>
              <a:rPr lang="en-US" dirty="0">
                <a:latin typeface="Courier" pitchFamily="2" charset="0"/>
              </a:rPr>
              <a:t>”)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C9C72-0DAA-3B44-B379-09962618C374}"/>
              </a:ext>
            </a:extLst>
          </p:cNvPr>
          <p:cNvSpPr txBox="1"/>
          <p:nvPr/>
        </p:nvSpPr>
        <p:spPr>
          <a:xfrm>
            <a:off x="7245300" y="5303518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6A71B-873B-DE49-A476-84A162A53285}"/>
              </a:ext>
            </a:extLst>
          </p:cNvPr>
          <p:cNvSpPr txBox="1"/>
          <p:nvPr/>
        </p:nvSpPr>
        <p:spPr>
          <a:xfrm>
            <a:off x="8278469" y="546926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y: (INT, VAR, “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y_0</a:t>
            </a:r>
            <a:r>
              <a:rPr lang="en-US" dirty="0">
                <a:latin typeface="Courier" pitchFamily="2" charset="0"/>
              </a:rPr>
              <a:t>”)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96CB4-D0E3-A24E-8289-C8A20EF1D94C}"/>
              </a:ext>
            </a:extLst>
          </p:cNvPr>
          <p:cNvSpPr/>
          <p:nvPr/>
        </p:nvSpPr>
        <p:spPr>
          <a:xfrm>
            <a:off x="8102379" y="4328591"/>
            <a:ext cx="3132814" cy="69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F2E6E-76A6-7A40-B86A-B3BDF8A013C9}"/>
              </a:ext>
            </a:extLst>
          </p:cNvPr>
          <p:cNvSpPr txBox="1"/>
          <p:nvPr/>
        </p:nvSpPr>
        <p:spPr>
          <a:xfrm>
            <a:off x="8278469" y="4357376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x: (INT, VAR, “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x_1</a:t>
            </a:r>
            <a:r>
              <a:rPr lang="en-US" dirty="0">
                <a:latin typeface="Courier" pitchFamily="2" charset="0"/>
              </a:rPr>
              <a:t>”)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E6826-1076-6947-8DC2-4C3E510B92A6}"/>
              </a:ext>
            </a:extLst>
          </p:cNvPr>
          <p:cNvSpPr txBox="1"/>
          <p:nvPr/>
        </p:nvSpPr>
        <p:spPr>
          <a:xfrm>
            <a:off x="7245300" y="447171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01CF1-2467-C54C-B34A-5C33C08FAA64}"/>
              </a:ext>
            </a:extLst>
          </p:cNvPr>
          <p:cNvSpPr txBox="1"/>
          <p:nvPr/>
        </p:nvSpPr>
        <p:spPr>
          <a:xfrm>
            <a:off x="7701809" y="3464375"/>
            <a:ext cx="3495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scope. Add x with a new name</a:t>
            </a:r>
          </a:p>
        </p:txBody>
      </p:sp>
    </p:spTree>
    <p:extLst>
      <p:ext uri="{BB962C8B-B14F-4D97-AF65-F5344CB8AC3E}">
        <p14:creationId xmlns:p14="http://schemas.microsoft.com/office/powerpoint/2010/main" val="2911575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 dirty="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3333" y="1551305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1440">
              <a:lnSpc>
                <a:spcPts val="2125"/>
              </a:lnSpc>
              <a:spcBef>
                <a:spcPts val="16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spc="-5" dirty="0">
                <a:latin typeface="Courier New"/>
                <a:cs typeface="Courier New"/>
              </a:rPr>
              <a:t>if </a:t>
            </a:r>
            <a:r>
              <a:rPr sz="1800" spc="-10" dirty="0">
                <a:latin typeface="Courier New"/>
                <a:cs typeface="Courier New"/>
              </a:rPr>
              <a:t>(x)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01015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  <a:spcBef>
                <a:spcPts val="2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</a:pPr>
            <a:r>
              <a:rPr sz="1800" spc="-10" dirty="0">
                <a:latin typeface="Courier New"/>
                <a:cs typeface="Courier New"/>
              </a:rPr>
              <a:t>else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64490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4583" y="459739"/>
            <a:ext cx="2822575" cy="10407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226695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Calibri"/>
                <a:cs typeface="Calibri"/>
              </a:rPr>
              <a:t>How might they </a:t>
            </a:r>
            <a:r>
              <a:rPr sz="1800" dirty="0">
                <a:latin typeface="Calibri"/>
                <a:cs typeface="Calibri"/>
              </a:rPr>
              <a:t>appear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a  </a:t>
            </a:r>
            <a:r>
              <a:rPr sz="1800" spc="-5" dirty="0">
                <a:latin typeface="Calibri"/>
                <a:cs typeface="Calibri"/>
              </a:rPr>
              <a:t>high-level language?</a:t>
            </a:r>
            <a:endParaRPr sz="1800">
              <a:latin typeface="Calibri"/>
              <a:cs typeface="Calibri"/>
            </a:endParaRPr>
          </a:p>
          <a:p>
            <a:pPr marL="559435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latin typeface="Calibri"/>
                <a:cs typeface="Calibri"/>
              </a:rPr>
              <a:t>How </a:t>
            </a:r>
            <a:r>
              <a:rPr sz="1800" spc="-10" dirty="0">
                <a:latin typeface="Calibri"/>
                <a:cs typeface="Calibri"/>
              </a:rPr>
              <a:t>many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75D97F84-C975-034F-32F7-7F74889B75C8}"/>
              </a:ext>
            </a:extLst>
          </p:cNvPr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1893" y="4226654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 dirty="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4361" y="1406723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1440">
              <a:lnSpc>
                <a:spcPts val="2125"/>
              </a:lnSpc>
              <a:spcBef>
                <a:spcPts val="16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spc="-5" dirty="0">
                <a:latin typeface="Courier New"/>
                <a:cs typeface="Courier New"/>
              </a:rPr>
              <a:t>if </a:t>
            </a:r>
            <a:r>
              <a:rPr sz="1800" spc="-10" dirty="0">
                <a:latin typeface="Courier New"/>
                <a:cs typeface="Courier New"/>
              </a:rPr>
              <a:t>(x)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01015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  <a:spcBef>
                <a:spcPts val="2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</a:pPr>
            <a:r>
              <a:rPr sz="1800" spc="-10" dirty="0">
                <a:latin typeface="Courier New"/>
                <a:cs typeface="Courier New"/>
              </a:rPr>
              <a:t>else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64490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5597" y="3824223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89825" y="263387"/>
            <a:ext cx="2822575" cy="10407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226695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Calibri"/>
                <a:cs typeface="Calibri"/>
              </a:rPr>
              <a:t>How might they </a:t>
            </a:r>
            <a:r>
              <a:rPr sz="1800" dirty="0">
                <a:latin typeface="Calibri"/>
                <a:cs typeface="Calibri"/>
              </a:rPr>
              <a:t>appear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a  </a:t>
            </a:r>
            <a:r>
              <a:rPr sz="1800" spc="-5" dirty="0">
                <a:latin typeface="Calibri"/>
                <a:cs typeface="Calibri"/>
              </a:rPr>
              <a:t>high-level language?</a:t>
            </a:r>
            <a:endParaRPr sz="1800">
              <a:latin typeface="Calibri"/>
              <a:cs typeface="Calibri"/>
            </a:endParaRPr>
          </a:p>
          <a:p>
            <a:pPr marL="559435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latin typeface="Calibri"/>
                <a:cs typeface="Calibri"/>
              </a:rPr>
              <a:t>How </a:t>
            </a:r>
            <a:r>
              <a:rPr sz="1800" spc="-10" dirty="0">
                <a:latin typeface="Calibri"/>
                <a:cs typeface="Calibri"/>
              </a:rPr>
              <a:t>many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blocks?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DBD41F-B018-764C-9D1D-8D9CAA98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52" y="981785"/>
            <a:ext cx="6026981" cy="50727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EA22CB-AC63-653E-F13E-026BEAFC7E8E}"/>
              </a:ext>
            </a:extLst>
          </p:cNvPr>
          <p:cNvSpPr txBox="1"/>
          <p:nvPr/>
        </p:nvSpPr>
        <p:spPr>
          <a:xfrm>
            <a:off x="936172" y="355601"/>
            <a:ext cx="6088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Example Control Flow Graph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F1089F-A4D1-DCE4-E28D-61CDD4A28C25}"/>
              </a:ext>
            </a:extLst>
          </p:cNvPr>
          <p:cNvSpPr txBox="1"/>
          <p:nvPr/>
        </p:nvSpPr>
        <p:spPr>
          <a:xfrm>
            <a:off x="497452" y="6357257"/>
            <a:ext cx="890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https://www.csd.uwo.ca/~mmorenom/CS447/Lectures/CodeOptimization.html/node6.html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3143-D7D6-DE6C-4422-E461161F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CA4DCB-8C45-A592-62DE-88073A9ACD8F}"/>
              </a:ext>
            </a:extLst>
          </p:cNvPr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6255F18-B3BA-45CD-73F4-4D3706FFEB09}"/>
              </a:ext>
            </a:extLst>
          </p:cNvPr>
          <p:cNvSpPr/>
          <p:nvPr/>
        </p:nvSpPr>
        <p:spPr>
          <a:xfrm>
            <a:off x="7031355" y="5469165"/>
            <a:ext cx="955675" cy="266700"/>
          </a:xfrm>
          <a:custGeom>
            <a:avLst/>
            <a:gdLst/>
            <a:ahLst/>
            <a:cxnLst/>
            <a:rect l="l" t="t" r="r" b="b"/>
            <a:pathLst>
              <a:path w="955675" h="266700">
                <a:moveTo>
                  <a:pt x="0" y="266700"/>
                </a:moveTo>
                <a:lnTo>
                  <a:pt x="955675" y="266700"/>
                </a:lnTo>
                <a:lnTo>
                  <a:pt x="9556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E6B557E-F8A7-B75D-B8F6-EC293EF47EBA}"/>
              </a:ext>
            </a:extLst>
          </p:cNvPr>
          <p:cNvSpPr/>
          <p:nvPr/>
        </p:nvSpPr>
        <p:spPr>
          <a:xfrm>
            <a:off x="2568634" y="6127810"/>
            <a:ext cx="365125" cy="355600"/>
          </a:xfrm>
          <a:custGeom>
            <a:avLst/>
            <a:gdLst/>
            <a:ahLst/>
            <a:cxnLst/>
            <a:rect l="l" t="t" r="r" b="b"/>
            <a:pathLst>
              <a:path w="365125" h="355600">
                <a:moveTo>
                  <a:pt x="0" y="355600"/>
                </a:moveTo>
                <a:lnTo>
                  <a:pt x="365125" y="355600"/>
                </a:lnTo>
                <a:lnTo>
                  <a:pt x="365125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6C4098C-D121-1885-6065-8841DBCA0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0242" y="2298247"/>
            <a:ext cx="6491515" cy="130035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lang="en-US" spc="-10" dirty="0"/>
              <a:t>Local Value Numbering Optimization</a:t>
            </a:r>
            <a:endParaRPr spc="-15" dirty="0"/>
          </a:p>
        </p:txBody>
      </p:sp>
    </p:spTree>
    <p:extLst>
      <p:ext uri="{BB962C8B-B14F-4D97-AF65-F5344CB8AC3E}">
        <p14:creationId xmlns:p14="http://schemas.microsoft.com/office/powerpoint/2010/main" val="39674179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3356" y="5425456"/>
            <a:ext cx="1563370" cy="1200785"/>
          </a:xfrm>
          <a:custGeom>
            <a:avLst/>
            <a:gdLst/>
            <a:ahLst/>
            <a:cxnLst/>
            <a:rect l="l" t="t" r="r" b="b"/>
            <a:pathLst>
              <a:path w="1563370" h="1200784">
                <a:moveTo>
                  <a:pt x="0" y="0"/>
                </a:moveTo>
                <a:lnTo>
                  <a:pt x="1563248" y="0"/>
                </a:lnTo>
                <a:lnTo>
                  <a:pt x="1563248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74796" y="6029976"/>
            <a:ext cx="1365250" cy="266700"/>
          </a:xfrm>
          <a:custGeom>
            <a:avLst/>
            <a:gdLst/>
            <a:ahLst/>
            <a:cxnLst/>
            <a:rect l="l" t="t" r="r" b="b"/>
            <a:pathLst>
              <a:path w="1365250" h="266700">
                <a:moveTo>
                  <a:pt x="0" y="266699"/>
                </a:moveTo>
                <a:lnTo>
                  <a:pt x="1365250" y="266699"/>
                </a:lnTo>
                <a:lnTo>
                  <a:pt x="13652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62096" y="5434076"/>
            <a:ext cx="139065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a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  </a:t>
            </a:r>
            <a:r>
              <a:rPr sz="1800" dirty="0">
                <a:latin typeface="Courier New"/>
                <a:cs typeface="Courier New"/>
              </a:rPr>
              <a:t>b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2096" y="5979667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2096" y="6260084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49580" y="5425456"/>
            <a:ext cx="1563370" cy="1200785"/>
          </a:xfrm>
          <a:custGeom>
            <a:avLst/>
            <a:gdLst/>
            <a:ahLst/>
            <a:cxnLst/>
            <a:rect l="l" t="t" r="r" b="b"/>
            <a:pathLst>
              <a:path w="1563370" h="1200784">
                <a:moveTo>
                  <a:pt x="0" y="0"/>
                </a:moveTo>
                <a:lnTo>
                  <a:pt x="1563248" y="0"/>
                </a:lnTo>
                <a:lnTo>
                  <a:pt x="1563248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41019" y="6029976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0" y="266699"/>
                </a:moveTo>
                <a:lnTo>
                  <a:pt x="819150" y="266699"/>
                </a:lnTo>
                <a:lnTo>
                  <a:pt x="8191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28319" y="5434076"/>
            <a:ext cx="139065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a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  </a:t>
            </a:r>
            <a:r>
              <a:rPr sz="1800" dirty="0">
                <a:latin typeface="Courier New"/>
                <a:cs typeface="Courier New"/>
              </a:rPr>
              <a:t>b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28319" y="5979667"/>
            <a:ext cx="844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 =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28319" y="6260084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21454" y="6082702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06698" y="5706364"/>
            <a:ext cx="51180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Calibri"/>
                <a:cs typeface="Calibri"/>
              </a:rPr>
              <a:t>v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10" dirty="0">
                <a:latin typeface="Calibri"/>
                <a:cs typeface="Calibri"/>
              </a:rPr>
              <a:t>li</a:t>
            </a:r>
            <a:r>
              <a:rPr sz="1600" i="1" dirty="0">
                <a:latin typeface="Calibri"/>
                <a:cs typeface="Calibri"/>
              </a:rPr>
              <a:t>d?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92382" y="6039703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0" y="266699"/>
                </a:moveTo>
                <a:lnTo>
                  <a:pt x="819150" y="266699"/>
                </a:lnTo>
                <a:lnTo>
                  <a:pt x="8191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72817" y="6092429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5"/>
                </a:lnTo>
                <a:lnTo>
                  <a:pt x="813948" y="34925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5"/>
                </a:lnTo>
                <a:lnTo>
                  <a:pt x="813948" y="41275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28369" y="5435183"/>
          <a:ext cx="4429756" cy="1200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01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6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451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  b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32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32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sz="1600" i="1" spc="-5" dirty="0">
                          <a:latin typeface="Calibri"/>
                          <a:cs typeface="Calibri"/>
                        </a:rPr>
                        <a:t>valid?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 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 b +</a:t>
                      </a:r>
                      <a:r>
                        <a:rPr sz="1800" spc="-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310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 a -</a:t>
                      </a:r>
                      <a:r>
                        <a:rPr sz="1800" spc="-1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3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a;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4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64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 a -</a:t>
                      </a:r>
                      <a:r>
                        <a:rPr sz="1800" spc="-1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93608" y="5687059"/>
            <a:ext cx="2475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No! </a:t>
            </a:r>
            <a:r>
              <a:rPr sz="1800" i="1" spc="-5" dirty="0">
                <a:latin typeface="Calibri"/>
                <a:cs typeface="Calibri"/>
              </a:rPr>
              <a:t>Because </a:t>
            </a:r>
            <a:r>
              <a:rPr sz="1800" i="1" dirty="0">
                <a:latin typeface="Calibri"/>
                <a:cs typeface="Calibri"/>
              </a:rPr>
              <a:t>b </a:t>
            </a:r>
            <a:r>
              <a:rPr sz="1800" i="1" spc="-5" dirty="0">
                <a:latin typeface="Calibri"/>
                <a:cs typeface="Calibri"/>
              </a:rPr>
              <a:t>is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redefined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0364" y="6082702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15916" y="5425456"/>
          <a:ext cx="4439280" cy="1200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9446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  b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sz="1600" i="1" spc="-5" dirty="0">
                          <a:latin typeface="Calibri"/>
                          <a:cs typeface="Calibri"/>
                        </a:rPr>
                        <a:t>valid?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 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310" marR="317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0364" y="6082702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15916" y="5425456"/>
          <a:ext cx="4439280" cy="1200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944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  b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sz="1600" i="1" spc="-5" dirty="0">
                          <a:latin typeface="Calibri"/>
                          <a:cs typeface="Calibri"/>
                        </a:rPr>
                        <a:t>valid?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 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310" marR="317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82263" y="6022340"/>
            <a:ext cx="40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474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  <a:r>
              <a:rPr lang="en-US" spc="-5" dirty="0"/>
              <a:t> (LVN)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sz="2800" spc="-5" dirty="0">
                <a:latin typeface="Calibri"/>
                <a:cs typeface="Calibri"/>
              </a:rPr>
              <a:t>LVN </a:t>
            </a:r>
            <a:r>
              <a:rPr sz="2800" spc="-5" dirty="0">
                <a:latin typeface="Calibri"/>
                <a:cs typeface="Calibri"/>
              </a:rPr>
              <a:t>Algorithm: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99072" y="5121275"/>
          <a:ext cx="202818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185665" y="5141467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04B5-4F2B-45D4-CC0B-FAFEF9ED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DC35B0-7448-735B-5B7C-7683D3BAA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F447DE7-FFB8-BB1C-DFEC-C48E01A9B1CB}"/>
              </a:ext>
            </a:extLst>
          </p:cNvPr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80CB76C-48EC-1E06-4153-27246BC0A616}"/>
              </a:ext>
            </a:extLst>
          </p:cNvPr>
          <p:cNvGraphicFramePr>
            <a:graphicFrameLocks noGrp="1"/>
          </p:cNvGraphicFramePr>
          <p:nvPr/>
        </p:nvGraphicFramePr>
        <p:xfrm>
          <a:off x="4799072" y="5121275"/>
          <a:ext cx="243992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lang="en-US" sz="2400" spc="-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9FC7D13A-9898-CB21-1888-82E61727C232}"/>
              </a:ext>
            </a:extLst>
          </p:cNvPr>
          <p:cNvSpPr txBox="1"/>
          <p:nvPr/>
        </p:nvSpPr>
        <p:spPr>
          <a:xfrm>
            <a:off x="8185665" y="5141467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lang="en-US" spc="-75" dirty="0"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9BFB7-BAA6-13B3-9AEE-462865BC0286}"/>
              </a:ext>
            </a:extLst>
          </p:cNvPr>
          <p:cNvSpPr txBox="1"/>
          <p:nvPr/>
        </p:nvSpPr>
        <p:spPr>
          <a:xfrm>
            <a:off x="8077200" y="57150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and c have not been seen, give them a number</a:t>
            </a:r>
          </a:p>
        </p:txBody>
      </p:sp>
    </p:spTree>
    <p:extLst>
      <p:ext uri="{BB962C8B-B14F-4D97-AF65-F5344CB8AC3E}">
        <p14:creationId xmlns:p14="http://schemas.microsoft.com/office/powerpoint/2010/main" val="2630388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680E-903D-7713-DAE7-937CCD38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734025-BFCA-2CC4-DA29-B0A5AD0BE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F02AAD-A491-8721-DE93-51BF8CED0CD5}"/>
              </a:ext>
            </a:extLst>
          </p:cNvPr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4AADBB5B-4727-2A7F-D766-B689D40BBE2D}"/>
              </a:ext>
            </a:extLst>
          </p:cNvPr>
          <p:cNvGraphicFramePr>
            <a:graphicFrameLocks noGrp="1"/>
          </p:cNvGraphicFramePr>
          <p:nvPr/>
        </p:nvGraphicFramePr>
        <p:xfrm>
          <a:off x="4799072" y="5121275"/>
          <a:ext cx="243992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lang="en-US" sz="2400" spc="-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2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lang="en-US" sz="2400" spc="-5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160B84F0-C4EF-EAB6-6DF5-5844544CE40A}"/>
              </a:ext>
            </a:extLst>
          </p:cNvPr>
          <p:cNvSpPr txBox="1"/>
          <p:nvPr/>
        </p:nvSpPr>
        <p:spPr>
          <a:xfrm>
            <a:off x="8185665" y="5141467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lang="en-US" spc="-75" dirty="0"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E579F-9D67-BE88-2F49-241E1615F6CD}"/>
              </a:ext>
            </a:extLst>
          </p:cNvPr>
          <p:cNvSpPr txBox="1"/>
          <p:nvPr/>
        </p:nvSpPr>
        <p:spPr>
          <a:xfrm>
            <a:off x="8496815" y="5621867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 have been updated use the last defined number. </a:t>
            </a:r>
          </a:p>
          <a:p>
            <a:r>
              <a:rPr lang="en-US" dirty="0"/>
              <a:t>i.e. a on RHS,  becomes a2</a:t>
            </a:r>
          </a:p>
          <a:p>
            <a:r>
              <a:rPr lang="en-US" dirty="0"/>
              <a:t>and so on.</a:t>
            </a:r>
          </a:p>
        </p:txBody>
      </p:sp>
    </p:spTree>
    <p:extLst>
      <p:ext uri="{BB962C8B-B14F-4D97-AF65-F5344CB8AC3E}">
        <p14:creationId xmlns:p14="http://schemas.microsoft.com/office/powerpoint/2010/main" val="36450065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99072" y="5121275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85665" y="5141467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</a:t>
            </a:r>
            <a:r>
              <a:rPr lang="en-US" sz="2800" spc="-10" dirty="0">
                <a:latin typeface="Calibri"/>
                <a:cs typeface="Calibri"/>
              </a:rPr>
              <a:t> (assigned to)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FE213-9CF2-F1D6-F2AD-629256F982CF}"/>
              </a:ext>
            </a:extLst>
          </p:cNvPr>
          <p:cNvSpPr txBox="1"/>
          <p:nvPr/>
        </p:nvSpPr>
        <p:spPr>
          <a:xfrm>
            <a:off x="8382000" y="5470924"/>
            <a:ext cx="3352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… </a:t>
            </a:r>
            <a:r>
              <a:rPr lang="en-US" sz="1600" dirty="0"/>
              <a:t>for LHS variable always increment with updated number, for right hand side use, always appended last number version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</a:t>
            </a:r>
            <a:r>
              <a:rPr sz="280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99072" y="5121275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AC6417-A76E-298D-436D-D12229FB830D}"/>
              </a:ext>
            </a:extLst>
          </p:cNvPr>
          <p:cNvSpPr txBox="1"/>
          <p:nvPr/>
        </p:nvSpPr>
        <p:spPr>
          <a:xfrm>
            <a:off x="8077200" y="5121275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remember to declare every one of these variable names, the IR is still valid !!!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</a:t>
            </a:r>
            <a:r>
              <a:rPr sz="280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52563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0"/>
                </a:moveTo>
                <a:lnTo>
                  <a:pt x="355967" y="76200"/>
                </a:lnTo>
                <a:lnTo>
                  <a:pt x="42581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425817" y="34924"/>
                </a:lnTo>
                <a:lnTo>
                  <a:pt x="355967" y="0"/>
                </a:lnTo>
                <a:close/>
              </a:path>
              <a:path w="432434" h="76200">
                <a:moveTo>
                  <a:pt x="355967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close/>
              </a:path>
              <a:path w="432434" h="76200">
                <a:moveTo>
                  <a:pt x="425817" y="34924"/>
                </a:moveTo>
                <a:lnTo>
                  <a:pt x="368667" y="34924"/>
                </a:lnTo>
                <a:lnTo>
                  <a:pt x="368667" y="41274"/>
                </a:lnTo>
                <a:lnTo>
                  <a:pt x="425817" y="41274"/>
                </a:lnTo>
                <a:lnTo>
                  <a:pt x="432167" y="38099"/>
                </a:lnTo>
                <a:lnTo>
                  <a:pt x="425817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52563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0"/>
                </a:moveTo>
                <a:lnTo>
                  <a:pt x="355967" y="76200"/>
                </a:lnTo>
                <a:lnTo>
                  <a:pt x="42581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425817" y="34924"/>
                </a:lnTo>
                <a:lnTo>
                  <a:pt x="355967" y="0"/>
                </a:lnTo>
                <a:close/>
              </a:path>
              <a:path w="432434" h="76200">
                <a:moveTo>
                  <a:pt x="355967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close/>
              </a:path>
              <a:path w="432434" h="76200">
                <a:moveTo>
                  <a:pt x="425817" y="34924"/>
                </a:moveTo>
                <a:lnTo>
                  <a:pt x="368667" y="34924"/>
                </a:lnTo>
                <a:lnTo>
                  <a:pt x="368667" y="41274"/>
                </a:lnTo>
                <a:lnTo>
                  <a:pt x="425817" y="41274"/>
                </a:lnTo>
                <a:lnTo>
                  <a:pt x="432167" y="38099"/>
                </a:lnTo>
                <a:lnTo>
                  <a:pt x="425817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59752" y="5911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59752" y="5911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94830" y="5189765"/>
            <a:ext cx="1228725" cy="266700"/>
          </a:xfrm>
          <a:custGeom>
            <a:avLst/>
            <a:gdLst/>
            <a:ahLst/>
            <a:cxnLst/>
            <a:rect l="l" t="t" r="r" b="b"/>
            <a:pathLst>
              <a:path w="1228725" h="266700">
                <a:moveTo>
                  <a:pt x="0" y="266700"/>
                </a:moveTo>
                <a:lnTo>
                  <a:pt x="1228724" y="266700"/>
                </a:lnTo>
                <a:lnTo>
                  <a:pt x="1228724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2130" y="5138420"/>
            <a:ext cx="234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2130" y="5418835"/>
            <a:ext cx="234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2979" y="569925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53600" y="4858704"/>
            <a:ext cx="2215774" cy="147604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2000" b="1" i="1" spc="-5" dirty="0">
                <a:latin typeface="Calibri"/>
                <a:cs typeface="Calibri"/>
              </a:rPr>
              <a:t>mismatch due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15" dirty="0">
                <a:latin typeface="Calibri"/>
                <a:cs typeface="Calibri"/>
              </a:rPr>
              <a:t>to </a:t>
            </a:r>
            <a:endParaRPr lang="en-US" sz="2000" b="1" i="1" spc="-15" dirty="0">
              <a:latin typeface="Calibri"/>
              <a:cs typeface="Calibri"/>
            </a:endParaRP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lang="en-US" sz="2000" b="1" i="1" spc="-15" dirty="0">
                <a:latin typeface="Calibri"/>
                <a:cs typeface="Calibri"/>
              </a:rPr>
              <a:t>re-num</a:t>
            </a:r>
            <a:r>
              <a:rPr sz="2000" b="1" i="1" spc="-5" dirty="0">
                <a:latin typeface="Calibri"/>
                <a:cs typeface="Calibri"/>
              </a:rPr>
              <a:t>bering!</a:t>
            </a:r>
            <a:r>
              <a:rPr lang="en-US" sz="2000" b="1" i="1" spc="-5" dirty="0">
                <a:latin typeface="Calibri"/>
                <a:cs typeface="Calibri"/>
              </a:rPr>
              <a:t>!!</a:t>
            </a: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endParaRPr lang="en-US" i="1" spc="-5" dirty="0">
              <a:latin typeface="Calibri"/>
              <a:cs typeface="Calibri"/>
            </a:endParaRP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lang="en-US" sz="1800" i="1" spc="-5" dirty="0">
                <a:latin typeface="Calibri"/>
                <a:cs typeface="Calibri"/>
              </a:rPr>
              <a:t>i.e. it is no longer  just </a:t>
            </a: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lang="en-US" i="1" spc="-5" dirty="0">
                <a:latin typeface="Calibri"/>
                <a:cs typeface="Calibri"/>
              </a:rPr>
              <a:t>         c =  </a:t>
            </a:r>
            <a:r>
              <a:rPr lang="en-US" sz="1800" i="1" spc="-5" dirty="0">
                <a:latin typeface="Calibri"/>
                <a:cs typeface="Calibri"/>
              </a:rPr>
              <a:t>b + c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1679460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59752" y="5911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63080" y="5189406"/>
          <a:ext cx="2382520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F8FA7-4742-8978-CF0E-BC0139DFDD41}"/>
              </a:ext>
            </a:extLst>
          </p:cNvPr>
          <p:cNvSpPr txBox="1"/>
          <p:nvPr/>
        </p:nvSpPr>
        <p:spPr>
          <a:xfrm>
            <a:off x="9753600" y="5749317"/>
            <a:ext cx="2213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new entry in</a:t>
            </a:r>
          </a:p>
          <a:p>
            <a:r>
              <a:rPr lang="en-US" dirty="0"/>
              <a:t>Hash table with new </a:t>
            </a:r>
          </a:p>
          <a:p>
            <a:r>
              <a:rPr lang="en-US" dirty="0"/>
              <a:t>Numbering.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a2</a:t>
                      </a:r>
                      <a:endParaRPr sz="2400" dirty="0">
                        <a:highlight>
                          <a:srgbClr val="FFFF00"/>
                        </a:highlight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d3;</a:t>
                      </a:r>
                      <a:endParaRPr sz="2400" dirty="0">
                        <a:highlight>
                          <a:srgbClr val="FFFF00"/>
                        </a:highlight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39432" y="6303873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5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5"/>
                </a:lnTo>
                <a:close/>
              </a:path>
              <a:path w="432434" h="76200">
                <a:moveTo>
                  <a:pt x="355967" y="34925"/>
                </a:moveTo>
                <a:lnTo>
                  <a:pt x="355967" y="41275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5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5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5"/>
                </a:lnTo>
                <a:lnTo>
                  <a:pt x="355967" y="34925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63080" y="5189406"/>
          <a:ext cx="2382520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“a2</a:t>
                      </a:r>
                      <a:endParaRPr sz="1800" dirty="0">
                        <a:highlight>
                          <a:srgbClr val="FFFF00"/>
                        </a:highlight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spc="-1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7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: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89F04-3898-0461-6618-27FB1DBC02F2}"/>
              </a:ext>
            </a:extLst>
          </p:cNvPr>
          <p:cNvSpPr txBox="1"/>
          <p:nvPr/>
        </p:nvSpPr>
        <p:spPr>
          <a:xfrm>
            <a:off x="9601200" y="56388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 a look up and …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9397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b4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39432" y="6303873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5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5"/>
                </a:lnTo>
                <a:close/>
              </a:path>
              <a:path w="432434" h="76200">
                <a:moveTo>
                  <a:pt x="355967" y="34925"/>
                </a:moveTo>
                <a:lnTo>
                  <a:pt x="355967" y="41275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5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5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5"/>
                </a:lnTo>
                <a:lnTo>
                  <a:pt x="355967" y="34925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283068" y="5769355"/>
            <a:ext cx="129933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Calibri"/>
                <a:cs typeface="Calibri"/>
              </a:rPr>
              <a:t>…</a:t>
            </a:r>
            <a:r>
              <a:rPr sz="2400" b="1" spc="-5" dirty="0">
                <a:latin typeface="Calibri"/>
                <a:cs typeface="Calibri"/>
              </a:rPr>
              <a:t>m</a:t>
            </a:r>
            <a:r>
              <a:rPr sz="2400" b="1" spc="-20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ch</a:t>
            </a:r>
            <a:r>
              <a:rPr sz="1800" dirty="0">
                <a:latin typeface="Calibri"/>
                <a:cs typeface="Calibri"/>
              </a:rPr>
              <a:t>!</a:t>
            </a:r>
          </a:p>
        </p:txBody>
      </p:sp>
      <p:sp>
        <p:nvSpPr>
          <p:cNvPr id="6" name="object 6"/>
          <p:cNvSpPr/>
          <p:nvPr/>
        </p:nvSpPr>
        <p:spPr>
          <a:xfrm>
            <a:off x="7031355" y="5469165"/>
            <a:ext cx="409575" cy="266700"/>
          </a:xfrm>
          <a:custGeom>
            <a:avLst/>
            <a:gdLst/>
            <a:ahLst/>
            <a:cxnLst/>
            <a:rect l="l" t="t" r="r" b="b"/>
            <a:pathLst>
              <a:path w="409575" h="266700">
                <a:moveTo>
                  <a:pt x="0" y="266700"/>
                </a:moveTo>
                <a:lnTo>
                  <a:pt x="409575" y="266700"/>
                </a:lnTo>
                <a:lnTo>
                  <a:pt x="4095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0930" y="5469165"/>
            <a:ext cx="136525" cy="266700"/>
          </a:xfrm>
          <a:custGeom>
            <a:avLst/>
            <a:gdLst/>
            <a:ahLst/>
            <a:cxnLst/>
            <a:rect l="l" t="t" r="r" b="b"/>
            <a:pathLst>
              <a:path w="136525" h="266700">
                <a:moveTo>
                  <a:pt x="0" y="266700"/>
                </a:moveTo>
                <a:lnTo>
                  <a:pt x="136525" y="266700"/>
                </a:lnTo>
                <a:lnTo>
                  <a:pt x="13652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77455" y="5469165"/>
            <a:ext cx="136525" cy="266700"/>
          </a:xfrm>
          <a:custGeom>
            <a:avLst/>
            <a:gdLst/>
            <a:ahLst/>
            <a:cxnLst/>
            <a:rect l="l" t="t" r="r" b="b"/>
            <a:pathLst>
              <a:path w="136525" h="266700">
                <a:moveTo>
                  <a:pt x="0" y="266700"/>
                </a:moveTo>
                <a:lnTo>
                  <a:pt x="136525" y="266700"/>
                </a:lnTo>
                <a:lnTo>
                  <a:pt x="13652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3980" y="5469165"/>
            <a:ext cx="273050" cy="266700"/>
          </a:xfrm>
          <a:custGeom>
            <a:avLst/>
            <a:gdLst/>
            <a:ahLst/>
            <a:cxnLst/>
            <a:rect l="l" t="t" r="r" b="b"/>
            <a:pathLst>
              <a:path w="273050" h="266700">
                <a:moveTo>
                  <a:pt x="0" y="266700"/>
                </a:moveTo>
                <a:lnTo>
                  <a:pt x="273050" y="266700"/>
                </a:lnTo>
                <a:lnTo>
                  <a:pt x="2730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2130" y="5699252"/>
            <a:ext cx="234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“b4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“c5”,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1009" y="1883333"/>
            <a:ext cx="5581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Commutative</a:t>
            </a:r>
            <a:r>
              <a:rPr spc="-55" dirty="0"/>
              <a:t> </a:t>
            </a:r>
            <a:r>
              <a:rPr spc="-1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8573" y="3001727"/>
            <a:ext cx="8044815" cy="2669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definition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commutative?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800" dirty="0">
                <a:latin typeface="Courier New"/>
                <a:cs typeface="Courier New"/>
              </a:rPr>
              <a:t>		</a:t>
            </a:r>
            <a:r>
              <a:rPr sz="3600" dirty="0">
                <a:latin typeface="Courier New"/>
                <a:cs typeface="Courier New"/>
              </a:rPr>
              <a:t>x </a:t>
            </a:r>
            <a:r>
              <a:rPr sz="3600" spc="-5" dirty="0">
                <a:latin typeface="Courier New"/>
                <a:cs typeface="Courier New"/>
              </a:rPr>
              <a:t>OP </a:t>
            </a:r>
            <a:r>
              <a:rPr sz="3600" dirty="0">
                <a:latin typeface="Courier New"/>
                <a:cs typeface="Courier New"/>
              </a:rPr>
              <a:t>y </a:t>
            </a:r>
            <a:r>
              <a:rPr sz="3600" spc="-5" dirty="0">
                <a:latin typeface="Courier New"/>
                <a:cs typeface="Courier New"/>
              </a:rPr>
              <a:t>== </a:t>
            </a:r>
            <a:r>
              <a:rPr sz="3600" dirty="0">
                <a:latin typeface="Courier New"/>
                <a:cs typeface="Courier New"/>
              </a:rPr>
              <a:t>y </a:t>
            </a:r>
            <a:r>
              <a:rPr sz="3600" spc="-5" dirty="0">
                <a:latin typeface="Courier New"/>
                <a:cs typeface="Courier New"/>
              </a:rPr>
              <a:t>OP</a:t>
            </a:r>
            <a:r>
              <a:rPr sz="3600" spc="-10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x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25" dirty="0">
                <a:latin typeface="Calibri"/>
                <a:cs typeface="Calibri"/>
              </a:rPr>
              <a:t>operators </a:t>
            </a:r>
            <a:r>
              <a:rPr sz="2800" spc="-15" dirty="0">
                <a:latin typeface="Calibri"/>
                <a:cs typeface="Calibri"/>
              </a:rPr>
              <a:t>are commutative? </a:t>
            </a:r>
            <a:r>
              <a:rPr sz="2800" spc="-5" dirty="0">
                <a:latin typeface="Calibri"/>
                <a:cs typeface="Calibri"/>
              </a:rPr>
              <a:t>Which ones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not?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5F4C1D4-6EB9-B571-A3D3-627EFA41DFC1}"/>
              </a:ext>
            </a:extLst>
          </p:cNvPr>
          <p:cNvSpPr txBox="1">
            <a:spLocks/>
          </p:cNvSpPr>
          <p:nvPr/>
        </p:nvSpPr>
        <p:spPr>
          <a:xfrm>
            <a:off x="916939" y="611124"/>
            <a:ext cx="494284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5"/>
              <a:t>What </a:t>
            </a:r>
            <a:r>
              <a:rPr lang="en-US" spc="-5"/>
              <a:t>else </a:t>
            </a:r>
            <a:r>
              <a:rPr lang="en-US" spc="-15"/>
              <a:t>can </a:t>
            </a:r>
            <a:r>
              <a:rPr lang="en-US" spc="-25"/>
              <a:t>we</a:t>
            </a:r>
            <a:r>
              <a:rPr lang="en-US" spc="5"/>
              <a:t> </a:t>
            </a:r>
            <a:r>
              <a:rPr lang="en-US"/>
              <a:t>do?</a:t>
            </a:r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4" name="object 4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E101F425-E178-B8B7-C6BF-73E33832B2F0}"/>
              </a:ext>
            </a:extLst>
          </p:cNvPr>
          <p:cNvSpPr txBox="1"/>
          <p:nvPr/>
        </p:nvSpPr>
        <p:spPr>
          <a:xfrm>
            <a:off x="838200" y="1879283"/>
            <a:ext cx="10000615" cy="126444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 commutative </a:t>
            </a:r>
            <a:r>
              <a:rPr sz="2800" spc="-25" dirty="0">
                <a:latin typeface="Calibri"/>
                <a:cs typeface="Calibri"/>
              </a:rPr>
              <a:t>operators </a:t>
            </a:r>
            <a:r>
              <a:rPr sz="2800" dirty="0">
                <a:latin typeface="Calibri"/>
                <a:cs typeface="Calibri"/>
              </a:rPr>
              <a:t>(e.g. + *), </a:t>
            </a:r>
            <a:r>
              <a:rPr sz="2800" spc="-10" dirty="0">
                <a:latin typeface="Calibri"/>
                <a:cs typeface="Calibri"/>
              </a:rPr>
              <a:t>deterministic</a:t>
            </a:r>
            <a:r>
              <a:rPr lang="en-US" sz="2800" spc="-10" dirty="0">
                <a:latin typeface="Calibri"/>
                <a:cs typeface="Calibri"/>
              </a:rPr>
              <a:t>ally re-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operands.</a:t>
            </a: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use </a:t>
            </a:r>
            <a:r>
              <a:rPr sz="2800" spc="-10" dirty="0">
                <a:latin typeface="Calibri"/>
                <a:cs typeface="Calibri"/>
              </a:rPr>
              <a:t>variable numbers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lexigraphical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224020"/>
            <a:ext cx="5427345" cy="149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cannot </a:t>
            </a:r>
            <a:r>
              <a:rPr sz="1800" spc="-10" dirty="0">
                <a:latin typeface="Calibri"/>
                <a:cs typeface="Calibri"/>
              </a:rPr>
              <a:t>re-order </a:t>
            </a:r>
            <a:r>
              <a:rPr sz="1800" spc="-5" dirty="0">
                <a:latin typeface="Calibri"/>
                <a:cs typeface="Calibri"/>
              </a:rPr>
              <a:t>because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commutative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509634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509634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31355" y="5469165"/>
            <a:ext cx="273050" cy="266700"/>
          </a:xfrm>
          <a:custGeom>
            <a:avLst/>
            <a:gdLst/>
            <a:ahLst/>
            <a:cxnLst/>
            <a:rect l="l" t="t" r="r" b="b"/>
            <a:pathLst>
              <a:path w="273050" h="266700">
                <a:moveTo>
                  <a:pt x="0" y="266700"/>
                </a:moveTo>
                <a:lnTo>
                  <a:pt x="273050" y="266700"/>
                </a:lnTo>
                <a:lnTo>
                  <a:pt x="2730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3980" y="5469165"/>
            <a:ext cx="273050" cy="266700"/>
          </a:xfrm>
          <a:custGeom>
            <a:avLst/>
            <a:gdLst/>
            <a:ahLst/>
            <a:cxnLst/>
            <a:rect l="l" t="t" r="r" b="b"/>
            <a:pathLst>
              <a:path w="273050" h="266700">
                <a:moveTo>
                  <a:pt x="0" y="266700"/>
                </a:moveTo>
                <a:lnTo>
                  <a:pt x="273050" y="266700"/>
                </a:lnTo>
                <a:lnTo>
                  <a:pt x="2730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056379"/>
            <a:ext cx="5012055" cy="194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07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re-ordered </a:t>
            </a:r>
            <a:r>
              <a:rPr sz="1800" spc="-5" dirty="0">
                <a:latin typeface="Calibri"/>
                <a:cs typeface="Calibri"/>
              </a:rPr>
              <a:t>because a2 </a:t>
            </a:r>
            <a:r>
              <a:rPr sz="1800" dirty="0">
                <a:latin typeface="Calibri"/>
                <a:cs typeface="Calibri"/>
              </a:rPr>
              <a:t>&lt; d3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lexigraphically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  <a:spcBef>
                <a:spcPts val="1585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”a2 </a:t>
            </a:r>
            <a:r>
              <a:rPr sz="1800" dirty="0">
                <a:latin typeface="Courier New"/>
                <a:cs typeface="Courier New"/>
              </a:rPr>
              <a:t>*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908468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199"/>
                </a:lnTo>
                <a:lnTo>
                  <a:pt x="425817" y="41274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4"/>
                </a:lnTo>
                <a:lnTo>
                  <a:pt x="368667" y="41274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316547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”a2 </a:t>
            </a:r>
            <a:r>
              <a:rPr sz="1800" dirty="0">
                <a:latin typeface="Courier New"/>
                <a:cs typeface="Courier New"/>
              </a:rPr>
              <a:t>*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908468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199"/>
                </a:lnTo>
                <a:lnTo>
                  <a:pt x="425817" y="41274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4"/>
                </a:lnTo>
                <a:lnTo>
                  <a:pt x="368667" y="41274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63080" y="5189406"/>
          <a:ext cx="2383789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b0”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”a2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*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“f4”,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63080" y="5189406"/>
          <a:ext cx="2383789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b0”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”a2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*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“f4”,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31355" y="5469165"/>
            <a:ext cx="955675" cy="266700"/>
          </a:xfrm>
          <a:custGeom>
            <a:avLst/>
            <a:gdLst/>
            <a:ahLst/>
            <a:cxnLst/>
            <a:rect l="l" t="t" r="r" b="b"/>
            <a:pathLst>
              <a:path w="955675" h="266700">
                <a:moveTo>
                  <a:pt x="0" y="266700"/>
                </a:moveTo>
                <a:lnTo>
                  <a:pt x="955675" y="266700"/>
                </a:lnTo>
                <a:lnTo>
                  <a:pt x="9556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62979" y="4873244"/>
            <a:ext cx="316547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”a2 </a:t>
            </a:r>
            <a:r>
              <a:rPr sz="1800" dirty="0">
                <a:latin typeface="Courier New"/>
                <a:cs typeface="Courier New"/>
              </a:rPr>
              <a:t>* </a:t>
            </a:r>
            <a:r>
              <a:rPr sz="1800" spc="-5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“f4”,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”b0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“c5”,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68634" y="6127810"/>
            <a:ext cx="365125" cy="355600"/>
          </a:xfrm>
          <a:custGeom>
            <a:avLst/>
            <a:gdLst/>
            <a:ahLst/>
            <a:cxnLst/>
            <a:rect l="l" t="t" r="r" b="b"/>
            <a:pathLst>
              <a:path w="365125" h="355600">
                <a:moveTo>
                  <a:pt x="0" y="355600"/>
                </a:moveTo>
                <a:lnTo>
                  <a:pt x="365125" y="355600"/>
                </a:lnTo>
                <a:lnTo>
                  <a:pt x="365125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91434" cy="1569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3320">
                <a:tc>
                  <a:txBody>
                    <a:bodyPr/>
                    <a:lstStyle/>
                    <a:p>
                      <a:pPr marL="91440" marR="83185" algn="just">
                        <a:lnSpc>
                          <a:spcPct val="100800"/>
                        </a:lnSpc>
                        <a:spcBef>
                          <a:spcPts val="3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  f4  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0" algn="just">
                        <a:lnSpc>
                          <a:spcPct val="100800"/>
                        </a:lnSpc>
                        <a:spcBef>
                          <a:spcPts val="3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  d3  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81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5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485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48534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BE0AA-B427-E9C0-4294-30F860EF9262}"/>
              </a:ext>
            </a:extLst>
          </p:cNvPr>
          <p:cNvSpPr txBox="1"/>
          <p:nvPr/>
        </p:nvSpPr>
        <p:spPr>
          <a:xfrm>
            <a:off x="5943600" y="3581400"/>
            <a:ext cx="53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achieves more optimization opportunities 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5EA9-0280-2B54-DE53-F3AD1E05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751892"/>
            <a:ext cx="10358120" cy="677108"/>
          </a:xfrm>
        </p:spPr>
        <p:txBody>
          <a:bodyPr>
            <a:normAutofit fontScale="90000"/>
          </a:bodyPr>
          <a:lstStyle/>
          <a:p>
            <a:r>
              <a:rPr lang="en-US" dirty="0"/>
              <a:t>Stitching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203052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711928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711928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8CD5E-5FB5-0CC1-3F1B-246001F14669}"/>
              </a:ext>
            </a:extLst>
          </p:cNvPr>
          <p:cNvSpPr txBox="1"/>
          <p:nvPr/>
        </p:nvSpPr>
        <p:spPr>
          <a:xfrm>
            <a:off x="4199711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B1AE5-7ABC-1372-38A7-4FC2D64D51F0}"/>
              </a:ext>
            </a:extLst>
          </p:cNvPr>
          <p:cNvSpPr txBox="1"/>
          <p:nvPr/>
        </p:nvSpPr>
        <p:spPr>
          <a:xfrm>
            <a:off x="4199711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10DEC-FB9F-FB73-4298-4ED146215653}"/>
              </a:ext>
            </a:extLst>
          </p:cNvPr>
          <p:cNvSpPr txBox="1"/>
          <p:nvPr/>
        </p:nvSpPr>
        <p:spPr>
          <a:xfrm>
            <a:off x="3669575" y="1180923"/>
            <a:ext cx="4690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stitch part 1: </a:t>
            </a:r>
            <a:r>
              <a:rPr lang="en-US" sz="2400" b="1" i="1" dirty="0"/>
              <a:t>assign original </a:t>
            </a:r>
            <a:br>
              <a:rPr lang="en-US" sz="2400" b="1" i="1" dirty="0"/>
            </a:br>
            <a:r>
              <a:rPr lang="en-US" sz="2400" b="1" i="1" dirty="0"/>
              <a:t>      unnumbered variables their</a:t>
            </a:r>
          </a:p>
          <a:p>
            <a:r>
              <a:rPr lang="en-US" sz="2400" b="1" i="1" dirty="0"/>
              <a:t>      latest values in each basic block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8688981" y="1390557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8614985" y="4221193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458540-5B4E-1114-55DB-B1F95B45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-55213"/>
            <a:ext cx="11223173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F84F6-37AB-1C27-D4A4-D10F6122D9DD}"/>
              </a:ext>
            </a:extLst>
          </p:cNvPr>
          <p:cNvSpPr txBox="1"/>
          <p:nvPr/>
        </p:nvSpPr>
        <p:spPr>
          <a:xfrm>
            <a:off x="542109" y="1627974"/>
            <a:ext cx="294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Let’s fix it</a:t>
            </a:r>
          </a:p>
        </p:txBody>
      </p:sp>
    </p:spTree>
    <p:extLst>
      <p:ext uri="{BB962C8B-B14F-4D97-AF65-F5344CB8AC3E}">
        <p14:creationId xmlns:p14="http://schemas.microsoft.com/office/powerpoint/2010/main" val="7512349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433253" y="2118252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413375" y="4607745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80283-EBEE-016B-21F5-6EA6EE4339FC}"/>
              </a:ext>
            </a:extLst>
          </p:cNvPr>
          <p:cNvSpPr txBox="1"/>
          <p:nvPr/>
        </p:nvSpPr>
        <p:spPr>
          <a:xfrm>
            <a:off x="7131152" y="1549093"/>
            <a:ext cx="49973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stitch part 2: </a:t>
            </a:r>
          </a:p>
          <a:p>
            <a:r>
              <a:rPr lang="en-US" sz="2800" b="1" dirty="0"/>
              <a:t>   Copy unnumbered inputs </a:t>
            </a:r>
          </a:p>
          <a:p>
            <a:r>
              <a:rPr lang="en-US" sz="2800" b="1" dirty="0"/>
              <a:t>   to initial RHS numbered inputs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7C476-1592-AF2C-D54E-4A3F3B0D8E07}"/>
              </a:ext>
            </a:extLst>
          </p:cNvPr>
          <p:cNvSpPr txBox="1"/>
          <p:nvPr/>
        </p:nvSpPr>
        <p:spPr>
          <a:xfrm>
            <a:off x="3968912" y="1041262"/>
            <a:ext cx="3076301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b0 = b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c1 = c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e3 = e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f4 = f</a:t>
            </a:r>
          </a:p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b0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c1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d5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e3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f4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6D756-83FC-87CA-F93D-1AD6B8247598}"/>
              </a:ext>
            </a:extLst>
          </p:cNvPr>
          <p:cNvSpPr txBox="1"/>
          <p:nvPr/>
        </p:nvSpPr>
        <p:spPr>
          <a:xfrm>
            <a:off x="7395715" y="3923912"/>
            <a:ext cx="3076301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g0 = g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a1 = a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g0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a1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C66D63-E895-3361-B51F-51375AE5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75" y="12611"/>
            <a:ext cx="11453947" cy="987992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023D3-BEB4-CC29-4671-8FB03E863C99}"/>
              </a:ext>
            </a:extLst>
          </p:cNvPr>
          <p:cNvSpPr txBox="1"/>
          <p:nvPr/>
        </p:nvSpPr>
        <p:spPr>
          <a:xfrm>
            <a:off x="542109" y="1184630"/>
            <a:ext cx="2734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 1</a:t>
            </a:r>
            <a:r>
              <a:rPr lang="en-US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404D6-A9AD-D370-93BF-4326BDD3437F}"/>
              </a:ext>
            </a:extLst>
          </p:cNvPr>
          <p:cNvSpPr txBox="1"/>
          <p:nvPr/>
        </p:nvSpPr>
        <p:spPr>
          <a:xfrm>
            <a:off x="4191000" y="4867574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 onto label_0</a:t>
            </a:r>
          </a:p>
          <a:p>
            <a:r>
              <a:rPr lang="en-US" dirty="0"/>
              <a:t>of other basic block</a:t>
            </a:r>
          </a:p>
        </p:txBody>
      </p:sp>
    </p:spTree>
    <p:extLst>
      <p:ext uri="{BB962C8B-B14F-4D97-AF65-F5344CB8AC3E}">
        <p14:creationId xmlns:p14="http://schemas.microsoft.com/office/powerpoint/2010/main" val="12976973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22A6-A191-F794-2A18-0618979A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B69AC85-EE36-3D75-9531-668BCE97194A}"/>
              </a:ext>
            </a:extLst>
          </p:cNvPr>
          <p:cNvSpPr txBox="1"/>
          <p:nvPr/>
        </p:nvSpPr>
        <p:spPr>
          <a:xfrm>
            <a:off x="529049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5B9D2-6099-E2B1-8C84-4816C06E8C96}"/>
              </a:ext>
            </a:extLst>
          </p:cNvPr>
          <p:cNvSpPr txBox="1"/>
          <p:nvPr/>
        </p:nvSpPr>
        <p:spPr>
          <a:xfrm>
            <a:off x="463762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32073-7420-FF79-B98B-F7C78480BE14}"/>
              </a:ext>
            </a:extLst>
          </p:cNvPr>
          <p:cNvSpPr txBox="1"/>
          <p:nvPr/>
        </p:nvSpPr>
        <p:spPr>
          <a:xfrm>
            <a:off x="2812757" y="1151500"/>
            <a:ext cx="8773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stitch part 2: </a:t>
            </a:r>
            <a:r>
              <a:rPr lang="en-US" sz="2800" b="1" dirty="0"/>
              <a:t>drop numbers from first use of RHS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5E05A2-967B-4F31-CB11-2AB1EDB2ADDA}"/>
              </a:ext>
            </a:extLst>
          </p:cNvPr>
          <p:cNvSpPr txBox="1"/>
          <p:nvPr/>
        </p:nvSpPr>
        <p:spPr>
          <a:xfrm>
            <a:off x="4094605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d5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e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955FE-1602-0ED3-7E62-A62A6702A216}"/>
              </a:ext>
            </a:extLst>
          </p:cNvPr>
          <p:cNvSpPr txBox="1"/>
          <p:nvPr/>
        </p:nvSpPr>
        <p:spPr>
          <a:xfrm>
            <a:off x="4029318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1ED61E-CB80-9260-9B81-B778795A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0"/>
            <a:ext cx="11192755" cy="117150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2F4C1E-FA9C-C779-F715-B7E63B94A6DD}"/>
              </a:ext>
            </a:extLst>
          </p:cNvPr>
          <p:cNvSpPr txBox="1"/>
          <p:nvPr/>
        </p:nvSpPr>
        <p:spPr>
          <a:xfrm>
            <a:off x="457136" y="1151500"/>
            <a:ext cx="2505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 2:</a:t>
            </a:r>
          </a:p>
        </p:txBody>
      </p:sp>
    </p:spTree>
    <p:extLst>
      <p:ext uri="{BB962C8B-B14F-4D97-AF65-F5344CB8AC3E}">
        <p14:creationId xmlns:p14="http://schemas.microsoft.com/office/powerpoint/2010/main" val="40951266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529049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463762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80283-EBEE-016B-21F5-6EA6EE4339FC}"/>
              </a:ext>
            </a:extLst>
          </p:cNvPr>
          <p:cNvSpPr txBox="1"/>
          <p:nvPr/>
        </p:nvSpPr>
        <p:spPr>
          <a:xfrm>
            <a:off x="4190109" y="1256683"/>
            <a:ext cx="6473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Now the Basic Blocks can be re-combined!!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7C476-1592-AF2C-D54E-4A3F3B0D8E07}"/>
              </a:ext>
            </a:extLst>
          </p:cNvPr>
          <p:cNvSpPr txBox="1"/>
          <p:nvPr/>
        </p:nvSpPr>
        <p:spPr>
          <a:xfrm>
            <a:off x="4094605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d5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e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6D756-83FC-87CA-F93D-1AD6B8247598}"/>
              </a:ext>
            </a:extLst>
          </p:cNvPr>
          <p:cNvSpPr txBox="1"/>
          <p:nvPr/>
        </p:nvSpPr>
        <p:spPr>
          <a:xfrm>
            <a:off x="4029318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16917-04F8-648B-95DE-4936EEF25B28}"/>
              </a:ext>
            </a:extLst>
          </p:cNvPr>
          <p:cNvSpPr txBox="1"/>
          <p:nvPr/>
        </p:nvSpPr>
        <p:spPr>
          <a:xfrm>
            <a:off x="8067567" y="2105584"/>
            <a:ext cx="3076301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 + c;</a:t>
            </a:r>
          </a:p>
          <a:p>
            <a:r>
              <a:rPr lang="en-US" sz="2400" dirty="0">
                <a:latin typeface="Courier" pitchFamily="2" charset="0"/>
              </a:rPr>
              <a:t>d5 = e + f;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 + a;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6ED37F-86E8-521E-AFC2-484DD106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37850885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3BE6-B5A0-F184-C273-0503A3E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CE57BC-9C8F-87D2-AE4B-189BB2C48D8E}"/>
              </a:ext>
            </a:extLst>
          </p:cNvPr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DA90556-80FA-92CF-ECAC-9BBB5A622871}"/>
              </a:ext>
            </a:extLst>
          </p:cNvPr>
          <p:cNvSpPr/>
          <p:nvPr/>
        </p:nvSpPr>
        <p:spPr>
          <a:xfrm>
            <a:off x="7031355" y="5469165"/>
            <a:ext cx="955675" cy="266700"/>
          </a:xfrm>
          <a:custGeom>
            <a:avLst/>
            <a:gdLst/>
            <a:ahLst/>
            <a:cxnLst/>
            <a:rect l="l" t="t" r="r" b="b"/>
            <a:pathLst>
              <a:path w="955675" h="266700">
                <a:moveTo>
                  <a:pt x="0" y="266700"/>
                </a:moveTo>
                <a:lnTo>
                  <a:pt x="955675" y="266700"/>
                </a:lnTo>
                <a:lnTo>
                  <a:pt x="9556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32C132C-6C13-A493-74B5-22B40A89477F}"/>
              </a:ext>
            </a:extLst>
          </p:cNvPr>
          <p:cNvSpPr/>
          <p:nvPr/>
        </p:nvSpPr>
        <p:spPr>
          <a:xfrm>
            <a:off x="2568634" y="6127810"/>
            <a:ext cx="365125" cy="355600"/>
          </a:xfrm>
          <a:custGeom>
            <a:avLst/>
            <a:gdLst/>
            <a:ahLst/>
            <a:cxnLst/>
            <a:rect l="l" t="t" r="r" b="b"/>
            <a:pathLst>
              <a:path w="365125" h="355600">
                <a:moveTo>
                  <a:pt x="0" y="355600"/>
                </a:moveTo>
                <a:lnTo>
                  <a:pt x="365125" y="355600"/>
                </a:lnTo>
                <a:lnTo>
                  <a:pt x="365125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3294EA-5551-551D-6514-3FD54BDF3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6999" y="2573772"/>
            <a:ext cx="8470427" cy="697627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lang="en-US" spc="-10" dirty="0"/>
              <a:t>Basic and Generalized Loop Unrolling</a:t>
            </a:r>
            <a:endParaRPr spc="-15" dirty="0"/>
          </a:p>
        </p:txBody>
      </p:sp>
    </p:spTree>
    <p:extLst>
      <p:ext uri="{BB962C8B-B14F-4D97-AF65-F5344CB8AC3E}">
        <p14:creationId xmlns:p14="http://schemas.microsoft.com/office/powerpoint/2010/main" val="4816942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Simpler Loop Unrolling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2965"/>
          </a:xfrm>
        </p:spPr>
        <p:txBody>
          <a:bodyPr/>
          <a:lstStyle/>
          <a:p>
            <a:r>
              <a:rPr lang="en-US" dirty="0"/>
              <a:t>Under what conditions can we unroll?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ED0DDB-1EA2-15AD-8124-3F075BAB5F61}"/>
              </a:ext>
            </a:extLst>
          </p:cNvPr>
          <p:cNvSpPr/>
          <p:nvPr/>
        </p:nvSpPr>
        <p:spPr>
          <a:xfrm>
            <a:off x="344503" y="2520496"/>
            <a:ext cx="10592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LPAR </a:t>
            </a:r>
            <a:r>
              <a:rPr lang="en-US" b="1" dirty="0" err="1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highlight>
                  <a:srgbClr val="00FF00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expr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SEMI </a:t>
            </a:r>
            <a:r>
              <a:rPr lang="en-US" b="1" dirty="0" err="1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assignment_statement</a:t>
            </a:r>
            <a:r>
              <a:rPr lang="en-US" b="1" dirty="0">
                <a:highlight>
                  <a:srgbClr val="00FF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RPAR </a:t>
            </a:r>
            <a:r>
              <a:rPr lang="en-US" b="1" dirty="0">
                <a:highlight>
                  <a:srgbClr val="FF00FF"/>
                </a:highlight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5C3A0-BF0F-E6F1-B486-EB22B40B4C81}"/>
              </a:ext>
            </a:extLst>
          </p:cNvPr>
          <p:cNvSpPr txBox="1"/>
          <p:nvPr/>
        </p:nvSpPr>
        <p:spPr>
          <a:xfrm>
            <a:off x="344503" y="3052794"/>
            <a:ext cx="44582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0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128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AABE2-FB03-859B-994F-375E2A7A0D82}"/>
              </a:ext>
            </a:extLst>
          </p:cNvPr>
          <p:cNvSpPr txBox="1"/>
          <p:nvPr/>
        </p:nvSpPr>
        <p:spPr>
          <a:xfrm>
            <a:off x="193350" y="5971876"/>
            <a:ext cx="5177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 these guarantee we will find an iteration variable?</a:t>
            </a:r>
          </a:p>
          <a:p>
            <a:r>
              <a:rPr lang="en-US" i="1" dirty="0"/>
              <a:t>What happens if we don’t find one?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DA7FB-D102-D3E9-D06B-667A581A905E}"/>
              </a:ext>
            </a:extLst>
          </p:cNvPr>
          <p:cNvSpPr txBox="1"/>
          <p:nvPr/>
        </p:nvSpPr>
        <p:spPr>
          <a:xfrm>
            <a:off x="6218387" y="3532420"/>
            <a:ext cx="5629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Validate that we actually have an iteration variable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find</a:t>
            </a:r>
            <a:r>
              <a:rPr lang="en-US" dirty="0"/>
              <a:t> candidate on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>
                <a:highlight>
                  <a:srgbClr val="FFFF00"/>
                </a:highlight>
              </a:rPr>
              <a:t>assignment statement</a:t>
            </a:r>
          </a:p>
          <a:p>
            <a:r>
              <a:rPr lang="en-US" dirty="0"/>
              <a:t>2. </a:t>
            </a:r>
            <a:r>
              <a:rPr lang="en-US" b="1" dirty="0"/>
              <a:t>check</a:t>
            </a:r>
            <a:r>
              <a:rPr lang="en-US" dirty="0"/>
              <a:t> no assignments to candidate in </a:t>
            </a:r>
            <a:r>
              <a:rPr lang="en-US" dirty="0">
                <a:highlight>
                  <a:srgbClr val="FF00FF"/>
                </a:highlight>
              </a:rPr>
              <a:t>body</a:t>
            </a:r>
          </a:p>
          <a:p>
            <a:r>
              <a:rPr lang="en-US" dirty="0"/>
              <a:t>3. </a:t>
            </a:r>
            <a:r>
              <a:rPr lang="en-US" b="1" dirty="0"/>
              <a:t>check</a:t>
            </a:r>
            <a:r>
              <a:rPr lang="en-US" dirty="0"/>
              <a:t> that it matches </a:t>
            </a:r>
            <a:r>
              <a:rPr lang="en-US" dirty="0" err="1"/>
              <a:t>lhs</a:t>
            </a:r>
            <a:r>
              <a:rPr lang="en-US" dirty="0"/>
              <a:t> of </a:t>
            </a:r>
            <a:r>
              <a:rPr lang="en-US" dirty="0" err="1">
                <a:highlight>
                  <a:srgbClr val="00FFFF"/>
                </a:highlight>
              </a:rPr>
              <a:t>assignment_statement</a:t>
            </a:r>
            <a:endParaRPr lang="en-US" dirty="0">
              <a:highlight>
                <a:srgbClr val="FF00FF"/>
              </a:highlight>
            </a:endParaRPr>
          </a:p>
          <a:p>
            <a:r>
              <a:rPr lang="en-US" dirty="0"/>
              <a:t>4. </a:t>
            </a:r>
            <a:r>
              <a:rPr lang="en-US" b="1" dirty="0"/>
              <a:t>check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loop condition</a:t>
            </a:r>
          </a:p>
          <a:p>
            <a:r>
              <a:rPr lang="en-US" dirty="0"/>
              <a:t>     * check that candidate variable is on </a:t>
            </a:r>
            <a:r>
              <a:rPr lang="en-US" dirty="0" err="1"/>
              <a:t>lhs</a:t>
            </a:r>
            <a:br>
              <a:rPr lang="en-US" dirty="0"/>
            </a:br>
            <a:r>
              <a:rPr lang="en-US" dirty="0"/>
              <a:t>     * check that the </a:t>
            </a:r>
            <a:r>
              <a:rPr lang="en-US" b="1" dirty="0" err="1"/>
              <a:t>rhs</a:t>
            </a:r>
            <a:r>
              <a:rPr lang="en-US" b="1" dirty="0"/>
              <a:t> is a literal </a:t>
            </a:r>
            <a:br>
              <a:rPr lang="en-US" dirty="0"/>
            </a:br>
            <a:r>
              <a:rPr lang="en-US" dirty="0"/>
              <a:t>        (i.e. a </a:t>
            </a:r>
            <a:r>
              <a:rPr lang="en-US" b="1" dirty="0"/>
              <a:t>compile time constant value</a:t>
            </a:r>
            <a:r>
              <a:rPr lang="en-US" dirty="0"/>
              <a:t>, e.g. </a:t>
            </a:r>
            <a:r>
              <a:rPr lang="en-US" dirty="0" err="1"/>
              <a:t>i</a:t>
            </a:r>
            <a:r>
              <a:rPr lang="en-US" dirty="0"/>
              <a:t>&lt;10*12)</a:t>
            </a:r>
          </a:p>
        </p:txBody>
      </p:sp>
    </p:spTree>
    <p:extLst>
      <p:ext uri="{BB962C8B-B14F-4D97-AF65-F5344CB8AC3E}">
        <p14:creationId xmlns:p14="http://schemas.microsoft.com/office/powerpoint/2010/main" val="8927856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28DB-05AF-36FC-5961-4FF5CE59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22"/>
            <a:ext cx="11160482" cy="923331"/>
          </a:xfrm>
        </p:spPr>
        <p:txBody>
          <a:bodyPr/>
          <a:lstStyle/>
          <a:p>
            <a:r>
              <a:rPr lang="en-US" dirty="0"/>
              <a:t>Generalized Loop Unrolling Conditions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F2DFB-AED9-7477-4C4A-42CE4673A9E0}"/>
              </a:ext>
            </a:extLst>
          </p:cNvPr>
          <p:cNvSpPr txBox="1"/>
          <p:nvPr/>
        </p:nvSpPr>
        <p:spPr>
          <a:xfrm>
            <a:off x="7461733" y="2663718"/>
            <a:ext cx="487184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x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y/F *F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</a:p>
          <a:p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  ...</a:t>
            </a:r>
            <a:br>
              <a:rPr lang="en-US" dirty="0">
                <a:highlight>
                  <a:srgbClr val="FF00FF"/>
                </a:highlight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BA4EC-6677-E485-78D8-9428E9E2994F}"/>
              </a:ext>
            </a:extLst>
          </p:cNvPr>
          <p:cNvSpPr txBox="1"/>
          <p:nvPr/>
        </p:nvSpPr>
        <p:spPr>
          <a:xfrm>
            <a:off x="7461733" y="5265928"/>
            <a:ext cx="48718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y/F *F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y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97E1B-78BB-D559-E31F-F0E546AC3055}"/>
              </a:ext>
            </a:extLst>
          </p:cNvPr>
          <p:cNvSpPr txBox="1"/>
          <p:nvPr/>
        </p:nvSpPr>
        <p:spPr>
          <a:xfrm>
            <a:off x="7461733" y="1386602"/>
            <a:ext cx="37458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we executed the unrolled loop</a:t>
            </a:r>
          </a:p>
          <a:p>
            <a:r>
              <a:rPr lang="en-US" dirty="0"/>
              <a:t>as many times as it was valid, and did</a:t>
            </a:r>
          </a:p>
          <a:p>
            <a:r>
              <a:rPr lang="en-US" dirty="0"/>
              <a:t>the rest with a non-unrolled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AAFE5-28C3-709A-D6CF-609887043E0F}"/>
              </a:ext>
            </a:extLst>
          </p:cNvPr>
          <p:cNvSpPr txBox="1"/>
          <p:nvPr/>
        </p:nvSpPr>
        <p:spPr>
          <a:xfrm>
            <a:off x="838200" y="2125266"/>
            <a:ext cx="504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in the general case? For unroll factor F?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6A8C3-B619-8EFA-2EBF-3154F45899FD}"/>
              </a:ext>
            </a:extLst>
          </p:cNvPr>
          <p:cNvSpPr txBox="1"/>
          <p:nvPr/>
        </p:nvSpPr>
        <p:spPr>
          <a:xfrm>
            <a:off x="838200" y="2822207"/>
            <a:ext cx="41825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pitchFamily="2" charset="0"/>
              </a:rPr>
              <a:t>for</a:t>
            </a:r>
            <a:r>
              <a:rPr lang="en-US" dirty="0">
                <a:latin typeface="Courier" pitchFamily="2" charset="0"/>
              </a:rPr>
              <a:t> (</a:t>
            </a:r>
            <a:r>
              <a:rPr lang="en-US" b="1" dirty="0">
                <a:highlight>
                  <a:srgbClr val="FFFF00"/>
                </a:highlight>
                <a:latin typeface="Courier" pitchFamily="2" charset="0"/>
              </a:rPr>
              <a:t>int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= x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00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 &lt; y</a:t>
            </a:r>
            <a:r>
              <a:rPr lang="en-US" dirty="0">
                <a:latin typeface="Courier" pitchFamily="2" charset="0"/>
              </a:rPr>
              <a:t>; </a:t>
            </a:r>
            <a:r>
              <a:rPr lang="en-US" dirty="0" err="1">
                <a:highlight>
                  <a:srgbClr val="00FFFF"/>
                </a:highlight>
                <a:latin typeface="Courier" pitchFamily="2" charset="0"/>
              </a:rPr>
              <a:t>i</a:t>
            </a:r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++</a:t>
            </a:r>
            <a:r>
              <a:rPr lang="en-US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// body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9C787-0141-E0E9-DBD3-C1B91E6137E3}"/>
              </a:ext>
            </a:extLst>
          </p:cNvPr>
          <p:cNvSpPr txBox="1"/>
          <p:nvPr/>
        </p:nvSpPr>
        <p:spPr>
          <a:xfrm>
            <a:off x="739471" y="4293704"/>
            <a:ext cx="5568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how many unrolled loops we can execute:</a:t>
            </a:r>
          </a:p>
          <a:p>
            <a:r>
              <a:rPr lang="en-US" dirty="0"/>
              <a:t>?</a:t>
            </a:r>
          </a:p>
          <a:p>
            <a:r>
              <a:rPr lang="en-US" dirty="0"/>
              <a:t>This gives us the first bound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25956-BC14-8DCF-D594-E37FA17686B7}"/>
              </a:ext>
            </a:extLst>
          </p:cNvPr>
          <p:cNvSpPr txBox="1"/>
          <p:nvPr/>
        </p:nvSpPr>
        <p:spPr>
          <a:xfrm>
            <a:off x="739471" y="5404427"/>
            <a:ext cx="4383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loop is initialized with the first bound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0A32A-F64A-EA4C-AD3E-FC5CF6470097}"/>
              </a:ext>
            </a:extLst>
          </p:cNvPr>
          <p:cNvSpPr txBox="1"/>
          <p:nvPr/>
        </p:nvSpPr>
        <p:spPr>
          <a:xfrm>
            <a:off x="739471" y="6004592"/>
            <a:ext cx="476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 loop’s bound is same as the original loop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B70FC-E797-6C4F-D286-3B7DCBCC01CA}"/>
              </a:ext>
            </a:extLst>
          </p:cNvPr>
          <p:cNvSpPr txBox="1"/>
          <p:nvPr/>
        </p:nvSpPr>
        <p:spPr>
          <a:xfrm>
            <a:off x="8025771" y="4141046"/>
            <a:ext cx="3972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y/F * F creates a remainder</a:t>
            </a:r>
          </a:p>
          <a:p>
            <a:r>
              <a:rPr lang="en-US" dirty="0"/>
              <a:t>   i.e. the benefit of integer arithmetic</a:t>
            </a:r>
          </a:p>
        </p:txBody>
      </p:sp>
    </p:spTree>
    <p:extLst>
      <p:ext uri="{BB962C8B-B14F-4D97-AF65-F5344CB8AC3E}">
        <p14:creationId xmlns:p14="http://schemas.microsoft.com/office/powerpoint/2010/main" val="7741890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D210-B932-820E-B7A6-49A37886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4759518" cy="1458264"/>
          </a:xfrm>
        </p:spPr>
        <p:txBody>
          <a:bodyPr>
            <a:normAutofit/>
          </a:bodyPr>
          <a:lstStyle/>
          <a:p>
            <a:r>
              <a:rPr lang="en-US" dirty="0"/>
              <a:t>general unroll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5AE46-AB48-325A-3879-C63240D05971}"/>
              </a:ext>
            </a:extLst>
          </p:cNvPr>
          <p:cNvSpPr txBox="1"/>
          <p:nvPr/>
        </p:nvSpPr>
        <p:spPr>
          <a:xfrm>
            <a:off x="4397071" y="2948873"/>
            <a:ext cx="55154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General unroll constraints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Loop update increments by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Find the concrete number of loop iterations, LI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b="1" dirty="0"/>
              <a:t>General unroll code generation</a:t>
            </a:r>
            <a:r>
              <a:rPr lang="en-US" b="1" dirty="0">
                <a:sym typeface="Wingdings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simple unrolled loop with new bound: (LI/F)*F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Create cleanup (basic) loop with initialization: (LI/F)*F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perform </a:t>
            </a:r>
            <a:r>
              <a:rPr lang="en-US" dirty="0" err="1">
                <a:sym typeface="Wingdings" pitchFamily="2" charset="2"/>
              </a:rPr>
              <a:t>codegen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385E4-96B4-57CC-1D8A-C29BF94D0A3D}"/>
              </a:ext>
            </a:extLst>
          </p:cNvPr>
          <p:cNvSpPr txBox="1"/>
          <p:nvPr/>
        </p:nvSpPr>
        <p:spPr>
          <a:xfrm>
            <a:off x="5788550" y="2454944"/>
            <a:ext cx="185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unroll factor 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BAF42-8585-434F-8373-709A4401BCAA}"/>
              </a:ext>
            </a:extLst>
          </p:cNvPr>
          <p:cNvSpPr txBox="1"/>
          <p:nvPr/>
        </p:nvSpPr>
        <p:spPr>
          <a:xfrm>
            <a:off x="4007457" y="5772647"/>
            <a:ext cx="437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None of these numbers have to be concrete!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FB9DDFD-09DB-82CF-FFAA-036AEF12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22"/>
            <a:ext cx="11160482" cy="923331"/>
          </a:xfrm>
        </p:spPr>
        <p:txBody>
          <a:bodyPr/>
          <a:lstStyle/>
          <a:p>
            <a:r>
              <a:rPr lang="en-US" dirty="0"/>
              <a:t>Generalized Loop Unrolling Conditions</a:t>
            </a:r>
          </a:p>
        </p:txBody>
      </p:sp>
    </p:spTree>
    <p:extLst>
      <p:ext uri="{BB962C8B-B14F-4D97-AF65-F5344CB8AC3E}">
        <p14:creationId xmlns:p14="http://schemas.microsoft.com/office/powerpoint/2010/main" val="2204682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49492</TotalTime>
  <Words>6644</Words>
  <Application>Microsoft Office PowerPoint</Application>
  <PresentationFormat>Widescreen</PresentationFormat>
  <Paragraphs>1811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7" baseType="lpstr">
      <vt:lpstr>Arial</vt:lpstr>
      <vt:lpstr>Calibri</vt:lpstr>
      <vt:lpstr>Calibri Light</vt:lpstr>
      <vt:lpstr>Consolas</vt:lpstr>
      <vt:lpstr>Courier</vt:lpstr>
      <vt:lpstr>Courier New</vt:lpstr>
      <vt:lpstr>Menlo</vt:lpstr>
      <vt:lpstr>Times New Roman</vt:lpstr>
      <vt:lpstr>Wingdings</vt:lpstr>
      <vt:lpstr>Office Theme</vt:lpstr>
      <vt:lpstr>CSE110A: Compilers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Intermediate representations</vt:lpstr>
      <vt:lpstr>Abstract Syntax Trees</vt:lpstr>
      <vt:lpstr>What is an AST?</vt:lpstr>
      <vt:lpstr>What is an AST?</vt:lpstr>
      <vt:lpstr>What is an AST?</vt:lpstr>
      <vt:lpstr>Example</vt:lpstr>
      <vt:lpstr>Example</vt:lpstr>
      <vt:lpstr>formalizing an AST</vt:lpstr>
      <vt:lpstr>PowerPoint Presentation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Creating an AST from top down grammar</vt:lpstr>
      <vt:lpstr>Evaluate an AST by doing a post order traversal</vt:lpstr>
      <vt:lpstr>Evaluate an AST by doing a post order traversal</vt:lpstr>
      <vt:lpstr>Evaluate an AST by doing a post order traversal</vt:lpstr>
      <vt:lpstr>Type systems</vt:lpstr>
      <vt:lpstr>Type checking on an AST</vt:lpstr>
      <vt:lpstr>Type checking on an AST</vt:lpstr>
      <vt:lpstr>Type checking on an AST</vt:lpstr>
      <vt:lpstr>Type checking on an AST</vt:lpstr>
      <vt:lpstr>Type checking on an AST</vt:lpstr>
      <vt:lpstr>Intermediate Representations RULES FOR OUR IR</vt:lpstr>
      <vt:lpstr>Class-IR: The Players</vt:lpstr>
      <vt:lpstr>Class-IR</vt:lpstr>
      <vt:lpstr>Class-IR</vt:lpstr>
      <vt:lpstr>Class-IR: Examples</vt:lpstr>
      <vt:lpstr>Class-IR: Control Flow</vt:lpstr>
      <vt:lpstr>Class-IR</vt:lpstr>
      <vt:lpstr>Class-IR</vt:lpstr>
      <vt:lpstr>Class-IR</vt:lpstr>
      <vt:lpstr>Class-IR</vt:lpstr>
      <vt:lpstr>Class-IR</vt:lpstr>
      <vt:lpstr>Class-IR: Examples</vt:lpstr>
      <vt:lpstr>Example</vt:lpstr>
      <vt:lpstr>Scopes</vt:lpstr>
      <vt:lpstr>IR Program structure</vt:lpstr>
      <vt:lpstr>PowerPoint Presentation</vt:lpstr>
      <vt:lpstr>Local Value Numbering Optimization</vt:lpstr>
      <vt:lpstr>Local value numbering</vt:lpstr>
      <vt:lpstr>Local value numbering</vt:lpstr>
      <vt:lpstr>Local value numbering</vt:lpstr>
      <vt:lpstr>Local value numbering</vt:lpstr>
      <vt:lpstr>Local value numbering (LVN)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Commutative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Stitching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Basic and Generalized Loop Unrolling</vt:lpstr>
      <vt:lpstr>Simpler Loop Unrolling Conditions</vt:lpstr>
      <vt:lpstr>Generalized Loop Unrolling Conditions</vt:lpstr>
      <vt:lpstr>Generalized Loop Unrolling Conditions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787</cp:revision>
  <dcterms:created xsi:type="dcterms:W3CDTF">2021-03-23T23:59:42Z</dcterms:created>
  <dcterms:modified xsi:type="dcterms:W3CDTF">2026-03-14T06:55:07Z</dcterms:modified>
</cp:coreProperties>
</file>