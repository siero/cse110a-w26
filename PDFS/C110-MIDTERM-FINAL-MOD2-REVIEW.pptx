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2"/>
  </p:notesMasterIdLst>
  <p:sldIdLst>
    <p:sldId id="257" r:id="rId2"/>
    <p:sldId id="1060" r:id="rId3"/>
    <p:sldId id="1115" r:id="rId4"/>
    <p:sldId id="1116" r:id="rId5"/>
    <p:sldId id="1117" r:id="rId6"/>
    <p:sldId id="1114" r:id="rId7"/>
    <p:sldId id="1126" r:id="rId8"/>
    <p:sldId id="1061" r:id="rId9"/>
    <p:sldId id="1118" r:id="rId10"/>
    <p:sldId id="1119" r:id="rId11"/>
    <p:sldId id="1134" r:id="rId12"/>
    <p:sldId id="1391" r:id="rId13"/>
    <p:sldId id="1120" r:id="rId14"/>
    <p:sldId id="1155" r:id="rId15"/>
    <p:sldId id="1156" r:id="rId16"/>
    <p:sldId id="1157" r:id="rId17"/>
    <p:sldId id="423" r:id="rId18"/>
    <p:sldId id="429" r:id="rId19"/>
    <p:sldId id="377" r:id="rId20"/>
    <p:sldId id="342" r:id="rId21"/>
    <p:sldId id="378" r:id="rId22"/>
    <p:sldId id="379" r:id="rId23"/>
    <p:sldId id="380" r:id="rId24"/>
    <p:sldId id="381" r:id="rId25"/>
    <p:sldId id="382" r:id="rId26"/>
    <p:sldId id="383" r:id="rId27"/>
    <p:sldId id="343" r:id="rId28"/>
    <p:sldId id="384" r:id="rId29"/>
    <p:sldId id="385" r:id="rId30"/>
    <p:sldId id="386" r:id="rId31"/>
    <p:sldId id="387" r:id="rId32"/>
    <p:sldId id="388" r:id="rId33"/>
    <p:sldId id="389" r:id="rId34"/>
    <p:sldId id="390" r:id="rId35"/>
    <p:sldId id="345" r:id="rId36"/>
    <p:sldId id="391" r:id="rId37"/>
    <p:sldId id="1342" r:id="rId38"/>
    <p:sldId id="392" r:id="rId39"/>
    <p:sldId id="1171" r:id="rId40"/>
    <p:sldId id="348" r:id="rId41"/>
    <p:sldId id="350" r:id="rId42"/>
    <p:sldId id="398" r:id="rId43"/>
    <p:sldId id="352" r:id="rId44"/>
    <p:sldId id="400" r:id="rId45"/>
    <p:sldId id="401" r:id="rId46"/>
    <p:sldId id="402" r:id="rId47"/>
    <p:sldId id="403" r:id="rId48"/>
    <p:sldId id="404" r:id="rId49"/>
    <p:sldId id="405" r:id="rId50"/>
    <p:sldId id="434" r:id="rId51"/>
    <p:sldId id="1162" r:id="rId52"/>
    <p:sldId id="1163" r:id="rId53"/>
    <p:sldId id="406" r:id="rId54"/>
    <p:sldId id="1164" r:id="rId55"/>
    <p:sldId id="256" r:id="rId56"/>
    <p:sldId id="354" r:id="rId57"/>
    <p:sldId id="407" r:id="rId58"/>
    <p:sldId id="408" r:id="rId59"/>
    <p:sldId id="427" r:id="rId60"/>
    <p:sldId id="409" r:id="rId61"/>
    <p:sldId id="1206" r:id="rId62"/>
    <p:sldId id="428" r:id="rId63"/>
    <p:sldId id="1168" r:id="rId64"/>
    <p:sldId id="431" r:id="rId65"/>
    <p:sldId id="432" r:id="rId66"/>
    <p:sldId id="433" r:id="rId67"/>
    <p:sldId id="1166" r:id="rId68"/>
    <p:sldId id="435" r:id="rId69"/>
    <p:sldId id="436" r:id="rId70"/>
    <p:sldId id="437" r:id="rId71"/>
    <p:sldId id="438" r:id="rId72"/>
    <p:sldId id="439" r:id="rId73"/>
    <p:sldId id="440" r:id="rId74"/>
    <p:sldId id="1169" r:id="rId75"/>
    <p:sldId id="1170" r:id="rId76"/>
    <p:sldId id="1207" r:id="rId77"/>
    <p:sldId id="1215" r:id="rId78"/>
    <p:sldId id="1214" r:id="rId79"/>
    <p:sldId id="1216" r:id="rId80"/>
    <p:sldId id="1217" r:id="rId81"/>
    <p:sldId id="1210" r:id="rId82"/>
    <p:sldId id="1219" r:id="rId83"/>
    <p:sldId id="1221" r:id="rId84"/>
    <p:sldId id="1222" r:id="rId85"/>
    <p:sldId id="1223" r:id="rId86"/>
    <p:sldId id="1211" r:id="rId87"/>
    <p:sldId id="1212" r:id="rId88"/>
    <p:sldId id="1224" r:id="rId89"/>
    <p:sldId id="1225" r:id="rId90"/>
    <p:sldId id="1239" r:id="rId91"/>
    <p:sldId id="1226" r:id="rId92"/>
    <p:sldId id="1227" r:id="rId93"/>
    <p:sldId id="1213" r:id="rId94"/>
    <p:sldId id="1229" r:id="rId95"/>
    <p:sldId id="1228" r:id="rId96"/>
    <p:sldId id="1231" r:id="rId97"/>
    <p:sldId id="1232" r:id="rId98"/>
    <p:sldId id="1233" r:id="rId99"/>
    <p:sldId id="1235" r:id="rId100"/>
    <p:sldId id="1245" r:id="rId101"/>
    <p:sldId id="1236" r:id="rId102"/>
    <p:sldId id="1237" r:id="rId103"/>
    <p:sldId id="1238" r:id="rId104"/>
    <p:sldId id="1240" r:id="rId105"/>
    <p:sldId id="1241" r:id="rId106"/>
    <p:sldId id="1242" r:id="rId107"/>
    <p:sldId id="1243" r:id="rId108"/>
    <p:sldId id="1244" r:id="rId109"/>
    <p:sldId id="1346" r:id="rId110"/>
    <p:sldId id="1345" r:id="rId111"/>
    <p:sldId id="1344" r:id="rId112"/>
    <p:sldId id="1338" r:id="rId113"/>
    <p:sldId id="1293" r:id="rId114"/>
    <p:sldId id="1286" r:id="rId115"/>
    <p:sldId id="1287" r:id="rId116"/>
    <p:sldId id="1288" r:id="rId117"/>
    <p:sldId id="1292" r:id="rId118"/>
    <p:sldId id="1347" r:id="rId119"/>
    <p:sldId id="1343" r:id="rId120"/>
    <p:sldId id="1348" r:id="rId121"/>
    <p:sldId id="1290" r:id="rId122"/>
    <p:sldId id="1294" r:id="rId123"/>
    <p:sldId id="1295" r:id="rId124"/>
    <p:sldId id="1296" r:id="rId125"/>
    <p:sldId id="1297" r:id="rId126"/>
    <p:sldId id="1340" r:id="rId127"/>
    <p:sldId id="1262" r:id="rId128"/>
    <p:sldId id="1298" r:id="rId129"/>
    <p:sldId id="1339" r:id="rId130"/>
    <p:sldId id="1299" r:id="rId131"/>
    <p:sldId id="1300" r:id="rId132"/>
    <p:sldId id="1301" r:id="rId133"/>
    <p:sldId id="1302" r:id="rId134"/>
    <p:sldId id="264" r:id="rId135"/>
    <p:sldId id="1264" r:id="rId136"/>
    <p:sldId id="1265" r:id="rId137"/>
    <p:sldId id="787" r:id="rId138"/>
    <p:sldId id="1315" r:id="rId139"/>
    <p:sldId id="1316" r:id="rId140"/>
    <p:sldId id="1317" r:id="rId141"/>
    <p:sldId id="1318" r:id="rId142"/>
    <p:sldId id="1319" r:id="rId143"/>
    <p:sldId id="1328" r:id="rId144"/>
    <p:sldId id="1329" r:id="rId145"/>
    <p:sldId id="1330" r:id="rId146"/>
    <p:sldId id="1331" r:id="rId147"/>
    <p:sldId id="1332" r:id="rId148"/>
    <p:sldId id="1333" r:id="rId149"/>
    <p:sldId id="1334" r:id="rId150"/>
    <p:sldId id="1335" r:id="rId1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0FE7AC-D9FE-49F3-9985-40B7A120EDA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4575B-F7A4-4590-BDD2-43095CD71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08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94289-6C26-F046-8A9C-B611FE64EF1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77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94289-6C26-F046-8A9C-B611FE64EF1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63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54575B-F7A4-4590-BDD2-43095CD71696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06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4348-80B9-FA97-6ABE-C7C513B1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5660A-5E97-E673-5A67-886947623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489BE-66C8-FD65-F816-8B6F214B2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A9F7D-3258-D8D6-FBB9-757470886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5D850-192C-4A74-9ED8-83EA308A700E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18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4348-80B9-FA97-6ABE-C7C513B1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5660A-5E97-E673-5A67-886947623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489BE-66C8-FD65-F816-8B6F214B2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A9F7D-3258-D8D6-FBB9-757470886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5D850-192C-4A74-9ED8-83EA308A700E}" type="slidenum">
              <a:rPr lang="en-US" smtClean="0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18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ECB7-CE54-7A8E-2047-31ECD8AEF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B0789-F959-88B0-BF85-7196F8C38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C3AE3-F56F-7325-FF3D-70647B839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D940E-2875-15B9-C41C-C8EBB640B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7F298-8A6E-3FB6-F1E3-431AA2B6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7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28010-FE3F-B074-318B-D45441741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03DA-5CE2-ABD2-917A-0DB7F618A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D6B51-6A5A-891A-8EA9-AFBBE2381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03AED-CDA7-1832-4F6D-953F0710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D69F2-3B4E-DF21-6B0C-13CF706B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1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F97C-CC7A-AAD7-60F0-E1801292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CC020-D37F-8393-8117-56631FBC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7305-A480-DA41-A7D5-0565C9182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4099B-6BDD-4858-EBB0-EE702A53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9FCB2-648B-C962-60FF-D2E6CF9B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2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F1D7-DE14-4810-B3A9-A7F8B91E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D218A-3B91-C95D-1F9F-4AF88EC56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4DC3E-D910-B53C-7E97-706809777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D47FB-8A30-92B8-9805-7E2CE81E8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773B5-AC1D-16A5-B147-E90B7104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E6A84-7A5D-5626-FA08-51C61406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4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5EED-E496-9C11-2CA6-6C6F97D9B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D805B-2649-B13F-E19E-1840B1EBB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98C76-48B4-92AB-D606-32D7A3597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51E08A-8784-E984-F91C-0CBD0CA4C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8E96F-3247-721A-84A8-E85E34F04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A2E2E0-2418-DDE8-4852-B88BB0822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313CD-78DA-A9C9-565E-44A50D8F0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BB22B9-562D-44EB-C661-C19EFCB3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72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F2007-EADC-2710-3F97-EF1746FE3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71993-49ED-194D-1132-84C239A3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94CD9F-EA9F-5F2C-0D0A-B8E74C06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83391-9AEA-783C-EFAD-353DED96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05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A373D-E02B-24B2-5DC4-42A1BF54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CBD4F-218C-9C92-4EA2-12FE7F675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6E59-4B1B-86CF-1580-A10B39966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7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8B3F0-5775-DFEA-2EA9-823BDD0FC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9B40D-31D8-B6CF-8EB5-C36598B66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5FD08-CBB2-AF46-B007-F09691A31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E7BB1-CB74-D90F-90AF-4A1528A47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35961-C248-B0E9-1335-1B877F2A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D2352-EB13-773F-1A89-0363B27F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9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A2C8-EE78-4355-0A63-EAA07C17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ADB355-84C4-2662-65A2-13840E084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7F7EA-FB63-B880-050A-1C54F4ED4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9BD8E-81B5-666A-8406-8D24F46A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63608-F2BF-8D74-F495-7A9176AD1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CDE42-7AA6-9909-8978-C46F1317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4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19D20-CD98-642D-9E8A-E6A41207B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9C43D-0384-7803-7362-9E0C472BB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AF40D-4D8B-F293-3787-5514C566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A4E78-5665-B2DB-33CF-05CDB37A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B9F5D-A10F-B8FA-F725-417B27370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43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0C298-1C6F-DA17-9D0E-0479478740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9E6BB-40BA-B72B-F3B4-8896B00A5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45B9A-FF13-7B48-3D2E-D9BCDD727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3FD22-738B-757F-BC53-41F783FE4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DFC58-1826-D9D4-7C97-5A68BDBD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38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39B48-6B68-BCBB-73F5-6D629711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D87CA-E82C-3A67-39B5-907EADB71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0DD66-78B7-97EF-B48F-C220837B9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C1EC0-1DA8-4D9E-AE48-10EDA77EAC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0636F-3D89-97C6-6733-AFABC6E10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FA63E-1BCD-7A51-F728-22C07ACB2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5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/language/operator_precedence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/language/operator_precedence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nt-28/first-follow.git" TargetMode="External"/><Relationship Id="rId4" Type="http://schemas.openxmlformats.org/officeDocument/2006/relationships/hyperlink" Target="https://www.youtube.com/watch?v=JhEmguMmfLU" TargetMode="Externa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97" y="0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31" y="1405827"/>
            <a:ext cx="7695376" cy="46850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000" b="1" dirty="0"/>
              <a:t>Topics</a:t>
            </a:r>
            <a:r>
              <a:rPr lang="en-US" sz="4000" dirty="0"/>
              <a:t>:  </a:t>
            </a:r>
            <a:r>
              <a:rPr lang="en-US" sz="4000" b="1" dirty="0"/>
              <a:t>Midterm and Final Review of Parsing</a:t>
            </a:r>
          </a:p>
          <a:p>
            <a:pPr marL="0" indent="0">
              <a:buNone/>
            </a:pPr>
            <a:r>
              <a:rPr lang="en-US" sz="4000" b="1"/>
              <a:t>Module 2: </a:t>
            </a:r>
            <a:r>
              <a:rPr lang="en-US" sz="4000" b="1" dirty="0"/>
              <a:t>Parsing</a:t>
            </a:r>
          </a:p>
          <a:p>
            <a:r>
              <a:rPr lang="en-US" i="1" dirty="0"/>
              <a:t>Ambiguous Grammars and Parse Trees  1</a:t>
            </a:r>
          </a:p>
          <a:p>
            <a:r>
              <a:rPr lang="en-US" i="1" dirty="0"/>
              <a:t>Post-Order Traversals   9</a:t>
            </a:r>
          </a:p>
          <a:p>
            <a:r>
              <a:rPr lang="en-US" i="1" dirty="0"/>
              <a:t>Ambiguous Grammars and Precedence  37 </a:t>
            </a:r>
          </a:p>
          <a:p>
            <a:r>
              <a:rPr lang="en-US" i="1" dirty="0"/>
              <a:t>Fixing  Grammar for Associativity 55</a:t>
            </a:r>
          </a:p>
          <a:p>
            <a:r>
              <a:rPr lang="en-US" i="1" dirty="0"/>
              <a:t>Top-Down / Bottom-Up Parsers  76</a:t>
            </a:r>
          </a:p>
          <a:p>
            <a:r>
              <a:rPr lang="en-US" i="1" dirty="0"/>
              <a:t>LL(1) Top-Down Parsing    87 </a:t>
            </a:r>
          </a:p>
          <a:p>
            <a:r>
              <a:rPr lang="en-US" i="1" dirty="0"/>
              <a:t>Eliminating Left Recursion  94</a:t>
            </a:r>
          </a:p>
          <a:p>
            <a:r>
              <a:rPr lang="en-US" i="1" dirty="0"/>
              <a:t>Oracularity </a:t>
            </a:r>
            <a:r>
              <a:rPr lang="en-US" i="1" dirty="0" err="1"/>
              <a:t>wth</a:t>
            </a:r>
            <a:r>
              <a:rPr lang="en-US" i="1" dirty="0"/>
              <a:t> First, Follow, Follow+ Sets  112</a:t>
            </a:r>
          </a:p>
          <a:p>
            <a:pPr lvl="1"/>
            <a:r>
              <a:rPr lang="en-US" i="1" dirty="0"/>
              <a:t>Making a backtrack-free top-down parser</a:t>
            </a:r>
          </a:p>
          <a:p>
            <a:r>
              <a:rPr lang="en-US" i="1" dirty="0"/>
              <a:t>Left Factoring   124</a:t>
            </a:r>
          </a:p>
          <a:p>
            <a:r>
              <a:rPr lang="en-US" i="1" dirty="0"/>
              <a:t>LL(1) and Recursive Descent    135</a:t>
            </a:r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4810-9B5C-0A4D-B2CE-2BC37B86A354}"/>
              </a:ext>
            </a:extLst>
          </p:cNvPr>
          <p:cNvSpPr/>
          <p:nvPr/>
        </p:nvSpPr>
        <p:spPr>
          <a:xfrm>
            <a:off x="10097167" y="209080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286D8F-6730-F04B-9B5A-A73EFAB4D4E7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10119752" y="2402657"/>
            <a:ext cx="351930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12D8AA-0409-864E-9890-3FFB88503A5E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0471682" y="2402657"/>
            <a:ext cx="277238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95DC5A4-90C6-B14B-A382-11D393C99C64}"/>
              </a:ext>
            </a:extLst>
          </p:cNvPr>
          <p:cNvSpPr/>
          <p:nvPr/>
        </p:nvSpPr>
        <p:spPr>
          <a:xfrm>
            <a:off x="9722652" y="2720674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8E1B2B-5DF2-E645-BAE4-3348D9F473F8}"/>
              </a:ext>
            </a:extLst>
          </p:cNvPr>
          <p:cNvSpPr/>
          <p:nvPr/>
        </p:nvSpPr>
        <p:spPr>
          <a:xfrm>
            <a:off x="10512211" y="2727971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2426A8-2722-164F-9E46-19F9E98727B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971844" y="3050112"/>
            <a:ext cx="328310" cy="31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C218C-0E06-3C47-904B-D63E5F792510}"/>
              </a:ext>
            </a:extLst>
          </p:cNvPr>
          <p:cNvCxnSpPr>
            <a:cxnSpLocks/>
            <a:stCxn id="21" idx="4"/>
            <a:endCxn id="38" idx="0"/>
          </p:cNvCxnSpPr>
          <p:nvPr/>
        </p:nvCxnSpPr>
        <p:spPr>
          <a:xfrm flipH="1">
            <a:off x="10367706" y="3039820"/>
            <a:ext cx="519020" cy="31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D89F16C-A8D3-904A-8BD9-E3C751C9AD48}"/>
              </a:ext>
            </a:extLst>
          </p:cNvPr>
          <p:cNvSpPr/>
          <p:nvPr/>
        </p:nvSpPr>
        <p:spPr>
          <a:xfrm>
            <a:off x="10925639" y="336139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5099B9-D9EF-0A4E-8009-19E283A17159}"/>
              </a:ext>
            </a:extLst>
          </p:cNvPr>
          <p:cNvSpPr/>
          <p:nvPr/>
        </p:nvSpPr>
        <p:spPr>
          <a:xfrm>
            <a:off x="9993191" y="335166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9" name="Snip Single Corner Rectangle 38">
            <a:extLst>
              <a:ext uri="{FF2B5EF4-FFF2-40B4-BE49-F238E27FC236}">
                <a16:creationId xmlns:a16="http://schemas.microsoft.com/office/drawing/2014/main" id="{F7AACD00-7B7A-7E4A-8E82-E00367CBE379}"/>
              </a:ext>
            </a:extLst>
          </p:cNvPr>
          <p:cNvSpPr/>
          <p:nvPr/>
        </p:nvSpPr>
        <p:spPr>
          <a:xfrm>
            <a:off x="7026095" y="2373274"/>
            <a:ext cx="1594022" cy="1235676"/>
          </a:xfrm>
          <a:prstGeom prst="snip1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int main() {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" pitchFamily="2" charset="0"/>
              </a:rPr>
              <a:t>printf</a:t>
            </a: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(““);</a:t>
            </a:r>
          </a:p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return 0;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D5C64FAD-A257-F54D-A462-4BA9F13CC36D}"/>
              </a:ext>
            </a:extLst>
          </p:cNvPr>
          <p:cNvSpPr/>
          <p:nvPr/>
        </p:nvSpPr>
        <p:spPr>
          <a:xfrm flipV="1">
            <a:off x="8796082" y="2700225"/>
            <a:ext cx="951875" cy="35445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0594"/>
          </a:xfrm>
        </p:spPr>
        <p:txBody>
          <a:bodyPr>
            <a:normAutofit fontScale="92500"/>
          </a:bodyPr>
          <a:lstStyle/>
          <a:p>
            <a:r>
              <a:rPr lang="en-US" dirty="0"/>
              <a:t>What happens when different derivations have different parse trees?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2566219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F6AB7-59B6-2D49-8916-A9763C18A618}"/>
              </a:ext>
            </a:extLst>
          </p:cNvPr>
          <p:cNvSpPr txBox="1"/>
          <p:nvPr/>
        </p:nvSpPr>
        <p:spPr>
          <a:xfrm>
            <a:off x="3677264" y="4322476"/>
            <a:ext cx="2567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derive this string?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40FCA-756E-9744-9D4F-2998AD18650C}"/>
              </a:ext>
            </a:extLst>
          </p:cNvPr>
          <p:cNvSpPr txBox="1"/>
          <p:nvPr/>
        </p:nvSpPr>
        <p:spPr>
          <a:xfrm>
            <a:off x="320040" y="6254496"/>
            <a:ext cx="537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Next few figures taken from the EAC book (Chapter 3.1)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74D19-CDF7-0041-AB04-53ECA72AE6DE}"/>
              </a:ext>
            </a:extLst>
          </p:cNvPr>
          <p:cNvSpPr txBox="1"/>
          <p:nvPr/>
        </p:nvSpPr>
        <p:spPr>
          <a:xfrm>
            <a:off x="1621671" y="5054167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92337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4C7899-8E10-AB48-A698-616B11AFE2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4" t="6406" r="5462" b="61579"/>
          <a:stretch/>
        </p:blipFill>
        <p:spPr>
          <a:xfrm>
            <a:off x="142915" y="3987974"/>
            <a:ext cx="5484399" cy="8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28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031D4-A54A-1248-A500-F444FEB13D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805E9-DA17-C644-97EF-452AA9E4FED0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</p:spTree>
    <p:extLst>
      <p:ext uri="{BB962C8B-B14F-4D97-AF65-F5344CB8AC3E}">
        <p14:creationId xmlns:p14="http://schemas.microsoft.com/office/powerpoint/2010/main" val="4073676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031D4-A54A-1248-A500-F444FEB13D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805E9-DA17-C644-97EF-452AA9E4FED0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7C60B2-F2B8-664E-A0AD-2F89A5B2BB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19" t="6406" r="4479" b="57543"/>
          <a:stretch/>
        </p:blipFill>
        <p:spPr>
          <a:xfrm>
            <a:off x="6327648" y="3987975"/>
            <a:ext cx="5665466" cy="93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25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BC30-E355-994F-9124-9AABF2C53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406" r="4479" b="8352"/>
          <a:stretch/>
        </p:blipFill>
        <p:spPr>
          <a:xfrm>
            <a:off x="6327648" y="3987975"/>
            <a:ext cx="5665466" cy="2202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26ADA-331A-7A44-9C52-9B5C4D1EB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3DBDE0-AF1F-7F46-9DD7-98AA6D57EE3C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B98D52-B42C-E049-AF3E-9FC8C81EFF3C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64E4E2-E31D-1F4B-BDF6-7861CAE5C010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E2A85-D1AC-6DAE-1D5A-179EE566FC9E}"/>
              </a:ext>
            </a:extLst>
          </p:cNvPr>
          <p:cNvSpPr txBox="1"/>
          <p:nvPr/>
        </p:nvSpPr>
        <p:spPr>
          <a:xfrm>
            <a:off x="7558486" y="6289759"/>
            <a:ext cx="290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And another valid derivation</a:t>
            </a:r>
          </a:p>
        </p:txBody>
      </p:sp>
    </p:spTree>
    <p:extLst>
      <p:ext uri="{BB962C8B-B14F-4D97-AF65-F5344CB8AC3E}">
        <p14:creationId xmlns:p14="http://schemas.microsoft.com/office/powerpoint/2010/main" val="20715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BC30-E355-994F-9124-9AABF2C53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406" r="4479" b="8352"/>
          <a:stretch/>
        </p:blipFill>
        <p:spPr>
          <a:xfrm>
            <a:off x="6327648" y="3987975"/>
            <a:ext cx="5665466" cy="2202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26ADA-331A-7A44-9C52-9B5C4D1EB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3DBDE0-AF1F-7F46-9DD7-98AA6D57EE3C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81C74C-7CC7-A344-9B20-E535D9497129}"/>
              </a:ext>
            </a:extLst>
          </p:cNvPr>
          <p:cNvSpPr txBox="1"/>
          <p:nvPr/>
        </p:nvSpPr>
        <p:spPr>
          <a:xfrm>
            <a:off x="7558486" y="6308209"/>
            <a:ext cx="290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And another valid derivation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1C6949-1EC6-7A43-BE4A-25A3D52F8645}"/>
              </a:ext>
            </a:extLst>
          </p:cNvPr>
          <p:cNvSpPr txBox="1"/>
          <p:nvPr/>
        </p:nvSpPr>
        <p:spPr>
          <a:xfrm>
            <a:off x="3300984" y="2284142"/>
            <a:ext cx="6688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Is this an issue? Don’t we only care if a grammar can derive a string?</a:t>
            </a:r>
          </a:p>
        </p:txBody>
      </p:sp>
    </p:spTree>
    <p:extLst>
      <p:ext uri="{BB962C8B-B14F-4D97-AF65-F5344CB8AC3E}">
        <p14:creationId xmlns:p14="http://schemas.microsoft.com/office/powerpoint/2010/main" val="2622537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into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68167"/>
          </a:xfrm>
        </p:spPr>
        <p:txBody>
          <a:bodyPr>
            <a:normAutofit/>
          </a:bodyPr>
          <a:lstStyle/>
          <a:p>
            <a:r>
              <a:rPr lang="en-US" dirty="0"/>
              <a:t>We want to start encoding meaning into the parse structure. We will want as much structure as possible as we continue through the compiler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structure is that we want evaluation of program to correspond to a post order traversal of the parse tree (also called the natural traversal)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75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5E697B-32DE-874A-8FF9-50BC1AE5F75D}"/>
              </a:ext>
            </a:extLst>
          </p:cNvPr>
          <p:cNvSpPr txBox="1"/>
          <p:nvPr/>
        </p:nvSpPr>
        <p:spPr>
          <a:xfrm>
            <a:off x="8311896" y="3090672"/>
            <a:ext cx="291252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visiting for for different types</a:t>
            </a:r>
          </a:p>
          <a:p>
            <a:r>
              <a:rPr lang="en-US" dirty="0"/>
              <a:t>of traversals:</a:t>
            </a:r>
          </a:p>
          <a:p>
            <a:endParaRPr lang="en-US" dirty="0"/>
          </a:p>
          <a:p>
            <a:r>
              <a:rPr lang="en-US" dirty="0"/>
              <a:t>pre order?</a:t>
            </a:r>
          </a:p>
          <a:p>
            <a:r>
              <a:rPr lang="en-US" dirty="0"/>
              <a:t>in order?</a:t>
            </a:r>
          </a:p>
          <a:p>
            <a:r>
              <a:rPr lang="en-US" dirty="0"/>
              <a:t>post order?</a:t>
            </a:r>
          </a:p>
        </p:txBody>
      </p:sp>
    </p:spTree>
    <p:extLst>
      <p:ext uri="{BB962C8B-B14F-4D97-AF65-F5344CB8AC3E}">
        <p14:creationId xmlns:p14="http://schemas.microsoft.com/office/powerpoint/2010/main" val="81012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5E697B-32DE-874A-8FF9-50BC1AE5F75D}"/>
              </a:ext>
            </a:extLst>
          </p:cNvPr>
          <p:cNvSpPr txBox="1"/>
          <p:nvPr/>
        </p:nvSpPr>
        <p:spPr>
          <a:xfrm>
            <a:off x="8311896" y="3090672"/>
            <a:ext cx="26698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visiting for different types</a:t>
            </a:r>
          </a:p>
          <a:p>
            <a:r>
              <a:rPr lang="en-US" dirty="0"/>
              <a:t>of traversals: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post order</a:t>
            </a:r>
          </a:p>
        </p:txBody>
      </p:sp>
    </p:spTree>
    <p:extLst>
      <p:ext uri="{BB962C8B-B14F-4D97-AF65-F5344CB8AC3E}">
        <p14:creationId xmlns:p14="http://schemas.microsoft.com/office/powerpoint/2010/main" val="157856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04618-023D-E4E8-012F-4D34836AF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18D7-5C01-CCB3-04E5-1022D088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20107"/>
            <a:ext cx="10515600" cy="923330"/>
          </a:xfrm>
        </p:spPr>
        <p:txBody>
          <a:bodyPr/>
          <a:lstStyle/>
          <a:p>
            <a:r>
              <a:rPr lang="en-US" dirty="0"/>
              <a:t>Review: Possible Orders of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062D6D-72D3-8D92-7BBA-94BC1783E2E8}"/>
              </a:ext>
            </a:extLst>
          </p:cNvPr>
          <p:cNvSpPr/>
          <p:nvPr/>
        </p:nvSpPr>
        <p:spPr>
          <a:xfrm>
            <a:off x="2380149" y="1448099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1408B-921D-A034-E7DC-D7D8352FC044}"/>
              </a:ext>
            </a:extLst>
          </p:cNvPr>
          <p:cNvSpPr/>
          <p:nvPr/>
        </p:nvSpPr>
        <p:spPr>
          <a:xfrm>
            <a:off x="1556442" y="2225339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A67B96-A6F0-4D61-5E01-D4C7187F3D43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2219858" y="2111515"/>
            <a:ext cx="274115" cy="227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B05600-99FC-8945-8D2D-609E459DBA3E}"/>
              </a:ext>
            </a:extLst>
          </p:cNvPr>
          <p:cNvCxnSpPr>
            <a:cxnSpLocks/>
            <a:stCxn id="5" idx="3"/>
            <a:endCxn id="3" idx="7"/>
          </p:cNvCxnSpPr>
          <p:nvPr/>
        </p:nvCxnSpPr>
        <p:spPr>
          <a:xfrm flipH="1">
            <a:off x="1341087" y="2888755"/>
            <a:ext cx="329179" cy="309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55770C-1DC1-7AAC-2FFD-02A14AFC03CC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2219858" y="2888755"/>
            <a:ext cx="285409" cy="309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1370D0A6-74C4-ABF4-D387-CC13E4D7C45D}"/>
              </a:ext>
            </a:extLst>
          </p:cNvPr>
          <p:cNvSpPr/>
          <p:nvPr/>
        </p:nvSpPr>
        <p:spPr>
          <a:xfrm>
            <a:off x="677671" y="308419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6D384C-B858-FD77-1910-1F2BFCD479E6}"/>
              </a:ext>
            </a:extLst>
          </p:cNvPr>
          <p:cNvSpPr/>
          <p:nvPr/>
        </p:nvSpPr>
        <p:spPr>
          <a:xfrm>
            <a:off x="2391443" y="308419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3AC0135-2345-0DFB-E35A-9CB36CB28F08}"/>
              </a:ext>
            </a:extLst>
          </p:cNvPr>
          <p:cNvSpPr/>
          <p:nvPr/>
        </p:nvSpPr>
        <p:spPr>
          <a:xfrm>
            <a:off x="3197689" y="2225339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924030-A9E1-F843-C464-460A8080810B}"/>
              </a:ext>
            </a:extLst>
          </p:cNvPr>
          <p:cNvCxnSpPr>
            <a:cxnSpLocks/>
            <a:stCxn id="4" idx="5"/>
            <a:endCxn id="33" idx="1"/>
          </p:cNvCxnSpPr>
          <p:nvPr/>
        </p:nvCxnSpPr>
        <p:spPr>
          <a:xfrm>
            <a:off x="3043565" y="2111515"/>
            <a:ext cx="267948" cy="227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2070BF0-2A34-9534-2BA6-3F4877E3EE6C}"/>
              </a:ext>
            </a:extLst>
          </p:cNvPr>
          <p:cNvCxnSpPr>
            <a:cxnSpLocks/>
            <a:stCxn id="33" idx="5"/>
            <a:endCxn id="37" idx="1"/>
          </p:cNvCxnSpPr>
          <p:nvPr/>
        </p:nvCxnSpPr>
        <p:spPr>
          <a:xfrm>
            <a:off x="3861105" y="2888755"/>
            <a:ext cx="324631" cy="309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7D838BFB-DFE2-08C4-1A63-D84F2C9AB020}"/>
              </a:ext>
            </a:extLst>
          </p:cNvPr>
          <p:cNvSpPr/>
          <p:nvPr/>
        </p:nvSpPr>
        <p:spPr>
          <a:xfrm>
            <a:off x="4071912" y="308419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ACAA0DB0-2FD7-B3CF-6D2F-0913BB66A05D}"/>
              </a:ext>
            </a:extLst>
          </p:cNvPr>
          <p:cNvGraphicFramePr>
            <a:graphicFrameLocks noGrp="1"/>
          </p:cNvGraphicFramePr>
          <p:nvPr/>
        </p:nvGraphicFramePr>
        <p:xfrm>
          <a:off x="5365557" y="1105949"/>
          <a:ext cx="587667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887">
                  <a:extLst>
                    <a:ext uri="{9D8B030D-6E8A-4147-A177-3AD203B41FA5}">
                      <a16:colId xmlns:a16="http://schemas.microsoft.com/office/drawing/2014/main" val="4158862879"/>
                    </a:ext>
                  </a:extLst>
                </a:gridCol>
                <a:gridCol w="2928276">
                  <a:extLst>
                    <a:ext uri="{9D8B030D-6E8A-4147-A177-3AD203B41FA5}">
                      <a16:colId xmlns:a16="http://schemas.microsoft.com/office/drawing/2014/main" val="3112138583"/>
                    </a:ext>
                  </a:extLst>
                </a:gridCol>
                <a:gridCol w="1290514">
                  <a:extLst>
                    <a:ext uri="{9D8B030D-6E8A-4147-A177-3AD203B41FA5}">
                      <a16:colId xmlns:a16="http://schemas.microsoft.com/office/drawing/2014/main" val="3742667736"/>
                    </a:ext>
                  </a:extLst>
                </a:gridCol>
              </a:tblGrid>
              <a:tr h="615758">
                <a:tc>
                  <a:txBody>
                    <a:bodyPr/>
                    <a:lstStyle/>
                    <a:p>
                      <a:r>
                        <a:rPr lang="en-US" dirty="0"/>
                        <a:t>Traversal</a:t>
                      </a:r>
                    </a:p>
                    <a:p>
                      <a:r>
                        <a:rPr lang="en-US" dirty="0"/>
                        <a:t>    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 Visited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  <a:p>
                      <a:r>
                        <a:rPr lang="en-US" dirty="0"/>
                        <a:t>  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62617"/>
                  </a:ext>
                </a:extLst>
              </a:tr>
              <a:tr h="459581">
                <a:tc>
                  <a:txBody>
                    <a:bodyPr/>
                    <a:lstStyle/>
                    <a:p>
                      <a:r>
                        <a:rPr lang="en-US" dirty="0"/>
                        <a:t>pre-order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Top-Root-&gt;Left-Child-&gt;Right-Child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A B D E G H C F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25202"/>
                  </a:ext>
                </a:extLst>
              </a:tr>
              <a:tr h="481616">
                <a:tc>
                  <a:txBody>
                    <a:bodyPr/>
                    <a:lstStyle/>
                    <a:p>
                      <a:r>
                        <a:rPr lang="en-US" dirty="0"/>
                        <a:t>in-order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Left/Bottom-&gt;Its-Root-&gt;Right/Bottom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D B G E H A C F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630095"/>
                  </a:ext>
                </a:extLst>
              </a:tr>
              <a:tr h="481616">
                <a:tc>
                  <a:txBody>
                    <a:bodyPr/>
                    <a:lstStyle/>
                    <a:p>
                      <a:r>
                        <a:rPr lang="en-US" dirty="0"/>
                        <a:t>post-order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Left/Bottom-&gt;Right/Bottom-&gt;Its-Root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D G H E B F C 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15218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9B5500F-F2E5-0D0C-1CB2-9188FE31DE26}"/>
              </a:ext>
            </a:extLst>
          </p:cNvPr>
          <p:cNvSpPr txBox="1"/>
          <p:nvPr/>
        </p:nvSpPr>
        <p:spPr>
          <a:xfrm>
            <a:off x="5110631" y="3571871"/>
            <a:ext cx="6625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    Pre-order Traversal (Root-Left-Right. Top to Bottom)</a:t>
            </a:r>
          </a:p>
          <a:p>
            <a:pPr>
              <a:buNone/>
            </a:pPr>
            <a:r>
              <a:rPr lang="en-US" b="1" dirty="0"/>
              <a:t>        </a:t>
            </a:r>
            <a:r>
              <a:rPr lang="en-US" dirty="0"/>
              <a:t>Prioritizes visits from top to bottom, and left to right</a:t>
            </a:r>
          </a:p>
          <a:p>
            <a:pPr>
              <a:buNone/>
            </a:pPr>
            <a:r>
              <a:rPr lang="en-US" dirty="0"/>
              <a:t>        Useful for serializing and copying trees.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B616E-411D-9C38-7184-DC949C38A89B}"/>
              </a:ext>
            </a:extLst>
          </p:cNvPr>
          <p:cNvSpPr txBox="1"/>
          <p:nvPr/>
        </p:nvSpPr>
        <p:spPr>
          <a:xfrm>
            <a:off x="5110631" y="4436565"/>
            <a:ext cx="6050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    In-order Traversal (Left-Root-Right, Bottom to Top)</a:t>
            </a:r>
          </a:p>
          <a:p>
            <a:pPr lvl="1"/>
            <a:r>
              <a:rPr lang="en-US" dirty="0"/>
              <a:t>Prioritizes visits from bottom left to right visiting parent nodes on the way.  Sometimes used for sorting.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AAC9B3-3E7E-9100-5863-B3EE895C35D4}"/>
              </a:ext>
            </a:extLst>
          </p:cNvPr>
          <p:cNvSpPr txBox="1"/>
          <p:nvPr/>
        </p:nvSpPr>
        <p:spPr>
          <a:xfrm>
            <a:off x="5110631" y="5359895"/>
            <a:ext cx="5690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    Post-order (or natural) Traversal (Left-Right-Root)</a:t>
            </a:r>
          </a:p>
          <a:p>
            <a:pPr lvl="1"/>
            <a:r>
              <a:rPr lang="en-US" dirty="0"/>
              <a:t>Prioritizes traversing subtrees by visiting lowest nodes first, and parent nodes later.  Useful for evaluating expression trees (e.g. parsing)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9E8DB9-C6D5-C51C-24DA-EE09E30CF5C8}"/>
              </a:ext>
            </a:extLst>
          </p:cNvPr>
          <p:cNvCxnSpPr>
            <a:cxnSpLocks/>
            <a:stCxn id="11" idx="5"/>
            <a:endCxn id="48" idx="1"/>
          </p:cNvCxnSpPr>
          <p:nvPr/>
        </p:nvCxnSpPr>
        <p:spPr>
          <a:xfrm>
            <a:off x="3054859" y="3747609"/>
            <a:ext cx="256654" cy="2948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711FBBB-A7C7-A0D3-AB59-E40B8265030A}"/>
              </a:ext>
            </a:extLst>
          </p:cNvPr>
          <p:cNvSpPr/>
          <p:nvPr/>
        </p:nvSpPr>
        <p:spPr>
          <a:xfrm>
            <a:off x="3197689" y="3928641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2E07CFF-605F-A06E-940D-837F6E56EA79}"/>
              </a:ext>
            </a:extLst>
          </p:cNvPr>
          <p:cNvSpPr/>
          <p:nvPr/>
        </p:nvSpPr>
        <p:spPr>
          <a:xfrm>
            <a:off x="1518298" y="3928641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4D10A47-301E-0F2C-C181-E57C1140EF09}"/>
              </a:ext>
            </a:extLst>
          </p:cNvPr>
          <p:cNvCxnSpPr>
            <a:cxnSpLocks/>
            <a:stCxn id="11" idx="3"/>
            <a:endCxn id="89" idx="7"/>
          </p:cNvCxnSpPr>
          <p:nvPr/>
        </p:nvCxnSpPr>
        <p:spPr>
          <a:xfrm flipH="1">
            <a:off x="2181714" y="3747609"/>
            <a:ext cx="323553" cy="2948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4721E3E0-DD0D-EDC3-FAF5-58BAEE60C8C5}"/>
              </a:ext>
            </a:extLst>
          </p:cNvPr>
          <p:cNvSpPr txBox="1"/>
          <p:nvPr/>
        </p:nvSpPr>
        <p:spPr>
          <a:xfrm>
            <a:off x="5301338" y="3238091"/>
            <a:ext cx="485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Traversals never visit the same node twice.</a:t>
            </a:r>
          </a:p>
        </p:txBody>
      </p:sp>
    </p:spTree>
    <p:extLst>
      <p:ext uri="{BB962C8B-B14F-4D97-AF65-F5344CB8AC3E}">
        <p14:creationId xmlns:p14="http://schemas.microsoft.com/office/powerpoint/2010/main" val="352941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2C715-C983-EBE7-6BEB-CF0CD917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AA3951-0147-434D-E2FF-80C3D12AF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476"/>
            <a:ext cx="3432312" cy="5745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C40FBC-28C2-D36E-220C-892B28649478}"/>
              </a:ext>
            </a:extLst>
          </p:cNvPr>
          <p:cNvSpPr txBox="1"/>
          <p:nvPr/>
        </p:nvSpPr>
        <p:spPr>
          <a:xfrm>
            <a:off x="3551583" y="1176649"/>
            <a:ext cx="721658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Traversal:</a:t>
            </a:r>
          </a:p>
          <a:p>
            <a:r>
              <a:rPr lang="pt-BR" sz="2800" dirty="0"/>
              <a:t>       B → </a:t>
            </a:r>
          </a:p>
          <a:p>
            <a:r>
              <a:rPr lang="pt-BR" sz="2800" dirty="0"/>
              <a:t>               J → I → F →</a:t>
            </a:r>
          </a:p>
          <a:p>
            <a:r>
              <a:rPr lang="pt-BR" sz="2800" dirty="0"/>
              <a:t>                                     H → G →  </a:t>
            </a:r>
          </a:p>
          <a:p>
            <a:r>
              <a:rPr lang="pt-BR" sz="2800" dirty="0"/>
              <a:t>                                                       E → C → </a:t>
            </a:r>
          </a:p>
          <a:p>
            <a:r>
              <a:rPr lang="pt-BR" sz="2800" dirty="0"/>
              <a:t>                                                                        D → </a:t>
            </a:r>
          </a:p>
          <a:p>
            <a:r>
              <a:rPr lang="pt-BR" sz="2800" dirty="0"/>
              <a:t>                                                                                  A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71FBC-3F19-ED47-5372-BFA99675B939}"/>
              </a:ext>
            </a:extLst>
          </p:cNvPr>
          <p:cNvSpPr txBox="1"/>
          <p:nvPr/>
        </p:nvSpPr>
        <p:spPr>
          <a:xfrm>
            <a:off x="3582668" y="3298843"/>
            <a:ext cx="86093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Visit children</a:t>
            </a:r>
          </a:p>
          <a:p>
            <a:r>
              <a:rPr lang="en-US" sz="2400" b="1" dirty="0"/>
              <a:t>               bottom-up </a:t>
            </a:r>
          </a:p>
          <a:p>
            <a:r>
              <a:rPr lang="en-US" sz="2400" b="1" dirty="0"/>
              <a:t>                            left to right, </a:t>
            </a:r>
          </a:p>
          <a:p>
            <a:r>
              <a:rPr lang="en-US" sz="2400" b="1" dirty="0"/>
              <a:t>                                            then parent</a:t>
            </a:r>
          </a:p>
          <a:p>
            <a:endParaRPr lang="en-US" sz="2400" b="1" dirty="0"/>
          </a:p>
          <a:p>
            <a:r>
              <a:rPr lang="en-US" sz="2000" b="1" dirty="0"/>
              <a:t>Think: Parents as operations,</a:t>
            </a:r>
          </a:p>
          <a:p>
            <a:r>
              <a:rPr lang="en-US" sz="2000" b="1" dirty="0"/>
              <a:t>    left and right children are operands which must appear first</a:t>
            </a:r>
            <a:r>
              <a:rPr lang="en-US" sz="1200" b="1" dirty="0"/>
              <a:t>.</a:t>
            </a:r>
          </a:p>
          <a:p>
            <a:endParaRPr lang="en-US" sz="1200" b="1" dirty="0"/>
          </a:p>
          <a:p>
            <a:r>
              <a:rPr lang="en-US" sz="2000" b="1" dirty="0"/>
              <a:t>Reverse Polish (Postfix) Notation </a:t>
            </a:r>
            <a:r>
              <a:rPr lang="en-US" sz="2000" b="1" dirty="0" err="1"/>
              <a:t>ia</a:t>
            </a:r>
            <a:r>
              <a:rPr lang="en-US" sz="2000" b="1" dirty="0"/>
              <a:t> an example of post-order traversal </a:t>
            </a:r>
            <a:endParaRPr lang="en-US" sz="20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F65418C-D993-21E4-7ED1-E8372D81F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407" y="0"/>
            <a:ext cx="8483974" cy="1045110"/>
          </a:xfrm>
        </p:spPr>
        <p:txBody>
          <a:bodyPr>
            <a:normAutofit/>
          </a:bodyPr>
          <a:lstStyle/>
          <a:p>
            <a:r>
              <a:rPr lang="en-US" sz="4000" b="1" dirty="0"/>
              <a:t>Postfix Order Traversal : An Example</a:t>
            </a:r>
          </a:p>
        </p:txBody>
      </p:sp>
    </p:spTree>
    <p:extLst>
      <p:ext uri="{BB962C8B-B14F-4D97-AF65-F5344CB8AC3E}">
        <p14:creationId xmlns:p14="http://schemas.microsoft.com/office/powerpoint/2010/main" val="1560238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BC30-E355-994F-9124-9AABF2C53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406" r="4479" b="8352"/>
          <a:stretch/>
        </p:blipFill>
        <p:spPr>
          <a:xfrm>
            <a:off x="6327648" y="3987975"/>
            <a:ext cx="5665466" cy="2202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26ADA-331A-7A44-9C52-9B5C4D1EB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3DBDE0-AF1F-7F46-9DD7-98AA6D57EE3C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81C74C-7CC7-A344-9B20-E535D9497129}"/>
              </a:ext>
            </a:extLst>
          </p:cNvPr>
          <p:cNvSpPr txBox="1"/>
          <p:nvPr/>
        </p:nvSpPr>
        <p:spPr>
          <a:xfrm>
            <a:off x="8298648" y="6308209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Also a valid derivation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1C6949-1EC6-7A43-BE4A-25A3D52F8645}"/>
              </a:ext>
            </a:extLst>
          </p:cNvPr>
          <p:cNvSpPr txBox="1"/>
          <p:nvPr/>
        </p:nvSpPr>
        <p:spPr>
          <a:xfrm>
            <a:off x="381070" y="2037218"/>
            <a:ext cx="10528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Encoding meaning into structure can result in very different programs</a:t>
            </a:r>
          </a:p>
        </p:txBody>
      </p:sp>
    </p:spTree>
    <p:extLst>
      <p:ext uri="{BB962C8B-B14F-4D97-AF65-F5344CB8AC3E}">
        <p14:creationId xmlns:p14="http://schemas.microsoft.com/office/powerpoint/2010/main" val="2348603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A923-0834-AA46-AC5E-5E0B2AA3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CE95CD-ACA3-9740-B0FD-FDCCEACF65BF}"/>
              </a:ext>
            </a:extLst>
          </p:cNvPr>
          <p:cNvSpPr/>
          <p:nvPr/>
        </p:nvSpPr>
        <p:spPr>
          <a:xfrm>
            <a:off x="3404616" y="1796671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1; //true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0; //false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0;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(x)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(y)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pass();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check0 = 1;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1D824B-10BA-964B-88A6-3B8FD74D22C9}"/>
              </a:ext>
            </a:extLst>
          </p:cNvPr>
          <p:cNvSpPr txBox="1"/>
          <p:nvPr/>
        </p:nvSpPr>
        <p:spPr>
          <a:xfrm>
            <a:off x="2468880" y="5202936"/>
            <a:ext cx="4772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 quiz: what is the value of check0 at the end?</a:t>
            </a:r>
          </a:p>
        </p:txBody>
      </p:sp>
    </p:spTree>
    <p:extLst>
      <p:ext uri="{BB962C8B-B14F-4D97-AF65-F5344CB8AC3E}">
        <p14:creationId xmlns:p14="http://schemas.microsoft.com/office/powerpoint/2010/main" val="1070040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A923-0834-AA46-AC5E-5E0B2AA3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structure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1D824B-10BA-964B-88A6-3B8FD74D22C9}"/>
              </a:ext>
            </a:extLst>
          </p:cNvPr>
          <p:cNvSpPr txBox="1"/>
          <p:nvPr/>
        </p:nvSpPr>
        <p:spPr>
          <a:xfrm>
            <a:off x="1054007" y="6308208"/>
            <a:ext cx="3036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does Python handle this?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8DD96-650D-EC41-93DE-9A61F7F69E37}"/>
              </a:ext>
            </a:extLst>
          </p:cNvPr>
          <p:cNvSpPr/>
          <p:nvPr/>
        </p:nvSpPr>
        <p:spPr>
          <a:xfrm>
            <a:off x="1042416" y="189323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(x):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(y):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(check0)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057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A923-0834-AA46-AC5E-5E0B2AA3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structure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1D824B-10BA-964B-88A6-3B8FD74D22C9}"/>
              </a:ext>
            </a:extLst>
          </p:cNvPr>
          <p:cNvSpPr txBox="1"/>
          <p:nvPr/>
        </p:nvSpPr>
        <p:spPr>
          <a:xfrm>
            <a:off x="1054007" y="6308208"/>
            <a:ext cx="3036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does Python handle this?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8DD96-650D-EC41-93DE-9A61F7F69E37}"/>
              </a:ext>
            </a:extLst>
          </p:cNvPr>
          <p:cNvSpPr/>
          <p:nvPr/>
        </p:nvSpPr>
        <p:spPr>
          <a:xfrm>
            <a:off x="1042416" y="189323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(x):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(y):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(check0)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386D56-B8B8-6B45-94E8-293913FAA331}"/>
              </a:ext>
            </a:extLst>
          </p:cNvPr>
          <p:cNvSpPr/>
          <p:nvPr/>
        </p:nvSpPr>
        <p:spPr>
          <a:xfrm>
            <a:off x="7693152" y="1708548"/>
            <a:ext cx="318820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(x):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(y):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(check0)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F078F-629C-FF42-B3A6-E9DCAE24B57E}"/>
              </a:ext>
            </a:extLst>
          </p:cNvPr>
          <p:cNvSpPr txBox="1"/>
          <p:nvPr/>
        </p:nvSpPr>
        <p:spPr>
          <a:xfrm>
            <a:off x="6866543" y="5985042"/>
            <a:ext cx="4657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Invalid syntax, you need to indent, which makes</a:t>
            </a:r>
            <a:br>
              <a:rPr lang="en-US" dirty="0"/>
            </a:br>
            <a:r>
              <a:rPr lang="en-US" dirty="0"/>
              <a:t>it clear</a:t>
            </a:r>
          </a:p>
        </p:txBody>
      </p:sp>
    </p:spTree>
    <p:extLst>
      <p:ext uri="{BB962C8B-B14F-4D97-AF65-F5344CB8AC3E}">
        <p14:creationId xmlns:p14="http://schemas.microsoft.com/office/powerpoint/2010/main" val="2921293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74" y="0"/>
            <a:ext cx="10515600" cy="1325563"/>
          </a:xfrm>
        </p:spPr>
        <p:txBody>
          <a:bodyPr/>
          <a:lstStyle/>
          <a:p>
            <a:r>
              <a:rPr lang="en-US" dirty="0"/>
              <a:t>Ambiguous expressions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FB140A-8CB5-D443-A901-D8A848887F1A}"/>
              </a:ext>
            </a:extLst>
          </p:cNvPr>
          <p:cNvSpPr txBox="1">
            <a:spLocks/>
          </p:cNvSpPr>
          <p:nvPr/>
        </p:nvSpPr>
        <p:spPr>
          <a:xfrm>
            <a:off x="812074" y="1530555"/>
            <a:ext cx="10515600" cy="50246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First lets define tokens:</a:t>
            </a:r>
            <a:br>
              <a:rPr lang="en-US" dirty="0"/>
            </a:br>
            <a:r>
              <a:rPr lang="en-US" sz="900" dirty="0"/>
              <a:t> </a:t>
            </a:r>
            <a:endParaRPr lang="en-US" sz="1000" dirty="0"/>
          </a:p>
          <a:p>
            <a:pPr lvl="1"/>
            <a:r>
              <a:rPr lang="en-US" dirty="0">
                <a:latin typeface="Courier" pitchFamily="2" charset="0"/>
              </a:rPr>
              <a:t>NUM = ”[0-9]+”</a:t>
            </a:r>
          </a:p>
          <a:p>
            <a:pPr lvl="1"/>
            <a:r>
              <a:rPr lang="en-US" dirty="0">
                <a:latin typeface="Courier" pitchFamily="2" charset="0"/>
              </a:rPr>
              <a:t>PLUS = ‘\+’</a:t>
            </a:r>
          </a:p>
          <a:p>
            <a:pPr lvl="1"/>
            <a:r>
              <a:rPr lang="en-US" dirty="0">
                <a:latin typeface="Courier" pitchFamily="2" charset="0"/>
              </a:rPr>
              <a:t>TIMES = ’\*’</a:t>
            </a:r>
          </a:p>
          <a:p>
            <a:pPr lvl="1"/>
            <a:r>
              <a:rPr lang="en-US" dirty="0">
                <a:latin typeface="Courier" pitchFamily="2" charset="0"/>
              </a:rPr>
              <a:t>LP = ‘\(’</a:t>
            </a:r>
          </a:p>
          <a:p>
            <a:pPr lvl="1"/>
            <a:r>
              <a:rPr lang="en-US" dirty="0">
                <a:latin typeface="Courier" pitchFamily="2" charset="0"/>
              </a:rPr>
              <a:t>RP = \)’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urier" pitchFamily="2" charset="0"/>
              </a:rPr>
              <a:t>Expr :== NUM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| LP Expr RP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EA4C9-C9BB-6A49-9EA1-8035844B2E65}"/>
              </a:ext>
            </a:extLst>
          </p:cNvPr>
          <p:cNvSpPr txBox="1"/>
          <p:nvPr/>
        </p:nvSpPr>
        <p:spPr>
          <a:xfrm>
            <a:off x="6069874" y="1968137"/>
            <a:ext cx="4002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Lets define a simple expression language</a:t>
            </a:r>
          </a:p>
        </p:txBody>
      </p:sp>
    </p:spTree>
    <p:extLst>
      <p:ext uri="{BB962C8B-B14F-4D97-AF65-F5344CB8AC3E}">
        <p14:creationId xmlns:p14="http://schemas.microsoft.com/office/powerpoint/2010/main" val="3732999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36153F6-347B-B24A-947D-5538BFBD9E75}"/>
              </a:ext>
            </a:extLst>
          </p:cNvPr>
          <p:cNvSpPr txBox="1"/>
          <p:nvPr/>
        </p:nvSpPr>
        <p:spPr>
          <a:xfrm>
            <a:off x="7982465" y="299003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1081947-D9AE-8547-82EB-3025A774AF02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753869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</p:cNvCxnSpPr>
          <p:nvPr/>
        </p:nvCxnSpPr>
        <p:spPr>
          <a:xfrm>
            <a:off x="8611267" y="4213808"/>
            <a:ext cx="0" cy="641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CA9870-EADA-E843-AAA1-5944386C1583}"/>
              </a:ext>
            </a:extLst>
          </p:cNvPr>
          <p:cNvSpPr txBox="1"/>
          <p:nvPr/>
        </p:nvSpPr>
        <p:spPr>
          <a:xfrm>
            <a:off x="8042842" y="486582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153F6-347B-B24A-947D-5538BFBD9E75}"/>
              </a:ext>
            </a:extLst>
          </p:cNvPr>
          <p:cNvSpPr txBox="1"/>
          <p:nvPr/>
        </p:nvSpPr>
        <p:spPr>
          <a:xfrm>
            <a:off x="7982465" y="299003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0CF4B98-C770-0B41-9B89-C082E082D43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024433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5*6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733FBD-D5E6-C944-BEC7-8D0594914478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303511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5*6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D0CAFE-3EA8-AF4B-93F5-BF4677AEF00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646459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386894" y="42138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0D8A41-2245-E242-8D41-9562DD928834}"/>
              </a:ext>
            </a:extLst>
          </p:cNvPr>
          <p:cNvSpPr txBox="1"/>
          <p:nvPr/>
        </p:nvSpPr>
        <p:spPr>
          <a:xfrm>
            <a:off x="7087902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127C-A983-F04C-9C46-031555DF1C7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E46C89-9597-A14F-B77F-A58DFB112A10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8611267" y="42138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5C4C8F-0207-D442-BE44-1EED2F41E3B7}"/>
              </a:ext>
            </a:extLst>
          </p:cNvPr>
          <p:cNvSpPr txBox="1"/>
          <p:nvPr/>
        </p:nvSpPr>
        <p:spPr>
          <a:xfrm>
            <a:off x="8112092" y="472283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186A24-AEE9-804E-B514-7522889CE1C6}"/>
              </a:ext>
            </a:extLst>
          </p:cNvPr>
          <p:cNvSpPr txBox="1"/>
          <p:nvPr/>
        </p:nvSpPr>
        <p:spPr>
          <a:xfrm>
            <a:off x="9409434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9A73C6B-B655-6643-A3CA-7ED809B8A8A0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779057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386894" y="42138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CA9870-EADA-E843-AAA1-5944386C1583}"/>
              </a:ext>
            </a:extLst>
          </p:cNvPr>
          <p:cNvSpPr txBox="1"/>
          <p:nvPr/>
        </p:nvSpPr>
        <p:spPr>
          <a:xfrm>
            <a:off x="6808839" y="552766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D8A41-2245-E242-8D41-9562DD928834}"/>
              </a:ext>
            </a:extLst>
          </p:cNvPr>
          <p:cNvSpPr txBox="1"/>
          <p:nvPr/>
        </p:nvSpPr>
        <p:spPr>
          <a:xfrm>
            <a:off x="7087902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127C-A983-F04C-9C46-031555DF1C7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E46C89-9597-A14F-B77F-A58DFB112A10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8611267" y="42138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058087E-A6F1-B240-B47D-E17FCAEF59C0}"/>
              </a:ext>
            </a:extLst>
          </p:cNvPr>
          <p:cNvSpPr txBox="1"/>
          <p:nvPr/>
        </p:nvSpPr>
        <p:spPr>
          <a:xfrm>
            <a:off x="9159846" y="552666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5C4C8F-0207-D442-BE44-1EED2F41E3B7}"/>
              </a:ext>
            </a:extLst>
          </p:cNvPr>
          <p:cNvSpPr txBox="1"/>
          <p:nvPr/>
        </p:nvSpPr>
        <p:spPr>
          <a:xfrm>
            <a:off x="8112092" y="472283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186A24-AEE9-804E-B514-7522889CE1C6}"/>
              </a:ext>
            </a:extLst>
          </p:cNvPr>
          <p:cNvSpPr txBox="1"/>
          <p:nvPr/>
        </p:nvSpPr>
        <p:spPr>
          <a:xfrm>
            <a:off x="9409434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623837-D8C3-2641-82CB-E92A04939DA5}"/>
              </a:ext>
            </a:extLst>
          </p:cNvPr>
          <p:cNvCxnSpPr>
            <a:cxnSpLocks/>
          </p:cNvCxnSpPr>
          <p:nvPr/>
        </p:nvCxnSpPr>
        <p:spPr>
          <a:xfrm>
            <a:off x="7377264" y="504155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43429BD-BA29-2246-82F8-D2BA8FCE0FA5}"/>
              </a:ext>
            </a:extLst>
          </p:cNvPr>
          <p:cNvCxnSpPr>
            <a:cxnSpLocks/>
          </p:cNvCxnSpPr>
          <p:nvPr/>
        </p:nvCxnSpPr>
        <p:spPr>
          <a:xfrm>
            <a:off x="9708426" y="505826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8512133-7B6F-0644-B9F8-6AA33EB569C3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095581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5**6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8B602-BDE3-F94D-A428-492444E578F2}"/>
              </a:ext>
            </a:extLst>
          </p:cNvPr>
          <p:cNvSpPr txBox="1"/>
          <p:nvPr/>
        </p:nvSpPr>
        <p:spPr>
          <a:xfrm>
            <a:off x="10206681" y="3336324"/>
            <a:ext cx="1553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</a:t>
            </a:r>
            <a:br>
              <a:rPr lang="en-US" dirty="0"/>
            </a:br>
            <a:r>
              <a:rPr lang="en-US" dirty="0"/>
              <a:t>in an error?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E3E2233-085D-3C47-9EDD-D6602A0D7BBB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745280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386894" y="42138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0D8A41-2245-E242-8D41-9562DD928834}"/>
              </a:ext>
            </a:extLst>
          </p:cNvPr>
          <p:cNvSpPr txBox="1"/>
          <p:nvPr/>
        </p:nvSpPr>
        <p:spPr>
          <a:xfrm>
            <a:off x="7087902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127C-A983-F04C-9C46-031555DF1C7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E46C89-9597-A14F-B77F-A58DFB112A10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8611267" y="42138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5C4C8F-0207-D442-BE44-1EED2F41E3B7}"/>
              </a:ext>
            </a:extLst>
          </p:cNvPr>
          <p:cNvSpPr txBox="1"/>
          <p:nvPr/>
        </p:nvSpPr>
        <p:spPr>
          <a:xfrm>
            <a:off x="8112092" y="472283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5**6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186A24-AEE9-804E-B514-7522889CE1C6}"/>
              </a:ext>
            </a:extLst>
          </p:cNvPr>
          <p:cNvSpPr txBox="1"/>
          <p:nvPr/>
        </p:nvSpPr>
        <p:spPr>
          <a:xfrm>
            <a:off x="9409434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8FA7A3-8CB7-124A-92C9-1172E76F1DF5}"/>
              </a:ext>
            </a:extLst>
          </p:cNvPr>
          <p:cNvSpPr txBox="1"/>
          <p:nvPr/>
        </p:nvSpPr>
        <p:spPr>
          <a:xfrm>
            <a:off x="10206681" y="3336324"/>
            <a:ext cx="1553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</a:t>
            </a:r>
            <a:br>
              <a:rPr lang="en-US" dirty="0"/>
            </a:br>
            <a:r>
              <a:rPr lang="en-US" dirty="0"/>
              <a:t>in an error?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A761EB1-49D6-7C41-8B40-09621FB535B8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458774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386894" y="42138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CA9870-EADA-E843-AAA1-5944386C1583}"/>
              </a:ext>
            </a:extLst>
          </p:cNvPr>
          <p:cNvSpPr txBox="1"/>
          <p:nvPr/>
        </p:nvSpPr>
        <p:spPr>
          <a:xfrm>
            <a:off x="7079078" y="5527888"/>
            <a:ext cx="1011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&lt;TIMES&gt;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D8A41-2245-E242-8D41-9562DD928834}"/>
              </a:ext>
            </a:extLst>
          </p:cNvPr>
          <p:cNvSpPr txBox="1"/>
          <p:nvPr/>
        </p:nvSpPr>
        <p:spPr>
          <a:xfrm>
            <a:off x="7087902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127C-A983-F04C-9C46-031555DF1C7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E46C89-9597-A14F-B77F-A58DFB112A10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8611267" y="42138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058087E-A6F1-B240-B47D-E17FCAEF59C0}"/>
              </a:ext>
            </a:extLst>
          </p:cNvPr>
          <p:cNvSpPr txBox="1"/>
          <p:nvPr/>
        </p:nvSpPr>
        <p:spPr>
          <a:xfrm>
            <a:off x="9159846" y="552666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5C4C8F-0207-D442-BE44-1EED2F41E3B7}"/>
              </a:ext>
            </a:extLst>
          </p:cNvPr>
          <p:cNvSpPr txBox="1"/>
          <p:nvPr/>
        </p:nvSpPr>
        <p:spPr>
          <a:xfrm>
            <a:off x="8112092" y="472283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5**6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186A24-AEE9-804E-B514-7522889CE1C6}"/>
              </a:ext>
            </a:extLst>
          </p:cNvPr>
          <p:cNvSpPr txBox="1"/>
          <p:nvPr/>
        </p:nvSpPr>
        <p:spPr>
          <a:xfrm>
            <a:off x="9409434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623837-D8C3-2641-82CB-E92A04939DA5}"/>
              </a:ext>
            </a:extLst>
          </p:cNvPr>
          <p:cNvCxnSpPr>
            <a:cxnSpLocks/>
          </p:cNvCxnSpPr>
          <p:nvPr/>
        </p:nvCxnSpPr>
        <p:spPr>
          <a:xfrm>
            <a:off x="7377264" y="5041558"/>
            <a:ext cx="166403" cy="3583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43429BD-BA29-2246-82F8-D2BA8FCE0FA5}"/>
              </a:ext>
            </a:extLst>
          </p:cNvPr>
          <p:cNvCxnSpPr>
            <a:cxnSpLocks/>
          </p:cNvCxnSpPr>
          <p:nvPr/>
        </p:nvCxnSpPr>
        <p:spPr>
          <a:xfrm>
            <a:off x="9708426" y="505826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F83BBB-D175-B141-8465-F6BC64916652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711389" y="5041558"/>
            <a:ext cx="675505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D82C45F-E3A7-6743-8269-97A48E47547F}"/>
              </a:ext>
            </a:extLst>
          </p:cNvPr>
          <p:cNvSpPr txBox="1"/>
          <p:nvPr/>
        </p:nvSpPr>
        <p:spPr>
          <a:xfrm>
            <a:off x="5996660" y="552666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31FEB3-D759-E34E-8F9F-CC94B8486E0E}"/>
              </a:ext>
            </a:extLst>
          </p:cNvPr>
          <p:cNvSpPr txBox="1"/>
          <p:nvPr/>
        </p:nvSpPr>
        <p:spPr>
          <a:xfrm>
            <a:off x="7327557" y="6203092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possible!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39D555-A499-C24B-960E-256BF89118A1}"/>
              </a:ext>
            </a:extLst>
          </p:cNvPr>
          <p:cNvSpPr txBox="1"/>
          <p:nvPr/>
        </p:nvSpPr>
        <p:spPr>
          <a:xfrm>
            <a:off x="10206681" y="3336324"/>
            <a:ext cx="1553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</a:t>
            </a:r>
            <a:br>
              <a:rPr lang="en-US" dirty="0"/>
            </a:br>
            <a:r>
              <a:rPr lang="en-US" dirty="0"/>
              <a:t>in an error?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E54E0EE-4065-164C-A908-8A2D737A4044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1462221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9D3F17-5BD9-C249-AB31-B4186A52A3E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1008713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7EA6-E712-EA4C-AC9A-2B85E491F6F4}"/>
              </a:ext>
            </a:extLst>
          </p:cNvPr>
          <p:cNvSpPr txBox="1"/>
          <p:nvPr/>
        </p:nvSpPr>
        <p:spPr>
          <a:xfrm>
            <a:off x="8590423" y="35370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08B4CE-2C22-9145-850C-94D35749C6DE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1989738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7EA6-E712-EA4C-AC9A-2B85E491F6F4}"/>
              </a:ext>
            </a:extLst>
          </p:cNvPr>
          <p:cNvSpPr txBox="1"/>
          <p:nvPr/>
        </p:nvSpPr>
        <p:spPr>
          <a:xfrm>
            <a:off x="8590423" y="35370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6ED57-413F-C643-8247-291A5F45E4A9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7625224" y="398463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B81EE5-1C22-3B47-9ED9-AFDED17F1F33}"/>
              </a:ext>
            </a:extLst>
          </p:cNvPr>
          <p:cNvSpPr txBox="1"/>
          <p:nvPr/>
        </p:nvSpPr>
        <p:spPr>
          <a:xfrm>
            <a:off x="7326232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C68B29-7B4A-0C4A-B5EB-BBD392AEA931}"/>
              </a:ext>
            </a:extLst>
          </p:cNvPr>
          <p:cNvCxnSpPr>
            <a:cxnSpLocks/>
          </p:cNvCxnSpPr>
          <p:nvPr/>
        </p:nvCxnSpPr>
        <p:spPr>
          <a:xfrm>
            <a:off x="8849597" y="398463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DEC6BD-BDD7-7044-8D7A-10A5BAE9E6E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849597" y="398463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9F12CD-CB05-974C-898D-D404B91E700C}"/>
              </a:ext>
            </a:extLst>
          </p:cNvPr>
          <p:cNvSpPr txBox="1"/>
          <p:nvPr/>
        </p:nvSpPr>
        <p:spPr>
          <a:xfrm>
            <a:off x="8350422" y="449366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D7CC-EB91-C34E-A696-DE13C7D5E3F4}"/>
              </a:ext>
            </a:extLst>
          </p:cNvPr>
          <p:cNvSpPr txBox="1"/>
          <p:nvPr/>
        </p:nvSpPr>
        <p:spPr>
          <a:xfrm>
            <a:off x="9647764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948A115-2612-144C-B97A-0413F239A853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297596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7EA6-E712-EA4C-AC9A-2B85E491F6F4}"/>
              </a:ext>
            </a:extLst>
          </p:cNvPr>
          <p:cNvSpPr txBox="1"/>
          <p:nvPr/>
        </p:nvSpPr>
        <p:spPr>
          <a:xfrm>
            <a:off x="8590423" y="35370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6ED57-413F-C643-8247-291A5F45E4A9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7625224" y="398463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B81EE5-1C22-3B47-9ED9-AFDED17F1F33}"/>
              </a:ext>
            </a:extLst>
          </p:cNvPr>
          <p:cNvSpPr txBox="1"/>
          <p:nvPr/>
        </p:nvSpPr>
        <p:spPr>
          <a:xfrm>
            <a:off x="7326232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C68B29-7B4A-0C4A-B5EB-BBD392AEA931}"/>
              </a:ext>
            </a:extLst>
          </p:cNvPr>
          <p:cNvCxnSpPr>
            <a:cxnSpLocks/>
          </p:cNvCxnSpPr>
          <p:nvPr/>
        </p:nvCxnSpPr>
        <p:spPr>
          <a:xfrm>
            <a:off x="8849597" y="398463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DEC6BD-BDD7-7044-8D7A-10A5BAE9E6E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849597" y="398463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9F12CD-CB05-974C-898D-D404B91E700C}"/>
              </a:ext>
            </a:extLst>
          </p:cNvPr>
          <p:cNvSpPr txBox="1"/>
          <p:nvPr/>
        </p:nvSpPr>
        <p:spPr>
          <a:xfrm>
            <a:off x="8350422" y="449366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D7CC-EB91-C34E-A696-DE13C7D5E3F4}"/>
              </a:ext>
            </a:extLst>
          </p:cNvPr>
          <p:cNvSpPr txBox="1"/>
          <p:nvPr/>
        </p:nvSpPr>
        <p:spPr>
          <a:xfrm>
            <a:off x="9647764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56AC1-B684-7448-B2B3-8760BDCAB790}"/>
              </a:ext>
            </a:extLst>
          </p:cNvPr>
          <p:cNvSpPr txBox="1"/>
          <p:nvPr/>
        </p:nvSpPr>
        <p:spPr>
          <a:xfrm>
            <a:off x="9378331" y="527080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666FC4-ECD5-EF42-9F14-320643B07C75}"/>
              </a:ext>
            </a:extLst>
          </p:cNvPr>
          <p:cNvCxnSpPr>
            <a:cxnSpLocks/>
          </p:cNvCxnSpPr>
          <p:nvPr/>
        </p:nvCxnSpPr>
        <p:spPr>
          <a:xfrm>
            <a:off x="9926911" y="480239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54CCB14-F5C4-1445-AFCE-747F7C3E92E6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391074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7EA6-E712-EA4C-AC9A-2B85E491F6F4}"/>
              </a:ext>
            </a:extLst>
          </p:cNvPr>
          <p:cNvSpPr txBox="1"/>
          <p:nvPr/>
        </p:nvSpPr>
        <p:spPr>
          <a:xfrm>
            <a:off x="8590423" y="35370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6ED57-413F-C643-8247-291A5F45E4A9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7625224" y="398463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B81EE5-1C22-3B47-9ED9-AFDED17F1F33}"/>
              </a:ext>
            </a:extLst>
          </p:cNvPr>
          <p:cNvSpPr txBox="1"/>
          <p:nvPr/>
        </p:nvSpPr>
        <p:spPr>
          <a:xfrm>
            <a:off x="7326232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C68B29-7B4A-0C4A-B5EB-BBD392AEA931}"/>
              </a:ext>
            </a:extLst>
          </p:cNvPr>
          <p:cNvCxnSpPr>
            <a:cxnSpLocks/>
          </p:cNvCxnSpPr>
          <p:nvPr/>
        </p:nvCxnSpPr>
        <p:spPr>
          <a:xfrm>
            <a:off x="8849597" y="398463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DEC6BD-BDD7-7044-8D7A-10A5BAE9E6E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849597" y="398463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9F12CD-CB05-974C-898D-D404B91E700C}"/>
              </a:ext>
            </a:extLst>
          </p:cNvPr>
          <p:cNvSpPr txBox="1"/>
          <p:nvPr/>
        </p:nvSpPr>
        <p:spPr>
          <a:xfrm>
            <a:off x="8350422" y="449366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D7CC-EB91-C34E-A696-DE13C7D5E3F4}"/>
              </a:ext>
            </a:extLst>
          </p:cNvPr>
          <p:cNvSpPr txBox="1"/>
          <p:nvPr/>
        </p:nvSpPr>
        <p:spPr>
          <a:xfrm>
            <a:off x="9647764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56AC1-B684-7448-B2B3-8760BDCAB790}"/>
              </a:ext>
            </a:extLst>
          </p:cNvPr>
          <p:cNvSpPr txBox="1"/>
          <p:nvPr/>
        </p:nvSpPr>
        <p:spPr>
          <a:xfrm>
            <a:off x="9378331" y="527080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666FC4-ECD5-EF42-9F14-320643B07C75}"/>
              </a:ext>
            </a:extLst>
          </p:cNvPr>
          <p:cNvCxnSpPr>
            <a:cxnSpLocks/>
          </p:cNvCxnSpPr>
          <p:nvPr/>
        </p:nvCxnSpPr>
        <p:spPr>
          <a:xfrm>
            <a:off x="9926911" y="480239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C061F5-5125-3E47-B36E-D8BC92F3DE47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 flipH="1">
            <a:off x="6590729" y="4812387"/>
            <a:ext cx="1034495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E70F75-4D14-6449-9405-F6B8EDDD7D4A}"/>
              </a:ext>
            </a:extLst>
          </p:cNvPr>
          <p:cNvSpPr txBox="1"/>
          <p:nvPr/>
        </p:nvSpPr>
        <p:spPr>
          <a:xfrm>
            <a:off x="6023586" y="5203264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&lt;LPAREN&gt;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FE9DAB-2019-3143-A649-4B69451F966A}"/>
              </a:ext>
            </a:extLst>
          </p:cNvPr>
          <p:cNvSpPr txBox="1"/>
          <p:nvPr/>
        </p:nvSpPr>
        <p:spPr>
          <a:xfrm>
            <a:off x="7969836" y="5203264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&lt;RPAREN&gt;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00D8DF-8651-3C41-B87F-DE09AC932F8E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>
            <a:off x="7625224" y="4812387"/>
            <a:ext cx="92538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53EB43-4EA6-5D49-A1B8-04AFDA0EC4E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625224" y="4812387"/>
            <a:ext cx="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B11B93-7072-8B4F-92A3-2CD936B51387}"/>
              </a:ext>
            </a:extLst>
          </p:cNvPr>
          <p:cNvSpPr txBox="1"/>
          <p:nvPr/>
        </p:nvSpPr>
        <p:spPr>
          <a:xfrm>
            <a:off x="7326231" y="521539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7373EB-9A2E-8B44-A41D-EF526024CBD6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6084347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7EA6-E712-EA4C-AC9A-2B85E491F6F4}"/>
              </a:ext>
            </a:extLst>
          </p:cNvPr>
          <p:cNvSpPr txBox="1"/>
          <p:nvPr/>
        </p:nvSpPr>
        <p:spPr>
          <a:xfrm>
            <a:off x="8590423" y="35370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6ED57-413F-C643-8247-291A5F45E4A9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7625224" y="398463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B81EE5-1C22-3B47-9ED9-AFDED17F1F33}"/>
              </a:ext>
            </a:extLst>
          </p:cNvPr>
          <p:cNvSpPr txBox="1"/>
          <p:nvPr/>
        </p:nvSpPr>
        <p:spPr>
          <a:xfrm>
            <a:off x="7326232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C68B29-7B4A-0C4A-B5EB-BBD392AEA931}"/>
              </a:ext>
            </a:extLst>
          </p:cNvPr>
          <p:cNvCxnSpPr>
            <a:cxnSpLocks/>
          </p:cNvCxnSpPr>
          <p:nvPr/>
        </p:nvCxnSpPr>
        <p:spPr>
          <a:xfrm>
            <a:off x="8849597" y="398463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DEC6BD-BDD7-7044-8D7A-10A5BAE9E6E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849597" y="398463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9F12CD-CB05-974C-898D-D404B91E700C}"/>
              </a:ext>
            </a:extLst>
          </p:cNvPr>
          <p:cNvSpPr txBox="1"/>
          <p:nvPr/>
        </p:nvSpPr>
        <p:spPr>
          <a:xfrm>
            <a:off x="8350422" y="449366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D7CC-EB91-C34E-A696-DE13C7D5E3F4}"/>
              </a:ext>
            </a:extLst>
          </p:cNvPr>
          <p:cNvSpPr txBox="1"/>
          <p:nvPr/>
        </p:nvSpPr>
        <p:spPr>
          <a:xfrm>
            <a:off x="9647764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56AC1-B684-7448-B2B3-8760BDCAB790}"/>
              </a:ext>
            </a:extLst>
          </p:cNvPr>
          <p:cNvSpPr txBox="1"/>
          <p:nvPr/>
        </p:nvSpPr>
        <p:spPr>
          <a:xfrm>
            <a:off x="9378331" y="527080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666FC4-ECD5-EF42-9F14-320643B07C75}"/>
              </a:ext>
            </a:extLst>
          </p:cNvPr>
          <p:cNvCxnSpPr>
            <a:cxnSpLocks/>
          </p:cNvCxnSpPr>
          <p:nvPr/>
        </p:nvCxnSpPr>
        <p:spPr>
          <a:xfrm>
            <a:off x="9926911" y="480239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C061F5-5125-3E47-B36E-D8BC92F3DE47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 flipH="1">
            <a:off x="6590729" y="4812387"/>
            <a:ext cx="1034495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E70F75-4D14-6449-9405-F6B8EDDD7D4A}"/>
              </a:ext>
            </a:extLst>
          </p:cNvPr>
          <p:cNvSpPr txBox="1"/>
          <p:nvPr/>
        </p:nvSpPr>
        <p:spPr>
          <a:xfrm>
            <a:off x="6023586" y="5203264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&lt;LPAREN&gt;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FE9DAB-2019-3143-A649-4B69451F966A}"/>
              </a:ext>
            </a:extLst>
          </p:cNvPr>
          <p:cNvSpPr txBox="1"/>
          <p:nvPr/>
        </p:nvSpPr>
        <p:spPr>
          <a:xfrm>
            <a:off x="7969836" y="5203264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&lt;RPAREN&gt;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00D8DF-8651-3C41-B87F-DE09AC932F8E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>
            <a:off x="7625224" y="4812387"/>
            <a:ext cx="92538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53EB43-4EA6-5D49-A1B8-04AFDA0EC4E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625224" y="4812387"/>
            <a:ext cx="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B11B93-7072-8B4F-92A3-2CD936B51387}"/>
              </a:ext>
            </a:extLst>
          </p:cNvPr>
          <p:cNvSpPr txBox="1"/>
          <p:nvPr/>
        </p:nvSpPr>
        <p:spPr>
          <a:xfrm>
            <a:off x="7326231" y="521539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269D6CE-9C33-2D4F-A545-D586A0B3CB48}"/>
              </a:ext>
            </a:extLst>
          </p:cNvPr>
          <p:cNvCxnSpPr>
            <a:cxnSpLocks/>
          </p:cNvCxnSpPr>
          <p:nvPr/>
        </p:nvCxnSpPr>
        <p:spPr>
          <a:xfrm flipH="1">
            <a:off x="6400851" y="55812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E51BEE-DCB7-5F4F-A7B5-6A6AE16A643A}"/>
              </a:ext>
            </a:extLst>
          </p:cNvPr>
          <p:cNvCxnSpPr>
            <a:cxnSpLocks/>
          </p:cNvCxnSpPr>
          <p:nvPr/>
        </p:nvCxnSpPr>
        <p:spPr>
          <a:xfrm>
            <a:off x="7625224" y="558128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BC4FE3-A121-2643-96B0-A1904DAAD31F}"/>
              </a:ext>
            </a:extLst>
          </p:cNvPr>
          <p:cNvCxnSpPr>
            <a:cxnSpLocks/>
          </p:cNvCxnSpPr>
          <p:nvPr/>
        </p:nvCxnSpPr>
        <p:spPr>
          <a:xfrm>
            <a:off x="7625224" y="55812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288074-6935-8843-B5E5-F5F477954FC7}"/>
              </a:ext>
            </a:extLst>
          </p:cNvPr>
          <p:cNvSpPr txBox="1"/>
          <p:nvPr/>
        </p:nvSpPr>
        <p:spPr>
          <a:xfrm>
            <a:off x="7167651" y="604838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4711D6-23AB-FF41-89F0-70EDB3EEAE2E}"/>
              </a:ext>
            </a:extLst>
          </p:cNvPr>
          <p:cNvSpPr txBox="1"/>
          <p:nvPr/>
        </p:nvSpPr>
        <p:spPr>
          <a:xfrm>
            <a:off x="6101859" y="601698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C4D564-4F2D-AA42-9408-7131461242E7}"/>
              </a:ext>
            </a:extLst>
          </p:cNvPr>
          <p:cNvSpPr txBox="1"/>
          <p:nvPr/>
        </p:nvSpPr>
        <p:spPr>
          <a:xfrm>
            <a:off x="8423391" y="601698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F73B1BB-821A-C04B-B705-E2BE15EE6EAD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436390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7EA6-E712-EA4C-AC9A-2B85E491F6F4}"/>
              </a:ext>
            </a:extLst>
          </p:cNvPr>
          <p:cNvSpPr txBox="1"/>
          <p:nvPr/>
        </p:nvSpPr>
        <p:spPr>
          <a:xfrm>
            <a:off x="8590423" y="35370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6ED57-413F-C643-8247-291A5F45E4A9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7625224" y="398463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B81EE5-1C22-3B47-9ED9-AFDED17F1F33}"/>
              </a:ext>
            </a:extLst>
          </p:cNvPr>
          <p:cNvSpPr txBox="1"/>
          <p:nvPr/>
        </p:nvSpPr>
        <p:spPr>
          <a:xfrm>
            <a:off x="7326232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C68B29-7B4A-0C4A-B5EB-BBD392AEA931}"/>
              </a:ext>
            </a:extLst>
          </p:cNvPr>
          <p:cNvCxnSpPr>
            <a:cxnSpLocks/>
          </p:cNvCxnSpPr>
          <p:nvPr/>
        </p:nvCxnSpPr>
        <p:spPr>
          <a:xfrm>
            <a:off x="8849597" y="398463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DEC6BD-BDD7-7044-8D7A-10A5BAE9E6E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849597" y="398463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9F12CD-CB05-974C-898D-D404B91E700C}"/>
              </a:ext>
            </a:extLst>
          </p:cNvPr>
          <p:cNvSpPr txBox="1"/>
          <p:nvPr/>
        </p:nvSpPr>
        <p:spPr>
          <a:xfrm>
            <a:off x="8350422" y="449366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D7CC-EB91-C34E-A696-DE13C7D5E3F4}"/>
              </a:ext>
            </a:extLst>
          </p:cNvPr>
          <p:cNvSpPr txBox="1"/>
          <p:nvPr/>
        </p:nvSpPr>
        <p:spPr>
          <a:xfrm>
            <a:off x="9647764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56AC1-B684-7448-B2B3-8760BDCAB790}"/>
              </a:ext>
            </a:extLst>
          </p:cNvPr>
          <p:cNvSpPr txBox="1"/>
          <p:nvPr/>
        </p:nvSpPr>
        <p:spPr>
          <a:xfrm>
            <a:off x="9378331" y="527080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666FC4-ECD5-EF42-9F14-320643B07C75}"/>
              </a:ext>
            </a:extLst>
          </p:cNvPr>
          <p:cNvCxnSpPr>
            <a:cxnSpLocks/>
          </p:cNvCxnSpPr>
          <p:nvPr/>
        </p:nvCxnSpPr>
        <p:spPr>
          <a:xfrm>
            <a:off x="9926911" y="480239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C061F5-5125-3E47-B36E-D8BC92F3DE47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 flipH="1">
            <a:off x="6590729" y="4812387"/>
            <a:ext cx="1034495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E70F75-4D14-6449-9405-F6B8EDDD7D4A}"/>
              </a:ext>
            </a:extLst>
          </p:cNvPr>
          <p:cNvSpPr txBox="1"/>
          <p:nvPr/>
        </p:nvSpPr>
        <p:spPr>
          <a:xfrm>
            <a:off x="6023586" y="5203264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&lt;LPAREN&gt;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FE9DAB-2019-3143-A649-4B69451F966A}"/>
              </a:ext>
            </a:extLst>
          </p:cNvPr>
          <p:cNvSpPr txBox="1"/>
          <p:nvPr/>
        </p:nvSpPr>
        <p:spPr>
          <a:xfrm>
            <a:off x="7969836" y="5203264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&lt;RPAREN&gt;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00D8DF-8651-3C41-B87F-DE09AC932F8E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>
            <a:off x="7625224" y="4812387"/>
            <a:ext cx="92538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53EB43-4EA6-5D49-A1B8-04AFDA0EC4E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625224" y="4812387"/>
            <a:ext cx="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B11B93-7072-8B4F-92A3-2CD936B51387}"/>
              </a:ext>
            </a:extLst>
          </p:cNvPr>
          <p:cNvSpPr txBox="1"/>
          <p:nvPr/>
        </p:nvSpPr>
        <p:spPr>
          <a:xfrm>
            <a:off x="7326231" y="521539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269D6CE-9C33-2D4F-A545-D586A0B3CB48}"/>
              </a:ext>
            </a:extLst>
          </p:cNvPr>
          <p:cNvCxnSpPr>
            <a:cxnSpLocks/>
          </p:cNvCxnSpPr>
          <p:nvPr/>
        </p:nvCxnSpPr>
        <p:spPr>
          <a:xfrm flipH="1">
            <a:off x="6400851" y="55812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E51BEE-DCB7-5F4F-A7B5-6A6AE16A643A}"/>
              </a:ext>
            </a:extLst>
          </p:cNvPr>
          <p:cNvCxnSpPr>
            <a:cxnSpLocks/>
          </p:cNvCxnSpPr>
          <p:nvPr/>
        </p:nvCxnSpPr>
        <p:spPr>
          <a:xfrm>
            <a:off x="7625224" y="558128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BC4FE3-A121-2643-96B0-A1904DAAD31F}"/>
              </a:ext>
            </a:extLst>
          </p:cNvPr>
          <p:cNvCxnSpPr>
            <a:cxnSpLocks/>
          </p:cNvCxnSpPr>
          <p:nvPr/>
        </p:nvCxnSpPr>
        <p:spPr>
          <a:xfrm>
            <a:off x="7625224" y="55812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288074-6935-8843-B5E5-F5F477954FC7}"/>
              </a:ext>
            </a:extLst>
          </p:cNvPr>
          <p:cNvSpPr txBox="1"/>
          <p:nvPr/>
        </p:nvSpPr>
        <p:spPr>
          <a:xfrm>
            <a:off x="7167651" y="604838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4711D6-23AB-FF41-89F0-70EDB3EEAE2E}"/>
              </a:ext>
            </a:extLst>
          </p:cNvPr>
          <p:cNvSpPr txBox="1"/>
          <p:nvPr/>
        </p:nvSpPr>
        <p:spPr>
          <a:xfrm>
            <a:off x="6101859" y="601698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C4D564-4F2D-AA42-9408-7131461242E7}"/>
              </a:ext>
            </a:extLst>
          </p:cNvPr>
          <p:cNvSpPr txBox="1"/>
          <p:nvPr/>
        </p:nvSpPr>
        <p:spPr>
          <a:xfrm>
            <a:off x="8423391" y="601698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A8400F-E6CF-AA42-B58D-9B2CD0FACD6B}"/>
              </a:ext>
            </a:extLst>
          </p:cNvPr>
          <p:cNvSpPr txBox="1"/>
          <p:nvPr/>
        </p:nvSpPr>
        <p:spPr>
          <a:xfrm>
            <a:off x="8153958" y="649287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D555EB-67E1-A540-A985-9152D72C2E19}"/>
              </a:ext>
            </a:extLst>
          </p:cNvPr>
          <p:cNvSpPr txBox="1"/>
          <p:nvPr/>
        </p:nvSpPr>
        <p:spPr>
          <a:xfrm>
            <a:off x="5832426" y="652442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3A6D2F2-C7CD-AB4C-80DE-4A9AF487B6BF}"/>
              </a:ext>
            </a:extLst>
          </p:cNvPr>
          <p:cNvCxnSpPr>
            <a:cxnSpLocks/>
            <a:stCxn id="35" idx="2"/>
            <a:endCxn id="38" idx="0"/>
          </p:cNvCxnSpPr>
          <p:nvPr/>
        </p:nvCxnSpPr>
        <p:spPr>
          <a:xfrm>
            <a:off x="6400851" y="6386321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14834F9-80AD-D148-A70D-444B13039E54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>
            <a:off x="8722383" y="6386321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A29EEF26-741A-A141-A489-4417A9CA9D55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7851775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1DC9CA-2422-EF4C-AF57-B8AADF8BD23F}"/>
              </a:ext>
            </a:extLst>
          </p:cNvPr>
          <p:cNvSpPr txBox="1"/>
          <p:nvPr/>
        </p:nvSpPr>
        <p:spPr>
          <a:xfrm>
            <a:off x="8856156" y="297556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73358B-D60C-E042-A770-AF4234600EBD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890957" y="3423119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CB2C732-482C-D342-AF7A-B7608421BFE3}"/>
              </a:ext>
            </a:extLst>
          </p:cNvPr>
          <p:cNvSpPr txBox="1"/>
          <p:nvPr/>
        </p:nvSpPr>
        <p:spPr>
          <a:xfrm>
            <a:off x="7591965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B24FAD-26E2-5745-A4AC-597D66091DE6}"/>
              </a:ext>
            </a:extLst>
          </p:cNvPr>
          <p:cNvCxnSpPr>
            <a:cxnSpLocks/>
          </p:cNvCxnSpPr>
          <p:nvPr/>
        </p:nvCxnSpPr>
        <p:spPr>
          <a:xfrm>
            <a:off x="9115330" y="3423119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D0CB7FC-681E-3642-995C-071EB6C66E6C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115330" y="3423119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9ED968C-B7FB-5341-9BED-542F047BF681}"/>
              </a:ext>
            </a:extLst>
          </p:cNvPr>
          <p:cNvSpPr txBox="1"/>
          <p:nvPr/>
        </p:nvSpPr>
        <p:spPr>
          <a:xfrm>
            <a:off x="8616155" y="3932145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9D9066-0F81-FE4F-8036-A213B76838BA}"/>
              </a:ext>
            </a:extLst>
          </p:cNvPr>
          <p:cNvSpPr txBox="1"/>
          <p:nvPr/>
        </p:nvSpPr>
        <p:spPr>
          <a:xfrm>
            <a:off x="9913497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1106D3-E901-8640-BEF7-671D82FEE976}"/>
              </a:ext>
            </a:extLst>
          </p:cNvPr>
          <p:cNvSpPr txBox="1"/>
          <p:nvPr/>
        </p:nvSpPr>
        <p:spPr>
          <a:xfrm>
            <a:off x="9644064" y="470928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25A1102-528C-1043-B074-6E362791570F}"/>
              </a:ext>
            </a:extLst>
          </p:cNvPr>
          <p:cNvCxnSpPr>
            <a:cxnSpLocks/>
          </p:cNvCxnSpPr>
          <p:nvPr/>
        </p:nvCxnSpPr>
        <p:spPr>
          <a:xfrm>
            <a:off x="10192644" y="424087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C20E5F-AB7C-5D48-8BD2-2EE4F61F248D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6856462" y="4250869"/>
            <a:ext cx="1034495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4E46DA5-A676-514A-91C6-A06863496B59}"/>
              </a:ext>
            </a:extLst>
          </p:cNvPr>
          <p:cNvSpPr txBox="1"/>
          <p:nvPr/>
        </p:nvSpPr>
        <p:spPr>
          <a:xfrm>
            <a:off x="6289319" y="4641746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&lt;LPAREN&gt;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544211-1DAA-7641-93FF-8390B34769A7}"/>
              </a:ext>
            </a:extLst>
          </p:cNvPr>
          <p:cNvSpPr txBox="1"/>
          <p:nvPr/>
        </p:nvSpPr>
        <p:spPr>
          <a:xfrm>
            <a:off x="8235569" y="4641746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&lt;RPAREN&gt;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F969272-8A33-654D-A4DF-E56DF393F163}"/>
              </a:ext>
            </a:extLst>
          </p:cNvPr>
          <p:cNvCxnSpPr>
            <a:cxnSpLocks/>
            <a:stCxn id="25" idx="2"/>
            <a:endCxn id="34" idx="0"/>
          </p:cNvCxnSpPr>
          <p:nvPr/>
        </p:nvCxnSpPr>
        <p:spPr>
          <a:xfrm>
            <a:off x="7890957" y="4250869"/>
            <a:ext cx="92538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71D92B8-E32E-A345-95A3-E5A9DE9AC34B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7890957" y="4250869"/>
            <a:ext cx="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6AB8A3C-24F1-6148-9C5B-85FAE2FE1418}"/>
              </a:ext>
            </a:extLst>
          </p:cNvPr>
          <p:cNvSpPr txBox="1"/>
          <p:nvPr/>
        </p:nvSpPr>
        <p:spPr>
          <a:xfrm>
            <a:off x="7591964" y="46538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23013A4-E71E-484A-A884-357C97323A08}"/>
              </a:ext>
            </a:extLst>
          </p:cNvPr>
          <p:cNvCxnSpPr>
            <a:cxnSpLocks/>
          </p:cNvCxnSpPr>
          <p:nvPr/>
        </p:nvCxnSpPr>
        <p:spPr>
          <a:xfrm flipH="1">
            <a:off x="6666584" y="5019762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5A99874-9875-0849-ABE4-941435ED30BE}"/>
              </a:ext>
            </a:extLst>
          </p:cNvPr>
          <p:cNvCxnSpPr>
            <a:cxnSpLocks/>
          </p:cNvCxnSpPr>
          <p:nvPr/>
        </p:nvCxnSpPr>
        <p:spPr>
          <a:xfrm>
            <a:off x="7890957" y="5019762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3DBD44-73AA-AF46-B0D9-C3F642048065}"/>
              </a:ext>
            </a:extLst>
          </p:cNvPr>
          <p:cNvCxnSpPr>
            <a:cxnSpLocks/>
          </p:cNvCxnSpPr>
          <p:nvPr/>
        </p:nvCxnSpPr>
        <p:spPr>
          <a:xfrm>
            <a:off x="7890957" y="5019762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3B475AE-AE3F-744D-B0BD-161AD7051C0A}"/>
              </a:ext>
            </a:extLst>
          </p:cNvPr>
          <p:cNvSpPr txBox="1"/>
          <p:nvPr/>
        </p:nvSpPr>
        <p:spPr>
          <a:xfrm>
            <a:off x="7433384" y="5486864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01CD8A-5780-7840-8DD6-E4B0CC8C77EB}"/>
              </a:ext>
            </a:extLst>
          </p:cNvPr>
          <p:cNvSpPr txBox="1"/>
          <p:nvPr/>
        </p:nvSpPr>
        <p:spPr>
          <a:xfrm>
            <a:off x="6367592" y="54554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127B8D-03A3-C24C-BFE0-88A3B56E69F8}"/>
              </a:ext>
            </a:extLst>
          </p:cNvPr>
          <p:cNvSpPr txBox="1"/>
          <p:nvPr/>
        </p:nvSpPr>
        <p:spPr>
          <a:xfrm>
            <a:off x="8689124" y="54554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F4827D-0B38-7D4A-B88C-8C3374A56FFE}"/>
              </a:ext>
            </a:extLst>
          </p:cNvPr>
          <p:cNvSpPr txBox="1"/>
          <p:nvPr/>
        </p:nvSpPr>
        <p:spPr>
          <a:xfrm>
            <a:off x="8419691" y="593135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AFB504-8501-9748-A882-2A11B92CB62F}"/>
              </a:ext>
            </a:extLst>
          </p:cNvPr>
          <p:cNvSpPr txBox="1"/>
          <p:nvPr/>
        </p:nvSpPr>
        <p:spPr>
          <a:xfrm>
            <a:off x="6098159" y="59629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0A1301B-268E-3945-9888-E1D750CB5454}"/>
              </a:ext>
            </a:extLst>
          </p:cNvPr>
          <p:cNvCxnSpPr>
            <a:cxnSpLocks/>
            <a:stCxn id="42" idx="2"/>
            <a:endCxn id="45" idx="0"/>
          </p:cNvCxnSpPr>
          <p:nvPr/>
        </p:nvCxnSpPr>
        <p:spPr>
          <a:xfrm>
            <a:off x="6666584" y="5824803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C8478B9-428E-E14C-8630-18E26AA57923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8988116" y="5824803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CFE0085-6087-D74B-B38D-7D27F14BA7B0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353D1C-F602-4648-A0FE-9BCC3E647C06}"/>
              </a:ext>
            </a:extLst>
          </p:cNvPr>
          <p:cNvSpPr txBox="1"/>
          <p:nvPr/>
        </p:nvSpPr>
        <p:spPr>
          <a:xfrm>
            <a:off x="7930775" y="219235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C43E08-1F55-9646-B224-2BE364E0B1F0}"/>
              </a:ext>
            </a:extLst>
          </p:cNvPr>
          <p:cNvSpPr txBox="1"/>
          <p:nvPr/>
        </p:nvSpPr>
        <p:spPr>
          <a:xfrm>
            <a:off x="5666482" y="1626717"/>
            <a:ext cx="514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Does this parse tree capture the structure we want?</a:t>
            </a:r>
          </a:p>
        </p:txBody>
      </p:sp>
    </p:spTree>
    <p:extLst>
      <p:ext uri="{BB962C8B-B14F-4D97-AF65-F5344CB8AC3E}">
        <p14:creationId xmlns:p14="http://schemas.microsoft.com/office/powerpoint/2010/main" val="2659730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5"/>
            <a:ext cx="10515600" cy="1325563"/>
          </a:xfrm>
        </p:spPr>
        <p:txBody>
          <a:bodyPr/>
          <a:lstStyle/>
          <a:p>
            <a:r>
              <a:rPr lang="en-US" dirty="0"/>
              <a:t>Parse trees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23A4BA-C634-A849-93D7-126BB853A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4137"/>
          </a:xfrm>
        </p:spPr>
        <p:txBody>
          <a:bodyPr/>
          <a:lstStyle/>
          <a:p>
            <a:r>
              <a:rPr lang="en-US" dirty="0"/>
              <a:t>How about</a:t>
            </a:r>
            <a:r>
              <a:rPr lang="en-US" dirty="0">
                <a:latin typeface="Courier" pitchFamily="2" charset="0"/>
              </a:rPr>
              <a:t>:</a:t>
            </a:r>
            <a:r>
              <a:rPr lang="en-US" dirty="0"/>
              <a:t> </a:t>
            </a:r>
            <a:r>
              <a:rPr lang="en-US" dirty="0">
                <a:latin typeface="Courier" pitchFamily="2" charset="0"/>
              </a:rPr>
              <a:t>1 + 5 * 6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6026E5-E34D-F348-B2E7-42FBFB52781E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071677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031" y="-36582"/>
            <a:ext cx="3140034" cy="1325563"/>
          </a:xfrm>
        </p:spPr>
        <p:txBody>
          <a:bodyPr>
            <a:normAutofit/>
          </a:bodyPr>
          <a:lstStyle/>
          <a:p>
            <a:r>
              <a:rPr lang="en-US" b="1" dirty="0"/>
              <a:t>Parse trees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23A4BA-C634-A849-93D7-126BB853A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4137"/>
          </a:xfrm>
        </p:spPr>
        <p:txBody>
          <a:bodyPr/>
          <a:lstStyle/>
          <a:p>
            <a:r>
              <a:rPr lang="en-US" dirty="0"/>
              <a:t>How about</a:t>
            </a:r>
            <a:r>
              <a:rPr lang="en-US" dirty="0">
                <a:latin typeface="Courier" pitchFamily="2" charset="0"/>
              </a:rPr>
              <a:t>:</a:t>
            </a:r>
            <a:r>
              <a:rPr lang="en-US" dirty="0"/>
              <a:t> </a:t>
            </a:r>
            <a:r>
              <a:rPr lang="en-US" dirty="0">
                <a:latin typeface="Courier" pitchFamily="2" charset="0"/>
              </a:rPr>
              <a:t>1 + 5 * 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AB397C-4DD1-8B46-B3F4-3E1A4905847E}"/>
              </a:ext>
            </a:extLst>
          </p:cNvPr>
          <p:cNvSpPr txBox="1"/>
          <p:nvPr/>
        </p:nvSpPr>
        <p:spPr>
          <a:xfrm>
            <a:off x="8763418" y="267043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0C41512-1E5F-4948-9492-4C9A5B98B16D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7798219" y="311798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7D8324F-C9A8-9F43-96CF-A625D0B92C97}"/>
              </a:ext>
            </a:extLst>
          </p:cNvPr>
          <p:cNvSpPr txBox="1"/>
          <p:nvPr/>
        </p:nvSpPr>
        <p:spPr>
          <a:xfrm>
            <a:off x="7499227" y="35764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346DE8-92F7-2749-98C4-2BC66EF2BBBA}"/>
              </a:ext>
            </a:extLst>
          </p:cNvPr>
          <p:cNvCxnSpPr>
            <a:cxnSpLocks/>
          </p:cNvCxnSpPr>
          <p:nvPr/>
        </p:nvCxnSpPr>
        <p:spPr>
          <a:xfrm>
            <a:off x="9022592" y="311798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0E77B2D-939A-9941-9A4C-51F60AD87F7C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9022592" y="311798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C3CBAB6-22E4-FC48-B889-3BBE917D871F}"/>
              </a:ext>
            </a:extLst>
          </p:cNvPr>
          <p:cNvSpPr txBox="1"/>
          <p:nvPr/>
        </p:nvSpPr>
        <p:spPr>
          <a:xfrm>
            <a:off x="8523417" y="362701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581A83-4BDE-F54B-B280-EE9B483BE66C}"/>
              </a:ext>
            </a:extLst>
          </p:cNvPr>
          <p:cNvSpPr txBox="1"/>
          <p:nvPr/>
        </p:nvSpPr>
        <p:spPr>
          <a:xfrm>
            <a:off x="9820759" y="35764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97E9A7-67D7-7C44-A05F-AC648AD361EA}"/>
              </a:ext>
            </a:extLst>
          </p:cNvPr>
          <p:cNvSpPr txBox="1"/>
          <p:nvPr/>
        </p:nvSpPr>
        <p:spPr>
          <a:xfrm>
            <a:off x="9551326" y="440415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61461F4-37C2-C149-8B86-03F949535150}"/>
              </a:ext>
            </a:extLst>
          </p:cNvPr>
          <p:cNvCxnSpPr>
            <a:cxnSpLocks/>
          </p:cNvCxnSpPr>
          <p:nvPr/>
        </p:nvCxnSpPr>
        <p:spPr>
          <a:xfrm>
            <a:off x="10099906" y="393574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9A193A-5443-E244-83BC-6F2A4A315339}"/>
              </a:ext>
            </a:extLst>
          </p:cNvPr>
          <p:cNvCxnSpPr>
            <a:cxnSpLocks/>
          </p:cNvCxnSpPr>
          <p:nvPr/>
        </p:nvCxnSpPr>
        <p:spPr>
          <a:xfrm flipH="1">
            <a:off x="6527438" y="393574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EDBA310-73DA-924C-9548-3E606F5F17F2}"/>
              </a:ext>
            </a:extLst>
          </p:cNvPr>
          <p:cNvCxnSpPr>
            <a:cxnSpLocks/>
          </p:cNvCxnSpPr>
          <p:nvPr/>
        </p:nvCxnSpPr>
        <p:spPr>
          <a:xfrm>
            <a:off x="7751811" y="393574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0974E2A-CF09-EE4B-B04D-DDE700B68E2C}"/>
              </a:ext>
            </a:extLst>
          </p:cNvPr>
          <p:cNvCxnSpPr>
            <a:cxnSpLocks/>
          </p:cNvCxnSpPr>
          <p:nvPr/>
        </p:nvCxnSpPr>
        <p:spPr>
          <a:xfrm>
            <a:off x="7751811" y="393574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AD31818-A8C8-244A-A91A-3777DFF42227}"/>
              </a:ext>
            </a:extLst>
          </p:cNvPr>
          <p:cNvSpPr txBox="1"/>
          <p:nvPr/>
        </p:nvSpPr>
        <p:spPr>
          <a:xfrm>
            <a:off x="7294238" y="4402849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0E1976-1BD7-B34F-B255-8C795BA58A09}"/>
              </a:ext>
            </a:extLst>
          </p:cNvPr>
          <p:cNvSpPr txBox="1"/>
          <p:nvPr/>
        </p:nvSpPr>
        <p:spPr>
          <a:xfrm>
            <a:off x="6228446" y="437145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0E395D-C229-4F42-A2BD-DB888642D9F4}"/>
              </a:ext>
            </a:extLst>
          </p:cNvPr>
          <p:cNvSpPr txBox="1"/>
          <p:nvPr/>
        </p:nvSpPr>
        <p:spPr>
          <a:xfrm>
            <a:off x="8549978" y="437145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E0BF98-F7C9-FE4C-AF4B-4A4A2A2EBABB}"/>
              </a:ext>
            </a:extLst>
          </p:cNvPr>
          <p:cNvSpPr txBox="1"/>
          <p:nvPr/>
        </p:nvSpPr>
        <p:spPr>
          <a:xfrm>
            <a:off x="8280545" y="484734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C1CB5A-1F10-FE4B-982C-6CC011D10D47}"/>
              </a:ext>
            </a:extLst>
          </p:cNvPr>
          <p:cNvSpPr txBox="1"/>
          <p:nvPr/>
        </p:nvSpPr>
        <p:spPr>
          <a:xfrm>
            <a:off x="5959013" y="487889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CD352DF-EED9-8849-BBF1-CB90364123EF}"/>
              </a:ext>
            </a:extLst>
          </p:cNvPr>
          <p:cNvCxnSpPr>
            <a:cxnSpLocks/>
            <a:stCxn id="55" idx="2"/>
            <a:endCxn id="58" idx="0"/>
          </p:cNvCxnSpPr>
          <p:nvPr/>
        </p:nvCxnSpPr>
        <p:spPr>
          <a:xfrm>
            <a:off x="6527438" y="4740788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AF55C9E-7BB7-0A47-904B-09B82506A2EF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>
            <a:off x="8848970" y="4740788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4AEC985-DABB-C140-B1E4-D94FD329C3B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4062487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0D269-B61D-CD68-6A07-72BFD6DDA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BA2E9-4E66-704B-C302-718CC2A21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216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AMBIGUOUS GRAMMARS </a:t>
            </a:r>
            <a:br>
              <a:rPr lang="en-US" dirty="0"/>
            </a:br>
            <a:r>
              <a:rPr lang="en-US" dirty="0"/>
              <a:t>AND PRECEDENCE</a:t>
            </a:r>
          </a:p>
        </p:txBody>
      </p:sp>
    </p:spTree>
    <p:extLst>
      <p:ext uri="{BB962C8B-B14F-4D97-AF65-F5344CB8AC3E}">
        <p14:creationId xmlns:p14="http://schemas.microsoft.com/office/powerpoint/2010/main" val="3099339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A8A75-0947-5349-B74C-1E1CFC55D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776" y="2079363"/>
            <a:ext cx="3911930" cy="576069"/>
          </a:xfrm>
        </p:spPr>
        <p:txBody>
          <a:bodyPr/>
          <a:lstStyle/>
          <a:p>
            <a:r>
              <a:rPr lang="en-US" dirty="0">
                <a:latin typeface="Courier" pitchFamily="2" charset="0"/>
              </a:rPr>
              <a:t>input: 1 + 5 *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68BBF-72D1-C942-A23C-05D446E914FE}"/>
              </a:ext>
            </a:extLst>
          </p:cNvPr>
          <p:cNvSpPr txBox="1"/>
          <p:nvPr/>
        </p:nvSpPr>
        <p:spPr>
          <a:xfrm>
            <a:off x="3239948" y="37341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361AA3-995B-B14B-B160-8FB9C9CD4818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2274749" y="418166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34B6E4-6F20-344D-8519-C401DEC7D86C}"/>
              </a:ext>
            </a:extLst>
          </p:cNvPr>
          <p:cNvSpPr txBox="1"/>
          <p:nvPr/>
        </p:nvSpPr>
        <p:spPr>
          <a:xfrm>
            <a:off x="1975757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CC53EA-3A7E-2A46-B638-61EFD0987A47}"/>
              </a:ext>
            </a:extLst>
          </p:cNvPr>
          <p:cNvCxnSpPr>
            <a:cxnSpLocks/>
          </p:cNvCxnSpPr>
          <p:nvPr/>
        </p:nvCxnSpPr>
        <p:spPr>
          <a:xfrm>
            <a:off x="3499122" y="418166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DCCB52-A633-524E-9223-25CDAEBEDDC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499122" y="418166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2D1699-947E-FB40-84D8-4DC970ADF2C2}"/>
              </a:ext>
            </a:extLst>
          </p:cNvPr>
          <p:cNvSpPr txBox="1"/>
          <p:nvPr/>
        </p:nvSpPr>
        <p:spPr>
          <a:xfrm>
            <a:off x="2999947" y="4690690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63DEE2-6482-4145-9E0E-CEAC819F69A4}"/>
              </a:ext>
            </a:extLst>
          </p:cNvPr>
          <p:cNvSpPr txBox="1"/>
          <p:nvPr/>
        </p:nvSpPr>
        <p:spPr>
          <a:xfrm>
            <a:off x="4297289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333C5C-5116-CF4E-BDE4-041EE8B68947}"/>
              </a:ext>
            </a:extLst>
          </p:cNvPr>
          <p:cNvSpPr txBox="1"/>
          <p:nvPr/>
        </p:nvSpPr>
        <p:spPr>
          <a:xfrm>
            <a:off x="4027856" y="546783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C49E33-FEA7-474C-B5FD-65D9B2D17F0C}"/>
              </a:ext>
            </a:extLst>
          </p:cNvPr>
          <p:cNvCxnSpPr>
            <a:cxnSpLocks/>
          </p:cNvCxnSpPr>
          <p:nvPr/>
        </p:nvCxnSpPr>
        <p:spPr>
          <a:xfrm>
            <a:off x="4576436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096E1A-92E3-F543-AE82-F83E64D4767A}"/>
              </a:ext>
            </a:extLst>
          </p:cNvPr>
          <p:cNvCxnSpPr>
            <a:cxnSpLocks/>
          </p:cNvCxnSpPr>
          <p:nvPr/>
        </p:nvCxnSpPr>
        <p:spPr>
          <a:xfrm flipH="1">
            <a:off x="1003968" y="4999423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80C731-C2B1-F147-AD80-21AE50F180C9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EEBFB7-B649-8C45-A4D9-A6A3E2716E8B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8B0E84E-AA23-3741-8FC6-5967FD361D8D}"/>
              </a:ext>
            </a:extLst>
          </p:cNvPr>
          <p:cNvSpPr txBox="1"/>
          <p:nvPr/>
        </p:nvSpPr>
        <p:spPr>
          <a:xfrm>
            <a:off x="1770768" y="5466525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FA4E57-3800-9A41-84C1-3487CFE1B43B}"/>
              </a:ext>
            </a:extLst>
          </p:cNvPr>
          <p:cNvSpPr txBox="1"/>
          <p:nvPr/>
        </p:nvSpPr>
        <p:spPr>
          <a:xfrm>
            <a:off x="704976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D426D8-C447-C642-859D-706A726FD75F}"/>
              </a:ext>
            </a:extLst>
          </p:cNvPr>
          <p:cNvSpPr txBox="1"/>
          <p:nvPr/>
        </p:nvSpPr>
        <p:spPr>
          <a:xfrm>
            <a:off x="3026508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E33E75-44A2-F64D-B68D-8F3B337FC012}"/>
              </a:ext>
            </a:extLst>
          </p:cNvPr>
          <p:cNvSpPr txBox="1"/>
          <p:nvPr/>
        </p:nvSpPr>
        <p:spPr>
          <a:xfrm>
            <a:off x="2757075" y="591101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71E864-22B5-094C-801E-86FEE9D9E25D}"/>
              </a:ext>
            </a:extLst>
          </p:cNvPr>
          <p:cNvSpPr txBox="1"/>
          <p:nvPr/>
        </p:nvSpPr>
        <p:spPr>
          <a:xfrm>
            <a:off x="435543" y="59425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B64D96-7DBD-DB40-853F-60DB16DAE97F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1003968" y="5804464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81D737-746B-4740-9924-08AC9DFCD0E8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3325500" y="5804464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EFBBB9C6-D6F4-834B-A4E7-0BEF5ADBE87C}"/>
              </a:ext>
            </a:extLst>
          </p:cNvPr>
          <p:cNvSpPr txBox="1">
            <a:spLocks/>
          </p:cNvSpPr>
          <p:nvPr/>
        </p:nvSpPr>
        <p:spPr>
          <a:xfrm>
            <a:off x="7300055" y="1793961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1B57E8A-CCE5-F557-58BE-8B9901E5A6E9}"/>
              </a:ext>
            </a:extLst>
          </p:cNvPr>
          <p:cNvSpPr txBox="1">
            <a:spLocks/>
          </p:cNvSpPr>
          <p:nvPr/>
        </p:nvSpPr>
        <p:spPr>
          <a:xfrm>
            <a:off x="838200" y="7270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Ambiguous Grammars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7957777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8560-0CF7-B45A-F6A9-7CA00883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17580-3AAB-906C-EA13-E7DDF313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1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Ambiguous Grammars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B9123-59B9-DF47-09B1-358A603A7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776" y="2079363"/>
            <a:ext cx="3911930" cy="576069"/>
          </a:xfrm>
        </p:spPr>
        <p:txBody>
          <a:bodyPr/>
          <a:lstStyle/>
          <a:p>
            <a:r>
              <a:rPr lang="en-US" dirty="0">
                <a:latin typeface="Courier" pitchFamily="2" charset="0"/>
              </a:rPr>
              <a:t>input: 1 + 5 *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60D83-8CE0-95EC-4D9B-768FE3380CAF}"/>
              </a:ext>
            </a:extLst>
          </p:cNvPr>
          <p:cNvSpPr txBox="1"/>
          <p:nvPr/>
        </p:nvSpPr>
        <p:spPr>
          <a:xfrm>
            <a:off x="3239948" y="37341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DE3EF4-F7D9-8A9F-8CD9-F169EFCD0EAC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2274749" y="418166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178F4D0-AC0A-C65D-20F8-701E59ABA445}"/>
              </a:ext>
            </a:extLst>
          </p:cNvPr>
          <p:cNvSpPr txBox="1"/>
          <p:nvPr/>
        </p:nvSpPr>
        <p:spPr>
          <a:xfrm>
            <a:off x="1975757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E4CB33D-D41E-69DA-E67F-020482A87770}"/>
              </a:ext>
            </a:extLst>
          </p:cNvPr>
          <p:cNvCxnSpPr>
            <a:cxnSpLocks/>
          </p:cNvCxnSpPr>
          <p:nvPr/>
        </p:nvCxnSpPr>
        <p:spPr>
          <a:xfrm>
            <a:off x="3499122" y="418166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CDB136-6AA6-C2EB-7158-E1DE899C69F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499122" y="418166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336DE9-0ED8-0AF9-F7F0-9B21F5C9FDFA}"/>
              </a:ext>
            </a:extLst>
          </p:cNvPr>
          <p:cNvSpPr txBox="1"/>
          <p:nvPr/>
        </p:nvSpPr>
        <p:spPr>
          <a:xfrm>
            <a:off x="2999947" y="4690690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2FD63-8BD3-7DD6-2986-BA65AA221CE6}"/>
              </a:ext>
            </a:extLst>
          </p:cNvPr>
          <p:cNvSpPr txBox="1"/>
          <p:nvPr/>
        </p:nvSpPr>
        <p:spPr>
          <a:xfrm>
            <a:off x="4297289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64F791-1183-D56A-F5EC-8716C5BBA500}"/>
              </a:ext>
            </a:extLst>
          </p:cNvPr>
          <p:cNvSpPr txBox="1"/>
          <p:nvPr/>
        </p:nvSpPr>
        <p:spPr>
          <a:xfrm>
            <a:off x="4027856" y="546783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69BBDE-6C41-CA93-DAD2-6A58CDCBF31C}"/>
              </a:ext>
            </a:extLst>
          </p:cNvPr>
          <p:cNvCxnSpPr>
            <a:cxnSpLocks/>
          </p:cNvCxnSpPr>
          <p:nvPr/>
        </p:nvCxnSpPr>
        <p:spPr>
          <a:xfrm>
            <a:off x="4576436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B5C6A6-B37D-8A54-8BCB-BBF94DE46BFE}"/>
              </a:ext>
            </a:extLst>
          </p:cNvPr>
          <p:cNvCxnSpPr>
            <a:cxnSpLocks/>
          </p:cNvCxnSpPr>
          <p:nvPr/>
        </p:nvCxnSpPr>
        <p:spPr>
          <a:xfrm flipH="1">
            <a:off x="1003968" y="4999423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D94FD8-C206-D213-DCA4-64708A76FC8E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8BD4DCC-4449-D9F7-18C3-F866A235AEA9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0ED21F5-B8F2-6629-71E3-468A9C22392A}"/>
              </a:ext>
            </a:extLst>
          </p:cNvPr>
          <p:cNvSpPr txBox="1"/>
          <p:nvPr/>
        </p:nvSpPr>
        <p:spPr>
          <a:xfrm>
            <a:off x="1770768" y="5466525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3E1487-FDF0-C9EB-1E78-D6917D8337B1}"/>
              </a:ext>
            </a:extLst>
          </p:cNvPr>
          <p:cNvSpPr txBox="1"/>
          <p:nvPr/>
        </p:nvSpPr>
        <p:spPr>
          <a:xfrm>
            <a:off x="704976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C114B4-4F33-5386-9842-8D64F0FBD614}"/>
              </a:ext>
            </a:extLst>
          </p:cNvPr>
          <p:cNvSpPr txBox="1"/>
          <p:nvPr/>
        </p:nvSpPr>
        <p:spPr>
          <a:xfrm>
            <a:off x="3026508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C1E316-CEFF-CC43-92F6-31002324DBC1}"/>
              </a:ext>
            </a:extLst>
          </p:cNvPr>
          <p:cNvSpPr txBox="1"/>
          <p:nvPr/>
        </p:nvSpPr>
        <p:spPr>
          <a:xfrm>
            <a:off x="2757075" y="591101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187B57-DBA3-BFB1-D53F-2E7D6A4EDE80}"/>
              </a:ext>
            </a:extLst>
          </p:cNvPr>
          <p:cNvSpPr txBox="1"/>
          <p:nvPr/>
        </p:nvSpPr>
        <p:spPr>
          <a:xfrm>
            <a:off x="435543" y="59425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ADC667-D4FD-8A82-9610-829BDD85ECE6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1003968" y="5804464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FFC3C24-ACC1-DD86-3D41-B14EADF2BFEA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3325500" y="5804464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5E1561C-3D7D-4914-C803-9ED5C962E1D2}"/>
              </a:ext>
            </a:extLst>
          </p:cNvPr>
          <p:cNvSpPr txBox="1"/>
          <p:nvPr/>
        </p:nvSpPr>
        <p:spPr>
          <a:xfrm>
            <a:off x="8721899" y="359916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596C4AF-B76E-CACB-BE4C-D0790F24F975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7756700" y="404672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8DBD055-71E0-97C1-4203-40070E401041}"/>
              </a:ext>
            </a:extLst>
          </p:cNvPr>
          <p:cNvSpPr txBox="1"/>
          <p:nvPr/>
        </p:nvSpPr>
        <p:spPr>
          <a:xfrm>
            <a:off x="7457708" y="450514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74E720-C266-DFBE-F312-F49713C89D87}"/>
              </a:ext>
            </a:extLst>
          </p:cNvPr>
          <p:cNvCxnSpPr>
            <a:cxnSpLocks/>
          </p:cNvCxnSpPr>
          <p:nvPr/>
        </p:nvCxnSpPr>
        <p:spPr>
          <a:xfrm>
            <a:off x="8981073" y="404672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BE1A080-C2C9-42B3-627B-E56C8D3A5225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8981073" y="404672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1483FDC-2D2C-2585-406C-5DC663CAB8B7}"/>
              </a:ext>
            </a:extLst>
          </p:cNvPr>
          <p:cNvSpPr txBox="1"/>
          <p:nvPr/>
        </p:nvSpPr>
        <p:spPr>
          <a:xfrm>
            <a:off x="8481898" y="4555753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ACC52C-B5F2-46F6-BE93-452780031C97}"/>
              </a:ext>
            </a:extLst>
          </p:cNvPr>
          <p:cNvSpPr txBox="1"/>
          <p:nvPr/>
        </p:nvSpPr>
        <p:spPr>
          <a:xfrm>
            <a:off x="9779240" y="450514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3F2823-4CC5-28A2-EE8C-3105A40437FB}"/>
              </a:ext>
            </a:extLst>
          </p:cNvPr>
          <p:cNvSpPr txBox="1"/>
          <p:nvPr/>
        </p:nvSpPr>
        <p:spPr>
          <a:xfrm>
            <a:off x="7172331" y="531243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6E81EE-8D68-1153-8837-160F0A5F3131}"/>
              </a:ext>
            </a:extLst>
          </p:cNvPr>
          <p:cNvCxnSpPr>
            <a:cxnSpLocks/>
          </p:cNvCxnSpPr>
          <p:nvPr/>
        </p:nvCxnSpPr>
        <p:spPr>
          <a:xfrm>
            <a:off x="7720911" y="484403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61287B-7D31-0170-21DD-CF1C260F5C8B}"/>
              </a:ext>
            </a:extLst>
          </p:cNvPr>
          <p:cNvCxnSpPr>
            <a:cxnSpLocks/>
          </p:cNvCxnSpPr>
          <p:nvPr/>
        </p:nvCxnSpPr>
        <p:spPr>
          <a:xfrm flipH="1">
            <a:off x="8886498" y="4905611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E993118-8D80-55BF-3F61-AA5221705AA2}"/>
              </a:ext>
            </a:extLst>
          </p:cNvPr>
          <p:cNvCxnSpPr>
            <a:cxnSpLocks/>
          </p:cNvCxnSpPr>
          <p:nvPr/>
        </p:nvCxnSpPr>
        <p:spPr>
          <a:xfrm>
            <a:off x="10110871" y="4905611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F63C90E-2BFB-8F80-A1C7-F0AA824F4F38}"/>
              </a:ext>
            </a:extLst>
          </p:cNvPr>
          <p:cNvCxnSpPr>
            <a:cxnSpLocks/>
          </p:cNvCxnSpPr>
          <p:nvPr/>
        </p:nvCxnSpPr>
        <p:spPr>
          <a:xfrm>
            <a:off x="10110871" y="4905611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388CF79-517E-CC90-E18E-E49874DCDAF1}"/>
              </a:ext>
            </a:extLst>
          </p:cNvPr>
          <p:cNvSpPr txBox="1"/>
          <p:nvPr/>
        </p:nvSpPr>
        <p:spPr>
          <a:xfrm>
            <a:off x="9653298" y="537271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AB9E7B-C605-382A-5E35-8C7ADD18AB78}"/>
              </a:ext>
            </a:extLst>
          </p:cNvPr>
          <p:cNvSpPr txBox="1"/>
          <p:nvPr/>
        </p:nvSpPr>
        <p:spPr>
          <a:xfrm>
            <a:off x="8587506" y="534132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7C1317-5ABD-3C13-C7B3-DBD67E5F4787}"/>
              </a:ext>
            </a:extLst>
          </p:cNvPr>
          <p:cNvSpPr txBox="1"/>
          <p:nvPr/>
        </p:nvSpPr>
        <p:spPr>
          <a:xfrm>
            <a:off x="10909038" y="534132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7AE34C-336A-0EC8-10E9-4CEC2451B832}"/>
              </a:ext>
            </a:extLst>
          </p:cNvPr>
          <p:cNvSpPr txBox="1"/>
          <p:nvPr/>
        </p:nvSpPr>
        <p:spPr>
          <a:xfrm>
            <a:off x="10639605" y="581720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727650-124F-440B-4344-26FF84F8CD03}"/>
              </a:ext>
            </a:extLst>
          </p:cNvPr>
          <p:cNvSpPr txBox="1"/>
          <p:nvPr/>
        </p:nvSpPr>
        <p:spPr>
          <a:xfrm>
            <a:off x="8318073" y="584875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0B44DE7-E8E7-5820-9679-97FCA7FA644F}"/>
              </a:ext>
            </a:extLst>
          </p:cNvPr>
          <p:cNvCxnSpPr>
            <a:cxnSpLocks/>
            <a:stCxn id="45" idx="2"/>
            <a:endCxn id="48" idx="0"/>
          </p:cNvCxnSpPr>
          <p:nvPr/>
        </p:nvCxnSpPr>
        <p:spPr>
          <a:xfrm>
            <a:off x="8886498" y="5710652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2BFCD65-630B-B21F-C70D-3A4370232050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11208030" y="5710652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9174A5D0-B9FF-065F-8822-C9105E5FC1CC}"/>
              </a:ext>
            </a:extLst>
          </p:cNvPr>
          <p:cNvSpPr txBox="1">
            <a:spLocks/>
          </p:cNvSpPr>
          <p:nvPr/>
        </p:nvSpPr>
        <p:spPr>
          <a:xfrm>
            <a:off x="7300055" y="1793961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207954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38A7-9CB6-8B41-8EEB-A7321D31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Avoiding 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3D10-9A3F-E04B-9E4B-FAF634B6B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3086"/>
            <a:ext cx="10515600" cy="4123913"/>
          </a:xfrm>
        </p:spPr>
        <p:txBody>
          <a:bodyPr>
            <a:normAutofit fontScale="85000" lnSpcReduction="10000"/>
          </a:bodyPr>
          <a:lstStyle/>
          <a:p>
            <a:r>
              <a:rPr lang="en-US" sz="4400" dirty="0"/>
              <a:t>How to avoid ambiguity related to precedence?</a:t>
            </a:r>
          </a:p>
          <a:p>
            <a:r>
              <a:rPr lang="en-US" sz="4400" dirty="0"/>
              <a:t>Define precedence into the grammar:</a:t>
            </a:r>
          </a:p>
          <a:p>
            <a:pPr lvl="1"/>
            <a:r>
              <a:rPr lang="en-US" sz="4000" dirty="0"/>
              <a:t> Ambiguity comes from conflicts. Explicitly define how to deal with conflicts by indicating that: </a:t>
            </a:r>
          </a:p>
          <a:p>
            <a:pPr marL="0" indent="0">
              <a:buNone/>
            </a:pPr>
            <a:r>
              <a:rPr lang="en-US" sz="4400" dirty="0"/>
              <a:t>           * has higher precedence than +</a:t>
            </a:r>
          </a:p>
          <a:p>
            <a:r>
              <a:rPr lang="en-US" sz="4400" dirty="0"/>
              <a:t>Some parser generators support this, </a:t>
            </a:r>
          </a:p>
          <a:p>
            <a:pPr lvl="1"/>
            <a:r>
              <a:rPr lang="en-US" sz="4000" dirty="0"/>
              <a:t>e.g. YACC(C), Bison (C), </a:t>
            </a:r>
            <a:r>
              <a:rPr lang="en-US" sz="4000" dirty="0" err="1"/>
              <a:t>Antlr</a:t>
            </a:r>
            <a:r>
              <a:rPr lang="en-US" sz="4000" dirty="0"/>
              <a:t> (Java), PLY(Python)</a:t>
            </a:r>
          </a:p>
        </p:txBody>
      </p:sp>
    </p:spTree>
    <p:extLst>
      <p:ext uri="{BB962C8B-B14F-4D97-AF65-F5344CB8AC3E}">
        <p14:creationId xmlns:p14="http://schemas.microsoft.com/office/powerpoint/2010/main" val="40477040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38A7-9CB6-8B41-8EEB-A7321D31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5"/>
            <a:ext cx="10515600" cy="1325563"/>
          </a:xfrm>
        </p:spPr>
        <p:txBody>
          <a:bodyPr/>
          <a:lstStyle/>
          <a:p>
            <a:r>
              <a:rPr lang="en-US" dirty="0"/>
              <a:t>Avoiding Precedence Ambiguity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C6EBDA-2909-0F4C-8DDA-3EAE95C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3704"/>
            <a:ext cx="10253353" cy="4667250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How to avoid ambiguity related to precedence?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b="1" dirty="0"/>
              <a:t>Second way</a:t>
            </a:r>
            <a:r>
              <a:rPr lang="en-US" sz="3600" dirty="0"/>
              <a:t>: add new production rules</a:t>
            </a:r>
          </a:p>
          <a:p>
            <a:pPr lvl="1"/>
            <a:r>
              <a:rPr lang="en-US" sz="3200" dirty="0"/>
              <a:t>One non-terminal for each level of precedence</a:t>
            </a:r>
          </a:p>
          <a:p>
            <a:pPr lvl="1"/>
            <a:r>
              <a:rPr lang="en-US" sz="3200" dirty="0"/>
              <a:t>lowest precedence at the top</a:t>
            </a:r>
          </a:p>
          <a:p>
            <a:pPr lvl="1"/>
            <a:r>
              <a:rPr lang="en-US" sz="3200" dirty="0"/>
              <a:t>highest precedence at the bottom</a:t>
            </a:r>
          </a:p>
          <a:p>
            <a:pPr lvl="1"/>
            <a:endParaRPr lang="en-US" sz="3200" dirty="0"/>
          </a:p>
          <a:p>
            <a:r>
              <a:rPr lang="en-US" sz="3600" dirty="0"/>
              <a:t>Lets try with expressions and the following:</a:t>
            </a:r>
          </a:p>
          <a:p>
            <a:pPr marL="457200" lvl="1" indent="0">
              <a:buNone/>
            </a:pPr>
            <a:r>
              <a:rPr lang="en-US" sz="3200" dirty="0"/>
              <a:t>              +  *  ()</a:t>
            </a:r>
          </a:p>
        </p:txBody>
      </p:sp>
    </p:spTree>
    <p:extLst>
      <p:ext uri="{BB962C8B-B14F-4D97-AF65-F5344CB8AC3E}">
        <p14:creationId xmlns:p14="http://schemas.microsoft.com/office/powerpoint/2010/main" val="35054745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38A7-9CB6-8B41-8EEB-A7321D31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0"/>
            <a:ext cx="10515600" cy="1325563"/>
          </a:xfrm>
        </p:spPr>
        <p:txBody>
          <a:bodyPr/>
          <a:lstStyle/>
          <a:p>
            <a:r>
              <a:rPr lang="en-US" dirty="0"/>
              <a:t>Avoiding Precedence Ambiguity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E783D612-69BC-4C49-9D8D-25981E72E3F3}"/>
              </a:ext>
            </a:extLst>
          </p:cNvPr>
          <p:cNvGraphicFramePr>
            <a:graphicFrameLocks noGrp="1"/>
          </p:cNvGraphicFramePr>
          <p:nvPr/>
        </p:nvGraphicFramePr>
        <p:xfrm>
          <a:off x="2817341" y="3069365"/>
          <a:ext cx="5671751" cy="32572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61324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086036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02439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814323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814323">
                <a:tc>
                  <a:txBody>
                    <a:bodyPr/>
                    <a:lstStyle/>
                    <a:p>
                      <a:r>
                        <a:rPr lang="en-US" sz="2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2000" dirty="0">
                          <a:latin typeface="Courier" pitchFamily="2" charset="0"/>
                        </a:rPr>
                      </a:br>
                      <a:r>
                        <a:rPr lang="en-US" sz="20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814323">
                <a:tc>
                  <a:txBody>
                    <a:bodyPr/>
                    <a:lstStyle/>
                    <a:p>
                      <a:r>
                        <a:rPr lang="en-US" sz="28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2000" dirty="0">
                          <a:latin typeface="Courier" pitchFamily="2" charset="0"/>
                        </a:rPr>
                      </a:br>
                      <a:r>
                        <a:rPr lang="en-US" sz="20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814323">
                <a:tc>
                  <a:txBody>
                    <a:bodyPr/>
                    <a:lstStyle/>
                    <a:p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800" dirty="0">
                          <a:latin typeface="Courier" pitchFamily="2" charset="0"/>
                        </a:rPr>
                      </a:br>
                      <a:r>
                        <a:rPr lang="en-US" sz="18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Down Arrow 6">
            <a:extLst>
              <a:ext uri="{FF2B5EF4-FFF2-40B4-BE49-F238E27FC236}">
                <a16:creationId xmlns:a16="http://schemas.microsoft.com/office/drawing/2014/main" id="{71D1710D-D0C7-1141-9E1A-8BB20BBA4101}"/>
              </a:ext>
            </a:extLst>
          </p:cNvPr>
          <p:cNvSpPr/>
          <p:nvPr/>
        </p:nvSpPr>
        <p:spPr>
          <a:xfrm>
            <a:off x="8872151" y="4003589"/>
            <a:ext cx="333633" cy="214509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F6C5A-303D-9F4B-ACBC-3800557D9C90}"/>
              </a:ext>
            </a:extLst>
          </p:cNvPr>
          <p:cNvSpPr txBox="1"/>
          <p:nvPr/>
        </p:nvSpPr>
        <p:spPr>
          <a:xfrm>
            <a:off x="8692793" y="3060222"/>
            <a:ext cx="2203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Precedence</a:t>
            </a:r>
          </a:p>
          <a:p>
            <a:pPr algn="ctr"/>
            <a:r>
              <a:rPr lang="en-US" dirty="0"/>
              <a:t>increases going down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1126F44-3264-1345-A8E5-85FF2EEFE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0608"/>
            <a:ext cx="7243120" cy="2635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Second way</a:t>
            </a:r>
            <a:r>
              <a:rPr lang="en-US" dirty="0"/>
              <a:t>: new production rules</a:t>
            </a:r>
          </a:p>
          <a:p>
            <a:pPr lvl="1"/>
            <a:r>
              <a:rPr lang="en-US" dirty="0"/>
              <a:t>One non-terminal for each level of precedence</a:t>
            </a:r>
          </a:p>
          <a:p>
            <a:pPr lvl="1"/>
            <a:r>
              <a:rPr lang="en-US" dirty="0"/>
              <a:t>lowest precedence at the top</a:t>
            </a:r>
          </a:p>
          <a:p>
            <a:pPr lvl="1"/>
            <a:r>
              <a:rPr lang="en-US" dirty="0"/>
              <a:t>highest precedence at the bottom</a:t>
            </a:r>
          </a:p>
        </p:txBody>
      </p:sp>
    </p:spTree>
    <p:extLst>
      <p:ext uri="{BB962C8B-B14F-4D97-AF65-F5344CB8AC3E}">
        <p14:creationId xmlns:p14="http://schemas.microsoft.com/office/powerpoint/2010/main" val="16155546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4ECED81-C6BB-DE45-8F17-9D3438A1694C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196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FF0AB19E-EC8F-2041-AC57-84ED24A25F61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1474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D0AAFE8F-B9DD-9F41-BB48-9D7B5EB976D8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0028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F2B2C4BD-8B65-634A-863A-7A8CC1418EDB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2101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B152D-9A26-9B43-A7B1-29D9BE13117F}"/>
              </a:ext>
            </a:extLst>
          </p:cNvPr>
          <p:cNvCxnSpPr>
            <a:cxnSpLocks/>
            <a:stCxn id="12" idx="2"/>
            <a:endCxn id="43" idx="0"/>
          </p:cNvCxnSpPr>
          <p:nvPr/>
        </p:nvCxnSpPr>
        <p:spPr>
          <a:xfrm flipH="1">
            <a:off x="9987303" y="3457265"/>
            <a:ext cx="4432" cy="3128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46E12C-C254-B54E-96B1-3BAC1435E7C3}"/>
              </a:ext>
            </a:extLst>
          </p:cNvPr>
          <p:cNvSpPr txBox="1"/>
          <p:nvPr/>
        </p:nvSpPr>
        <p:spPr>
          <a:xfrm>
            <a:off x="9667792" y="3770068"/>
            <a:ext cx="639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graphicFrame>
        <p:nvGraphicFramePr>
          <p:cNvPr id="21" name="Table 5">
            <a:extLst>
              <a:ext uri="{FF2B5EF4-FFF2-40B4-BE49-F238E27FC236}">
                <a16:creationId xmlns:a16="http://schemas.microsoft.com/office/drawing/2014/main" id="{A9DD465B-FA28-3843-8460-6FACCA02BE34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5076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523A5C-5656-2C48-9561-C5E06431FF8C}"/>
              </a:ext>
            </a:extLst>
          </p:cNvPr>
          <p:cNvCxnSpPr>
            <a:cxnSpLocks/>
          </p:cNvCxnSpPr>
          <p:nvPr/>
        </p:nvCxnSpPr>
        <p:spPr>
          <a:xfrm flipH="1">
            <a:off x="8758711" y="413940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827981-7496-3044-A580-D70075F49F40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73D50F-AD23-2A43-8FB5-2E5521EA1252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A10946-EFD4-7E40-AB1D-DC861347C615}"/>
              </a:ext>
            </a:extLst>
          </p:cNvPr>
          <p:cNvSpPr txBox="1"/>
          <p:nvPr/>
        </p:nvSpPr>
        <p:spPr>
          <a:xfrm>
            <a:off x="9525511" y="4606502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E779DE-0E1B-6646-BA9B-D3741DDAFA77}"/>
              </a:ext>
            </a:extLst>
          </p:cNvPr>
          <p:cNvSpPr txBox="1"/>
          <p:nvPr/>
        </p:nvSpPr>
        <p:spPr>
          <a:xfrm>
            <a:off x="8459719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3208D9-8CA8-8545-A65C-A98896AB66F9}"/>
              </a:ext>
            </a:extLst>
          </p:cNvPr>
          <p:cNvSpPr txBox="1"/>
          <p:nvPr/>
        </p:nvSpPr>
        <p:spPr>
          <a:xfrm>
            <a:off x="10781251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B152D-9A26-9B43-A7B1-29D9BE13117F}"/>
              </a:ext>
            </a:extLst>
          </p:cNvPr>
          <p:cNvCxnSpPr>
            <a:cxnSpLocks/>
            <a:stCxn id="12" idx="2"/>
            <a:endCxn id="43" idx="0"/>
          </p:cNvCxnSpPr>
          <p:nvPr/>
        </p:nvCxnSpPr>
        <p:spPr>
          <a:xfrm flipH="1">
            <a:off x="9987303" y="3457265"/>
            <a:ext cx="4432" cy="3128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46E12C-C254-B54E-96B1-3BAC1435E7C3}"/>
              </a:ext>
            </a:extLst>
          </p:cNvPr>
          <p:cNvSpPr txBox="1"/>
          <p:nvPr/>
        </p:nvSpPr>
        <p:spPr>
          <a:xfrm>
            <a:off x="9667792" y="3770068"/>
            <a:ext cx="639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graphicFrame>
        <p:nvGraphicFramePr>
          <p:cNvPr id="29" name="Table 5">
            <a:extLst>
              <a:ext uri="{FF2B5EF4-FFF2-40B4-BE49-F238E27FC236}">
                <a16:creationId xmlns:a16="http://schemas.microsoft.com/office/drawing/2014/main" id="{0A04DC6E-8754-C14F-8293-90EC3D5A024E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9010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523A5C-5656-2C48-9561-C5E06431FF8C}"/>
              </a:ext>
            </a:extLst>
          </p:cNvPr>
          <p:cNvCxnSpPr>
            <a:cxnSpLocks/>
          </p:cNvCxnSpPr>
          <p:nvPr/>
        </p:nvCxnSpPr>
        <p:spPr>
          <a:xfrm flipH="1">
            <a:off x="8758711" y="413940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827981-7496-3044-A580-D70075F49F40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73D50F-AD23-2A43-8FB5-2E5521EA1252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A10946-EFD4-7E40-AB1D-DC861347C615}"/>
              </a:ext>
            </a:extLst>
          </p:cNvPr>
          <p:cNvSpPr txBox="1"/>
          <p:nvPr/>
        </p:nvSpPr>
        <p:spPr>
          <a:xfrm>
            <a:off x="9525511" y="4606502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E779DE-0E1B-6646-BA9B-D3741DDAFA77}"/>
              </a:ext>
            </a:extLst>
          </p:cNvPr>
          <p:cNvSpPr txBox="1"/>
          <p:nvPr/>
        </p:nvSpPr>
        <p:spPr>
          <a:xfrm>
            <a:off x="8459719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3208D9-8CA8-8545-A65C-A98896AB66F9}"/>
              </a:ext>
            </a:extLst>
          </p:cNvPr>
          <p:cNvSpPr txBox="1"/>
          <p:nvPr/>
        </p:nvSpPr>
        <p:spPr>
          <a:xfrm>
            <a:off x="10781251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B152D-9A26-9B43-A7B1-29D9BE13117F}"/>
              </a:ext>
            </a:extLst>
          </p:cNvPr>
          <p:cNvCxnSpPr>
            <a:cxnSpLocks/>
            <a:stCxn id="12" idx="2"/>
            <a:endCxn id="43" idx="0"/>
          </p:cNvCxnSpPr>
          <p:nvPr/>
        </p:nvCxnSpPr>
        <p:spPr>
          <a:xfrm flipH="1">
            <a:off x="9987303" y="3457265"/>
            <a:ext cx="4432" cy="3128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46E12C-C254-B54E-96B1-3BAC1435E7C3}"/>
              </a:ext>
            </a:extLst>
          </p:cNvPr>
          <p:cNvSpPr txBox="1"/>
          <p:nvPr/>
        </p:nvSpPr>
        <p:spPr>
          <a:xfrm>
            <a:off x="9667792" y="3770068"/>
            <a:ext cx="639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540521-17C6-EC43-BC96-BB34123D64CE}"/>
              </a:ext>
            </a:extLst>
          </p:cNvPr>
          <p:cNvSpPr txBox="1"/>
          <p:nvPr/>
        </p:nvSpPr>
        <p:spPr>
          <a:xfrm>
            <a:off x="8223152" y="594423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C8F0CC-8EE2-F145-9D4D-E31B4417315B}"/>
              </a:ext>
            </a:extLst>
          </p:cNvPr>
          <p:cNvSpPr txBox="1"/>
          <p:nvPr/>
        </p:nvSpPr>
        <p:spPr>
          <a:xfrm>
            <a:off x="8429296" y="527483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C7DED96-B025-904A-A333-37DE1FE9A7F1}"/>
              </a:ext>
            </a:extLst>
          </p:cNvPr>
          <p:cNvCxnSpPr>
            <a:cxnSpLocks/>
            <a:stCxn id="55" idx="2"/>
            <a:endCxn id="54" idx="0"/>
          </p:cNvCxnSpPr>
          <p:nvPr/>
        </p:nvCxnSpPr>
        <p:spPr>
          <a:xfrm flipH="1">
            <a:off x="8791577" y="5644169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1EE8A74-38A2-CD4C-9B1F-B1674EDD25B9}"/>
              </a:ext>
            </a:extLst>
          </p:cNvPr>
          <p:cNvCxnSpPr>
            <a:cxnSpLocks/>
          </p:cNvCxnSpPr>
          <p:nvPr/>
        </p:nvCxnSpPr>
        <p:spPr>
          <a:xfrm flipH="1">
            <a:off x="8773620" y="495645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FF7024A-16C9-E64F-8C94-B05E0079A3E1}"/>
              </a:ext>
            </a:extLst>
          </p:cNvPr>
          <p:cNvSpPr txBox="1"/>
          <p:nvPr/>
        </p:nvSpPr>
        <p:spPr>
          <a:xfrm>
            <a:off x="10546607" y="594423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30AFD8-7831-4340-B3B1-D26D06FFC84A}"/>
              </a:ext>
            </a:extLst>
          </p:cNvPr>
          <p:cNvSpPr txBox="1"/>
          <p:nvPr/>
        </p:nvSpPr>
        <p:spPr>
          <a:xfrm>
            <a:off x="10752751" y="527483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04A8729-D901-5145-8399-EBECB27338FB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 flipH="1">
            <a:off x="11115032" y="5644169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9889343-814F-AC47-BCAA-253276D34071}"/>
              </a:ext>
            </a:extLst>
          </p:cNvPr>
          <p:cNvCxnSpPr>
            <a:cxnSpLocks/>
          </p:cNvCxnSpPr>
          <p:nvPr/>
        </p:nvCxnSpPr>
        <p:spPr>
          <a:xfrm flipH="1">
            <a:off x="11097075" y="495645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5">
            <a:extLst>
              <a:ext uri="{FF2B5EF4-FFF2-40B4-BE49-F238E27FC236}">
                <a16:creationId xmlns:a16="http://schemas.microsoft.com/office/drawing/2014/main" id="{EAE5DCAE-5344-7E4A-8E00-CD15BC32AB8D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1027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B04B-79DD-054E-9290-EC07D4E2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FA2C50D-9623-3241-8FDF-13DC5AB960D5}"/>
              </a:ext>
            </a:extLst>
          </p:cNvPr>
          <p:cNvGraphicFramePr>
            <a:graphicFrameLocks noGrp="1"/>
          </p:cNvGraphicFramePr>
          <p:nvPr/>
        </p:nvGraphicFramePr>
        <p:xfrm>
          <a:off x="458380" y="3180219"/>
          <a:ext cx="5804799" cy="31067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387257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15421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(LHS)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 (RHS)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 PIPE choice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r>
                        <a:rPr lang="en-US" sz="1600" dirty="0">
                          <a:latin typeface="Courier" pitchFamily="2" charset="0"/>
                        </a:rPr>
                        <a:t> DOT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star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 STAR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LPAR choice RPAR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39FDEE-6056-BA6E-D7D0-D5FC556ECD6D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</p:spTree>
    <p:extLst>
      <p:ext uri="{BB962C8B-B14F-4D97-AF65-F5344CB8AC3E}">
        <p14:creationId xmlns:p14="http://schemas.microsoft.com/office/powerpoint/2010/main" val="34434628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D8BF28-0940-BB41-8B83-4E5F8F8EE8D3}"/>
              </a:ext>
            </a:extLst>
          </p:cNvPr>
          <p:cNvGraphicFramePr>
            <a:graphicFrameLocks noGrp="1"/>
          </p:cNvGraphicFramePr>
          <p:nvPr/>
        </p:nvGraphicFramePr>
        <p:xfrm>
          <a:off x="458380" y="3180219"/>
          <a:ext cx="5804799" cy="31067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186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35961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choice PIPE choice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r>
                        <a:rPr lang="en-US" sz="1600" dirty="0">
                          <a:latin typeface="Courier" pitchFamily="2" charset="0"/>
                        </a:rPr>
                        <a:t> DOT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starred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starred STAR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LPAREN choice RPAREN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D307D94F-632F-B20D-DDB1-41198D97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FB234C-7331-7565-8836-FEB00EFE813A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</p:spTree>
    <p:extLst>
      <p:ext uri="{BB962C8B-B14F-4D97-AF65-F5344CB8AC3E}">
        <p14:creationId xmlns:p14="http://schemas.microsoft.com/office/powerpoint/2010/main" val="17300348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C9E642-CCFC-BD44-B0F5-9C04422BE9C5}"/>
              </a:ext>
            </a:extLst>
          </p:cNvPr>
          <p:cNvSpPr txBox="1"/>
          <p:nvPr/>
        </p:nvSpPr>
        <p:spPr>
          <a:xfrm>
            <a:off x="7512876" y="1655344"/>
            <a:ext cx="3887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</a:t>
            </a:r>
            <a:r>
              <a:rPr lang="en-US" sz="3200" dirty="0" err="1">
                <a:latin typeface="Courier" pitchFamily="2" charset="0"/>
              </a:rPr>
              <a:t>a.b</a:t>
            </a:r>
            <a:r>
              <a:rPr lang="en-US" sz="3200" dirty="0">
                <a:latin typeface="Courier" pitchFamily="2" charset="0"/>
              </a:rPr>
              <a:t> | c*</a:t>
            </a:r>
          </a:p>
        </p:txBody>
      </p:sp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A45D88A6-2785-A242-B11A-D5139ECA264A}"/>
              </a:ext>
            </a:extLst>
          </p:cNvPr>
          <p:cNvGraphicFramePr>
            <a:graphicFrameLocks noGrp="1"/>
          </p:cNvGraphicFramePr>
          <p:nvPr/>
        </p:nvGraphicFramePr>
        <p:xfrm>
          <a:off x="458380" y="3180219"/>
          <a:ext cx="5804799" cy="31067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186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35961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choice PIPE choice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r>
                        <a:rPr lang="en-US" sz="1600" dirty="0">
                          <a:latin typeface="Courier" pitchFamily="2" charset="0"/>
                        </a:rPr>
                        <a:t> DOT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starred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starred STAR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LPAREN choice RPAREN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A03C10B2-2FAE-C53E-5D39-B10B0EADA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594887-F6FD-439B-0BB3-ABFBBD3E5C93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</p:spTree>
    <p:extLst>
      <p:ext uri="{BB962C8B-B14F-4D97-AF65-F5344CB8AC3E}">
        <p14:creationId xmlns:p14="http://schemas.microsoft.com/office/powerpoint/2010/main" val="22078714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C9E642-CCFC-BD44-B0F5-9C04422BE9C5}"/>
              </a:ext>
            </a:extLst>
          </p:cNvPr>
          <p:cNvSpPr txBox="1"/>
          <p:nvPr/>
        </p:nvSpPr>
        <p:spPr>
          <a:xfrm>
            <a:off x="7512876" y="1655344"/>
            <a:ext cx="3887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</a:t>
            </a:r>
            <a:r>
              <a:rPr lang="en-US" sz="3200" dirty="0" err="1">
                <a:latin typeface="Courier" pitchFamily="2" charset="0"/>
              </a:rPr>
              <a:t>a.b</a:t>
            </a:r>
            <a:r>
              <a:rPr lang="en-US" sz="3200" dirty="0">
                <a:latin typeface="Courier" pitchFamily="2" charset="0"/>
              </a:rPr>
              <a:t> | c*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47664C-D91B-8440-AA20-AFDFCF36154B}"/>
              </a:ext>
            </a:extLst>
          </p:cNvPr>
          <p:cNvSpPr txBox="1"/>
          <p:nvPr/>
        </p:nvSpPr>
        <p:spPr>
          <a:xfrm>
            <a:off x="9339737" y="2409397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DF472A-6C36-FF42-A3A4-79D9080D1181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8129065" y="2778729"/>
            <a:ext cx="1573111" cy="3142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507DF4-F531-E447-B4ED-2E3DBF242ADB}"/>
              </a:ext>
            </a:extLst>
          </p:cNvPr>
          <p:cNvSpPr txBox="1"/>
          <p:nvPr/>
        </p:nvSpPr>
        <p:spPr>
          <a:xfrm>
            <a:off x="7766626" y="3092947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AF8137-27D4-9040-94A2-2B20CBAFEAE5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flipH="1">
            <a:off x="9694039" y="2778729"/>
            <a:ext cx="8137" cy="3324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E4D0A9-B304-1A41-8D13-92EAA4696DB1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>
            <a:off x="9702176" y="2778729"/>
            <a:ext cx="1119126" cy="3142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2FD291F-00F2-7C47-94D4-C48CC1483061}"/>
              </a:ext>
            </a:extLst>
          </p:cNvPr>
          <p:cNvSpPr txBox="1"/>
          <p:nvPr/>
        </p:nvSpPr>
        <p:spPr>
          <a:xfrm>
            <a:off x="9433390" y="311114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&lt;|&gt;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410753-0EB0-C04F-AA31-D7D6B5716466}"/>
              </a:ext>
            </a:extLst>
          </p:cNvPr>
          <p:cNvSpPr txBox="1"/>
          <p:nvPr/>
        </p:nvSpPr>
        <p:spPr>
          <a:xfrm>
            <a:off x="10458863" y="3092947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9414BE-318D-AA40-8BA0-7C6C1A33706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129065" y="3462279"/>
            <a:ext cx="0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C77B0E-B55C-E445-8840-3A873E58B6B0}"/>
              </a:ext>
            </a:extLst>
          </p:cNvPr>
          <p:cNvCxnSpPr>
            <a:cxnSpLocks/>
          </p:cNvCxnSpPr>
          <p:nvPr/>
        </p:nvCxnSpPr>
        <p:spPr>
          <a:xfrm>
            <a:off x="10798632" y="4193842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3470439-291C-EB48-9C65-CD010CB06FEC}"/>
              </a:ext>
            </a:extLst>
          </p:cNvPr>
          <p:cNvSpPr txBox="1"/>
          <p:nvPr/>
        </p:nvSpPr>
        <p:spPr>
          <a:xfrm>
            <a:off x="10373067" y="4671386"/>
            <a:ext cx="85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starred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87C754-E04A-D446-8D6D-AD8F54AB7008}"/>
              </a:ext>
            </a:extLst>
          </p:cNvPr>
          <p:cNvSpPr txBox="1"/>
          <p:nvPr/>
        </p:nvSpPr>
        <p:spPr>
          <a:xfrm>
            <a:off x="7695682" y="3762340"/>
            <a:ext cx="8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AB7DC7-A806-2F42-983B-6269BA61C35D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 flipH="1">
            <a:off x="7333670" y="4131672"/>
            <a:ext cx="76475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7EDCEB3-45C7-CC43-AD67-8C8A8AF1F8B8}"/>
              </a:ext>
            </a:extLst>
          </p:cNvPr>
          <p:cNvSpPr txBox="1"/>
          <p:nvPr/>
        </p:nvSpPr>
        <p:spPr>
          <a:xfrm>
            <a:off x="6930931" y="4431733"/>
            <a:ext cx="8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B04F1A-E37D-9F4E-9C01-99F9539771B3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7333670" y="4801065"/>
            <a:ext cx="0" cy="402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990EE9-CA8B-A342-B77B-B0BB9DF2B937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821302" y="3462279"/>
            <a:ext cx="0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50D0E49-1903-E146-88AE-8CC3EC6FC2FF}"/>
              </a:ext>
            </a:extLst>
          </p:cNvPr>
          <p:cNvSpPr txBox="1"/>
          <p:nvPr/>
        </p:nvSpPr>
        <p:spPr>
          <a:xfrm>
            <a:off x="10409766" y="3762340"/>
            <a:ext cx="856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3A245A-7C88-BC4E-ABDB-3EB7D5CA3082}"/>
              </a:ext>
            </a:extLst>
          </p:cNvPr>
          <p:cNvSpPr txBox="1"/>
          <p:nvPr/>
        </p:nvSpPr>
        <p:spPr>
          <a:xfrm>
            <a:off x="9798230" y="6080090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&lt;CHAR, c&gt;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FC0300-B87D-5A4E-8468-9F191AC895BB}"/>
              </a:ext>
            </a:extLst>
          </p:cNvPr>
          <p:cNvSpPr txBox="1"/>
          <p:nvPr/>
        </p:nvSpPr>
        <p:spPr>
          <a:xfrm>
            <a:off x="10109750" y="539350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95C601-C313-4A49-948E-C83C11D5DA52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10379159" y="5762837"/>
            <a:ext cx="9674" cy="2833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1E55B2F-406B-5644-9706-F1B30139727A}"/>
              </a:ext>
            </a:extLst>
          </p:cNvPr>
          <p:cNvCxnSpPr>
            <a:cxnSpLocks/>
            <a:stCxn id="21" idx="2"/>
            <a:endCxn id="31" idx="0"/>
          </p:cNvCxnSpPr>
          <p:nvPr/>
        </p:nvCxnSpPr>
        <p:spPr>
          <a:xfrm flipH="1">
            <a:off x="10388833" y="5040718"/>
            <a:ext cx="409799" cy="3527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228FA1B-FCF7-B043-8D66-37DCBFB0C26A}"/>
              </a:ext>
            </a:extLst>
          </p:cNvPr>
          <p:cNvSpPr txBox="1"/>
          <p:nvPr/>
        </p:nvSpPr>
        <p:spPr>
          <a:xfrm>
            <a:off x="11518871" y="550227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&lt;*&gt;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3AD153E-C059-3046-81C2-F10A98FB45D7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0798632" y="5040718"/>
            <a:ext cx="1064564" cy="443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5B3A1FD-76E5-F54E-AF66-FD77A986F062}"/>
              </a:ext>
            </a:extLst>
          </p:cNvPr>
          <p:cNvCxnSpPr>
            <a:cxnSpLocks/>
            <a:stCxn id="24" idx="2"/>
            <a:endCxn id="47" idx="0"/>
          </p:cNvCxnSpPr>
          <p:nvPr/>
        </p:nvCxnSpPr>
        <p:spPr>
          <a:xfrm>
            <a:off x="8098421" y="4131672"/>
            <a:ext cx="787389" cy="3159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4B8F012-ED5B-E94E-9B55-C3619C381A62}"/>
              </a:ext>
            </a:extLst>
          </p:cNvPr>
          <p:cNvSpPr txBox="1"/>
          <p:nvPr/>
        </p:nvSpPr>
        <p:spPr>
          <a:xfrm>
            <a:off x="8483071" y="4447642"/>
            <a:ext cx="8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AFA77C-7C1F-EF4B-A204-93772A2A6BBA}"/>
              </a:ext>
            </a:extLst>
          </p:cNvPr>
          <p:cNvSpPr txBox="1"/>
          <p:nvPr/>
        </p:nvSpPr>
        <p:spPr>
          <a:xfrm>
            <a:off x="6942978" y="5196771"/>
            <a:ext cx="85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starred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08F0BE-7C98-EB42-96B4-A033F10408BE}"/>
              </a:ext>
            </a:extLst>
          </p:cNvPr>
          <p:cNvSpPr txBox="1"/>
          <p:nvPr/>
        </p:nvSpPr>
        <p:spPr>
          <a:xfrm>
            <a:off x="7018221" y="5808841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9005D3-CA59-4A4D-9D51-D49B4324CF6C}"/>
              </a:ext>
            </a:extLst>
          </p:cNvPr>
          <p:cNvSpPr txBox="1"/>
          <p:nvPr/>
        </p:nvSpPr>
        <p:spPr>
          <a:xfrm>
            <a:off x="6812980" y="6433483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&lt;CHAR, a&gt;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A3ECD31-2362-A94F-89D4-8A18609934BE}"/>
              </a:ext>
            </a:extLst>
          </p:cNvPr>
          <p:cNvCxnSpPr>
            <a:cxnSpLocks/>
          </p:cNvCxnSpPr>
          <p:nvPr/>
        </p:nvCxnSpPr>
        <p:spPr>
          <a:xfrm>
            <a:off x="7304852" y="5578171"/>
            <a:ext cx="2126" cy="2280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AB3F7DE-5EE8-C44B-BCEB-689A0A195ACC}"/>
              </a:ext>
            </a:extLst>
          </p:cNvPr>
          <p:cNvCxnSpPr>
            <a:cxnSpLocks/>
          </p:cNvCxnSpPr>
          <p:nvPr/>
        </p:nvCxnSpPr>
        <p:spPr>
          <a:xfrm>
            <a:off x="7309115" y="6217137"/>
            <a:ext cx="2126" cy="2280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0F903EE-1FDE-504D-A10D-71E2C079EAD5}"/>
              </a:ext>
            </a:extLst>
          </p:cNvPr>
          <p:cNvCxnSpPr>
            <a:cxnSpLocks/>
          </p:cNvCxnSpPr>
          <p:nvPr/>
        </p:nvCxnSpPr>
        <p:spPr>
          <a:xfrm>
            <a:off x="8954857" y="4756879"/>
            <a:ext cx="0" cy="402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685E38A-CCEF-364F-8E08-287DED16437B}"/>
              </a:ext>
            </a:extLst>
          </p:cNvPr>
          <p:cNvSpPr txBox="1"/>
          <p:nvPr/>
        </p:nvSpPr>
        <p:spPr>
          <a:xfrm>
            <a:off x="8564165" y="5152585"/>
            <a:ext cx="85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starred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99FFD7-AA47-604F-B74A-7860C9198879}"/>
              </a:ext>
            </a:extLst>
          </p:cNvPr>
          <p:cNvSpPr txBox="1"/>
          <p:nvPr/>
        </p:nvSpPr>
        <p:spPr>
          <a:xfrm>
            <a:off x="8639408" y="576465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8B9DD2-2604-FF42-B02A-8FF6DD389A5B}"/>
              </a:ext>
            </a:extLst>
          </p:cNvPr>
          <p:cNvSpPr txBox="1"/>
          <p:nvPr/>
        </p:nvSpPr>
        <p:spPr>
          <a:xfrm>
            <a:off x="8434167" y="6389297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&lt;CHAR ,b&gt;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7EED48C-61BC-2543-8E9D-1DB26FAD4905}"/>
              </a:ext>
            </a:extLst>
          </p:cNvPr>
          <p:cNvCxnSpPr>
            <a:cxnSpLocks/>
          </p:cNvCxnSpPr>
          <p:nvPr/>
        </p:nvCxnSpPr>
        <p:spPr>
          <a:xfrm>
            <a:off x="8926039" y="5533985"/>
            <a:ext cx="2126" cy="2280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6E3C19C-FE02-4B4B-BD66-D4C4FC15F977}"/>
              </a:ext>
            </a:extLst>
          </p:cNvPr>
          <p:cNvCxnSpPr>
            <a:cxnSpLocks/>
          </p:cNvCxnSpPr>
          <p:nvPr/>
        </p:nvCxnSpPr>
        <p:spPr>
          <a:xfrm>
            <a:off x="8930302" y="6172951"/>
            <a:ext cx="2126" cy="2280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18D11A8-C394-2F42-B3DE-2F6E7117CAF6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8067489" y="4154309"/>
            <a:ext cx="32184" cy="3324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5495334-5D51-214D-A228-99E152F04649}"/>
              </a:ext>
            </a:extLst>
          </p:cNvPr>
          <p:cNvSpPr txBox="1"/>
          <p:nvPr/>
        </p:nvSpPr>
        <p:spPr>
          <a:xfrm>
            <a:off x="7830886" y="4486720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&lt;.&gt;</a:t>
            </a:r>
          </a:p>
        </p:txBody>
      </p:sp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A45D88A6-2785-A242-B11A-D5139ECA264A}"/>
              </a:ext>
            </a:extLst>
          </p:cNvPr>
          <p:cNvGraphicFramePr>
            <a:graphicFrameLocks noGrp="1"/>
          </p:cNvGraphicFramePr>
          <p:nvPr/>
        </p:nvGraphicFramePr>
        <p:xfrm>
          <a:off x="458380" y="3180219"/>
          <a:ext cx="5804799" cy="31067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186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35961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choice PIPE choice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r>
                        <a:rPr lang="en-US" sz="1600" dirty="0">
                          <a:latin typeface="Courier" pitchFamily="2" charset="0"/>
                        </a:rPr>
                        <a:t> DOT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starred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starred STAR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LPAREN choice RPAREN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C183C8EF-AB3B-867F-BB74-A41BF9F2E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58D8A6-54C4-9740-7659-00E8C52D8577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</p:spTree>
    <p:extLst>
      <p:ext uri="{BB962C8B-B14F-4D97-AF65-F5344CB8AC3E}">
        <p14:creationId xmlns:p14="http://schemas.microsoft.com/office/powerpoint/2010/main" val="33953378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D426-5B98-3043-B47A-01716CED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levels of precedence does C have?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33CE1-4AA0-044C-8498-42909888C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en.cppreference.com</a:t>
            </a:r>
            <a:r>
              <a:rPr lang="en-US" dirty="0">
                <a:hlinkClick r:id="rId2"/>
              </a:rPr>
              <a:t>/w/c/language/</a:t>
            </a:r>
            <a:r>
              <a:rPr lang="en-US" dirty="0" err="1">
                <a:hlinkClick r:id="rId2"/>
              </a:rPr>
              <a:t>operator_precedence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4583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6A264-F7B5-4979-016A-FAC1E9C6F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Fixing Grammar for Associativity</a:t>
            </a:r>
          </a:p>
        </p:txBody>
      </p:sp>
    </p:spTree>
    <p:extLst>
      <p:ext uri="{BB962C8B-B14F-4D97-AF65-F5344CB8AC3E}">
        <p14:creationId xmlns:p14="http://schemas.microsoft.com/office/powerpoint/2010/main" val="2714563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some more parse trees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6B01C2B5-6176-E646-9408-24C01A44FD5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42735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 expr RP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587188" y="207432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</p:spTree>
    <p:extLst>
      <p:ext uri="{BB962C8B-B14F-4D97-AF65-F5344CB8AC3E}">
        <p14:creationId xmlns:p14="http://schemas.microsoft.com/office/powerpoint/2010/main" val="29431576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some more parse trees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0F22D-AA26-544C-B3FB-EB58E530F8E9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7E26D-CFCD-7842-844D-2332B62F3137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8C9B83-2BD3-C744-9567-52F09F34C6F7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3B9A3F-318E-0040-A924-E193F09EE8DE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16642F-41D5-F343-A36D-24DE9D3CB35C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1F94DC-58FE-B04D-B14A-8CA17296C99A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BBE614-E430-4A46-86B3-376DB9B607AA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C3E34-1CAB-EC47-B569-47D39EF96033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89A96-E585-1549-9F7A-CADA0521130D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AAF6AA-406B-8444-A52A-B256BBB750E3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420309-88ED-AC4D-956B-3E8B55F1191E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AA95AD2-F461-6844-9F0C-86880D7CD487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C1C11EA-526F-6443-AFB5-37E265060F55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347C45-A95B-F444-B986-AE0F5592ABD6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9C136C-22CF-174D-AE18-4E202FF5A8FD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F15B5E7-9544-B142-A8D3-A6FF5E80C700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8820E0-1B62-324E-AD21-D3B403496411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4C64BEC-172B-3D48-BE52-BF0D260C80E1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5053A2-E6EA-124F-9AAB-8C89D6069DDD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A6E64C-4EDC-B84C-B159-D51FF14C965A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89BC56-99CD-7947-BE89-6BFF1ECD8106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145A14B-0D63-484A-AC7D-82C10731D9D9}"/>
              </a:ext>
            </a:extLst>
          </p:cNvPr>
          <p:cNvCxnSpPr>
            <a:cxnSpLocks/>
            <a:stCxn id="26" idx="2"/>
            <a:endCxn id="34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D5B4B5E-A6AC-D14D-B0B9-116E2C2D68F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E4457AE-3246-EB4B-9BEA-FA938851C90B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D2D3C25-D252-7A4E-A759-0A30FCD6776B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7BB95AAA-ED28-B64C-9868-C288D734D2E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42735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 expr RP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5302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ambiguous, is it an issue?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5243806" y="168809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3636696" y="2311063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196575" y="286590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8303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for a different operator?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5979585" y="1566151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</p:spTree>
    <p:extLst>
      <p:ext uri="{BB962C8B-B14F-4D97-AF65-F5344CB8AC3E}">
        <p14:creationId xmlns:p14="http://schemas.microsoft.com/office/powerpoint/2010/main" val="40115114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for a different operator?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5979585" y="1566151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2795" cy="545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00824" y="3096661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 flipH="1">
            <a:off x="3622484" y="2311063"/>
            <a:ext cx="14212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086119" y="2847707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78502AC-FF46-EB41-BAC1-FC148BE1697D}"/>
              </a:ext>
            </a:extLst>
          </p:cNvPr>
          <p:cNvSpPr txBox="1"/>
          <p:nvPr/>
        </p:nvSpPr>
        <p:spPr>
          <a:xfrm>
            <a:off x="5046453" y="6280030"/>
            <a:ext cx="19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Which one is right?</a:t>
            </a:r>
          </a:p>
        </p:txBody>
      </p:sp>
    </p:spTree>
    <p:extLst>
      <p:ext uri="{BB962C8B-B14F-4D97-AF65-F5344CB8AC3E}">
        <p14:creationId xmlns:p14="http://schemas.microsoft.com/office/powerpoint/2010/main" val="28801172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for a different operator?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5979585" y="1566151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2795" cy="545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00824" y="3096661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 flipH="1">
            <a:off x="3622484" y="2311063"/>
            <a:ext cx="14212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086119" y="2847707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78502AC-FF46-EB41-BAC1-FC148BE1697D}"/>
              </a:ext>
            </a:extLst>
          </p:cNvPr>
          <p:cNvSpPr txBox="1"/>
          <p:nvPr/>
        </p:nvSpPr>
        <p:spPr>
          <a:xfrm>
            <a:off x="5046453" y="6280030"/>
            <a:ext cx="19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Which one is right?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36EC8E-FD12-5942-B0EA-1D6A372CD284}"/>
              </a:ext>
            </a:extLst>
          </p:cNvPr>
          <p:cNvSpPr txBox="1"/>
          <p:nvPr/>
        </p:nvSpPr>
        <p:spPr>
          <a:xfrm>
            <a:off x="760936" y="1736141"/>
            <a:ext cx="1065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Evaluates</a:t>
            </a:r>
            <a:br>
              <a:rPr lang="en-US" dirty="0"/>
            </a:br>
            <a:r>
              <a:rPr lang="en-US" dirty="0"/>
              <a:t>(2-3) - 4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CC7B1F-98DD-354F-8C24-0831EDF1BF63}"/>
              </a:ext>
            </a:extLst>
          </p:cNvPr>
          <p:cNvSpPr txBox="1"/>
          <p:nvPr/>
        </p:nvSpPr>
        <p:spPr>
          <a:xfrm>
            <a:off x="9695755" y="2007967"/>
            <a:ext cx="1065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Evaluates</a:t>
            </a:r>
            <a:br>
              <a:rPr lang="en-US" dirty="0"/>
            </a:br>
            <a:r>
              <a:rPr lang="en-US" dirty="0"/>
              <a:t>2 - (3 - 4)</a:t>
            </a:r>
          </a:p>
        </p:txBody>
      </p:sp>
    </p:spTree>
    <p:extLst>
      <p:ext uri="{BB962C8B-B14F-4D97-AF65-F5344CB8AC3E}">
        <p14:creationId xmlns:p14="http://schemas.microsoft.com/office/powerpoint/2010/main" val="27944187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5789-BDEB-A84C-8FC4-E22C0E93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E6FD-8867-CA4B-8D0A-66BEE4B87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an operator is not associative then we define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left to right (left-associative)</a:t>
            </a:r>
          </a:p>
          <a:p>
            <a:pPr lvl="1"/>
            <a:r>
              <a:rPr lang="en-US" dirty="0">
                <a:latin typeface="Courier" pitchFamily="2" charset="0"/>
              </a:rPr>
              <a:t>2-3-4 </a:t>
            </a:r>
            <a:r>
              <a:rPr lang="en-US" dirty="0"/>
              <a:t>is evaluated as ((2-3) - 4)</a:t>
            </a:r>
          </a:p>
          <a:p>
            <a:pPr lvl="1"/>
            <a:r>
              <a:rPr lang="en-US" dirty="0"/>
              <a:t>What other operators are left-associative</a:t>
            </a:r>
          </a:p>
          <a:p>
            <a:endParaRPr lang="en-US" dirty="0"/>
          </a:p>
          <a:p>
            <a:r>
              <a:rPr lang="en-US" dirty="0"/>
              <a:t>right-to-left (right-associative)</a:t>
            </a:r>
          </a:p>
          <a:p>
            <a:pPr lvl="1"/>
            <a:r>
              <a:rPr lang="en-US" dirty="0"/>
              <a:t>Any operators you can think of?</a:t>
            </a:r>
          </a:p>
        </p:txBody>
      </p:sp>
    </p:spTree>
    <p:extLst>
      <p:ext uri="{BB962C8B-B14F-4D97-AF65-F5344CB8AC3E}">
        <p14:creationId xmlns:p14="http://schemas.microsoft.com/office/powerpoint/2010/main" val="42335413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5789-BDEB-A84C-8FC4-E22C0E93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E6FD-8867-CA4B-8D0A-66BEE4B87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an operator is not associative then we define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left to right (left-associative)</a:t>
            </a:r>
          </a:p>
          <a:p>
            <a:pPr lvl="1"/>
            <a:r>
              <a:rPr lang="en-US" dirty="0">
                <a:latin typeface="Courier" pitchFamily="2" charset="0"/>
              </a:rPr>
              <a:t>2-3-4 </a:t>
            </a:r>
            <a:r>
              <a:rPr lang="en-US" dirty="0"/>
              <a:t>is evaluated as ((2-3) - 4)</a:t>
            </a:r>
          </a:p>
          <a:p>
            <a:pPr lvl="1"/>
            <a:r>
              <a:rPr lang="en-US" dirty="0"/>
              <a:t>What other operators are left-associative</a:t>
            </a:r>
          </a:p>
          <a:p>
            <a:endParaRPr lang="en-US" dirty="0"/>
          </a:p>
          <a:p>
            <a:r>
              <a:rPr lang="en-US" dirty="0"/>
              <a:t>right-to-left (right-associative)</a:t>
            </a:r>
          </a:p>
          <a:p>
            <a:pPr lvl="1"/>
            <a:r>
              <a:rPr lang="en-US" dirty="0"/>
              <a:t>Assignment, power operator</a:t>
            </a:r>
          </a:p>
        </p:txBody>
      </p:sp>
    </p:spTree>
    <p:extLst>
      <p:ext uri="{BB962C8B-B14F-4D97-AF65-F5344CB8AC3E}">
        <p14:creationId xmlns:p14="http://schemas.microsoft.com/office/powerpoint/2010/main" val="5118687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667E1-5607-3343-903A-9477D4E8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encode associativity?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684E6-A199-0A46-B1CB-580073C18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precedence, some tools (e.g. YACC/Bison) allow associativity specification through keywords:</a:t>
            </a:r>
          </a:p>
          <a:p>
            <a:pPr lvl="1"/>
            <a:r>
              <a:rPr lang="en-US" dirty="0"/>
              <a:t>“+”: left, “^”: right</a:t>
            </a:r>
          </a:p>
          <a:p>
            <a:pPr lvl="1"/>
            <a:endParaRPr lang="en-US" dirty="0"/>
          </a:p>
          <a:p>
            <a:r>
              <a:rPr lang="en-US" dirty="0"/>
              <a:t>Also like precedence, we can also encode it into the production rules</a:t>
            </a:r>
          </a:p>
        </p:txBody>
      </p:sp>
    </p:spTree>
    <p:extLst>
      <p:ext uri="{BB962C8B-B14F-4D97-AF65-F5344CB8AC3E}">
        <p14:creationId xmlns:p14="http://schemas.microsoft.com/office/powerpoint/2010/main" val="36088788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0F22D-AA26-544C-B3FB-EB58E530F8E9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7E26D-CFCD-7842-844D-2332B62F3137}"/>
              </a:ext>
            </a:extLst>
          </p:cNvPr>
          <p:cNvSpPr txBox="1"/>
          <p:nvPr/>
        </p:nvSpPr>
        <p:spPr>
          <a:xfrm>
            <a:off x="6732371" y="394354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8C9B83-2BD3-C744-9567-52F09F34C6F7}"/>
              </a:ext>
            </a:extLst>
          </p:cNvPr>
          <p:cNvCxnSpPr>
            <a:cxnSpLocks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3B9A3F-318E-0040-A924-E193F09EE8DE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16642F-41D5-F343-A36D-24DE9D3CB35C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1F94DC-58FE-B04D-B14A-8CA17296C99A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BBE614-E430-4A46-86B3-376DB9B607AA}"/>
              </a:ext>
            </a:extLst>
          </p:cNvPr>
          <p:cNvSpPr txBox="1"/>
          <p:nvPr/>
        </p:nvSpPr>
        <p:spPr>
          <a:xfrm>
            <a:off x="9525511" y="392687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C3E34-1CAB-EC47-B569-47D39EF96033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89A96-E585-1549-9F7A-CADA0521130D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347C45-A95B-F444-B986-AE0F5592ABD6}"/>
              </a:ext>
            </a:extLst>
          </p:cNvPr>
          <p:cNvSpPr txBox="1"/>
          <p:nvPr/>
        </p:nvSpPr>
        <p:spPr>
          <a:xfrm>
            <a:off x="8206141" y="45474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8820E0-1B62-324E-AD21-D3B403496411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4C64BEC-172B-3D48-BE52-BF0D260C80E1}"/>
              </a:ext>
            </a:extLst>
          </p:cNvPr>
          <p:cNvSpPr txBox="1"/>
          <p:nvPr/>
        </p:nvSpPr>
        <p:spPr>
          <a:xfrm>
            <a:off x="10528650" y="45888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89BC56-99CD-7947-BE89-6BFF1ECD8106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DACB1283-3538-414F-8244-2A03F2510237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expr</a:t>
                      </a:r>
                      <a:r>
                        <a:rPr lang="en-US" sz="1400" dirty="0">
                          <a:latin typeface="Courier" pitchFamily="2" charset="0"/>
                        </a:rPr>
                        <a:t> MINUS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35F01A2-DC9A-E248-9B3D-E491452F1528}"/>
              </a:ext>
            </a:extLst>
          </p:cNvPr>
          <p:cNvSpPr txBox="1"/>
          <p:nvPr/>
        </p:nvSpPr>
        <p:spPr>
          <a:xfrm>
            <a:off x="7518400" y="5621867"/>
            <a:ext cx="348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want to disallow this parse tree</a:t>
            </a:r>
          </a:p>
        </p:txBody>
      </p:sp>
    </p:spTree>
    <p:extLst>
      <p:ext uri="{BB962C8B-B14F-4D97-AF65-F5344CB8AC3E}">
        <p14:creationId xmlns:p14="http://schemas.microsoft.com/office/powerpoint/2010/main" val="22031306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0F22D-AA26-544C-B3FB-EB58E530F8E9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7E26D-CFCD-7842-844D-2332B62F3137}"/>
              </a:ext>
            </a:extLst>
          </p:cNvPr>
          <p:cNvSpPr txBox="1"/>
          <p:nvPr/>
        </p:nvSpPr>
        <p:spPr>
          <a:xfrm>
            <a:off x="6732371" y="394354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8C9B83-2BD3-C744-9567-52F09F34C6F7}"/>
              </a:ext>
            </a:extLst>
          </p:cNvPr>
          <p:cNvCxnSpPr>
            <a:cxnSpLocks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3B9A3F-318E-0040-A924-E193F09EE8DE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16642F-41D5-F343-A36D-24DE9D3CB35C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1F94DC-58FE-B04D-B14A-8CA17296C99A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BBE614-E430-4A46-86B3-376DB9B607AA}"/>
              </a:ext>
            </a:extLst>
          </p:cNvPr>
          <p:cNvSpPr txBox="1"/>
          <p:nvPr/>
        </p:nvSpPr>
        <p:spPr>
          <a:xfrm>
            <a:off x="9525511" y="392687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C3E34-1CAB-EC47-B569-47D39EF96033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89A96-E585-1549-9F7A-CADA0521130D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347C45-A95B-F444-B986-AE0F5592ABD6}"/>
              </a:ext>
            </a:extLst>
          </p:cNvPr>
          <p:cNvSpPr txBox="1"/>
          <p:nvPr/>
        </p:nvSpPr>
        <p:spPr>
          <a:xfrm>
            <a:off x="8206141" y="45474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8820E0-1B62-324E-AD21-D3B403496411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4C64BEC-172B-3D48-BE52-BF0D260C80E1}"/>
              </a:ext>
            </a:extLst>
          </p:cNvPr>
          <p:cNvSpPr txBox="1"/>
          <p:nvPr/>
        </p:nvSpPr>
        <p:spPr>
          <a:xfrm>
            <a:off x="10528650" y="45888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89BC56-99CD-7947-BE89-6BFF1ECD8106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EE65D4E-3467-424A-A30E-17F0A813E8DA}"/>
              </a:ext>
            </a:extLst>
          </p:cNvPr>
          <p:cNvSpPr txBox="1"/>
          <p:nvPr/>
        </p:nvSpPr>
        <p:spPr>
          <a:xfrm>
            <a:off x="7988060" y="5529532"/>
            <a:ext cx="1898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 longer allowed</a:t>
            </a:r>
          </a:p>
        </p:txBody>
      </p:sp>
      <p:graphicFrame>
        <p:nvGraphicFramePr>
          <p:cNvPr id="26" name="Table 5">
            <a:extLst>
              <a:ext uri="{FF2B5EF4-FFF2-40B4-BE49-F238E27FC236}">
                <a16:creationId xmlns:a16="http://schemas.microsoft.com/office/drawing/2014/main" id="{4231F5F5-9F65-BA4C-A5AC-25EBF69D13AC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8848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&lt;NUM,?&gt;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EBE7E-1A6E-3E45-8476-11624B376034}"/>
              </a:ext>
            </a:extLst>
          </p:cNvPr>
          <p:cNvSpPr txBox="1"/>
          <p:nvPr/>
        </p:nvSpPr>
        <p:spPr>
          <a:xfrm>
            <a:off x="8117457" y="4960189"/>
            <a:ext cx="1516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Lets start over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45547E6C-B688-D147-89EB-60B9050A5848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2823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EBA2E05B-38C9-4F45-B077-FACE37EC28DE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3363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12E04-ADA6-5342-81EB-6AA7F52872C4}"/>
              </a:ext>
            </a:extLst>
          </p:cNvPr>
          <p:cNvCxnSpPr>
            <a:cxnSpLocks/>
          </p:cNvCxnSpPr>
          <p:nvPr/>
        </p:nvCxnSpPr>
        <p:spPr>
          <a:xfrm flipH="1">
            <a:off x="6041796" y="349011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4960-E97C-E647-A144-AFE1E4ECFC6F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BDBE9-A62C-E845-95A7-824487D0EB14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867A5-145C-D648-9255-0FEE7ACAE57D}"/>
              </a:ext>
            </a:extLst>
          </p:cNvPr>
          <p:cNvSpPr txBox="1"/>
          <p:nvPr/>
        </p:nvSpPr>
        <p:spPr>
          <a:xfrm>
            <a:off x="6808596" y="3957218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7551D-8133-1F43-AE4E-F03359D57985}"/>
              </a:ext>
            </a:extLst>
          </p:cNvPr>
          <p:cNvSpPr txBox="1"/>
          <p:nvPr/>
        </p:nvSpPr>
        <p:spPr>
          <a:xfrm>
            <a:off x="5742804" y="392582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96C263-B7AB-EF44-8171-C2B69C5C1AA5}"/>
              </a:ext>
            </a:extLst>
          </p:cNvPr>
          <p:cNvSpPr txBox="1"/>
          <p:nvPr/>
        </p:nvSpPr>
        <p:spPr>
          <a:xfrm>
            <a:off x="7881326" y="400024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&lt;NUM,3&gt;</a:t>
            </a:r>
          </a:p>
        </p:txBody>
      </p:sp>
      <p:graphicFrame>
        <p:nvGraphicFramePr>
          <p:cNvPr id="18" name="Table 5">
            <a:extLst>
              <a:ext uri="{FF2B5EF4-FFF2-40B4-BE49-F238E27FC236}">
                <a16:creationId xmlns:a16="http://schemas.microsoft.com/office/drawing/2014/main" id="{B2058F98-5630-CA47-96BA-905C50FE7FC3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1277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12E04-ADA6-5342-81EB-6AA7F52872C4}"/>
              </a:ext>
            </a:extLst>
          </p:cNvPr>
          <p:cNvCxnSpPr>
            <a:cxnSpLocks/>
          </p:cNvCxnSpPr>
          <p:nvPr/>
        </p:nvCxnSpPr>
        <p:spPr>
          <a:xfrm flipH="1">
            <a:off x="6041796" y="349011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4960-E97C-E647-A144-AFE1E4ECFC6F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BDBE9-A62C-E845-95A7-824487D0EB14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867A5-145C-D648-9255-0FEE7ACAE57D}"/>
              </a:ext>
            </a:extLst>
          </p:cNvPr>
          <p:cNvSpPr txBox="1"/>
          <p:nvPr/>
        </p:nvSpPr>
        <p:spPr>
          <a:xfrm>
            <a:off x="6808596" y="3957218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7551D-8133-1F43-AE4E-F03359D57985}"/>
              </a:ext>
            </a:extLst>
          </p:cNvPr>
          <p:cNvSpPr txBox="1"/>
          <p:nvPr/>
        </p:nvSpPr>
        <p:spPr>
          <a:xfrm>
            <a:off x="5742804" y="392582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CDA4B-42EF-B64E-B7A6-C7516E74D336}"/>
              </a:ext>
            </a:extLst>
          </p:cNvPr>
          <p:cNvSpPr txBox="1"/>
          <p:nvPr/>
        </p:nvSpPr>
        <p:spPr>
          <a:xfrm>
            <a:off x="5473371" y="456085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BC52A7-43FA-5C4F-9DD2-C9FCE41F5C3D}"/>
              </a:ext>
            </a:extLst>
          </p:cNvPr>
          <p:cNvCxnSpPr>
            <a:cxnSpLocks/>
          </p:cNvCxnSpPr>
          <p:nvPr/>
        </p:nvCxnSpPr>
        <p:spPr>
          <a:xfrm flipH="1">
            <a:off x="6040850" y="429021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8403D4-24A4-564F-98BD-61348436B384}"/>
              </a:ext>
            </a:extLst>
          </p:cNvPr>
          <p:cNvSpPr txBox="1"/>
          <p:nvPr/>
        </p:nvSpPr>
        <p:spPr>
          <a:xfrm>
            <a:off x="7881326" y="397512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68686450-3526-1A42-A928-04980313BDD8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6682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Should you have associativity when its not required?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</a:t>
            </a:r>
            <a:r>
              <a:rPr lang="en-US" sz="3200" dirty="0">
                <a:highlight>
                  <a:srgbClr val="FFFF00"/>
                </a:highlight>
                <a:latin typeface="Courier" pitchFamily="2" charset="0"/>
              </a:rPr>
              <a:t>+</a:t>
            </a:r>
            <a:r>
              <a:rPr lang="en-US" sz="3200" dirty="0">
                <a:latin typeface="Courier" pitchFamily="2" charset="0"/>
              </a:rPr>
              <a:t>3</a:t>
            </a:r>
            <a:r>
              <a:rPr lang="en-US" sz="3200" dirty="0">
                <a:highlight>
                  <a:srgbClr val="FFFF00"/>
                </a:highlight>
                <a:latin typeface="Courier" pitchFamily="2" charset="0"/>
              </a:rPr>
              <a:t>+</a:t>
            </a:r>
            <a:r>
              <a:rPr lang="en-US" sz="3200" dirty="0">
                <a:latin typeface="Courier" pitchFamily="2" charset="0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8932730" y="2551289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492609" y="309994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12E04-ADA6-5342-81EB-6AA7F52872C4}"/>
              </a:ext>
            </a:extLst>
          </p:cNvPr>
          <p:cNvCxnSpPr>
            <a:cxnSpLocks/>
          </p:cNvCxnSpPr>
          <p:nvPr/>
        </p:nvCxnSpPr>
        <p:spPr>
          <a:xfrm flipH="1">
            <a:off x="6041796" y="349011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4960-E97C-E647-A144-AFE1E4ECFC6F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BDBE9-A62C-E845-95A7-824487D0EB14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867A5-145C-D648-9255-0FEE7ACAE57D}"/>
              </a:ext>
            </a:extLst>
          </p:cNvPr>
          <p:cNvSpPr txBox="1"/>
          <p:nvPr/>
        </p:nvSpPr>
        <p:spPr>
          <a:xfrm>
            <a:off x="6808596" y="3957218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7551D-8133-1F43-AE4E-F03359D57985}"/>
              </a:ext>
            </a:extLst>
          </p:cNvPr>
          <p:cNvSpPr txBox="1"/>
          <p:nvPr/>
        </p:nvSpPr>
        <p:spPr>
          <a:xfrm>
            <a:off x="5742804" y="392582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CDA4B-42EF-B64E-B7A6-C7516E74D336}"/>
              </a:ext>
            </a:extLst>
          </p:cNvPr>
          <p:cNvSpPr txBox="1"/>
          <p:nvPr/>
        </p:nvSpPr>
        <p:spPr>
          <a:xfrm>
            <a:off x="5473371" y="456085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BC52A7-43FA-5C4F-9DD2-C9FCE41F5C3D}"/>
              </a:ext>
            </a:extLst>
          </p:cNvPr>
          <p:cNvCxnSpPr>
            <a:cxnSpLocks/>
          </p:cNvCxnSpPr>
          <p:nvPr/>
        </p:nvCxnSpPr>
        <p:spPr>
          <a:xfrm flipH="1">
            <a:off x="6040850" y="429021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8403D4-24A4-564F-98BD-61348436B384}"/>
              </a:ext>
            </a:extLst>
          </p:cNvPr>
          <p:cNvSpPr txBox="1"/>
          <p:nvPr/>
        </p:nvSpPr>
        <p:spPr>
          <a:xfrm>
            <a:off x="7794903" y="400024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EE8E6-FEF1-594E-9766-D26C66616B2C}"/>
              </a:ext>
            </a:extLst>
          </p:cNvPr>
          <p:cNvSpPr txBox="1"/>
          <p:nvPr/>
        </p:nvSpPr>
        <p:spPr>
          <a:xfrm>
            <a:off x="1099379" y="1895651"/>
            <a:ext cx="130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Benefits?</a:t>
            </a:r>
          </a:p>
          <a:p>
            <a:r>
              <a:rPr lang="en-US" dirty="0"/>
              <a:t>Drawbacks?</a:t>
            </a:r>
          </a:p>
        </p:txBody>
      </p:sp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9DA52E6B-661B-164E-BA68-BECD4E7F2AEF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9498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Should you have associativity when its not required?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</a:t>
            </a:r>
            <a:r>
              <a:rPr lang="en-US" sz="3200" dirty="0">
                <a:highlight>
                  <a:srgbClr val="FFFF00"/>
                </a:highlight>
                <a:latin typeface="Courier" pitchFamily="2" charset="0"/>
              </a:rPr>
              <a:t>+</a:t>
            </a:r>
            <a:r>
              <a:rPr lang="en-US" sz="3200" dirty="0">
                <a:latin typeface="Courier" pitchFamily="2" charset="0"/>
              </a:rPr>
              <a:t>3</a:t>
            </a:r>
            <a:r>
              <a:rPr lang="en-US" sz="3200" dirty="0">
                <a:highlight>
                  <a:srgbClr val="FFFF00"/>
                </a:highlight>
                <a:latin typeface="Courier" pitchFamily="2" charset="0"/>
              </a:rPr>
              <a:t>+</a:t>
            </a:r>
            <a:r>
              <a:rPr lang="en-US" sz="3200" dirty="0">
                <a:latin typeface="Courier" pitchFamily="2" charset="0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8932730" y="2551289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492609" y="309994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12E04-ADA6-5342-81EB-6AA7F52872C4}"/>
              </a:ext>
            </a:extLst>
          </p:cNvPr>
          <p:cNvCxnSpPr>
            <a:cxnSpLocks/>
          </p:cNvCxnSpPr>
          <p:nvPr/>
        </p:nvCxnSpPr>
        <p:spPr>
          <a:xfrm flipH="1">
            <a:off x="6041796" y="349011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4960-E97C-E647-A144-AFE1E4ECFC6F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BDBE9-A62C-E845-95A7-824487D0EB14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867A5-145C-D648-9255-0FEE7ACAE57D}"/>
              </a:ext>
            </a:extLst>
          </p:cNvPr>
          <p:cNvSpPr txBox="1"/>
          <p:nvPr/>
        </p:nvSpPr>
        <p:spPr>
          <a:xfrm>
            <a:off x="6808596" y="3957218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7551D-8133-1F43-AE4E-F03359D57985}"/>
              </a:ext>
            </a:extLst>
          </p:cNvPr>
          <p:cNvSpPr txBox="1"/>
          <p:nvPr/>
        </p:nvSpPr>
        <p:spPr>
          <a:xfrm>
            <a:off x="5742804" y="392582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CDA4B-42EF-B64E-B7A6-C7516E74D336}"/>
              </a:ext>
            </a:extLst>
          </p:cNvPr>
          <p:cNvSpPr txBox="1"/>
          <p:nvPr/>
        </p:nvSpPr>
        <p:spPr>
          <a:xfrm>
            <a:off x="5473371" y="456085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BC52A7-43FA-5C4F-9DD2-C9FCE41F5C3D}"/>
              </a:ext>
            </a:extLst>
          </p:cNvPr>
          <p:cNvCxnSpPr>
            <a:cxnSpLocks/>
          </p:cNvCxnSpPr>
          <p:nvPr/>
        </p:nvCxnSpPr>
        <p:spPr>
          <a:xfrm flipH="1">
            <a:off x="6040850" y="429021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8403D4-24A4-564F-98BD-61348436B384}"/>
              </a:ext>
            </a:extLst>
          </p:cNvPr>
          <p:cNvSpPr txBox="1"/>
          <p:nvPr/>
        </p:nvSpPr>
        <p:spPr>
          <a:xfrm>
            <a:off x="7794903" y="397024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EE8E6-FEF1-594E-9766-D26C66616B2C}"/>
              </a:ext>
            </a:extLst>
          </p:cNvPr>
          <p:cNvSpPr txBox="1"/>
          <p:nvPr/>
        </p:nvSpPr>
        <p:spPr>
          <a:xfrm>
            <a:off x="1099379" y="1895651"/>
            <a:ext cx="130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Benefits?</a:t>
            </a:r>
          </a:p>
          <a:p>
            <a:r>
              <a:rPr lang="en-US" dirty="0"/>
              <a:t>Drawbacks?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31E3A-C392-804E-A1BF-B26FC278E44E}"/>
              </a:ext>
            </a:extLst>
          </p:cNvPr>
          <p:cNvSpPr txBox="1"/>
          <p:nvPr/>
        </p:nvSpPr>
        <p:spPr>
          <a:xfrm>
            <a:off x="379563" y="4971616"/>
            <a:ext cx="517551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Good design principle to avoid ambiguous grammars,</a:t>
            </a:r>
          </a:p>
          <a:p>
            <a:r>
              <a:rPr lang="en-US" dirty="0"/>
              <a:t>even when strictly not required too.</a:t>
            </a:r>
          </a:p>
          <a:p>
            <a:endParaRPr lang="en-US" dirty="0"/>
          </a:p>
          <a:p>
            <a:r>
              <a:rPr lang="en-US" dirty="0"/>
              <a:t>Helps with debugging, etc. etc. </a:t>
            </a:r>
          </a:p>
          <a:p>
            <a:endParaRPr lang="en-US" dirty="0"/>
          </a:p>
          <a:p>
            <a:r>
              <a:rPr lang="en-US" dirty="0"/>
              <a:t>Many tools will warn if it detects ambiguity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0ACC2E9F-E6A1-1B42-B98A-B0BF4EB53548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9164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7807-B712-4841-B38C-AA3AB761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a richer expression grammar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555BFBB7-BD21-BD4E-A7C1-22A55B94FDF7}"/>
              </a:ext>
            </a:extLst>
          </p:cNvPr>
          <p:cNvGraphicFramePr>
            <a:graphicFrameLocks noGrp="1"/>
          </p:cNvGraphicFramePr>
          <p:nvPr/>
        </p:nvGraphicFramePr>
        <p:xfrm>
          <a:off x="1012544" y="2867685"/>
          <a:ext cx="4944119" cy="28692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0381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045206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278532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70653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852ADBF-91C9-3944-A83E-C428EFED6E0A}"/>
              </a:ext>
            </a:extLst>
          </p:cNvPr>
          <p:cNvSpPr/>
          <p:nvPr/>
        </p:nvSpPr>
        <p:spPr>
          <a:xfrm>
            <a:off x="7261372" y="3660380"/>
            <a:ext cx="43152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Tokens:</a:t>
            </a:r>
          </a:p>
          <a:p>
            <a:pPr lvl="1"/>
            <a:r>
              <a:rPr lang="en-US" dirty="0">
                <a:latin typeface="Courier" pitchFamily="2" charset="0"/>
              </a:rPr>
              <a:t>NUM    = “[0-9]+”</a:t>
            </a:r>
          </a:p>
          <a:p>
            <a:pPr lvl="1"/>
            <a:r>
              <a:rPr lang="en-US" dirty="0">
                <a:latin typeface="Courier" pitchFamily="2" charset="0"/>
              </a:rPr>
              <a:t>PLUS   = ‘\+’</a:t>
            </a:r>
          </a:p>
          <a:p>
            <a:pPr lvl="1"/>
            <a:r>
              <a:rPr lang="en-US" dirty="0">
                <a:latin typeface="Courier" pitchFamily="2" charset="0"/>
              </a:rPr>
              <a:t>TIMES  = ’\*’</a:t>
            </a:r>
          </a:p>
          <a:p>
            <a:pPr lvl="1"/>
            <a:r>
              <a:rPr lang="en-US" dirty="0">
                <a:latin typeface="Courier" pitchFamily="2" charset="0"/>
              </a:rPr>
              <a:t>LP     = ‘\(’</a:t>
            </a:r>
          </a:p>
          <a:p>
            <a:pPr lvl="1"/>
            <a:r>
              <a:rPr lang="en-US" dirty="0">
                <a:latin typeface="Courier" pitchFamily="2" charset="0"/>
              </a:rPr>
              <a:t>RP     = \)’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MINUS  = ‘-’</a:t>
            </a:r>
          </a:p>
          <a:p>
            <a:pPr lvl="1"/>
            <a:r>
              <a:rPr lang="en-US" dirty="0">
                <a:latin typeface="Courier" pitchFamily="2" charset="0"/>
              </a:rPr>
              <a:t>DIV    = ‘/’</a:t>
            </a:r>
          </a:p>
          <a:p>
            <a:pPr lvl="1"/>
            <a:r>
              <a:rPr lang="en-US" dirty="0">
                <a:latin typeface="Courier" pitchFamily="2" charset="0"/>
              </a:rPr>
              <a:t>CARROT =’ \^’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53672-0548-D941-9533-503EF3DAD92F}"/>
              </a:ext>
            </a:extLst>
          </p:cNvPr>
          <p:cNvSpPr txBox="1"/>
          <p:nvPr/>
        </p:nvSpPr>
        <p:spPr>
          <a:xfrm>
            <a:off x="7236823" y="2098766"/>
            <a:ext cx="4252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Let’s do operators </a:t>
            </a:r>
            <a:r>
              <a:rPr lang="en-US" i="1" dirty="0">
                <a:latin typeface="Courier" pitchFamily="2" charset="0"/>
              </a:rPr>
              <a:t>[+,*,-,/,^]</a:t>
            </a:r>
            <a:r>
              <a:rPr lang="en-US" i="1" dirty="0"/>
              <a:t> and</a:t>
            </a:r>
            <a:r>
              <a:rPr lang="en-US" i="1" dirty="0">
                <a:latin typeface="Courier" pitchFamily="2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675545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7807-B712-4841-B38C-AA3AB761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a richer expression grammar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555BFBB7-BD21-BD4E-A7C1-22A55B94FDF7}"/>
              </a:ext>
            </a:extLst>
          </p:cNvPr>
          <p:cNvGraphicFramePr>
            <a:graphicFrameLocks noGrp="1"/>
          </p:cNvGraphicFramePr>
          <p:nvPr/>
        </p:nvGraphicFramePr>
        <p:xfrm>
          <a:off x="1012544" y="2867685"/>
          <a:ext cx="4970245" cy="31845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8944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05072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290572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+,-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expr MINUS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*,/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pow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term DIV pow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pow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pow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factor CARROT pow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70653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 expr RPAR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852ADBF-91C9-3944-A83E-C428EFED6E0A}"/>
              </a:ext>
            </a:extLst>
          </p:cNvPr>
          <p:cNvSpPr/>
          <p:nvPr/>
        </p:nvSpPr>
        <p:spPr>
          <a:xfrm>
            <a:off x="7261372" y="3660380"/>
            <a:ext cx="43152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Tokens:</a:t>
            </a:r>
          </a:p>
          <a:p>
            <a:pPr lvl="1"/>
            <a:r>
              <a:rPr lang="en-US" dirty="0">
                <a:latin typeface="Courier" pitchFamily="2" charset="0"/>
              </a:rPr>
              <a:t>NUM    = “[0-9]+”</a:t>
            </a:r>
          </a:p>
          <a:p>
            <a:pPr lvl="1"/>
            <a:r>
              <a:rPr lang="en-US" dirty="0">
                <a:latin typeface="Courier" pitchFamily="2" charset="0"/>
              </a:rPr>
              <a:t>PLUS   = ‘\+’</a:t>
            </a:r>
          </a:p>
          <a:p>
            <a:pPr lvl="1"/>
            <a:r>
              <a:rPr lang="en-US" dirty="0">
                <a:latin typeface="Courier" pitchFamily="2" charset="0"/>
              </a:rPr>
              <a:t>TIMES  = ’\*’</a:t>
            </a:r>
          </a:p>
          <a:p>
            <a:pPr lvl="1"/>
            <a:r>
              <a:rPr lang="en-US" dirty="0">
                <a:latin typeface="Courier" pitchFamily="2" charset="0"/>
              </a:rPr>
              <a:t>LP     = ‘\(’</a:t>
            </a:r>
          </a:p>
          <a:p>
            <a:pPr lvl="1"/>
            <a:r>
              <a:rPr lang="en-US" dirty="0">
                <a:latin typeface="Courier" pitchFamily="2" charset="0"/>
              </a:rPr>
              <a:t>RP     = \)’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MINUS  = ‘-’</a:t>
            </a:r>
          </a:p>
          <a:p>
            <a:pPr lvl="1"/>
            <a:r>
              <a:rPr lang="en-US" dirty="0">
                <a:latin typeface="Courier" pitchFamily="2" charset="0"/>
              </a:rPr>
              <a:t>DIV    = ‘/’</a:t>
            </a:r>
          </a:p>
          <a:p>
            <a:pPr lvl="1"/>
            <a:r>
              <a:rPr lang="en-US" dirty="0">
                <a:latin typeface="Courier" pitchFamily="2" charset="0"/>
              </a:rPr>
              <a:t>CARROT =’ \^’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53672-0548-D941-9533-503EF3DAD92F}"/>
              </a:ext>
            </a:extLst>
          </p:cNvPr>
          <p:cNvSpPr txBox="1"/>
          <p:nvPr/>
        </p:nvSpPr>
        <p:spPr>
          <a:xfrm>
            <a:off x="7236823" y="2098766"/>
            <a:ext cx="4252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Let’s do operators </a:t>
            </a:r>
            <a:r>
              <a:rPr lang="en-US" i="1" dirty="0">
                <a:latin typeface="Courier" pitchFamily="2" charset="0"/>
              </a:rPr>
              <a:t>[+,*,-,/,^]</a:t>
            </a:r>
            <a:r>
              <a:rPr lang="en-US" i="1" dirty="0"/>
              <a:t> and</a:t>
            </a:r>
            <a:r>
              <a:rPr lang="en-US" i="1" dirty="0">
                <a:latin typeface="Courier" pitchFamily="2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116837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D426-5B98-3043-B47A-01716CED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associativity do operators in C have?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33CE1-4AA0-044C-8498-42909888C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en.cppreference.com</a:t>
            </a:r>
            <a:r>
              <a:rPr lang="en-US" dirty="0">
                <a:hlinkClick r:id="rId2"/>
              </a:rPr>
              <a:t>/w/c/language/</a:t>
            </a:r>
            <a:r>
              <a:rPr lang="en-US" dirty="0" err="1">
                <a:hlinkClick r:id="rId2"/>
              </a:rPr>
              <a:t>operator_precedence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6979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topic: Algorithms for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A8B6C-1677-A145-80FA-B986C75DF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 goal:</a:t>
            </a:r>
          </a:p>
          <a:p>
            <a:r>
              <a:rPr lang="en-US" dirty="0"/>
              <a:t>Given a string </a:t>
            </a:r>
            <a:r>
              <a:rPr lang="en-US" i="1" dirty="0"/>
              <a:t>s </a:t>
            </a:r>
            <a:r>
              <a:rPr lang="en-US" dirty="0"/>
              <a:t>and a CFG </a:t>
            </a:r>
            <a:r>
              <a:rPr lang="en-US" i="1" dirty="0"/>
              <a:t>G, </a:t>
            </a:r>
            <a:r>
              <a:rPr lang="en-US" dirty="0"/>
              <a:t>determine if </a:t>
            </a:r>
            <a:r>
              <a:rPr lang="en-US" i="1" dirty="0"/>
              <a:t>G </a:t>
            </a:r>
            <a:r>
              <a:rPr lang="en-US" dirty="0"/>
              <a:t>can derive </a:t>
            </a:r>
            <a:r>
              <a:rPr lang="en-US" i="1" dirty="0"/>
              <a:t>s</a:t>
            </a:r>
          </a:p>
          <a:p>
            <a:endParaRPr lang="en-US" i="1" dirty="0"/>
          </a:p>
          <a:p>
            <a:r>
              <a:rPr lang="en-US" dirty="0"/>
              <a:t>We will do that by implicitly attempting to derive a parse tree for </a:t>
            </a:r>
            <a:r>
              <a:rPr lang="en-US" i="1" dirty="0"/>
              <a:t>S</a:t>
            </a:r>
          </a:p>
          <a:p>
            <a:endParaRPr lang="en-US" i="1" dirty="0"/>
          </a:p>
          <a:p>
            <a:r>
              <a:rPr lang="en-US" dirty="0"/>
              <a:t>Two different approaches, each with different trade-offs:</a:t>
            </a:r>
          </a:p>
          <a:p>
            <a:pPr lvl="1"/>
            <a:r>
              <a:rPr lang="en-US" dirty="0"/>
              <a:t>Top down</a:t>
            </a:r>
          </a:p>
          <a:p>
            <a:pPr lvl="1"/>
            <a:r>
              <a:rPr lang="en-US" dirty="0"/>
              <a:t>Bottom up</a:t>
            </a:r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9624881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E665-2790-4748-91A5-CC593729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9E57A-0D3B-2146-91D0-E7B5FFEB8FDF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26B9B-EE62-DD47-9DF0-65032A60A1F0}"/>
              </a:ext>
            </a:extLst>
          </p:cNvPr>
          <p:cNvSpPr txBox="1"/>
          <p:nvPr/>
        </p:nvSpPr>
        <p:spPr>
          <a:xfrm>
            <a:off x="8940202" y="238335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0BE49D3B-816D-BB40-BE56-D150BDA1453B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17001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E665-2790-4748-91A5-CC593729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9E57A-0D3B-2146-91D0-E7B5FFEB8FDF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26B9B-EE62-DD47-9DF0-65032A60A1F0}"/>
              </a:ext>
            </a:extLst>
          </p:cNvPr>
          <p:cNvSpPr txBox="1"/>
          <p:nvPr/>
        </p:nvSpPr>
        <p:spPr>
          <a:xfrm>
            <a:off x="8940202" y="238335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9B5085-8B58-9047-BFA2-7EEA355D585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604298" y="275268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845676-7B0E-A744-8035-FC6C51235645}"/>
              </a:ext>
            </a:extLst>
          </p:cNvPr>
          <p:cNvSpPr txBox="1"/>
          <p:nvPr/>
        </p:nvSpPr>
        <p:spPr>
          <a:xfrm>
            <a:off x="7305306" y="328932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A0A3DE-DAB2-584D-8B00-E25DA8F51658}"/>
              </a:ext>
            </a:extLst>
          </p:cNvPr>
          <p:cNvCxnSpPr>
            <a:cxnSpLocks/>
            <a:stCxn id="22" idx="2"/>
            <a:endCxn id="27" idx="0"/>
          </p:cNvCxnSpPr>
          <p:nvPr/>
        </p:nvCxnSpPr>
        <p:spPr>
          <a:xfrm flipH="1">
            <a:off x="9237530" y="2752683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610BA1-71CB-CE43-8A7A-83423AC89B9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239194" y="275268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442671-D225-3B42-8393-D3E237285666}"/>
              </a:ext>
            </a:extLst>
          </p:cNvPr>
          <p:cNvSpPr txBox="1"/>
          <p:nvPr/>
        </p:nvSpPr>
        <p:spPr>
          <a:xfrm>
            <a:off x="8797409" y="330133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1D16C-FE57-6542-AB7F-AC93685188CC}"/>
              </a:ext>
            </a:extLst>
          </p:cNvPr>
          <p:cNvSpPr txBox="1"/>
          <p:nvPr/>
        </p:nvSpPr>
        <p:spPr>
          <a:xfrm>
            <a:off x="10065870" y="332733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0BE49D3B-816D-BB40-BE56-D150BDA1453B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4686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E665-2790-4748-91A5-CC593729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9E57A-0D3B-2146-91D0-E7B5FFEB8FDF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26B9B-EE62-DD47-9DF0-65032A60A1F0}"/>
              </a:ext>
            </a:extLst>
          </p:cNvPr>
          <p:cNvSpPr txBox="1"/>
          <p:nvPr/>
        </p:nvSpPr>
        <p:spPr>
          <a:xfrm>
            <a:off x="8940202" y="238335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9B5085-8B58-9047-BFA2-7EEA355D585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604298" y="275268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845676-7B0E-A744-8035-FC6C51235645}"/>
              </a:ext>
            </a:extLst>
          </p:cNvPr>
          <p:cNvSpPr txBox="1"/>
          <p:nvPr/>
        </p:nvSpPr>
        <p:spPr>
          <a:xfrm>
            <a:off x="7305306" y="328932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A0A3DE-DAB2-584D-8B00-E25DA8F51658}"/>
              </a:ext>
            </a:extLst>
          </p:cNvPr>
          <p:cNvCxnSpPr>
            <a:cxnSpLocks/>
            <a:stCxn id="22" idx="2"/>
            <a:endCxn id="27" idx="0"/>
          </p:cNvCxnSpPr>
          <p:nvPr/>
        </p:nvCxnSpPr>
        <p:spPr>
          <a:xfrm flipH="1">
            <a:off x="9237530" y="2752683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610BA1-71CB-CE43-8A7A-83423AC89B9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239194" y="275268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442671-D225-3B42-8393-D3E237285666}"/>
              </a:ext>
            </a:extLst>
          </p:cNvPr>
          <p:cNvSpPr txBox="1"/>
          <p:nvPr/>
        </p:nvSpPr>
        <p:spPr>
          <a:xfrm>
            <a:off x="8797409" y="330133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1D16C-FE57-6542-AB7F-AC93685188CC}"/>
              </a:ext>
            </a:extLst>
          </p:cNvPr>
          <p:cNvSpPr txBox="1"/>
          <p:nvPr/>
        </p:nvSpPr>
        <p:spPr>
          <a:xfrm>
            <a:off x="10065870" y="332733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52885A3-6BE5-7D42-8A94-CF854CD5FD7F}"/>
              </a:ext>
            </a:extLst>
          </p:cNvPr>
          <p:cNvCxnSpPr>
            <a:cxnSpLocks/>
          </p:cNvCxnSpPr>
          <p:nvPr/>
        </p:nvCxnSpPr>
        <p:spPr>
          <a:xfrm flipH="1">
            <a:off x="6346596" y="369151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DB1A2E-4C32-D44C-B84D-190036F705CF}"/>
              </a:ext>
            </a:extLst>
          </p:cNvPr>
          <p:cNvCxnSpPr>
            <a:cxnSpLocks/>
          </p:cNvCxnSpPr>
          <p:nvPr/>
        </p:nvCxnSpPr>
        <p:spPr>
          <a:xfrm>
            <a:off x="7570969" y="369151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AE77E6E-1FFC-634F-BAF7-773D7C81AF6A}"/>
              </a:ext>
            </a:extLst>
          </p:cNvPr>
          <p:cNvCxnSpPr>
            <a:cxnSpLocks/>
          </p:cNvCxnSpPr>
          <p:nvPr/>
        </p:nvCxnSpPr>
        <p:spPr>
          <a:xfrm>
            <a:off x="7570969" y="369151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090420-3C40-7C42-95B3-A085D090CE91}"/>
              </a:ext>
            </a:extLst>
          </p:cNvPr>
          <p:cNvSpPr txBox="1"/>
          <p:nvPr/>
        </p:nvSpPr>
        <p:spPr>
          <a:xfrm>
            <a:off x="7113396" y="415861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E40AC4-1F57-DD41-AB5D-B44DC87980FC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8CD15D-AD44-1B41-B9C2-5B6F8C1D4CEF}"/>
              </a:ext>
            </a:extLst>
          </p:cNvPr>
          <p:cNvSpPr txBox="1"/>
          <p:nvPr/>
        </p:nvSpPr>
        <p:spPr>
          <a:xfrm>
            <a:off x="8099703" y="417163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0BE49D3B-816D-BB40-BE56-D150BDA1453B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0975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E665-2790-4748-91A5-CC593729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9E57A-0D3B-2146-91D0-E7B5FFEB8FDF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26B9B-EE62-DD47-9DF0-65032A60A1F0}"/>
              </a:ext>
            </a:extLst>
          </p:cNvPr>
          <p:cNvSpPr txBox="1"/>
          <p:nvPr/>
        </p:nvSpPr>
        <p:spPr>
          <a:xfrm>
            <a:off x="8940202" y="238335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9B5085-8B58-9047-BFA2-7EEA355D585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604298" y="275268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845676-7B0E-A744-8035-FC6C51235645}"/>
              </a:ext>
            </a:extLst>
          </p:cNvPr>
          <p:cNvSpPr txBox="1"/>
          <p:nvPr/>
        </p:nvSpPr>
        <p:spPr>
          <a:xfrm>
            <a:off x="7305306" y="328932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A0A3DE-DAB2-584D-8B00-E25DA8F51658}"/>
              </a:ext>
            </a:extLst>
          </p:cNvPr>
          <p:cNvCxnSpPr>
            <a:cxnSpLocks/>
            <a:stCxn id="22" idx="2"/>
            <a:endCxn id="27" idx="0"/>
          </p:cNvCxnSpPr>
          <p:nvPr/>
        </p:nvCxnSpPr>
        <p:spPr>
          <a:xfrm flipH="1">
            <a:off x="9237530" y="2752683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610BA1-71CB-CE43-8A7A-83423AC89B9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239194" y="275268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442671-D225-3B42-8393-D3E237285666}"/>
              </a:ext>
            </a:extLst>
          </p:cNvPr>
          <p:cNvSpPr txBox="1"/>
          <p:nvPr/>
        </p:nvSpPr>
        <p:spPr>
          <a:xfrm>
            <a:off x="8797409" y="330133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1D16C-FE57-6542-AB7F-AC93685188CC}"/>
              </a:ext>
            </a:extLst>
          </p:cNvPr>
          <p:cNvSpPr txBox="1"/>
          <p:nvPr/>
        </p:nvSpPr>
        <p:spPr>
          <a:xfrm>
            <a:off x="10065870" y="332733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52885A3-6BE5-7D42-8A94-CF854CD5FD7F}"/>
              </a:ext>
            </a:extLst>
          </p:cNvPr>
          <p:cNvCxnSpPr>
            <a:cxnSpLocks/>
          </p:cNvCxnSpPr>
          <p:nvPr/>
        </p:nvCxnSpPr>
        <p:spPr>
          <a:xfrm flipH="1">
            <a:off x="6346596" y="369151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DB1A2E-4C32-D44C-B84D-190036F705CF}"/>
              </a:ext>
            </a:extLst>
          </p:cNvPr>
          <p:cNvCxnSpPr>
            <a:cxnSpLocks/>
          </p:cNvCxnSpPr>
          <p:nvPr/>
        </p:nvCxnSpPr>
        <p:spPr>
          <a:xfrm>
            <a:off x="7570969" y="369151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AE77E6E-1FFC-634F-BAF7-773D7C81AF6A}"/>
              </a:ext>
            </a:extLst>
          </p:cNvPr>
          <p:cNvCxnSpPr>
            <a:cxnSpLocks/>
          </p:cNvCxnSpPr>
          <p:nvPr/>
        </p:nvCxnSpPr>
        <p:spPr>
          <a:xfrm>
            <a:off x="7570969" y="369151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090420-3C40-7C42-95B3-A085D090CE91}"/>
              </a:ext>
            </a:extLst>
          </p:cNvPr>
          <p:cNvSpPr txBox="1"/>
          <p:nvPr/>
        </p:nvSpPr>
        <p:spPr>
          <a:xfrm>
            <a:off x="7113396" y="415861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E40AC4-1F57-DD41-AB5D-B44DC87980FC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119C9D-3115-CE48-BDD6-4BA3B36AA80D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8F2B1A1-B2D9-8E4E-9E0B-A425C5B7AFBF}"/>
              </a:ext>
            </a:extLst>
          </p:cNvPr>
          <p:cNvCxnSpPr>
            <a:cxnSpLocks/>
          </p:cNvCxnSpPr>
          <p:nvPr/>
        </p:nvCxnSpPr>
        <p:spPr>
          <a:xfrm flipH="1">
            <a:off x="6345650" y="449160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68CD15D-AD44-1B41-B9C2-5B6F8C1D4CEF}"/>
              </a:ext>
            </a:extLst>
          </p:cNvPr>
          <p:cNvSpPr txBox="1"/>
          <p:nvPr/>
        </p:nvSpPr>
        <p:spPr>
          <a:xfrm>
            <a:off x="8099703" y="417163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0BE49D3B-816D-BB40-BE56-D150BDA1453B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348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A8B6C-1677-A145-80FA-B986C75DF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Pros:</a:t>
            </a:r>
          </a:p>
          <a:p>
            <a:r>
              <a:rPr lang="en-US" dirty="0"/>
              <a:t>Algorithm is simpler</a:t>
            </a:r>
          </a:p>
          <a:p>
            <a:r>
              <a:rPr lang="en-US" dirty="0"/>
              <a:t>Faster than bottom-up</a:t>
            </a:r>
          </a:p>
          <a:p>
            <a:r>
              <a:rPr lang="en-US" dirty="0"/>
              <a:t>Easier recovery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Cons:</a:t>
            </a:r>
          </a:p>
          <a:p>
            <a:r>
              <a:rPr lang="en-US" dirty="0"/>
              <a:t>Not efficient on arbitrary grammars</a:t>
            </a:r>
          </a:p>
          <a:p>
            <a:r>
              <a:rPr lang="en-US" dirty="0"/>
              <a:t>Many grammars need to be re-written</a:t>
            </a:r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854008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6B4-A8C7-9043-BF91-36C20EA1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96028-374C-E247-8480-F99B5B084222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7A605-CC1D-B34D-8B65-3082C5CE2C0E}"/>
              </a:ext>
            </a:extLst>
          </p:cNvPr>
          <p:cNvSpPr txBox="1"/>
          <p:nvPr/>
        </p:nvSpPr>
        <p:spPr>
          <a:xfrm>
            <a:off x="9322342" y="475898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7507-5650-6C46-BBDE-25E654AD1CBC}"/>
              </a:ext>
            </a:extLst>
          </p:cNvPr>
          <p:cNvSpPr txBox="1"/>
          <p:nvPr/>
        </p:nvSpPr>
        <p:spPr>
          <a:xfrm>
            <a:off x="10287396" y="4749407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62DF9-ADE8-ED41-BDBD-D0BE7758EE0C}"/>
              </a:ext>
            </a:extLst>
          </p:cNvPr>
          <p:cNvSpPr txBox="1"/>
          <p:nvPr/>
        </p:nvSpPr>
        <p:spPr>
          <a:xfrm>
            <a:off x="7045663" y="474940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1A14F-DA99-6643-8061-70C6D25358D5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1DA22-288A-8242-9B14-25E66747E4FD}"/>
              </a:ext>
            </a:extLst>
          </p:cNvPr>
          <p:cNvSpPr txBox="1"/>
          <p:nvPr/>
        </p:nvSpPr>
        <p:spPr>
          <a:xfrm>
            <a:off x="8100679" y="47494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EA4F2610-FF45-4643-9F07-FA1468E7CF9A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3066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6B4-A8C7-9043-BF91-36C20EA1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96028-374C-E247-8480-F99B5B084222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7A605-CC1D-B34D-8B65-3082C5CE2C0E}"/>
              </a:ext>
            </a:extLst>
          </p:cNvPr>
          <p:cNvSpPr txBox="1"/>
          <p:nvPr/>
        </p:nvSpPr>
        <p:spPr>
          <a:xfrm>
            <a:off x="9322342" y="475898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7507-5650-6C46-BBDE-25E654AD1CBC}"/>
              </a:ext>
            </a:extLst>
          </p:cNvPr>
          <p:cNvSpPr txBox="1"/>
          <p:nvPr/>
        </p:nvSpPr>
        <p:spPr>
          <a:xfrm>
            <a:off x="10287396" y="4749407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62DF9-ADE8-ED41-BDBD-D0BE7758EE0C}"/>
              </a:ext>
            </a:extLst>
          </p:cNvPr>
          <p:cNvSpPr txBox="1"/>
          <p:nvPr/>
        </p:nvSpPr>
        <p:spPr>
          <a:xfrm>
            <a:off x="7045663" y="474940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1A14F-DA99-6643-8061-70C6D25358D5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1DA22-288A-8242-9B14-25E66747E4FD}"/>
              </a:ext>
            </a:extLst>
          </p:cNvPr>
          <p:cNvSpPr txBox="1"/>
          <p:nvPr/>
        </p:nvSpPr>
        <p:spPr>
          <a:xfrm>
            <a:off x="8100679" y="47494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EA4F2610-FF45-4643-9F07-FA1468E7CF9A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59B72B5-5270-3C47-89B2-406DE3228AB8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D01DE7-863F-0A42-AB66-1A07BD76278F}"/>
              </a:ext>
            </a:extLst>
          </p:cNvPr>
          <p:cNvCxnSpPr>
            <a:cxnSpLocks/>
          </p:cNvCxnSpPr>
          <p:nvPr/>
        </p:nvCxnSpPr>
        <p:spPr>
          <a:xfrm flipH="1">
            <a:off x="6345650" y="449160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3176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6B4-A8C7-9043-BF91-36C20EA1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96028-374C-E247-8480-F99B5B084222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7A605-CC1D-B34D-8B65-3082C5CE2C0E}"/>
              </a:ext>
            </a:extLst>
          </p:cNvPr>
          <p:cNvSpPr txBox="1"/>
          <p:nvPr/>
        </p:nvSpPr>
        <p:spPr>
          <a:xfrm>
            <a:off x="9322342" y="475898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7507-5650-6C46-BBDE-25E654AD1CBC}"/>
              </a:ext>
            </a:extLst>
          </p:cNvPr>
          <p:cNvSpPr txBox="1"/>
          <p:nvPr/>
        </p:nvSpPr>
        <p:spPr>
          <a:xfrm>
            <a:off x="10287396" y="4749407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62DF9-ADE8-ED41-BDBD-D0BE7758EE0C}"/>
              </a:ext>
            </a:extLst>
          </p:cNvPr>
          <p:cNvSpPr txBox="1"/>
          <p:nvPr/>
        </p:nvSpPr>
        <p:spPr>
          <a:xfrm>
            <a:off x="7045663" y="474940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1A14F-DA99-6643-8061-70C6D25358D5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1DA22-288A-8242-9B14-25E66747E4FD}"/>
              </a:ext>
            </a:extLst>
          </p:cNvPr>
          <p:cNvSpPr txBox="1"/>
          <p:nvPr/>
        </p:nvSpPr>
        <p:spPr>
          <a:xfrm>
            <a:off x="8100679" y="47494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EA4F2610-FF45-4643-9F07-FA1468E7CF9A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59B72B5-5270-3C47-89B2-406DE3228AB8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D01DE7-863F-0A42-AB66-1A07BD76278F}"/>
              </a:ext>
            </a:extLst>
          </p:cNvPr>
          <p:cNvCxnSpPr>
            <a:cxnSpLocks/>
          </p:cNvCxnSpPr>
          <p:nvPr/>
        </p:nvCxnSpPr>
        <p:spPr>
          <a:xfrm flipH="1">
            <a:off x="6345650" y="449160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246ABC-0F77-F940-9EC3-DFAEF3B95C57}"/>
              </a:ext>
            </a:extLst>
          </p:cNvPr>
          <p:cNvSpPr txBox="1"/>
          <p:nvPr/>
        </p:nvSpPr>
        <p:spPr>
          <a:xfrm>
            <a:off x="7199032" y="3341169"/>
            <a:ext cx="59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0C7FD4-A71C-5449-8916-3E412FC4F16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464695" y="3743352"/>
            <a:ext cx="21089" cy="1006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344B44-12E9-654E-A64C-92E692393FA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464695" y="3743352"/>
            <a:ext cx="21089" cy="1006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49A2A3D-7C4A-3749-9D3D-11113088B1C6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660559" y="3710501"/>
            <a:ext cx="1008545" cy="10389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CA9EDB-5136-6044-B0C6-5D36F654071D}"/>
              </a:ext>
            </a:extLst>
          </p:cNvPr>
          <p:cNvCxnSpPr>
            <a:cxnSpLocks/>
          </p:cNvCxnSpPr>
          <p:nvPr/>
        </p:nvCxnSpPr>
        <p:spPr>
          <a:xfrm flipH="1">
            <a:off x="6583819" y="3743352"/>
            <a:ext cx="756173" cy="383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26477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6B4-A8C7-9043-BF91-36C20EA1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96028-374C-E247-8480-F99B5B084222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7A605-CC1D-B34D-8B65-3082C5CE2C0E}"/>
              </a:ext>
            </a:extLst>
          </p:cNvPr>
          <p:cNvSpPr txBox="1"/>
          <p:nvPr/>
        </p:nvSpPr>
        <p:spPr>
          <a:xfrm>
            <a:off x="9322342" y="475898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7507-5650-6C46-BBDE-25E654AD1CBC}"/>
              </a:ext>
            </a:extLst>
          </p:cNvPr>
          <p:cNvSpPr txBox="1"/>
          <p:nvPr/>
        </p:nvSpPr>
        <p:spPr>
          <a:xfrm>
            <a:off x="10287396" y="4749407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62DF9-ADE8-ED41-BDBD-D0BE7758EE0C}"/>
              </a:ext>
            </a:extLst>
          </p:cNvPr>
          <p:cNvSpPr txBox="1"/>
          <p:nvPr/>
        </p:nvSpPr>
        <p:spPr>
          <a:xfrm>
            <a:off x="7045663" y="474940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1A14F-DA99-6643-8061-70C6D25358D5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1DA22-288A-8242-9B14-25E66747E4FD}"/>
              </a:ext>
            </a:extLst>
          </p:cNvPr>
          <p:cNvSpPr txBox="1"/>
          <p:nvPr/>
        </p:nvSpPr>
        <p:spPr>
          <a:xfrm>
            <a:off x="8100679" y="47494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EA4F2610-FF45-4643-9F07-FA1468E7CF9A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59B72B5-5270-3C47-89B2-406DE3228AB8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D01DE7-863F-0A42-AB66-1A07BD76278F}"/>
              </a:ext>
            </a:extLst>
          </p:cNvPr>
          <p:cNvCxnSpPr>
            <a:cxnSpLocks/>
          </p:cNvCxnSpPr>
          <p:nvPr/>
        </p:nvCxnSpPr>
        <p:spPr>
          <a:xfrm flipH="1">
            <a:off x="6345650" y="449160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246ABC-0F77-F940-9EC3-DFAEF3B95C57}"/>
              </a:ext>
            </a:extLst>
          </p:cNvPr>
          <p:cNvSpPr txBox="1"/>
          <p:nvPr/>
        </p:nvSpPr>
        <p:spPr>
          <a:xfrm>
            <a:off x="7199032" y="3341169"/>
            <a:ext cx="59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0C7FD4-A71C-5449-8916-3E412FC4F16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464695" y="3743352"/>
            <a:ext cx="21089" cy="1006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344B44-12E9-654E-A64C-92E692393FA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464695" y="3743352"/>
            <a:ext cx="21089" cy="1006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49A2A3D-7C4A-3749-9D3D-11113088B1C6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660559" y="3710501"/>
            <a:ext cx="1008545" cy="10389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CA9EDB-5136-6044-B0C6-5D36F654071D}"/>
              </a:ext>
            </a:extLst>
          </p:cNvPr>
          <p:cNvCxnSpPr>
            <a:cxnSpLocks/>
          </p:cNvCxnSpPr>
          <p:nvPr/>
        </p:nvCxnSpPr>
        <p:spPr>
          <a:xfrm flipH="1">
            <a:off x="6583819" y="3743352"/>
            <a:ext cx="756173" cy="383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334D188-0CEF-724F-8166-1F26295378E7}"/>
              </a:ext>
            </a:extLst>
          </p:cNvPr>
          <p:cNvSpPr txBox="1"/>
          <p:nvPr/>
        </p:nvSpPr>
        <p:spPr>
          <a:xfrm>
            <a:off x="8639545" y="2724287"/>
            <a:ext cx="59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61C81A3-1E6C-614A-BC64-C03C62CD13CE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7797016" y="3039420"/>
            <a:ext cx="872088" cy="4864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B27DA8A-F438-B845-AA92-998BEC010F87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8938537" y="3093619"/>
            <a:ext cx="645730" cy="15480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DC4986-C5AF-C84C-ABD4-3372E2A70AAC}"/>
              </a:ext>
            </a:extLst>
          </p:cNvPr>
          <p:cNvCxnSpPr>
            <a:cxnSpLocks/>
          </p:cNvCxnSpPr>
          <p:nvPr/>
        </p:nvCxnSpPr>
        <p:spPr>
          <a:xfrm>
            <a:off x="9130631" y="3039420"/>
            <a:ext cx="1595157" cy="17099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8655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A8B6C-1677-A145-80FA-B986C75DF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Pros:</a:t>
            </a:r>
          </a:p>
          <a:p>
            <a:r>
              <a:rPr lang="en-US" dirty="0"/>
              <a:t>can handle grammars expressed more naturally</a:t>
            </a:r>
          </a:p>
          <a:p>
            <a:r>
              <a:rPr lang="en-US" dirty="0"/>
              <a:t>can encode precedence and associativity even if grammar is ambiguous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Cons:</a:t>
            </a:r>
          </a:p>
          <a:p>
            <a:r>
              <a:rPr lang="en-US" dirty="0"/>
              <a:t>algorithm is complicated</a:t>
            </a:r>
          </a:p>
          <a:p>
            <a:r>
              <a:rPr lang="en-US" dirty="0"/>
              <a:t>in many cases slower than top down</a:t>
            </a:r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0913284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5944"/>
            <a:ext cx="10515600" cy="24099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Let’s start with top-down parsing: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Algorithm: LL(1) Parsing</a:t>
            </a:r>
            <a:br>
              <a:rPr lang="en-US" dirty="0"/>
            </a:br>
            <a:r>
              <a:rPr lang="en-US" dirty="0"/>
              <a:t> Left to Right with Look Ahead of 1</a:t>
            </a:r>
          </a:p>
        </p:txBody>
      </p:sp>
    </p:spTree>
    <p:extLst>
      <p:ext uri="{BB962C8B-B14F-4D97-AF65-F5344CB8AC3E}">
        <p14:creationId xmlns:p14="http://schemas.microsoft.com/office/powerpoint/2010/main" val="392241001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   # Expr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  # Read first token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   # First symbol in rule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):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</a:t>
            </a:r>
            <a:r>
              <a:rPr lang="en-US" sz="1600" b="1" dirty="0">
                <a:latin typeface="Courier" pitchFamily="2" charset="0"/>
              </a:rPr>
              <a:t>and</a:t>
            </a:r>
            <a:r>
              <a:rPr lang="en-US" sz="1600" dirty="0">
                <a:latin typeface="Courier" pitchFamily="2" charset="0"/>
              </a:rPr>
              <a:t>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52F45E7E-6D46-5644-BA15-D54693F8A7DB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AD8FC20A-B26D-7648-B35B-CB5DB4B2227D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D9C33981-FC67-DB41-8F5C-A6B8D162B990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369918380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E27C5-B53C-4A47-8952-00794A7B5C2A}"/>
              </a:ext>
            </a:extLst>
          </p:cNvPr>
          <p:cNvSpPr txBox="1"/>
          <p:nvPr/>
        </p:nvSpPr>
        <p:spPr>
          <a:xfrm>
            <a:off x="4133348" y="632345"/>
            <a:ext cx="2565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Currently we assume this is magic and picks</a:t>
            </a:r>
          </a:p>
          <a:p>
            <a:r>
              <a:rPr lang="en-US" i="1" dirty="0"/>
              <a:t>the right rule every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2D0AF0-9E08-D44C-AC1F-3E1F56C8F66C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D24D38D7-970E-E84B-99E3-DB0404190148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7A700C23-FA44-2342-9ACE-E5628C2EBEB8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28345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E27C5-B53C-4A47-8952-00794A7B5C2A}"/>
              </a:ext>
            </a:extLst>
          </p:cNvPr>
          <p:cNvSpPr txBox="1"/>
          <p:nvPr/>
        </p:nvSpPr>
        <p:spPr>
          <a:xfrm>
            <a:off x="4133348" y="632345"/>
            <a:ext cx="2565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Currently we assume this is magic and picks</a:t>
            </a:r>
          </a:p>
          <a:p>
            <a:r>
              <a:rPr lang="en-US" i="1" dirty="0"/>
              <a:t>the right rule every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2D0AF0-9E08-D44C-AC1F-3E1F56C8F66C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D24D38D7-970E-E84B-99E3-DB0404190148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226180" cy="3505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61309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61309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Expr Op Unit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Unit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'(’ Expr ‘)’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‘(‘ Expr Op Unit ‘)’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‘(‘ Unit Op Unit ‘)’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‘(‘ ID Op Unit ‘)’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7A700C23-FA44-2342-9ACE-E5628C2EBEB8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‘+’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latin typeface="Courier" pitchFamily="2" charset="0"/>
                        </a:rPr>
                        <a:t>b)*c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Unit ‘)’ Op, Expr, 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E7D48EE-3633-1E41-BF24-F0B0B151DC39}"/>
              </a:ext>
            </a:extLst>
          </p:cNvPr>
          <p:cNvSpPr txBox="1"/>
          <p:nvPr/>
        </p:nvSpPr>
        <p:spPr>
          <a:xfrm>
            <a:off x="6832349" y="6228179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so on...</a:t>
            </a:r>
          </a:p>
        </p:txBody>
      </p:sp>
    </p:spTree>
    <p:extLst>
      <p:ext uri="{BB962C8B-B14F-4D97-AF65-F5344CB8AC3E}">
        <p14:creationId xmlns:p14="http://schemas.microsoft.com/office/powerpoint/2010/main" val="17540075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E27C5-B53C-4A47-8952-00794A7B5C2A}"/>
              </a:ext>
            </a:extLst>
          </p:cNvPr>
          <p:cNvSpPr txBox="1"/>
          <p:nvPr/>
        </p:nvSpPr>
        <p:spPr>
          <a:xfrm>
            <a:off x="4133348" y="632345"/>
            <a:ext cx="2565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can go wrong if</a:t>
            </a:r>
            <a:br>
              <a:rPr lang="en-US" i="1" dirty="0"/>
            </a:br>
            <a:r>
              <a:rPr lang="en-US" i="1" dirty="0"/>
              <a:t>we don’t have a magic</a:t>
            </a:r>
          </a:p>
          <a:p>
            <a:r>
              <a:rPr lang="en-US" i="1" dirty="0"/>
              <a:t>choice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C75C32-16D7-1440-9E43-18B387383E5F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AB8421B2-A102-CF42-9B99-CD493044EDB1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391E83E5-F743-0E44-8DE2-9E22EBCB9B79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93253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E27C5-B53C-4A47-8952-00794A7B5C2A}"/>
              </a:ext>
            </a:extLst>
          </p:cNvPr>
          <p:cNvSpPr txBox="1"/>
          <p:nvPr/>
        </p:nvSpPr>
        <p:spPr>
          <a:xfrm>
            <a:off x="4133348" y="632345"/>
            <a:ext cx="256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can go wrong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BA1AC-DDC4-D74C-81BB-A663DCCA4C4C}"/>
              </a:ext>
            </a:extLst>
          </p:cNvPr>
          <p:cNvSpPr txBox="1"/>
          <p:nvPr/>
        </p:nvSpPr>
        <p:spPr>
          <a:xfrm>
            <a:off x="6866467" y="6375400"/>
            <a:ext cx="1853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Infinite recursion!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3A5D3E-694E-8E44-BAA2-581D3A8BE1E3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3AD9D6F1-54C0-6644-8155-B899D4685D6A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0038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310502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Unit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Expr Op Unit Op Unit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Unit ....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FBDE198E-96F7-D54F-A00B-E4780FCEFB5A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72772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b="1" dirty="0"/>
              <a:t>Top down parsing does not handle left recursion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B5303-6EEE-4D4D-BBA4-8EFF4E296E2F}"/>
              </a:ext>
            </a:extLst>
          </p:cNvPr>
          <p:cNvSpPr txBox="1"/>
          <p:nvPr/>
        </p:nvSpPr>
        <p:spPr>
          <a:xfrm>
            <a:off x="1083733" y="4445000"/>
            <a:ext cx="202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 left recursion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FCEF2-C9E6-3E40-A699-6DA6638EB9D1}"/>
              </a:ext>
            </a:extLst>
          </p:cNvPr>
          <p:cNvSpPr txBox="1"/>
          <p:nvPr/>
        </p:nvSpPr>
        <p:spPr>
          <a:xfrm>
            <a:off x="7374466" y="4715933"/>
            <a:ext cx="2195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indirect left recursion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560741" y="5698067"/>
            <a:ext cx="462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Top down parsing cannot handle either of these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8C4B7A-1CEA-EF4A-A9C0-73EF97A817D9}"/>
              </a:ext>
            </a:extLst>
          </p:cNvPr>
          <p:cNvSpPr/>
          <p:nvPr/>
        </p:nvSpPr>
        <p:spPr>
          <a:xfrm>
            <a:off x="761998" y="2258511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 ::=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6096000" y="2413337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Expr_op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7634897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b="1" dirty="0"/>
              <a:t>Top down parsing does not handle left recursion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58D662-59C9-B643-A3E2-753B5E9E7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In general, any CFG can be re-written without left recursion</a:t>
            </a:r>
          </a:p>
          <a:p>
            <a:pPr lvl="1"/>
            <a:r>
              <a:rPr lang="en-US" sz="2800" dirty="0"/>
              <a:t>However, the transformation may affect associativity </a:t>
            </a:r>
          </a:p>
          <a:p>
            <a:pPr lvl="1"/>
            <a:r>
              <a:rPr lang="en-US" sz="2800" dirty="0"/>
              <a:t>or increase the number of rules</a:t>
            </a:r>
          </a:p>
          <a:p>
            <a:pPr lvl="1"/>
            <a:r>
              <a:rPr lang="en-US" sz="2800" dirty="0"/>
              <a:t>but it is always possible</a:t>
            </a:r>
          </a:p>
        </p:txBody>
      </p:sp>
    </p:spTree>
    <p:extLst>
      <p:ext uri="{BB962C8B-B14F-4D97-AF65-F5344CB8AC3E}">
        <p14:creationId xmlns:p14="http://schemas.microsoft.com/office/powerpoint/2010/main" val="255268900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32B993-57C7-DF49-A59B-C01E6BC17AF2}"/>
              </a:ext>
            </a:extLst>
          </p:cNvPr>
          <p:cNvSpPr txBox="1"/>
          <p:nvPr/>
        </p:nvSpPr>
        <p:spPr>
          <a:xfrm>
            <a:off x="1219200" y="2819400"/>
            <a:ext cx="2949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“a”</a:t>
            </a:r>
          </a:p>
          <a:p>
            <a:r>
              <a:rPr lang="en-US" sz="2400" dirty="0">
                <a:latin typeface="Courier" pitchFamily="2" charset="0"/>
              </a:rPr>
              <a:t>    |   “b”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2CD5CB-B832-384A-BF16-C0F97F7E513E}"/>
              </a:ext>
            </a:extLst>
          </p:cNvPr>
          <p:cNvSpPr txBox="1"/>
          <p:nvPr/>
        </p:nvSpPr>
        <p:spPr>
          <a:xfrm>
            <a:off x="1219200" y="4548276"/>
            <a:ext cx="4546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What does this grammar describe?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588C0D5-D6AE-4C49-DF6A-E61023771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</p:spTree>
    <p:extLst>
      <p:ext uri="{BB962C8B-B14F-4D97-AF65-F5344CB8AC3E}">
        <p14:creationId xmlns:p14="http://schemas.microsoft.com/office/powerpoint/2010/main" val="5915215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2B993-57C7-DF49-A59B-C01E6BC17AF2}"/>
              </a:ext>
            </a:extLst>
          </p:cNvPr>
          <p:cNvSpPr txBox="1"/>
          <p:nvPr/>
        </p:nvSpPr>
        <p:spPr>
          <a:xfrm>
            <a:off x="1219200" y="2819400"/>
            <a:ext cx="2949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“a”</a:t>
            </a:r>
          </a:p>
          <a:p>
            <a:r>
              <a:rPr lang="en-US" sz="2400" dirty="0">
                <a:latin typeface="Courier" pitchFamily="2" charset="0"/>
              </a:rPr>
              <a:t>    |   “b”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43177-05B6-7D4C-AEF7-3B1F5AA777F8}"/>
              </a:ext>
            </a:extLst>
          </p:cNvPr>
          <p:cNvSpPr txBox="1"/>
          <p:nvPr/>
        </p:nvSpPr>
        <p:spPr>
          <a:xfrm>
            <a:off x="6248400" y="2819399"/>
            <a:ext cx="368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“b”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“a”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09FD4-A8EF-DC46-9E43-29C7CF1D9528}"/>
              </a:ext>
            </a:extLst>
          </p:cNvPr>
          <p:cNvSpPr txBox="1"/>
          <p:nvPr/>
        </p:nvSpPr>
        <p:spPr>
          <a:xfrm>
            <a:off x="6096000" y="2070377"/>
            <a:ext cx="3293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grammar can be rewritten as</a:t>
            </a:r>
          </a:p>
        </p:txBody>
      </p:sp>
    </p:spTree>
    <p:extLst>
      <p:ext uri="{BB962C8B-B14F-4D97-AF65-F5344CB8AC3E}">
        <p14:creationId xmlns:p14="http://schemas.microsoft.com/office/powerpoint/2010/main" val="164212420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2B993-57C7-DF49-A59B-C01E6BC17AF2}"/>
              </a:ext>
            </a:extLst>
          </p:cNvPr>
          <p:cNvSpPr txBox="1"/>
          <p:nvPr/>
        </p:nvSpPr>
        <p:spPr>
          <a:xfrm>
            <a:off x="1219200" y="2819400"/>
            <a:ext cx="2581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43177-05B6-7D4C-AEF7-3B1F5AA777F8}"/>
              </a:ext>
            </a:extLst>
          </p:cNvPr>
          <p:cNvSpPr txBox="1"/>
          <p:nvPr/>
        </p:nvSpPr>
        <p:spPr>
          <a:xfrm>
            <a:off x="6248400" y="2819399"/>
            <a:ext cx="368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09FD4-A8EF-DC46-9E43-29C7CF1D9528}"/>
              </a:ext>
            </a:extLst>
          </p:cNvPr>
          <p:cNvSpPr txBox="1"/>
          <p:nvPr/>
        </p:nvSpPr>
        <p:spPr>
          <a:xfrm>
            <a:off x="2438400" y="1960310"/>
            <a:ext cx="687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 general, A and B can be any sequence of non-terminals and terminals</a:t>
            </a:r>
          </a:p>
        </p:txBody>
      </p:sp>
    </p:spTree>
    <p:extLst>
      <p:ext uri="{BB962C8B-B14F-4D97-AF65-F5344CB8AC3E}">
        <p14:creationId xmlns:p14="http://schemas.microsoft.com/office/powerpoint/2010/main" val="136960754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26824-AA59-4F45-A39C-0D55DB172730}"/>
              </a:ext>
            </a:extLst>
          </p:cNvPr>
          <p:cNvSpPr txBox="1"/>
          <p:nvPr/>
        </p:nvSpPr>
        <p:spPr>
          <a:xfrm>
            <a:off x="838200" y="4019727"/>
            <a:ext cx="311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Lets do this one as an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76F00-A4BC-1E49-9855-9D9EE1AC37CF}"/>
              </a:ext>
            </a:extLst>
          </p:cNvPr>
          <p:cNvSpPr txBox="1"/>
          <p:nvPr/>
        </p:nvSpPr>
        <p:spPr>
          <a:xfrm>
            <a:off x="838200" y="4958265"/>
            <a:ext cx="258115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5BAF3-3D30-DC48-AF36-D594694AF4E7}"/>
              </a:ext>
            </a:extLst>
          </p:cNvPr>
          <p:cNvSpPr txBox="1"/>
          <p:nvPr/>
        </p:nvSpPr>
        <p:spPr>
          <a:xfrm>
            <a:off x="4961466" y="4588934"/>
            <a:ext cx="3683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44EF493-F4D3-F74D-B9B3-FA8A993CFF5D}"/>
              </a:ext>
            </a:extLst>
          </p:cNvPr>
          <p:cNvSpPr/>
          <p:nvPr/>
        </p:nvSpPr>
        <p:spPr>
          <a:xfrm>
            <a:off x="3950719" y="5308600"/>
            <a:ext cx="765214" cy="2201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F71058-3D02-354A-8EB9-782ACBD8786D}"/>
              </a:ext>
            </a:extLst>
          </p:cNvPr>
          <p:cNvSpPr/>
          <p:nvPr/>
        </p:nvSpPr>
        <p:spPr>
          <a:xfrm>
            <a:off x="931331" y="1867006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27565763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26824-AA59-4F45-A39C-0D55DB172730}"/>
              </a:ext>
            </a:extLst>
          </p:cNvPr>
          <p:cNvSpPr txBox="1"/>
          <p:nvPr/>
        </p:nvSpPr>
        <p:spPr>
          <a:xfrm>
            <a:off x="838200" y="4019727"/>
            <a:ext cx="311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Lets do this one as an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76F00-A4BC-1E49-9855-9D9EE1AC37CF}"/>
              </a:ext>
            </a:extLst>
          </p:cNvPr>
          <p:cNvSpPr txBox="1"/>
          <p:nvPr/>
        </p:nvSpPr>
        <p:spPr>
          <a:xfrm>
            <a:off x="838200" y="4958265"/>
            <a:ext cx="258115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5BAF3-3D30-DC48-AF36-D594694AF4E7}"/>
              </a:ext>
            </a:extLst>
          </p:cNvPr>
          <p:cNvSpPr txBox="1"/>
          <p:nvPr/>
        </p:nvSpPr>
        <p:spPr>
          <a:xfrm>
            <a:off x="4961466" y="4588934"/>
            <a:ext cx="3683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44EF493-F4D3-F74D-B9B3-FA8A993CFF5D}"/>
              </a:ext>
            </a:extLst>
          </p:cNvPr>
          <p:cNvSpPr/>
          <p:nvPr/>
        </p:nvSpPr>
        <p:spPr>
          <a:xfrm>
            <a:off x="3950719" y="5308600"/>
            <a:ext cx="765214" cy="2201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C864E2-A02E-2444-AE31-D5DF5CC6D686}"/>
              </a:ext>
            </a:extLst>
          </p:cNvPr>
          <p:cNvSpPr/>
          <p:nvPr/>
        </p:nvSpPr>
        <p:spPr>
          <a:xfrm>
            <a:off x="7518398" y="17453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?</a:t>
            </a:r>
          </a:p>
          <a:p>
            <a:r>
              <a:rPr lang="en-US" dirty="0">
                <a:latin typeface="Courier" pitchFamily="2" charset="0"/>
              </a:rPr>
              <a:t>2: Expr2 ::= ?</a:t>
            </a:r>
          </a:p>
          <a:p>
            <a:r>
              <a:rPr lang="en-US" dirty="0">
                <a:latin typeface="Courier" pitchFamily="2" charset="0"/>
              </a:rPr>
              <a:t>3:       | ?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E259B4-7C64-2F4C-880F-61DEB51B60A5}"/>
              </a:ext>
            </a:extLst>
          </p:cNvPr>
          <p:cNvSpPr/>
          <p:nvPr/>
        </p:nvSpPr>
        <p:spPr>
          <a:xfrm>
            <a:off x="931331" y="1867006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4AE47-F185-4846-AD7D-D588580EC039}"/>
              </a:ext>
            </a:extLst>
          </p:cNvPr>
          <p:cNvSpPr txBox="1"/>
          <p:nvPr/>
        </p:nvSpPr>
        <p:spPr>
          <a:xfrm>
            <a:off x="9474198" y="809351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A = ?</a:t>
            </a:r>
          </a:p>
          <a:p>
            <a:r>
              <a:rPr lang="en-US" dirty="0">
                <a:latin typeface="Courier" pitchFamily="2" charset="0"/>
              </a:rPr>
              <a:t>B = ?</a:t>
            </a:r>
          </a:p>
        </p:txBody>
      </p:sp>
    </p:spTree>
    <p:extLst>
      <p:ext uri="{BB962C8B-B14F-4D97-AF65-F5344CB8AC3E}">
        <p14:creationId xmlns:p14="http://schemas.microsoft.com/office/powerpoint/2010/main" val="73051171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26824-AA59-4F45-A39C-0D55DB172730}"/>
              </a:ext>
            </a:extLst>
          </p:cNvPr>
          <p:cNvSpPr txBox="1"/>
          <p:nvPr/>
        </p:nvSpPr>
        <p:spPr>
          <a:xfrm>
            <a:off x="838200" y="4019727"/>
            <a:ext cx="311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Lets do this one as an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76F00-A4BC-1E49-9855-9D9EE1AC37CF}"/>
              </a:ext>
            </a:extLst>
          </p:cNvPr>
          <p:cNvSpPr txBox="1"/>
          <p:nvPr/>
        </p:nvSpPr>
        <p:spPr>
          <a:xfrm>
            <a:off x="838200" y="4958265"/>
            <a:ext cx="258115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5BAF3-3D30-DC48-AF36-D594694AF4E7}"/>
              </a:ext>
            </a:extLst>
          </p:cNvPr>
          <p:cNvSpPr txBox="1"/>
          <p:nvPr/>
        </p:nvSpPr>
        <p:spPr>
          <a:xfrm>
            <a:off x="4961466" y="4588934"/>
            <a:ext cx="3683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44EF493-F4D3-F74D-B9B3-FA8A993CFF5D}"/>
              </a:ext>
            </a:extLst>
          </p:cNvPr>
          <p:cNvSpPr/>
          <p:nvPr/>
        </p:nvSpPr>
        <p:spPr>
          <a:xfrm>
            <a:off x="3950719" y="5308600"/>
            <a:ext cx="765214" cy="2201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C864E2-A02E-2444-AE31-D5DF5CC6D686}"/>
              </a:ext>
            </a:extLst>
          </p:cNvPr>
          <p:cNvSpPr/>
          <p:nvPr/>
        </p:nvSpPr>
        <p:spPr>
          <a:xfrm>
            <a:off x="7518398" y="17453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E259B4-7C64-2F4C-880F-61DEB51B60A5}"/>
              </a:ext>
            </a:extLst>
          </p:cNvPr>
          <p:cNvSpPr/>
          <p:nvPr/>
        </p:nvSpPr>
        <p:spPr>
          <a:xfrm>
            <a:off x="931331" y="1867006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4AE47-F185-4846-AD7D-D588580EC039}"/>
              </a:ext>
            </a:extLst>
          </p:cNvPr>
          <p:cNvSpPr txBox="1"/>
          <p:nvPr/>
        </p:nvSpPr>
        <p:spPr>
          <a:xfrm>
            <a:off x="9474198" y="809351"/>
            <a:ext cx="1701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A = Op Unit</a:t>
            </a:r>
          </a:p>
          <a:p>
            <a:r>
              <a:rPr lang="en-US" dirty="0">
                <a:latin typeface="Courier" pitchFamily="2" charset="0"/>
              </a:rPr>
              <a:t>B = Unit</a:t>
            </a:r>
          </a:p>
        </p:txBody>
      </p:sp>
    </p:spTree>
    <p:extLst>
      <p:ext uri="{BB962C8B-B14F-4D97-AF65-F5344CB8AC3E}">
        <p14:creationId xmlns:p14="http://schemas.microsoft.com/office/powerpoint/2010/main" val="232445487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103AB-5157-9743-BC3A-0C7404719604}"/>
              </a:ext>
            </a:extLst>
          </p:cNvPr>
          <p:cNvSpPr/>
          <p:nvPr/>
        </p:nvSpPr>
        <p:spPr>
          <a:xfrm>
            <a:off x="7662332" y="5007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9" name="Table 11">
            <a:extLst>
              <a:ext uri="{FF2B5EF4-FFF2-40B4-BE49-F238E27FC236}">
                <a16:creationId xmlns:a16="http://schemas.microsoft.com/office/drawing/2014/main" id="{B6743B0F-F925-C04C-A3E0-8D388BD29269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9862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103AB-5157-9743-BC3A-0C7404719604}"/>
              </a:ext>
            </a:extLst>
          </p:cNvPr>
          <p:cNvSpPr/>
          <p:nvPr/>
        </p:nvSpPr>
        <p:spPr>
          <a:xfrm>
            <a:off x="7662332" y="5007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0501035-8CC1-2A49-AEF6-4C65A8BE668B}"/>
              </a:ext>
            </a:extLst>
          </p:cNvPr>
          <p:cNvSpPr txBox="1"/>
          <p:nvPr/>
        </p:nvSpPr>
        <p:spPr>
          <a:xfrm>
            <a:off x="5723467" y="719667"/>
            <a:ext cx="1561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to handle</a:t>
            </a:r>
            <a:br>
              <a:rPr lang="en-US" i="1" dirty="0"/>
            </a:br>
            <a:r>
              <a:rPr lang="en-US" i="1" dirty="0"/>
              <a:t>this case?</a:t>
            </a: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28043986-F21C-3848-B452-B40E284BD09D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16791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6356227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   if A == “”: focus=pop(); continue; # ignore it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103AB-5157-9743-BC3A-0C7404719604}"/>
              </a:ext>
            </a:extLst>
          </p:cNvPr>
          <p:cNvSpPr/>
          <p:nvPr/>
        </p:nvSpPr>
        <p:spPr>
          <a:xfrm>
            <a:off x="7662332" y="5007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0501035-8CC1-2A49-AEF6-4C65A8BE668B}"/>
              </a:ext>
            </a:extLst>
          </p:cNvPr>
          <p:cNvSpPr txBox="1"/>
          <p:nvPr/>
        </p:nvSpPr>
        <p:spPr>
          <a:xfrm>
            <a:off x="5723467" y="719667"/>
            <a:ext cx="1561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to handle</a:t>
            </a:r>
            <a:br>
              <a:rPr lang="en-US" i="1" dirty="0"/>
            </a:br>
            <a:r>
              <a:rPr lang="en-US" i="1" dirty="0"/>
              <a:t>this case?</a:t>
            </a:r>
          </a:p>
        </p:txBody>
      </p:sp>
      <p:graphicFrame>
        <p:nvGraphicFramePr>
          <p:cNvPr id="9" name="Table 11">
            <a:extLst>
              <a:ext uri="{FF2B5EF4-FFF2-40B4-BE49-F238E27FC236}">
                <a16:creationId xmlns:a16="http://schemas.microsoft.com/office/drawing/2014/main" id="{AF7D498A-D3DE-AA49-95F7-621BA36F53A8}"/>
              </a:ext>
            </a:extLst>
          </p:cNvPr>
          <p:cNvGraphicFramePr>
            <a:graphicFrameLocks noGrp="1"/>
          </p:cNvGraphicFramePr>
          <p:nvPr/>
        </p:nvGraphicFramePr>
        <p:xfrm>
          <a:off x="546359" y="4898082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8617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B5303-6EEE-4D4D-BBA4-8EFF4E296E2F}"/>
              </a:ext>
            </a:extLst>
          </p:cNvPr>
          <p:cNvSpPr txBox="1"/>
          <p:nvPr/>
        </p:nvSpPr>
        <p:spPr>
          <a:xfrm>
            <a:off x="1083733" y="4445000"/>
            <a:ext cx="202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 left recursion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FCEF2-C9E6-3E40-A699-6DA6638EB9D1}"/>
              </a:ext>
            </a:extLst>
          </p:cNvPr>
          <p:cNvSpPr txBox="1"/>
          <p:nvPr/>
        </p:nvSpPr>
        <p:spPr>
          <a:xfrm>
            <a:off x="7374466" y="4715933"/>
            <a:ext cx="2195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indirect left recursion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53933" y="5698067"/>
            <a:ext cx="385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Top down parsing cannot handle either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8C4B7A-1CEA-EF4A-A9C0-73EF97A817D9}"/>
              </a:ext>
            </a:extLst>
          </p:cNvPr>
          <p:cNvSpPr/>
          <p:nvPr/>
        </p:nvSpPr>
        <p:spPr>
          <a:xfrm>
            <a:off x="761998" y="2258511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 ::=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6096000" y="2413337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Expr_op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194337393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7933" y="4419600"/>
            <a:ext cx="329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Identify indirect left left recursion</a:t>
            </a:r>
          </a:p>
          <a:p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3953933" y="1896870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Expr_op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/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/>
                  <a:t>Expr_base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Expr_op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 err="1"/>
                  <a:t>Expr_base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  <a:blipFill>
                <a:blip r:embed="rId2"/>
                <a:stretch>
                  <a:fillRect l="-1928" t="-7895" r="-72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85029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7933" y="4419600"/>
            <a:ext cx="329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Identify indirect left left recursion</a:t>
            </a:r>
          </a:p>
          <a:p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3953933" y="1896870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Expr_op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/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/>
                  <a:t>Expr_base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Expr_op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 err="1"/>
                  <a:t>Expr_base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  <a:blipFill>
                <a:blip r:embed="rId2"/>
                <a:stretch>
                  <a:fillRect l="-1928" t="-7895" r="-72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F390D5-3744-8F4B-9877-D1DE8F5C71E1}"/>
              </a:ext>
            </a:extLst>
          </p:cNvPr>
          <p:cNvSpPr txBox="1"/>
          <p:nvPr/>
        </p:nvSpPr>
        <p:spPr>
          <a:xfrm>
            <a:off x="3953933" y="6206067"/>
            <a:ext cx="585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Substitute indirect non-terminal closer to initial non-terminal</a:t>
            </a:r>
          </a:p>
        </p:txBody>
      </p:sp>
    </p:spTree>
    <p:extLst>
      <p:ext uri="{BB962C8B-B14F-4D97-AF65-F5344CB8AC3E}">
        <p14:creationId xmlns:p14="http://schemas.microsoft.com/office/powerpoint/2010/main" val="100501695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7933" y="4419600"/>
            <a:ext cx="329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Identify indirect left left recursion</a:t>
            </a:r>
          </a:p>
          <a:p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1041399" y="1887604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latin typeface="Courier" pitchFamily="2" charset="0"/>
              </a:rPr>
              <a:t>Expr_op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/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/>
                  <a:t>Expr_base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Expr_op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 err="1"/>
                  <a:t>Expr_base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  <a:blipFill>
                <a:blip r:embed="rId2"/>
                <a:stretch>
                  <a:fillRect l="-1928" t="-7895" r="-72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F390D5-3744-8F4B-9877-D1DE8F5C71E1}"/>
              </a:ext>
            </a:extLst>
          </p:cNvPr>
          <p:cNvSpPr txBox="1"/>
          <p:nvPr/>
        </p:nvSpPr>
        <p:spPr>
          <a:xfrm>
            <a:off x="3953933" y="6206067"/>
            <a:ext cx="585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Substitute indirect non-terminal closer to initial non-terminal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92654-851C-3C41-B361-2D3305448EBA}"/>
              </a:ext>
            </a:extLst>
          </p:cNvPr>
          <p:cNvSpPr/>
          <p:nvPr/>
        </p:nvSpPr>
        <p:spPr>
          <a:xfrm>
            <a:off x="6582762" y="1971424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3B516-667F-A244-860C-26E7F7FB2197}"/>
              </a:ext>
            </a:extLst>
          </p:cNvPr>
          <p:cNvSpPr txBox="1"/>
          <p:nvPr/>
        </p:nvSpPr>
        <p:spPr>
          <a:xfrm>
            <a:off x="5706533" y="4258733"/>
            <a:ext cx="350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to do with production rule 3?</a:t>
            </a:r>
          </a:p>
        </p:txBody>
      </p:sp>
    </p:spTree>
    <p:extLst>
      <p:ext uri="{BB962C8B-B14F-4D97-AF65-F5344CB8AC3E}">
        <p14:creationId xmlns:p14="http://schemas.microsoft.com/office/powerpoint/2010/main" val="188622496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7933" y="4419600"/>
            <a:ext cx="329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Identify indirect left left recursion</a:t>
            </a:r>
          </a:p>
          <a:p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1041399" y="1887604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latin typeface="Courier" pitchFamily="2" charset="0"/>
              </a:rPr>
              <a:t>Expr_op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/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/>
                  <a:t>Expr_base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Expr_op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 err="1"/>
                  <a:t>Expr_base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  <a:blipFill>
                <a:blip r:embed="rId2"/>
                <a:stretch>
                  <a:fillRect l="-1928" t="-7895" r="-72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F390D5-3744-8F4B-9877-D1DE8F5C71E1}"/>
              </a:ext>
            </a:extLst>
          </p:cNvPr>
          <p:cNvSpPr txBox="1"/>
          <p:nvPr/>
        </p:nvSpPr>
        <p:spPr>
          <a:xfrm>
            <a:off x="3953933" y="6206067"/>
            <a:ext cx="585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Substitute indirect non-terminal closer to initial non-terminal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92654-851C-3C41-B361-2D3305448EBA}"/>
              </a:ext>
            </a:extLst>
          </p:cNvPr>
          <p:cNvSpPr/>
          <p:nvPr/>
        </p:nvSpPr>
        <p:spPr>
          <a:xfrm>
            <a:off x="6582762" y="1971424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3B516-667F-A244-860C-26E7F7FB2197}"/>
              </a:ext>
            </a:extLst>
          </p:cNvPr>
          <p:cNvSpPr txBox="1"/>
          <p:nvPr/>
        </p:nvSpPr>
        <p:spPr>
          <a:xfrm>
            <a:off x="5706533" y="4258733"/>
            <a:ext cx="5756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to do with production rule 3?</a:t>
            </a:r>
            <a:br>
              <a:rPr lang="en-US" dirty="0"/>
            </a:br>
            <a:r>
              <a:rPr lang="en-US" dirty="0"/>
              <a:t>It may need to stay if another production rule references it!</a:t>
            </a:r>
          </a:p>
        </p:txBody>
      </p:sp>
    </p:spTree>
    <p:extLst>
      <p:ext uri="{BB962C8B-B14F-4D97-AF65-F5344CB8AC3E}">
        <p14:creationId xmlns:p14="http://schemas.microsoft.com/office/powerpoint/2010/main" val="127002643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time: algorithms for syntactic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CE13-5E20-3C4F-97D5-4A2A43A55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23708"/>
          </a:xfrm>
        </p:spPr>
        <p:txBody>
          <a:bodyPr>
            <a:normAutofit/>
          </a:bodyPr>
          <a:lstStyle/>
          <a:p>
            <a:r>
              <a:rPr lang="en-US" dirty="0"/>
              <a:t>Continue with our top down parser.</a:t>
            </a:r>
          </a:p>
          <a:p>
            <a:pPr lvl="1"/>
            <a:r>
              <a:rPr lang="en-US" dirty="0"/>
              <a:t>Backtracking</a:t>
            </a:r>
          </a:p>
          <a:p>
            <a:pPr lvl="1"/>
            <a:r>
              <a:rPr lang="en-US" dirty="0"/>
              <a:t>Lookahead sets</a:t>
            </a:r>
          </a:p>
        </p:txBody>
      </p:sp>
    </p:spTree>
    <p:extLst>
      <p:ext uri="{BB962C8B-B14F-4D97-AF65-F5344CB8AC3E}">
        <p14:creationId xmlns:p14="http://schemas.microsoft.com/office/powerpoint/2010/main" val="84516308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DAC6-8229-D2C5-CE46-1BB5A5DC8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5215C-E2D5-5E6A-F3D5-5F9F88620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15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TOP-DOWN PARSERS</a:t>
            </a:r>
          </a:p>
        </p:txBody>
      </p:sp>
    </p:spTree>
    <p:extLst>
      <p:ext uri="{BB962C8B-B14F-4D97-AF65-F5344CB8AC3E}">
        <p14:creationId xmlns:p14="http://schemas.microsoft.com/office/powerpoint/2010/main" val="7332907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B3896-2809-A702-0BBD-4E905973D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E95DA-B18B-7F7B-4659-1D9C0F7F4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15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ELIMINATING LEFT-RECURSION</a:t>
            </a:r>
          </a:p>
        </p:txBody>
      </p:sp>
    </p:spTree>
    <p:extLst>
      <p:ext uri="{BB962C8B-B14F-4D97-AF65-F5344CB8AC3E}">
        <p14:creationId xmlns:p14="http://schemas.microsoft.com/office/powerpoint/2010/main" val="409171585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9D83-7E8E-F414-8502-BE993D0F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1516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ORACULARITY: </a:t>
            </a:r>
            <a:br>
              <a:rPr lang="en-US" dirty="0"/>
            </a:br>
            <a:r>
              <a:rPr lang="en-US" dirty="0"/>
              <a:t>MAKING A BACKTRACK FREE LL(1) PARSER</a:t>
            </a:r>
            <a:br>
              <a:rPr lang="en-US" dirty="0"/>
            </a:br>
            <a:r>
              <a:rPr lang="en-US" dirty="0"/>
              <a:t>USING FIRST, FOLLOW and FIRST+ SETS</a:t>
            </a:r>
          </a:p>
        </p:txBody>
      </p:sp>
    </p:spTree>
    <p:extLst>
      <p:ext uri="{BB962C8B-B14F-4D97-AF65-F5344CB8AC3E}">
        <p14:creationId xmlns:p14="http://schemas.microsoft.com/office/powerpoint/2010/main" val="73116880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   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if B1 == “”: focus=pop(); continue;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Expr2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9" name="Table 11">
            <a:extLst>
              <a:ext uri="{FF2B5EF4-FFF2-40B4-BE49-F238E27FC236}">
                <a16:creationId xmlns:a16="http://schemas.microsoft.com/office/drawing/2014/main" id="{AF7D498A-D3DE-AA49-95F7-621BA36F53A8}"/>
              </a:ext>
            </a:extLst>
          </p:cNvPr>
          <p:cNvGraphicFramePr>
            <a:graphicFrameLocks noGrp="1"/>
          </p:cNvGraphicFramePr>
          <p:nvPr/>
        </p:nvGraphicFramePr>
        <p:xfrm>
          <a:off x="546359" y="4898082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Expr2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9CD21B2-65B0-9B4E-AC9C-7BAEF1C50F5F}"/>
              </a:ext>
            </a:extLst>
          </p:cNvPr>
          <p:cNvSpPr/>
          <p:nvPr/>
        </p:nvSpPr>
        <p:spPr>
          <a:xfrm>
            <a:off x="8280399" y="463670"/>
            <a:ext cx="39116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ID Expr2</a:t>
            </a:r>
          </a:p>
          <a:p>
            <a:r>
              <a:rPr lang="en-US" dirty="0">
                <a:latin typeface="Courier" pitchFamily="2" charset="0"/>
              </a:rPr>
              <a:t>2: Expr2 ::= ‘+’ Expr2</a:t>
            </a:r>
          </a:p>
          <a:p>
            <a:r>
              <a:rPr lang="en-US" dirty="0">
                <a:latin typeface="Courier" pitchFamily="2" charset="0"/>
              </a:rPr>
              <a:t>3:       |   ””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8CC11-C9DC-2E46-B941-9611D27EC8E8}"/>
              </a:ext>
            </a:extLst>
          </p:cNvPr>
          <p:cNvSpPr txBox="1"/>
          <p:nvPr/>
        </p:nvSpPr>
        <p:spPr>
          <a:xfrm>
            <a:off x="8237551" y="2202511"/>
            <a:ext cx="203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match: “a”?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868959-DD9C-0744-8E74-0A46B4FEDB78}"/>
              </a:ext>
            </a:extLst>
          </p:cNvPr>
          <p:cNvSpPr txBox="1"/>
          <p:nvPr/>
        </p:nvSpPr>
        <p:spPr>
          <a:xfrm>
            <a:off x="4186150" y="1303911"/>
            <a:ext cx="381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Could we make a smarter choice here?</a:t>
            </a:r>
          </a:p>
        </p:txBody>
      </p:sp>
    </p:spTree>
    <p:extLst>
      <p:ext uri="{BB962C8B-B14F-4D97-AF65-F5344CB8AC3E}">
        <p14:creationId xmlns:p14="http://schemas.microsoft.com/office/powerpoint/2010/main" val="238731645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7EACE-562A-0F4E-AB70-C2F6FD01EEB4}"/>
              </a:ext>
            </a:extLst>
          </p:cNvPr>
          <p:cNvSpPr txBox="1"/>
          <p:nvPr/>
        </p:nvSpPr>
        <p:spPr>
          <a:xfrm>
            <a:off x="6431065" y="1221847"/>
            <a:ext cx="4384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production choice, find the set</a:t>
            </a:r>
          </a:p>
          <a:p>
            <a:r>
              <a:rPr lang="en-US" i="1" dirty="0"/>
              <a:t>of tokens that each production can start with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358BB-B0A9-4B4A-83E1-CBE80B0ED7F7}"/>
              </a:ext>
            </a:extLst>
          </p:cNvPr>
          <p:cNvSpPr/>
          <p:nvPr/>
        </p:nvSpPr>
        <p:spPr>
          <a:xfrm>
            <a:off x="6096000" y="2415001"/>
            <a:ext cx="5054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{}</a:t>
            </a:r>
          </a:p>
          <a:p>
            <a:r>
              <a:rPr lang="en-US" dirty="0">
                <a:latin typeface="Courier" pitchFamily="2" charset="0"/>
              </a:rPr>
              <a:t>2: {}</a:t>
            </a:r>
          </a:p>
          <a:p>
            <a:r>
              <a:rPr lang="en-US" dirty="0">
                <a:latin typeface="Courier" pitchFamily="2" charset="0"/>
              </a:rPr>
              <a:t>3: {}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{}</a:t>
            </a:r>
          </a:p>
          <a:p>
            <a:r>
              <a:rPr lang="en-US" dirty="0">
                <a:latin typeface="Courier" pitchFamily="2" charset="0"/>
              </a:rPr>
              <a:t>5: {}</a:t>
            </a:r>
          </a:p>
          <a:p>
            <a:r>
              <a:rPr lang="en-US" dirty="0">
                <a:latin typeface="Courier" pitchFamily="2" charset="0"/>
              </a:rPr>
              <a:t>6: {}</a:t>
            </a:r>
          </a:p>
          <a:p>
            <a:r>
              <a:rPr lang="en-US" dirty="0">
                <a:latin typeface="Courier" pitchFamily="2" charset="0"/>
              </a:rPr>
              <a:t>7: {}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C69731-3D29-CA48-8DC5-34C5D0C7668D}"/>
              </a:ext>
            </a:extLst>
          </p:cNvPr>
          <p:cNvSpPr/>
          <p:nvPr/>
        </p:nvSpPr>
        <p:spPr>
          <a:xfrm>
            <a:off x="1149403" y="2692000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414462718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7EACE-562A-0F4E-AB70-C2F6FD01EEB4}"/>
              </a:ext>
            </a:extLst>
          </p:cNvPr>
          <p:cNvSpPr txBox="1"/>
          <p:nvPr/>
        </p:nvSpPr>
        <p:spPr>
          <a:xfrm>
            <a:off x="6431065" y="1221847"/>
            <a:ext cx="4384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production choice, find the set</a:t>
            </a:r>
          </a:p>
          <a:p>
            <a:r>
              <a:rPr lang="en-US" i="1" dirty="0"/>
              <a:t>of tokens that each production can start with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358BB-B0A9-4B4A-83E1-CBE80B0ED7F7}"/>
              </a:ext>
            </a:extLst>
          </p:cNvPr>
          <p:cNvSpPr/>
          <p:nvPr/>
        </p:nvSpPr>
        <p:spPr>
          <a:xfrm>
            <a:off x="6096000" y="2415001"/>
            <a:ext cx="5054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E9921C-1689-D74A-875E-DCAF31561F3E}"/>
              </a:ext>
            </a:extLst>
          </p:cNvPr>
          <p:cNvSpPr/>
          <p:nvPr/>
        </p:nvSpPr>
        <p:spPr>
          <a:xfrm>
            <a:off x="1149403" y="2692000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3E883-D7AF-A14B-B949-F04364BA2F29}"/>
              </a:ext>
            </a:extLst>
          </p:cNvPr>
          <p:cNvSpPr txBox="1"/>
          <p:nvPr/>
        </p:nvSpPr>
        <p:spPr>
          <a:xfrm>
            <a:off x="6050943" y="5414838"/>
            <a:ext cx="4815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can use first sets to decide which rule to pick!</a:t>
            </a:r>
          </a:p>
        </p:txBody>
      </p:sp>
    </p:spTree>
    <p:extLst>
      <p:ext uri="{BB962C8B-B14F-4D97-AF65-F5344CB8AC3E}">
        <p14:creationId xmlns:p14="http://schemas.microsoft.com/office/powerpoint/2010/main" val="184120141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to_match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s.token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to_match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s.token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graphicFrame>
        <p:nvGraphicFramePr>
          <p:cNvPr id="19" name="Table 11">
            <a:extLst>
              <a:ext uri="{FF2B5EF4-FFF2-40B4-BE49-F238E27FC236}">
                <a16:creationId xmlns:a16="http://schemas.microsoft.com/office/drawing/2014/main" id="{B6743B0F-F925-C04C-A3E0-8D388BD29269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highlight>
                            <a:srgbClr val="FFFF00"/>
                          </a:highlight>
                        </a:rPr>
                        <a:t>to_match</a:t>
                      </a:r>
                      <a:endParaRPr lang="en-US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62A06D4-55A1-2640-ABA9-5E1837F624F6}"/>
              </a:ext>
            </a:extLst>
          </p:cNvPr>
          <p:cNvSpPr txBox="1"/>
          <p:nvPr/>
        </p:nvSpPr>
        <p:spPr>
          <a:xfrm>
            <a:off x="7355752" y="5464534"/>
            <a:ext cx="39567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simply use </a:t>
            </a:r>
            <a:r>
              <a:rPr lang="en-US" dirty="0" err="1"/>
              <a:t>to_match</a:t>
            </a:r>
            <a:r>
              <a:rPr lang="en-US" dirty="0"/>
              <a:t> and compare it</a:t>
            </a:r>
            <a:br>
              <a:rPr lang="en-US" dirty="0"/>
            </a:br>
            <a:r>
              <a:rPr lang="en-US" dirty="0"/>
              <a:t>to the first sets for each choice</a:t>
            </a:r>
          </a:p>
          <a:p>
            <a:endParaRPr lang="en-US" dirty="0"/>
          </a:p>
          <a:p>
            <a:r>
              <a:rPr lang="en-US" dirty="0"/>
              <a:t>For example, Op and Unit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2560DC-BE5A-2146-A4AA-D594E649F9B0}"/>
              </a:ext>
            </a:extLst>
          </p:cNvPr>
          <p:cNvSpPr/>
          <p:nvPr/>
        </p:nvSpPr>
        <p:spPr>
          <a:xfrm>
            <a:off x="6891528" y="2708281"/>
            <a:ext cx="5054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FD9FC4-93A4-3643-B4F9-0EF719BA952E}"/>
              </a:ext>
            </a:extLst>
          </p:cNvPr>
          <p:cNvSpPr/>
          <p:nvPr/>
        </p:nvSpPr>
        <p:spPr>
          <a:xfrm>
            <a:off x="6891528" y="36740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283689702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Follow 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9FAE3-A1B2-4F44-945F-FA272C4A912E}"/>
              </a:ext>
            </a:extLst>
          </p:cNvPr>
          <p:cNvSpPr txBox="1"/>
          <p:nvPr/>
        </p:nvSpPr>
        <p:spPr>
          <a:xfrm>
            <a:off x="5049078" y="5446644"/>
            <a:ext cx="4137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to find the tokens that any string</a:t>
            </a:r>
          </a:p>
          <a:p>
            <a:r>
              <a:rPr lang="en-US" dirty="0"/>
              <a:t>that follows the production can start with.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B3AE82-42C9-9A43-A107-B72DB14069E1}"/>
              </a:ext>
            </a:extLst>
          </p:cNvPr>
          <p:cNvSpPr/>
          <p:nvPr/>
        </p:nvSpPr>
        <p:spPr>
          <a:xfrm>
            <a:off x="5237259" y="24229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D685AF-99DB-2E48-9D26-D755CB342B8E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982BBC-B725-B244-B935-18275F428776}"/>
              </a:ext>
            </a:extLst>
          </p:cNvPr>
          <p:cNvSpPr/>
          <p:nvPr/>
        </p:nvSpPr>
        <p:spPr>
          <a:xfrm>
            <a:off x="7599976" y="23901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latin typeface="Courier" pitchFamily="2" charset="0"/>
              </a:rPr>
              <a:t>3: {}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13B350-919A-444A-A39F-7AB16E0E49A0}"/>
              </a:ext>
            </a:extLst>
          </p:cNvPr>
          <p:cNvSpPr txBox="1"/>
          <p:nvPr/>
        </p:nvSpPr>
        <p:spPr>
          <a:xfrm>
            <a:off x="4548173" y="1470022"/>
            <a:ext cx="5010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Rules with “” in their First set need special attention</a:t>
            </a:r>
          </a:p>
        </p:txBody>
      </p:sp>
    </p:spTree>
    <p:extLst>
      <p:ext uri="{BB962C8B-B14F-4D97-AF65-F5344CB8AC3E}">
        <p14:creationId xmlns:p14="http://schemas.microsoft.com/office/powerpoint/2010/main" val="37721978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1501F-85B0-3BAB-C6EC-05863E54E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9A2D-C5D4-44EB-089E-8F672049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Follow 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F560A-723E-7938-20B9-FE723A5F7FEF}"/>
              </a:ext>
            </a:extLst>
          </p:cNvPr>
          <p:cNvSpPr txBox="1"/>
          <p:nvPr/>
        </p:nvSpPr>
        <p:spPr>
          <a:xfrm>
            <a:off x="5049078" y="5446644"/>
            <a:ext cx="4137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to find the tokens that any string</a:t>
            </a:r>
          </a:p>
          <a:p>
            <a:r>
              <a:rPr lang="en-US" dirty="0"/>
              <a:t>that follows the production can start with.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920F14-F4FF-C177-B027-292DB9E17E10}"/>
              </a:ext>
            </a:extLst>
          </p:cNvPr>
          <p:cNvSpPr/>
          <p:nvPr/>
        </p:nvSpPr>
        <p:spPr>
          <a:xfrm>
            <a:off x="5237259" y="24229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ECC2EB-3F97-CA2A-8A16-887336653B62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DC9FF2-3A8E-307F-6C66-609AAB9406A0}"/>
              </a:ext>
            </a:extLst>
          </p:cNvPr>
          <p:cNvSpPr/>
          <p:nvPr/>
        </p:nvSpPr>
        <p:spPr>
          <a:xfrm>
            <a:off x="7599976" y="23901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latin typeface="Courier" pitchFamily="2" charset="0"/>
              </a:rPr>
              <a:t>3: {}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BE9AA1-1477-AAF4-D26B-D535406842E8}"/>
              </a:ext>
            </a:extLst>
          </p:cNvPr>
          <p:cNvSpPr txBox="1"/>
          <p:nvPr/>
        </p:nvSpPr>
        <p:spPr>
          <a:xfrm>
            <a:off x="4548173" y="1470022"/>
            <a:ext cx="5010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Rules with “” in their First set need special attention</a:t>
            </a:r>
          </a:p>
        </p:txBody>
      </p:sp>
    </p:spTree>
    <p:extLst>
      <p:ext uri="{BB962C8B-B14F-4D97-AF65-F5344CB8AC3E}">
        <p14:creationId xmlns:p14="http://schemas.microsoft.com/office/powerpoint/2010/main" val="219713128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First+ 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6072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conditional combination of First and Follow sets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A0700-6E9C-38EE-018C-A7B194964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46" y="3035568"/>
            <a:ext cx="9547915" cy="12186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5830C2-7002-1FA7-CC43-BFD63E7EFA0A}"/>
              </a:ext>
            </a:extLst>
          </p:cNvPr>
          <p:cNvSpPr txBox="1"/>
          <p:nvPr/>
        </p:nvSpPr>
        <p:spPr>
          <a:xfrm>
            <a:off x="3222703" y="5183580"/>
            <a:ext cx="4828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hlinkClick r:id="rId4"/>
              </a:rPr>
              <a:t>SEE ANIMATION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4C4C6-C146-CBB4-C1ED-11B44003EC13}"/>
              </a:ext>
            </a:extLst>
          </p:cNvPr>
          <p:cNvSpPr txBox="1"/>
          <p:nvPr/>
        </p:nvSpPr>
        <p:spPr>
          <a:xfrm>
            <a:off x="1483112" y="6311590"/>
            <a:ext cx="8697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https://github.com/Ant-28/first-follow.git</a:t>
            </a:r>
            <a:endParaRPr lang="en-US" dirty="0"/>
          </a:p>
          <a:p>
            <a:r>
              <a:rPr lang="en-US" dirty="0"/>
              <a:t> Author: Ant Palmer</a:t>
            </a:r>
          </a:p>
        </p:txBody>
      </p:sp>
    </p:spTree>
    <p:extLst>
      <p:ext uri="{BB962C8B-B14F-4D97-AF65-F5344CB8AC3E}">
        <p14:creationId xmlns:p14="http://schemas.microsoft.com/office/powerpoint/2010/main" val="115530827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3D1BC-5EDE-AE40-8836-BDB24D8F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5594-5274-6E17-89BC-D02113CF7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00" y="21641"/>
            <a:ext cx="10515600" cy="1325563"/>
          </a:xfrm>
        </p:spPr>
        <p:txBody>
          <a:bodyPr/>
          <a:lstStyle/>
          <a:p>
            <a:r>
              <a:rPr lang="en-US" dirty="0"/>
              <a:t>Calculating  Follow(A)  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6C8BF-3744-1841-1E98-8AB47639C8AF}"/>
              </a:ext>
            </a:extLst>
          </p:cNvPr>
          <p:cNvSpPr txBox="1"/>
          <p:nvPr/>
        </p:nvSpPr>
        <p:spPr>
          <a:xfrm>
            <a:off x="5348855" y="1443806"/>
            <a:ext cx="3155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to find the tokens </a:t>
            </a:r>
          </a:p>
          <a:p>
            <a:r>
              <a:rPr lang="en-US" dirty="0"/>
              <a:t>that any string that follows the production can start with.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CE32F5-8CB6-439F-E207-DAC559B1C79B}"/>
              </a:ext>
            </a:extLst>
          </p:cNvPr>
          <p:cNvSpPr/>
          <p:nvPr/>
        </p:nvSpPr>
        <p:spPr>
          <a:xfrm>
            <a:off x="8565860" y="1581863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054D83-DAAF-E495-C28D-1E6BD055C987}"/>
              </a:ext>
            </a:extLst>
          </p:cNvPr>
          <p:cNvSpPr/>
          <p:nvPr/>
        </p:nvSpPr>
        <p:spPr>
          <a:xfrm>
            <a:off x="708860" y="98296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2D6D26-9744-06AC-A21B-490AA93BF9FF}"/>
              </a:ext>
            </a:extLst>
          </p:cNvPr>
          <p:cNvSpPr/>
          <p:nvPr/>
        </p:nvSpPr>
        <p:spPr>
          <a:xfrm>
            <a:off x="10362692" y="1581863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latin typeface="Courier" pitchFamily="2" charset="0"/>
              </a:rPr>
              <a:t>3: {}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CFB1B3-D19E-EA16-FDEA-F763FF0F7015}"/>
              </a:ext>
            </a:extLst>
          </p:cNvPr>
          <p:cNvSpPr txBox="1"/>
          <p:nvPr/>
        </p:nvSpPr>
        <p:spPr>
          <a:xfrm>
            <a:off x="6624688" y="1059085"/>
            <a:ext cx="5010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Rules with “” in their First set need special attention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7F0D5A-868A-1866-2A5D-B38551FFBD22}"/>
              </a:ext>
            </a:extLst>
          </p:cNvPr>
          <p:cNvSpPr txBox="1"/>
          <p:nvPr/>
        </p:nvSpPr>
        <p:spPr>
          <a:xfrm>
            <a:off x="648586" y="4189228"/>
            <a:ext cx="62407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EE993-F6FC-3002-9BC8-47A0AB68D19C}"/>
              </a:ext>
            </a:extLst>
          </p:cNvPr>
          <p:cNvSpPr txBox="1"/>
          <p:nvPr/>
        </p:nvSpPr>
        <p:spPr>
          <a:xfrm>
            <a:off x="443022" y="4834315"/>
            <a:ext cx="1060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To compute FOLLOW(A) for all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nonterminals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A, apply the following rules until nothing can be added to any FOLLOW set: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1. Place $ in FOLLOW(S), where S is the start symbol and $ is the input right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endmarker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2. If there is a production A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Þ </a:t>
            </a:r>
            <a:r>
              <a:rPr lang="en-US" sz="1800" b="0" i="0" u="none" strike="noStrike" baseline="0" dirty="0" err="1">
                <a:latin typeface="Symbol" panose="05050102010706020507" pitchFamily="18" charset="2"/>
              </a:rPr>
              <a:t>aBb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, then everything in FIRST(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b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), except for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e,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is placed in FOLLOW(B).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3. If there is a production A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Þ </a:t>
            </a:r>
            <a:r>
              <a:rPr lang="en-US" sz="1800" b="0" i="0" u="none" strike="noStrike" baseline="0" dirty="0" err="1">
                <a:latin typeface="Symbol" panose="05050102010706020507" pitchFamily="18" charset="2"/>
              </a:rPr>
              <a:t>aB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, or a production A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Þ </a:t>
            </a:r>
            <a:r>
              <a:rPr lang="en-US" sz="1800" b="0" i="0" u="none" strike="noStrike" baseline="0" dirty="0" err="1">
                <a:latin typeface="Symbol" panose="05050102010706020507" pitchFamily="18" charset="2"/>
              </a:rPr>
              <a:t>aBb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where FIRST(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b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) contains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e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(i.e.,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b </a:t>
            </a:r>
            <a:r>
              <a:rPr lang="en-US" sz="1800" b="0" i="0" u="none" strike="noStrike" baseline="0" dirty="0" err="1">
                <a:latin typeface="Symbol" panose="05050102010706020507" pitchFamily="18" charset="2"/>
              </a:rPr>
              <a:t>Þe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), </a:t>
            </a:r>
          </a:p>
          <a:p>
            <a:pPr algn="l"/>
            <a:r>
              <a:rPr lang="en-US" dirty="0">
                <a:latin typeface="Symbol" panose="05050102010706020507" pitchFamily="18" charset="2"/>
              </a:rPr>
              <a:t>   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then everything in FOLLOW(A) is in FOLLOW(B).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390716-CB3F-47E7-DE10-94EEEE2BFFA4}"/>
              </a:ext>
            </a:extLst>
          </p:cNvPr>
          <p:cNvSpPr txBox="1"/>
          <p:nvPr/>
        </p:nvSpPr>
        <p:spPr>
          <a:xfrm>
            <a:off x="3615071" y="2863849"/>
            <a:ext cx="48271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ID        +        *         )          (          e           $</a:t>
            </a:r>
          </a:p>
          <a:p>
            <a:r>
              <a:rPr lang="en-US" dirty="0"/>
              <a:t> ━━━━━━━━━━━━━━━━━━━━</a:t>
            </a:r>
          </a:p>
          <a:p>
            <a:r>
              <a:rPr lang="en-US" dirty="0"/>
              <a:t>  Expr                                            v                                    </a:t>
            </a:r>
            <a:r>
              <a:rPr lang="en-US" dirty="0" err="1"/>
              <a:t>v</a:t>
            </a:r>
            <a:endParaRPr lang="en-US" dirty="0"/>
          </a:p>
          <a:p>
            <a:r>
              <a:rPr lang="en-US" dirty="0"/>
              <a:t>  Expr2                                         v                                    </a:t>
            </a:r>
            <a:r>
              <a:rPr lang="en-US" dirty="0" err="1"/>
              <a:t>v</a:t>
            </a:r>
            <a:endParaRPr lang="en-US" dirty="0"/>
          </a:p>
          <a:p>
            <a:r>
              <a:rPr lang="en-US" dirty="0"/>
              <a:t>  Unit                         v       </a:t>
            </a:r>
            <a:r>
              <a:rPr lang="en-US" dirty="0" err="1"/>
              <a:t>v</a:t>
            </a:r>
            <a:r>
              <a:rPr lang="en-US" dirty="0"/>
              <a:t>        </a:t>
            </a:r>
            <a:r>
              <a:rPr lang="en-US" dirty="0" err="1"/>
              <a:t>v</a:t>
            </a:r>
            <a:r>
              <a:rPr lang="en-US" dirty="0"/>
              <a:t>                                    </a:t>
            </a:r>
            <a:r>
              <a:rPr lang="en-US" dirty="0" err="1"/>
              <a:t>v</a:t>
            </a:r>
            <a:endParaRPr lang="en-US" dirty="0"/>
          </a:p>
          <a:p>
            <a:r>
              <a:rPr lang="en-US" dirty="0"/>
              <a:t>  Op               v                                          </a:t>
            </a:r>
            <a:r>
              <a:rPr lang="en-US" dirty="0" err="1"/>
              <a:t>v</a:t>
            </a: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4CBD4-2FED-68E9-89FB-A17FE61F7314}"/>
              </a:ext>
            </a:extLst>
          </p:cNvPr>
          <p:cNvSpPr txBox="1"/>
          <p:nvPr/>
        </p:nvSpPr>
        <p:spPr>
          <a:xfrm>
            <a:off x="3804449" y="2463739"/>
            <a:ext cx="180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Follow Set</a:t>
            </a:r>
          </a:p>
        </p:txBody>
      </p:sp>
    </p:spTree>
    <p:extLst>
      <p:ext uri="{BB962C8B-B14F-4D97-AF65-F5344CB8AC3E}">
        <p14:creationId xmlns:p14="http://schemas.microsoft.com/office/powerpoint/2010/main" val="394312112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39"/>
            <a:ext cx="10515600" cy="1325563"/>
          </a:xfrm>
        </p:spPr>
        <p:txBody>
          <a:bodyPr/>
          <a:lstStyle/>
          <a:p>
            <a:r>
              <a:rPr lang="en-US" dirty="0"/>
              <a:t>The Follow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044791-E532-744D-B5EB-FA87CF04CE52}"/>
              </a:ext>
            </a:extLst>
          </p:cNvPr>
          <p:cNvSpPr/>
          <p:nvPr/>
        </p:nvSpPr>
        <p:spPr>
          <a:xfrm>
            <a:off x="6487604" y="1521894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998043" y="1171065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117634-15FC-B147-9529-1D9F35C75A46}"/>
              </a:ext>
            </a:extLst>
          </p:cNvPr>
          <p:cNvSpPr/>
          <p:nvPr/>
        </p:nvSpPr>
        <p:spPr>
          <a:xfrm>
            <a:off x="8918413" y="1521894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FE90DD-734B-C945-936C-53DC1F605FE1}"/>
              </a:ext>
            </a:extLst>
          </p:cNvPr>
          <p:cNvSpPr txBox="1"/>
          <p:nvPr/>
        </p:nvSpPr>
        <p:spPr>
          <a:xfrm>
            <a:off x="6487604" y="4072546"/>
            <a:ext cx="43108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to find the tokens that any string</a:t>
            </a:r>
          </a:p>
          <a:p>
            <a:r>
              <a:rPr lang="en-US" dirty="0"/>
              <a:t>that follows the production can start with.</a:t>
            </a:r>
          </a:p>
          <a:p>
            <a:r>
              <a:rPr lang="en-US" dirty="0"/>
              <a:t>$ and None in Follow/First+ sets are the same.   The None/$ terminal refer to the end of a  valid language sentence.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5941038" y="738817"/>
            <a:ext cx="5010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Rules with “” in their First set need special attention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589B8-02F1-C506-998E-306283DBA0D9}"/>
              </a:ext>
            </a:extLst>
          </p:cNvPr>
          <p:cNvSpPr txBox="1"/>
          <p:nvPr/>
        </p:nvSpPr>
        <p:spPr>
          <a:xfrm>
            <a:off x="956930" y="3934047"/>
            <a:ext cx="48271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ID        +        *         )          (          e           $</a:t>
            </a:r>
          </a:p>
          <a:p>
            <a:r>
              <a:rPr lang="en-US" dirty="0"/>
              <a:t> ━━━━━━━━━━━━━━━━━━━━</a:t>
            </a:r>
          </a:p>
          <a:p>
            <a:r>
              <a:rPr lang="en-US" dirty="0"/>
              <a:t>  Expr                                            v                                    </a:t>
            </a:r>
            <a:r>
              <a:rPr lang="en-US" dirty="0" err="1"/>
              <a:t>v</a:t>
            </a:r>
            <a:endParaRPr lang="en-US" dirty="0"/>
          </a:p>
          <a:p>
            <a:r>
              <a:rPr lang="en-US" dirty="0"/>
              <a:t>  Expr2                                         v                                    </a:t>
            </a:r>
            <a:r>
              <a:rPr lang="en-US" dirty="0" err="1"/>
              <a:t>v</a:t>
            </a:r>
            <a:endParaRPr lang="en-US" dirty="0"/>
          </a:p>
          <a:p>
            <a:r>
              <a:rPr lang="en-US" dirty="0"/>
              <a:t>  Unit                         v       </a:t>
            </a:r>
            <a:r>
              <a:rPr lang="en-US" dirty="0" err="1"/>
              <a:t>v</a:t>
            </a:r>
            <a:r>
              <a:rPr lang="en-US" dirty="0"/>
              <a:t>        </a:t>
            </a:r>
            <a:r>
              <a:rPr lang="en-US" dirty="0" err="1"/>
              <a:t>v</a:t>
            </a:r>
            <a:r>
              <a:rPr lang="en-US" dirty="0"/>
              <a:t>                                    </a:t>
            </a:r>
            <a:r>
              <a:rPr lang="en-US" dirty="0" err="1"/>
              <a:t>v</a:t>
            </a:r>
            <a:endParaRPr lang="en-US" dirty="0"/>
          </a:p>
          <a:p>
            <a:r>
              <a:rPr lang="en-US" dirty="0"/>
              <a:t>  Op               v                                          </a:t>
            </a:r>
            <a:r>
              <a:rPr lang="en-US" dirty="0" err="1"/>
              <a:t>v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25B43-5C4C-855C-AB37-79B70B939772}"/>
              </a:ext>
            </a:extLst>
          </p:cNvPr>
          <p:cNvSpPr txBox="1"/>
          <p:nvPr/>
        </p:nvSpPr>
        <p:spPr>
          <a:xfrm>
            <a:off x="1146308" y="3533937"/>
            <a:ext cx="180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Follow Set</a:t>
            </a:r>
          </a:p>
        </p:txBody>
      </p:sp>
    </p:spTree>
    <p:extLst>
      <p:ext uri="{BB962C8B-B14F-4D97-AF65-F5344CB8AC3E}">
        <p14:creationId xmlns:p14="http://schemas.microsoft.com/office/powerpoint/2010/main" val="56827877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First+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044791-E532-744D-B5EB-FA87CF04CE52}"/>
              </a:ext>
            </a:extLst>
          </p:cNvPr>
          <p:cNvSpPr/>
          <p:nvPr/>
        </p:nvSpPr>
        <p:spPr>
          <a:xfrm>
            <a:off x="4132180" y="24229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117634-15FC-B147-9529-1D9F35C75A46}"/>
              </a:ext>
            </a:extLst>
          </p:cNvPr>
          <p:cNvSpPr/>
          <p:nvPr/>
        </p:nvSpPr>
        <p:spPr>
          <a:xfrm>
            <a:off x="6105369" y="2430158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538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the combination of First and Follow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EA11D-76FA-D843-9610-E15BBD909065}"/>
              </a:ext>
            </a:extLst>
          </p:cNvPr>
          <p:cNvSpPr/>
          <p:nvPr/>
        </p:nvSpPr>
        <p:spPr>
          <a:xfrm>
            <a:off x="8372299" y="2422952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</p:spTree>
    <p:extLst>
      <p:ext uri="{BB962C8B-B14F-4D97-AF65-F5344CB8AC3E}">
        <p14:creationId xmlns:p14="http://schemas.microsoft.com/office/powerpoint/2010/main" val="67675369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backtracking?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538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the combination of First and Follow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EA11D-76FA-D843-9610-E15BBD909065}"/>
              </a:ext>
            </a:extLst>
          </p:cNvPr>
          <p:cNvSpPr/>
          <p:nvPr/>
        </p:nvSpPr>
        <p:spPr>
          <a:xfrm>
            <a:off x="4611332" y="2422952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4CA7B-DCAC-F444-BC5B-85F9BEE053ED}"/>
              </a:ext>
            </a:extLst>
          </p:cNvPr>
          <p:cNvSpPr txBox="1"/>
          <p:nvPr/>
        </p:nvSpPr>
        <p:spPr>
          <a:xfrm>
            <a:off x="2879481" y="5314874"/>
            <a:ext cx="754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For each non-terminal: if every production has a disjoint First+ set then</a:t>
            </a:r>
          </a:p>
          <a:p>
            <a:r>
              <a:rPr lang="en-US" b="1" i="1" dirty="0"/>
              <a:t>we do not need any backtracking!</a:t>
            </a:r>
          </a:p>
        </p:txBody>
      </p:sp>
    </p:spTree>
    <p:extLst>
      <p:ext uri="{BB962C8B-B14F-4D97-AF65-F5344CB8AC3E}">
        <p14:creationId xmlns:p14="http://schemas.microsoft.com/office/powerpoint/2010/main" val="287802591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backtracking?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538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the combination of First and Follow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EA11D-76FA-D843-9610-E15BBD909065}"/>
              </a:ext>
            </a:extLst>
          </p:cNvPr>
          <p:cNvSpPr/>
          <p:nvPr/>
        </p:nvSpPr>
        <p:spPr>
          <a:xfrm>
            <a:off x="4611332" y="2422952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1: {‘(‘, ID}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4: {‘(‘}</a:t>
            </a:r>
          </a:p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5: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{‘+’}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{‘*’}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4CA7B-DCAC-F444-BC5B-85F9BEE053ED}"/>
              </a:ext>
            </a:extLst>
          </p:cNvPr>
          <p:cNvSpPr txBox="1"/>
          <p:nvPr/>
        </p:nvSpPr>
        <p:spPr>
          <a:xfrm>
            <a:off x="3411109" y="5645426"/>
            <a:ext cx="6838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non-terminal: if every production has a disjoint First+ set then</a:t>
            </a:r>
          </a:p>
          <a:p>
            <a:r>
              <a:rPr lang="en-US" i="1" dirty="0"/>
              <a:t>we do not need any backtracking!</a:t>
            </a:r>
          </a:p>
        </p:txBody>
      </p:sp>
    </p:spTree>
    <p:extLst>
      <p:ext uri="{BB962C8B-B14F-4D97-AF65-F5344CB8AC3E}">
        <p14:creationId xmlns:p14="http://schemas.microsoft.com/office/powerpoint/2010/main" val="287294833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backtracking?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538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the combination of First and Follow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EA11D-76FA-D843-9610-E15BBD909065}"/>
              </a:ext>
            </a:extLst>
          </p:cNvPr>
          <p:cNvSpPr/>
          <p:nvPr/>
        </p:nvSpPr>
        <p:spPr>
          <a:xfrm>
            <a:off x="4611332" y="2422952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1: {‘(‘, ID}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4: {‘(‘}</a:t>
            </a:r>
          </a:p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5: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{‘+’}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{‘*’}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4CA7B-DCAC-F444-BC5B-85F9BEE053ED}"/>
              </a:ext>
            </a:extLst>
          </p:cNvPr>
          <p:cNvSpPr txBox="1"/>
          <p:nvPr/>
        </p:nvSpPr>
        <p:spPr>
          <a:xfrm>
            <a:off x="3411109" y="5645426"/>
            <a:ext cx="72002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non-terminal: if every production has a disjoint First+ set then</a:t>
            </a:r>
          </a:p>
          <a:p>
            <a:r>
              <a:rPr lang="en-US" i="1" dirty="0"/>
              <a:t>we do not need any backtracking!</a:t>
            </a:r>
          </a:p>
          <a:p>
            <a:endParaRPr lang="en-US" i="1" dirty="0"/>
          </a:p>
          <a:p>
            <a:r>
              <a:rPr lang="en-US" i="1" dirty="0"/>
              <a:t>Recursive Descent allows for easy predictive lookahead of two or more.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E6165-908D-D340-9C24-C2A2DCA8EBE8}"/>
              </a:ext>
            </a:extLst>
          </p:cNvPr>
          <p:cNvSpPr txBox="1"/>
          <p:nvPr/>
        </p:nvSpPr>
        <p:spPr>
          <a:xfrm>
            <a:off x="7635018" y="2465117"/>
            <a:ext cx="44553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These grammars are called LL(1)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 - scanning the input left to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 - left derivation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1 - how many look ahead symbols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i="1" dirty="0"/>
              <a:t>They are also called predictive grammars </a:t>
            </a:r>
          </a:p>
          <a:p>
            <a:endParaRPr lang="en-US" sz="2000" i="1" dirty="0"/>
          </a:p>
          <a:p>
            <a:r>
              <a:rPr lang="en-US" sz="2000" dirty="0"/>
              <a:t>Many programming languages are LL(1)</a:t>
            </a:r>
          </a:p>
        </p:txBody>
      </p:sp>
    </p:spTree>
    <p:extLst>
      <p:ext uri="{BB962C8B-B14F-4D97-AF65-F5344CB8AC3E}">
        <p14:creationId xmlns:p14="http://schemas.microsoft.com/office/powerpoint/2010/main" val="140784465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5A739-6343-1D94-FC67-BC5546D1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94A5-BEDF-39D5-F141-EC63490F9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423" y="25766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LEFT-FACTORING A GRAMMAR</a:t>
            </a:r>
          </a:p>
        </p:txBody>
      </p:sp>
    </p:spTree>
    <p:extLst>
      <p:ext uri="{BB962C8B-B14F-4D97-AF65-F5344CB8AC3E}">
        <p14:creationId xmlns:p14="http://schemas.microsoft.com/office/powerpoint/2010/main" val="44951110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49647603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44825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{}</a:t>
            </a:r>
          </a:p>
          <a:p>
            <a:r>
              <a:rPr lang="en-US" dirty="0">
                <a:latin typeface="Courier" pitchFamily="2" charset="0"/>
              </a:rPr>
              <a:t>2: {}</a:t>
            </a:r>
          </a:p>
          <a:p>
            <a:r>
              <a:rPr lang="en-US" dirty="0">
                <a:latin typeface="Courier" pitchFamily="2" charset="0"/>
              </a:rPr>
              <a:t>3: {}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16790470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100F-852E-9005-1E81-B9110F20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C5FC1653-BB2D-C695-2C8B-81A2522DFFAB}"/>
              </a:ext>
            </a:extLst>
          </p:cNvPr>
          <p:cNvSpPr txBox="1"/>
          <p:nvPr/>
        </p:nvSpPr>
        <p:spPr>
          <a:xfrm>
            <a:off x="988247" y="255665"/>
            <a:ext cx="703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Left Factoring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DFDB10-DC10-5818-F184-6A62FB8627E4}"/>
                  </a:ext>
                </a:extLst>
              </p:cNvPr>
              <p:cNvSpPr txBox="1"/>
              <p:nvPr/>
            </p:nvSpPr>
            <p:spPr>
              <a:xfrm>
                <a:off x="1567909" y="2037835"/>
                <a:ext cx="58775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::=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| 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DFDB10-DC10-5818-F184-6A62FB862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909" y="2037835"/>
                <a:ext cx="5877549" cy="523220"/>
              </a:xfrm>
              <a:prstGeom prst="rect">
                <a:avLst/>
              </a:prstGeom>
              <a:blipFill>
                <a:blip r:embed="rId3"/>
                <a:stretch>
                  <a:fillRect l="-2075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1F45A1-27C1-519B-71E3-FF352CB2F50D}"/>
                  </a:ext>
                </a:extLst>
              </p:cNvPr>
              <p:cNvSpPr txBox="1"/>
              <p:nvPr/>
            </p:nvSpPr>
            <p:spPr>
              <a:xfrm>
                <a:off x="1724062" y="4287453"/>
                <a:ext cx="63010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B ::=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1F45A1-27C1-519B-71E3-FF352CB2F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062" y="4287453"/>
                <a:ext cx="6301060" cy="523220"/>
              </a:xfrm>
              <a:prstGeom prst="rect">
                <a:avLst/>
              </a:prstGeom>
              <a:blipFill>
                <a:blip r:embed="rId4"/>
                <a:stretch>
                  <a:fillRect l="-20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CE732E-40DE-F734-F194-E65C99BA27A2}"/>
                  </a:ext>
                </a:extLst>
              </p:cNvPr>
              <p:cNvSpPr txBox="1"/>
              <p:nvPr/>
            </p:nvSpPr>
            <p:spPr>
              <a:xfrm>
                <a:off x="1724062" y="4775621"/>
                <a:ext cx="63010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C ::=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CE732E-40DE-F734-F194-E65C99BA2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062" y="4775621"/>
                <a:ext cx="6301060" cy="523220"/>
              </a:xfrm>
              <a:prstGeom prst="rect">
                <a:avLst/>
              </a:prstGeom>
              <a:blipFill>
                <a:blip r:embed="rId5"/>
                <a:stretch>
                  <a:fillRect l="-20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ED3C6D3-ED69-A489-05BF-9137E3797758}"/>
              </a:ext>
            </a:extLst>
          </p:cNvPr>
          <p:cNvSpPr txBox="1"/>
          <p:nvPr/>
        </p:nvSpPr>
        <p:spPr>
          <a:xfrm>
            <a:off x="1156170" y="3287646"/>
            <a:ext cx="39332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Left Factor this way: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56CFF5-722C-C9AB-98EE-C634950AAF5F}"/>
                  </a:ext>
                </a:extLst>
              </p:cNvPr>
              <p:cNvSpPr txBox="1"/>
              <p:nvPr/>
            </p:nvSpPr>
            <p:spPr>
              <a:xfrm>
                <a:off x="1724062" y="3823388"/>
                <a:ext cx="58775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::=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56CFF5-722C-C9AB-98EE-C634950AA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062" y="3823388"/>
                <a:ext cx="5877549" cy="523220"/>
              </a:xfrm>
              <a:prstGeom prst="rect">
                <a:avLst/>
              </a:prstGeom>
              <a:blipFill>
                <a:blip r:embed="rId6"/>
                <a:stretch>
                  <a:fillRect l="-2178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20BEABB-EE4B-2F76-6E25-17CE589A802F}"/>
              </a:ext>
            </a:extLst>
          </p:cNvPr>
          <p:cNvSpPr txBox="1"/>
          <p:nvPr/>
        </p:nvSpPr>
        <p:spPr>
          <a:xfrm>
            <a:off x="894963" y="1034671"/>
            <a:ext cx="6812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Left Factoring:  the process of extracting and isolating common prefixes in a set of productions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64EF2-76B1-ED65-ADF8-7EE064477C91}"/>
              </a:ext>
            </a:extLst>
          </p:cNvPr>
          <p:cNvSpPr txBox="1"/>
          <p:nvPr/>
        </p:nvSpPr>
        <p:spPr>
          <a:xfrm>
            <a:off x="763961" y="2782620"/>
            <a:ext cx="6812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So, define new Non-Terminal for Common Suffixes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A61D19-0A5D-4032-B61C-1E7A25086C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6978" y="4800891"/>
            <a:ext cx="3257550" cy="12668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937CD6-D50E-DA46-0BB1-2A9D173847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4115" y="3373053"/>
            <a:ext cx="3343275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E516D1-3224-2319-2D82-393448608D72}"/>
              </a:ext>
            </a:extLst>
          </p:cNvPr>
          <p:cNvSpPr txBox="1"/>
          <p:nvPr/>
        </p:nvSpPr>
        <p:spPr>
          <a:xfrm>
            <a:off x="1156170" y="5596442"/>
            <a:ext cx="65504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Often permits a disjoint First Set for every production (RHS) avoiding backtracking.</a:t>
            </a:r>
          </a:p>
        </p:txBody>
      </p:sp>
    </p:spTree>
    <p:extLst>
      <p:ext uri="{BB962C8B-B14F-4D97-AF65-F5344CB8AC3E}">
        <p14:creationId xmlns:p14="http://schemas.microsoft.com/office/powerpoint/2010/main" val="116563950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{ID}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4E4DE-61A3-4340-954F-842324A7F958}"/>
              </a:ext>
            </a:extLst>
          </p:cNvPr>
          <p:cNvSpPr txBox="1"/>
          <p:nvPr/>
        </p:nvSpPr>
        <p:spPr>
          <a:xfrm>
            <a:off x="6958584" y="4059936"/>
            <a:ext cx="33089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cannot select the next</a:t>
            </a:r>
            <a:br>
              <a:rPr lang="en-US" i="1" dirty="0"/>
            </a:br>
            <a:r>
              <a:rPr lang="en-US" i="1" dirty="0"/>
              <a:t>rule based on a single look ahead</a:t>
            </a:r>
          </a:p>
          <a:p>
            <a:r>
              <a:rPr lang="en-US" i="1" dirty="0"/>
              <a:t>token!</a:t>
            </a:r>
          </a:p>
        </p:txBody>
      </p:sp>
    </p:spTree>
    <p:extLst>
      <p:ext uri="{BB962C8B-B14F-4D97-AF65-F5344CB8AC3E}">
        <p14:creationId xmlns:p14="http://schemas.microsoft.com/office/powerpoint/2010/main" val="316172247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{ID}</a:t>
            </a:r>
          </a:p>
          <a:p>
            <a:r>
              <a:rPr lang="en-US" dirty="0">
                <a:latin typeface="Courier" pitchFamily="2" charset="0"/>
              </a:rPr>
              <a:t>2: {ID}</a:t>
            </a:r>
          </a:p>
          <a:p>
            <a:r>
              <a:rPr lang="en-US" dirty="0">
                <a:latin typeface="Courier" pitchFamily="2" charset="0"/>
              </a:rPr>
              <a:t>3: {ID}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D7205-21A7-9847-AFDB-0F7DD328AF82}"/>
              </a:ext>
            </a:extLst>
          </p:cNvPr>
          <p:cNvSpPr/>
          <p:nvPr/>
        </p:nvSpPr>
        <p:spPr>
          <a:xfrm>
            <a:off x="838200" y="5569545"/>
            <a:ext cx="52597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     ::= ID </a:t>
            </a:r>
            <a:r>
              <a:rPr lang="en-US" dirty="0" err="1">
                <a:latin typeface="Courier" pitchFamily="2" charset="0"/>
              </a:rPr>
              <a:t>Option_args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2: </a:t>
            </a:r>
            <a:r>
              <a:rPr lang="en-US" dirty="0" err="1">
                <a:latin typeface="Courier" pitchFamily="2" charset="0"/>
              </a:rPr>
              <a:t>Option_args</a:t>
            </a:r>
            <a:r>
              <a:rPr lang="en-US" dirty="0">
                <a:latin typeface="Courier" pitchFamily="2" charset="0"/>
              </a:rPr>
              <a:t> ::=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     |  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4:             |   “”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AAE05-AF36-EB44-A0BA-1F640DC24896}"/>
              </a:ext>
            </a:extLst>
          </p:cNvPr>
          <p:cNvSpPr txBox="1"/>
          <p:nvPr/>
        </p:nvSpPr>
        <p:spPr>
          <a:xfrm>
            <a:off x="886968" y="4800600"/>
            <a:ext cx="1672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refactor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BC75CF-7E9C-C347-B46F-D82D9FD87566}"/>
              </a:ext>
            </a:extLst>
          </p:cNvPr>
          <p:cNvSpPr/>
          <p:nvPr/>
        </p:nvSpPr>
        <p:spPr>
          <a:xfrm>
            <a:off x="6558323" y="529254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{}</a:t>
            </a:r>
          </a:p>
          <a:p>
            <a:r>
              <a:rPr lang="en-US" dirty="0">
                <a:latin typeface="Courier" pitchFamily="2" charset="0"/>
              </a:rPr>
              <a:t>2: {}</a:t>
            </a:r>
          </a:p>
          <a:p>
            <a:r>
              <a:rPr lang="en-US" dirty="0">
                <a:latin typeface="Courier" pitchFamily="2" charset="0"/>
              </a:rPr>
              <a:t>3: {}</a:t>
            </a:r>
          </a:p>
          <a:p>
            <a:r>
              <a:rPr lang="en-US" dirty="0">
                <a:latin typeface="Courier" pitchFamily="2" charset="0"/>
              </a:rPr>
              <a:t>4: {}</a:t>
            </a:r>
          </a:p>
        </p:txBody>
      </p:sp>
    </p:spTree>
    <p:extLst>
      <p:ext uri="{BB962C8B-B14F-4D97-AF65-F5344CB8AC3E}">
        <p14:creationId xmlns:p14="http://schemas.microsoft.com/office/powerpoint/2010/main" val="48565451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{ID}</a:t>
            </a:r>
          </a:p>
          <a:p>
            <a:r>
              <a:rPr lang="en-US" dirty="0">
                <a:latin typeface="Courier" pitchFamily="2" charset="0"/>
              </a:rPr>
              <a:t>2: {ID}</a:t>
            </a:r>
          </a:p>
          <a:p>
            <a:r>
              <a:rPr lang="en-US" dirty="0">
                <a:latin typeface="Courier" pitchFamily="2" charset="0"/>
              </a:rPr>
              <a:t>3: {ID}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D7205-21A7-9847-AFDB-0F7DD328AF82}"/>
              </a:ext>
            </a:extLst>
          </p:cNvPr>
          <p:cNvSpPr/>
          <p:nvPr/>
        </p:nvSpPr>
        <p:spPr>
          <a:xfrm>
            <a:off x="838200" y="5569545"/>
            <a:ext cx="52597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     ::= ID </a:t>
            </a:r>
            <a:r>
              <a:rPr lang="en-US" dirty="0" err="1">
                <a:latin typeface="Courier" pitchFamily="2" charset="0"/>
              </a:rPr>
              <a:t>Option_args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2: </a:t>
            </a:r>
            <a:r>
              <a:rPr lang="en-US" dirty="0" err="1">
                <a:latin typeface="Courier" pitchFamily="2" charset="0"/>
              </a:rPr>
              <a:t>Option_args</a:t>
            </a:r>
            <a:r>
              <a:rPr lang="en-US" dirty="0">
                <a:latin typeface="Courier" pitchFamily="2" charset="0"/>
              </a:rPr>
              <a:t> ::=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     |  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4:             |   “”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AAE05-AF36-EB44-A0BA-1F640DC24896}"/>
              </a:ext>
            </a:extLst>
          </p:cNvPr>
          <p:cNvSpPr txBox="1"/>
          <p:nvPr/>
        </p:nvSpPr>
        <p:spPr>
          <a:xfrm>
            <a:off x="886968" y="4800600"/>
            <a:ext cx="1672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refactor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BC75CF-7E9C-C347-B46F-D82D9FD87566}"/>
              </a:ext>
            </a:extLst>
          </p:cNvPr>
          <p:cNvSpPr/>
          <p:nvPr/>
        </p:nvSpPr>
        <p:spPr>
          <a:xfrm>
            <a:off x="6558323" y="529254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1: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{‘[‘}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{‘(‘}</a:t>
            </a:r>
          </a:p>
          <a:p>
            <a:r>
              <a:rPr lang="en-US" dirty="0">
                <a:latin typeface="Courier" pitchFamily="2" charset="0"/>
              </a:rPr>
              <a:t>4: {“”}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F1BC30-4BA1-B54E-81ED-8ED36F82B131}"/>
              </a:ext>
            </a:extLst>
          </p:cNvPr>
          <p:cNvSpPr txBox="1"/>
          <p:nvPr/>
        </p:nvSpPr>
        <p:spPr>
          <a:xfrm>
            <a:off x="7872984" y="6400542"/>
            <a:ext cx="4043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// We will need to compute the follow set</a:t>
            </a:r>
          </a:p>
        </p:txBody>
      </p:sp>
    </p:spTree>
    <p:extLst>
      <p:ext uri="{BB962C8B-B14F-4D97-AF65-F5344CB8AC3E}">
        <p14:creationId xmlns:p14="http://schemas.microsoft.com/office/powerpoint/2010/main" val="246957440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{ID}</a:t>
            </a:r>
          </a:p>
          <a:p>
            <a:r>
              <a:rPr lang="en-US" dirty="0">
                <a:latin typeface="Courier" pitchFamily="2" charset="0"/>
              </a:rPr>
              <a:t>2: {ID}</a:t>
            </a:r>
          </a:p>
          <a:p>
            <a:r>
              <a:rPr lang="en-US" dirty="0">
                <a:latin typeface="Courier" pitchFamily="2" charset="0"/>
              </a:rPr>
              <a:t>3: {ID}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D7205-21A7-9847-AFDB-0F7DD328AF82}"/>
              </a:ext>
            </a:extLst>
          </p:cNvPr>
          <p:cNvSpPr/>
          <p:nvPr/>
        </p:nvSpPr>
        <p:spPr>
          <a:xfrm>
            <a:off x="838200" y="5569545"/>
            <a:ext cx="52597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     ::= ID </a:t>
            </a:r>
            <a:r>
              <a:rPr lang="en-US" dirty="0" err="1">
                <a:latin typeface="Courier" pitchFamily="2" charset="0"/>
              </a:rPr>
              <a:t>Option_args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2: </a:t>
            </a:r>
            <a:r>
              <a:rPr lang="en-US" dirty="0" err="1">
                <a:latin typeface="Courier" pitchFamily="2" charset="0"/>
              </a:rPr>
              <a:t>Option_args</a:t>
            </a:r>
            <a:r>
              <a:rPr lang="en-US" dirty="0">
                <a:latin typeface="Courier" pitchFamily="2" charset="0"/>
              </a:rPr>
              <a:t> ::=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     |  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4:             |   “”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AAE05-AF36-EB44-A0BA-1F640DC24896}"/>
              </a:ext>
            </a:extLst>
          </p:cNvPr>
          <p:cNvSpPr txBox="1"/>
          <p:nvPr/>
        </p:nvSpPr>
        <p:spPr>
          <a:xfrm>
            <a:off x="886968" y="4800600"/>
            <a:ext cx="1672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refactor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2CAF56-2EA5-364A-B9B2-E8666FA36AEE}"/>
              </a:ext>
            </a:extLst>
          </p:cNvPr>
          <p:cNvSpPr txBox="1"/>
          <p:nvPr/>
        </p:nvSpPr>
        <p:spPr>
          <a:xfrm>
            <a:off x="8339328" y="3602736"/>
            <a:ext cx="32144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It is not always possible to </a:t>
            </a:r>
          </a:p>
          <a:p>
            <a:r>
              <a:rPr lang="en-US" i="1" dirty="0"/>
              <a:t>rewrite grammars into a</a:t>
            </a:r>
          </a:p>
          <a:p>
            <a:r>
              <a:rPr lang="en-US" i="1" dirty="0"/>
              <a:t>predictive form, but many</a:t>
            </a:r>
          </a:p>
          <a:p>
            <a:r>
              <a:rPr lang="en-US" i="1" dirty="0"/>
              <a:t>programming languages can be.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8570C3-F2D9-6D4D-AA7D-D892FDEF721E}"/>
              </a:ext>
            </a:extLst>
          </p:cNvPr>
          <p:cNvSpPr/>
          <p:nvPr/>
        </p:nvSpPr>
        <p:spPr>
          <a:xfrm>
            <a:off x="6558323" y="529254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1: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{‘[‘}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{‘(‘}</a:t>
            </a:r>
          </a:p>
          <a:p>
            <a:r>
              <a:rPr lang="en-US" dirty="0">
                <a:latin typeface="Courier" pitchFamily="2" charset="0"/>
              </a:rPr>
              <a:t>4: {“”}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47865-7BAF-E042-8CFD-EDF1CC5DE686}"/>
              </a:ext>
            </a:extLst>
          </p:cNvPr>
          <p:cNvSpPr txBox="1"/>
          <p:nvPr/>
        </p:nvSpPr>
        <p:spPr>
          <a:xfrm>
            <a:off x="7872984" y="6400542"/>
            <a:ext cx="4043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// We will need to compute the follow set</a:t>
            </a:r>
          </a:p>
        </p:txBody>
      </p:sp>
    </p:spTree>
    <p:extLst>
      <p:ext uri="{BB962C8B-B14F-4D97-AF65-F5344CB8AC3E}">
        <p14:creationId xmlns:p14="http://schemas.microsoft.com/office/powerpoint/2010/main" val="390758397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100F-852E-9005-1E81-B9110F20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C5FC1653-BB2D-C695-2C8B-81A2522DFFAB}"/>
              </a:ext>
            </a:extLst>
          </p:cNvPr>
          <p:cNvSpPr txBox="1"/>
          <p:nvPr/>
        </p:nvSpPr>
        <p:spPr>
          <a:xfrm>
            <a:off x="2577562" y="318929"/>
            <a:ext cx="703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 Pattern for Left Factoring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9079F-CBA9-0D8D-6C0E-EFCFB7A69308}"/>
              </a:ext>
            </a:extLst>
          </p:cNvPr>
          <p:cNvSpPr txBox="1"/>
          <p:nvPr/>
        </p:nvSpPr>
        <p:spPr>
          <a:xfrm>
            <a:off x="8456778" y="725858"/>
            <a:ext cx="31540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S            : Expr</a:t>
            </a:r>
          </a:p>
          <a:p>
            <a:r>
              <a:rPr lang="en-US" dirty="0"/>
              <a:t>1. Expr     : Expr + Term</a:t>
            </a:r>
          </a:p>
          <a:p>
            <a:r>
              <a:rPr lang="en-US" dirty="0"/>
              <a:t>2.               | Expr - Term</a:t>
            </a:r>
          </a:p>
          <a:p>
            <a:r>
              <a:rPr lang="en-US" dirty="0"/>
              <a:t>3.               | Term</a:t>
            </a:r>
          </a:p>
          <a:p>
            <a:r>
              <a:rPr lang="en-US" dirty="0"/>
              <a:t>4. Term    : Term * Factor</a:t>
            </a:r>
          </a:p>
          <a:p>
            <a:r>
              <a:rPr lang="en-US" dirty="0"/>
              <a:t>5.                | term / Factor</a:t>
            </a:r>
          </a:p>
          <a:p>
            <a:r>
              <a:rPr lang="en-US" dirty="0"/>
              <a:t>6.                | Factor</a:t>
            </a:r>
          </a:p>
          <a:p>
            <a:r>
              <a:rPr lang="en-US" dirty="0"/>
              <a:t>7. Factor  : ( Expr )</a:t>
            </a:r>
          </a:p>
          <a:p>
            <a:pPr marL="342900" indent="-342900">
              <a:buAutoNum type="arabicPeriod" startAt="8"/>
            </a:pPr>
            <a:r>
              <a:rPr lang="en-US" dirty="0"/>
              <a:t>              | num</a:t>
            </a:r>
          </a:p>
          <a:p>
            <a:r>
              <a:rPr lang="en-US" dirty="0"/>
              <a:t>9.                 | name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DFDB10-DC10-5818-F184-6A62FB8627E4}"/>
                  </a:ext>
                </a:extLst>
              </p:cNvPr>
              <p:cNvSpPr txBox="1"/>
              <p:nvPr/>
            </p:nvSpPr>
            <p:spPr>
              <a:xfrm>
                <a:off x="1274022" y="1536937"/>
                <a:ext cx="58775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::=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| 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DFDB10-DC10-5818-F184-6A62FB862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2" y="1536937"/>
                <a:ext cx="5877549" cy="523220"/>
              </a:xfrm>
              <a:prstGeom prst="rect">
                <a:avLst/>
              </a:prstGeom>
              <a:blipFill>
                <a:blip r:embed="rId3"/>
                <a:stretch>
                  <a:fillRect l="-2178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1F45A1-27C1-519B-71E3-FF352CB2F50D}"/>
                  </a:ext>
                </a:extLst>
              </p:cNvPr>
              <p:cNvSpPr txBox="1"/>
              <p:nvPr/>
            </p:nvSpPr>
            <p:spPr>
              <a:xfrm>
                <a:off x="1274021" y="3686002"/>
                <a:ext cx="63010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B ::=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1F45A1-27C1-519B-71E3-FF352CB2F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1" y="3686002"/>
                <a:ext cx="6301060" cy="523220"/>
              </a:xfrm>
              <a:prstGeom prst="rect">
                <a:avLst/>
              </a:prstGeom>
              <a:blipFill>
                <a:blip r:embed="rId4"/>
                <a:stretch>
                  <a:fillRect l="-2031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CE732E-40DE-F734-F194-E65C99BA27A2}"/>
                  </a:ext>
                </a:extLst>
              </p:cNvPr>
              <p:cNvSpPr txBox="1"/>
              <p:nvPr/>
            </p:nvSpPr>
            <p:spPr>
              <a:xfrm>
                <a:off x="1274022" y="4172896"/>
                <a:ext cx="63010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C ::=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CE732E-40DE-F734-F194-E65C99BA2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2" y="4172896"/>
                <a:ext cx="6301060" cy="523220"/>
              </a:xfrm>
              <a:prstGeom prst="rect">
                <a:avLst/>
              </a:prstGeom>
              <a:blipFill>
                <a:blip r:embed="rId5"/>
                <a:stretch>
                  <a:fillRect l="-2031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ED3C6D3-ED69-A489-05BF-9137E3797758}"/>
              </a:ext>
            </a:extLst>
          </p:cNvPr>
          <p:cNvSpPr txBox="1"/>
          <p:nvPr/>
        </p:nvSpPr>
        <p:spPr>
          <a:xfrm>
            <a:off x="706131" y="2531558"/>
            <a:ext cx="39332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Left Factor this way: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56CFF5-722C-C9AB-98EE-C634950AAF5F}"/>
                  </a:ext>
                </a:extLst>
              </p:cNvPr>
              <p:cNvSpPr txBox="1"/>
              <p:nvPr/>
            </p:nvSpPr>
            <p:spPr>
              <a:xfrm>
                <a:off x="1274021" y="3156505"/>
                <a:ext cx="58775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::=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56CFF5-722C-C9AB-98EE-C634950AA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1" y="3156505"/>
                <a:ext cx="5877549" cy="523220"/>
              </a:xfrm>
              <a:prstGeom prst="rect">
                <a:avLst/>
              </a:prstGeom>
              <a:blipFill>
                <a:blip r:embed="rId6"/>
                <a:stretch>
                  <a:fillRect l="-217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89300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31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We now have a full top-down </a:t>
            </a:r>
            <a:br>
              <a:rPr lang="en-US" dirty="0"/>
            </a:br>
            <a:r>
              <a:rPr lang="en-US" dirty="0"/>
              <a:t>LL(1) parsing algorithm!</a:t>
            </a:r>
          </a:p>
        </p:txBody>
      </p:sp>
    </p:spTree>
    <p:extLst>
      <p:ext uri="{BB962C8B-B14F-4D97-AF65-F5344CB8AC3E}">
        <p14:creationId xmlns:p14="http://schemas.microsoft.com/office/powerpoint/2010/main" val="196382941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103AB-5157-9743-BC3A-0C7404719604}"/>
              </a:ext>
            </a:extLst>
          </p:cNvPr>
          <p:cNvSpPr/>
          <p:nvPr/>
        </p:nvSpPr>
        <p:spPr>
          <a:xfrm>
            <a:off x="8191454" y="508669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472EB-D5AC-5F46-882E-C08B54827B08}"/>
              </a:ext>
            </a:extLst>
          </p:cNvPr>
          <p:cNvSpPr/>
          <p:nvPr/>
        </p:nvSpPr>
        <p:spPr>
          <a:xfrm>
            <a:off x="5676807" y="231670"/>
            <a:ext cx="2275544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9C8629-3ADA-3C4A-93B6-1C3EF89C3734}"/>
              </a:ext>
            </a:extLst>
          </p:cNvPr>
          <p:cNvSpPr txBox="1"/>
          <p:nvPr/>
        </p:nvSpPr>
        <p:spPr>
          <a:xfrm>
            <a:off x="2388382" y="5167290"/>
            <a:ext cx="741523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To pick the next rule, compare </a:t>
            </a:r>
            <a:r>
              <a:rPr lang="en-US" dirty="0" err="1">
                <a:latin typeface="Courier" pitchFamily="2" charset="0"/>
              </a:rPr>
              <a:t>to_match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dirty="0"/>
              <a:t>with the possible </a:t>
            </a:r>
            <a:r>
              <a:rPr lang="en-US" dirty="0">
                <a:latin typeface="Courier" pitchFamily="2" charset="0"/>
              </a:rPr>
              <a:t>first+ </a:t>
            </a:r>
            <a:r>
              <a:rPr lang="en-US" dirty="0"/>
              <a:t>sets. </a:t>
            </a:r>
            <a:br>
              <a:rPr lang="en-US" dirty="0"/>
            </a:br>
            <a:r>
              <a:rPr lang="en-US" dirty="0"/>
              <a:t>Pick the rule whose </a:t>
            </a:r>
            <a:r>
              <a:rPr lang="en-US" dirty="0">
                <a:latin typeface="Courier" pitchFamily="2" charset="0"/>
              </a:rPr>
              <a:t>first+</a:t>
            </a:r>
            <a:r>
              <a:rPr lang="en-US" dirty="0"/>
              <a:t> set contains </a:t>
            </a:r>
            <a:r>
              <a:rPr lang="en-US" dirty="0" err="1">
                <a:latin typeface="Courier" pitchFamily="2" charset="0"/>
              </a:rPr>
              <a:t>to_match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there is no such rule then it is a parsing error.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F9E17-35AC-C040-866C-9B5BE2EAE0D8}"/>
              </a:ext>
            </a:extLst>
          </p:cNvPr>
          <p:cNvSpPr txBox="1"/>
          <p:nvPr/>
        </p:nvSpPr>
        <p:spPr>
          <a:xfrm>
            <a:off x="8823960" y="2768748"/>
            <a:ext cx="21779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 grammar,</a:t>
            </a:r>
            <a:br>
              <a:rPr lang="en-US" i="1" dirty="0"/>
            </a:br>
            <a:r>
              <a:rPr lang="en-US" i="1" dirty="0"/>
              <a:t>refactored to remove</a:t>
            </a:r>
            <a:br>
              <a:rPr lang="en-US" i="1" dirty="0"/>
            </a:br>
            <a:r>
              <a:rPr lang="en-US" i="1" dirty="0"/>
              <a:t>left recursion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97674A-E2F7-774B-9FDF-777EB93B5C45}"/>
              </a:ext>
            </a:extLst>
          </p:cNvPr>
          <p:cNvSpPr txBox="1"/>
          <p:nvPr/>
        </p:nvSpPr>
        <p:spPr>
          <a:xfrm>
            <a:off x="5849112" y="2768748"/>
            <a:ext cx="1934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First+ sets for each</a:t>
            </a:r>
            <a:br>
              <a:rPr lang="en-US" i="1" dirty="0"/>
            </a:br>
            <a:r>
              <a:rPr lang="en-US" i="1" dirty="0"/>
              <a:t>production rule</a:t>
            </a:r>
          </a:p>
        </p:txBody>
      </p:sp>
    </p:spTree>
    <p:extLst>
      <p:ext uri="{BB962C8B-B14F-4D97-AF65-F5344CB8AC3E}">
        <p14:creationId xmlns:p14="http://schemas.microsoft.com/office/powerpoint/2010/main" val="146827335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423" y="1585900"/>
            <a:ext cx="10515600" cy="2259542"/>
          </a:xfrm>
        </p:spPr>
        <p:txBody>
          <a:bodyPr/>
          <a:lstStyle/>
          <a:p>
            <a:pPr algn="ctr"/>
            <a:r>
              <a:rPr lang="en-US" dirty="0"/>
              <a:t>Moving on to a simpler implementation: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Recursive Descent Parser</a:t>
            </a:r>
          </a:p>
        </p:txBody>
      </p:sp>
    </p:spTree>
    <p:extLst>
      <p:ext uri="{BB962C8B-B14F-4D97-AF65-F5344CB8AC3E}">
        <p14:creationId xmlns:p14="http://schemas.microsoft.com/office/powerpoint/2010/main" val="252404830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6A4130-5D0E-DA48-B73C-8392BB9ECB07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104070142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281E4-6231-B242-A075-00A0A288D10F}"/>
              </a:ext>
            </a:extLst>
          </p:cNvPr>
          <p:cNvSpPr txBox="1"/>
          <p:nvPr/>
        </p:nvSpPr>
        <p:spPr>
          <a:xfrm>
            <a:off x="6764866" y="1585480"/>
            <a:ext cx="2668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9B6BAF-6944-CE4E-BE10-9856E223EC13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143262664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281E4-6231-B242-A075-00A0A288D10F}"/>
              </a:ext>
            </a:extLst>
          </p:cNvPr>
          <p:cNvSpPr txBox="1"/>
          <p:nvPr/>
        </p:nvSpPr>
        <p:spPr>
          <a:xfrm>
            <a:off x="6764866" y="1585480"/>
            <a:ext cx="3679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Expr? </a:t>
            </a:r>
          </a:p>
          <a:p>
            <a:r>
              <a:rPr lang="en-US" i="1" dirty="0"/>
              <a:t>We parse a Unit followed by an Expr2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97C993-0880-7440-AC56-90CDB9F6C996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204316920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29D35E-DBDD-6144-A7D9-5D93088C5744}"/>
              </a:ext>
            </a:extLst>
          </p:cNvPr>
          <p:cNvSpPr txBox="1"/>
          <p:nvPr/>
        </p:nvSpPr>
        <p:spPr>
          <a:xfrm>
            <a:off x="5886325" y="2674894"/>
            <a:ext cx="3967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can just write exactly that!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3679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Expr? </a:t>
            </a:r>
          </a:p>
          <a:p>
            <a:r>
              <a:rPr lang="en-US" i="1" dirty="0"/>
              <a:t>We parse a Unit followed by an Expr2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66F378-5647-AF40-9B86-498B4156AD4E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67A2B4-768D-7A4A-B20F-620EAF5DDB35}"/>
              </a:ext>
            </a:extLst>
          </p:cNvPr>
          <p:cNvSpPr/>
          <p:nvPr/>
        </p:nvSpPr>
        <p:spPr>
          <a:xfrm>
            <a:off x="6576607" y="3335867"/>
            <a:ext cx="446193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8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8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sz="2800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8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8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.parse_Unit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</a:p>
          <a:p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8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.parse_Expr2();</a:t>
            </a:r>
          </a:p>
          <a:p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8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2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46387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82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Expr2?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957C6A-893E-694F-B916-8039152D7645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343715438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82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Expr2?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</p:spTree>
    <p:extLst>
      <p:ext uri="{BB962C8B-B14F-4D97-AF65-F5344CB8AC3E}">
        <p14:creationId xmlns:p14="http://schemas.microsoft.com/office/powerpoint/2010/main" val="246794077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82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Expr2?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8E83A0-ADF9-E849-B701-B2AE97232197}"/>
              </a:ext>
            </a:extLst>
          </p:cNvPr>
          <p:cNvSpPr/>
          <p:nvPr/>
        </p:nvSpPr>
        <p:spPr>
          <a:xfrm>
            <a:off x="4486837" y="2316531"/>
            <a:ext cx="606462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400BD9"/>
                </a:solidFill>
                <a:latin typeface="Menlo" panose="020B0609030804020204" pitchFamily="49" charset="0"/>
              </a:rPr>
              <a:t>parse_Expr2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b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dirty="0" err="1">
                <a:solidFill>
                  <a:srgbClr val="9FA01C"/>
                </a:solidFill>
                <a:latin typeface="Menlo" panose="020B0609030804020204" pitchFamily="49" charset="0"/>
              </a:rPr>
              <a:t>token_id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get_token_id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Expr2 ::= Op Unit Expr2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[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"PLUS"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]: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.parse_Unit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.parse_Expr2()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Expr2 ::= "" 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[</a:t>
            </a:r>
            <a:r>
              <a:rPr lang="en-US" sz="1400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”RPAR"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]: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else: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    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raise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ParserException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self.linennumber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 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line number (for you to do)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              </a:t>
            </a:r>
            <a:r>
              <a:rPr lang="en-US" sz="1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              	      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observed token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              [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"PLUS"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”RPAR"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])        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expected token 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95423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580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 Unit?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</p:spTree>
    <p:extLst>
      <p:ext uri="{BB962C8B-B14F-4D97-AF65-F5344CB8AC3E}">
        <p14:creationId xmlns:p14="http://schemas.microsoft.com/office/powerpoint/2010/main" val="270824762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580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 Unit?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016679-012E-6C4D-A40D-A3A31CC3C26D}"/>
              </a:ext>
            </a:extLst>
          </p:cNvPr>
          <p:cNvSpPr/>
          <p:nvPr/>
        </p:nvSpPr>
        <p:spPr>
          <a:xfrm>
            <a:off x="3432987" y="2871836"/>
            <a:ext cx="414572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parse_Unit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sz="1600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9FA01C"/>
                </a:solidFill>
                <a:latin typeface="Menlo" panose="020B0609030804020204" pitchFamily="49" charset="0"/>
              </a:rPr>
              <a:t>        </a:t>
            </a:r>
            <a:r>
              <a:rPr lang="en-US" sz="1600" dirty="0" err="1">
                <a:solidFill>
                  <a:srgbClr val="9FA01C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get_token_id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# Unit  ::= ‘(‘ Expr ‘)’ 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       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"LPAR"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"LPAR"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.parse_Expr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"RPAR"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        # Unit :: = ID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"ID"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"ID"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96DFA-6A6C-FF36-576C-8920DDB6F895}"/>
              </a:ext>
            </a:extLst>
          </p:cNvPr>
          <p:cNvSpPr txBox="1"/>
          <p:nvPr/>
        </p:nvSpPr>
        <p:spPr>
          <a:xfrm>
            <a:off x="7578709" y="2368669"/>
            <a:ext cx="412226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def eat(self, </a:t>
            </a:r>
            <a:r>
              <a:rPr lang="en-US" sz="1400" dirty="0" err="1">
                <a:highlight>
                  <a:srgbClr val="FFFF00"/>
                </a:highlight>
              </a:rPr>
              <a:t>expected_token</a:t>
            </a:r>
            <a:r>
              <a:rPr lang="en-US" sz="1400" dirty="0">
                <a:highlight>
                  <a:srgbClr val="FFFF00"/>
                </a:highlight>
              </a:rPr>
              <a:t>):</a:t>
            </a:r>
          </a:p>
          <a:p>
            <a:r>
              <a:rPr lang="en-US" sz="1400" dirty="0"/>
              <a:t>    if </a:t>
            </a:r>
            <a:r>
              <a:rPr lang="en-US" sz="1400" dirty="0" err="1"/>
              <a:t>self.to_match</a:t>
            </a:r>
            <a:r>
              <a:rPr lang="en-US" sz="1400" dirty="0"/>
              <a:t> == </a:t>
            </a:r>
            <a:r>
              <a:rPr lang="en-US" sz="1400" dirty="0" err="1"/>
              <a:t>expected_token</a:t>
            </a:r>
            <a:r>
              <a:rPr lang="en-US" sz="1400" dirty="0"/>
              <a:t>: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self.advance</a:t>
            </a:r>
            <a:r>
              <a:rPr lang="en-US" sz="1400" dirty="0"/>
              <a:t>()  # move to the next token</a:t>
            </a:r>
          </a:p>
          <a:p>
            <a:r>
              <a:rPr lang="en-US" sz="1400" dirty="0"/>
              <a:t>    else:</a:t>
            </a:r>
          </a:p>
          <a:p>
            <a:r>
              <a:rPr lang="en-US" sz="1400" dirty="0"/>
              <a:t>        raise </a:t>
            </a:r>
            <a:r>
              <a:rPr lang="en-US" sz="1400" dirty="0" err="1"/>
              <a:t>ParserException</a:t>
            </a:r>
            <a:r>
              <a:rPr lang="en-US" sz="1400" dirty="0"/>
              <a:t>(</a:t>
            </a:r>
          </a:p>
          <a:p>
            <a:r>
              <a:rPr lang="en-US" sz="1400" dirty="0"/>
              <a:t>                   </a:t>
            </a:r>
            <a:r>
              <a:rPr lang="en-US" sz="1400" dirty="0" err="1"/>
              <a:t>self.current_line</a:t>
            </a:r>
            <a:r>
              <a:rPr lang="en-US" sz="1400" dirty="0"/>
              <a:t>,     </a:t>
            </a:r>
            <a:r>
              <a:rPr lang="en-US" sz="1400" dirty="0">
                <a:solidFill>
                  <a:srgbClr val="FF0000"/>
                </a:solidFill>
              </a:rPr>
              <a:t># line# (for you to do)</a:t>
            </a:r>
          </a:p>
          <a:p>
            <a:r>
              <a:rPr lang="en-US" sz="1400" dirty="0"/>
              <a:t>                   </a:t>
            </a:r>
            <a:r>
              <a:rPr lang="en-US" sz="1400" dirty="0" err="1"/>
              <a:t>self.to_match</a:t>
            </a:r>
            <a:r>
              <a:rPr lang="en-US" sz="1400" dirty="0"/>
              <a:t>,          </a:t>
            </a:r>
            <a:r>
              <a:rPr lang="en-US" sz="1400" dirty="0">
                <a:solidFill>
                  <a:srgbClr val="FF0000"/>
                </a:solidFill>
              </a:rPr>
              <a:t># observed token</a:t>
            </a:r>
          </a:p>
          <a:p>
            <a:r>
              <a:rPr lang="en-US" sz="1400" dirty="0"/>
              <a:t>                   [</a:t>
            </a:r>
            <a:r>
              <a:rPr lang="en-US" sz="1400" dirty="0" err="1"/>
              <a:t>expected_token</a:t>
            </a:r>
            <a:r>
              <a:rPr lang="en-US" sz="1400" dirty="0"/>
              <a:t>])   </a:t>
            </a:r>
            <a:r>
              <a:rPr lang="en-US" sz="1400" dirty="0">
                <a:solidFill>
                  <a:srgbClr val="FF0000"/>
                </a:solidFill>
              </a:rPr>
              <a:t>#   i.e. PAR or RPAR</a:t>
            </a:r>
          </a:p>
        </p:txBody>
      </p:sp>
    </p:spTree>
    <p:extLst>
      <p:ext uri="{BB962C8B-B14F-4D97-AF65-F5344CB8AC3E}">
        <p14:creationId xmlns:p14="http://schemas.microsoft.com/office/powerpoint/2010/main" val="77874549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7678215" y="803521"/>
            <a:ext cx="295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How do we parse a Unit?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78840E-451F-D943-A095-834E80AE3D30}"/>
              </a:ext>
            </a:extLst>
          </p:cNvPr>
          <p:cNvSpPr txBox="1"/>
          <p:nvPr/>
        </p:nvSpPr>
        <p:spPr>
          <a:xfrm>
            <a:off x="6350544" y="1325274"/>
            <a:ext cx="5231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Note: function </a:t>
            </a:r>
            <a:r>
              <a:rPr lang="en-US" sz="1600" i="1" dirty="0">
                <a:highlight>
                  <a:srgbClr val="FFFF00"/>
                </a:highlight>
              </a:rPr>
              <a:t>eat</a:t>
            </a:r>
            <a:r>
              <a:rPr lang="en-US" sz="1600" i="1" dirty="0"/>
              <a:t> must ensure that </a:t>
            </a:r>
            <a:r>
              <a:rPr lang="en-US" sz="1600" i="1" dirty="0" err="1"/>
              <a:t>to_match</a:t>
            </a:r>
            <a:r>
              <a:rPr lang="en-US" sz="1600" i="1" dirty="0"/>
              <a:t> has the expected  token ID and advances to the next token, i.e. something like this: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67D556-71C6-8B18-A379-00B0A8C64F08}"/>
              </a:ext>
            </a:extLst>
          </p:cNvPr>
          <p:cNvSpPr/>
          <p:nvPr/>
        </p:nvSpPr>
        <p:spPr>
          <a:xfrm>
            <a:off x="3146071" y="3208233"/>
            <a:ext cx="408491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parse_Unit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1600" dirty="0">
                <a:solidFill>
                  <a:srgbClr val="9FA01C"/>
                </a:solidFill>
                <a:latin typeface="Menlo" panose="020B0609030804020204" pitchFamily="49" charset="0"/>
              </a:rPr>
              <a:t>        </a:t>
            </a:r>
            <a:r>
              <a:rPr lang="en-US" sz="1600" dirty="0" err="1">
                <a:solidFill>
                  <a:srgbClr val="9FA01C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get_token_id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# Unit  ::= ‘(‘ Expr ‘)’ 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       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"LPAR"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"LPAR"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.parse_Expr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"RPAR"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        # Unit :: = ID</a:t>
            </a:r>
            <a:endParaRPr lang="en-US" sz="1600" b="1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b="1" dirty="0">
                <a:solidFill>
                  <a:srgbClr val="2FB41D"/>
                </a:solidFill>
                <a:latin typeface="Menlo" panose="020B0609030804020204" pitchFamily="49" charset="0"/>
              </a:rPr>
              <a:t>"ID"</a:t>
            </a:r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.eat</a:t>
            </a:r>
            <a:r>
              <a:rPr 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sz="1600" b="1" dirty="0">
                <a:solidFill>
                  <a:srgbClr val="2FB41D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"ID"</a:t>
            </a:r>
            <a:r>
              <a:rPr 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753AE9-02C2-C5B0-0278-257DC208F0FB}"/>
              </a:ext>
            </a:extLst>
          </p:cNvPr>
          <p:cNvSpPr txBox="1"/>
          <p:nvPr/>
        </p:nvSpPr>
        <p:spPr>
          <a:xfrm>
            <a:off x="6637415" y="2231636"/>
            <a:ext cx="52318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def eat(self, </a:t>
            </a:r>
            <a:r>
              <a:rPr lang="en-US" sz="1600" dirty="0" err="1">
                <a:highlight>
                  <a:srgbClr val="FFFF00"/>
                </a:highlight>
              </a:rPr>
              <a:t>expected_token</a:t>
            </a:r>
            <a:r>
              <a:rPr lang="en-US" sz="1600" dirty="0">
                <a:highlight>
                  <a:srgbClr val="FFFF00"/>
                </a:highlight>
              </a:rPr>
              <a:t>):</a:t>
            </a:r>
          </a:p>
          <a:p>
            <a:r>
              <a:rPr lang="en-US" sz="1600" dirty="0"/>
              <a:t>    if </a:t>
            </a:r>
            <a:r>
              <a:rPr lang="en-US" sz="1600" dirty="0" err="1"/>
              <a:t>self.to_match</a:t>
            </a:r>
            <a:r>
              <a:rPr lang="en-US" sz="1600" dirty="0"/>
              <a:t> == </a:t>
            </a:r>
            <a:r>
              <a:rPr lang="en-US" sz="1600" dirty="0" err="1"/>
              <a:t>expected_token</a:t>
            </a:r>
            <a:r>
              <a:rPr lang="en-US" sz="1600" dirty="0"/>
              <a:t>: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self.advance</a:t>
            </a:r>
            <a:r>
              <a:rPr lang="en-US" sz="1600" dirty="0"/>
              <a:t>()  # move to the next token</a:t>
            </a:r>
          </a:p>
          <a:p>
            <a:r>
              <a:rPr lang="en-US" sz="1600" dirty="0"/>
              <a:t>    else:</a:t>
            </a:r>
          </a:p>
          <a:p>
            <a:r>
              <a:rPr lang="en-US" sz="1600" dirty="0"/>
              <a:t>        </a:t>
            </a:r>
            <a:r>
              <a:rPr lang="en-US" sz="1600" dirty="0">
                <a:highlight>
                  <a:srgbClr val="FFFF00"/>
                </a:highlight>
              </a:rPr>
              <a:t>raise </a:t>
            </a:r>
            <a:r>
              <a:rPr lang="en-US" sz="1600" dirty="0" err="1">
                <a:highlight>
                  <a:srgbClr val="FFFF00"/>
                </a:highlight>
              </a:rPr>
              <a:t>ParserException</a:t>
            </a:r>
            <a:r>
              <a:rPr lang="en-US" sz="1600" dirty="0"/>
              <a:t>(</a:t>
            </a:r>
          </a:p>
          <a:p>
            <a:r>
              <a:rPr lang="en-US" sz="1600" dirty="0"/>
              <a:t>                             </a:t>
            </a:r>
            <a:r>
              <a:rPr lang="en-US" sz="1600" dirty="0" err="1"/>
              <a:t>self.current_line</a:t>
            </a:r>
            <a:r>
              <a:rPr lang="en-US" sz="1600" dirty="0"/>
              <a:t>,       </a:t>
            </a:r>
            <a:r>
              <a:rPr lang="en-US" sz="1600" dirty="0">
                <a:solidFill>
                  <a:srgbClr val="FF0000"/>
                </a:solidFill>
              </a:rPr>
              <a:t># line# (for you to do)</a:t>
            </a:r>
          </a:p>
          <a:p>
            <a:r>
              <a:rPr lang="en-US" sz="1600" dirty="0"/>
              <a:t>                              </a:t>
            </a:r>
            <a:r>
              <a:rPr lang="en-US" sz="1600" dirty="0" err="1"/>
              <a:t>self.to_match</a:t>
            </a:r>
            <a:r>
              <a:rPr lang="en-US" sz="1600" dirty="0"/>
              <a:t>,           </a:t>
            </a:r>
            <a:r>
              <a:rPr lang="en-US" sz="1600" dirty="0">
                <a:solidFill>
                  <a:srgbClr val="FF0000"/>
                </a:solidFill>
              </a:rPr>
              <a:t># observed token</a:t>
            </a:r>
          </a:p>
          <a:p>
            <a:r>
              <a:rPr lang="en-US" sz="1600" dirty="0"/>
              <a:t>                              [</a:t>
            </a:r>
            <a:r>
              <a:rPr lang="en-US" sz="1600" dirty="0" err="1"/>
              <a:t>expected_token</a:t>
            </a:r>
            <a:r>
              <a:rPr lang="en-US" sz="1600" dirty="0"/>
              <a:t>])    </a:t>
            </a:r>
            <a:r>
              <a:rPr lang="en-US" sz="1600" dirty="0">
                <a:solidFill>
                  <a:srgbClr val="FF0000"/>
                </a:solidFill>
              </a:rPr>
              <a:t># LPAR or RPAR or ID)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5F6A23-B194-B66B-024E-53EF98D1EF15}"/>
              </a:ext>
            </a:extLst>
          </p:cNvPr>
          <p:cNvSpPr txBox="1"/>
          <p:nvPr/>
        </p:nvSpPr>
        <p:spPr>
          <a:xfrm>
            <a:off x="6266330" y="4369104"/>
            <a:ext cx="57374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class </a:t>
            </a:r>
            <a:r>
              <a:rPr lang="en-US" sz="1400" dirty="0" err="1"/>
              <a:t>ParserException</a:t>
            </a:r>
            <a:r>
              <a:rPr lang="en-US" sz="1400" dirty="0"/>
              <a:t>(Exception):</a:t>
            </a:r>
          </a:p>
          <a:p>
            <a:r>
              <a:rPr lang="en-US" sz="1400" dirty="0"/>
              <a:t>    def __</a:t>
            </a:r>
            <a:r>
              <a:rPr lang="en-US" sz="1400" dirty="0" err="1"/>
              <a:t>init</a:t>
            </a:r>
            <a:r>
              <a:rPr lang="en-US" sz="1400" dirty="0"/>
              <a:t>__(self, </a:t>
            </a:r>
            <a:r>
              <a:rPr lang="en-US" sz="1400" dirty="0" err="1"/>
              <a:t>line_number</a:t>
            </a:r>
            <a:r>
              <a:rPr lang="en-US" sz="1400" dirty="0"/>
              <a:t>, </a:t>
            </a:r>
            <a:r>
              <a:rPr lang="en-US" sz="1400" dirty="0" err="1"/>
              <a:t>found_token</a:t>
            </a:r>
            <a:r>
              <a:rPr lang="en-US" sz="1400" dirty="0"/>
              <a:t>, </a:t>
            </a:r>
            <a:r>
              <a:rPr lang="en-US" sz="1400" dirty="0" err="1"/>
              <a:t>expected_tokens</a:t>
            </a:r>
            <a:r>
              <a:rPr lang="en-US" sz="1400" dirty="0"/>
              <a:t>):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self.line_number</a:t>
            </a:r>
            <a:r>
              <a:rPr lang="en-US" sz="1400" dirty="0"/>
              <a:t> = </a:t>
            </a:r>
            <a:r>
              <a:rPr lang="en-US" sz="1400" dirty="0" err="1"/>
              <a:t>line_number</a:t>
            </a:r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self.found_token</a:t>
            </a:r>
            <a:r>
              <a:rPr lang="en-US" sz="1400" dirty="0"/>
              <a:t> = </a:t>
            </a:r>
            <a:r>
              <a:rPr lang="en-US" sz="1400" dirty="0" err="1"/>
              <a:t>found_token</a:t>
            </a:r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self.expected_tokens</a:t>
            </a:r>
            <a:r>
              <a:rPr lang="en-US" sz="1400" dirty="0"/>
              <a:t> = </a:t>
            </a:r>
            <a:r>
              <a:rPr lang="en-US" sz="1400" dirty="0" err="1"/>
              <a:t>expected_tokens</a:t>
            </a:r>
            <a:endParaRPr lang="en-US" sz="1400" dirty="0"/>
          </a:p>
          <a:p>
            <a:r>
              <a:rPr lang="en-US" sz="1400" dirty="0"/>
              <a:t>        # Create a readable error message</a:t>
            </a:r>
          </a:p>
          <a:p>
            <a:r>
              <a:rPr lang="en-US" sz="1400" dirty="0"/>
              <a:t>        message = (</a:t>
            </a:r>
            <a:r>
              <a:rPr lang="en-US" sz="1400" dirty="0" err="1"/>
              <a:t>f"Parse</a:t>
            </a:r>
            <a:r>
              <a:rPr lang="en-US" sz="1400" dirty="0"/>
              <a:t> error on line {</a:t>
            </a:r>
            <a:r>
              <a:rPr lang="en-US" sz="1400" dirty="0" err="1"/>
              <a:t>line_number</a:t>
            </a:r>
            <a:r>
              <a:rPr lang="en-US" sz="1400" dirty="0"/>
              <a:t>}: found '{</a:t>
            </a:r>
            <a:r>
              <a:rPr lang="en-US" sz="1400" dirty="0" err="1"/>
              <a:t>found_token</a:t>
            </a:r>
            <a:r>
              <a:rPr lang="en-US" sz="1400" dirty="0"/>
              <a:t>}', "</a:t>
            </a:r>
          </a:p>
          <a:p>
            <a:r>
              <a:rPr lang="en-US" sz="1400" dirty="0"/>
              <a:t>                   </a:t>
            </a:r>
            <a:r>
              <a:rPr lang="en-US" sz="1400" dirty="0" err="1"/>
              <a:t>f"expected</a:t>
            </a:r>
            <a:r>
              <a:rPr lang="en-US" sz="1400" dirty="0"/>
              <a:t> one of {</a:t>
            </a:r>
            <a:r>
              <a:rPr lang="en-US" sz="1400" dirty="0" err="1"/>
              <a:t>expected_tokens</a:t>
            </a:r>
            <a:r>
              <a:rPr lang="en-US" sz="1400" dirty="0"/>
              <a:t>}")</a:t>
            </a:r>
          </a:p>
          <a:p>
            <a:r>
              <a:rPr lang="en-US" sz="1400" dirty="0"/>
              <a:t>        super().__</a:t>
            </a:r>
            <a:r>
              <a:rPr lang="en-US" sz="1400" dirty="0" err="1"/>
              <a:t>init</a:t>
            </a:r>
            <a:r>
              <a:rPr lang="en-US" sz="1400" dirty="0"/>
              <a:t>__(message)</a:t>
            </a:r>
          </a:p>
        </p:txBody>
      </p:sp>
    </p:spTree>
    <p:extLst>
      <p:ext uri="{BB962C8B-B14F-4D97-AF65-F5344CB8AC3E}">
        <p14:creationId xmlns:p14="http://schemas.microsoft.com/office/powerpoint/2010/main" val="215028597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Op    ::= ‘+’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57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Op?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</p:spTree>
    <p:extLst>
      <p:ext uri="{BB962C8B-B14F-4D97-AF65-F5344CB8AC3E}">
        <p14:creationId xmlns:p14="http://schemas.microsoft.com/office/powerpoint/2010/main" val="167271859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Op    ::= ‘+’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57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Op?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{‘+’}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{‘*’}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2E97EB-40B3-014A-B687-59B439FD6ACF}"/>
              </a:ext>
            </a:extLst>
          </p:cNvPr>
          <p:cNvSpPr/>
          <p:nvPr/>
        </p:nvSpPr>
        <p:spPr>
          <a:xfrm>
            <a:off x="3542803" y="2915525"/>
            <a:ext cx="391160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parse_Op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sz="1600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dirty="0" err="1">
                <a:solidFill>
                  <a:srgbClr val="9FA01C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get_token_id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# Op  ::= '+'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"PLUS"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"PLUS"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        # Op  ::= '*'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F0A1F-26BC-4B42-6E81-005B10BC1CF3}"/>
              </a:ext>
            </a:extLst>
          </p:cNvPr>
          <p:cNvSpPr txBox="1"/>
          <p:nvPr/>
        </p:nvSpPr>
        <p:spPr>
          <a:xfrm>
            <a:off x="7841380" y="2277038"/>
            <a:ext cx="46213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</a:t>
            </a:r>
            <a:r>
              <a:rPr lang="en-US" sz="1800" b="1" dirty="0">
                <a:solidFill>
                  <a:srgbClr val="2EAEBB"/>
                </a:solidFill>
                <a:latin typeface="Menlo" panose="020B0609030804020204" pitchFamily="49" charset="0"/>
              </a:rPr>
              <a:t>ef eat(self, </a:t>
            </a:r>
            <a:r>
              <a:rPr lang="en-US" sz="1800" b="1" dirty="0" err="1">
                <a:solidFill>
                  <a:srgbClr val="2EAEBB"/>
                </a:solidFill>
                <a:latin typeface="Menlo" panose="020B0609030804020204" pitchFamily="49" charset="0"/>
              </a:rPr>
              <a:t>expected_token</a:t>
            </a:r>
            <a:r>
              <a:rPr lang="en-US" sz="1800" b="1" dirty="0">
                <a:solidFill>
                  <a:srgbClr val="2EAEBB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     …</a:t>
            </a:r>
            <a:endParaRPr lang="en-US" sz="1800" b="1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     </a:t>
            </a:r>
            <a:r>
              <a:rPr lang="en-US" sz="1800" b="1" dirty="0">
                <a:solidFill>
                  <a:srgbClr val="2EAEBB"/>
                </a:solidFill>
                <a:latin typeface="Menlo" panose="020B0609030804020204" pitchFamily="49" charset="0"/>
              </a:rPr>
              <a:t>raise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ParserException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        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self.current_line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,    </a:t>
            </a:r>
          </a:p>
          <a:p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     </a:t>
            </a:r>
            <a:r>
              <a:rPr lang="en-US" sz="18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,       </a:t>
            </a:r>
            <a:r>
              <a:rPr lang="en-US" sz="1800" dirty="0">
                <a:solidFill>
                  <a:srgbClr val="B42419"/>
                </a:solidFill>
                <a:latin typeface="Menlo" panose="020B0609030804020204" pitchFamily="49" charset="0"/>
              </a:rPr>
              <a:t># observed token 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[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expected_token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]) </a:t>
            </a:r>
            <a:r>
              <a:rPr lang="en-US" sz="1800" dirty="0">
                <a:solidFill>
                  <a:srgbClr val="B42419"/>
                </a:solidFill>
                <a:latin typeface="Menlo" panose="020B0609030804020204" pitchFamily="49" charset="0"/>
              </a:rPr>
              <a:t># expected token</a:t>
            </a:r>
          </a:p>
          <a:p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…</a:t>
            </a:r>
            <a:endParaRPr lang="en-US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35240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2EEFD-A114-FB93-AC70-A0AB4155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6D3A-2595-D59C-75BE-72D4024A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1651"/>
          </a:xfrm>
        </p:spPr>
        <p:txBody>
          <a:bodyPr>
            <a:normAutofit/>
          </a:bodyPr>
          <a:lstStyle/>
          <a:p>
            <a:pPr algn="ctr"/>
            <a:r>
              <a:rPr lang="en-US" sz="8900" dirty="0"/>
              <a:t>Recursive Descent</a:t>
            </a:r>
            <a:br>
              <a:rPr lang="en-US" dirty="0"/>
            </a:br>
            <a:r>
              <a:rPr lang="en-US" sz="6600" dirty="0"/>
              <a:t>IS THAT SIMPLE</a:t>
            </a:r>
            <a:br>
              <a:rPr lang="en-US" sz="6600" dirty="0"/>
            </a:br>
            <a:r>
              <a:rPr lang="en-US" dirty="0"/>
              <a:t>and allows lookahead &gt; 1</a:t>
            </a:r>
          </a:p>
        </p:txBody>
      </p:sp>
    </p:spTree>
    <p:extLst>
      <p:ext uri="{BB962C8B-B14F-4D97-AF65-F5344CB8AC3E}">
        <p14:creationId xmlns:p14="http://schemas.microsoft.com/office/powerpoint/2010/main" val="122222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3685</TotalTime>
  <Words>11035</Words>
  <Application>Microsoft Office PowerPoint</Application>
  <PresentationFormat>Widescreen</PresentationFormat>
  <Paragraphs>2379</Paragraphs>
  <Slides>150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9" baseType="lpstr">
      <vt:lpstr>Aptos</vt:lpstr>
      <vt:lpstr>Aptos Display</vt:lpstr>
      <vt:lpstr>Arial</vt:lpstr>
      <vt:lpstr>Cambria Math</vt:lpstr>
      <vt:lpstr>Courier</vt:lpstr>
      <vt:lpstr>Menlo</vt:lpstr>
      <vt:lpstr>Symbol</vt:lpstr>
      <vt:lpstr>Times New Roman</vt:lpstr>
      <vt:lpstr>Office Theme</vt:lpstr>
      <vt:lpstr>CSE110A: Compilers</vt:lpstr>
      <vt:lpstr>Ambiguous grammars</vt:lpstr>
      <vt:lpstr>Ambiguous grammars</vt:lpstr>
      <vt:lpstr>Ambiguous grammars</vt:lpstr>
      <vt:lpstr>Ambiguous grammars</vt:lpstr>
      <vt:lpstr>Ambiguous grammars</vt:lpstr>
      <vt:lpstr>Ambiguous grammars</vt:lpstr>
      <vt:lpstr>Meaning into structure</vt:lpstr>
      <vt:lpstr>Post order traversal</vt:lpstr>
      <vt:lpstr>Post order traversal</vt:lpstr>
      <vt:lpstr>Review: Possible Orders of Traversal</vt:lpstr>
      <vt:lpstr>Postfix Order Traversal : An Example</vt:lpstr>
      <vt:lpstr>Ambiguous grammars</vt:lpstr>
      <vt:lpstr>Programming language structure</vt:lpstr>
      <vt:lpstr>Programming language structure</vt:lpstr>
      <vt:lpstr>Programming language structure</vt:lpstr>
      <vt:lpstr>Ambiguous expressions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</vt:lpstr>
      <vt:lpstr>Parse trees</vt:lpstr>
      <vt:lpstr>AMBIGUOUS GRAMMARS  AND PRECEDENCE</vt:lpstr>
      <vt:lpstr>PowerPoint Presentation</vt:lpstr>
      <vt:lpstr>Ambiguous Grammars</vt:lpstr>
      <vt:lpstr>Avoiding Ambiguity</vt:lpstr>
      <vt:lpstr>Avoiding Precedence Ambiguity</vt:lpstr>
      <vt:lpstr>Avoiding Precedence Ambiguity</vt:lpstr>
      <vt:lpstr>Now lets create a parse tree</vt:lpstr>
      <vt:lpstr>Now lets create a parse tree</vt:lpstr>
      <vt:lpstr>Now lets create a parse tree</vt:lpstr>
      <vt:lpstr>Now lets create a parse tree</vt:lpstr>
      <vt:lpstr>Now lets create a parse tree</vt:lpstr>
      <vt:lpstr>Now lets create a parse tree</vt:lpstr>
      <vt:lpstr>Now lets create a parse tree</vt:lpstr>
      <vt:lpstr>Parsing Regular Expressions (and considering precedence)</vt:lpstr>
      <vt:lpstr>Parsing Regular Expressions (and considering precedence)</vt:lpstr>
      <vt:lpstr>Parsing Regular Expressions (and considering precedence)</vt:lpstr>
      <vt:lpstr>Parsing Regular Expressions (and considering precedence)</vt:lpstr>
      <vt:lpstr>How many levels of precedence does C have?</vt:lpstr>
      <vt:lpstr>Fixing Grammar for Associativity</vt:lpstr>
      <vt:lpstr>Let’s make some more parse trees</vt:lpstr>
      <vt:lpstr>Let’s make some more parse trees</vt:lpstr>
      <vt:lpstr>This is ambiguous, is it an issue?</vt:lpstr>
      <vt:lpstr>What about for a different operator?</vt:lpstr>
      <vt:lpstr>What about for a different operator?</vt:lpstr>
      <vt:lpstr>What about for a different operator?</vt:lpstr>
      <vt:lpstr>Associativity</vt:lpstr>
      <vt:lpstr>Associativity</vt:lpstr>
      <vt:lpstr>How to encode associativity?</vt:lpstr>
      <vt:lpstr>Associativity for a single operator</vt:lpstr>
      <vt:lpstr>Associativity for a single operator</vt:lpstr>
      <vt:lpstr>Associativity for a single operator</vt:lpstr>
      <vt:lpstr>Associativity for a single operator</vt:lpstr>
      <vt:lpstr>Associativity for a single operator</vt:lpstr>
      <vt:lpstr>Associativity for a single operator</vt:lpstr>
      <vt:lpstr>Should you have associativity when its not required?</vt:lpstr>
      <vt:lpstr>Should you have associativity when its not required?</vt:lpstr>
      <vt:lpstr>Let’s make a richer expression grammar</vt:lpstr>
      <vt:lpstr>Let’s make a richer expression grammar</vt:lpstr>
      <vt:lpstr>What associativity do operators in C have?</vt:lpstr>
      <vt:lpstr>New topic: Algorithms for Parsing</vt:lpstr>
      <vt:lpstr>Top-down parsing</vt:lpstr>
      <vt:lpstr>Top-down parsing</vt:lpstr>
      <vt:lpstr>Top-down parsing</vt:lpstr>
      <vt:lpstr>Top-down parsing</vt:lpstr>
      <vt:lpstr>Top-down parsing</vt:lpstr>
      <vt:lpstr>Bottom-up parsing</vt:lpstr>
      <vt:lpstr>Bottom-up parsing</vt:lpstr>
      <vt:lpstr>Bottom-up parsing</vt:lpstr>
      <vt:lpstr>Bottom-up parsing</vt:lpstr>
      <vt:lpstr>Bottom up</vt:lpstr>
      <vt:lpstr>Let’s start with top-down parsing:   Algorithm: LL(1) Parsing  Left to Right with Look Ahead of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 down parsing does not handle left recursion</vt:lpstr>
      <vt:lpstr>Top down parsing does not handle left recursion</vt:lpstr>
      <vt:lpstr>Eliminating direct left recursion</vt:lpstr>
      <vt:lpstr>Eliminating direct left recursion</vt:lpstr>
      <vt:lpstr>Eliminating direct left recursion</vt:lpstr>
      <vt:lpstr>Eliminating direct left recursion</vt:lpstr>
      <vt:lpstr>Eliminating direct left recursion</vt:lpstr>
      <vt:lpstr>Eliminating direct left recursion</vt:lpstr>
      <vt:lpstr>PowerPoint Presentation</vt:lpstr>
      <vt:lpstr>PowerPoint Presentation</vt:lpstr>
      <vt:lpstr>PowerPoint Presentation</vt:lpstr>
      <vt:lpstr>How about indirect left recursion?</vt:lpstr>
      <vt:lpstr>How about indirect left recursion?</vt:lpstr>
      <vt:lpstr>How about indirect left recursion?</vt:lpstr>
      <vt:lpstr>How about indirect left recursion?</vt:lpstr>
      <vt:lpstr>How about indirect left recursion?</vt:lpstr>
      <vt:lpstr>Next time: algorithms for syntactic analysis</vt:lpstr>
      <vt:lpstr>TOP-DOWN PARSERS</vt:lpstr>
      <vt:lpstr>ELIMINATING LEFT-RECURSION</vt:lpstr>
      <vt:lpstr>ORACULARITY:  MAKING A BACKTRACK FREE LL(1) PARSER USING FIRST, FOLLOW and FIRST+ SETS</vt:lpstr>
      <vt:lpstr>PowerPoint Presentation</vt:lpstr>
      <vt:lpstr>The First Set</vt:lpstr>
      <vt:lpstr>The First Set</vt:lpstr>
      <vt:lpstr>PowerPoint Presentation</vt:lpstr>
      <vt:lpstr>The Follow Set</vt:lpstr>
      <vt:lpstr>The Follow Set</vt:lpstr>
      <vt:lpstr>The First+ Set</vt:lpstr>
      <vt:lpstr>Calculating  Follow(A)  Set</vt:lpstr>
      <vt:lpstr>The Follow Set</vt:lpstr>
      <vt:lpstr>The First+ Set</vt:lpstr>
      <vt:lpstr>Do we need backtracking?</vt:lpstr>
      <vt:lpstr>Do we need backtracking?</vt:lpstr>
      <vt:lpstr>Do we need backtracking?</vt:lpstr>
      <vt:lpstr>LEFT-FACTORING A GRAMMAR</vt:lpstr>
      <vt:lpstr>Sometimes the grammar needs to be refactored</vt:lpstr>
      <vt:lpstr>Sometimes the grammar needs to be refactored</vt:lpstr>
      <vt:lpstr>PowerPoint Presentation</vt:lpstr>
      <vt:lpstr>Sometimes the grammar needs to be refactored</vt:lpstr>
      <vt:lpstr>Sometimes the grammar needs to be refactored</vt:lpstr>
      <vt:lpstr>Sometimes the grammar needs to be refactored</vt:lpstr>
      <vt:lpstr>Sometimes the grammar needs to be refactored</vt:lpstr>
      <vt:lpstr>PowerPoint Presentation</vt:lpstr>
      <vt:lpstr>We now have a full top-down  LL(1) parsing algorithm!</vt:lpstr>
      <vt:lpstr>PowerPoint Presentation</vt:lpstr>
      <vt:lpstr>Moving on to a simpler implementation:  Recursive Descent Parser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Recursive Descent IS THAT SIMPLE and allows lookahead &gt;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Siero</dc:creator>
  <cp:lastModifiedBy>Marcelo Siero</cp:lastModifiedBy>
  <cp:revision>11</cp:revision>
  <dcterms:created xsi:type="dcterms:W3CDTF">2025-03-30T06:55:42Z</dcterms:created>
  <dcterms:modified xsi:type="dcterms:W3CDTF">2026-03-14T08:23:39Z</dcterms:modified>
</cp:coreProperties>
</file>