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375" r:id="rId3"/>
    <p:sldId id="376" r:id="rId4"/>
    <p:sldId id="377" r:id="rId5"/>
    <p:sldId id="257" r:id="rId6"/>
    <p:sldId id="379" r:id="rId7"/>
    <p:sldId id="378" r:id="rId8"/>
    <p:sldId id="380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374" r:id="rId4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60" y="3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19:02.5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1 371,'25'0,"-2"-1,0 1,0 2,-1-1,1 3,31 7,-27-4,0-2,1 0,-1-2,1-1,0-2,45-4,-70 4,0-1,1 1,-1 0,0-1,1 0,-1 0,0 0,0-1,0 1,0-1,-1 1,1-1,0 0,-1 0,1 0,0-1,-1 1,0 0,0 0,0-1,0 0,2-4,-2 2,0 2,-2-2,2 1,-1-1,0 1,-1-1,1 1,-1-1,0 1,0-2,-1 2,1-1,-1 1,0-1,-3-7,-1 0,-1 0,0 0,-1 1,0 0,-10-10,-13-23,6 5,-36-64,50 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19:43.5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1 182,'9'7,"2"1,-2-2,2 0,17 8,-16-8,2-1,-1 0,2-2,-1 1,0-2,23 3,88-5,-66-2,-8 2,81-3,-118 1,1 0,-2-1,2 0,-1-2,-1 1,1-1,12-8,114-70,-139 82,7-4,1 0,0 1,0 0,0 0,1 1,-1 0,14-1,112-15,-110 14,0-2,0-1,29-12,-42 15,0 0,1 1,0 0,0 1,23-1,64 1,-14 3,-68-3,20-2,-37 5,1 0,-1 0,0 0,1 1,-1-1,1 0,-1 1,0-1,0 0,1 0,-1 1,0 0,1 0,-2-1,2 1,-1 0,-1 0,2-1,-1 1,-1 1,3 0,-3-1,0 0,0 0,0 0,1 0,-1 0,0 0,0 0,0 0,-1 0,1-1,0 2,0-1,0-1,0 1,-1 1,1-2,-1 1,1 0,-1 0,1-1,-1 1,1 0,-1 0,0-1,1 1,-1 0,0 0,0-1,-1 1,-24 18,18-15,-1-1,0 0,1 0,-1 0,1 0,-1-2,0 1,-10-1,-75-2,43-1,-402 1,424 3,-33 5,-12 1,-1 1,-1 0,37-8,23-2,0 1,0 1,0 1,-24 5,14 0,0-1,0-1,-1-2,0 0,-30-2,52-1,0-1,0 1,-1-1,0-1,1 1,1-1,-2 1,1-1,1-1,-2 1,2-1,-1 0,1 0,-1 0,2-1,-2 1,1-1,1 0,0 0,-1-1,1 1,0 0,-3-8,1-2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21:56.74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0,'536'0'0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22:05.24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53,'2'3,"1"-2,-1 1,0-1,0 1,1-1,0 0,0 0,-1 0,1 0,-1 0,1-1,2 1,37 1,-33-1,77 0,104-13,3-11,-180 20,0 0,20-8,-21 7,-1-1,1 2,16-3,-5 5,-4-1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23:00.73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1 105,'0'-4,"0"-2,0 2,0-1,1 1,0-1,0 1,2-5,-2 7,0 0,-1 1,1-1,1 1,-2-1,2 1,-1-1,1 1,-1 0,0-1,1 2,-1-2,1 1,0 1,-1-2,1 1,0 1,0 0,3-2,2 0,2 0,-2 2,1-1,0 0,0 1,0 0,0 1,-1 0,2 0,-2 1,1 0,-1 0,1 1,-1-1,1 2,-2 0,1 0,11 8,-8-4,0-1,0 1,1-1,0 0,0-1,0-1,1 1,0-2,24 7,-1-4,38 4,-63-10,1 0,-1-1,1 0,-1-1,1 0,-1-1,1 0,11-5,-18 6,-1-1,1 0,-1 0,0 0,0-1,0 1,0 0,0-1,0 0,-1 0,1 0,-1 0,0 0,0 0,0-1,0 0,1-3,-3 5,1 0,0 0,-1 0,1 0,-1 0,0-1,0 1,0 0,0 0,0 0,0 0,0 0,0-1,-1 2,0-1,0-1,1 1,-1 1,0-2,0 2,0-1,0 0,0 1,-1-2,1 2,-1-1,1 1,-1-1,1 1,-1 0,-3-3,-5 0,1-1,0 2,-1 0,1 0,-1 0,-16-2,-2 2,-30 0,41 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23:06.71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38,'5'0,"1"1,0 0,0 0,7 3,15 2,3-2,-1-3,47-1,-71-1,1-1,-1 1,0-1,0 0,0 0,0 0,0-1,11-7,19-9,-29 17,2-1,-2 1,1 0,1 1,12-1,45 3,-33 0,-32-1,55 3,-50-1,0-1,0 0,0 1,0 1,0-1,11 6,51 31,-54-28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23:25.90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 0,'618'171'0,"-451"-485"0,-808 314 0,497 143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25:16.7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0 123,'18'-1,"1"-1,-1-1,0 0,22-9,9-1,95-15,58-14,-184 37,1 0,-1 2,39-2,-48 5,1 0,-1 1,1 0,0 0,-1 1,0 1,0 0,0 0,16 7,149 94,-163-97,1 1,-2-1,1 1,-1 1,0 0,12 13,-22-21,0 0,1-1,-1 0,1 1,0 0,-1 0,0-1,0 1,0 0,1-1,-1 1,0-1,1 1,-1 0,0 0,0-1,0 1,0 0,0 0,0-1,0 1,0 0,0 0,0-1,-1 1,0 1,1-1,-1 0,0 0,0-1,1 1,-1 0,-1 0,2-1,-1 1,-1-1,2 1,-2-1,1 1,1-1,-2 0,1 0,-2 0,-10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25:20.5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71,'4'-3,"0"0,-1 0,2 1,-1-1,0 0,1 2,-2-1,3 0,-2 1,10-2,4 0,26-2,-39 5,89-2,-60 3,0-3,66-9,-57 3,77-4,45 10,-150 2,1 2,-1-1,1 1,-1 1,27 10,-32-9,1 0,-1 1,0 0,0 1,0 0,-1 1,0 0,12 14,-5-6,1-1,19 14,6 5,-28-21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27:09.86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0,'658'17'0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29:22.76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0,'711'34'0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29:39.41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 0,'710'-18'0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0:05.47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0,'468'0'0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0:18.09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38,'0'0,"0"-1,1 0,-1 0,1 1,-1-1,0 0,1 0,0 1,-1-1,1 0,-1 0,1 1,0 0,0-1,-1 0,1 1,0-1,0 1,-1 0,1 0,0-1,1 0,24-6,-23 6,23-4,-1 0,1 2,0 1,0 1,38 4,-55-2,0 0,1 1,-1 0,0 1,0 0,-1 0,1 1,8 5,-4-1,-1 0,0 1,0 1,11 12,-8-6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0:49.22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1,'7'0,"0"0,-1 1,1 0,-1-1,1 2,0-1,-1 2,0-1,0 0,0 1,0 0,0 0,0 1,0 0,-1-1,0 2,0-1,7 8,-6-5,0-2,2 1,-1 0,0-2,1 1,0-1,0 1,10 1,14 9,-16-6,34 12,-42-18,-1-1,1-1,-1 1,1-1,-1-1,1 0,11 0,14-5,57-15,12-3,-72 20,54 2,-57 1,1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1:21.3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 0,'1682'0'0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1:35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0,'1697'34'0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1:52.2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 0,'2875'0'0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2:18.1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1,'0'2,"0"0,0-1,0 2,1-2,-1 1,1 0,-1 0,1 0,-1-1,2 1,-2 0,1-1,0 1,0 0,0 0,1-1,1 2,-1-1,0 0,1-1,-1 2,1-2,0 1,0-2,0 2,0-1,5 2,5-1,1-1,-1 0,28-1,-30-1,309 0,-246 1,-58 1,-1-1,1 3,0 0,26 7,-10 1,34 16,-50-20,-3-2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2:56.9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0,'-1'2,"0"-1,0 1,0-1,1 1,-1-1,0 1,0-1,1 1,0-1,-1 1,1 0,0-1,0 1,-1 0,1 0,1-1,-1 1,0 0,0-1,1 1,-1-1,0 1,1 0,0 0,0-1,-1 1,3 1,-1 2,1-1,-1 0,1 0,0 0,0-1,1 1,0-1,5 5,-1-3,0-1,0-1,0 0,0 0,0-1,14 2,-10-2,0 1,18 7,57 34,-72-35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3:12.5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1,'-3'3,"5"4,5 0,5 0,8-2,4-2,5 0,-1-3,-1 1,-4-1,2-1,1 1,3 0,-1 0,-2 0,0 0,-1 0,-5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3:34.8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0,'1056'191'0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3:37.9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915 17,'-1'1,"1"-1,0 0,0 1,0 0,-1-1,1 1,0-1,-1 0,1 1,0-1,0 1,0 0,-1-1,1 0,-1 0,1 1,-1-1,1 0,0 1,-1-1,1 0,-1 1,1-1,-1 0,1 0,0 0,-2 0,-15 3,13-2,-55 4,-98-5,69-1,-379 1,458-1,0 0,0 1,0-2,1 0,-1 0,1-1,-1 0,-13-7,3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3:45.0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0,'986'122'0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3:55.7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 0,'-3'3,"-1"4,6 1,6 1,4 1,4-3,3-2,4 1,-2-1,4 0,2 4,-3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4:34:21.5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6 192 0,'104'-191'0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4:34:28.7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1 176,'137'5,"-110"-2,-2 2,0-1,33 13,-13-1,73 22,-98-32,0-3,0 1,42 1,-42-5,0-1,0-1,0 0,0-2,33-9,-30 6,-10 3,-1 1,21-11,-30 13,0 0,-1-1,1 1,-1-1,0 0,1 1,-1-2,-1 1,2 1,-1-2,-1 1,1-1,-1 1,1 0,-1-1,1 0,1-4,-3 5,0 0,0 0,0 0,0 0,0 0,0 0,-1 0,1 0,-1 0,1 0,-1 1,0-2,0 2,1-1,-2 0,1 1,1-1,-2 1,1-1,-1 1,1-1,0 1,-1-1,0 1,-2-2,-3-2,-1 1,0-1,0 1,-12-4,6 4,0 0,0 1,-1 1,-15-1,-8-2,-42-1,37 3,42 3,-2 0,2 0,-1 0,0-1,1 1,-1 0,0-1,0 0,1 0,-1 1,1-1,-1 0,1 0,-1 0,1 0,-1 0,1 0,0-1,0 1,0 0,-1 0,2-1,-3-3,1 1,1 0,0-1,0 1,0-2,1 2,-1-1,2-8,-1-6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1B016-1492-4493-83D3-D70E1638397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18CB-76C1-4194-A14D-11E7974D7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1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6CA3-CA75-97AD-0C49-96CEB4063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47033-6EB2-8265-BBE2-37AF5F826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8AF0B-1A31-2CB9-58C7-0FF0776EC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F05AC-88CB-792E-FD62-9B4A13439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43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64B7-695C-85CC-7EAD-FB2B617C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6B6EA-8686-721E-F68E-F2750D127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A3C30-5E38-8415-B5A5-E86FAB6FC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B8186-3F36-AE36-4EB1-871E43D82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0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219" y="675138"/>
            <a:ext cx="816356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F7F7F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F7F7F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F7F7F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800" y="1371600"/>
            <a:ext cx="213360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1371600"/>
            <a:ext cx="4267200" cy="0"/>
          </a:xfrm>
          <a:custGeom>
            <a:avLst/>
            <a:gdLst/>
            <a:ahLst/>
            <a:cxnLst/>
            <a:rect l="l" t="t" r="r" b="b"/>
            <a:pathLst>
              <a:path w="4267200">
                <a:moveTo>
                  <a:pt x="0" y="0"/>
                </a:moveTo>
                <a:lnTo>
                  <a:pt x="4267200" y="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845496" y="3058553"/>
            <a:ext cx="524510" cy="371475"/>
          </a:xfrm>
          <a:custGeom>
            <a:avLst/>
            <a:gdLst/>
            <a:ahLst/>
            <a:cxnLst/>
            <a:rect l="l" t="t" r="r" b="b"/>
            <a:pathLst>
              <a:path w="524510" h="371475">
                <a:moveTo>
                  <a:pt x="0" y="371040"/>
                </a:moveTo>
                <a:lnTo>
                  <a:pt x="508660" y="11016"/>
                </a:lnTo>
                <a:lnTo>
                  <a:pt x="524224" y="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226417" y="3002634"/>
            <a:ext cx="222308" cy="197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533400" y="1803400"/>
            <a:ext cx="1143000" cy="396240"/>
          </a:xfrm>
          <a:custGeom>
            <a:avLst/>
            <a:gdLst/>
            <a:ahLst/>
            <a:cxnLst/>
            <a:rect l="l" t="t" r="r" b="b"/>
            <a:pathLst>
              <a:path w="1143000" h="396239">
                <a:moveTo>
                  <a:pt x="0" y="0"/>
                </a:moveTo>
                <a:lnTo>
                  <a:pt x="1143000" y="0"/>
                </a:lnTo>
                <a:lnTo>
                  <a:pt x="1143000" y="396103"/>
                </a:lnTo>
                <a:lnTo>
                  <a:pt x="0" y="39610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E7CF-2C27-BA25-AAF6-A9907D027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124968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B0B4A-6B63-C0B7-823F-D4FA9B55A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D331-42CC-35FD-1975-11DF40C5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9A9D2-6369-3B90-C4E0-01D989CB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8960" y="6377940"/>
            <a:ext cx="292608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3DF32-DA9D-25D5-1178-ACE4437A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6319" y="6381767"/>
            <a:ext cx="274320" cy="215444"/>
          </a:xfrm>
        </p:spPr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13716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1789" y="25405"/>
            <a:ext cx="8440420" cy="620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F7F7F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885" y="1627638"/>
            <a:ext cx="8190229" cy="3774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56319" y="6381767"/>
            <a:ext cx="274320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9" Type="http://schemas.openxmlformats.org/officeDocument/2006/relationships/image" Target="../media/image25.png"/><Relationship Id="rId21" Type="http://schemas.openxmlformats.org/officeDocument/2006/relationships/image" Target="../media/image16.png"/><Relationship Id="rId34" Type="http://schemas.openxmlformats.org/officeDocument/2006/relationships/customXml" Target="../ink/ink15.xml"/><Relationship Id="rId42" Type="http://schemas.openxmlformats.org/officeDocument/2006/relationships/customXml" Target="../ink/ink19.xml"/><Relationship Id="rId47" Type="http://schemas.openxmlformats.org/officeDocument/2006/relationships/image" Target="../media/image29.png"/><Relationship Id="rId50" Type="http://schemas.openxmlformats.org/officeDocument/2006/relationships/customXml" Target="../ink/ink23.xml"/><Relationship Id="rId55" Type="http://schemas.openxmlformats.org/officeDocument/2006/relationships/image" Target="../media/image33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6" Type="http://schemas.openxmlformats.org/officeDocument/2006/relationships/customXml" Target="../ink/ink6.xml"/><Relationship Id="rId29" Type="http://schemas.openxmlformats.org/officeDocument/2006/relationships/image" Target="../media/image20.png"/><Relationship Id="rId11" Type="http://schemas.openxmlformats.org/officeDocument/2006/relationships/image" Target="../media/image11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image" Target="../media/image24.png"/><Relationship Id="rId40" Type="http://schemas.openxmlformats.org/officeDocument/2006/relationships/customXml" Target="../ink/ink18.xml"/><Relationship Id="rId45" Type="http://schemas.openxmlformats.org/officeDocument/2006/relationships/image" Target="../media/image28.png"/><Relationship Id="rId53" Type="http://schemas.openxmlformats.org/officeDocument/2006/relationships/image" Target="../media/image32.png"/><Relationship Id="rId58" Type="http://schemas.openxmlformats.org/officeDocument/2006/relationships/customXml" Target="../ink/ink27.xml"/><Relationship Id="rId5" Type="http://schemas.openxmlformats.org/officeDocument/2006/relationships/image" Target="../media/image4.png"/><Relationship Id="rId19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9.png"/><Relationship Id="rId30" Type="http://schemas.openxmlformats.org/officeDocument/2006/relationships/customXml" Target="../ink/ink13.xml"/><Relationship Id="rId35" Type="http://schemas.openxmlformats.org/officeDocument/2006/relationships/image" Target="../media/image23.png"/><Relationship Id="rId43" Type="http://schemas.openxmlformats.org/officeDocument/2006/relationships/image" Target="../media/image27.png"/><Relationship Id="rId48" Type="http://schemas.openxmlformats.org/officeDocument/2006/relationships/customXml" Target="../ink/ink22.xml"/><Relationship Id="rId56" Type="http://schemas.openxmlformats.org/officeDocument/2006/relationships/customXml" Target="../ink/ink26.xml"/><Relationship Id="rId8" Type="http://schemas.openxmlformats.org/officeDocument/2006/relationships/customXml" Target="../ink/ink2.xml"/><Relationship Id="rId51" Type="http://schemas.openxmlformats.org/officeDocument/2006/relationships/image" Target="../media/image31.png"/><Relationship Id="rId3" Type="http://schemas.openxmlformats.org/officeDocument/2006/relationships/image" Target="../media/image7.png"/><Relationship Id="rId12" Type="http://schemas.openxmlformats.org/officeDocument/2006/relationships/customXml" Target="../ink/ink4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17.xml"/><Relationship Id="rId46" Type="http://schemas.openxmlformats.org/officeDocument/2006/relationships/customXml" Target="../ink/ink21.xml"/><Relationship Id="rId59" Type="http://schemas.openxmlformats.org/officeDocument/2006/relationships/image" Target="../media/image35.png"/><Relationship Id="rId20" Type="http://schemas.openxmlformats.org/officeDocument/2006/relationships/customXml" Target="../ink/ink8.xml"/><Relationship Id="rId41" Type="http://schemas.openxmlformats.org/officeDocument/2006/relationships/image" Target="../media/image26.png"/><Relationship Id="rId54" Type="http://schemas.openxmlformats.org/officeDocument/2006/relationships/customXml" Target="../ink/ink2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49" Type="http://schemas.openxmlformats.org/officeDocument/2006/relationships/image" Target="../media/image30.png"/><Relationship Id="rId57" Type="http://schemas.openxmlformats.org/officeDocument/2006/relationships/image" Target="../media/image34.png"/><Relationship Id="rId10" Type="http://schemas.openxmlformats.org/officeDocument/2006/relationships/customXml" Target="../ink/ink3.xml"/><Relationship Id="rId31" Type="http://schemas.openxmlformats.org/officeDocument/2006/relationships/image" Target="../media/image21.png"/><Relationship Id="rId44" Type="http://schemas.openxmlformats.org/officeDocument/2006/relationships/customXml" Target="../ink/ink20.xml"/><Relationship Id="rId52" Type="http://schemas.openxmlformats.org/officeDocument/2006/relationships/customXml" Target="../ink/ink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4B0A9-F2A6-8CEF-2C76-FB06EACB7259}"/>
              </a:ext>
            </a:extLst>
          </p:cNvPr>
          <p:cNvSpPr txBox="1"/>
          <p:nvPr/>
        </p:nvSpPr>
        <p:spPr>
          <a:xfrm>
            <a:off x="1633629" y="4872484"/>
            <a:ext cx="701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Accreditation:</a:t>
            </a:r>
          </a:p>
          <a:p>
            <a:r>
              <a:rPr lang="en-US" dirty="0"/>
              <a:t>    Most slides taken directly from </a:t>
            </a:r>
            <a:r>
              <a:rPr lang="en-US" dirty="0" err="1"/>
              <a:t>Stanfords</a:t>
            </a:r>
            <a:r>
              <a:rPr lang="en-US" dirty="0"/>
              <a:t>: CS143 Lecture 8</a:t>
            </a:r>
          </a:p>
          <a:p>
            <a:r>
              <a:rPr lang="en-US" dirty="0"/>
              <a:t>    slide design by: Prof. Alex Aiken with some modifications by</a:t>
            </a:r>
          </a:p>
          <a:p>
            <a:r>
              <a:rPr lang="en-US" dirty="0"/>
              <a:t>    Marcelo Siero</a:t>
            </a:r>
          </a:p>
          <a:p>
            <a:r>
              <a:rPr lang="en-US" dirty="0"/>
              <a:t>Source:  https://web.stanford.edu/class/cs143/lectures/lecture08.pdf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3EDC37-C8DA-35FE-10CE-8702B2192463}"/>
              </a:ext>
            </a:extLst>
          </p:cNvPr>
          <p:cNvSpPr txBox="1">
            <a:spLocks/>
          </p:cNvSpPr>
          <p:nvPr/>
        </p:nvSpPr>
        <p:spPr>
          <a:xfrm>
            <a:off x="330597" y="1"/>
            <a:ext cx="8737203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30C653-64FA-B35D-5F5E-67E1A75AF081}"/>
              </a:ext>
            </a:extLst>
          </p:cNvPr>
          <p:cNvSpPr txBox="1"/>
          <p:nvPr/>
        </p:nvSpPr>
        <p:spPr>
          <a:xfrm>
            <a:off x="1328828" y="2817092"/>
            <a:ext cx="3471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Topic:</a:t>
            </a:r>
            <a:r>
              <a:rPr lang="en-US" sz="2800" dirty="0"/>
              <a:t> </a:t>
            </a:r>
          </a:p>
          <a:p>
            <a:r>
              <a:rPr lang="en-US" sz="2800" dirty="0"/>
              <a:t>     Bottom Up Parsing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6682824-BA56-A843-086C-AD1F0326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24000"/>
            <a:ext cx="3569532" cy="159819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04E7C3A-F072-0385-7D28-1B27DF47C84C}"/>
              </a:ext>
            </a:extLst>
          </p:cNvPr>
          <p:cNvSpPr txBox="1"/>
          <p:nvPr/>
        </p:nvSpPr>
        <p:spPr>
          <a:xfrm>
            <a:off x="2090829" y="4155602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Lecturer: </a:t>
            </a:r>
            <a:r>
              <a:rPr lang="en-US" dirty="0" err="1"/>
              <a:t>Mrcelo</a:t>
            </a:r>
            <a:r>
              <a:rPr lang="en-US" dirty="0"/>
              <a:t> Siero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CA54-523C-FFF9-D600-382BA278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0446DB1-824E-5707-2D11-D56073123BF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B25DD6-7CA4-BF8C-E275-63D14007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33400"/>
            <a:ext cx="8778239" cy="5342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C5245F-2118-F09A-2612-FB8E1B659E14}"/>
              </a:ext>
            </a:extLst>
          </p:cNvPr>
          <p:cNvSpPr txBox="1"/>
          <p:nvPr/>
        </p:nvSpPr>
        <p:spPr>
          <a:xfrm>
            <a:off x="882961" y="6165938"/>
            <a:ext cx="1082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https://www.youtube.com/watch?v=OIKL6wFjFOo</a:t>
            </a:r>
          </a:p>
        </p:txBody>
      </p:sp>
    </p:spTree>
    <p:extLst>
      <p:ext uri="{BB962C8B-B14F-4D97-AF65-F5344CB8AC3E}">
        <p14:creationId xmlns:p14="http://schemas.microsoft.com/office/powerpoint/2010/main" val="216903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84A8-0B6F-0C08-B6CF-02E8FFE5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147174D-4C99-1D8D-DE71-0EB317FC214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85B67AE-6D6E-A443-EE42-500841E5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91" y="258605"/>
            <a:ext cx="4982211" cy="1046440"/>
          </a:xfrm>
        </p:spPr>
        <p:txBody>
          <a:bodyPr/>
          <a:lstStyle/>
          <a:p>
            <a:r>
              <a:rPr lang="en-US" sz="4800" dirty="0"/>
              <a:t>Some Definitions</a:t>
            </a:r>
            <a:br>
              <a:rPr lang="en-US" sz="2000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1F8877-0833-9B12-450B-F6814830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772" y="2475066"/>
            <a:ext cx="2769467" cy="15615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DB1A2-E401-013A-C478-3DC65C2F9DDB}"/>
              </a:ext>
            </a:extLst>
          </p:cNvPr>
          <p:cNvSpPr txBox="1"/>
          <p:nvPr/>
        </p:nvSpPr>
        <p:spPr>
          <a:xfrm>
            <a:off x="762000" y="4233116"/>
            <a:ext cx="480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Derivation</a:t>
            </a:r>
            <a:r>
              <a:rPr lang="en-US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: a sequence of rewriting steps that begins with the grammar's start symbol and ends with a sentence in the language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F317B-68F2-5CD0-71A0-C04AEB4D2225}"/>
              </a:ext>
            </a:extLst>
          </p:cNvPr>
          <p:cNvSpPr txBox="1"/>
          <p:nvPr/>
        </p:nvSpPr>
        <p:spPr>
          <a:xfrm>
            <a:off x="762000" y="5539999"/>
            <a:ext cx="480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Sentence:</a:t>
            </a:r>
            <a:r>
              <a:rPr lang="en-US" b="1" dirty="0">
                <a:solidFill>
                  <a:srgbClr val="3D3B49"/>
                </a:solidFill>
                <a:latin typeface="Noto Serif" panose="02020502060505020204" pitchFamily="18"/>
              </a:rPr>
              <a:t> </a:t>
            </a:r>
            <a:r>
              <a:rPr lang="en-US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a string of symbols that can be derived from the rules of a grammar</a:t>
            </a:r>
            <a:r>
              <a:rPr lang="en-US" dirty="0">
                <a:solidFill>
                  <a:srgbClr val="3D3B49"/>
                </a:solidFill>
                <a:latin typeface="Noto Serif" panose="02020502060505020204" pitchFamily="18"/>
              </a:rPr>
              <a:t>, i.e. a sentential form without non-terminals.</a:t>
            </a:r>
            <a:endParaRPr lang="en-US" b="0" i="0" dirty="0">
              <a:solidFill>
                <a:srgbClr val="3D3B49"/>
              </a:solidFill>
              <a:effectLst/>
              <a:latin typeface="Noto Serif" panose="02020502060505020204" pitchFamily="1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C8326-A743-8B88-CBDE-3D898B94088B}"/>
              </a:ext>
            </a:extLst>
          </p:cNvPr>
          <p:cNvSpPr txBox="1"/>
          <p:nvPr/>
        </p:nvSpPr>
        <p:spPr>
          <a:xfrm>
            <a:off x="762000" y="3477773"/>
            <a:ext cx="541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Sentential Form: </a:t>
            </a:r>
            <a:r>
              <a:rPr lang="en-US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a string of symbols that occurs as one step in a valid derivation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01D98-FCFF-A04F-50BE-37BF5DF8E407}"/>
              </a:ext>
            </a:extLst>
          </p:cNvPr>
          <p:cNvSpPr txBox="1"/>
          <p:nvPr/>
        </p:nvSpPr>
        <p:spPr>
          <a:xfrm>
            <a:off x="762000" y="1474557"/>
            <a:ext cx="7894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Context Free Grammar: 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Formally, a context-free grammar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G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 is a quadruple (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T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,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NT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,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S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,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P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) where: T is a set of terminals, NT is a set of non-terminals, S is a Start symbol, and P </a:t>
            </a:r>
            <a:r>
              <a:rPr lang="en-US" sz="1600" dirty="0">
                <a:solidFill>
                  <a:srgbClr val="3D3B49"/>
                </a:solidFill>
                <a:latin typeface="Noto Serif" panose="02020502060505020204" pitchFamily="18"/>
              </a:rPr>
              <a:t>a set of Productions all for language L(G).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B72D5-BBD9-359C-1854-4B7A437B5B07}"/>
              </a:ext>
            </a:extLst>
          </p:cNvPr>
          <p:cNvSpPr txBox="1"/>
          <p:nvPr/>
        </p:nvSpPr>
        <p:spPr>
          <a:xfrm>
            <a:off x="762000" y="2475066"/>
            <a:ext cx="5410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Ambiguity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: A grammar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G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 is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ambiguous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 if some sentence in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L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( </a:t>
            </a:r>
            <a:r>
              <a:rPr lang="en-US" sz="1600" b="0" i="1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G</a:t>
            </a:r>
            <a:r>
              <a:rPr lang="en-US" sz="1600" b="0" i="0" dirty="0">
                <a:solidFill>
                  <a:srgbClr val="3D3B49"/>
                </a:solidFill>
                <a:effectLst/>
                <a:latin typeface="Noto Serif" panose="02020502060505020204" pitchFamily="18"/>
              </a:rPr>
              <a:t>) has more than one rightmost (or leftmost) derivation.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956C1D90-1E77-5794-23FE-6E013392D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26671"/>
            <a:ext cx="3576839" cy="74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AB661A-D1F7-811B-D8D5-34F7EB5012F7}"/>
              </a:ext>
            </a:extLst>
          </p:cNvPr>
          <p:cNvSpPr txBox="1"/>
          <p:nvPr/>
        </p:nvSpPr>
        <p:spPr>
          <a:xfrm>
            <a:off x="5539042" y="5554569"/>
            <a:ext cx="3686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Classical ambiguous grammar from Algol 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79F50-C321-822B-D56F-193FEB00194F}"/>
              </a:ext>
            </a:extLst>
          </p:cNvPr>
          <p:cNvSpPr txBox="1"/>
          <p:nvPr/>
        </p:nvSpPr>
        <p:spPr>
          <a:xfrm>
            <a:off x="5791200" y="4451658"/>
            <a:ext cx="348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BNF grammar for Expressions</a:t>
            </a:r>
          </a:p>
        </p:txBody>
      </p:sp>
    </p:spTree>
    <p:extLst>
      <p:ext uri="{BB962C8B-B14F-4D97-AF65-F5344CB8AC3E}">
        <p14:creationId xmlns:p14="http://schemas.microsoft.com/office/powerpoint/2010/main" val="39225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3644-C42B-ABD0-25B7-C3D6C9FA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694FCA-FE73-4F88-00B0-3F3F95F9A1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F51AD-DD61-C64C-D855-5BF587152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788" y="3233406"/>
            <a:ext cx="2308455" cy="2194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421DC8-E9B8-05B1-67E2-DA5B399AF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0" y="3233405"/>
            <a:ext cx="3046826" cy="2667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34ACF-C470-1F77-0823-42FE454D6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955" y="3233406"/>
            <a:ext cx="2838267" cy="2601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0CBEE5-35E2-F2AD-033F-9423AC70D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94" y="1453426"/>
            <a:ext cx="2411939" cy="1360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F1B03A-3D8A-C0A9-2E49-A0180E2F1421}"/>
              </a:ext>
            </a:extLst>
          </p:cNvPr>
          <p:cNvSpPr txBox="1"/>
          <p:nvPr/>
        </p:nvSpPr>
        <p:spPr>
          <a:xfrm>
            <a:off x="953394" y="420858"/>
            <a:ext cx="6976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Leftmost and Rightmost  Derivations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06629-0F3F-072B-FCE5-CFE96B693103}"/>
              </a:ext>
            </a:extLst>
          </p:cNvPr>
          <p:cNvSpPr txBox="1"/>
          <p:nvPr/>
        </p:nvSpPr>
        <p:spPr>
          <a:xfrm>
            <a:off x="3391956" y="2029345"/>
            <a:ext cx="47690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Note that leftmost derivations tend to be right associative</a:t>
            </a:r>
          </a:p>
          <a:p>
            <a:r>
              <a:rPr lang="en-US" sz="1350" dirty="0"/>
              <a:t>Rightmost derivations left associative.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96E626-97F7-E7F3-967C-070F5F8D29BB}"/>
                  </a:ext>
                </a:extLst>
              </p14:cNvPr>
              <p14:cNvContentPartPr/>
              <p14:nvPr/>
            </p14:nvContentPartPr>
            <p14:xfrm>
              <a:off x="4494837" y="4208662"/>
              <a:ext cx="181980" cy="14769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96E626-97F7-E7F3-967C-070F5F8D29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40890" y="4100596"/>
                <a:ext cx="289514" cy="363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70EF5E-C34C-0F71-F265-F838BFF38C2A}"/>
                  </a:ext>
                </a:extLst>
              </p14:cNvPr>
              <p14:cNvContentPartPr/>
              <p14:nvPr/>
            </p14:nvContentPartPr>
            <p14:xfrm>
              <a:off x="4164357" y="4495132"/>
              <a:ext cx="554310" cy="912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70EF5E-C34C-0F71-F265-F838BFF38C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10366" y="4387345"/>
                <a:ext cx="661933" cy="3064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483FEF0-3B22-F323-3CFC-90168F634873}"/>
                  </a:ext>
                </a:extLst>
              </p14:cNvPr>
              <p14:cNvContentPartPr/>
              <p14:nvPr/>
            </p14:nvContentPartPr>
            <p14:xfrm>
              <a:off x="4538847" y="4049092"/>
              <a:ext cx="193320" cy="5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483FEF0-3B22-F323-3CFC-90168F6348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84847" y="3887092"/>
                <a:ext cx="3009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2BC5C2-0356-82A0-3A70-81FC5BBADFEE}"/>
                  </a:ext>
                </a:extLst>
              </p14:cNvPr>
              <p14:cNvContentPartPr/>
              <p14:nvPr/>
            </p14:nvContentPartPr>
            <p14:xfrm>
              <a:off x="4145727" y="4285342"/>
              <a:ext cx="259200" cy="2619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2BC5C2-0356-82A0-3A70-81FC5BBADF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91727" y="4179166"/>
                <a:ext cx="366840" cy="238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2D58975-951F-A2FB-3D27-523CF47BF762}"/>
                  </a:ext>
                </a:extLst>
              </p14:cNvPr>
              <p14:cNvContentPartPr/>
              <p14:nvPr/>
            </p14:nvContentPartPr>
            <p14:xfrm>
              <a:off x="4713267" y="4697092"/>
              <a:ext cx="214110" cy="577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2D58975-951F-A2FB-3D27-523CF47BF7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9199" y="4589427"/>
                <a:ext cx="321886" cy="272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E69439C-1B4D-D933-3BB4-CF9B1338C449}"/>
                  </a:ext>
                </a:extLst>
              </p14:cNvPr>
              <p14:cNvContentPartPr/>
              <p14:nvPr/>
            </p14:nvContentPartPr>
            <p14:xfrm>
              <a:off x="4326627" y="4933342"/>
              <a:ext cx="236790" cy="2673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E69439C-1B4D-D933-3BB4-CF9B1338C4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72565" y="4826422"/>
                <a:ext cx="344553" cy="2402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9B0B94E-B3D9-19B9-C5B7-BEDA093E3DA5}"/>
                  </a:ext>
                </a:extLst>
              </p14:cNvPr>
              <p14:cNvContentPartPr/>
              <p14:nvPr/>
            </p14:nvContentPartPr>
            <p14:xfrm>
              <a:off x="1070157" y="4017772"/>
              <a:ext cx="282690" cy="11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9B0B94E-B3D9-19B9-C5B7-BEDA093E3DA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6209" y="3909772"/>
                <a:ext cx="390227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467D43-4700-6025-13B2-76E3C811687D}"/>
                  </a:ext>
                </a:extLst>
              </p14:cNvPr>
              <p14:cNvContentPartPr/>
              <p14:nvPr/>
            </p14:nvContentPartPr>
            <p14:xfrm>
              <a:off x="4139787" y="3973762"/>
              <a:ext cx="358020" cy="8289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467D43-4700-6025-13B2-76E3C81168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85814" y="3865645"/>
                <a:ext cx="465606" cy="298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99F8856-3C93-5AC1-9F92-118124411BD7}"/>
                  </a:ext>
                </a:extLst>
              </p14:cNvPr>
              <p14:cNvContentPartPr/>
              <p14:nvPr/>
            </p14:nvContentPartPr>
            <p14:xfrm>
              <a:off x="4812897" y="3992662"/>
              <a:ext cx="380700" cy="6831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99F8856-3C93-5AC1-9F92-118124411B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58923" y="3884233"/>
                <a:ext cx="488289" cy="284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C740A39-8DB1-117F-643C-BED8804BEA79}"/>
                  </a:ext>
                </a:extLst>
              </p14:cNvPr>
              <p14:cNvContentPartPr/>
              <p14:nvPr/>
            </p14:nvContentPartPr>
            <p14:xfrm>
              <a:off x="4326627" y="4504312"/>
              <a:ext cx="237060" cy="621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C740A39-8DB1-117F-643C-BED8804BEA7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72668" y="4400812"/>
                <a:ext cx="344618" cy="212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DFBA102-4B38-2136-B406-DC56C041F71A}"/>
                  </a:ext>
                </a:extLst>
              </p14:cNvPr>
              <p14:cNvContentPartPr/>
              <p14:nvPr/>
            </p14:nvContentPartPr>
            <p14:xfrm>
              <a:off x="1246467" y="4279672"/>
              <a:ext cx="256230" cy="124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DFBA102-4B38-2136-B406-DC56C041F71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2486" y="4173215"/>
                <a:ext cx="363832" cy="224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4C35A9C-BFF4-4AE4-3CCE-36620FA6AF29}"/>
                  </a:ext>
                </a:extLst>
              </p14:cNvPr>
              <p14:cNvContentPartPr/>
              <p14:nvPr/>
            </p14:nvContentPartPr>
            <p14:xfrm>
              <a:off x="1265367" y="4535092"/>
              <a:ext cx="255960" cy="675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4C35A9C-BFF4-4AE4-3CCE-36620FA6AF2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11367" y="4428513"/>
                <a:ext cx="363600" cy="219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3DBC6F-534E-0CDD-C765-1930FDD6AD41}"/>
                  </a:ext>
                </a:extLst>
              </p14:cNvPr>
              <p14:cNvContentPartPr/>
              <p14:nvPr/>
            </p14:nvContentPartPr>
            <p14:xfrm>
              <a:off x="1683057" y="4766212"/>
              <a:ext cx="168480" cy="27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3DBC6F-534E-0CDD-C765-1930FDD6AD4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29172" y="4685212"/>
                <a:ext cx="27589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28735F2-5112-A2C1-5B74-FC8604AE3101}"/>
                  </a:ext>
                </a:extLst>
              </p14:cNvPr>
              <p14:cNvContentPartPr/>
              <p14:nvPr/>
            </p14:nvContentPartPr>
            <p14:xfrm>
              <a:off x="2493597" y="4976812"/>
              <a:ext cx="149040" cy="372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28735F2-5112-A2C1-5B74-FC8604AE310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39597" y="4870355"/>
                <a:ext cx="256680" cy="249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FF120CD-EFD3-F494-0282-9C147781C5CB}"/>
                  </a:ext>
                </a:extLst>
              </p14:cNvPr>
              <p14:cNvContentPartPr/>
              <p14:nvPr/>
            </p14:nvContentPartPr>
            <p14:xfrm>
              <a:off x="1097157" y="3812032"/>
              <a:ext cx="274320" cy="56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FF120CD-EFD3-F494-0282-9C147781C5C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43228" y="3704032"/>
                <a:ext cx="381819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296E1F2-F5D2-DD60-01AA-0FCE266D8812}"/>
                  </a:ext>
                </a:extLst>
              </p14:cNvPr>
              <p14:cNvContentPartPr/>
              <p14:nvPr/>
            </p14:nvContentPartPr>
            <p14:xfrm>
              <a:off x="1489737" y="4079872"/>
              <a:ext cx="605340" cy="5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296E1F2-F5D2-DD60-01AA-0FCE266D88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35785" y="3917872"/>
                <a:ext cx="712884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66D8D85-C66E-96FF-959F-DF040CFD55C2}"/>
                  </a:ext>
                </a:extLst>
              </p14:cNvPr>
              <p14:cNvContentPartPr/>
              <p14:nvPr/>
            </p14:nvContentPartPr>
            <p14:xfrm>
              <a:off x="1066107" y="4279672"/>
              <a:ext cx="611010" cy="124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66D8D85-C66E-96FF-959F-DF040CFD55C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2131" y="4173215"/>
                <a:ext cx="718602" cy="224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5D85A38-2411-7C00-122C-004CA8CC1C66}"/>
                  </a:ext>
                </a:extLst>
              </p14:cNvPr>
              <p14:cNvContentPartPr/>
              <p14:nvPr/>
            </p14:nvContentPartPr>
            <p14:xfrm>
              <a:off x="1234047" y="4528882"/>
              <a:ext cx="1035450" cy="5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5D85A38-2411-7C00-122C-004CA8CC1C6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80042" y="4366882"/>
                <a:ext cx="1143099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C423004-1871-4E7F-1423-324267DA65D5}"/>
                  </a:ext>
                </a:extLst>
              </p14:cNvPr>
              <p14:cNvContentPartPr/>
              <p14:nvPr/>
            </p14:nvContentPartPr>
            <p14:xfrm>
              <a:off x="1246467" y="4734622"/>
              <a:ext cx="275130" cy="4293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C423004-1871-4E7F-1423-324267DA65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92520" y="4627297"/>
                <a:ext cx="382664" cy="257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B659D10-1B9B-6A89-A6FF-BD1C37F7CBA1}"/>
                  </a:ext>
                </a:extLst>
              </p14:cNvPr>
              <p14:cNvContentPartPr/>
              <p14:nvPr/>
            </p14:nvContentPartPr>
            <p14:xfrm>
              <a:off x="1667667" y="5003002"/>
              <a:ext cx="96120" cy="642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B659D10-1B9B-6A89-A6FF-BD1C37F7CBA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13868" y="4895304"/>
                <a:ext cx="203358" cy="279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1928907-326F-6247-78E0-B8D49AAE03F8}"/>
                  </a:ext>
                </a:extLst>
              </p14:cNvPr>
              <p14:cNvContentPartPr/>
              <p14:nvPr/>
            </p14:nvContentPartPr>
            <p14:xfrm>
              <a:off x="2473887" y="5246002"/>
              <a:ext cx="135810" cy="1323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1928907-326F-6247-78E0-B8D49AAE03F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19994" y="5138732"/>
                <a:ext cx="243236" cy="227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9142449-EBE9-19AD-5DCC-C9A9B9E11232}"/>
                  </a:ext>
                </a:extLst>
              </p14:cNvPr>
              <p14:cNvContentPartPr/>
              <p14:nvPr/>
            </p14:nvContentPartPr>
            <p14:xfrm>
              <a:off x="4307727" y="4703572"/>
              <a:ext cx="380700" cy="6885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9142449-EBE9-19AD-5DCC-C9A9B9E1123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53701" y="4595994"/>
                <a:ext cx="488391" cy="283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5885D31-D4F5-D382-1472-E0FE4524F70D}"/>
                  </a:ext>
                </a:extLst>
              </p14:cNvPr>
              <p14:cNvContentPartPr/>
              <p14:nvPr/>
            </p14:nvContentPartPr>
            <p14:xfrm>
              <a:off x="4989207" y="4766212"/>
              <a:ext cx="329130" cy="12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5885D31-D4F5-D382-1472-E0FE4524F70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35251" y="4658212"/>
                <a:ext cx="436682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D923E54-A877-B3E3-DBB6-4A8F96FECD3F}"/>
                  </a:ext>
                </a:extLst>
              </p14:cNvPr>
              <p14:cNvContentPartPr/>
              <p14:nvPr/>
            </p14:nvContentPartPr>
            <p14:xfrm>
              <a:off x="4644687" y="4684672"/>
              <a:ext cx="355320" cy="442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D923E54-A877-B3E3-DBB6-4A8F96FECD3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90687" y="4576672"/>
                <a:ext cx="4629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FD50F1E-442D-5C2A-95B4-3BD5E9206033}"/>
                  </a:ext>
                </a:extLst>
              </p14:cNvPr>
              <p14:cNvContentPartPr/>
              <p14:nvPr/>
            </p14:nvContentPartPr>
            <p14:xfrm>
              <a:off x="4691937" y="4934422"/>
              <a:ext cx="63990" cy="2997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FD50F1E-442D-5C2A-95B4-3BD5E920603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38013" y="4827386"/>
                <a:ext cx="171479" cy="243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1697A71-2679-1E9E-A00E-DB1F9959E43C}"/>
                  </a:ext>
                </a:extLst>
              </p14:cNvPr>
              <p14:cNvContentPartPr/>
              <p14:nvPr/>
            </p14:nvContentPartPr>
            <p14:xfrm>
              <a:off x="4314207" y="5152312"/>
              <a:ext cx="37530" cy="6885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1697A71-2679-1E9E-A00E-DB1F9959E43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60593" y="5044734"/>
                <a:ext cx="144401" cy="283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831CD8E-1899-669B-F69C-019A2258CE5E}"/>
                  </a:ext>
                </a:extLst>
              </p14:cNvPr>
              <p14:cNvContentPartPr/>
              <p14:nvPr/>
            </p14:nvContentPartPr>
            <p14:xfrm>
              <a:off x="4357677" y="5145562"/>
              <a:ext cx="298890" cy="1015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831CD8E-1899-669B-F69C-019A2258CE5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03661" y="5037562"/>
                <a:ext cx="406562" cy="31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08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32658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</a:t>
            </a:r>
            <a:r>
              <a:rPr sz="2800" b="1" spc="-4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Parsing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6885" y="1627638"/>
            <a:ext cx="8190229" cy="386349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67665" marR="5080" indent="-342900">
              <a:lnSpc>
                <a:spcPct val="101200"/>
              </a:lnSpc>
              <a:spcBef>
                <a:spcPts val="60"/>
              </a:spcBef>
              <a:buChar char="•"/>
              <a:tabLst>
                <a:tab pos="368300" algn="l"/>
                <a:tab pos="368935" algn="l"/>
              </a:tabLst>
            </a:pPr>
            <a:r>
              <a:rPr spc="-5" dirty="0"/>
              <a:t>Bottom-up </a:t>
            </a:r>
            <a:r>
              <a:rPr dirty="0"/>
              <a:t>parsing is more general </a:t>
            </a:r>
            <a:r>
              <a:rPr spc="-5" dirty="0"/>
              <a:t>than top-down  </a:t>
            </a:r>
            <a:r>
              <a:rPr dirty="0"/>
              <a:t>parsing</a:t>
            </a:r>
          </a:p>
          <a:p>
            <a:pPr marL="768350" lvl="1" indent="-286385">
              <a:lnSpc>
                <a:spcPct val="100000"/>
              </a:lnSpc>
              <a:spcBef>
                <a:spcPts val="30"/>
              </a:spcBef>
              <a:buChar char="–"/>
              <a:tabLst>
                <a:tab pos="768985" algn="l"/>
              </a:tabLst>
            </a:pPr>
            <a:r>
              <a:rPr sz="2400" dirty="0">
                <a:latin typeface="Helvetica"/>
                <a:cs typeface="Helvetica"/>
              </a:rPr>
              <a:t>And just as</a:t>
            </a:r>
            <a:r>
              <a:rPr sz="2400" spc="-15" dirty="0">
                <a:latin typeface="Helvetica"/>
                <a:cs typeface="Helvetica"/>
              </a:rPr>
              <a:t> </a:t>
            </a:r>
            <a:r>
              <a:rPr sz="2400" spc="-10" dirty="0">
                <a:latin typeface="Helvetica"/>
                <a:cs typeface="Helvetica"/>
              </a:rPr>
              <a:t>efficient</a:t>
            </a:r>
            <a:endParaRPr sz="2400" dirty="0">
              <a:latin typeface="Helvetica"/>
              <a:cs typeface="Helvetica"/>
            </a:endParaRPr>
          </a:p>
          <a:p>
            <a:pPr marL="768350" lvl="1" indent="-286385">
              <a:lnSpc>
                <a:spcPct val="100000"/>
              </a:lnSpc>
              <a:spcBef>
                <a:spcPts val="20"/>
              </a:spcBef>
              <a:buChar char="–"/>
              <a:tabLst>
                <a:tab pos="768985" algn="l"/>
              </a:tabLst>
            </a:pPr>
            <a:r>
              <a:rPr sz="2400" dirty="0">
                <a:latin typeface="Helvetica"/>
                <a:cs typeface="Helvetica"/>
              </a:rPr>
              <a:t>Builds on ideas in </a:t>
            </a:r>
            <a:r>
              <a:rPr sz="2400" spc="-5" dirty="0">
                <a:latin typeface="Helvetica"/>
                <a:cs typeface="Helvetica"/>
              </a:rPr>
              <a:t>top-down</a:t>
            </a:r>
            <a:r>
              <a:rPr sz="2400" spc="-20" dirty="0">
                <a:latin typeface="Helvetica"/>
                <a:cs typeface="Helvetica"/>
              </a:rPr>
              <a:t> </a:t>
            </a:r>
            <a:r>
              <a:rPr sz="2400" dirty="0">
                <a:latin typeface="Helvetica"/>
                <a:cs typeface="Helvetica"/>
              </a:rPr>
              <a:t>parsing</a:t>
            </a:r>
          </a:p>
          <a:p>
            <a:pPr marL="12700" lvl="1">
              <a:lnSpc>
                <a:spcPct val="100000"/>
              </a:lnSpc>
              <a:spcBef>
                <a:spcPts val="15"/>
              </a:spcBef>
              <a:buFont typeface="Helvetica"/>
              <a:buChar char="–"/>
            </a:pPr>
            <a:endParaRPr sz="3100" dirty="0"/>
          </a:p>
          <a:p>
            <a:pPr marL="368300" indent="-342900">
              <a:lnSpc>
                <a:spcPct val="100000"/>
              </a:lnSpc>
              <a:buChar char="•"/>
              <a:tabLst>
                <a:tab pos="368300" algn="l"/>
                <a:tab pos="368935" algn="l"/>
              </a:tabLst>
            </a:pPr>
            <a:r>
              <a:rPr spc="-5" dirty="0"/>
              <a:t>Bottom-up </a:t>
            </a:r>
            <a:r>
              <a:rPr dirty="0"/>
              <a:t>is </a:t>
            </a:r>
            <a:r>
              <a:rPr lang="en-US" spc="-5" dirty="0"/>
              <a:t>a very popular </a:t>
            </a:r>
            <a:r>
              <a:rPr spc="-5" dirty="0"/>
              <a:t>method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buFont typeface="Helvetica"/>
              <a:buChar char="•"/>
            </a:pPr>
            <a:endParaRPr sz="3100" dirty="0"/>
          </a:p>
          <a:p>
            <a:pPr marL="3683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68300" algn="l"/>
                <a:tab pos="368935" algn="l"/>
              </a:tabLst>
            </a:pPr>
            <a:r>
              <a:rPr lang="en-US" spc="-5" dirty="0"/>
              <a:t>Concepts: State Table Algorithms for Advanced</a:t>
            </a:r>
          </a:p>
          <a:p>
            <a:pPr marL="3683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68300" algn="l"/>
                <a:tab pos="368935" algn="l"/>
              </a:tabLst>
            </a:pPr>
            <a:r>
              <a:rPr lang="en-US" spc="-5" dirty="0"/>
              <a:t>     Course in compilers.</a:t>
            </a:r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A1EC-23F9-5C39-9584-83CFE0FD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45CCBC-6C44-E7D5-BE92-3386C5FF6A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32658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</a:t>
            </a:r>
            <a:r>
              <a:rPr sz="2800" b="1" spc="-4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Parsing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6629CA7-D74B-C1AD-B06D-4B0B1A07105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DFB2E5-10A8-B72D-0AE7-87CF5C9EE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244" y="2971800"/>
            <a:ext cx="309562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D46A82-2440-6426-7431-87CBFFC7F65C}"/>
              </a:ext>
            </a:extLst>
          </p:cNvPr>
          <p:cNvSpPr txBox="1"/>
          <p:nvPr/>
        </p:nvSpPr>
        <p:spPr>
          <a:xfrm>
            <a:off x="487681" y="1861066"/>
            <a:ext cx="1905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(1) E → E * B</a:t>
            </a:r>
          </a:p>
          <a:p>
            <a:pPr algn="l">
              <a:buNone/>
            </a:pP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(2) E → E + B</a:t>
            </a:r>
          </a:p>
          <a:p>
            <a:pPr algn="l">
              <a:buNone/>
            </a:pP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(3) E → B</a:t>
            </a:r>
          </a:p>
          <a:p>
            <a:pPr algn="l">
              <a:buNone/>
            </a:pP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(4) B → 0</a:t>
            </a:r>
          </a:p>
          <a:p>
            <a:pPr algn="l">
              <a:buNone/>
            </a:pP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(5) B →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94FBF-F141-9876-F9EE-65D7E0F8D378}"/>
              </a:ext>
            </a:extLst>
          </p:cNvPr>
          <p:cNvSpPr txBox="1"/>
          <p:nvPr/>
        </p:nvSpPr>
        <p:spPr>
          <a:xfrm>
            <a:off x="487681" y="1491734"/>
            <a:ext cx="256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example of LR parsing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244937-CFE6-7F0D-7399-8C1D27C98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3519607"/>
            <a:ext cx="3570114" cy="31170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CE3D2E-AEF5-6F40-753B-393B81E3826A}"/>
              </a:ext>
            </a:extLst>
          </p:cNvPr>
          <p:cNvSpPr txBox="1"/>
          <p:nvPr/>
        </p:nvSpPr>
        <p:spPr>
          <a:xfrm>
            <a:off x="4267199" y="5424008"/>
            <a:ext cx="4663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Actions: </a:t>
            </a:r>
          </a:p>
          <a:p>
            <a:r>
              <a:rPr lang="en-US" dirty="0"/>
              <a:t>   Shift: </a:t>
            </a:r>
            <a:r>
              <a:rPr lang="en-US" b="1" dirty="0" err="1"/>
              <a:t>sn</a:t>
            </a:r>
            <a:r>
              <a:rPr lang="en-US" dirty="0"/>
              <a:t> , push state </a:t>
            </a:r>
            <a:r>
              <a:rPr lang="en-US" b="1" dirty="0"/>
              <a:t>n, </a:t>
            </a:r>
            <a:r>
              <a:rPr lang="en-US" dirty="0"/>
              <a:t>eat input token</a:t>
            </a:r>
          </a:p>
          <a:p>
            <a:r>
              <a:rPr lang="en-US" dirty="0"/>
              <a:t>   Reduce: </a:t>
            </a:r>
            <a:r>
              <a:rPr lang="en-US" b="1" dirty="0"/>
              <a:t>rm,</a:t>
            </a:r>
            <a:r>
              <a:rPr lang="en-US" dirty="0"/>
              <a:t> reduce with rule </a:t>
            </a:r>
            <a:r>
              <a:rPr lang="en-US" b="1" dirty="0"/>
              <a:t>m</a:t>
            </a:r>
          </a:p>
          <a:p>
            <a:r>
              <a:rPr lang="en-US" dirty="0"/>
              <a:t>   Accept: </a:t>
            </a:r>
            <a:r>
              <a:rPr lang="en-US" b="1" dirty="0"/>
              <a:t>acc</a:t>
            </a:r>
            <a:r>
              <a:rPr lang="en-US" dirty="0"/>
              <a:t>, indicates input string accepted.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E9205D-6E7E-EDDD-70BA-BAFD04581DC7}"/>
              </a:ext>
            </a:extLst>
          </p:cNvPr>
          <p:cNvSpPr txBox="1"/>
          <p:nvPr/>
        </p:nvSpPr>
        <p:spPr>
          <a:xfrm>
            <a:off x="2427405" y="2111057"/>
            <a:ext cx="1630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T:        *, +, 0, 1</a:t>
            </a:r>
          </a:p>
          <a:p>
            <a:r>
              <a:rPr lang="en-US" dirty="0"/>
              <a:t>NT:     E, B</a:t>
            </a:r>
          </a:p>
          <a:p>
            <a:r>
              <a:rPr lang="en-US" dirty="0"/>
              <a:t>Start:  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78DEE3-F502-B3C4-8AF9-38FB7B317DAB}"/>
              </a:ext>
            </a:extLst>
          </p:cNvPr>
          <p:cNvSpPr txBox="1"/>
          <p:nvPr/>
        </p:nvSpPr>
        <p:spPr>
          <a:xfrm>
            <a:off x="4267200" y="1491734"/>
            <a:ext cx="457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LR parsing maintains a stack of states.</a:t>
            </a:r>
          </a:p>
          <a:p>
            <a:r>
              <a:rPr lang="en-US" dirty="0"/>
              <a:t>There is a 1-to-1 correspondence:</a:t>
            </a:r>
          </a:p>
          <a:p>
            <a:r>
              <a:rPr lang="en-US" dirty="0"/>
              <a:t>each grammar symbol shifted/reduced to exactly one state pushed on the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84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EF2F-0564-598B-AFF2-72781BE6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5477AC0-0E26-4305-F310-87E022FB6233}"/>
              </a:ext>
            </a:extLst>
          </p:cNvPr>
          <p:cNvSpPr txBox="1"/>
          <p:nvPr/>
        </p:nvSpPr>
        <p:spPr>
          <a:xfrm>
            <a:off x="881269" y="594957"/>
            <a:ext cx="7924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Bottom-Up Parsing (Pseudo Code from EAC Ch3.4)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F6DDE-CA61-2480-B053-DF4755556C71}"/>
              </a:ext>
            </a:extLst>
          </p:cNvPr>
          <p:cNvSpPr txBox="1"/>
          <p:nvPr/>
        </p:nvSpPr>
        <p:spPr>
          <a:xfrm>
            <a:off x="6440555" y="2079280"/>
            <a:ext cx="236551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    S            : Expr</a:t>
            </a:r>
          </a:p>
          <a:p>
            <a:r>
              <a:rPr lang="en-US" sz="1350" dirty="0"/>
              <a:t>1. Expr     : Expr + Term</a:t>
            </a:r>
          </a:p>
          <a:p>
            <a:r>
              <a:rPr lang="en-US" sz="1350" dirty="0"/>
              <a:t>2.               | Expr - Term</a:t>
            </a:r>
          </a:p>
          <a:p>
            <a:r>
              <a:rPr lang="en-US" sz="1350" dirty="0"/>
              <a:t>3.               | Term</a:t>
            </a:r>
          </a:p>
          <a:p>
            <a:r>
              <a:rPr lang="en-US" sz="1350" dirty="0"/>
              <a:t>4. Term    : Term * Factor</a:t>
            </a:r>
          </a:p>
          <a:p>
            <a:r>
              <a:rPr lang="en-US" sz="1350" dirty="0"/>
              <a:t>5.                | term / Factor</a:t>
            </a:r>
          </a:p>
          <a:p>
            <a:r>
              <a:rPr lang="en-US" sz="1350" dirty="0"/>
              <a:t>6.                | Factor</a:t>
            </a:r>
          </a:p>
          <a:p>
            <a:r>
              <a:rPr lang="en-US" sz="1350" dirty="0"/>
              <a:t>7. Factor  : ( Expr )</a:t>
            </a:r>
          </a:p>
          <a:p>
            <a:pPr marL="257175" indent="-257175">
              <a:buAutoNum type="arabicPeriod" startAt="8"/>
            </a:pPr>
            <a:r>
              <a:rPr lang="en-US" sz="1350" dirty="0"/>
              <a:t>              | num</a:t>
            </a:r>
          </a:p>
          <a:p>
            <a:r>
              <a:rPr lang="en-US" sz="1350" dirty="0"/>
              <a:t>9.                 |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B1E48-4782-2969-3C57-B1F235FE5BF7}"/>
              </a:ext>
            </a:extLst>
          </p:cNvPr>
          <p:cNvSpPr txBox="1"/>
          <p:nvPr/>
        </p:nvSpPr>
        <p:spPr>
          <a:xfrm>
            <a:off x="1225417" y="1600228"/>
            <a:ext cx="4794383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latin typeface="Courier" pitchFamily="2" charset="0"/>
              </a:rPr>
              <a:t>push $;</a:t>
            </a:r>
          </a:p>
          <a:p>
            <a:r>
              <a:rPr lang="en-US" sz="1350" dirty="0">
                <a:latin typeface="Courier" pitchFamily="2" charset="0"/>
              </a:rPr>
              <a:t>push </a:t>
            </a:r>
            <a:r>
              <a:rPr lang="en-US" sz="1350" dirty="0" err="1">
                <a:latin typeface="Courier" pitchFamily="2" charset="0"/>
              </a:rPr>
              <a:t>start_state</a:t>
            </a:r>
            <a:r>
              <a:rPr lang="en-US" sz="1350" dirty="0">
                <a:latin typeface="Courier" pitchFamily="2" charset="0"/>
              </a:rPr>
              <a:t>: s</a:t>
            </a:r>
            <a:r>
              <a:rPr lang="en-US" sz="1350" baseline="-25000" dirty="0">
                <a:latin typeface="Courier" pitchFamily="2" charset="0"/>
              </a:rPr>
              <a:t>0</a:t>
            </a:r>
            <a:r>
              <a:rPr lang="en-US" sz="1350" dirty="0">
                <a:latin typeface="Courier" pitchFamily="2" charset="0"/>
              </a:rPr>
              <a:t>; </a:t>
            </a:r>
          </a:p>
          <a:p>
            <a:r>
              <a:rPr lang="en-US" sz="1350" dirty="0">
                <a:latin typeface="Courier" pitchFamily="2" charset="0"/>
              </a:rPr>
              <a:t>word = NextWord();</a:t>
            </a:r>
            <a:br>
              <a:rPr lang="en-US" sz="1350" dirty="0">
                <a:latin typeface="Courier" pitchFamily="2" charset="0"/>
              </a:rPr>
            </a:br>
            <a:endParaRPr lang="en-US" sz="1350" dirty="0">
              <a:latin typeface="Courier" pitchFamily="2" charset="0"/>
            </a:endParaRPr>
          </a:p>
          <a:p>
            <a:r>
              <a:rPr lang="en-US" sz="1350" b="1" dirty="0">
                <a:latin typeface="Courier" pitchFamily="2" charset="0"/>
              </a:rPr>
              <a:t>while</a:t>
            </a:r>
            <a:r>
              <a:rPr lang="en-US" sz="1350" dirty="0">
                <a:latin typeface="Courier" pitchFamily="2" charset="0"/>
              </a:rPr>
              <a:t> (true)do:</a:t>
            </a:r>
          </a:p>
          <a:p>
            <a:r>
              <a:rPr lang="en-US" sz="1350" dirty="0">
                <a:latin typeface="Courier" pitchFamily="2" charset="0"/>
              </a:rPr>
              <a:t>  state = </a:t>
            </a:r>
            <a:r>
              <a:rPr lang="en-US" sz="1350" dirty="0" err="1">
                <a:latin typeface="Courier" pitchFamily="2" charset="0"/>
              </a:rPr>
              <a:t>top_of_stack</a:t>
            </a:r>
            <a:endParaRPr lang="en-US" sz="1350" dirty="0">
              <a:latin typeface="Courier" pitchFamily="2" charset="0"/>
            </a:endParaRPr>
          </a:p>
          <a:p>
            <a:r>
              <a:rPr lang="en-US" sz="1350" dirty="0">
                <a:latin typeface="Courier" pitchFamily="2" charset="0"/>
              </a:rPr>
              <a:t>  if (Action[</a:t>
            </a:r>
            <a:r>
              <a:rPr lang="en-US" sz="1350" dirty="0" err="1">
                <a:latin typeface="Courier" pitchFamily="2" charset="0"/>
              </a:rPr>
              <a:t>state.word</a:t>
            </a:r>
            <a:r>
              <a:rPr lang="en-US" sz="1350" dirty="0">
                <a:latin typeface="Courier" pitchFamily="2" charset="0"/>
              </a:rPr>
              <a:t>] = “reduce A::=b”):</a:t>
            </a:r>
          </a:p>
          <a:p>
            <a:r>
              <a:rPr lang="en-US" sz="1350" dirty="0">
                <a:latin typeface="Courier" pitchFamily="2" charset="0"/>
              </a:rPr>
              <a:t>     pop 2 * |b| symbols;</a:t>
            </a:r>
          </a:p>
          <a:p>
            <a:r>
              <a:rPr lang="en-US" sz="1350" dirty="0">
                <a:latin typeface="Courier" pitchFamily="2" charset="0"/>
              </a:rPr>
              <a:t>     state = </a:t>
            </a:r>
            <a:r>
              <a:rPr lang="en-US" sz="1350" dirty="0" err="1">
                <a:latin typeface="Courier" pitchFamily="2" charset="0"/>
              </a:rPr>
              <a:t>top_of_stack</a:t>
            </a:r>
            <a:endParaRPr lang="en-US" sz="1350" dirty="0">
              <a:latin typeface="Courier" pitchFamily="2" charset="0"/>
            </a:endParaRPr>
          </a:p>
          <a:p>
            <a:r>
              <a:rPr lang="en-US" sz="1350" dirty="0">
                <a:latin typeface="Courier" pitchFamily="2" charset="0"/>
              </a:rPr>
              <a:t>     push A;</a:t>
            </a:r>
          </a:p>
          <a:p>
            <a:r>
              <a:rPr lang="en-US" sz="1350" dirty="0">
                <a:latin typeface="Courier" pitchFamily="2" charset="0"/>
              </a:rPr>
              <a:t>     push Goto[state, A];</a:t>
            </a:r>
          </a:p>
          <a:p>
            <a:r>
              <a:rPr lang="en-US" sz="1350" dirty="0">
                <a:latin typeface="Courier" pitchFamily="2" charset="0"/>
              </a:rPr>
              <a:t>  </a:t>
            </a:r>
            <a:r>
              <a:rPr lang="en-US" sz="1350" dirty="0" err="1">
                <a:latin typeface="Courier" pitchFamily="2" charset="0"/>
              </a:rPr>
              <a:t>elif</a:t>
            </a:r>
            <a:r>
              <a:rPr lang="en-US" sz="1350" dirty="0">
                <a:latin typeface="Courier" pitchFamily="2" charset="0"/>
              </a:rPr>
              <a:t> (Action[</a:t>
            </a:r>
            <a:r>
              <a:rPr lang="en-US" sz="1350" dirty="0" err="1">
                <a:latin typeface="Courier" pitchFamily="2" charset="0"/>
              </a:rPr>
              <a:t>state.word</a:t>
            </a:r>
            <a:r>
              <a:rPr lang="en-US" sz="1350" dirty="0">
                <a:latin typeface="Courier" pitchFamily="2" charset="0"/>
              </a:rPr>
              <a:t>] = “shift </a:t>
            </a:r>
            <a:r>
              <a:rPr lang="en-US" sz="1350" dirty="0" err="1">
                <a:latin typeface="Courier" pitchFamily="2" charset="0"/>
              </a:rPr>
              <a:t>s</a:t>
            </a:r>
            <a:r>
              <a:rPr lang="en-US" sz="1350" baseline="-25000" dirty="0" err="1">
                <a:latin typeface="Courier" pitchFamily="2" charset="0"/>
              </a:rPr>
              <a:t>i</a:t>
            </a:r>
            <a:r>
              <a:rPr lang="en-US" sz="1350" dirty="0">
                <a:latin typeface="Courier" pitchFamily="2" charset="0"/>
              </a:rPr>
              <a:t>”):</a:t>
            </a:r>
          </a:p>
          <a:p>
            <a:r>
              <a:rPr lang="en-US" sz="1350" dirty="0">
                <a:latin typeface="Courier" pitchFamily="2" charset="0"/>
              </a:rPr>
              <a:t>     push word;</a:t>
            </a:r>
          </a:p>
          <a:p>
            <a:r>
              <a:rPr lang="en-US" sz="1350" dirty="0">
                <a:latin typeface="Courier" pitchFamily="2" charset="0"/>
              </a:rPr>
              <a:t>     push </a:t>
            </a:r>
            <a:r>
              <a:rPr lang="en-US" sz="1350" dirty="0" err="1">
                <a:latin typeface="Courier" pitchFamily="2" charset="0"/>
              </a:rPr>
              <a:t>s</a:t>
            </a:r>
            <a:r>
              <a:rPr lang="en-US" sz="1350" baseline="-25000" dirty="0" err="1">
                <a:latin typeface="Courier" pitchFamily="2" charset="0"/>
              </a:rPr>
              <a:t>i</a:t>
            </a:r>
            <a:r>
              <a:rPr lang="en-US" sz="1350" dirty="0">
                <a:latin typeface="Courier" pitchFamily="2" charset="0"/>
              </a:rPr>
              <a:t>;</a:t>
            </a:r>
          </a:p>
          <a:p>
            <a:r>
              <a:rPr lang="en-US" sz="1350" dirty="0">
                <a:latin typeface="Courier" pitchFamily="2" charset="0"/>
              </a:rPr>
              <a:t>     word = NextWord();</a:t>
            </a:r>
          </a:p>
          <a:p>
            <a:r>
              <a:rPr lang="en-US" sz="1350" dirty="0">
                <a:latin typeface="Courier" pitchFamily="2" charset="0"/>
              </a:rPr>
              <a:t>  </a:t>
            </a:r>
            <a:r>
              <a:rPr lang="en-US" sz="1350" dirty="0" err="1">
                <a:latin typeface="Courier" pitchFamily="2" charset="0"/>
              </a:rPr>
              <a:t>elif</a:t>
            </a:r>
            <a:r>
              <a:rPr lang="en-US" sz="1350" dirty="0">
                <a:latin typeface="Courier" pitchFamily="2" charset="0"/>
              </a:rPr>
              <a:t> (Action[</a:t>
            </a:r>
            <a:r>
              <a:rPr lang="en-US" sz="1350" dirty="0" err="1">
                <a:latin typeface="Courier" pitchFamily="2" charset="0"/>
              </a:rPr>
              <a:t>state.word</a:t>
            </a:r>
            <a:r>
              <a:rPr lang="en-US" sz="1350" dirty="0">
                <a:latin typeface="Courier" pitchFamily="2" charset="0"/>
              </a:rPr>
              <a:t>] = “accept”):</a:t>
            </a:r>
          </a:p>
          <a:p>
            <a:r>
              <a:rPr lang="en-US" sz="1350" dirty="0">
                <a:latin typeface="Courier" pitchFamily="2" charset="0"/>
              </a:rPr>
              <a:t>     break</a:t>
            </a:r>
          </a:p>
          <a:p>
            <a:r>
              <a:rPr lang="en-US" sz="1350" dirty="0">
                <a:latin typeface="Courier" pitchFamily="2" charset="0"/>
              </a:rPr>
              <a:t>  else:</a:t>
            </a:r>
          </a:p>
          <a:p>
            <a:r>
              <a:rPr lang="en-US" sz="1350" dirty="0">
                <a:latin typeface="Courier" pitchFamily="2" charset="0"/>
              </a:rPr>
              <a:t>     Fail();</a:t>
            </a:r>
          </a:p>
          <a:p>
            <a:r>
              <a:rPr lang="en-US" sz="1350" dirty="0" err="1">
                <a:latin typeface="Courier" pitchFamily="2" charset="0"/>
              </a:rPr>
              <a:t>report_success</a:t>
            </a:r>
            <a:endParaRPr lang="en-US" sz="1350" dirty="0">
              <a:latin typeface="Courier" pitchFamily="2" charset="0"/>
            </a:endParaRPr>
          </a:p>
          <a:p>
            <a:r>
              <a:rPr lang="en-US" sz="1350" dirty="0">
                <a:latin typeface="Courier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0833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A9F6-13A9-0279-808C-C9AE23C0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797F3FE8-4325-AA2D-0D62-49D303F96AA9}"/>
              </a:ext>
            </a:extLst>
          </p:cNvPr>
          <p:cNvSpPr txBox="1"/>
          <p:nvPr/>
        </p:nvSpPr>
        <p:spPr>
          <a:xfrm>
            <a:off x="914400" y="231592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Bottom-Up Parsing (Pseudo Code from EAC Ch3.4)</a:t>
            </a:r>
          </a:p>
          <a:p>
            <a:r>
              <a:rPr lang="en-US" sz="2700" dirty="0"/>
              <a:t>                        re-written for clarity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AA7BB-F812-6AF7-EB88-D2C0E2B59EEF}"/>
              </a:ext>
            </a:extLst>
          </p:cNvPr>
          <p:cNvSpPr txBox="1"/>
          <p:nvPr/>
        </p:nvSpPr>
        <p:spPr>
          <a:xfrm>
            <a:off x="6858000" y="1583740"/>
            <a:ext cx="210046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    S            : Expr</a:t>
            </a:r>
          </a:p>
          <a:p>
            <a:r>
              <a:rPr lang="en-US" sz="1350" dirty="0"/>
              <a:t>1. Expr     : Expr + Term</a:t>
            </a:r>
          </a:p>
          <a:p>
            <a:r>
              <a:rPr lang="en-US" sz="1350" dirty="0"/>
              <a:t>2.               | Expr - Term</a:t>
            </a:r>
          </a:p>
          <a:p>
            <a:r>
              <a:rPr lang="en-US" sz="1350" dirty="0"/>
              <a:t>3.               | Term</a:t>
            </a:r>
          </a:p>
          <a:p>
            <a:r>
              <a:rPr lang="en-US" sz="1350" dirty="0"/>
              <a:t>4. Term    : Term * Factor</a:t>
            </a:r>
          </a:p>
          <a:p>
            <a:r>
              <a:rPr lang="en-US" sz="1350" dirty="0"/>
              <a:t>5.                | term / Factor</a:t>
            </a:r>
          </a:p>
          <a:p>
            <a:r>
              <a:rPr lang="en-US" sz="1350" dirty="0"/>
              <a:t>6.                | Factor</a:t>
            </a:r>
          </a:p>
          <a:p>
            <a:r>
              <a:rPr lang="en-US" sz="1350" dirty="0"/>
              <a:t>7. Factor  : ( Expr )</a:t>
            </a:r>
          </a:p>
          <a:p>
            <a:pPr marL="257175" indent="-257175">
              <a:buAutoNum type="arabicPeriod" startAt="8"/>
            </a:pPr>
            <a:r>
              <a:rPr lang="en-US" sz="1350" dirty="0"/>
              <a:t>              | num</a:t>
            </a:r>
          </a:p>
          <a:p>
            <a:r>
              <a:rPr lang="en-US" sz="1350" dirty="0"/>
              <a:t>9.                 |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08BE8-688B-D81D-06B6-1825743D1965}"/>
              </a:ext>
            </a:extLst>
          </p:cNvPr>
          <p:cNvSpPr txBox="1"/>
          <p:nvPr/>
        </p:nvSpPr>
        <p:spPr>
          <a:xfrm>
            <a:off x="533400" y="1563484"/>
            <a:ext cx="6172200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# Initialize stack with start state and end marker</a:t>
            </a:r>
          </a:p>
          <a:p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stack = [(s0, None)]   # None means no symbol yet</a:t>
            </a:r>
          </a:p>
          <a:p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lookahead = </a:t>
            </a:r>
            <a:r>
              <a:rPr lang="en-US" sz="1200" dirty="0" err="1">
                <a:highlight>
                  <a:srgbClr val="FFFF00"/>
                </a:highlight>
                <a:latin typeface="Courier" pitchFamily="2" charset="0"/>
              </a:rPr>
              <a:t>NextWord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() # first input symbol</a:t>
            </a:r>
          </a:p>
          <a:p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while True:</a:t>
            </a:r>
          </a:p>
          <a:p>
            <a:r>
              <a:rPr lang="en-US" sz="1200" dirty="0">
                <a:latin typeface="Courier" pitchFamily="2" charset="0"/>
              </a:rPr>
              <a:t>    # Get the current parser state from top of stack</a:t>
            </a:r>
          </a:p>
          <a:p>
            <a:r>
              <a:rPr lang="en-US" sz="1200" dirty="0">
                <a:latin typeface="Courier" pitchFamily="2" charset="0"/>
              </a:rPr>
              <a:t>    state = stack[-1][0]  # top tuple: (state, symbol)</a:t>
            </a:r>
          </a:p>
          <a:p>
            <a:r>
              <a:rPr lang="en-US" sz="1200" dirty="0">
                <a:latin typeface="Courier" pitchFamily="2" charset="0"/>
              </a:rPr>
              <a:t>    # Look up action in the parsing table using (</a:t>
            </a:r>
            <a:r>
              <a:rPr lang="en-US" sz="1200" dirty="0" err="1">
                <a:latin typeface="Courier" pitchFamily="2" charset="0"/>
              </a:rPr>
              <a:t>state,lookahead</a:t>
            </a:r>
            <a:r>
              <a:rPr lang="en-US" sz="1200" dirty="0">
                <a:latin typeface="Courier" pitchFamily="2" charset="0"/>
              </a:rPr>
              <a:t>)</a:t>
            </a:r>
          </a:p>
          <a:p>
            <a:r>
              <a:rPr lang="en-US" sz="1200" dirty="0">
                <a:latin typeface="Courier" pitchFamily="2" charset="0"/>
              </a:rPr>
              <a:t>    action = Action[state, lookahead]</a:t>
            </a:r>
          </a:p>
          <a:p>
            <a:r>
              <a:rPr lang="en-US" sz="1200" dirty="0">
                <a:latin typeface="Courier" pitchFamily="2" charset="0"/>
              </a:rPr>
              <a:t>    if </a:t>
            </a:r>
            <a:r>
              <a:rPr lang="en-US" sz="1200" b="1" dirty="0">
                <a:highlight>
                  <a:srgbClr val="00FF00"/>
                </a:highlight>
                <a:latin typeface="Courier" pitchFamily="2" charset="0"/>
              </a:rPr>
              <a:t>action is "reduce A -&gt; β":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# Pop 2 * |β| elements (state, symbol pairs) for RHS</a:t>
            </a:r>
          </a:p>
          <a:p>
            <a:r>
              <a:rPr lang="en-US" sz="1200" dirty="0">
                <a:latin typeface="Courier" pitchFamily="2" charset="0"/>
              </a:rPr>
              <a:t>        for </a:t>
            </a:r>
            <a:r>
              <a:rPr lang="en-US" sz="1200" dirty="0" err="1">
                <a:latin typeface="Courier" pitchFamily="2" charset="0"/>
              </a:rPr>
              <a:t>i</a:t>
            </a:r>
            <a:r>
              <a:rPr lang="en-US" sz="1200" dirty="0">
                <a:latin typeface="Courier" pitchFamily="2" charset="0"/>
              </a:rPr>
              <a:t> in range(</a:t>
            </a:r>
            <a:r>
              <a:rPr lang="en-US" sz="1200" dirty="0" err="1">
                <a:latin typeface="Courier" pitchFamily="2" charset="0"/>
              </a:rPr>
              <a:t>len</a:t>
            </a:r>
            <a:r>
              <a:rPr lang="en-US" sz="1200" dirty="0">
                <a:latin typeface="Courier" pitchFamily="2" charset="0"/>
              </a:rPr>
              <a:t>(β)):</a:t>
            </a:r>
          </a:p>
          <a:p>
            <a:r>
              <a:rPr lang="en-US" sz="1200" dirty="0">
                <a:latin typeface="Courier" pitchFamily="2" charset="0"/>
              </a:rPr>
              <a:t>            </a:t>
            </a:r>
            <a:r>
              <a:rPr lang="en-US" sz="1200" dirty="0" err="1">
                <a:latin typeface="Courier" pitchFamily="2" charset="0"/>
              </a:rPr>
              <a:t>stack.pop</a:t>
            </a:r>
            <a:r>
              <a:rPr lang="en-US" sz="1200" dirty="0">
                <a:latin typeface="Courier" pitchFamily="2" charset="0"/>
              </a:rPr>
              <a:t>()</a:t>
            </a:r>
          </a:p>
          <a:p>
            <a:r>
              <a:rPr lang="en-US" sz="1200" dirty="0">
                <a:latin typeface="Courier" pitchFamily="2" charset="0"/>
              </a:rPr>
              <a:t>        # Top of stack is now the state before β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ourier" pitchFamily="2" charset="0"/>
              </a:rPr>
              <a:t>prev_state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 = stack[-1][0]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# Push LHS nonterminal A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b="1" dirty="0" err="1">
                <a:highlight>
                  <a:srgbClr val="FFFF00"/>
                </a:highlight>
                <a:latin typeface="Courier" pitchFamily="2" charset="0"/>
              </a:rPr>
              <a:t>stack.append</a:t>
            </a:r>
            <a:r>
              <a:rPr lang="en-US" sz="1200" b="1" dirty="0">
                <a:highlight>
                  <a:srgbClr val="FFFF00"/>
                </a:highlight>
                <a:latin typeface="Courier" pitchFamily="2" charset="0"/>
              </a:rPr>
              <a:t>((Goto[</a:t>
            </a:r>
            <a:r>
              <a:rPr lang="en-US" sz="1200" b="1" dirty="0" err="1">
                <a:highlight>
                  <a:srgbClr val="FFFF00"/>
                </a:highlight>
                <a:latin typeface="Courier" pitchFamily="2" charset="0"/>
              </a:rPr>
              <a:t>prev_state</a:t>
            </a:r>
            <a:r>
              <a:rPr lang="en-US" sz="1200" b="1" dirty="0">
                <a:highlight>
                  <a:srgbClr val="FFFF00"/>
                </a:highlight>
                <a:latin typeface="Courier" pitchFamily="2" charset="0"/>
              </a:rPr>
              <a:t>, A], A))</a:t>
            </a:r>
            <a:r>
              <a:rPr lang="en-US" sz="1200" dirty="0">
                <a:latin typeface="Courier" pitchFamily="2" charset="0"/>
              </a:rPr>
              <a:t>        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elif</a:t>
            </a: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highlight>
                  <a:srgbClr val="00FF00"/>
                </a:highlight>
                <a:latin typeface="Courier" pitchFamily="2" charset="0"/>
              </a:rPr>
              <a:t>action is "shift </a:t>
            </a:r>
            <a:r>
              <a:rPr lang="en-US" sz="1200" dirty="0" err="1">
                <a:highlight>
                  <a:srgbClr val="00FF00"/>
                </a:highlight>
                <a:latin typeface="Courier" pitchFamily="2" charset="0"/>
              </a:rPr>
              <a:t>s_i</a:t>
            </a:r>
            <a:r>
              <a:rPr lang="en-US" sz="1200" dirty="0">
                <a:highlight>
                  <a:srgbClr val="00FF00"/>
                </a:highlight>
                <a:latin typeface="Courier" pitchFamily="2" charset="0"/>
              </a:rPr>
              <a:t>":</a:t>
            </a:r>
          </a:p>
          <a:p>
            <a:r>
              <a:rPr lang="en-US" sz="1200" dirty="0">
                <a:latin typeface="Courier" pitchFamily="2" charset="0"/>
              </a:rPr>
              <a:t>        # Push the terminal and new state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ourier" pitchFamily="2" charset="0"/>
              </a:rPr>
              <a:t>stack.append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((</a:t>
            </a:r>
            <a:r>
              <a:rPr lang="en-US" sz="1200" dirty="0" err="1">
                <a:highlight>
                  <a:srgbClr val="FFFF00"/>
                </a:highlight>
                <a:latin typeface="Courier" pitchFamily="2" charset="0"/>
              </a:rPr>
              <a:t>s_i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, lookahead))</a:t>
            </a:r>
            <a:r>
              <a:rPr lang="en-US" sz="1200" dirty="0">
                <a:latin typeface="Courier" pitchFamily="2" charset="0"/>
              </a:rPr>
              <a:t>        </a:t>
            </a:r>
          </a:p>
          <a:p>
            <a:r>
              <a:rPr lang="en-US" sz="1200" dirty="0">
                <a:latin typeface="Courier" pitchFamily="2" charset="0"/>
              </a:rPr>
              <a:t>        # Advance input</a:t>
            </a:r>
          </a:p>
          <a:p>
            <a:r>
              <a:rPr lang="en-US" sz="1200" dirty="0">
                <a:latin typeface="Courier" pitchFamily="2" charset="0"/>
              </a:rPr>
              <a:t>        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lookahead = </a:t>
            </a:r>
            <a:r>
              <a:rPr lang="en-US" sz="1200" dirty="0" err="1">
                <a:highlight>
                  <a:srgbClr val="FFFF00"/>
                </a:highlight>
                <a:latin typeface="Courier" pitchFamily="2" charset="0"/>
              </a:rPr>
              <a:t>NextWord</a:t>
            </a:r>
            <a:r>
              <a:rPr lang="en-US" sz="1200" dirty="0">
                <a:highlight>
                  <a:srgbClr val="FFFF00"/>
                </a:highlight>
                <a:latin typeface="Courier" pitchFamily="2" charset="0"/>
              </a:rPr>
              <a:t>()</a:t>
            </a:r>
            <a:r>
              <a:rPr lang="en-US" sz="1200" dirty="0">
                <a:latin typeface="Courier" pitchFamily="2" charset="0"/>
              </a:rPr>
              <a:t>       </a:t>
            </a:r>
          </a:p>
          <a:p>
            <a:r>
              <a:rPr lang="en-US" sz="1200" dirty="0">
                <a:latin typeface="Courier" pitchFamily="2" charset="0"/>
              </a:rPr>
              <a:t>    </a:t>
            </a:r>
            <a:r>
              <a:rPr lang="en-US" sz="1200" dirty="0" err="1">
                <a:latin typeface="Courier" pitchFamily="2" charset="0"/>
              </a:rPr>
              <a:t>elif</a:t>
            </a: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highlight>
                  <a:srgbClr val="00FF00"/>
                </a:highlight>
                <a:latin typeface="Courier" pitchFamily="2" charset="0"/>
              </a:rPr>
              <a:t>action is "accept":</a:t>
            </a:r>
          </a:p>
          <a:p>
            <a:r>
              <a:rPr lang="en-US" sz="1200" dirty="0">
                <a:latin typeface="Courier" pitchFamily="2" charset="0"/>
              </a:rPr>
              <a:t>        break   </a:t>
            </a:r>
          </a:p>
          <a:p>
            <a:r>
              <a:rPr lang="en-US" sz="1200" dirty="0">
                <a:latin typeface="Courier" pitchFamily="2" charset="0"/>
              </a:rPr>
              <a:t>    else:</a:t>
            </a:r>
          </a:p>
          <a:p>
            <a:r>
              <a:rPr lang="en-US" sz="1200" dirty="0">
                <a:latin typeface="Courier" pitchFamily="2" charset="0"/>
              </a:rPr>
              <a:t>        Fail()  # syntax error</a:t>
            </a:r>
          </a:p>
          <a:p>
            <a:endParaRPr lang="en-US" sz="11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5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4253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An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Introductory</a:t>
            </a:r>
            <a:r>
              <a:rPr sz="2800" b="1" spc="-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Example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017509" cy="464319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4965" marR="991869" indent="-342900">
              <a:lnSpc>
                <a:spcPct val="101200"/>
              </a:lnSpc>
              <a:spcBef>
                <a:spcPts val="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Bottom-up </a:t>
            </a:r>
            <a:r>
              <a:rPr sz="2800" dirty="0">
                <a:latin typeface="Helvetica"/>
                <a:cs typeface="Helvetica"/>
              </a:rPr>
              <a:t>parsers don’t need </a:t>
            </a:r>
            <a:r>
              <a:rPr sz="2800" spc="-5" dirty="0">
                <a:latin typeface="Helvetica"/>
                <a:cs typeface="Helvetica"/>
              </a:rPr>
              <a:t>left-factored  </a:t>
            </a:r>
            <a:r>
              <a:rPr sz="2800" dirty="0">
                <a:latin typeface="Helvetica"/>
                <a:cs typeface="Helvetica"/>
              </a:rPr>
              <a:t>grammars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Helvetica"/>
              <a:buChar char="•"/>
            </a:pPr>
            <a:endParaRPr sz="4100" dirty="0">
              <a:latin typeface="Helvetica"/>
              <a:cs typeface="Helvetic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Revert </a:t>
            </a:r>
            <a:r>
              <a:rPr sz="2800" spc="-5" dirty="0">
                <a:latin typeface="Helvetica"/>
                <a:cs typeface="Helvetica"/>
              </a:rPr>
              <a:t>to the 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Helvetica"/>
                <a:cs typeface="Helvetica"/>
              </a:rPr>
              <a:t>natural</a:t>
            </a:r>
            <a:r>
              <a:rPr sz="2800" spc="-5" dirty="0">
                <a:latin typeface="Arial"/>
                <a:cs typeface="Arial"/>
              </a:rPr>
              <a:t>” </a:t>
            </a:r>
            <a:r>
              <a:rPr sz="2800" dirty="0">
                <a:latin typeface="Helvetica"/>
                <a:cs typeface="Helvetica"/>
              </a:rPr>
              <a:t>grammar </a:t>
            </a:r>
            <a:r>
              <a:rPr sz="2800" spc="-5" dirty="0">
                <a:latin typeface="Helvetica"/>
                <a:cs typeface="Helvetica"/>
              </a:rPr>
              <a:t>for </a:t>
            </a:r>
            <a:r>
              <a:rPr sz="2800" dirty="0">
                <a:latin typeface="Helvetica"/>
                <a:cs typeface="Helvetica"/>
              </a:rPr>
              <a:t>our</a:t>
            </a:r>
            <a:r>
              <a:rPr sz="2800" spc="-50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example:</a:t>
            </a:r>
          </a:p>
          <a:p>
            <a:pPr marL="927100">
              <a:lnSpc>
                <a:spcPct val="100000"/>
              </a:lnSpc>
              <a:spcBef>
                <a:spcPts val="12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+ E </a:t>
            </a:r>
            <a:endParaRPr lang="en-US" sz="2400" dirty="0">
              <a:solidFill>
                <a:srgbClr val="3333CC"/>
              </a:solidFill>
              <a:latin typeface="Helvetica"/>
              <a:cs typeface="Helvetica"/>
            </a:endParaRPr>
          </a:p>
          <a:p>
            <a:pPr marL="927100">
              <a:lnSpc>
                <a:spcPct val="100000"/>
              </a:lnSpc>
              <a:spcBef>
                <a:spcPts val="125"/>
              </a:spcBef>
            </a:pPr>
            <a:r>
              <a:rPr lang="en-US" sz="2400" dirty="0">
                <a:solidFill>
                  <a:srgbClr val="3333CC"/>
                </a:solidFill>
                <a:latin typeface="Helvetica"/>
                <a:cs typeface="Helvetica"/>
              </a:rPr>
              <a:t>    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|</a:t>
            </a:r>
            <a:r>
              <a:rPr sz="2400" spc="-1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400" dirty="0">
              <a:latin typeface="Helvetica"/>
              <a:cs typeface="Helvetica"/>
            </a:endParaRPr>
          </a:p>
          <a:p>
            <a:pPr marL="927100">
              <a:lnSpc>
                <a:spcPct val="100000"/>
              </a:lnSpc>
              <a:spcBef>
                <a:spcPts val="18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 * T </a:t>
            </a:r>
            <a:endParaRPr lang="en-US" sz="2400" dirty="0">
              <a:solidFill>
                <a:srgbClr val="3333CC"/>
              </a:solidFill>
              <a:latin typeface="Helvetica"/>
              <a:cs typeface="Helvetica"/>
            </a:endParaRPr>
          </a:p>
          <a:p>
            <a:pPr marL="927100">
              <a:lnSpc>
                <a:spcPct val="100000"/>
              </a:lnSpc>
              <a:spcBef>
                <a:spcPts val="185"/>
              </a:spcBef>
            </a:pPr>
            <a:r>
              <a:rPr lang="en-US" sz="2400" dirty="0">
                <a:solidFill>
                  <a:srgbClr val="3333CC"/>
                </a:solidFill>
                <a:latin typeface="Helvetica"/>
                <a:cs typeface="Helvetica"/>
              </a:rPr>
              <a:t>    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| int </a:t>
            </a:r>
            <a:endParaRPr lang="en-US" sz="2400" dirty="0">
              <a:solidFill>
                <a:srgbClr val="3333CC"/>
              </a:solidFill>
              <a:latin typeface="Helvetica"/>
              <a:cs typeface="Helvetica"/>
            </a:endParaRPr>
          </a:p>
          <a:p>
            <a:pPr marL="927100">
              <a:lnSpc>
                <a:spcPct val="100000"/>
              </a:lnSpc>
              <a:spcBef>
                <a:spcPts val="185"/>
              </a:spcBef>
            </a:pPr>
            <a:r>
              <a:rPr lang="en-US" sz="2400" dirty="0">
                <a:solidFill>
                  <a:srgbClr val="3333CC"/>
                </a:solidFill>
                <a:latin typeface="Helvetica"/>
                <a:cs typeface="Helvetica"/>
              </a:rPr>
              <a:t>    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|</a:t>
            </a:r>
            <a:r>
              <a:rPr sz="24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5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 dirty="0">
              <a:latin typeface="Helvetica"/>
              <a:cs typeface="Helvetic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Consider </a:t>
            </a:r>
            <a:r>
              <a:rPr sz="2800" spc="-5" dirty="0">
                <a:latin typeface="Helvetica"/>
                <a:cs typeface="Helvetica"/>
              </a:rPr>
              <a:t>the string: 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2800" spc="-2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8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4681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The</a:t>
            </a:r>
            <a:r>
              <a:rPr sz="2800" b="1" spc="-9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Idea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40779" y="1627638"/>
            <a:ext cx="7339330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300480" marR="5080" indent="-1288415">
              <a:lnSpc>
                <a:spcPct val="101200"/>
              </a:lnSpc>
              <a:spcBef>
                <a:spcPts val="60"/>
              </a:spcBef>
            </a:pPr>
            <a:r>
              <a:rPr sz="2800" spc="-5" dirty="0">
                <a:latin typeface="Helvetica"/>
                <a:cs typeface="Helvetica"/>
              </a:rPr>
              <a:t>Bottom-up </a:t>
            </a:r>
            <a:r>
              <a:rPr sz="2800" dirty="0">
                <a:latin typeface="Helvetica"/>
                <a:cs typeface="Helvetica"/>
              </a:rPr>
              <a:t>parsing reduces a </a:t>
            </a:r>
            <a:r>
              <a:rPr sz="2800" spc="-5" dirty="0">
                <a:latin typeface="Helvetica"/>
                <a:cs typeface="Helvetica"/>
              </a:rPr>
              <a:t>string to the start  </a:t>
            </a:r>
            <a:r>
              <a:rPr sz="2800" dirty="0">
                <a:latin typeface="Helvetica"/>
                <a:cs typeface="Helvetica"/>
              </a:rPr>
              <a:t>symbol by </a:t>
            </a:r>
            <a:r>
              <a:rPr sz="2800" spc="-5" dirty="0">
                <a:latin typeface="Helvetica"/>
                <a:cs typeface="Helvetica"/>
              </a:rPr>
              <a:t>inverting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productions: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1370" y="2800708"/>
            <a:ext cx="1458595" cy="249301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spc="-1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400">
              <a:latin typeface="Helvetica"/>
              <a:cs typeface="Helvetica"/>
            </a:endParaRPr>
          </a:p>
          <a:p>
            <a:pPr marL="12700" marR="5080">
              <a:lnSpc>
                <a:spcPct val="134900"/>
              </a:lnSpc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*</a:t>
            </a:r>
            <a:r>
              <a:rPr sz="2400" spc="-18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 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24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9570" y="2800708"/>
            <a:ext cx="1626870" cy="298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900"/>
              </a:lnSpc>
              <a:spcBef>
                <a:spcPts val="100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24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  int * T + int  T +</a:t>
            </a:r>
            <a:r>
              <a:rPr sz="2400" spc="-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400">
              <a:latin typeface="Helvetica"/>
              <a:cs typeface="Helvetica"/>
            </a:endParaRPr>
          </a:p>
          <a:p>
            <a:pPr marL="12700" marR="874394" algn="just">
              <a:lnSpc>
                <a:spcPct val="134900"/>
              </a:lnSpc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2400" spc="-18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 T +</a:t>
            </a:r>
            <a:r>
              <a:rPr sz="2400" spc="-14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 E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2100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Observation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537214"/>
            <a:ext cx="7820659" cy="10598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Read </a:t>
            </a:r>
            <a:r>
              <a:rPr sz="2800" spc="-5" dirty="0">
                <a:latin typeface="Helvetica"/>
                <a:cs typeface="Helvetica"/>
              </a:rPr>
              <a:t>the productions </a:t>
            </a:r>
            <a:r>
              <a:rPr sz="2800" dirty="0">
                <a:latin typeface="Helvetica"/>
                <a:cs typeface="Helvetica"/>
              </a:rPr>
              <a:t>in reverse </a:t>
            </a:r>
            <a:r>
              <a:rPr sz="2800" spc="-5" dirty="0">
                <a:latin typeface="Helvetica"/>
                <a:cs typeface="Helvetica"/>
              </a:rPr>
              <a:t>(bottom to</a:t>
            </a:r>
            <a:r>
              <a:rPr sz="2800" spc="5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top)</a:t>
            </a:r>
            <a:endParaRPr sz="2800">
              <a:latin typeface="Helvetica"/>
              <a:cs typeface="Helvetica"/>
            </a:endParaRP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This </a:t>
            </a:r>
            <a:r>
              <a:rPr sz="2800" dirty="0">
                <a:latin typeface="Helvetica"/>
                <a:cs typeface="Helvetica"/>
              </a:rPr>
              <a:t>is a reverse </a:t>
            </a:r>
            <a:r>
              <a:rPr sz="2800" spc="-5" dirty="0">
                <a:latin typeface="Helvetica"/>
                <a:cs typeface="Helvetica"/>
              </a:rPr>
              <a:t>rightmost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derivation!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1370" y="2800708"/>
            <a:ext cx="1458595" cy="249301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spc="-1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400">
              <a:latin typeface="Helvetica"/>
              <a:cs typeface="Helvetica"/>
            </a:endParaRPr>
          </a:p>
          <a:p>
            <a:pPr marL="12700" marR="5080">
              <a:lnSpc>
                <a:spcPct val="134900"/>
              </a:lnSpc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*</a:t>
            </a:r>
            <a:r>
              <a:rPr sz="2400" spc="-18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 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24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9570" y="2800708"/>
            <a:ext cx="1626870" cy="298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900"/>
              </a:lnSpc>
              <a:spcBef>
                <a:spcPts val="100"/>
              </a:spcBef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 * </a:t>
            </a:r>
            <a:r>
              <a:rPr sz="2400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int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 +</a:t>
            </a:r>
            <a:r>
              <a:rPr sz="24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  </a:t>
            </a:r>
            <a:r>
              <a:rPr sz="2400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int * T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+ int  T +</a:t>
            </a:r>
            <a:r>
              <a:rPr sz="2400" spc="-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int</a:t>
            </a:r>
            <a:endParaRPr sz="2400" dirty="0">
              <a:highlight>
                <a:srgbClr val="FFFF00"/>
              </a:highlight>
              <a:latin typeface="Helvetica"/>
              <a:cs typeface="Helvetica"/>
            </a:endParaRPr>
          </a:p>
          <a:p>
            <a:pPr marL="12700" marR="874394" algn="just">
              <a:lnSpc>
                <a:spcPct val="134900"/>
              </a:lnSpc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2400" spc="-18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T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  </a:t>
            </a:r>
            <a:r>
              <a:rPr sz="2400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T +</a:t>
            </a:r>
            <a:r>
              <a:rPr sz="2400" spc="-145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E 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24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2989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cs typeface="Helvetica"/>
              </a:rPr>
              <a:t>Important Fact</a:t>
            </a:r>
            <a:r>
              <a:rPr sz="2800" b="1" spc="-65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cs typeface="Helvetica"/>
              </a:rPr>
              <a:t>#1</a:t>
            </a:r>
            <a:endParaRPr sz="2800" dirty="0">
              <a:highlight>
                <a:srgbClr val="FFFF00"/>
              </a:highlight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2144782"/>
            <a:ext cx="8115934" cy="2736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Helvetica"/>
                <a:cs typeface="Helvetica"/>
              </a:rPr>
              <a:t>Important Fact </a:t>
            </a:r>
            <a:r>
              <a:rPr sz="2800" dirty="0">
                <a:latin typeface="Helvetica"/>
                <a:cs typeface="Helvetica"/>
              </a:rPr>
              <a:t>#1 about </a:t>
            </a:r>
            <a:r>
              <a:rPr sz="2800" spc="-5" dirty="0">
                <a:latin typeface="Helvetica"/>
                <a:cs typeface="Helvetica"/>
              </a:rPr>
              <a:t>bottom-up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parsing: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100" dirty="0">
              <a:latin typeface="Helvetica"/>
              <a:cs typeface="Helvetica"/>
            </a:endParaRPr>
          </a:p>
          <a:p>
            <a:pPr marL="137160">
              <a:lnSpc>
                <a:spcPct val="100000"/>
              </a:lnSpc>
            </a:pPr>
            <a:r>
              <a:rPr sz="3600" dirty="0">
                <a:latin typeface="Helvetica"/>
                <a:cs typeface="Helvetica"/>
              </a:rPr>
              <a:t>A </a:t>
            </a:r>
            <a:r>
              <a:rPr sz="3600" spc="-5" dirty="0">
                <a:latin typeface="Helvetica"/>
                <a:cs typeface="Helvetica"/>
              </a:rPr>
              <a:t>bottom-up </a:t>
            </a:r>
            <a:r>
              <a:rPr sz="3600" dirty="0">
                <a:latin typeface="Helvetica"/>
                <a:cs typeface="Helvetica"/>
              </a:rPr>
              <a:t>parser </a:t>
            </a:r>
            <a:r>
              <a:rPr sz="3600" spc="-5" dirty="0">
                <a:latin typeface="Helvetica"/>
                <a:cs typeface="Helvetica"/>
              </a:rPr>
              <a:t>traces </a:t>
            </a:r>
            <a:r>
              <a:rPr sz="3600" dirty="0">
                <a:latin typeface="Helvetica"/>
                <a:cs typeface="Helvetica"/>
              </a:rPr>
              <a:t>a </a:t>
            </a:r>
            <a:r>
              <a:rPr sz="3600" spc="-5" dirty="0">
                <a:highlight>
                  <a:srgbClr val="FFFF00"/>
                </a:highlight>
                <a:latin typeface="Helvetica"/>
                <a:cs typeface="Helvetica"/>
              </a:rPr>
              <a:t>rightmost derivation</a:t>
            </a:r>
            <a:r>
              <a:rPr sz="3600" spc="-114" dirty="0">
                <a:highlight>
                  <a:srgbClr val="FFFF00"/>
                </a:highlight>
                <a:latin typeface="Helvetica"/>
                <a:cs typeface="Helvetica"/>
              </a:rPr>
              <a:t> </a:t>
            </a:r>
            <a:r>
              <a:rPr lang="en-US" sz="3600" spc="-114" dirty="0">
                <a:highlight>
                  <a:srgbClr val="FFFF00"/>
                </a:highlight>
                <a:latin typeface="Helvetica"/>
                <a:cs typeface="Helvetica"/>
              </a:rPr>
              <a:t>i</a:t>
            </a:r>
            <a:r>
              <a:rPr sz="3600" dirty="0">
                <a:highlight>
                  <a:srgbClr val="FFFF00"/>
                </a:highlight>
                <a:latin typeface="Helvetica"/>
                <a:cs typeface="Helvetica"/>
              </a:rPr>
              <a:t>n</a:t>
            </a:r>
            <a:r>
              <a:rPr lang="en-US" sz="3600" dirty="0">
                <a:highlight>
                  <a:srgbClr val="FFFF00"/>
                </a:highlight>
                <a:latin typeface="Helvetica"/>
                <a:cs typeface="Helvetica"/>
              </a:rPr>
              <a:t> </a:t>
            </a:r>
            <a:r>
              <a:rPr sz="3600" dirty="0">
                <a:highlight>
                  <a:srgbClr val="FFFF00"/>
                </a:highlight>
                <a:latin typeface="Helvetica"/>
                <a:cs typeface="Helvetica"/>
              </a:rPr>
              <a:t>reverse</a:t>
            </a:r>
            <a:r>
              <a:rPr lang="en-US" sz="3600" dirty="0">
                <a:latin typeface="Helvetica"/>
                <a:cs typeface="Helvetica"/>
              </a:rPr>
              <a:t>, i.e. from a Sentence to Start symbol.</a:t>
            </a:r>
            <a:endParaRPr sz="36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675138"/>
            <a:ext cx="32327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A </a:t>
            </a:r>
            <a:r>
              <a:rPr sz="2800" b="1" spc="-5" dirty="0">
                <a:latin typeface="Helvetica"/>
                <a:cs typeface="Helvetica"/>
              </a:rPr>
              <a:t>Bottom-up</a:t>
            </a:r>
            <a:r>
              <a:rPr sz="2800" b="1" spc="-175" dirty="0">
                <a:latin typeface="Helvetica"/>
                <a:cs typeface="Helvetica"/>
              </a:rPr>
              <a:t> </a:t>
            </a:r>
            <a:r>
              <a:rPr sz="2800" b="1" dirty="0">
                <a:latin typeface="Helvetica"/>
                <a:cs typeface="Helvetica"/>
              </a:rPr>
              <a:t>Parse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69" y="2018796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769" y="2588709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T +</a:t>
            </a:r>
            <a:r>
              <a:rPr sz="1800" spc="-17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769" y="3158621"/>
            <a:ext cx="66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2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2769" y="3728534"/>
            <a:ext cx="55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769" y="4307971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769" y="487788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08140" y="1783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16879" y="2151379"/>
            <a:ext cx="1158240" cy="868680"/>
          </a:xfrm>
          <a:custGeom>
            <a:avLst/>
            <a:gdLst/>
            <a:ahLst/>
            <a:cxnLst/>
            <a:rect l="l" t="t" r="r" b="b"/>
            <a:pathLst>
              <a:path w="1158240" h="868680">
                <a:moveTo>
                  <a:pt x="0" y="868680"/>
                </a:moveTo>
                <a:lnTo>
                  <a:pt x="11582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40880" y="2185670"/>
            <a:ext cx="853440" cy="800100"/>
          </a:xfrm>
          <a:custGeom>
            <a:avLst/>
            <a:gdLst/>
            <a:ahLst/>
            <a:cxnLst/>
            <a:rect l="l" t="t" r="r" b="b"/>
            <a:pathLst>
              <a:path w="853440" h="800100">
                <a:moveTo>
                  <a:pt x="853440" y="8001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58000" y="2271077"/>
            <a:ext cx="0" cy="2762885"/>
          </a:xfrm>
          <a:custGeom>
            <a:avLst/>
            <a:gdLst/>
            <a:ahLst/>
            <a:cxnLst/>
            <a:rect l="l" t="t" r="r" b="b"/>
            <a:pathLst>
              <a:path h="2762885">
                <a:moveTo>
                  <a:pt x="0" y="0"/>
                </a:moveTo>
                <a:lnTo>
                  <a:pt x="0" y="27628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27340" y="2926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77200" y="3414077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0"/>
                </a:moveTo>
                <a:lnTo>
                  <a:pt x="0" y="6292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</a:rPr>
              <a:t>T + E |</a:t>
            </a:r>
            <a:r>
              <a:rPr sz="2200" spc="-120" dirty="0">
                <a:solidFill>
                  <a:srgbClr val="3333CC"/>
                </a:solidFill>
              </a:rPr>
              <a:t> </a:t>
            </a:r>
            <a:r>
              <a:rPr sz="2200" dirty="0">
                <a:solidFill>
                  <a:srgbClr val="3333CC"/>
                </a:solidFill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</a:rPr>
              <a:t>int * T | int |</a:t>
            </a:r>
            <a:r>
              <a:rPr sz="2200" spc="-229" dirty="0">
                <a:solidFill>
                  <a:srgbClr val="3333CC"/>
                </a:solidFill>
              </a:rPr>
              <a:t> </a:t>
            </a:r>
            <a:r>
              <a:rPr sz="2200" dirty="0">
                <a:solidFill>
                  <a:srgbClr val="3333CC"/>
                </a:solidFill>
              </a:rPr>
              <a:t>(E)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248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800" b="1" spc="-1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(1)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769" y="2018796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CB2F4551-0970-161F-7066-7D8B11A8ABCC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248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800" b="1" spc="-1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(2)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69" y="2018796"/>
            <a:ext cx="1226820" cy="86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44D8E9F7-46CF-2EA9-3D0A-FAB0D8DE52BE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248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800" b="1" spc="-1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(3)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69" y="2018796"/>
            <a:ext cx="1226820" cy="86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769" y="3158621"/>
            <a:ext cx="66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2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CBB30524-2C22-6775-0BE1-72D43BA69B46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248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800" b="1" spc="-1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(4)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69" y="2018796"/>
            <a:ext cx="1226820" cy="86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769" y="3158621"/>
            <a:ext cx="66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2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769" y="3728534"/>
            <a:ext cx="55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C5685516-B3B4-C564-9805-51D4356F8D7B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248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800" b="1" spc="-1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(5)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69" y="2018796"/>
            <a:ext cx="1226820" cy="86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769" y="3158621"/>
            <a:ext cx="66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2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769" y="3728534"/>
            <a:ext cx="55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2769" y="4307971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7340" y="2926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77200" y="3414077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0"/>
                </a:moveTo>
                <a:lnTo>
                  <a:pt x="0" y="6292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C0935A12-B7E4-01DD-65EC-B4EE2ED10905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248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Bottom-up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800" b="1" spc="-15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(6)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69" y="2018796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769" y="2588709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T +</a:t>
            </a:r>
            <a:r>
              <a:rPr sz="1800" spc="-17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769" y="3158621"/>
            <a:ext cx="66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2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2769" y="3728534"/>
            <a:ext cx="55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6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769" y="4307971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769" y="487788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08140" y="1783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16879" y="2151379"/>
            <a:ext cx="1158240" cy="868680"/>
          </a:xfrm>
          <a:custGeom>
            <a:avLst/>
            <a:gdLst/>
            <a:ahLst/>
            <a:cxnLst/>
            <a:rect l="l" t="t" r="r" b="b"/>
            <a:pathLst>
              <a:path w="1158240" h="868680">
                <a:moveTo>
                  <a:pt x="0" y="868680"/>
                </a:moveTo>
                <a:lnTo>
                  <a:pt x="1158239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40880" y="2185670"/>
            <a:ext cx="853440" cy="800100"/>
          </a:xfrm>
          <a:custGeom>
            <a:avLst/>
            <a:gdLst/>
            <a:ahLst/>
            <a:cxnLst/>
            <a:rect l="l" t="t" r="r" b="b"/>
            <a:pathLst>
              <a:path w="853440" h="800100">
                <a:moveTo>
                  <a:pt x="853440" y="800100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58000" y="2271077"/>
            <a:ext cx="0" cy="2762885"/>
          </a:xfrm>
          <a:custGeom>
            <a:avLst/>
            <a:gdLst/>
            <a:ahLst/>
            <a:cxnLst/>
            <a:rect l="l" t="t" r="r" b="b"/>
            <a:pathLst>
              <a:path h="2762885">
                <a:moveTo>
                  <a:pt x="0" y="0"/>
                </a:moveTo>
                <a:lnTo>
                  <a:pt x="0" y="27628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27340" y="2926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77200" y="3414077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0"/>
                </a:moveTo>
                <a:lnTo>
                  <a:pt x="0" y="6292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86E71ECF-86A5-38F3-B6BE-6AAEF49FA53D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340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Where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Do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Reductions</a:t>
            </a:r>
            <a:r>
              <a:rPr sz="2800" b="1" spc="-4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Happen?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178800" cy="311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Helvetica"/>
                <a:cs typeface="Helvetica"/>
              </a:rPr>
              <a:t>Important Fact </a:t>
            </a:r>
            <a:r>
              <a:rPr sz="2800" dirty="0">
                <a:latin typeface="Helvetica"/>
                <a:cs typeface="Helvetica"/>
              </a:rPr>
              <a:t>#1 has an </a:t>
            </a:r>
            <a:r>
              <a:rPr sz="2800" spc="-5" dirty="0">
                <a:latin typeface="Helvetica"/>
                <a:cs typeface="Helvetica"/>
              </a:rPr>
              <a:t>interesting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consequence:</a:t>
            </a:r>
          </a:p>
          <a:p>
            <a:pPr marL="755650" indent="-286385">
              <a:lnSpc>
                <a:spcPct val="100000"/>
              </a:lnSpc>
              <a:spcBef>
                <a:spcPts val="115"/>
              </a:spcBef>
              <a:buChar char="–"/>
              <a:tabLst>
                <a:tab pos="755650" algn="l"/>
              </a:tabLst>
            </a:pPr>
            <a:r>
              <a:rPr sz="3600" spc="-7" baseline="2314" dirty="0">
                <a:latin typeface="Helvetica"/>
                <a:cs typeface="Helvetica"/>
              </a:rPr>
              <a:t>Let </a:t>
            </a:r>
            <a:r>
              <a:rPr sz="3600" spc="-7" baseline="2314" dirty="0">
                <a:solidFill>
                  <a:srgbClr val="3333CC"/>
                </a:solidFill>
                <a:latin typeface="Symbol"/>
                <a:cs typeface="Symbol"/>
              </a:rPr>
              <a:t></a:t>
            </a:r>
            <a:r>
              <a:rPr sz="3600" spc="-7" baseline="23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baseline="2314" dirty="0">
                <a:latin typeface="Helvetica"/>
                <a:cs typeface="Helvetica"/>
              </a:rPr>
              <a:t>be a </a:t>
            </a:r>
            <a:r>
              <a:rPr sz="3600" spc="-7" baseline="2314" dirty="0">
                <a:latin typeface="Helvetica"/>
                <a:cs typeface="Helvetica"/>
              </a:rPr>
              <a:t>step </a:t>
            </a:r>
            <a:r>
              <a:rPr sz="3600" baseline="2314" dirty="0">
                <a:latin typeface="Helvetica"/>
                <a:cs typeface="Helvetica"/>
              </a:rPr>
              <a:t>of a </a:t>
            </a:r>
            <a:r>
              <a:rPr sz="3600" spc="-7" baseline="2314" dirty="0">
                <a:latin typeface="Helvetica"/>
                <a:cs typeface="Helvetica"/>
              </a:rPr>
              <a:t>bottom-up</a:t>
            </a:r>
            <a:r>
              <a:rPr sz="3600" baseline="2314" dirty="0">
                <a:latin typeface="Helvetica"/>
                <a:cs typeface="Helvetica"/>
              </a:rPr>
              <a:t> parse</a:t>
            </a:r>
          </a:p>
          <a:p>
            <a:pPr marL="755650" indent="-286385">
              <a:lnSpc>
                <a:spcPct val="100000"/>
              </a:lnSpc>
              <a:spcBef>
                <a:spcPts val="185"/>
              </a:spcBef>
              <a:buChar char="–"/>
              <a:tabLst>
                <a:tab pos="755650" algn="l"/>
              </a:tabLst>
            </a:pPr>
            <a:r>
              <a:rPr sz="3600" baseline="2314" dirty="0">
                <a:latin typeface="Helvetica"/>
                <a:cs typeface="Helvetica"/>
              </a:rPr>
              <a:t>Assume </a:t>
            </a:r>
            <a:r>
              <a:rPr sz="3600" spc="-7" baseline="2314" dirty="0">
                <a:latin typeface="Helvetica"/>
                <a:cs typeface="Helvetica"/>
              </a:rPr>
              <a:t>the </a:t>
            </a:r>
            <a:r>
              <a:rPr sz="3600" baseline="2314" dirty="0">
                <a:latin typeface="Helvetica"/>
                <a:cs typeface="Helvetica"/>
              </a:rPr>
              <a:t>next </a:t>
            </a:r>
            <a:r>
              <a:rPr sz="3600" spc="-7" baseline="2314" dirty="0">
                <a:latin typeface="Helvetica"/>
                <a:cs typeface="Helvetica"/>
              </a:rPr>
              <a:t>reduction </a:t>
            </a:r>
            <a:r>
              <a:rPr sz="3600" baseline="2314" dirty="0">
                <a:latin typeface="Helvetica"/>
                <a:cs typeface="Helvetica"/>
              </a:rPr>
              <a:t>is by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X</a:t>
            </a:r>
            <a:r>
              <a:rPr sz="3600" baseline="2314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3600" spc="-30" baseline="23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baseline="2314" dirty="0">
                <a:solidFill>
                  <a:srgbClr val="3333CC"/>
                </a:solidFill>
                <a:latin typeface="Symbol"/>
                <a:cs typeface="Symbol"/>
              </a:rPr>
              <a:t></a:t>
            </a:r>
            <a:endParaRPr sz="3600" baseline="2314" dirty="0">
              <a:latin typeface="Symbol"/>
              <a:cs typeface="Symbol"/>
            </a:endParaRPr>
          </a:p>
          <a:p>
            <a:pPr marL="755650" indent="-286385">
              <a:lnSpc>
                <a:spcPct val="100000"/>
              </a:lnSpc>
              <a:spcBef>
                <a:spcPts val="185"/>
              </a:spcBef>
              <a:buChar char="–"/>
              <a:tabLst>
                <a:tab pos="755650" algn="l"/>
              </a:tabLst>
            </a:pPr>
            <a:r>
              <a:rPr sz="3600" baseline="2314" dirty="0">
                <a:latin typeface="Helvetica"/>
                <a:cs typeface="Helvetica"/>
              </a:rPr>
              <a:t>Then </a:t>
            </a:r>
            <a:r>
              <a:rPr sz="3600" baseline="2314" dirty="0">
                <a:solidFill>
                  <a:srgbClr val="3333CC"/>
                </a:solidFill>
                <a:latin typeface="Symbol"/>
                <a:cs typeface="Symbol"/>
              </a:rPr>
              <a:t></a:t>
            </a:r>
            <a:r>
              <a:rPr sz="3600" baseline="23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baseline="2314" dirty="0">
                <a:latin typeface="Helvetica"/>
                <a:cs typeface="Helvetica"/>
              </a:rPr>
              <a:t>is a </a:t>
            </a:r>
            <a:r>
              <a:rPr sz="3600" spc="-7" baseline="2314" dirty="0">
                <a:latin typeface="Helvetica"/>
                <a:cs typeface="Helvetica"/>
              </a:rPr>
              <a:t>string </a:t>
            </a:r>
            <a:r>
              <a:rPr sz="3600" baseline="2314" dirty="0">
                <a:latin typeface="Helvetica"/>
                <a:cs typeface="Helvetica"/>
              </a:rPr>
              <a:t>of</a:t>
            </a:r>
            <a:r>
              <a:rPr sz="3600" spc="-22" baseline="2314" dirty="0">
                <a:latin typeface="Helvetica"/>
                <a:cs typeface="Helvetica"/>
              </a:rPr>
              <a:t> </a:t>
            </a:r>
            <a:r>
              <a:rPr sz="3600" spc="-7" baseline="2314" dirty="0">
                <a:latin typeface="Helvetica"/>
                <a:cs typeface="Helvetica"/>
              </a:rPr>
              <a:t>terminals</a:t>
            </a:r>
            <a:endParaRPr sz="3600" baseline="2314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500" dirty="0">
              <a:latin typeface="Helvetica"/>
              <a:cs typeface="Helvetica"/>
            </a:endParaRPr>
          </a:p>
          <a:p>
            <a:pPr marL="354965" marR="5080" indent="-342900">
              <a:lnSpc>
                <a:spcPct val="106900"/>
              </a:lnSpc>
              <a:spcBef>
                <a:spcPts val="1730"/>
              </a:spcBef>
            </a:pPr>
            <a:r>
              <a:rPr sz="2800" spc="-5" dirty="0">
                <a:latin typeface="Helvetica"/>
                <a:cs typeface="Helvetica"/>
              </a:rPr>
              <a:t>Why? </a:t>
            </a:r>
            <a:r>
              <a:rPr sz="2800" dirty="0">
                <a:latin typeface="Helvetica"/>
                <a:cs typeface="Helvetica"/>
              </a:rPr>
              <a:t>Because </a:t>
            </a:r>
            <a:r>
              <a:rPr sz="2800" dirty="0">
                <a:solidFill>
                  <a:srgbClr val="3333CC"/>
                </a:solidFill>
                <a:latin typeface="Symbol"/>
                <a:cs typeface="Symbol"/>
              </a:rPr>
              <a:t>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X</a:t>
            </a:r>
            <a:r>
              <a:rPr sz="2800" dirty="0">
                <a:solidFill>
                  <a:srgbClr val="3333CC"/>
                </a:solidFill>
                <a:latin typeface="Symbol"/>
                <a:cs typeface="Symbol"/>
              </a:rPr>
              <a:t>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Symbol"/>
                <a:cs typeface="Symbol"/>
              </a:rPr>
              <a:t>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Helvetica"/>
                <a:cs typeface="Helvetica"/>
              </a:rPr>
              <a:t>is a </a:t>
            </a:r>
            <a:r>
              <a:rPr sz="2800" spc="-5" dirty="0">
                <a:latin typeface="Helvetica"/>
                <a:cs typeface="Helvetica"/>
              </a:rPr>
              <a:t>step </a:t>
            </a:r>
            <a:r>
              <a:rPr sz="2800" dirty="0">
                <a:latin typeface="Helvetica"/>
                <a:cs typeface="Helvetica"/>
              </a:rPr>
              <a:t>in a </a:t>
            </a:r>
            <a:r>
              <a:rPr sz="2800" spc="-5" dirty="0">
                <a:latin typeface="Helvetica"/>
                <a:cs typeface="Helvetica"/>
              </a:rPr>
              <a:t>right-most  derivation</a:t>
            </a:r>
            <a:endParaRPr sz="28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467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Notation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7519" y="1627638"/>
            <a:ext cx="7599681" cy="411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Helvetica"/>
                <a:cs typeface="Helvetica"/>
              </a:rPr>
              <a:t>Idea: </a:t>
            </a:r>
            <a:r>
              <a:rPr sz="2800" dirty="0">
                <a:latin typeface="Helvetica"/>
                <a:cs typeface="Helvetica"/>
              </a:rPr>
              <a:t>Split </a:t>
            </a:r>
            <a:r>
              <a:rPr sz="2800" spc="-5" dirty="0">
                <a:latin typeface="Helvetica"/>
                <a:cs typeface="Helvetica"/>
              </a:rPr>
              <a:t>string into two</a:t>
            </a:r>
            <a:r>
              <a:rPr sz="2800" spc="5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substrings</a:t>
            </a:r>
            <a:endParaRPr sz="2800" dirty="0">
              <a:latin typeface="Helvetica"/>
              <a:cs typeface="Helvetica"/>
            </a:endParaRPr>
          </a:p>
          <a:p>
            <a:pPr marL="767715" marR="17780" lvl="1" indent="-285750">
              <a:lnSpc>
                <a:spcPct val="100699"/>
              </a:lnSpc>
              <a:spcBef>
                <a:spcPts val="10"/>
              </a:spcBef>
              <a:buChar char="–"/>
              <a:tabLst>
                <a:tab pos="768350" algn="l"/>
              </a:tabLst>
            </a:pPr>
            <a:r>
              <a:rPr sz="2400" dirty="0">
                <a:latin typeface="Helvetica"/>
                <a:cs typeface="Helvetica"/>
              </a:rPr>
              <a:t>Right </a:t>
            </a:r>
            <a:r>
              <a:rPr sz="2400" spc="-5" dirty="0">
                <a:latin typeface="Helvetica"/>
                <a:cs typeface="Helvetica"/>
              </a:rPr>
              <a:t>substring </a:t>
            </a:r>
            <a:r>
              <a:rPr sz="2400" dirty="0">
                <a:latin typeface="Helvetica"/>
                <a:cs typeface="Helvetica"/>
              </a:rPr>
              <a:t>is as yet unexamined by</a:t>
            </a:r>
            <a:r>
              <a:rPr sz="2400" spc="-80" dirty="0">
                <a:latin typeface="Helvetica"/>
                <a:cs typeface="Helvetica"/>
              </a:rPr>
              <a:t> </a:t>
            </a:r>
            <a:r>
              <a:rPr sz="2400" dirty="0">
                <a:latin typeface="Helvetica"/>
                <a:cs typeface="Helvetica"/>
              </a:rPr>
              <a:t>parsing  (a </a:t>
            </a:r>
            <a:r>
              <a:rPr sz="2400" spc="-5" dirty="0">
                <a:latin typeface="Helvetica"/>
                <a:cs typeface="Helvetica"/>
              </a:rPr>
              <a:t>string </a:t>
            </a:r>
            <a:r>
              <a:rPr sz="2400" dirty="0">
                <a:latin typeface="Helvetica"/>
                <a:cs typeface="Helvetica"/>
              </a:rPr>
              <a:t>of</a:t>
            </a:r>
            <a:r>
              <a:rPr sz="2400" spc="-5" dirty="0">
                <a:latin typeface="Helvetica"/>
                <a:cs typeface="Helvetica"/>
              </a:rPr>
              <a:t> terminals)</a:t>
            </a:r>
            <a:endParaRPr sz="2400" dirty="0">
              <a:latin typeface="Helvetica"/>
              <a:cs typeface="Helvetica"/>
            </a:endParaRPr>
          </a:p>
          <a:p>
            <a:pPr marL="768350" lvl="1" indent="-286385">
              <a:lnSpc>
                <a:spcPct val="100000"/>
              </a:lnSpc>
              <a:spcBef>
                <a:spcPts val="20"/>
              </a:spcBef>
              <a:buChar char="–"/>
              <a:tabLst>
                <a:tab pos="768350" algn="l"/>
              </a:tabLst>
            </a:pPr>
            <a:r>
              <a:rPr sz="2400" spc="-5" dirty="0">
                <a:latin typeface="Helvetica"/>
                <a:cs typeface="Helvetica"/>
              </a:rPr>
              <a:t>Left substring </a:t>
            </a:r>
            <a:r>
              <a:rPr lang="en-US" sz="2400" spc="-5" dirty="0">
                <a:latin typeface="Helvetica"/>
                <a:cs typeface="Helvetica"/>
              </a:rPr>
              <a:t>of sentential form </a:t>
            </a:r>
            <a:r>
              <a:rPr sz="2400" dirty="0">
                <a:latin typeface="Helvetica"/>
                <a:cs typeface="Helvetica"/>
              </a:rPr>
              <a:t>has </a:t>
            </a:r>
            <a:r>
              <a:rPr lang="en-US" sz="2400" dirty="0">
                <a:latin typeface="Helvetica"/>
                <a:cs typeface="Helvetica"/>
              </a:rPr>
              <a:t>both </a:t>
            </a:r>
            <a:r>
              <a:rPr sz="2400" spc="-5" dirty="0">
                <a:latin typeface="Helvetica"/>
                <a:cs typeface="Helvetica"/>
              </a:rPr>
              <a:t>terminals </a:t>
            </a:r>
            <a:r>
              <a:rPr sz="2400" dirty="0">
                <a:latin typeface="Helvetica"/>
                <a:cs typeface="Helvetica"/>
              </a:rPr>
              <a:t>and</a:t>
            </a:r>
            <a:r>
              <a:rPr sz="2400" spc="30" dirty="0">
                <a:latin typeface="Helvetica"/>
                <a:cs typeface="Helvetica"/>
              </a:rPr>
              <a:t> </a:t>
            </a:r>
            <a:r>
              <a:rPr sz="2400" spc="-5" dirty="0">
                <a:latin typeface="Helvetica"/>
                <a:cs typeface="Helvetica"/>
              </a:rPr>
              <a:t>non-terminals</a:t>
            </a:r>
            <a:endParaRPr sz="2400" dirty="0">
              <a:latin typeface="Helvetica"/>
              <a:cs typeface="Helvetic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Helvetica"/>
              <a:buChar char="–"/>
            </a:pPr>
            <a:endParaRPr sz="3100" dirty="0">
              <a:latin typeface="Helvetica"/>
              <a:cs typeface="Helvetica"/>
            </a:endParaRPr>
          </a:p>
          <a:p>
            <a:pPr marL="368300" indent="-342900">
              <a:lnSpc>
                <a:spcPct val="100000"/>
              </a:lnSpc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Helvetica"/>
                <a:cs typeface="Helvetica"/>
              </a:rPr>
              <a:t>The </a:t>
            </a:r>
            <a:r>
              <a:rPr sz="2800" dirty="0">
                <a:latin typeface="Helvetica"/>
                <a:cs typeface="Helvetica"/>
              </a:rPr>
              <a:t>dividing point is marked by a</a:t>
            </a:r>
            <a:r>
              <a:rPr sz="2800" spc="-45" dirty="0">
                <a:latin typeface="Helvetica"/>
                <a:cs typeface="Helvetica"/>
              </a:rPr>
              <a:t> </a:t>
            </a:r>
            <a:r>
              <a:rPr sz="2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2800" dirty="0">
              <a:latin typeface="Helvetica"/>
              <a:cs typeface="Helvetica"/>
            </a:endParaRPr>
          </a:p>
          <a:p>
            <a:pPr marL="768350" lvl="1" indent="-286385">
              <a:lnSpc>
                <a:spcPct val="100000"/>
              </a:lnSpc>
              <a:spcBef>
                <a:spcPts val="35"/>
              </a:spcBef>
              <a:buChar char="–"/>
              <a:tabLst>
                <a:tab pos="768350" algn="l"/>
              </a:tabLst>
            </a:pPr>
            <a:r>
              <a:rPr sz="2400" dirty="0">
                <a:latin typeface="Helvetica"/>
                <a:cs typeface="Helvetica"/>
              </a:rPr>
              <a:t>The </a:t>
            </a:r>
            <a:r>
              <a:rPr sz="24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2400" dirty="0">
                <a:latin typeface="Helvetica"/>
                <a:cs typeface="Helvetica"/>
              </a:rPr>
              <a:t>is not part of </a:t>
            </a:r>
            <a:r>
              <a:rPr sz="2400" spc="-5" dirty="0">
                <a:latin typeface="Helvetica"/>
                <a:cs typeface="Helvetica"/>
              </a:rPr>
              <a:t>the</a:t>
            </a:r>
            <a:r>
              <a:rPr sz="2400" spc="-40" dirty="0">
                <a:latin typeface="Helvetica"/>
                <a:cs typeface="Helvetica"/>
              </a:rPr>
              <a:t> </a:t>
            </a:r>
            <a:r>
              <a:rPr sz="2400" spc="-5" dirty="0">
                <a:latin typeface="Helvetica"/>
                <a:cs typeface="Helvetica"/>
              </a:rPr>
              <a:t>string</a:t>
            </a:r>
            <a:endParaRPr sz="2400" dirty="0">
              <a:latin typeface="Helvetica"/>
              <a:cs typeface="Helvetic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Helvetica"/>
              <a:buChar char="–"/>
            </a:pPr>
            <a:endParaRPr sz="3100" dirty="0">
              <a:latin typeface="Helvetica"/>
              <a:cs typeface="Helvetica"/>
            </a:endParaRPr>
          </a:p>
          <a:p>
            <a:pPr marL="368300" indent="-342900">
              <a:lnSpc>
                <a:spcPct val="100000"/>
              </a:lnSpc>
              <a:buChar char="•"/>
              <a:tabLst>
                <a:tab pos="367665" algn="l"/>
                <a:tab pos="368300" algn="l"/>
              </a:tabLst>
            </a:pPr>
            <a:r>
              <a:rPr sz="2800" spc="-25" dirty="0">
                <a:latin typeface="Helvetica"/>
                <a:cs typeface="Helvetica"/>
              </a:rPr>
              <a:t>Initially, </a:t>
            </a:r>
            <a:r>
              <a:rPr sz="2800" dirty="0">
                <a:latin typeface="Helvetica"/>
                <a:cs typeface="Helvetica"/>
              </a:rPr>
              <a:t>all input is unexamined </a:t>
            </a:r>
            <a:r>
              <a:rPr sz="2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x</a:t>
            </a:r>
            <a:r>
              <a:rPr sz="2775" baseline="-22522" dirty="0">
                <a:solidFill>
                  <a:srgbClr val="3333CC"/>
                </a:solidFill>
                <a:latin typeface="Helvetica"/>
                <a:cs typeface="Helvetica"/>
              </a:rPr>
              <a:t>1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x</a:t>
            </a:r>
            <a:r>
              <a:rPr sz="2775" baseline="-22522" dirty="0">
                <a:solidFill>
                  <a:srgbClr val="3333CC"/>
                </a:solidFill>
                <a:latin typeface="Helvetica"/>
                <a:cs typeface="Helvetica"/>
              </a:rPr>
              <a:t>2 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. . .</a:t>
            </a:r>
            <a:r>
              <a:rPr sz="2800" spc="-29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x</a:t>
            </a:r>
            <a:r>
              <a:rPr sz="2775" baseline="-22522" dirty="0">
                <a:solidFill>
                  <a:srgbClr val="3333CC"/>
                </a:solidFill>
                <a:latin typeface="Helvetica"/>
                <a:cs typeface="Helvetica"/>
              </a:rPr>
              <a:t>n</a:t>
            </a:r>
            <a:endParaRPr sz="2775" baseline="-22522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36220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</a:t>
            </a:r>
            <a:r>
              <a:rPr sz="2800" b="1" spc="-3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Parsing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78333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Helvetica"/>
                <a:cs typeface="Helvetica"/>
              </a:rPr>
              <a:t>Bottom-up </a:t>
            </a:r>
            <a:r>
              <a:rPr sz="2800" dirty="0">
                <a:latin typeface="Helvetica"/>
                <a:cs typeface="Helvetica"/>
              </a:rPr>
              <a:t>parsing uses only </a:t>
            </a:r>
            <a:r>
              <a:rPr sz="2800" spc="-5" dirty="0">
                <a:latin typeface="Helvetica"/>
                <a:cs typeface="Helvetica"/>
              </a:rPr>
              <a:t>two </a:t>
            </a:r>
            <a:r>
              <a:rPr sz="2800" dirty="0">
                <a:latin typeface="Helvetica"/>
                <a:cs typeface="Helvetica"/>
              </a:rPr>
              <a:t>kinds of</a:t>
            </a:r>
            <a:r>
              <a:rPr sz="2800" spc="-30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actions:</a:t>
            </a:r>
            <a:endParaRPr sz="2800" dirty="0">
              <a:latin typeface="Helvetica"/>
              <a:cs typeface="Helvetic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300CA-6074-2C26-5C03-F8BB2FC700C8}"/>
              </a:ext>
            </a:extLst>
          </p:cNvPr>
          <p:cNvSpPr txBox="1"/>
          <p:nvPr/>
        </p:nvSpPr>
        <p:spPr>
          <a:xfrm>
            <a:off x="1524000" y="2588935"/>
            <a:ext cx="6477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Shift       (Push onto a Stack)</a:t>
            </a:r>
          </a:p>
          <a:p>
            <a:endParaRPr lang="en-US" sz="3600" dirty="0"/>
          </a:p>
          <a:p>
            <a:r>
              <a:rPr lang="en-US" sz="3600" dirty="0"/>
              <a:t>Reduce  (Apply a production rule)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815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S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hi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ft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5808345" cy="170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Shift: </a:t>
            </a:r>
            <a:r>
              <a:rPr sz="2800" dirty="0">
                <a:latin typeface="Helvetica"/>
                <a:cs typeface="Helvetica"/>
              </a:rPr>
              <a:t>Move </a:t>
            </a:r>
            <a:r>
              <a:rPr sz="2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2800" dirty="0">
                <a:latin typeface="Helvetica"/>
                <a:cs typeface="Helvetica"/>
              </a:rPr>
              <a:t>one place </a:t>
            </a:r>
            <a:r>
              <a:rPr sz="2800" spc="-5" dirty="0">
                <a:latin typeface="Helvetica"/>
                <a:cs typeface="Helvetica"/>
              </a:rPr>
              <a:t>to the</a:t>
            </a:r>
            <a:r>
              <a:rPr sz="2800" spc="-6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right</a:t>
            </a:r>
            <a:endParaRPr sz="2800">
              <a:latin typeface="Helvetica"/>
              <a:cs typeface="Helvetica"/>
            </a:endParaRPr>
          </a:p>
          <a:p>
            <a:pPr marL="469265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latin typeface="Helvetica"/>
                <a:cs typeface="Helvetica"/>
              </a:rPr>
              <a:t>– </a:t>
            </a:r>
            <a:r>
              <a:rPr sz="2400" spc="-5" dirty="0">
                <a:latin typeface="Helvetica"/>
                <a:cs typeface="Helvetica"/>
              </a:rPr>
              <a:t>Shifts </a:t>
            </a:r>
            <a:r>
              <a:rPr sz="2400" dirty="0">
                <a:latin typeface="Helvetica"/>
                <a:cs typeface="Helvetica"/>
              </a:rPr>
              <a:t>a </a:t>
            </a:r>
            <a:r>
              <a:rPr sz="2400" spc="-5" dirty="0">
                <a:latin typeface="Helvetica"/>
                <a:cs typeface="Helvetica"/>
              </a:rPr>
              <a:t>terminal to the left</a:t>
            </a:r>
            <a:r>
              <a:rPr sz="2400" spc="-409" dirty="0">
                <a:latin typeface="Helvetica"/>
                <a:cs typeface="Helvetica"/>
              </a:rPr>
              <a:t> </a:t>
            </a:r>
            <a:r>
              <a:rPr sz="2400" spc="-5" dirty="0">
                <a:latin typeface="Helvetica"/>
                <a:cs typeface="Helvetica"/>
              </a:rPr>
              <a:t>string</a:t>
            </a:r>
            <a:endParaRPr sz="24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Helvetica"/>
              <a:cs typeface="Helvetica"/>
            </a:endParaRPr>
          </a:p>
          <a:p>
            <a:pPr marL="2444115">
              <a:lnSpc>
                <a:spcPct val="100000"/>
              </a:lnSpc>
              <a:tabLst>
                <a:tab pos="3998595" algn="l"/>
              </a:tabLst>
            </a:pP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ABC</a:t>
            </a:r>
            <a:r>
              <a:rPr sz="2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xyz	</a:t>
            </a:r>
            <a:r>
              <a:rPr sz="2800" dirty="0">
                <a:solidFill>
                  <a:srgbClr val="3333CC"/>
                </a:solidFill>
                <a:latin typeface="Symbol"/>
                <a:cs typeface="Symbol"/>
              </a:rPr>
              <a:t></a:t>
            </a:r>
            <a:r>
              <a:rPr sz="28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ABCx</a:t>
            </a:r>
            <a:r>
              <a:rPr sz="2800" spc="-5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yz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310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Reduce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216900" cy="22440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4965" marR="5080" indent="-342900">
              <a:lnSpc>
                <a:spcPct val="101200"/>
              </a:lnSpc>
              <a:spcBef>
                <a:spcPts val="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Apply an inverse </a:t>
            </a:r>
            <a:r>
              <a:rPr sz="2800" spc="-5" dirty="0">
                <a:latin typeface="Helvetica"/>
                <a:cs typeface="Helvetica"/>
              </a:rPr>
              <a:t>production </a:t>
            </a:r>
            <a:r>
              <a:rPr sz="2800" dirty="0">
                <a:latin typeface="Helvetica"/>
                <a:cs typeface="Helvetica"/>
              </a:rPr>
              <a:t>at </a:t>
            </a:r>
            <a:r>
              <a:rPr sz="2800" spc="-5" dirty="0">
                <a:latin typeface="Helvetica"/>
                <a:cs typeface="Helvetica"/>
              </a:rPr>
              <a:t>the </a:t>
            </a:r>
            <a:r>
              <a:rPr sz="2800" dirty="0">
                <a:latin typeface="Helvetica"/>
                <a:cs typeface="Helvetica"/>
              </a:rPr>
              <a:t>right end of</a:t>
            </a:r>
            <a:r>
              <a:rPr sz="2800" spc="-45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the  left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string</a:t>
            </a:r>
            <a:endParaRPr sz="2800">
              <a:latin typeface="Helvetica"/>
              <a:cs typeface="Helvetica"/>
            </a:endParaRPr>
          </a:p>
          <a:p>
            <a:pPr marL="469265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Helvetica"/>
                <a:cs typeface="Helvetica"/>
              </a:rPr>
              <a:t>– </a:t>
            </a:r>
            <a:r>
              <a:rPr sz="3600" baseline="2314" dirty="0">
                <a:latin typeface="Helvetica"/>
                <a:cs typeface="Helvetica"/>
              </a:rPr>
              <a:t>If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A </a:t>
            </a:r>
            <a:r>
              <a:rPr sz="3600" baseline="2314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3600" baseline="23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xy </a:t>
            </a:r>
            <a:r>
              <a:rPr sz="3600" baseline="2314" dirty="0">
                <a:latin typeface="Helvetica"/>
                <a:cs typeface="Helvetica"/>
              </a:rPr>
              <a:t>is a </a:t>
            </a:r>
            <a:r>
              <a:rPr sz="3600" spc="-7" baseline="2314" dirty="0">
                <a:latin typeface="Helvetica"/>
                <a:cs typeface="Helvetica"/>
              </a:rPr>
              <a:t>production,</a:t>
            </a:r>
            <a:r>
              <a:rPr sz="3600" spc="-67" baseline="2314" dirty="0">
                <a:latin typeface="Helvetica"/>
                <a:cs typeface="Helvetica"/>
              </a:rPr>
              <a:t> </a:t>
            </a:r>
            <a:r>
              <a:rPr sz="3600" spc="-7" baseline="2314" dirty="0">
                <a:latin typeface="Helvetica"/>
                <a:cs typeface="Helvetica"/>
              </a:rPr>
              <a:t>then</a:t>
            </a:r>
            <a:endParaRPr sz="3600" baseline="2314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500">
              <a:latin typeface="Helvetica"/>
              <a:cs typeface="Helvetica"/>
            </a:endParaRPr>
          </a:p>
          <a:p>
            <a:pPr marL="22860" algn="ctr">
              <a:lnSpc>
                <a:spcPct val="100000"/>
              </a:lnSpc>
              <a:spcBef>
                <a:spcPts val="1460"/>
              </a:spcBef>
              <a:tabLst>
                <a:tab pos="1458595" algn="l"/>
              </a:tabLst>
            </a:pP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Cbxy</a:t>
            </a:r>
            <a:r>
              <a:rPr sz="2800" spc="-5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ijk	</a:t>
            </a:r>
            <a:r>
              <a:rPr sz="2800" dirty="0">
                <a:solidFill>
                  <a:srgbClr val="3333CC"/>
                </a:solidFill>
                <a:latin typeface="Symbol"/>
                <a:cs typeface="Symbol"/>
              </a:rPr>
              <a:t>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CbA</a:t>
            </a:r>
            <a:r>
              <a:rPr sz="2800" spc="-5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ijk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411052"/>
            <a:ext cx="5273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The Example with Reductions</a:t>
            </a:r>
            <a:r>
              <a:rPr sz="2400" b="1" spc="-2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Only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3369" y="4662170"/>
            <a:ext cx="7861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int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5170" y="4662170"/>
            <a:ext cx="150749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T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spc="-1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3369" y="5119370"/>
            <a:ext cx="6762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T</a:t>
            </a:r>
            <a:r>
              <a:rPr sz="1800" spc="-2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5170" y="5119370"/>
            <a:ext cx="142684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E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spc="-1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3369" y="5581332"/>
            <a:ext cx="6972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E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5170" y="5581332"/>
            <a:ext cx="183578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E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4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3369" y="6038532"/>
            <a:ext cx="3009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r>
              <a:rPr sz="1800" spc="-8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52" rIns="0" bIns="0" rtlCol="0">
            <a:spAutoFit/>
          </a:bodyPr>
          <a:lstStyle/>
          <a:p>
            <a:pPr marL="38100">
              <a:lnSpc>
                <a:spcPts val="146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35170" y="2780796"/>
            <a:ext cx="150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T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spc="-1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3369" y="2780796"/>
            <a:ext cx="1349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4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170" y="3237996"/>
            <a:ext cx="1859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T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</a:t>
            </a:r>
            <a:r>
              <a:rPr sz="1800" spc="-1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A7E48623-067D-2FB8-85C6-B0F1FFCDD757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07238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000000"/>
                </a:solidFill>
                <a:latin typeface="Helvetica"/>
                <a:cs typeface="Helvetica"/>
              </a:rPr>
              <a:t>The Example with Shift-Reduce</a:t>
            </a:r>
            <a:r>
              <a:rPr b="1" spc="1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b="1" spc="-5" dirty="0">
                <a:solidFill>
                  <a:srgbClr val="000000"/>
                </a:solidFill>
                <a:latin typeface="Helvetica"/>
                <a:cs typeface="Helvetica"/>
              </a:rPr>
              <a:t>Parsing</a:t>
            </a:r>
            <a:endParaRPr dirty="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200" y="4905854"/>
            <a:ext cx="7861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int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1" y="4905854"/>
            <a:ext cx="150749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T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spc="-1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0200" y="5363054"/>
            <a:ext cx="6762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T</a:t>
            </a:r>
            <a:r>
              <a:rPr sz="1800" spc="-2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1" y="5363054"/>
            <a:ext cx="142684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E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spc="-1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0200" y="5825016"/>
            <a:ext cx="6972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E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1" y="5825016"/>
            <a:ext cx="183578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reduce E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14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0200" y="6282216"/>
            <a:ext cx="3009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r>
              <a:rPr sz="1800" spc="-8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52" rIns="0" bIns="0" rtlCol="0">
            <a:spAutoFit/>
          </a:bodyPr>
          <a:lstStyle/>
          <a:p>
            <a:pPr marL="38100">
              <a:lnSpc>
                <a:spcPts val="146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600200" y="1652880"/>
            <a:ext cx="483108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83865" algn="l"/>
              </a:tabLst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</a:t>
            </a:r>
            <a:r>
              <a:rPr sz="1800" spc="-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	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shift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2983865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	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shift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381000" algn="l"/>
                <a:tab pos="2983865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r>
              <a:rPr sz="1800" spc="-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	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shift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2983865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	reduce T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spc="-1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2983865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70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	reduce T </a:t>
            </a:r>
            <a:r>
              <a:rPr sz="18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1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</a:t>
            </a:r>
            <a:r>
              <a:rPr sz="1800" spc="-19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2983865" algn="l"/>
              </a:tabLst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40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	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shift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2983865" algn="l"/>
              </a:tabLst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</a:t>
            </a:r>
            <a:r>
              <a:rPr sz="1800" spc="-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shift</a:t>
            </a:r>
            <a:endParaRPr sz="1800" dirty="0">
              <a:latin typeface="Helvetica"/>
              <a:cs typeface="Helvetica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900582FA-7E75-4AFE-BC67-0956626604B2}"/>
              </a:ext>
            </a:extLst>
          </p:cNvPr>
          <p:cNvSpPr txBox="1"/>
          <p:nvPr/>
        </p:nvSpPr>
        <p:spPr>
          <a:xfrm>
            <a:off x="6042660" y="319855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(1)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4940" y="5074399"/>
            <a:ext cx="66294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969" y="14091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68A882C6-F230-AA75-9391-684DD1752F58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(2)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5440" y="5074399"/>
            <a:ext cx="217424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40765" algn="l"/>
                <a:tab pos="1726564" algn="l"/>
              </a:tabLst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	</a:t>
            </a:r>
            <a:r>
              <a:rPr sz="4200" baseline="-9920" dirty="0">
                <a:solidFill>
                  <a:srgbClr val="FF0000"/>
                </a:solidFill>
                <a:latin typeface="Century Gothic"/>
                <a:cs typeface="Century Gothic"/>
              </a:rPr>
              <a:t>*	</a:t>
            </a: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  <a:p>
            <a:pPr marL="660400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69" y="1409196"/>
            <a:ext cx="1349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</a:t>
            </a:r>
            <a:r>
              <a:rPr sz="1800" spc="-1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4135B05-ADD8-0D6B-6E45-ACCFBFB9C724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(3)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5140" y="5074399"/>
            <a:ext cx="73914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969" y="1409196"/>
            <a:ext cx="14128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>
              <a:lnSpc>
                <a:spcPct val="166700"/>
              </a:lnSpc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AD1DB278-4C8B-559A-7D21-C07A6DBA5C83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499618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(4)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9940" y="5074399"/>
            <a:ext cx="107950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</a:tabLst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	</a:t>
            </a:r>
            <a:r>
              <a:rPr sz="4200" baseline="1984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4200" baseline="1984">
              <a:latin typeface="Century Gothic"/>
              <a:cs typeface="Century Gothic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969" y="1409196"/>
            <a:ext cx="141287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 algn="just">
              <a:lnSpc>
                <a:spcPct val="166700"/>
              </a:lnSpc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8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E4F1D492-88E0-7A06-EC72-9292679A6C1D}"/>
              </a:ext>
            </a:extLst>
          </p:cNvPr>
          <p:cNvSpPr txBox="1"/>
          <p:nvPr/>
        </p:nvSpPr>
        <p:spPr>
          <a:xfrm>
            <a:off x="6230731" y="356235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(5)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8969" y="1409196"/>
            <a:ext cx="1412875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 algn="just">
              <a:lnSpc>
                <a:spcPct val="166700"/>
              </a:lnSpc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5869940" y="5074399"/>
            <a:ext cx="107950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</a:tabLst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	</a:t>
            </a:r>
            <a:r>
              <a:rPr sz="4200" baseline="1984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4200" baseline="1984">
              <a:latin typeface="Century Gothic"/>
              <a:cs typeface="Century Gothic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B6F5A97-495B-D631-5CDF-3DA9C1D34EBF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(6)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969" y="1409196"/>
            <a:ext cx="14128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>
              <a:lnSpc>
                <a:spcPct val="166700"/>
              </a:lnSpc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48969" y="27807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969" y="3237996"/>
            <a:ext cx="123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969" y="36951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69940" y="5074399"/>
            <a:ext cx="107950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</a:tabLst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	</a:t>
            </a:r>
            <a:r>
              <a:rPr sz="4200" baseline="1984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4200" baseline="1984">
              <a:latin typeface="Century Gothic"/>
              <a:cs typeface="Century Gothic"/>
            </a:endParaRPr>
          </a:p>
          <a:p>
            <a:pPr marL="622300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B37A1C79-67E5-6EF8-022D-B7AD20FF1140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(7)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8969" y="1409196"/>
            <a:ext cx="14128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>
              <a:lnSpc>
                <a:spcPct val="166700"/>
              </a:lnSpc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648969" y="27807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969" y="3237996"/>
            <a:ext cx="123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969" y="36951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969" y="41523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13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41540" y="5505926"/>
            <a:ext cx="222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E9E53360-1CD6-F1D7-2033-D14BF2D9F637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(8)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8969" y="1409196"/>
            <a:ext cx="14128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>
              <a:lnSpc>
                <a:spcPct val="166700"/>
              </a:lnSpc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648969" y="27807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969" y="3237996"/>
            <a:ext cx="123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969" y="36951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969" y="41523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13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969" y="46095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int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51140" y="5074399"/>
            <a:ext cx="67945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1E1CA25D-A784-7104-8953-514DD47228E0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6445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(9)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8969" y="1409196"/>
            <a:ext cx="14128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>
              <a:lnSpc>
                <a:spcPct val="166700"/>
              </a:lnSpc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648969" y="27807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969" y="3237996"/>
            <a:ext cx="123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969" y="36951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8969" y="41523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13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969" y="46095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int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8969" y="5066796"/>
            <a:ext cx="67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T</a:t>
            </a:r>
            <a:r>
              <a:rPr sz="1800" spc="-2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51140" y="5074399"/>
            <a:ext cx="67945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0FECEEAC-9C45-B19B-3316-B955FD903A11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842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(10)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7340" y="2926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77200" y="3414077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0"/>
                </a:moveTo>
                <a:lnTo>
                  <a:pt x="0" y="6292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8969" y="1409196"/>
            <a:ext cx="14128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  <a:p>
            <a:pPr marL="12700" marR="5080">
              <a:lnSpc>
                <a:spcPct val="166700"/>
              </a:lnSpc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 int 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648969" y="27807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969" y="3237996"/>
            <a:ext cx="123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8969" y="36951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969" y="41523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13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969" y="46095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int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969" y="5066796"/>
            <a:ext cx="67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T</a:t>
            </a:r>
            <a:r>
              <a:rPr sz="1800" spc="-2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969" y="5528759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E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08340" y="5505926"/>
            <a:ext cx="222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4403A04C-076C-2C99-C549-F47BFF89368C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582295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A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Shift-Reduce </a:t>
            </a:r>
            <a:r>
              <a:rPr sz="2400" b="1" dirty="0">
                <a:solidFill>
                  <a:srgbClr val="000000"/>
                </a:solidFill>
                <a:latin typeface="Helvetica"/>
                <a:cs typeface="Helvetica"/>
              </a:rPr>
              <a:t>Parse </a:t>
            </a:r>
            <a:r>
              <a:rPr sz="2400" b="1" spc="-5" dirty="0">
                <a:solidFill>
                  <a:srgbClr val="000000"/>
                </a:solidFill>
                <a:latin typeface="Helvetica"/>
                <a:cs typeface="Helvetica"/>
              </a:rPr>
              <a:t>in Detail</a:t>
            </a:r>
            <a:r>
              <a:rPr sz="2400" b="1" spc="-130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400" b="1" spc="-40" dirty="0">
                <a:solidFill>
                  <a:srgbClr val="000000"/>
                </a:solidFill>
                <a:latin typeface="Helvetica"/>
                <a:cs typeface="Helvetica"/>
              </a:rPr>
              <a:t>(11)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435" y="3418840"/>
            <a:ext cx="662940" cy="1624965"/>
          </a:xfrm>
          <a:custGeom>
            <a:avLst/>
            <a:gdLst/>
            <a:ahLst/>
            <a:cxnLst/>
            <a:rect l="l" t="t" r="r" b="b"/>
            <a:pathLst>
              <a:path w="662939" h="1624964">
                <a:moveTo>
                  <a:pt x="662827" y="0"/>
                </a:moveTo>
                <a:lnTo>
                  <a:pt x="0" y="162464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08140" y="1783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16879" y="2151379"/>
            <a:ext cx="1158240" cy="868680"/>
          </a:xfrm>
          <a:custGeom>
            <a:avLst/>
            <a:gdLst/>
            <a:ahLst/>
            <a:cxnLst/>
            <a:rect l="l" t="t" r="r" b="b"/>
            <a:pathLst>
              <a:path w="1158240" h="868680">
                <a:moveTo>
                  <a:pt x="0" y="868680"/>
                </a:moveTo>
                <a:lnTo>
                  <a:pt x="1158239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40880" y="2185670"/>
            <a:ext cx="853440" cy="800100"/>
          </a:xfrm>
          <a:custGeom>
            <a:avLst/>
            <a:gdLst/>
            <a:ahLst/>
            <a:cxnLst/>
            <a:rect l="l" t="t" r="r" b="b"/>
            <a:pathLst>
              <a:path w="853440" h="800100">
                <a:moveTo>
                  <a:pt x="853440" y="800100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84140" y="2926511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58000" y="2271077"/>
            <a:ext cx="0" cy="2762885"/>
          </a:xfrm>
          <a:custGeom>
            <a:avLst/>
            <a:gdLst/>
            <a:ahLst/>
            <a:cxnLst/>
            <a:rect l="l" t="t" r="r" b="b"/>
            <a:pathLst>
              <a:path h="2762885">
                <a:moveTo>
                  <a:pt x="0" y="0"/>
                </a:moveTo>
                <a:lnTo>
                  <a:pt x="0" y="2762885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27340" y="2926511"/>
            <a:ext cx="216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E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8140" y="5060111"/>
            <a:ext cx="24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08412" y="3418840"/>
            <a:ext cx="413384" cy="619760"/>
          </a:xfrm>
          <a:custGeom>
            <a:avLst/>
            <a:gdLst/>
            <a:ahLst/>
            <a:cxnLst/>
            <a:rect l="l" t="t" r="r" b="b"/>
            <a:pathLst>
              <a:path w="413385" h="619760">
                <a:moveTo>
                  <a:pt x="0" y="0"/>
                </a:moveTo>
                <a:lnTo>
                  <a:pt x="413173" y="6197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511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77200" y="3414077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0"/>
                </a:moveTo>
                <a:lnTo>
                  <a:pt x="0" y="6292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4140" y="5136311"/>
            <a:ext cx="176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*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4000" y="3414077"/>
            <a:ext cx="0" cy="1696085"/>
          </a:xfrm>
          <a:custGeom>
            <a:avLst/>
            <a:gdLst/>
            <a:ahLst/>
            <a:cxnLst/>
            <a:rect l="l" t="t" r="r" b="b"/>
            <a:pathLst>
              <a:path h="1696085">
                <a:moveTo>
                  <a:pt x="0" y="0"/>
                </a:moveTo>
                <a:lnTo>
                  <a:pt x="0" y="169608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935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273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0772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869940" y="5074399"/>
            <a:ext cx="434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int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6140" y="4069512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entury Gothic"/>
                <a:cs typeface="Century Gothic"/>
              </a:rPr>
              <a:t>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96000" y="4557077"/>
            <a:ext cx="0" cy="491490"/>
          </a:xfrm>
          <a:custGeom>
            <a:avLst/>
            <a:gdLst/>
            <a:ahLst/>
            <a:cxnLst/>
            <a:rect l="l" t="t" r="r" b="b"/>
            <a:pathLst>
              <a:path h="491489">
                <a:moveTo>
                  <a:pt x="0" y="0"/>
                </a:moveTo>
                <a:lnTo>
                  <a:pt x="0" y="4911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8969" y="14091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* int +</a:t>
            </a:r>
            <a:r>
              <a:rPr sz="1800" spc="-11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23" name="object 23"/>
          <p:cNvSpPr txBox="1"/>
          <p:nvPr/>
        </p:nvSpPr>
        <p:spPr>
          <a:xfrm>
            <a:off x="648969" y="18663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+</a:t>
            </a:r>
            <a:r>
              <a:rPr sz="1800" spc="-1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969" y="2323596"/>
            <a:ext cx="141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1000" algn="l"/>
              </a:tabLst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	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 +</a:t>
            </a:r>
            <a:r>
              <a:rPr sz="1800" spc="-10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969" y="2780796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int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9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8969" y="3237996"/>
            <a:ext cx="123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* 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969" y="36951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+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8969" y="41523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r>
              <a:rPr sz="1800" spc="-13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969" y="4609596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int</a:t>
            </a:r>
            <a:r>
              <a:rPr sz="1800" spc="-13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8969" y="5066796"/>
            <a:ext cx="67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T</a:t>
            </a:r>
            <a:r>
              <a:rPr sz="1800" spc="-2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8969" y="5528759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T + E</a:t>
            </a:r>
            <a:r>
              <a:rPr sz="1800" spc="-1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8969" y="5985959"/>
            <a:ext cx="300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r>
              <a:rPr sz="1800" spc="-8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08340" y="5505926"/>
            <a:ext cx="222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45" dirty="0">
                <a:solidFill>
                  <a:srgbClr val="9900CC"/>
                </a:solidFill>
                <a:latin typeface="Century Gothic"/>
                <a:cs typeface="Century Gothic"/>
              </a:rPr>
              <a:t>↑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3B44EC58-567F-9A76-2475-E7A241B9EC77}"/>
              </a:ext>
            </a:extLst>
          </p:cNvPr>
          <p:cNvSpPr txBox="1"/>
          <p:nvPr/>
        </p:nvSpPr>
        <p:spPr>
          <a:xfrm>
            <a:off x="6230731" y="292553"/>
            <a:ext cx="245808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200" spc="-12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2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2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200" spc="-229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2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705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The</a:t>
            </a:r>
            <a:r>
              <a:rPr sz="2800" b="1" spc="-8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Stack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7893050" cy="368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Left string </a:t>
            </a:r>
            <a:r>
              <a:rPr sz="2800" dirty="0">
                <a:latin typeface="Helvetica"/>
                <a:cs typeface="Helvetica"/>
              </a:rPr>
              <a:t>can be </a:t>
            </a:r>
            <a:r>
              <a:rPr sz="2800" spc="-5" dirty="0">
                <a:latin typeface="Helvetica"/>
                <a:cs typeface="Helvetica"/>
              </a:rPr>
              <a:t>implemented </a:t>
            </a:r>
            <a:r>
              <a:rPr sz="2800" dirty="0">
                <a:latin typeface="Helvetica"/>
                <a:cs typeface="Helvetica"/>
              </a:rPr>
              <a:t>by a</a:t>
            </a:r>
            <a:r>
              <a:rPr sz="2800" spc="5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stack</a:t>
            </a:r>
            <a:endParaRPr sz="2800" dirty="0">
              <a:latin typeface="Helvetica"/>
              <a:cs typeface="Helvetica"/>
            </a:endParaRPr>
          </a:p>
          <a:p>
            <a:pPr marL="469265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latin typeface="Helvetica"/>
                <a:cs typeface="Helvetica"/>
              </a:rPr>
              <a:t>– </a:t>
            </a:r>
            <a:r>
              <a:rPr sz="2400" spc="-90" dirty="0">
                <a:latin typeface="Helvetica"/>
                <a:cs typeface="Helvetica"/>
              </a:rPr>
              <a:t>Top </a:t>
            </a:r>
            <a:r>
              <a:rPr sz="2400" dirty="0">
                <a:latin typeface="Helvetica"/>
                <a:cs typeface="Helvetica"/>
              </a:rPr>
              <a:t>of </a:t>
            </a:r>
            <a:r>
              <a:rPr sz="2400" spc="-5" dirty="0">
                <a:latin typeface="Helvetica"/>
                <a:cs typeface="Helvetica"/>
              </a:rPr>
              <a:t>the stack </a:t>
            </a:r>
            <a:r>
              <a:rPr sz="2400" dirty="0">
                <a:latin typeface="Helvetica"/>
                <a:cs typeface="Helvetica"/>
              </a:rPr>
              <a:t>is </a:t>
            </a:r>
            <a:r>
              <a:rPr sz="2400" spc="-5" dirty="0">
                <a:latin typeface="Helvetica"/>
                <a:cs typeface="Helvetica"/>
              </a:rPr>
              <a:t>the</a:t>
            </a:r>
            <a:r>
              <a:rPr sz="2400" spc="-345" dirty="0"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9900CC"/>
                </a:solidFill>
                <a:latin typeface="Helvetica"/>
                <a:cs typeface="Helvetica"/>
              </a:rPr>
              <a:t>|</a:t>
            </a:r>
            <a:endParaRPr sz="24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00" dirty="0">
              <a:latin typeface="Helvetica"/>
              <a:cs typeface="Helvetica"/>
            </a:endParaRPr>
          </a:p>
          <a:p>
            <a:pPr marL="355600" indent="-342900">
              <a:lnSpc>
                <a:spcPct val="100000"/>
              </a:lnSpc>
              <a:spcBef>
                <a:spcPts val="15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Helvetica"/>
                <a:cs typeface="Helvetica"/>
              </a:rPr>
              <a:t>Shift </a:t>
            </a:r>
            <a:r>
              <a:rPr sz="2800" b="1" dirty="0">
                <a:latin typeface="Helvetica"/>
                <a:cs typeface="Helvetica"/>
              </a:rPr>
              <a:t>pushes a </a:t>
            </a:r>
            <a:r>
              <a:rPr sz="2800" b="1" spc="-5" dirty="0">
                <a:latin typeface="Helvetica"/>
                <a:cs typeface="Helvetica"/>
              </a:rPr>
              <a:t>terminal </a:t>
            </a:r>
            <a:r>
              <a:rPr sz="2800" b="1" dirty="0">
                <a:latin typeface="Helvetica"/>
                <a:cs typeface="Helvetica"/>
              </a:rPr>
              <a:t>on </a:t>
            </a:r>
            <a:r>
              <a:rPr sz="2800" b="1" spc="-5" dirty="0">
                <a:latin typeface="Helvetica"/>
                <a:cs typeface="Helvetica"/>
              </a:rPr>
              <a:t>the stack</a:t>
            </a:r>
            <a:endParaRPr sz="2800" b="1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buFont typeface="Helvetica"/>
              <a:buChar char="•"/>
            </a:pPr>
            <a:endParaRPr sz="4100" dirty="0">
              <a:latin typeface="Helvetica"/>
              <a:cs typeface="Helvetica"/>
            </a:endParaRPr>
          </a:p>
          <a:p>
            <a:pPr marL="354965" marR="5080" indent="-342900">
              <a:lnSpc>
                <a:spcPct val="1012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latin typeface="Helvetica"/>
                <a:cs typeface="Helvetica"/>
              </a:rPr>
              <a:t>Reduce pops 0 or more symbols </a:t>
            </a:r>
            <a:r>
              <a:rPr sz="2800" b="1" spc="-20" dirty="0">
                <a:latin typeface="Helvetica"/>
                <a:cs typeface="Helvetica"/>
              </a:rPr>
              <a:t>off </a:t>
            </a:r>
            <a:r>
              <a:rPr sz="2800" b="1" dirty="0">
                <a:latin typeface="Helvetica"/>
                <a:cs typeface="Helvetica"/>
              </a:rPr>
              <a:t>of </a:t>
            </a:r>
            <a:r>
              <a:rPr sz="2800" b="1" spc="-5" dirty="0">
                <a:latin typeface="Helvetica"/>
                <a:cs typeface="Helvetica"/>
              </a:rPr>
              <a:t>the</a:t>
            </a:r>
            <a:r>
              <a:rPr sz="2800" b="1" spc="-65" dirty="0">
                <a:latin typeface="Helvetica"/>
                <a:cs typeface="Helvetica"/>
              </a:rPr>
              <a:t> </a:t>
            </a:r>
            <a:r>
              <a:rPr sz="2800" b="1" spc="-5" dirty="0">
                <a:latin typeface="Helvetica"/>
                <a:cs typeface="Helvetica"/>
              </a:rPr>
              <a:t>stack  (production </a:t>
            </a:r>
            <a:r>
              <a:rPr lang="en-US" sz="2800" b="1" dirty="0">
                <a:latin typeface="Helvetica"/>
                <a:cs typeface="Helvetica"/>
              </a:rPr>
              <a:t>RHS</a:t>
            </a:r>
            <a:r>
              <a:rPr sz="2800" b="1" dirty="0">
                <a:latin typeface="Helvetica"/>
                <a:cs typeface="Helvetica"/>
              </a:rPr>
              <a:t>) and pushes a </a:t>
            </a:r>
            <a:r>
              <a:rPr sz="2800" b="1" spc="-5" dirty="0">
                <a:latin typeface="Helvetica"/>
                <a:cs typeface="Helvetica"/>
              </a:rPr>
              <a:t>non-terminal </a:t>
            </a:r>
            <a:r>
              <a:rPr sz="2800" b="1" dirty="0">
                <a:latin typeface="Helvetica"/>
                <a:cs typeface="Helvetica"/>
              </a:rPr>
              <a:t>on  </a:t>
            </a:r>
            <a:r>
              <a:rPr sz="2800" b="1" spc="-5" dirty="0">
                <a:latin typeface="Helvetica"/>
                <a:cs typeface="Helvetica"/>
              </a:rPr>
              <a:t>the stack (production</a:t>
            </a:r>
            <a:r>
              <a:rPr sz="2800" b="1" dirty="0">
                <a:latin typeface="Helvetica"/>
                <a:cs typeface="Helvetica"/>
              </a:rPr>
              <a:t> </a:t>
            </a:r>
            <a:r>
              <a:rPr lang="en-US" sz="2800" b="1" dirty="0">
                <a:latin typeface="Helvetica"/>
                <a:cs typeface="Helvetica"/>
              </a:rPr>
              <a:t>LHS</a:t>
            </a:r>
            <a:r>
              <a:rPr sz="2800" b="1" dirty="0">
                <a:latin typeface="Helvetica"/>
                <a:cs typeface="Helvetica"/>
              </a:rPr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5468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Conflicts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6622"/>
            <a:ext cx="8140065" cy="40844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marR="456565" indent="-342900">
              <a:lnSpc>
                <a:spcPts val="2610"/>
              </a:lnSpc>
              <a:spcBef>
                <a:spcPts val="409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Helvetica"/>
                <a:cs typeface="Helvetica"/>
              </a:rPr>
              <a:t>In </a:t>
            </a:r>
            <a:r>
              <a:rPr sz="2400" dirty="0">
                <a:latin typeface="Helvetica"/>
                <a:cs typeface="Helvetica"/>
              </a:rPr>
              <a:t>a given </a:t>
            </a:r>
            <a:r>
              <a:rPr sz="2400" spc="-5" dirty="0">
                <a:latin typeface="Helvetica"/>
                <a:cs typeface="Helvetica"/>
              </a:rPr>
              <a:t>state, </a:t>
            </a:r>
            <a:r>
              <a:rPr sz="2400" dirty="0">
                <a:latin typeface="Helvetica"/>
                <a:cs typeface="Helvetica"/>
              </a:rPr>
              <a:t>more </a:t>
            </a:r>
            <a:r>
              <a:rPr sz="2400" spc="-5" dirty="0">
                <a:latin typeface="Helvetica"/>
                <a:cs typeface="Helvetica"/>
              </a:rPr>
              <a:t>than </a:t>
            </a:r>
            <a:r>
              <a:rPr sz="2400" dirty="0">
                <a:latin typeface="Helvetica"/>
                <a:cs typeface="Helvetica"/>
              </a:rPr>
              <a:t>one </a:t>
            </a:r>
            <a:r>
              <a:rPr sz="2400" spc="-5" dirty="0">
                <a:latin typeface="Helvetica"/>
                <a:cs typeface="Helvetica"/>
              </a:rPr>
              <a:t>action (shift </a:t>
            </a:r>
            <a:r>
              <a:rPr sz="2400" dirty="0">
                <a:latin typeface="Helvetica"/>
                <a:cs typeface="Helvetica"/>
              </a:rPr>
              <a:t>or reduce)  may lead </a:t>
            </a:r>
            <a:r>
              <a:rPr sz="2400" spc="-5" dirty="0">
                <a:latin typeface="Helvetica"/>
                <a:cs typeface="Helvetica"/>
              </a:rPr>
              <a:t>to </a:t>
            </a:r>
            <a:r>
              <a:rPr sz="2400" dirty="0">
                <a:latin typeface="Helvetica"/>
                <a:cs typeface="Helvetica"/>
              </a:rPr>
              <a:t>a valid</a:t>
            </a:r>
            <a:r>
              <a:rPr sz="2400" spc="-10" dirty="0">
                <a:latin typeface="Helvetica"/>
                <a:cs typeface="Helvetica"/>
              </a:rPr>
              <a:t> </a:t>
            </a:r>
            <a:r>
              <a:rPr sz="2400" dirty="0">
                <a:latin typeface="Helvetica"/>
                <a:cs typeface="Helvetica"/>
              </a:rPr>
              <a:t>parse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Helvetica"/>
              <a:buChar char="•"/>
            </a:pPr>
            <a:endParaRPr sz="3300" dirty="0">
              <a:latin typeface="Helvetica"/>
              <a:cs typeface="Helvetica"/>
            </a:endParaRPr>
          </a:p>
          <a:p>
            <a:pPr marL="354965" marR="880744" indent="-342900">
              <a:lnSpc>
                <a:spcPts val="261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Helvetica"/>
                <a:cs typeface="Helvetica"/>
              </a:rPr>
              <a:t>If </a:t>
            </a:r>
            <a:r>
              <a:rPr sz="2400" dirty="0">
                <a:latin typeface="Helvetica"/>
                <a:cs typeface="Helvetica"/>
              </a:rPr>
              <a:t>it is legal </a:t>
            </a:r>
            <a:r>
              <a:rPr sz="2400" spc="-5" dirty="0">
                <a:latin typeface="Helvetica"/>
                <a:cs typeface="Helvetica"/>
              </a:rPr>
              <a:t>to shift </a:t>
            </a:r>
            <a:r>
              <a:rPr sz="2400" dirty="0">
                <a:latin typeface="Helvetica"/>
                <a:cs typeface="Helvetica"/>
              </a:rPr>
              <a:t>or reduce, </a:t>
            </a:r>
            <a:r>
              <a:rPr sz="2400" spc="-5" dirty="0">
                <a:latin typeface="Helvetica"/>
                <a:cs typeface="Helvetica"/>
              </a:rPr>
              <a:t>there </a:t>
            </a:r>
            <a:r>
              <a:rPr sz="2400" dirty="0">
                <a:latin typeface="Helvetica"/>
                <a:cs typeface="Helvetica"/>
              </a:rPr>
              <a:t>is a </a:t>
            </a:r>
            <a:r>
              <a:rPr sz="2400" spc="-5" dirty="0">
                <a:highlight>
                  <a:srgbClr val="FFFF00"/>
                </a:highlight>
                <a:latin typeface="Helvetica"/>
                <a:cs typeface="Helvetica"/>
              </a:rPr>
              <a:t>shift-reduce  </a:t>
            </a:r>
            <a:r>
              <a:rPr sz="2400" spc="-5" dirty="0">
                <a:latin typeface="Helvetica"/>
                <a:cs typeface="Helvetica"/>
              </a:rPr>
              <a:t>conflict</a:t>
            </a:r>
            <a:endParaRPr sz="24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Helvetica"/>
              <a:buChar char="•"/>
            </a:pPr>
            <a:endParaRPr sz="2350" dirty="0">
              <a:latin typeface="Helvetica"/>
              <a:cs typeface="Helvetica"/>
            </a:endParaRPr>
          </a:p>
          <a:p>
            <a:pPr marL="354965" marR="5080" indent="-342900">
              <a:lnSpc>
                <a:spcPts val="261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Helvetica"/>
                <a:cs typeface="Helvetica"/>
              </a:rPr>
              <a:t>If </a:t>
            </a:r>
            <a:r>
              <a:rPr sz="2400" dirty="0">
                <a:latin typeface="Helvetica"/>
                <a:cs typeface="Helvetica"/>
              </a:rPr>
              <a:t>it is legal </a:t>
            </a:r>
            <a:r>
              <a:rPr sz="2400" spc="-5" dirty="0">
                <a:latin typeface="Helvetica"/>
                <a:cs typeface="Helvetica"/>
              </a:rPr>
              <a:t>to </a:t>
            </a:r>
            <a:r>
              <a:rPr sz="2400" dirty="0">
                <a:latin typeface="Helvetica"/>
                <a:cs typeface="Helvetica"/>
              </a:rPr>
              <a:t>reduce by </a:t>
            </a:r>
            <a:r>
              <a:rPr sz="2400" spc="-5" dirty="0">
                <a:latin typeface="Helvetica"/>
                <a:cs typeface="Helvetica"/>
              </a:rPr>
              <a:t>two </a:t>
            </a:r>
            <a:r>
              <a:rPr sz="2400" spc="-10" dirty="0">
                <a:latin typeface="Helvetica"/>
                <a:cs typeface="Helvetica"/>
              </a:rPr>
              <a:t>different </a:t>
            </a:r>
            <a:r>
              <a:rPr sz="2400" spc="-5" dirty="0">
                <a:latin typeface="Helvetica"/>
                <a:cs typeface="Helvetica"/>
              </a:rPr>
              <a:t>productions, there </a:t>
            </a:r>
            <a:r>
              <a:rPr sz="2400" dirty="0">
                <a:latin typeface="Helvetica"/>
                <a:cs typeface="Helvetica"/>
              </a:rPr>
              <a:t>is  a </a:t>
            </a:r>
            <a:r>
              <a:rPr sz="2400" dirty="0">
                <a:highlight>
                  <a:srgbClr val="FFFF00"/>
                </a:highlight>
                <a:latin typeface="Helvetica"/>
                <a:cs typeface="Helvetica"/>
              </a:rPr>
              <a:t>reduce-reduce</a:t>
            </a:r>
            <a:r>
              <a:rPr sz="2400" spc="-5" dirty="0">
                <a:latin typeface="Helvetica"/>
                <a:cs typeface="Helvetica"/>
              </a:rPr>
              <a:t> conflict</a:t>
            </a:r>
            <a:endParaRPr sz="24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Helvetica"/>
              <a:buChar char="•"/>
            </a:pPr>
            <a:endParaRPr sz="3050" dirty="0">
              <a:latin typeface="Helvetica"/>
              <a:cs typeface="Helvetica"/>
            </a:endParaRPr>
          </a:p>
          <a:p>
            <a:pPr marL="355600" indent="-342900">
              <a:lnSpc>
                <a:spcPts val="2740"/>
              </a:lnSpc>
              <a:buChar char="•"/>
              <a:tabLst>
                <a:tab pos="354965" algn="l"/>
                <a:tab pos="355600" algn="l"/>
              </a:tabLst>
            </a:pPr>
            <a:r>
              <a:rPr lang="en-US" sz="2400" spc="-75" dirty="0">
                <a:latin typeface="Helvetica"/>
                <a:cs typeface="Helvetica"/>
              </a:rPr>
              <a:t>When using a parser generator you may well see conflicts, that will have to be disambiguated.</a:t>
            </a:r>
            <a:endParaRPr sz="20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686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Key</a:t>
            </a:r>
            <a:r>
              <a:rPr sz="2800" b="1" spc="-8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latin typeface="Helvetica"/>
                <a:cs typeface="Helvetica"/>
              </a:rPr>
              <a:t>Issue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7169150" cy="393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How do we decide when </a:t>
            </a:r>
            <a:r>
              <a:rPr sz="2800" spc="-5" dirty="0">
                <a:latin typeface="Helvetica"/>
                <a:cs typeface="Helvetica"/>
              </a:rPr>
              <a:t>to shift </a:t>
            </a:r>
            <a:r>
              <a:rPr sz="2800" dirty="0">
                <a:latin typeface="Helvetica"/>
                <a:cs typeface="Helvetica"/>
              </a:rPr>
              <a:t>or</a:t>
            </a:r>
            <a:r>
              <a:rPr sz="2800" spc="-7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reduce?</a:t>
            </a:r>
            <a:endParaRPr sz="2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Helvetica"/>
              <a:buChar char="•"/>
            </a:pPr>
            <a:endParaRPr sz="3500">
              <a:latin typeface="Helvetica"/>
              <a:cs typeface="Helvetica"/>
            </a:endParaRPr>
          </a:p>
          <a:p>
            <a:pPr marL="355600" indent="-342900">
              <a:lnSpc>
                <a:spcPts val="3204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Example</a:t>
            </a:r>
            <a:r>
              <a:rPr sz="2800" spc="-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grammar:</a:t>
            </a:r>
            <a:endParaRPr sz="2800">
              <a:latin typeface="Helvetica"/>
              <a:cs typeface="Helvetica"/>
            </a:endParaRPr>
          </a:p>
          <a:p>
            <a:pPr marL="927100">
              <a:lnSpc>
                <a:spcPts val="2665"/>
              </a:lnSpc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E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+ E |</a:t>
            </a:r>
            <a:r>
              <a:rPr sz="2400" spc="-10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</a:t>
            </a:r>
            <a:endParaRPr sz="2400">
              <a:latin typeface="Helvetica"/>
              <a:cs typeface="Helvetica"/>
            </a:endParaRPr>
          </a:p>
          <a:p>
            <a:pPr marL="927100">
              <a:lnSpc>
                <a:spcPts val="2820"/>
              </a:lnSpc>
            </a:pP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2400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int * T | int |</a:t>
            </a:r>
            <a:r>
              <a:rPr sz="2400" spc="-165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400" dirty="0">
                <a:solidFill>
                  <a:srgbClr val="3333CC"/>
                </a:solidFill>
                <a:latin typeface="Helvetica"/>
                <a:cs typeface="Helvetica"/>
              </a:rPr>
              <a:t>(E)</a:t>
            </a:r>
            <a:endParaRPr sz="24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Helvetica"/>
              <a:cs typeface="Helvetica"/>
            </a:endParaRPr>
          </a:p>
          <a:p>
            <a:pPr marL="355600" indent="-342900">
              <a:lnSpc>
                <a:spcPts val="3245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Consider </a:t>
            </a:r>
            <a:r>
              <a:rPr sz="2800" spc="-5" dirty="0">
                <a:latin typeface="Helvetica"/>
                <a:cs typeface="Helvetica"/>
              </a:rPr>
              <a:t>step </a:t>
            </a:r>
            <a:r>
              <a:rPr sz="2800" spc="-5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2800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* int +</a:t>
            </a:r>
            <a:r>
              <a:rPr sz="2800" spc="-30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2800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2800">
              <a:latin typeface="Helvetica"/>
              <a:cs typeface="Helvetica"/>
            </a:endParaRPr>
          </a:p>
          <a:p>
            <a:pPr marL="755650" lvl="1" indent="-286385">
              <a:lnSpc>
                <a:spcPts val="2665"/>
              </a:lnSpc>
              <a:buChar char="–"/>
              <a:tabLst>
                <a:tab pos="755650" algn="l"/>
              </a:tabLst>
            </a:pPr>
            <a:r>
              <a:rPr sz="3600" spc="-37" baseline="2314" dirty="0">
                <a:latin typeface="Helvetica"/>
                <a:cs typeface="Helvetica"/>
              </a:rPr>
              <a:t>We </a:t>
            </a:r>
            <a:r>
              <a:rPr sz="3600" baseline="2314" dirty="0">
                <a:latin typeface="Helvetica"/>
                <a:cs typeface="Helvetica"/>
              </a:rPr>
              <a:t>could reduce by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3600" baseline="2314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3600" baseline="23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spc="-7" baseline="2314" dirty="0">
                <a:solidFill>
                  <a:srgbClr val="3333CC"/>
                </a:solidFill>
                <a:latin typeface="Helvetica"/>
                <a:cs typeface="Helvetica"/>
              </a:rPr>
              <a:t>int </a:t>
            </a:r>
            <a:r>
              <a:rPr sz="3600" baseline="2314" dirty="0">
                <a:latin typeface="Helvetica"/>
                <a:cs typeface="Helvetica"/>
              </a:rPr>
              <a:t>giving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T </a:t>
            </a:r>
            <a:r>
              <a:rPr sz="3600" baseline="2314" dirty="0">
                <a:solidFill>
                  <a:srgbClr val="9900CC"/>
                </a:solidFill>
                <a:latin typeface="Helvetica"/>
                <a:cs typeface="Helvetica"/>
              </a:rPr>
              <a:t>|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* int +</a:t>
            </a:r>
            <a:r>
              <a:rPr sz="3600" spc="-367" baseline="2314" dirty="0">
                <a:solidFill>
                  <a:srgbClr val="3333CC"/>
                </a:solidFill>
                <a:latin typeface="Helvetica"/>
                <a:cs typeface="Helvetica"/>
              </a:rPr>
              <a:t> </a:t>
            </a:r>
            <a:r>
              <a:rPr sz="3600" baseline="2314" dirty="0">
                <a:solidFill>
                  <a:srgbClr val="3333CC"/>
                </a:solidFill>
                <a:latin typeface="Helvetica"/>
                <a:cs typeface="Helvetica"/>
              </a:rPr>
              <a:t>int</a:t>
            </a:r>
            <a:endParaRPr sz="3600" baseline="2314">
              <a:latin typeface="Helvetica"/>
              <a:cs typeface="Helvetica"/>
            </a:endParaRPr>
          </a:p>
          <a:p>
            <a:pPr marL="755650" lvl="1" indent="-286385">
              <a:lnSpc>
                <a:spcPts val="2640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Helvetica"/>
                <a:cs typeface="Helvetica"/>
              </a:rPr>
              <a:t>A </a:t>
            </a:r>
            <a:r>
              <a:rPr sz="2400" spc="-5" dirty="0">
                <a:latin typeface="Helvetica"/>
                <a:cs typeface="Helvetica"/>
              </a:rPr>
              <a:t>fatal</a:t>
            </a:r>
            <a:r>
              <a:rPr sz="2400" spc="-140" dirty="0">
                <a:latin typeface="Helvetica"/>
                <a:cs typeface="Helvetica"/>
              </a:rPr>
              <a:t> </a:t>
            </a:r>
            <a:r>
              <a:rPr sz="2400" spc="-5" dirty="0">
                <a:latin typeface="Helvetica"/>
                <a:cs typeface="Helvetica"/>
              </a:rPr>
              <a:t>mistake!</a:t>
            </a:r>
            <a:endParaRPr sz="2400">
              <a:latin typeface="Helvetica"/>
              <a:cs typeface="Helvetica"/>
            </a:endParaRPr>
          </a:p>
          <a:p>
            <a:pPr marL="1155700" lvl="2" indent="-228600">
              <a:lnSpc>
                <a:spcPts val="2260"/>
              </a:lnSpc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Helvetica"/>
                <a:cs typeface="Helvetica"/>
              </a:rPr>
              <a:t>No way </a:t>
            </a:r>
            <a:r>
              <a:rPr sz="2000" spc="-5" dirty="0">
                <a:latin typeface="Helvetica"/>
                <a:cs typeface="Helvetica"/>
              </a:rPr>
              <a:t>to </a:t>
            </a:r>
            <a:r>
              <a:rPr sz="2000" dirty="0">
                <a:latin typeface="Helvetica"/>
                <a:cs typeface="Helvetica"/>
              </a:rPr>
              <a:t>reduce </a:t>
            </a:r>
            <a:r>
              <a:rPr sz="2000" spc="-5" dirty="0">
                <a:latin typeface="Helvetica"/>
                <a:cs typeface="Helvetica"/>
              </a:rPr>
              <a:t>to the start </a:t>
            </a:r>
            <a:r>
              <a:rPr sz="2000" dirty="0">
                <a:latin typeface="Helvetica"/>
                <a:cs typeface="Helvetica"/>
              </a:rPr>
              <a:t>symbol</a:t>
            </a:r>
            <a:r>
              <a:rPr sz="2000" spc="-15" dirty="0">
                <a:latin typeface="Helvetica"/>
                <a:cs typeface="Helvetica"/>
              </a:rPr>
              <a:t> </a:t>
            </a:r>
            <a:r>
              <a:rPr sz="2000" dirty="0">
                <a:solidFill>
                  <a:srgbClr val="3333CC"/>
                </a:solidFill>
                <a:latin typeface="Helvetica"/>
                <a:cs typeface="Helvetica"/>
              </a:rPr>
              <a:t>E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32658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Definition:</a:t>
            </a:r>
            <a:r>
              <a:rPr sz="2800" b="1" spc="-5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Handles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11407"/>
            <a:ext cx="8211184" cy="41948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38455" marR="65405" indent="-325755">
              <a:lnSpc>
                <a:spcPts val="3100"/>
              </a:lnSpc>
              <a:spcBef>
                <a:spcPts val="280"/>
              </a:spcBef>
              <a:buChar char="•"/>
              <a:tabLst>
                <a:tab pos="337820" algn="l"/>
                <a:tab pos="338455" algn="l"/>
              </a:tabLst>
            </a:pPr>
            <a:r>
              <a:rPr sz="2650" dirty="0">
                <a:latin typeface="Helvetica"/>
                <a:cs typeface="Helvetica"/>
              </a:rPr>
              <a:t>Intuition: </a:t>
            </a:r>
            <a:r>
              <a:rPr sz="2650" spc="-20" dirty="0">
                <a:latin typeface="Helvetica"/>
                <a:cs typeface="Helvetica"/>
              </a:rPr>
              <a:t>Want </a:t>
            </a:r>
            <a:r>
              <a:rPr sz="2650" dirty="0">
                <a:latin typeface="Helvetica"/>
                <a:cs typeface="Helvetica"/>
              </a:rPr>
              <a:t>to </a:t>
            </a:r>
            <a:r>
              <a:rPr sz="2650" spc="5" dirty="0">
                <a:latin typeface="Helvetica"/>
                <a:cs typeface="Helvetica"/>
              </a:rPr>
              <a:t>reduce </a:t>
            </a:r>
            <a:r>
              <a:rPr sz="2650" dirty="0">
                <a:latin typeface="Helvetica"/>
                <a:cs typeface="Helvetica"/>
              </a:rPr>
              <a:t>only if the result </a:t>
            </a:r>
            <a:r>
              <a:rPr sz="2650" spc="5" dirty="0">
                <a:latin typeface="Helvetica"/>
                <a:cs typeface="Helvetica"/>
              </a:rPr>
              <a:t>can </a:t>
            </a:r>
            <a:r>
              <a:rPr sz="2650" dirty="0">
                <a:latin typeface="Helvetica"/>
                <a:cs typeface="Helvetica"/>
              </a:rPr>
              <a:t>still </a:t>
            </a:r>
            <a:r>
              <a:rPr sz="2650" spc="5" dirty="0">
                <a:latin typeface="Helvetica"/>
                <a:cs typeface="Helvetica"/>
              </a:rPr>
              <a:t>be  reduced </a:t>
            </a:r>
            <a:r>
              <a:rPr sz="2650" dirty="0">
                <a:latin typeface="Helvetica"/>
                <a:cs typeface="Helvetica"/>
              </a:rPr>
              <a:t>to the start</a:t>
            </a:r>
            <a:r>
              <a:rPr sz="2650" spc="-15" dirty="0">
                <a:latin typeface="Helvetica"/>
                <a:cs typeface="Helvetica"/>
              </a:rPr>
              <a:t> </a:t>
            </a:r>
            <a:r>
              <a:rPr sz="2650" spc="5" dirty="0">
                <a:latin typeface="Helvetica"/>
                <a:cs typeface="Helvetica"/>
              </a:rPr>
              <a:t>symbol</a:t>
            </a:r>
            <a:r>
              <a:rPr lang="en-US" sz="2650" spc="5" dirty="0">
                <a:latin typeface="Helvetica"/>
                <a:cs typeface="Helvetica"/>
              </a:rPr>
              <a:t> </a:t>
            </a:r>
            <a:r>
              <a:rPr lang="en-US" sz="2650" spc="5" dirty="0">
                <a:solidFill>
                  <a:srgbClr val="3333CC"/>
                </a:solidFill>
                <a:latin typeface="Helvetica"/>
                <a:cs typeface="Helvetica"/>
              </a:rPr>
              <a:t>S</a:t>
            </a:r>
            <a:endParaRPr sz="265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Helvetica"/>
              <a:buChar char="•"/>
            </a:pPr>
            <a:endParaRPr sz="3600" dirty="0">
              <a:latin typeface="Helvetica"/>
              <a:cs typeface="Helvetica"/>
            </a:endParaRPr>
          </a:p>
          <a:p>
            <a:pPr marL="338455" indent="-325755">
              <a:lnSpc>
                <a:spcPct val="100000"/>
              </a:lnSpc>
              <a:spcBef>
                <a:spcPts val="5"/>
              </a:spcBef>
              <a:buChar char="•"/>
              <a:tabLst>
                <a:tab pos="337820" algn="l"/>
                <a:tab pos="338455" algn="l"/>
              </a:tabLst>
            </a:pPr>
            <a:r>
              <a:rPr sz="2650" spc="5" dirty="0">
                <a:latin typeface="Helvetica"/>
                <a:cs typeface="Helvetica"/>
              </a:rPr>
              <a:t>Assume a </a:t>
            </a:r>
            <a:r>
              <a:rPr sz="2650" dirty="0">
                <a:latin typeface="Helvetica"/>
                <a:cs typeface="Helvetica"/>
              </a:rPr>
              <a:t>rightmost</a:t>
            </a:r>
            <a:r>
              <a:rPr sz="2650" spc="-15" dirty="0">
                <a:latin typeface="Helvetica"/>
                <a:cs typeface="Helvetica"/>
              </a:rPr>
              <a:t> </a:t>
            </a:r>
            <a:r>
              <a:rPr sz="2650" dirty="0">
                <a:latin typeface="Helvetica"/>
                <a:cs typeface="Helvetica"/>
              </a:rPr>
              <a:t>derivation</a:t>
            </a:r>
          </a:p>
          <a:p>
            <a:pPr marL="28575" algn="ctr">
              <a:lnSpc>
                <a:spcPct val="100000"/>
              </a:lnSpc>
              <a:spcBef>
                <a:spcPts val="555"/>
              </a:spcBef>
            </a:pPr>
            <a:r>
              <a:rPr sz="2650" spc="5" dirty="0">
                <a:solidFill>
                  <a:srgbClr val="3333CC"/>
                </a:solidFill>
                <a:latin typeface="Helvetica"/>
                <a:cs typeface="Helvetica"/>
              </a:rPr>
              <a:t>S </a:t>
            </a:r>
            <a:r>
              <a:rPr sz="2650" spc="5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650" spc="5" dirty="0">
                <a:solidFill>
                  <a:srgbClr val="3333CC"/>
                </a:solidFill>
                <a:latin typeface="Helvetica"/>
                <a:cs typeface="Helvetica"/>
              </a:rPr>
              <a:t>* </a:t>
            </a:r>
            <a:r>
              <a:rPr sz="2650" spc="5" dirty="0">
                <a:solidFill>
                  <a:srgbClr val="3333CC"/>
                </a:solidFill>
                <a:latin typeface="Symbol"/>
                <a:cs typeface="Symbol"/>
              </a:rPr>
              <a:t></a:t>
            </a:r>
            <a:r>
              <a:rPr sz="2650" spc="5" dirty="0">
                <a:solidFill>
                  <a:srgbClr val="3333CC"/>
                </a:solidFill>
                <a:latin typeface="Helvetica"/>
                <a:cs typeface="Helvetica"/>
              </a:rPr>
              <a:t>X</a:t>
            </a:r>
            <a:r>
              <a:rPr sz="2650" spc="5" dirty="0">
                <a:solidFill>
                  <a:srgbClr val="3333CC"/>
                </a:solidFill>
                <a:latin typeface="Symbol"/>
                <a:cs typeface="Symbol"/>
              </a:rPr>
              <a:t></a:t>
            </a:r>
            <a:r>
              <a:rPr sz="2650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50" spc="5" dirty="0">
                <a:solidFill>
                  <a:srgbClr val="3333CC"/>
                </a:solidFill>
                <a:latin typeface="Symbol"/>
                <a:cs typeface="Symbol"/>
              </a:rPr>
              <a:t></a:t>
            </a:r>
            <a:r>
              <a:rPr sz="265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3333CC"/>
                </a:solidFill>
                <a:latin typeface="Symbol"/>
                <a:cs typeface="Symbol"/>
              </a:rPr>
              <a:t></a:t>
            </a:r>
            <a:endParaRPr sz="2650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00" dirty="0">
              <a:latin typeface="Symbol"/>
              <a:cs typeface="Symbol"/>
            </a:endParaRPr>
          </a:p>
          <a:p>
            <a:pPr marL="338455" indent="-325755">
              <a:lnSpc>
                <a:spcPct val="100000"/>
              </a:lnSpc>
              <a:buChar char="•"/>
              <a:tabLst>
                <a:tab pos="337820" algn="l"/>
                <a:tab pos="338455" algn="l"/>
              </a:tabLst>
            </a:pPr>
            <a:r>
              <a:rPr sz="3975" spc="7" baseline="2096" dirty="0">
                <a:latin typeface="Helvetica"/>
                <a:cs typeface="Helvetica"/>
              </a:rPr>
              <a:t>Then </a:t>
            </a:r>
            <a:r>
              <a:rPr sz="3975" spc="7" baseline="2096" dirty="0">
                <a:solidFill>
                  <a:srgbClr val="3333CC"/>
                </a:solidFill>
                <a:highlight>
                  <a:srgbClr val="FFFF00"/>
                </a:highlight>
                <a:latin typeface="Helvetica"/>
                <a:cs typeface="Helvetica"/>
              </a:rPr>
              <a:t>X </a:t>
            </a:r>
            <a:r>
              <a:rPr sz="3975" spc="7" baseline="2096" dirty="0">
                <a:solidFill>
                  <a:srgbClr val="3333CC"/>
                </a:solidFill>
                <a:highlight>
                  <a:srgbClr val="FFFF00"/>
                </a:highlight>
                <a:latin typeface="Symbol"/>
                <a:cs typeface="Symbol"/>
              </a:rPr>
              <a:t></a:t>
            </a:r>
            <a:r>
              <a:rPr sz="3975" spc="7" baseline="2096" dirty="0">
                <a:solidFill>
                  <a:srgbClr val="3333CC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3975" spc="7" baseline="2096" dirty="0">
                <a:solidFill>
                  <a:srgbClr val="3333CC"/>
                </a:solidFill>
                <a:highlight>
                  <a:srgbClr val="FFFF00"/>
                </a:highlight>
                <a:latin typeface="Symbol"/>
                <a:cs typeface="Symbol"/>
              </a:rPr>
              <a:t></a:t>
            </a:r>
            <a:r>
              <a:rPr sz="3975" spc="7" baseline="2096" dirty="0">
                <a:solidFill>
                  <a:srgbClr val="3333CC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3975" baseline="2096" dirty="0">
                <a:latin typeface="Helvetica"/>
                <a:cs typeface="Helvetica"/>
              </a:rPr>
              <a:t>in the position after </a:t>
            </a:r>
            <a:r>
              <a:rPr sz="3975" spc="7" baseline="2096" dirty="0">
                <a:solidFill>
                  <a:srgbClr val="3333CC"/>
                </a:solidFill>
                <a:latin typeface="Symbol"/>
                <a:cs typeface="Symbol"/>
              </a:rPr>
              <a:t></a:t>
            </a:r>
            <a:r>
              <a:rPr sz="3975" spc="7" baseline="209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975" baseline="2096" dirty="0">
                <a:latin typeface="Helvetica"/>
                <a:cs typeface="Helvetica"/>
              </a:rPr>
              <a:t>is </a:t>
            </a:r>
            <a:r>
              <a:rPr sz="3975" spc="7" baseline="2096" dirty="0">
                <a:latin typeface="Helvetica"/>
                <a:cs typeface="Helvetica"/>
              </a:rPr>
              <a:t>a </a:t>
            </a:r>
            <a:r>
              <a:rPr sz="3975" spc="7" baseline="2096" dirty="0">
                <a:highlight>
                  <a:srgbClr val="FFFF00"/>
                </a:highlight>
                <a:latin typeface="Helvetica"/>
                <a:cs typeface="Helvetica"/>
              </a:rPr>
              <a:t>handle</a:t>
            </a:r>
            <a:r>
              <a:rPr sz="3975" spc="7" baseline="2096" dirty="0">
                <a:latin typeface="Helvetica"/>
                <a:cs typeface="Helvetica"/>
              </a:rPr>
              <a:t> </a:t>
            </a:r>
            <a:r>
              <a:rPr sz="3975" baseline="2096" dirty="0">
                <a:latin typeface="Helvetica"/>
                <a:cs typeface="Helvetica"/>
              </a:rPr>
              <a:t>of</a:t>
            </a:r>
            <a:r>
              <a:rPr sz="3975" spc="37" baseline="2096" dirty="0">
                <a:latin typeface="Helvetica"/>
                <a:cs typeface="Helvetica"/>
              </a:rPr>
              <a:t> </a:t>
            </a:r>
            <a:r>
              <a:rPr sz="3975" spc="7" baseline="2096" dirty="0">
                <a:solidFill>
                  <a:srgbClr val="3333CC"/>
                </a:solidFill>
                <a:latin typeface="Symbol"/>
                <a:cs typeface="Symbol"/>
              </a:rPr>
              <a:t></a:t>
            </a:r>
            <a:r>
              <a:rPr sz="3975" spc="7" baseline="2096" dirty="0">
                <a:solidFill>
                  <a:srgbClr val="3333CC"/>
                </a:solidFill>
                <a:highlight>
                  <a:srgbClr val="FFFF00"/>
                </a:highlight>
                <a:latin typeface="Symbol"/>
                <a:cs typeface="Symbol"/>
              </a:rPr>
              <a:t></a:t>
            </a:r>
            <a:r>
              <a:rPr sz="3975" spc="7" baseline="2096" dirty="0">
                <a:solidFill>
                  <a:srgbClr val="3333CC"/>
                </a:solidFill>
                <a:latin typeface="Symbol"/>
                <a:cs typeface="Symbol"/>
              </a:rPr>
              <a:t></a:t>
            </a:r>
            <a:endParaRPr sz="3975" baseline="2096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Helvetica"/>
              <a:buChar char="•"/>
            </a:pPr>
            <a:endParaRPr sz="3550" dirty="0">
              <a:latin typeface="Symbol"/>
              <a:cs typeface="Symbol"/>
            </a:endParaRPr>
          </a:p>
          <a:p>
            <a:pPr marL="338455" indent="-325755">
              <a:lnSpc>
                <a:spcPct val="100000"/>
              </a:lnSpc>
              <a:buChar char="•"/>
              <a:tabLst>
                <a:tab pos="337820" algn="l"/>
                <a:tab pos="338455" algn="l"/>
              </a:tabLst>
            </a:pPr>
            <a:r>
              <a:rPr sz="2650" spc="5" dirty="0">
                <a:latin typeface="Helvetica"/>
                <a:cs typeface="Helvetica"/>
              </a:rPr>
              <a:t>Can and must reduce </a:t>
            </a:r>
            <a:r>
              <a:rPr sz="2650" dirty="0">
                <a:latin typeface="Helvetica"/>
                <a:cs typeface="Helvetica"/>
              </a:rPr>
              <a:t>at</a:t>
            </a:r>
            <a:r>
              <a:rPr sz="2650" spc="-30" dirty="0">
                <a:latin typeface="Helvetica"/>
                <a:cs typeface="Helvetica"/>
              </a:rPr>
              <a:t> </a:t>
            </a:r>
            <a:r>
              <a:rPr sz="2650" dirty="0">
                <a:latin typeface="Helvetica"/>
                <a:cs typeface="Helvetica"/>
              </a:rPr>
              <a:t>handles.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26530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Handles</a:t>
            </a:r>
            <a:r>
              <a:rPr sz="2800" b="1" spc="-5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(Cont.)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7973059" cy="4402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Helvetica"/>
                <a:cs typeface="Helvetica"/>
              </a:rPr>
              <a:t>Handles </a:t>
            </a:r>
            <a:r>
              <a:rPr sz="2800" spc="-5" dirty="0">
                <a:latin typeface="Helvetica"/>
                <a:cs typeface="Helvetica"/>
              </a:rPr>
              <a:t>formalize the intuition</a:t>
            </a:r>
            <a:endParaRPr sz="2800" dirty="0">
              <a:latin typeface="Helvetica"/>
              <a:cs typeface="Helvetica"/>
            </a:endParaRPr>
          </a:p>
          <a:p>
            <a:pPr marL="755015" marR="601980" indent="-285750" algn="just">
              <a:lnSpc>
                <a:spcPct val="100699"/>
              </a:lnSpc>
              <a:spcBef>
                <a:spcPts val="10"/>
              </a:spcBef>
            </a:pPr>
            <a:r>
              <a:rPr sz="2400" dirty="0">
                <a:latin typeface="Helvetica"/>
                <a:cs typeface="Helvetica"/>
              </a:rPr>
              <a:t>– </a:t>
            </a:r>
            <a:r>
              <a:rPr sz="2400" b="1" dirty="0">
                <a:latin typeface="Helvetica"/>
                <a:cs typeface="Helvetica"/>
              </a:rPr>
              <a:t>A handle is a </a:t>
            </a:r>
            <a:r>
              <a:rPr sz="2400" b="1" spc="-5" dirty="0">
                <a:latin typeface="Helvetica"/>
                <a:cs typeface="Helvetica"/>
              </a:rPr>
              <a:t>string that </a:t>
            </a:r>
            <a:r>
              <a:rPr sz="2400" b="1" dirty="0">
                <a:latin typeface="Helvetica"/>
                <a:cs typeface="Helvetica"/>
              </a:rPr>
              <a:t>can be reduced and also  allows </a:t>
            </a:r>
            <a:r>
              <a:rPr sz="2400" b="1" spc="-5" dirty="0">
                <a:latin typeface="Helvetica"/>
                <a:cs typeface="Helvetica"/>
              </a:rPr>
              <a:t>further reductions </a:t>
            </a:r>
            <a:r>
              <a:rPr sz="2400" b="1" dirty="0">
                <a:latin typeface="Helvetica"/>
                <a:cs typeface="Helvetica"/>
              </a:rPr>
              <a:t>back </a:t>
            </a:r>
            <a:r>
              <a:rPr sz="2400" b="1" spc="-5" dirty="0">
                <a:latin typeface="Helvetica"/>
                <a:cs typeface="Helvetica"/>
              </a:rPr>
              <a:t>to the start </a:t>
            </a:r>
            <a:r>
              <a:rPr sz="2400" b="1" dirty="0">
                <a:latin typeface="Helvetica"/>
                <a:cs typeface="Helvetica"/>
              </a:rPr>
              <a:t>symbol  (using a </a:t>
            </a:r>
            <a:r>
              <a:rPr sz="2400" b="1" spc="-5" dirty="0">
                <a:latin typeface="Helvetica"/>
                <a:cs typeface="Helvetica"/>
              </a:rPr>
              <a:t>particular production </a:t>
            </a:r>
            <a:r>
              <a:rPr sz="2400" b="1" dirty="0">
                <a:latin typeface="Helvetica"/>
                <a:cs typeface="Helvetica"/>
              </a:rPr>
              <a:t>at a </a:t>
            </a:r>
            <a:r>
              <a:rPr sz="2400" b="1" spc="-5" dirty="0">
                <a:latin typeface="Helvetica"/>
                <a:cs typeface="Helvetica"/>
              </a:rPr>
              <a:t>specific</a:t>
            </a:r>
            <a:r>
              <a:rPr sz="2400" b="1" spc="25" dirty="0">
                <a:latin typeface="Helvetica"/>
                <a:cs typeface="Helvetica"/>
              </a:rPr>
              <a:t> </a:t>
            </a:r>
            <a:r>
              <a:rPr sz="2400" b="1" spc="-5" dirty="0">
                <a:latin typeface="Helvetica"/>
                <a:cs typeface="Helvetica"/>
              </a:rPr>
              <a:t>spot)</a:t>
            </a:r>
            <a:endParaRPr sz="2400" b="1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00" dirty="0">
              <a:latin typeface="Helvetica"/>
              <a:cs typeface="Helvetica"/>
            </a:endParaRPr>
          </a:p>
          <a:p>
            <a:pPr marL="355600" indent="-342900" algn="just">
              <a:lnSpc>
                <a:spcPct val="100000"/>
              </a:lnSpc>
              <a:spcBef>
                <a:spcPts val="1495"/>
              </a:spcBef>
              <a:buChar char="•"/>
              <a:tabLst>
                <a:tab pos="355600" algn="l"/>
              </a:tabLst>
            </a:pPr>
            <a:r>
              <a:rPr sz="2800" spc="-25" dirty="0">
                <a:latin typeface="Helvetica"/>
                <a:cs typeface="Helvetica"/>
              </a:rPr>
              <a:t>We </a:t>
            </a:r>
            <a:r>
              <a:rPr sz="2800" dirty="0">
                <a:latin typeface="Helvetica"/>
                <a:cs typeface="Helvetica"/>
              </a:rPr>
              <a:t>only want </a:t>
            </a:r>
            <a:r>
              <a:rPr sz="2800" spc="-5" dirty="0">
                <a:latin typeface="Helvetica"/>
                <a:cs typeface="Helvetica"/>
              </a:rPr>
              <a:t>to </a:t>
            </a:r>
            <a:r>
              <a:rPr sz="2800" dirty="0">
                <a:latin typeface="Helvetica"/>
                <a:cs typeface="Helvetica"/>
              </a:rPr>
              <a:t>reduce at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handles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Helvetica"/>
              <a:buChar char="•"/>
            </a:pPr>
            <a:endParaRPr sz="4100" dirty="0">
              <a:latin typeface="Helvetica"/>
              <a:cs typeface="Helvetica"/>
            </a:endParaRPr>
          </a:p>
          <a:p>
            <a:pPr marL="354965" marR="5080" indent="-342900">
              <a:lnSpc>
                <a:spcPct val="1012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Note: </a:t>
            </a:r>
            <a:r>
              <a:rPr sz="2800" spc="-25" dirty="0">
                <a:latin typeface="Helvetica"/>
                <a:cs typeface="Helvetica"/>
              </a:rPr>
              <a:t>We </a:t>
            </a:r>
            <a:r>
              <a:rPr sz="2800" dirty="0">
                <a:latin typeface="Helvetica"/>
                <a:cs typeface="Helvetica"/>
              </a:rPr>
              <a:t>have said what a handle is, not how</a:t>
            </a:r>
            <a:r>
              <a:rPr sz="2800" spc="-65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to  </a:t>
            </a:r>
            <a:r>
              <a:rPr sz="2800" dirty="0">
                <a:latin typeface="Helvetica"/>
                <a:cs typeface="Helvetica"/>
              </a:rPr>
              <a:t>find</a:t>
            </a:r>
            <a:r>
              <a:rPr sz="2800" spc="-5" dirty="0">
                <a:latin typeface="Helvetica"/>
                <a:cs typeface="Helvetica"/>
              </a:rPr>
              <a:t> handles</a:t>
            </a:r>
            <a:endParaRPr sz="28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2989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cs typeface="Helvetica"/>
              </a:rPr>
              <a:t>Important Fact</a:t>
            </a:r>
            <a:r>
              <a:rPr sz="2800" b="1" spc="-65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000000"/>
                </a:solidFill>
                <a:highlight>
                  <a:srgbClr val="FFFF00"/>
                </a:highlight>
                <a:latin typeface="Helvetica"/>
                <a:cs typeface="Helvetica"/>
              </a:rPr>
              <a:t>#2</a:t>
            </a:r>
            <a:endParaRPr sz="2800" dirty="0">
              <a:highlight>
                <a:srgbClr val="FFFF00"/>
              </a:highlight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086725" cy="2718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Helvetica"/>
                <a:cs typeface="Helvetica"/>
              </a:rPr>
              <a:t>Important Fact </a:t>
            </a:r>
            <a:r>
              <a:rPr sz="2800" dirty="0">
                <a:latin typeface="Helvetica"/>
                <a:cs typeface="Helvetica"/>
              </a:rPr>
              <a:t>#2 about </a:t>
            </a:r>
            <a:r>
              <a:rPr sz="2800" spc="-5" dirty="0">
                <a:latin typeface="Helvetica"/>
                <a:cs typeface="Helvetica"/>
              </a:rPr>
              <a:t>bottom-up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parsing:</a:t>
            </a:r>
          </a:p>
          <a:p>
            <a:pPr>
              <a:lnSpc>
                <a:spcPct val="100000"/>
              </a:lnSpc>
            </a:pPr>
            <a:endParaRPr sz="4100" dirty="0">
              <a:latin typeface="Helvetica"/>
              <a:cs typeface="Helvetica"/>
            </a:endParaRPr>
          </a:p>
          <a:p>
            <a:pPr marL="2027555" marR="5080" indent="-1861820">
              <a:lnSpc>
                <a:spcPct val="101200"/>
              </a:lnSpc>
            </a:pPr>
            <a:r>
              <a:rPr sz="3600" spc="-5" dirty="0">
                <a:latin typeface="Helvetica"/>
                <a:cs typeface="Helvetica"/>
              </a:rPr>
              <a:t>In shift-reduce </a:t>
            </a:r>
            <a:r>
              <a:rPr sz="3600" dirty="0">
                <a:latin typeface="Helvetica"/>
                <a:cs typeface="Helvetica"/>
              </a:rPr>
              <a:t>parsing, </a:t>
            </a:r>
            <a:r>
              <a:rPr sz="3600" dirty="0">
                <a:highlight>
                  <a:srgbClr val="FFFF00"/>
                </a:highlight>
                <a:latin typeface="Helvetica"/>
                <a:cs typeface="Helvetica"/>
              </a:rPr>
              <a:t>handles</a:t>
            </a:r>
            <a:r>
              <a:rPr sz="3600" dirty="0">
                <a:latin typeface="Helvetica"/>
                <a:cs typeface="Helvetica"/>
              </a:rPr>
              <a:t> appear</a:t>
            </a:r>
            <a:r>
              <a:rPr lang="en-US" sz="3600" dirty="0">
                <a:latin typeface="Helvetica"/>
                <a:cs typeface="Helvetica"/>
              </a:rPr>
              <a:t> </a:t>
            </a:r>
          </a:p>
          <a:p>
            <a:pPr marL="2027555" marR="5080" indent="-1861820">
              <a:lnSpc>
                <a:spcPct val="101200"/>
              </a:lnSpc>
            </a:pPr>
            <a:r>
              <a:rPr sz="3600" dirty="0">
                <a:latin typeface="Helvetica"/>
                <a:cs typeface="Helvetica"/>
              </a:rPr>
              <a:t>only </a:t>
            </a:r>
            <a:r>
              <a:rPr sz="3600" dirty="0">
                <a:highlight>
                  <a:srgbClr val="FFFF00"/>
                </a:highlight>
                <a:latin typeface="Helvetica"/>
                <a:cs typeface="Helvetica"/>
              </a:rPr>
              <a:t>at </a:t>
            </a:r>
            <a:r>
              <a:rPr sz="3600" spc="-5" dirty="0">
                <a:highlight>
                  <a:srgbClr val="FFFF00"/>
                </a:highlight>
                <a:latin typeface="Helvetica"/>
                <a:cs typeface="Helvetica"/>
              </a:rPr>
              <a:t>the</a:t>
            </a:r>
            <a:r>
              <a:rPr lang="en-US" sz="3600" spc="-5" dirty="0">
                <a:highlight>
                  <a:srgbClr val="FFFF00"/>
                </a:highlight>
                <a:latin typeface="Helvetica"/>
                <a:cs typeface="Helvetica"/>
              </a:rPr>
              <a:t> </a:t>
            </a:r>
            <a:r>
              <a:rPr sz="3600" spc="-5" dirty="0">
                <a:highlight>
                  <a:srgbClr val="FFFF00"/>
                </a:highlight>
                <a:latin typeface="Helvetica"/>
                <a:cs typeface="Helvetica"/>
              </a:rPr>
              <a:t>top </a:t>
            </a:r>
            <a:r>
              <a:rPr sz="3600" dirty="0">
                <a:highlight>
                  <a:srgbClr val="FFFF00"/>
                </a:highlight>
                <a:latin typeface="Helvetica"/>
                <a:cs typeface="Helvetica"/>
              </a:rPr>
              <a:t>of </a:t>
            </a:r>
            <a:r>
              <a:rPr sz="3600" spc="-5" dirty="0">
                <a:highlight>
                  <a:srgbClr val="FFFF00"/>
                </a:highlight>
                <a:latin typeface="Helvetica"/>
                <a:cs typeface="Helvetica"/>
              </a:rPr>
              <a:t>the stack</a:t>
            </a:r>
            <a:r>
              <a:rPr sz="3600" spc="-5" dirty="0">
                <a:latin typeface="Helvetica"/>
                <a:cs typeface="Helvetica"/>
              </a:rPr>
              <a:t>, </a:t>
            </a:r>
            <a:r>
              <a:rPr sz="3600" dirty="0">
                <a:latin typeface="Helvetica"/>
                <a:cs typeface="Helvetica"/>
              </a:rPr>
              <a:t>never</a:t>
            </a:r>
            <a:endParaRPr lang="en-US" sz="3600" dirty="0">
              <a:latin typeface="Helvetica"/>
              <a:cs typeface="Helvetica"/>
            </a:endParaRPr>
          </a:p>
          <a:p>
            <a:pPr marL="2027555" marR="5080" indent="-1861820">
              <a:lnSpc>
                <a:spcPct val="101200"/>
              </a:lnSpc>
            </a:pPr>
            <a:r>
              <a:rPr sz="3600" spc="-15" dirty="0">
                <a:latin typeface="Helvetica"/>
                <a:cs typeface="Helvetica"/>
              </a:rPr>
              <a:t> </a:t>
            </a:r>
            <a:r>
              <a:rPr sz="3600" dirty="0">
                <a:latin typeface="Helvetica"/>
                <a:cs typeface="Helvetica"/>
              </a:rPr>
              <a:t>inside</a:t>
            </a:r>
            <a:r>
              <a:rPr lang="en-US" sz="3600" dirty="0">
                <a:latin typeface="Helvetica"/>
                <a:cs typeface="Helvetica"/>
              </a:rPr>
              <a:t> the stack</a:t>
            </a:r>
            <a:endParaRPr sz="36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993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Why?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172450" cy="369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Informal induction </a:t>
            </a:r>
            <a:r>
              <a:rPr sz="2800" dirty="0">
                <a:latin typeface="Helvetica"/>
                <a:cs typeface="Helvetica"/>
              </a:rPr>
              <a:t>on # of reduce</a:t>
            </a:r>
            <a:r>
              <a:rPr sz="2800" spc="-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moves:</a:t>
            </a:r>
            <a:endParaRPr sz="2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Helvetica"/>
              <a:buChar char="•"/>
            </a:pPr>
            <a:endParaRPr sz="3100">
              <a:latin typeface="Helvetica"/>
              <a:cs typeface="Helvetic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Helvetica"/>
                <a:cs typeface="Helvetica"/>
              </a:rPr>
              <a:t>True </a:t>
            </a:r>
            <a:r>
              <a:rPr sz="2800" spc="-25" dirty="0">
                <a:latin typeface="Helvetica"/>
                <a:cs typeface="Helvetica"/>
              </a:rPr>
              <a:t>initially, </a:t>
            </a:r>
            <a:r>
              <a:rPr sz="2800" spc="-5" dirty="0">
                <a:latin typeface="Helvetica"/>
                <a:cs typeface="Helvetica"/>
              </a:rPr>
              <a:t>stack </a:t>
            </a:r>
            <a:r>
              <a:rPr sz="2800" dirty="0">
                <a:latin typeface="Helvetica"/>
                <a:cs typeface="Helvetica"/>
              </a:rPr>
              <a:t>is</a:t>
            </a:r>
            <a:r>
              <a:rPr sz="2800" spc="40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empty</a:t>
            </a:r>
            <a:endParaRPr sz="2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Helvetica"/>
              <a:buChar char="•"/>
            </a:pPr>
            <a:endParaRPr sz="3100">
              <a:latin typeface="Helvetica"/>
              <a:cs typeface="Helvetic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Immediately after </a:t>
            </a:r>
            <a:r>
              <a:rPr sz="2800" dirty="0">
                <a:latin typeface="Helvetica"/>
                <a:cs typeface="Helvetica"/>
              </a:rPr>
              <a:t>reducing a</a:t>
            </a:r>
            <a:r>
              <a:rPr sz="2800" spc="-10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handle</a:t>
            </a:r>
            <a:endParaRPr sz="2800">
              <a:latin typeface="Helvetica"/>
              <a:cs typeface="Helvetica"/>
            </a:endParaRPr>
          </a:p>
          <a:p>
            <a:pPr marL="755650" lvl="1" indent="-286385">
              <a:lnSpc>
                <a:spcPct val="100000"/>
              </a:lnSpc>
              <a:spcBef>
                <a:spcPts val="3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Helvetica"/>
                <a:cs typeface="Helvetica"/>
              </a:rPr>
              <a:t>right-most non-terminal </a:t>
            </a:r>
            <a:r>
              <a:rPr sz="2400" dirty="0">
                <a:latin typeface="Helvetica"/>
                <a:cs typeface="Helvetica"/>
              </a:rPr>
              <a:t>on </a:t>
            </a:r>
            <a:r>
              <a:rPr sz="2400" spc="-5" dirty="0">
                <a:latin typeface="Helvetica"/>
                <a:cs typeface="Helvetica"/>
              </a:rPr>
              <a:t>top </a:t>
            </a:r>
            <a:r>
              <a:rPr sz="2400" dirty="0">
                <a:latin typeface="Helvetica"/>
                <a:cs typeface="Helvetica"/>
              </a:rPr>
              <a:t>of </a:t>
            </a:r>
            <a:r>
              <a:rPr sz="2400" spc="-5" dirty="0">
                <a:latin typeface="Helvetica"/>
                <a:cs typeface="Helvetica"/>
              </a:rPr>
              <a:t>the</a:t>
            </a:r>
            <a:r>
              <a:rPr sz="2400" spc="10" dirty="0">
                <a:latin typeface="Helvetica"/>
                <a:cs typeface="Helvetica"/>
              </a:rPr>
              <a:t> </a:t>
            </a:r>
            <a:r>
              <a:rPr sz="2400" spc="-5" dirty="0">
                <a:latin typeface="Helvetica"/>
                <a:cs typeface="Helvetica"/>
              </a:rPr>
              <a:t>stack</a:t>
            </a:r>
            <a:endParaRPr sz="2400">
              <a:latin typeface="Helvetica"/>
              <a:cs typeface="Helvetica"/>
            </a:endParaRPr>
          </a:p>
          <a:p>
            <a:pPr marL="755015" marR="5080" lvl="1" indent="-285750">
              <a:lnSpc>
                <a:spcPct val="100699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Helvetica"/>
                <a:cs typeface="Helvetica"/>
              </a:rPr>
              <a:t>next handle must be </a:t>
            </a:r>
            <a:r>
              <a:rPr sz="2400" spc="-5" dirty="0">
                <a:latin typeface="Helvetica"/>
                <a:cs typeface="Helvetica"/>
              </a:rPr>
              <a:t>to </a:t>
            </a:r>
            <a:r>
              <a:rPr sz="2400" dirty="0">
                <a:latin typeface="Helvetica"/>
                <a:cs typeface="Helvetica"/>
              </a:rPr>
              <a:t>right of </a:t>
            </a:r>
            <a:r>
              <a:rPr sz="2400" spc="-5" dirty="0">
                <a:latin typeface="Helvetica"/>
                <a:cs typeface="Helvetica"/>
              </a:rPr>
              <a:t>right-most non-terminal,  </a:t>
            </a:r>
            <a:r>
              <a:rPr sz="2400" dirty="0">
                <a:latin typeface="Helvetica"/>
                <a:cs typeface="Helvetica"/>
              </a:rPr>
              <a:t>because </a:t>
            </a:r>
            <a:r>
              <a:rPr sz="2400" spc="-5" dirty="0">
                <a:latin typeface="Helvetica"/>
                <a:cs typeface="Helvetica"/>
              </a:rPr>
              <a:t>this </a:t>
            </a:r>
            <a:r>
              <a:rPr sz="2400" dirty="0">
                <a:latin typeface="Helvetica"/>
                <a:cs typeface="Helvetica"/>
              </a:rPr>
              <a:t>is a </a:t>
            </a:r>
            <a:r>
              <a:rPr sz="2400" spc="-5" dirty="0">
                <a:latin typeface="Helvetica"/>
                <a:cs typeface="Helvetica"/>
              </a:rPr>
              <a:t>right-most</a:t>
            </a:r>
            <a:r>
              <a:rPr sz="2400" spc="-10" dirty="0">
                <a:latin typeface="Helvetica"/>
                <a:cs typeface="Helvetica"/>
              </a:rPr>
              <a:t> </a:t>
            </a:r>
            <a:r>
              <a:rPr sz="2400" spc="-5" dirty="0">
                <a:latin typeface="Helvetica"/>
                <a:cs typeface="Helvetica"/>
              </a:rPr>
              <a:t>derivation</a:t>
            </a:r>
            <a:endParaRPr sz="2400">
              <a:latin typeface="Helvetica"/>
              <a:cs typeface="Helvetica"/>
            </a:endParaRPr>
          </a:p>
          <a:p>
            <a:pPr marL="755650" lvl="1" indent="-286385">
              <a:lnSpc>
                <a:spcPct val="100000"/>
              </a:lnSpc>
              <a:spcBef>
                <a:spcPts val="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Helvetica"/>
                <a:cs typeface="Helvetica"/>
              </a:rPr>
              <a:t>Sequence of </a:t>
            </a:r>
            <a:r>
              <a:rPr sz="2400" spc="-5" dirty="0">
                <a:latin typeface="Helvetica"/>
                <a:cs typeface="Helvetica"/>
              </a:rPr>
              <a:t>shift </a:t>
            </a:r>
            <a:r>
              <a:rPr sz="2400" dirty="0">
                <a:latin typeface="Helvetica"/>
                <a:cs typeface="Helvetica"/>
              </a:rPr>
              <a:t>moves reaches next</a:t>
            </a:r>
            <a:r>
              <a:rPr sz="2400" spc="-45" dirty="0">
                <a:latin typeface="Helvetica"/>
                <a:cs typeface="Helvetica"/>
              </a:rPr>
              <a:t> </a:t>
            </a:r>
            <a:r>
              <a:rPr sz="2400" dirty="0">
                <a:latin typeface="Helvetica"/>
                <a:cs typeface="Helvetica"/>
              </a:rPr>
              <a:t>handle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3562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Summary of</a:t>
            </a:r>
            <a:r>
              <a:rPr sz="2800" b="1" spc="-4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Handles</a:t>
            </a:r>
            <a:endParaRPr sz="2800" dirty="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196580" cy="45589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marR="83185" indent="-342900">
              <a:lnSpc>
                <a:spcPts val="3060"/>
              </a:lnSpc>
              <a:spcBef>
                <a:spcPts val="4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In shift-reduce </a:t>
            </a:r>
            <a:r>
              <a:rPr sz="2800" dirty="0">
                <a:latin typeface="Helvetica"/>
                <a:cs typeface="Helvetica"/>
              </a:rPr>
              <a:t>parsing, handles always appear</a:t>
            </a:r>
            <a:r>
              <a:rPr sz="2800" spc="-5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at  </a:t>
            </a:r>
            <a:r>
              <a:rPr sz="2800" spc="-5" dirty="0">
                <a:latin typeface="Helvetica"/>
                <a:cs typeface="Helvetica"/>
              </a:rPr>
              <a:t>the top </a:t>
            </a:r>
            <a:r>
              <a:rPr sz="2800" dirty="0">
                <a:latin typeface="Helvetica"/>
                <a:cs typeface="Helvetica"/>
              </a:rPr>
              <a:t>of </a:t>
            </a:r>
            <a:r>
              <a:rPr sz="2800" spc="-5" dirty="0">
                <a:latin typeface="Helvetica"/>
                <a:cs typeface="Helvetica"/>
              </a:rPr>
              <a:t>the</a:t>
            </a:r>
            <a:r>
              <a:rPr sz="2800" dirty="0">
                <a:latin typeface="Helvetica"/>
                <a:cs typeface="Helvetica"/>
              </a:rPr>
              <a:t> </a:t>
            </a:r>
            <a:r>
              <a:rPr sz="2800" spc="-5" dirty="0">
                <a:latin typeface="Helvetica"/>
                <a:cs typeface="Helvetica"/>
              </a:rPr>
              <a:t>stack</a:t>
            </a:r>
            <a:endParaRPr lang="en-US" sz="2800" spc="-5" dirty="0">
              <a:latin typeface="Helvetica"/>
              <a:cs typeface="Helvetica"/>
            </a:endParaRPr>
          </a:p>
          <a:p>
            <a:pPr marL="12065" marR="83185">
              <a:lnSpc>
                <a:spcPts val="3060"/>
              </a:lnSpc>
              <a:spcBef>
                <a:spcPts val="450"/>
              </a:spcBef>
              <a:tabLst>
                <a:tab pos="354965" algn="l"/>
                <a:tab pos="355600" algn="l"/>
              </a:tabLst>
            </a:pPr>
            <a:endParaRPr lang="en-US" sz="2800" spc="-5" dirty="0">
              <a:latin typeface="Helvetica"/>
              <a:cs typeface="Helvetica"/>
            </a:endParaRPr>
          </a:p>
          <a:p>
            <a:pPr marL="354965" marR="83185" indent="-342900">
              <a:lnSpc>
                <a:spcPts val="3060"/>
              </a:lnSpc>
              <a:spcBef>
                <a:spcPts val="45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b="1" dirty="0"/>
              <a:t>Parsing decisions</a:t>
            </a:r>
            <a:r>
              <a:rPr lang="en-US" sz="2800" dirty="0"/>
              <a:t> are made by scanning from </a:t>
            </a:r>
            <a:r>
              <a:rPr lang="en-US" sz="2800" b="1" dirty="0"/>
              <a:t>left to right</a:t>
            </a:r>
            <a:r>
              <a:rPr lang="en-US" sz="2800" dirty="0"/>
              <a:t>, but we only reduce </a:t>
            </a:r>
            <a:r>
              <a:rPr lang="en-US" sz="2800" b="1" dirty="0"/>
              <a:t>rightmost</a:t>
            </a:r>
            <a:r>
              <a:rPr lang="en-US" sz="2800" dirty="0"/>
              <a:t> valid production (handle). Parser only needs to examine the stack up to the handle at the top; it does not need to look further to the left. </a:t>
            </a:r>
            <a:br>
              <a:rPr lang="en-US" sz="2800" dirty="0"/>
            </a:br>
            <a:endParaRPr sz="2400" dirty="0">
              <a:latin typeface="Helvetica"/>
              <a:cs typeface="Helvetica"/>
            </a:endParaRPr>
          </a:p>
          <a:p>
            <a:pPr marL="354965" marR="1012825" indent="-342900">
              <a:lnSpc>
                <a:spcPts val="306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Bottom-up </a:t>
            </a:r>
            <a:r>
              <a:rPr sz="2800" dirty="0">
                <a:latin typeface="Helvetica"/>
                <a:cs typeface="Helvetica"/>
              </a:rPr>
              <a:t>parsing </a:t>
            </a:r>
            <a:r>
              <a:rPr sz="2800" spc="-5" dirty="0">
                <a:latin typeface="Helvetica"/>
                <a:cs typeface="Helvetica"/>
              </a:rPr>
              <a:t>algorithms </a:t>
            </a:r>
            <a:r>
              <a:rPr sz="2800" dirty="0">
                <a:latin typeface="Helvetica"/>
                <a:cs typeface="Helvetica"/>
              </a:rPr>
              <a:t>are based on  recognizing</a:t>
            </a:r>
            <a:r>
              <a:rPr sz="2800" spc="-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handles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36214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Recognizing</a:t>
            </a:r>
            <a:r>
              <a:rPr sz="2800" b="1" spc="-55" dirty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Handles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627638"/>
            <a:ext cx="8195945" cy="425917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4965" marR="1216660" indent="-342900">
              <a:lnSpc>
                <a:spcPct val="101200"/>
              </a:lnSpc>
              <a:spcBef>
                <a:spcPts val="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Helvetica"/>
                <a:cs typeface="Helvetica"/>
              </a:rPr>
              <a:t>There </a:t>
            </a:r>
            <a:r>
              <a:rPr sz="2800" dirty="0">
                <a:latin typeface="Helvetica"/>
                <a:cs typeface="Helvetica"/>
              </a:rPr>
              <a:t>are </a:t>
            </a:r>
            <a:r>
              <a:rPr lang="en-US" sz="2800" dirty="0">
                <a:latin typeface="Helvetica"/>
                <a:cs typeface="Helvetica"/>
              </a:rPr>
              <a:t>grammars with </a:t>
            </a:r>
            <a:r>
              <a:rPr sz="2800" dirty="0">
                <a:latin typeface="Helvetica"/>
                <a:cs typeface="Helvetica"/>
              </a:rPr>
              <a:t>no known </a:t>
            </a:r>
            <a:r>
              <a:rPr sz="2800" spc="-10" dirty="0">
                <a:latin typeface="Helvetica"/>
                <a:cs typeface="Helvetica"/>
              </a:rPr>
              <a:t>efficient </a:t>
            </a:r>
            <a:r>
              <a:rPr sz="2800" spc="-5" dirty="0">
                <a:latin typeface="Helvetica"/>
                <a:cs typeface="Helvetica"/>
              </a:rPr>
              <a:t>algorithms to  </a:t>
            </a:r>
            <a:r>
              <a:rPr sz="2800" dirty="0">
                <a:latin typeface="Helvetica"/>
                <a:cs typeface="Helvetica"/>
              </a:rPr>
              <a:t>recognize</a:t>
            </a:r>
            <a:r>
              <a:rPr sz="2800" spc="-5" dirty="0">
                <a:latin typeface="Helvetica"/>
                <a:cs typeface="Helvetica"/>
              </a:rPr>
              <a:t> </a:t>
            </a:r>
            <a:r>
              <a:rPr sz="2800" dirty="0">
                <a:latin typeface="Helvetica"/>
                <a:cs typeface="Helvetica"/>
              </a:rPr>
              <a:t>handles</a:t>
            </a:r>
            <a:br>
              <a:rPr lang="en-US" sz="2800" dirty="0">
                <a:latin typeface="Helvetica"/>
                <a:cs typeface="Helvetica"/>
              </a:rPr>
            </a:br>
            <a:endParaRPr sz="2800" dirty="0">
              <a:latin typeface="Helvetica"/>
              <a:cs typeface="Helvetica"/>
            </a:endParaRPr>
          </a:p>
          <a:p>
            <a:pPr marL="354965" marR="835660" indent="-342900">
              <a:lnSpc>
                <a:spcPct val="1012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Helvetica"/>
                <a:cs typeface="Helvetica"/>
              </a:rPr>
              <a:t>Some </a:t>
            </a:r>
            <a:r>
              <a:rPr sz="2800" spc="-5" dirty="0">
                <a:latin typeface="Helvetica"/>
                <a:cs typeface="Helvetica"/>
              </a:rPr>
              <a:t>CFGs, </a:t>
            </a:r>
            <a:r>
              <a:rPr lang="en-US" sz="2800" spc="-5" dirty="0">
                <a:latin typeface="Helvetica"/>
                <a:cs typeface="Helvetica"/>
              </a:rPr>
              <a:t>use proofs to guarantee either finding the handle, or determining its ambiguous conflict.  These are known as:</a:t>
            </a:r>
            <a:br>
              <a:rPr lang="en-US" sz="2800" spc="-5" dirty="0">
                <a:latin typeface="Helvetica"/>
                <a:cs typeface="Helvetica"/>
              </a:rPr>
            </a:br>
            <a:r>
              <a:rPr lang="en-US" sz="2800" spc="-5" dirty="0">
                <a:latin typeface="Helvetica"/>
                <a:cs typeface="Helvetica"/>
              </a:rPr>
              <a:t>SLR(1),  LALR(1),  Canonical LR(1), </a:t>
            </a:r>
            <a:endParaRPr sz="2800" dirty="0">
              <a:latin typeface="Helvetica"/>
              <a:cs typeface="Helvetica"/>
            </a:endParaRPr>
          </a:p>
          <a:p>
            <a:pPr marL="755015" marR="722630" lvl="1" indent="-285750">
              <a:lnSpc>
                <a:spcPct val="100699"/>
              </a:lnSpc>
              <a:spcBef>
                <a:spcPts val="1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Helvetica"/>
                <a:cs typeface="Helvetica"/>
              </a:rPr>
              <a:t>For the heuristics </a:t>
            </a:r>
            <a:r>
              <a:rPr sz="2400" dirty="0">
                <a:latin typeface="Helvetica"/>
                <a:cs typeface="Helvetica"/>
              </a:rPr>
              <a:t>we use here, </a:t>
            </a:r>
            <a:r>
              <a:rPr sz="2400" spc="-5" dirty="0">
                <a:latin typeface="Helvetica"/>
                <a:cs typeface="Helvetica"/>
              </a:rPr>
              <a:t>these </a:t>
            </a:r>
            <a:r>
              <a:rPr sz="2400" dirty="0">
                <a:latin typeface="Helvetica"/>
                <a:cs typeface="Helvetica"/>
              </a:rPr>
              <a:t>are </a:t>
            </a:r>
            <a:r>
              <a:rPr sz="2400" spc="-5" dirty="0">
                <a:latin typeface="Helvetica"/>
                <a:cs typeface="Helvetica"/>
              </a:rPr>
              <a:t>the </a:t>
            </a:r>
            <a:r>
              <a:rPr sz="2400" dirty="0">
                <a:latin typeface="Helvetica"/>
                <a:cs typeface="Helvetica"/>
              </a:rPr>
              <a:t>SLR  grammars</a:t>
            </a:r>
          </a:p>
          <a:p>
            <a:pPr marL="755650" lvl="1" indent="-286385">
              <a:lnSpc>
                <a:spcPct val="100000"/>
              </a:lnSpc>
              <a:spcBef>
                <a:spcPts val="2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Helvetica"/>
                <a:cs typeface="Helvetica"/>
              </a:rPr>
              <a:t>Other heuristics </a:t>
            </a:r>
            <a:r>
              <a:rPr sz="2400" dirty="0">
                <a:latin typeface="Helvetica"/>
                <a:cs typeface="Helvetica"/>
              </a:rPr>
              <a:t>work </a:t>
            </a:r>
            <a:r>
              <a:rPr sz="2400" spc="-5" dirty="0">
                <a:latin typeface="Helvetica"/>
                <a:cs typeface="Helvetica"/>
              </a:rPr>
              <a:t>for other</a:t>
            </a:r>
            <a:r>
              <a:rPr sz="2400" spc="-15" dirty="0">
                <a:latin typeface="Helvetica"/>
                <a:cs typeface="Helvetica"/>
              </a:rPr>
              <a:t> </a:t>
            </a:r>
            <a:r>
              <a:rPr sz="2400" dirty="0">
                <a:latin typeface="Helvetica"/>
                <a:cs typeface="Helvetica"/>
              </a:rPr>
              <a:t>grammars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75138"/>
            <a:ext cx="18046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Grammars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1364" y="1852427"/>
            <a:ext cx="940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Helvetica"/>
                <a:cs typeface="Helvetica"/>
              </a:rPr>
              <a:t>All</a:t>
            </a:r>
            <a:r>
              <a:rPr sz="1800" spc="-75" dirty="0">
                <a:latin typeface="Helvetica"/>
                <a:cs typeface="Helvetica"/>
              </a:rPr>
              <a:t> </a:t>
            </a:r>
            <a:r>
              <a:rPr sz="1800" spc="-5" dirty="0">
                <a:latin typeface="Helvetica"/>
                <a:cs typeface="Helvetica"/>
              </a:rPr>
              <a:t>CFGs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6275" y="1514475"/>
            <a:ext cx="7715249" cy="443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98451" y="2754125"/>
            <a:ext cx="2096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Helvetica"/>
                <a:cs typeface="Helvetica"/>
              </a:rPr>
              <a:t>Unambiguous</a:t>
            </a:r>
            <a:r>
              <a:rPr sz="1800" spc="-80" dirty="0">
                <a:latin typeface="Helvetica"/>
                <a:cs typeface="Helvetica"/>
              </a:rPr>
              <a:t> </a:t>
            </a:r>
            <a:r>
              <a:rPr sz="1800" spc="-5" dirty="0">
                <a:latin typeface="Helvetica"/>
                <a:cs typeface="Helvetica"/>
              </a:rPr>
              <a:t>CFGs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59228" y="3592327"/>
            <a:ext cx="1130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Helvetica"/>
                <a:cs typeface="Helvetica"/>
              </a:rPr>
              <a:t>SLR</a:t>
            </a:r>
            <a:r>
              <a:rPr sz="1800" spc="-75" dirty="0">
                <a:latin typeface="Helvetica"/>
                <a:cs typeface="Helvetica"/>
              </a:rPr>
              <a:t> </a:t>
            </a:r>
            <a:r>
              <a:rPr sz="1800" spc="-5" dirty="0">
                <a:latin typeface="Helvetica"/>
                <a:cs typeface="Helvetica"/>
              </a:rPr>
              <a:t>CFGs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0540" y="2622045"/>
            <a:ext cx="1309370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dirty="0">
                <a:solidFill>
                  <a:srgbClr val="9900CC"/>
                </a:solidFill>
                <a:latin typeface="Helvetica"/>
                <a:cs typeface="Helvetica"/>
              </a:rPr>
              <a:t>will</a:t>
            </a:r>
            <a:r>
              <a:rPr sz="1800" spc="-65" dirty="0">
                <a:solidFill>
                  <a:srgbClr val="9900CC"/>
                </a:solidFill>
                <a:latin typeface="Helvetica"/>
                <a:cs typeface="Helvetica"/>
              </a:rPr>
              <a:t> </a:t>
            </a:r>
            <a:r>
              <a:rPr sz="1800" spc="-5" dirty="0">
                <a:solidFill>
                  <a:srgbClr val="9900CC"/>
                </a:solidFill>
                <a:latin typeface="Helvetica"/>
                <a:cs typeface="Helvetica"/>
              </a:rPr>
              <a:t>generate  conflicts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1556" y="4647920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Helvetica"/>
                <a:cs typeface="Helvetica"/>
              </a:rPr>
              <a:t>LR(0)</a:t>
            </a:r>
            <a:r>
              <a:rPr sz="1800" spc="-80" dirty="0">
                <a:latin typeface="Helvetica"/>
                <a:cs typeface="Helvetica"/>
              </a:rPr>
              <a:t> </a:t>
            </a:r>
            <a:r>
              <a:rPr sz="1800" spc="-5" dirty="0">
                <a:latin typeface="Helvetica"/>
                <a:cs typeface="Helvetica"/>
              </a:rPr>
              <a:t>CFGs</a:t>
            </a:r>
            <a:endParaRPr sz="1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66C1-5F54-5640-AFD9-0BA0163E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7C39E1-4034-7BF2-A66F-CD6E0D0ED5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18" y="675138"/>
            <a:ext cx="70535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5" dirty="0">
                <a:solidFill>
                  <a:srgbClr val="000000"/>
                </a:solidFill>
                <a:latin typeface="Helvetica"/>
                <a:cs typeface="Helvetica"/>
              </a:rPr>
              <a:t>Categories of Bottom Up </a:t>
            </a:r>
            <a:r>
              <a:rPr sz="2800" b="1" spc="-5" dirty="0">
                <a:solidFill>
                  <a:srgbClr val="000000"/>
                </a:solidFill>
                <a:latin typeface="Helvetica"/>
                <a:cs typeface="Helvetica"/>
              </a:rPr>
              <a:t>Grammars</a:t>
            </a:r>
            <a:endParaRPr sz="2800" dirty="0">
              <a:latin typeface="Helvetica"/>
              <a:cs typeface="Helvetic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077573E-7A18-B62C-EA3B-0AA9F3DA701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9436D-D9B9-1A1A-C38C-1BB007F57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47" y="1752600"/>
            <a:ext cx="8013706" cy="30205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8F203D-3DC4-CBBA-93FE-2342C862EDF1}"/>
              </a:ext>
            </a:extLst>
          </p:cNvPr>
          <p:cNvSpPr txBox="1"/>
          <p:nvPr/>
        </p:nvSpPr>
        <p:spPr>
          <a:xfrm>
            <a:off x="490217" y="4945192"/>
            <a:ext cx="8088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Canonical LR(1) is “most precise” because it uses full lookahead to make reductions, handling all grammars that an LR(1) parser can handle without conflicts, unlike SLR(1) or LALR(1).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81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3942</TotalTime>
  <Words>3205</Words>
  <Application>Microsoft Office PowerPoint</Application>
  <PresentationFormat>On-screen Show (4:3)</PresentationFormat>
  <Paragraphs>612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Aptos</vt:lpstr>
      <vt:lpstr>Arial</vt:lpstr>
      <vt:lpstr>Calibri</vt:lpstr>
      <vt:lpstr>Century Gothic</vt:lpstr>
      <vt:lpstr>Courier</vt:lpstr>
      <vt:lpstr>Helvetica</vt:lpstr>
      <vt:lpstr>Noto Serif</vt:lpstr>
      <vt:lpstr>Symbol</vt:lpstr>
      <vt:lpstr>Times New Roman</vt:lpstr>
      <vt:lpstr>Office Theme</vt:lpstr>
      <vt:lpstr>PowerPoint Presentation</vt:lpstr>
      <vt:lpstr>PowerPoint Presentation</vt:lpstr>
      <vt:lpstr>Some Definitions </vt:lpstr>
      <vt:lpstr>PowerPoint Presentation</vt:lpstr>
      <vt:lpstr>Bottom-Up Parsing</vt:lpstr>
      <vt:lpstr>Bottom-Up Parsing</vt:lpstr>
      <vt:lpstr>PowerPoint Presentation</vt:lpstr>
      <vt:lpstr>PowerPoint Presentation</vt:lpstr>
      <vt:lpstr>An Introductory Example</vt:lpstr>
      <vt:lpstr>The Idea</vt:lpstr>
      <vt:lpstr>Observation</vt:lpstr>
      <vt:lpstr>Important Fact #1</vt:lpstr>
      <vt:lpstr>E  T + E | T T  int * T | int | (E)</vt:lpstr>
      <vt:lpstr>A Bottom-up Parse in Detail (1)</vt:lpstr>
      <vt:lpstr>A Bottom-up Parse in Detail (2)</vt:lpstr>
      <vt:lpstr>A Bottom-up Parse in Detail (3)</vt:lpstr>
      <vt:lpstr>A Bottom-up Parse in Detail (4)</vt:lpstr>
      <vt:lpstr>A Bottom-up Parse in Detail (5)</vt:lpstr>
      <vt:lpstr>A Bottom-up Parse in Detail (6)</vt:lpstr>
      <vt:lpstr>Where Do Reductions Happen?</vt:lpstr>
      <vt:lpstr>Notation</vt:lpstr>
      <vt:lpstr>Shift-Reduce Parsing</vt:lpstr>
      <vt:lpstr>Shift</vt:lpstr>
      <vt:lpstr>Reduce</vt:lpstr>
      <vt:lpstr>The Example with Reductions Only</vt:lpstr>
      <vt:lpstr>The Example with Shift-Reduce Parsing</vt:lpstr>
      <vt:lpstr>A Shift-Reduce Parse in Detail (1)</vt:lpstr>
      <vt:lpstr>A Shift-Reduce Parse in Detail (2)</vt:lpstr>
      <vt:lpstr>A Shift-Reduce Parse in Detail (3)</vt:lpstr>
      <vt:lpstr>A Shift-Reduce Parse in Detail (4)</vt:lpstr>
      <vt:lpstr>A Shift-Reduce Parse in Detail (5)</vt:lpstr>
      <vt:lpstr>A Shift-Reduce Parse in Detail (6)</vt:lpstr>
      <vt:lpstr>A Shift-Reduce Parse in Detail (7)</vt:lpstr>
      <vt:lpstr>A Shift-Reduce Parse in Detail (8)</vt:lpstr>
      <vt:lpstr>A Shift-Reduce Parse in Detail (9)</vt:lpstr>
      <vt:lpstr>A Shift-Reduce Parse in Detail (10)</vt:lpstr>
      <vt:lpstr>A Shift-Reduce Parse in Detail (11)</vt:lpstr>
      <vt:lpstr>The Stack</vt:lpstr>
      <vt:lpstr>Conflicts</vt:lpstr>
      <vt:lpstr>Key Issue</vt:lpstr>
      <vt:lpstr>Definition: Handles</vt:lpstr>
      <vt:lpstr>Handles (Cont.)</vt:lpstr>
      <vt:lpstr>Important Fact #2</vt:lpstr>
      <vt:lpstr>Why?</vt:lpstr>
      <vt:lpstr>Summary of Handles</vt:lpstr>
      <vt:lpstr>Recognizing Handles</vt:lpstr>
      <vt:lpstr>Grammars</vt:lpstr>
      <vt:lpstr>Categories of Bottom Up Grammars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lecture08</dc:title>
  <cp:lastModifiedBy>Marcelo Siero</cp:lastModifiedBy>
  <cp:revision>7</cp:revision>
  <dcterms:created xsi:type="dcterms:W3CDTF">2025-04-29T21:03:46Z</dcterms:created>
  <dcterms:modified xsi:type="dcterms:W3CDTF">2026-02-05T23:45:27Z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Keynote</vt:lpwstr>
  </property>
  <property fmtid="{D5CDD505-2E9C-101B-9397-08002B2CF9AE}" pid="4" name="LastSaved">
    <vt:filetime>2025-04-29T00:00:00Z</vt:filetime>
  </property>
</Properties>
</file>