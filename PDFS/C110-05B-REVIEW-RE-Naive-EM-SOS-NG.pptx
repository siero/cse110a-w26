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7" r:id="rId2"/>
    <p:sldId id="992" r:id="rId3"/>
    <p:sldId id="898" r:id="rId4"/>
    <p:sldId id="899" r:id="rId5"/>
    <p:sldId id="900" r:id="rId6"/>
    <p:sldId id="901" r:id="rId7"/>
    <p:sldId id="902" r:id="rId8"/>
    <p:sldId id="903" r:id="rId9"/>
    <p:sldId id="904" r:id="rId10"/>
    <p:sldId id="907" r:id="rId11"/>
    <p:sldId id="908" r:id="rId12"/>
    <p:sldId id="890" r:id="rId13"/>
    <p:sldId id="909" r:id="rId14"/>
    <p:sldId id="910" r:id="rId15"/>
    <p:sldId id="911" r:id="rId16"/>
    <p:sldId id="912" r:id="rId17"/>
    <p:sldId id="914" r:id="rId18"/>
    <p:sldId id="927" r:id="rId19"/>
    <p:sldId id="929" r:id="rId20"/>
    <p:sldId id="930" r:id="rId21"/>
    <p:sldId id="931" r:id="rId22"/>
    <p:sldId id="932" r:id="rId23"/>
    <p:sldId id="935" r:id="rId24"/>
    <p:sldId id="939" r:id="rId25"/>
    <p:sldId id="941" r:id="rId26"/>
    <p:sldId id="943" r:id="rId27"/>
    <p:sldId id="945" r:id="rId28"/>
    <p:sldId id="946" r:id="rId29"/>
    <p:sldId id="947" r:id="rId30"/>
    <p:sldId id="948" r:id="rId31"/>
    <p:sldId id="949" r:id="rId32"/>
    <p:sldId id="950" r:id="rId33"/>
    <p:sldId id="951" r:id="rId34"/>
    <p:sldId id="952" r:id="rId35"/>
    <p:sldId id="957" r:id="rId36"/>
    <p:sldId id="978" r:id="rId37"/>
    <p:sldId id="979" r:id="rId38"/>
    <p:sldId id="980" r:id="rId39"/>
    <p:sldId id="981" r:id="rId40"/>
    <p:sldId id="982" r:id="rId41"/>
    <p:sldId id="983" r:id="rId42"/>
    <p:sldId id="958" r:id="rId43"/>
    <p:sldId id="984" r:id="rId44"/>
    <p:sldId id="960" r:id="rId45"/>
    <p:sldId id="965" r:id="rId46"/>
    <p:sldId id="967" r:id="rId47"/>
    <p:sldId id="968" r:id="rId48"/>
    <p:sldId id="969" r:id="rId49"/>
    <p:sldId id="971" r:id="rId50"/>
    <p:sldId id="972" r:id="rId51"/>
    <p:sldId id="973" r:id="rId52"/>
    <p:sldId id="974" r:id="rId53"/>
    <p:sldId id="975" r:id="rId54"/>
    <p:sldId id="976" r:id="rId55"/>
    <p:sldId id="986" r:id="rId56"/>
    <p:sldId id="987" r:id="rId57"/>
    <p:sldId id="988" r:id="rId58"/>
    <p:sldId id="990" r:id="rId59"/>
    <p:sldId id="991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01"/>
    <p:restoredTop sz="96405"/>
  </p:normalViewPr>
  <p:slideViewPr>
    <p:cSldViewPr snapToGrid="0" snapToObjects="1">
      <p:cViewPr varScale="1">
        <p:scale>
          <a:sx n="71" d="100"/>
          <a:sy n="71" d="100"/>
        </p:scale>
        <p:origin x="68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732348/regex-match-open-tags-except-xhtml-self-contained-tags/1732454#1732454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ivanzuzak.info/noam/webapps/fsm_simulator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97" y="743358"/>
            <a:ext cx="10515600" cy="855829"/>
          </a:xfrm>
        </p:spPr>
        <p:txBody>
          <a:bodyPr>
            <a:normAutofit fontScale="90000"/>
          </a:bodyPr>
          <a:lstStyle/>
          <a:p>
            <a:r>
              <a:rPr lang="en-US" sz="5300" b="1" dirty="0"/>
              <a:t>CSE110A: Compilers</a:t>
            </a:r>
            <a:br>
              <a:rPr lang="en-US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4040340"/>
            <a:ext cx="6901683" cy="2405459"/>
          </a:xfrm>
        </p:spPr>
        <p:txBody>
          <a:bodyPr>
            <a:normAutofit fontScale="77500" lnSpcReduction="20000"/>
          </a:bodyPr>
          <a:lstStyle/>
          <a:p>
            <a:r>
              <a:rPr lang="en-US" sz="3300" b="1" dirty="0"/>
              <a:t>Topic</a:t>
            </a:r>
            <a:r>
              <a:rPr lang="en-US" sz="3300" dirty="0"/>
              <a:t> </a:t>
            </a:r>
            <a:r>
              <a:rPr lang="en-US" sz="3300" i="1" dirty="0"/>
              <a:t>Review:</a:t>
            </a:r>
          </a:p>
          <a:p>
            <a:pPr lvl="1"/>
            <a:r>
              <a:rPr lang="en-US" sz="2800" i="1" dirty="0"/>
              <a:t>Naïve Scanning Method</a:t>
            </a:r>
          </a:p>
          <a:p>
            <a:pPr lvl="1"/>
            <a:r>
              <a:rPr lang="en-US" sz="2800" i="1" dirty="0"/>
              <a:t>Regular Expressions</a:t>
            </a:r>
            <a:endParaRPr lang="en-US" sz="2800" dirty="0"/>
          </a:p>
          <a:p>
            <a:pPr lvl="1"/>
            <a:r>
              <a:rPr lang="en-US" sz="2800" i="1" dirty="0"/>
              <a:t>Using regular expression’s in scanners</a:t>
            </a:r>
          </a:p>
          <a:p>
            <a:pPr lvl="2"/>
            <a:r>
              <a:rPr lang="en-US" sz="2800" dirty="0"/>
              <a:t>Exact match scanner</a:t>
            </a:r>
          </a:p>
          <a:p>
            <a:pPr lvl="2"/>
            <a:r>
              <a:rPr lang="en-US" sz="2800" dirty="0"/>
              <a:t>Start-of-string Scanner</a:t>
            </a:r>
          </a:p>
          <a:p>
            <a:pPr lvl="2"/>
            <a:r>
              <a:rPr lang="en-US" sz="2800" dirty="0"/>
              <a:t>Named group matcher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i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1714B3-537B-5C42-AD19-F844B17759C3}"/>
              </a:ext>
            </a:extLst>
          </p:cNvPr>
          <p:cNvSpPr/>
          <p:nvPr/>
        </p:nvSpPr>
        <p:spPr>
          <a:xfrm>
            <a:off x="4649103" y="1924216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891319-2C73-B54C-B35D-159A9AA498AF}"/>
              </a:ext>
            </a:extLst>
          </p:cNvPr>
          <p:cNvCxnSpPr>
            <a:cxnSpLocks/>
          </p:cNvCxnSpPr>
          <p:nvPr/>
        </p:nvCxnSpPr>
        <p:spPr>
          <a:xfrm flipH="1">
            <a:off x="4168273" y="2396041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C3EA9F5-08D1-284D-B035-0D8D50D39BA8}"/>
              </a:ext>
            </a:extLst>
          </p:cNvPr>
          <p:cNvCxnSpPr>
            <a:cxnSpLocks/>
          </p:cNvCxnSpPr>
          <p:nvPr/>
        </p:nvCxnSpPr>
        <p:spPr>
          <a:xfrm flipH="1">
            <a:off x="5245233" y="2396041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465DA11-333F-0846-BFA3-5313C2D4AD6F}"/>
              </a:ext>
            </a:extLst>
          </p:cNvPr>
          <p:cNvCxnSpPr>
            <a:cxnSpLocks/>
          </p:cNvCxnSpPr>
          <p:nvPr/>
        </p:nvCxnSpPr>
        <p:spPr>
          <a:xfrm>
            <a:off x="6362833" y="2508991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2F45E6-893A-E444-A5E7-C51559334FC6}"/>
              </a:ext>
            </a:extLst>
          </p:cNvPr>
          <p:cNvCxnSpPr>
            <a:cxnSpLocks/>
          </p:cNvCxnSpPr>
          <p:nvPr/>
        </p:nvCxnSpPr>
        <p:spPr>
          <a:xfrm>
            <a:off x="7328033" y="2396041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F50CC5-BFE2-F544-B8CB-F0D34782591E}"/>
              </a:ext>
            </a:extLst>
          </p:cNvPr>
          <p:cNvCxnSpPr>
            <a:cxnSpLocks/>
          </p:cNvCxnSpPr>
          <p:nvPr/>
        </p:nvCxnSpPr>
        <p:spPr>
          <a:xfrm>
            <a:off x="8191633" y="2396041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236746-7C04-9240-BF01-282709C0DBD9}"/>
              </a:ext>
            </a:extLst>
          </p:cNvPr>
          <p:cNvCxnSpPr>
            <a:cxnSpLocks/>
          </p:cNvCxnSpPr>
          <p:nvPr/>
        </p:nvCxnSpPr>
        <p:spPr>
          <a:xfrm>
            <a:off x="9288913" y="2396041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D871749-56FA-A64F-BE8B-A85DC581410C}"/>
              </a:ext>
            </a:extLst>
          </p:cNvPr>
          <p:cNvSpPr/>
          <p:nvPr/>
        </p:nvSpPr>
        <p:spPr>
          <a:xfrm>
            <a:off x="3369356" y="3011793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EE2DC9-CB4F-FE45-9A12-53D1ACF8CE7E}"/>
              </a:ext>
            </a:extLst>
          </p:cNvPr>
          <p:cNvSpPr/>
          <p:nvPr/>
        </p:nvSpPr>
        <p:spPr>
          <a:xfrm>
            <a:off x="9126814" y="3015235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74B643-0EEA-FD4C-9AD7-B1668FA027B3}"/>
              </a:ext>
            </a:extLst>
          </p:cNvPr>
          <p:cNvSpPr/>
          <p:nvPr/>
        </p:nvSpPr>
        <p:spPr>
          <a:xfrm>
            <a:off x="4739792" y="3092001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D3D7F-CEC2-934C-82BE-C20FADB762E6}"/>
              </a:ext>
            </a:extLst>
          </p:cNvPr>
          <p:cNvSpPr/>
          <p:nvPr/>
        </p:nvSpPr>
        <p:spPr>
          <a:xfrm>
            <a:off x="5895232" y="3075873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C233AD-020A-E940-9574-ABCC9F87FD1A}"/>
              </a:ext>
            </a:extLst>
          </p:cNvPr>
          <p:cNvSpPr/>
          <p:nvPr/>
        </p:nvSpPr>
        <p:spPr>
          <a:xfrm>
            <a:off x="7020711" y="3092000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D4542D-EF33-3F4D-BC9C-4EAB7ABF0FB9}"/>
              </a:ext>
            </a:extLst>
          </p:cNvPr>
          <p:cNvSpPr/>
          <p:nvPr/>
        </p:nvSpPr>
        <p:spPr>
          <a:xfrm>
            <a:off x="10730831" y="3047048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9889-5F4C-38EA-B8BA-0F066547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940" y="1874949"/>
            <a:ext cx="10515600" cy="2534018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Review Topic: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</a:t>
            </a:r>
            <a:br>
              <a:rPr lang="en-US" dirty="0"/>
            </a:br>
            <a:r>
              <a:rPr lang="en-US" dirty="0"/>
              <a:t>             </a:t>
            </a:r>
            <a:r>
              <a:rPr lang="en-US" sz="7300" b="1" dirty="0"/>
              <a:t>Regular Expressions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059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character ‘.’</a:t>
            </a:r>
          </a:p>
          <a:p>
            <a:endParaRPr lang="en-US" dirty="0"/>
          </a:p>
          <a:p>
            <a:r>
              <a:rPr lang="en-US" dirty="0"/>
              <a:t>example using email (this is probably too general!)</a:t>
            </a:r>
          </a:p>
          <a:p>
            <a:endParaRPr lang="en-US" dirty="0"/>
          </a:p>
          <a:p>
            <a:r>
              <a:rPr lang="en-US" dirty="0"/>
              <a:t>”.*@.*\.com”</a:t>
            </a:r>
          </a:p>
        </p:txBody>
      </p:sp>
    </p:spTree>
    <p:extLst>
      <p:ext uri="{BB962C8B-B14F-4D97-AF65-F5344CB8AC3E}">
        <p14:creationId xmlns:p14="http://schemas.microsoft.com/office/powerpoint/2010/main" val="332407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if we want either the domain or user name from the email?</a:t>
            </a:r>
          </a:p>
          <a:p>
            <a:endParaRPr lang="en-US" dirty="0"/>
          </a:p>
          <a:p>
            <a:r>
              <a:rPr lang="en-US" dirty="0"/>
              <a:t>We can use groups!</a:t>
            </a:r>
          </a:p>
          <a:p>
            <a:pPr lvl="1"/>
            <a:r>
              <a:rPr lang="en-US" dirty="0"/>
              <a:t>use ()s to delimitate groups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E5F5FA"/>
                </a:solidFill>
                <a:effectLst/>
                <a:highlight>
                  <a:srgbClr val="1F1F1F"/>
                </a:highlight>
                <a:latin typeface="Andale Mono" panose="020B0509000000000004" pitchFamily="49" charset="0"/>
              </a:rPr>
              <a:t>"(.*)@(.*\\.com)"</a:t>
            </a:r>
          </a:p>
          <a:p>
            <a:endParaRPr lang="en-US" dirty="0"/>
          </a:p>
          <a:p>
            <a:r>
              <a:rPr lang="en-US" dirty="0"/>
              <a:t>Index the resulting object with [1] and [2] to get to the user name and domain respectively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318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give groups id names rather than using indices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>
                <a:highlight>
                  <a:srgbClr val="FFFF00"/>
                </a:highlight>
              </a:rPr>
              <a:t>(?P&lt;name&gt;</a:t>
            </a:r>
            <a:r>
              <a:rPr lang="en-US" dirty="0"/>
              <a:t>.+)@</a:t>
            </a:r>
            <a:r>
              <a:rPr lang="en-US" dirty="0">
                <a:highlight>
                  <a:srgbClr val="FFFF00"/>
                </a:highlight>
              </a:rPr>
              <a:t>(?P&lt;domain&gt;</a:t>
            </a:r>
            <a:r>
              <a:rPr lang="en-US" dirty="0"/>
              <a:t>.+\.com)”</a:t>
            </a:r>
          </a:p>
          <a:p>
            <a:endParaRPr lang="en-US" dirty="0"/>
          </a:p>
          <a:p>
            <a:r>
              <a:rPr lang="en-US" dirty="0"/>
              <a:t>(easier to copy: </a:t>
            </a:r>
            <a:r>
              <a:rPr lang="en-US" dirty="0">
                <a:solidFill>
                  <a:srgbClr val="BC3889"/>
                </a:solidFill>
                <a:effectLst/>
                <a:highlight>
                  <a:srgbClr val="1F1F1F"/>
                </a:highlight>
                <a:latin typeface="Andale Mono" panose="020B0509000000000004" pitchFamily="49" charset="0"/>
              </a:rPr>
              <a:t>"(?P&lt;name&gt;.+)@(?P&lt;domain&gt;.+\\.com)"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927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D98D-51B4-D64E-A90A-485AA382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66E1-FF49-404F-A4E6-B5CE6A333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we want REs?</a:t>
            </a:r>
          </a:p>
        </p:txBody>
      </p:sp>
    </p:spTree>
    <p:extLst>
      <p:ext uri="{BB962C8B-B14F-4D97-AF65-F5344CB8AC3E}">
        <p14:creationId xmlns:p14="http://schemas.microsoft.com/office/powerpoint/2010/main" val="2853198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Scanner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838200" y="1690688"/>
            <a:ext cx="6413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string stream, peek/eat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C6E73-D7C3-D445-8DB7-120BF20D1C31}"/>
              </a:ext>
            </a:extLst>
          </p:cNvPr>
          <p:cNvSpPr/>
          <p:nvPr/>
        </p:nvSpPr>
        <p:spPr>
          <a:xfrm>
            <a:off x="641683" y="2512932"/>
            <a:ext cx="75494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NaiveScanner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token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...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NUMS: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   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""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NUMS: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9F6BE-313B-A148-87EA-3AE21BB78EDC}"/>
              </a:ext>
            </a:extLst>
          </p:cNvPr>
          <p:cNvSpPr txBox="1"/>
          <p:nvPr/>
        </p:nvSpPr>
        <p:spPr>
          <a:xfrm>
            <a:off x="7846521" y="3678028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498237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Shortcomings of Naïve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183B-14A5-3A43-BD2E-7E1B77519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IDs with numbers in them?</a:t>
            </a:r>
          </a:p>
          <a:p>
            <a:pPr lvl="1"/>
            <a:r>
              <a:rPr lang="en-US" dirty="0">
                <a:latin typeface="Courier" pitchFamily="2" charset="0"/>
              </a:rPr>
              <a:t>x1, y1, etc.</a:t>
            </a:r>
          </a:p>
          <a:p>
            <a:pPr lvl="1"/>
            <a:r>
              <a:rPr lang="en-US" dirty="0"/>
              <a:t>how would you solve?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r>
              <a:rPr lang="en-US" dirty="0"/>
              <a:t>Numbers with a decimal point in them?</a:t>
            </a:r>
          </a:p>
          <a:p>
            <a:pPr lvl="1"/>
            <a:r>
              <a:rPr lang="en-US" dirty="0">
                <a:latin typeface="Courier" pitchFamily="2" charset="0"/>
              </a:rPr>
              <a:t>4.5, 9999.99998</a:t>
            </a:r>
          </a:p>
          <a:p>
            <a:pPr lvl="1"/>
            <a:r>
              <a:rPr lang="en-US" dirty="0"/>
              <a:t>how would you solve this?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r>
              <a:rPr lang="en-US" dirty="0"/>
              <a:t>Two character operators:</a:t>
            </a:r>
          </a:p>
          <a:p>
            <a:pPr lvl="1"/>
            <a:r>
              <a:rPr lang="en-US" dirty="0">
                <a:latin typeface="Courier" pitchFamily="2" charset="0"/>
              </a:rPr>
              <a:t>++, +=</a:t>
            </a:r>
          </a:p>
          <a:p>
            <a:pPr lvl="1"/>
            <a:r>
              <a:rPr lang="en-US" dirty="0"/>
              <a:t>how would you solve this?</a:t>
            </a:r>
            <a:endParaRPr lang="en-US" dirty="0">
              <a:latin typeface="Courier" pitchFamily="2" charset="0"/>
            </a:endParaRPr>
          </a:p>
          <a:p>
            <a:pPr lvl="1"/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310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7B95-668F-C94E-A3E7-C1A227C2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to the rescue</a:t>
            </a:r>
          </a:p>
        </p:txBody>
      </p:sp>
    </p:spTree>
    <p:extLst>
      <p:ext uri="{BB962C8B-B14F-4D97-AF65-F5344CB8AC3E}">
        <p14:creationId xmlns:p14="http://schemas.microsoft.com/office/powerpoint/2010/main" val="255071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write our tokens as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our simple programming language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5D68A-A1DD-1F4B-803D-CF3DC0E6B46C}"/>
              </a:ext>
            </a:extLst>
          </p:cNvPr>
          <p:cNvSpPr txBox="1"/>
          <p:nvPr/>
        </p:nvSpPr>
        <p:spPr>
          <a:xfrm>
            <a:off x="933652" y="2639919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“, “\n”]</a:t>
            </a:r>
          </a:p>
        </p:txBody>
      </p:sp>
    </p:spTree>
    <p:extLst>
      <p:ext uri="{BB962C8B-B14F-4D97-AF65-F5344CB8AC3E}">
        <p14:creationId xmlns:p14="http://schemas.microsoft.com/office/powerpoint/2010/main" val="88432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write our tokens as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2175"/>
          </a:xfrm>
        </p:spPr>
        <p:txBody>
          <a:bodyPr/>
          <a:lstStyle/>
          <a:p>
            <a:r>
              <a:rPr lang="en-US" dirty="0"/>
              <a:t>For our simple programming language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7DB02-A4F6-7D45-B8F1-959DAF606F0D}"/>
              </a:ext>
            </a:extLst>
          </p:cNvPr>
          <p:cNvSpPr txBox="1"/>
          <p:nvPr/>
        </p:nvSpPr>
        <p:spPr>
          <a:xfrm>
            <a:off x="933652" y="2639919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“, “\n”]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E4FEC-2ABA-104A-83FB-607C9C1A9641}"/>
              </a:ext>
            </a:extLst>
          </p:cNvPr>
          <p:cNvSpPr txBox="1"/>
          <p:nvPr/>
        </p:nvSpPr>
        <p:spPr>
          <a:xfrm>
            <a:off x="5751185" y="2639919"/>
            <a:ext cx="479330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“[a-z][a-z0-9]*”</a:t>
            </a:r>
          </a:p>
          <a:p>
            <a:r>
              <a:rPr lang="en-US" sz="2400" dirty="0"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PP = “++”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“ |\n”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D7008-3585-EB41-9995-D50225A115EE}"/>
              </a:ext>
            </a:extLst>
          </p:cNvPr>
          <p:cNvSpPr txBox="1"/>
          <p:nvPr/>
        </p:nvSpPr>
        <p:spPr>
          <a:xfrm>
            <a:off x="4989571" y="5393205"/>
            <a:ext cx="537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Some benefits of REs? Let’s try adding some extensions:</a:t>
            </a:r>
          </a:p>
        </p:txBody>
      </p:sp>
    </p:spTree>
    <p:extLst>
      <p:ext uri="{BB962C8B-B14F-4D97-AF65-F5344CB8AC3E}">
        <p14:creationId xmlns:p14="http://schemas.microsoft.com/office/powerpoint/2010/main" val="349959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write our tokens as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2175"/>
          </a:xfrm>
        </p:spPr>
        <p:txBody>
          <a:bodyPr/>
          <a:lstStyle/>
          <a:p>
            <a:r>
              <a:rPr lang="en-US" dirty="0"/>
              <a:t>For our simple programming language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7DB02-A4F6-7D45-B8F1-959DAF606F0D}"/>
              </a:ext>
            </a:extLst>
          </p:cNvPr>
          <p:cNvSpPr txBox="1"/>
          <p:nvPr/>
        </p:nvSpPr>
        <p:spPr>
          <a:xfrm>
            <a:off x="933652" y="2639919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“, “\n”]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E4FEC-2ABA-104A-83FB-607C9C1A9641}"/>
              </a:ext>
            </a:extLst>
          </p:cNvPr>
          <p:cNvSpPr txBox="1"/>
          <p:nvPr/>
        </p:nvSpPr>
        <p:spPr>
          <a:xfrm>
            <a:off x="5751185" y="2639919"/>
            <a:ext cx="331853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“ |\n”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D7008-3585-EB41-9995-D50225A115EE}"/>
              </a:ext>
            </a:extLst>
          </p:cNvPr>
          <p:cNvSpPr txBox="1"/>
          <p:nvPr/>
        </p:nvSpPr>
        <p:spPr>
          <a:xfrm>
            <a:off x="4989571" y="5393205"/>
            <a:ext cx="5371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Some benefits of REs? Let’s try adding some extensions:</a:t>
            </a:r>
            <a:br>
              <a:rPr lang="en-US" i="1" dirty="0"/>
            </a:br>
            <a:r>
              <a:rPr lang="en-US" i="1" dirty="0"/>
              <a:t>* increment operator?</a:t>
            </a:r>
          </a:p>
          <a:p>
            <a:r>
              <a:rPr lang="en-US" i="1" dirty="0"/>
              <a:t>* digits in IDs?</a:t>
            </a:r>
          </a:p>
        </p:txBody>
      </p:sp>
    </p:spTree>
    <p:extLst>
      <p:ext uri="{BB962C8B-B14F-4D97-AF65-F5344CB8AC3E}">
        <p14:creationId xmlns:p14="http://schemas.microsoft.com/office/powerpoint/2010/main" val="843120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22C5-5576-C246-8E51-0DF31D82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Finishing up last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F3930-B931-734E-B21C-D54B9A6FF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few final thoughts:</a:t>
            </a:r>
          </a:p>
        </p:txBody>
      </p:sp>
    </p:spTree>
    <p:extLst>
      <p:ext uri="{BB962C8B-B14F-4D97-AF65-F5344CB8AC3E}">
        <p14:creationId xmlns:p14="http://schemas.microsoft.com/office/powerpoint/2010/main" val="1652487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 can REs not do?</a:t>
            </a:r>
          </a:p>
          <a:p>
            <a:endParaRPr lang="en-US" dirty="0"/>
          </a:p>
          <a:p>
            <a:r>
              <a:rPr lang="en-US" dirty="0"/>
              <a:t>Nested structures, such as parathesis matching:</a:t>
            </a:r>
          </a:p>
          <a:p>
            <a:pPr lvl="1"/>
            <a:r>
              <a:rPr lang="en-US" dirty="0"/>
              <a:t>Try doing arithmetic expressions</a:t>
            </a:r>
          </a:p>
          <a:p>
            <a:pPr lvl="1"/>
            <a:r>
              <a:rPr lang="en-US" dirty="0"/>
              <a:t>You will not be able to match ()s</a:t>
            </a:r>
          </a:p>
          <a:p>
            <a:endParaRPr lang="en-US" dirty="0"/>
          </a:p>
          <a:p>
            <a:r>
              <a:rPr lang="en-US" dirty="0"/>
              <a:t>Classical example: REs cannot capture same number of repeats:</a:t>
            </a:r>
          </a:p>
          <a:p>
            <a:pPr lvl="1"/>
            <a:r>
              <a:rPr lang="en-US" dirty="0"/>
              <a:t>A{N}B{N}</a:t>
            </a:r>
          </a:p>
          <a:p>
            <a:endParaRPr lang="en-US" dirty="0"/>
          </a:p>
          <a:p>
            <a:r>
              <a:rPr lang="en-US" dirty="0"/>
              <a:t>REs cannot parse HTML!!!</a:t>
            </a:r>
          </a:p>
          <a:p>
            <a:pPr lvl="1"/>
            <a:r>
              <a:rPr lang="en-US" dirty="0"/>
              <a:t>One of the most upvoted answers on </a:t>
            </a:r>
            <a:r>
              <a:rPr lang="en-US" dirty="0" err="1"/>
              <a:t>stackoverflow</a:t>
            </a:r>
            <a:r>
              <a:rPr lang="en-US" dirty="0"/>
              <a:t>!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stackoverflow.com</a:t>
            </a:r>
            <a:r>
              <a:rPr lang="en-US" dirty="0">
                <a:hlinkClick r:id="rId2"/>
              </a:rPr>
              <a:t>/questions/1732348/regex-match-open-tags-except-</a:t>
            </a:r>
            <a:r>
              <a:rPr lang="en-US" dirty="0" err="1">
                <a:hlinkClick r:id="rId2"/>
              </a:rPr>
              <a:t>xhtml</a:t>
            </a:r>
            <a:r>
              <a:rPr lang="en-US" dirty="0">
                <a:hlinkClick r:id="rId2"/>
              </a:rPr>
              <a:t>-self-contained-tags/1732454#1732454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126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6622-C1A0-A343-ADA3-C977B682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How to implement an RE matcher?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812E-F93B-6644-AE14-D97D37EBE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Overview: first you have to parse the RE...</a:t>
            </a:r>
          </a:p>
          <a:p>
            <a:pPr lvl="1"/>
            <a:r>
              <a:rPr lang="en-US" dirty="0"/>
              <a:t>Chicken and egg problem </a:t>
            </a:r>
          </a:p>
          <a:p>
            <a:pPr lvl="1"/>
            <a:r>
              <a:rPr lang="en-US" dirty="0"/>
              <a:t>The language of REs is not a regular language. </a:t>
            </a:r>
          </a:p>
          <a:p>
            <a:pPr lvl="2"/>
            <a:r>
              <a:rPr lang="en-US" dirty="0"/>
              <a:t>It is context free (because it has ()s)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But once you can parse the RE, there are several options</a:t>
            </a:r>
          </a:p>
        </p:txBody>
      </p:sp>
    </p:spTree>
    <p:extLst>
      <p:ext uri="{BB962C8B-B14F-4D97-AF65-F5344CB8AC3E}">
        <p14:creationId xmlns:p14="http://schemas.microsoft.com/office/powerpoint/2010/main" val="1512508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6622-C1A0-A343-ADA3-C977B682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an RE matcher?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812E-F93B-6644-AE14-D97D37EBE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parsing with derivatives</a:t>
            </a:r>
          </a:p>
          <a:p>
            <a:pPr lvl="1"/>
            <a:r>
              <a:rPr lang="en-US" dirty="0"/>
              <a:t>We discuss this in CSE211</a:t>
            </a:r>
          </a:p>
          <a:p>
            <a:pPr lvl="1"/>
            <a:r>
              <a:rPr lang="en-US" dirty="0"/>
              <a:t>Elegant solution, but difficult to make fast</a:t>
            </a:r>
          </a:p>
          <a:p>
            <a:pPr lvl="1"/>
            <a:endParaRPr lang="en-US" dirty="0"/>
          </a:p>
          <a:p>
            <a:r>
              <a:rPr lang="en-US" dirty="0"/>
              <a:t>Convert to an automata</a:t>
            </a:r>
          </a:p>
          <a:p>
            <a:pPr lvl="1"/>
            <a:r>
              <a:rPr lang="en-US" dirty="0"/>
              <a:t>Learn more about this CSE103</a:t>
            </a:r>
          </a:p>
          <a:p>
            <a:pPr lvl="1"/>
            <a:r>
              <a:rPr lang="en-US" dirty="0"/>
              <a:t>A cool website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ivanzuzak.info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noam</a:t>
            </a:r>
            <a:r>
              <a:rPr lang="en-US" dirty="0">
                <a:hlinkClick r:id="rId2"/>
              </a:rPr>
              <a:t>/webapps/</a:t>
            </a:r>
            <a:r>
              <a:rPr lang="en-US" dirty="0" err="1">
                <a:hlinkClick r:id="rId2"/>
              </a:rPr>
              <a:t>fsm_simulator</a:t>
            </a:r>
            <a:r>
              <a:rPr lang="en-US" dirty="0">
                <a:hlinkClick r:id="rId2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21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6389-520F-1B42-9996-38A8FC71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Review of RE Matchers to Build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AB06-306D-DE47-A12E-C77366BC6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3200" dirty="0"/>
              <a:t>Exact match (EM) scanners</a:t>
            </a:r>
          </a:p>
          <a:p>
            <a:pPr lvl="1"/>
            <a:r>
              <a:rPr lang="en-US" sz="3200" dirty="0"/>
              <a:t>Start-of-string (SOS) scanners</a:t>
            </a:r>
          </a:p>
          <a:p>
            <a:pPr lvl="1"/>
            <a:r>
              <a:rPr lang="en-US" sz="3200" dirty="0"/>
              <a:t>named group (NG) scanners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323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“ |\n”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492601" y="3110426"/>
            <a:ext cx="2661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start with the whole string</a:t>
            </a:r>
          </a:p>
        </p:txBody>
      </p:sp>
    </p:spTree>
    <p:extLst>
      <p:ext uri="{BB962C8B-B14F-4D97-AF65-F5344CB8AC3E}">
        <p14:creationId xmlns:p14="http://schemas.microsoft.com/office/powerpoint/2010/main" val="930767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492601" y="3110426"/>
            <a:ext cx="2661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start with the whole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420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with all the tokens. No match.</a:t>
            </a:r>
          </a:p>
        </p:txBody>
      </p:sp>
    </p:spTree>
    <p:extLst>
      <p:ext uri="{BB962C8B-B14F-4D97-AF65-F5344CB8AC3E}">
        <p14:creationId xmlns:p14="http://schemas.microsoft.com/office/powerpoint/2010/main" val="4208994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</a:t>
            </a:r>
            <a:r>
              <a:rPr lang="en-US" sz="2400" dirty="0">
                <a:latin typeface="Courier" pitchFamily="2" charset="0"/>
              </a:rPr>
              <a:t>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6526126" y="3194606"/>
            <a:ext cx="4395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iteratively chopping characters from 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420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with all the tokens. No match.</a:t>
            </a:r>
          </a:p>
        </p:txBody>
      </p:sp>
    </p:spTree>
    <p:extLst>
      <p:ext uri="{BB962C8B-B14F-4D97-AF65-F5344CB8AC3E}">
        <p14:creationId xmlns:p14="http://schemas.microsoft.com/office/powerpoint/2010/main" val="2648167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</a:t>
            </a:r>
            <a:r>
              <a:rPr lang="en-US" sz="2400" dirty="0">
                <a:latin typeface="Courier" pitchFamily="2" charset="0"/>
              </a:rPr>
              <a:t>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492601" y="311042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 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420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with all the tokens. No match.</a:t>
            </a:r>
          </a:p>
        </p:txBody>
      </p:sp>
    </p:spTree>
    <p:extLst>
      <p:ext uri="{BB962C8B-B14F-4D97-AF65-F5344CB8AC3E}">
        <p14:creationId xmlns:p14="http://schemas.microsoft.com/office/powerpoint/2010/main" val="705652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</a:t>
            </a:r>
            <a:r>
              <a:rPr lang="en-US" sz="2400" dirty="0">
                <a:latin typeface="Courier" pitchFamily="2" charset="0"/>
              </a:rPr>
              <a:t>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287610" y="3084666"/>
            <a:ext cx="4197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Repeatedly delete characters from the 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420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with all the tokens. No match.</a:t>
            </a:r>
          </a:p>
        </p:txBody>
      </p:sp>
    </p:spTree>
    <p:extLst>
      <p:ext uri="{BB962C8B-B14F-4D97-AF65-F5344CB8AC3E}">
        <p14:creationId xmlns:p14="http://schemas.microsoft.com/office/powerpoint/2010/main" val="542071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</a:t>
            </a:r>
            <a:r>
              <a:rPr lang="en-US" sz="2400" dirty="0">
                <a:latin typeface="Courier" pitchFamily="2" charset="0"/>
              </a:rPr>
              <a:t>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492601" y="3110426"/>
            <a:ext cx="336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Until we find a match at this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171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can match 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2D815D-E50E-3747-B119-742ECA3C8F82}"/>
              </a:ext>
            </a:extLst>
          </p:cNvPr>
          <p:cNvSpPr txBox="1"/>
          <p:nvPr/>
        </p:nvSpPr>
        <p:spPr>
          <a:xfrm>
            <a:off x="4809066" y="4430497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46A8C2-F113-2142-8B31-8B018C8FD549}"/>
              </a:ext>
            </a:extLst>
          </p:cNvPr>
          <p:cNvSpPr txBox="1"/>
          <p:nvPr/>
        </p:nvSpPr>
        <p:spPr>
          <a:xfrm>
            <a:off x="4976494" y="4001294"/>
            <a:ext cx="187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Return the lexeme</a:t>
            </a:r>
          </a:p>
        </p:txBody>
      </p:sp>
    </p:spTree>
    <p:extLst>
      <p:ext uri="{BB962C8B-B14F-4D97-AF65-F5344CB8AC3E}">
        <p14:creationId xmlns:p14="http://schemas.microsoft.com/office/powerpoint/2010/main" val="819655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for exact match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Provided in your homework</a:t>
            </a:r>
          </a:p>
        </p:txBody>
      </p:sp>
    </p:spTree>
    <p:extLst>
      <p:ext uri="{BB962C8B-B14F-4D97-AF65-F5344CB8AC3E}">
        <p14:creationId xmlns:p14="http://schemas.microsoft.com/office/powerpoint/2010/main" val="2843202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Uses an exact RE matcher. Many RE match algorithms are exact!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SLOW! Each lexeme requires many many many calls to each RE match!</a:t>
            </a:r>
          </a:p>
        </p:txBody>
      </p:sp>
    </p:spTree>
    <p:extLst>
      <p:ext uri="{BB962C8B-B14F-4D97-AF65-F5344CB8AC3E}">
        <p14:creationId xmlns:p14="http://schemas.microsoft.com/office/powerpoint/2010/main" val="4216955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109C-7B78-A24D-A02B-EC9C9BC5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SOS (Start Of String)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870AE-C6F9-0743-9715-F10AEBC9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32908"/>
          </a:xfrm>
        </p:spPr>
        <p:txBody>
          <a:bodyPr/>
          <a:lstStyle/>
          <a:p>
            <a:r>
              <a:rPr lang="en-US" dirty="0"/>
              <a:t>We will use a new RE match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6C910-0CAB-4741-B0A2-F74F3C81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2628900"/>
            <a:ext cx="10490200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11E2FE-AA24-FE40-8040-D12250D44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71484"/>
            <a:ext cx="10414000" cy="151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3278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“variable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4035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Feed full string into each token definition</a:t>
            </a:r>
          </a:p>
        </p:txBody>
      </p:sp>
    </p:spTree>
    <p:extLst>
      <p:ext uri="{BB962C8B-B14F-4D97-AF65-F5344CB8AC3E}">
        <p14:creationId xmlns:p14="http://schemas.microsoft.com/office/powerpoint/2010/main" val="3140900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“variable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4035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Feed full string into each token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F4DA3-C163-9F44-921E-400BF68049E5}"/>
              </a:ext>
            </a:extLst>
          </p:cNvPr>
          <p:cNvSpPr txBox="1"/>
          <p:nvPr/>
        </p:nvSpPr>
        <p:spPr>
          <a:xfrm>
            <a:off x="4809067" y="4270564"/>
            <a:ext cx="4167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get 1 match. We can return the lexeme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1699854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“variable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160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Chop the 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F4DA3-C163-9F44-921E-400BF68049E5}"/>
              </a:ext>
            </a:extLst>
          </p:cNvPr>
          <p:cNvSpPr txBox="1"/>
          <p:nvPr/>
        </p:nvSpPr>
        <p:spPr>
          <a:xfrm>
            <a:off x="4809067" y="4270564"/>
            <a:ext cx="4167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get 1 match. We can return the lexeme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18143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160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Chop the 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F4DA3-C163-9F44-921E-400BF68049E5}"/>
              </a:ext>
            </a:extLst>
          </p:cNvPr>
          <p:cNvSpPr txBox="1"/>
          <p:nvPr/>
        </p:nvSpPr>
        <p:spPr>
          <a:xfrm>
            <a:off x="4809067" y="4270564"/>
            <a:ext cx="4167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get 1 match. We can return the lexeme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218320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252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the next 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1028548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252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the next 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FC66B-484A-6A48-AE0A-BFB019770FD3}"/>
              </a:ext>
            </a:extLst>
          </p:cNvPr>
          <p:cNvSpPr txBox="1"/>
          <p:nvPr/>
        </p:nvSpPr>
        <p:spPr>
          <a:xfrm>
            <a:off x="5044219" y="4190663"/>
            <a:ext cx="179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 match: IGNORE</a:t>
            </a:r>
          </a:p>
        </p:txBody>
      </p:sp>
    </p:spTree>
    <p:extLst>
      <p:ext uri="{BB962C8B-B14F-4D97-AF65-F5344CB8AC3E}">
        <p14:creationId xmlns:p14="http://schemas.microsoft.com/office/powerpoint/2010/main" val="1575301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160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Chop the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FC66B-484A-6A48-AE0A-BFB019770FD3}"/>
              </a:ext>
            </a:extLst>
          </p:cNvPr>
          <p:cNvSpPr txBox="1"/>
          <p:nvPr/>
        </p:nvSpPr>
        <p:spPr>
          <a:xfrm>
            <a:off x="5044219" y="4190663"/>
            <a:ext cx="179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 match: IGNORE</a:t>
            </a:r>
          </a:p>
        </p:txBody>
      </p:sp>
    </p:spTree>
    <p:extLst>
      <p:ext uri="{BB962C8B-B14F-4D97-AF65-F5344CB8AC3E}">
        <p14:creationId xmlns:p14="http://schemas.microsoft.com/office/powerpoint/2010/main" val="3981045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160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Chop the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FC66B-484A-6A48-AE0A-BFB019770FD3}"/>
              </a:ext>
            </a:extLst>
          </p:cNvPr>
          <p:cNvSpPr txBox="1"/>
          <p:nvPr/>
        </p:nvSpPr>
        <p:spPr>
          <a:xfrm>
            <a:off x="5044219" y="4190663"/>
            <a:ext cx="179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 match: IGNORE</a:t>
            </a:r>
          </a:p>
        </p:txBody>
      </p:sp>
    </p:spTree>
    <p:extLst>
      <p:ext uri="{BB962C8B-B14F-4D97-AF65-F5344CB8AC3E}">
        <p14:creationId xmlns:p14="http://schemas.microsoft.com/office/powerpoint/2010/main" val="1069899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6872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LETTERS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CLASS   = ”CSE110A“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39637-980F-8840-8B8B-2092D853991F}"/>
              </a:ext>
            </a:extLst>
          </p:cNvPr>
          <p:cNvSpPr txBox="1"/>
          <p:nvPr/>
        </p:nvSpPr>
        <p:spPr>
          <a:xfrm>
            <a:off x="4309533" y="2807732"/>
            <a:ext cx="2715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on each token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9B78A-AD31-9E42-9533-BEF90046FFBB}"/>
              </a:ext>
            </a:extLst>
          </p:cNvPr>
          <p:cNvSpPr txBox="1"/>
          <p:nvPr/>
        </p:nvSpPr>
        <p:spPr>
          <a:xfrm>
            <a:off x="5357657" y="4029164"/>
            <a:ext cx="2390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Two matches:</a:t>
            </a:r>
          </a:p>
          <a:p>
            <a:r>
              <a:rPr lang="en-US" dirty="0">
                <a:latin typeface="Courier" pitchFamily="2" charset="0"/>
              </a:rPr>
              <a:t>LETTERS: “CSE”</a:t>
            </a:r>
          </a:p>
          <a:p>
            <a:r>
              <a:rPr lang="en-US" dirty="0">
                <a:latin typeface="Courier" pitchFamily="2" charset="0"/>
              </a:rPr>
              <a:t>CLASS: ”CSE110A”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A3C3C-1C77-374A-A2F8-97BF4D40ABF4}"/>
              </a:ext>
            </a:extLst>
          </p:cNvPr>
          <p:cNvSpPr txBox="1"/>
          <p:nvPr/>
        </p:nvSpPr>
        <p:spPr>
          <a:xfrm>
            <a:off x="7958667" y="5046133"/>
            <a:ext cx="33712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Which one do we choose?</a:t>
            </a:r>
          </a:p>
          <a:p>
            <a:r>
              <a:rPr lang="en-US" i="1" dirty="0"/>
              <a:t>The longest one!</a:t>
            </a:r>
          </a:p>
          <a:p>
            <a:endParaRPr lang="en-US" i="1" dirty="0"/>
          </a:p>
          <a:p>
            <a:r>
              <a:rPr lang="en-US" i="1" dirty="0"/>
              <a:t>After each pass through token REs</a:t>
            </a:r>
            <a:br>
              <a:rPr lang="en-US" i="1" dirty="0"/>
            </a:br>
            <a:r>
              <a:rPr lang="en-US" i="1" dirty="0"/>
              <a:t>we have to measure match length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33298D-8068-E842-A3A2-BA0ABF581D4A}"/>
              </a:ext>
            </a:extLst>
          </p:cNvPr>
          <p:cNvSpPr txBox="1"/>
          <p:nvPr/>
        </p:nvSpPr>
        <p:spPr>
          <a:xfrm>
            <a:off x="1041399" y="5989260"/>
            <a:ext cx="592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Why didn’t we have to do this for the exact match Scanner? </a:t>
            </a:r>
          </a:p>
        </p:txBody>
      </p:sp>
    </p:spTree>
    <p:extLst>
      <p:ext uri="{BB962C8B-B14F-4D97-AF65-F5344CB8AC3E}">
        <p14:creationId xmlns:p14="http://schemas.microsoft.com/office/powerpoint/2010/main" val="1877074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One more 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380012" y="3468133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CLASS = “CSE|110A|CSE110A”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2EB69-87E1-CC4C-8D00-77C03066FE31}"/>
              </a:ext>
            </a:extLst>
          </p:cNvPr>
          <p:cNvSpPr txBox="1"/>
          <p:nvPr/>
        </p:nvSpPr>
        <p:spPr>
          <a:xfrm>
            <a:off x="3412067" y="2645201"/>
            <a:ext cx="34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Within 1 RE, how does this match?</a:t>
            </a:r>
          </a:p>
        </p:txBody>
      </p:sp>
    </p:spTree>
    <p:extLst>
      <p:ext uri="{BB962C8B-B14F-4D97-AF65-F5344CB8AC3E}">
        <p14:creationId xmlns:p14="http://schemas.microsoft.com/office/powerpoint/2010/main" val="4154086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One more 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380012" y="3468133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CLASS = “CSE|110A|CSE110A”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2EB69-87E1-CC4C-8D00-77C03066FE31}"/>
              </a:ext>
            </a:extLst>
          </p:cNvPr>
          <p:cNvSpPr txBox="1"/>
          <p:nvPr/>
        </p:nvSpPr>
        <p:spPr>
          <a:xfrm>
            <a:off x="3412067" y="2645201"/>
            <a:ext cx="34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Within 1 RE, how does this match?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37A9A-AF77-C14C-A3F2-4E878E81C806}"/>
              </a:ext>
            </a:extLst>
          </p:cNvPr>
          <p:cNvSpPr txBox="1"/>
          <p:nvPr/>
        </p:nvSpPr>
        <p:spPr>
          <a:xfrm>
            <a:off x="4885267" y="4198732"/>
            <a:ext cx="4338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0000"/>
                </a:highlight>
              </a:rPr>
              <a:t>Returns “CSE”, but this isn’t what we want!!!</a:t>
            </a:r>
          </a:p>
        </p:txBody>
      </p:sp>
    </p:spTree>
    <p:extLst>
      <p:ext uri="{BB962C8B-B14F-4D97-AF65-F5344CB8AC3E}">
        <p14:creationId xmlns:p14="http://schemas.microsoft.com/office/powerpoint/2010/main" val="1746598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One more 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380012" y="3468133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CLASS = “CSE|110A|CSE110A”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2EB69-87E1-CC4C-8D00-77C03066FE31}"/>
              </a:ext>
            </a:extLst>
          </p:cNvPr>
          <p:cNvSpPr txBox="1"/>
          <p:nvPr/>
        </p:nvSpPr>
        <p:spPr>
          <a:xfrm>
            <a:off x="3412067" y="2645201"/>
            <a:ext cx="34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Within 1 RE, how does this match?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37A9A-AF77-C14C-A3F2-4E878E81C806}"/>
              </a:ext>
            </a:extLst>
          </p:cNvPr>
          <p:cNvSpPr txBox="1"/>
          <p:nvPr/>
        </p:nvSpPr>
        <p:spPr>
          <a:xfrm>
            <a:off x="4885267" y="4198732"/>
            <a:ext cx="4338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0000"/>
                </a:highlight>
              </a:rPr>
              <a:t>Returns “CSE”, but this isn’t what we want!!!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83C41-4EB9-4C44-8C07-21A8C6966842}"/>
              </a:ext>
            </a:extLst>
          </p:cNvPr>
          <p:cNvSpPr/>
          <p:nvPr/>
        </p:nvSpPr>
        <p:spPr>
          <a:xfrm>
            <a:off x="380012" y="4836998"/>
            <a:ext cx="63215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When using the SOS Scanner: A token definition either should not: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contain choices where one choice is a prefix of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order choices such that the longest choice is the first one </a:t>
            </a:r>
          </a:p>
        </p:txBody>
      </p:sp>
    </p:spTree>
    <p:extLst>
      <p:ext uri="{BB962C8B-B14F-4D97-AF65-F5344CB8AC3E}">
        <p14:creationId xmlns:p14="http://schemas.microsoft.com/office/powerpoint/2010/main" val="109494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One more 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380012" y="3468133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strike="sngStrike" dirty="0">
                <a:latin typeface="Courier" pitchFamily="2" charset="0"/>
              </a:rPr>
              <a:t>CLASS = “CSE|110A|CSE110A”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2EB69-87E1-CC4C-8D00-77C03066FE31}"/>
              </a:ext>
            </a:extLst>
          </p:cNvPr>
          <p:cNvSpPr txBox="1"/>
          <p:nvPr/>
        </p:nvSpPr>
        <p:spPr>
          <a:xfrm>
            <a:off x="3412067" y="2645201"/>
            <a:ext cx="34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Within 1 RE, how does this match?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37A9A-AF77-C14C-A3F2-4E878E81C806}"/>
              </a:ext>
            </a:extLst>
          </p:cNvPr>
          <p:cNvSpPr txBox="1"/>
          <p:nvPr/>
        </p:nvSpPr>
        <p:spPr>
          <a:xfrm>
            <a:off x="4885267" y="4198732"/>
            <a:ext cx="4338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0000"/>
                </a:highlight>
              </a:rPr>
              <a:t>Returns “CSE”, but this isn’t what we want!!!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8D9CFB-68F3-5B44-BC94-86324DE7FD7C}"/>
              </a:ext>
            </a:extLst>
          </p:cNvPr>
          <p:cNvSpPr txBox="1"/>
          <p:nvPr/>
        </p:nvSpPr>
        <p:spPr>
          <a:xfrm>
            <a:off x="4953000" y="48837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83C41-4EB9-4C44-8C07-21A8C6966842}"/>
              </a:ext>
            </a:extLst>
          </p:cNvPr>
          <p:cNvSpPr/>
          <p:nvPr/>
        </p:nvSpPr>
        <p:spPr>
          <a:xfrm>
            <a:off x="380012" y="4836998"/>
            <a:ext cx="63215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When using the SOS Scanner: A token definition either should not: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contain choices where one choice is a prefix of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order choices such that the longest choice is the first one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0C059-1D0C-8247-B627-1CD194928058}"/>
              </a:ext>
            </a:extLst>
          </p:cNvPr>
          <p:cNvSpPr txBox="1"/>
          <p:nvPr/>
        </p:nvSpPr>
        <p:spPr>
          <a:xfrm>
            <a:off x="380012" y="6029262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CLASS = “CSE110A|110A|CSE”</a:t>
            </a:r>
          </a:p>
        </p:txBody>
      </p:sp>
    </p:spTree>
    <p:extLst>
      <p:ext uri="{BB962C8B-B14F-4D97-AF65-F5344CB8AC3E}">
        <p14:creationId xmlns:p14="http://schemas.microsoft.com/office/powerpoint/2010/main" val="71203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Pros </a:t>
            </a:r>
          </a:p>
          <a:p>
            <a:r>
              <a:rPr lang="en-US" dirty="0"/>
              <a:t>Cons</a:t>
            </a:r>
          </a:p>
        </p:txBody>
      </p:sp>
    </p:spTree>
    <p:extLst>
      <p:ext uri="{BB962C8B-B14F-4D97-AF65-F5344CB8AC3E}">
        <p14:creationId xmlns:p14="http://schemas.microsoft.com/office/powerpoint/2010/main" val="376826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Much faster than EM scanner. Only 1 call to each RE per </a:t>
            </a:r>
            <a:r>
              <a:rPr lang="en-US" dirty="0">
                <a:latin typeface="Courier" pitchFamily="2" charset="0"/>
              </a:rPr>
              <a:t>token()</a:t>
            </a:r>
            <a:r>
              <a:rPr lang="en-US" dirty="0"/>
              <a:t> call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Depends on an efficient implementation of </a:t>
            </a:r>
            <a:r>
              <a:rPr lang="en-US" dirty="0">
                <a:latin typeface="Courier" pitchFamily="2" charset="0"/>
              </a:rPr>
              <a:t>match()</a:t>
            </a:r>
          </a:p>
          <a:p>
            <a:pPr lvl="2"/>
            <a:r>
              <a:rPr lang="en-US" dirty="0"/>
              <a:t>Typically provided in most RE libraries (for this exact reason)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Requires some care in token definitions and prefixes</a:t>
            </a:r>
          </a:p>
        </p:txBody>
      </p:sp>
    </p:spTree>
    <p:extLst>
      <p:ext uri="{BB962C8B-B14F-4D97-AF65-F5344CB8AC3E}">
        <p14:creationId xmlns:p14="http://schemas.microsoft.com/office/powerpoint/2010/main" val="3430952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Much faster than EM scanner. </a:t>
            </a:r>
            <a:r>
              <a:rPr lang="en-US" dirty="0">
                <a:highlight>
                  <a:srgbClr val="FFFF00"/>
                </a:highlight>
              </a:rPr>
              <a:t>Only 1 call to each RE per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token()</a:t>
            </a:r>
            <a:r>
              <a:rPr lang="en-US" dirty="0">
                <a:highlight>
                  <a:srgbClr val="FFFF00"/>
                </a:highlight>
              </a:rPr>
              <a:t> call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Depends on an efficient implementation of </a:t>
            </a:r>
            <a:r>
              <a:rPr lang="en-US" dirty="0">
                <a:latin typeface="Courier" pitchFamily="2" charset="0"/>
              </a:rPr>
              <a:t>match()</a:t>
            </a:r>
          </a:p>
          <a:p>
            <a:pPr lvl="2"/>
            <a:r>
              <a:rPr lang="en-US" dirty="0"/>
              <a:t>Typically provided in most RE libraries (for this exact reason)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Requires some care in token definitions and prefixes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20465-19DD-FB44-9DE4-6D6843C94683}"/>
              </a:ext>
            </a:extLst>
          </p:cNvPr>
          <p:cNvSpPr txBox="1"/>
          <p:nvPr/>
        </p:nvSpPr>
        <p:spPr>
          <a:xfrm>
            <a:off x="6553200" y="920221"/>
            <a:ext cx="4031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We’re going to optimize this to 1 RE call!</a:t>
            </a:r>
            <a:br>
              <a:rPr lang="en-US" i="1" dirty="0"/>
            </a:br>
            <a:r>
              <a:rPr lang="en-US" i="1" dirty="0"/>
              <a:t>It can really help if you have many tokens</a:t>
            </a:r>
          </a:p>
        </p:txBody>
      </p:sp>
    </p:spTree>
    <p:extLst>
      <p:ext uri="{BB962C8B-B14F-4D97-AF65-F5344CB8AC3E}">
        <p14:creationId xmlns:p14="http://schemas.microsoft.com/office/powerpoint/2010/main" val="1701438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6389-520F-1B42-9996-38A8FC71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material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AB06-306D-DE47-A12E-C77366BC6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Using RE matchers to build scanners</a:t>
            </a:r>
          </a:p>
          <a:p>
            <a:pPr lvl="1"/>
            <a:r>
              <a:rPr lang="en-US" dirty="0"/>
              <a:t>Exact match (EM) scanners</a:t>
            </a:r>
          </a:p>
          <a:p>
            <a:pPr lvl="1"/>
            <a:r>
              <a:rPr lang="en-US" dirty="0"/>
              <a:t>Start-of-string (SOS) scanners</a:t>
            </a:r>
          </a:p>
          <a:p>
            <a:pPr lvl="1"/>
            <a:r>
              <a:rPr lang="en-US" b="1" dirty="0"/>
              <a:t>Named Group (NG) scanners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528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109C-7B78-A24D-A02B-EC9C9BC5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(Named Group)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870AE-C6F9-0743-9715-F10AEBC9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32908"/>
          </a:xfrm>
        </p:spPr>
        <p:txBody>
          <a:bodyPr/>
          <a:lstStyle/>
          <a:p>
            <a:r>
              <a:rPr lang="en-US" dirty="0"/>
              <a:t>We will still use the </a:t>
            </a:r>
            <a:r>
              <a:rPr lang="en-US" dirty="0">
                <a:latin typeface="Courier" pitchFamily="2" charset="0"/>
              </a:rPr>
              <a:t>match</a:t>
            </a:r>
            <a:r>
              <a:rPr lang="en-US" dirty="0"/>
              <a:t> API call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6C910-0CAB-4741-B0A2-F74F3C81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2628900"/>
            <a:ext cx="10490200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11E2FE-AA24-FE40-8040-D12250D44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71484"/>
            <a:ext cx="10414000" cy="151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0363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Start out with token definitions</a:t>
            </a:r>
          </a:p>
          <a:p>
            <a:r>
              <a:rPr lang="en-US" dirty="0"/>
              <a:t>Merge them into one RE definition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“ |\n”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SEMI   = “;”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4639734" y="3803135"/>
            <a:ext cx="53463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“(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?P&lt;ID&gt;</a:t>
            </a:r>
            <a:r>
              <a:rPr lang="en-US" sz="2400" dirty="0">
                <a:latin typeface="Courier" pitchFamily="2" charset="0"/>
              </a:rPr>
              <a:t>[a-z]+)|</a:t>
            </a:r>
          </a:p>
          <a:p>
            <a:r>
              <a:rPr lang="en-US" sz="2400" dirty="0">
                <a:latin typeface="Courier" pitchFamily="2" charset="0"/>
              </a:rPr>
              <a:t>             (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?P&lt;NUM&gt;</a:t>
            </a:r>
            <a:r>
              <a:rPr lang="en-US" sz="2400" dirty="0">
                <a:latin typeface="Courier" pitchFamily="2" charset="0"/>
              </a:rPr>
              <a:t>[0-9]+)</a:t>
            </a:r>
          </a:p>
          <a:p>
            <a:r>
              <a:rPr lang="en-US" sz="2400" dirty="0">
                <a:latin typeface="Courier" pitchFamily="2" charset="0"/>
              </a:rPr>
              <a:t>             |(..)|”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4D1D1-2372-D74B-88E7-395855A2DE2B}"/>
              </a:ext>
            </a:extLst>
          </p:cNvPr>
          <p:cNvSpPr txBox="1"/>
          <p:nvPr/>
        </p:nvSpPr>
        <p:spPr>
          <a:xfrm>
            <a:off x="8899282" y="2581290"/>
            <a:ext cx="2609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Give each group a name</a:t>
            </a:r>
            <a:br>
              <a:rPr lang="en-US" i="1" dirty="0"/>
            </a:br>
            <a:r>
              <a:rPr lang="en-US" i="1" dirty="0"/>
              <a:t>corresponding to its token</a:t>
            </a:r>
          </a:p>
        </p:txBody>
      </p:sp>
    </p:spTree>
    <p:extLst>
      <p:ext uri="{BB962C8B-B14F-4D97-AF65-F5344CB8AC3E}">
        <p14:creationId xmlns:p14="http://schemas.microsoft.com/office/powerpoint/2010/main" val="773435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4436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to match the whole string to the single RE</a:t>
            </a:r>
          </a:p>
        </p:txBody>
      </p:sp>
    </p:spTree>
    <p:extLst>
      <p:ext uri="{BB962C8B-B14F-4D97-AF65-F5344CB8AC3E}">
        <p14:creationId xmlns:p14="http://schemas.microsoft.com/office/powerpoint/2010/main" val="24379718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4436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to match the whole string to the single 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698F1-E242-854E-8707-FBF2975187C7}"/>
              </a:ext>
            </a:extLst>
          </p:cNvPr>
          <p:cNvSpPr txBox="1"/>
          <p:nvPr/>
        </p:nvSpPr>
        <p:spPr>
          <a:xfrm>
            <a:off x="7598394" y="4004374"/>
            <a:ext cx="3531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 the </a:t>
            </a:r>
            <a:r>
              <a:rPr lang="en-US" dirty="0">
                <a:latin typeface="Courier" pitchFamily="2" charset="0"/>
              </a:rPr>
              <a:t>group </a:t>
            </a:r>
            <a:r>
              <a:rPr lang="en-US" dirty="0"/>
              <a:t>dictionary in the</a:t>
            </a:r>
            <a:br>
              <a:rPr lang="en-US" dirty="0"/>
            </a:br>
            <a:r>
              <a:rPr lang="en-US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24845137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4436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to match the whole string to the single 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4E89A-46CF-F649-A50A-F17A743822B6}"/>
              </a:ext>
            </a:extLst>
          </p:cNvPr>
          <p:cNvSpPr txBox="1"/>
          <p:nvPr/>
        </p:nvSpPr>
        <p:spPr>
          <a:xfrm>
            <a:off x="7755467" y="4216400"/>
            <a:ext cx="32175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{”ID”     : “variable”</a:t>
            </a:r>
          </a:p>
          <a:p>
            <a:r>
              <a:rPr lang="en-US" dirty="0">
                <a:latin typeface="Courier" pitchFamily="2" charset="0"/>
              </a:rPr>
              <a:t> “NUM”    : None</a:t>
            </a:r>
          </a:p>
          <a:p>
            <a:r>
              <a:rPr lang="en-US" dirty="0">
                <a:latin typeface="Courier" pitchFamily="2" charset="0"/>
              </a:rPr>
              <a:t> “ASSIGN” : None</a:t>
            </a:r>
          </a:p>
          <a:p>
            <a:r>
              <a:rPr lang="en-US" dirty="0">
                <a:latin typeface="Courier" pitchFamily="2" charset="0"/>
              </a:rPr>
              <a:t> “PLUS”   : None</a:t>
            </a:r>
          </a:p>
          <a:p>
            <a:r>
              <a:rPr lang="en-US" dirty="0">
                <a:latin typeface="Courier" pitchFamily="2" charset="0"/>
              </a:rPr>
              <a:t> “MULT”   : None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“IGNORE” : None</a:t>
            </a:r>
          </a:p>
          <a:p>
            <a:r>
              <a:rPr lang="en-US" dirty="0">
                <a:latin typeface="Courier" pitchFamily="2" charset="0"/>
              </a:rPr>
              <a:t> “SEMI”   : None}</a:t>
            </a:r>
          </a:p>
        </p:txBody>
      </p:sp>
    </p:spTree>
    <p:extLst>
      <p:ext uri="{BB962C8B-B14F-4D97-AF65-F5344CB8AC3E}">
        <p14:creationId xmlns:p14="http://schemas.microsoft.com/office/powerpoint/2010/main" val="4836230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4436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to match the whole string to the single 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4E89A-46CF-F649-A50A-F17A743822B6}"/>
              </a:ext>
            </a:extLst>
          </p:cNvPr>
          <p:cNvSpPr txBox="1"/>
          <p:nvPr/>
        </p:nvSpPr>
        <p:spPr>
          <a:xfrm>
            <a:off x="7755467" y="4216400"/>
            <a:ext cx="32175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{”ID”     : “variable”</a:t>
            </a:r>
          </a:p>
          <a:p>
            <a:r>
              <a:rPr lang="en-US" dirty="0">
                <a:latin typeface="Courier" pitchFamily="2" charset="0"/>
              </a:rPr>
              <a:t> “NUM”    : None</a:t>
            </a:r>
          </a:p>
          <a:p>
            <a:r>
              <a:rPr lang="en-US" dirty="0">
                <a:latin typeface="Courier" pitchFamily="2" charset="0"/>
              </a:rPr>
              <a:t> “ASSIGN” : None</a:t>
            </a:r>
          </a:p>
          <a:p>
            <a:r>
              <a:rPr lang="en-US" dirty="0">
                <a:latin typeface="Courier" pitchFamily="2" charset="0"/>
              </a:rPr>
              <a:t> “PLUS”   : None</a:t>
            </a:r>
          </a:p>
          <a:p>
            <a:r>
              <a:rPr lang="en-US" dirty="0">
                <a:latin typeface="Courier" pitchFamily="2" charset="0"/>
              </a:rPr>
              <a:t> “MULT”   : None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“IGNORE” : None</a:t>
            </a:r>
          </a:p>
          <a:p>
            <a:r>
              <a:rPr lang="en-US" dirty="0">
                <a:latin typeface="Courier" pitchFamily="2" charset="0"/>
              </a:rPr>
              <a:t> “SEMI”   : None}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3E27F-D432-614E-9009-23E271DE6387}"/>
              </a:ext>
            </a:extLst>
          </p:cNvPr>
          <p:cNvSpPr txBox="1"/>
          <p:nvPr/>
        </p:nvSpPr>
        <p:spPr>
          <a:xfrm>
            <a:off x="5507730" y="6308209"/>
            <a:ext cx="417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the lexeme </a:t>
            </a:r>
            <a:r>
              <a:rPr lang="en-US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13632445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4E89A-46CF-F649-A50A-F17A743822B6}"/>
              </a:ext>
            </a:extLst>
          </p:cNvPr>
          <p:cNvSpPr txBox="1"/>
          <p:nvPr/>
        </p:nvSpPr>
        <p:spPr>
          <a:xfrm>
            <a:off x="7755467" y="4216400"/>
            <a:ext cx="32175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{”ID”     : “variable”</a:t>
            </a:r>
          </a:p>
          <a:p>
            <a:r>
              <a:rPr lang="en-US" dirty="0">
                <a:latin typeface="Courier" pitchFamily="2" charset="0"/>
              </a:rPr>
              <a:t> “NUM”    : None</a:t>
            </a:r>
          </a:p>
          <a:p>
            <a:r>
              <a:rPr lang="en-US" dirty="0">
                <a:latin typeface="Courier" pitchFamily="2" charset="0"/>
              </a:rPr>
              <a:t> “ASSIGN” : None</a:t>
            </a:r>
          </a:p>
          <a:p>
            <a:r>
              <a:rPr lang="en-US" dirty="0">
                <a:latin typeface="Courier" pitchFamily="2" charset="0"/>
              </a:rPr>
              <a:t> “PLUS”   : None</a:t>
            </a:r>
          </a:p>
          <a:p>
            <a:r>
              <a:rPr lang="en-US" dirty="0">
                <a:latin typeface="Courier" pitchFamily="2" charset="0"/>
              </a:rPr>
              <a:t> “MULT”   : None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“IGNORE” : None</a:t>
            </a:r>
          </a:p>
          <a:p>
            <a:r>
              <a:rPr lang="en-US" dirty="0">
                <a:latin typeface="Courier" pitchFamily="2" charset="0"/>
              </a:rPr>
              <a:t> “SEMI”   : None}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3E27F-D432-614E-9009-23E271DE6387}"/>
              </a:ext>
            </a:extLst>
          </p:cNvPr>
          <p:cNvSpPr txBox="1"/>
          <p:nvPr/>
        </p:nvSpPr>
        <p:spPr>
          <a:xfrm>
            <a:off x="5507730" y="6308209"/>
            <a:ext cx="417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the lexeme </a:t>
            </a:r>
            <a:r>
              <a:rPr lang="en-US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32980910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chop!</a:t>
            </a:r>
          </a:p>
        </p:txBody>
      </p:sp>
    </p:spTree>
    <p:extLst>
      <p:ext uri="{BB962C8B-B14F-4D97-AF65-F5344CB8AC3E}">
        <p14:creationId xmlns:p14="http://schemas.microsoft.com/office/powerpoint/2010/main" val="26969367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74868" cy="1325563"/>
          </a:xfrm>
        </p:spPr>
        <p:txBody>
          <a:bodyPr>
            <a:normAutofit/>
          </a:bodyPr>
          <a:lstStyle/>
          <a:p>
            <a:r>
              <a:rPr lang="en-US" dirty="0"/>
              <a:t>How to deal with common prefixes in token definitions?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from SOS scanner: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6872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LETTERS = “[A-Z]+”</a:t>
            </a:r>
          </a:p>
          <a:p>
            <a:r>
              <a:rPr lang="en-US" sz="2400" dirty="0">
                <a:latin typeface="Courier" pitchFamily="2" charset="0"/>
              </a:rPr>
              <a:t>NUM     = “[0-9]+”</a:t>
            </a:r>
          </a:p>
          <a:p>
            <a:r>
              <a:rPr lang="en-US" sz="2400" dirty="0">
                <a:latin typeface="Courier" pitchFamily="2" charset="0"/>
              </a:rPr>
              <a:t>CLASS   = ”CSE110A“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</p:spTree>
    <p:extLst>
      <p:ext uri="{BB962C8B-B14F-4D97-AF65-F5344CB8AC3E}">
        <p14:creationId xmlns:p14="http://schemas.microsoft.com/office/powerpoint/2010/main" val="12023505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to a single 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298652" y="3429000"/>
            <a:ext cx="534633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</a:t>
            </a:r>
          </a:p>
          <a:p>
            <a:r>
              <a:rPr lang="en-US" sz="2400" dirty="0">
                <a:latin typeface="Courier" pitchFamily="2" charset="0"/>
              </a:rPr>
              <a:t>       (?P&lt;LETTERS&gt;([A-Z]+)|</a:t>
            </a:r>
          </a:p>
          <a:p>
            <a:r>
              <a:rPr lang="en-US" sz="2400" dirty="0">
                <a:latin typeface="Courier" pitchFamily="2" charset="0"/>
              </a:rPr>
              <a:t>       (?P&lt;NUM&gt;([0-9]+)|</a:t>
            </a:r>
          </a:p>
          <a:p>
            <a:r>
              <a:rPr lang="en-US" sz="2400" dirty="0">
                <a:latin typeface="Courier" pitchFamily="2" charset="0"/>
              </a:rPr>
              <a:t>       (?P&lt;CLASS&gt;CSE110A)”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CC68764-C594-BC46-BCE7-86D1E84DF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74868" cy="1325563"/>
          </a:xfrm>
        </p:spPr>
        <p:txBody>
          <a:bodyPr>
            <a:normAutofit/>
          </a:bodyPr>
          <a:lstStyle/>
          <a:p>
            <a:r>
              <a:rPr lang="en-US" dirty="0"/>
              <a:t>How to deal with common prefixes in token definitions?</a:t>
            </a:r>
          </a:p>
        </p:txBody>
      </p:sp>
    </p:spTree>
    <p:extLst>
      <p:ext uri="{BB962C8B-B14F-4D97-AF65-F5344CB8AC3E}">
        <p14:creationId xmlns:p14="http://schemas.microsoft.com/office/powerpoint/2010/main" val="18731847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to a single 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298652" y="3429000"/>
            <a:ext cx="534633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</a:t>
            </a:r>
          </a:p>
          <a:p>
            <a:r>
              <a:rPr lang="en-US" sz="2400" dirty="0">
                <a:latin typeface="Courier" pitchFamily="2" charset="0"/>
              </a:rPr>
              <a:t>       (?P&lt;LETTERS&gt;([A-Z]+)|</a:t>
            </a:r>
          </a:p>
          <a:p>
            <a:r>
              <a:rPr lang="en-US" sz="2400" dirty="0">
                <a:latin typeface="Courier" pitchFamily="2" charset="0"/>
              </a:rPr>
              <a:t>       (?P&lt;NUM&gt;([0-9]+)|</a:t>
            </a:r>
          </a:p>
          <a:p>
            <a:r>
              <a:rPr lang="en-US" sz="2400" dirty="0">
                <a:latin typeface="Courier" pitchFamily="2" charset="0"/>
              </a:rPr>
              <a:t>       (?P&lt;CLASS&gt;CSE110A)”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9FD5C-C56B-0048-8D67-BD2EB5E299BD}"/>
              </a:ext>
            </a:extLst>
          </p:cNvPr>
          <p:cNvSpPr txBox="1"/>
          <p:nvPr/>
        </p:nvSpPr>
        <p:spPr>
          <a:xfrm>
            <a:off x="7112000" y="4487333"/>
            <a:ext cx="452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 we think the dictionary will look like?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AA5D66-6A0C-1340-9598-123E192C7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74868" cy="1325563"/>
          </a:xfrm>
        </p:spPr>
        <p:txBody>
          <a:bodyPr>
            <a:normAutofit/>
          </a:bodyPr>
          <a:lstStyle/>
          <a:p>
            <a:r>
              <a:rPr lang="en-US" dirty="0"/>
              <a:t>How to deal with common prefixes in token definitions?</a:t>
            </a:r>
          </a:p>
        </p:txBody>
      </p:sp>
    </p:spTree>
    <p:extLst>
      <p:ext uri="{BB962C8B-B14F-4D97-AF65-F5344CB8AC3E}">
        <p14:creationId xmlns:p14="http://schemas.microsoft.com/office/powerpoint/2010/main" val="28370621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to a single 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298652" y="3429000"/>
            <a:ext cx="534633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</a:t>
            </a:r>
          </a:p>
          <a:p>
            <a:r>
              <a:rPr lang="en-US" sz="2400" dirty="0">
                <a:latin typeface="Courier" pitchFamily="2" charset="0"/>
              </a:rPr>
              <a:t>       (?P&lt;LETTERS&gt;([A-Z]+)|</a:t>
            </a:r>
          </a:p>
          <a:p>
            <a:r>
              <a:rPr lang="en-US" sz="2400" dirty="0">
                <a:latin typeface="Courier" pitchFamily="2" charset="0"/>
              </a:rPr>
              <a:t>       (?P&lt;NUM&gt;([0-9]+)|</a:t>
            </a:r>
          </a:p>
          <a:p>
            <a:r>
              <a:rPr lang="en-US" sz="2400" dirty="0">
                <a:latin typeface="Courier" pitchFamily="2" charset="0"/>
              </a:rPr>
              <a:t>       (?P&lt;CLASS&gt;CSE110A)”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2E126-CAFE-134F-918A-C2B8BDC71A3C}"/>
              </a:ext>
            </a:extLst>
          </p:cNvPr>
          <p:cNvSpPr txBox="1"/>
          <p:nvPr/>
        </p:nvSpPr>
        <p:spPr>
          <a:xfrm>
            <a:off x="7755467" y="4216400"/>
            <a:ext cx="2666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{”LETTERS” : “CSE”</a:t>
            </a:r>
          </a:p>
          <a:p>
            <a:r>
              <a:rPr lang="en-US" dirty="0">
                <a:latin typeface="Courier" pitchFamily="2" charset="0"/>
              </a:rPr>
              <a:t> “NUM”     : None</a:t>
            </a:r>
          </a:p>
          <a:p>
            <a:r>
              <a:rPr lang="en-US" dirty="0">
                <a:latin typeface="Courier" pitchFamily="2" charset="0"/>
              </a:rPr>
              <a:t> “CLASS”   : None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BC2D4E-6735-9F4A-9918-84ED0D11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74868" cy="1325563"/>
          </a:xfrm>
        </p:spPr>
        <p:txBody>
          <a:bodyPr>
            <a:normAutofit/>
          </a:bodyPr>
          <a:lstStyle/>
          <a:p>
            <a:r>
              <a:rPr lang="en-US" dirty="0"/>
              <a:t>How to deal with common prefixes in token definitions?</a:t>
            </a:r>
          </a:p>
        </p:txBody>
      </p:sp>
    </p:spTree>
    <p:extLst>
      <p:ext uri="{BB962C8B-B14F-4D97-AF65-F5344CB8AC3E}">
        <p14:creationId xmlns:p14="http://schemas.microsoft.com/office/powerpoint/2010/main" val="37611594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to a single 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298652" y="3429000"/>
            <a:ext cx="534633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</a:t>
            </a:r>
          </a:p>
          <a:p>
            <a:r>
              <a:rPr lang="en-US" sz="2400" dirty="0">
                <a:latin typeface="Courier" pitchFamily="2" charset="0"/>
              </a:rPr>
              <a:t>       (?P&lt;LETTERS&gt;([A-Z]+)|</a:t>
            </a:r>
          </a:p>
          <a:p>
            <a:r>
              <a:rPr lang="en-US" sz="2400" dirty="0">
                <a:latin typeface="Courier" pitchFamily="2" charset="0"/>
              </a:rPr>
              <a:t>       (?P&lt;NUM&gt;([0-9]+)|</a:t>
            </a:r>
          </a:p>
          <a:p>
            <a:r>
              <a:rPr lang="en-US" sz="2400" dirty="0">
                <a:latin typeface="Courier" pitchFamily="2" charset="0"/>
              </a:rPr>
              <a:t>       (?P&lt;CLASS&gt;CSE110A)”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838199" y="5416729"/>
            <a:ext cx="9126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does this mean?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Tokens should not contain prefixes of each other</a:t>
            </a:r>
          </a:p>
          <a:p>
            <a:r>
              <a:rPr lang="en-US" dirty="0"/>
              <a:t>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Tokens that share a common prefix should be ordered such that the longer token comes first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2E126-CAFE-134F-918A-C2B8BDC71A3C}"/>
              </a:ext>
            </a:extLst>
          </p:cNvPr>
          <p:cNvSpPr txBox="1"/>
          <p:nvPr/>
        </p:nvSpPr>
        <p:spPr>
          <a:xfrm>
            <a:off x="7755467" y="4216400"/>
            <a:ext cx="2666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{”LETTERS” : “CSE”</a:t>
            </a:r>
          </a:p>
          <a:p>
            <a:r>
              <a:rPr lang="en-US" dirty="0">
                <a:latin typeface="Courier" pitchFamily="2" charset="0"/>
              </a:rPr>
              <a:t> “NUM”     : None</a:t>
            </a:r>
          </a:p>
          <a:p>
            <a:r>
              <a:rPr lang="en-US" dirty="0">
                <a:latin typeface="Courier" pitchFamily="2" charset="0"/>
              </a:rPr>
              <a:t> “CLASS”   : None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46EE0D6-D8C8-0246-B0C2-2C338779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74868" cy="1325563"/>
          </a:xfrm>
        </p:spPr>
        <p:txBody>
          <a:bodyPr>
            <a:normAutofit/>
          </a:bodyPr>
          <a:lstStyle/>
          <a:p>
            <a:r>
              <a:rPr lang="en-US" dirty="0"/>
              <a:t>How to deal with common prefixes in token definitions?</a:t>
            </a:r>
          </a:p>
        </p:txBody>
      </p:sp>
    </p:spTree>
    <p:extLst>
      <p:ext uri="{BB962C8B-B14F-4D97-AF65-F5344CB8AC3E}">
        <p14:creationId xmlns:p14="http://schemas.microsoft.com/office/powerpoint/2010/main" val="15184479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06775"/>
          </a:xfrm>
        </p:spPr>
        <p:txBody>
          <a:bodyPr/>
          <a:lstStyle/>
          <a:p>
            <a:r>
              <a:rPr lang="en-US" dirty="0"/>
              <a:t>Careful with these tokens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4897595" y="2954867"/>
            <a:ext cx="239681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INCR = “++”</a:t>
            </a:r>
          </a:p>
          <a:p>
            <a:r>
              <a:rPr lang="en-US" sz="2400" dirty="0">
                <a:latin typeface="Courier" pitchFamily="2" charset="0"/>
              </a:rPr>
              <a:t>ADD  = “+”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EQ = “==“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ASSIGN = “=“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F21BE1-9034-A344-8AA6-3F351053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74868" cy="1325563"/>
          </a:xfrm>
        </p:spPr>
        <p:txBody>
          <a:bodyPr>
            <a:normAutofit/>
          </a:bodyPr>
          <a:lstStyle/>
          <a:p>
            <a:r>
              <a:rPr lang="en-US" dirty="0"/>
              <a:t>How to deal with common prefixes in token definitions?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9636FF-9454-7B49-9E46-F89D98B62196}"/>
              </a:ext>
            </a:extLst>
          </p:cNvPr>
          <p:cNvSpPr txBox="1"/>
          <p:nvPr/>
        </p:nvSpPr>
        <p:spPr>
          <a:xfrm>
            <a:off x="2556934" y="5765799"/>
            <a:ext cx="7451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Ensure that you provide them in the right order so that the longer one is first!</a:t>
            </a:r>
          </a:p>
        </p:txBody>
      </p:sp>
    </p:spTree>
    <p:extLst>
      <p:ext uri="{BB962C8B-B14F-4D97-AF65-F5344CB8AC3E}">
        <p14:creationId xmlns:p14="http://schemas.microsoft.com/office/powerpoint/2010/main" val="23596406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FAST! Only 1 RE call per </a:t>
            </a:r>
            <a:r>
              <a:rPr lang="en-US" dirty="0">
                <a:latin typeface="Courier" pitchFamily="2" charset="0"/>
              </a:rPr>
              <a:t>token()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Requires a named group RE library</a:t>
            </a:r>
          </a:p>
          <a:p>
            <a:pPr lvl="1"/>
            <a:r>
              <a:rPr lang="en-US" dirty="0"/>
              <a:t>inter-token interactions need to be considered</a:t>
            </a:r>
          </a:p>
        </p:txBody>
      </p:sp>
    </p:spTree>
    <p:extLst>
      <p:ext uri="{BB962C8B-B14F-4D97-AF65-F5344CB8AC3E}">
        <p14:creationId xmlns:p14="http://schemas.microsoft.com/office/powerpoint/2010/main" val="18457717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6389-520F-1B42-9996-38A8FC71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Scanners we have discussed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AB06-306D-DE47-A12E-C77366BC6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47975"/>
          </a:xfrm>
        </p:spPr>
        <p:txBody>
          <a:bodyPr/>
          <a:lstStyle/>
          <a:p>
            <a:r>
              <a:rPr lang="en-US" i="1" dirty="0"/>
              <a:t>Naïve Scanner</a:t>
            </a:r>
          </a:p>
          <a:p>
            <a:endParaRPr lang="en-US" i="1" dirty="0"/>
          </a:p>
          <a:p>
            <a:r>
              <a:rPr lang="en-US" i="1" dirty="0"/>
              <a:t>RE based scanners</a:t>
            </a:r>
          </a:p>
          <a:p>
            <a:pPr lvl="1"/>
            <a:r>
              <a:rPr lang="en-US" dirty="0"/>
              <a:t>Exact match (EM) scanners</a:t>
            </a:r>
          </a:p>
          <a:p>
            <a:pPr lvl="1"/>
            <a:r>
              <a:rPr lang="en-US" dirty="0"/>
              <a:t>Start-of-string (SOS) scanners</a:t>
            </a:r>
          </a:p>
          <a:p>
            <a:pPr lvl="1"/>
            <a:r>
              <a:rPr lang="en-US" dirty="0"/>
              <a:t>named group (NG) scanners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5431E-54D7-1741-BE4B-FBA96DFB9AFE}"/>
              </a:ext>
            </a:extLst>
          </p:cNvPr>
          <p:cNvSpPr txBox="1"/>
          <p:nvPr/>
        </p:nvSpPr>
        <p:spPr>
          <a:xfrm>
            <a:off x="1227667" y="5427133"/>
            <a:ext cx="7177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Which one to use?</a:t>
            </a:r>
          </a:p>
          <a:p>
            <a:r>
              <a:rPr lang="en-US" i="1" dirty="0"/>
              <a:t>Complex decision with performance, expressivity, and token requirements </a:t>
            </a:r>
          </a:p>
        </p:txBody>
      </p:sp>
    </p:spTree>
    <p:extLst>
      <p:ext uri="{BB962C8B-B14F-4D97-AF65-F5344CB8AC3E}">
        <p14:creationId xmlns:p14="http://schemas.microsoft.com/office/powerpoint/2010/main" val="2133952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17883</TotalTime>
  <Words>3369</Words>
  <Application>Microsoft Office PowerPoint</Application>
  <PresentationFormat>Widescreen</PresentationFormat>
  <Paragraphs>565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Andale Mono</vt:lpstr>
      <vt:lpstr>Arial</vt:lpstr>
      <vt:lpstr>Calibri</vt:lpstr>
      <vt:lpstr>Calibri Light</vt:lpstr>
      <vt:lpstr>Courier</vt:lpstr>
      <vt:lpstr>Menlo</vt:lpstr>
      <vt:lpstr>Office Theme</vt:lpstr>
      <vt:lpstr>CSE110A: Compilers </vt:lpstr>
      <vt:lpstr>                         Review Topic:                        Regular Expressions</vt:lpstr>
      <vt:lpstr>Regular expressions</vt:lpstr>
      <vt:lpstr>Using REs</vt:lpstr>
      <vt:lpstr>Using REs</vt:lpstr>
      <vt:lpstr>Review</vt:lpstr>
      <vt:lpstr>Naïve Scanner</vt:lpstr>
      <vt:lpstr>Shortcomings of Naïve scanner</vt:lpstr>
      <vt:lpstr>Regular expressions to the rescue</vt:lpstr>
      <vt:lpstr>Let’s write our tokens as regular expressions</vt:lpstr>
      <vt:lpstr>Let’s write our tokens as regular expressions</vt:lpstr>
      <vt:lpstr>Let’s write our tokens as regular expressions</vt:lpstr>
      <vt:lpstr>Finishing up last lecture</vt:lpstr>
      <vt:lpstr>RE examples</vt:lpstr>
      <vt:lpstr>      How to implement an RE matcher? </vt:lpstr>
      <vt:lpstr>How to implement an RE matcher?</vt:lpstr>
      <vt:lpstr>     Review of RE Matchers to Build Scanner</vt:lpstr>
      <vt:lpstr>EM Scanner</vt:lpstr>
      <vt:lpstr>EM Scanner</vt:lpstr>
      <vt:lpstr>EM Scanner</vt:lpstr>
      <vt:lpstr>EM Scanner</vt:lpstr>
      <vt:lpstr>EM Scanner</vt:lpstr>
      <vt:lpstr>EM Scanner</vt:lpstr>
      <vt:lpstr>code for exact match scanner</vt:lpstr>
      <vt:lpstr>EM Scanner</vt:lpstr>
      <vt:lpstr>SOS (Start Of String)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New material for today</vt:lpstr>
      <vt:lpstr>NG (Named Group) Scanner</vt:lpstr>
      <vt:lpstr>NG Scanner</vt:lpstr>
      <vt:lpstr>NG Scanner</vt:lpstr>
      <vt:lpstr>NG Scanner</vt:lpstr>
      <vt:lpstr>NG Scanner</vt:lpstr>
      <vt:lpstr>NG Scanner</vt:lpstr>
      <vt:lpstr>NG Scanner</vt:lpstr>
      <vt:lpstr>NG Scanner</vt:lpstr>
      <vt:lpstr>How to deal with common prefixes in token definitions?</vt:lpstr>
      <vt:lpstr>How to deal with common prefixes in token definitions?</vt:lpstr>
      <vt:lpstr>How to deal with common prefixes in token definitions?</vt:lpstr>
      <vt:lpstr>How to deal with common prefixes in token definitions?</vt:lpstr>
      <vt:lpstr>How to deal with common prefixes in token definitions?</vt:lpstr>
      <vt:lpstr>How to deal with common prefixes in token definitions?</vt:lpstr>
      <vt:lpstr>NG Scanner</vt:lpstr>
      <vt:lpstr>Scanners we have discussed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210</cp:revision>
  <dcterms:created xsi:type="dcterms:W3CDTF">2021-03-23T23:59:42Z</dcterms:created>
  <dcterms:modified xsi:type="dcterms:W3CDTF">2025-04-10T09:29:50Z</dcterms:modified>
</cp:coreProperties>
</file>