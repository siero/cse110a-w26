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1F87D-1686-40AD-BBA0-4E118F8FB94A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5D850-192C-4A74-9ED8-83EA308A7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7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3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E7CF-2C27-BA25-AAF6-A9907D027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B0B4A-6B63-C0B7-823F-D4FA9B55A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D331-42CC-35FD-1975-11DF40C5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9A9D2-6369-3B90-C4E0-01D989CB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3DF32-DA9D-25D5-1178-ACE4437A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2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F5A7-3D0D-C4C6-FA6E-8032E9A2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A10F-3E15-76E4-C094-9DF4926A4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EA8B5-6450-DE93-DAC8-95337CD9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E1EE1-F368-A44A-A51A-771B9410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99014-6D64-5DC3-EC0C-697F5C6E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5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5105-196A-DE15-0B3C-E042E4AD4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06D39-0679-7064-0A79-1809B7DEC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4CA53-EB2B-A0D6-F591-DF37891D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26C06-F5A0-2A0B-5965-1D96DF46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20AC8-EF87-0D0D-FD94-D180CAD7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0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766A-689B-8533-383D-CA19F527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88CE-52AB-9D40-9F25-505DF6E1E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AA0F4-AA9B-22AE-F3B2-EAD040CFB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D4992-35DF-68A9-999B-D189B2CA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3D999-5C0D-199E-246E-A28EC530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EB4F1-65F6-FCB0-A682-0D3A68EA7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DAEE-C3F7-FE72-6AA3-7B6FECF5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2542-BACC-2AAC-B3B3-FDD74E986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ED623-85FB-2F18-77A0-10288FD35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A74A6-82B5-858D-D678-D3D86A24A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B7C66-610C-34C4-1BAF-1516FB69F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3CE3A-27D3-E852-24B3-237E8228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15A83-7602-8A4E-255D-84B3F64E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7709D-21AC-9A11-7A17-14219598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9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3103-ED86-332E-FE2D-BFC16AD8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27572-A7C3-179E-1FE5-655EFA01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278F9-034D-7AF9-0648-B45DA78F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F995B-3B66-AF8B-9AAA-AB5B8134D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40490-BDB2-13E5-649E-1530EB45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20447-7335-B7B5-2AD9-EFB91C18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DBBE-AE85-8D77-8FE2-9E463209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F4A7-8A72-9839-6996-FE7D63D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9F686-9A9B-8A57-2FAC-F8F093CDF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286EA-4127-BD4A-032F-8DC03733B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B720A-5A82-C6E6-DD37-F9B2ADCD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1B4EC-FEA4-A83C-5B4A-87B1A1B5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20108-1B7F-1340-4030-ADD12F59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5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167F-34F0-15AD-FDB0-C76CB1FA5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3E1AE-C057-2865-6E4C-57DCE1F70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E1EC9-4678-BBA9-5B99-A29DDF74C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B2B7C-44FA-B7D0-BC02-5A01E53C3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304BD-6A57-A02F-37C3-C3354210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2FA69-627C-4D69-469D-84C73C4A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5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194B-C3FF-1CFC-ECDA-5A33F4E5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80424-D02B-1A28-9F2C-D12354557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40B0D-5C76-55D0-1A58-0F1229E2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2FD96-ABFE-14F2-1981-EA01E2B5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1603-0BCF-18BA-01A9-E713E376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4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FEF0-1BF5-85FF-7044-B914AD5A5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F5C10-E08D-2F7C-960F-CA9FA1448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8C20-0FB3-9F9B-C7C5-C2FD6FE7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17C5-19C2-668B-140C-B295FF06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811E9-62BF-0A1A-0532-77EC6E51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7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F42A8-EEAB-3181-DC49-8F5CB456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4CEBB-C2EF-AD0D-E522-064D026BE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1C565-6257-7DBF-2475-AC885121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F5D5E-CCB8-43A6-9ECE-E276D30DA5A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BB2DC-E063-4D6D-F974-0BCDB6813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E2CA0-7748-005C-3A1B-D50C7949E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890F1-12EB-4C15-98EB-FB756E019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3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E466-9FB4-7114-CED8-6A2E25DA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66E9-4479-399C-3750-CAAF6C762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2139" y="4640826"/>
            <a:ext cx="8801650" cy="168602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First &amp; Follow Sets and</a:t>
            </a:r>
            <a:br>
              <a:rPr lang="en-US" dirty="0"/>
            </a:br>
            <a:r>
              <a:rPr lang="en-US" dirty="0" err="1"/>
              <a:t>Warshall’s</a:t>
            </a:r>
            <a:r>
              <a:rPr lang="en-US" dirty="0"/>
              <a:t> Transitive Closure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C6CDA-CF0B-4489-51C4-892ED3C2B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8211" y="4199440"/>
            <a:ext cx="1935428" cy="55062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860C57-BC0F-DA02-72EA-848A472F9635}"/>
              </a:ext>
            </a:extLst>
          </p:cNvPr>
          <p:cNvSpPr txBox="1">
            <a:spLocks/>
          </p:cNvSpPr>
          <p:nvPr/>
        </p:nvSpPr>
        <p:spPr>
          <a:xfrm>
            <a:off x="330597" y="0"/>
            <a:ext cx="10515600" cy="1553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/>
              <a:t>CSE110A: Compilers</a:t>
            </a:r>
            <a:endParaRPr lang="en-US" sz="3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7F8B16-CDAE-BC7C-2A79-E3C6160AEE8F}"/>
              </a:ext>
            </a:extLst>
          </p:cNvPr>
          <p:cNvSpPr txBox="1">
            <a:spLocks/>
          </p:cNvSpPr>
          <p:nvPr/>
        </p:nvSpPr>
        <p:spPr>
          <a:xfrm>
            <a:off x="1734041" y="4271655"/>
            <a:ext cx="1736747" cy="47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pPr lvl="1"/>
            <a:endParaRPr lang="en-US" i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599947-0F7A-65DF-79E5-C4C8B1EE96BC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8A23B1-61B6-AE8D-17E0-B87C3348F7EF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555212-1C5F-BDDF-16E4-BC902F654536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98ED085-E8C7-2A33-14E8-B36FDA3FC70E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5B541F-DF34-0717-537F-3A20E5CC2E59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ACC286-5569-4E75-5258-956E6F59ADAB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96D995-022F-6A69-792F-EC07C8509E46}"/>
              </a:ext>
            </a:extLst>
          </p:cNvPr>
          <p:cNvCxnSpPr>
            <a:cxnSpLocks/>
            <a:stCxn id="10" idx="4"/>
            <a:endCxn id="14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909FC43-0A1C-5249-720A-7FE4C6FE4F16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BA9652-A824-3740-50C2-6C3FA876A43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15" name="Snip Single Corner Rectangle 38">
            <a:extLst>
              <a:ext uri="{FF2B5EF4-FFF2-40B4-BE49-F238E27FC236}">
                <a16:creationId xmlns:a16="http://schemas.microsoft.com/office/drawing/2014/main" id="{C11634F7-DF87-001E-8554-2AA1894D880D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16" name="Right Arrow 39">
            <a:extLst>
              <a:ext uri="{FF2B5EF4-FFF2-40B4-BE49-F238E27FC236}">
                <a16:creationId xmlns:a16="http://schemas.microsoft.com/office/drawing/2014/main" id="{B34B0A89-988F-BC84-2F8C-75194277BF3E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1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E629-2296-B4FC-1867-F96196B2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B9D676BE-F19C-B0AD-FB48-7B6F6677A492}"/>
              </a:ext>
            </a:extLst>
          </p:cNvPr>
          <p:cNvSpPr txBox="1"/>
          <p:nvPr/>
        </p:nvSpPr>
        <p:spPr>
          <a:xfrm>
            <a:off x="3124903" y="1034190"/>
            <a:ext cx="594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Warshall’s</a:t>
            </a:r>
            <a:r>
              <a:rPr lang="en-US" sz="3600" dirty="0"/>
              <a:t> Transitive Closure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87862-5ACB-98E8-55DD-03EECBC4E557}"/>
              </a:ext>
            </a:extLst>
          </p:cNvPr>
          <p:cNvSpPr txBox="1"/>
          <p:nvPr/>
        </p:nvSpPr>
        <p:spPr>
          <a:xfrm>
            <a:off x="1086464" y="2384603"/>
            <a:ext cx="100190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def </a:t>
            </a:r>
            <a:r>
              <a:rPr lang="en-US" sz="2800" dirty="0" err="1"/>
              <a:t>warshall_full_closure</a:t>
            </a:r>
            <a:r>
              <a:rPr lang="en-US" sz="2800" dirty="0"/>
              <a:t>(relation, </a:t>
            </a:r>
            <a:r>
              <a:rPr lang="en-US" sz="2800" dirty="0" err="1"/>
              <a:t>non_terminals</a:t>
            </a:r>
            <a:r>
              <a:rPr lang="en-US" sz="2800" dirty="0"/>
              <a:t>, </a:t>
            </a:r>
            <a:r>
              <a:rPr lang="en-US" sz="2800" dirty="0" err="1"/>
              <a:t>all_symbols</a:t>
            </a:r>
            <a:r>
              <a:rPr lang="en-US" sz="2800" dirty="0"/>
              <a:t>):</a:t>
            </a:r>
          </a:p>
          <a:p>
            <a:r>
              <a:rPr lang="en-US" sz="2800" dirty="0"/>
              <a:t>    closure = </a:t>
            </a:r>
            <a:r>
              <a:rPr lang="en-US" sz="2800" dirty="0" err="1"/>
              <a:t>relation.copy</a:t>
            </a:r>
            <a:r>
              <a:rPr lang="en-US" sz="2800" dirty="0"/>
              <a:t>()</a:t>
            </a:r>
          </a:p>
          <a:p>
            <a:r>
              <a:rPr lang="en-US" sz="2800" dirty="0"/>
              <a:t>    for k in </a:t>
            </a:r>
            <a:r>
              <a:rPr lang="en-US" sz="2800" dirty="0" err="1"/>
              <a:t>non_terminals</a:t>
            </a:r>
            <a:r>
              <a:rPr lang="en-US" sz="2800" dirty="0"/>
              <a:t>:</a:t>
            </a:r>
          </a:p>
          <a:p>
            <a:r>
              <a:rPr lang="en-US" sz="2800" dirty="0"/>
              <a:t>        for </a:t>
            </a:r>
            <a:r>
              <a:rPr lang="en-US" sz="2800" dirty="0" err="1"/>
              <a:t>i</a:t>
            </a:r>
            <a:r>
              <a:rPr lang="en-US" sz="2800" dirty="0"/>
              <a:t> in </a:t>
            </a:r>
            <a:r>
              <a:rPr lang="en-US" sz="2800" dirty="0" err="1"/>
              <a:t>non_terminals</a:t>
            </a:r>
            <a:r>
              <a:rPr lang="en-US" sz="2800" dirty="0"/>
              <a:t>:</a:t>
            </a:r>
          </a:p>
          <a:p>
            <a:r>
              <a:rPr lang="en-US" sz="2800" dirty="0"/>
              <a:t>            for j in </a:t>
            </a:r>
            <a:r>
              <a:rPr lang="en-US" sz="2800" dirty="0" err="1"/>
              <a:t>all_symbols</a:t>
            </a:r>
            <a:r>
              <a:rPr lang="en-US" sz="2800" dirty="0"/>
              <a:t>:</a:t>
            </a:r>
          </a:p>
          <a:p>
            <a:r>
              <a:rPr lang="en-US" sz="2800" dirty="0"/>
              <a:t>                if </a:t>
            </a:r>
            <a:r>
              <a:rPr lang="en-US" sz="2800" dirty="0" err="1"/>
              <a:t>closure.loc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, k] and </a:t>
            </a:r>
            <a:r>
              <a:rPr lang="en-US" sz="2800" dirty="0" err="1"/>
              <a:t>closure.loc</a:t>
            </a:r>
            <a:r>
              <a:rPr lang="en-US" sz="2800" dirty="0"/>
              <a:t>[k, j]:</a:t>
            </a:r>
          </a:p>
          <a:p>
            <a:r>
              <a:rPr lang="en-US" sz="2800" dirty="0"/>
              <a:t>                    </a:t>
            </a:r>
            <a:r>
              <a:rPr lang="en-US" sz="2800" dirty="0" err="1"/>
              <a:t>closure.loc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, j] = True</a:t>
            </a:r>
          </a:p>
          <a:p>
            <a:r>
              <a:rPr lang="en-US" sz="2800" dirty="0"/>
              <a:t>    return closure</a:t>
            </a:r>
          </a:p>
        </p:txBody>
      </p:sp>
    </p:spTree>
    <p:extLst>
      <p:ext uri="{BB962C8B-B14F-4D97-AF65-F5344CB8AC3E}">
        <p14:creationId xmlns:p14="http://schemas.microsoft.com/office/powerpoint/2010/main" val="127441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A89F-C528-1975-F362-749B64D6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089C23-3A31-EA1F-6027-2919A4CF7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97" y="1983717"/>
            <a:ext cx="6693366" cy="156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6F12D-5E94-CF45-D1A3-2466ADA91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230" y="4385188"/>
            <a:ext cx="6693367" cy="1564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2761BA-2A42-1941-5AD3-8C9A8E070BFD}"/>
              </a:ext>
            </a:extLst>
          </p:cNvPr>
          <p:cNvSpPr txBox="1"/>
          <p:nvPr/>
        </p:nvSpPr>
        <p:spPr>
          <a:xfrm>
            <a:off x="4563955" y="1522052"/>
            <a:ext cx="646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 Set of Relations : One Production at a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DD1538-01FA-CB75-0FC9-AA7E59023C8A}"/>
              </a:ext>
            </a:extLst>
          </p:cNvPr>
          <p:cNvSpPr txBox="1"/>
          <p:nvPr/>
        </p:nvSpPr>
        <p:spPr>
          <a:xfrm>
            <a:off x="4563955" y="3839832"/>
            <a:ext cx="6143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 Set : After </a:t>
            </a:r>
            <a:r>
              <a:rPr lang="en-US" sz="2400" dirty="0" err="1"/>
              <a:t>Warshall’s</a:t>
            </a:r>
            <a:r>
              <a:rPr lang="en-US" sz="2400" dirty="0"/>
              <a:t> Transitive Closure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E1A9D-8731-2EE1-C5F6-FC2299764315}"/>
              </a:ext>
            </a:extLst>
          </p:cNvPr>
          <p:cNvSpPr txBox="1"/>
          <p:nvPr/>
        </p:nvSpPr>
        <p:spPr>
          <a:xfrm>
            <a:off x="398254" y="506390"/>
            <a:ext cx="11230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Understanding Ideas Behind First &amp; Follow Sets Using Transitive Closure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0EA1A-B299-DA05-103D-FCCB31277375}"/>
              </a:ext>
            </a:extLst>
          </p:cNvPr>
          <p:cNvSpPr txBox="1"/>
          <p:nvPr/>
        </p:nvSpPr>
        <p:spPr>
          <a:xfrm>
            <a:off x="1003607" y="1522052"/>
            <a:ext cx="32653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grammar</a:t>
            </a:r>
            <a:r>
              <a:rPr lang="fr-FR" dirty="0"/>
              <a:t> = {</a:t>
            </a:r>
          </a:p>
          <a:p>
            <a:r>
              <a:rPr lang="fr-FR" dirty="0"/>
              <a:t>    "</a:t>
            </a:r>
            <a:r>
              <a:rPr lang="fr-FR" dirty="0" err="1"/>
              <a:t>Expr</a:t>
            </a:r>
            <a:r>
              <a:rPr lang="fr-FR" dirty="0"/>
              <a:t>" : [ </a:t>
            </a:r>
          </a:p>
          <a:p>
            <a:r>
              <a:rPr lang="fr-FR" dirty="0"/>
              <a:t>           ["Unit", "Expr2"]</a:t>
            </a:r>
          </a:p>
          <a:p>
            <a:r>
              <a:rPr lang="fr-FR" dirty="0"/>
              <a:t>    ],</a:t>
            </a:r>
          </a:p>
          <a:p>
            <a:r>
              <a:rPr lang="fr-FR" dirty="0"/>
              <a:t>    "Expr2": [</a:t>
            </a:r>
          </a:p>
          <a:p>
            <a:r>
              <a:rPr lang="fr-FR" dirty="0"/>
              <a:t>          ["Op", "Unit", "Expr2"],</a:t>
            </a:r>
          </a:p>
          <a:p>
            <a:r>
              <a:rPr lang="fr-FR" dirty="0"/>
              <a:t>          []</a:t>
            </a:r>
          </a:p>
          <a:p>
            <a:r>
              <a:rPr lang="fr-FR" dirty="0"/>
              <a:t>    ],</a:t>
            </a:r>
          </a:p>
          <a:p>
            <a:r>
              <a:rPr lang="fr-FR" dirty="0"/>
              <a:t>    "Unit" : [</a:t>
            </a:r>
          </a:p>
          <a:p>
            <a:r>
              <a:rPr lang="fr-FR" dirty="0"/>
              <a:t>          ["(", "</a:t>
            </a:r>
            <a:r>
              <a:rPr lang="fr-FR" dirty="0" err="1"/>
              <a:t>Expr</a:t>
            </a:r>
            <a:r>
              <a:rPr lang="fr-FR" dirty="0"/>
              <a:t>", ")"],</a:t>
            </a:r>
          </a:p>
          <a:p>
            <a:r>
              <a:rPr lang="fr-FR"/>
              <a:t>          ["</a:t>
            </a:r>
            <a:r>
              <a:rPr lang="fr-FR" dirty="0"/>
              <a:t>ID"]</a:t>
            </a:r>
          </a:p>
          <a:p>
            <a:r>
              <a:rPr lang="fr-FR" dirty="0"/>
              <a:t>    ],</a:t>
            </a:r>
          </a:p>
          <a:p>
            <a:r>
              <a:rPr lang="fr-FR" dirty="0"/>
              <a:t>    "Op"   : [</a:t>
            </a:r>
          </a:p>
          <a:p>
            <a:r>
              <a:rPr lang="fr-FR" dirty="0"/>
              <a:t>           ["+"],</a:t>
            </a:r>
          </a:p>
          <a:p>
            <a:r>
              <a:rPr lang="fr-FR" dirty="0"/>
              <a:t>           ["-"],</a:t>
            </a:r>
          </a:p>
          <a:p>
            <a:r>
              <a:rPr lang="fr-FR" dirty="0"/>
              <a:t>           ["*"],</a:t>
            </a:r>
          </a:p>
          <a:p>
            <a:r>
              <a:rPr lang="fr-FR" dirty="0"/>
              <a:t>           ["/"]</a:t>
            </a:r>
          </a:p>
          <a:p>
            <a:r>
              <a:rPr lang="fr-FR" dirty="0"/>
              <a:t>     ]</a:t>
            </a:r>
          </a:p>
          <a:p>
            <a:r>
              <a:rPr lang="fr-FR" dirty="0"/>
              <a:t>}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9BF0B-C009-0CA8-18AA-CDFA7086252C}"/>
              </a:ext>
            </a:extLst>
          </p:cNvPr>
          <p:cNvSpPr txBox="1"/>
          <p:nvPr/>
        </p:nvSpPr>
        <p:spPr>
          <a:xfrm>
            <a:off x="4461024" y="6157612"/>
            <a:ext cx="705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FIRST Set calculation, is more complex than Transitive Closure</a:t>
            </a:r>
          </a:p>
        </p:txBody>
      </p:sp>
    </p:spTree>
    <p:extLst>
      <p:ext uri="{BB962C8B-B14F-4D97-AF65-F5344CB8AC3E}">
        <p14:creationId xmlns:p14="http://schemas.microsoft.com/office/powerpoint/2010/main" val="2340690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230</Words>
  <Application>Microsoft Office PowerPoint</Application>
  <PresentationFormat>Widescreen</PresentationFormat>
  <Paragraphs>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</vt:lpstr>
      <vt:lpstr>Office Theme</vt:lpstr>
      <vt:lpstr>First &amp; Follow Sets and Warshall’s Transitive Closure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6</cp:revision>
  <dcterms:created xsi:type="dcterms:W3CDTF">2025-04-21T03:55:07Z</dcterms:created>
  <dcterms:modified xsi:type="dcterms:W3CDTF">2026-02-03T23:58:44Z</dcterms:modified>
</cp:coreProperties>
</file>