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2017" r:id="rId3"/>
    <p:sldId id="1929" r:id="rId4"/>
    <p:sldId id="2003" r:id="rId5"/>
    <p:sldId id="2004" r:id="rId6"/>
    <p:sldId id="2022" r:id="rId7"/>
    <p:sldId id="2027" r:id="rId8"/>
    <p:sldId id="2028" r:id="rId9"/>
    <p:sldId id="2005" r:id="rId10"/>
    <p:sldId id="2006" r:id="rId11"/>
    <p:sldId id="2007" r:id="rId12"/>
    <p:sldId id="2029" r:id="rId13"/>
    <p:sldId id="2030" r:id="rId14"/>
    <p:sldId id="2031" r:id="rId15"/>
    <p:sldId id="2032" r:id="rId16"/>
    <p:sldId id="2034" r:id="rId17"/>
    <p:sldId id="2009" r:id="rId18"/>
    <p:sldId id="2035" r:id="rId19"/>
    <p:sldId id="2036" r:id="rId20"/>
    <p:sldId id="2037" r:id="rId21"/>
    <p:sldId id="2038" r:id="rId22"/>
    <p:sldId id="2039" r:id="rId23"/>
    <p:sldId id="2040" r:id="rId24"/>
    <p:sldId id="2041" r:id="rId25"/>
    <p:sldId id="2042" r:id="rId26"/>
    <p:sldId id="2048" r:id="rId27"/>
    <p:sldId id="2044" r:id="rId28"/>
    <p:sldId id="2049" r:id="rId29"/>
    <p:sldId id="2046" r:id="rId30"/>
    <p:sldId id="204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27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9" y="14199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7890-BE36-D21B-B00D-76E86497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9EAA-7121-0D25-A180-2BC8EBF7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Regional optimization</a:t>
            </a:r>
          </a:p>
          <a:p>
            <a:pPr lvl="1"/>
            <a:r>
              <a:rPr lang="en-US" dirty="0"/>
              <a:t>We can handle multiple basic blocks</a:t>
            </a:r>
          </a:p>
          <a:p>
            <a:pPr lvl="1"/>
            <a:r>
              <a:rPr lang="en-US" dirty="0"/>
              <a:t>but only if they fit a certain pattern</a:t>
            </a:r>
          </a:p>
        </p:txBody>
      </p:sp>
    </p:spTree>
    <p:extLst>
      <p:ext uri="{BB962C8B-B14F-4D97-AF65-F5344CB8AC3E}">
        <p14:creationId xmlns:p14="http://schemas.microsoft.com/office/powerpoint/2010/main" val="250372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they look in different languages</a:t>
            </a:r>
          </a:p>
          <a:p>
            <a:pPr lvl="1"/>
            <a:r>
              <a:rPr lang="en-US" dirty="0"/>
              <a:t>C/C++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more constrained the for loops are, the more assumptions the compiler can make, but less flexibility for the programmer</a:t>
            </a:r>
          </a:p>
        </p:txBody>
      </p:sp>
    </p:spTree>
    <p:extLst>
      <p:ext uri="{BB962C8B-B14F-4D97-AF65-F5344CB8AC3E}">
        <p14:creationId xmlns:p14="http://schemas.microsoft.com/office/powerpoint/2010/main" val="296427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compiler can optimize </a:t>
            </a:r>
            <a:r>
              <a:rPr lang="en-US" i="1" dirty="0"/>
              <a:t>for loops</a:t>
            </a:r>
            <a:r>
              <a:rPr lang="en-US" dirty="0"/>
              <a:t> if they fit a certain pattern</a:t>
            </a:r>
          </a:p>
          <a:p>
            <a:endParaRPr lang="en-US" dirty="0"/>
          </a:p>
          <a:p>
            <a:r>
              <a:rPr lang="en-US" dirty="0"/>
              <a:t>When developing a regional optimization, we </a:t>
            </a:r>
            <a:r>
              <a:rPr lang="en-US" b="1" dirty="0"/>
              <a:t>start with strict constraints</a:t>
            </a:r>
            <a:r>
              <a:rPr lang="en-US" dirty="0"/>
              <a:t> and </a:t>
            </a:r>
            <a:r>
              <a:rPr lang="en-US" b="1" dirty="0"/>
              <a:t>then</a:t>
            </a:r>
            <a:r>
              <a:rPr lang="en-US" dirty="0"/>
              <a:t> slowly relax them and </a:t>
            </a:r>
            <a:r>
              <a:rPr lang="en-US" b="1" dirty="0"/>
              <a:t>make</a:t>
            </a:r>
            <a:r>
              <a:rPr lang="en-US" dirty="0"/>
              <a:t> the optimization </a:t>
            </a:r>
            <a:r>
              <a:rPr lang="en-US" b="1" dirty="0"/>
              <a:t>more general</a:t>
            </a:r>
            <a:r>
              <a:rPr lang="en-US" dirty="0"/>
              <a:t>.</a:t>
            </a:r>
          </a:p>
          <a:p>
            <a:r>
              <a:rPr lang="en-US" dirty="0"/>
              <a:t>Humans can also help:</a:t>
            </a:r>
          </a:p>
          <a:p>
            <a:pPr lvl="1"/>
            <a:r>
              <a:rPr lang="en-US" dirty="0"/>
              <a:t>Sometimes it is not worth relaxing the constraints (optimization gets too complicated. Its not the compilers job to catch every pattern!)</a:t>
            </a:r>
          </a:p>
          <a:p>
            <a:pPr lvl="1"/>
            <a:r>
              <a:rPr lang="en-US" dirty="0"/>
              <a:t>If a programmer knows the pattern, then often you can write code such that the compiler can recognize the pattern and it will do better at optimizing!</a:t>
            </a:r>
          </a:p>
          <a:p>
            <a:pPr lvl="1"/>
            <a:r>
              <a:rPr lang="en-US" dirty="0"/>
              <a:t>Thus you can write more efficient code if you write it in such a way that the compiler can recognize patterns</a:t>
            </a:r>
          </a:p>
        </p:txBody>
      </p:sp>
    </p:spTree>
    <p:extLst>
      <p:ext uri="{BB962C8B-B14F-4D97-AF65-F5344CB8AC3E}">
        <p14:creationId xmlns:p14="http://schemas.microsoft.com/office/powerpoint/2010/main" val="416184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Loop body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series of statements that are executed each loop iteration</a:t>
            </a:r>
          </a:p>
          <a:p>
            <a:endParaRPr lang="en-US" dirty="0"/>
          </a:p>
          <a:p>
            <a:r>
              <a:rPr lang="en-US" b="1" dirty="0"/>
              <a:t>Loop condition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condition that decides whether the loop body is executed</a:t>
            </a:r>
          </a:p>
          <a:p>
            <a:endParaRPr lang="en-US" dirty="0"/>
          </a:p>
          <a:p>
            <a:r>
              <a:rPr lang="en-US" b="1" dirty="0"/>
              <a:t>Iteration variable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variable that is updated exactly once during the loop</a:t>
            </a:r>
          </a:p>
          <a:p>
            <a:pPr lvl="1"/>
            <a:r>
              <a:rPr lang="en-US" dirty="0"/>
              <a:t>The loop condition depends on the iteration variable </a:t>
            </a:r>
          </a:p>
          <a:p>
            <a:pPr lvl="1"/>
            <a:r>
              <a:rPr lang="en-US" dirty="0"/>
              <a:t>The loop condition is only updated through the iteration variable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6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0E2F-4DE6-50F0-4963-B5E275EB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B66108-54B7-B571-1DDD-DD72B9C0ECE3}"/>
              </a:ext>
            </a:extLst>
          </p:cNvPr>
          <p:cNvSpPr/>
          <p:nvPr/>
        </p:nvSpPr>
        <p:spPr>
          <a:xfrm>
            <a:off x="779891" y="1690688"/>
            <a:ext cx="6096000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9FA01C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&lt; 1024;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 counter +=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F6154-B065-0F6F-C52C-D6E259CA334D}"/>
              </a:ext>
            </a:extLst>
          </p:cNvPr>
          <p:cNvSpPr txBox="1"/>
          <p:nvPr/>
        </p:nvSpPr>
        <p:spPr>
          <a:xfrm>
            <a:off x="8348870" y="675861"/>
            <a:ext cx="20973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baseline="-25000" dirty="0"/>
              <a:t>iteration variable</a:t>
            </a:r>
          </a:p>
          <a:p>
            <a:r>
              <a:rPr lang="en-US" sz="3200" i="1" baseline="-25000" dirty="0"/>
              <a:t>loop body</a:t>
            </a:r>
          </a:p>
          <a:p>
            <a:r>
              <a:rPr lang="en-US" sz="3200" i="1" baseline="-25000" dirty="0"/>
              <a:t>loop condition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E52DAC-8399-D7C8-5536-D97BB42B9444}"/>
              </a:ext>
            </a:extLst>
          </p:cNvPr>
          <p:cNvSpPr/>
          <p:nvPr/>
        </p:nvSpPr>
        <p:spPr>
          <a:xfrm>
            <a:off x="779891" y="3280948"/>
            <a:ext cx="6096000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&lt; 1024;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+=counter)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 counter +=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D04A50-F007-FEE1-E765-09F16D079C7F}"/>
              </a:ext>
            </a:extLst>
          </p:cNvPr>
          <p:cNvSpPr/>
          <p:nvPr/>
        </p:nvSpPr>
        <p:spPr>
          <a:xfrm>
            <a:off x="779891" y="4653013"/>
            <a:ext cx="3146066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(1)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  counter +=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&lt; 1024)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 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 }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EA7DA-350D-724F-587E-C3F7F604C4F7}"/>
              </a:ext>
            </a:extLst>
          </p:cNvPr>
          <p:cNvSpPr txBox="1"/>
          <p:nvPr/>
        </p:nvSpPr>
        <p:spPr>
          <a:xfrm>
            <a:off x="4888464" y="5351142"/>
            <a:ext cx="6523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In general, is it possible to determine if an iteration</a:t>
            </a:r>
          </a:p>
          <a:p>
            <a:r>
              <a:rPr lang="en-US" sz="2400" i="1" dirty="0"/>
              <a:t>variable exists or not?</a:t>
            </a:r>
          </a:p>
        </p:txBody>
      </p:sp>
    </p:spTree>
    <p:extLst>
      <p:ext uri="{BB962C8B-B14F-4D97-AF65-F5344CB8AC3E}">
        <p14:creationId xmlns:p14="http://schemas.microsoft.com/office/powerpoint/2010/main" val="6015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0E2F-4DE6-50F0-4963-B5E275EB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E52DAC-8399-D7C8-5536-D97BB42B9444}"/>
              </a:ext>
            </a:extLst>
          </p:cNvPr>
          <p:cNvSpPr/>
          <p:nvPr/>
        </p:nvSpPr>
        <p:spPr>
          <a:xfrm>
            <a:off x="779891" y="2128009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&lt; 1024;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counter +=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foo();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3AAF3-B196-28EB-192D-C154A7EFD3FE}"/>
              </a:ext>
            </a:extLst>
          </p:cNvPr>
          <p:cNvSpPr txBox="1"/>
          <p:nvPr/>
        </p:nvSpPr>
        <p:spPr>
          <a:xfrm>
            <a:off x="7847937" y="1168842"/>
            <a:ext cx="257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about these?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0DD25-EAAC-A47A-32C5-719EC08EA5FF}"/>
              </a:ext>
            </a:extLst>
          </p:cNvPr>
          <p:cNvSpPr/>
          <p:nvPr/>
        </p:nvSpPr>
        <p:spPr>
          <a:xfrm>
            <a:off x="779891" y="4164868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&lt; j;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 counter +=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j = 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rand();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395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1AF61-18A6-4572-AB9F-321EED2F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</a:t>
            </a:r>
          </a:p>
        </p:txBody>
      </p:sp>
    </p:spTree>
    <p:extLst>
      <p:ext uri="{BB962C8B-B14F-4D97-AF65-F5344CB8AC3E}">
        <p14:creationId xmlns:p14="http://schemas.microsoft.com/office/powerpoint/2010/main" val="87438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Executing multiple instances of the loop body without checking the loop condition.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18DB31-0418-B9C2-0221-123B7B0F9C08}"/>
              </a:ext>
            </a:extLst>
          </p:cNvPr>
          <p:cNvSpPr/>
          <p:nvPr/>
        </p:nvSpPr>
        <p:spPr>
          <a:xfrm>
            <a:off x="217283" y="3244334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37B4E-F7FF-A18E-5491-5E07B51FB692}"/>
              </a:ext>
            </a:extLst>
          </p:cNvPr>
          <p:cNvSpPr txBox="1"/>
          <p:nvPr/>
        </p:nvSpPr>
        <p:spPr>
          <a:xfrm>
            <a:off x="561315" y="4458300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BA724-D9F9-02C0-376D-122711EA7835}"/>
              </a:ext>
            </a:extLst>
          </p:cNvPr>
          <p:cNvSpPr txBox="1"/>
          <p:nvPr/>
        </p:nvSpPr>
        <p:spPr>
          <a:xfrm>
            <a:off x="6351566" y="4428648"/>
            <a:ext cx="473398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=i+1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=i+1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endParaRPr lang="en-US" dirty="0">
              <a:highlight>
                <a:srgbClr val="00FFFF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FB888-6567-25C1-E7EC-894B4C82BA97}"/>
              </a:ext>
            </a:extLst>
          </p:cNvPr>
          <p:cNvSpPr txBox="1"/>
          <p:nvPr/>
        </p:nvSpPr>
        <p:spPr>
          <a:xfrm>
            <a:off x="4762122" y="3879410"/>
            <a:ext cx="243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unrolled by a </a:t>
            </a:r>
            <a:r>
              <a:rPr lang="en-US" b="1" dirty="0"/>
              <a:t>factor</a:t>
            </a:r>
            <a:r>
              <a:rPr lang="en-US" dirty="0"/>
              <a:t> of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0CE8E-3AF0-C34F-CC0A-824D8BF58A21}"/>
              </a:ext>
            </a:extLst>
          </p:cNvPr>
          <p:cNvSpPr txBox="1"/>
          <p:nvPr/>
        </p:nvSpPr>
        <p:spPr>
          <a:xfrm>
            <a:off x="5015620" y="6364586"/>
            <a:ext cx="228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could we unroll more?</a:t>
            </a:r>
          </a:p>
        </p:txBody>
      </p:sp>
    </p:spTree>
    <p:extLst>
      <p:ext uri="{BB962C8B-B14F-4D97-AF65-F5344CB8AC3E}">
        <p14:creationId xmlns:p14="http://schemas.microsoft.com/office/powerpoint/2010/main" val="2011697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18DB31-0418-B9C2-0221-123B7B0F9C08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37B4E-F7FF-A18E-5491-5E07B51FB692}"/>
              </a:ext>
            </a:extLst>
          </p:cNvPr>
          <p:cNvSpPr txBox="1"/>
          <p:nvPr/>
        </p:nvSpPr>
        <p:spPr>
          <a:xfrm>
            <a:off x="344503" y="3044843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30539-D38F-B1B1-34B8-89F8955A7D59}"/>
              </a:ext>
            </a:extLst>
          </p:cNvPr>
          <p:cNvSpPr txBox="1"/>
          <p:nvPr/>
        </p:nvSpPr>
        <p:spPr>
          <a:xfrm>
            <a:off x="3848431" y="5096004"/>
            <a:ext cx="318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can go wrong?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A19AD-DDFF-C8C2-1914-AF58D9C0CA84}"/>
              </a:ext>
            </a:extLst>
          </p:cNvPr>
          <p:cNvSpPr txBox="1"/>
          <p:nvPr/>
        </p:nvSpPr>
        <p:spPr>
          <a:xfrm>
            <a:off x="6582154" y="3113527"/>
            <a:ext cx="445827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endParaRPr lang="en-US" dirty="0">
              <a:highlight>
                <a:srgbClr val="00FFFF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45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4C50-D015-6DF9-F3FB-3807F18A2314}"/>
              </a:ext>
            </a:extLst>
          </p:cNvPr>
          <p:cNvSpPr txBox="1"/>
          <p:nvPr/>
        </p:nvSpPr>
        <p:spPr>
          <a:xfrm>
            <a:off x="6218387" y="3506508"/>
            <a:ext cx="5629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44843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635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4C50-D015-6DF9-F3FB-3807F18A2314}"/>
              </a:ext>
            </a:extLst>
          </p:cNvPr>
          <p:cNvSpPr txBox="1"/>
          <p:nvPr/>
        </p:nvSpPr>
        <p:spPr>
          <a:xfrm>
            <a:off x="6218387" y="3506508"/>
            <a:ext cx="5629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FFFF00"/>
                </a:highlight>
              </a:rPr>
              <a:t>assignment_statement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44843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586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4C50-D015-6DF9-F3FB-3807F18A2314}"/>
              </a:ext>
            </a:extLst>
          </p:cNvPr>
          <p:cNvSpPr txBox="1"/>
          <p:nvPr/>
        </p:nvSpPr>
        <p:spPr>
          <a:xfrm>
            <a:off x="6218387" y="3506508"/>
            <a:ext cx="5629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44843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7268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4C50-D015-6DF9-F3FB-3807F18A2314}"/>
              </a:ext>
            </a:extLst>
          </p:cNvPr>
          <p:cNvSpPr txBox="1"/>
          <p:nvPr/>
        </p:nvSpPr>
        <p:spPr>
          <a:xfrm>
            <a:off x="6218387" y="3506508"/>
            <a:ext cx="5629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b="1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  <a:p>
            <a:r>
              <a:rPr lang="en-US" dirty="0"/>
              <a:t>3. </a:t>
            </a:r>
            <a:r>
              <a:rPr lang="en-US" b="1" dirty="0"/>
              <a:t>check</a:t>
            </a:r>
            <a:r>
              <a:rPr lang="en-US" dirty="0"/>
              <a:t> that it matches </a:t>
            </a:r>
            <a:r>
              <a:rPr lang="en-US" b="1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00FFFF"/>
                </a:highlight>
              </a:rPr>
              <a:t>assignment_statement</a:t>
            </a:r>
            <a:endParaRPr lang="en-US" dirty="0">
              <a:highlight>
                <a:srgbClr val="FF00FF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44843"/>
            <a:ext cx="48718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=i+1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9459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4C50-D015-6DF9-F3FB-3807F18A2314}"/>
              </a:ext>
            </a:extLst>
          </p:cNvPr>
          <p:cNvSpPr txBox="1"/>
          <p:nvPr/>
        </p:nvSpPr>
        <p:spPr>
          <a:xfrm>
            <a:off x="6218387" y="3506508"/>
            <a:ext cx="5629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  <a:p>
            <a:r>
              <a:rPr lang="en-US" dirty="0"/>
              <a:t>3. </a:t>
            </a:r>
            <a:r>
              <a:rPr lang="en-US" b="1" dirty="0"/>
              <a:t>check</a:t>
            </a:r>
            <a:r>
              <a:rPr lang="en-US" dirty="0"/>
              <a:t> that it matches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00FFFF"/>
                </a:highlight>
              </a:rPr>
              <a:t>assignment_statement</a:t>
            </a:r>
            <a:endParaRPr lang="en-US" dirty="0">
              <a:highlight>
                <a:srgbClr val="FF00FF"/>
              </a:highlight>
            </a:endParaRPr>
          </a:p>
          <a:p>
            <a:r>
              <a:rPr lang="en-US" dirty="0"/>
              <a:t>4. </a:t>
            </a:r>
            <a:r>
              <a:rPr lang="en-US" b="1" dirty="0"/>
              <a:t>check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loop condition</a:t>
            </a:r>
          </a:p>
          <a:p>
            <a:r>
              <a:rPr lang="en-US" dirty="0"/>
              <a:t>     * check that candidate variable is on </a:t>
            </a:r>
            <a:r>
              <a:rPr lang="en-US" b="1" dirty="0" err="1"/>
              <a:t>lhs</a:t>
            </a:r>
            <a:br>
              <a:rPr lang="en-US" dirty="0"/>
            </a:br>
            <a:r>
              <a:rPr lang="en-US" dirty="0"/>
              <a:t>     * check that the </a:t>
            </a:r>
            <a:r>
              <a:rPr lang="en-US" b="1" dirty="0" err="1"/>
              <a:t>rhs</a:t>
            </a:r>
            <a:r>
              <a:rPr lang="en-US" dirty="0"/>
              <a:t> is a </a:t>
            </a:r>
            <a:r>
              <a:rPr lang="en-US" b="1" dirty="0"/>
              <a:t>literal</a:t>
            </a: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44843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4872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52794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AABE2-FB03-859B-994F-375E2A7A0D82}"/>
              </a:ext>
            </a:extLst>
          </p:cNvPr>
          <p:cNvSpPr txBox="1"/>
          <p:nvPr/>
        </p:nvSpPr>
        <p:spPr>
          <a:xfrm>
            <a:off x="193350" y="5971876"/>
            <a:ext cx="5177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 these guarantee we will find an iteration variable?</a:t>
            </a:r>
          </a:p>
          <a:p>
            <a:r>
              <a:rPr lang="en-US" i="1" dirty="0"/>
              <a:t>What happens if we don’t find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DA7FB-D102-D3E9-D06B-667A581A905E}"/>
              </a:ext>
            </a:extLst>
          </p:cNvPr>
          <p:cNvSpPr txBox="1"/>
          <p:nvPr/>
        </p:nvSpPr>
        <p:spPr>
          <a:xfrm>
            <a:off x="6218387" y="3532420"/>
            <a:ext cx="5629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  <a:p>
            <a:r>
              <a:rPr lang="en-US" dirty="0"/>
              <a:t>3. </a:t>
            </a:r>
            <a:r>
              <a:rPr lang="en-US" b="1" dirty="0"/>
              <a:t>check</a:t>
            </a:r>
            <a:r>
              <a:rPr lang="en-US" dirty="0"/>
              <a:t> that it matches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00FFFF"/>
                </a:highlight>
              </a:rPr>
              <a:t>assignment_statement</a:t>
            </a:r>
            <a:endParaRPr lang="en-US" dirty="0">
              <a:highlight>
                <a:srgbClr val="FF00FF"/>
              </a:highlight>
            </a:endParaRPr>
          </a:p>
          <a:p>
            <a:r>
              <a:rPr lang="en-US" dirty="0"/>
              <a:t>4. </a:t>
            </a:r>
            <a:r>
              <a:rPr lang="en-US" b="1" dirty="0"/>
              <a:t>check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loop condition</a:t>
            </a:r>
          </a:p>
          <a:p>
            <a:r>
              <a:rPr lang="en-US" dirty="0"/>
              <a:t>     * check that candidate variable is on </a:t>
            </a:r>
            <a:r>
              <a:rPr lang="en-US" dirty="0" err="1"/>
              <a:t>lhs</a:t>
            </a:r>
            <a:br>
              <a:rPr lang="en-US" dirty="0"/>
            </a:br>
            <a:r>
              <a:rPr lang="en-US" dirty="0"/>
              <a:t>     * check that the </a:t>
            </a:r>
            <a:r>
              <a:rPr lang="en-US" b="1" dirty="0" err="1"/>
              <a:t>rhs</a:t>
            </a:r>
            <a:r>
              <a:rPr lang="en-US" b="1" dirty="0"/>
              <a:t> is a literal </a:t>
            </a:r>
            <a:br>
              <a:rPr lang="en-US" dirty="0"/>
            </a:br>
            <a:r>
              <a:rPr lang="en-US" dirty="0"/>
              <a:t>        (i.e. a </a:t>
            </a:r>
            <a:r>
              <a:rPr lang="en-US" b="1" dirty="0"/>
              <a:t>compile time constant value</a:t>
            </a:r>
            <a:r>
              <a:rPr lang="en-US" dirty="0"/>
              <a:t>, e.g. </a:t>
            </a:r>
            <a:r>
              <a:rPr lang="en-US" dirty="0" err="1"/>
              <a:t>i</a:t>
            </a:r>
            <a:r>
              <a:rPr lang="en-US" dirty="0"/>
              <a:t>&lt;10*12)</a:t>
            </a:r>
          </a:p>
        </p:txBody>
      </p:sp>
    </p:spTree>
    <p:extLst>
      <p:ext uri="{BB962C8B-B14F-4D97-AF65-F5344CB8AC3E}">
        <p14:creationId xmlns:p14="http://schemas.microsoft.com/office/powerpoint/2010/main" val="892785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2"/>
          </a:xfrm>
        </p:spPr>
        <p:txBody>
          <a:bodyPr>
            <a:normAutofit/>
          </a:bodyPr>
          <a:lstStyle/>
          <a:p>
            <a:r>
              <a:rPr lang="en-US" dirty="0"/>
              <a:t>Several ways to unroll</a:t>
            </a:r>
          </a:p>
          <a:p>
            <a:pPr lvl="1"/>
            <a:r>
              <a:rPr lang="en-US" dirty="0"/>
              <a:t>More constraints: Simpler to unroll in code gen, more things to check</a:t>
            </a:r>
          </a:p>
          <a:p>
            <a:pPr lvl="1"/>
            <a:r>
              <a:rPr lang="en-US" dirty="0"/>
              <a:t>Less constraints: less things to check, harder to unroll in code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A1107-FC73-F389-F816-DA5E715BF0AA}"/>
              </a:ext>
            </a:extLst>
          </p:cNvPr>
          <p:cNvSpPr txBox="1"/>
          <p:nvPr/>
        </p:nvSpPr>
        <p:spPr>
          <a:xfrm>
            <a:off x="2784016" y="3432728"/>
            <a:ext cx="5876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Base constraints (required for any unrolling):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E318-40C4-EF53-5F40-5535C4052342}"/>
              </a:ext>
            </a:extLst>
          </p:cNvPr>
          <p:cNvSpPr txBox="1"/>
          <p:nvPr/>
        </p:nvSpPr>
        <p:spPr>
          <a:xfrm>
            <a:off x="3124991" y="4402048"/>
            <a:ext cx="5629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  <a:p>
            <a:r>
              <a:rPr lang="en-US" dirty="0"/>
              <a:t>3. </a:t>
            </a:r>
            <a:r>
              <a:rPr lang="en-US" b="1" dirty="0"/>
              <a:t>check</a:t>
            </a:r>
            <a:r>
              <a:rPr lang="en-US" dirty="0"/>
              <a:t> that it matches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00FFFF"/>
                </a:highlight>
              </a:rPr>
              <a:t>assignment_statement</a:t>
            </a:r>
            <a:endParaRPr lang="en-US" dirty="0">
              <a:highlight>
                <a:srgbClr val="FF00FF"/>
              </a:highlight>
            </a:endParaRPr>
          </a:p>
          <a:p>
            <a:r>
              <a:rPr lang="en-US" dirty="0"/>
              <a:t>4. </a:t>
            </a:r>
            <a:r>
              <a:rPr lang="en-US" b="1" dirty="0"/>
              <a:t>check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loop condition</a:t>
            </a:r>
          </a:p>
          <a:p>
            <a:r>
              <a:rPr lang="en-US" dirty="0"/>
              <a:t>     * check that candidate variable is on </a:t>
            </a:r>
            <a:r>
              <a:rPr lang="en-US" dirty="0" err="1"/>
              <a:t>lhs</a:t>
            </a:r>
            <a:br>
              <a:rPr lang="en-US" dirty="0"/>
            </a:br>
            <a:r>
              <a:rPr lang="en-US" dirty="0"/>
              <a:t>     * check that the </a:t>
            </a:r>
            <a:r>
              <a:rPr lang="en-US" dirty="0" err="1"/>
              <a:t>rhs</a:t>
            </a:r>
            <a:r>
              <a:rPr lang="en-US" dirty="0"/>
              <a:t> is a literal </a:t>
            </a:r>
          </a:p>
          <a:p>
            <a:r>
              <a:rPr lang="en-US" dirty="0"/>
              <a:t>        (i.e. a compile time constant value, e.g. </a:t>
            </a:r>
            <a:r>
              <a:rPr lang="en-US" dirty="0" err="1"/>
              <a:t>i</a:t>
            </a:r>
            <a:r>
              <a:rPr lang="en-US" dirty="0"/>
              <a:t>&lt;10*12)</a:t>
            </a:r>
          </a:p>
        </p:txBody>
      </p:sp>
    </p:spTree>
    <p:extLst>
      <p:ext uri="{BB962C8B-B14F-4D97-AF65-F5344CB8AC3E}">
        <p14:creationId xmlns:p14="http://schemas.microsoft.com/office/powerpoint/2010/main" val="77730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4759518" cy="1458264"/>
          </a:xfrm>
        </p:spPr>
        <p:txBody>
          <a:bodyPr>
            <a:normAutofit/>
          </a:bodyPr>
          <a:lstStyle/>
          <a:p>
            <a:r>
              <a:rPr lang="en-US" dirty="0"/>
              <a:t>Simple unroll</a:t>
            </a:r>
          </a:p>
          <a:p>
            <a:pPr lvl="1"/>
            <a:r>
              <a:rPr lang="en-US" dirty="0"/>
              <a:t>Most constraints</a:t>
            </a:r>
          </a:p>
          <a:p>
            <a:pPr lvl="1"/>
            <a:r>
              <a:rPr lang="en-US" dirty="0"/>
              <a:t>Easiest code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5021248" y="2857860"/>
            <a:ext cx="68108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Simple unroll constraints</a:t>
            </a:r>
            <a:r>
              <a:rPr lang="en-US" sz="2400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Loop update increments by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Find the concrete </a:t>
            </a:r>
            <a:r>
              <a:rPr lang="en-US" sz="2400" b="1" dirty="0">
                <a:sym typeface="Wingdings" pitchFamily="2" charset="2"/>
              </a:rPr>
              <a:t>number of loop iterations (LI)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itchFamily="2" charset="2"/>
              </a:rPr>
              <a:t>F must divide LI evenly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b="1" dirty="0"/>
              <a:t>Simple unroll code generation</a:t>
            </a:r>
            <a:r>
              <a:rPr lang="en-US" sz="2400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itchFamily="2" charset="2"/>
              </a:rPr>
              <a:t>create a new body = body + (update + body)*(F-1)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perform </a:t>
            </a:r>
            <a:r>
              <a:rPr lang="en-US" sz="2400" dirty="0" err="1">
                <a:sym typeface="Wingdings" pitchFamily="2" charset="2"/>
              </a:rPr>
              <a:t>codegen</a:t>
            </a:r>
            <a:endParaRPr lang="en-US" sz="2400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5021248" y="2005561"/>
            <a:ext cx="2776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unroll factor F</a:t>
            </a:r>
          </a:p>
        </p:txBody>
      </p:sp>
    </p:spTree>
    <p:extLst>
      <p:ext uri="{BB962C8B-B14F-4D97-AF65-F5344CB8AC3E}">
        <p14:creationId xmlns:p14="http://schemas.microsoft.com/office/powerpoint/2010/main" val="71167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941489" y="3968173"/>
            <a:ext cx="49211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  <a:endParaRPr lang="en-US" b="1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 (LI)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update +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941489" y="339316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06B37-BD1A-F8B4-B25C-8370B0C07219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BECA0-078C-157B-D40D-59C22784B392}"/>
              </a:ext>
            </a:extLst>
          </p:cNvPr>
          <p:cNvSpPr txBox="1"/>
          <p:nvPr/>
        </p:nvSpPr>
        <p:spPr>
          <a:xfrm>
            <a:off x="4587902" y="4660669"/>
            <a:ext cx="1710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do these</a:t>
            </a:r>
          </a:p>
          <a:p>
            <a:r>
              <a:rPr lang="en-US" dirty="0"/>
              <a:t>steps?</a:t>
            </a:r>
          </a:p>
        </p:txBody>
      </p:sp>
    </p:spTree>
    <p:extLst>
      <p:ext uri="{BB962C8B-B14F-4D97-AF65-F5344CB8AC3E}">
        <p14:creationId xmlns:p14="http://schemas.microsoft.com/office/powerpoint/2010/main" val="1356475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941489" y="3968173"/>
            <a:ext cx="51598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  <a:endParaRPr lang="en-US" b="1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 (LI)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(update + body)*(F-1)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941489" y="339316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06B37-BD1A-F8B4-B25C-8370B0C07219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A473D-CBAA-D9E0-068F-FD6AC4B7BCAB}"/>
              </a:ext>
            </a:extLst>
          </p:cNvPr>
          <p:cNvSpPr txBox="1"/>
          <p:nvPr/>
        </p:nvSpPr>
        <p:spPr>
          <a:xfrm>
            <a:off x="344503" y="5033994"/>
            <a:ext cx="445827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ADCA4-9E28-118B-53F0-80A7843455D7}"/>
              </a:ext>
            </a:extLst>
          </p:cNvPr>
          <p:cNvSpPr txBox="1"/>
          <p:nvPr/>
        </p:nvSpPr>
        <p:spPr>
          <a:xfrm>
            <a:off x="278296" y="4564049"/>
            <a:ext cx="2221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for a factor of 2</a:t>
            </a:r>
          </a:p>
        </p:txBody>
      </p:sp>
    </p:spTree>
    <p:extLst>
      <p:ext uri="{BB962C8B-B14F-4D97-AF65-F5344CB8AC3E}">
        <p14:creationId xmlns:p14="http://schemas.microsoft.com/office/powerpoint/2010/main" val="1829768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941489" y="3968173"/>
            <a:ext cx="49211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0000"/>
                </a:highlight>
                <a:sym typeface="Wingdings" pitchFamily="2" charset="2"/>
              </a:rPr>
              <a:t>Loop update increments by 1</a:t>
            </a:r>
            <a:endParaRPr lang="en-US" b="1" dirty="0">
              <a:highlight>
                <a:srgbClr val="FF0000"/>
              </a:highlight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 (LI)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update +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941489" y="339316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06B37-BD1A-F8B4-B25C-8370B0C07219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32041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+=3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B6D5E-F21B-9B01-414C-BA077CD9596E}"/>
              </a:ext>
            </a:extLst>
          </p:cNvPr>
          <p:cNvSpPr txBox="1"/>
          <p:nvPr/>
        </p:nvSpPr>
        <p:spPr>
          <a:xfrm>
            <a:off x="344503" y="1853654"/>
            <a:ext cx="207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go wrong?</a:t>
            </a:r>
          </a:p>
        </p:txBody>
      </p:sp>
    </p:spTree>
    <p:extLst>
      <p:ext uri="{BB962C8B-B14F-4D97-AF65-F5344CB8AC3E}">
        <p14:creationId xmlns:p14="http://schemas.microsoft.com/office/powerpoint/2010/main" val="2784560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941489" y="3968173"/>
            <a:ext cx="48377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0000"/>
                </a:highlight>
                <a:sym typeface="Wingdings" pitchFamily="2" charset="2"/>
              </a:rPr>
              <a:t>Loop update increments by 1</a:t>
            </a:r>
            <a:endParaRPr lang="en-US" b="1" dirty="0">
              <a:highlight>
                <a:srgbClr val="FF0000"/>
              </a:highlight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iterations, 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update +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941489" y="339316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06B37-BD1A-F8B4-B25C-8370B0C07219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32041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+=3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B6D5E-F21B-9B01-414C-BA077CD9596E}"/>
              </a:ext>
            </a:extLst>
          </p:cNvPr>
          <p:cNvSpPr txBox="1"/>
          <p:nvPr/>
        </p:nvSpPr>
        <p:spPr>
          <a:xfrm>
            <a:off x="344503" y="1853654"/>
            <a:ext cx="207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go wrong?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8BC1D-2881-083E-EA1E-FBDBD7E43057}"/>
              </a:ext>
            </a:extLst>
          </p:cNvPr>
          <p:cNvSpPr txBox="1"/>
          <p:nvPr/>
        </p:nvSpPr>
        <p:spPr>
          <a:xfrm>
            <a:off x="1636192" y="4139090"/>
            <a:ext cx="46742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Actually this is fine as long as </a:t>
            </a:r>
            <a:r>
              <a:rPr lang="en-US" dirty="0" err="1"/>
              <a:t>i</a:t>
            </a:r>
            <a:r>
              <a:rPr lang="en-US" dirty="0"/>
              <a:t> is updated with</a:t>
            </a:r>
          </a:p>
          <a:p>
            <a:r>
              <a:rPr lang="en-US" dirty="0"/>
              <a:t>a constant addition. but we need a more</a:t>
            </a:r>
          </a:p>
          <a:p>
            <a:r>
              <a:rPr lang="en-US" dirty="0"/>
              <a:t>complicated formula to calculate LI:</a:t>
            </a:r>
          </a:p>
          <a:p>
            <a:endParaRPr lang="en-US" dirty="0"/>
          </a:p>
          <a:p>
            <a:r>
              <a:rPr lang="en-US" b="1" dirty="0">
                <a:latin typeface="Courier" pitchFamily="2" charset="0"/>
              </a:rPr>
              <a:t>ceil((end - start)/update)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But you may want to keep your life simpler</a:t>
            </a:r>
            <a:br>
              <a:rPr lang="en-US" dirty="0">
                <a:cs typeface="Calibri" panose="020F0502020204030204" pitchFamily="34" charset="0"/>
              </a:rPr>
            </a:br>
            <a:r>
              <a:rPr lang="en-US" dirty="0">
                <a:cs typeface="Calibri" panose="020F0502020204030204" pitchFamily="34" charset="0"/>
              </a:rPr>
              <a:t>by constraining it. We will keep it simple</a:t>
            </a:r>
          </a:p>
        </p:txBody>
      </p:sp>
    </p:spTree>
    <p:extLst>
      <p:ext uri="{BB962C8B-B14F-4D97-AF65-F5344CB8AC3E}">
        <p14:creationId xmlns:p14="http://schemas.microsoft.com/office/powerpoint/2010/main" val="779315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941489" y="3968173"/>
            <a:ext cx="48377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  <a:endParaRPr lang="en-US" b="1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iterations, 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0000"/>
                </a:highlight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update +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941489" y="339316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06B37-BD1A-F8B4-B25C-8370B0C07219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B6D5E-F21B-9B01-414C-BA077CD9596E}"/>
              </a:ext>
            </a:extLst>
          </p:cNvPr>
          <p:cNvSpPr txBox="1"/>
          <p:nvPr/>
        </p:nvSpPr>
        <p:spPr>
          <a:xfrm>
            <a:off x="344503" y="1853654"/>
            <a:ext cx="207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go wrong?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C31E9-CD88-871E-3243-67C9FC2ACFB7}"/>
              </a:ext>
            </a:extLst>
          </p:cNvPr>
          <p:cNvSpPr txBox="1"/>
          <p:nvPr/>
        </p:nvSpPr>
        <p:spPr>
          <a:xfrm>
            <a:off x="3999822" y="4357314"/>
            <a:ext cx="2096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we try to unroll this by a factor of 3?</a:t>
            </a:r>
          </a:p>
        </p:txBody>
      </p:sp>
    </p:spTree>
    <p:extLst>
      <p:ext uri="{BB962C8B-B14F-4D97-AF65-F5344CB8AC3E}">
        <p14:creationId xmlns:p14="http://schemas.microsoft.com/office/powerpoint/2010/main" val="405574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941489" y="3968173"/>
            <a:ext cx="48377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  <a:endParaRPr lang="en-US" b="1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iterations, 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0000"/>
                </a:highlight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update +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941489" y="339316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06B37-BD1A-F8B4-B25C-8370B0C07219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B6D5E-F21B-9B01-414C-BA077CD9596E}"/>
              </a:ext>
            </a:extLst>
          </p:cNvPr>
          <p:cNvSpPr txBox="1"/>
          <p:nvPr/>
        </p:nvSpPr>
        <p:spPr>
          <a:xfrm>
            <a:off x="344503" y="1853654"/>
            <a:ext cx="207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can go wrong?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C31E9-CD88-871E-3243-67C9FC2ACFB7}"/>
              </a:ext>
            </a:extLst>
          </p:cNvPr>
          <p:cNvSpPr txBox="1"/>
          <p:nvPr/>
        </p:nvSpPr>
        <p:spPr>
          <a:xfrm>
            <a:off x="4831858" y="3429000"/>
            <a:ext cx="2096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we try to unroll this by a factor of 3?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1B57D-8979-91E1-D05F-7D453399D59E}"/>
              </a:ext>
            </a:extLst>
          </p:cNvPr>
          <p:cNvSpPr txBox="1"/>
          <p:nvPr/>
        </p:nvSpPr>
        <p:spPr>
          <a:xfrm>
            <a:off x="328088" y="4352330"/>
            <a:ext cx="418255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D1266-6507-7AA3-2D0E-8E5A5B9BAD42}"/>
              </a:ext>
            </a:extLst>
          </p:cNvPr>
          <p:cNvSpPr txBox="1"/>
          <p:nvPr/>
        </p:nvSpPr>
        <p:spPr>
          <a:xfrm>
            <a:off x="4762366" y="5137160"/>
            <a:ext cx="1756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 times</a:t>
            </a:r>
          </a:p>
          <a:p>
            <a:r>
              <a:rPr lang="en-US" dirty="0"/>
              <a:t>do we execute </a:t>
            </a:r>
          </a:p>
          <a:p>
            <a:r>
              <a:rPr lang="en-US" dirty="0"/>
              <a:t>body?</a:t>
            </a:r>
          </a:p>
        </p:txBody>
      </p:sp>
    </p:spTree>
    <p:extLst>
      <p:ext uri="{BB962C8B-B14F-4D97-AF65-F5344CB8AC3E}">
        <p14:creationId xmlns:p14="http://schemas.microsoft.com/office/powerpoint/2010/main" val="2033507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C31E9-CD88-871E-3243-67C9FC2ACFB7}"/>
              </a:ext>
            </a:extLst>
          </p:cNvPr>
          <p:cNvSpPr txBox="1"/>
          <p:nvPr/>
        </p:nvSpPr>
        <p:spPr>
          <a:xfrm>
            <a:off x="4831858" y="3429000"/>
            <a:ext cx="2096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we try to unroll this by a factor of 3?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1B57D-8979-91E1-D05F-7D453399D59E}"/>
              </a:ext>
            </a:extLst>
          </p:cNvPr>
          <p:cNvSpPr txBox="1"/>
          <p:nvPr/>
        </p:nvSpPr>
        <p:spPr>
          <a:xfrm>
            <a:off x="328088" y="4352330"/>
            <a:ext cx="418255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D1266-6507-7AA3-2D0E-8E5A5B9BAD42}"/>
              </a:ext>
            </a:extLst>
          </p:cNvPr>
          <p:cNvSpPr txBox="1"/>
          <p:nvPr/>
        </p:nvSpPr>
        <p:spPr>
          <a:xfrm>
            <a:off x="4762366" y="5137160"/>
            <a:ext cx="1756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 times</a:t>
            </a:r>
          </a:p>
          <a:p>
            <a:r>
              <a:rPr lang="en-US" dirty="0"/>
              <a:t>do we execute </a:t>
            </a:r>
          </a:p>
          <a:p>
            <a:r>
              <a:rPr lang="en-US" dirty="0"/>
              <a:t>body?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956A5-7745-1344-AA9F-85422DE671E1}"/>
              </a:ext>
            </a:extLst>
          </p:cNvPr>
          <p:cNvSpPr txBox="1"/>
          <p:nvPr/>
        </p:nvSpPr>
        <p:spPr>
          <a:xfrm>
            <a:off x="328088" y="2190512"/>
            <a:ext cx="3040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examine this a bit closer?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D6554-B168-3D0F-2C3A-6C03FAAF4B5B}"/>
              </a:ext>
            </a:extLst>
          </p:cNvPr>
          <p:cNvSpPr txBox="1"/>
          <p:nvPr/>
        </p:nvSpPr>
        <p:spPr>
          <a:xfrm>
            <a:off x="8176591" y="3930421"/>
            <a:ext cx="2319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BIG PROBLEM</a:t>
            </a:r>
          </a:p>
        </p:txBody>
      </p:sp>
    </p:spTree>
    <p:extLst>
      <p:ext uri="{BB962C8B-B14F-4D97-AF65-F5344CB8AC3E}">
        <p14:creationId xmlns:p14="http://schemas.microsoft.com/office/powerpoint/2010/main" val="3318645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1A5F-1AA3-723E-F041-41C46FDDCD4C}"/>
              </a:ext>
            </a:extLst>
          </p:cNvPr>
          <p:cNvSpPr txBox="1"/>
          <p:nvPr/>
        </p:nvSpPr>
        <p:spPr>
          <a:xfrm>
            <a:off x="344503" y="3052794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C31E9-CD88-871E-3243-67C9FC2ACFB7}"/>
              </a:ext>
            </a:extLst>
          </p:cNvPr>
          <p:cNvSpPr txBox="1"/>
          <p:nvPr/>
        </p:nvSpPr>
        <p:spPr>
          <a:xfrm>
            <a:off x="4831858" y="3429000"/>
            <a:ext cx="2096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we try to unroll this by a factor of 3?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1B57D-8979-91E1-D05F-7D453399D59E}"/>
              </a:ext>
            </a:extLst>
          </p:cNvPr>
          <p:cNvSpPr txBox="1"/>
          <p:nvPr/>
        </p:nvSpPr>
        <p:spPr>
          <a:xfrm>
            <a:off x="328088" y="4352330"/>
            <a:ext cx="418255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D1266-6507-7AA3-2D0E-8E5A5B9BAD42}"/>
              </a:ext>
            </a:extLst>
          </p:cNvPr>
          <p:cNvSpPr txBox="1"/>
          <p:nvPr/>
        </p:nvSpPr>
        <p:spPr>
          <a:xfrm>
            <a:off x="4762366" y="5137160"/>
            <a:ext cx="1756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 times</a:t>
            </a:r>
          </a:p>
          <a:p>
            <a:r>
              <a:rPr lang="en-US" dirty="0"/>
              <a:t>do we execute </a:t>
            </a:r>
          </a:p>
          <a:p>
            <a:r>
              <a:rPr lang="en-US" dirty="0"/>
              <a:t>body?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956A5-7745-1344-AA9F-85422DE671E1}"/>
              </a:ext>
            </a:extLst>
          </p:cNvPr>
          <p:cNvSpPr txBox="1"/>
          <p:nvPr/>
        </p:nvSpPr>
        <p:spPr>
          <a:xfrm>
            <a:off x="328088" y="2190512"/>
            <a:ext cx="3040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examine this a bit closer?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F2DFB-AED9-7477-4C4A-42CE4673A9E0}"/>
              </a:ext>
            </a:extLst>
          </p:cNvPr>
          <p:cNvSpPr txBox="1"/>
          <p:nvPr/>
        </p:nvSpPr>
        <p:spPr>
          <a:xfrm>
            <a:off x="7461733" y="2663718"/>
            <a:ext cx="418255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3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BA4EC-6677-E485-78D8-9428E9E2994F}"/>
              </a:ext>
            </a:extLst>
          </p:cNvPr>
          <p:cNvSpPr txBox="1"/>
          <p:nvPr/>
        </p:nvSpPr>
        <p:spPr>
          <a:xfrm>
            <a:off x="7461733" y="5265928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3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97E1B-78BB-D559-E31F-F0E546AC3055}"/>
              </a:ext>
            </a:extLst>
          </p:cNvPr>
          <p:cNvSpPr txBox="1"/>
          <p:nvPr/>
        </p:nvSpPr>
        <p:spPr>
          <a:xfrm>
            <a:off x="7461733" y="1386602"/>
            <a:ext cx="41927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But what if we executed the unrolled loop</a:t>
            </a:r>
          </a:p>
          <a:p>
            <a:r>
              <a:rPr lang="en-US" b="1" dirty="0"/>
              <a:t>as many times as it was valid, and did</a:t>
            </a:r>
          </a:p>
          <a:p>
            <a:r>
              <a:rPr lang="en-US" b="1" dirty="0"/>
              <a:t>the rest with a non-unrolled loop</a:t>
            </a:r>
          </a:p>
        </p:txBody>
      </p:sp>
    </p:spTree>
    <p:extLst>
      <p:ext uri="{BB962C8B-B14F-4D97-AF65-F5344CB8AC3E}">
        <p14:creationId xmlns:p14="http://schemas.microsoft.com/office/powerpoint/2010/main" val="1976980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F2DFB-AED9-7477-4C4A-42CE4673A9E0}"/>
              </a:ext>
            </a:extLst>
          </p:cNvPr>
          <p:cNvSpPr txBox="1"/>
          <p:nvPr/>
        </p:nvSpPr>
        <p:spPr>
          <a:xfrm>
            <a:off x="7461733" y="2663718"/>
            <a:ext cx="418255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?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?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BA4EC-6677-E485-78D8-9428E9E2994F}"/>
              </a:ext>
            </a:extLst>
          </p:cNvPr>
          <p:cNvSpPr txBox="1"/>
          <p:nvPr/>
        </p:nvSpPr>
        <p:spPr>
          <a:xfrm>
            <a:off x="7461733" y="5265928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= ?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ED7D31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ED7D31"/>
                </a:highlight>
                <a:latin typeface="Courier" pitchFamily="2" charset="0"/>
              </a:rPr>
              <a:t> &lt; ?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97E1B-78BB-D559-E31F-F0E546AC3055}"/>
              </a:ext>
            </a:extLst>
          </p:cNvPr>
          <p:cNvSpPr txBox="1"/>
          <p:nvPr/>
        </p:nvSpPr>
        <p:spPr>
          <a:xfrm>
            <a:off x="7461733" y="1386602"/>
            <a:ext cx="41193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what if we executed the unrolled loop</a:t>
            </a:r>
          </a:p>
          <a:p>
            <a:r>
              <a:rPr lang="en-US" dirty="0"/>
              <a:t>as many times as it was valid, and did</a:t>
            </a:r>
          </a:p>
          <a:p>
            <a:r>
              <a:rPr lang="en-US" dirty="0"/>
              <a:t>the rest with a non-unrolled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AAFE5-28C3-709A-D6CF-609887043E0F}"/>
              </a:ext>
            </a:extLst>
          </p:cNvPr>
          <p:cNvSpPr txBox="1"/>
          <p:nvPr/>
        </p:nvSpPr>
        <p:spPr>
          <a:xfrm>
            <a:off x="838200" y="2125266"/>
            <a:ext cx="503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initially the loop starts the same as the original loop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6A8C3-B619-8EFA-2EBF-3154F45899FD}"/>
              </a:ext>
            </a:extLst>
          </p:cNvPr>
          <p:cNvSpPr txBox="1"/>
          <p:nvPr/>
        </p:nvSpPr>
        <p:spPr>
          <a:xfrm>
            <a:off x="838200" y="2822207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ED7D31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ED7D31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9C787-0141-E0E9-DBD3-C1B91E6137E3}"/>
              </a:ext>
            </a:extLst>
          </p:cNvPr>
          <p:cNvSpPr txBox="1"/>
          <p:nvPr/>
        </p:nvSpPr>
        <p:spPr>
          <a:xfrm>
            <a:off x="739471" y="4293704"/>
            <a:ext cx="4997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out how many unrolled loops we can execute:</a:t>
            </a:r>
          </a:p>
          <a:p>
            <a:r>
              <a:rPr lang="en-US" sz="2000" b="1" dirty="0"/>
              <a:t>(4 / 3) * 3 = 3</a:t>
            </a:r>
          </a:p>
          <a:p>
            <a:r>
              <a:rPr lang="en-US" b="1" dirty="0"/>
              <a:t>This gives us the new </a:t>
            </a:r>
            <a:r>
              <a:rPr lang="en-US" b="1" dirty="0">
                <a:highlight>
                  <a:srgbClr val="00FF00"/>
                </a:highlight>
              </a:rPr>
              <a:t>first bound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25956-BC14-8DCF-D594-E37FA17686B7}"/>
              </a:ext>
            </a:extLst>
          </p:cNvPr>
          <p:cNvSpPr txBox="1"/>
          <p:nvPr/>
        </p:nvSpPr>
        <p:spPr>
          <a:xfrm>
            <a:off x="739471" y="5404427"/>
            <a:ext cx="454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second loop is initialized with that </a:t>
            </a:r>
            <a:r>
              <a:rPr lang="en-US" b="1" dirty="0">
                <a:highlight>
                  <a:srgbClr val="00FF00"/>
                </a:highlight>
              </a:rPr>
              <a:t>first bound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0A32A-F64A-EA4C-AD3E-FC5CF6470097}"/>
              </a:ext>
            </a:extLst>
          </p:cNvPr>
          <p:cNvSpPr txBox="1"/>
          <p:nvPr/>
        </p:nvSpPr>
        <p:spPr>
          <a:xfrm>
            <a:off x="739471" y="6004592"/>
            <a:ext cx="484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ED7D31"/>
                </a:highlight>
              </a:rPr>
              <a:t>second loop’s bound is same as the original loop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7FC8B-1F65-26D8-DE27-D59E7CFC93D8}"/>
              </a:ext>
            </a:extLst>
          </p:cNvPr>
          <p:cNvSpPr txBox="1"/>
          <p:nvPr/>
        </p:nvSpPr>
        <p:spPr>
          <a:xfrm>
            <a:off x="9978887" y="6492875"/>
            <a:ext cx="1665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next slide</a:t>
            </a:r>
          </a:p>
        </p:txBody>
      </p:sp>
    </p:spTree>
    <p:extLst>
      <p:ext uri="{BB962C8B-B14F-4D97-AF65-F5344CB8AC3E}">
        <p14:creationId xmlns:p14="http://schemas.microsoft.com/office/powerpoint/2010/main" val="459832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C1D5C-BDFC-225A-EA8A-DDBA5EE8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F6A32-54DD-D030-EAD0-1E8E025E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BC644-735C-EE64-537F-C669F42DBB9F}"/>
              </a:ext>
            </a:extLst>
          </p:cNvPr>
          <p:cNvSpPr txBox="1"/>
          <p:nvPr/>
        </p:nvSpPr>
        <p:spPr>
          <a:xfrm>
            <a:off x="7461733" y="2663718"/>
            <a:ext cx="418255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3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2C0279-152F-220F-DF13-094B8F4BAECB}"/>
              </a:ext>
            </a:extLst>
          </p:cNvPr>
          <p:cNvSpPr txBox="1"/>
          <p:nvPr/>
        </p:nvSpPr>
        <p:spPr>
          <a:xfrm>
            <a:off x="7461733" y="5265928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= 3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ED7D31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ED7D31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3D16CC-2D06-3AC1-2850-BB1E802B0F9A}"/>
              </a:ext>
            </a:extLst>
          </p:cNvPr>
          <p:cNvSpPr txBox="1"/>
          <p:nvPr/>
        </p:nvSpPr>
        <p:spPr>
          <a:xfrm>
            <a:off x="7461733" y="1386602"/>
            <a:ext cx="41193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what if we executed the unrolled loop</a:t>
            </a:r>
          </a:p>
          <a:p>
            <a:r>
              <a:rPr lang="en-US" dirty="0"/>
              <a:t>as many times as it was valid, and did</a:t>
            </a:r>
          </a:p>
          <a:p>
            <a:r>
              <a:rPr lang="en-US" dirty="0"/>
              <a:t>the rest with a non-unrolled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22598-7884-104D-E770-A4A6A5B35260}"/>
              </a:ext>
            </a:extLst>
          </p:cNvPr>
          <p:cNvSpPr txBox="1"/>
          <p:nvPr/>
        </p:nvSpPr>
        <p:spPr>
          <a:xfrm>
            <a:off x="838200" y="2125266"/>
            <a:ext cx="503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initially the loop starts the same as the original loop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73E0D2-73FE-E897-C070-6CE0CF39D96C}"/>
              </a:ext>
            </a:extLst>
          </p:cNvPr>
          <p:cNvSpPr txBox="1"/>
          <p:nvPr/>
        </p:nvSpPr>
        <p:spPr>
          <a:xfrm>
            <a:off x="838200" y="2822207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ED7D31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ED7D31"/>
                </a:highlight>
                <a:latin typeface="Courier" pitchFamily="2" charset="0"/>
              </a:rPr>
              <a:t> &lt; 4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6422F-70FB-4099-C781-1D13F4CBA3DA}"/>
              </a:ext>
            </a:extLst>
          </p:cNvPr>
          <p:cNvSpPr txBox="1"/>
          <p:nvPr/>
        </p:nvSpPr>
        <p:spPr>
          <a:xfrm>
            <a:off x="739471" y="4293704"/>
            <a:ext cx="4997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out how many unrolled loops we can execute:</a:t>
            </a:r>
          </a:p>
          <a:p>
            <a:r>
              <a:rPr lang="en-US" sz="2000" b="1" dirty="0"/>
              <a:t>(4 / 3) * 3 = 3  </a:t>
            </a:r>
          </a:p>
          <a:p>
            <a:r>
              <a:rPr lang="en-US" b="1" dirty="0"/>
              <a:t>This gives us the new </a:t>
            </a:r>
            <a:r>
              <a:rPr lang="en-US" b="1" dirty="0">
                <a:highlight>
                  <a:srgbClr val="00FF00"/>
                </a:highlight>
              </a:rPr>
              <a:t>first bound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63AAF-8198-30A5-EF88-C0636A88E6A2}"/>
              </a:ext>
            </a:extLst>
          </p:cNvPr>
          <p:cNvSpPr txBox="1"/>
          <p:nvPr/>
        </p:nvSpPr>
        <p:spPr>
          <a:xfrm>
            <a:off x="739471" y="5404427"/>
            <a:ext cx="454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second loop is initialized with that </a:t>
            </a:r>
            <a:r>
              <a:rPr lang="en-US" b="1" dirty="0">
                <a:highlight>
                  <a:srgbClr val="00FF00"/>
                </a:highlight>
              </a:rPr>
              <a:t>first bound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76B76C-1036-A56A-7A81-A79294B7241C}"/>
              </a:ext>
            </a:extLst>
          </p:cNvPr>
          <p:cNvSpPr txBox="1"/>
          <p:nvPr/>
        </p:nvSpPr>
        <p:spPr>
          <a:xfrm>
            <a:off x="739471" y="6004592"/>
            <a:ext cx="484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ED7D31"/>
                </a:highlight>
              </a:rPr>
              <a:t>second loop’s bound is same as the original loop </a:t>
            </a:r>
          </a:p>
        </p:txBody>
      </p:sp>
    </p:spTree>
    <p:extLst>
      <p:ext uri="{BB962C8B-B14F-4D97-AF65-F5344CB8AC3E}">
        <p14:creationId xmlns:p14="http://schemas.microsoft.com/office/powerpoint/2010/main" val="2739719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F2DFB-AED9-7477-4C4A-42CE4673A9E0}"/>
              </a:ext>
            </a:extLst>
          </p:cNvPr>
          <p:cNvSpPr txBox="1"/>
          <p:nvPr/>
        </p:nvSpPr>
        <p:spPr>
          <a:xfrm>
            <a:off x="7461733" y="2663718"/>
            <a:ext cx="487184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x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y/F *F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...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BA4EC-6677-E485-78D8-9428E9E2994F}"/>
              </a:ext>
            </a:extLst>
          </p:cNvPr>
          <p:cNvSpPr txBox="1"/>
          <p:nvPr/>
        </p:nvSpPr>
        <p:spPr>
          <a:xfrm>
            <a:off x="7461733" y="5265928"/>
            <a:ext cx="48718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y/F *F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y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97E1B-78BB-D559-E31F-F0E546AC3055}"/>
              </a:ext>
            </a:extLst>
          </p:cNvPr>
          <p:cNvSpPr txBox="1"/>
          <p:nvPr/>
        </p:nvSpPr>
        <p:spPr>
          <a:xfrm>
            <a:off x="7461733" y="1386602"/>
            <a:ext cx="41225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what if we executed the unrolled loop</a:t>
            </a:r>
          </a:p>
          <a:p>
            <a:r>
              <a:rPr lang="en-US" dirty="0"/>
              <a:t>as many times as it was valid, and did</a:t>
            </a:r>
          </a:p>
          <a:p>
            <a:r>
              <a:rPr lang="en-US" dirty="0"/>
              <a:t>the rest with a non-unrolled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AAFE5-28C3-709A-D6CF-609887043E0F}"/>
              </a:ext>
            </a:extLst>
          </p:cNvPr>
          <p:cNvSpPr txBox="1"/>
          <p:nvPr/>
        </p:nvSpPr>
        <p:spPr>
          <a:xfrm>
            <a:off x="361122" y="1608625"/>
            <a:ext cx="4371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about in the general case? </a:t>
            </a:r>
          </a:p>
          <a:p>
            <a:r>
              <a:rPr lang="en-US" sz="2400" b="1" dirty="0"/>
              <a:t>That is for an unroll factor of </a:t>
            </a:r>
            <a:r>
              <a:rPr lang="en-US" sz="2400" b="1" dirty="0">
                <a:highlight>
                  <a:srgbClr val="00FF00"/>
                </a:highlight>
              </a:rPr>
              <a:t>F</a:t>
            </a:r>
            <a:r>
              <a:rPr lang="en-US" sz="2400" b="1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6A8C3-B619-8EFA-2EBF-3154F45899FD}"/>
              </a:ext>
            </a:extLst>
          </p:cNvPr>
          <p:cNvSpPr txBox="1"/>
          <p:nvPr/>
        </p:nvSpPr>
        <p:spPr>
          <a:xfrm>
            <a:off x="838200" y="2822207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x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y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9C787-0141-E0E9-DBD3-C1B91E6137E3}"/>
              </a:ext>
            </a:extLst>
          </p:cNvPr>
          <p:cNvSpPr txBox="1"/>
          <p:nvPr/>
        </p:nvSpPr>
        <p:spPr>
          <a:xfrm>
            <a:off x="739471" y="4293704"/>
            <a:ext cx="5148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how many unrolled loops we can execute:</a:t>
            </a:r>
          </a:p>
          <a:p>
            <a:r>
              <a:rPr lang="en-US" dirty="0"/>
              <a:t>?</a:t>
            </a:r>
          </a:p>
          <a:p>
            <a:r>
              <a:rPr lang="en-US" dirty="0"/>
              <a:t>This gives us the first bound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25956-BC14-8DCF-D594-E37FA17686B7}"/>
              </a:ext>
            </a:extLst>
          </p:cNvPr>
          <p:cNvSpPr txBox="1"/>
          <p:nvPr/>
        </p:nvSpPr>
        <p:spPr>
          <a:xfrm>
            <a:off x="739471" y="5404427"/>
            <a:ext cx="4383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loop is initialized with the first bound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0A32A-F64A-EA4C-AD3E-FC5CF6470097}"/>
              </a:ext>
            </a:extLst>
          </p:cNvPr>
          <p:cNvSpPr txBox="1"/>
          <p:nvPr/>
        </p:nvSpPr>
        <p:spPr>
          <a:xfrm>
            <a:off x="739471" y="6004592"/>
            <a:ext cx="476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loop’s bound is same as the original loop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B70FC-E797-6C4F-D286-3B7DCBCC01CA}"/>
              </a:ext>
            </a:extLst>
          </p:cNvPr>
          <p:cNvSpPr txBox="1"/>
          <p:nvPr/>
        </p:nvSpPr>
        <p:spPr>
          <a:xfrm>
            <a:off x="8025771" y="4141046"/>
            <a:ext cx="3972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 that y/F * F creates a remainder</a:t>
            </a:r>
          </a:p>
          <a:p>
            <a:r>
              <a:rPr lang="en-US" b="1" dirty="0"/>
              <a:t>   i.e. the benefit of integer arithmetic</a:t>
            </a:r>
          </a:p>
        </p:txBody>
      </p:sp>
    </p:spTree>
    <p:extLst>
      <p:ext uri="{BB962C8B-B14F-4D97-AF65-F5344CB8AC3E}">
        <p14:creationId xmlns:p14="http://schemas.microsoft.com/office/powerpoint/2010/main" val="774189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670" y="1600276"/>
            <a:ext cx="4759518" cy="523220"/>
          </a:xfrm>
        </p:spPr>
        <p:txBody>
          <a:bodyPr>
            <a:normAutofit/>
          </a:bodyPr>
          <a:lstStyle/>
          <a:p>
            <a:r>
              <a:rPr lang="en-US" dirty="0"/>
              <a:t>general unroll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3509176" y="2670799"/>
            <a:ext cx="717151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General unroll constraints</a:t>
            </a:r>
            <a:r>
              <a:rPr lang="en-US" sz="2400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Loop update increments by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Find the concrete number of loop iterations, LI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b="1" dirty="0"/>
              <a:t>General unroll code generation</a:t>
            </a:r>
            <a:r>
              <a:rPr lang="en-US" sz="2400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Create simple unrolled loop with new bound: (LI/F)*F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Create cleanup (basic) loop with initialization: (LI/F)*F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perform </a:t>
            </a:r>
            <a:r>
              <a:rPr lang="en-US" sz="2400" dirty="0" err="1">
                <a:sym typeface="Wingdings" pitchFamily="2" charset="2"/>
              </a:rPr>
              <a:t>codegen</a:t>
            </a:r>
            <a:endParaRPr lang="en-US" sz="2400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4821802" y="1966194"/>
            <a:ext cx="2776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unroll factor 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BAF42-8585-434F-8373-709A4401BCAA}"/>
              </a:ext>
            </a:extLst>
          </p:cNvPr>
          <p:cNvSpPr txBox="1"/>
          <p:nvPr/>
        </p:nvSpPr>
        <p:spPr>
          <a:xfrm>
            <a:off x="2183198" y="5960921"/>
            <a:ext cx="674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None of these numbers have to be concrete!</a:t>
            </a:r>
          </a:p>
        </p:txBody>
      </p:sp>
    </p:spTree>
    <p:extLst>
      <p:ext uri="{BB962C8B-B14F-4D97-AF65-F5344CB8AC3E}">
        <p14:creationId xmlns:p14="http://schemas.microsoft.com/office/powerpoint/2010/main" val="220468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75839</TotalTime>
  <Words>2650</Words>
  <Application>Microsoft Office PowerPoint</Application>
  <PresentationFormat>Widescreen</PresentationFormat>
  <Paragraphs>392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Courier</vt:lpstr>
      <vt:lpstr>Menlo</vt:lpstr>
      <vt:lpstr>Wingdings</vt:lpstr>
      <vt:lpstr>Office Theme</vt:lpstr>
      <vt:lpstr>CSE110A: Compilers </vt:lpstr>
      <vt:lpstr>Loop optimizations</vt:lpstr>
      <vt:lpstr>For loops</vt:lpstr>
      <vt:lpstr>For loops</vt:lpstr>
      <vt:lpstr>For loop terminology</vt:lpstr>
      <vt:lpstr>Examples</vt:lpstr>
      <vt:lpstr>Examples</vt:lpstr>
      <vt:lpstr>Loop unrolling</vt:lpstr>
      <vt:lpstr>Loop unrolling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  <vt:lpstr>Loop unrolling conditions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1129</cp:revision>
  <dcterms:created xsi:type="dcterms:W3CDTF">2021-03-23T23:59:42Z</dcterms:created>
  <dcterms:modified xsi:type="dcterms:W3CDTF">2026-03-05T23:26:21Z</dcterms:modified>
</cp:coreProperties>
</file>